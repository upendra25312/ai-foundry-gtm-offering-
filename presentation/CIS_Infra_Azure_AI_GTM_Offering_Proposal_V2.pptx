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59c9f57baa4010" /><Relationship Type="http://schemas.openxmlformats.org/officeDocument/2006/relationships/extended-properties" Target="/docProps/app.xml" Id="Rfb9d2759771a4be7" /><Relationship Type="http://schemas.openxmlformats.org/officeDocument/2006/relationships/officeDocument" Target="/ppt/presentation.xml" Id="R5029879b61114a8d" /></Relationships>
</file>

<file path=ppt/presentation.xml><?xml version="1.0" encoding="utf-8"?>
<p:presentation xmlns:p="http://schemas.openxmlformats.org/presentationml/2006/main">
  <p:sldMasterIdLst>
    <p:sldMasterId xmlns:r="http://schemas.openxmlformats.org/officeDocument/2006/relationships" id="2147483648" r:id="R2d470c340897460b"/>
  </p:sldMasterIdLst>
  <p:notesMasterIdLst>
    <p:notesMasterId xmlns:r="http://schemas.openxmlformats.org/officeDocument/2006/relationships" r:id="R639950c2eec4480d"/>
  </p:notesMasterIdLst>
  <p:sldIdLst>
    <p:sldId xmlns:r="http://schemas.openxmlformats.org/officeDocument/2006/relationships" id="256" r:id="R2bc2cdc3eb10409c"/>
    <p:sldId xmlns:r="http://schemas.openxmlformats.org/officeDocument/2006/relationships" id="257" r:id="Rb80744deb9744563"/>
    <p:sldId xmlns:r="http://schemas.openxmlformats.org/officeDocument/2006/relationships" id="258" r:id="Rb423ae24a7cc4f71"/>
    <p:sldId xmlns:r="http://schemas.openxmlformats.org/officeDocument/2006/relationships" id="259" r:id="R6def322493b049eb"/>
    <p:sldId xmlns:r="http://schemas.openxmlformats.org/officeDocument/2006/relationships" id="260" r:id="Rf36399fb36ec47f1"/>
    <p:sldId xmlns:r="http://schemas.openxmlformats.org/officeDocument/2006/relationships" id="261" r:id="R1c32b44691b34e5e"/>
    <p:sldId xmlns:r="http://schemas.openxmlformats.org/officeDocument/2006/relationships" id="262" r:id="R677294960d5c4e80"/>
    <p:sldId xmlns:r="http://schemas.openxmlformats.org/officeDocument/2006/relationships" id="263" r:id="Ra55e1f98c6f642e0"/>
    <p:sldId xmlns:r="http://schemas.openxmlformats.org/officeDocument/2006/relationships" id="264" r:id="R20462ba1a9fe458b"/>
    <p:sldId xmlns:r="http://schemas.openxmlformats.org/officeDocument/2006/relationships" id="265" r:id="R849d300b3ab243ab"/>
    <p:sldId xmlns:r="http://schemas.openxmlformats.org/officeDocument/2006/relationships" id="266" r:id="Re4fc5e438902498c"/>
    <p:sldId xmlns:r="http://schemas.openxmlformats.org/officeDocument/2006/relationships" id="267" r:id="R68238e695c304d78"/>
    <p:sldId xmlns:r="http://schemas.openxmlformats.org/officeDocument/2006/relationships" id="268" r:id="Rebe40c54984849df"/>
    <p:sldId xmlns:r="http://schemas.openxmlformats.org/officeDocument/2006/relationships" id="269" r:id="Re3158a0ca67840c7"/>
    <p:sldId xmlns:r="http://schemas.openxmlformats.org/officeDocument/2006/relationships" id="270" r:id="Rf12bcabe43144b01"/>
    <p:sldId xmlns:r="http://schemas.openxmlformats.org/officeDocument/2006/relationships" id="271" r:id="R50e1af96ac154697"/>
    <p:sldId xmlns:r="http://schemas.openxmlformats.org/officeDocument/2006/relationships" id="272" r:id="R0b5e9583e6d04d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b5e373df8c461c" /><Relationship Type="http://schemas.openxmlformats.org/officeDocument/2006/relationships/slideMaster" Target="/ppt/slideMasters/slideMaster1.xml" Id="R2d470c340897460b" /><Relationship Type="http://schemas.openxmlformats.org/officeDocument/2006/relationships/notesMaster" Target="/ppt/notesMasters/notesMaster1.xml" Id="R639950c2eec4480d" /><Relationship Type="http://schemas.openxmlformats.org/officeDocument/2006/relationships/presProps" Target="/ppt/presProps.xml" Id="R96d39c26a6354f0c" /><Relationship Type="http://schemas.openxmlformats.org/officeDocument/2006/relationships/tableStyles" Target="/ppt/tableStyles.xml" Id="R252e0eae40b541ad" /><Relationship Type="http://schemas.openxmlformats.org/officeDocument/2006/relationships/slide" Target="/ppt/slides/slide1.xml" Id="R2bc2cdc3eb10409c" /><Relationship Type="http://schemas.openxmlformats.org/officeDocument/2006/relationships/slide" Target="/ppt/slides/slide2.xml" Id="Rb80744deb9744563" /><Relationship Type="http://schemas.openxmlformats.org/officeDocument/2006/relationships/slide" Target="/ppt/slides/slide3.xml" Id="Rb423ae24a7cc4f71" /><Relationship Type="http://schemas.openxmlformats.org/officeDocument/2006/relationships/slide" Target="/ppt/slides/slide4.xml" Id="R6def322493b049eb" /><Relationship Type="http://schemas.openxmlformats.org/officeDocument/2006/relationships/slide" Target="/ppt/slides/slide5.xml" Id="Rf36399fb36ec47f1" /><Relationship Type="http://schemas.openxmlformats.org/officeDocument/2006/relationships/slide" Target="/ppt/slides/slide6.xml" Id="R1c32b44691b34e5e" /><Relationship Type="http://schemas.openxmlformats.org/officeDocument/2006/relationships/slide" Target="/ppt/slides/slide7.xml" Id="R677294960d5c4e80" /><Relationship Type="http://schemas.openxmlformats.org/officeDocument/2006/relationships/slide" Target="/ppt/slides/slide8.xml" Id="Ra55e1f98c6f642e0" /><Relationship Type="http://schemas.openxmlformats.org/officeDocument/2006/relationships/slide" Target="/ppt/slides/slide9.xml" Id="R20462ba1a9fe458b" /><Relationship Type="http://schemas.openxmlformats.org/officeDocument/2006/relationships/slide" Target="/ppt/slides/slide10.xml" Id="R849d300b3ab243ab" /><Relationship Type="http://schemas.openxmlformats.org/officeDocument/2006/relationships/slide" Target="/ppt/slides/slide11.xml" Id="Re4fc5e438902498c" /><Relationship Type="http://schemas.openxmlformats.org/officeDocument/2006/relationships/slide" Target="/ppt/slides/slide12.xml" Id="R68238e695c304d78" /><Relationship Type="http://schemas.openxmlformats.org/officeDocument/2006/relationships/slide" Target="/ppt/slides/slide13.xml" Id="Rebe40c54984849df" /><Relationship Type="http://schemas.openxmlformats.org/officeDocument/2006/relationships/slide" Target="/ppt/slides/slide14.xml" Id="Re3158a0ca67840c7" /><Relationship Type="http://schemas.openxmlformats.org/officeDocument/2006/relationships/slide" Target="/ppt/slides/slide15.xml" Id="Rf12bcabe43144b01" /><Relationship Type="http://schemas.openxmlformats.org/officeDocument/2006/relationships/slide" Target="/ppt/slides/slide16.xml" Id="R50e1af96ac154697" /><Relationship Type="http://schemas.openxmlformats.org/officeDocument/2006/relationships/slide" Target="/ppt/slides/slide17.xml" Id="R0b5e9583e6d04d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9b8c14e4fa4c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gnizant referenc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Gellix"/>
        <a:ea typeface=""/>
        <a:cs typeface=""/>
      </a:majorFont>
      <a:minorFont>
        <a:latin typeface="Gellix"/>
        <a:ea typeface=""/>
        <a:cs typeface=""/>
      </a:minorFont>
    </a:fontScheme>
    <a:fmtScheme name="Cognizant referenc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3a8ea3f776404a" /><Relationship Type="http://schemas.openxmlformats.org/officeDocument/2006/relationships/notesMaster" Target="/ppt/notesMasters/notesMaster1.xml" Id="R96e4c0a574d748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89bf8227404cf5" /><Relationship Type="http://schemas.openxmlformats.org/officeDocument/2006/relationships/notesMaster" Target="/ppt/notesMasters/notesMaster1.xml" Id="R52f98d3c2ecc41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d445f730c2457a" /><Relationship Type="http://schemas.openxmlformats.org/officeDocument/2006/relationships/notesMaster" Target="/ppt/notesMasters/notesMaster1.xml" Id="Rae66c40f098947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4426f7685e472c" /><Relationship Type="http://schemas.openxmlformats.org/officeDocument/2006/relationships/notesMaster" Target="/ppt/notesMasters/notesMaster1.xml" Id="R6d5098f7aa2f45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1a9cdb8a414085" /><Relationship Type="http://schemas.openxmlformats.org/officeDocument/2006/relationships/notesMaster" Target="/ppt/notesMasters/notesMaster1.xml" Id="Rb8c3f6e42b4f45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2274a6c9ee405a" /><Relationship Type="http://schemas.openxmlformats.org/officeDocument/2006/relationships/notesMaster" Target="/ppt/notesMasters/notesMaster1.xml" Id="Rd33a167c16b84a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73b7b9b4ee40c9" /><Relationship Type="http://schemas.openxmlformats.org/officeDocument/2006/relationships/notesMaster" Target="/ppt/notesMasters/notesMaster1.xml" Id="Rf46a02e0318b49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d021faf1944e30" /><Relationship Type="http://schemas.openxmlformats.org/officeDocument/2006/relationships/notesMaster" Target="/ppt/notesMasters/notesMaster1.xml" Id="R1bc15551eb5d48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62679c29284a89" /><Relationship Type="http://schemas.openxmlformats.org/officeDocument/2006/relationships/notesMaster" Target="/ppt/notesMasters/notesMaster1.xml" Id="R350d14b3dd4641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27daf522014440" /><Relationship Type="http://schemas.openxmlformats.org/officeDocument/2006/relationships/notesMaster" Target="/ppt/notesMasters/notesMaster1.xml" Id="Rad656d55541943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6ad24c364e4083" /><Relationship Type="http://schemas.openxmlformats.org/officeDocument/2006/relationships/notesMaster" Target="/ppt/notesMasters/notesMaster1.xml" Id="R34c117a694f74c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b7b873114d4f9b" /><Relationship Type="http://schemas.openxmlformats.org/officeDocument/2006/relationships/notesMaster" Target="/ppt/notesMasters/notesMaster1.xml" Id="R8ad5227cfec74a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ab046175ed45c4" /><Relationship Type="http://schemas.openxmlformats.org/officeDocument/2006/relationships/notesMaster" Target="/ppt/notesMasters/notesMaster1.xml" Id="R53d18d297a0d40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1c8e4d6bd1444b" /><Relationship Type="http://schemas.openxmlformats.org/officeDocument/2006/relationships/notesMaster" Target="/ppt/notesMasters/notesMaster1.xml" Id="R090c02c266624e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abe8e1a92f24b6c" /><Relationship Type="http://schemas.openxmlformats.org/officeDocument/2006/relationships/notesMaster" Target="/ppt/notesMasters/notesMaster1.xml" Id="R4ca82c2e1e454a9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749a8bad394ad4" /><Relationship Type="http://schemas.openxmlformats.org/officeDocument/2006/relationships/notesMaster" Target="/ppt/notesMasters/notesMaster1.xml" Id="Rf3dd73f8d57f49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99c000d7274cd2" /><Relationship Type="http://schemas.openxmlformats.org/officeDocument/2006/relationships/notesMaster" Target="/ppt/notesMasters/notesMaster1.xml" Id="R1d37089d0bdc43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custom application RAG pattern, not the current Microsoft Foundry Agent Service baseline. No Agent Service, Cosmos DB, APIM, tool actions or semantic cache in the baseline. Application generates embeddings, performs security-filtered retrieval, sends authorized context to the chat model and returns citations. HTTPS private endpoints for app, Search, Azure OpenAI, Blob and Key Vault. Existing VPN/ExpressRoute provides private app access. Sources: https://github.com/Azure-Samples/azure-search-openai-demo and https://github.com/Azure-Samples/azure-search-openai-demo/blob/main/docs/deploy_private.md . Document filtering is application-enforced and must be implemented and tested; source ACL synchronization is customer-specific. Authentication reference: https://github.com/Azure-Samples/azure-search-openai-demo/blob/main/docs/login_and_acl.md</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dollar figure is a synthetic planning input, not an Azure list price or Cognizant rate card. Reprice using dated customer agreement prices, actual geography, role mix, support pool cost and Finance policy. No FX conversion is used. USD excludes taxes, licences, optional assessment and changes. Numbers deliberately demonstrate quote mechanics. Cost=46800; reserve=7020; fee=53820/0.70=76885.7142857. Operations=1625/0.7=2321.4285714. First year uses rounded quoted fees: 76885.71+12*(2500+2321.43)=134742.87. Assessment base cost=6550; reserve=982.5; fee=7532.5/0.7=10760.71.</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20000*3/60*0.5=500h. 500*40=20000. Synthetic adoption, task savings, realization and labor value. Not a measured Cognizant or customer outcome.</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Technical/public sources: https://learn.microsoft.com/en-us/azure/foundry/foundry-models/concepts/deployment-types</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Technical/public sources: https://news.cognizant.com/2025-07-10-Cognizant-Introduces-Agent-Foundry-Powering-Agentic-AI-at-Enterprise-Scale</a:t>
            </a:r>
          </a:p>
          <a:p xmlns:a="http://schemas.openxmlformats.org/drawingml/2006/main">
            <a:r>
              <a:t>https://www.cognizant.com/us/en/services/cloud-solutions/microsoft-business-group/microsoft-copilot</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dollar figure is a synthetic planning input, not an Azure list price or Cognizant rate card. Reprice using dated customer agreement prices, actual geography, role mix, support pool cost and Finance policy. No FX conversion is used. USD excludes taxes, licences, optional assessment and changes. Numbers deliberately demonstrate quote mechanics.</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dollar figure is a synthetic planning input, not an Azure list price or Cognizant rate card. Reprice using dated customer agreement prices, actual geography, role mix, support pool cost and Finance policy. No FX conversion is used. USD excludes taxes, licences, optional assessment and changes. Numbers deliberately demonstrate quote mechanics. Uniform reserve and margin used only for this worked example. Credits are not approved Cognizant policy. Infra 40 days already includes 8 integration/handover days; do not add another coordination charge.</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baseline from V3. Each row has one accountable tower. DevOps owns Terraform in the source baseline. Move ownership only when staffing and maintenance responsibility change.</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7d403417fe4a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04ef767c14e4c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a9a33b12e946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606d8c31fb49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660a9eeaee40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65a2b9d8f641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18FDA5-ACE3-44DB-8DC0-0A4729B340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C75EEF9-4F66-4415-B2E5-D1AAF4C545F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018165-4838-4621-AF72-51A0E7B5EA0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19A199-9881-41F5-8ED5-3E8CACFBC1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752892-852F-44E3-87BB-012D645DF29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3881C-F730-4808-881A-C718D58D4B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7E8E83-6ECC-429D-B63D-DC542E122A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A74DEB-B245-4905-8FFE-FDE22EC7F12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2BF72F-79F3-4FCB-8474-E2F40BECA9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E92347-0937-49A5-9332-ED68A271E2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37369b3fa44229" /><Relationship Type="http://schemas.openxmlformats.org/officeDocument/2006/relationships/slideLayout" Target="/ppt/slideLayouts/slideLayout1.xml" Id="R9880acda324240ad" /><Relationship Type="http://schemas.openxmlformats.org/officeDocument/2006/relationships/slideLayout" Target="/ppt/slideLayouts/slideLayout2.xml" Id="Rb0d42d4bfe82468e" /><Relationship Type="http://schemas.openxmlformats.org/officeDocument/2006/relationships/slideLayout" Target="/ppt/slideLayouts/slideLayout3.xml" Id="R6a5d2e68fa5f4e84" /><Relationship Type="http://schemas.openxmlformats.org/officeDocument/2006/relationships/slideLayout" Target="/ppt/slideLayouts/slideLayout4.xml" Id="R7b3d2a4eb7b74b93" /><Relationship Type="http://schemas.openxmlformats.org/officeDocument/2006/relationships/slideLayout" Target="/ppt/slideLayouts/slideLayout5.xml" Id="Rc1f91105decd4eb5" /><Relationship Type="http://schemas.openxmlformats.org/officeDocument/2006/relationships/slideLayout" Target="/ppt/slideLayouts/slideLayout6.xml" Id="R588e4f6b0c1345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80acda324240ad"/>
    <p:sldLayoutId xmlns:r="http://schemas.openxmlformats.org/officeDocument/2006/relationships" id="2147483650" r:id="Rb0d42d4bfe82468e"/>
    <p:sldLayoutId xmlns:r="http://schemas.openxmlformats.org/officeDocument/2006/relationships" id="2147483651" r:id="R6a5d2e68fa5f4e84"/>
    <p:sldLayoutId xmlns:r="http://schemas.openxmlformats.org/officeDocument/2006/relationships" id="2147483652" r:id="R7b3d2a4eb7b74b93"/>
    <p:sldLayoutId xmlns:r="http://schemas.openxmlformats.org/officeDocument/2006/relationships" id="2147483653" r:id="Rc1f91105decd4eb5"/>
    <p:sldLayoutId xmlns:r="http://schemas.openxmlformats.org/officeDocument/2006/relationships" id="2147483654" r:id="R588e4f6b0c1345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ognizant referenc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Gellix"/>
        <a:ea typeface=""/>
        <a:cs typeface=""/>
      </a:majorFont>
      <a:minorFont>
        <a:latin typeface="Gellix"/>
        <a:ea typeface=""/>
        <a:cs typeface=""/>
      </a:minorFont>
    </a:fontScheme>
    <a:fmtScheme name="Cognizant referenc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69ec33d696b4e27" /><Relationship Type="http://schemas.openxmlformats.org/officeDocument/2006/relationships/image" Target="/ppt/media/image.png" Id="Rd0b3908313c7462d" /><Relationship Type="http://schemas.openxmlformats.org/officeDocument/2006/relationships/notesSlide" Target="/ppt/notesSlides/notesSlide1.xml" Id="Rac0dba50eabe4a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ed7b761f0d4319" /><Relationship Type="http://schemas.openxmlformats.org/officeDocument/2006/relationships/image" Target="/ppt/media/image2.png" Id="R6758e16dd7554da3" /><Relationship Type="http://schemas.openxmlformats.org/officeDocument/2006/relationships/notesSlide" Target="/ppt/notesSlides/notesSlide2.xml" Id="Rce26ec8f3b7b4c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f8c2c598a1489b" /><Relationship Type="http://schemas.openxmlformats.org/officeDocument/2006/relationships/image" Target="/ppt/media/image3.png" Id="R2e2429f816bf48fc" /><Relationship Type="http://schemas.openxmlformats.org/officeDocument/2006/relationships/notesSlide" Target="/ppt/notesSlides/notesSlide3.xml" Id="R6de4f41db4174a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df761f0fac0438b" /><Relationship Type="http://schemas.openxmlformats.org/officeDocument/2006/relationships/image" Target="/ppt/media/image4.png" Id="R7a403cec82294b14" /><Relationship Type="http://schemas.openxmlformats.org/officeDocument/2006/relationships/notesSlide" Target="/ppt/notesSlides/notesSlide4.xml" Id="Rf7ab0772105141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02fafaf1764775" /><Relationship Type="http://schemas.openxmlformats.org/officeDocument/2006/relationships/image" Target="/ppt/media/image5.png" Id="Rc6d6a2b4e3ec45ea" /><Relationship Type="http://schemas.openxmlformats.org/officeDocument/2006/relationships/notesSlide" Target="/ppt/notesSlides/notesSlide5.xml" Id="R8861fc1db5ee4f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f521d405a584918" /><Relationship Type="http://schemas.openxmlformats.org/officeDocument/2006/relationships/image" Target="/ppt/media/image6.png" Id="R16157137765b4fa8" /><Relationship Type="http://schemas.openxmlformats.org/officeDocument/2006/relationships/notesSlide" Target="/ppt/notesSlides/notesSlide6.xml" Id="R9b15cb5ccd634f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1c4c112ae041ec" /><Relationship Type="http://schemas.openxmlformats.org/officeDocument/2006/relationships/image" Target="/ppt/media/image7.png" Id="R4e020e59ae8a4359" /><Relationship Type="http://schemas.openxmlformats.org/officeDocument/2006/relationships/notesSlide" Target="/ppt/notesSlides/notesSlide7.xml" Id="R7c7b0766467c41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680403fa75423c" /><Relationship Type="http://schemas.openxmlformats.org/officeDocument/2006/relationships/image" Target="/ppt/media/image8.png" Id="Rf9427ed468b84170" /><Relationship Type="http://schemas.openxmlformats.org/officeDocument/2006/relationships/notesSlide" Target="/ppt/notesSlides/notesSlide8.xml" Id="R2e986aef759547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edd433b99b146aa" /><Relationship Type="http://schemas.openxmlformats.org/officeDocument/2006/relationships/image" Target="/ppt/media/image9.png" Id="Re904f88944f2447d" /><Relationship Type="http://schemas.openxmlformats.org/officeDocument/2006/relationships/notesSlide" Target="/ppt/notesSlides/notesSlide9.xml" Id="Rdb40a08328304f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c4791ba368c4db1" /><Relationship Type="http://schemas.openxmlformats.org/officeDocument/2006/relationships/image" Target="/ppt/media/image10.png" Id="R40fed4429b014075" /><Relationship Type="http://schemas.openxmlformats.org/officeDocument/2006/relationships/notesSlide" Target="/ppt/notesSlides/notesSlide10.xml" Id="Re1c19504346b45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4e139eac11644f6" /><Relationship Type="http://schemas.openxmlformats.org/officeDocument/2006/relationships/image" Target="/ppt/media/image11.png" Id="Rb76f54c1326c4858" /><Relationship Type="http://schemas.openxmlformats.org/officeDocument/2006/relationships/notesSlide" Target="/ppt/notesSlides/notesSlide11.xml" Id="R665e132d1c5240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e583efaaee44172" /><Relationship Type="http://schemas.openxmlformats.org/officeDocument/2006/relationships/image" Target="/ppt/media/image12.png" Id="Rfa4ce875a90846c1" /><Relationship Type="http://schemas.openxmlformats.org/officeDocument/2006/relationships/notesSlide" Target="/ppt/notesSlides/notesSlide12.xml" Id="Ra7317263a2104e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0a8515da9a84123" /><Relationship Type="http://schemas.openxmlformats.org/officeDocument/2006/relationships/image" Target="/ppt/media/image13.png" Id="Red1972014e2d43e4" /><Relationship Type="http://schemas.openxmlformats.org/officeDocument/2006/relationships/notesSlide" Target="/ppt/notesSlides/notesSlide13.xml" Id="R0ac0ce1aef3446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068cad916bd419e" /><Relationship Type="http://schemas.openxmlformats.org/officeDocument/2006/relationships/image" Target="/ppt/media/image14.png" Id="R2e8f80587e774616" /><Relationship Type="http://schemas.openxmlformats.org/officeDocument/2006/relationships/notesSlide" Target="/ppt/notesSlides/notesSlide14.xml" Id="Rce6e266447d149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93d5cbbadb04a96" /><Relationship Type="http://schemas.openxmlformats.org/officeDocument/2006/relationships/image" Target="/ppt/media/image15.png" Id="Rced6e8d51fec449e" /><Relationship Type="http://schemas.openxmlformats.org/officeDocument/2006/relationships/notesSlide" Target="/ppt/notesSlides/notesSlide15.xml" Id="Rb4e559360bee4c4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9701148361249a2" /><Relationship Type="http://schemas.openxmlformats.org/officeDocument/2006/relationships/image" Target="/ppt/media/image16.png" Id="R09b58eb84e6b4844" /><Relationship Type="http://schemas.openxmlformats.org/officeDocument/2006/relationships/notesSlide" Target="/ppt/notesSlides/notesSlide16.xml" Id="Rf058d603d0394c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5999e562cb54f32" /><Relationship Type="http://schemas.openxmlformats.org/officeDocument/2006/relationships/image" Target="/ppt/media/image17.png" Id="R2b8ff3448f1c404a" /><Relationship Type="http://schemas.openxmlformats.org/officeDocument/2006/relationships/notesSlide" Target="/ppt/notesSlides/notesSlide17.xml" Id="R2269b3a687704dba" /></Relationships>
</file>

<file path=ppt/slides/slide1.xml><?xml version="1.0" encoding="utf-8"?>
<p:sld xmlns:p="http://schemas.openxmlformats.org/presentationml/2006/main">
  <p:cSld>
    <p:bg>
      <p:bgPr>
        <a:solidFill xmlns:a="http://schemas.openxmlformats.org/drawingml/2006/main">
          <a:srgbClr val="000048"/>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E691CFB1-107C-457C-8E8B-9AD19DDD6700}"/>
              </a:ext>
            </a:extLst>
          </p:cNvPr>
          <p:cNvPicPr>
            <a:picLocks xmlns:a="http://schemas.openxmlformats.org/drawingml/2006/main" noChangeAspect="1"/>
          </p:cNvPicPr>
          <p:nvPr/>
        </p:nvPicPr>
        <p:blipFill>
          <a:blip xmlns:r="http://schemas.openxmlformats.org/officeDocument/2006/relationships" xmlns:a="http://schemas.openxmlformats.org/drawingml/2006/main" r:embed="Rd0b3908313c7462d"/>
          <a:stretch xmlns:a="http://schemas.openxmlformats.org/drawingml/2006/main"/>
        </p:blipFill>
        <p:spPr>
          <a:xfrm xmlns:a="http://schemas.openxmlformats.org/drawingml/2006/main">
            <a:off x="685800" y="555271"/>
            <a:ext cx="2571750" cy="461084"/>
          </a:xfrm>
          <a:prstGeom xmlns:a="http://schemas.openxmlformats.org/drawingml/2006/main" prst="rect">
            <a:avLst/>
          </a:prstGeom>
        </p:spPr>
      </p:pic>
      <p:sp>
        <p:nvSpPr>
          <p:cNvPr id="2" name="heading">
            <a:extLst xmlns:a="http://schemas.openxmlformats.org/drawingml/2006/main">
              <a:ext uri="{FF2B5EF4-FFF2-40B4-BE49-F238E27FC236}">
                <a16:creationId xmlns:a16="http://schemas.microsoft.com/office/drawing/2014/main" id="{40C087C5-0AD0-4D7A-B5CA-4AA1B6842C41}"/>
              </a:ext>
            </a:extLst>
          </p:cNvPr>
          <p:cNvSpPr>
            <a:spLocks xmlns:a="http://schemas.openxmlformats.org/drawingml/2006/main" noGrp="1"/>
          </p:cNvSpPr>
          <p:nvPr/>
        </p:nvSpPr>
        <p:spPr>
          <a:xfrm xmlns:a="http://schemas.openxmlformats.org/drawingml/2006/main">
            <a:off x="685800" y="2076450"/>
            <a:ext cx="1066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FFFFFF"/>
                </a:solidFill>
              </a:defRPr>
            </a:defPPr>
          </a:lstStyle>
          <a:p xmlns:a="http://schemas.openxmlformats.org/drawingml/2006/main">
            <a:pPr>
              <a:defRPr sz="4800" b="0">
                <a:solidFill>
                  <a:srgbClr val="FFFFFF"/>
                </a:solidFill>
              </a:defRPr>
            </a:pPr>
            <a:r>
              <a:rPr sz="4800" b="0">
                <a:solidFill>
                  <a:srgbClr val="FFFFFF"/>
                </a:solidFill>
              </a:rPr>
              <a:t>Azure AI Platform</a:t>
            </a:r>
          </a:p>
          <a:p xmlns:a="http://schemas.openxmlformats.org/drawingml/2006/main">
            <a:pPr>
              <a:defRPr sz="4800" b="0">
                <a:solidFill>
                  <a:srgbClr val="FFFFFF"/>
                </a:solidFill>
              </a:defRPr>
            </a:pPr>
            <a:r>
              <a:rPr sz="4800" b="0">
                <a:solidFill>
                  <a:srgbClr val="FFFFFF"/>
                </a:solidFill>
              </a:rPr>
              <a:t>Foundation and Operations</a:t>
            </a:r>
          </a:p>
        </p:txBody>
      </p:sp>
      <p:sp>
        <p:nvSpPr>
          <p:cNvPr id="3" name="content">
            <a:extLst xmlns:a="http://schemas.openxmlformats.org/drawingml/2006/main">
              <a:ext uri="{FF2B5EF4-FFF2-40B4-BE49-F238E27FC236}">
                <a16:creationId xmlns:a16="http://schemas.microsoft.com/office/drawing/2014/main" id="{2B2AC268-D938-48EF-8614-45680FE0D796}"/>
              </a:ext>
            </a:extLst>
          </p:cNvPr>
          <p:cNvSpPr>
            <a:spLocks xmlns:a="http://schemas.openxmlformats.org/drawingml/2006/main" noGrp="1"/>
          </p:cNvSpPr>
          <p:nvPr/>
        </p:nvSpPr>
        <p:spPr>
          <a:xfrm xmlns:a="http://schemas.openxmlformats.org/drawingml/2006/main">
            <a:off x="685800" y="40957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6EFE9"/>
                </a:solidFill>
              </a:defRPr>
            </a:defPPr>
          </a:lstStyle>
          <a:p xmlns:a="http://schemas.openxmlformats.org/drawingml/2006/main">
            <a:pPr>
              <a:defRPr sz="2400" b="0">
                <a:solidFill>
                  <a:srgbClr val="26EFE9"/>
                </a:solidFill>
              </a:defRPr>
            </a:pPr>
            <a:r>
              <a:rPr sz="2400" b="0">
                <a:solidFill>
                  <a:srgbClr val="26EFE9"/>
                </a:solidFill>
              </a:rPr>
              <a:t>CIS Infra GTM offering proposal</a:t>
            </a:r>
          </a:p>
        </p:txBody>
      </p:sp>
      <p:sp>
        <p:nvSpPr>
          <p:cNvPr id="4" name="content">
            <a:extLst xmlns:a="http://schemas.openxmlformats.org/drawingml/2006/main">
              <a:ext uri="{FF2B5EF4-FFF2-40B4-BE49-F238E27FC236}">
                <a16:creationId xmlns:a16="http://schemas.microsoft.com/office/drawing/2014/main" id="{4A65696E-25AD-471B-A650-31922422D585}"/>
              </a:ext>
            </a:extLst>
          </p:cNvPr>
          <p:cNvSpPr>
            <a:spLocks xmlns:a="http://schemas.openxmlformats.org/drawingml/2006/main" noGrp="1"/>
          </p:cNvSpPr>
          <p:nvPr/>
        </p:nvSpPr>
        <p:spPr>
          <a:xfrm xmlns:a="http://schemas.openxmlformats.org/drawingml/2006/main">
            <a:off x="685800" y="50958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defRPr>
            </a:defPPr>
          </a:lstStyle>
          <a:p xmlns:a="http://schemas.openxmlformats.org/drawingml/2006/main">
            <a:pPr>
              <a:defRPr sz="1950" b="0">
                <a:solidFill>
                  <a:srgbClr val="FFFFFF"/>
                </a:solidFill>
              </a:defRPr>
            </a:pPr>
            <a:r>
              <a:rPr sz="1950" b="0">
                <a:solidFill>
                  <a:srgbClr val="FFFFFF"/>
                </a:solidFill>
              </a:rPr>
              <a:t>Leadership decision edition / Revision 2</a:t>
            </a:r>
          </a:p>
          <a:p xmlns:a="http://schemas.openxmlformats.org/drawingml/2006/main">
            <a:pPr>
              <a:defRPr sz="1950" b="0">
                <a:solidFill>
                  <a:srgbClr val="FFFFFF"/>
                </a:solidFill>
              </a:defRPr>
            </a:pPr>
            <a:r>
              <a:rPr sz="1950" b="0">
                <a:solidFill>
                  <a:srgbClr val="FFFFFF"/>
                </a:solidFill>
              </a:rPr>
              <a:t>EMEA and US / Illustrative USD economics</a:t>
            </a:r>
          </a:p>
        </p:txBody>
      </p:sp>
      <p:sp>
        <p:nvSpPr>
          <p:cNvPr id="5" name="content">
            <a:extLst xmlns:a="http://schemas.openxmlformats.org/drawingml/2006/main">
              <a:ext uri="{FF2B5EF4-FFF2-40B4-BE49-F238E27FC236}">
                <a16:creationId xmlns:a16="http://schemas.microsoft.com/office/drawing/2014/main" id="{621CB8A3-38A7-4904-866B-A40F296C17CA}"/>
              </a:ext>
            </a:extLst>
          </p:cNvPr>
          <p:cNvSpPr>
            <a:spLocks xmlns:a="http://schemas.openxmlformats.org/drawingml/2006/main" noGrp="1"/>
          </p:cNvSpPr>
          <p:nvPr/>
        </p:nvSpPr>
        <p:spPr>
          <a:xfrm xmlns:a="http://schemas.openxmlformats.org/drawingml/2006/main">
            <a:off x="685800" y="63627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defRPr>
            </a:defPPr>
          </a:lstStyle>
          <a:p xmlns:a="http://schemas.openxmlformats.org/drawingml/2006/main">
            <a:pPr>
              <a:defRPr sz="1350" b="0">
                <a:solidFill>
                  <a:srgbClr val="FFFFFF"/>
                </a:solidFill>
              </a:defRPr>
            </a:pPr>
            <a:r>
              <a:rPr sz="1350" b="0">
                <a:solidFill>
                  <a:srgbClr val="FFFFFF"/>
                </a:solidFill>
              </a:rPr>
              <a:t>Upendra Kumar / Azure Presales Architect / 10 October 2026</a:t>
            </a:r>
          </a:p>
        </p:txBody>
      </p:sp>
    </p:spTree>
    <p:extLst>
      <p:ext uri="{BB962C8B-B14F-4D97-AF65-F5344CB8AC3E}">
        <p14:creationId xmlns:p14="http://schemas.microsoft.com/office/powerpoint/2010/main" val="4701523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203C55D8-2538-4E5A-9629-D956CBA27FFB}"/>
              </a:ext>
            </a:extLst>
          </p:cNvPr>
          <p:cNvPicPr>
            <a:picLocks xmlns:a="http://schemas.openxmlformats.org/drawingml/2006/main" noChangeAspect="1"/>
          </p:cNvPicPr>
          <p:nvPr/>
        </p:nvPicPr>
        <p:blipFill>
          <a:blip xmlns:r="http://schemas.openxmlformats.org/officeDocument/2006/relationships" xmlns:a="http://schemas.openxmlformats.org/drawingml/2006/main" r:embed="R6758e16dd7554da3"/>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7AD3C2B6-D90A-4BC3-81E5-319F86DA4B14}"/>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GTM offering proposal</a:t>
            </a:r>
          </a:p>
        </p:txBody>
      </p:sp>
      <p:sp>
        <p:nvSpPr>
          <p:cNvPr id="3" name="heading">
            <a:extLst xmlns:a="http://schemas.openxmlformats.org/drawingml/2006/main">
              <a:ext uri="{FF2B5EF4-FFF2-40B4-BE49-F238E27FC236}">
                <a16:creationId xmlns:a16="http://schemas.microsoft.com/office/drawing/2014/main" id="{2EF9E80B-D665-403F-B2B6-6FAC75C2384D}"/>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 funded AI pilot needs an operable platform</a:t>
            </a:r>
          </a:p>
        </p:txBody>
      </p:sp>
      <p:sp>
        <p:nvSpPr>
          <p:cNvPr id="4" name="content">
            <a:extLst xmlns:a="http://schemas.openxmlformats.org/drawingml/2006/main">
              <a:ext uri="{FF2B5EF4-FFF2-40B4-BE49-F238E27FC236}">
                <a16:creationId xmlns:a16="http://schemas.microsoft.com/office/drawing/2014/main" id="{387FC1E2-B8E9-4161-88BF-FEF1827FDF77}"/>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Customer problem</a:t>
            </a:r>
          </a:p>
        </p:txBody>
      </p:sp>
      <p:sp>
        <p:nvSpPr>
          <p:cNvPr id="5" name="content">
            <a:extLst xmlns:a="http://schemas.openxmlformats.org/drawingml/2006/main">
              <a:ext uri="{FF2B5EF4-FFF2-40B4-BE49-F238E27FC236}">
                <a16:creationId xmlns:a16="http://schemas.microsoft.com/office/drawing/2014/main" id="{03E26572-B061-4910-B60B-7898F92D4D13}"/>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 pilot cannot enter production until access, networking, release controls and service ownership are resolved.</a:t>
            </a:r>
          </a:p>
        </p:txBody>
      </p:sp>
      <p:sp>
        <p:nvSpPr>
          <p:cNvPr id="6" name="content">
            <a:extLst xmlns:a="http://schemas.openxmlformats.org/drawingml/2006/main">
              <a:ext uri="{FF2B5EF4-FFF2-40B4-BE49-F238E27FC236}">
                <a16:creationId xmlns:a16="http://schemas.microsoft.com/office/drawing/2014/main" id="{F0C3132A-C1F4-4420-A03A-C2245569832F}"/>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Buyer</a:t>
            </a:r>
          </a:p>
        </p:txBody>
      </p:sp>
      <p:sp>
        <p:nvSpPr>
          <p:cNvPr id="7" name="content">
            <a:extLst xmlns:a="http://schemas.openxmlformats.org/drawingml/2006/main">
              <a:ext uri="{FF2B5EF4-FFF2-40B4-BE49-F238E27FC236}">
                <a16:creationId xmlns:a16="http://schemas.microsoft.com/office/drawing/2014/main" id="{D681F1C9-129B-4110-9F8B-E304A1132996}"/>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Azure platform owner with a funded AI workload and a business sponsor.</a:t>
            </a:r>
          </a:p>
        </p:txBody>
      </p:sp>
      <p:sp>
        <p:nvSpPr>
          <p:cNvPr id="8" name="content">
            <a:extLst xmlns:a="http://schemas.openxmlformats.org/drawingml/2006/main">
              <a:ext uri="{FF2B5EF4-FFF2-40B4-BE49-F238E27FC236}">
                <a16:creationId xmlns:a16="http://schemas.microsoft.com/office/drawing/2014/main" id="{20B7AE63-8FD7-4FB1-BFB9-7130D12E8217}"/>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Commercial entry</a:t>
            </a:r>
          </a:p>
        </p:txBody>
      </p:sp>
      <p:sp>
        <p:nvSpPr>
          <p:cNvPr id="9" name="content">
            <a:extLst xmlns:a="http://schemas.openxmlformats.org/drawingml/2006/main">
              <a:ext uri="{FF2B5EF4-FFF2-40B4-BE49-F238E27FC236}">
                <a16:creationId xmlns:a16="http://schemas.microsoft.com/office/drawing/2014/main" id="{00ADE1EA-73D5-4B0B-ABA4-762CA92527D0}"/>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Paid assessment for unresolved prerequisites. Implementation when the boundary is clear.</a:t>
            </a:r>
          </a:p>
        </p:txBody>
      </p:sp>
      <p:sp>
        <p:nvSpPr>
          <p:cNvPr id="10" name="content">
            <a:extLst xmlns:a="http://schemas.openxmlformats.org/drawingml/2006/main">
              <a:ext uri="{FF2B5EF4-FFF2-40B4-BE49-F238E27FC236}">
                <a16:creationId xmlns:a16="http://schemas.microsoft.com/office/drawing/2014/main" id="{E8CCB7C3-47ED-47C1-8DD3-656BE9508887}"/>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Customer outcome</a:t>
            </a:r>
          </a:p>
        </p:txBody>
      </p:sp>
      <p:sp>
        <p:nvSpPr>
          <p:cNvPr id="11" name="content">
            <a:extLst xmlns:a="http://schemas.openxmlformats.org/drawingml/2006/main">
              <a:ext uri="{FF2B5EF4-FFF2-40B4-BE49-F238E27FC236}">
                <a16:creationId xmlns:a16="http://schemas.microsoft.com/office/drawing/2014/main" id="{94F712D1-1DB0-4E6F-8239-D23390D9CCCA}"/>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An approved platform for one workload, with tested access, repeatable deployment and named support owners.</a:t>
            </a:r>
          </a:p>
        </p:txBody>
      </p:sp>
      <p:sp>
        <p:nvSpPr>
          <p:cNvPr id="12" name="content">
            <a:extLst xmlns:a="http://schemas.openxmlformats.org/drawingml/2006/main">
              <a:ext uri="{FF2B5EF4-FFF2-40B4-BE49-F238E27FC236}">
                <a16:creationId xmlns:a16="http://schemas.microsoft.com/office/drawing/2014/main" id="{A5D7D8D5-A32C-4883-ACEF-7A0AA7FECEDC}"/>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Value evidence</a:t>
            </a:r>
          </a:p>
        </p:txBody>
      </p:sp>
      <p:sp>
        <p:nvSpPr>
          <p:cNvPr id="13" name="content">
            <a:extLst xmlns:a="http://schemas.openxmlformats.org/drawingml/2006/main">
              <a:ext uri="{FF2B5EF4-FFF2-40B4-BE49-F238E27FC236}">
                <a16:creationId xmlns:a16="http://schemas.microsoft.com/office/drawing/2014/main" id="{2AB1070A-4088-48EE-8BDE-96543801781F}"/>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Measure lead time, permission failures, cost per accepted answer and time saved.</a:t>
            </a:r>
          </a:p>
        </p:txBody>
      </p:sp>
      <p:sp>
        <p:nvSpPr>
          <p:cNvPr id="14" name="content">
            <a:extLst xmlns:a="http://schemas.openxmlformats.org/drawingml/2006/main">
              <a:ext uri="{FF2B5EF4-FFF2-40B4-BE49-F238E27FC236}">
                <a16:creationId xmlns:a16="http://schemas.microsoft.com/office/drawing/2014/main" id="{55ECD810-9A8F-483B-AAB6-E1F8E6DDCE6B}"/>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Proposed positioning</a:t>
            </a:r>
          </a:p>
        </p:txBody>
      </p:sp>
      <p:sp>
        <p:nvSpPr>
          <p:cNvPr id="15" name="content">
            <a:extLst xmlns:a="http://schemas.openxmlformats.org/drawingml/2006/main">
              <a:ext uri="{FF2B5EF4-FFF2-40B4-BE49-F238E27FC236}">
                <a16:creationId xmlns:a16="http://schemas.microsoft.com/office/drawing/2014/main" id="{A7EAB2C3-236D-468A-9594-406715E3B7E0}"/>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Infra integrates the platform. Specialist towers retain their deliverables and revenue.</a:t>
            </a:r>
          </a:p>
        </p:txBody>
      </p:sp>
      <p:sp>
        <p:nvSpPr>
          <p:cNvPr id="16" name="content">
            <a:extLst xmlns:a="http://schemas.openxmlformats.org/drawingml/2006/main">
              <a:ext uri="{FF2B5EF4-FFF2-40B4-BE49-F238E27FC236}">
                <a16:creationId xmlns:a16="http://schemas.microsoft.com/office/drawing/2014/main" id="{637D128E-6D43-478F-B528-83ECC5415692}"/>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Market hypothesis for account validation. No customer demand or benefit has been demonstrated yet.</a:t>
            </a:r>
          </a:p>
        </p:txBody>
      </p:sp>
      <p:sp>
        <p:nvSpPr>
          <p:cNvPr id="17" name="content">
            <a:extLst xmlns:a="http://schemas.openxmlformats.org/drawingml/2006/main">
              <a:ext uri="{FF2B5EF4-FFF2-40B4-BE49-F238E27FC236}">
                <a16:creationId xmlns:a16="http://schemas.microsoft.com/office/drawing/2014/main" id="{289A8B5D-1BB6-40AD-91CC-D37A5D3E348F}"/>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46F246C2-0B3A-4E2F-A527-E284F08BC11C}"/>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02</a:t>
            </a:r>
          </a:p>
        </p:txBody>
      </p:sp>
    </p:spTree>
    <p:extLst>
      <p:ext uri="{BB962C8B-B14F-4D97-AF65-F5344CB8AC3E}">
        <p14:creationId xmlns:p14="http://schemas.microsoft.com/office/powerpoint/2010/main" val="3072879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8343EECE-BBE7-4F40-8D43-EFE83BE90194}"/>
              </a:ext>
            </a:extLst>
          </p:cNvPr>
          <p:cNvPicPr>
            <a:picLocks xmlns:a="http://schemas.openxmlformats.org/drawingml/2006/main" noChangeAspect="1"/>
          </p:cNvPicPr>
          <p:nvPr/>
        </p:nvPicPr>
        <p:blipFill>
          <a:blip xmlns:r="http://schemas.openxmlformats.org/officeDocument/2006/relationships" xmlns:a="http://schemas.openxmlformats.org/drawingml/2006/main" r:embed="R2e2429f816bf48fc"/>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3CCA7BE5-9B98-4B8F-BE12-26EA992A218C}"/>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GTM offering proposal</a:t>
            </a:r>
          </a:p>
        </p:txBody>
      </p:sp>
      <p:sp>
        <p:nvSpPr>
          <p:cNvPr id="3" name="heading">
            <a:extLst xmlns:a="http://schemas.openxmlformats.org/drawingml/2006/main">
              <a:ext uri="{FF2B5EF4-FFF2-40B4-BE49-F238E27FC236}">
                <a16:creationId xmlns:a16="http://schemas.microsoft.com/office/drawing/2014/main" id="{8D0162EE-7F6E-482E-BD79-97FECC375744}"/>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One foundation offer anchors the portfolio</a:t>
            </a:r>
          </a:p>
        </p:txBody>
      </p:sp>
      <p:sp>
        <p:nvSpPr>
          <p:cNvPr id="4" name="content">
            <a:extLst xmlns:a="http://schemas.openxmlformats.org/drawingml/2006/main">
              <a:ext uri="{FF2B5EF4-FFF2-40B4-BE49-F238E27FC236}">
                <a16:creationId xmlns:a16="http://schemas.microsoft.com/office/drawing/2014/main" id="{A1C534A5-9595-4372-8C4A-1B23C8C4960D}"/>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Entry assessment</a:t>
            </a:r>
          </a:p>
        </p:txBody>
      </p:sp>
      <p:sp>
        <p:nvSpPr>
          <p:cNvPr id="5" name="content">
            <a:extLst xmlns:a="http://schemas.openxmlformats.org/drawingml/2006/main">
              <a:ext uri="{FF2B5EF4-FFF2-40B4-BE49-F238E27FC236}">
                <a16:creationId xmlns:a16="http://schemas.microsoft.com/office/drawing/2014/main" id="{F05CFE11-94EF-49FB-9466-931C581DFF3B}"/>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Bounded discovery, architecture decisions and an implementation estimate.</a:t>
            </a:r>
          </a:p>
        </p:txBody>
      </p:sp>
      <p:sp>
        <p:nvSpPr>
          <p:cNvPr id="6" name="content">
            <a:extLst xmlns:a="http://schemas.openxmlformats.org/drawingml/2006/main">
              <a:ext uri="{FF2B5EF4-FFF2-40B4-BE49-F238E27FC236}">
                <a16:creationId xmlns:a16="http://schemas.microsoft.com/office/drawing/2014/main" id="{DC196BA3-AE0B-4111-A796-E0BDD290D30E}"/>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Primary implementation</a:t>
            </a:r>
          </a:p>
        </p:txBody>
      </p:sp>
      <p:sp>
        <p:nvSpPr>
          <p:cNvPr id="7" name="content">
            <a:extLst xmlns:a="http://schemas.openxmlformats.org/drawingml/2006/main">
              <a:ext uri="{FF2B5EF4-FFF2-40B4-BE49-F238E27FC236}">
                <a16:creationId xmlns:a16="http://schemas.microsoft.com/office/drawing/2014/main" id="{15C34169-AFE8-4614-B4A6-81EBAE329F6A}"/>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One source, one read-only workload, development and production on an existing landing zone.</a:t>
            </a:r>
          </a:p>
        </p:txBody>
      </p:sp>
      <p:sp>
        <p:nvSpPr>
          <p:cNvPr id="8" name="content">
            <a:extLst xmlns:a="http://schemas.openxmlformats.org/drawingml/2006/main">
              <a:ext uri="{FF2B5EF4-FFF2-40B4-BE49-F238E27FC236}">
                <a16:creationId xmlns:a16="http://schemas.microsoft.com/office/drawing/2014/main" id="{12BC0A30-87EC-4F44-9AF8-95E393C8395A}"/>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Recurring companion</a:t>
            </a:r>
          </a:p>
        </p:txBody>
      </p:sp>
      <p:sp>
        <p:nvSpPr>
          <p:cNvPr id="9" name="content">
            <a:extLst xmlns:a="http://schemas.openxmlformats.org/drawingml/2006/main">
              <a:ext uri="{FF2B5EF4-FFF2-40B4-BE49-F238E27FC236}">
                <a16:creationId xmlns:a16="http://schemas.microsoft.com/office/drawing/2014/main" id="{FCCF6664-E04A-4CE7-8058-4C6980C466A4}"/>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Platform operations with agreed coverage and specialist resolver routing.</a:t>
            </a:r>
          </a:p>
        </p:txBody>
      </p:sp>
      <p:sp>
        <p:nvSpPr>
          <p:cNvPr id="10" name="content">
            <a:extLst xmlns:a="http://schemas.openxmlformats.org/drawingml/2006/main">
              <a:ext uri="{FF2B5EF4-FFF2-40B4-BE49-F238E27FC236}">
                <a16:creationId xmlns:a16="http://schemas.microsoft.com/office/drawing/2014/main" id="{2EAEF904-8D07-4647-999C-FFEE59C2606D}"/>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Expansion options</a:t>
            </a:r>
          </a:p>
        </p:txBody>
      </p:sp>
      <p:sp>
        <p:nvSpPr>
          <p:cNvPr id="11" name="content">
            <a:extLst xmlns:a="http://schemas.openxmlformats.org/drawingml/2006/main">
              <a:ext uri="{FF2B5EF4-FFF2-40B4-BE49-F238E27FC236}">
                <a16:creationId xmlns:a16="http://schemas.microsoft.com/office/drawing/2014/main" id="{14365550-8915-4910-8112-2C6C1A102D1C}"/>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Additional sources, geography, capacity, gateways and recovery requirements.</a:t>
            </a:r>
          </a:p>
        </p:txBody>
      </p:sp>
      <p:sp>
        <p:nvSpPr>
          <p:cNvPr id="12" name="content">
            <a:extLst xmlns:a="http://schemas.openxmlformats.org/drawingml/2006/main">
              <a:ext uri="{FF2B5EF4-FFF2-40B4-BE49-F238E27FC236}">
                <a16:creationId xmlns:a16="http://schemas.microsoft.com/office/drawing/2014/main" id="{866EE1CB-C7C4-4B63-8748-17E098F4B1E8}"/>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Separate practices</a:t>
            </a:r>
          </a:p>
        </p:txBody>
      </p:sp>
      <p:sp>
        <p:nvSpPr>
          <p:cNvPr id="13" name="content">
            <a:extLst xmlns:a="http://schemas.openxmlformats.org/drawingml/2006/main">
              <a:ext uri="{FF2B5EF4-FFF2-40B4-BE49-F238E27FC236}">
                <a16:creationId xmlns:a16="http://schemas.microsoft.com/office/drawing/2014/main" id="{D661241D-73E6-4ADB-A248-603A394108C7}"/>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M365 Copilot and Copilot Studio have their own lead practice, scope and licensing.</a:t>
            </a:r>
          </a:p>
        </p:txBody>
      </p:sp>
      <p:sp>
        <p:nvSpPr>
          <p:cNvPr id="14" name="content">
            <a:extLst xmlns:a="http://schemas.openxmlformats.org/drawingml/2006/main">
              <a:ext uri="{FF2B5EF4-FFF2-40B4-BE49-F238E27FC236}">
                <a16:creationId xmlns:a16="http://schemas.microsoft.com/office/drawing/2014/main" id="{A0D7B390-8502-4CF1-A072-C2E0212B9322}"/>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Scope discipline</a:t>
            </a:r>
          </a:p>
        </p:txBody>
      </p:sp>
      <p:sp>
        <p:nvSpPr>
          <p:cNvPr id="15" name="content">
            <a:extLst xmlns:a="http://schemas.openxmlformats.org/drawingml/2006/main">
              <a:ext uri="{FF2B5EF4-FFF2-40B4-BE49-F238E27FC236}">
                <a16:creationId xmlns:a16="http://schemas.microsoft.com/office/drawing/2014/main" id="{28AC043E-5BF0-4227-81E2-959D18B847AD}"/>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 new landing zone, WAN, SOC or autonomous action workflow requires another work package.</a:t>
            </a:r>
          </a:p>
        </p:txBody>
      </p:sp>
      <p:sp>
        <p:nvSpPr>
          <p:cNvPr id="16" name="content">
            <a:extLst xmlns:a="http://schemas.openxmlformats.org/drawingml/2006/main">
              <a:ext uri="{FF2B5EF4-FFF2-40B4-BE49-F238E27FC236}">
                <a16:creationId xmlns:a16="http://schemas.microsoft.com/office/drawing/2014/main" id="{13181A81-94D3-406B-9766-0CE10AAFBF45}"/>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Assessment and operations support the primary offer. They are not three equal launch priorities.</a:t>
            </a:r>
          </a:p>
        </p:txBody>
      </p:sp>
      <p:sp>
        <p:nvSpPr>
          <p:cNvPr id="17" name="content">
            <a:extLst xmlns:a="http://schemas.openxmlformats.org/drawingml/2006/main">
              <a:ext uri="{FF2B5EF4-FFF2-40B4-BE49-F238E27FC236}">
                <a16:creationId xmlns:a16="http://schemas.microsoft.com/office/drawing/2014/main" id="{D21779FB-579A-4F46-914E-E2F4B579542C}"/>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83E8CCFF-4EAC-4DDA-AAB8-569B7E1D7A1B}"/>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03</a:t>
            </a:r>
          </a:p>
        </p:txBody>
      </p:sp>
    </p:spTree>
    <p:extLst>
      <p:ext uri="{BB962C8B-B14F-4D97-AF65-F5344CB8AC3E}">
        <p14:creationId xmlns:p14="http://schemas.microsoft.com/office/powerpoint/2010/main" val="13766258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804EF0DB-B282-4784-9181-A635B747EE3F}"/>
              </a:ext>
            </a:extLst>
          </p:cNvPr>
          <p:cNvPicPr>
            <a:picLocks xmlns:a="http://schemas.openxmlformats.org/drawingml/2006/main" noChangeAspect="1"/>
          </p:cNvPicPr>
          <p:nvPr/>
        </p:nvPicPr>
        <p:blipFill>
          <a:blip xmlns:r="http://schemas.openxmlformats.org/officeDocument/2006/relationships" xmlns:a="http://schemas.openxmlformats.org/drawingml/2006/main" r:embed="R7a403cec82294b14"/>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CA271E3C-A6D9-4B53-B38F-9C1A6F4D8470}"/>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GTM offering proposal</a:t>
            </a:r>
          </a:p>
        </p:txBody>
      </p:sp>
      <p:sp>
        <p:nvSpPr>
          <p:cNvPr id="3" name="heading">
            <a:extLst xmlns:a="http://schemas.openxmlformats.org/drawingml/2006/main">
              <a:ext uri="{FF2B5EF4-FFF2-40B4-BE49-F238E27FC236}">
                <a16:creationId xmlns:a16="http://schemas.microsoft.com/office/drawing/2014/main" id="{C1C868BC-9D73-4056-8E38-CE3AA25B7327}"/>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The offer sells measurable delivery evidence</a:t>
            </a:r>
          </a:p>
        </p:txBody>
      </p:sp>
      <p:sp>
        <p:nvSpPr>
          <p:cNvPr id="4" name="content">
            <a:extLst xmlns:a="http://schemas.openxmlformats.org/drawingml/2006/main">
              <a:ext uri="{FF2B5EF4-FFF2-40B4-BE49-F238E27FC236}">
                <a16:creationId xmlns:a16="http://schemas.microsoft.com/office/drawing/2014/main" id="{51C1ADD4-C907-4CE7-8C21-31B4D7EAF3FF}"/>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Platform evidence</a:t>
            </a:r>
          </a:p>
        </p:txBody>
      </p:sp>
      <p:sp>
        <p:nvSpPr>
          <p:cNvPr id="5" name="content">
            <a:extLst xmlns:a="http://schemas.openxmlformats.org/drawingml/2006/main">
              <a:ext uri="{FF2B5EF4-FFF2-40B4-BE49-F238E27FC236}">
                <a16:creationId xmlns:a16="http://schemas.microsoft.com/office/drawing/2014/main" id="{D223A166-B3E6-407E-9374-9EC5C04001C6}"/>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Versioned Terraform, release controls, connectivity tests and a deployment record.</a:t>
            </a:r>
          </a:p>
        </p:txBody>
      </p:sp>
      <p:sp>
        <p:nvSpPr>
          <p:cNvPr id="6" name="content">
            <a:extLst xmlns:a="http://schemas.openxmlformats.org/drawingml/2006/main">
              <a:ext uri="{FF2B5EF4-FFF2-40B4-BE49-F238E27FC236}">
                <a16:creationId xmlns:a16="http://schemas.microsoft.com/office/drawing/2014/main" id="{FCC515A0-CD1F-4B48-8A80-C0AA7C765404}"/>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Workload evidence</a:t>
            </a:r>
          </a:p>
        </p:txBody>
      </p:sp>
      <p:sp>
        <p:nvSpPr>
          <p:cNvPr id="7" name="content">
            <a:extLst xmlns:a="http://schemas.openxmlformats.org/drawingml/2006/main">
              <a:ext uri="{FF2B5EF4-FFF2-40B4-BE49-F238E27FC236}">
                <a16:creationId xmlns:a16="http://schemas.microsoft.com/office/drawing/2014/main" id="{413E8DC8-617A-4A21-B650-C276A383A934}"/>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Representative questions, citations, permission tests and a quality evaluation set.</a:t>
            </a:r>
          </a:p>
        </p:txBody>
      </p:sp>
      <p:sp>
        <p:nvSpPr>
          <p:cNvPr id="8" name="content">
            <a:extLst xmlns:a="http://schemas.openxmlformats.org/drawingml/2006/main">
              <a:ext uri="{FF2B5EF4-FFF2-40B4-BE49-F238E27FC236}">
                <a16:creationId xmlns:a16="http://schemas.microsoft.com/office/drawing/2014/main" id="{6D69164F-97AE-415F-9B91-5256616EA86E}"/>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Service evidence</a:t>
            </a:r>
          </a:p>
        </p:txBody>
      </p:sp>
      <p:sp>
        <p:nvSpPr>
          <p:cNvPr id="9" name="content">
            <a:extLst xmlns:a="http://schemas.openxmlformats.org/drawingml/2006/main">
              <a:ext uri="{FF2B5EF4-FFF2-40B4-BE49-F238E27FC236}">
                <a16:creationId xmlns:a16="http://schemas.microsoft.com/office/drawing/2014/main" id="{8DB75A9A-FFE9-4B9D-AA45-610207016A87}"/>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Cost allocation, alerts, runbooks, recovery tests and accepted incident routing.</a:t>
            </a:r>
          </a:p>
        </p:txBody>
      </p:sp>
      <p:sp>
        <p:nvSpPr>
          <p:cNvPr id="10" name="content">
            <a:extLst xmlns:a="http://schemas.openxmlformats.org/drawingml/2006/main">
              <a:ext uri="{FF2B5EF4-FFF2-40B4-BE49-F238E27FC236}">
                <a16:creationId xmlns:a16="http://schemas.microsoft.com/office/drawing/2014/main" id="{C269DDC0-BCCD-4A89-B701-980565C0E755}"/>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Differentiation hypothesis</a:t>
            </a:r>
          </a:p>
        </p:txBody>
      </p:sp>
      <p:sp>
        <p:nvSpPr>
          <p:cNvPr id="11" name="content">
            <a:extLst xmlns:a="http://schemas.openxmlformats.org/drawingml/2006/main">
              <a:ext uri="{FF2B5EF4-FFF2-40B4-BE49-F238E27FC236}">
                <a16:creationId xmlns:a16="http://schemas.microsoft.com/office/drawing/2014/main" id="{160F45B2-1221-42BC-8842-9BBA8D3A89D6}"/>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 joined delivery and support contract across towers reduces unresolved platform handoffs.</a:t>
            </a:r>
          </a:p>
        </p:txBody>
      </p:sp>
      <p:sp>
        <p:nvSpPr>
          <p:cNvPr id="12" name="content">
            <a:extLst xmlns:a="http://schemas.openxmlformats.org/drawingml/2006/main">
              <a:ext uri="{FF2B5EF4-FFF2-40B4-BE49-F238E27FC236}">
                <a16:creationId xmlns:a16="http://schemas.microsoft.com/office/drawing/2014/main" id="{0B477BEB-0461-49D6-AC1E-99BB13AC0D80}"/>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Reusable delivery assets</a:t>
            </a:r>
          </a:p>
        </p:txBody>
      </p:sp>
      <p:sp>
        <p:nvSpPr>
          <p:cNvPr id="13" name="content">
            <a:extLst xmlns:a="http://schemas.openxmlformats.org/drawingml/2006/main">
              <a:ext uri="{FF2B5EF4-FFF2-40B4-BE49-F238E27FC236}">
                <a16:creationId xmlns:a16="http://schemas.microsoft.com/office/drawing/2014/main" id="{FEC7CD0A-F405-40E5-8DD3-2776AD748922}"/>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Approved modules, test harnesses and standard handover templates. Reuse requires named maintainers.</a:t>
            </a:r>
          </a:p>
        </p:txBody>
      </p:sp>
      <p:sp>
        <p:nvSpPr>
          <p:cNvPr id="14" name="content">
            <a:extLst xmlns:a="http://schemas.openxmlformats.org/drawingml/2006/main">
              <a:ext uri="{FF2B5EF4-FFF2-40B4-BE49-F238E27FC236}">
                <a16:creationId xmlns:a16="http://schemas.microsoft.com/office/drawing/2014/main" id="{1F6A4AC5-D1E5-4029-8C89-55B41C73AB3F}"/>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Proof required</a:t>
            </a:r>
          </a:p>
        </p:txBody>
      </p:sp>
      <p:sp>
        <p:nvSpPr>
          <p:cNvPr id="15" name="content">
            <a:extLst xmlns:a="http://schemas.openxmlformats.org/drawingml/2006/main">
              <a:ext uri="{FF2B5EF4-FFF2-40B4-BE49-F238E27FC236}">
                <a16:creationId xmlns:a16="http://schemas.microsoft.com/office/drawing/2014/main" id="{2435AF34-AE98-4CF1-B7A1-F34935A22612}"/>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Demonstrate the pattern and baseline time to deploy before claiming faster delivery.</a:t>
            </a:r>
          </a:p>
        </p:txBody>
      </p:sp>
      <p:sp>
        <p:nvSpPr>
          <p:cNvPr id="16" name="content">
            <a:extLst xmlns:a="http://schemas.openxmlformats.org/drawingml/2006/main">
              <a:ext uri="{FF2B5EF4-FFF2-40B4-BE49-F238E27FC236}">
                <a16:creationId xmlns:a16="http://schemas.microsoft.com/office/drawing/2014/main" id="{B71D8AAD-4657-407A-95F0-D850C946A98A}"/>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Differentiation is a hypothesis until the demonstration and account feedback support it.</a:t>
            </a:r>
          </a:p>
        </p:txBody>
      </p:sp>
      <p:sp>
        <p:nvSpPr>
          <p:cNvPr id="17" name="content">
            <a:extLst xmlns:a="http://schemas.openxmlformats.org/drawingml/2006/main">
              <a:ext uri="{FF2B5EF4-FFF2-40B4-BE49-F238E27FC236}">
                <a16:creationId xmlns:a16="http://schemas.microsoft.com/office/drawing/2014/main" id="{242244F7-3FAB-4940-9C50-F9EE10FA5E6D}"/>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63ADDB42-C2A3-44C5-B577-6ECC4EE9D637}"/>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04</a:t>
            </a:r>
          </a:p>
        </p:txBody>
      </p:sp>
    </p:spTree>
    <p:extLst>
      <p:ext uri="{BB962C8B-B14F-4D97-AF65-F5344CB8AC3E}">
        <p14:creationId xmlns:p14="http://schemas.microsoft.com/office/powerpoint/2010/main" val="1007136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B79CDBAA-0897-435A-8A27-CCFA9E66ED5B}"/>
              </a:ext>
            </a:extLst>
          </p:cNvPr>
          <p:cNvCxnSpPr>
            <a:stCxn xmlns:a="http://schemas.openxmlformats.org/drawingml/2006/main" id="9" idx="1"/>
            <a:endCxn xmlns:a="http://schemas.openxmlformats.org/drawingml/2006/main" id="7" idx="3"/>
          </p:cNvCxnSpPr>
          <p:nvPr/>
        </p:nvCxnSpPr>
        <p:spPr>
          <a:xfrm xmlns:a="http://schemas.openxmlformats.org/drawingml/2006/main" flipH="1">
            <a:off x="7239000" y="4733925"/>
            <a:ext cx="1828800" cy="0"/>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4" name="">
            <a:extLst xmlns:a="http://schemas.openxmlformats.org/drawingml/2006/main">
              <a:ext uri="{FF2B5EF4-FFF2-40B4-BE49-F238E27FC236}">
                <a16:creationId xmlns:a16="http://schemas.microsoft.com/office/drawing/2014/main" id="{23818C12-F1C8-4716-8316-4EC6B6EAC1BB}"/>
              </a:ext>
            </a:extLst>
          </p:cNvPr>
          <p:cNvCxnSpPr>
            <a:stCxn xmlns:a="http://schemas.openxmlformats.org/drawingml/2006/main" id="9" idx="0"/>
            <a:endCxn xmlns:a="http://schemas.openxmlformats.org/drawingml/2006/main" id="6" idx="2"/>
          </p:cNvCxnSpPr>
          <p:nvPr/>
        </p:nvCxnSpPr>
        <p:spPr>
          <a:xfrm xmlns:a="http://schemas.openxmlformats.org/drawingml/2006/main" flipV="1">
            <a:off x="10287000" y="3114675"/>
            <a:ext cx="0" cy="1095375"/>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3" name="">
            <a:extLst xmlns:a="http://schemas.openxmlformats.org/drawingml/2006/main">
              <a:ext uri="{FF2B5EF4-FFF2-40B4-BE49-F238E27FC236}">
                <a16:creationId xmlns:a16="http://schemas.microsoft.com/office/drawing/2014/main" id="{E6C117D6-2FFC-49E5-81B5-ADF32328A7B3}"/>
              </a:ext>
            </a:extLst>
          </p:cNvPr>
          <p:cNvCxnSpPr>
            <a:stCxn xmlns:a="http://schemas.openxmlformats.org/drawingml/2006/main" id="5" idx="2"/>
            <a:endCxn xmlns:a="http://schemas.openxmlformats.org/drawingml/2006/main" id="7" idx="0"/>
          </p:cNvCxnSpPr>
          <p:nvPr/>
        </p:nvCxnSpPr>
        <p:spPr>
          <a:xfrm xmlns:a="http://schemas.openxmlformats.org/drawingml/2006/main">
            <a:off x="5691188" y="3419475"/>
            <a:ext cx="0" cy="790575"/>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2" name="">
            <a:extLst xmlns:a="http://schemas.openxmlformats.org/drawingml/2006/main">
              <a:ext uri="{FF2B5EF4-FFF2-40B4-BE49-F238E27FC236}">
                <a16:creationId xmlns:a16="http://schemas.microsoft.com/office/drawing/2014/main" id="{9F36BF93-826E-455E-90F6-20DC6A78B8C8}"/>
              </a:ext>
            </a:extLst>
          </p:cNvPr>
          <p:cNvCxnSpPr>
            <a:stCxn xmlns:a="http://schemas.openxmlformats.org/drawingml/2006/main" id="5" idx="3"/>
            <a:endCxn xmlns:a="http://schemas.openxmlformats.org/drawingml/2006/main" id="6" idx="1"/>
          </p:cNvCxnSpPr>
          <p:nvPr/>
        </p:nvCxnSpPr>
        <p:spPr>
          <a:xfrm xmlns:a="http://schemas.openxmlformats.org/drawingml/2006/main" flipV="1">
            <a:off x="7239000" y="2676525"/>
            <a:ext cx="1828800" cy="152400"/>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1" name="">
            <a:extLst xmlns:a="http://schemas.openxmlformats.org/drawingml/2006/main">
              <a:ext uri="{FF2B5EF4-FFF2-40B4-BE49-F238E27FC236}">
                <a16:creationId xmlns:a16="http://schemas.microsoft.com/office/drawing/2014/main" id="{BFCB1DA6-0CAE-41C6-9FB4-7626C7011F79}"/>
              </a:ext>
            </a:extLst>
          </p:cNvPr>
          <p:cNvCxnSpPr>
            <a:stCxn xmlns:a="http://schemas.openxmlformats.org/drawingml/2006/main" id="8" idx="0"/>
            <a:endCxn xmlns:a="http://schemas.openxmlformats.org/drawingml/2006/main" id="4" idx="2"/>
          </p:cNvCxnSpPr>
          <p:nvPr/>
        </p:nvCxnSpPr>
        <p:spPr>
          <a:xfrm xmlns:a="http://schemas.openxmlformats.org/drawingml/2006/main" flipV="1">
            <a:off x="1876425" y="3114675"/>
            <a:ext cx="0" cy="1143000"/>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0" name="">
            <a:extLst xmlns:a="http://schemas.openxmlformats.org/drawingml/2006/main">
              <a:ext uri="{FF2B5EF4-FFF2-40B4-BE49-F238E27FC236}">
                <a16:creationId xmlns:a16="http://schemas.microsoft.com/office/drawing/2014/main" id="{3CAAC25A-8413-448A-8675-140B66E0E3BC}"/>
              </a:ext>
            </a:extLst>
          </p:cNvPr>
          <p:cNvCxnSpPr>
            <a:stCxn xmlns:a="http://schemas.openxmlformats.org/drawingml/2006/main" id="4" idx="3"/>
            <a:endCxn xmlns:a="http://schemas.openxmlformats.org/drawingml/2006/main" id="5" idx="1"/>
          </p:cNvCxnSpPr>
          <p:nvPr/>
        </p:nvCxnSpPr>
        <p:spPr>
          <a:xfrm xmlns:a="http://schemas.openxmlformats.org/drawingml/2006/main">
            <a:off x="3067050" y="2676525"/>
            <a:ext cx="1076325" cy="152400"/>
          </a:xfrm>
          <a:prstGeom xmlns:a="http://schemas.openxmlformats.org/drawingml/2006/main" prst="straightConnector1">
            <a:avLst/>
          </a:prstGeom>
          <a:ln xmlns:a="http://schemas.openxmlformats.org/drawingml/2006/main" w="19050">
            <a:solidFill>
              <a:srgbClr val="2F78C4"/>
            </a:solidFill>
            <a:tailEnd type="arrow" w="med" len="med"/>
          </a:ln>
        </p:spPr>
      </p:cxnSp>
      <p:pic>
        <p:nvPicPr>
          <p:cNvPr id="25" name="">
            <a:extLst xmlns:a="http://schemas.openxmlformats.org/drawingml/2006/main">
              <a:ext uri="{FF2B5EF4-FFF2-40B4-BE49-F238E27FC236}">
                <a16:creationId xmlns:a16="http://schemas.microsoft.com/office/drawing/2014/main" id="{28859913-555D-44AC-9894-D76C6173B7AF}"/>
              </a:ext>
            </a:extLst>
          </p:cNvPr>
          <p:cNvPicPr>
            <a:picLocks xmlns:a="http://schemas.openxmlformats.org/drawingml/2006/main" noChangeAspect="1"/>
          </p:cNvPicPr>
          <p:nvPr/>
        </p:nvPicPr>
        <p:blipFill>
          <a:blip xmlns:r="http://schemas.openxmlformats.org/officeDocument/2006/relationships" xmlns:a="http://schemas.openxmlformats.org/drawingml/2006/main" r:embed="Rc6d6a2b4e3ec45ea"/>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B96CACBB-592B-4F83-8A37-9967B9BF9F54}"/>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GTM offering proposal</a:t>
            </a:r>
          </a:p>
        </p:txBody>
      </p:sp>
      <p:sp>
        <p:nvSpPr>
          <p:cNvPr id="3" name="heading">
            <a:extLst xmlns:a="http://schemas.openxmlformats.org/drawingml/2006/main">
              <a:ext uri="{FF2B5EF4-FFF2-40B4-BE49-F238E27FC236}">
                <a16:creationId xmlns:a16="http://schemas.microsoft.com/office/drawing/2014/main" id="{DA80C55A-8FF4-415B-B635-165A003A8EDD}"/>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The platform supports one controlled RAG workload</a:t>
            </a:r>
          </a:p>
        </p:txBody>
      </p:sp>
      <p:sp>
        <p:nvSpPr>
          <p:cNvPr id="4" name="Employee client&#10;Enterprise private access">
            <a:extLst xmlns:a="http://schemas.openxmlformats.org/drawingml/2006/main">
              <a:ext uri="{FF2B5EF4-FFF2-40B4-BE49-F238E27FC236}">
                <a16:creationId xmlns:a16="http://schemas.microsoft.com/office/drawing/2014/main" id="{47ED31A7-62E5-4257-9D5B-AAF6EEBC999D}"/>
              </a:ext>
            </a:extLst>
          </p:cNvPr>
          <p:cNvSpPr>
            <a:spLocks xmlns:a="http://schemas.openxmlformats.org/drawingml/2006/main" noGrp="1"/>
          </p:cNvSpPr>
          <p:nvPr/>
        </p:nvSpPr>
        <p:spPr>
          <a:xfrm xmlns:a="http://schemas.openxmlformats.org/drawingml/2006/main">
            <a:off x="685800" y="2238375"/>
            <a:ext cx="2381250" cy="876300"/>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Employee client</a:t>
            </a:r>
          </a:p>
          <a:p xmlns:a="http://schemas.openxmlformats.org/drawingml/2006/main">
            <a:pPr algn="ctr">
              <a:defRPr sz="1800">
                <a:solidFill>
                  <a:srgbClr val="000048"/>
                </a:solidFill>
              </a:defRPr>
            </a:pPr>
            <a:r>
              <a:rPr sz="1800">
                <a:solidFill>
                  <a:srgbClr val="000048"/>
                </a:solidFill>
              </a:rPr>
              <a:t>Enterprise private access</a:t>
            </a:r>
          </a:p>
        </p:txBody>
      </p:sp>
      <p:sp>
        <p:nvSpPr>
          <p:cNvPr id="5" name="App Service UI / API&#10;RAG orchestration&#10;Permission enforcement">
            <a:extLst xmlns:a="http://schemas.openxmlformats.org/drawingml/2006/main">
              <a:ext uri="{FF2B5EF4-FFF2-40B4-BE49-F238E27FC236}">
                <a16:creationId xmlns:a16="http://schemas.microsoft.com/office/drawing/2014/main" id="{3483DF63-E058-41B0-9D7C-2694DFA2DB15}"/>
              </a:ext>
            </a:extLst>
          </p:cNvPr>
          <p:cNvSpPr>
            <a:spLocks xmlns:a="http://schemas.openxmlformats.org/drawingml/2006/main" noGrp="1"/>
          </p:cNvSpPr>
          <p:nvPr/>
        </p:nvSpPr>
        <p:spPr>
          <a:xfrm xmlns:a="http://schemas.openxmlformats.org/drawingml/2006/main">
            <a:off x="4143375" y="2238375"/>
            <a:ext cx="3095625" cy="1181100"/>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App Service UI / API</a:t>
            </a:r>
          </a:p>
          <a:p xmlns:a="http://schemas.openxmlformats.org/drawingml/2006/main">
            <a:pPr algn="ctr">
              <a:defRPr sz="1800">
                <a:solidFill>
                  <a:srgbClr val="000048"/>
                </a:solidFill>
              </a:defRPr>
            </a:pPr>
            <a:r>
              <a:rPr sz="1800">
                <a:solidFill>
                  <a:srgbClr val="000048"/>
                </a:solidFill>
              </a:rPr>
              <a:t>RAG orchestration</a:t>
            </a:r>
          </a:p>
          <a:p xmlns:a="http://schemas.openxmlformats.org/drawingml/2006/main">
            <a:pPr algn="ctr">
              <a:defRPr sz="1800">
                <a:solidFill>
                  <a:srgbClr val="000048"/>
                </a:solidFill>
              </a:defRPr>
            </a:pPr>
            <a:r>
              <a:rPr sz="1800">
                <a:solidFill>
                  <a:srgbClr val="000048"/>
                </a:solidFill>
              </a:rPr>
              <a:t>Permission enforcement</a:t>
            </a:r>
          </a:p>
        </p:txBody>
      </p:sp>
      <p:sp>
        <p:nvSpPr>
          <p:cNvPr id="6" name="Azure AI Search&#10;Chunks + ACL metadata">
            <a:extLst xmlns:a="http://schemas.openxmlformats.org/drawingml/2006/main">
              <a:ext uri="{FF2B5EF4-FFF2-40B4-BE49-F238E27FC236}">
                <a16:creationId xmlns:a16="http://schemas.microsoft.com/office/drawing/2014/main" id="{2079F67F-A00E-4A33-B53D-875813806B2E}"/>
              </a:ext>
            </a:extLst>
          </p:cNvPr>
          <p:cNvSpPr>
            <a:spLocks xmlns:a="http://schemas.openxmlformats.org/drawingml/2006/main" noGrp="1"/>
          </p:cNvSpPr>
          <p:nvPr/>
        </p:nvSpPr>
        <p:spPr>
          <a:xfrm xmlns:a="http://schemas.openxmlformats.org/drawingml/2006/main">
            <a:off x="9067800" y="2238375"/>
            <a:ext cx="2438400" cy="876300"/>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Azure AI Search</a:t>
            </a:r>
          </a:p>
          <a:p xmlns:a="http://schemas.openxmlformats.org/drawingml/2006/main">
            <a:pPr algn="ctr">
              <a:defRPr sz="1800">
                <a:solidFill>
                  <a:srgbClr val="000048"/>
                </a:solidFill>
              </a:defRPr>
            </a:pPr>
            <a:r>
              <a:rPr sz="1800">
                <a:solidFill>
                  <a:srgbClr val="000048"/>
                </a:solidFill>
              </a:rPr>
              <a:t>Chunks + ACL metadata</a:t>
            </a:r>
          </a:p>
        </p:txBody>
      </p:sp>
      <p:sp>
        <p:nvSpPr>
          <p:cNvPr id="7" name="Azure OpenAI&#10;Chat + embeddings">
            <a:extLst xmlns:a="http://schemas.openxmlformats.org/drawingml/2006/main">
              <a:ext uri="{FF2B5EF4-FFF2-40B4-BE49-F238E27FC236}">
                <a16:creationId xmlns:a16="http://schemas.microsoft.com/office/drawing/2014/main" id="{24156F92-29E9-4FBF-B701-69BF4AB45BED}"/>
              </a:ext>
            </a:extLst>
          </p:cNvPr>
          <p:cNvSpPr>
            <a:spLocks xmlns:a="http://schemas.openxmlformats.org/drawingml/2006/main" noGrp="1"/>
          </p:cNvSpPr>
          <p:nvPr/>
        </p:nvSpPr>
        <p:spPr>
          <a:xfrm xmlns:a="http://schemas.openxmlformats.org/drawingml/2006/main">
            <a:off x="4143375" y="4210050"/>
            <a:ext cx="3095625" cy="1047750"/>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Azure OpenAI</a:t>
            </a:r>
          </a:p>
          <a:p xmlns:a="http://schemas.openxmlformats.org/drawingml/2006/main">
            <a:pPr algn="ctr">
              <a:defRPr sz="1800">
                <a:solidFill>
                  <a:srgbClr val="000048"/>
                </a:solidFill>
              </a:defRPr>
            </a:pPr>
            <a:r>
              <a:rPr sz="1800">
                <a:solidFill>
                  <a:srgbClr val="000048"/>
                </a:solidFill>
              </a:rPr>
              <a:t>Chat + embeddings</a:t>
            </a:r>
          </a:p>
        </p:txBody>
      </p:sp>
      <p:sp>
        <p:nvSpPr>
          <p:cNvPr id="8" name="Microsoft Entra ID&#10;User authentication">
            <a:extLst xmlns:a="http://schemas.openxmlformats.org/drawingml/2006/main">
              <a:ext uri="{FF2B5EF4-FFF2-40B4-BE49-F238E27FC236}">
                <a16:creationId xmlns:a16="http://schemas.microsoft.com/office/drawing/2014/main" id="{07DA5E77-2EDC-497B-91AB-0EC94D976F32}"/>
              </a:ext>
            </a:extLst>
          </p:cNvPr>
          <p:cNvSpPr>
            <a:spLocks xmlns:a="http://schemas.openxmlformats.org/drawingml/2006/main" noGrp="1"/>
          </p:cNvSpPr>
          <p:nvPr/>
        </p:nvSpPr>
        <p:spPr>
          <a:xfrm xmlns:a="http://schemas.openxmlformats.org/drawingml/2006/main">
            <a:off x="685800" y="4257675"/>
            <a:ext cx="2381250" cy="828675"/>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Microsoft Entra ID</a:t>
            </a:r>
          </a:p>
          <a:p xmlns:a="http://schemas.openxmlformats.org/drawingml/2006/main">
            <a:pPr algn="ctr">
              <a:defRPr sz="1800">
                <a:solidFill>
                  <a:srgbClr val="000048"/>
                </a:solidFill>
              </a:defRPr>
            </a:pPr>
            <a:r>
              <a:rPr sz="1800">
                <a:solidFill>
                  <a:srgbClr val="000048"/>
                </a:solidFill>
              </a:rPr>
              <a:t>User authentication</a:t>
            </a:r>
          </a:p>
        </p:txBody>
      </p:sp>
      <p:sp>
        <p:nvSpPr>
          <p:cNvPr id="9" name="Scoped ingestion job&#10;Approved Blob copy&#10;Chunk, embed, index">
            <a:extLst xmlns:a="http://schemas.openxmlformats.org/drawingml/2006/main">
              <a:ext uri="{FF2B5EF4-FFF2-40B4-BE49-F238E27FC236}">
                <a16:creationId xmlns:a16="http://schemas.microsoft.com/office/drawing/2014/main" id="{11488849-4DED-48E4-819F-CDFC23F74898}"/>
              </a:ext>
            </a:extLst>
          </p:cNvPr>
          <p:cNvSpPr>
            <a:spLocks xmlns:a="http://schemas.openxmlformats.org/drawingml/2006/main" noGrp="1"/>
          </p:cNvSpPr>
          <p:nvPr/>
        </p:nvSpPr>
        <p:spPr>
          <a:xfrm xmlns:a="http://schemas.openxmlformats.org/drawingml/2006/main">
            <a:off x="9067800" y="4210050"/>
            <a:ext cx="2438400" cy="1047750"/>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Scoped ingestion job</a:t>
            </a:r>
          </a:p>
          <a:p xmlns:a="http://schemas.openxmlformats.org/drawingml/2006/main">
            <a:pPr algn="ctr">
              <a:defRPr sz="1800">
                <a:solidFill>
                  <a:srgbClr val="000048"/>
                </a:solidFill>
              </a:defRPr>
            </a:pPr>
            <a:r>
              <a:rPr sz="1800">
                <a:solidFill>
                  <a:srgbClr val="000048"/>
                </a:solidFill>
              </a:rPr>
              <a:t>Approved Blob copy</a:t>
            </a:r>
          </a:p>
          <a:p xmlns:a="http://schemas.openxmlformats.org/drawingml/2006/main">
            <a:pPr algn="ctr">
              <a:defRPr sz="1800">
                <a:solidFill>
                  <a:srgbClr val="000048"/>
                </a:solidFill>
              </a:defRPr>
            </a:pPr>
            <a:r>
              <a:rPr sz="1800">
                <a:solidFill>
                  <a:srgbClr val="000048"/>
                </a:solidFill>
              </a:rPr>
              <a:t>Chunk, embed, index</a:t>
            </a:r>
          </a:p>
        </p:txBody>
      </p:sp>
      <p:sp>
        <p:nvSpPr>
          <p:cNvPr id="16" name="content">
            <a:extLst xmlns:a="http://schemas.openxmlformats.org/drawingml/2006/main">
              <a:ext uri="{FF2B5EF4-FFF2-40B4-BE49-F238E27FC236}">
                <a16:creationId xmlns:a16="http://schemas.microsoft.com/office/drawing/2014/main" id="{FB0A5876-7C00-463B-B055-28C815B950B3}"/>
              </a:ext>
            </a:extLst>
          </p:cNvPr>
          <p:cNvSpPr>
            <a:spLocks xmlns:a="http://schemas.openxmlformats.org/drawingml/2006/main" noGrp="1"/>
          </p:cNvSpPr>
          <p:nvPr/>
        </p:nvSpPr>
        <p:spPr>
          <a:xfrm xmlns:a="http://schemas.openxmlformats.org/drawingml/2006/main">
            <a:off x="3209925" y="2409825"/>
            <a:ext cx="92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1  request</a:t>
            </a:r>
          </a:p>
        </p:txBody>
      </p:sp>
      <p:sp>
        <p:nvSpPr>
          <p:cNvPr id="17" name="content">
            <a:extLst xmlns:a="http://schemas.openxmlformats.org/drawingml/2006/main">
              <a:ext uri="{FF2B5EF4-FFF2-40B4-BE49-F238E27FC236}">
                <a16:creationId xmlns:a16="http://schemas.microsoft.com/office/drawing/2014/main" id="{7DF052CF-B30F-4961-8606-A3C83DDF4BA6}"/>
              </a:ext>
            </a:extLst>
          </p:cNvPr>
          <p:cNvSpPr>
            <a:spLocks xmlns:a="http://schemas.openxmlformats.org/drawingml/2006/main" noGrp="1"/>
          </p:cNvSpPr>
          <p:nvPr/>
        </p:nvSpPr>
        <p:spPr>
          <a:xfrm xmlns:a="http://schemas.openxmlformats.org/drawingml/2006/main">
            <a:off x="7315200" y="2333625"/>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2  filtered query</a:t>
            </a:r>
          </a:p>
        </p:txBody>
      </p:sp>
      <p:sp>
        <p:nvSpPr>
          <p:cNvPr id="18" name="content">
            <a:extLst xmlns:a="http://schemas.openxmlformats.org/drawingml/2006/main">
              <a:ext uri="{FF2B5EF4-FFF2-40B4-BE49-F238E27FC236}">
                <a16:creationId xmlns:a16="http://schemas.microsoft.com/office/drawing/2014/main" id="{D6EC2E93-9645-495B-97D6-4DDAA47CD2F6}"/>
              </a:ext>
            </a:extLst>
          </p:cNvPr>
          <p:cNvSpPr>
            <a:spLocks xmlns:a="http://schemas.openxmlformats.org/drawingml/2006/main" noGrp="1"/>
          </p:cNvSpPr>
          <p:nvPr/>
        </p:nvSpPr>
        <p:spPr>
          <a:xfrm xmlns:a="http://schemas.openxmlformats.org/drawingml/2006/main">
            <a:off x="5905500" y="36385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3  model calls</a:t>
            </a:r>
          </a:p>
        </p:txBody>
      </p:sp>
      <p:sp>
        <p:nvSpPr>
          <p:cNvPr id="19" name="content">
            <a:extLst xmlns:a="http://schemas.openxmlformats.org/drawingml/2006/main">
              <a:ext uri="{FF2B5EF4-FFF2-40B4-BE49-F238E27FC236}">
                <a16:creationId xmlns:a16="http://schemas.microsoft.com/office/drawing/2014/main" id="{1E3301E6-4128-4FB4-BAE6-CBD07919BA84}"/>
              </a:ext>
            </a:extLst>
          </p:cNvPr>
          <p:cNvSpPr>
            <a:spLocks xmlns:a="http://schemas.openxmlformats.org/drawingml/2006/main" noGrp="1"/>
          </p:cNvSpPr>
          <p:nvPr/>
        </p:nvSpPr>
        <p:spPr>
          <a:xfrm xmlns:a="http://schemas.openxmlformats.org/drawingml/2006/main">
            <a:off x="10382250" y="3600450"/>
            <a:ext cx="112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4  ingest</a:t>
            </a:r>
          </a:p>
        </p:txBody>
      </p:sp>
      <p:sp>
        <p:nvSpPr>
          <p:cNvPr id="20" name="content">
            <a:extLst xmlns:a="http://schemas.openxmlformats.org/drawingml/2006/main">
              <a:ext uri="{FF2B5EF4-FFF2-40B4-BE49-F238E27FC236}">
                <a16:creationId xmlns:a16="http://schemas.microsoft.com/office/drawing/2014/main" id="{D28F35C6-8855-4306-BD35-22EA5E73988F}"/>
              </a:ext>
            </a:extLst>
          </p:cNvPr>
          <p:cNvSpPr>
            <a:spLocks xmlns:a="http://schemas.openxmlformats.org/drawingml/2006/main" noGrp="1"/>
          </p:cNvSpPr>
          <p:nvPr/>
        </p:nvSpPr>
        <p:spPr>
          <a:xfrm xmlns:a="http://schemas.openxmlformats.org/drawingml/2006/main">
            <a:off x="7362825" y="4419600"/>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4  embeddings</a:t>
            </a:r>
          </a:p>
        </p:txBody>
      </p:sp>
      <p:sp>
        <p:nvSpPr>
          <p:cNvPr id="21" name="content">
            <a:extLst xmlns:a="http://schemas.openxmlformats.org/drawingml/2006/main">
              <a:ext uri="{FF2B5EF4-FFF2-40B4-BE49-F238E27FC236}">
                <a16:creationId xmlns:a16="http://schemas.microsoft.com/office/drawing/2014/main" id="{7694A17E-F062-4AC3-921B-81EC58AE6425}"/>
              </a:ext>
            </a:extLst>
          </p:cNvPr>
          <p:cNvSpPr>
            <a:spLocks xmlns:a="http://schemas.openxmlformats.org/drawingml/2006/main" noGrp="1"/>
          </p:cNvSpPr>
          <p:nvPr/>
        </p:nvSpPr>
        <p:spPr>
          <a:xfrm xmlns:a="http://schemas.openxmlformats.org/drawingml/2006/main">
            <a:off x="685800" y="57054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F78C4"/>
                </a:solidFill>
              </a:defRPr>
            </a:defPPr>
          </a:lstStyle>
          <a:p xmlns:a="http://schemas.openxmlformats.org/drawingml/2006/main">
            <a:pPr>
              <a:defRPr sz="1650" b="0">
                <a:solidFill>
                  <a:srgbClr val="2F78C4"/>
                </a:solidFill>
              </a:defRPr>
            </a:pPr>
            <a:r>
              <a:rPr sz="1650" b="0">
                <a:solidFill>
                  <a:srgbClr val="2F78C4"/>
                </a:solidFill>
              </a:rPr>
              <a:t>5  Redacted telemetry, request IDs and cost metrics to Azure Monitor</a:t>
            </a:r>
          </a:p>
        </p:txBody>
      </p:sp>
      <p:sp>
        <p:nvSpPr>
          <p:cNvPr id="22" name="content">
            <a:extLst xmlns:a="http://schemas.openxmlformats.org/drawingml/2006/main">
              <a:ext uri="{FF2B5EF4-FFF2-40B4-BE49-F238E27FC236}">
                <a16:creationId xmlns:a16="http://schemas.microsoft.com/office/drawing/2014/main" id="{A40EA034-6E46-4FB2-917F-A46D27AA77AF}"/>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Proposed custom RAG design. Customer subscription, tenant, capacity and source approval remain prerequisites.</a:t>
            </a:r>
          </a:p>
        </p:txBody>
      </p:sp>
      <p:sp>
        <p:nvSpPr>
          <p:cNvPr id="23" name="content">
            <a:extLst xmlns:a="http://schemas.openxmlformats.org/drawingml/2006/main">
              <a:ext uri="{FF2B5EF4-FFF2-40B4-BE49-F238E27FC236}">
                <a16:creationId xmlns:a16="http://schemas.microsoft.com/office/drawing/2014/main" id="{1AFE4A59-9B13-4B7E-92AB-72D9C9C2902C}"/>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24" name="content">
            <a:extLst xmlns:a="http://schemas.openxmlformats.org/drawingml/2006/main">
              <a:ext uri="{FF2B5EF4-FFF2-40B4-BE49-F238E27FC236}">
                <a16:creationId xmlns:a16="http://schemas.microsoft.com/office/drawing/2014/main" id="{840578D7-5B2E-40DE-8628-04336484FDA0}"/>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05</a:t>
            </a:r>
          </a:p>
        </p:txBody>
      </p:sp>
    </p:spTree>
    <p:extLst>
      <p:ext uri="{BB962C8B-B14F-4D97-AF65-F5344CB8AC3E}">
        <p14:creationId xmlns:p14="http://schemas.microsoft.com/office/powerpoint/2010/main" val="20217388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86017F0-3D4B-4020-BADB-739339F2ACDB}"/>
              </a:ext>
            </a:extLst>
          </p:cNvPr>
          <p:cNvPicPr>
            <a:picLocks xmlns:a="http://schemas.openxmlformats.org/drawingml/2006/main" noChangeAspect="1"/>
          </p:cNvPicPr>
          <p:nvPr/>
        </p:nvPicPr>
        <p:blipFill>
          <a:blip xmlns:r="http://schemas.openxmlformats.org/officeDocument/2006/relationships" xmlns:a="http://schemas.openxmlformats.org/drawingml/2006/main" r:embed="R16157137765b4fa8"/>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489B09B9-9B0C-445A-B14E-FF3BD4A87D00}"/>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GTM offering proposal</a:t>
            </a:r>
          </a:p>
        </p:txBody>
      </p:sp>
      <p:sp>
        <p:nvSpPr>
          <p:cNvPr id="3" name="heading">
            <a:extLst xmlns:a="http://schemas.openxmlformats.org/drawingml/2006/main">
              <a:ext uri="{FF2B5EF4-FFF2-40B4-BE49-F238E27FC236}">
                <a16:creationId xmlns:a16="http://schemas.microsoft.com/office/drawing/2014/main" id="{37AFEFCF-989A-4D9B-93F8-D31F4C3D0B11}"/>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Sample economics make the buying decision visible</a:t>
            </a:r>
          </a:p>
        </p:txBody>
      </p:sp>
      <p:sp>
        <p:nvSpPr>
          <p:cNvPr id="4" name="content">
            <a:extLst xmlns:a="http://schemas.openxmlformats.org/drawingml/2006/main">
              <a:ext uri="{FF2B5EF4-FFF2-40B4-BE49-F238E27FC236}">
                <a16:creationId xmlns:a16="http://schemas.microsoft.com/office/drawing/2014/main" id="{59109B93-5300-41DD-824D-3BA607DC4584}"/>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Implementation</a:t>
            </a:r>
          </a:p>
        </p:txBody>
      </p:sp>
      <p:sp>
        <p:nvSpPr>
          <p:cNvPr id="5" name="content">
            <a:extLst xmlns:a="http://schemas.openxmlformats.org/drawingml/2006/main">
              <a:ext uri="{FF2B5EF4-FFF2-40B4-BE49-F238E27FC236}">
                <a16:creationId xmlns:a16="http://schemas.microsoft.com/office/drawing/2014/main" id="{6D075AD6-9682-4F0C-8F1A-EA9A2BDE58C3}"/>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Illustrative services fee: $76,885.71. Includes 88 base days and 15% cost reserve at 30% gross margin.</a:t>
            </a:r>
          </a:p>
        </p:txBody>
      </p:sp>
      <p:sp>
        <p:nvSpPr>
          <p:cNvPr id="6" name="content">
            <a:extLst xmlns:a="http://schemas.openxmlformats.org/drawingml/2006/main">
              <a:ext uri="{FF2B5EF4-FFF2-40B4-BE49-F238E27FC236}">
                <a16:creationId xmlns:a16="http://schemas.microsoft.com/office/drawing/2014/main" id="{14F5E453-C3C6-4723-B79B-0A8C3C688EBF}"/>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Azure run budget</a:t>
            </a:r>
          </a:p>
        </p:txBody>
      </p:sp>
      <p:sp>
        <p:nvSpPr>
          <p:cNvPr id="7" name="content">
            <a:extLst xmlns:a="http://schemas.openxmlformats.org/drawingml/2006/main">
              <a:ext uri="{FF2B5EF4-FFF2-40B4-BE49-F238E27FC236}">
                <a16:creationId xmlns:a16="http://schemas.microsoft.com/office/drawing/2014/main" id="{F56D9D4E-8F2D-4EEC-8278-AB97EAD97062}"/>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Base case: $2,500/month across development and production. Tokens and infrastructure included.</a:t>
            </a:r>
          </a:p>
        </p:txBody>
      </p:sp>
      <p:sp>
        <p:nvSpPr>
          <p:cNvPr id="8" name="content">
            <a:extLst xmlns:a="http://schemas.openxmlformats.org/drawingml/2006/main">
              <a:ext uri="{FF2B5EF4-FFF2-40B4-BE49-F238E27FC236}">
                <a16:creationId xmlns:a16="http://schemas.microsoft.com/office/drawing/2014/main" id="{730733DC-E4B4-483E-93BB-800429701D7F}"/>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Managed operations</a:t>
            </a:r>
          </a:p>
        </p:txBody>
      </p:sp>
      <p:sp>
        <p:nvSpPr>
          <p:cNvPr id="9" name="content">
            <a:extLst xmlns:a="http://schemas.openxmlformats.org/drawingml/2006/main">
              <a:ext uri="{FF2B5EF4-FFF2-40B4-BE49-F238E27FC236}">
                <a16:creationId xmlns:a16="http://schemas.microsoft.com/office/drawing/2014/main" id="{5D4D41D2-5F7B-4AC0-B530-0776B9C4CF02}"/>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Illustrative pooled service: $2,321.43/month. Separate from Azure consumption.</a:t>
            </a:r>
          </a:p>
        </p:txBody>
      </p:sp>
      <p:sp>
        <p:nvSpPr>
          <p:cNvPr id="10" name="content">
            <a:extLst xmlns:a="http://schemas.openxmlformats.org/drawingml/2006/main">
              <a:ext uri="{FF2B5EF4-FFF2-40B4-BE49-F238E27FC236}">
                <a16:creationId xmlns:a16="http://schemas.microsoft.com/office/drawing/2014/main" id="{7E77C563-2DF3-45E7-A341-81506B573E28}"/>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First-year baseline</a:t>
            </a:r>
          </a:p>
        </p:txBody>
      </p:sp>
      <p:sp>
        <p:nvSpPr>
          <p:cNvPr id="11" name="content">
            <a:extLst xmlns:a="http://schemas.openxmlformats.org/drawingml/2006/main">
              <a:ext uri="{FF2B5EF4-FFF2-40B4-BE49-F238E27FC236}">
                <a16:creationId xmlns:a16="http://schemas.microsoft.com/office/drawing/2014/main" id="{7015D8F4-C7AD-48B9-9685-5ACA9DB978EC}"/>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Implementation plus 12 months Azure and operations: $134,742.87. Optional assessment and licences excluded.</a:t>
            </a:r>
          </a:p>
        </p:txBody>
      </p:sp>
      <p:sp>
        <p:nvSpPr>
          <p:cNvPr id="12" name="content">
            <a:extLst xmlns:a="http://schemas.openxmlformats.org/drawingml/2006/main">
              <a:ext uri="{FF2B5EF4-FFF2-40B4-BE49-F238E27FC236}">
                <a16:creationId xmlns:a16="http://schemas.microsoft.com/office/drawing/2014/main" id="{CB0FE100-AC8E-4AD9-80BF-E267934A4FD3}"/>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Entry assessment</a:t>
            </a:r>
          </a:p>
        </p:txBody>
      </p:sp>
      <p:sp>
        <p:nvSpPr>
          <p:cNvPr id="13" name="content">
            <a:extLst xmlns:a="http://schemas.openxmlformats.org/drawingml/2006/main">
              <a:ext uri="{FF2B5EF4-FFF2-40B4-BE49-F238E27FC236}">
                <a16:creationId xmlns:a16="http://schemas.microsoft.com/office/drawing/2014/main" id="{46BF5E17-3236-4EDB-AF2E-BD6C158C19F7}"/>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Illustrative fee: $10,760.71 for a bounded 12-day assessment. No automatic implementation credit.</a:t>
            </a:r>
          </a:p>
        </p:txBody>
      </p:sp>
      <p:sp>
        <p:nvSpPr>
          <p:cNvPr id="14" name="content">
            <a:extLst xmlns:a="http://schemas.openxmlformats.org/drawingml/2006/main">
              <a:ext uri="{FF2B5EF4-FFF2-40B4-BE49-F238E27FC236}">
                <a16:creationId xmlns:a16="http://schemas.microsoft.com/office/drawing/2014/main" id="{7EBEC4F1-D124-4B84-A6D2-ADA9978A7B0C}"/>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Quote controls</a:t>
            </a:r>
          </a:p>
        </p:txBody>
      </p:sp>
      <p:sp>
        <p:nvSpPr>
          <p:cNvPr id="15" name="content">
            <a:extLst xmlns:a="http://schemas.openxmlformats.org/drawingml/2006/main">
              <a:ext uri="{FF2B5EF4-FFF2-40B4-BE49-F238E27FC236}">
                <a16:creationId xmlns:a16="http://schemas.microsoft.com/office/drawing/2014/main" id="{3CF7B0C7-81D9-4054-AD52-ADD606B5D2CF}"/>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Replace all sample inputs with approved rates, dated Azure prices and the actual delivery mix.</a:t>
            </a:r>
          </a:p>
        </p:txBody>
      </p:sp>
      <p:sp>
        <p:nvSpPr>
          <p:cNvPr id="16" name="content">
            <a:extLst xmlns:a="http://schemas.openxmlformats.org/drawingml/2006/main">
              <a:ext uri="{FF2B5EF4-FFF2-40B4-BE49-F238E27FC236}">
                <a16:creationId xmlns:a16="http://schemas.microsoft.com/office/drawing/2014/main" id="{26DBB09C-F742-4C65-9C26-3D7053684033}"/>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ILLUSTRATIVE USD BUDGET. These figures are not approved customer prices.</a:t>
            </a:r>
          </a:p>
        </p:txBody>
      </p:sp>
      <p:sp>
        <p:nvSpPr>
          <p:cNvPr id="17" name="content">
            <a:extLst xmlns:a="http://schemas.openxmlformats.org/drawingml/2006/main">
              <a:ext uri="{FF2B5EF4-FFF2-40B4-BE49-F238E27FC236}">
                <a16:creationId xmlns:a16="http://schemas.microsoft.com/office/drawing/2014/main" id="{627D82B5-2DD1-4FAE-9A88-FF728A1199DA}"/>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DD46D85F-6987-47AF-88FF-99935FA4752C}"/>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06</a:t>
            </a:r>
          </a:p>
        </p:txBody>
      </p:sp>
    </p:spTree>
    <p:extLst>
      <p:ext uri="{BB962C8B-B14F-4D97-AF65-F5344CB8AC3E}">
        <p14:creationId xmlns:p14="http://schemas.microsoft.com/office/powerpoint/2010/main" val="11507500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06332777-E35B-464F-86EE-1291EAC4A901}"/>
              </a:ext>
            </a:extLst>
          </p:cNvPr>
          <p:cNvPicPr>
            <a:picLocks xmlns:a="http://schemas.openxmlformats.org/drawingml/2006/main" noChangeAspect="1"/>
          </p:cNvPicPr>
          <p:nvPr/>
        </p:nvPicPr>
        <p:blipFill>
          <a:blip xmlns:r="http://schemas.openxmlformats.org/officeDocument/2006/relationships" xmlns:a="http://schemas.openxmlformats.org/drawingml/2006/main" r:embed="R4e020e59ae8a4359"/>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7968E16F-53EB-4195-A056-AA104F8D85AD}"/>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GTM offering proposal</a:t>
            </a:r>
          </a:p>
        </p:txBody>
      </p:sp>
      <p:sp>
        <p:nvSpPr>
          <p:cNvPr id="3" name="heading">
            <a:extLst xmlns:a="http://schemas.openxmlformats.org/drawingml/2006/main">
              <a:ext uri="{FF2B5EF4-FFF2-40B4-BE49-F238E27FC236}">
                <a16:creationId xmlns:a16="http://schemas.microsoft.com/office/drawing/2014/main" id="{59A9FEBB-24C7-415D-A3AB-E13051202CE9}"/>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Benefit depends on adoption and usable answers</a:t>
            </a:r>
          </a:p>
        </p:txBody>
      </p:sp>
      <p:sp>
        <p:nvSpPr>
          <p:cNvPr id="4" name="content">
            <a:extLst xmlns:a="http://schemas.openxmlformats.org/drawingml/2006/main">
              <a:ext uri="{FF2B5EF4-FFF2-40B4-BE49-F238E27FC236}">
                <a16:creationId xmlns:a16="http://schemas.microsoft.com/office/drawing/2014/main" id="{0B4EE7E4-1B08-4F7B-A2CD-841B8ACBAC62}"/>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Sample workload</a:t>
            </a:r>
          </a:p>
        </p:txBody>
      </p:sp>
      <p:sp>
        <p:nvSpPr>
          <p:cNvPr id="5" name="content">
            <a:extLst xmlns:a="http://schemas.openxmlformats.org/drawingml/2006/main">
              <a:ext uri="{FF2B5EF4-FFF2-40B4-BE49-F238E27FC236}">
                <a16:creationId xmlns:a16="http://schemas.microsoft.com/office/drawing/2014/main" id="{A2819121-5F93-46F3-8318-6D782BD2463C}"/>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1,000 active users and 20 requests per user per month produce 20,000 requests.</a:t>
            </a:r>
          </a:p>
        </p:txBody>
      </p:sp>
      <p:sp>
        <p:nvSpPr>
          <p:cNvPr id="6" name="content">
            <a:extLst xmlns:a="http://schemas.openxmlformats.org/drawingml/2006/main">
              <a:ext uri="{FF2B5EF4-FFF2-40B4-BE49-F238E27FC236}">
                <a16:creationId xmlns:a16="http://schemas.microsoft.com/office/drawing/2014/main" id="{0F26C0C4-63CF-48AA-81B3-5D6E2A822436}"/>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Sample benefit</a:t>
            </a:r>
          </a:p>
        </p:txBody>
      </p:sp>
      <p:sp>
        <p:nvSpPr>
          <p:cNvPr id="7" name="content">
            <a:extLst xmlns:a="http://schemas.openxmlformats.org/drawingml/2006/main">
              <a:ext uri="{FF2B5EF4-FFF2-40B4-BE49-F238E27FC236}">
                <a16:creationId xmlns:a16="http://schemas.microsoft.com/office/drawing/2014/main" id="{B7325211-8C30-4C53-A410-02AD970342FB}"/>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3 minutes saved per request at 50% usable realization equals 500 hours per month.</a:t>
            </a:r>
          </a:p>
        </p:txBody>
      </p:sp>
      <p:sp>
        <p:nvSpPr>
          <p:cNvPr id="8" name="content">
            <a:extLst xmlns:a="http://schemas.openxmlformats.org/drawingml/2006/main">
              <a:ext uri="{FF2B5EF4-FFF2-40B4-BE49-F238E27FC236}">
                <a16:creationId xmlns:a16="http://schemas.microsoft.com/office/drawing/2014/main" id="{5794D13C-1F9B-43AA-9350-67E9DB0D3F0B}"/>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Capacity valuation</a:t>
            </a:r>
          </a:p>
        </p:txBody>
      </p:sp>
      <p:sp>
        <p:nvSpPr>
          <p:cNvPr id="9" name="content">
            <a:extLst xmlns:a="http://schemas.openxmlformats.org/drawingml/2006/main">
              <a:ext uri="{FF2B5EF4-FFF2-40B4-BE49-F238E27FC236}">
                <a16:creationId xmlns:a16="http://schemas.microsoft.com/office/drawing/2014/main" id="{5DD6121F-AC3A-4943-BA32-AC964C7B9F85}"/>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At a hypothetical $40/hour, that is $20,000/month of labor capacity value.</a:t>
            </a:r>
          </a:p>
        </p:txBody>
      </p:sp>
      <p:sp>
        <p:nvSpPr>
          <p:cNvPr id="10" name="content">
            <a:extLst xmlns:a="http://schemas.openxmlformats.org/drawingml/2006/main">
              <a:ext uri="{FF2B5EF4-FFF2-40B4-BE49-F238E27FC236}">
                <a16:creationId xmlns:a16="http://schemas.microsoft.com/office/drawing/2014/main" id="{C12B463D-82FA-429D-889B-F5AF808B3757}"/>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Customer measurement</a:t>
            </a:r>
          </a:p>
        </p:txBody>
      </p:sp>
      <p:sp>
        <p:nvSpPr>
          <p:cNvPr id="11" name="content">
            <a:extLst xmlns:a="http://schemas.openxmlformats.org/drawingml/2006/main">
              <a:ext uri="{FF2B5EF4-FFF2-40B4-BE49-F238E27FC236}">
                <a16:creationId xmlns:a16="http://schemas.microsoft.com/office/drawing/2014/main" id="{521E365F-731F-4BE6-B10A-19D2AFF8C038}"/>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Time representative tasks before and after use. Include correction, verification and failed answers.</a:t>
            </a:r>
          </a:p>
        </p:txBody>
      </p:sp>
      <p:sp>
        <p:nvSpPr>
          <p:cNvPr id="12" name="content">
            <a:extLst xmlns:a="http://schemas.openxmlformats.org/drawingml/2006/main">
              <a:ext uri="{FF2B5EF4-FFF2-40B4-BE49-F238E27FC236}">
                <a16:creationId xmlns:a16="http://schemas.microsoft.com/office/drawing/2014/main" id="{32020352-FDFB-4EAD-AC59-A1976ACF3A6B}"/>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Financial discipline</a:t>
            </a:r>
          </a:p>
        </p:txBody>
      </p:sp>
      <p:sp>
        <p:nvSpPr>
          <p:cNvPr id="13" name="content">
            <a:extLst xmlns:a="http://schemas.openxmlformats.org/drawingml/2006/main">
              <a:ext uri="{FF2B5EF4-FFF2-40B4-BE49-F238E27FC236}">
                <a16:creationId xmlns:a16="http://schemas.microsoft.com/office/drawing/2014/main" id="{63F4C13A-C00C-4680-A4E2-3C791072A068}"/>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Salary capacity does not become cash savings without a customer-approved realization plan.</a:t>
            </a:r>
          </a:p>
        </p:txBody>
      </p:sp>
      <p:sp>
        <p:nvSpPr>
          <p:cNvPr id="14" name="content">
            <a:extLst xmlns:a="http://schemas.openxmlformats.org/drawingml/2006/main">
              <a:ext uri="{FF2B5EF4-FFF2-40B4-BE49-F238E27FC236}">
                <a16:creationId xmlns:a16="http://schemas.microsoft.com/office/drawing/2014/main" id="{FF72B784-1DC3-4B4F-AAA7-A62C530ABF7E}"/>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Launch evidence</a:t>
            </a:r>
          </a:p>
        </p:txBody>
      </p:sp>
      <p:sp>
        <p:nvSpPr>
          <p:cNvPr id="15" name="content">
            <a:extLst xmlns:a="http://schemas.openxmlformats.org/drawingml/2006/main">
              <a:ext uri="{FF2B5EF4-FFF2-40B4-BE49-F238E27FC236}">
                <a16:creationId xmlns:a16="http://schemas.microsoft.com/office/drawing/2014/main" id="{F51A5FB4-7924-4B97-B1F2-CD3889919792}"/>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Approve the business baseline and benefit owner before using value claims in customer proposals.</a:t>
            </a:r>
          </a:p>
        </p:txBody>
      </p:sp>
      <p:sp>
        <p:nvSpPr>
          <p:cNvPr id="16" name="content">
            <a:extLst xmlns:a="http://schemas.openxmlformats.org/drawingml/2006/main">
              <a:ext uri="{FF2B5EF4-FFF2-40B4-BE49-F238E27FC236}">
                <a16:creationId xmlns:a16="http://schemas.microsoft.com/office/drawing/2014/main" id="{C65020C5-7F7B-42C8-8C00-4DBDD4B099B3}"/>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ILLUSTRATIVE VALUE HYPOTHESIS. No ROI or savings commitment.</a:t>
            </a:r>
          </a:p>
        </p:txBody>
      </p:sp>
      <p:sp>
        <p:nvSpPr>
          <p:cNvPr id="17" name="content">
            <a:extLst xmlns:a="http://schemas.openxmlformats.org/drawingml/2006/main">
              <a:ext uri="{FF2B5EF4-FFF2-40B4-BE49-F238E27FC236}">
                <a16:creationId xmlns:a16="http://schemas.microsoft.com/office/drawing/2014/main" id="{57FC39A4-F581-4753-83B8-0DD87406A9A0}"/>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B629A564-9A67-48C8-876D-70B1FC2BDB85}"/>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07</a:t>
            </a:r>
          </a:p>
        </p:txBody>
      </p:sp>
    </p:spTree>
    <p:extLst>
      <p:ext uri="{BB962C8B-B14F-4D97-AF65-F5344CB8AC3E}">
        <p14:creationId xmlns:p14="http://schemas.microsoft.com/office/powerpoint/2010/main" val="15748492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1C2D55D5-CB53-4A36-B42A-368FDCA6960D}"/>
              </a:ext>
            </a:extLst>
          </p:cNvPr>
          <p:cNvPicPr>
            <a:picLocks xmlns:a="http://schemas.openxmlformats.org/drawingml/2006/main" noChangeAspect="1"/>
          </p:cNvPicPr>
          <p:nvPr/>
        </p:nvPicPr>
        <p:blipFill>
          <a:blip xmlns:r="http://schemas.openxmlformats.org/officeDocument/2006/relationships" xmlns:a="http://schemas.openxmlformats.org/drawingml/2006/main" r:embed="Rf9427ed468b84170"/>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511BCC89-7771-47BC-B1A0-FB429E0418A8}"/>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GTM offering proposal</a:t>
            </a:r>
          </a:p>
        </p:txBody>
      </p:sp>
      <p:sp>
        <p:nvSpPr>
          <p:cNvPr id="3" name="heading">
            <a:extLst xmlns:a="http://schemas.openxmlformats.org/drawingml/2006/main">
              <a:ext uri="{FF2B5EF4-FFF2-40B4-BE49-F238E27FC236}">
                <a16:creationId xmlns:a16="http://schemas.microsoft.com/office/drawing/2014/main" id="{FAF3736F-04B6-447A-AEE3-14EC4644F383}"/>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EMEA and US need distinct pursuit decisions</a:t>
            </a:r>
          </a:p>
        </p:txBody>
      </p:sp>
      <p:sp>
        <p:nvSpPr>
          <p:cNvPr id="4" name="content">
            <a:extLst xmlns:a="http://schemas.openxmlformats.org/drawingml/2006/main">
              <a:ext uri="{FF2B5EF4-FFF2-40B4-BE49-F238E27FC236}">
                <a16:creationId xmlns:a16="http://schemas.microsoft.com/office/drawing/2014/main" id="{4C58FD7C-89B7-46A7-86F0-6BB00DF13BEA}"/>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EU commercial pattern</a:t>
            </a:r>
          </a:p>
        </p:txBody>
      </p:sp>
      <p:sp>
        <p:nvSpPr>
          <p:cNvPr id="5" name="content">
            <a:extLst xmlns:a="http://schemas.openxmlformats.org/drawingml/2006/main">
              <a:ext uri="{FF2B5EF4-FFF2-40B4-BE49-F238E27FC236}">
                <a16:creationId xmlns:a16="http://schemas.microsoft.com/office/drawing/2014/main" id="{25EFCD39-9073-4F48-9248-7DB8FEF98E7B}"/>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Candidate: Sweden Central and EU Data Zone processing, subject to customer approval and model capacity.</a:t>
            </a:r>
          </a:p>
        </p:txBody>
      </p:sp>
      <p:sp>
        <p:nvSpPr>
          <p:cNvPr id="6" name="content">
            <a:extLst xmlns:a="http://schemas.openxmlformats.org/drawingml/2006/main">
              <a:ext uri="{FF2B5EF4-FFF2-40B4-BE49-F238E27FC236}">
                <a16:creationId xmlns:a16="http://schemas.microsoft.com/office/drawing/2014/main" id="{623CE567-FDDF-44A7-A6D1-A4A9F7BECA5C}"/>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US commercial pattern</a:t>
            </a:r>
          </a:p>
        </p:txBody>
      </p:sp>
      <p:sp>
        <p:nvSpPr>
          <p:cNvPr id="7" name="content">
            <a:extLst xmlns:a="http://schemas.openxmlformats.org/drawingml/2006/main">
              <a:ext uri="{FF2B5EF4-FFF2-40B4-BE49-F238E27FC236}">
                <a16:creationId xmlns:a16="http://schemas.microsoft.com/office/drawing/2014/main" id="{E679F95F-70C1-4B76-BA9B-CA26DE010E5C}"/>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Candidate: East US 2 and US Data Zone processing, subject to customer approval and model capacity.</a:t>
            </a:r>
          </a:p>
        </p:txBody>
      </p:sp>
      <p:sp>
        <p:nvSpPr>
          <p:cNvPr id="8" name="content">
            <a:extLst xmlns:a="http://schemas.openxmlformats.org/drawingml/2006/main">
              <a:ext uri="{FF2B5EF4-FFF2-40B4-BE49-F238E27FC236}">
                <a16:creationId xmlns:a16="http://schemas.microsoft.com/office/drawing/2014/main" id="{FB9DFCA5-6C4F-4AFD-BE57-87719D117548}"/>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Country-specific scope</a:t>
            </a:r>
          </a:p>
        </p:txBody>
      </p:sp>
      <p:sp>
        <p:nvSpPr>
          <p:cNvPr id="9" name="content">
            <a:extLst xmlns:a="http://schemas.openxmlformats.org/drawingml/2006/main">
              <a:ext uri="{FF2B5EF4-FFF2-40B4-BE49-F238E27FC236}">
                <a16:creationId xmlns:a16="http://schemas.microsoft.com/office/drawing/2014/main" id="{A1EE14FB-F376-4D9D-8A56-0CCDE03ABF9A}"/>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UK, Middle East and Africa require a separate country and processing-boundary decision.</a:t>
            </a:r>
          </a:p>
        </p:txBody>
      </p:sp>
      <p:sp>
        <p:nvSpPr>
          <p:cNvPr id="10" name="content">
            <a:extLst xmlns:a="http://schemas.openxmlformats.org/drawingml/2006/main">
              <a:ext uri="{FF2B5EF4-FFF2-40B4-BE49-F238E27FC236}">
                <a16:creationId xmlns:a16="http://schemas.microsoft.com/office/drawing/2014/main" id="{4E1567B6-1CBC-4AB8-855C-6F5762E8A978}"/>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Commercial mix</a:t>
            </a:r>
          </a:p>
        </p:txBody>
      </p:sp>
      <p:sp>
        <p:nvSpPr>
          <p:cNvPr id="11" name="content">
            <a:extLst xmlns:a="http://schemas.openxmlformats.org/drawingml/2006/main">
              <a:ext uri="{FF2B5EF4-FFF2-40B4-BE49-F238E27FC236}">
                <a16:creationId xmlns:a16="http://schemas.microsoft.com/office/drawing/2014/main" id="{055AA9A1-660C-409A-8605-7CCC7802A1EA}"/>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Validate country rates, onshore/offshore role allocation, billing currency and taxes.</a:t>
            </a:r>
          </a:p>
        </p:txBody>
      </p:sp>
      <p:sp>
        <p:nvSpPr>
          <p:cNvPr id="12" name="content">
            <a:extLst xmlns:a="http://schemas.openxmlformats.org/drawingml/2006/main">
              <a:ext uri="{FF2B5EF4-FFF2-40B4-BE49-F238E27FC236}">
                <a16:creationId xmlns:a16="http://schemas.microsoft.com/office/drawing/2014/main" id="{FFD2CEF0-E793-4AFA-B601-3A6CF925B442}"/>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Operating hours</a:t>
            </a:r>
          </a:p>
        </p:txBody>
      </p:sp>
      <p:sp>
        <p:nvSpPr>
          <p:cNvPr id="13" name="content">
            <a:extLst xmlns:a="http://schemas.openxmlformats.org/drawingml/2006/main">
              <a:ext uri="{FF2B5EF4-FFF2-40B4-BE49-F238E27FC236}">
                <a16:creationId xmlns:a16="http://schemas.microsoft.com/office/drawing/2014/main" id="{5903B5E3-54CB-4ADB-912F-86964CD4DD85}"/>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Name the supported customer time zone, holidays and handoff rules in the service schedule.</a:t>
            </a:r>
          </a:p>
        </p:txBody>
      </p:sp>
      <p:sp>
        <p:nvSpPr>
          <p:cNvPr id="14" name="content">
            <a:extLst xmlns:a="http://schemas.openxmlformats.org/drawingml/2006/main">
              <a:ext uri="{FF2B5EF4-FFF2-40B4-BE49-F238E27FC236}">
                <a16:creationId xmlns:a16="http://schemas.microsoft.com/office/drawing/2014/main" id="{723CDDF9-F495-41B0-A6EC-26EB203B5E68}"/>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Demand validation</a:t>
            </a:r>
          </a:p>
        </p:txBody>
      </p:sp>
      <p:sp>
        <p:nvSpPr>
          <p:cNvPr id="15" name="content">
            <a:extLst xmlns:a="http://schemas.openxmlformats.org/drawingml/2006/main">
              <a:ext uri="{FF2B5EF4-FFF2-40B4-BE49-F238E27FC236}">
                <a16:creationId xmlns:a16="http://schemas.microsoft.com/office/drawing/2014/main" id="{C8635052-36EB-429C-BC0D-E03DABF423B3}"/>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Target three named accounts and one paid next step. These are validation targets, not pipeline evidence.</a:t>
            </a:r>
          </a:p>
        </p:txBody>
      </p:sp>
      <p:sp>
        <p:nvSpPr>
          <p:cNvPr id="16" name="content">
            <a:extLst xmlns:a="http://schemas.openxmlformats.org/drawingml/2006/main">
              <a:ext uri="{FF2B5EF4-FFF2-40B4-BE49-F238E27FC236}">
                <a16:creationId xmlns:a16="http://schemas.microsoft.com/office/drawing/2014/main" id="{D27AF134-6CF3-4D91-93ED-212CFF8FB4FC}"/>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No single EMEA price, legal boundary or support calendar applies to every customer.</a:t>
            </a:r>
          </a:p>
        </p:txBody>
      </p:sp>
      <p:sp>
        <p:nvSpPr>
          <p:cNvPr id="17" name="content">
            <a:extLst xmlns:a="http://schemas.openxmlformats.org/drawingml/2006/main">
              <a:ext uri="{FF2B5EF4-FFF2-40B4-BE49-F238E27FC236}">
                <a16:creationId xmlns:a16="http://schemas.microsoft.com/office/drawing/2014/main" id="{1D6C6AB1-AD1E-454D-B9A4-D7E4FEC2656D}"/>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EB409A2B-B21A-4002-928E-99E4F55245FB}"/>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08</a:t>
            </a:r>
          </a:p>
        </p:txBody>
      </p:sp>
    </p:spTree>
    <p:extLst>
      <p:ext uri="{BB962C8B-B14F-4D97-AF65-F5344CB8AC3E}">
        <p14:creationId xmlns:p14="http://schemas.microsoft.com/office/powerpoint/2010/main" val="10613750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C2E43395-58B0-4615-A8C2-8BD95023D4A7}"/>
              </a:ext>
            </a:extLst>
          </p:cNvPr>
          <p:cNvPicPr>
            <a:picLocks xmlns:a="http://schemas.openxmlformats.org/drawingml/2006/main" noChangeAspect="1"/>
          </p:cNvPicPr>
          <p:nvPr/>
        </p:nvPicPr>
        <p:blipFill>
          <a:blip xmlns:r="http://schemas.openxmlformats.org/officeDocument/2006/relationships" xmlns:a="http://schemas.openxmlformats.org/drawingml/2006/main" r:embed="Re904f88944f2447d"/>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83BB297E-BAF1-4275-BAE4-E34D7C82DFDB}"/>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GTM offering proposal</a:t>
            </a:r>
          </a:p>
        </p:txBody>
      </p:sp>
      <p:sp>
        <p:nvSpPr>
          <p:cNvPr id="3" name="heading">
            <a:extLst xmlns:a="http://schemas.openxmlformats.org/drawingml/2006/main">
              <a:ext uri="{FF2B5EF4-FFF2-40B4-BE49-F238E27FC236}">
                <a16:creationId xmlns:a16="http://schemas.microsoft.com/office/drawing/2014/main" id="{3CAF231F-1B17-408C-B761-90067B1F6A33}"/>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Cognizant assets need an approved reuse route</a:t>
            </a:r>
          </a:p>
        </p:txBody>
      </p:sp>
      <p:sp>
        <p:nvSpPr>
          <p:cNvPr id="4" name="content">
            <a:extLst xmlns:a="http://schemas.openxmlformats.org/drawingml/2006/main">
              <a:ext uri="{FF2B5EF4-FFF2-40B4-BE49-F238E27FC236}">
                <a16:creationId xmlns:a16="http://schemas.microsoft.com/office/drawing/2014/main" id="{64E5A244-DD40-4DBD-A762-C4734F0E678C}"/>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Agent Foundry candidate</a:t>
            </a:r>
          </a:p>
        </p:txBody>
      </p:sp>
      <p:sp>
        <p:nvSpPr>
          <p:cNvPr id="5" name="content">
            <a:extLst xmlns:a="http://schemas.openxmlformats.org/drawingml/2006/main">
              <a:ext uri="{FF2B5EF4-FFF2-40B4-BE49-F238E27FC236}">
                <a16:creationId xmlns:a16="http://schemas.microsoft.com/office/drawing/2014/main" id="{3119ACE6-57ED-44EC-9A75-0B25956766EB}"/>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Potential specialist route for agent expansion. Obtain asset owner, compatibility and support confirmation.</a:t>
            </a:r>
          </a:p>
        </p:txBody>
      </p:sp>
      <p:sp>
        <p:nvSpPr>
          <p:cNvPr id="6" name="content">
            <a:extLst xmlns:a="http://schemas.openxmlformats.org/drawingml/2006/main">
              <a:ext uri="{FF2B5EF4-FFF2-40B4-BE49-F238E27FC236}">
                <a16:creationId xmlns:a16="http://schemas.microsoft.com/office/drawing/2014/main" id="{FF9025F3-12C0-40BC-85BA-7E5747D85672}"/>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Microsoft Copilot services</a:t>
            </a:r>
          </a:p>
        </p:txBody>
      </p:sp>
      <p:sp>
        <p:nvSpPr>
          <p:cNvPr id="7" name="content">
            <a:extLst xmlns:a="http://schemas.openxmlformats.org/drawingml/2006/main">
              <a:ext uri="{FF2B5EF4-FFF2-40B4-BE49-F238E27FC236}">
                <a16:creationId xmlns:a16="http://schemas.microsoft.com/office/drawing/2014/main" id="{99E09F6D-76F9-4969-86BC-67A871FE4916}"/>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Potential M365-led expansion. Confirm tenant readiness, adoption and commercial ownership.</a:t>
            </a:r>
          </a:p>
        </p:txBody>
      </p:sp>
      <p:sp>
        <p:nvSpPr>
          <p:cNvPr id="8" name="content">
            <a:extLst xmlns:a="http://schemas.openxmlformats.org/drawingml/2006/main">
              <a:ext uri="{FF2B5EF4-FFF2-40B4-BE49-F238E27FC236}">
                <a16:creationId xmlns:a16="http://schemas.microsoft.com/office/drawing/2014/main" id="{D6E361A9-1BDC-4EFA-B5CA-BBFA78FEAC46}"/>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Infra starting point</a:t>
            </a:r>
          </a:p>
        </p:txBody>
      </p:sp>
      <p:sp>
        <p:nvSpPr>
          <p:cNvPr id="9" name="content">
            <a:extLst xmlns:a="http://schemas.openxmlformats.org/drawingml/2006/main">
              <a:ext uri="{FF2B5EF4-FFF2-40B4-BE49-F238E27FC236}">
                <a16:creationId xmlns:a16="http://schemas.microsoft.com/office/drawing/2014/main" id="{A3482FA8-F28C-4179-AD01-1A33E49721B6}"/>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Inventory existing landing zone modules, pipelines and service contracts with their maintainers.</a:t>
            </a:r>
          </a:p>
        </p:txBody>
      </p:sp>
      <p:sp>
        <p:nvSpPr>
          <p:cNvPr id="10" name="content">
            <a:extLst xmlns:a="http://schemas.openxmlformats.org/drawingml/2006/main">
              <a:ext uri="{FF2B5EF4-FFF2-40B4-BE49-F238E27FC236}">
                <a16:creationId xmlns:a16="http://schemas.microsoft.com/office/drawing/2014/main" id="{7F48FDC5-EB8E-4A93-B81F-F48807522C2A}"/>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Validation register</a:t>
            </a:r>
          </a:p>
        </p:txBody>
      </p:sp>
      <p:sp>
        <p:nvSpPr>
          <p:cNvPr id="11" name="content">
            <a:extLst xmlns:a="http://schemas.openxmlformats.org/drawingml/2006/main">
              <a:ext uri="{FF2B5EF4-FFF2-40B4-BE49-F238E27FC236}">
                <a16:creationId xmlns:a16="http://schemas.microsoft.com/office/drawing/2014/main" id="{68714EAE-1E33-4A28-B265-38D95637C476}"/>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Record exact asset name, public evidence, internal owner, licence and accepted scope.</a:t>
            </a:r>
          </a:p>
        </p:txBody>
      </p:sp>
      <p:sp>
        <p:nvSpPr>
          <p:cNvPr id="12" name="content">
            <a:extLst xmlns:a="http://schemas.openxmlformats.org/drawingml/2006/main">
              <a:ext uri="{FF2B5EF4-FFF2-40B4-BE49-F238E27FC236}">
                <a16:creationId xmlns:a16="http://schemas.microsoft.com/office/drawing/2014/main" id="{DC62FFDB-DFB0-40F1-B925-5EF50BAB995A}"/>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Unverified candidates</a:t>
            </a:r>
          </a:p>
        </p:txBody>
      </p:sp>
      <p:sp>
        <p:nvSpPr>
          <p:cNvPr id="13" name="content">
            <a:extLst xmlns:a="http://schemas.openxmlformats.org/drawingml/2006/main">
              <a:ext uri="{FF2B5EF4-FFF2-40B4-BE49-F238E27FC236}">
                <a16:creationId xmlns:a16="http://schemas.microsoft.com/office/drawing/2014/main" id="{4CFAFE7D-4599-4A61-A173-C89C360DD41D}"/>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Azure/AI foundation assets and Neuro AI candidates stay in the register until owners validate them.</a:t>
            </a:r>
          </a:p>
        </p:txBody>
      </p:sp>
      <p:sp>
        <p:nvSpPr>
          <p:cNvPr id="14" name="content">
            <a:extLst xmlns:a="http://schemas.openxmlformats.org/drawingml/2006/main">
              <a:ext uri="{FF2B5EF4-FFF2-40B4-BE49-F238E27FC236}">
                <a16:creationId xmlns:a16="http://schemas.microsoft.com/office/drawing/2014/main" id="{66669BB8-84AE-4CD3-AAE5-A4497CC07F4C}"/>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Customer claim gate</a:t>
            </a:r>
          </a:p>
        </p:txBody>
      </p:sp>
      <p:sp>
        <p:nvSpPr>
          <p:cNvPr id="15" name="content">
            <a:extLst xmlns:a="http://schemas.openxmlformats.org/drawingml/2006/main">
              <a:ext uri="{FF2B5EF4-FFF2-40B4-BE49-F238E27FC236}">
                <a16:creationId xmlns:a16="http://schemas.microsoft.com/office/drawing/2014/main" id="{FD211614-1240-4F1D-824C-2DBE849DB326}"/>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Use only capability statements supported by current evidence and approved delivery availability.</a:t>
            </a:r>
          </a:p>
        </p:txBody>
      </p:sp>
      <p:sp>
        <p:nvSpPr>
          <p:cNvPr id="16" name="content">
            <a:extLst xmlns:a="http://schemas.openxmlformats.org/drawingml/2006/main">
              <a:ext uri="{FF2B5EF4-FFF2-40B4-BE49-F238E27FC236}">
                <a16:creationId xmlns:a16="http://schemas.microsoft.com/office/drawing/2014/main" id="{44B98861-6791-4493-8DB9-5D3F5BCA152F}"/>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Public capability does not establish an available internal asset, price or staffing commitment.</a:t>
            </a:r>
          </a:p>
        </p:txBody>
      </p:sp>
      <p:sp>
        <p:nvSpPr>
          <p:cNvPr id="17" name="content">
            <a:extLst xmlns:a="http://schemas.openxmlformats.org/drawingml/2006/main">
              <a:ext uri="{FF2B5EF4-FFF2-40B4-BE49-F238E27FC236}">
                <a16:creationId xmlns:a16="http://schemas.microsoft.com/office/drawing/2014/main" id="{3113EDB4-CD27-4FEA-9244-61FBBB2E12F1}"/>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8D076B12-9E89-48C8-92DA-30E008EC11B5}"/>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09</a:t>
            </a:r>
          </a:p>
        </p:txBody>
      </p:sp>
    </p:spTree>
    <p:extLst>
      <p:ext uri="{BB962C8B-B14F-4D97-AF65-F5344CB8AC3E}">
        <p14:creationId xmlns:p14="http://schemas.microsoft.com/office/powerpoint/2010/main" val="11862001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B02AFA7C-992F-4FA0-BC52-717372A91B94}"/>
              </a:ext>
            </a:extLst>
          </p:cNvPr>
          <p:cNvPicPr>
            <a:picLocks xmlns:a="http://schemas.openxmlformats.org/drawingml/2006/main" noChangeAspect="1"/>
          </p:cNvPicPr>
          <p:nvPr/>
        </p:nvPicPr>
        <p:blipFill>
          <a:blip xmlns:r="http://schemas.openxmlformats.org/officeDocument/2006/relationships" xmlns:a="http://schemas.openxmlformats.org/drawingml/2006/main" r:embed="R40fed4429b014075"/>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8B1B6987-D981-4155-98CD-075A270B38D3}"/>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GTM offering proposal</a:t>
            </a:r>
          </a:p>
        </p:txBody>
      </p:sp>
      <p:sp>
        <p:nvSpPr>
          <p:cNvPr id="3" name="heading">
            <a:extLst xmlns:a="http://schemas.openxmlformats.org/drawingml/2006/main">
              <a:ext uri="{FF2B5EF4-FFF2-40B4-BE49-F238E27FC236}">
                <a16:creationId xmlns:a16="http://schemas.microsoft.com/office/drawing/2014/main" id="{23CC822E-1AC2-4C2F-BC49-C58CE882F6C5}"/>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One integrated owner coordinates tower commitments</a:t>
            </a:r>
          </a:p>
        </p:txBody>
      </p:sp>
      <p:sp>
        <p:nvSpPr>
          <p:cNvPr id="4" name="content">
            <a:extLst xmlns:a="http://schemas.openxmlformats.org/drawingml/2006/main">
              <a:ext uri="{FF2B5EF4-FFF2-40B4-BE49-F238E27FC236}">
                <a16:creationId xmlns:a16="http://schemas.microsoft.com/office/drawing/2014/main" id="{D97D6FC9-441A-46B6-8529-DE017CB14075}"/>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Infra accountable</a:t>
            </a:r>
          </a:p>
        </p:txBody>
      </p:sp>
      <p:sp>
        <p:nvSpPr>
          <p:cNvPr id="5" name="content">
            <a:extLst xmlns:a="http://schemas.openxmlformats.org/drawingml/2006/main">
              <a:ext uri="{FF2B5EF4-FFF2-40B4-BE49-F238E27FC236}">
                <a16:creationId xmlns:a16="http://schemas.microsoft.com/office/drawing/2014/main" id="{A6FF8041-FD52-457E-A6D4-F05272A842B7}"/>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Platform design, network, DNS, integration coordination and platform handover.</a:t>
            </a:r>
          </a:p>
        </p:txBody>
      </p:sp>
      <p:sp>
        <p:nvSpPr>
          <p:cNvPr id="6" name="content">
            <a:extLst xmlns:a="http://schemas.openxmlformats.org/drawingml/2006/main">
              <a:ext uri="{FF2B5EF4-FFF2-40B4-BE49-F238E27FC236}">
                <a16:creationId xmlns:a16="http://schemas.microsoft.com/office/drawing/2014/main" id="{6C3E64EE-1C4B-47E4-B710-13F41BF6E5F1}"/>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Specialist packages</a:t>
            </a:r>
          </a:p>
        </p:txBody>
      </p:sp>
      <p:sp>
        <p:nvSpPr>
          <p:cNvPr id="7" name="content">
            <a:extLst xmlns:a="http://schemas.openxmlformats.org/drawingml/2006/main">
              <a:ext uri="{FF2B5EF4-FFF2-40B4-BE49-F238E27FC236}">
                <a16:creationId xmlns:a16="http://schemas.microsoft.com/office/drawing/2014/main" id="{662C15B9-316A-4E0A-916C-046FB82F221D}"/>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Security validates controls. DevOps owns automation. Data owns governance. Engineering builds ingestion. AI owns quality.</a:t>
            </a:r>
          </a:p>
        </p:txBody>
      </p:sp>
      <p:sp>
        <p:nvSpPr>
          <p:cNvPr id="8" name="content">
            <a:extLst xmlns:a="http://schemas.openxmlformats.org/drawingml/2006/main">
              <a:ext uri="{FF2B5EF4-FFF2-40B4-BE49-F238E27FC236}">
                <a16:creationId xmlns:a16="http://schemas.microsoft.com/office/drawing/2014/main" id="{C9EBDB51-BF01-498A-A1D0-2FDBB4B5A79E}"/>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Commercial attribution</a:t>
            </a:r>
          </a:p>
        </p:txBody>
      </p:sp>
      <p:sp>
        <p:nvSpPr>
          <p:cNvPr id="9" name="content">
            <a:extLst xmlns:a="http://schemas.openxmlformats.org/drawingml/2006/main">
              <a:ext uri="{FF2B5EF4-FFF2-40B4-BE49-F238E27FC236}">
                <a16:creationId xmlns:a16="http://schemas.microsoft.com/office/drawing/2014/main" id="{7D72EFC3-0F91-4E31-AEED-1A57240E9F60}"/>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Price each tower package. Infra coordination stays within the Infra package.</a:t>
            </a:r>
          </a:p>
        </p:txBody>
      </p:sp>
      <p:sp>
        <p:nvSpPr>
          <p:cNvPr id="10" name="content">
            <a:extLst xmlns:a="http://schemas.openxmlformats.org/drawingml/2006/main">
              <a:ext uri="{FF2B5EF4-FFF2-40B4-BE49-F238E27FC236}">
                <a16:creationId xmlns:a16="http://schemas.microsoft.com/office/drawing/2014/main" id="{CE31513D-EF2D-49E0-A943-091350174A7C}"/>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Before quote</a:t>
            </a:r>
          </a:p>
        </p:txBody>
      </p:sp>
      <p:sp>
        <p:nvSpPr>
          <p:cNvPr id="11" name="content">
            <a:extLst xmlns:a="http://schemas.openxmlformats.org/drawingml/2006/main">
              <a:ext uri="{FF2B5EF4-FFF2-40B4-BE49-F238E27FC236}">
                <a16:creationId xmlns:a16="http://schemas.microsoft.com/office/drawing/2014/main" id="{A881C2BF-5D75-44E1-9298-1520D6BDAB42}"/>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Each tower signs scope, effort, delivery dates, acceptance and resolver coverage.</a:t>
            </a:r>
          </a:p>
        </p:txBody>
      </p:sp>
      <p:sp>
        <p:nvSpPr>
          <p:cNvPr id="12" name="content">
            <a:extLst xmlns:a="http://schemas.openxmlformats.org/drawingml/2006/main">
              <a:ext uri="{FF2B5EF4-FFF2-40B4-BE49-F238E27FC236}">
                <a16:creationId xmlns:a16="http://schemas.microsoft.com/office/drawing/2014/main" id="{70C923DD-84FE-4C53-B732-554C0EBBAED6}"/>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Customer duties</a:t>
            </a:r>
          </a:p>
        </p:txBody>
      </p:sp>
      <p:sp>
        <p:nvSpPr>
          <p:cNvPr id="13" name="content">
            <a:extLst xmlns:a="http://schemas.openxmlformats.org/drawingml/2006/main">
              <a:ext uri="{FF2B5EF4-FFF2-40B4-BE49-F238E27FC236}">
                <a16:creationId xmlns:a16="http://schemas.microsoft.com/office/drawing/2014/main" id="{2E11AD71-05A4-4846-AEDF-75EDC0DFCF11}"/>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Tenant authority, source rights, business rules, change approval and final acceptance.</a:t>
            </a:r>
          </a:p>
        </p:txBody>
      </p:sp>
      <p:sp>
        <p:nvSpPr>
          <p:cNvPr id="14" name="content">
            <a:extLst xmlns:a="http://schemas.openxmlformats.org/drawingml/2006/main">
              <a:ext uri="{FF2B5EF4-FFF2-40B4-BE49-F238E27FC236}">
                <a16:creationId xmlns:a16="http://schemas.microsoft.com/office/drawing/2014/main" id="{90306B8F-7D56-40ED-A023-D144A23609FB}"/>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Revenue discipline</a:t>
            </a:r>
          </a:p>
        </p:txBody>
      </p:sp>
      <p:sp>
        <p:nvSpPr>
          <p:cNvPr id="15" name="content">
            <a:extLst xmlns:a="http://schemas.openxmlformats.org/drawingml/2006/main">
              <a:ext uri="{FF2B5EF4-FFF2-40B4-BE49-F238E27FC236}">
                <a16:creationId xmlns:a16="http://schemas.microsoft.com/office/drawing/2014/main" id="{82BB897F-A848-4CC2-BF00-C1CC869FDAE2}"/>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Reconcile package revenue to contract services revenue. Origination credit stays in a separate ledger.</a:t>
            </a:r>
          </a:p>
        </p:txBody>
      </p:sp>
      <p:sp>
        <p:nvSpPr>
          <p:cNvPr id="16" name="content">
            <a:extLst xmlns:a="http://schemas.openxmlformats.org/drawingml/2006/main">
              <a:ext uri="{FF2B5EF4-FFF2-40B4-BE49-F238E27FC236}">
                <a16:creationId xmlns:a16="http://schemas.microsoft.com/office/drawing/2014/main" id="{24309737-BB27-4FFF-BA95-E083B59F47F5}"/>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Detailed effort, RACI and a reconciled revenue example are in the appendix.</a:t>
            </a:r>
          </a:p>
        </p:txBody>
      </p:sp>
      <p:sp>
        <p:nvSpPr>
          <p:cNvPr id="17" name="content">
            <a:extLst xmlns:a="http://schemas.openxmlformats.org/drawingml/2006/main">
              <a:ext uri="{FF2B5EF4-FFF2-40B4-BE49-F238E27FC236}">
                <a16:creationId xmlns:a16="http://schemas.microsoft.com/office/drawing/2014/main" id="{FBB14C3B-8DDE-49AF-A563-7CE0F99ACB61}"/>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547B4F4D-1376-4A75-B70A-59424228C6DD}"/>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10</a:t>
            </a:r>
          </a:p>
        </p:txBody>
      </p:sp>
    </p:spTree>
    <p:extLst>
      <p:ext uri="{BB962C8B-B14F-4D97-AF65-F5344CB8AC3E}">
        <p14:creationId xmlns:p14="http://schemas.microsoft.com/office/powerpoint/2010/main" val="20270295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B40D1BBD-7669-4772-9E93-7A043204BA15}"/>
              </a:ext>
            </a:extLst>
          </p:cNvPr>
          <p:cNvPicPr>
            <a:picLocks xmlns:a="http://schemas.openxmlformats.org/drawingml/2006/main" noChangeAspect="1"/>
          </p:cNvPicPr>
          <p:nvPr/>
        </p:nvPicPr>
        <p:blipFill>
          <a:blip xmlns:r="http://schemas.openxmlformats.org/officeDocument/2006/relationships" xmlns:a="http://schemas.openxmlformats.org/drawingml/2006/main" r:embed="Rb76f54c1326c4858"/>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EE136348-0D53-49B0-B8B9-EB242991C463}"/>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GTM offering proposal</a:t>
            </a:r>
          </a:p>
        </p:txBody>
      </p:sp>
      <p:sp>
        <p:nvSpPr>
          <p:cNvPr id="3" name="heading">
            <a:extLst xmlns:a="http://schemas.openxmlformats.org/drawingml/2006/main">
              <a:ext uri="{FF2B5EF4-FFF2-40B4-BE49-F238E27FC236}">
                <a16:creationId xmlns:a16="http://schemas.microsoft.com/office/drawing/2014/main" id="{0F70D592-7ACC-4B7C-A6F7-0F925F65F137}"/>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PDCA provides a controlled validation cycle</a:t>
            </a:r>
          </a:p>
        </p:txBody>
      </p:sp>
      <p:sp>
        <p:nvSpPr>
          <p:cNvPr id="4" name="content">
            <a:extLst xmlns:a="http://schemas.openxmlformats.org/drawingml/2006/main">
              <a:ext uri="{FF2B5EF4-FFF2-40B4-BE49-F238E27FC236}">
                <a16:creationId xmlns:a16="http://schemas.microsoft.com/office/drawing/2014/main" id="{F294B437-1C0E-4A93-98A0-375C0B04A4FE}"/>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Plan / days 1–3</a:t>
            </a:r>
          </a:p>
        </p:txBody>
      </p:sp>
      <p:sp>
        <p:nvSpPr>
          <p:cNvPr id="5" name="content">
            <a:extLst xmlns:a="http://schemas.openxmlformats.org/drawingml/2006/main">
              <a:ext uri="{FF2B5EF4-FFF2-40B4-BE49-F238E27FC236}">
                <a16:creationId xmlns:a16="http://schemas.microsoft.com/office/drawing/2014/main" id="{4F9241F7-4354-4CAA-A4ED-88FFD7A49ECC}"/>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Confirm offer boundary, audit actions, customer hypothesis and accountable owners.</a:t>
            </a:r>
          </a:p>
        </p:txBody>
      </p:sp>
      <p:sp>
        <p:nvSpPr>
          <p:cNvPr id="6" name="content">
            <a:extLst xmlns:a="http://schemas.openxmlformats.org/drawingml/2006/main">
              <a:ext uri="{FF2B5EF4-FFF2-40B4-BE49-F238E27FC236}">
                <a16:creationId xmlns:a16="http://schemas.microsoft.com/office/drawing/2014/main" id="{ED38AA47-4FF1-4246-A04D-77F9FF724435}"/>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Do / days 4–10</a:t>
            </a:r>
          </a:p>
        </p:txBody>
      </p:sp>
      <p:sp>
        <p:nvSpPr>
          <p:cNvPr id="7" name="content">
            <a:extLst xmlns:a="http://schemas.openxmlformats.org/drawingml/2006/main">
              <a:ext uri="{FF2B5EF4-FFF2-40B4-BE49-F238E27FC236}">
                <a16:creationId xmlns:a16="http://schemas.microsoft.com/office/drawing/2014/main" id="{339ABE31-02D5-4AFF-8A8C-DCF3098AD9EB}"/>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Build the reference design, quote model, demo evidence and tower work packages.</a:t>
            </a:r>
          </a:p>
        </p:txBody>
      </p:sp>
      <p:sp>
        <p:nvSpPr>
          <p:cNvPr id="8" name="content">
            <a:extLst xmlns:a="http://schemas.openxmlformats.org/drawingml/2006/main">
              <a:ext uri="{FF2B5EF4-FFF2-40B4-BE49-F238E27FC236}">
                <a16:creationId xmlns:a16="http://schemas.microsoft.com/office/drawing/2014/main" id="{5E227630-537C-4919-AD9E-C347D89836EC}"/>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Check / days 11–15</a:t>
            </a:r>
          </a:p>
        </p:txBody>
      </p:sp>
      <p:sp>
        <p:nvSpPr>
          <p:cNvPr id="9" name="content">
            <a:extLst xmlns:a="http://schemas.openxmlformats.org/drawingml/2006/main">
              <a:ext uri="{FF2B5EF4-FFF2-40B4-BE49-F238E27FC236}">
                <a16:creationId xmlns:a16="http://schemas.microsoft.com/office/drawing/2014/main" id="{AC676D01-46E2-48E2-B60D-A0D8DDF8E5FC}"/>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Review security, functionality, economics, support readiness and slide usability.</a:t>
            </a:r>
          </a:p>
        </p:txBody>
      </p:sp>
      <p:sp>
        <p:nvSpPr>
          <p:cNvPr id="10" name="content">
            <a:extLst xmlns:a="http://schemas.openxmlformats.org/drawingml/2006/main">
              <a:ext uri="{FF2B5EF4-FFF2-40B4-BE49-F238E27FC236}">
                <a16:creationId xmlns:a16="http://schemas.microsoft.com/office/drawing/2014/main" id="{D646A5C8-ACEE-4A05-9FB2-2B2C7A742837}"/>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Act / days 16–20</a:t>
            </a:r>
          </a:p>
        </p:txBody>
      </p:sp>
      <p:sp>
        <p:nvSpPr>
          <p:cNvPr id="11" name="content">
            <a:extLst xmlns:a="http://schemas.openxmlformats.org/drawingml/2006/main">
              <a:ext uri="{FF2B5EF4-FFF2-40B4-BE49-F238E27FC236}">
                <a16:creationId xmlns:a16="http://schemas.microsoft.com/office/drawing/2014/main" id="{C4592CF4-C3BE-45E8-ACD7-B861D7795425}"/>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Close release blockers. Sponsor approves launch, a limited pilot or further revision.</a:t>
            </a:r>
          </a:p>
        </p:txBody>
      </p:sp>
      <p:sp>
        <p:nvSpPr>
          <p:cNvPr id="12" name="content">
            <a:extLst xmlns:a="http://schemas.openxmlformats.org/drawingml/2006/main">
              <a:ext uri="{FF2B5EF4-FFF2-40B4-BE49-F238E27FC236}">
                <a16:creationId xmlns:a16="http://schemas.microsoft.com/office/drawing/2014/main" id="{D6315572-174F-4FBB-9897-8CD0C027164B}"/>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Evidence register</a:t>
            </a:r>
          </a:p>
        </p:txBody>
      </p:sp>
      <p:sp>
        <p:nvSpPr>
          <p:cNvPr id="13" name="content">
            <a:extLst xmlns:a="http://schemas.openxmlformats.org/drawingml/2006/main">
              <a:ext uri="{FF2B5EF4-FFF2-40B4-BE49-F238E27FC236}">
                <a16:creationId xmlns:a16="http://schemas.microsoft.com/office/drawing/2014/main" id="{D0ACAA74-E16F-48FE-8207-4B27B33998DB}"/>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Every finding has an owner, due date, evidence, reviewer and status.</a:t>
            </a:r>
          </a:p>
        </p:txBody>
      </p:sp>
      <p:sp>
        <p:nvSpPr>
          <p:cNvPr id="14" name="content">
            <a:extLst xmlns:a="http://schemas.openxmlformats.org/drawingml/2006/main">
              <a:ext uri="{FF2B5EF4-FFF2-40B4-BE49-F238E27FC236}">
                <a16:creationId xmlns:a16="http://schemas.microsoft.com/office/drawing/2014/main" id="{1D8E9A9E-3BE5-4BE9-9C6C-E11CA8A5ABB2}"/>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Repeat after launch</a:t>
            </a:r>
          </a:p>
        </p:txBody>
      </p:sp>
      <p:sp>
        <p:nvSpPr>
          <p:cNvPr id="15" name="content">
            <a:extLst xmlns:a="http://schemas.openxmlformats.org/drawingml/2006/main">
              <a:ext uri="{FF2B5EF4-FFF2-40B4-BE49-F238E27FC236}">
                <a16:creationId xmlns:a16="http://schemas.microsoft.com/office/drawing/2014/main" id="{4B1CD116-FE84-4ABB-B63A-DBD74CF74CAD}"/>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Monthly cost and service review. Quarterly offering review and change-controlled template updates.</a:t>
            </a:r>
          </a:p>
        </p:txBody>
      </p:sp>
      <p:sp>
        <p:nvSpPr>
          <p:cNvPr id="16" name="content">
            <a:extLst xmlns:a="http://schemas.openxmlformats.org/drawingml/2006/main">
              <a:ext uri="{FF2B5EF4-FFF2-40B4-BE49-F238E27FC236}">
                <a16:creationId xmlns:a16="http://schemas.microsoft.com/office/drawing/2014/main" id="{DB6B411A-00B4-4921-AA16-7760BDBD1C2E}"/>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Proposed working-day plan. Internal evidence and customer approval remain prerequisites.</a:t>
            </a:r>
          </a:p>
        </p:txBody>
      </p:sp>
      <p:sp>
        <p:nvSpPr>
          <p:cNvPr id="17" name="content">
            <a:extLst xmlns:a="http://schemas.openxmlformats.org/drawingml/2006/main">
              <a:ext uri="{FF2B5EF4-FFF2-40B4-BE49-F238E27FC236}">
                <a16:creationId xmlns:a16="http://schemas.microsoft.com/office/drawing/2014/main" id="{F8F2B05E-9A6F-4090-899A-1A562008C576}"/>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12D2EAB4-ACEF-45F0-8EF4-0FD8AAA01C98}"/>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11</a:t>
            </a:r>
          </a:p>
        </p:txBody>
      </p:sp>
    </p:spTree>
    <p:extLst>
      <p:ext uri="{BB962C8B-B14F-4D97-AF65-F5344CB8AC3E}">
        <p14:creationId xmlns:p14="http://schemas.microsoft.com/office/powerpoint/2010/main" val="16613774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4D64E5F1-7781-4542-B6F9-49AFB8C5BCD7}"/>
              </a:ext>
            </a:extLst>
          </p:cNvPr>
          <p:cNvPicPr>
            <a:picLocks xmlns:a="http://schemas.openxmlformats.org/drawingml/2006/main" noChangeAspect="1"/>
          </p:cNvPicPr>
          <p:nvPr/>
        </p:nvPicPr>
        <p:blipFill>
          <a:blip xmlns:r="http://schemas.openxmlformats.org/officeDocument/2006/relationships" xmlns:a="http://schemas.openxmlformats.org/drawingml/2006/main" r:embed="Rfa4ce875a90846c1"/>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D3C50AF4-8EDA-4795-8BD6-502116353BFE}"/>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GTM offering proposal</a:t>
            </a:r>
          </a:p>
        </p:txBody>
      </p:sp>
      <p:sp>
        <p:nvSpPr>
          <p:cNvPr id="3" name="heading">
            <a:extLst xmlns:a="http://schemas.openxmlformats.org/drawingml/2006/main">
              <a:ext uri="{FF2B5EF4-FFF2-40B4-BE49-F238E27FC236}">
                <a16:creationId xmlns:a16="http://schemas.microsoft.com/office/drawing/2014/main" id="{9E94E061-51CD-4929-AF88-189A887BE790}"/>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Leadership approval releases a bounded pilot</a:t>
            </a:r>
          </a:p>
        </p:txBody>
      </p:sp>
      <p:sp>
        <p:nvSpPr>
          <p:cNvPr id="4" name="content">
            <a:extLst xmlns:a="http://schemas.openxmlformats.org/drawingml/2006/main">
              <a:ext uri="{FF2B5EF4-FFF2-40B4-BE49-F238E27FC236}">
                <a16:creationId xmlns:a16="http://schemas.microsoft.com/office/drawing/2014/main" id="{97B6FBE4-485F-48DE-BC00-4C244038EC38}"/>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Decision requested</a:t>
            </a:r>
          </a:p>
        </p:txBody>
      </p:sp>
      <p:sp>
        <p:nvSpPr>
          <p:cNvPr id="5" name="content">
            <a:extLst xmlns:a="http://schemas.openxmlformats.org/drawingml/2006/main">
              <a:ext uri="{FF2B5EF4-FFF2-40B4-BE49-F238E27FC236}">
                <a16:creationId xmlns:a16="http://schemas.microsoft.com/office/drawing/2014/main" id="{1DD96520-35A7-4F6F-8803-D9EED7B45B5D}"/>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Nominate sponsor, solution owner and tower leads. Approve a bounded reference demonstration.</a:t>
            </a:r>
          </a:p>
        </p:txBody>
      </p:sp>
      <p:sp>
        <p:nvSpPr>
          <p:cNvPr id="6" name="content">
            <a:extLst xmlns:a="http://schemas.openxmlformats.org/drawingml/2006/main">
              <a:ext uri="{FF2B5EF4-FFF2-40B4-BE49-F238E27FC236}">
                <a16:creationId xmlns:a16="http://schemas.microsoft.com/office/drawing/2014/main" id="{EF017F66-F397-4D77-BD95-9FE4E5BC8DA1}"/>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Commercial gate</a:t>
            </a:r>
          </a:p>
        </p:txBody>
      </p:sp>
      <p:sp>
        <p:nvSpPr>
          <p:cNvPr id="7" name="content">
            <a:extLst xmlns:a="http://schemas.openxmlformats.org/drawingml/2006/main">
              <a:ext uri="{FF2B5EF4-FFF2-40B4-BE49-F238E27FC236}">
                <a16:creationId xmlns:a16="http://schemas.microsoft.com/office/drawing/2014/main" id="{F56719F3-C782-41EC-993A-9876DD026CC3}"/>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Finance accepts role mix, reserve, margin definition, attribution and recurring coverage.</a:t>
            </a:r>
          </a:p>
        </p:txBody>
      </p:sp>
      <p:sp>
        <p:nvSpPr>
          <p:cNvPr id="8" name="content">
            <a:extLst xmlns:a="http://schemas.openxmlformats.org/drawingml/2006/main">
              <a:ext uri="{FF2B5EF4-FFF2-40B4-BE49-F238E27FC236}">
                <a16:creationId xmlns:a16="http://schemas.microsoft.com/office/drawing/2014/main" id="{8789D205-1F15-4F5B-A638-1C3C22F6E7E8}"/>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Technical gate</a:t>
            </a:r>
          </a:p>
        </p:txBody>
      </p:sp>
      <p:sp>
        <p:nvSpPr>
          <p:cNvPr id="9" name="content">
            <a:extLst xmlns:a="http://schemas.openxmlformats.org/drawingml/2006/main">
              <a:ext uri="{FF2B5EF4-FFF2-40B4-BE49-F238E27FC236}">
                <a16:creationId xmlns:a16="http://schemas.microsoft.com/office/drawing/2014/main" id="{E3F22070-A3CD-4D5D-B079-09D81D2935D3}"/>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Architect and Security accept supported services, access tests and the reference design.</a:t>
            </a:r>
          </a:p>
        </p:txBody>
      </p:sp>
      <p:sp>
        <p:nvSpPr>
          <p:cNvPr id="10" name="content">
            <a:extLst xmlns:a="http://schemas.openxmlformats.org/drawingml/2006/main">
              <a:ext uri="{FF2B5EF4-FFF2-40B4-BE49-F238E27FC236}">
                <a16:creationId xmlns:a16="http://schemas.microsoft.com/office/drawing/2014/main" id="{18D86430-0FBC-43E3-BAAF-25BEFFCAB6C0}"/>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Market gate</a:t>
            </a:r>
          </a:p>
        </p:txBody>
      </p:sp>
      <p:sp>
        <p:nvSpPr>
          <p:cNvPr id="11" name="content">
            <a:extLst xmlns:a="http://schemas.openxmlformats.org/drawingml/2006/main">
              <a:ext uri="{FF2B5EF4-FFF2-40B4-BE49-F238E27FC236}">
                <a16:creationId xmlns:a16="http://schemas.microsoft.com/office/drawing/2014/main" id="{6DA61A41-1373-464D-944E-3405D64F9F87}"/>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Account owners validate three opportunities and one funded next step.</a:t>
            </a:r>
          </a:p>
        </p:txBody>
      </p:sp>
      <p:sp>
        <p:nvSpPr>
          <p:cNvPr id="12" name="content">
            <a:extLst xmlns:a="http://schemas.openxmlformats.org/drawingml/2006/main">
              <a:ext uri="{FF2B5EF4-FFF2-40B4-BE49-F238E27FC236}">
                <a16:creationId xmlns:a16="http://schemas.microsoft.com/office/drawing/2014/main" id="{6E448A6E-914F-49F4-BF76-9663DE4F4155}"/>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Service gate</a:t>
            </a:r>
          </a:p>
        </p:txBody>
      </p:sp>
      <p:sp>
        <p:nvSpPr>
          <p:cNvPr id="13" name="content">
            <a:extLst xmlns:a="http://schemas.openxmlformats.org/drawingml/2006/main">
              <a:ext uri="{FF2B5EF4-FFF2-40B4-BE49-F238E27FC236}">
                <a16:creationId xmlns:a16="http://schemas.microsoft.com/office/drawing/2014/main" id="{0E77F5F9-C499-4FA7-BDA0-BB77B53F60F7}"/>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Service owner accepts runbooks, resolver agreements and the support schedule.</a:t>
            </a:r>
          </a:p>
        </p:txBody>
      </p:sp>
      <p:sp>
        <p:nvSpPr>
          <p:cNvPr id="14" name="content">
            <a:extLst xmlns:a="http://schemas.openxmlformats.org/drawingml/2006/main">
              <a:ext uri="{FF2B5EF4-FFF2-40B4-BE49-F238E27FC236}">
                <a16:creationId xmlns:a16="http://schemas.microsoft.com/office/drawing/2014/main" id="{DEAB72D1-01A1-4018-9D70-C59CC336529F}"/>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Day-20 decision</a:t>
            </a:r>
          </a:p>
        </p:txBody>
      </p:sp>
      <p:sp>
        <p:nvSpPr>
          <p:cNvPr id="15" name="content">
            <a:extLst xmlns:a="http://schemas.openxmlformats.org/drawingml/2006/main">
              <a:ext uri="{FF2B5EF4-FFF2-40B4-BE49-F238E27FC236}">
                <a16:creationId xmlns:a16="http://schemas.microsoft.com/office/drawing/2014/main" id="{581C5B72-D4B7-4AD8-8E00-36C6759C61CC}"/>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Launch a bounded pilot, revise unresolved assumptions or stop investment.</a:t>
            </a:r>
          </a:p>
        </p:txBody>
      </p:sp>
      <p:sp>
        <p:nvSpPr>
          <p:cNvPr id="16" name="content">
            <a:extLst xmlns:a="http://schemas.openxmlformats.org/drawingml/2006/main">
              <a:ext uri="{FF2B5EF4-FFF2-40B4-BE49-F238E27FC236}">
                <a16:creationId xmlns:a16="http://schemas.microsoft.com/office/drawing/2014/main" id="{582E662F-CD92-4517-8A68-4D2614DC7EE2}"/>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Proposed internal offering. External quotation requires deal-specific approval.</a:t>
            </a:r>
          </a:p>
        </p:txBody>
      </p:sp>
      <p:sp>
        <p:nvSpPr>
          <p:cNvPr id="17" name="content">
            <a:extLst xmlns:a="http://schemas.openxmlformats.org/drawingml/2006/main">
              <a:ext uri="{FF2B5EF4-FFF2-40B4-BE49-F238E27FC236}">
                <a16:creationId xmlns:a16="http://schemas.microsoft.com/office/drawing/2014/main" id="{8908CB46-80D1-4A5A-8BFA-586D20D3A1D4}"/>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6476BD82-F708-4EAE-87E4-DBB3F74AED0D}"/>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12</a:t>
            </a:r>
          </a:p>
        </p:txBody>
      </p:sp>
    </p:spTree>
    <p:extLst>
      <p:ext uri="{BB962C8B-B14F-4D97-AF65-F5344CB8AC3E}">
        <p14:creationId xmlns:p14="http://schemas.microsoft.com/office/powerpoint/2010/main" val="15759461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6654236-7CAD-4C6F-9427-81B7961FA6A3}"/>
              </a:ext>
            </a:extLst>
          </p:cNvPr>
          <p:cNvPicPr>
            <a:picLocks xmlns:a="http://schemas.openxmlformats.org/drawingml/2006/main" noChangeAspect="1"/>
          </p:cNvPicPr>
          <p:nvPr/>
        </p:nvPicPr>
        <p:blipFill>
          <a:blip xmlns:r="http://schemas.openxmlformats.org/officeDocument/2006/relationships" xmlns:a="http://schemas.openxmlformats.org/drawingml/2006/main" r:embed="Red1972014e2d43e4"/>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5B8E807C-32D0-4235-8AEE-1A5869BDB3AC}"/>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GTM offering proposal</a:t>
            </a:r>
          </a:p>
        </p:txBody>
      </p:sp>
      <p:sp>
        <p:nvSpPr>
          <p:cNvPr id="3" name="heading">
            <a:extLst xmlns:a="http://schemas.openxmlformats.org/drawingml/2006/main">
              <a:ext uri="{FF2B5EF4-FFF2-40B4-BE49-F238E27FC236}">
                <a16:creationId xmlns:a16="http://schemas.microsoft.com/office/drawing/2014/main" id="{D5853422-C5C4-4E4B-B3F0-C0B017AB79BF}"/>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sample effort and cost build-up</a:t>
            </a:r>
          </a:p>
        </p:txBody>
      </p:sp>
      <p:graphicFrame>
        <p:nvGraphicFramePr>
          <p:cNvPr id="4" name="">
            <a:extLst xmlns:a="http://schemas.openxmlformats.org/drawingml/2006/main">
              <a:ext uri="{FF2B5EF4-FFF2-40B4-BE49-F238E27FC236}">
                <a16:creationId xmlns:a16="http://schemas.microsoft.com/office/drawing/2014/main" id="{379CCD24-6780-4B20-A494-3831C1F87701}"/>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4000500"/>
                <a:gridCol w="1809750"/>
                <a:gridCol w="2286000"/>
                <a:gridCol w="2724150"/>
              </a:tblGrid>
              <a:tr h="571500">
                <a:tc>
                  <a:txBody>
                    <a:bodyPr/>
                    <a:lstStyle/>
                    <a:p>
                      <a:r>
                        <a:rPr sz="1725" b="1">
                          <a:solidFill>
                            <a:srgbClr val="FFFFFF"/>
                          </a:solidFill>
                        </a:rPr>
                        <a:t>Tower</a:t>
                      </a:r>
                    </a:p>
                  </a:txBody>
                  <a:tcPr marL="95250" marR="95250" marT="19050" marB="19050" anchor="ctr">
                    <a:solidFill>
                      <a:srgbClr val="000048"/>
                    </a:solidFill>
                  </a:tcPr>
                </a:tc>
                <a:tc>
                  <a:txBody>
                    <a:bodyPr/>
                    <a:lstStyle/>
                    <a:p>
                      <a:r>
                        <a:rPr sz="1725" b="1">
                          <a:solidFill>
                            <a:srgbClr val="FFFFFF"/>
                          </a:solidFill>
                        </a:rPr>
                        <a:t>Base days</a:t>
                      </a:r>
                    </a:p>
                  </a:txBody>
                  <a:tcPr marL="95250" marR="95250" marT="19050" marB="19050" anchor="ctr">
                    <a:solidFill>
                      <a:srgbClr val="000048"/>
                    </a:solidFill>
                  </a:tcPr>
                </a:tc>
                <a:tc>
                  <a:txBody>
                    <a:bodyPr/>
                    <a:lstStyle/>
                    <a:p>
                      <a:r>
                        <a:rPr sz="1725" b="1">
                          <a:solidFill>
                            <a:srgbClr val="FFFFFF"/>
                          </a:solidFill>
                        </a:rPr>
                        <a:t>USD/day</a:t>
                      </a:r>
                    </a:p>
                  </a:txBody>
                  <a:tcPr marL="95250" marR="95250" marT="19050" marB="19050" anchor="ctr">
                    <a:solidFill>
                      <a:srgbClr val="000048"/>
                    </a:solidFill>
                  </a:tcPr>
                </a:tc>
                <a:tc>
                  <a:txBody>
                    <a:bodyPr/>
                    <a:lstStyle/>
                    <a:p>
                      <a:r>
                        <a:rPr sz="1725" b="1">
                          <a:solidFill>
                            <a:srgbClr val="FFFFFF"/>
                          </a:solidFill>
                        </a:rPr>
                        <a:t>Base cost</a:t>
                      </a:r>
                    </a:p>
                  </a:txBody>
                  <a:tcPr marL="95250" marR="95250" marT="19050" marB="19050" anchor="ctr">
                    <a:solidFill>
                      <a:srgbClr val="000048"/>
                    </a:solidFill>
                  </a:tcPr>
                </a:tc>
              </a:tr>
              <a:tr h="571500">
                <a:tc>
                  <a:txBody>
                    <a:bodyPr/>
                    <a:lstStyle/>
                    <a:p>
                      <a:r>
                        <a:rPr sz="1725" b="0">
                          <a:solidFill>
                            <a:srgbClr val="000048"/>
                          </a:solidFill>
                        </a:rPr>
                        <a:t>Infra</a:t>
                      </a:r>
                    </a:p>
                  </a:txBody>
                  <a:tcPr marL="95250" marR="95250" marT="19050" marB="19050" anchor="ctr">
                    <a:solidFill>
                      <a:srgbClr val="F5F5F2"/>
                    </a:solidFill>
                  </a:tcPr>
                </a:tc>
                <a:tc>
                  <a:txBody>
                    <a:bodyPr/>
                    <a:lstStyle/>
                    <a:p>
                      <a:r>
                        <a:rPr sz="1725" b="0">
                          <a:solidFill>
                            <a:srgbClr val="000048"/>
                          </a:solidFill>
                        </a:rPr>
                        <a:t>40</a:t>
                      </a:r>
                    </a:p>
                  </a:txBody>
                  <a:tcPr marL="95250" marR="95250" marT="19050" marB="19050" anchor="ctr">
                    <a:solidFill>
                      <a:srgbClr val="F5F5F2"/>
                    </a:solidFill>
                  </a:tcPr>
                </a:tc>
                <a:tc>
                  <a:txBody>
                    <a:bodyPr/>
                    <a:lstStyle/>
                    <a:p>
                      <a:r>
                        <a:rPr sz="1725" b="0">
                          <a:solidFill>
                            <a:srgbClr val="000048"/>
                          </a:solidFill>
                        </a:rPr>
                        <a:t>$500.00</a:t>
                      </a:r>
                    </a:p>
                  </a:txBody>
                  <a:tcPr marL="95250" marR="95250" marT="19050" marB="19050" anchor="ctr">
                    <a:solidFill>
                      <a:srgbClr val="F5F5F2"/>
                    </a:solidFill>
                  </a:tcPr>
                </a:tc>
                <a:tc>
                  <a:txBody>
                    <a:bodyPr/>
                    <a:lstStyle/>
                    <a:p>
                      <a:r>
                        <a:rPr sz="1725" b="0">
                          <a:solidFill>
                            <a:srgbClr val="000048"/>
                          </a:solidFill>
                        </a:rPr>
                        <a:t>$20,000.00</a:t>
                      </a:r>
                    </a:p>
                  </a:txBody>
                  <a:tcPr marL="95250" marR="95250" marT="19050" marB="19050" anchor="ctr">
                    <a:solidFill>
                      <a:srgbClr val="F5F5F2"/>
                    </a:solidFill>
                  </a:tcPr>
                </a:tc>
              </a:tr>
              <a:tr h="571500">
                <a:tc>
                  <a:txBody>
                    <a:bodyPr/>
                    <a:lstStyle/>
                    <a:p>
                      <a:r>
                        <a:rPr sz="1725" b="0">
                          <a:solidFill>
                            <a:srgbClr val="000048"/>
                          </a:solidFill>
                        </a:rPr>
                        <a:t>Security</a:t>
                      </a:r>
                    </a:p>
                  </a:txBody>
                  <a:tcPr marL="95250" marR="95250" marT="19050" marB="19050" anchor="ctr">
                    <a:solidFill>
                      <a:srgbClr val="FFFFFF"/>
                    </a:solidFill>
                  </a:tcPr>
                </a:tc>
                <a:tc>
                  <a:txBody>
                    <a:bodyPr/>
                    <a:lstStyle/>
                    <a:p>
                      <a:r>
                        <a:rPr sz="1725" b="0">
                          <a:solidFill>
                            <a:srgbClr val="000048"/>
                          </a:solidFill>
                        </a:rPr>
                        <a:t>8</a:t>
                      </a:r>
                    </a:p>
                  </a:txBody>
                  <a:tcPr marL="95250" marR="95250" marT="19050" marB="19050" anchor="ctr">
                    <a:solidFill>
                      <a:srgbClr val="FFFFFF"/>
                    </a:solidFill>
                  </a:tcPr>
                </a:tc>
                <a:tc>
                  <a:txBody>
                    <a:bodyPr/>
                    <a:lstStyle/>
                    <a:p>
                      <a:r>
                        <a:rPr sz="1725" b="0">
                          <a:solidFill>
                            <a:srgbClr val="000048"/>
                          </a:solidFill>
                        </a:rPr>
                        <a:t>$600.00</a:t>
                      </a:r>
                    </a:p>
                  </a:txBody>
                  <a:tcPr marL="95250" marR="95250" marT="19050" marB="19050" anchor="ctr">
                    <a:solidFill>
                      <a:srgbClr val="FFFFFF"/>
                    </a:solidFill>
                  </a:tcPr>
                </a:tc>
                <a:tc>
                  <a:txBody>
                    <a:bodyPr/>
                    <a:lstStyle/>
                    <a:p>
                      <a:r>
                        <a:rPr sz="1725" b="0">
                          <a:solidFill>
                            <a:srgbClr val="000048"/>
                          </a:solidFill>
                        </a:rPr>
                        <a:t>$4,800.00</a:t>
                      </a:r>
                    </a:p>
                  </a:txBody>
                  <a:tcPr marL="95250" marR="95250" marT="19050" marB="19050" anchor="ctr">
                    <a:solidFill>
                      <a:srgbClr val="FFFFFF"/>
                    </a:solidFill>
                  </a:tcPr>
                </a:tc>
              </a:tr>
              <a:tr h="571500">
                <a:tc>
                  <a:txBody>
                    <a:bodyPr/>
                    <a:lstStyle/>
                    <a:p>
                      <a:r>
                        <a:rPr sz="1725" b="0">
                          <a:solidFill>
                            <a:srgbClr val="000048"/>
                          </a:solidFill>
                        </a:rPr>
                        <a:t>DevOps</a:t>
                      </a:r>
                    </a:p>
                  </a:txBody>
                  <a:tcPr marL="95250" marR="95250" marT="19050" marB="19050" anchor="ctr">
                    <a:solidFill>
                      <a:srgbClr val="F5F5F2"/>
                    </a:solidFill>
                  </a:tcPr>
                </a:tc>
                <a:tc>
                  <a:txBody>
                    <a:bodyPr/>
                    <a:lstStyle/>
                    <a:p>
                      <a:r>
                        <a:rPr sz="1725" b="0">
                          <a:solidFill>
                            <a:srgbClr val="000048"/>
                          </a:solidFill>
                        </a:rPr>
                        <a:t>12</a:t>
                      </a:r>
                    </a:p>
                  </a:txBody>
                  <a:tcPr marL="95250" marR="95250" marT="19050" marB="19050" anchor="ctr">
                    <a:solidFill>
                      <a:srgbClr val="F5F5F2"/>
                    </a:solidFill>
                  </a:tcPr>
                </a:tc>
                <a:tc>
                  <a:txBody>
                    <a:bodyPr/>
                    <a:lstStyle/>
                    <a:p>
                      <a:r>
                        <a:rPr sz="1725" b="0">
                          <a:solidFill>
                            <a:srgbClr val="000048"/>
                          </a:solidFill>
                        </a:rPr>
                        <a:t>$500.00</a:t>
                      </a:r>
                    </a:p>
                  </a:txBody>
                  <a:tcPr marL="95250" marR="95250" marT="19050" marB="19050" anchor="ctr">
                    <a:solidFill>
                      <a:srgbClr val="F5F5F2"/>
                    </a:solidFill>
                  </a:tcPr>
                </a:tc>
                <a:tc>
                  <a:txBody>
                    <a:bodyPr/>
                    <a:lstStyle/>
                    <a:p>
                      <a:r>
                        <a:rPr sz="1725" b="0">
                          <a:solidFill>
                            <a:srgbClr val="000048"/>
                          </a:solidFill>
                        </a:rPr>
                        <a:t>$6,000.00</a:t>
                      </a:r>
                    </a:p>
                  </a:txBody>
                  <a:tcPr marL="95250" marR="95250" marT="19050" marB="19050" anchor="ctr">
                    <a:solidFill>
                      <a:srgbClr val="F5F5F2"/>
                    </a:solidFill>
                  </a:tcPr>
                </a:tc>
              </a:tr>
              <a:tr h="571500">
                <a:tc>
                  <a:txBody>
                    <a:bodyPr/>
                    <a:lstStyle/>
                    <a:p>
                      <a:r>
                        <a:rPr sz="1725" b="0">
                          <a:solidFill>
                            <a:srgbClr val="000048"/>
                          </a:solidFill>
                        </a:rPr>
                        <a:t>Data</a:t>
                      </a:r>
                    </a:p>
                  </a:txBody>
                  <a:tcPr marL="95250" marR="95250" marT="19050" marB="19050" anchor="ctr">
                    <a:solidFill>
                      <a:srgbClr val="FFFFFF"/>
                    </a:solidFill>
                  </a:tcPr>
                </a:tc>
                <a:tc>
                  <a:txBody>
                    <a:bodyPr/>
                    <a:lstStyle/>
                    <a:p>
                      <a:r>
                        <a:rPr sz="1725" b="0">
                          <a:solidFill>
                            <a:srgbClr val="000048"/>
                          </a:solidFill>
                        </a:rPr>
                        <a:t>4</a:t>
                      </a:r>
                    </a:p>
                  </a:txBody>
                  <a:tcPr marL="95250" marR="95250" marT="19050" marB="19050" anchor="ctr">
                    <a:solidFill>
                      <a:srgbClr val="FFFFFF"/>
                    </a:solidFill>
                  </a:tcPr>
                </a:tc>
                <a:tc>
                  <a:txBody>
                    <a:bodyPr/>
                    <a:lstStyle/>
                    <a:p>
                      <a:r>
                        <a:rPr sz="1725" b="0">
                          <a:solidFill>
                            <a:srgbClr val="000048"/>
                          </a:solidFill>
                        </a:rPr>
                        <a:t>$550.00</a:t>
                      </a:r>
                    </a:p>
                  </a:txBody>
                  <a:tcPr marL="95250" marR="95250" marT="19050" marB="19050" anchor="ctr">
                    <a:solidFill>
                      <a:srgbClr val="FFFFFF"/>
                    </a:solidFill>
                  </a:tcPr>
                </a:tc>
                <a:tc>
                  <a:txBody>
                    <a:bodyPr/>
                    <a:lstStyle/>
                    <a:p>
                      <a:r>
                        <a:rPr sz="1725" b="0">
                          <a:solidFill>
                            <a:srgbClr val="000048"/>
                          </a:solidFill>
                        </a:rPr>
                        <a:t>$2,200.00</a:t>
                      </a:r>
                    </a:p>
                  </a:txBody>
                  <a:tcPr marL="95250" marR="95250" marT="19050" marB="19050" anchor="ctr">
                    <a:solidFill>
                      <a:srgbClr val="FFFFFF"/>
                    </a:solidFill>
                  </a:tcPr>
                </a:tc>
              </a:tr>
              <a:tr h="571500">
                <a:tc>
                  <a:txBody>
                    <a:bodyPr/>
                    <a:lstStyle/>
                    <a:p>
                      <a:r>
                        <a:rPr sz="1725" b="0">
                          <a:solidFill>
                            <a:srgbClr val="000048"/>
                          </a:solidFill>
                        </a:rPr>
                        <a:t>Data Engineering</a:t>
                      </a:r>
                    </a:p>
                  </a:txBody>
                  <a:tcPr marL="95250" marR="95250" marT="19050" marB="19050" anchor="ctr">
                    <a:solidFill>
                      <a:srgbClr val="F5F5F2"/>
                    </a:solidFill>
                  </a:tcPr>
                </a:tc>
                <a:tc>
                  <a:txBody>
                    <a:bodyPr/>
                    <a:lstStyle/>
                    <a:p>
                      <a:r>
                        <a:rPr sz="1725" b="0">
                          <a:solidFill>
                            <a:srgbClr val="000048"/>
                          </a:solidFill>
                        </a:rPr>
                        <a:t>12</a:t>
                      </a:r>
                    </a:p>
                  </a:txBody>
                  <a:tcPr marL="95250" marR="95250" marT="19050" marB="19050" anchor="ctr">
                    <a:solidFill>
                      <a:srgbClr val="F5F5F2"/>
                    </a:solidFill>
                  </a:tcPr>
                </a:tc>
                <a:tc>
                  <a:txBody>
                    <a:bodyPr/>
                    <a:lstStyle/>
                    <a:p>
                      <a:r>
                        <a:rPr sz="1725" b="0">
                          <a:solidFill>
                            <a:srgbClr val="000048"/>
                          </a:solidFill>
                        </a:rPr>
                        <a:t>$500.00</a:t>
                      </a:r>
                    </a:p>
                  </a:txBody>
                  <a:tcPr marL="95250" marR="95250" marT="19050" marB="19050" anchor="ctr">
                    <a:solidFill>
                      <a:srgbClr val="F5F5F2"/>
                    </a:solidFill>
                  </a:tcPr>
                </a:tc>
                <a:tc>
                  <a:txBody>
                    <a:bodyPr/>
                    <a:lstStyle/>
                    <a:p>
                      <a:r>
                        <a:rPr sz="1725" b="0">
                          <a:solidFill>
                            <a:srgbClr val="000048"/>
                          </a:solidFill>
                        </a:rPr>
                        <a:t>$6,000.00</a:t>
                      </a:r>
                    </a:p>
                  </a:txBody>
                  <a:tcPr marL="95250" marR="95250" marT="19050" marB="19050" anchor="ctr">
                    <a:solidFill>
                      <a:srgbClr val="F5F5F2"/>
                    </a:solidFill>
                  </a:tcPr>
                </a:tc>
              </a:tr>
              <a:tr h="571500">
                <a:tc>
                  <a:txBody>
                    <a:bodyPr/>
                    <a:lstStyle/>
                    <a:p>
                      <a:r>
                        <a:rPr sz="1725" b="0">
                          <a:solidFill>
                            <a:srgbClr val="000048"/>
                          </a:solidFill>
                        </a:rPr>
                        <a:t>AI</a:t>
                      </a:r>
                    </a:p>
                  </a:txBody>
                  <a:tcPr marL="95250" marR="95250" marT="19050" marB="19050" anchor="ctr">
                    <a:solidFill>
                      <a:srgbClr val="FFFFFF"/>
                    </a:solidFill>
                  </a:tcPr>
                </a:tc>
                <a:tc>
                  <a:txBody>
                    <a:bodyPr/>
                    <a:lstStyle/>
                    <a:p>
                      <a:r>
                        <a:rPr sz="1725" b="0">
                          <a:solidFill>
                            <a:srgbClr val="000048"/>
                          </a:solidFill>
                        </a:rPr>
                        <a:t>12</a:t>
                      </a:r>
                    </a:p>
                  </a:txBody>
                  <a:tcPr marL="95250" marR="95250" marT="19050" marB="19050" anchor="ctr">
                    <a:solidFill>
                      <a:srgbClr val="FFFFFF"/>
                    </a:solidFill>
                  </a:tcPr>
                </a:tc>
                <a:tc>
                  <a:txBody>
                    <a:bodyPr/>
                    <a:lstStyle/>
                    <a:p>
                      <a:r>
                        <a:rPr sz="1725" b="0">
                          <a:solidFill>
                            <a:srgbClr val="000048"/>
                          </a:solidFill>
                        </a:rPr>
                        <a:t>$650.00</a:t>
                      </a:r>
                    </a:p>
                  </a:txBody>
                  <a:tcPr marL="95250" marR="95250" marT="19050" marB="19050" anchor="ctr">
                    <a:solidFill>
                      <a:srgbClr val="FFFFFF"/>
                    </a:solidFill>
                  </a:tcPr>
                </a:tc>
                <a:tc>
                  <a:txBody>
                    <a:bodyPr/>
                    <a:lstStyle/>
                    <a:p>
                      <a:r>
                        <a:rPr sz="1725" b="0">
                          <a:solidFill>
                            <a:srgbClr val="000048"/>
                          </a:solidFill>
                        </a:rPr>
                        <a:t>$7,800.00</a:t>
                      </a:r>
                    </a:p>
                  </a:txBody>
                  <a:tcPr marL="95250" marR="95250" marT="19050" marB="19050" anchor="ctr">
                    <a:solidFill>
                      <a:srgbClr val="FFFFFF"/>
                    </a:solidFill>
                  </a:tcPr>
                </a:tc>
              </a:tr>
            </a:tbl>
          </a:graphicData>
        </a:graphic>
      </p:graphicFrame>
      <p:sp>
        <p:nvSpPr>
          <p:cNvPr id="5" name="content">
            <a:extLst xmlns:a="http://schemas.openxmlformats.org/drawingml/2006/main">
              <a:ext uri="{FF2B5EF4-FFF2-40B4-BE49-F238E27FC236}">
                <a16:creationId xmlns:a16="http://schemas.microsoft.com/office/drawing/2014/main" id="{A7767D22-4DE1-429A-B4E3-A4641220DD15}"/>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Base cost $46,800. Reserve $7,020. Sell fee $76,885.71 at illustrative 30% margin.</a:t>
            </a:r>
          </a:p>
        </p:txBody>
      </p:sp>
      <p:sp>
        <p:nvSpPr>
          <p:cNvPr id="6" name="content">
            <a:extLst xmlns:a="http://schemas.openxmlformats.org/drawingml/2006/main">
              <a:ext uri="{FF2B5EF4-FFF2-40B4-BE49-F238E27FC236}">
                <a16:creationId xmlns:a16="http://schemas.microsoft.com/office/drawing/2014/main" id="{EAEBF8E3-6576-463E-9712-DCB7C3DE7122}"/>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8EA1FCAA-02A7-4156-AF54-D7EB1BA4D930}"/>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13</a:t>
            </a:r>
          </a:p>
        </p:txBody>
      </p:sp>
    </p:spTree>
    <p:extLst>
      <p:ext uri="{BB962C8B-B14F-4D97-AF65-F5344CB8AC3E}">
        <p14:creationId xmlns:p14="http://schemas.microsoft.com/office/powerpoint/2010/main" val="10891166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C8C2789-8119-4474-A5D8-DC9EE2E373D0}"/>
              </a:ext>
            </a:extLst>
          </p:cNvPr>
          <p:cNvPicPr>
            <a:picLocks xmlns:a="http://schemas.openxmlformats.org/drawingml/2006/main" noChangeAspect="1"/>
          </p:cNvPicPr>
          <p:nvPr/>
        </p:nvPicPr>
        <p:blipFill>
          <a:blip xmlns:r="http://schemas.openxmlformats.org/officeDocument/2006/relationships" xmlns:a="http://schemas.openxmlformats.org/drawingml/2006/main" r:embed="R2e8f80587e774616"/>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78F43D80-344A-41A6-B024-DE526F4BD562}"/>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GTM offering proposal</a:t>
            </a:r>
          </a:p>
        </p:txBody>
      </p:sp>
      <p:sp>
        <p:nvSpPr>
          <p:cNvPr id="3" name="heading">
            <a:extLst xmlns:a="http://schemas.openxmlformats.org/drawingml/2006/main">
              <a:ext uri="{FF2B5EF4-FFF2-40B4-BE49-F238E27FC236}">
                <a16:creationId xmlns:a16="http://schemas.microsoft.com/office/drawing/2014/main" id="{0FC2ECFE-88FE-4163-840F-60D2352ECC73}"/>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revenue credits reconcile to services</a:t>
            </a:r>
          </a:p>
        </p:txBody>
      </p:sp>
      <p:graphicFrame>
        <p:nvGraphicFramePr>
          <p:cNvPr id="4" name="">
            <a:extLst xmlns:a="http://schemas.openxmlformats.org/drawingml/2006/main">
              <a:ext uri="{FF2B5EF4-FFF2-40B4-BE49-F238E27FC236}">
                <a16:creationId xmlns:a16="http://schemas.microsoft.com/office/drawing/2014/main" id="{107D90C7-1E10-4B2C-95C1-428B0675D7EC}"/>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3429000"/>
                <a:gridCol w="2857500"/>
                <a:gridCol w="4533900"/>
              </a:tblGrid>
              <a:tr h="571500">
                <a:tc>
                  <a:txBody>
                    <a:bodyPr/>
                    <a:lstStyle/>
                    <a:p>
                      <a:r>
                        <a:rPr sz="1725" b="1">
                          <a:solidFill>
                            <a:srgbClr val="FFFFFF"/>
                          </a:solidFill>
                        </a:rPr>
                        <a:t>Tower</a:t>
                      </a:r>
                    </a:p>
                  </a:txBody>
                  <a:tcPr marL="95250" marR="95250" marT="19050" marB="19050" anchor="ctr">
                    <a:solidFill>
                      <a:srgbClr val="000048"/>
                    </a:solidFill>
                  </a:tcPr>
                </a:tc>
                <a:tc>
                  <a:txBody>
                    <a:bodyPr/>
                    <a:lstStyle/>
                    <a:p>
                      <a:r>
                        <a:rPr sz="1725" b="1">
                          <a:solidFill>
                            <a:srgbClr val="FFFFFF"/>
                          </a:solidFill>
                        </a:rPr>
                        <a:t>Priced package credit</a:t>
                      </a:r>
                    </a:p>
                  </a:txBody>
                  <a:tcPr marL="95250" marR="95250" marT="19050" marB="19050" anchor="ctr">
                    <a:solidFill>
                      <a:srgbClr val="000048"/>
                    </a:solidFill>
                  </a:tcPr>
                </a:tc>
                <a:tc>
                  <a:txBody>
                    <a:bodyPr/>
                    <a:lstStyle/>
                    <a:p>
                      <a:r>
                        <a:rPr sz="1725" b="1">
                          <a:solidFill>
                            <a:srgbClr val="FFFFFF"/>
                          </a:solidFill>
                        </a:rPr>
                        <a:t>Rule</a:t>
                      </a:r>
                    </a:p>
                  </a:txBody>
                  <a:tcPr marL="95250" marR="95250" marT="19050" marB="19050" anchor="ctr">
                    <a:solidFill>
                      <a:srgbClr val="000048"/>
                    </a:solidFill>
                  </a:tcPr>
                </a:tc>
              </a:tr>
              <a:tr h="571500">
                <a:tc>
                  <a:txBody>
                    <a:bodyPr/>
                    <a:lstStyle/>
                    <a:p>
                      <a:r>
                        <a:rPr sz="1725" b="0">
                          <a:solidFill>
                            <a:srgbClr val="000048"/>
                          </a:solidFill>
                        </a:rPr>
                        <a:t>Infra</a:t>
                      </a:r>
                    </a:p>
                  </a:txBody>
                  <a:tcPr marL="95250" marR="95250" marT="19050" marB="19050" anchor="ctr">
                    <a:solidFill>
                      <a:srgbClr val="F5F5F2"/>
                    </a:solidFill>
                  </a:tcPr>
                </a:tc>
                <a:tc>
                  <a:txBody>
                    <a:bodyPr/>
                    <a:lstStyle/>
                    <a:p>
                      <a:r>
                        <a:rPr sz="1725" b="0">
                          <a:solidFill>
                            <a:srgbClr val="000048"/>
                          </a:solidFill>
                        </a:rPr>
                        <a:t>$32,857.14</a:t>
                      </a:r>
                    </a:p>
                  </a:txBody>
                  <a:tcPr marL="95250" marR="95250" marT="19050" marB="19050" anchor="ctr">
                    <a:solidFill>
                      <a:srgbClr val="F5F5F2"/>
                    </a:solidFill>
                  </a:tcPr>
                </a:tc>
                <a:tc>
                  <a:txBody>
                    <a:bodyPr/>
                    <a:lstStyle/>
                    <a:p>
                      <a:r>
                        <a:rPr sz="1725" b="0">
                          <a:solidFill>
                            <a:srgbClr val="000048"/>
                          </a:solidFill>
                        </a:rPr>
                        <a:t>Cost × 1.15 / 0.70</a:t>
                      </a:r>
                    </a:p>
                  </a:txBody>
                  <a:tcPr marL="95250" marR="95250" marT="19050" marB="19050" anchor="ctr">
                    <a:solidFill>
                      <a:srgbClr val="F5F5F2"/>
                    </a:solidFill>
                  </a:tcPr>
                </a:tc>
              </a:tr>
              <a:tr h="571500">
                <a:tc>
                  <a:txBody>
                    <a:bodyPr/>
                    <a:lstStyle/>
                    <a:p>
                      <a:r>
                        <a:rPr sz="1725" b="0">
                          <a:solidFill>
                            <a:srgbClr val="000048"/>
                          </a:solidFill>
                        </a:rPr>
                        <a:t>Security</a:t>
                      </a:r>
                    </a:p>
                  </a:txBody>
                  <a:tcPr marL="95250" marR="95250" marT="19050" marB="19050" anchor="ctr">
                    <a:solidFill>
                      <a:srgbClr val="FFFFFF"/>
                    </a:solidFill>
                  </a:tcPr>
                </a:tc>
                <a:tc>
                  <a:txBody>
                    <a:bodyPr/>
                    <a:lstStyle/>
                    <a:p>
                      <a:r>
                        <a:rPr sz="1725" b="0">
                          <a:solidFill>
                            <a:srgbClr val="000048"/>
                          </a:solidFill>
                        </a:rPr>
                        <a:t>$7,885.71</a:t>
                      </a:r>
                    </a:p>
                  </a:txBody>
                  <a:tcPr marL="95250" marR="95250" marT="19050" marB="19050" anchor="ctr">
                    <a:solidFill>
                      <a:srgbClr val="FFFFFF"/>
                    </a:solidFill>
                  </a:tcPr>
                </a:tc>
                <a:tc>
                  <a:txBody>
                    <a:bodyPr/>
                    <a:lstStyle/>
                    <a:p>
                      <a:r>
                        <a:rPr sz="1725" b="0">
                          <a:solidFill>
                            <a:srgbClr val="000048"/>
                          </a:solidFill>
                        </a:rPr>
                        <a:t>Cost × 1.15 / 0.70</a:t>
                      </a:r>
                    </a:p>
                  </a:txBody>
                  <a:tcPr marL="95250" marR="95250" marT="19050" marB="19050" anchor="ctr">
                    <a:solidFill>
                      <a:srgbClr val="FFFFFF"/>
                    </a:solidFill>
                  </a:tcPr>
                </a:tc>
              </a:tr>
              <a:tr h="571500">
                <a:tc>
                  <a:txBody>
                    <a:bodyPr/>
                    <a:lstStyle/>
                    <a:p>
                      <a:r>
                        <a:rPr sz="1725" b="0">
                          <a:solidFill>
                            <a:srgbClr val="000048"/>
                          </a:solidFill>
                        </a:rPr>
                        <a:t>DevOps</a:t>
                      </a:r>
                    </a:p>
                  </a:txBody>
                  <a:tcPr marL="95250" marR="95250" marT="19050" marB="19050" anchor="ctr">
                    <a:solidFill>
                      <a:srgbClr val="F5F5F2"/>
                    </a:solidFill>
                  </a:tcPr>
                </a:tc>
                <a:tc>
                  <a:txBody>
                    <a:bodyPr/>
                    <a:lstStyle/>
                    <a:p>
                      <a:r>
                        <a:rPr sz="1725" b="0">
                          <a:solidFill>
                            <a:srgbClr val="000048"/>
                          </a:solidFill>
                        </a:rPr>
                        <a:t>$9,857.14</a:t>
                      </a:r>
                    </a:p>
                  </a:txBody>
                  <a:tcPr marL="95250" marR="95250" marT="19050" marB="19050" anchor="ctr">
                    <a:solidFill>
                      <a:srgbClr val="F5F5F2"/>
                    </a:solidFill>
                  </a:tcPr>
                </a:tc>
                <a:tc>
                  <a:txBody>
                    <a:bodyPr/>
                    <a:lstStyle/>
                    <a:p>
                      <a:r>
                        <a:rPr sz="1725" b="0">
                          <a:solidFill>
                            <a:srgbClr val="000048"/>
                          </a:solidFill>
                        </a:rPr>
                        <a:t>Cost × 1.15 / 0.70</a:t>
                      </a:r>
                    </a:p>
                  </a:txBody>
                  <a:tcPr marL="95250" marR="95250" marT="19050" marB="19050" anchor="ctr">
                    <a:solidFill>
                      <a:srgbClr val="F5F5F2"/>
                    </a:solidFill>
                  </a:tcPr>
                </a:tc>
              </a:tr>
              <a:tr h="571500">
                <a:tc>
                  <a:txBody>
                    <a:bodyPr/>
                    <a:lstStyle/>
                    <a:p>
                      <a:r>
                        <a:rPr sz="1725" b="0">
                          <a:solidFill>
                            <a:srgbClr val="000048"/>
                          </a:solidFill>
                        </a:rPr>
                        <a:t>Data</a:t>
                      </a:r>
                    </a:p>
                  </a:txBody>
                  <a:tcPr marL="95250" marR="95250" marT="19050" marB="19050" anchor="ctr">
                    <a:solidFill>
                      <a:srgbClr val="FFFFFF"/>
                    </a:solidFill>
                  </a:tcPr>
                </a:tc>
                <a:tc>
                  <a:txBody>
                    <a:bodyPr/>
                    <a:lstStyle/>
                    <a:p>
                      <a:r>
                        <a:rPr sz="1725" b="0">
                          <a:solidFill>
                            <a:srgbClr val="000048"/>
                          </a:solidFill>
                        </a:rPr>
                        <a:t>$3,614.29</a:t>
                      </a:r>
                    </a:p>
                  </a:txBody>
                  <a:tcPr marL="95250" marR="95250" marT="19050" marB="19050" anchor="ctr">
                    <a:solidFill>
                      <a:srgbClr val="FFFFFF"/>
                    </a:solidFill>
                  </a:tcPr>
                </a:tc>
                <a:tc>
                  <a:txBody>
                    <a:bodyPr/>
                    <a:lstStyle/>
                    <a:p>
                      <a:r>
                        <a:rPr sz="1725" b="0">
                          <a:solidFill>
                            <a:srgbClr val="000048"/>
                          </a:solidFill>
                        </a:rPr>
                        <a:t>Cost × 1.15 / 0.70</a:t>
                      </a:r>
                    </a:p>
                  </a:txBody>
                  <a:tcPr marL="95250" marR="95250" marT="19050" marB="19050" anchor="ctr">
                    <a:solidFill>
                      <a:srgbClr val="FFFFFF"/>
                    </a:solidFill>
                  </a:tcPr>
                </a:tc>
              </a:tr>
              <a:tr h="571500">
                <a:tc>
                  <a:txBody>
                    <a:bodyPr/>
                    <a:lstStyle/>
                    <a:p>
                      <a:r>
                        <a:rPr sz="1725" b="0">
                          <a:solidFill>
                            <a:srgbClr val="000048"/>
                          </a:solidFill>
                        </a:rPr>
                        <a:t>Data Engineering</a:t>
                      </a:r>
                    </a:p>
                  </a:txBody>
                  <a:tcPr marL="95250" marR="95250" marT="19050" marB="19050" anchor="ctr">
                    <a:solidFill>
                      <a:srgbClr val="F5F5F2"/>
                    </a:solidFill>
                  </a:tcPr>
                </a:tc>
                <a:tc>
                  <a:txBody>
                    <a:bodyPr/>
                    <a:lstStyle/>
                    <a:p>
                      <a:r>
                        <a:rPr sz="1725" b="0">
                          <a:solidFill>
                            <a:srgbClr val="000048"/>
                          </a:solidFill>
                        </a:rPr>
                        <a:t>$9,857.14</a:t>
                      </a:r>
                    </a:p>
                  </a:txBody>
                  <a:tcPr marL="95250" marR="95250" marT="19050" marB="19050" anchor="ctr">
                    <a:solidFill>
                      <a:srgbClr val="F5F5F2"/>
                    </a:solidFill>
                  </a:tcPr>
                </a:tc>
                <a:tc>
                  <a:txBody>
                    <a:bodyPr/>
                    <a:lstStyle/>
                    <a:p>
                      <a:r>
                        <a:rPr sz="1725" b="0">
                          <a:solidFill>
                            <a:srgbClr val="000048"/>
                          </a:solidFill>
                        </a:rPr>
                        <a:t>Cost × 1.15 / 0.70</a:t>
                      </a:r>
                    </a:p>
                  </a:txBody>
                  <a:tcPr marL="95250" marR="95250" marT="19050" marB="19050" anchor="ctr">
                    <a:solidFill>
                      <a:srgbClr val="F5F5F2"/>
                    </a:solidFill>
                  </a:tcPr>
                </a:tc>
              </a:tr>
              <a:tr h="571500">
                <a:tc>
                  <a:txBody>
                    <a:bodyPr/>
                    <a:lstStyle/>
                    <a:p>
                      <a:r>
                        <a:rPr sz="1725" b="0">
                          <a:solidFill>
                            <a:srgbClr val="000048"/>
                          </a:solidFill>
                        </a:rPr>
                        <a:t>AI</a:t>
                      </a:r>
                    </a:p>
                  </a:txBody>
                  <a:tcPr marL="95250" marR="95250" marT="19050" marB="19050" anchor="ctr">
                    <a:solidFill>
                      <a:srgbClr val="FFFFFF"/>
                    </a:solidFill>
                  </a:tcPr>
                </a:tc>
                <a:tc>
                  <a:txBody>
                    <a:bodyPr/>
                    <a:lstStyle/>
                    <a:p>
                      <a:r>
                        <a:rPr sz="1725" b="0">
                          <a:solidFill>
                            <a:srgbClr val="000048"/>
                          </a:solidFill>
                        </a:rPr>
                        <a:t>$12,814.29</a:t>
                      </a:r>
                    </a:p>
                  </a:txBody>
                  <a:tcPr marL="95250" marR="95250" marT="19050" marB="19050" anchor="ctr">
                    <a:solidFill>
                      <a:srgbClr val="FFFFFF"/>
                    </a:solidFill>
                  </a:tcPr>
                </a:tc>
                <a:tc>
                  <a:txBody>
                    <a:bodyPr/>
                    <a:lstStyle/>
                    <a:p>
                      <a:r>
                        <a:rPr sz="1725" b="0">
                          <a:solidFill>
                            <a:srgbClr val="000048"/>
                          </a:solidFill>
                        </a:rPr>
                        <a:t>Cost × 1.15 / 0.70</a:t>
                      </a:r>
                    </a:p>
                  </a:txBody>
                  <a:tcPr marL="95250" marR="95250" marT="19050" marB="19050" anchor="ctr">
                    <a:solidFill>
                      <a:srgbClr val="FFFFFF"/>
                    </a:solidFill>
                  </a:tcPr>
                </a:tc>
              </a:tr>
            </a:tbl>
          </a:graphicData>
        </a:graphic>
      </p:graphicFrame>
      <p:sp>
        <p:nvSpPr>
          <p:cNvPr id="5" name="content">
            <a:extLst xmlns:a="http://schemas.openxmlformats.org/drawingml/2006/main">
              <a:ext uri="{FF2B5EF4-FFF2-40B4-BE49-F238E27FC236}">
                <a16:creationId xmlns:a16="http://schemas.microsoft.com/office/drawing/2014/main" id="{ED6801F8-42AC-4F12-B644-734D68A9F7AE}"/>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Six package credits total $76,885.71. Azure, licences and operations are separate ledger lines.</a:t>
            </a:r>
          </a:p>
        </p:txBody>
      </p:sp>
      <p:sp>
        <p:nvSpPr>
          <p:cNvPr id="6" name="content">
            <a:extLst xmlns:a="http://schemas.openxmlformats.org/drawingml/2006/main">
              <a:ext uri="{FF2B5EF4-FFF2-40B4-BE49-F238E27FC236}">
                <a16:creationId xmlns:a16="http://schemas.microsoft.com/office/drawing/2014/main" id="{ED78A4AA-2E52-4E08-A422-4FA71B89B9B9}"/>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C7A7D39D-0A3E-4CBD-A761-7681DD6C2EC2}"/>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14</a:t>
            </a:r>
          </a:p>
        </p:txBody>
      </p:sp>
    </p:spTree>
    <p:extLst>
      <p:ext uri="{BB962C8B-B14F-4D97-AF65-F5344CB8AC3E}">
        <p14:creationId xmlns:p14="http://schemas.microsoft.com/office/powerpoint/2010/main" val="3401205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57214B7-2AF9-4778-8079-9F9035408C3C}"/>
              </a:ext>
            </a:extLst>
          </p:cNvPr>
          <p:cNvPicPr>
            <a:picLocks xmlns:a="http://schemas.openxmlformats.org/drawingml/2006/main" noChangeAspect="1"/>
          </p:cNvPicPr>
          <p:nvPr/>
        </p:nvPicPr>
        <p:blipFill>
          <a:blip xmlns:r="http://schemas.openxmlformats.org/officeDocument/2006/relationships" xmlns:a="http://schemas.openxmlformats.org/drawingml/2006/main" r:embed="Rced6e8d51fec449e"/>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78A1F1E1-B003-4535-817F-8D1DE0C90DF2}"/>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GTM offering proposal</a:t>
            </a:r>
          </a:p>
        </p:txBody>
      </p:sp>
      <p:sp>
        <p:nvSpPr>
          <p:cNvPr id="3" name="heading">
            <a:extLst xmlns:a="http://schemas.openxmlformats.org/drawingml/2006/main">
              <a:ext uri="{FF2B5EF4-FFF2-40B4-BE49-F238E27FC236}">
                <a16:creationId xmlns:a16="http://schemas.microsoft.com/office/drawing/2014/main" id="{75A0EC6A-2F89-43F7-937C-CACB4F71D908}"/>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proposed delivery RACI</a:t>
            </a:r>
          </a:p>
        </p:txBody>
      </p:sp>
      <p:graphicFrame>
        <p:nvGraphicFramePr>
          <p:cNvPr id="4" name="">
            <a:extLst xmlns:a="http://schemas.openxmlformats.org/drawingml/2006/main">
              <a:ext uri="{FF2B5EF4-FFF2-40B4-BE49-F238E27FC236}">
                <a16:creationId xmlns:a16="http://schemas.microsoft.com/office/drawing/2014/main" id="{C3636BF2-A79A-4354-9F46-179F58B0BCA5}"/>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4476750"/>
                <a:gridCol w="1057275"/>
                <a:gridCol w="1057275"/>
                <a:gridCol w="1057275"/>
                <a:gridCol w="1057275"/>
                <a:gridCol w="1057275"/>
                <a:gridCol w="1057275"/>
              </a:tblGrid>
              <a:tr h="500063">
                <a:tc>
                  <a:txBody>
                    <a:bodyPr/>
                    <a:lstStyle/>
                    <a:p>
                      <a:r>
                        <a:rPr sz="1650" b="1">
                          <a:solidFill>
                            <a:srgbClr val="FFFFFF"/>
                          </a:solidFill>
                        </a:rPr>
                        <a:t>Deliverable</a:t>
                      </a:r>
                    </a:p>
                  </a:txBody>
                  <a:tcPr marL="95250" marR="95250" marT="9525" marB="9525" anchor="ctr">
                    <a:solidFill>
                      <a:srgbClr val="000048"/>
                    </a:solidFill>
                  </a:tcPr>
                </a:tc>
                <a:tc>
                  <a:txBody>
                    <a:bodyPr/>
                    <a:lstStyle/>
                    <a:p>
                      <a:r>
                        <a:rPr sz="1650" b="1">
                          <a:solidFill>
                            <a:srgbClr val="FFFFFF"/>
                          </a:solidFill>
                        </a:rPr>
                        <a:t>INF</a:t>
                      </a:r>
                    </a:p>
                  </a:txBody>
                  <a:tcPr marL="95250" marR="95250" marT="9525" marB="9525" anchor="ctr">
                    <a:solidFill>
                      <a:srgbClr val="000048"/>
                    </a:solidFill>
                  </a:tcPr>
                </a:tc>
                <a:tc>
                  <a:txBody>
                    <a:bodyPr/>
                    <a:lstStyle/>
                    <a:p>
                      <a:r>
                        <a:rPr sz="1650" b="1">
                          <a:solidFill>
                            <a:srgbClr val="FFFFFF"/>
                          </a:solidFill>
                        </a:rPr>
                        <a:t>SEC</a:t>
                      </a:r>
                    </a:p>
                  </a:txBody>
                  <a:tcPr marL="95250" marR="95250" marT="9525" marB="9525" anchor="ctr">
                    <a:solidFill>
                      <a:srgbClr val="000048"/>
                    </a:solidFill>
                  </a:tcPr>
                </a:tc>
                <a:tc>
                  <a:txBody>
                    <a:bodyPr/>
                    <a:lstStyle/>
                    <a:p>
                      <a:r>
                        <a:rPr sz="1650" b="1">
                          <a:solidFill>
                            <a:srgbClr val="FFFFFF"/>
                          </a:solidFill>
                        </a:rPr>
                        <a:t>DEV</a:t>
                      </a:r>
                    </a:p>
                  </a:txBody>
                  <a:tcPr marL="95250" marR="95250" marT="9525" marB="9525" anchor="ctr">
                    <a:solidFill>
                      <a:srgbClr val="000048"/>
                    </a:solidFill>
                  </a:tcPr>
                </a:tc>
                <a:tc>
                  <a:txBody>
                    <a:bodyPr/>
                    <a:lstStyle/>
                    <a:p>
                      <a:r>
                        <a:rPr sz="1650" b="1">
                          <a:solidFill>
                            <a:srgbClr val="FFFFFF"/>
                          </a:solidFill>
                        </a:rPr>
                        <a:t>DAT</a:t>
                      </a:r>
                    </a:p>
                  </a:txBody>
                  <a:tcPr marL="95250" marR="95250" marT="9525" marB="9525" anchor="ctr">
                    <a:solidFill>
                      <a:srgbClr val="000048"/>
                    </a:solidFill>
                  </a:tcPr>
                </a:tc>
                <a:tc>
                  <a:txBody>
                    <a:bodyPr/>
                    <a:lstStyle/>
                    <a:p>
                      <a:r>
                        <a:rPr sz="1650" b="1">
                          <a:solidFill>
                            <a:srgbClr val="FFFFFF"/>
                          </a:solidFill>
                        </a:rPr>
                        <a:t>ENG</a:t>
                      </a:r>
                    </a:p>
                  </a:txBody>
                  <a:tcPr marL="95250" marR="95250" marT="9525" marB="9525" anchor="ctr">
                    <a:solidFill>
                      <a:srgbClr val="000048"/>
                    </a:solidFill>
                  </a:tcPr>
                </a:tc>
                <a:tc>
                  <a:txBody>
                    <a:bodyPr/>
                    <a:lstStyle/>
                    <a:p>
                      <a:r>
                        <a:rPr sz="1650" b="1">
                          <a:solidFill>
                            <a:srgbClr val="FFFFFF"/>
                          </a:solidFill>
                        </a:rPr>
                        <a:t>AI</a:t>
                      </a:r>
                    </a:p>
                  </a:txBody>
                  <a:tcPr marL="95250" marR="95250" marT="9525" marB="9525" anchor="ctr">
                    <a:solidFill>
                      <a:srgbClr val="000048"/>
                    </a:solidFill>
                  </a:tcPr>
                </a:tc>
              </a:tr>
              <a:tr h="500063">
                <a:tc>
                  <a:txBody>
                    <a:bodyPr/>
                    <a:lstStyle/>
                    <a:p>
                      <a:r>
                        <a:rPr sz="1650" b="0">
                          <a:solidFill>
                            <a:srgbClr val="000048"/>
                          </a:solidFill>
                        </a:rPr>
                        <a:t>Integrated platform plan</a:t>
                      </a:r>
                    </a:p>
                  </a:txBody>
                  <a:tcPr marL="95250" marR="95250" marT="9525" marB="9525" anchor="ctr">
                    <a:solidFill>
                      <a:srgbClr val="F5F5F2"/>
                    </a:solidFill>
                  </a:tcPr>
                </a:tc>
                <a:tc>
                  <a:txBody>
                    <a:bodyPr/>
                    <a:lstStyle/>
                    <a:p>
                      <a:r>
                        <a:rPr sz="1650" b="0">
                          <a:solidFill>
                            <a:srgbClr val="000048"/>
                          </a:solidFill>
                        </a:rPr>
                        <a:t>A/R</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r>
              <a:tr h="500063">
                <a:tc>
                  <a:txBody>
                    <a:bodyPr/>
                    <a:lstStyle/>
                    <a:p>
                      <a:r>
                        <a:rPr sz="1650" b="0">
                          <a:solidFill>
                            <a:srgbClr val="000048"/>
                          </a:solidFill>
                        </a:rPr>
                        <a:t>Network and DNS</a:t>
                      </a:r>
                    </a:p>
                  </a:txBody>
                  <a:tcPr marL="95250" marR="95250" marT="9525" marB="9525" anchor="ctr">
                    <a:solidFill>
                      <a:srgbClr val="FFFFFF"/>
                    </a:solidFill>
                  </a:tcPr>
                </a:tc>
                <a:tc>
                  <a:txBody>
                    <a:bodyPr/>
                    <a:lstStyle/>
                    <a:p>
                      <a:r>
                        <a:rPr sz="1650" b="0">
                          <a:solidFill>
                            <a:srgbClr val="000048"/>
                          </a:solidFill>
                        </a:rPr>
                        <a:t>A/R</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I</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r>
              <a:tr h="500063">
                <a:tc>
                  <a:txBody>
                    <a:bodyPr/>
                    <a:lstStyle/>
                    <a:p>
                      <a:r>
                        <a:rPr sz="1650" b="0">
                          <a:solidFill>
                            <a:srgbClr val="000048"/>
                          </a:solidFill>
                        </a:rPr>
                        <a:t>Security design and tests</a:t>
                      </a:r>
                    </a:p>
                  </a:txBody>
                  <a:tcPr marL="95250" marR="95250" marT="9525" marB="9525" anchor="ctr">
                    <a:solidFill>
                      <a:srgbClr val="F5F5F2"/>
                    </a:solidFill>
                  </a:tcPr>
                </a:tc>
                <a:tc>
                  <a:txBody>
                    <a:bodyPr/>
                    <a:lstStyle/>
                    <a:p>
                      <a:r>
                        <a:rPr sz="1650" b="0">
                          <a:solidFill>
                            <a:srgbClr val="000048"/>
                          </a:solidFill>
                        </a:rPr>
                        <a:t>R</a:t>
                      </a:r>
                    </a:p>
                  </a:txBody>
                  <a:tcPr marL="95250" marR="95250" marT="9525" marB="9525" anchor="ctr">
                    <a:solidFill>
                      <a:srgbClr val="F5F5F2"/>
                    </a:solidFill>
                  </a:tcPr>
                </a:tc>
                <a:tc>
                  <a:txBody>
                    <a:bodyPr/>
                    <a:lstStyle/>
                    <a:p>
                      <a:r>
                        <a:rPr sz="1650" b="0">
                          <a:solidFill>
                            <a:srgbClr val="000048"/>
                          </a:solidFill>
                        </a:rPr>
                        <a:t>A/R</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r>
              <a:tr h="500063">
                <a:tc>
                  <a:txBody>
                    <a:bodyPr/>
                    <a:lstStyle/>
                    <a:p>
                      <a:r>
                        <a:rPr sz="1650" b="0">
                          <a:solidFill>
                            <a:srgbClr val="000048"/>
                          </a:solidFill>
                        </a:rPr>
                        <a:t>Terraform and pipelines</a:t>
                      </a:r>
                    </a:p>
                  </a:txBody>
                  <a:tcPr marL="95250" marR="95250" marT="9525" marB="9525" anchor="ctr">
                    <a:solidFill>
                      <a:srgbClr val="FFFFFF"/>
                    </a:solidFill>
                  </a:tcPr>
                </a:tc>
                <a:tc>
                  <a:txBody>
                    <a:bodyPr/>
                    <a:lstStyle/>
                    <a:p>
                      <a:r>
                        <a:rPr sz="1650" b="0">
                          <a:solidFill>
                            <a:srgbClr val="000048"/>
                          </a:solidFill>
                        </a:rPr>
                        <a:t>R</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A/R</a:t>
                      </a:r>
                    </a:p>
                  </a:txBody>
                  <a:tcPr marL="95250" marR="95250" marT="9525" marB="9525" anchor="ctr">
                    <a:solidFill>
                      <a:srgbClr val="FFFFFF"/>
                    </a:solidFill>
                  </a:tcPr>
                </a:tc>
                <a:tc>
                  <a:txBody>
                    <a:bodyPr/>
                    <a:lstStyle/>
                    <a:p>
                      <a:r>
                        <a:rPr sz="1650" b="0">
                          <a:solidFill>
                            <a:srgbClr val="000048"/>
                          </a:solidFill>
                        </a:rPr>
                        <a:t>I</a:t>
                      </a:r>
                    </a:p>
                  </a:txBody>
                  <a:tcPr marL="95250" marR="95250" marT="9525" marB="9525" anchor="ctr">
                    <a:solidFill>
                      <a:srgbClr val="FFFFFF"/>
                    </a:solidFill>
                  </a:tcPr>
                </a:tc>
                <a:tc>
                  <a:txBody>
                    <a:bodyPr/>
                    <a:lstStyle/>
                    <a:p>
                      <a:r>
                        <a:rPr sz="1650" b="0">
                          <a:solidFill>
                            <a:srgbClr val="000048"/>
                          </a:solidFill>
                        </a:rPr>
                        <a:t>I</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r>
              <a:tr h="500063">
                <a:tc>
                  <a:txBody>
                    <a:bodyPr/>
                    <a:lstStyle/>
                    <a:p>
                      <a:r>
                        <a:rPr sz="1650" b="0">
                          <a:solidFill>
                            <a:srgbClr val="000048"/>
                          </a:solidFill>
                        </a:rPr>
                        <a:t>Data architecture</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I</a:t>
                      </a:r>
                    </a:p>
                  </a:txBody>
                  <a:tcPr marL="95250" marR="95250" marT="9525" marB="9525" anchor="ctr">
                    <a:solidFill>
                      <a:srgbClr val="F5F5F2"/>
                    </a:solidFill>
                  </a:tcPr>
                </a:tc>
                <a:tc>
                  <a:txBody>
                    <a:bodyPr/>
                    <a:lstStyle/>
                    <a:p>
                      <a:r>
                        <a:rPr sz="1650" b="0">
                          <a:solidFill>
                            <a:srgbClr val="000048"/>
                          </a:solidFill>
                        </a:rPr>
                        <a:t>A/R</a:t>
                      </a:r>
                    </a:p>
                  </a:txBody>
                  <a:tcPr marL="95250" marR="95250" marT="9525" marB="9525" anchor="ctr">
                    <a:solidFill>
                      <a:srgbClr val="F5F5F2"/>
                    </a:solidFill>
                  </a:tcPr>
                </a:tc>
                <a:tc>
                  <a:txBody>
                    <a:bodyPr/>
                    <a:lstStyle/>
                    <a:p>
                      <a:r>
                        <a:rPr sz="1650" b="0">
                          <a:solidFill>
                            <a:srgbClr val="000048"/>
                          </a:solidFill>
                        </a:rPr>
                        <a:t>R</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r>
              <a:tr h="500063">
                <a:tc>
                  <a:txBody>
                    <a:bodyPr/>
                    <a:lstStyle/>
                    <a:p>
                      <a:r>
                        <a:rPr sz="1650" b="0">
                          <a:solidFill>
                            <a:srgbClr val="000048"/>
                          </a:solidFill>
                        </a:rPr>
                        <a:t>Ingestion and index</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A/R</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r>
              <a:tr h="500063">
                <a:tc>
                  <a:txBody>
                    <a:bodyPr/>
                    <a:lstStyle/>
                    <a:p>
                      <a:r>
                        <a:rPr sz="1650" b="0">
                          <a:solidFill>
                            <a:srgbClr val="000048"/>
                          </a:solidFill>
                        </a:rPr>
                        <a:t>Workload and quality tests</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R</a:t>
                      </a:r>
                    </a:p>
                  </a:txBody>
                  <a:tcPr marL="95250" marR="95250" marT="9525" marB="9525" anchor="ctr">
                    <a:solidFill>
                      <a:srgbClr val="F5F5F2"/>
                    </a:solidFill>
                  </a:tcPr>
                </a:tc>
                <a:tc>
                  <a:txBody>
                    <a:bodyPr/>
                    <a:lstStyle/>
                    <a:p>
                      <a:r>
                        <a:rPr sz="1650" b="0">
                          <a:solidFill>
                            <a:srgbClr val="000048"/>
                          </a:solidFill>
                        </a:rPr>
                        <a:t>A/R</a:t>
                      </a:r>
                    </a:p>
                  </a:txBody>
                  <a:tcPr marL="95250" marR="95250" marT="9525" marB="9525" anchor="ctr">
                    <a:solidFill>
                      <a:srgbClr val="F5F5F2"/>
                    </a:solidFill>
                  </a:tcPr>
                </a:tc>
              </a:tr>
            </a:tbl>
          </a:graphicData>
        </a:graphic>
      </p:graphicFrame>
      <p:sp>
        <p:nvSpPr>
          <p:cNvPr id="5" name="content">
            <a:extLst xmlns:a="http://schemas.openxmlformats.org/drawingml/2006/main">
              <a:ext uri="{FF2B5EF4-FFF2-40B4-BE49-F238E27FC236}">
                <a16:creationId xmlns:a16="http://schemas.microsoft.com/office/drawing/2014/main" id="{7BD3120B-8A9B-4F3C-8F87-90D3C1F2E160}"/>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A/R accountable/responsible, C consulted, I informed. INF Infra, SEC Security, DEV DevOps, DAT Data, ENG Data Engineering.</a:t>
            </a:r>
          </a:p>
        </p:txBody>
      </p:sp>
      <p:sp>
        <p:nvSpPr>
          <p:cNvPr id="6" name="content">
            <a:extLst xmlns:a="http://schemas.openxmlformats.org/drawingml/2006/main">
              <a:ext uri="{FF2B5EF4-FFF2-40B4-BE49-F238E27FC236}">
                <a16:creationId xmlns:a16="http://schemas.microsoft.com/office/drawing/2014/main" id="{0F79614C-71E4-4800-8D16-44D900949D40}"/>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8BE4A6EF-455C-4A23-8C98-9F1279AAFC79}"/>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15</a:t>
            </a:r>
          </a:p>
        </p:txBody>
      </p:sp>
    </p:spTree>
    <p:extLst>
      <p:ext uri="{BB962C8B-B14F-4D97-AF65-F5344CB8AC3E}">
        <p14:creationId xmlns:p14="http://schemas.microsoft.com/office/powerpoint/2010/main" val="16707042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86D916B-2185-496B-8E67-0C15560B120A}"/>
              </a:ext>
            </a:extLst>
          </p:cNvPr>
          <p:cNvPicPr>
            <a:picLocks xmlns:a="http://schemas.openxmlformats.org/drawingml/2006/main" noChangeAspect="1"/>
          </p:cNvPicPr>
          <p:nvPr/>
        </p:nvPicPr>
        <p:blipFill>
          <a:blip xmlns:r="http://schemas.openxmlformats.org/officeDocument/2006/relationships" xmlns:a="http://schemas.openxmlformats.org/drawingml/2006/main" r:embed="R09b58eb84e6b4844"/>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3A98EF67-610C-4B61-AB04-833DBDC09CFD}"/>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GTM offering proposal</a:t>
            </a:r>
          </a:p>
        </p:txBody>
      </p:sp>
      <p:sp>
        <p:nvSpPr>
          <p:cNvPr id="3" name="heading">
            <a:extLst xmlns:a="http://schemas.openxmlformats.org/drawingml/2006/main">
              <a:ext uri="{FF2B5EF4-FFF2-40B4-BE49-F238E27FC236}">
                <a16:creationId xmlns:a16="http://schemas.microsoft.com/office/drawing/2014/main" id="{01483B18-82C7-4891-BBA9-73299745498A}"/>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tower commitment evidence</a:t>
            </a:r>
          </a:p>
        </p:txBody>
      </p:sp>
      <p:graphicFrame>
        <p:nvGraphicFramePr>
          <p:cNvPr id="4" name="">
            <a:extLst xmlns:a="http://schemas.openxmlformats.org/drawingml/2006/main">
              <a:ext uri="{FF2B5EF4-FFF2-40B4-BE49-F238E27FC236}">
                <a16:creationId xmlns:a16="http://schemas.microsoft.com/office/drawing/2014/main" id="{31EC6E9B-3949-4F79-8AA6-01F44978E202}"/>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2143125"/>
                <a:gridCol w="4381500"/>
                <a:gridCol w="4295775"/>
              </a:tblGrid>
              <a:tr h="666750">
                <a:tc>
                  <a:txBody>
                    <a:bodyPr/>
                    <a:lstStyle/>
                    <a:p>
                      <a:r>
                        <a:rPr sz="1650" b="1">
                          <a:solidFill>
                            <a:srgbClr val="FFFFFF"/>
                          </a:solidFill>
                        </a:rPr>
                        <a:t>Tower</a:t>
                      </a:r>
                    </a:p>
                  </a:txBody>
                  <a:tcPr marL="95250" marR="95250" marT="19050" marB="19050" anchor="ctr">
                    <a:solidFill>
                      <a:srgbClr val="000048"/>
                    </a:solidFill>
                  </a:tcPr>
                </a:tc>
                <a:tc>
                  <a:txBody>
                    <a:bodyPr/>
                    <a:lstStyle/>
                    <a:p>
                      <a:r>
                        <a:rPr sz="1650" b="1">
                          <a:solidFill>
                            <a:srgbClr val="FFFFFF"/>
                          </a:solidFill>
                        </a:rPr>
                        <a:t>Required output</a:t>
                      </a:r>
                    </a:p>
                  </a:txBody>
                  <a:tcPr marL="95250" marR="95250" marT="19050" marB="19050" anchor="ctr">
                    <a:solidFill>
                      <a:srgbClr val="000048"/>
                    </a:solidFill>
                  </a:tcPr>
                </a:tc>
                <a:tc>
                  <a:txBody>
                    <a:bodyPr/>
                    <a:lstStyle/>
                    <a:p>
                      <a:r>
                        <a:rPr sz="1650" b="1">
                          <a:solidFill>
                            <a:srgbClr val="FFFFFF"/>
                          </a:solidFill>
                        </a:rPr>
                        <a:t>Evidence before quote</a:t>
                      </a:r>
                    </a:p>
                  </a:txBody>
                  <a:tcPr marL="95250" marR="95250" marT="19050" marB="19050" anchor="ctr">
                    <a:solidFill>
                      <a:srgbClr val="000048"/>
                    </a:solidFill>
                  </a:tcPr>
                </a:tc>
              </a:tr>
              <a:tr h="666750">
                <a:tc>
                  <a:txBody>
                    <a:bodyPr/>
                    <a:lstStyle/>
                    <a:p>
                      <a:r>
                        <a:rPr sz="1650" b="0">
                          <a:solidFill>
                            <a:srgbClr val="000048"/>
                          </a:solidFill>
                        </a:rPr>
                        <a:t>Security</a:t>
                      </a:r>
                    </a:p>
                  </a:txBody>
                  <a:tcPr marL="95250" marR="95250" marT="19050" marB="19050" anchor="ctr">
                    <a:solidFill>
                      <a:srgbClr val="F5F5F2"/>
                    </a:solidFill>
                  </a:tcPr>
                </a:tc>
                <a:tc>
                  <a:txBody>
                    <a:bodyPr/>
                    <a:lstStyle/>
                    <a:p>
                      <a:r>
                        <a:rPr sz="1650" b="0">
                          <a:solidFill>
                            <a:srgbClr val="000048"/>
                          </a:solidFill>
                        </a:rPr>
                        <a:t>Threat model, control baseline and verification</a:t>
                      </a:r>
                    </a:p>
                  </a:txBody>
                  <a:tcPr marL="95250" marR="95250" marT="19050" marB="19050" anchor="ctr">
                    <a:solidFill>
                      <a:srgbClr val="F5F5F2"/>
                    </a:solidFill>
                  </a:tcPr>
                </a:tc>
                <a:tc>
                  <a:txBody>
                    <a:bodyPr/>
                    <a:lstStyle/>
                    <a:p>
                      <a:r>
                        <a:rPr sz="1650" b="0">
                          <a:solidFill>
                            <a:srgbClr val="000048"/>
                          </a:solidFill>
                        </a:rPr>
                        <a:t>Approved requirements, effort and risk approver</a:t>
                      </a:r>
                    </a:p>
                  </a:txBody>
                  <a:tcPr marL="95250" marR="95250" marT="19050" marB="19050" anchor="ctr">
                    <a:solidFill>
                      <a:srgbClr val="F5F5F2"/>
                    </a:solidFill>
                  </a:tcPr>
                </a:tc>
              </a:tr>
              <a:tr h="666750">
                <a:tc>
                  <a:txBody>
                    <a:bodyPr/>
                    <a:lstStyle/>
                    <a:p>
                      <a:r>
                        <a:rPr sz="1650" b="0">
                          <a:solidFill>
                            <a:srgbClr val="000048"/>
                          </a:solidFill>
                        </a:rPr>
                        <a:t>DevOps</a:t>
                      </a:r>
                    </a:p>
                  </a:txBody>
                  <a:tcPr marL="95250" marR="95250" marT="19050" marB="19050" anchor="ctr">
                    <a:solidFill>
                      <a:srgbClr val="FFFFFF"/>
                    </a:solidFill>
                  </a:tcPr>
                </a:tc>
                <a:tc>
                  <a:txBody>
                    <a:bodyPr/>
                    <a:lstStyle/>
                    <a:p>
                      <a:r>
                        <a:rPr sz="1650" b="0">
                          <a:solidFill>
                            <a:srgbClr val="000048"/>
                          </a:solidFill>
                        </a:rPr>
                        <a:t>Terraform, pipelines and rollback pattern</a:t>
                      </a:r>
                    </a:p>
                  </a:txBody>
                  <a:tcPr marL="95250" marR="95250" marT="19050" marB="19050" anchor="ctr">
                    <a:solidFill>
                      <a:srgbClr val="FFFFFF"/>
                    </a:solidFill>
                  </a:tcPr>
                </a:tc>
                <a:tc>
                  <a:txBody>
                    <a:bodyPr/>
                    <a:lstStyle/>
                    <a:p>
                      <a:r>
                        <a:rPr sz="1650" b="0">
                          <a:solidFill>
                            <a:srgbClr val="000048"/>
                          </a:solidFill>
                        </a:rPr>
                        <a:t>Supported repository, effort and maintenance owner</a:t>
                      </a:r>
                    </a:p>
                  </a:txBody>
                  <a:tcPr marL="95250" marR="95250" marT="19050" marB="19050" anchor="ctr">
                    <a:solidFill>
                      <a:srgbClr val="FFFFFF"/>
                    </a:solidFill>
                  </a:tcPr>
                </a:tc>
              </a:tr>
              <a:tr h="666750">
                <a:tc>
                  <a:txBody>
                    <a:bodyPr/>
                    <a:lstStyle/>
                    <a:p>
                      <a:r>
                        <a:rPr sz="1650" b="0">
                          <a:solidFill>
                            <a:srgbClr val="000048"/>
                          </a:solidFill>
                        </a:rPr>
                        <a:t>Data</a:t>
                      </a:r>
                    </a:p>
                  </a:txBody>
                  <a:tcPr marL="95250" marR="95250" marT="19050" marB="19050" anchor="ctr">
                    <a:solidFill>
                      <a:srgbClr val="F5F5F2"/>
                    </a:solidFill>
                  </a:tcPr>
                </a:tc>
                <a:tc>
                  <a:txBody>
                    <a:bodyPr/>
                    <a:lstStyle/>
                    <a:p>
                      <a:r>
                        <a:rPr sz="1650" b="0">
                          <a:solidFill>
                            <a:srgbClr val="000048"/>
                          </a:solidFill>
                        </a:rPr>
                        <a:t>Source architecture and governance design</a:t>
                      </a:r>
                    </a:p>
                  </a:txBody>
                  <a:tcPr marL="95250" marR="95250" marT="19050" marB="19050" anchor="ctr">
                    <a:solidFill>
                      <a:srgbClr val="F5F5F2"/>
                    </a:solidFill>
                  </a:tcPr>
                </a:tc>
                <a:tc>
                  <a:txBody>
                    <a:bodyPr/>
                    <a:lstStyle/>
                    <a:p>
                      <a:r>
                        <a:rPr sz="1650" b="0">
                          <a:solidFill>
                            <a:srgbClr val="000048"/>
                          </a:solidFill>
                        </a:rPr>
                        <a:t>Source owner, rights, classification and retention</a:t>
                      </a:r>
                    </a:p>
                  </a:txBody>
                  <a:tcPr marL="95250" marR="95250" marT="19050" marB="19050" anchor="ctr">
                    <a:solidFill>
                      <a:srgbClr val="F5F5F2"/>
                    </a:solidFill>
                  </a:tcPr>
                </a:tc>
              </a:tr>
              <a:tr h="666750">
                <a:tc>
                  <a:txBody>
                    <a:bodyPr/>
                    <a:lstStyle/>
                    <a:p>
                      <a:r>
                        <a:rPr sz="1650" b="0">
                          <a:solidFill>
                            <a:srgbClr val="000048"/>
                          </a:solidFill>
                        </a:rPr>
                        <a:t>Data Engineering</a:t>
                      </a:r>
                    </a:p>
                  </a:txBody>
                  <a:tcPr marL="95250" marR="95250" marT="19050" marB="19050" anchor="ctr">
                    <a:solidFill>
                      <a:srgbClr val="FFFFFF"/>
                    </a:solidFill>
                  </a:tcPr>
                </a:tc>
                <a:tc>
                  <a:txBody>
                    <a:bodyPr/>
                    <a:lstStyle/>
                    <a:p>
                      <a:r>
                        <a:rPr sz="1650" b="0">
                          <a:solidFill>
                            <a:srgbClr val="000048"/>
                          </a:solidFill>
                        </a:rPr>
                        <a:t>Ingestion, indexing and recovery</a:t>
                      </a:r>
                    </a:p>
                  </a:txBody>
                  <a:tcPr marL="95250" marR="95250" marT="19050" marB="19050" anchor="ctr">
                    <a:solidFill>
                      <a:srgbClr val="FFFFFF"/>
                    </a:solidFill>
                  </a:tcPr>
                </a:tc>
                <a:tc>
                  <a:txBody>
                    <a:bodyPr/>
                    <a:lstStyle/>
                    <a:p>
                      <a:r>
                        <a:rPr sz="1650" b="0">
                          <a:solidFill>
                            <a:srgbClr val="000048"/>
                          </a:solidFill>
                        </a:rPr>
                        <a:t>Connector scope, volume, freshness and estimate</a:t>
                      </a:r>
                    </a:p>
                  </a:txBody>
                  <a:tcPr marL="95250" marR="95250" marT="19050" marB="19050" anchor="ctr">
                    <a:solidFill>
                      <a:srgbClr val="FFFFFF"/>
                    </a:solidFill>
                  </a:tcPr>
                </a:tc>
              </a:tr>
              <a:tr h="666750">
                <a:tc>
                  <a:txBody>
                    <a:bodyPr/>
                    <a:lstStyle/>
                    <a:p>
                      <a:r>
                        <a:rPr sz="1650" b="0">
                          <a:solidFill>
                            <a:srgbClr val="000048"/>
                          </a:solidFill>
                        </a:rPr>
                        <a:t>AI</a:t>
                      </a:r>
                    </a:p>
                  </a:txBody>
                  <a:tcPr marL="95250" marR="95250" marT="19050" marB="19050" anchor="ctr">
                    <a:solidFill>
                      <a:srgbClr val="F5F5F2"/>
                    </a:solidFill>
                  </a:tcPr>
                </a:tc>
                <a:tc>
                  <a:txBody>
                    <a:bodyPr/>
                    <a:lstStyle/>
                    <a:p>
                      <a:r>
                        <a:rPr sz="1650" b="0">
                          <a:solidFill>
                            <a:srgbClr val="000048"/>
                          </a:solidFill>
                        </a:rPr>
                        <a:t>Runtime, models, tools and evaluations</a:t>
                      </a:r>
                    </a:p>
                  </a:txBody>
                  <a:tcPr marL="95250" marR="95250" marT="19050" marB="19050" anchor="ctr">
                    <a:solidFill>
                      <a:srgbClr val="F5F5F2"/>
                    </a:solidFill>
                  </a:tcPr>
                </a:tc>
                <a:tc>
                  <a:txBody>
                    <a:bodyPr/>
                    <a:lstStyle/>
                    <a:p>
                      <a:r>
                        <a:rPr sz="1650" b="0">
                          <a:solidFill>
                            <a:srgbClr val="000048"/>
                          </a:solidFill>
                        </a:rPr>
                        <a:t>Workload specification, quota and support owner</a:t>
                      </a:r>
                    </a:p>
                  </a:txBody>
                  <a:tcPr marL="95250" marR="95250" marT="19050" marB="19050" anchor="ctr">
                    <a:solidFill>
                      <a:srgbClr val="F5F5F2"/>
                    </a:solidFill>
                  </a:tcPr>
                </a:tc>
              </a:tr>
            </a:tbl>
          </a:graphicData>
        </a:graphic>
      </p:graphicFrame>
      <p:sp>
        <p:nvSpPr>
          <p:cNvPr id="5" name="content">
            <a:extLst xmlns:a="http://schemas.openxmlformats.org/drawingml/2006/main">
              <a:ext uri="{FF2B5EF4-FFF2-40B4-BE49-F238E27FC236}">
                <a16:creationId xmlns:a16="http://schemas.microsoft.com/office/drawing/2014/main" id="{02EDDC0B-1DD6-4E8B-ACB8-6D6ADCF52B2A}"/>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A critical dependency without an owner, effort and required date blocks the implementation quote.</a:t>
            </a:r>
          </a:p>
        </p:txBody>
      </p:sp>
      <p:sp>
        <p:nvSpPr>
          <p:cNvPr id="6" name="content">
            <a:extLst xmlns:a="http://schemas.openxmlformats.org/drawingml/2006/main">
              <a:ext uri="{FF2B5EF4-FFF2-40B4-BE49-F238E27FC236}">
                <a16:creationId xmlns:a16="http://schemas.microsoft.com/office/drawing/2014/main" id="{27BB7744-B27F-42C3-BF35-475B2DC45DE5}"/>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B46CD093-0523-4EF0-B832-08908805C090}"/>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16</a:t>
            </a:r>
          </a:p>
        </p:txBody>
      </p:sp>
    </p:spTree>
    <p:extLst>
      <p:ext uri="{BB962C8B-B14F-4D97-AF65-F5344CB8AC3E}">
        <p14:creationId xmlns:p14="http://schemas.microsoft.com/office/powerpoint/2010/main" val="17351191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5A50C3B-9CF7-4FE7-9011-B6AD60556DF6}"/>
              </a:ext>
            </a:extLst>
          </p:cNvPr>
          <p:cNvPicPr>
            <a:picLocks xmlns:a="http://schemas.openxmlformats.org/drawingml/2006/main" noChangeAspect="1"/>
          </p:cNvPicPr>
          <p:nvPr/>
        </p:nvPicPr>
        <p:blipFill>
          <a:blip xmlns:r="http://schemas.openxmlformats.org/officeDocument/2006/relationships" xmlns:a="http://schemas.openxmlformats.org/drawingml/2006/main" r:embed="R2b8ff3448f1c404a"/>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2A634511-5323-4271-8E37-D1A74FE5102C}"/>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GTM offering proposal</a:t>
            </a:r>
          </a:p>
        </p:txBody>
      </p:sp>
      <p:sp>
        <p:nvSpPr>
          <p:cNvPr id="3" name="heading">
            <a:extLst xmlns:a="http://schemas.openxmlformats.org/drawingml/2006/main">
              <a:ext uri="{FF2B5EF4-FFF2-40B4-BE49-F238E27FC236}">
                <a16:creationId xmlns:a16="http://schemas.microsoft.com/office/drawing/2014/main" id="{A289C341-25CF-490F-874F-AEE42AC9660B}"/>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release conditions and owners</a:t>
            </a:r>
          </a:p>
        </p:txBody>
      </p:sp>
      <p:graphicFrame>
        <p:nvGraphicFramePr>
          <p:cNvPr id="4" name="">
            <a:extLst xmlns:a="http://schemas.openxmlformats.org/drawingml/2006/main">
              <a:ext uri="{FF2B5EF4-FFF2-40B4-BE49-F238E27FC236}">
                <a16:creationId xmlns:a16="http://schemas.microsoft.com/office/drawing/2014/main" id="{444417C4-C85F-4868-9BC6-634D974F2454}"/>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3048000"/>
                <a:gridCol w="5048250"/>
                <a:gridCol w="2724150"/>
              </a:tblGrid>
              <a:tr h="666750">
                <a:tc>
                  <a:txBody>
                    <a:bodyPr/>
                    <a:lstStyle/>
                    <a:p>
                      <a:r>
                        <a:rPr sz="1725" b="1">
                          <a:solidFill>
                            <a:srgbClr val="FFFFFF"/>
                          </a:solidFill>
                        </a:rPr>
                        <a:t>Release condition</a:t>
                      </a:r>
                    </a:p>
                  </a:txBody>
                  <a:tcPr marL="95250" marR="95250" marT="19050" marB="19050" anchor="ctr">
                    <a:solidFill>
                      <a:srgbClr val="000048"/>
                    </a:solidFill>
                  </a:tcPr>
                </a:tc>
                <a:tc>
                  <a:txBody>
                    <a:bodyPr/>
                    <a:lstStyle/>
                    <a:p>
                      <a:r>
                        <a:rPr sz="1725" b="1">
                          <a:solidFill>
                            <a:srgbClr val="FFFFFF"/>
                          </a:solidFill>
                        </a:rPr>
                        <a:t>Required evidence</a:t>
                      </a:r>
                    </a:p>
                  </a:txBody>
                  <a:tcPr marL="95250" marR="95250" marT="19050" marB="19050" anchor="ctr">
                    <a:solidFill>
                      <a:srgbClr val="000048"/>
                    </a:solidFill>
                  </a:tcPr>
                </a:tc>
                <a:tc>
                  <a:txBody>
                    <a:bodyPr/>
                    <a:lstStyle/>
                    <a:p>
                      <a:r>
                        <a:rPr sz="1725" b="1">
                          <a:solidFill>
                            <a:srgbClr val="FFFFFF"/>
                          </a:solidFill>
                        </a:rPr>
                        <a:t>Approver</a:t>
                      </a:r>
                    </a:p>
                  </a:txBody>
                  <a:tcPr marL="95250" marR="95250" marT="19050" marB="19050" anchor="ctr">
                    <a:solidFill>
                      <a:srgbClr val="000048"/>
                    </a:solidFill>
                  </a:tcPr>
                </a:tc>
              </a:tr>
              <a:tr h="666750">
                <a:tc>
                  <a:txBody>
                    <a:bodyPr/>
                    <a:lstStyle/>
                    <a:p>
                      <a:r>
                        <a:rPr sz="1725" b="0">
                          <a:solidFill>
                            <a:srgbClr val="000048"/>
                          </a:solidFill>
                        </a:rPr>
                        <a:t>Customer value</a:t>
                      </a:r>
                    </a:p>
                  </a:txBody>
                  <a:tcPr marL="95250" marR="95250" marT="19050" marB="19050" anchor="ctr">
                    <a:solidFill>
                      <a:srgbClr val="F5F5F2"/>
                    </a:solidFill>
                  </a:tcPr>
                </a:tc>
                <a:tc>
                  <a:txBody>
                    <a:bodyPr/>
                    <a:lstStyle/>
                    <a:p>
                      <a:r>
                        <a:rPr sz="1725" b="0">
                          <a:solidFill>
                            <a:srgbClr val="000048"/>
                          </a:solidFill>
                        </a:rPr>
                        <a:t>Baseline and benefit owner</a:t>
                      </a:r>
                    </a:p>
                  </a:txBody>
                  <a:tcPr marL="95250" marR="95250" marT="19050" marB="19050" anchor="ctr">
                    <a:solidFill>
                      <a:srgbClr val="F5F5F2"/>
                    </a:solidFill>
                  </a:tcPr>
                </a:tc>
                <a:tc>
                  <a:txBody>
                    <a:bodyPr/>
                    <a:lstStyle/>
                    <a:p>
                      <a:r>
                        <a:rPr sz="1725" b="0">
                          <a:solidFill>
                            <a:srgbClr val="000048"/>
                          </a:solidFill>
                        </a:rPr>
                        <a:t>Business sponsor</a:t>
                      </a:r>
                    </a:p>
                  </a:txBody>
                  <a:tcPr marL="95250" marR="95250" marT="19050" marB="19050" anchor="ctr">
                    <a:solidFill>
                      <a:srgbClr val="F5F5F2"/>
                    </a:solidFill>
                  </a:tcPr>
                </a:tc>
              </a:tr>
              <a:tr h="666750">
                <a:tc>
                  <a:txBody>
                    <a:bodyPr/>
                    <a:lstStyle/>
                    <a:p>
                      <a:r>
                        <a:rPr sz="1725" b="0">
                          <a:solidFill>
                            <a:srgbClr val="000048"/>
                          </a:solidFill>
                        </a:rPr>
                        <a:t>Technical feasibility</a:t>
                      </a:r>
                    </a:p>
                  </a:txBody>
                  <a:tcPr marL="95250" marR="95250" marT="19050" marB="19050" anchor="ctr">
                    <a:solidFill>
                      <a:srgbClr val="FFFFFF"/>
                    </a:solidFill>
                  </a:tcPr>
                </a:tc>
                <a:tc>
                  <a:txBody>
                    <a:bodyPr/>
                    <a:lstStyle/>
                    <a:p>
                      <a:r>
                        <a:rPr sz="1725" b="0">
                          <a:solidFill>
                            <a:srgbClr val="000048"/>
                          </a:solidFill>
                        </a:rPr>
                        <a:t>Quota, tier, API and region record</a:t>
                      </a:r>
                    </a:p>
                  </a:txBody>
                  <a:tcPr marL="95250" marR="95250" marT="19050" marB="19050" anchor="ctr">
                    <a:solidFill>
                      <a:srgbClr val="FFFFFF"/>
                    </a:solidFill>
                  </a:tcPr>
                </a:tc>
                <a:tc>
                  <a:txBody>
                    <a:bodyPr/>
                    <a:lstStyle/>
                    <a:p>
                      <a:r>
                        <a:rPr sz="1725" b="0">
                          <a:solidFill>
                            <a:srgbClr val="000048"/>
                          </a:solidFill>
                        </a:rPr>
                        <a:t>Solution owner</a:t>
                      </a:r>
                    </a:p>
                  </a:txBody>
                  <a:tcPr marL="95250" marR="95250" marT="19050" marB="19050" anchor="ctr">
                    <a:solidFill>
                      <a:srgbClr val="FFFFFF"/>
                    </a:solidFill>
                  </a:tcPr>
                </a:tc>
              </a:tr>
              <a:tr h="666750">
                <a:tc>
                  <a:txBody>
                    <a:bodyPr/>
                    <a:lstStyle/>
                    <a:p>
                      <a:r>
                        <a:rPr sz="1725" b="0">
                          <a:solidFill>
                            <a:srgbClr val="000048"/>
                          </a:solidFill>
                        </a:rPr>
                        <a:t>Cross-tower delivery</a:t>
                      </a:r>
                    </a:p>
                  </a:txBody>
                  <a:tcPr marL="95250" marR="95250" marT="19050" marB="19050" anchor="ctr">
                    <a:solidFill>
                      <a:srgbClr val="F5F5F2"/>
                    </a:solidFill>
                  </a:tcPr>
                </a:tc>
                <a:tc>
                  <a:txBody>
                    <a:bodyPr/>
                    <a:lstStyle/>
                    <a:p>
                      <a:r>
                        <a:rPr sz="1725" b="0">
                          <a:solidFill>
                            <a:srgbClr val="000048"/>
                          </a:solidFill>
                        </a:rPr>
                        <a:t>Signed package and staffing dates</a:t>
                      </a:r>
                    </a:p>
                  </a:txBody>
                  <a:tcPr marL="95250" marR="95250" marT="19050" marB="19050" anchor="ctr">
                    <a:solidFill>
                      <a:srgbClr val="F5F5F2"/>
                    </a:solidFill>
                  </a:tcPr>
                </a:tc>
                <a:tc>
                  <a:txBody>
                    <a:bodyPr/>
                    <a:lstStyle/>
                    <a:p>
                      <a:r>
                        <a:rPr sz="1725" b="0">
                          <a:solidFill>
                            <a:srgbClr val="000048"/>
                          </a:solidFill>
                        </a:rPr>
                        <a:t>Tower leads</a:t>
                      </a:r>
                    </a:p>
                  </a:txBody>
                  <a:tcPr marL="95250" marR="95250" marT="19050" marB="19050" anchor="ctr">
                    <a:solidFill>
                      <a:srgbClr val="F5F5F2"/>
                    </a:solidFill>
                  </a:tcPr>
                </a:tc>
              </a:tr>
              <a:tr h="666750">
                <a:tc>
                  <a:txBody>
                    <a:bodyPr/>
                    <a:lstStyle/>
                    <a:p>
                      <a:r>
                        <a:rPr sz="1725" b="0">
                          <a:solidFill>
                            <a:srgbClr val="000048"/>
                          </a:solidFill>
                        </a:rPr>
                        <a:t>Commercial readiness</a:t>
                      </a:r>
                    </a:p>
                  </a:txBody>
                  <a:tcPr marL="95250" marR="95250" marT="19050" marB="19050" anchor="ctr">
                    <a:solidFill>
                      <a:srgbClr val="FFFFFF"/>
                    </a:solidFill>
                  </a:tcPr>
                </a:tc>
                <a:tc>
                  <a:txBody>
                    <a:bodyPr/>
                    <a:lstStyle/>
                    <a:p>
                      <a:r>
                        <a:rPr sz="1725" b="0">
                          <a:solidFill>
                            <a:srgbClr val="000048"/>
                          </a:solidFill>
                        </a:rPr>
                        <a:t>Repriced quote and ledger reconciliation</a:t>
                      </a:r>
                    </a:p>
                  </a:txBody>
                  <a:tcPr marL="95250" marR="95250" marT="19050" marB="19050" anchor="ctr">
                    <a:solidFill>
                      <a:srgbClr val="FFFFFF"/>
                    </a:solidFill>
                  </a:tcPr>
                </a:tc>
                <a:tc>
                  <a:txBody>
                    <a:bodyPr/>
                    <a:lstStyle/>
                    <a:p>
                      <a:r>
                        <a:rPr sz="1725" b="0">
                          <a:solidFill>
                            <a:srgbClr val="000048"/>
                          </a:solidFill>
                        </a:rPr>
                        <a:t>Finance</a:t>
                      </a:r>
                    </a:p>
                  </a:txBody>
                  <a:tcPr marL="95250" marR="95250" marT="19050" marB="19050" anchor="ctr">
                    <a:solidFill>
                      <a:srgbClr val="FFFFFF"/>
                    </a:solidFill>
                  </a:tcPr>
                </a:tc>
              </a:tr>
              <a:tr h="666750">
                <a:tc>
                  <a:txBody>
                    <a:bodyPr/>
                    <a:lstStyle/>
                    <a:p>
                      <a:r>
                        <a:rPr sz="1725" b="0">
                          <a:solidFill>
                            <a:srgbClr val="000048"/>
                          </a:solidFill>
                        </a:rPr>
                        <a:t>Service readiness</a:t>
                      </a:r>
                    </a:p>
                  </a:txBody>
                  <a:tcPr marL="95250" marR="95250" marT="19050" marB="19050" anchor="ctr">
                    <a:solidFill>
                      <a:srgbClr val="F5F5F2"/>
                    </a:solidFill>
                  </a:tcPr>
                </a:tc>
                <a:tc>
                  <a:txBody>
                    <a:bodyPr/>
                    <a:lstStyle/>
                    <a:p>
                      <a:r>
                        <a:rPr sz="1725" b="0">
                          <a:solidFill>
                            <a:srgbClr val="000048"/>
                          </a:solidFill>
                        </a:rPr>
                        <a:t>Support pool, runbooks and response terms</a:t>
                      </a:r>
                    </a:p>
                  </a:txBody>
                  <a:tcPr marL="95250" marR="95250" marT="19050" marB="19050" anchor="ctr">
                    <a:solidFill>
                      <a:srgbClr val="F5F5F2"/>
                    </a:solidFill>
                  </a:tcPr>
                </a:tc>
                <a:tc>
                  <a:txBody>
                    <a:bodyPr/>
                    <a:lstStyle/>
                    <a:p>
                      <a:r>
                        <a:rPr sz="1725" b="0">
                          <a:solidFill>
                            <a:srgbClr val="000048"/>
                          </a:solidFill>
                        </a:rPr>
                        <a:t>Service owner</a:t>
                      </a:r>
                    </a:p>
                  </a:txBody>
                  <a:tcPr marL="95250" marR="95250" marT="19050" marB="19050" anchor="ctr">
                    <a:solidFill>
                      <a:srgbClr val="F5F5F2"/>
                    </a:solidFill>
                  </a:tcPr>
                </a:tc>
              </a:tr>
            </a:tbl>
          </a:graphicData>
        </a:graphic>
      </p:graphicFrame>
      <p:sp>
        <p:nvSpPr>
          <p:cNvPr id="5" name="content">
            <a:extLst xmlns:a="http://schemas.openxmlformats.org/drawingml/2006/main">
              <a:ext uri="{FF2B5EF4-FFF2-40B4-BE49-F238E27FC236}">
                <a16:creationId xmlns:a16="http://schemas.microsoft.com/office/drawing/2014/main" id="{E8E12B4C-E712-45F9-976A-600021947393}"/>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Open blockers prevent external release. Sponsor records the accepted residual risks.</a:t>
            </a:r>
          </a:p>
        </p:txBody>
      </p:sp>
      <p:sp>
        <p:nvSpPr>
          <p:cNvPr id="6" name="content">
            <a:extLst xmlns:a="http://schemas.openxmlformats.org/drawingml/2006/main">
              <a:ext uri="{FF2B5EF4-FFF2-40B4-BE49-F238E27FC236}">
                <a16:creationId xmlns:a16="http://schemas.microsoft.com/office/drawing/2014/main" id="{5456A4F2-4B99-4C07-AEBC-6CA28F683761}"/>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DC601035-8C27-4F5C-BAA9-9E8BAC61B14F}"/>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17</a:t>
            </a:r>
          </a:p>
        </p:txBody>
      </p:sp>
    </p:spTree>
    <p:extLst>
      <p:ext uri="{BB962C8B-B14F-4D97-AF65-F5344CB8AC3E}">
        <p14:creationId xmlns:p14="http://schemas.microsoft.com/office/powerpoint/2010/main" val="1480462572"/>
      </p:ext>
    </p:extLst>
  </p:cSld>
</p:sld>
</file>

<file path=ppt/theme/theme1.xml><?xml version="1.0" encoding="utf-8"?>
<a:theme xmlns:a="http://schemas.openxmlformats.org/drawingml/2006/main" name="ChatGPT">
  <a:themeElements>
    <a:clrScheme name="Cognizant referenc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Gellix"/>
        <a:ea typeface=""/>
        <a:cs typeface=""/>
      </a:majorFont>
      <a:minorFont>
        <a:latin typeface="Gellix"/>
        <a:ea typeface=""/>
        <a:cs typeface=""/>
      </a:minorFont>
    </a:fontScheme>
    <a:fmtScheme name="Cognizant referenc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2026-10-10T15:19:23.3900000Z</dcterms:created>
  <dcterms:modified xsi:type="dcterms:W3CDTF">2026-10-10T15:19:23.3900000Z</dcterms:modified>
</coreProperties>
</file>