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0.svg" ContentType="image/svg+xml"/>
  <Override PartName="/ppt/media/image52.svg" ContentType="image/svg+xml"/>
  <Override PartName="/ppt/notesMasters/notesMaster1.xml" ContentType="application/vnd.openxmlformats-officedocument.presentationml.notesMaster+xml"/>
  <Override PartName="/ppt/notesMasters/theme/theme6.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theme/theme2.xml" ContentType="application/vnd.openxmlformats-officedocument.theme+xml"/>
  <Override PartName="/ppt/slideMasters/theme/theme3.xml" ContentType="application/vnd.openxmlformats-officedocument.theme+xml"/>
  <Override PartName="/ppt/slideMasters/theme/theme4.xml" ContentType="application/vnd.openxmlformats-officedocument.theme+xml"/>
  <Override PartName="/ppt/slideMasters/theme/theme5.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64f9a23884c44625" Type="http://schemas.openxmlformats.org/officeDocument/2006/relationships/officeDocument" Target="ppt/presentation.xml"/><Relationship Id="R84e71566a1d647f7" Type="http://schemas.openxmlformats.org/officeDocument/2006/relationships/extended-properties" Target="docProps/app.xml"/><Relationship Id="Rc4e4969fe66e4fc1" Type="http://schemas.openxmlformats.org/package/2006/relationships/metadata/core-properties" Target="docProps/core.xml"/></Relationships>
</file>

<file path=ppt/presentation.xml><?xml version="1.0" encoding="utf-8"?>
<p:presentation xmlns:p="http://schemas.openxmlformats.org/presentationml/2006/main">
  <p:sldMasterIdLst>
    <p:sldMasterId xmlns:r="http://schemas.openxmlformats.org/officeDocument/2006/relationships" id="2147483648" r:id="Rac94335601d14db8"/>
    <p:sldMasterId xmlns:r="http://schemas.openxmlformats.org/officeDocument/2006/relationships" id="2147483655" r:id="Re562c2e4671348aa"/>
    <p:sldMasterId xmlns:r="http://schemas.openxmlformats.org/officeDocument/2006/relationships" id="2147483663" r:id="Rb87cb585fe274448"/>
    <p:sldMasterId xmlns:r="http://schemas.openxmlformats.org/officeDocument/2006/relationships" id="2147483666" r:id="R50e5873738a341b1"/>
  </p:sldMasterIdLst>
  <p:notesMasterIdLst>
    <p:notesMasterId xmlns:r="http://schemas.openxmlformats.org/officeDocument/2006/relationships" r:id="Ra3f0ebc3c09b4434"/>
  </p:notesMasterIdLst>
  <p:sldIdLst>
    <p:sldId xmlns:ns0="http://schemas.openxmlformats.org/officeDocument/2006/relationships" id="256" ns0:id="rId9"/>
    <p:sldId xmlns:ns0="http://schemas.openxmlformats.org/officeDocument/2006/relationships" id="257" ns0:id="rId10"/>
    <p:sldId xmlns:ns0="http://schemas.openxmlformats.org/officeDocument/2006/relationships" id="258" ns0:id="rId11"/>
    <p:sldId xmlns:ns0="http://schemas.openxmlformats.org/officeDocument/2006/relationships" id="259" ns0:id="rId12"/>
    <p:sldId xmlns:ns0="http://schemas.openxmlformats.org/officeDocument/2006/relationships" id="260" ns0:id="rId13"/>
    <p:sldId xmlns:ns0="http://schemas.openxmlformats.org/officeDocument/2006/relationships" id="261" ns0:id="rId14"/>
    <p:sldId xmlns:ns0="http://schemas.openxmlformats.org/officeDocument/2006/relationships" id="262" ns0:id="rId15"/>
    <p:sldId xmlns:ns0="http://schemas.openxmlformats.org/officeDocument/2006/relationships" id="263" ns0:id="rId16"/>
    <p:sldId xmlns:ns0="http://schemas.openxmlformats.org/officeDocument/2006/relationships" id="264" ns0:id="rId17"/>
    <p:sldId xmlns:ns0="http://schemas.openxmlformats.org/officeDocument/2006/relationships" id="265" ns0:id="rId18"/>
    <p:sldId xmlns:ns0="http://schemas.openxmlformats.org/officeDocument/2006/relationships" id="266" ns0:id="rId19"/>
    <p:sldId xmlns:ns0="http://schemas.openxmlformats.org/officeDocument/2006/relationships" id="267" ns0:id="rId20"/>
    <p:sldId xmlns:ns0="http://schemas.openxmlformats.org/officeDocument/2006/relationships" id="268" ns0:id="rId21"/>
    <p:sldId xmlns:ns0="http://schemas.openxmlformats.org/officeDocument/2006/relationships" id="269" ns0:id="rId22"/>
    <p:sldId xmlns:ns0="http://schemas.openxmlformats.org/officeDocument/2006/relationships" id="270" ns0:id="rId23"/>
    <p:sldId xmlns:ns0="http://schemas.openxmlformats.org/officeDocument/2006/relationships" id="271" ns0:id="rId24"/>
    <p:sldId xmlns:ns0="http://schemas.openxmlformats.org/officeDocument/2006/relationships" id="272" ns0:id="rId25"/>
    <p:sldId xmlns:ns0="http://schemas.openxmlformats.org/officeDocument/2006/relationships" id="273" ns0:id="rId26"/>
    <p:sldId xmlns:ns0="http://schemas.openxmlformats.org/officeDocument/2006/relationships" id="274" ns0:id="rId27"/>
    <p:sldId xmlns:ns0="http://schemas.openxmlformats.org/officeDocument/2006/relationships" id="275" ns0:id="rId28"/>
    <p:sldId xmlns:ns0="http://schemas.openxmlformats.org/officeDocument/2006/relationships" id="276" ns0:id="rId29"/>
    <p:sldId xmlns:ns0="http://schemas.openxmlformats.org/officeDocument/2006/relationships" id="277" ns0:id="rId30"/>
    <p:sldId xmlns:ns0="http://schemas.openxmlformats.org/officeDocument/2006/relationships" id="278" ns0:id="rId31"/>
    <p:sldId xmlns:ns0="http://schemas.openxmlformats.org/officeDocument/2006/relationships" id="279" ns0:id="rId32"/>
    <p:sldId xmlns:ns0="http://schemas.openxmlformats.org/officeDocument/2006/relationships" id="280" ns0:id="rId33"/>
    <p:sldId xmlns:ns0="http://schemas.openxmlformats.org/officeDocument/2006/relationships" id="281" ns0:id="rId34"/>
    <p:sldId xmlns:ns0="http://schemas.openxmlformats.org/officeDocument/2006/relationships" id="282" ns0:id="rId35"/>
    <p:sldId xmlns:ns0="http://schemas.openxmlformats.org/officeDocument/2006/relationships" id="283" ns0:id="rId36"/>
    <p:sldId xmlns:ns0="http://schemas.openxmlformats.org/officeDocument/2006/relationships" id="284" ns0:id="rId37"/>
    <p:sldId xmlns:ns0="http://schemas.openxmlformats.org/officeDocument/2006/relationships" id="285" ns0:id="rId38"/>
    <p:sldId xmlns:ns0="http://schemas.openxmlformats.org/officeDocument/2006/relationships" id="286" ns0:id="rId39"/>
    <p:sldId xmlns:ns0="http://schemas.openxmlformats.org/officeDocument/2006/relationships" id="287" ns0:id="rId40"/>
    <p:sldId xmlns:ns0="http://schemas.openxmlformats.org/officeDocument/2006/relationships" id="288" ns0:id="rId41"/>
    <p:sldId xmlns:ns0="http://schemas.openxmlformats.org/officeDocument/2006/relationships" id="289" ns0:id="rId42"/>
    <p:sldId xmlns:ns0="http://schemas.openxmlformats.org/officeDocument/2006/relationships" id="290" ns0:id="rId43"/>
    <p:sldId xmlns:ns0="http://schemas.openxmlformats.org/officeDocument/2006/relationships" id="291" ns0:id="rId44"/>
    <p:sldId xmlns:ns0="http://schemas.openxmlformats.org/officeDocument/2006/relationships" id="292" ns0:id="rId45"/>
    <p:sldId xmlns:ns0="http://schemas.openxmlformats.org/officeDocument/2006/relationships" id="293" ns0:id="rId46"/>
    <p:sldId xmlns:ns0="http://schemas.openxmlformats.org/officeDocument/2006/relationships" id="294" ns0:id="rId47"/>
    <p:sldId xmlns:ns0="http://schemas.openxmlformats.org/officeDocument/2006/relationships" id="295" ns0:id="rId4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310443a3f9f4403" Type="http://schemas.openxmlformats.org/officeDocument/2006/relationships/tableStyles" Target="tableStyles.xml"/><Relationship Id="R3569cfc98731471b" Type="http://schemas.openxmlformats.org/officeDocument/2006/relationships/theme" Target="theme/theme1.xml"/><Relationship Id="R50e5873738a341b1" Type="http://schemas.openxmlformats.org/officeDocument/2006/relationships/slideMaster" Target="slideMasters/slideMaster4.xml"/><Relationship Id="R54772863d9b446e6" Type="http://schemas.openxmlformats.org/officeDocument/2006/relationships/presProps" Target="presProps.xml"/><Relationship Id="Ra3f0ebc3c09b4434" Type="http://schemas.openxmlformats.org/officeDocument/2006/relationships/notesMaster" Target="notesMasters/notesMaster1.xml"/><Relationship Id="Rac94335601d14db8" Type="http://schemas.openxmlformats.org/officeDocument/2006/relationships/slideMaster" Target="slideMasters/slideMaster1.xml"/><Relationship Id="Rb87cb585fe274448" Type="http://schemas.openxmlformats.org/officeDocument/2006/relationships/slideMaster" Target="slideMasters/slideMaster3.xml"/><Relationship Id="Re562c2e4671348aa" Type="http://schemas.openxmlformats.org/officeDocument/2006/relationships/slideMaster" Target="slideMasters/slideMaster2.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 Id="rId32" Type="http://schemas.openxmlformats.org/officeDocument/2006/relationships/slide" Target="slides/slide24.xml"/><Relationship Id="rId33" Type="http://schemas.openxmlformats.org/officeDocument/2006/relationships/slide" Target="slides/slide25.xml"/><Relationship Id="rId34" Type="http://schemas.openxmlformats.org/officeDocument/2006/relationships/slide" Target="slides/slide26.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29.xml"/><Relationship Id="rId38" Type="http://schemas.openxmlformats.org/officeDocument/2006/relationships/slide" Target="slides/slide30.xml"/><Relationship Id="rId39" Type="http://schemas.openxmlformats.org/officeDocument/2006/relationships/slide" Target="slides/slide31.xml"/><Relationship Id="rId40" Type="http://schemas.openxmlformats.org/officeDocument/2006/relationships/slide" Target="slides/slide32.xml"/><Relationship Id="rId41" Type="http://schemas.openxmlformats.org/officeDocument/2006/relationships/slide" Target="slides/slide33.xml"/><Relationship Id="rId42" Type="http://schemas.openxmlformats.org/officeDocument/2006/relationships/slide" Target="slides/slide34.xml"/><Relationship Id="rId43" Type="http://schemas.openxmlformats.org/officeDocument/2006/relationships/slide" Target="slides/slide35.xml"/><Relationship Id="rId44" Type="http://schemas.openxmlformats.org/officeDocument/2006/relationships/slide" Target="slides/slide36.xml"/><Relationship Id="rId45" Type="http://schemas.openxmlformats.org/officeDocument/2006/relationships/slide" Target="slides/slide37.xml"/><Relationship Id="rId46" Type="http://schemas.openxmlformats.org/officeDocument/2006/relationships/slide" Target="slides/slide38.xml"/><Relationship Id="rId47" Type="http://schemas.openxmlformats.org/officeDocument/2006/relationships/slide" Target="slides/slide39.xml"/><Relationship Id="rId48"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214af957cecc4cfc" Type="http://schemas.openxmlformats.org/officeDocument/2006/relationships/theme" Target="theme/theme6.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6.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purpose: open the leadership review of the CIS Infra Agent Governance and Operations offering.</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Answers the demand, outcome and decision questions. CIS Infra does not own agent behaviour, model quality or security operations; it builds the catalogue, telemetry joins and containment plumbing, and runs them if offering 05 is contracted.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Buyer: AI platform leader with Security and service owners. Triggers are typical, not customer evidence. Do not claim guaranteed prevention of unsafe actions.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Agent governance depends on the landing zone (identity, network, telemetry) and benefits from the gateway as an enforcement point. It hands catalogue, runbooks and drills to managed operations.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Inventory coverage is explicitly limited: native Foundry Control Plane inventory covers Foundry agents, Azure SRE Agent, Logic Apps agent loops and manually registered custom agents. Other agents need registration through deployment pipelines and instrumentation. Agents outside Azure or without identity mapping are outside coverage until onboarded.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executive view. Deployment inventory (what exists) comes from Foundry Control Plane, Azure Resource Graph and deployment pipeline records. Runtime evidence (what runs) comes from Application Insights and Log Analytics. A custom reconciliation job (Function App) joins both on agent ID, version and environment into a registry (Cosmos DB); Azure Workbooks presents the catalogue. The containment control plane reads and writes the same registry. Native capabilities: Foundry Control Plane inventory, Resource Graph queries, Application Insights traces. Custom: reconciliation, registry, classification rules, workbook, containment orchestration.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Classification separates deployment inventory from runtime evidence. The 30-day threshold is a suggested policy, not a Microsoft default; seasonal and standby agents need exceptions. Health probes are excluded from business usage. Never auto-delete on zero sampled telemetry. Orphaned means the record has no valid owner or the hosting resource no longer maps to a record.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Delivery gates from the baseline deck. Catalogue coverage discovery precedes the implementation quote. Pricing scales with agent count, runtime families, subscriptions, tool integrations and telemetry patterns. No duration is stated because it depends on access and named tower staff.</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risks. A containment design that is only proxy-based fails the bypass test. Measured stop time, not assumed stop time, sets any target.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Measures are definitions; numeric targets are set after the pilot drills measure real behaviour. Decisions split into now versus after evidence. Full register in appendix D1.</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divider. Use the index to navigate.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Each entry links to the appendix slide. Use the Index link in the footer of any appendix slide to return here.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(1) deployment pipelines write agent ID, version, environment, owner and endpoint into the registry at release; (2) a scheduled Function App queries Foundry Control Plane for supported agents and Resource Graph for hosting resources and tags; (3) it queries Application Insights and Log Analytics for last run, run count, errors and tokens per agent ID; (4) it reconciles and writes status to Cosmos DB, flagging unmatched resources as orphaned and records without telemetry as telemetry unknown; (5) Workbooks presents the catalogue and review queues; (6) Azure Monitor alerts route telemetry-health and dormancy reviews to owners. Identity: the reconciliation job uses a managed identity with Reader on in-scope subscriptions and read access to the workspaces; it has no write access to agent runtimes.</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behaviour verified against Microsoft Learn (Foundry Control Plane manage agents, updated 2026-07-15). Inventory columns cover the last month. Metrics and traces are collected only after observability is configured, with up to 15 minutes propagation.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Maintain this record at deployment. Extend native inventory with a controlled register only where fields or coverage are missing. An API or tool catalogue (for example Azure API Center) and the operational agent catalogue serve different purposes.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equate no telemetry with unused. Inventory says what exists and who owns it. Runtime evidence says what ran, when and at what cost. Both are needed to classify.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Thresholds are suggestions for customer policy, not Microsoft defaults. Exclude health probes and synthetic monitoring from business usage. Seasonal, standby and break-glass agents carry an exception with a review date.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coverage verified on Microsoft Learn. Custom integration means the agent can be brought in through registration and instrumentation built in this offering. Outside coverage means the offering cannot see the agent until it is onboarded; the catalogue reports it as a known gap only if someone declares it.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ILLUSTRATIVE MOCK-UP with invented sample agents and counts. Not customer evidence. Deployed and observed counts are shown separately. Each row links to traces, owner, tools, access and containment record in the real workbook.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reference architecture, custom CIS Infra design built from Azure services; not a Microsoft-published reference or a built-in Azure kill-switch service.</a:t>
            </a:r>
          </a:p>
          <a:p/>
          <a:p>
            <a:r>
              <a:t>Execution path: the caller identity is validated and mapped server-side to tenant, agent ID and version (never trust a caller-supplied agent header). Enforcement point 1 (API Management ingress) rejects new requests for quarantined scopes. Enforcement point 2 (runtime guard or adapter) checks state at each loop checkpoint and cancels or isolates running work where the runtime supports it. Enforcement point 3 (outbound gateway and tool-side authorisation) denies further model, tool and data actions. Model, tool and data endpoints are drawn separately because each needs its own authorisation and network control.</a:t>
            </a:r>
          </a:p>
          <a:p/>
          <a:p>
            <a:r>
              <a:t>Control plane: an authorised operator (Entra PIM, approval) or an approved Azure Monitor alert rule starts the Durable Functions orchestrator. It writes quarantine state with a monotonic state version to Cosmos DB, signals enforcement points, records evidence in a Storage account (immutability is a configured policy, not a default), and verifies containment through Application Insights traces. Restart is human-approved, after root-cause review and a bounded canary. Containment is never undone automatically when an alert clears.</a:t>
            </a:r>
          </a:p>
          <a:p/>
          <a:p>
            <a:r>
              <a:t>Limits: Foundry Stop prevents new runs but does not terminate existing runs (Microsoft Learn, Foundry Control Plane manage agents, updated 2026-07-15). Custom-agent Block stops proxy requests, not the underlying host. Token or RBAC revocation can propagate asynchronously. Direct endpoint access bypasses a proxy-only control. A backend circuit breaker protects a dependency; it is not an agent kill switch. Cosmos DB consistency, caches and polling intervals set the worst-case enforcement time. Fail-closed behaviour trades availability for safety. No numeric stop-time SLA is promised.</a:t>
            </a:r>
          </a:p>
          <a:p/>
          <a:p>
            <a:r>
              <a:t>Icons: official Azure icons. Container Apps is shown as one example of a customer-hosted runtime; AKS is equivalent. Function App represents an example tool host.</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AI gateway capabilities in API Management: https://learn.microsoft.com/en-us/azure/api-management/genai-gateway-capabilities</a:t>
            </a:r>
          </a:p>
          <a:p>
            <a:r>
              <a:t>Azure Architecture Icons (V24): https://learn.microsoft.com/en-us/azure/architecture/icons/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Blocking new requests, stopping work already running and preventing further actions are different controls with different Azure mechanisms and different limits. A runbook must exercise all three.</a:t>
            </a:r>
          </a:p>
          <a:p/>
          <a:p>
            <a:r>
              <a:t>Sources (checked 11 Oct 2026):</a:t>
            </a:r>
          </a:p>
          <a:p>
            <a:r>
              <a:t>Foundry Control Plane: manage agents: https://learn.microsoft.com/en-us/azure/foundry/control-plane/how-to-manage-agents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Platform behaviour verified against Microsoft Learn on 11 Oct 2026. Design limits are engineering constraints that apply to any custom implementation.</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r>
              <a:t>APIM llm-token-limit policy: https://learn.microsoft.com/en-us/azure/api-management/llm-token-limit-policy</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 with synthetic agents in a non-production environment first, then as a scheduled production drill with business approval. Record timestamps at each step to measure actual stop time; set any target only after measurement.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Native behaviour as documented on Microsoft Learn, Foundry Control Plane manage agents (updated 2026-07-15). Custom agents do not gain infrastructure stop controls by registering. Prevent proxy bypass through network and identity design. Deletion is not a routine emergency strategy.</a:t>
            </a:r>
          </a:p>
          <a:p/>
          <a:p>
            <a:r>
              <a:t>Sources (checked 11 Oct 2026):</a:t>
            </a:r>
          </a:p>
          <a:p>
            <a:r>
              <a:t>Foundry Control Plane: manage agents: https://learn.microsoft.com/en-us/azure/foundry/control-plane/how-to-manage-agents</a:t>
            </a:r>
          </a:p>
          <a:p>
            <a:r>
              <a:t>Foundry Control Plane: register custom agent: https://learn.microsoft.com/en-us/azure/foundry/control-plane/register-custom-agent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team implements runtime loop budgets and tool validation. Security defines risk classes and permissions. CIS Infra provides isolation and monitoring. Validate cancellation semantics, retries, queue visibility and safe compensation for completed side effects.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editable adaptation of 14_agentic-rag.png (Microsoft agentic RAG guide). The source shows a reasoning loop with repeated tool calls and evaluation before a final model call. Control points added (proposed): iteration limit, elapsed-time limit, tool allow-list and checkpoint deny-state check. This image does not show an implemented kill switch.</a:t>
            </a:r>
          </a:p>
          <a:p/>
          <a:p>
            <a:r>
              <a:t>Sources (checked 11 Oct 2026):</a:t>
            </a:r>
          </a:p>
          <a:p>
            <a:r>
              <a:t>https://github.com/upendra25312/AI-Foundry-GTM-offering-/blob/main/architectures/14_agentic-rag.png</a:t>
            </a:r>
          </a:p>
          <a:p>
            <a:r>
              <a:t>https://github.com/upendra25312/AI-Foundry-GTM-offering-/blob/main/architectures/07_agentic-rag.vsdx</a:t>
            </a:r>
          </a:p>
          <a:p>
            <a:r>
              <a:t>https://learn.microsoft.com/en-us/azure/architecture/ai-ml/guide/rag/rag-agentic</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Simplified editable adaptation of 15_multiple-agent-workflow-automation.png (Microsoft multiple-agent workflow automation idea). The source labels the model "GPT-4.1"; shown here as a Foundry model deployment because model choice is per engagement and gpt-4.1 retires 2027-04-14. Each component gets an owner and a containment action (proposed). GitHub and Docker in the source are non-Azure tools and are shown as conceptual boxes without Azure icons.</a:t>
            </a:r>
          </a:p>
          <a:p/>
          <a:p>
            <a:r>
              <a:t>Sources (checked 11 Oct 2026):</a:t>
            </a:r>
          </a:p>
          <a:p>
            <a:r>
              <a:t>https://github.com/upendra25312/AI-Foundry-GTM-offering-/blob/main/architectures/15_multiple-agent-workflow-automation.png</a:t>
            </a:r>
          </a:p>
          <a:p>
            <a:r>
              <a:t>https://github.com/upendra25312/AI-Foundry-GTM-offering-/blob/main/architectures/08_multiple-agent-workflow-automation.vsdx</a:t>
            </a:r>
          </a:p>
          <a:p>
            <a:r>
              <a:t>https://learn.microsoft.com/en-us/azure/architecture/ai-ml/idea/multiple-agent-workflow-automation</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Configure Application Insights per project and instrument custom code with OpenTelemetry conventions. Preview monitoring and evaluation features need explicit acceptance. Define business success separately from HTTP success. Redact sensitive payloads and control trace retention.</a:t>
            </a:r>
          </a:p>
          <a:p/>
          <a:p>
            <a:r>
              <a:t>Sources (checked 11 Oct 2026):</a:t>
            </a:r>
          </a:p>
          <a:p>
            <a:r>
              <a:t>https://learn.microsoft.com/en-us/azure/foundry/observability/how-to/how-to-monitor-agents-dashboard</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Runbook outline. Preserve audit evidence and isolate the affected agent before broader service impact. Never undo containment automatically when an alert clears. Set detection and containment targets only after measuring propagation and runtime behaviour.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acceptance criteria. Agree test cases, thresholds and exception authority in the SOW.</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Monthly review cadence (proposed). Retirement removes identities, secrets, endpoints, schedules and hosting resources, then confirms through Resource Graph that nothing remains. Owner approval is required; orphaned agents go to the service owner.</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Separates Cognizant services revenue from customer-paid Azure consumption. Where internal sell rates or enterprise Azure rates are unavailable, the formula and the missing input owner are shown instead of a number. </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Proposed RACI for validation with tower leads, the integrated service owner and Finance. Exactly one A per row (A/R = accountable and responsible). Roles: CIS Infra; Security; DevOps; AI; Data (architecture and governance); Data Engineering (pipelines); Integrated service owner (named Cognizant delivery lead accountable for the integrated outcome); Customer workload owner; Commercial or finance owner (account commercial lead with Finance).</a:t>
            </a:r>
          </a:p>
          <a:p/>
          <a:p>
            <a:r>
              <a:t>Containment authority and restart approval are customer decisions; Cognizant roles execute and evidence them. If a contracted security service exists, live containment authority may move to that service.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Framework for Finance approval. No fixed tower percentages are proposed. Attribution follows priced work packages and the tower that delivers and carries the cost. Sales credit, booked revenue, delivery cost and margin ownership are separate views and must not be double counted. Azure consumption resold or passed through is recorded separately from services revenue. The worked example uses round hypothetical numbers only to show the mechanics; it is not a quote, rate or split.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Readiness criteria for this offering. Timelines and staffing are estimates only and require named tower commitments. Use this as the qualification and SOW checklist.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Unresolved decisions for this offering. "Now" means leadership can decide at this review. Other items depend on pilot evidence, Finance approval or specialist tower agreement. The consolidated register is delivered as a separate workbook.</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https://github.com/upendra25312/AI-Foundry-GTM-offering-/blob/main/architectures/15_multiple-agent-workflow-automation.png</a:t>
            </a:r>
          </a:p>
          <a:p>
            <a:r>
              <a:t>Editable Visio: https://github.com/upendra25312/AI-Foundry-GTM-offering-/blob/main/architectures/08_multiple-agent-workflow-automation.vsdx</a:t>
            </a:r>
          </a:p>
          <a:p>
            <a:r>
              <a:t>Microsoft source: https://learn.microsoft.com/en-us/azure/architecture/ai-ml/idea/multiple-agent-workflow-automation</a:t>
            </a:r>
          </a:p>
          <a:p/>
          <a:p>
            <a:r>
              <a:t>Source labels the model GPT-4.1, which retires 2027-04-14; adapted view (A11) uses a generic model deployment.</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https://github.com/upendra25312/AI-Foundry-GTM-offering-/blob/main/architectures/14_agentic-rag.png</a:t>
            </a:r>
          </a:p>
          <a:p>
            <a:r>
              <a:t>Editable Visio: https://github.com/upendra25312/AI-Foundry-GTM-offering-/blob/main/architectures/07_agentic-rag.vsdx</a:t>
            </a:r>
          </a:p>
          <a:p>
            <a:r>
              <a:t>Microsoft source: https://learn.microsoft.com/en-us/azure/architecture/ai-ml/guide/rag/rag-agentic</a:t>
            </a:r>
          </a:p>
          <a:p/>
          <a:p>
            <a:r>
              <a:t>Reasoning loop only; it does not show an implemented kill switch.</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Original diagram from the user repository, embedded unchanged at source resolution and not stretched beyond its native size. Repository: https://github.com/upendra25312/AI-Foundry-GTM-offering-/blob/main/architectures/07_baseline-microsoft-foundry.png</a:t>
            </a:r>
          </a:p>
          <a:p>
            <a:r>
              <a:t>Editable Visio: https://github.com/upendra25312/AI-Foundry-GTM-offering-/blob/main/architectures/03_baseline-microsoft-foundry.vsdx</a:t>
            </a:r>
          </a:p>
          <a:p>
            <a:r>
              <a:t>Microsoft source: https://learn.microsoft.com/en-us/azure/architecture/ai-ml/architecture/baseline-microsoft-foundry-chat</a:t>
            </a:r>
          </a:p>
          <a:p/>
          <a:p>
            <a:r>
              <a:t>Use to map agent registrations, runtime, search, storage and network to monitored assets.</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source register (URL, date checked, product, deployment type, region, SKU, GA or preview status, limitations) is provided as a separate workbook. Links below are clickable in slideshow mode.</a:t>
            </a:r>
          </a:p>
          <a:p/>
          <a:p>
            <a:r>
              <a:t>Status: proposed offering for internal leadership review. No Cognizant approval, customer evidence, staffing commitment, rate card or verified quote is implied. Illustrative and synthetic figures are labelled as such. All money in USD. Font: Arial substituted for Gellix (not available). Azure icons: official Microsoft Azure Architecture Icons (V24 set, via az-icons.com and the icons embedded in the baseline decks), unmodified SVG with PNG fallback. Rendered and checked as PDF previews; not opened in desktop PowerPoint.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239e75cfd1cc4abc"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abd07ab5f78149a7"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d9302c84203c48ad"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634241bc85ae4c7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f861045e69b14e70"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a7b814c8ca3840f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298d15c1849d417c" Type="http://schemas.openxmlformats.org/officeDocument/2006/relationships/image" Target="../media/image.png"/><Relationship Id="Rf2add38ed2ce453b"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2158411d075f466d" Type="http://schemas.openxmlformats.org/officeDocument/2006/relationships/image" Target="../media/image2.png"/><Relationship Id="R2c766725c11e4ac9"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46f2492711884366" Type="http://schemas.openxmlformats.org/officeDocument/2006/relationships/slideMaster" Target="../slideMasters/slideMaster4.xml"/><Relationship Id="Rf12105039f804078" Type="http://schemas.openxmlformats.org/officeDocument/2006/relationships/image" Target="../media/image3.png"/></Relationships>
</file>

<file path=ppt/slideLayouts/_rels/slideLayout10.xml.rels><?xml version='1.0' encoding='UTF-8' standalone='yes'?>
<Relationships xmlns="http://schemas.openxmlformats.org/package/2006/relationships"><Relationship Id="R82f16bd3225744a2" Type="http://schemas.openxmlformats.org/officeDocument/2006/relationships/image" Target="../media/image4.png"/><Relationship Id="Rf8347490cbfa44f8"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88d60132230f4421" Type="http://schemas.openxmlformats.org/officeDocument/2006/relationships/slideMaster" Target="../slideMasters/slideMaster2.xml"/><Relationship Id="Rf1de68665da24603"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33882fa3e3694f86" Type="http://schemas.openxmlformats.org/officeDocument/2006/relationships/slideMaster" Target="../slideMasters/slideMaster2.xml"/><Relationship Id="R681a98542d40472f"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53c158dd22bd4552" Type="http://schemas.openxmlformats.org/officeDocument/2006/relationships/image" Target="../media/image7.png"/><Relationship Id="Radb767df053a44bf"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3f1fb268c94e499b" Type="http://schemas.openxmlformats.org/officeDocument/2006/relationships/slideMaster" Target="../slideMasters/slideMaster2.xml"/><Relationship Id="Rbc17ee00ae7c4253"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2a4dc73f52214ef5" Type="http://schemas.openxmlformats.org/officeDocument/2006/relationships/slideMaster" Target="../slideMasters/slideMaster2.xml"/><Relationship Id="Rfd22619079854251" Type="http://schemas.openxmlformats.org/officeDocument/2006/relationships/image" Target="../media/image9.png"/></Relationships>
</file>

<file path=ppt/slideLayouts/_rels/slideLayout16.xml.rels><?xml version='1.0' encoding='UTF-8' standalone='yes'?>
<Relationships xmlns="http://schemas.openxmlformats.org/package/2006/relationships"><Relationship Id="R96ee4aaf91124207" Type="http://schemas.openxmlformats.org/officeDocument/2006/relationships/image" Target="../media/image10.png"/><Relationship Id="Ra2224d11fb44409e" Type="http://schemas.openxmlformats.org/officeDocument/2006/relationships/slideMaster" Target="../slideMasters/slideMaster3.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B3C62BE-6266-4FD7-A134-B94FB4390B5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2FB86A6-41C3-4C5B-A646-A13982E6EB4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69C775D-47F2-48A9-8A22-0C2377E85A6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5C8EC57-8628-4F66-8C10-9FBC9A7441D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C3CC55F-B37A-4AA3-86A4-40BE777C9F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DFE6414-6D1A-4BA5-A89E-40924220802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5021ED1-1B7C-41CB-9EA7-75E534190F4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56D015F-3F62-4C89-AE20-108E397F67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EA3482-BC64-4792-A439-94F33F45036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84684B-9BE8-449B-99FE-62DBE50807D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7.xml><?xml version="1.0" encoding="utf-8"?>
<p:sldLayout xmlns:p="http://schemas.openxmlformats.org/presentationml/2006/main">
  <p:cSld name="01 Cover">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C3CAC20D-6B8E-4E11-84C7-B8C6C8C13467}"/>
              </a:ext>
            </a:extLst>
          </p:cNvPr>
          <p:cNvPicPr>
            <a:picLocks xmlns:a="http://schemas.openxmlformats.org/drawingml/2006/main" noChangeAspect="1"/>
          </p:cNvPicPr>
          <p:nvPr/>
        </p:nvPicPr>
        <p:blipFill>
          <a:blip xmlns:r="http://schemas.openxmlformats.org/officeDocument/2006/relationships" xmlns:a="http://schemas.openxmlformats.org/drawingml/2006/main" r:embed="R298d15c1849d417c"/>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AC9D4263-9EE3-4FAD-8E35-B98A0454EE69}"/>
              </a:ext>
            </a:extLst>
          </p:cNvPr>
          <p:cNvSpPr>
            <a:spLocks xmlns:a="http://schemas.openxmlformats.org/drawingml/2006/main" noGrp="1"/>
          </p:cNvSpPr>
          <p:nvPr>
            <p:ph type="title" idx="0"/>
          </p:nvPr>
        </p:nvSpPr>
        <p:spPr>
          <a:xfrm xmlns:a="http://schemas.openxmlformats.org/drawingml/2006/main">
            <a:off x="685800" y="2143125"/>
            <a:ext cx="10572750" cy="1571625"/>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1115CABD-2ED3-4D69-8532-C5C8419DEDC6}"/>
              </a:ext>
            </a:extLst>
          </p:cNvPr>
          <p:cNvSpPr>
            <a:spLocks xmlns:a="http://schemas.openxmlformats.org/drawingml/2006/main" noGrp="1"/>
          </p:cNvSpPr>
          <p:nvPr>
            <p:ph type="subTitle" idx="1"/>
          </p:nvPr>
        </p:nvSpPr>
        <p:spPr>
          <a:xfrm xmlns:a="http://schemas.openxmlformats.org/drawingml/2006/main">
            <a:off x="685800" y="4000500"/>
            <a:ext cx="10477500" cy="8096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6EAB9A1B-F3BD-4075-A0CF-2C38B41B854B}"/>
              </a:ext>
            </a:extLst>
          </p:cNvPr>
          <p:cNvSpPr>
            <a:spLocks xmlns:a="http://schemas.openxmlformats.org/drawingml/2006/main" noGrp="1"/>
          </p:cNvSpPr>
          <p:nvPr>
            <p:ph type="body" idx="2"/>
          </p:nvPr>
        </p:nvSpPr>
        <p:spPr>
          <a:xfrm xmlns:a="http://schemas.openxmlformats.org/drawingml/2006/main">
            <a:off x="685800" y="5619750"/>
            <a:ext cx="10477500" cy="428625"/>
          </a:xfrm>
          <a:prstGeom xmlns:a="http://schemas.openxmlformats.org/drawingml/2006/main" prst="rect">
            <a:avLst/>
          </a:prstGeom>
        </p:spPr>
        <p:txBody>
          <a:bodyPr xmlns:a="http://schemas.openxmlformats.org/drawingml/2006/main"/>
          <a:lstStyle xmlns:a="http://schemas.openxmlformats.org/drawingml/2006/main">
            <a:defPPr>
              <a:defRPr sz="1650">
                <a:solidFill>
                  <a:schemeClr val="lt1"/>
                </a:solidFill>
              </a:defRPr>
            </a:defPPr>
          </a:lstStyle>
          <a:p xmlns:a="http://schemas.openxmlformats.org/drawingml/2006/main">
            <a:pPr>
              <a:defRPr sz="1650">
                <a:solidFill>
                  <a:schemeClr val="lt1"/>
                </a:solidFill>
              </a:defRPr>
            </a:pPr>
            <a:r>
              <a:rPr sz="1650">
                <a:solidFill>
                  <a:schemeClr val="lt1"/>
                </a:solidFill>
              </a:rPr>
              <a:t>[Replace with content]</a:t>
            </a:r>
          </a:p>
        </p:txBody>
      </p:sp>
    </p:spTree>
  </p:cSld>
</p:sldLayout>
</file>

<file path=ppt/slideLayouts/slideLayout8.xml><?xml version="1.0" encoding="utf-8"?>
<p:sldLayout xmlns:p="http://schemas.openxmlformats.org/presentationml/2006/main">
  <p:cSld name="02 Title and Content">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7DB4555F-6ABF-4DE0-8B76-AD58059BD759}"/>
              </a:ext>
            </a:extLst>
          </p:cNvPr>
          <p:cNvPicPr>
            <a:picLocks xmlns:a="http://schemas.openxmlformats.org/drawingml/2006/main" noChangeAspect="1"/>
          </p:cNvPicPr>
          <p:nvPr/>
        </p:nvPicPr>
        <p:blipFill>
          <a:blip xmlns:r="http://schemas.openxmlformats.org/officeDocument/2006/relationships" xmlns:a="http://schemas.openxmlformats.org/drawingml/2006/main" r:embed="R2158411d075f466d"/>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F642780-5767-4422-A542-3310DC827E43}"/>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4AA11AF-3988-4E59-B3EC-36105FD3A00E}"/>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50F4AE85-0251-4AA0-B4DE-399139D72B29}"/>
              </a:ext>
            </a:extLst>
          </p:cNvPr>
          <p:cNvSpPr>
            <a:spLocks xmlns:a="http://schemas.openxmlformats.org/drawingml/2006/main" noGrp="1"/>
          </p:cNvSpPr>
          <p:nvPr>
            <p:ph type="body" idx="1"/>
          </p:nvPr>
        </p:nvSpPr>
        <p:spPr>
          <a:xfrm xmlns:a="http://schemas.openxmlformats.org/drawingml/2006/main">
            <a:off x="685800" y="2095500"/>
            <a:ext cx="10820400" cy="3571875"/>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9.xml><?xml version="1.0" encoding="utf-8"?>
<p:sldLayout xmlns:p="http://schemas.openxmlformats.org/presentationml/2006/main">
  <p:cSld name="03 Section Divider">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68E9DC5D-4FF1-4D21-9CE6-A33830CEDB0C}"/>
              </a:ext>
            </a:extLst>
          </p:cNvPr>
          <p:cNvPicPr>
            <a:picLocks xmlns:a="http://schemas.openxmlformats.org/drawingml/2006/main" noChangeAspect="1"/>
          </p:cNvPicPr>
          <p:nvPr/>
        </p:nvPicPr>
        <p:blipFill>
          <a:blip xmlns:r="http://schemas.openxmlformats.org/officeDocument/2006/relationships" xmlns:a="http://schemas.openxmlformats.org/drawingml/2006/main" r:embed="Rf12105039f804078"/>
          <a:stretch xmlns:a="http://schemas.openxmlformats.org/drawingml/2006/main"/>
        </p:blipFill>
        <p:spPr>
          <a:xfrm xmlns:a="http://schemas.openxmlformats.org/drawingml/2006/main">
            <a:off x="686062" y="552450"/>
            <a:ext cx="2571227"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6BBB9219-B0FC-427D-90E8-1F67F5B5CDA3}"/>
              </a:ext>
            </a:extLst>
          </p:cNvPr>
          <p:cNvSpPr>
            <a:spLocks xmlns:a="http://schemas.openxmlformats.org/drawingml/2006/main" noGrp="1"/>
          </p:cNvSpPr>
          <p:nvPr>
            <p:ph type="title" idx="0"/>
          </p:nvPr>
        </p:nvSpPr>
        <p:spPr>
          <a:xfrm xmlns:a="http://schemas.openxmlformats.org/drawingml/2006/main">
            <a:off x="685800" y="2762250"/>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tx1"/>
                </a:solidFill>
              </a:defRPr>
            </a:defPPr>
          </a:lstStyle>
          <a:p xmlns:a="http://schemas.openxmlformats.org/drawingml/2006/main">
            <a:pPr>
              <a:defRPr sz="4800">
                <a:solidFill>
                  <a:schemeClr val="tx1"/>
                </a:solidFill>
              </a:defRPr>
            </a:pPr>
            <a:r>
              <a:rPr sz="4800">
                <a:solidFill>
                  <a:schemeClr val="tx1"/>
                </a:solidFill>
              </a:rPr>
              <a:t>[Slide title]</a:t>
            </a:r>
          </a:p>
        </p:txBody>
      </p:sp>
      <p:sp>
        <p:nvSpPr>
          <p:cNvPr id="3" name="placeholder_2">
            <a:extLst xmlns:a="http://schemas.openxmlformats.org/drawingml/2006/main">
              <a:ext uri="{FF2B5EF4-FFF2-40B4-BE49-F238E27FC236}">
                <a16:creationId xmlns:a16="http://schemas.microsoft.com/office/drawing/2014/main" id="{6194A791-D7D0-46D9-B4BD-E57324440CA5}"/>
              </a:ext>
            </a:extLst>
          </p:cNvPr>
          <p:cNvSpPr>
            <a:spLocks xmlns:a="http://schemas.openxmlformats.org/drawingml/2006/main" noGrp="1"/>
          </p:cNvSpPr>
          <p:nvPr>
            <p:ph type="body" idx="1"/>
          </p:nvPr>
        </p:nvSpPr>
        <p:spPr>
          <a:xfrm xmlns:a="http://schemas.openxmlformats.org/drawingml/2006/main">
            <a:off x="685800" y="4191000"/>
            <a:ext cx="9525000" cy="685800"/>
          </a:xfrm>
          <a:prstGeom xmlns:a="http://schemas.openxmlformats.org/drawingml/2006/main" prst="rect">
            <a:avLst/>
          </a:prstGeom>
        </p:spPr>
        <p:txBody>
          <a:bodyPr xmlns:a="http://schemas.openxmlformats.org/drawingml/2006/main"/>
          <a:lstStyle xmlns:a="http://schemas.openxmlformats.org/drawingml/2006/main">
            <a:defPPr>
              <a:defRPr sz="2250">
                <a:solidFill>
                  <a:schemeClr val="tx1"/>
                </a:solidFill>
              </a:defRPr>
            </a:defPPr>
          </a:lstStyle>
          <a:p xmlns:a="http://schemas.openxmlformats.org/drawingml/2006/main">
            <a:pPr>
              <a:defRPr sz="2250">
                <a:solidFill>
                  <a:schemeClr val="tx1"/>
                </a:solidFill>
              </a:defRPr>
            </a:pPr>
            <a:r>
              <a:rPr sz="2250">
                <a:solidFill>
                  <a:schemeClr val="tx1"/>
                </a:solidFill>
              </a:rPr>
              <a:t>[Replace with content]</a:t>
            </a:r>
          </a:p>
        </p:txBody>
      </p:sp>
    </p:spTree>
  </p:cSld>
</p:sldLayout>
</file>

<file path=ppt/slideLayouts/slideLayout10.xml><?xml version="1.0" encoding="utf-8"?>
<p:sldLayout xmlns:p="http://schemas.openxmlformats.org/presentationml/2006/main">
  <p:cSld name="04 Executive Summary">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7C157043-2B4E-4380-8B24-BADBD1C95106}"/>
              </a:ext>
            </a:extLst>
          </p:cNvPr>
          <p:cNvPicPr>
            <a:picLocks xmlns:a="http://schemas.openxmlformats.org/drawingml/2006/main" noChangeAspect="1"/>
          </p:cNvPicPr>
          <p:nvPr/>
        </p:nvPicPr>
        <p:blipFill>
          <a:blip xmlns:r="http://schemas.openxmlformats.org/officeDocument/2006/relationships" xmlns:a="http://schemas.openxmlformats.org/drawingml/2006/main" r:embed="R82f16bd3225744a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1F3C092-75B5-48CC-A68D-B133B32D1FC6}"/>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D43F1ED2-FF18-4A8B-9671-FC9A1875CD4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7448854-A198-49EC-AEF3-2CB49FFA215B}"/>
              </a:ext>
            </a:extLst>
          </p:cNvPr>
          <p:cNvSpPr>
            <a:spLocks xmlns:a="http://schemas.openxmlformats.org/drawingml/2006/main" noGrp="1"/>
          </p:cNvSpPr>
          <p:nvPr>
            <p:ph type="body" idx="1"/>
          </p:nvPr>
        </p:nvSpPr>
        <p:spPr>
          <a:xfrm xmlns:a="http://schemas.openxmlformats.org/drawingml/2006/main">
            <a:off x="685800" y="2095500"/>
            <a:ext cx="10477500" cy="1238250"/>
          </a:xfrm>
          <a:prstGeom xmlns:a="http://schemas.openxmlformats.org/drawingml/2006/main" prst="rect">
            <a:avLst/>
          </a:prstGeom>
        </p:spPr>
        <p:txBody>
          <a:bodyPr xmlns:a="http://schemas.openxmlformats.org/drawingml/2006/main"/>
          <a:lstStyle xmlns:a="http://schemas.openxmlformats.org/drawingml/2006/main">
            <a:defPPr>
              <a:defRPr sz="2625">
                <a:solidFill>
                  <a:schemeClr val="accent2"/>
                </a:solidFill>
              </a:defRPr>
            </a:defPPr>
          </a:lstStyle>
          <a:p xmlns:a="http://schemas.openxmlformats.org/drawingml/2006/main">
            <a:pPr>
              <a:defRPr sz="2625">
                <a:solidFill>
                  <a:schemeClr val="accent2"/>
                </a:solidFill>
              </a:defRPr>
            </a:pPr>
            <a:r>
              <a:rPr sz="2625">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5AFC5D61-FDBE-4993-890E-B5779AB85DFA}"/>
              </a:ext>
            </a:extLst>
          </p:cNvPr>
          <p:cNvSpPr>
            <a:spLocks xmlns:a="http://schemas.openxmlformats.org/drawingml/2006/main" noGrp="1"/>
          </p:cNvSpPr>
          <p:nvPr>
            <p:ph type="body" idx="2"/>
          </p:nvPr>
        </p:nvSpPr>
        <p:spPr>
          <a:xfrm xmlns:a="http://schemas.openxmlformats.org/drawingml/2006/main">
            <a:off x="685800" y="3714750"/>
            <a:ext cx="10477500" cy="2047875"/>
          </a:xfrm>
          <a:prstGeom xmlns:a="http://schemas.openxmlformats.org/drawingml/2006/main" prst="rect">
            <a:avLst/>
          </a:prstGeom>
        </p:spPr>
        <p:txBody>
          <a:bodyPr xmlns:a="http://schemas.openxmlformats.org/drawingml/2006/main"/>
          <a:lstStyle xmlns:a="http://schemas.openxmlformats.org/drawingml/2006/main">
            <a:defPPr>
              <a:defRPr sz="2025">
                <a:solidFill>
                  <a:schemeClr val="tx1"/>
                </a:solidFill>
              </a:defRPr>
            </a:defPPr>
          </a:lstStyle>
          <a:p xmlns:a="http://schemas.openxmlformats.org/drawingml/2006/main">
            <a:pPr>
              <a:defRPr sz="2025">
                <a:solidFill>
                  <a:schemeClr val="tx1"/>
                </a:solidFill>
              </a:defRPr>
            </a:pPr>
            <a:r>
              <a:rPr sz="2025">
                <a:solidFill>
                  <a:schemeClr val="tx1"/>
                </a:solidFill>
              </a:rPr>
              <a:t>[Replace with content]</a:t>
            </a:r>
          </a:p>
        </p:txBody>
      </p:sp>
    </p:spTree>
  </p:cSld>
</p:sldLayout>
</file>

<file path=ppt/slideLayouts/slideLayout11.xml><?xml version="1.0" encoding="utf-8"?>
<p:sldLayout xmlns:p="http://schemas.openxmlformats.org/presentationml/2006/main">
  <p:cSld name="05 Two Columns">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2DB1B49B-903B-4763-A3F8-6316D93763B5}"/>
              </a:ext>
            </a:extLst>
          </p:cNvPr>
          <p:cNvPicPr>
            <a:picLocks xmlns:a="http://schemas.openxmlformats.org/drawingml/2006/main" noChangeAspect="1"/>
          </p:cNvPicPr>
          <p:nvPr/>
        </p:nvPicPr>
        <p:blipFill>
          <a:blip xmlns:r="http://schemas.openxmlformats.org/officeDocument/2006/relationships" xmlns:a="http://schemas.openxmlformats.org/drawingml/2006/main" r:embed="Rf1de68665da2460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A2D1C1C-5B3E-4259-A507-FECD18598B2D}"/>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94997F6-7BDC-4B75-A696-863F16765654}"/>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AE972CE9-7232-4DFC-9BEF-C755827B3904}"/>
              </a:ext>
            </a:extLst>
          </p:cNvPr>
          <p:cNvSpPr>
            <a:spLocks xmlns:a="http://schemas.openxmlformats.org/drawingml/2006/main" noGrp="1"/>
          </p:cNvSpPr>
          <p:nvPr>
            <p:ph type="body" idx="1"/>
          </p:nvPr>
        </p:nvSpPr>
        <p:spPr>
          <a:xfrm xmlns:a="http://schemas.openxmlformats.org/drawingml/2006/main">
            <a:off x="6858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6629F83F-72FA-48E8-BC8E-75C189A05B13}"/>
              </a:ext>
            </a:extLst>
          </p:cNvPr>
          <p:cNvSpPr>
            <a:spLocks xmlns:a="http://schemas.openxmlformats.org/drawingml/2006/main" noGrp="1"/>
          </p:cNvSpPr>
          <p:nvPr>
            <p:ph type="body" idx="2"/>
          </p:nvPr>
        </p:nvSpPr>
        <p:spPr>
          <a:xfrm xmlns:a="http://schemas.openxmlformats.org/drawingml/2006/main">
            <a:off x="6438900" y="2047875"/>
            <a:ext cx="5067300" cy="33337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2.xml><?xml version="1.0" encoding="utf-8"?>
<p:sldLayout xmlns:p="http://schemas.openxmlformats.org/presentationml/2006/main">
  <p:cSld name="06 Offerin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504C124D-6B65-4C2D-8A37-252B07A30132}"/>
              </a:ext>
            </a:extLst>
          </p:cNvPr>
          <p:cNvPicPr>
            <a:picLocks xmlns:a="http://schemas.openxmlformats.org/drawingml/2006/main" noChangeAspect="1"/>
          </p:cNvPicPr>
          <p:nvPr/>
        </p:nvPicPr>
        <p:blipFill>
          <a:blip xmlns:r="http://schemas.openxmlformats.org/officeDocument/2006/relationships" xmlns:a="http://schemas.openxmlformats.org/drawingml/2006/main" r:embed="R681a98542d40472f"/>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40B2F35-9AEC-43A2-BE69-C18C8CEAA2D1}"/>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F0AEFED-FFDD-47A7-AEA7-26363156A979}"/>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8D0AC503-9F9D-4ED3-B877-E6363B792BB5}"/>
              </a:ext>
            </a:extLst>
          </p:cNvPr>
          <p:cNvSpPr>
            <a:spLocks xmlns:a="http://schemas.openxmlformats.org/drawingml/2006/main" noGrp="1"/>
          </p:cNvSpPr>
          <p:nvPr>
            <p:ph type="body" idx="1"/>
          </p:nvPr>
        </p:nvSpPr>
        <p:spPr>
          <a:xfrm xmlns:a="http://schemas.openxmlformats.org/drawingml/2006/main">
            <a:off x="685800" y="2047875"/>
            <a:ext cx="52387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
        <p:nvSpPr>
          <p:cNvPr id="5" name="placeholder_3">
            <a:extLst xmlns:a="http://schemas.openxmlformats.org/drawingml/2006/main">
              <a:ext uri="{FF2B5EF4-FFF2-40B4-BE49-F238E27FC236}">
                <a16:creationId xmlns:a16="http://schemas.microsoft.com/office/drawing/2014/main" id="{1AACCEF8-AFA9-4736-B70E-4537D3E3CB6C}"/>
              </a:ext>
            </a:extLst>
          </p:cNvPr>
          <p:cNvSpPr>
            <a:spLocks xmlns:a="http://schemas.openxmlformats.org/drawingml/2006/main" noGrp="1"/>
          </p:cNvSpPr>
          <p:nvPr>
            <p:ph type="body" idx="2"/>
          </p:nvPr>
        </p:nvSpPr>
        <p:spPr>
          <a:xfrm xmlns:a="http://schemas.openxmlformats.org/drawingml/2006/main">
            <a:off x="6762750" y="2047875"/>
            <a:ext cx="4743450" cy="3524250"/>
          </a:xfrm>
          <a:prstGeom xmlns:a="http://schemas.openxmlformats.org/drawingml/2006/main" prst="rect">
            <a:avLst/>
          </a:prstGeom>
        </p:spPr>
        <p:txBody>
          <a:bodyPr xmlns:a="http://schemas.openxmlformats.org/drawingml/2006/main"/>
          <a:lstStyle xmlns:a="http://schemas.openxmlformats.org/drawingml/2006/main">
            <a:defPPr>
              <a:defRPr sz="1950">
                <a:solidFill>
                  <a:schemeClr val="tx1"/>
                </a:solidFill>
              </a:defRPr>
            </a:defPPr>
          </a:lstStyle>
          <a:p xmlns:a="http://schemas.openxmlformats.org/drawingml/2006/main">
            <a:pPr>
              <a:defRPr sz="1950">
                <a:solidFill>
                  <a:schemeClr val="tx1"/>
                </a:solidFill>
              </a:defRPr>
            </a:pPr>
            <a:r>
              <a:rPr sz="1950">
                <a:solidFill>
                  <a:schemeClr val="tx1"/>
                </a:solidFill>
              </a:rPr>
              <a:t>[Replace with content]</a:t>
            </a:r>
          </a:p>
        </p:txBody>
      </p:sp>
    </p:spTree>
  </p:cSld>
</p:sldLayout>
</file>

<file path=ppt/slideLayouts/slideLayout13.xml><?xml version="1.0" encoding="utf-8"?>
<p:sldLayout xmlns:p="http://schemas.openxmlformats.org/presentationml/2006/main">
  <p:cSld name="07 Architecture">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91669C74-9630-4765-8276-43DA682C4B6A}"/>
              </a:ext>
            </a:extLst>
          </p:cNvPr>
          <p:cNvPicPr>
            <a:picLocks xmlns:a="http://schemas.openxmlformats.org/drawingml/2006/main" noChangeAspect="1"/>
          </p:cNvPicPr>
          <p:nvPr/>
        </p:nvPicPr>
        <p:blipFill>
          <a:blip xmlns:r="http://schemas.openxmlformats.org/officeDocument/2006/relationships" xmlns:a="http://schemas.openxmlformats.org/drawingml/2006/main" r:embed="R53c158dd22bd4552"/>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00B7F6B-71B3-44A7-9E33-5E9A576EC207}"/>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EA8E1A4E-26A5-4B3C-8BC2-019693C1AE16}"/>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D46CD490-AA7C-4C2B-9541-660D1985190B}"/>
              </a:ext>
            </a:extLst>
          </p:cNvPr>
          <p:cNvSpPr>
            <a:spLocks xmlns:a="http://schemas.openxmlformats.org/drawingml/2006/main" noGrp="1"/>
          </p:cNvSpPr>
          <p:nvPr>
            <p:ph type="body" idx="1"/>
          </p:nvPr>
        </p:nvSpPr>
        <p:spPr>
          <a:xfrm xmlns:a="http://schemas.openxmlformats.org/drawingml/2006/main">
            <a:off x="685800" y="2000250"/>
            <a:ext cx="7429500" cy="3714750"/>
          </a:xfrm>
          <a:prstGeom xmlns:a="http://schemas.openxmlformats.org/drawingml/2006/main" prst="rect">
            <a:avLst/>
          </a:prstGeom>
        </p:spPr>
        <p:txBody>
          <a:bodyPr xmlns:a="http://schemas.openxmlformats.org/drawingml/2006/main"/>
          <a:lstStyle xmlns:a="http://schemas.openxmlformats.org/drawingml/2006/main">
            <a:defPPr>
              <a:defRPr sz="2400">
                <a:solidFill>
                  <a:schemeClr val="accent2"/>
                </a:solidFill>
              </a:defRPr>
            </a:defPPr>
          </a:lstStyle>
          <a:p xmlns:a="http://schemas.openxmlformats.org/drawingml/2006/main">
            <a:pPr>
              <a:defRPr sz="2400">
                <a:solidFill>
                  <a:schemeClr val="accent2"/>
                </a:solidFill>
              </a:defRPr>
            </a:pPr>
            <a:r>
              <a:rPr sz="2400">
                <a:solidFill>
                  <a:schemeClr val="accent2"/>
                </a:solidFill>
              </a:rPr>
              <a:t>[Replace with content]</a:t>
            </a:r>
          </a:p>
        </p:txBody>
      </p:sp>
      <p:sp>
        <p:nvSpPr>
          <p:cNvPr id="5" name="placeholder_3">
            <a:extLst xmlns:a="http://schemas.openxmlformats.org/drawingml/2006/main">
              <a:ext uri="{FF2B5EF4-FFF2-40B4-BE49-F238E27FC236}">
                <a16:creationId xmlns:a16="http://schemas.microsoft.com/office/drawing/2014/main" id="{35F0A514-67DC-4714-94F9-E5A638797CFB}"/>
              </a:ext>
            </a:extLst>
          </p:cNvPr>
          <p:cNvSpPr>
            <a:spLocks xmlns:a="http://schemas.openxmlformats.org/drawingml/2006/main" noGrp="1"/>
          </p:cNvSpPr>
          <p:nvPr>
            <p:ph type="body" idx="2"/>
          </p:nvPr>
        </p:nvSpPr>
        <p:spPr>
          <a:xfrm xmlns:a="http://schemas.openxmlformats.org/drawingml/2006/main">
            <a:off x="8801100" y="2000250"/>
            <a:ext cx="2705100" cy="371475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tx1"/>
                </a:solidFill>
              </a:defRPr>
            </a:defPPr>
          </a:lstStyle>
          <a:p xmlns:a="http://schemas.openxmlformats.org/drawingml/2006/main">
            <a:pPr>
              <a:defRPr sz="1800">
                <a:solidFill>
                  <a:schemeClr val="tx1"/>
                </a:solidFill>
              </a:defRPr>
            </a:pPr>
            <a:r>
              <a:rPr sz="1800">
                <a:solidFill>
                  <a:schemeClr val="tx1"/>
                </a:solidFill>
              </a:rPr>
              <a:t>[Replace with content]</a:t>
            </a:r>
          </a:p>
        </p:txBody>
      </p:sp>
    </p:spTree>
  </p:cSld>
</p:sldLayout>
</file>

<file path=ppt/slideLayouts/slideLayout14.xml><?xml version="1.0" encoding="utf-8"?>
<p:sldLayout xmlns:p="http://schemas.openxmlformats.org/presentationml/2006/main">
  <p:cSld name="08 Table">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411616A-2AFD-4DC5-B643-38947C98981E}"/>
              </a:ext>
            </a:extLst>
          </p:cNvPr>
          <p:cNvPicPr>
            <a:picLocks xmlns:a="http://schemas.openxmlformats.org/drawingml/2006/main" noChangeAspect="1"/>
          </p:cNvPicPr>
          <p:nvPr/>
        </p:nvPicPr>
        <p:blipFill>
          <a:blip xmlns:r="http://schemas.openxmlformats.org/officeDocument/2006/relationships" xmlns:a="http://schemas.openxmlformats.org/drawingml/2006/main" r:embed="Rbc17ee00ae7c4253"/>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F9603B6-CCD9-4B49-8195-384AD2982ABA}"/>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1B252EB8-8E76-44FB-811B-454EB0BCFC20}"/>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E65C2D53-E410-43F9-9B8B-322B84CB4F17}"/>
              </a:ext>
            </a:extLst>
          </p:cNvPr>
          <p:cNvSpPr>
            <a:spLocks xmlns:a="http://schemas.openxmlformats.org/drawingml/2006/main" noGrp="1"/>
          </p:cNvSpPr>
          <p:nvPr>
            <p:ph type="body" idx="1"/>
          </p:nvPr>
        </p:nvSpPr>
        <p:spPr>
          <a:xfrm xmlns:a="http://schemas.openxmlformats.org/drawingml/2006/main">
            <a:off x="685800" y="5648325"/>
            <a:ext cx="10820400" cy="523875"/>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5.xml><?xml version="1.0" encoding="utf-8"?>
<p:sldLayout xmlns:p="http://schemas.openxmlformats.org/presentationml/2006/main">
  <p:cSld name="09 Delivery Plan">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97E1D151-E620-4600-8202-38F279D77B52}"/>
              </a:ext>
            </a:extLst>
          </p:cNvPr>
          <p:cNvPicPr>
            <a:picLocks xmlns:a="http://schemas.openxmlformats.org/drawingml/2006/main" noChangeAspect="1"/>
          </p:cNvPicPr>
          <p:nvPr/>
        </p:nvPicPr>
        <p:blipFill>
          <a:blip xmlns:r="http://schemas.openxmlformats.org/officeDocument/2006/relationships" xmlns:a="http://schemas.openxmlformats.org/drawingml/2006/main" r:embed="Rfd22619079854251"/>
          <a:stretch xmlns:a="http://schemas.openxmlformats.org/drawingml/2006/main"/>
        </p:blipFill>
        <p:spPr>
          <a:xfrm xmlns:a="http://schemas.openxmlformats.org/drawingml/2006/main">
            <a:off x="9658538" y="400050"/>
            <a:ext cx="1847474" cy="33077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E12C82A-37E1-4805-9D1D-8731180022D5}"/>
              </a:ext>
            </a:extLst>
          </p:cNvPr>
          <p:cNvSpPr>
            <a:spLocks xmlns:a="http://schemas.openxmlformats.org/drawingml/2006/main" noGrp="1"/>
          </p:cNvSpPr>
          <p:nvPr/>
        </p:nvSpPr>
        <p:spPr>
          <a:xfrm xmlns:a="http://schemas.openxmlformats.org/drawingml/2006/main">
            <a:off x="685800" y="6324600"/>
            <a:ext cx="8096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chemeClr val="tx2"/>
                </a:solidFill>
              </a:defRPr>
            </a:defPPr>
          </a:lstStyle>
          <a:p xmlns:a="http://schemas.openxmlformats.org/drawingml/2006/main">
            <a:pPr>
              <a:defRPr sz="1200" b="0">
                <a:solidFill>
                  <a:schemeClr val="tx2"/>
                </a:solidFill>
              </a:defRPr>
            </a:pPr>
            <a:r>
              <a:rPr sz="1200" b="0">
                <a:solidFill>
                  <a:schemeClr val="tx2"/>
                </a:solidFill>
              </a:rPr>
              <a:t>[Client / project]   ·   [Date]</a:t>
            </a:r>
          </a:p>
        </p:txBody>
      </p:sp>
      <p:sp>
        <p:nvSpPr>
          <p:cNvPr id="3" name="placeholder_1">
            <a:extLst xmlns:a="http://schemas.openxmlformats.org/drawingml/2006/main">
              <a:ext uri="{FF2B5EF4-FFF2-40B4-BE49-F238E27FC236}">
                <a16:creationId xmlns:a16="http://schemas.microsoft.com/office/drawing/2014/main" id="{CD9D558D-C901-4558-84B8-EA6D0316CA4A}"/>
              </a:ext>
            </a:extLst>
          </p:cNvPr>
          <p:cNvSpPr>
            <a:spLocks xmlns:a="http://schemas.openxmlformats.org/drawingml/2006/main" noGrp="1"/>
          </p:cNvSpPr>
          <p:nvPr>
            <p:ph type="title" idx="0"/>
          </p:nvPr>
        </p:nvSpPr>
        <p:spPr>
          <a:xfrm xmlns:a="http://schemas.openxmlformats.org/drawingml/2006/main">
            <a:off x="685800" y="1000125"/>
            <a:ext cx="10820400" cy="781050"/>
          </a:xfrm>
          <a:prstGeom xmlns:a="http://schemas.openxmlformats.org/drawingml/2006/main" prst="rect">
            <a:avLst/>
          </a:prstGeom>
        </p:spPr>
        <p:txBody>
          <a:bodyPr xmlns:a="http://schemas.openxmlformats.org/drawingml/2006/main"/>
          <a:lstStyle xmlns:a="http://schemas.openxmlformats.org/drawingml/2006/main">
            <a:defPPr>
              <a:defRPr sz="3300">
                <a:solidFill>
                  <a:schemeClr val="tx1"/>
                </a:solidFill>
              </a:defRPr>
            </a:defPPr>
          </a:lstStyle>
          <a:p xmlns:a="http://schemas.openxmlformats.org/drawingml/2006/main">
            <a:pPr>
              <a:defRPr sz="3300">
                <a:solidFill>
                  <a:schemeClr val="tx1"/>
                </a:solidFill>
              </a:defRPr>
            </a:pPr>
            <a:r>
              <a:rPr sz="3300">
                <a:solidFill>
                  <a:schemeClr val="tx1"/>
                </a:solidFill>
              </a:rPr>
              <a:t>[Slide title]</a:t>
            </a:r>
          </a:p>
        </p:txBody>
      </p:sp>
      <p:sp>
        <p:nvSpPr>
          <p:cNvPr id="4" name="placeholder_2">
            <a:extLst xmlns:a="http://schemas.openxmlformats.org/drawingml/2006/main">
              <a:ext uri="{FF2B5EF4-FFF2-40B4-BE49-F238E27FC236}">
                <a16:creationId xmlns:a16="http://schemas.microsoft.com/office/drawing/2014/main" id="{726972C0-DCFE-429F-AF12-8A55DB71DA59}"/>
              </a:ext>
            </a:extLst>
          </p:cNvPr>
          <p:cNvSpPr>
            <a:spLocks xmlns:a="http://schemas.openxmlformats.org/drawingml/2006/main" noGrp="1"/>
          </p:cNvSpPr>
          <p:nvPr>
            <p:ph type="body" idx="1"/>
          </p:nvPr>
        </p:nvSpPr>
        <p:spPr>
          <a:xfrm xmlns:a="http://schemas.openxmlformats.org/drawingml/2006/main">
            <a:off x="685800" y="5676900"/>
            <a:ext cx="10820400" cy="457200"/>
          </a:xfrm>
          <a:prstGeom xmlns:a="http://schemas.openxmlformats.org/drawingml/2006/main" prst="rect">
            <a:avLst/>
          </a:prstGeom>
        </p:spPr>
        <p:txBody>
          <a:bodyPr xmlns:a="http://schemas.openxmlformats.org/drawingml/2006/main"/>
          <a:lstStyle xmlns:a="http://schemas.openxmlformats.org/drawingml/2006/main">
            <a:defPPr>
              <a:defRPr sz="1500">
                <a:solidFill>
                  <a:schemeClr val="tx2"/>
                </a:solidFill>
              </a:defRPr>
            </a:defPPr>
          </a:lstStyle>
          <a:p xmlns:a="http://schemas.openxmlformats.org/drawingml/2006/main">
            <a:pPr>
              <a:defRPr sz="1500">
                <a:solidFill>
                  <a:schemeClr val="tx2"/>
                </a:solidFill>
              </a:defRPr>
            </a:pPr>
            <a:r>
              <a:rPr sz="1500">
                <a:solidFill>
                  <a:schemeClr val="tx2"/>
                </a:solidFill>
              </a:rPr>
              <a:t>[Replace with content]</a:t>
            </a:r>
          </a:p>
        </p:txBody>
      </p:sp>
    </p:spTree>
  </p:cSld>
</p:sldLayout>
</file>

<file path=ppt/slideLayouts/slideLayout16.xml><?xml version="1.0" encoding="utf-8"?>
<p:sldLayout xmlns:p="http://schemas.openxmlformats.org/presentationml/2006/main">
  <p:cSld name="10 Closin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481816C-04DC-4E5C-838B-663FCE8F6172}"/>
              </a:ext>
            </a:extLst>
          </p:cNvPr>
          <p:cNvPicPr>
            <a:picLocks xmlns:a="http://schemas.openxmlformats.org/drawingml/2006/main" noChangeAspect="1"/>
          </p:cNvPicPr>
          <p:nvPr/>
        </p:nvPicPr>
        <p:blipFill>
          <a:blip xmlns:r="http://schemas.openxmlformats.org/officeDocument/2006/relationships" xmlns:a="http://schemas.openxmlformats.org/drawingml/2006/main" r:embed="R96ee4aaf91124207"/>
          <a:stretch xmlns:a="http://schemas.openxmlformats.org/drawingml/2006/main"/>
        </p:blipFill>
        <p:spPr>
          <a:xfrm xmlns:a="http://schemas.openxmlformats.org/drawingml/2006/main">
            <a:off x="687813" y="552450"/>
            <a:ext cx="2567724" cy="460362"/>
          </a:xfrm>
          <a:prstGeom xmlns:a="http://schemas.openxmlformats.org/drawingml/2006/main" prst="rect">
            <a:avLst/>
          </a:prstGeom>
        </p:spPr>
      </p:pic>
      <p:sp>
        <p:nvSpPr>
          <p:cNvPr id="2" name="placeholder_1">
            <a:extLst xmlns:a="http://schemas.openxmlformats.org/drawingml/2006/main">
              <a:ext uri="{FF2B5EF4-FFF2-40B4-BE49-F238E27FC236}">
                <a16:creationId xmlns:a16="http://schemas.microsoft.com/office/drawing/2014/main" id="{4C4BFDA8-6E4E-40CE-AA3A-4D2DD5416920}"/>
              </a:ext>
            </a:extLst>
          </p:cNvPr>
          <p:cNvSpPr>
            <a:spLocks xmlns:a="http://schemas.openxmlformats.org/drawingml/2006/main" noGrp="1"/>
          </p:cNvSpPr>
          <p:nvPr>
            <p:ph type="title" idx="0"/>
          </p:nvPr>
        </p:nvSpPr>
        <p:spPr>
          <a:xfrm xmlns:a="http://schemas.openxmlformats.org/drawingml/2006/main">
            <a:off x="685800" y="2238375"/>
            <a:ext cx="10477500" cy="1143000"/>
          </a:xfrm>
          <a:prstGeom xmlns:a="http://schemas.openxmlformats.org/drawingml/2006/main" prst="rect">
            <a:avLst/>
          </a:prstGeom>
        </p:spPr>
        <p:txBody>
          <a:bodyPr xmlns:a="http://schemas.openxmlformats.org/drawingml/2006/main"/>
          <a:lstStyle xmlns:a="http://schemas.openxmlformats.org/drawingml/2006/main">
            <a:defPPr>
              <a:defRPr sz="4800">
                <a:solidFill>
                  <a:schemeClr val="lt1"/>
                </a:solidFill>
              </a:defRPr>
            </a:defPPr>
          </a:lstStyle>
          <a:p xmlns:a="http://schemas.openxmlformats.org/drawingml/2006/main">
            <a:pPr>
              <a:defRPr sz="4800">
                <a:solidFill>
                  <a:schemeClr val="lt1"/>
                </a:solidFill>
              </a:defRPr>
            </a:pPr>
            <a:r>
              <a:rPr sz="4800">
                <a:solidFill>
                  <a:schemeClr val="lt1"/>
                </a:solidFill>
              </a:rPr>
              <a:t>[Slide title]</a:t>
            </a:r>
          </a:p>
        </p:txBody>
      </p:sp>
      <p:sp>
        <p:nvSpPr>
          <p:cNvPr id="3" name="placeholder_2">
            <a:extLst xmlns:a="http://schemas.openxmlformats.org/drawingml/2006/main">
              <a:ext uri="{FF2B5EF4-FFF2-40B4-BE49-F238E27FC236}">
                <a16:creationId xmlns:a16="http://schemas.microsoft.com/office/drawing/2014/main" id="{A4389B62-D467-4DBA-92F0-2B6671280FBD}"/>
              </a:ext>
            </a:extLst>
          </p:cNvPr>
          <p:cNvSpPr>
            <a:spLocks xmlns:a="http://schemas.openxmlformats.org/drawingml/2006/main" noGrp="1"/>
          </p:cNvSpPr>
          <p:nvPr>
            <p:ph type="body" idx="1"/>
          </p:nvPr>
        </p:nvSpPr>
        <p:spPr>
          <a:xfrm xmlns:a="http://schemas.openxmlformats.org/drawingml/2006/main">
            <a:off x="685800" y="3876675"/>
            <a:ext cx="10477500" cy="1000125"/>
          </a:xfrm>
          <a:prstGeom xmlns:a="http://schemas.openxmlformats.org/drawingml/2006/main" prst="rect">
            <a:avLst/>
          </a:prstGeom>
        </p:spPr>
        <p:txBody>
          <a:bodyPr xmlns:a="http://schemas.openxmlformats.org/drawingml/2006/main"/>
          <a:lstStyle xmlns:a="http://schemas.openxmlformats.org/drawingml/2006/main">
            <a:defPPr>
              <a:defRPr sz="2250">
                <a:solidFill>
                  <a:schemeClr val="accent3"/>
                </a:solidFill>
              </a:defRPr>
            </a:defPPr>
          </a:lstStyle>
          <a:p xmlns:a="http://schemas.openxmlformats.org/drawingml/2006/main">
            <a:pPr>
              <a:defRPr sz="2250">
                <a:solidFill>
                  <a:schemeClr val="accent3"/>
                </a:solidFill>
              </a:defRPr>
            </a:pPr>
            <a:r>
              <a:rPr sz="2250">
                <a:solidFill>
                  <a:schemeClr val="accent3"/>
                </a:solidFill>
              </a:rPr>
              <a:t>[Replace with content]</a:t>
            </a:r>
          </a:p>
        </p:txBody>
      </p:sp>
      <p:sp>
        <p:nvSpPr>
          <p:cNvPr id="4" name="placeholder_3">
            <a:extLst xmlns:a="http://schemas.openxmlformats.org/drawingml/2006/main">
              <a:ext uri="{FF2B5EF4-FFF2-40B4-BE49-F238E27FC236}">
                <a16:creationId xmlns:a16="http://schemas.microsoft.com/office/drawing/2014/main" id="{A2EFECE1-97EE-4C2A-8563-A64ECD2E3E65}"/>
              </a:ext>
            </a:extLst>
          </p:cNvPr>
          <p:cNvSpPr>
            <a:spLocks xmlns:a="http://schemas.openxmlformats.org/drawingml/2006/main" noGrp="1"/>
          </p:cNvSpPr>
          <p:nvPr>
            <p:ph type="body" idx="2"/>
          </p:nvPr>
        </p:nvSpPr>
        <p:spPr>
          <a:xfrm xmlns:a="http://schemas.openxmlformats.org/drawingml/2006/main">
            <a:off x="685800" y="5524500"/>
            <a:ext cx="10477500" cy="571500"/>
          </a:xfrm>
          <a:prstGeom xmlns:a="http://schemas.openxmlformats.org/drawingml/2006/main" prst="rect">
            <a:avLst/>
          </a:prstGeom>
        </p:spPr>
        <p:txBody>
          <a:bodyPr xmlns:a="http://schemas.openxmlformats.org/drawingml/2006/main"/>
          <a:lstStyle xmlns:a="http://schemas.openxmlformats.org/drawingml/2006/main">
            <a:defPPr>
              <a:defRPr sz="1800">
                <a:solidFill>
                  <a:schemeClr val="lt1"/>
                </a:solidFill>
              </a:defRPr>
            </a:defPPr>
          </a:lstStyle>
          <a:p xmlns:a="http://schemas.openxmlformats.org/drawingml/2006/main">
            <a:pPr>
              <a:defRPr sz="1800">
                <a:solidFill>
                  <a:schemeClr val="lt1"/>
                </a:solidFill>
              </a:defRPr>
            </a:pPr>
            <a:r>
              <a:rPr sz="1800">
                <a:solidFill>
                  <a:schemeClr val="lt1"/>
                </a:solidFill>
              </a:rPr>
              <a:t>[Replace with content]</a:t>
            </a:r>
          </a:p>
        </p:txBody>
      </p:sp>
    </p:spTree>
  </p:cSld>
</p:sldLayout>
</file>

<file path=ppt/slideMasters/_rels/slideMaster1.xml.rels><?xml version='1.0' encoding='UTF-8' standalone='yes'?>
<Relationships xmlns="http://schemas.openxmlformats.org/package/2006/relationships"><Relationship Id="R35648cb6e9984541" Type="http://schemas.openxmlformats.org/officeDocument/2006/relationships/slideLayout" Target="../slideLayouts/slideLayout3.xml"/><Relationship Id="R8f1bf2f0f8464e84" Type="http://schemas.openxmlformats.org/officeDocument/2006/relationships/slideLayout" Target="../slideLayouts/slideLayout1.xml"/><Relationship Id="Ra52babe339764543" Type="http://schemas.openxmlformats.org/officeDocument/2006/relationships/slideLayout" Target="../slideLayouts/slideLayout5.xml"/><Relationship Id="Rc147ea9fb0f543b1" Type="http://schemas.openxmlformats.org/officeDocument/2006/relationships/slideLayout" Target="../slideLayouts/slideLayout4.xml"/><Relationship Id="Re465f5df15ad44f5" Type="http://schemas.openxmlformats.org/officeDocument/2006/relationships/slideLayout" Target="../slideLayouts/slideLayout6.xml"/><Relationship Id="Re9fc826fb18a4f15" Type="http://schemas.openxmlformats.org/officeDocument/2006/relationships/slideLayout" Target="../slideLayouts/slideLayout2.xml"/><Relationship Id="Rf416159d631a469e"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2a5f1ca95513402a" Type="http://schemas.openxmlformats.org/officeDocument/2006/relationships/slideLayout" Target="../slideLayouts/slideLayout14.xml"/><Relationship Id="R2eeacb68d2144397" Type="http://schemas.openxmlformats.org/officeDocument/2006/relationships/slideLayout" Target="../slideLayouts/slideLayout15.xml"/><Relationship Id="R49bfac7664ba44c0" Type="http://schemas.openxmlformats.org/officeDocument/2006/relationships/theme" Target="theme/theme3.xml"/><Relationship Id="R8f2c27fe36c147d3" Type="http://schemas.openxmlformats.org/officeDocument/2006/relationships/slideLayout" Target="../slideLayouts/slideLayout12.xml"/><Relationship Id="R94a7b8a46c4f4bde" Type="http://schemas.openxmlformats.org/officeDocument/2006/relationships/slideLayout" Target="../slideLayouts/slideLayout10.xml"/><Relationship Id="Ra82fbf657a2f48ee" Type="http://schemas.openxmlformats.org/officeDocument/2006/relationships/slideLayout" Target="../slideLayouts/slideLayout11.xml"/><Relationship Id="Rde438d9eb6954fbf" Type="http://schemas.openxmlformats.org/officeDocument/2006/relationships/slideLayout" Target="../slideLayouts/slideLayout13.xml"/><Relationship Id="Ref66cbd7649342a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79ea0f8627af41f6" Type="http://schemas.openxmlformats.org/officeDocument/2006/relationships/slideLayout" Target="../slideLayouts/slideLayout7.xml"/><Relationship Id="R7eb32b989c4847f8" Type="http://schemas.openxmlformats.org/officeDocument/2006/relationships/theme" Target="theme/theme4.xml"/><Relationship Id="Rda88ffd24a5f43ce" Type="http://schemas.openxmlformats.org/officeDocument/2006/relationships/slideLayout" Target="../slideLayouts/slideLayout16.xml"/></Relationships>
</file>

<file path=ppt/slideMasters/_rels/slideMaster4.xml.rels><?xml version='1.0' encoding='UTF-8' standalone='yes'?>
<Relationships xmlns="http://schemas.openxmlformats.org/package/2006/relationships"><Relationship Id="R2578da971f074f4d" Type="http://schemas.openxmlformats.org/officeDocument/2006/relationships/theme" Target="theme/theme5.xml"/><Relationship Id="Rdb68f69021dd4ee5" Type="http://schemas.openxmlformats.org/officeDocument/2006/relationships/slideLayout" Target="../slideLayouts/slideLayout9.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f1bf2f0f8464e84"/>
    <p:sldLayoutId xmlns:r="http://schemas.openxmlformats.org/officeDocument/2006/relationships" id="2147483650" r:id="Re9fc826fb18a4f15"/>
    <p:sldLayoutId xmlns:r="http://schemas.openxmlformats.org/officeDocument/2006/relationships" id="2147483651" r:id="R35648cb6e9984541"/>
    <p:sldLayoutId xmlns:r="http://schemas.openxmlformats.org/officeDocument/2006/relationships" id="2147483652" r:id="Rc147ea9fb0f543b1"/>
    <p:sldLayoutId xmlns:r="http://schemas.openxmlformats.org/officeDocument/2006/relationships" id="2147483653" r:id="Ra52babe339764543"/>
    <p:sldLayoutId xmlns:r="http://schemas.openxmlformats.org/officeDocument/2006/relationships" id="2147483654" r:id="Re465f5df15ad44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2.xml><?xml version="1.0" encoding="utf-8"?>
<p:sldMaster xmlns:p="http://schemas.openxmlformats.org/presentationml/2006/main">
  <p:cSld name="Cognizant Light">
    <p:bg>
      <p:bgPr>
        <a:solidFill xmlns:a="http://schemas.openxmlformats.org/drawingml/2006/main">
          <a:schemeClr val="bg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6" r:id="Ref66cbd7649342a4"/>
    <p:sldLayoutId xmlns:r="http://schemas.openxmlformats.org/officeDocument/2006/relationships" id="2147483657" r:id="R94a7b8a46c4f4bde"/>
    <p:sldLayoutId xmlns:r="http://schemas.openxmlformats.org/officeDocument/2006/relationships" id="2147483658" r:id="Ra82fbf657a2f48ee"/>
    <p:sldLayoutId xmlns:r="http://schemas.openxmlformats.org/officeDocument/2006/relationships" id="2147483659" r:id="R8f2c27fe36c147d3"/>
    <p:sldLayoutId xmlns:r="http://schemas.openxmlformats.org/officeDocument/2006/relationships" id="2147483660" r:id="Rde438d9eb6954fbf"/>
    <p:sldLayoutId xmlns:r="http://schemas.openxmlformats.org/officeDocument/2006/relationships" id="2147483661" r:id="R2a5f1ca95513402a"/>
    <p:sldLayoutId xmlns:r="http://schemas.openxmlformats.org/officeDocument/2006/relationships" id="2147483662" r:id="R2eeacb68d2144397"/>
  </p:sldLayoutIdLst>
</p:sldMaster>
</file>

<file path=ppt/slideMasters/slideMaster3.xml><?xml version="1.0" encoding="utf-8"?>
<p:sldMaster xmlns:p="http://schemas.openxmlformats.org/presentationml/2006/main">
  <p:cSld name="Cognizant Navy">
    <p:bg>
      <p:bgPr>
        <a:solidFill xmlns:a="http://schemas.openxmlformats.org/drawingml/2006/main">
          <a:schemeClr val="accent1"/>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4" r:id="R79ea0f8627af41f6"/>
    <p:sldLayoutId xmlns:r="http://schemas.openxmlformats.org/officeDocument/2006/relationships" id="2147483665" r:id="Rda88ffd24a5f43ce"/>
  </p:sldLayoutIdLst>
</p:sldMaster>
</file>

<file path=ppt/slideMasters/slideMaster4.xml><?xml version="1.0" encoding="utf-8"?>
<p:sldMaster xmlns:p="http://schemas.openxmlformats.org/presentationml/2006/main">
  <p:cSld name="Cognizant Cyan">
    <p:bg>
      <p:bgPr>
        <a:solidFill xmlns:a="http://schemas.openxmlformats.org/drawingml/2006/main">
          <a:schemeClr val="accent3"/>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67" r:id="Rdb68f69021dd4ee5"/>
  </p:sldLayoutIdLst>
</p:sldMaster>
</file>

<file path=ppt/slideMasters/theme/theme2.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4.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5.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6.xml"/><Relationship Id="rId4" Type="http://schemas.openxmlformats.org/officeDocument/2006/relationships/image" Target="../media/image1.png"/><Relationship Id="rId5" Type="http://schemas.openxmlformats.org/officeDocument/2006/relationships/image" Target="../media/image12.svg"/><Relationship Id="rId6" Type="http://schemas.openxmlformats.org/officeDocument/2006/relationships/image" Target="../media/image11.png"/><Relationship Id="rId7" Type="http://schemas.openxmlformats.org/officeDocument/2006/relationships/image" Target="../media/image14.svg"/><Relationship Id="rId8" Type="http://schemas.openxmlformats.org/officeDocument/2006/relationships/image" Target="../media/image13.png"/><Relationship Id="rId9" Type="http://schemas.openxmlformats.org/officeDocument/2006/relationships/image" Target="../media/image16.svg"/><Relationship Id="rId10" Type="http://schemas.openxmlformats.org/officeDocument/2006/relationships/image" Target="../media/image15.png"/><Relationship Id="rId11" Type="http://schemas.openxmlformats.org/officeDocument/2006/relationships/image" Target="../media/image18.svg"/><Relationship Id="rId12" Type="http://schemas.openxmlformats.org/officeDocument/2006/relationships/image" Target="../media/image17.png"/><Relationship Id="rId13" Type="http://schemas.openxmlformats.org/officeDocument/2006/relationships/image" Target="../media/image20.svg"/><Relationship Id="rId14" Type="http://schemas.openxmlformats.org/officeDocument/2006/relationships/image" Target="../media/image19.png"/><Relationship Id="rId15" Type="http://schemas.openxmlformats.org/officeDocument/2006/relationships/image" Target="../media/image22.svg"/><Relationship Id="rId16" Type="http://schemas.openxmlformats.org/officeDocument/2006/relationships/image" Target="../media/image21.png"/><Relationship Id="rId17" Type="http://schemas.openxmlformats.org/officeDocument/2006/relationships/image" Target="../media/image24.svg"/><Relationship Id="rId18" Type="http://schemas.openxmlformats.org/officeDocument/2006/relationships/image" Target="../media/image23.png"/><Relationship Id="rId19" Type="http://schemas.openxmlformats.org/officeDocument/2006/relationships/image" Target="../media/image2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2.xml"/><Relationship Id="rId4" Type="http://schemas.openxmlformats.org/officeDocument/2006/relationships/slide" Target="slide13.xml"/><Relationship Id="rId5" Type="http://schemas.openxmlformats.org/officeDocument/2006/relationships/slide" Target="slide14.xml"/><Relationship Id="rId6" Type="http://schemas.openxmlformats.org/officeDocument/2006/relationships/slide" Target="slide15.xml"/><Relationship Id="rId7" Type="http://schemas.openxmlformats.org/officeDocument/2006/relationships/slide" Target="slide16.xml"/><Relationship Id="rId8" Type="http://schemas.openxmlformats.org/officeDocument/2006/relationships/slide" Target="slide17.xml"/><Relationship Id="rId9" Type="http://schemas.openxmlformats.org/officeDocument/2006/relationships/slide" Target="slide18.xml"/><Relationship Id="rId10" Type="http://schemas.openxmlformats.org/officeDocument/2006/relationships/slide" Target="slide19.xml"/><Relationship Id="rId11" Type="http://schemas.openxmlformats.org/officeDocument/2006/relationships/slide" Target="slide20.xml"/><Relationship Id="rId12" Type="http://schemas.openxmlformats.org/officeDocument/2006/relationships/slide" Target="slide21.xml"/><Relationship Id="rId13" Type="http://schemas.openxmlformats.org/officeDocument/2006/relationships/slide" Target="slide22.xml"/><Relationship Id="rId14" Type="http://schemas.openxmlformats.org/officeDocument/2006/relationships/slide" Target="slide23.xml"/><Relationship Id="rId15" Type="http://schemas.openxmlformats.org/officeDocument/2006/relationships/slide" Target="slide24.xml"/><Relationship Id="rId16" Type="http://schemas.openxmlformats.org/officeDocument/2006/relationships/slide" Target="slide25.xml"/><Relationship Id="rId17" Type="http://schemas.openxmlformats.org/officeDocument/2006/relationships/slide" Target="slide26.xml"/><Relationship Id="rId18" Type="http://schemas.openxmlformats.org/officeDocument/2006/relationships/slide" Target="slide27.xml"/><Relationship Id="rId19" Type="http://schemas.openxmlformats.org/officeDocument/2006/relationships/slide" Target="slide28.xml"/><Relationship Id="rId20" Type="http://schemas.openxmlformats.org/officeDocument/2006/relationships/slide" Target="slide29.xml"/><Relationship Id="rId21" Type="http://schemas.openxmlformats.org/officeDocument/2006/relationships/slide" Target="slide30.xml"/><Relationship Id="rId22" Type="http://schemas.openxmlformats.org/officeDocument/2006/relationships/slide" Target="slide31.xml"/><Relationship Id="rId23" Type="http://schemas.openxmlformats.org/officeDocument/2006/relationships/slide" Target="slide32.xml"/><Relationship Id="rId24" Type="http://schemas.openxmlformats.org/officeDocument/2006/relationships/slide" Target="slide33.xml"/><Relationship Id="rId25" Type="http://schemas.openxmlformats.org/officeDocument/2006/relationships/slide" Target="slide34.xml"/><Relationship Id="rId26" Type="http://schemas.openxmlformats.org/officeDocument/2006/relationships/slide" Target="slide35.xml"/><Relationship Id="rId27" Type="http://schemas.openxmlformats.org/officeDocument/2006/relationships/slide" Target="slide36.xml"/><Relationship Id="rId28" Type="http://schemas.openxmlformats.org/officeDocument/2006/relationships/slide" Target="slide37.xml"/><Relationship Id="rId29" Type="http://schemas.openxmlformats.org/officeDocument/2006/relationships/slide" Target="slide38.xml"/><Relationship Id="rId30" Type="http://schemas.openxmlformats.org/officeDocument/2006/relationships/slide" Target="slide39.xml"/><Relationship Id="rId31" Type="http://schemas.openxmlformats.org/officeDocument/2006/relationships/slide" Target="slide4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3.xml"/><Relationship Id="rId4" Type="http://schemas.openxmlformats.org/officeDocument/2006/relationships/image" Target="../media/image13.png"/><Relationship Id="rId5" Type="http://schemas.openxmlformats.org/officeDocument/2006/relationships/image" Target="../media/image16.svg"/><Relationship Id="rId6" Type="http://schemas.openxmlformats.org/officeDocument/2006/relationships/image" Target="../media/image1.png"/><Relationship Id="rId7" Type="http://schemas.openxmlformats.org/officeDocument/2006/relationships/image" Target="../media/image12.svg"/><Relationship Id="rId8" Type="http://schemas.openxmlformats.org/officeDocument/2006/relationships/image" Target="../media/image11.png"/><Relationship Id="rId9" Type="http://schemas.openxmlformats.org/officeDocument/2006/relationships/image" Target="../media/image14.svg"/><Relationship Id="rId10" Type="http://schemas.openxmlformats.org/officeDocument/2006/relationships/image" Target="../media/image19.png"/><Relationship Id="rId11" Type="http://schemas.openxmlformats.org/officeDocument/2006/relationships/image" Target="../media/image22.svg"/><Relationship Id="rId12" Type="http://schemas.openxmlformats.org/officeDocument/2006/relationships/image" Target="../media/image21.png"/><Relationship Id="rId13" Type="http://schemas.openxmlformats.org/officeDocument/2006/relationships/image" Target="../media/image24.svg"/><Relationship Id="rId14" Type="http://schemas.openxmlformats.org/officeDocument/2006/relationships/image" Target="../media/image15.png"/><Relationship Id="rId15" Type="http://schemas.openxmlformats.org/officeDocument/2006/relationships/image" Target="../media/image18.svg"/><Relationship Id="rId16" Type="http://schemas.openxmlformats.org/officeDocument/2006/relationships/image" Target="../media/image17.png"/><Relationship Id="rId17" Type="http://schemas.openxmlformats.org/officeDocument/2006/relationships/image" Target="../media/image20.svg"/><Relationship Id="rId18" Type="http://schemas.openxmlformats.org/officeDocument/2006/relationships/image" Target="../media/image23.png"/><Relationship Id="rId19" Type="http://schemas.openxmlformats.org/officeDocument/2006/relationships/image" Target="../media/image26.svg"/><Relationship Id="rId20" Type="http://schemas.openxmlformats.org/officeDocument/2006/relationships/image" Target="../media/image25.png"/><Relationship Id="rId21" Type="http://schemas.openxmlformats.org/officeDocument/2006/relationships/image" Target="../media/image28.svg"/><Relationship Id="rId22" Type="http://schemas.openxmlformats.org/officeDocument/2006/relationships/slide" Target="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4.xml"/><Relationship Id="rId4"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5.xml"/><Relationship Id="rId4"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6.xml"/><Relationship Id="rId4" Type="http://schemas.openxmlformats.org/officeDocument/2006/relationships/slide" Target="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7.xml"/><Relationship Id="rId4" Type="http://schemas.openxmlformats.org/officeDocument/2006/relationships/slide" Target="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8.xml"/><Relationship Id="rId4" Type="http://schemas.openxmlformats.org/officeDocument/2006/relationships/slide" Target="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19.xml"/><Relationship Id="rId4" Type="http://schemas.openxmlformats.org/officeDocument/2006/relationships/slide" Target="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0.xml"/><Relationship Id="rId4" Type="http://schemas.openxmlformats.org/officeDocument/2006/relationships/image" Target="../media/image27.png"/><Relationship Id="rId5" Type="http://schemas.openxmlformats.org/officeDocument/2006/relationships/image" Target="../media/image30.svg"/><Relationship Id="rId6" Type="http://schemas.openxmlformats.org/officeDocument/2006/relationships/image" Target="../media/image29.png"/><Relationship Id="rId7" Type="http://schemas.openxmlformats.org/officeDocument/2006/relationships/image" Target="../media/image32.svg"/><Relationship Id="rId8" Type="http://schemas.openxmlformats.org/officeDocument/2006/relationships/image" Target="../media/image31.png"/><Relationship Id="rId9" Type="http://schemas.openxmlformats.org/officeDocument/2006/relationships/image" Target="../media/image34.svg"/><Relationship Id="rId10" Type="http://schemas.openxmlformats.org/officeDocument/2006/relationships/image" Target="../media/image33.png"/><Relationship Id="rId11" Type="http://schemas.openxmlformats.org/officeDocument/2006/relationships/image" Target="../media/image36.svg"/><Relationship Id="rId12" Type="http://schemas.openxmlformats.org/officeDocument/2006/relationships/image" Target="../media/image35.png"/><Relationship Id="rId13" Type="http://schemas.openxmlformats.org/officeDocument/2006/relationships/image" Target="../media/image38.svg"/><Relationship Id="rId14" Type="http://schemas.openxmlformats.org/officeDocument/2006/relationships/image" Target="../media/image19.png"/><Relationship Id="rId15" Type="http://schemas.openxmlformats.org/officeDocument/2006/relationships/image" Target="../media/image22.svg"/><Relationship Id="rId16" Type="http://schemas.openxmlformats.org/officeDocument/2006/relationships/image" Target="../media/image37.png"/><Relationship Id="rId17" Type="http://schemas.openxmlformats.org/officeDocument/2006/relationships/image" Target="../media/image40.svg"/><Relationship Id="rId18" Type="http://schemas.openxmlformats.org/officeDocument/2006/relationships/image" Target="../media/image39.png"/><Relationship Id="rId19" Type="http://schemas.openxmlformats.org/officeDocument/2006/relationships/image" Target="../media/image42.svg"/><Relationship Id="rId20" Type="http://schemas.openxmlformats.org/officeDocument/2006/relationships/image" Target="../media/image41.png"/><Relationship Id="rId21" Type="http://schemas.openxmlformats.org/officeDocument/2006/relationships/image" Target="../media/image44.svg"/><Relationship Id="rId22" Type="http://schemas.openxmlformats.org/officeDocument/2006/relationships/image" Target="../media/image21.png"/><Relationship Id="rId23" Type="http://schemas.openxmlformats.org/officeDocument/2006/relationships/image" Target="../media/image24.svg"/><Relationship Id="rId24" Type="http://schemas.openxmlformats.org/officeDocument/2006/relationships/image" Target="../media/image43.png"/><Relationship Id="rId25" Type="http://schemas.openxmlformats.org/officeDocument/2006/relationships/image" Target="../media/image46.svg"/><Relationship Id="rId26" Type="http://schemas.openxmlformats.org/officeDocument/2006/relationships/image" Target="../media/image15.png"/><Relationship Id="rId27" Type="http://schemas.openxmlformats.org/officeDocument/2006/relationships/image" Target="../media/image18.svg"/><Relationship Id="rId28" Type="http://schemas.openxmlformats.org/officeDocument/2006/relationships/slide" Target="slide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1.xml"/><Relationship Id="rId4" Type="http://schemas.openxmlformats.org/officeDocument/2006/relationships/slide" Target="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2.xml"/><Relationship Id="rId4" Type="http://schemas.openxmlformats.org/officeDocument/2006/relationships/slide" Target="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3.xml"/><Relationship Id="rId4" Type="http://schemas.openxmlformats.org/officeDocument/2006/relationships/slide" Target="slide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4.xml"/><Relationship Id="rId4" Type="http://schemas.openxmlformats.org/officeDocument/2006/relationships/slide" Target="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5.xml"/><Relationship Id="rId4" Type="http://schemas.openxmlformats.org/officeDocument/2006/relationships/image" Target="../media/image19.png"/><Relationship Id="rId5" Type="http://schemas.openxmlformats.org/officeDocument/2006/relationships/image" Target="../media/image22.svg"/><Relationship Id="rId6" Type="http://schemas.openxmlformats.org/officeDocument/2006/relationships/image" Target="../media/image29.png"/><Relationship Id="rId7" Type="http://schemas.openxmlformats.org/officeDocument/2006/relationships/image" Target="../media/image32.svg"/><Relationship Id="rId8" Type="http://schemas.openxmlformats.org/officeDocument/2006/relationships/image" Target="../media/image39.png"/><Relationship Id="rId9" Type="http://schemas.openxmlformats.org/officeDocument/2006/relationships/image" Target="../media/image42.svg"/><Relationship Id="rId10" Type="http://schemas.openxmlformats.org/officeDocument/2006/relationships/slide" Target="slide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6.xml"/><Relationship Id="rId4" Type="http://schemas.openxmlformats.org/officeDocument/2006/relationships/image" Target="../media/image31.png"/><Relationship Id="rId5" Type="http://schemas.openxmlformats.org/officeDocument/2006/relationships/image" Target="../media/image34.svg"/><Relationship Id="rId6" Type="http://schemas.openxmlformats.org/officeDocument/2006/relationships/image" Target="../media/image37.png"/><Relationship Id="rId7" Type="http://schemas.openxmlformats.org/officeDocument/2006/relationships/image" Target="../media/image40.svg"/><Relationship Id="rId8" Type="http://schemas.openxmlformats.org/officeDocument/2006/relationships/image" Target="../media/image35.png"/><Relationship Id="rId9" Type="http://schemas.openxmlformats.org/officeDocument/2006/relationships/image" Target="../media/image38.svg"/><Relationship Id="rId10" Type="http://schemas.openxmlformats.org/officeDocument/2006/relationships/slide" Target="slide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7.xml"/><Relationship Id="rId4" Type="http://schemas.openxmlformats.org/officeDocument/2006/relationships/image" Target="../media/image45.png"/><Relationship Id="rId5" Type="http://schemas.openxmlformats.org/officeDocument/2006/relationships/image" Target="../media/image48.svg"/><Relationship Id="rId6" Type="http://schemas.openxmlformats.org/officeDocument/2006/relationships/image" Target="../media/image33.png"/><Relationship Id="rId7" Type="http://schemas.openxmlformats.org/officeDocument/2006/relationships/image" Target="../media/image36.svg"/><Relationship Id="rId8" Type="http://schemas.openxmlformats.org/officeDocument/2006/relationships/image" Target="../media/image35.png"/><Relationship Id="rId9" Type="http://schemas.openxmlformats.org/officeDocument/2006/relationships/image" Target="../media/image38.svg"/><Relationship Id="rId10" Type="http://schemas.openxmlformats.org/officeDocument/2006/relationships/image" Target="../media/image21.png"/><Relationship Id="rId11" Type="http://schemas.openxmlformats.org/officeDocument/2006/relationships/image" Target="../media/image24.svg"/><Relationship Id="rId12" Type="http://schemas.openxmlformats.org/officeDocument/2006/relationships/image" Target="../media/image47.png"/><Relationship Id="rId13" Type="http://schemas.openxmlformats.org/officeDocument/2006/relationships/image" Target="../media/image50.svg"/><Relationship Id="rId14" Type="http://schemas.openxmlformats.org/officeDocument/2006/relationships/slide" Target="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8.xml"/><Relationship Id="rId4" Type="http://schemas.openxmlformats.org/officeDocument/2006/relationships/image" Target="../media/image15.png"/><Relationship Id="rId5" Type="http://schemas.openxmlformats.org/officeDocument/2006/relationships/image" Target="../media/image18.svg"/><Relationship Id="rId6" Type="http://schemas.openxmlformats.org/officeDocument/2006/relationships/image" Target="../media/image1.png"/><Relationship Id="rId7" Type="http://schemas.openxmlformats.org/officeDocument/2006/relationships/image" Target="../media/image12.svg"/><Relationship Id="rId8" Type="http://schemas.openxmlformats.org/officeDocument/2006/relationships/image" Target="../media/image49.png"/><Relationship Id="rId9" Type="http://schemas.openxmlformats.org/officeDocument/2006/relationships/image" Target="../media/image52.svg"/><Relationship Id="rId10" Type="http://schemas.openxmlformats.org/officeDocument/2006/relationships/slide" Target="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29.xml"/><Relationship Id="rId4" Type="http://schemas.openxmlformats.org/officeDocument/2006/relationships/slide" Target="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0.xml"/><Relationship Id="rId4" Type="http://schemas.openxmlformats.org/officeDocument/2006/relationships/slide" Target="slide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1.xml"/><Relationship Id="rId4" Type="http://schemas.openxmlformats.org/officeDocument/2006/relationships/slide" Target="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2.xml"/><Relationship Id="rId4" Type="http://schemas.openxmlformats.org/officeDocument/2006/relationships/slide" Target="slide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3.xml"/><Relationship Id="rId4" Type="http://schemas.openxmlformats.org/officeDocument/2006/relationships/slide" Target="slide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4.xml"/><Relationship Id="rId4" Type="http://schemas.openxmlformats.org/officeDocument/2006/relationships/slide" Target="slide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5.xml"/><Relationship Id="rId4" Type="http://schemas.openxmlformats.org/officeDocument/2006/relationships/slide" Target="slide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6.xml"/><Relationship Id="rId4" Type="http://schemas.openxmlformats.org/officeDocument/2006/relationships/slide" Target="slide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7.xml"/><Relationship Id="rId4" Type="http://schemas.openxmlformats.org/officeDocument/2006/relationships/image" Target="../media/image51.png"/><Relationship Id="rId5" Type="http://schemas.openxmlformats.org/officeDocument/2006/relationships/hyperlink" Target="https://github.com/upendra25312/AI-Foundry-GTM-offering-/blob/main/architectures/15_multiple-agent-workflow-automation.png" TargetMode="External"/><Relationship Id="rId6" Type="http://schemas.openxmlformats.org/officeDocument/2006/relationships/hyperlink" Target="https://learn.microsoft.com/en-us/azure/architecture/ai-ml/idea/multiple-agent-workflow-automation" TargetMode="External"/><Relationship Id="rId7" Type="http://schemas.openxmlformats.org/officeDocument/2006/relationships/slide" Target="slide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8.xml"/><Relationship Id="rId4" Type="http://schemas.openxmlformats.org/officeDocument/2006/relationships/image" Target="../media/image53.png"/><Relationship Id="rId5" Type="http://schemas.openxmlformats.org/officeDocument/2006/relationships/hyperlink" Target="https://github.com/upendra25312/AI-Foundry-GTM-offering-/blob/main/architectures/14_agentic-rag.png" TargetMode="External"/><Relationship Id="rId6" Type="http://schemas.openxmlformats.org/officeDocument/2006/relationships/hyperlink" Target="https://learn.microsoft.com/en-us/azure/architecture/ai-ml/guide/rag/rag-agentic" TargetMode="External"/><Relationship Id="rId7" Type="http://schemas.openxmlformats.org/officeDocument/2006/relationships/slide" Target="slide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39.xml"/><Relationship Id="rId4" Type="http://schemas.openxmlformats.org/officeDocument/2006/relationships/image" Target="../media/image54.png"/><Relationship Id="rId5" Type="http://schemas.openxmlformats.org/officeDocument/2006/relationships/hyperlink" Target="https://github.com/upendra25312/AI-Foundry-GTM-offering-/blob/main/architectures/07_baseline-microsoft-foundry.png" TargetMode="External"/><Relationship Id="rId6" Type="http://schemas.openxmlformats.org/officeDocument/2006/relationships/hyperlink" Target="https://learn.microsoft.com/en-us/azure/architecture/ai-ml/architecture/baseline-microsoft-foundry-chat" TargetMode="External"/><Relationship Id="rId7" Type="http://schemas.openxmlformats.org/officeDocument/2006/relationships/slide" Target="slide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png"/><Relationship Id="rId3" Type="http://schemas.openxmlformats.org/officeDocument/2006/relationships/notesSlide" Target="../notesSlides/notesSlide40.xml"/><Relationship Id="rId4" Type="http://schemas.openxmlformats.org/officeDocument/2006/relationships/hyperlink" Target="https://learn.microsoft.com/en-us/azure/foundry/control-plane/how-to-manage-agents" TargetMode="External"/><Relationship Id="rId5" Type="http://schemas.openxmlformats.org/officeDocument/2006/relationships/hyperlink" Target="https://learn.microsoft.com/en-us/azure/foundry/control-plane/register-custom-agent" TargetMode="External"/><Relationship Id="rId6" Type="http://schemas.openxmlformats.org/officeDocument/2006/relationships/hyperlink" Target="https://learn.microsoft.com/en-us/azure/api-management/genai-gateway-capabilities" TargetMode="External"/><Relationship Id="rId7" Type="http://schemas.openxmlformats.org/officeDocument/2006/relationships/hyperlink" Target="https://learn.microsoft.com/en-us/azure/architecture/icons/" TargetMode="External"/><Relationship Id="rId8" Type="http://schemas.openxmlformats.org/officeDocument/2006/relationships/hyperlink" Target="https://az-icons.com/" TargetMode="External"/><Relationship Id="rId9" Type="http://schemas.openxmlformats.org/officeDocument/2006/relationships/hyperlink" Target="https://learn.microsoft.com/en-us/azure/architecture/browse/" TargetMode="External"/><Relationship Id="rId10" Type="http://schemas.openxmlformats.org/officeDocument/2006/relationships/hyperlink" Target="https://learn.microsoft.com/en-us/azure/foundry/observability/how-to/how-to-monitor-agents-dashboard" TargetMode="External"/><Relationship Id="rId11" Type="http://schemas.openxmlformats.org/officeDocument/2006/relationships/hyperlink" Target="https://learn.microsoft.com/en-us/azure/api-management/send-request-policy" TargetMode="External"/><Relationship Id="rId12" Type="http://schemas.openxmlformats.org/officeDocument/2006/relationships/hyperlink" Target="https://learn.microsoft.com/en-us/azure/api-management/authentication-managed-identity-policy" TargetMode="External"/><Relationship Id="rId13" Type="http://schemas.openxmlformats.org/officeDocument/2006/relationships/hyperlink" Target="https://learn.microsoft.com/en-us/azure/architecture/ai-ml/guide/rag/rag-agentic" TargetMode="External"/><Relationship Id="rId14" Type="http://schemas.openxmlformats.org/officeDocument/2006/relationships/hyperlink" Target="https://learn.microsoft.com/en-us/azure/architecture/ai-ml/idea/multiple-agent-workflow-automation" TargetMode="External"/><Relationship Id="rId15" Type="http://schemas.openxmlformats.org/officeDocument/2006/relationships/hyperlink" Target="https://github.com/upendra25312/AI-Foundry-GTM-offering-/blob/main/CIS_Infra_Azure_AI_Platform_GTM_Proposal_V3.docx" TargetMode="External"/><Relationship Id="rId16" Type="http://schemas.openxmlformats.org/officeDocument/2006/relationships/slide" Target="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2194560" cy="393458"/>
          </a:xfrm>
          <a:prstGeom prst="rect">
            <a:avLst/>
          </a:prstGeom>
        </p:spPr>
      </p:pic>
      <p:sp>
        <p:nvSpPr>
          <p:cNvPr id="4" name="TextBox 3"/>
          <p:cNvSpPr txBox="1"/>
          <p:nvPr/>
        </p:nvSpPr>
        <p:spPr>
          <a:xfrm>
            <a:off x="548640" y="1417320"/>
            <a:ext cx="10515600" cy="320040"/>
          </a:xfrm>
          <a:prstGeom prst="rect">
            <a:avLst/>
          </a:prstGeom>
          <a:noFill/>
        </p:spPr>
        <p:txBody>
          <a:bodyPr wrap="square" lIns="0" rIns="0" tIns="0" bIns="0" anchor="t">
            <a:noAutofit/>
          </a:bodyPr>
          <a:lstStyle/>
          <a:p>
            <a:pPr algn="l"/>
            <a:r>
              <a:rPr sz="1200" b="1" i="0">
                <a:solidFill>
                  <a:srgbClr val="26EFE9"/>
                </a:solidFill>
                <a:latin typeface="Arial"/>
              </a:rPr>
              <a:t>CIS INFRA  ·  INTERNAL OFFERING PROPOSAL  ·  FOR SENIOR LEADERSHIP REVIEW</a:t>
            </a:r>
          </a:p>
        </p:txBody>
      </p:sp>
      <p:sp>
        <p:nvSpPr>
          <p:cNvPr id="5" name="Title"/>
          <p:cNvSpPr txBox="1"/>
          <p:nvPr/>
        </p:nvSpPr>
        <p:spPr>
          <a:xfrm>
            <a:off x="548640" y="2011680"/>
            <a:ext cx="10789920" cy="1737360"/>
          </a:xfrm>
          <a:prstGeom prst="rect">
            <a:avLst/>
          </a:prstGeom>
          <a:noFill/>
        </p:spPr>
        <p:txBody>
          <a:bodyPr wrap="square" lIns="0" rIns="0" anchor="b">
            <a:noAutofit/>
          </a:bodyPr>
          <a:lstStyle/>
          <a:p>
            <a:pPr algn="l"/>
            <a:r>
              <a:rPr sz="4400" b="1" i="0">
                <a:solidFill>
                  <a:srgbClr val="FFFFFF"/>
                </a:solidFill>
                <a:latin typeface="Arial"/>
              </a:rPr>
              <a:t>Agent Governance and Operations</a:t>
            </a:r>
          </a:p>
        </p:txBody>
      </p:sp>
      <p:sp>
        <p:nvSpPr>
          <p:cNvPr id="6" name="TextBox 5"/>
          <p:cNvSpPr txBox="1"/>
          <p:nvPr/>
        </p:nvSpPr>
        <p:spPr>
          <a:xfrm>
            <a:off x="548640" y="3886200"/>
            <a:ext cx="10789920" cy="822960"/>
          </a:xfrm>
          <a:prstGeom prst="rect">
            <a:avLst/>
          </a:prstGeom>
          <a:noFill/>
        </p:spPr>
        <p:txBody>
          <a:bodyPr wrap="square" lIns="0" rIns="0" tIns="0" bIns="0" anchor="t">
            <a:noAutofit/>
          </a:bodyPr>
          <a:lstStyle/>
          <a:p>
            <a:pPr algn="l"/>
            <a:r>
              <a:rPr sz="2400" b="0" i="0">
                <a:solidFill>
                  <a:srgbClr val="26EFE9"/>
                </a:solidFill>
                <a:latin typeface="Arial"/>
              </a:rPr>
              <a:t>Know every agent, observe how it is used, contain it when it misbehaves</a:t>
            </a:r>
          </a:p>
        </p:txBody>
      </p:sp>
      <p:sp>
        <p:nvSpPr>
          <p:cNvPr id="7" name="TextBox 6"/>
          <p:cNvSpPr txBox="1"/>
          <p:nvPr/>
        </p:nvSpPr>
        <p:spPr>
          <a:xfrm>
            <a:off x="548640" y="4892040"/>
            <a:ext cx="10789920" cy="411480"/>
          </a:xfrm>
          <a:prstGeom prst="rect">
            <a:avLst/>
          </a:prstGeom>
          <a:noFill/>
        </p:spPr>
        <p:txBody>
          <a:bodyPr wrap="square" lIns="0" rIns="0" tIns="0" bIns="0" anchor="t">
            <a:noAutofit/>
          </a:bodyPr>
          <a:lstStyle/>
          <a:p>
            <a:pPr algn="l"/>
            <a:r>
              <a:rPr sz="1600" b="0" i="0">
                <a:solidFill>
                  <a:srgbClr val="FFFFFF"/>
                </a:solidFill>
                <a:latin typeface="Arial"/>
              </a:rPr>
              <a:t>Azure agent catalogue, usage evidence and a tested containment path  ·  US, Europe, UK and Middle East pursuits</a:t>
            </a:r>
          </a:p>
        </p:txBody>
      </p:sp>
      <p:sp>
        <p:nvSpPr>
          <p:cNvPr id="8" name="TextBox 7"/>
          <p:cNvSpPr txBox="1"/>
          <p:nvPr/>
        </p:nvSpPr>
        <p:spPr>
          <a:xfrm>
            <a:off x="548640" y="5989320"/>
            <a:ext cx="7772400" cy="320040"/>
          </a:xfrm>
          <a:prstGeom prst="rect">
            <a:avLst/>
          </a:prstGeom>
          <a:noFill/>
        </p:spPr>
        <p:txBody>
          <a:bodyPr wrap="square" lIns="0" rIns="0" tIns="0" bIns="0" anchor="t">
            <a:noAutofit/>
          </a:bodyPr>
          <a:lstStyle/>
          <a:p>
            <a:pPr algn="l"/>
            <a:r>
              <a:rPr sz="1200" b="0" i="0">
                <a:solidFill>
                  <a:srgbClr val="C9C9E0"/>
                </a:solidFill>
                <a:latin typeface="Arial"/>
              </a:rPr>
              <a:t>11 Oct 2026  ·  Version 2.0  ·  Working proposal for leadership review</a:t>
            </a:r>
          </a:p>
        </p:txBody>
      </p:sp>
      <p:sp>
        <p:nvSpPr>
          <p:cNvPr id="9" name="TextBox 8"/>
          <p:cNvSpPr txBox="1"/>
          <p:nvPr/>
        </p:nvSpPr>
        <p:spPr>
          <a:xfrm>
            <a:off x="10881360" y="5989320"/>
            <a:ext cx="731520" cy="320040"/>
          </a:xfrm>
          <a:prstGeom prst="rect">
            <a:avLst/>
          </a:prstGeom>
          <a:noFill/>
        </p:spPr>
        <p:txBody>
          <a:bodyPr wrap="square" lIns="0" rIns="0" tIns="0" bIns="0" anchor="t">
            <a:noAutofit/>
          </a:bodyPr>
          <a:lstStyle/>
          <a:p>
            <a:pPr algn="r"/>
            <a:r>
              <a:rPr sz="1200" b="0" i="0">
                <a:solidFill>
                  <a:srgbClr val="C9C9E0"/>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Summary: every agent gets an owner and a tested stop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2 OF 10</a:t>
            </a:r>
          </a:p>
        </p:txBody>
      </p:sp>
      <p:sp>
        <p:nvSpPr>
          <p:cNvPr id="5" name="Status chip: PROPOSED OFFERING"/>
          <p:cNvSpPr/>
          <p:nvPr/>
        </p:nvSpPr>
        <p:spPr>
          <a:xfrm>
            <a:off x="3658870" y="274320"/>
            <a:ext cx="174244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OFFERING</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02</a:t>
            </a:r>
          </a:p>
        </p:txBody>
      </p:sp>
      <p:sp>
        <p:nvSpPr>
          <p:cNvPr id="8" name="TextBox 7"/>
          <p:cNvSpPr txBox="1"/>
          <p:nvPr/>
        </p:nvSpPr>
        <p:spPr>
          <a:xfrm>
            <a:off x="548640" y="1371600"/>
            <a:ext cx="1554480" cy="457200"/>
          </a:xfrm>
          <a:prstGeom prst="rect">
            <a:avLst/>
          </a:prstGeom>
          <a:noFill/>
        </p:spPr>
        <p:txBody>
          <a:bodyPr wrap="square" lIns="0" rIns="0" tIns="0" bIns="0" anchor="t">
            <a:noAutofit/>
          </a:bodyPr>
          <a:lstStyle/>
          <a:p>
            <a:pPr algn="l"/>
            <a:r>
              <a:rPr sz="2000" b="1" i="0">
                <a:solidFill>
                  <a:srgbClr val="2F78C4"/>
                </a:solidFill>
                <a:latin typeface="Arial"/>
              </a:rPr>
              <a:t>Problem</a:t>
            </a:r>
          </a:p>
        </p:txBody>
      </p:sp>
      <p:sp>
        <p:nvSpPr>
          <p:cNvPr id="9" name="TextBox 8"/>
          <p:cNvSpPr txBox="1"/>
          <p:nvPr/>
        </p:nvSpPr>
        <p:spPr>
          <a:xfrm>
            <a:off x="2103120" y="1371600"/>
            <a:ext cx="5120640" cy="1234440"/>
          </a:xfrm>
          <a:prstGeom prst="rect">
            <a:avLst/>
          </a:prstGeom>
          <a:noFill/>
        </p:spPr>
        <p:txBody>
          <a:bodyPr wrap="square" lIns="0" rIns="0" tIns="0" bIns="0" anchor="t">
            <a:noAutofit/>
          </a:bodyPr>
          <a:lstStyle/>
          <a:p>
            <a:pPr algn="l"/>
            <a:r>
              <a:rPr sz="2000" b="0" i="0">
                <a:solidFill>
                  <a:srgbClr val="1E1E2E"/>
                </a:solidFill>
                <a:latin typeface="Arial"/>
              </a:rPr>
              <a:t>Agents spread across Foundry, custom hosts and Logic Apps. Nobody can list what is deployed, used, owned or stoppable.</a:t>
            </a:r>
          </a:p>
        </p:txBody>
      </p:sp>
      <p:sp>
        <p:nvSpPr>
          <p:cNvPr id="10" name="TextBox 9"/>
          <p:cNvSpPr txBox="1"/>
          <p:nvPr/>
        </p:nvSpPr>
        <p:spPr>
          <a:xfrm>
            <a:off x="548640" y="2670048"/>
            <a:ext cx="1554480" cy="457200"/>
          </a:xfrm>
          <a:prstGeom prst="rect">
            <a:avLst/>
          </a:prstGeom>
          <a:noFill/>
        </p:spPr>
        <p:txBody>
          <a:bodyPr wrap="square" lIns="0" rIns="0" tIns="0" bIns="0" anchor="t">
            <a:noAutofit/>
          </a:bodyPr>
          <a:lstStyle/>
          <a:p>
            <a:pPr algn="l"/>
            <a:r>
              <a:rPr sz="2000" b="1" i="0">
                <a:solidFill>
                  <a:srgbClr val="2F78C4"/>
                </a:solidFill>
                <a:latin typeface="Arial"/>
              </a:rPr>
              <a:t>Offer</a:t>
            </a:r>
          </a:p>
        </p:txBody>
      </p:sp>
      <p:sp>
        <p:nvSpPr>
          <p:cNvPr id="11" name="TextBox 10"/>
          <p:cNvSpPr txBox="1"/>
          <p:nvPr/>
        </p:nvSpPr>
        <p:spPr>
          <a:xfrm>
            <a:off x="2103120" y="2670048"/>
            <a:ext cx="5120640" cy="1234440"/>
          </a:xfrm>
          <a:prstGeom prst="rect">
            <a:avLst/>
          </a:prstGeom>
          <a:noFill/>
        </p:spPr>
        <p:txBody>
          <a:bodyPr wrap="square" lIns="0" rIns="0" tIns="0" bIns="0" anchor="t">
            <a:noAutofit/>
          </a:bodyPr>
          <a:lstStyle/>
          <a:p>
            <a:pPr algn="l"/>
            <a:r>
              <a:rPr sz="2000" b="0" i="0">
                <a:solidFill>
                  <a:srgbClr val="1E1E2E"/>
                </a:solidFill>
                <a:latin typeface="Arial"/>
              </a:rPr>
              <a:t>CIS Infra builds an Azure agent catalogue that reconciles deployment records with runtime evidence, plus a tested containment path.</a:t>
            </a:r>
          </a:p>
        </p:txBody>
      </p:sp>
      <p:sp>
        <p:nvSpPr>
          <p:cNvPr id="12" name="TextBox 11"/>
          <p:cNvSpPr txBox="1"/>
          <p:nvPr/>
        </p:nvSpPr>
        <p:spPr>
          <a:xfrm>
            <a:off x="548640" y="3968496"/>
            <a:ext cx="1554480" cy="457200"/>
          </a:xfrm>
          <a:prstGeom prst="rect">
            <a:avLst/>
          </a:prstGeom>
          <a:noFill/>
        </p:spPr>
        <p:txBody>
          <a:bodyPr wrap="square" lIns="0" rIns="0" tIns="0" bIns="0" anchor="t">
            <a:noAutofit/>
          </a:bodyPr>
          <a:lstStyle/>
          <a:p>
            <a:pPr algn="l"/>
            <a:r>
              <a:rPr sz="2000" b="1" i="0">
                <a:solidFill>
                  <a:srgbClr val="2F78C4"/>
                </a:solidFill>
                <a:latin typeface="Arial"/>
              </a:rPr>
              <a:t>Outcome</a:t>
            </a:r>
          </a:p>
        </p:txBody>
      </p:sp>
      <p:sp>
        <p:nvSpPr>
          <p:cNvPr id="13" name="TextBox 12"/>
          <p:cNvSpPr txBox="1"/>
          <p:nvPr/>
        </p:nvSpPr>
        <p:spPr>
          <a:xfrm>
            <a:off x="2103120" y="3968496"/>
            <a:ext cx="5120640" cy="1234440"/>
          </a:xfrm>
          <a:prstGeom prst="rect">
            <a:avLst/>
          </a:prstGeom>
          <a:noFill/>
        </p:spPr>
        <p:txBody>
          <a:bodyPr wrap="square" lIns="0" rIns="0" tIns="0" bIns="0" anchor="t">
            <a:noAutofit/>
          </a:bodyPr>
          <a:lstStyle/>
          <a:p>
            <a:pPr algn="l"/>
            <a:r>
              <a:rPr sz="2000" b="0" i="0">
                <a:solidFill>
                  <a:srgbClr val="1E1E2E"/>
                </a:solidFill>
                <a:latin typeface="Arial"/>
              </a:rPr>
              <a:t>Each in-scope agent has an owner, a usage status, a risk class and a rehearsed way to stop it.</a:t>
            </a:r>
          </a:p>
        </p:txBody>
      </p:sp>
      <p:sp>
        <p:nvSpPr>
          <p:cNvPr id="14" name="Rounded Rectangle 13"/>
          <p:cNvSpPr/>
          <p:nvPr/>
        </p:nvSpPr>
        <p:spPr>
          <a:xfrm>
            <a:off x="7543800" y="1371600"/>
            <a:ext cx="4096512" cy="4206240"/>
          </a:xfrm>
          <a:prstGeom prst="roundRect">
            <a:avLst>
              <a:gd name="adj" fmla="val 1785"/>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228600" rIns="228600" tIns="73152" bIns="73152" wrap="square">
            <a:noAutofit/>
          </a:bodyPr>
          <a:lstStyle/>
          <a:p>
            <a:pPr algn="l">
              <a:spcAft>
                <a:spcPts val="1000"/>
              </a:spcAft>
            </a:pPr>
            <a:r>
              <a:rPr sz="2000" b="1" i="0">
                <a:solidFill>
                  <a:srgbClr val="FFFFFF"/>
                </a:solidFill>
                <a:latin typeface="Arial"/>
              </a:rPr>
              <a:t>Decision requested</a:t>
            </a:r>
          </a:p>
          <a:p>
            <a:pPr algn="l" marL="201168" indent="-201168">
              <a:spcAft>
                <a:spcPts val="1000"/>
              </a:spcAft>
              <a:buFont typeface="Arial"/>
              <a:buChar char="•"/>
            </a:pPr>
            <a:r>
              <a:rPr sz="1800" b="0" i="0">
                <a:solidFill>
                  <a:srgbClr val="FFFFFF"/>
                </a:solidFill>
                <a:latin typeface="Arial"/>
              </a:rPr>
              <a:t>Approve a pilot on one agent cohort and two runtimes</a:t>
            </a:r>
          </a:p>
          <a:p>
            <a:pPr algn="l" marL="201168" indent="-201168">
              <a:spcAft>
                <a:spcPts val="1000"/>
              </a:spcAft>
              <a:buFont typeface="Arial"/>
              <a:buChar char="•"/>
            </a:pPr>
            <a:r>
              <a:rPr sz="1800" b="0" i="0">
                <a:solidFill>
                  <a:srgbClr val="FFFFFF"/>
                </a:solidFill>
                <a:latin typeface="Arial"/>
              </a:rPr>
              <a:t>Name who may contain an agent and who may re-enable it</a:t>
            </a:r>
          </a:p>
          <a:p>
            <a:pPr algn="l" marL="201168" indent="-201168">
              <a:spcAft>
                <a:spcPts val="1000"/>
              </a:spcAft>
              <a:buFont typeface="Arial"/>
              <a:buChar char="•"/>
            </a:pPr>
            <a:r>
              <a:rPr sz="1800" b="0" i="0">
                <a:solidFill>
                  <a:srgbClr val="FFFFFF"/>
                </a:solidFill>
                <a:latin typeface="Arial"/>
              </a:rPr>
              <a:t>Agree that kill-switch targets are set only after measured drills</a:t>
            </a:r>
          </a:p>
        </p:txBody>
      </p:sp>
      <p:sp>
        <p:nvSpPr>
          <p:cNvPr id="15" name="Rounded Rectangle 14"/>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instant stop and no complete inventory are claimed. Coverage depends on runtime, permissions and telemetry.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Who buys, and what triggers the purchase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3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03</a:t>
            </a:r>
          </a:p>
        </p:txBody>
      </p:sp>
      <p:graphicFrame>
        <p:nvGraphicFramePr>
          <p:cNvPr id="7" name="Table"/>
          <p:cNvGraphicFramePr>
            <a:graphicFrameLocks noGrp="1"/>
          </p:cNvGraphicFramePr>
          <p:nvPr/>
        </p:nvGraphicFramePr>
        <p:xfrm>
          <a:off x="548640" y="1371600"/>
          <a:ext cx="11091672" cy="2910840"/>
        </p:xfrm>
        <a:graphic>
          <a:graphicData uri="http://schemas.openxmlformats.org/drawingml/2006/table">
            <a:tbl>
              <a:tblPr firstRow="1" bandRow="0">
                <a:tableStyleId>{5C22544A-7EE6-4342-B048-85BDC9FD1C3A}</a:tableStyleId>
              </a:tblPr>
              <a:tblGrid>
                <a:gridCol w="2743200"/>
                <a:gridCol w="4206240"/>
                <a:gridCol w="4142232"/>
              </a:tblGrid>
              <a:tr h="350520">
                <a:tc>
                  <a:txBody>
                    <a:bodyPr wrap="square" anchor="ctr">
                      <a:noAutofit/>
                    </a:bodyPr>
                    <a:lstStyle/>
                    <a:p>
                      <a:pPr algn="l"/>
                      <a:r>
                        <a:rPr sz="1700" b="1" i="0">
                          <a:solidFill>
                            <a:srgbClr val="FFFFFF"/>
                          </a:solidFill>
                          <a:latin typeface="Arial"/>
                        </a:rPr>
                        <a:t>Buyer role</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What they need</a:t>
                      </a:r>
                    </a:p>
                  </a:txBody>
                  <a:tcPr marL="73152" marR="73152" marT="36576" marB="36576" anchor="ctr">
                    <a:solidFill>
                      <a:srgbClr val="000048"/>
                    </a:solidFill>
                  </a:tcPr>
                </a:tc>
                <a:tc>
                  <a:txBody>
                    <a:bodyPr wrap="square" anchor="ctr">
                      <a:noAutofit/>
                    </a:bodyPr>
                    <a:lstStyle/>
                    <a:p>
                      <a:pPr algn="l"/>
                      <a:r>
                        <a:rPr sz="1700" b="1" i="0">
                          <a:solidFill>
                            <a:srgbClr val="FFFFFF"/>
                          </a:solidFill>
                          <a:latin typeface="Arial"/>
                        </a:rPr>
                        <a:t>Purchase trigger</a:t>
                      </a:r>
                    </a:p>
                  </a:txBody>
                  <a:tcPr marL="73152" marR="73152" marT="36576" marB="36576" anchor="ctr">
                    <a:solidFill>
                      <a:srgbClr val="000048"/>
                    </a:solidFill>
                  </a:tcPr>
                </a:tc>
              </a:tr>
              <a:tr h="640080">
                <a:tc>
                  <a:txBody>
                    <a:bodyPr wrap="square" anchor="ctr">
                      <a:noAutofit/>
                    </a:bodyPr>
                    <a:lstStyle/>
                    <a:p>
                      <a:pPr algn="l"/>
                      <a:r>
                        <a:rPr sz="1800" b="1" i="0">
                          <a:solidFill>
                            <a:srgbClr val="1E1E2E"/>
                          </a:solidFill>
                          <a:latin typeface="Arial"/>
                        </a:rPr>
                        <a:t>AI platform leader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One list of agents with owners and status</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Agent count growing faster than review</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CISO delegate</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A tested way to contain a misbehaving agent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Incident, near miss or red-team finding</a:t>
                      </a:r>
                    </a:p>
                  </a:txBody>
                  <a:tcPr marL="73152" marR="73152" marT="36576" marB="36576" anchor="ctr">
                    <a:solidFill>
                      <a:srgbClr val="F5F5F2"/>
                    </a:solidFill>
                  </a:tcPr>
                </a:tc>
              </a:tr>
              <a:tr h="640080">
                <a:tc>
                  <a:txBody>
                    <a:bodyPr wrap="square" anchor="ctr">
                      <a:noAutofit/>
                    </a:bodyPr>
                    <a:lstStyle/>
                    <a:p>
                      <a:pPr algn="l"/>
                      <a:r>
                        <a:rPr sz="1800" b="1" i="0">
                          <a:solidFill>
                            <a:srgbClr val="1E1E2E"/>
                          </a:solidFill>
                          <a:latin typeface="Arial"/>
                        </a:rPr>
                        <a:t>IT service owner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Runbooks and alerts that name a responder</a:t>
                      </a:r>
                    </a:p>
                  </a:txBody>
                  <a:tcPr marL="73152" marR="73152" marT="36576" marB="36576" anchor="ctr">
                    <a:solidFill>
                      <a:srgbClr val="FFFFFF"/>
                    </a:solidFill>
                  </a:tcPr>
                </a:tc>
                <a:tc>
                  <a:txBody>
                    <a:bodyPr wrap="square" anchor="ctr">
                      <a:noAutofit/>
                    </a:bodyPr>
                    <a:lstStyle/>
                    <a:p>
                      <a:pPr algn="l"/>
                      <a:r>
                        <a:rPr sz="1800" b="0" i="0">
                          <a:solidFill>
                            <a:srgbClr val="1E1E2E"/>
                          </a:solidFill>
                          <a:latin typeface="Arial"/>
                        </a:rPr>
                        <a:t>Agent going to production without support model</a:t>
                      </a:r>
                    </a:p>
                  </a:txBody>
                  <a:tcPr marL="73152" marR="73152" marT="36576" marB="36576" anchor="ctr">
                    <a:solidFill>
                      <a:srgbClr val="FFFFFF"/>
                    </a:solidFill>
                  </a:tcPr>
                </a:tc>
              </a:tr>
              <a:tr h="640080">
                <a:tc>
                  <a:txBody>
                    <a:bodyPr wrap="square" anchor="ctr">
                      <a:noAutofit/>
                    </a:bodyPr>
                    <a:lstStyle/>
                    <a:p>
                      <a:pPr algn="l"/>
                      <a:r>
                        <a:rPr sz="1800" b="1" i="0">
                          <a:solidFill>
                            <a:srgbClr val="1E1E2E"/>
                          </a:solidFill>
                          <a:latin typeface="Arial"/>
                        </a:rPr>
                        <a:t>Risk or internal audit</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Evidence of inventory and lifecycle control</a:t>
                      </a:r>
                    </a:p>
                  </a:txBody>
                  <a:tcPr marL="73152" marR="73152" marT="36576" marB="36576" anchor="ctr">
                    <a:solidFill>
                      <a:srgbClr val="F5F5F2"/>
                    </a:solidFill>
                  </a:tcPr>
                </a:tc>
                <a:tc>
                  <a:txBody>
                    <a:bodyPr wrap="square" anchor="ctr">
                      <a:noAutofit/>
                    </a:bodyPr>
                    <a:lstStyle/>
                    <a:p>
                      <a:pPr algn="l"/>
                      <a:r>
                        <a:rPr sz="1800" b="0" i="0">
                          <a:solidFill>
                            <a:srgbClr val="1E1E2E"/>
                          </a:solidFill>
                          <a:latin typeface="Arial"/>
                        </a:rPr>
                        <a:t>Audit request for an AI system inventory</a:t>
                      </a:r>
                    </a:p>
                  </a:txBody>
                  <a:tcPr marL="73152" marR="73152" marT="36576" marB="36576" anchor="ctr">
                    <a:solidFill>
                      <a:srgbClr val="F5F5F2"/>
                    </a:solidFill>
                  </a:tcPr>
                </a:tc>
              </a:tr>
            </a:tbl>
          </a:graphicData>
        </a:graphic>
      </p:graphicFrame>
      <p:sp>
        <p:nvSpPr>
          <p:cNvPr id="8" name="Rounded Rectangle 7"/>
          <p:cNvSpPr/>
          <p:nvPr/>
        </p:nvSpPr>
        <p:spPr>
          <a:xfrm>
            <a:off x="548640" y="5486400"/>
            <a:ext cx="11091672" cy="640080"/>
          </a:xfrm>
          <a:prstGeom prst="roundRect">
            <a:avLst>
              <a:gd name="adj" fmla="val 11428"/>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700" b="1" i="0">
                <a:solidFill>
                  <a:srgbClr val="000048"/>
                </a:solidFill>
                <a:latin typeface="Arial"/>
              </a:rPr>
              <a:t>Decision:  </a:t>
            </a:r>
            <a:r>
              <a:rPr sz="1700" b="0" i="0">
                <a:solidFill>
                  <a:srgbClr val="1E1E2E"/>
                </a:solidFill>
                <a:latin typeface="Arial"/>
              </a:rPr>
              <a:t>Qualify on agent count, runtime families and who holds containment authority before quoting.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this offering sits in the portfolio</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4 OF 10</a:t>
            </a:r>
          </a:p>
        </p:txBody>
      </p:sp>
      <p:sp>
        <p:nvSpPr>
          <p:cNvPr id="5" name="Status chip: PROPOSED PORTFOLIO"/>
          <p:cNvSpPr/>
          <p:nvPr/>
        </p:nvSpPr>
        <p:spPr>
          <a:xfrm>
            <a:off x="365887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PORTFOLIO</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04</a:t>
            </a:r>
          </a:p>
        </p:txBody>
      </p:sp>
      <p:sp>
        <p:nvSpPr>
          <p:cNvPr id="8" name="Rounded Rectangle 7"/>
          <p:cNvSpPr/>
          <p:nvPr/>
        </p:nvSpPr>
        <p:spPr>
          <a:xfrm>
            <a:off x="54864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04</a:t>
            </a:r>
          </a:p>
          <a:p>
            <a:pPr algn="l">
              <a:spcAft>
                <a:spcPts val="400"/>
              </a:spcAft>
            </a:pPr>
            <a:r>
              <a:rPr sz="1500" b="1" i="0">
                <a:solidFill>
                  <a:srgbClr val="000048"/>
                </a:solidFill>
                <a:latin typeface="Arial"/>
              </a:rPr>
              <a:t>AI Capacity and
FinOps Assessment</a:t>
            </a:r>
          </a:p>
          <a:p>
            <a:pPr algn="l"/>
            <a:r>
              <a:rPr sz="1100" b="0" i="0">
                <a:solidFill>
                  <a:srgbClr val="53565A"/>
                </a:solidFill>
                <a:latin typeface="Arial"/>
              </a:rPr>
              <a:t>Measure demand, choose
capacity model</a:t>
            </a:r>
          </a:p>
        </p:txBody>
      </p:sp>
      <p:cxnSp>
        <p:nvCxnSpPr>
          <p:cNvPr id="9" name="Connector (flow)"/>
          <p:cNvCxnSpPr/>
          <p:nvPr/>
        </p:nvCxnSpPr>
        <p:spPr>
          <a:xfrm>
            <a:off x="258775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19095"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01</a:t>
            </a:r>
          </a:p>
          <a:p>
            <a:pPr algn="l">
              <a:spcAft>
                <a:spcPts val="400"/>
              </a:spcAft>
            </a:pPr>
            <a:r>
              <a:rPr sz="1500" b="1" i="0">
                <a:solidFill>
                  <a:srgbClr val="000048"/>
                </a:solidFill>
                <a:latin typeface="Arial"/>
              </a:rPr>
              <a:t>AI Platform /
Landing Zone</a:t>
            </a:r>
          </a:p>
          <a:p>
            <a:pPr algn="l"/>
            <a:r>
              <a:rPr sz="1100" b="0" i="0">
                <a:solidFill>
                  <a:srgbClr val="53565A"/>
                </a:solidFill>
                <a:latin typeface="Arial"/>
              </a:rPr>
              <a:t>Governed foundation for
AI workloads</a:t>
            </a:r>
          </a:p>
        </p:txBody>
      </p:sp>
      <p:cxnSp>
        <p:nvCxnSpPr>
          <p:cNvPr id="11" name="Connector (flow)"/>
          <p:cNvCxnSpPr/>
          <p:nvPr/>
        </p:nvCxnSpPr>
        <p:spPr>
          <a:xfrm>
            <a:off x="485820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8955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03</a:t>
            </a:r>
          </a:p>
          <a:p>
            <a:pPr algn="l">
              <a:spcAft>
                <a:spcPts val="400"/>
              </a:spcAft>
            </a:pPr>
            <a:r>
              <a:rPr sz="1500" b="1" i="0">
                <a:solidFill>
                  <a:srgbClr val="000048"/>
                </a:solidFill>
                <a:latin typeface="Arial"/>
              </a:rPr>
              <a:t>AI Gateway
Implementation</a:t>
            </a:r>
          </a:p>
          <a:p>
            <a:pPr algn="l"/>
            <a:r>
              <a:rPr sz="1100" b="0" i="0">
                <a:solidFill>
                  <a:srgbClr val="53565A"/>
                </a:solidFill>
                <a:latin typeface="Arial"/>
              </a:rPr>
              <a:t>Control model and
tool traffic</a:t>
            </a:r>
          </a:p>
        </p:txBody>
      </p:sp>
      <p:cxnSp>
        <p:nvCxnSpPr>
          <p:cNvPr id="13" name="Connector (flow)"/>
          <p:cNvCxnSpPr/>
          <p:nvPr/>
        </p:nvCxnSpPr>
        <p:spPr>
          <a:xfrm>
            <a:off x="7128662"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360005" y="1371600"/>
            <a:ext cx="2011680" cy="1572768"/>
          </a:xfrm>
          <a:prstGeom prst="roundRect">
            <a:avLst>
              <a:gd name="adj" fmla="val 4651"/>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26EFE9"/>
                </a:solidFill>
                <a:latin typeface="Arial"/>
              </a:rPr>
              <a:t>02</a:t>
            </a:r>
          </a:p>
          <a:p>
            <a:pPr algn="l">
              <a:spcAft>
                <a:spcPts val="400"/>
              </a:spcAft>
            </a:pPr>
            <a:r>
              <a:rPr sz="1500" b="1" i="0">
                <a:solidFill>
                  <a:srgbClr val="FFFFFF"/>
                </a:solidFill>
                <a:latin typeface="Arial"/>
              </a:rPr>
              <a:t>Agent Governance
and Operations</a:t>
            </a:r>
          </a:p>
          <a:p>
            <a:pPr algn="l"/>
            <a:r>
              <a:rPr sz="1100" b="0" i="0">
                <a:solidFill>
                  <a:srgbClr val="26EFE9"/>
                </a:solidFill>
                <a:latin typeface="Arial"/>
              </a:rPr>
              <a:t>Know, observe and
contain agents</a:t>
            </a:r>
          </a:p>
        </p:txBody>
      </p:sp>
      <p:sp>
        <p:nvSpPr>
          <p:cNvPr id="15" name="Status chip: THIS OFFERING"/>
          <p:cNvSpPr/>
          <p:nvPr/>
        </p:nvSpPr>
        <p:spPr>
          <a:xfrm>
            <a:off x="7469733" y="3017520"/>
            <a:ext cx="13970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THIS OFFERING</a:t>
            </a:r>
          </a:p>
        </p:txBody>
      </p:sp>
      <p:cxnSp>
        <p:nvCxnSpPr>
          <p:cNvPr id="16" name="Connector (flow)"/>
          <p:cNvCxnSpPr/>
          <p:nvPr/>
        </p:nvCxnSpPr>
        <p:spPr>
          <a:xfrm>
            <a:off x="9399117" y="2157984"/>
            <a:ext cx="203911"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630460" y="1371600"/>
            <a:ext cx="2011680" cy="1572768"/>
          </a:xfrm>
          <a:prstGeom prst="roundRect">
            <a:avLst>
              <a:gd name="adj" fmla="val 4651"/>
            </a:avLst>
          </a:prstGeom>
          <a:solidFill>
            <a:srgbClr val="FFFFFF"/>
          </a:solidFill>
          <a:ln w="15875">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r>
              <a:rPr sz="1200" b="1" i="0">
                <a:solidFill>
                  <a:srgbClr val="53565A"/>
                </a:solidFill>
                <a:latin typeface="Arial"/>
              </a:rPr>
              <a:t>05</a:t>
            </a:r>
          </a:p>
          <a:p>
            <a:pPr algn="l">
              <a:spcAft>
                <a:spcPts val="400"/>
              </a:spcAft>
            </a:pPr>
            <a:r>
              <a:rPr sz="1500" b="1" i="0">
                <a:solidFill>
                  <a:srgbClr val="000048"/>
                </a:solidFill>
                <a:latin typeface="Arial"/>
              </a:rPr>
              <a:t>Managed AI
Platform Operations</a:t>
            </a:r>
          </a:p>
          <a:p>
            <a:pPr algn="l"/>
            <a:r>
              <a:rPr sz="1100" b="0" i="0">
                <a:solidFill>
                  <a:srgbClr val="53565A"/>
                </a:solidFill>
                <a:latin typeface="Arial"/>
              </a:rPr>
              <a:t>Run, report and
optimise the platform</a:t>
            </a:r>
          </a:p>
        </p:txBody>
      </p:sp>
      <p:cxnSp>
        <p:nvCxnSpPr>
          <p:cNvPr id="18" name="Connector (control)"/>
          <p:cNvCxnSpPr/>
          <p:nvPr/>
        </p:nvCxnSpPr>
        <p:spPr>
          <a:xfrm>
            <a:off x="10636300" y="2944368"/>
            <a:ext cx="0" cy="45720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control)"/>
          <p:cNvCxnSpPr/>
          <p:nvPr/>
        </p:nvCxnSpPr>
        <p:spPr>
          <a:xfrm flipH="1">
            <a:off x="1554480" y="3401568"/>
            <a:ext cx="908182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control)"/>
          <p:cNvCxnSpPr/>
          <p:nvPr/>
        </p:nvCxnSpPr>
        <p:spPr>
          <a:xfrm flipV="1">
            <a:off x="1554480" y="2944368"/>
            <a:ext cx="0" cy="45720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926080" y="3438144"/>
            <a:ext cx="6400800" cy="274320"/>
          </a:xfrm>
          <a:prstGeom prst="rect">
            <a:avLst/>
          </a:prstGeom>
          <a:noFill/>
        </p:spPr>
        <p:txBody>
          <a:bodyPr wrap="square" lIns="0" rIns="0" tIns="0" bIns="0" anchor="t">
            <a:noAutofit/>
          </a:bodyPr>
          <a:lstStyle/>
          <a:p>
            <a:pPr algn="ctr"/>
            <a:r>
              <a:rPr sz="1200" b="0" i="0">
                <a:solidFill>
                  <a:srgbClr val="6363C9"/>
                </a:solidFill>
                <a:latin typeface="Arial"/>
              </a:rPr>
              <a:t>Monthly operations evidence feeds the next capacity and cost decision</a:t>
            </a:r>
          </a:p>
        </p:txBody>
      </p:sp>
      <p:sp>
        <p:nvSpPr>
          <p:cNvPr id="22" name="TextBox 21"/>
          <p:cNvSpPr txBox="1"/>
          <p:nvPr/>
        </p:nvSpPr>
        <p:spPr>
          <a:xfrm>
            <a:off x="548640" y="3840479"/>
            <a:ext cx="11064240" cy="320040"/>
          </a:xfrm>
          <a:prstGeom prst="rect">
            <a:avLst/>
          </a:prstGeom>
          <a:noFill/>
        </p:spPr>
        <p:txBody>
          <a:bodyPr wrap="square" lIns="0" rIns="0" tIns="0" bIns="0" anchor="t">
            <a:noAutofit/>
          </a:bodyPr>
          <a:lstStyle/>
          <a:p>
            <a:pPr algn="l"/>
            <a:r>
              <a:rPr sz="1600" b="1" i="0">
                <a:solidFill>
                  <a:srgbClr val="000048"/>
                </a:solidFill>
                <a:latin typeface="Arial"/>
              </a:rPr>
              <a:t>Handoffs for this offering</a:t>
            </a:r>
          </a:p>
        </p:txBody>
      </p:sp>
      <p:sp>
        <p:nvSpPr>
          <p:cNvPr id="23" name="Rounded Rectangle 22"/>
          <p:cNvSpPr/>
          <p:nvPr/>
        </p:nvSpPr>
        <p:spPr>
          <a:xfrm>
            <a:off x="548640" y="5833872"/>
            <a:ext cx="11091672" cy="502920"/>
          </a:xfrm>
          <a:prstGeom prst="roundRect">
            <a:avLst>
              <a:gd name="adj" fmla="val 1454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Each handoff has a named owner, acceptance evidence and a date. No offering assumes another is sold.</a:t>
            </a:r>
          </a:p>
        </p:txBody>
      </p:sp>
      <p:sp>
        <p:nvSpPr>
          <p:cNvPr id="24" name="Rounded Rectangle 23"/>
          <p:cNvSpPr/>
          <p:nvPr/>
        </p:nvSpPr>
        <p:spPr>
          <a:xfrm>
            <a:off x="5486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Receives from 01 Landing Zone</a:t>
            </a:r>
          </a:p>
          <a:p>
            <a:pPr algn="l"/>
            <a:r>
              <a:rPr sz="1600" b="0" i="0">
                <a:solidFill>
                  <a:srgbClr val="1E1E2E"/>
                </a:solidFill>
                <a:latin typeface="Arial"/>
              </a:rPr>
              <a:t>Identities, private network and telemetry plumbing</a:t>
            </a:r>
          </a:p>
        </p:txBody>
      </p:sp>
      <p:sp>
        <p:nvSpPr>
          <p:cNvPr id="25" name="Rounded Rectangle 24"/>
          <p:cNvSpPr/>
          <p:nvPr/>
        </p:nvSpPr>
        <p:spPr>
          <a:xfrm>
            <a:off x="4319016"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Receives from 03 Gateway</a:t>
            </a:r>
          </a:p>
          <a:p>
            <a:pPr algn="l"/>
            <a:r>
              <a:rPr sz="1600" b="0" i="0">
                <a:solidFill>
                  <a:srgbClr val="1E1E2E"/>
                </a:solidFill>
                <a:latin typeface="Arial"/>
              </a:rPr>
              <a:t>Ingress and outbound enforcement points, token metrics</a:t>
            </a:r>
          </a:p>
        </p:txBody>
      </p:sp>
      <p:sp>
        <p:nvSpPr>
          <p:cNvPr id="26" name="Rounded Rectangle 25"/>
          <p:cNvSpPr/>
          <p:nvPr/>
        </p:nvSpPr>
        <p:spPr>
          <a:xfrm>
            <a:off x="8016240" y="4224527"/>
            <a:ext cx="3624072" cy="1325880"/>
          </a:xfrm>
          <a:prstGeom prst="roundRect">
            <a:avLst>
              <a:gd name="adj" fmla="val 5517"/>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a:spcAft>
                <a:spcPts val="400"/>
              </a:spcAft>
            </a:pPr>
            <a:r>
              <a:rPr sz="1400" b="1" i="0">
                <a:solidFill>
                  <a:srgbClr val="2F78C4"/>
                </a:solidFill>
                <a:latin typeface="Arial"/>
              </a:rPr>
              <a:t>Hands to 05 Managed Operations</a:t>
            </a:r>
          </a:p>
          <a:p>
            <a:pPr algn="l"/>
            <a:r>
              <a:rPr sz="1600" b="0" i="0">
                <a:solidFill>
                  <a:srgbClr val="1E1E2E"/>
                </a:solidFill>
                <a:latin typeface="Arial"/>
              </a:rPr>
              <a:t>Catalogue, dormant-agent review, containment runbooks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What CIS Infra provides, and what it does not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5 OF 10</a:t>
            </a:r>
          </a:p>
        </p:txBody>
      </p:sp>
      <p:sp>
        <p:nvSpPr>
          <p:cNvPr id="5" name="Status chip: PROPOSED SCOPE"/>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SCOPE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05</a:t>
            </a:r>
          </a:p>
        </p:txBody>
      </p:sp>
      <p:sp>
        <p:nvSpPr>
          <p:cNvPr id="8" name="Rounded Rectangle 7"/>
          <p:cNvSpPr/>
          <p:nvPr/>
        </p:nvSpPr>
        <p:spPr>
          <a:xfrm>
            <a:off x="548640" y="1371600"/>
            <a:ext cx="3593592"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Included: CIS Infra delivers</a:t>
            </a:r>
          </a:p>
        </p:txBody>
      </p:sp>
      <p:sp>
        <p:nvSpPr>
          <p:cNvPr id="9" name="Rounded Rectangle 8"/>
          <p:cNvSpPr/>
          <p:nvPr/>
        </p:nvSpPr>
        <p:spPr>
          <a:xfrm>
            <a:off x="548640" y="1965960"/>
            <a:ext cx="3593592" cy="3703320"/>
          </a:xfrm>
          <a:prstGeom prst="roundRect">
            <a:avLst>
              <a:gd name="adj" fmla="val 2035"/>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Catalogue design and Azure build</a:t>
            </a:r>
          </a:p>
          <a:p>
            <a:pPr algn="l" marL="201168" indent="-201168">
              <a:spcAft>
                <a:spcPts val="800"/>
              </a:spcAft>
              <a:buFont typeface="Arial"/>
              <a:buChar char="•"/>
            </a:pPr>
            <a:r>
              <a:rPr sz="1700" b="0" i="0">
                <a:solidFill>
                  <a:srgbClr val="1E1E2E"/>
                </a:solidFill>
                <a:latin typeface="Arial"/>
              </a:rPr>
              <a:t>Reconciliation of inventory and telemetry</a:t>
            </a:r>
          </a:p>
          <a:p>
            <a:pPr algn="l" marL="201168" indent="-201168">
              <a:spcAft>
                <a:spcPts val="800"/>
              </a:spcAft>
              <a:buFont typeface="Arial"/>
              <a:buChar char="•"/>
            </a:pPr>
            <a:r>
              <a:rPr sz="1700" b="0" i="0">
                <a:solidFill>
                  <a:srgbClr val="1E1E2E"/>
                </a:solidFill>
                <a:latin typeface="Arial"/>
              </a:rPr>
              <a:t>Usage and dormancy classification</a:t>
            </a:r>
          </a:p>
          <a:p>
            <a:pPr algn="l" marL="201168" indent="-201168">
              <a:spcAft>
                <a:spcPts val="800"/>
              </a:spcAft>
              <a:buFont typeface="Arial"/>
              <a:buChar char="•"/>
            </a:pPr>
            <a:r>
              <a:rPr sz="1700" b="0" i="0">
                <a:solidFill>
                  <a:srgbClr val="1E1E2E"/>
                </a:solidFill>
                <a:latin typeface="Arial"/>
              </a:rPr>
              <a:t>Containment control plane and adapters</a:t>
            </a:r>
          </a:p>
          <a:p>
            <a:pPr algn="l" marL="201168" indent="-201168">
              <a:spcAft>
                <a:spcPts val="800"/>
              </a:spcAft>
              <a:buFont typeface="Arial"/>
              <a:buChar char="•"/>
            </a:pPr>
            <a:r>
              <a:rPr sz="1700" b="0" i="0">
                <a:solidFill>
                  <a:srgbClr val="1E1E2E"/>
                </a:solidFill>
                <a:latin typeface="Arial"/>
              </a:rPr>
              <a:t>Runbooks and two rehearsed drills</a:t>
            </a:r>
          </a:p>
        </p:txBody>
      </p:sp>
      <p:sp>
        <p:nvSpPr>
          <p:cNvPr id="10" name="Rounded Rectangle 9"/>
          <p:cNvSpPr/>
          <p:nvPr/>
        </p:nvSpPr>
        <p:spPr>
          <a:xfrm>
            <a:off x="4297679" y="1371600"/>
            <a:ext cx="3593592" cy="548640"/>
          </a:xfrm>
          <a:prstGeom prst="roundRect">
            <a:avLst>
              <a:gd name="adj" fmla="val 1333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Optional: priced separately</a:t>
            </a:r>
          </a:p>
        </p:txBody>
      </p:sp>
      <p:sp>
        <p:nvSpPr>
          <p:cNvPr id="11" name="Rounded Rectangle 10"/>
          <p:cNvSpPr/>
          <p:nvPr/>
        </p:nvSpPr>
        <p:spPr>
          <a:xfrm>
            <a:off x="4297679" y="1965960"/>
            <a:ext cx="3593592" cy="370332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More runtimes or subscriptions</a:t>
            </a:r>
          </a:p>
          <a:p>
            <a:pPr algn="l" marL="201168" indent="-201168">
              <a:spcAft>
                <a:spcPts val="800"/>
              </a:spcAft>
              <a:buFont typeface="Arial"/>
              <a:buChar char="•"/>
            </a:pPr>
            <a:r>
              <a:rPr sz="1700" b="0" i="0">
                <a:solidFill>
                  <a:srgbClr val="1E1E2E"/>
                </a:solidFill>
                <a:latin typeface="Arial"/>
              </a:rPr>
              <a:t>Gateway enforcement (offering 03)</a:t>
            </a:r>
          </a:p>
          <a:p>
            <a:pPr algn="l" marL="201168" indent="-201168">
              <a:spcAft>
                <a:spcPts val="800"/>
              </a:spcAft>
              <a:buFont typeface="Arial"/>
              <a:buChar char="•"/>
            </a:pPr>
            <a:r>
              <a:rPr sz="1700" b="0" i="0">
                <a:solidFill>
                  <a:srgbClr val="1E1E2E"/>
                </a:solidFill>
                <a:latin typeface="Arial"/>
              </a:rPr>
              <a:t>Ongoing operation (offering 05)</a:t>
            </a:r>
          </a:p>
          <a:p>
            <a:pPr algn="l" marL="201168" indent="-201168">
              <a:spcAft>
                <a:spcPts val="800"/>
              </a:spcAft>
              <a:buFont typeface="Arial"/>
              <a:buChar char="•"/>
            </a:pPr>
            <a:r>
              <a:rPr sz="1700" b="0" i="0">
                <a:solidFill>
                  <a:srgbClr val="1E1E2E"/>
                </a:solidFill>
                <a:latin typeface="Arial"/>
              </a:rPr>
              <a:t>Workbook customisation</a:t>
            </a:r>
          </a:p>
          <a:p>
            <a:pPr algn="l" marL="201168" indent="-201168">
              <a:spcAft>
                <a:spcPts val="800"/>
              </a:spcAft>
              <a:buFont typeface="Arial"/>
              <a:buChar char="•"/>
            </a:pPr>
            <a:r>
              <a:rPr sz="1700" b="0" i="0">
                <a:solidFill>
                  <a:srgbClr val="1E1E2E"/>
                </a:solidFill>
                <a:latin typeface="Arial"/>
              </a:rPr>
              <a:t>Evaluation pipelines (AI tower)</a:t>
            </a:r>
          </a:p>
        </p:txBody>
      </p:sp>
      <p:sp>
        <p:nvSpPr>
          <p:cNvPr id="12" name="Rounded Rectangle 11"/>
          <p:cNvSpPr/>
          <p:nvPr/>
        </p:nvSpPr>
        <p:spPr>
          <a:xfrm>
            <a:off x="8046719" y="1371600"/>
            <a:ext cx="3593592" cy="548640"/>
          </a:xfrm>
          <a:prstGeom prst="roundRect">
            <a:avLst>
              <a:gd name="adj" fmla="val 13333"/>
            </a:avLst>
          </a:prstGeom>
          <a:solidFill>
            <a:srgbClr val="53565A"/>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Other owners</a:t>
            </a:r>
          </a:p>
        </p:txBody>
      </p:sp>
      <p:sp>
        <p:nvSpPr>
          <p:cNvPr id="13" name="Rounded Rectangle 12"/>
          <p:cNvSpPr/>
          <p:nvPr/>
        </p:nvSpPr>
        <p:spPr>
          <a:xfrm>
            <a:off x="8046719" y="1965960"/>
            <a:ext cx="3593592" cy="370332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marL="201168" indent="-201168">
              <a:spcAft>
                <a:spcPts val="800"/>
              </a:spcAft>
              <a:buFont typeface="Arial"/>
              <a:buChar char="•"/>
            </a:pPr>
            <a:r>
              <a:rPr sz="1700" b="0" i="0">
                <a:solidFill>
                  <a:srgbClr val="1E1E2E"/>
                </a:solidFill>
                <a:latin typeface="Arial"/>
              </a:rPr>
              <a:t>AI: runtime limits, tool logic, evals</a:t>
            </a:r>
          </a:p>
          <a:p>
            <a:pPr algn="l" marL="201168" indent="-201168">
              <a:spcAft>
                <a:spcPts val="800"/>
              </a:spcAft>
              <a:buFont typeface="Arial"/>
              <a:buChar char="•"/>
            </a:pPr>
            <a:r>
              <a:rPr sz="1700" b="0" i="0">
                <a:solidFill>
                  <a:srgbClr val="1E1E2E"/>
                </a:solidFill>
                <a:latin typeface="Arial"/>
              </a:rPr>
              <a:t>Security: risk policy, authority</a:t>
            </a:r>
          </a:p>
          <a:p>
            <a:pPr algn="l" marL="201168" indent="-201168">
              <a:spcAft>
                <a:spcPts val="800"/>
              </a:spcAft>
              <a:buFont typeface="Arial"/>
              <a:buChar char="•"/>
            </a:pPr>
            <a:r>
              <a:rPr sz="1700" b="0" i="0">
                <a:solidFill>
                  <a:srgbClr val="1E1E2E"/>
                </a:solidFill>
                <a:latin typeface="Arial"/>
              </a:rPr>
              <a:t>DevOps: deployment registration</a:t>
            </a:r>
          </a:p>
          <a:p>
            <a:pPr algn="l" marL="201168" indent="-201168">
              <a:spcAft>
                <a:spcPts val="800"/>
              </a:spcAft>
              <a:buFont typeface="Arial"/>
              <a:buChar char="•"/>
            </a:pPr>
            <a:r>
              <a:rPr sz="1700" b="0" i="0">
                <a:solidFill>
                  <a:srgbClr val="1E1E2E"/>
                </a:solidFill>
                <a:latin typeface="Arial"/>
              </a:rPr>
              <a:t>Customer: approve restart, accept risk</a:t>
            </a:r>
          </a:p>
          <a:p>
            <a:pPr algn="l" marL="201168" indent="-201168">
              <a:spcAft>
                <a:spcPts val="800"/>
              </a:spcAft>
              <a:buFont typeface="Arial"/>
              <a:buChar char="•"/>
            </a:pPr>
            <a:r>
              <a:rPr sz="1700" b="0" i="0">
                <a:solidFill>
                  <a:srgbClr val="1E1E2E"/>
                </a:solidFill>
                <a:latin typeface="Arial"/>
              </a:rPr>
              <a:t>Agent owners: keep records current</a:t>
            </a:r>
          </a:p>
        </p:txBody>
      </p:sp>
      <p:sp>
        <p:nvSpPr>
          <p:cNvPr id="14" name="Rounded Rectangle 13"/>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Coverage gap: agents outside supported platforms are invisible until registered and instrumented.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Architecture: catalogue plus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6 OF 10</a:t>
            </a:r>
          </a:p>
        </p:txBody>
      </p:sp>
      <p:sp>
        <p:nvSpPr>
          <p:cNvPr id="5" name="Status chip: PROPOSED REFERENCE ARCHITECTURE"/>
          <p:cNvSpPr/>
          <p:nvPr/>
        </p:nvSpPr>
        <p:spPr>
          <a:xfrm>
            <a:off x="365887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06</a:t>
            </a:r>
          </a:p>
        </p:txBody>
      </p:sp>
      <p:sp>
        <p:nvSpPr>
          <p:cNvPr id="8" name="Rounded Rectangle 7"/>
          <p:cNvSpPr/>
          <p:nvPr/>
        </p:nvSpPr>
        <p:spPr>
          <a:xfrm>
            <a:off x="411480" y="1325880"/>
            <a:ext cx="3017520" cy="2240280"/>
          </a:xfrm>
          <a:prstGeom prst="roundRect">
            <a:avLst>
              <a:gd name="adj" fmla="val 4081"/>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521208" y="1380744"/>
            <a:ext cx="2798063" cy="237744"/>
          </a:xfrm>
          <a:prstGeom prst="rect">
            <a:avLst/>
          </a:prstGeom>
          <a:noFill/>
        </p:spPr>
        <p:txBody>
          <a:bodyPr wrap="square" lIns="0" rIns="0" tIns="0" bIns="0" anchor="t">
            <a:noAutofit/>
          </a:bodyPr>
          <a:lstStyle/>
          <a:p>
            <a:pPr algn="l"/>
            <a:r>
              <a:rPr sz="1100" b="1" i="0">
                <a:solidFill>
                  <a:srgbClr val="000048"/>
                </a:solidFill>
                <a:latin typeface="Arial"/>
              </a:rPr>
              <a:t>INVENTORY: WHAT EXISTS</a:t>
            </a:r>
          </a:p>
        </p:txBody>
      </p:sp>
      <p:pic>
        <p:nvPicPr>
          <p:cNvPr id="10" name="Azure icon: Foundry Control Plane" descr="Official Azure icon: Foundry Control Plan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1792" y="1764792"/>
            <a:ext cx="384048" cy="384048"/>
          </a:xfrm>
          <a:prstGeom prst="rect">
            <a:avLst/>
          </a:prstGeom>
        </p:spPr>
      </p:pic>
      <p:sp>
        <p:nvSpPr>
          <p:cNvPr id="11" name="TextBox 10"/>
          <p:cNvSpPr txBox="1"/>
          <p:nvPr/>
        </p:nvSpPr>
        <p:spPr>
          <a:xfrm>
            <a:off x="1078992" y="1728216"/>
            <a:ext cx="2221991" cy="457199"/>
          </a:xfrm>
          <a:prstGeom prst="rect">
            <a:avLst/>
          </a:prstGeom>
          <a:noFill/>
        </p:spPr>
        <p:txBody>
          <a:bodyPr wrap="square" lIns="0" rIns="0" tIns="0" bIns="0" anchor="ctr">
            <a:noAutofit/>
          </a:bodyPr>
          <a:lstStyle/>
          <a:p>
            <a:pPr algn="l"/>
            <a:r>
              <a:rPr sz="1300" b="1" i="0">
                <a:solidFill>
                  <a:srgbClr val="000048"/>
                </a:solidFill>
                <a:latin typeface="Arial"/>
              </a:rPr>
              <a:t>Foundry Control Plane</a:t>
            </a:r>
          </a:p>
          <a:p>
            <a:pPr algn="l"/>
            <a:r>
              <a:rPr sz="1100" b="0" i="0">
                <a:solidFill>
                  <a:srgbClr val="53565A"/>
                </a:solidFill>
                <a:latin typeface="Arial"/>
              </a:rPr>
              <a:t>supported agent platforms</a:t>
            </a:r>
          </a:p>
        </p:txBody>
      </p:sp>
      <p:pic>
        <p:nvPicPr>
          <p:cNvPr id="12" name="Azure icon: Resource Graph Explorer" descr="Official Azure icon: Resource Graph Explore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21792" y="2359152"/>
            <a:ext cx="384048" cy="384048"/>
          </a:xfrm>
          <a:prstGeom prst="rect">
            <a:avLst/>
          </a:prstGeom>
        </p:spPr>
      </p:pic>
      <p:sp>
        <p:nvSpPr>
          <p:cNvPr id="13" name="TextBox 12"/>
          <p:cNvSpPr txBox="1"/>
          <p:nvPr/>
        </p:nvSpPr>
        <p:spPr>
          <a:xfrm>
            <a:off x="1078992" y="2322576"/>
            <a:ext cx="2221991" cy="457199"/>
          </a:xfrm>
          <a:prstGeom prst="rect">
            <a:avLst/>
          </a:prstGeom>
          <a:noFill/>
        </p:spPr>
        <p:txBody>
          <a:bodyPr wrap="square" lIns="0" rIns="0" tIns="0" bIns="0" anchor="ctr">
            <a:noAutofit/>
          </a:bodyPr>
          <a:lstStyle/>
          <a:p>
            <a:pPr algn="l"/>
            <a:r>
              <a:rPr sz="1300" b="1" i="0">
                <a:solidFill>
                  <a:srgbClr val="000048"/>
                </a:solidFill>
                <a:latin typeface="Arial"/>
              </a:rPr>
              <a:t>Azure Resource Graph</a:t>
            </a:r>
          </a:p>
          <a:p>
            <a:pPr algn="l"/>
            <a:r>
              <a:rPr sz="1100" b="0" i="0">
                <a:solidFill>
                  <a:srgbClr val="53565A"/>
                </a:solidFill>
                <a:latin typeface="Arial"/>
              </a:rPr>
              <a:t>hosting resources, tags</a:t>
            </a:r>
          </a:p>
        </p:txBody>
      </p:sp>
      <p:pic>
        <p:nvPicPr>
          <p:cNvPr id="14" name="Azure icon: Azure DevOps" descr="Official Azure icon: Azure DevOp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21792" y="2953512"/>
            <a:ext cx="384048" cy="384048"/>
          </a:xfrm>
          <a:prstGeom prst="rect">
            <a:avLst/>
          </a:prstGeom>
        </p:spPr>
      </p:pic>
      <p:sp>
        <p:nvSpPr>
          <p:cNvPr id="15" name="TextBox 14"/>
          <p:cNvSpPr txBox="1"/>
          <p:nvPr/>
        </p:nvSpPr>
        <p:spPr>
          <a:xfrm>
            <a:off x="1078992" y="2916936"/>
            <a:ext cx="2221991" cy="457199"/>
          </a:xfrm>
          <a:prstGeom prst="rect">
            <a:avLst/>
          </a:prstGeom>
          <a:noFill/>
        </p:spPr>
        <p:txBody>
          <a:bodyPr wrap="square" lIns="0" rIns="0" tIns="0" bIns="0" anchor="ctr">
            <a:noAutofit/>
          </a:bodyPr>
          <a:lstStyle/>
          <a:p>
            <a:pPr algn="l"/>
            <a:r>
              <a:rPr sz="1300" b="1" i="0">
                <a:solidFill>
                  <a:srgbClr val="000048"/>
                </a:solidFill>
                <a:latin typeface="Arial"/>
              </a:rPr>
              <a:t>Deployment pipelines</a:t>
            </a:r>
          </a:p>
          <a:p>
            <a:pPr algn="l"/>
            <a:r>
              <a:rPr sz="1100" b="0" i="0">
                <a:solidFill>
                  <a:srgbClr val="53565A"/>
                </a:solidFill>
                <a:latin typeface="Arial"/>
              </a:rPr>
              <a:t>agent ID, version, owner</a:t>
            </a:r>
          </a:p>
        </p:txBody>
      </p:sp>
      <p:sp>
        <p:nvSpPr>
          <p:cNvPr id="16" name="Rounded Rectangle 15"/>
          <p:cNvSpPr/>
          <p:nvPr/>
        </p:nvSpPr>
        <p:spPr>
          <a:xfrm>
            <a:off x="411480" y="3749039"/>
            <a:ext cx="3017520" cy="1691640"/>
          </a:xfrm>
          <a:prstGeom prst="roundRect">
            <a:avLst>
              <a:gd name="adj" fmla="val 5405"/>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21208" y="3803903"/>
            <a:ext cx="2798063" cy="237744"/>
          </a:xfrm>
          <a:prstGeom prst="rect">
            <a:avLst/>
          </a:prstGeom>
          <a:noFill/>
        </p:spPr>
        <p:txBody>
          <a:bodyPr wrap="square" lIns="0" rIns="0" tIns="0" bIns="0" anchor="t">
            <a:noAutofit/>
          </a:bodyPr>
          <a:lstStyle/>
          <a:p>
            <a:pPr algn="l"/>
            <a:r>
              <a:rPr sz="1100" b="1" i="0">
                <a:solidFill>
                  <a:srgbClr val="000048"/>
                </a:solidFill>
                <a:latin typeface="Arial"/>
              </a:rPr>
              <a:t>RUNTIME: WHAT RUNS</a:t>
            </a:r>
          </a:p>
        </p:txBody>
      </p:sp>
      <p:pic>
        <p:nvPicPr>
          <p:cNvPr id="18" name="Azure icon: Application Insights" descr="Official Azure icon: Application Insigh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21792" y="4187952"/>
            <a:ext cx="384048" cy="384048"/>
          </a:xfrm>
          <a:prstGeom prst="rect">
            <a:avLst/>
          </a:prstGeom>
        </p:spPr>
      </p:pic>
      <p:sp>
        <p:nvSpPr>
          <p:cNvPr id="19" name="TextBox 18"/>
          <p:cNvSpPr txBox="1"/>
          <p:nvPr/>
        </p:nvSpPr>
        <p:spPr>
          <a:xfrm>
            <a:off x="1078992" y="4151376"/>
            <a:ext cx="2221991" cy="457199"/>
          </a:xfrm>
          <a:prstGeom prst="rect">
            <a:avLst/>
          </a:prstGeom>
          <a:noFill/>
        </p:spPr>
        <p:txBody>
          <a:bodyPr wrap="square" lIns="0" rIns="0" tIns="0" bIns="0" anchor="ctr">
            <a:noAutofit/>
          </a:bodyPr>
          <a:lstStyle/>
          <a:p>
            <a:pPr algn="l"/>
            <a:r>
              <a:rPr sz="1300" b="1" i="0">
                <a:solidFill>
                  <a:srgbClr val="000048"/>
                </a:solidFill>
                <a:latin typeface="Arial"/>
              </a:rPr>
              <a:t>Application Insights</a:t>
            </a:r>
          </a:p>
          <a:p>
            <a:pPr algn="l"/>
            <a:r>
              <a:rPr sz="1100" b="0" i="0">
                <a:solidFill>
                  <a:srgbClr val="53565A"/>
                </a:solidFill>
                <a:latin typeface="Arial"/>
              </a:rPr>
              <a:t>traces, runs, errors, tokens</a:t>
            </a:r>
          </a:p>
        </p:txBody>
      </p:sp>
      <p:pic>
        <p:nvPicPr>
          <p:cNvPr id="20" name="Azure icon: Log Analytics workspace" descr="Official Azure icon: Log Analytics workspace"/>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21792" y="4782312"/>
            <a:ext cx="384048" cy="384048"/>
          </a:xfrm>
          <a:prstGeom prst="rect">
            <a:avLst/>
          </a:prstGeom>
        </p:spPr>
      </p:pic>
      <p:sp>
        <p:nvSpPr>
          <p:cNvPr id="21" name="TextBox 20"/>
          <p:cNvSpPr txBox="1"/>
          <p:nvPr/>
        </p:nvSpPr>
        <p:spPr>
          <a:xfrm>
            <a:off x="1078992" y="4745736"/>
            <a:ext cx="2221991" cy="457199"/>
          </a:xfrm>
          <a:prstGeom prst="rect">
            <a:avLst/>
          </a:prstGeom>
          <a:noFill/>
        </p:spPr>
        <p:txBody>
          <a:bodyPr wrap="square" lIns="0" rIns="0" tIns="0" bIns="0" anchor="ctr">
            <a:noAutofit/>
          </a:bodyPr>
          <a:lstStyle/>
          <a:p>
            <a:pPr algn="l"/>
            <a:r>
              <a:rPr sz="1300" b="1" i="0">
                <a:solidFill>
                  <a:srgbClr val="000048"/>
                </a:solidFill>
                <a:latin typeface="Arial"/>
              </a:rPr>
              <a:t>Log Analytics</a:t>
            </a:r>
          </a:p>
          <a:p>
            <a:pPr algn="l"/>
            <a:r>
              <a:rPr sz="1100" b="0" i="0">
                <a:solidFill>
                  <a:srgbClr val="53565A"/>
                </a:solidFill>
                <a:latin typeface="Arial"/>
              </a:rPr>
              <a:t>gateway and platform logs</a:t>
            </a:r>
          </a:p>
        </p:txBody>
      </p:sp>
      <p:sp>
        <p:nvSpPr>
          <p:cNvPr id="22" name="Rounded Rectangle 21"/>
          <p:cNvSpPr/>
          <p:nvPr/>
        </p:nvSpPr>
        <p:spPr>
          <a:xfrm>
            <a:off x="3977639" y="2697480"/>
            <a:ext cx="219456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3"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4823459" y="2770632"/>
            <a:ext cx="502920" cy="502920"/>
          </a:xfrm>
          <a:prstGeom prst="rect">
            <a:avLst/>
          </a:prstGeom>
        </p:spPr>
      </p:pic>
      <p:sp>
        <p:nvSpPr>
          <p:cNvPr id="24" name="TextBox 23"/>
          <p:cNvSpPr txBox="1"/>
          <p:nvPr/>
        </p:nvSpPr>
        <p:spPr>
          <a:xfrm>
            <a:off x="4014215" y="3310128"/>
            <a:ext cx="2121408" cy="528945"/>
          </a:xfrm>
          <a:prstGeom prst="rect">
            <a:avLst/>
          </a:prstGeom>
          <a:noFill/>
        </p:spPr>
        <p:txBody>
          <a:bodyPr wrap="square" lIns="0" rIns="0" tIns="0" bIns="0" anchor="t">
            <a:noAutofit/>
          </a:bodyPr>
          <a:lstStyle/>
          <a:p>
            <a:pPr algn="ctr"/>
            <a:r>
              <a:rPr sz="1400" b="1" i="0">
                <a:solidFill>
                  <a:srgbClr val="000048"/>
                </a:solidFill>
                <a:latin typeface="Arial"/>
              </a:rPr>
              <a:t>Reconciliation</a:t>
            </a:r>
          </a:p>
          <a:p>
            <a:pPr algn="ctr"/>
            <a:r>
              <a:rPr sz="1100" b="0" i="0">
                <a:solidFill>
                  <a:srgbClr val="53565A"/>
                </a:solidFill>
                <a:latin typeface="Arial"/>
              </a:rPr>
              <a:t>Function App, custom; joins on agent ID + version</a:t>
            </a:r>
          </a:p>
        </p:txBody>
      </p:sp>
      <p:sp>
        <p:nvSpPr>
          <p:cNvPr id="25" name="Rounded Rectangle 24"/>
          <p:cNvSpPr/>
          <p:nvPr/>
        </p:nvSpPr>
        <p:spPr>
          <a:xfrm>
            <a:off x="6675120" y="2697480"/>
            <a:ext cx="210312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6" name="Azure icon: Azure Cosmos DB" descr="Official Azure icon: Azure Cosmos DB"/>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7475219" y="2770632"/>
            <a:ext cx="502920" cy="502920"/>
          </a:xfrm>
          <a:prstGeom prst="rect">
            <a:avLst/>
          </a:prstGeom>
        </p:spPr>
      </p:pic>
      <p:sp>
        <p:nvSpPr>
          <p:cNvPr id="27" name="TextBox 26"/>
          <p:cNvSpPr txBox="1"/>
          <p:nvPr/>
        </p:nvSpPr>
        <p:spPr>
          <a:xfrm>
            <a:off x="6711696" y="3310128"/>
            <a:ext cx="2029967" cy="528945"/>
          </a:xfrm>
          <a:prstGeom prst="rect">
            <a:avLst/>
          </a:prstGeom>
          <a:noFill/>
        </p:spPr>
        <p:txBody>
          <a:bodyPr wrap="square" lIns="0" rIns="0" tIns="0" bIns="0" anchor="t">
            <a:noAutofit/>
          </a:bodyPr>
          <a:lstStyle/>
          <a:p>
            <a:pPr algn="ctr"/>
            <a:r>
              <a:rPr sz="1400" b="1" i="0">
                <a:solidFill>
                  <a:srgbClr val="000048"/>
                </a:solidFill>
                <a:latin typeface="Arial"/>
              </a:rPr>
              <a:t>Agent registry</a:t>
            </a:r>
          </a:p>
          <a:p>
            <a:pPr algn="ctr"/>
            <a:r>
              <a:rPr sz="1100" b="0" i="0">
                <a:solidFill>
                  <a:srgbClr val="53565A"/>
                </a:solidFill>
                <a:latin typeface="Arial"/>
              </a:rPr>
              <a:t>Cosmos DB, custom; record + status</a:t>
            </a:r>
          </a:p>
        </p:txBody>
      </p:sp>
      <p:sp>
        <p:nvSpPr>
          <p:cNvPr id="28" name="Rounded Rectangle 27"/>
          <p:cNvSpPr/>
          <p:nvPr/>
        </p:nvSpPr>
        <p:spPr>
          <a:xfrm>
            <a:off x="9372600" y="1463040"/>
            <a:ext cx="2286000" cy="1159881"/>
          </a:xfrm>
          <a:prstGeom prst="roundRect">
            <a:avLst>
              <a:gd name="adj" fmla="val 630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9" name="Azure icon: Azure Workbooks" descr="Official Azure icon: Azure Workbook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264140" y="1536192"/>
            <a:ext cx="502920" cy="502920"/>
          </a:xfrm>
          <a:prstGeom prst="rect">
            <a:avLst/>
          </a:prstGeom>
        </p:spPr>
      </p:pic>
      <p:sp>
        <p:nvSpPr>
          <p:cNvPr id="30" name="TextBox 29"/>
          <p:cNvSpPr txBox="1"/>
          <p:nvPr/>
        </p:nvSpPr>
        <p:spPr>
          <a:xfrm>
            <a:off x="9409176" y="2075688"/>
            <a:ext cx="2212848" cy="528945"/>
          </a:xfrm>
          <a:prstGeom prst="rect">
            <a:avLst/>
          </a:prstGeom>
          <a:noFill/>
        </p:spPr>
        <p:txBody>
          <a:bodyPr wrap="square" lIns="0" rIns="0" tIns="0" bIns="0" anchor="t">
            <a:noAutofit/>
          </a:bodyPr>
          <a:lstStyle/>
          <a:p>
            <a:pPr algn="ctr"/>
            <a:r>
              <a:rPr sz="1400" b="1" i="0">
                <a:solidFill>
                  <a:srgbClr val="000048"/>
                </a:solidFill>
                <a:latin typeface="Arial"/>
              </a:rPr>
              <a:t>Catalogue views</a:t>
            </a:r>
          </a:p>
          <a:p>
            <a:pPr algn="ctr"/>
            <a:r>
              <a:rPr sz="1100" b="0" i="0">
                <a:solidFill>
                  <a:srgbClr val="53565A"/>
                </a:solidFill>
                <a:latin typeface="Arial"/>
              </a:rPr>
              <a:t>Azure Workbooks: owner, status, usage, risk</a:t>
            </a:r>
          </a:p>
        </p:txBody>
      </p:sp>
      <p:sp>
        <p:nvSpPr>
          <p:cNvPr id="31" name="Rounded Rectangle 30"/>
          <p:cNvSpPr/>
          <p:nvPr/>
        </p:nvSpPr>
        <p:spPr>
          <a:xfrm>
            <a:off x="9235440" y="3429000"/>
            <a:ext cx="2560320" cy="2011680"/>
          </a:xfrm>
          <a:prstGeom prst="roundRect">
            <a:avLst>
              <a:gd name="adj" fmla="val 4545"/>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9345167" y="3483864"/>
            <a:ext cx="2340863" cy="237744"/>
          </a:xfrm>
          <a:prstGeom prst="rect">
            <a:avLst/>
          </a:prstGeom>
          <a:noFill/>
        </p:spPr>
        <p:txBody>
          <a:bodyPr wrap="square" lIns="0" rIns="0" tIns="0" bIns="0" anchor="t">
            <a:noAutofit/>
          </a:bodyPr>
          <a:lstStyle/>
          <a:p>
            <a:pPr algn="l"/>
            <a:r>
              <a:rPr sz="1100" b="1" i="0">
                <a:solidFill>
                  <a:srgbClr val="4B4BA8"/>
                </a:solidFill>
                <a:latin typeface="Arial"/>
              </a:rPr>
              <a:t>CONTAINMENT</a:t>
            </a:r>
          </a:p>
        </p:txBody>
      </p:sp>
      <p:sp>
        <p:nvSpPr>
          <p:cNvPr id="33" name="TextBox 32"/>
          <p:cNvSpPr txBox="1"/>
          <p:nvPr/>
        </p:nvSpPr>
        <p:spPr>
          <a:xfrm>
            <a:off x="9372600" y="3749039"/>
            <a:ext cx="2331720" cy="1645920"/>
          </a:xfrm>
          <a:prstGeom prst="rect">
            <a:avLst/>
          </a:prstGeom>
          <a:noFill/>
        </p:spPr>
        <p:txBody>
          <a:bodyPr wrap="square" lIns="0" rIns="0" tIns="0" bIns="0" anchor="t">
            <a:noAutofit/>
          </a:bodyPr>
          <a:lstStyle/>
          <a:p>
            <a:pPr algn="l"/>
            <a:r>
              <a:rPr sz="1300" b="0" i="0">
                <a:solidFill>
                  <a:srgbClr val="000048"/>
                </a:solidFill>
                <a:latin typeface="Arial"/>
              </a:rPr>
              <a:t>Operator or alert triggers block, cancel and deny; registry holds quarantine state (appendix K1)</a:t>
            </a:r>
          </a:p>
        </p:txBody>
      </p:sp>
      <p:cxnSp>
        <p:nvCxnSpPr>
          <p:cNvPr id="34" name="Connector (telemetry)"/>
          <p:cNvCxnSpPr/>
          <p:nvPr/>
        </p:nvCxnSpPr>
        <p:spPr>
          <a:xfrm>
            <a:off x="3429000" y="2450592"/>
            <a:ext cx="27432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telemetry)"/>
          <p:cNvCxnSpPr/>
          <p:nvPr/>
        </p:nvCxnSpPr>
        <p:spPr>
          <a:xfrm>
            <a:off x="3703320" y="2450592"/>
            <a:ext cx="0" cy="795528"/>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telemetry)"/>
          <p:cNvCxnSpPr/>
          <p:nvPr/>
        </p:nvCxnSpPr>
        <p:spPr>
          <a:xfrm>
            <a:off x="3703320" y="3246120"/>
            <a:ext cx="274319"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telemetry)"/>
          <p:cNvCxnSpPr/>
          <p:nvPr/>
        </p:nvCxnSpPr>
        <p:spPr>
          <a:xfrm>
            <a:off x="3429000" y="4572000"/>
            <a:ext cx="27432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telemetry)"/>
          <p:cNvCxnSpPr/>
          <p:nvPr/>
        </p:nvCxnSpPr>
        <p:spPr>
          <a:xfrm flipV="1">
            <a:off x="3703320" y="3429000"/>
            <a:ext cx="0" cy="114300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telemetry)"/>
          <p:cNvCxnSpPr/>
          <p:nvPr/>
        </p:nvCxnSpPr>
        <p:spPr>
          <a:xfrm>
            <a:off x="3703320" y="3429000"/>
            <a:ext cx="274319"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6172200" y="3337560"/>
            <a:ext cx="5029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035040" y="3017520"/>
            <a:ext cx="777240" cy="256032"/>
          </a:xfrm>
          <a:prstGeom prst="rect">
            <a:avLst/>
          </a:prstGeom>
          <a:noFill/>
        </p:spPr>
        <p:txBody>
          <a:bodyPr wrap="square" lIns="0" rIns="0" tIns="0" bIns="0" anchor="t">
            <a:noAutofit/>
          </a:bodyPr>
          <a:lstStyle/>
          <a:p>
            <a:pPr algn="ctr"/>
            <a:r>
              <a:rPr sz="1000" b="0" i="0">
                <a:solidFill>
                  <a:srgbClr val="000048"/>
                </a:solidFill>
                <a:latin typeface="Arial"/>
              </a:rPr>
              <a:t>writes</a:t>
            </a:r>
          </a:p>
        </p:txBody>
      </p:sp>
      <p:cxnSp>
        <p:nvCxnSpPr>
          <p:cNvPr id="42" name="Connector (flow)"/>
          <p:cNvCxnSpPr/>
          <p:nvPr/>
        </p:nvCxnSpPr>
        <p:spPr>
          <a:xfrm>
            <a:off x="8778240" y="3108960"/>
            <a:ext cx="27432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3" name="Connector (flow)"/>
          <p:cNvCxnSpPr/>
          <p:nvPr/>
        </p:nvCxnSpPr>
        <p:spPr>
          <a:xfrm flipV="1">
            <a:off x="9052560" y="2011680"/>
            <a:ext cx="0" cy="10972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4" name="Connector (flow)"/>
          <p:cNvCxnSpPr/>
          <p:nvPr/>
        </p:nvCxnSpPr>
        <p:spPr>
          <a:xfrm>
            <a:off x="9052560" y="2011680"/>
            <a:ext cx="32004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control)"/>
          <p:cNvCxnSpPr/>
          <p:nvPr/>
        </p:nvCxnSpPr>
        <p:spPr>
          <a:xfrm>
            <a:off x="8778240" y="3840480"/>
            <a:ext cx="457200" cy="365760"/>
          </a:xfrm>
          <a:prstGeom prst="line">
            <a:avLst/>
          </a:prstGeom>
          <a:ln w="22225">
            <a:solidFill>
              <a:srgbClr val="6363C9"/>
            </a:solidFill>
            <a:prstDash val="dash"/>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flow)"/>
          <p:cNvCxnSpPr/>
          <p:nvPr/>
        </p:nvCxnSpPr>
        <p:spPr>
          <a:xfrm>
            <a:off x="548640" y="571500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1024128" y="5596128"/>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48" name="Connector (control)"/>
          <p:cNvCxnSpPr/>
          <p:nvPr/>
        </p:nvCxnSpPr>
        <p:spPr>
          <a:xfrm>
            <a:off x="2926080" y="5715000"/>
            <a:ext cx="41148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3401568" y="5596128"/>
            <a:ext cx="1874519" cy="256032"/>
          </a:xfrm>
          <a:prstGeom prst="rect">
            <a:avLst/>
          </a:prstGeom>
          <a:noFill/>
        </p:spPr>
        <p:txBody>
          <a:bodyPr wrap="square" lIns="0" rIns="0" tIns="0" bIns="0" anchor="t">
            <a:noAutofit/>
          </a:bodyPr>
          <a:lstStyle/>
          <a:p>
            <a:pPr algn="l"/>
            <a:r>
              <a:rPr sz="1100" b="0" i="0">
                <a:solidFill>
                  <a:srgbClr val="53565A"/>
                </a:solidFill>
                <a:latin typeface="Arial"/>
              </a:rPr>
              <a:t>Control or containment path</a:t>
            </a:r>
          </a:p>
        </p:txBody>
      </p:sp>
      <p:cxnSp>
        <p:nvCxnSpPr>
          <p:cNvPr id="50" name="Connector (telemetry)"/>
          <p:cNvCxnSpPr/>
          <p:nvPr/>
        </p:nvCxnSpPr>
        <p:spPr>
          <a:xfrm>
            <a:off x="5303520" y="5715000"/>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51" name="TextBox 50"/>
          <p:cNvSpPr txBox="1"/>
          <p:nvPr/>
        </p:nvSpPr>
        <p:spPr>
          <a:xfrm>
            <a:off x="5779008" y="5596128"/>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52" name="TextBox 51"/>
          <p:cNvSpPr txBox="1"/>
          <p:nvPr/>
        </p:nvSpPr>
        <p:spPr>
          <a:xfrm>
            <a:off x="7863840" y="5596128"/>
            <a:ext cx="3749039" cy="274320"/>
          </a:xfrm>
          <a:prstGeom prst="rect">
            <a:avLst/>
          </a:prstGeom>
          <a:noFill/>
        </p:spPr>
        <p:txBody>
          <a:bodyPr wrap="square" lIns="0" rIns="0" tIns="0" bIns="0" anchor="t">
            <a:noAutofit/>
          </a:bodyPr>
          <a:lstStyle/>
          <a:p>
            <a:pPr algn="r"/>
            <a:r>
              <a:rPr sz="1100" b="0" i="0">
                <a:solidFill>
                  <a:srgbClr val="7373D8"/>
                </a:solidFill>
                <a:latin typeface="Arial"/>
              </a:rPr>
              <a:t>Purple outline = custom build</a:t>
            </a:r>
          </a:p>
        </p:txBody>
      </p:sp>
      <p:sp>
        <p:nvSpPr>
          <p:cNvPr id="53" name="TextBox 52"/>
          <p:cNvSpPr txBox="1"/>
          <p:nvPr/>
        </p:nvSpPr>
        <p:spPr>
          <a:xfrm>
            <a:off x="548640" y="594360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No telemetry is not proof of no usage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7 OF 10</a:t>
            </a:r>
          </a:p>
        </p:txBody>
      </p:sp>
      <p:sp>
        <p:nvSpPr>
          <p:cNvPr id="5" name="Status chip: PROPOSED RULES"/>
          <p:cNvSpPr/>
          <p:nvPr/>
        </p:nvSpPr>
        <p:spPr>
          <a:xfrm>
            <a:off x="365887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RULES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07</a:t>
            </a:r>
          </a:p>
        </p:txBody>
      </p:sp>
      <p:sp>
        <p:nvSpPr>
          <p:cNvPr id="8" name="Rounded Rectangle 7"/>
          <p:cNvSpPr/>
          <p:nvPr/>
        </p:nvSpPr>
        <p:spPr>
          <a:xfrm>
            <a:off x="548640" y="1371600"/>
            <a:ext cx="2743200" cy="603504"/>
          </a:xfrm>
          <a:prstGeom prst="roundRect">
            <a:avLst>
              <a:gd name="adj" fmla="val 12121"/>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1D6B3A"/>
                </a:solidFill>
                <a:latin typeface="Arial"/>
              </a:rPr>
              <a:t>Active</a:t>
            </a:r>
          </a:p>
        </p:txBody>
      </p:sp>
      <p:sp>
        <p:nvSpPr>
          <p:cNvPr id="9" name="TextBox 8"/>
          <p:cNvSpPr txBox="1"/>
          <p:nvPr/>
        </p:nvSpPr>
        <p:spPr>
          <a:xfrm>
            <a:off x="3520440" y="1481328"/>
            <a:ext cx="5120640" cy="457200"/>
          </a:xfrm>
          <a:prstGeom prst="rect">
            <a:avLst/>
          </a:prstGeom>
          <a:noFill/>
        </p:spPr>
        <p:txBody>
          <a:bodyPr wrap="square" lIns="0" rIns="0" tIns="0" bIns="0" anchor="t">
            <a:noAutofit/>
          </a:bodyPr>
          <a:lstStyle/>
          <a:p>
            <a:pPr algn="l"/>
            <a:r>
              <a:rPr sz="1700" b="0" i="0">
                <a:solidFill>
                  <a:srgbClr val="1E1E2E"/>
                </a:solidFill>
                <a:latin typeface="Arial"/>
              </a:rPr>
              <a:t>Qualifying runs in the last 30 days</a:t>
            </a:r>
          </a:p>
        </p:txBody>
      </p:sp>
      <p:sp>
        <p:nvSpPr>
          <p:cNvPr id="10" name="TextBox 9"/>
          <p:cNvSpPr txBox="1"/>
          <p:nvPr/>
        </p:nvSpPr>
        <p:spPr>
          <a:xfrm>
            <a:off x="8778240" y="1481328"/>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Monitor outcomes</a:t>
            </a:r>
          </a:p>
        </p:txBody>
      </p:sp>
      <p:sp>
        <p:nvSpPr>
          <p:cNvPr id="11" name="Rounded Rectangle 10"/>
          <p:cNvSpPr/>
          <p:nvPr/>
        </p:nvSpPr>
        <p:spPr>
          <a:xfrm>
            <a:off x="548640" y="2084832"/>
            <a:ext cx="2743200" cy="603504"/>
          </a:xfrm>
          <a:prstGeom prst="roundRect">
            <a:avLst>
              <a:gd name="adj" fmla="val 12121"/>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Never observed</a:t>
            </a:r>
          </a:p>
        </p:txBody>
      </p:sp>
      <p:sp>
        <p:nvSpPr>
          <p:cNvPr id="12" name="TextBox 11"/>
          <p:cNvSpPr txBox="1"/>
          <p:nvPr/>
        </p:nvSpPr>
        <p:spPr>
          <a:xfrm>
            <a:off x="3520440" y="2194560"/>
            <a:ext cx="5120640" cy="457200"/>
          </a:xfrm>
          <a:prstGeom prst="rect">
            <a:avLst/>
          </a:prstGeom>
          <a:noFill/>
        </p:spPr>
        <p:txBody>
          <a:bodyPr wrap="square" lIns="0" rIns="0" tIns="0" bIns="0" anchor="t">
            <a:noAutofit/>
          </a:bodyPr>
          <a:lstStyle/>
          <a:p>
            <a:pPr algn="l"/>
            <a:r>
              <a:rPr sz="1700" b="0" i="0">
                <a:solidFill>
                  <a:srgbClr val="1E1E2E"/>
                </a:solidFill>
                <a:latin typeface="Arial"/>
              </a:rPr>
              <a:t>Deployed; no run recorded since onboarding</a:t>
            </a:r>
          </a:p>
        </p:txBody>
      </p:sp>
      <p:sp>
        <p:nvSpPr>
          <p:cNvPr id="13" name="TextBox 12"/>
          <p:cNvSpPr txBox="1"/>
          <p:nvPr/>
        </p:nvSpPr>
        <p:spPr>
          <a:xfrm>
            <a:off x="8778240" y="2194560"/>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Validate onboarding</a:t>
            </a:r>
          </a:p>
        </p:txBody>
      </p:sp>
      <p:sp>
        <p:nvSpPr>
          <p:cNvPr id="14" name="Rounded Rectangle 13"/>
          <p:cNvSpPr/>
          <p:nvPr/>
        </p:nvSpPr>
        <p:spPr>
          <a:xfrm>
            <a:off x="548640" y="2798064"/>
            <a:ext cx="2743200" cy="603504"/>
          </a:xfrm>
          <a:prstGeom prst="roundRect">
            <a:avLst>
              <a:gd name="adj" fmla="val 1212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8A4B08"/>
                </a:solidFill>
                <a:latin typeface="Arial"/>
              </a:rPr>
              <a:t>Dormant candidate</a:t>
            </a:r>
          </a:p>
        </p:txBody>
      </p:sp>
      <p:sp>
        <p:nvSpPr>
          <p:cNvPr id="15" name="TextBox 14"/>
          <p:cNvSpPr txBox="1"/>
          <p:nvPr/>
        </p:nvSpPr>
        <p:spPr>
          <a:xfrm>
            <a:off x="3520440" y="2907792"/>
            <a:ext cx="5120640" cy="457200"/>
          </a:xfrm>
          <a:prstGeom prst="rect">
            <a:avLst/>
          </a:prstGeom>
          <a:noFill/>
        </p:spPr>
        <p:txBody>
          <a:bodyPr wrap="square" lIns="0" rIns="0" tIns="0" bIns="0" anchor="t">
            <a:noAutofit/>
          </a:bodyPr>
          <a:lstStyle/>
          <a:p>
            <a:pPr algn="l"/>
            <a:r>
              <a:rPr sz="1700" b="0" i="0">
                <a:solidFill>
                  <a:srgbClr val="1E1E2E"/>
                </a:solidFill>
                <a:latin typeface="Arial"/>
              </a:rPr>
              <a:t>No runs for 30 days; telemetry healthy</a:t>
            </a:r>
          </a:p>
        </p:txBody>
      </p:sp>
      <p:sp>
        <p:nvSpPr>
          <p:cNvPr id="16" name="TextBox 15"/>
          <p:cNvSpPr txBox="1"/>
          <p:nvPr/>
        </p:nvSpPr>
        <p:spPr>
          <a:xfrm>
            <a:off x="8778240" y="2907792"/>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Owner review</a:t>
            </a:r>
          </a:p>
        </p:txBody>
      </p:sp>
      <p:sp>
        <p:nvSpPr>
          <p:cNvPr id="17" name="Rounded Rectangle 16"/>
          <p:cNvSpPr/>
          <p:nvPr/>
        </p:nvSpPr>
        <p:spPr>
          <a:xfrm>
            <a:off x="548640" y="3511296"/>
            <a:ext cx="2743200" cy="603504"/>
          </a:xfrm>
          <a:prstGeom prst="roundRect">
            <a:avLst>
              <a:gd name="adj" fmla="val 12121"/>
            </a:avLst>
          </a:prstGeom>
          <a:solidFill>
            <a:srgbClr val="F3F3F3"/>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53565A"/>
                </a:solidFill>
                <a:latin typeface="Arial"/>
              </a:rPr>
              <a:t>Telemetry unknown</a:t>
            </a:r>
          </a:p>
        </p:txBody>
      </p:sp>
      <p:sp>
        <p:nvSpPr>
          <p:cNvPr id="18" name="TextBox 17"/>
          <p:cNvSpPr txBox="1"/>
          <p:nvPr/>
        </p:nvSpPr>
        <p:spPr>
          <a:xfrm>
            <a:off x="3520440" y="3621024"/>
            <a:ext cx="5120640" cy="457200"/>
          </a:xfrm>
          <a:prstGeom prst="rect">
            <a:avLst/>
          </a:prstGeom>
          <a:noFill/>
        </p:spPr>
        <p:txBody>
          <a:bodyPr wrap="square" lIns="0" rIns="0" tIns="0" bIns="0" anchor="t">
            <a:noAutofit/>
          </a:bodyPr>
          <a:lstStyle/>
          <a:p>
            <a:pPr algn="l"/>
            <a:r>
              <a:rPr sz="1700" b="0" i="0">
                <a:solidFill>
                  <a:srgbClr val="1E1E2E"/>
                </a:solidFill>
                <a:latin typeface="Arial"/>
              </a:rPr>
              <a:t>Telemetry missing, stale or unhealthy</a:t>
            </a:r>
          </a:p>
        </p:txBody>
      </p:sp>
      <p:sp>
        <p:nvSpPr>
          <p:cNvPr id="19" name="TextBox 18"/>
          <p:cNvSpPr txBox="1"/>
          <p:nvPr/>
        </p:nvSpPr>
        <p:spPr>
          <a:xfrm>
            <a:off x="8778240" y="3621024"/>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Repair monitoring</a:t>
            </a:r>
          </a:p>
        </p:txBody>
      </p:sp>
      <p:sp>
        <p:nvSpPr>
          <p:cNvPr id="20" name="Rounded Rectangle 19"/>
          <p:cNvSpPr/>
          <p:nvPr/>
        </p:nvSpPr>
        <p:spPr>
          <a:xfrm>
            <a:off x="548640" y="4224528"/>
            <a:ext cx="2743200" cy="603504"/>
          </a:xfrm>
          <a:prstGeom prst="roundRect">
            <a:avLst>
              <a:gd name="adj" fmla="val 12121"/>
            </a:avLst>
          </a:prstGeom>
          <a:solidFill>
            <a:srgbClr val="FBE9EA"/>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A4262C"/>
                </a:solidFill>
                <a:latin typeface="Arial"/>
              </a:rPr>
              <a:t>Orphaned</a:t>
            </a:r>
          </a:p>
        </p:txBody>
      </p:sp>
      <p:sp>
        <p:nvSpPr>
          <p:cNvPr id="21" name="TextBox 20"/>
          <p:cNvSpPr txBox="1"/>
          <p:nvPr/>
        </p:nvSpPr>
        <p:spPr>
          <a:xfrm>
            <a:off x="3520440" y="4334256"/>
            <a:ext cx="5120640" cy="457200"/>
          </a:xfrm>
          <a:prstGeom prst="rect">
            <a:avLst/>
          </a:prstGeom>
          <a:noFill/>
        </p:spPr>
        <p:txBody>
          <a:bodyPr wrap="square" lIns="0" rIns="0" tIns="0" bIns="0" anchor="t">
            <a:noAutofit/>
          </a:bodyPr>
          <a:lstStyle/>
          <a:p>
            <a:pPr algn="l"/>
            <a:r>
              <a:rPr sz="1700" b="0" i="0">
                <a:solidFill>
                  <a:srgbClr val="1E1E2E"/>
                </a:solidFill>
                <a:latin typeface="Arial"/>
              </a:rPr>
              <a:t>No valid owner, or resource without record</a:t>
            </a:r>
          </a:p>
        </p:txBody>
      </p:sp>
      <p:sp>
        <p:nvSpPr>
          <p:cNvPr id="22" name="TextBox 21"/>
          <p:cNvSpPr txBox="1"/>
          <p:nvPr/>
        </p:nvSpPr>
        <p:spPr>
          <a:xfrm>
            <a:off x="8778240" y="4334256"/>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Assign or retire</a:t>
            </a:r>
          </a:p>
        </p:txBody>
      </p:sp>
      <p:sp>
        <p:nvSpPr>
          <p:cNvPr id="23" name="Rounded Rectangle 22"/>
          <p:cNvSpPr/>
          <p:nvPr/>
        </p:nvSpPr>
        <p:spPr>
          <a:xfrm>
            <a:off x="548640" y="4937760"/>
            <a:ext cx="2743200" cy="603504"/>
          </a:xfrm>
          <a:prstGeom prst="roundRect">
            <a:avLst>
              <a:gd name="adj" fmla="val 12121"/>
            </a:avLst>
          </a:prstGeom>
          <a:solidFill>
            <a:srgbClr val="E6E6EF"/>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000048"/>
                </a:solidFill>
                <a:latin typeface="Arial"/>
              </a:rPr>
              <a:t>Blocked or retired</a:t>
            </a:r>
          </a:p>
        </p:txBody>
      </p:sp>
      <p:sp>
        <p:nvSpPr>
          <p:cNvPr id="24" name="TextBox 23"/>
          <p:cNvSpPr txBox="1"/>
          <p:nvPr/>
        </p:nvSpPr>
        <p:spPr>
          <a:xfrm>
            <a:off x="3520440" y="5047488"/>
            <a:ext cx="5120640" cy="457200"/>
          </a:xfrm>
          <a:prstGeom prst="rect">
            <a:avLst/>
          </a:prstGeom>
          <a:noFill/>
        </p:spPr>
        <p:txBody>
          <a:bodyPr wrap="square" lIns="0" rIns="0" tIns="0" bIns="0" anchor="t">
            <a:noAutofit/>
          </a:bodyPr>
          <a:lstStyle/>
          <a:p>
            <a:pPr algn="l"/>
            <a:r>
              <a:rPr sz="1700" b="0" i="0">
                <a:solidFill>
                  <a:srgbClr val="1E1E2E"/>
                </a:solidFill>
                <a:latin typeface="Arial"/>
              </a:rPr>
              <a:t>Recorded lifecycle decision</a:t>
            </a:r>
          </a:p>
        </p:txBody>
      </p:sp>
      <p:sp>
        <p:nvSpPr>
          <p:cNvPr id="25" name="TextBox 24"/>
          <p:cNvSpPr txBox="1"/>
          <p:nvPr/>
        </p:nvSpPr>
        <p:spPr>
          <a:xfrm>
            <a:off x="8778240" y="5047488"/>
            <a:ext cx="2834640" cy="457200"/>
          </a:xfrm>
          <a:prstGeom prst="rect">
            <a:avLst/>
          </a:prstGeom>
          <a:noFill/>
        </p:spPr>
        <p:txBody>
          <a:bodyPr wrap="square" lIns="0" rIns="0" tIns="0" bIns="0" anchor="t">
            <a:noAutofit/>
          </a:bodyPr>
          <a:lstStyle/>
          <a:p>
            <a:pPr algn="l"/>
            <a:r>
              <a:rPr sz="1700" b="1" i="0">
                <a:solidFill>
                  <a:srgbClr val="2F78C4"/>
                </a:solidFill>
                <a:latin typeface="Arial"/>
              </a:rPr>
              <a:t>Action: </a:t>
            </a:r>
            <a:r>
              <a:rPr sz="1700" b="0" i="0">
                <a:solidFill>
                  <a:srgbClr val="1E1E2E"/>
                </a:solidFill>
                <a:latin typeface="Arial"/>
              </a:rPr>
              <a:t>Verify residual resources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Four evidence gates, priced per work package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8 OF 10</a:t>
            </a:r>
          </a:p>
        </p:txBody>
      </p:sp>
      <p:sp>
        <p:nvSpPr>
          <p:cNvPr id="5" name="Status chip: PROPOSED"/>
          <p:cNvSpPr/>
          <p:nvPr/>
        </p:nvSpPr>
        <p:spPr>
          <a:xfrm>
            <a:off x="365887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Status chip: NO APPROVED RATES"/>
          <p:cNvSpPr/>
          <p:nvPr/>
        </p:nvSpPr>
        <p:spPr>
          <a:xfrm>
            <a:off x="471551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RATES</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08</a:t>
            </a:r>
          </a:p>
        </p:txBody>
      </p:sp>
      <p:sp>
        <p:nvSpPr>
          <p:cNvPr id="9" name="Rounded Rectangle 8"/>
          <p:cNvSpPr/>
          <p:nvPr/>
        </p:nvSpPr>
        <p:spPr>
          <a:xfrm>
            <a:off x="548640" y="1371600"/>
            <a:ext cx="2651760" cy="1371600"/>
          </a:xfrm>
          <a:prstGeom prst="roundRect">
            <a:avLst>
              <a:gd name="adj" fmla="val 533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900" b="1" i="0">
                <a:solidFill>
                  <a:srgbClr val="FFFFFF"/>
                </a:solidFill>
                <a:latin typeface="Arial"/>
              </a:rPr>
              <a:t>1  Inventory</a:t>
            </a:r>
          </a:p>
          <a:p>
            <a:pPr algn="l"/>
            <a:r>
              <a:rPr sz="1500" b="0" i="0">
                <a:solidFill>
                  <a:srgbClr val="26EFE9"/>
                </a:solidFill>
                <a:latin typeface="Arial"/>
              </a:rPr>
              <a:t>Platforms in scope and coverage gaps</a:t>
            </a:r>
          </a:p>
        </p:txBody>
      </p:sp>
      <p:cxnSp>
        <p:nvCxnSpPr>
          <p:cNvPr id="10" name="Connector (flow)"/>
          <p:cNvCxnSpPr/>
          <p:nvPr/>
        </p:nvCxnSpPr>
        <p:spPr>
          <a:xfrm>
            <a:off x="3200400" y="2057400"/>
            <a:ext cx="16459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64992" y="1371600"/>
            <a:ext cx="2651760" cy="1371600"/>
          </a:xfrm>
          <a:prstGeom prst="roundRect">
            <a:avLst>
              <a:gd name="adj" fmla="val 533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900" b="1" i="0">
                <a:solidFill>
                  <a:srgbClr val="FFFFFF"/>
                </a:solidFill>
                <a:latin typeface="Arial"/>
              </a:rPr>
              <a:t>2  Instrument</a:t>
            </a:r>
          </a:p>
          <a:p>
            <a:pPr algn="l"/>
            <a:r>
              <a:rPr sz="1500" b="0" i="0">
                <a:solidFill>
                  <a:srgbClr val="26EFE9"/>
                </a:solidFill>
                <a:latin typeface="Arial"/>
              </a:rPr>
              <a:t>Identity and trace joins per runtime</a:t>
            </a:r>
          </a:p>
        </p:txBody>
      </p:sp>
      <p:cxnSp>
        <p:nvCxnSpPr>
          <p:cNvPr id="12" name="Connector (flow)"/>
          <p:cNvCxnSpPr/>
          <p:nvPr/>
        </p:nvCxnSpPr>
        <p:spPr>
          <a:xfrm>
            <a:off x="6016752" y="2057400"/>
            <a:ext cx="16459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6181344" y="1371600"/>
            <a:ext cx="2651760" cy="1371600"/>
          </a:xfrm>
          <a:prstGeom prst="roundRect">
            <a:avLst>
              <a:gd name="adj" fmla="val 533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900" b="1" i="0">
                <a:solidFill>
                  <a:srgbClr val="FFFFFF"/>
                </a:solidFill>
                <a:latin typeface="Arial"/>
              </a:rPr>
              <a:t>3  Control</a:t>
            </a:r>
          </a:p>
          <a:p>
            <a:pPr algn="l"/>
            <a:r>
              <a:rPr sz="1500" b="0" i="0">
                <a:solidFill>
                  <a:srgbClr val="26EFE9"/>
                </a:solidFill>
                <a:latin typeface="Arial"/>
              </a:rPr>
              <a:t>Containment and runtime limits</a:t>
            </a:r>
          </a:p>
        </p:txBody>
      </p:sp>
      <p:cxnSp>
        <p:nvCxnSpPr>
          <p:cNvPr id="14" name="Connector (flow)"/>
          <p:cNvCxnSpPr/>
          <p:nvPr/>
        </p:nvCxnSpPr>
        <p:spPr>
          <a:xfrm>
            <a:off x="8833104" y="2057400"/>
            <a:ext cx="164592"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997696" y="1371600"/>
            <a:ext cx="2651760" cy="1371600"/>
          </a:xfrm>
          <a:prstGeom prst="roundRect">
            <a:avLst>
              <a:gd name="adj" fmla="val 5333"/>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t" lIns="164592" rIns="164592" tIns="73152" bIns="73152" wrap="square">
            <a:noAutofit/>
          </a:bodyPr>
          <a:lstStyle/>
          <a:p>
            <a:pPr algn="l">
              <a:spcAft>
                <a:spcPts val="400"/>
              </a:spcAft>
            </a:pPr>
            <a:r>
              <a:rPr sz="1900" b="1" i="0">
                <a:solidFill>
                  <a:srgbClr val="FFFFFF"/>
                </a:solidFill>
                <a:latin typeface="Arial"/>
              </a:rPr>
              <a:t>4  Exercise</a:t>
            </a:r>
          </a:p>
          <a:p>
            <a:pPr algn="l"/>
            <a:r>
              <a:rPr sz="1500" b="0" i="0">
                <a:solidFill>
                  <a:srgbClr val="26EFE9"/>
                </a:solidFill>
                <a:latin typeface="Arial"/>
              </a:rPr>
              <a:t>Bypass, loop and recovery drills</a:t>
            </a:r>
          </a:p>
        </p:txBody>
      </p:sp>
      <p:graphicFrame>
        <p:nvGraphicFramePr>
          <p:cNvPr id="16" name="Table"/>
          <p:cNvGraphicFramePr>
            <a:graphicFrameLocks noGrp="1"/>
          </p:cNvGraphicFramePr>
          <p:nvPr/>
        </p:nvGraphicFramePr>
        <p:xfrm>
          <a:off x="548640" y="3063240"/>
          <a:ext cx="11091672" cy="1386840"/>
        </p:xfrm>
        <a:graphic>
          <a:graphicData uri="http://schemas.openxmlformats.org/drawingml/2006/table">
            <a:tbl>
              <a:tblPr firstRow="1" bandRow="0">
                <a:tableStyleId>{5C22544A-7EE6-4342-B048-85BDC9FD1C3A}</a:tableStyleId>
              </a:tblPr>
              <a:tblGrid>
                <a:gridCol w="2743200"/>
                <a:gridCol w="3200400"/>
                <a:gridCol w="5148072"/>
              </a:tblGrid>
              <a:tr h="335280">
                <a:tc>
                  <a:txBody>
                    <a:bodyPr wrap="square" anchor="ctr">
                      <a:noAutofit/>
                    </a:bodyPr>
                    <a:lstStyle/>
                    <a:p>
                      <a:pPr algn="l"/>
                      <a:r>
                        <a:rPr sz="1600" b="1" i="0">
                          <a:solidFill>
                            <a:srgbClr val="FFFFFF"/>
                          </a:solidFill>
                          <a:latin typeface="Arial"/>
                        </a:rPr>
                        <a:t>Package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Pricing unit</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Sizing drivers</a:t>
                      </a:r>
                    </a:p>
                  </a:txBody>
                  <a:tcPr marL="73152" marR="73152" marT="36576" marB="36576" anchor="ctr">
                    <a:solidFill>
                      <a:srgbClr val="000048"/>
                    </a:solidFill>
                  </a:tcPr>
                </a:tc>
              </a:tr>
              <a:tr h="350520">
                <a:tc>
                  <a:txBody>
                    <a:bodyPr wrap="square" anchor="ctr">
                      <a:noAutofit/>
                    </a:bodyPr>
                    <a:lstStyle/>
                    <a:p>
                      <a:pPr algn="l"/>
                      <a:r>
                        <a:rPr sz="1700" b="1" i="0">
                          <a:solidFill>
                            <a:srgbClr val="1E1E2E"/>
                          </a:solidFill>
                          <a:latin typeface="Arial"/>
                        </a:rPr>
                        <a:t>Coverage assessment</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Fixed fee</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Subscriptions, runtime families, agent sample</a:t>
                      </a:r>
                    </a:p>
                  </a:txBody>
                  <a:tcPr marL="73152" marR="73152" marT="36576" marB="36576" anchor="ctr">
                    <a:solidFill>
                      <a:srgbClr val="FFFFFF"/>
                    </a:solidFill>
                  </a:tcPr>
                </a:tc>
              </a:tr>
              <a:tr h="350520">
                <a:tc>
                  <a:txBody>
                    <a:bodyPr wrap="square" anchor="ctr">
                      <a:noAutofit/>
                    </a:bodyPr>
                    <a:lstStyle/>
                    <a:p>
                      <a:pPr algn="l"/>
                      <a:r>
                        <a:rPr sz="1700" b="1" i="0">
                          <a:solidFill>
                            <a:srgbClr val="1E1E2E"/>
                          </a:solidFill>
                          <a:latin typeface="Arial"/>
                        </a:rPr>
                        <a:t>Implementation</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Role days x approved rate</a:t>
                      </a:r>
                    </a:p>
                  </a:txBody>
                  <a:tcPr marL="73152" marR="73152" marT="36576" marB="36576" anchor="ctr">
                    <a:solidFill>
                      <a:srgbClr val="F5F5F2"/>
                    </a:solidFill>
                  </a:tcPr>
                </a:tc>
                <a:tc>
                  <a:txBody>
                    <a:bodyPr wrap="square" anchor="ctr">
                      <a:noAutofit/>
                    </a:bodyPr>
                    <a:lstStyle/>
                    <a:p>
                      <a:pPr algn="l"/>
                      <a:r>
                        <a:rPr sz="1700" b="0" i="0">
                          <a:solidFill>
                            <a:srgbClr val="1E1E2E"/>
                          </a:solidFill>
                          <a:latin typeface="Arial"/>
                        </a:rPr>
                        <a:t>Agents, runtimes, tools, telemetry patterns</a:t>
                      </a:r>
                    </a:p>
                  </a:txBody>
                  <a:tcPr marL="73152" marR="73152" marT="36576" marB="36576" anchor="ctr">
                    <a:solidFill>
                      <a:srgbClr val="F5F5F2"/>
                    </a:solidFill>
                  </a:tcPr>
                </a:tc>
              </a:tr>
              <a:tr h="350520">
                <a:tc>
                  <a:txBody>
                    <a:bodyPr wrap="square" anchor="ctr">
                      <a:noAutofit/>
                    </a:bodyPr>
                    <a:lstStyle/>
                    <a:p>
                      <a:pPr algn="l"/>
                      <a:r>
                        <a:rPr sz="1700" b="1" i="0">
                          <a:solidFill>
                            <a:srgbClr val="1E1E2E"/>
                          </a:solidFill>
                          <a:latin typeface="Arial"/>
                        </a:rPr>
                        <a:t>Operation</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Recurring (offering 05)</a:t>
                      </a:r>
                    </a:p>
                  </a:txBody>
                  <a:tcPr marL="73152" marR="73152" marT="36576" marB="36576" anchor="ctr">
                    <a:solidFill>
                      <a:srgbClr val="FFFFFF"/>
                    </a:solidFill>
                  </a:tcPr>
                </a:tc>
                <a:tc>
                  <a:txBody>
                    <a:bodyPr wrap="square" anchor="ctr">
                      <a:noAutofit/>
                    </a:bodyPr>
                    <a:lstStyle/>
                    <a:p>
                      <a:pPr algn="l"/>
                      <a:r>
                        <a:rPr sz="1700" b="0" i="0">
                          <a:solidFill>
                            <a:srgbClr val="1E1E2E"/>
                          </a:solidFill>
                          <a:latin typeface="Arial"/>
                        </a:rPr>
                        <a:t>Agents under management, coverage hours</a:t>
                      </a:r>
                    </a:p>
                  </a:txBody>
                  <a:tcPr marL="73152" marR="73152" marT="36576" marB="36576" anchor="ctr">
                    <a:solidFill>
                      <a:srgbClr val="FFFFFF"/>
                    </a:solidFill>
                  </a:tcPr>
                </a:tc>
              </a:tr>
            </a:tbl>
          </a:graphicData>
        </a:graphic>
      </p:graphicFrame>
      <p:sp>
        <p:nvSpPr>
          <p:cNvPr id="17" name="Rounded Rectangle 16"/>
          <p:cNvSpPr/>
          <p:nvPr/>
        </p:nvSpPr>
        <p:spPr>
          <a:xfrm>
            <a:off x="548640" y="566928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600" b="1" i="0">
                <a:solidFill>
                  <a:srgbClr val="000048"/>
                </a:solidFill>
                <a:latin typeface="Arial"/>
              </a:rPr>
              <a:t>Note:  </a:t>
            </a:r>
            <a:r>
              <a:rPr sz="1600" b="0" i="0">
                <a:solidFill>
                  <a:srgbClr val="1E1E2E"/>
                </a:solidFill>
                <a:latin typeface="Arial"/>
              </a:rPr>
              <a:t>Telemetry ingestion and retention are customer Azure costs, not services revenue.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Dependencies and risks that decide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2927350" cy="256032"/>
          </a:xfrm>
          <a:prstGeom prst="rect">
            <a:avLst/>
          </a:prstGeom>
          <a:noFill/>
        </p:spPr>
        <p:txBody>
          <a:bodyPr wrap="square" lIns="0" rIns="0" tIns="0" bIns="0" anchor="t">
            <a:noAutofit/>
          </a:bodyPr>
          <a:lstStyle/>
          <a:p>
            <a:pPr algn="l"/>
            <a:r>
              <a:rPr sz="1100" b="1" i="0">
                <a:solidFill>
                  <a:srgbClr val="2F78C4"/>
                </a:solidFill>
                <a:latin typeface="Arial"/>
              </a:rPr>
              <a:t>EXECUTIVE SUMMARY  ·  9 OF 10</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09</a:t>
            </a:r>
          </a:p>
        </p:txBody>
      </p:sp>
      <p:graphicFrame>
        <p:nvGraphicFramePr>
          <p:cNvPr id="7" name="Table"/>
          <p:cNvGraphicFramePr>
            <a:graphicFrameLocks noGrp="1"/>
          </p:cNvGraphicFramePr>
          <p:nvPr/>
        </p:nvGraphicFramePr>
        <p:xfrm>
          <a:off x="548640" y="1371600"/>
          <a:ext cx="11091672" cy="3230880"/>
        </p:xfrm>
        <a:graphic>
          <a:graphicData uri="http://schemas.openxmlformats.org/drawingml/2006/table">
            <a:tbl>
              <a:tblPr firstRow="1" bandRow="0">
                <a:tableStyleId>{5C22544A-7EE6-4342-B048-85BDC9FD1C3A}</a:tableStyleId>
              </a:tblPr>
              <a:tblGrid>
                <a:gridCol w="2926080"/>
                <a:gridCol w="2743200"/>
                <a:gridCol w="3291840"/>
                <a:gridCol w="2130552"/>
              </a:tblGrid>
              <a:tr h="335280">
                <a:tc>
                  <a:txBody>
                    <a:bodyPr wrap="square" anchor="ctr">
                      <a:noAutofit/>
                    </a:bodyPr>
                    <a:lstStyle/>
                    <a:p>
                      <a:pPr algn="l"/>
                      <a:r>
                        <a:rPr sz="1600" b="1" i="0">
                          <a:solidFill>
                            <a:srgbClr val="FFFFFF"/>
                          </a:solidFill>
                          <a:latin typeface="Arial"/>
                        </a:rPr>
                        <a:t>Risk or dependency</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Effect if unmanaged</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Mitigation</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Owner</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Agents outside supported platforms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Catalogue looks complete but is not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Pipeline registration; coverage report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 with DevOps</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Telemetry gaps</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Live agents marked dormant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Telemetry-health state; no auto-delete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CIS Infra</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Direct endpoint access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Gateway block bypassed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Private endpoints; no shared keys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CIS Infra with Security</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Runtime cannot cancel work</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Agent keeps acting after block</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Outbound and tool-side denial</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AI</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Unclear containment authority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Slow or contested stop</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Named authority and restart approver</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risk owner</a:t>
                      </a:r>
                    </a:p>
                  </a:txBody>
                  <a:tcPr marL="73152" marR="73152" marT="36576" marB="36576"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success is measured, and what to decide now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3025140" cy="256032"/>
          </a:xfrm>
          <a:prstGeom prst="rect">
            <a:avLst/>
          </a:prstGeom>
          <a:noFill/>
        </p:spPr>
        <p:txBody>
          <a:bodyPr wrap="square" lIns="0" rIns="0" tIns="0" bIns="0" anchor="t">
            <a:noAutofit/>
          </a:bodyPr>
          <a:lstStyle/>
          <a:p>
            <a:pPr algn="l"/>
            <a:r>
              <a:rPr sz="1100" b="1" i="0">
                <a:solidFill>
                  <a:srgbClr val="2F78C4"/>
                </a:solidFill>
                <a:latin typeface="Arial"/>
              </a:rPr>
              <a:t>EXECUTIVE SUMMARY  ·  10 OF 10</a:t>
            </a:r>
          </a:p>
        </p:txBody>
      </p:sp>
      <p:sp>
        <p:nvSpPr>
          <p:cNvPr id="5" name="Status chip: TARGETS AFTER MEASUREMENT"/>
          <p:cNvSpPr/>
          <p:nvPr/>
        </p:nvSpPr>
        <p:spPr>
          <a:xfrm>
            <a:off x="3756660" y="274320"/>
            <a:ext cx="24333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TARGETS AFTER MEASUREMENT</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10</a:t>
            </a:r>
          </a:p>
        </p:txBody>
      </p:sp>
      <p:graphicFrame>
        <p:nvGraphicFramePr>
          <p:cNvPr id="8" name="Table"/>
          <p:cNvGraphicFramePr>
            <a:graphicFrameLocks noGrp="1"/>
          </p:cNvGraphicFramePr>
          <p:nvPr/>
        </p:nvGraphicFramePr>
        <p:xfrm>
          <a:off x="548640" y="1371600"/>
          <a:ext cx="6035040" cy="3230880"/>
        </p:xfrm>
        <a:graphic>
          <a:graphicData uri="http://schemas.openxmlformats.org/drawingml/2006/table">
            <a:tbl>
              <a:tblPr firstRow="1" bandRow="0">
                <a:tableStyleId>{5C22544A-7EE6-4342-B048-85BDC9FD1C3A}</a:tableStyleId>
              </a:tblPr>
              <a:tblGrid>
                <a:gridCol w="1737360"/>
                <a:gridCol w="4297680"/>
              </a:tblGrid>
              <a:tr h="335280">
                <a:tc>
                  <a:txBody>
                    <a:bodyPr wrap="square" anchor="ctr">
                      <a:noAutofit/>
                    </a:bodyPr>
                    <a:lstStyle/>
                    <a:p>
                      <a:pPr algn="l"/>
                      <a:r>
                        <a:rPr sz="1600" b="1" i="0">
                          <a:solidFill>
                            <a:srgbClr val="FFFFFF"/>
                          </a:solidFill>
                          <a:latin typeface="Arial"/>
                        </a:rPr>
                        <a:t>Measure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Definition</a:t>
                      </a:r>
                    </a:p>
                  </a:txBody>
                  <a:tcPr marL="73152" marR="73152" marT="36576" marB="36576" anchor="ctr">
                    <a:solidFill>
                      <a:srgbClr val="000048"/>
                    </a:solidFill>
                  </a:tcPr>
                </a:tc>
              </a:tr>
              <a:tr h="579120">
                <a:tc>
                  <a:txBody>
                    <a:bodyPr wrap="square" anchor="ctr">
                      <a:noAutofit/>
                    </a:bodyPr>
                    <a:lstStyle/>
                    <a:p>
                      <a:pPr algn="l"/>
                      <a:r>
                        <a:rPr sz="1600" b="1" i="0">
                          <a:solidFill>
                            <a:srgbClr val="1E1E2E"/>
                          </a:solidFill>
                          <a:latin typeface="Arial"/>
                        </a:rPr>
                        <a:t>Coverage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In-scope agents reconciled; gaps listed by reason</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Ownership</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Agents with a valid business and technical owner</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Classification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Test agents classified correctly in all six states</a:t>
                      </a:r>
                    </a:p>
                  </a:txBody>
                  <a:tcPr marL="73152" marR="73152" marT="36576" marB="36576" anchor="ctr">
                    <a:solidFill>
                      <a:srgbClr val="FFFFFF"/>
                    </a:solidFill>
                  </a:tcPr>
                </a:tc>
              </a:tr>
              <a:tr h="579120">
                <a:tc>
                  <a:txBody>
                    <a:bodyPr wrap="square" anchor="ctr">
                      <a:noAutofit/>
                    </a:bodyPr>
                    <a:lstStyle/>
                    <a:p>
                      <a:pPr algn="l"/>
                      <a:r>
                        <a:rPr sz="1600" b="1" i="0">
                          <a:solidFill>
                            <a:srgbClr val="1E1E2E"/>
                          </a:solidFill>
                          <a:latin typeface="Arial"/>
                        </a:rPr>
                        <a:t>Containment</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Block, cancel and deny each pass their drill</a:t>
                      </a:r>
                    </a:p>
                  </a:txBody>
                  <a:tcPr marL="73152" marR="73152" marT="36576" marB="36576" anchor="ctr">
                    <a:solidFill>
                      <a:srgbClr val="F5F5F2"/>
                    </a:solidFill>
                  </a:tcPr>
                </a:tc>
              </a:tr>
              <a:tr h="579120">
                <a:tc>
                  <a:txBody>
                    <a:bodyPr wrap="square" anchor="ctr">
                      <a:noAutofit/>
                    </a:bodyPr>
                    <a:lstStyle/>
                    <a:p>
                      <a:pPr algn="l"/>
                      <a:r>
                        <a:rPr sz="1600" b="1" i="0">
                          <a:solidFill>
                            <a:srgbClr val="1E1E2E"/>
                          </a:solidFill>
                          <a:latin typeface="Arial"/>
                        </a:rPr>
                        <a:t>Stop time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Measured worst case, recorded per runtime</a:t>
                      </a:r>
                    </a:p>
                  </a:txBody>
                  <a:tcPr marL="73152" marR="73152" marT="36576" marB="36576" anchor="ctr">
                    <a:solidFill>
                      <a:srgbClr val="FFFFFF"/>
                    </a:solidFill>
                  </a:tcPr>
                </a:tc>
              </a:tr>
            </a:tbl>
          </a:graphicData>
        </a:graphic>
      </p:graphicFrame>
      <p:sp>
        <p:nvSpPr>
          <p:cNvPr id="9" name="Rounded Rectangle 8"/>
          <p:cNvSpPr/>
          <p:nvPr/>
        </p:nvSpPr>
        <p:spPr>
          <a:xfrm>
            <a:off x="6903720" y="1371600"/>
            <a:ext cx="4736592"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Decide now</a:t>
            </a:r>
          </a:p>
        </p:txBody>
      </p:sp>
      <p:sp>
        <p:nvSpPr>
          <p:cNvPr id="10" name="TextBox 9"/>
          <p:cNvSpPr txBox="1"/>
          <p:nvPr/>
        </p:nvSpPr>
        <p:spPr>
          <a:xfrm>
            <a:off x="6903720" y="1965960"/>
            <a:ext cx="4736592" cy="1463040"/>
          </a:xfrm>
          <a:prstGeom prst="rect">
            <a:avLst/>
          </a:prstGeom>
          <a:noFill/>
        </p:spPr>
        <p:txBody>
          <a:bodyPr wrap="square" lIns="0" rIns="0" tIns="0" bIns="0" anchor="t">
            <a:noAutofit/>
          </a:bodyPr>
          <a:lstStyle/>
          <a:p>
            <a:pPr algn="l" marL="201168" indent="-201168">
              <a:spcAft>
                <a:spcPts val="400"/>
              </a:spcAft>
              <a:buFont typeface="Arial"/>
              <a:buChar char="•"/>
            </a:pPr>
            <a:r>
              <a:rPr sz="1700" b="0" i="0">
                <a:solidFill>
                  <a:srgbClr val="1E1E2E"/>
                </a:solidFill>
                <a:latin typeface="Arial"/>
              </a:rPr>
              <a:t>Pilot cohort and runtimes</a:t>
            </a:r>
          </a:p>
          <a:p>
            <a:pPr algn="l" marL="201168" indent="-201168">
              <a:spcAft>
                <a:spcPts val="400"/>
              </a:spcAft>
              <a:buFont typeface="Arial"/>
              <a:buChar char="•"/>
            </a:pPr>
            <a:r>
              <a:rPr sz="1700" b="0" i="0">
                <a:solidFill>
                  <a:srgbClr val="1E1E2E"/>
                </a:solidFill>
                <a:latin typeface="Arial"/>
              </a:rPr>
              <a:t>Containment and restart authority</a:t>
            </a:r>
          </a:p>
        </p:txBody>
      </p:sp>
      <p:sp>
        <p:nvSpPr>
          <p:cNvPr id="11" name="Rounded Rectangle 10"/>
          <p:cNvSpPr/>
          <p:nvPr/>
        </p:nvSpPr>
        <p:spPr>
          <a:xfrm>
            <a:off x="6903720" y="3337560"/>
            <a:ext cx="4736592" cy="502920"/>
          </a:xfrm>
          <a:prstGeom prst="roundRect">
            <a:avLst>
              <a:gd name="adj" fmla="val 14545"/>
            </a:avLst>
          </a:prstGeom>
          <a:solidFill>
            <a:srgbClr val="7373D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After evidence or approval</a:t>
            </a:r>
          </a:p>
        </p:txBody>
      </p:sp>
      <p:sp>
        <p:nvSpPr>
          <p:cNvPr id="12" name="TextBox 11"/>
          <p:cNvSpPr txBox="1"/>
          <p:nvPr/>
        </p:nvSpPr>
        <p:spPr>
          <a:xfrm>
            <a:off x="6903720" y="3931920"/>
            <a:ext cx="4736592" cy="1828800"/>
          </a:xfrm>
          <a:prstGeom prst="rect">
            <a:avLst/>
          </a:prstGeom>
          <a:noFill/>
        </p:spPr>
        <p:txBody>
          <a:bodyPr wrap="square" lIns="0" rIns="0" tIns="0" bIns="0" anchor="t">
            <a:noAutofit/>
          </a:bodyPr>
          <a:lstStyle/>
          <a:p>
            <a:pPr algn="l" marL="201168" indent="-201168">
              <a:spcAft>
                <a:spcPts val="400"/>
              </a:spcAft>
              <a:buFont typeface="Arial"/>
              <a:buChar char="•"/>
            </a:pPr>
            <a:r>
              <a:rPr sz="1700" b="0" i="0">
                <a:solidFill>
                  <a:srgbClr val="1E1E2E"/>
                </a:solidFill>
                <a:latin typeface="Arial"/>
              </a:rPr>
              <a:t>Stop-time targets (after drills)</a:t>
            </a:r>
          </a:p>
          <a:p>
            <a:pPr algn="l" marL="201168" indent="-201168">
              <a:spcAft>
                <a:spcPts val="400"/>
              </a:spcAft>
              <a:buFont typeface="Arial"/>
              <a:buChar char="•"/>
            </a:pPr>
            <a:r>
              <a:rPr sz="1700" b="0" i="0">
                <a:solidFill>
                  <a:srgbClr val="1E1E2E"/>
                </a:solidFill>
                <a:latin typeface="Arial"/>
              </a:rPr>
              <a:t>Sell rates (Finance)</a:t>
            </a:r>
          </a:p>
          <a:p>
            <a:pPr algn="l" marL="201168" indent="-201168">
              <a:spcAft>
                <a:spcPts val="400"/>
              </a:spcAft>
              <a:buFont typeface="Arial"/>
              <a:buChar char="•"/>
            </a:pPr>
            <a:r>
              <a:rPr sz="1700" b="0" i="0">
                <a:solidFill>
                  <a:srgbClr val="1E1E2E"/>
                </a:solidFill>
                <a:latin typeface="Arial"/>
              </a:rPr>
              <a:t>AI tower commitment for runtime limits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6EF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3" name="Picture 2" descr="image.png"/>
          <p:cNvPicPr>
            <a:picLocks noChangeAspect="1"/>
          </p:cNvPicPr>
          <p:nvPr/>
        </p:nvPicPr>
        <p:blipFill>
          <a:blip r:embed="rId2"/>
          <a:stretch>
            <a:fillRect/>
          </a:stretch>
        </p:blipFill>
        <p:spPr>
          <a:xfrm>
            <a:off x="548640" y="502920"/>
            <a:ext cx="1828800" cy="327435"/>
          </a:xfrm>
          <a:prstGeom prst="rect">
            <a:avLst/>
          </a:prstGeom>
        </p:spPr>
      </p:pic>
      <p:sp>
        <p:nvSpPr>
          <p:cNvPr id="4" name="TextBox 3"/>
          <p:cNvSpPr txBox="1"/>
          <p:nvPr/>
        </p:nvSpPr>
        <p:spPr>
          <a:xfrm>
            <a:off x="548640" y="2148840"/>
            <a:ext cx="10515600" cy="365760"/>
          </a:xfrm>
          <a:prstGeom prst="rect">
            <a:avLst/>
          </a:prstGeom>
          <a:noFill/>
        </p:spPr>
        <p:txBody>
          <a:bodyPr wrap="square" lIns="0" rIns="0" tIns="0" bIns="0" anchor="t">
            <a:noAutofit/>
          </a:bodyPr>
          <a:lstStyle/>
          <a:p>
            <a:pPr algn="l"/>
            <a:r>
              <a:rPr sz="1400" b="1" i="0">
                <a:solidFill>
                  <a:srgbClr val="000048"/>
                </a:solidFill>
                <a:latin typeface="Arial"/>
              </a:rPr>
              <a:t>APPENDIX</a:t>
            </a:r>
          </a:p>
        </p:txBody>
      </p:sp>
      <p:sp>
        <p:nvSpPr>
          <p:cNvPr id="5" name="Title"/>
          <p:cNvSpPr txBox="1"/>
          <p:nvPr/>
        </p:nvSpPr>
        <p:spPr>
          <a:xfrm>
            <a:off x="548640" y="2606040"/>
            <a:ext cx="10789920" cy="1005840"/>
          </a:xfrm>
          <a:prstGeom prst="rect">
            <a:avLst/>
          </a:prstGeom>
          <a:noFill/>
        </p:spPr>
        <p:txBody>
          <a:bodyPr wrap="square" lIns="0" rIns="0" tIns="0" bIns="0" anchor="t">
            <a:noAutofit/>
          </a:bodyPr>
          <a:lstStyle/>
          <a:p>
            <a:pPr algn="l"/>
            <a:r>
              <a:rPr sz="4000" b="1" i="0">
                <a:solidFill>
                  <a:srgbClr val="000048"/>
                </a:solidFill>
                <a:latin typeface="Arial"/>
              </a:rPr>
              <a:t>Technical and commercial appendix</a:t>
            </a:r>
          </a:p>
        </p:txBody>
      </p:sp>
      <p:sp>
        <p:nvSpPr>
          <p:cNvPr id="6" name="TextBox 5"/>
          <p:cNvSpPr txBox="1"/>
          <p:nvPr/>
        </p:nvSpPr>
        <p:spPr>
          <a:xfrm>
            <a:off x="548640" y="3749039"/>
            <a:ext cx="10058400" cy="1097280"/>
          </a:xfrm>
          <a:prstGeom prst="rect">
            <a:avLst/>
          </a:prstGeom>
          <a:noFill/>
        </p:spPr>
        <p:txBody>
          <a:bodyPr wrap="square" lIns="0" rIns="0" tIns="0" bIns="0" anchor="t">
            <a:noAutofit/>
          </a:bodyPr>
          <a:lstStyle/>
          <a:p>
            <a:pPr algn="l"/>
            <a:r>
              <a:rPr sz="2000" b="0" i="0">
                <a:solidFill>
                  <a:srgbClr val="000048"/>
                </a:solidFill>
                <a:latin typeface="Arial"/>
              </a:rPr>
              <a:t>Catalogue design, coverage, classification, kill-switch architecture, runtime controls, original references, RACI, revenue attribution, cost layers and sources.</a:t>
            </a:r>
          </a:p>
        </p:txBody>
      </p:sp>
      <p:sp>
        <p:nvSpPr>
          <p:cNvPr id="7" name="TextBox 6"/>
          <p:cNvSpPr txBox="1"/>
          <p:nvPr/>
        </p:nvSpPr>
        <p:spPr>
          <a:xfrm>
            <a:off x="10881360" y="6355080"/>
            <a:ext cx="731520" cy="274320"/>
          </a:xfrm>
          <a:prstGeom prst="rect">
            <a:avLst/>
          </a:prstGeom>
          <a:noFill/>
        </p:spPr>
        <p:txBody>
          <a:bodyPr wrap="square" lIns="0" rIns="0" tIns="0" bIns="0" anchor="t">
            <a:noAutofit/>
          </a:bodyPr>
          <a:lstStyle/>
          <a:p>
            <a:pPr algn="r"/>
            <a:r>
              <a:rPr sz="1100" b="0" i="0">
                <a:solidFill>
                  <a:srgbClr val="000048"/>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Appendix index</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873759" cy="256032"/>
          </a:xfrm>
          <a:prstGeom prst="rect">
            <a:avLst/>
          </a:prstGeom>
          <a:noFill/>
        </p:spPr>
        <p:txBody>
          <a:bodyPr wrap="square" lIns="0" rIns="0" tIns="0" bIns="0" anchor="t">
            <a:noAutofit/>
          </a:bodyPr>
          <a:lstStyle/>
          <a:p>
            <a:pPr algn="l"/>
            <a:r>
              <a:rPr sz="1100" b="1" i="0">
                <a:solidFill>
                  <a:srgbClr val="2F78C4"/>
                </a:solidFill>
                <a:latin typeface="Arial"/>
              </a:rPr>
              <a:t>APPENDIX</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6" name="TextBox 5"/>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12</a:t>
            </a:r>
          </a:p>
        </p:txBody>
      </p:sp>
      <p:sp>
        <p:nvSpPr>
          <p:cNvPr id="7" name="TextBox 6">
            <a:hlinkClick action="ppaction://hlinksldjump" r:id="rId4"/>
          </p:cNvPr>
          <p:cNvSpPr txBox="1"/>
          <p:nvPr/>
        </p:nvSpPr>
        <p:spPr>
          <a:xfrm>
            <a:off x="54864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13  </a:t>
            </a:r>
            <a:r>
              <a:rPr sz="1300" b="1" i="0">
                <a:solidFill>
                  <a:srgbClr val="000048"/>
                </a:solidFill>
                <a:latin typeface="Arial"/>
              </a:rPr>
              <a:t>A1  </a:t>
            </a:r>
            <a:r>
              <a:rPr sz="1300" b="0" i="0">
                <a:solidFill>
                  <a:srgbClr val="1E1E2E"/>
                </a:solidFill>
                <a:latin typeface="Arial"/>
              </a:rPr>
              <a:t>Catalogue architecture (detailed)</a:t>
            </a:r>
          </a:p>
        </p:txBody>
      </p:sp>
      <p:sp>
        <p:nvSpPr>
          <p:cNvPr id="8" name="TextBox 7">
            <a:hlinkClick action="ppaction://hlinksldjump" r:id="rId5"/>
          </p:cNvPr>
          <p:cNvSpPr txBox="1"/>
          <p:nvPr/>
        </p:nvSpPr>
        <p:spPr>
          <a:xfrm>
            <a:off x="54864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14  </a:t>
            </a:r>
            <a:r>
              <a:rPr sz="1300" b="1" i="0">
                <a:solidFill>
                  <a:srgbClr val="000048"/>
                </a:solidFill>
                <a:latin typeface="Arial"/>
              </a:rPr>
              <a:t>A2  </a:t>
            </a:r>
            <a:r>
              <a:rPr sz="1300" b="0" i="0">
                <a:solidFill>
                  <a:srgbClr val="1E1E2E"/>
                </a:solidFill>
                <a:latin typeface="Arial"/>
              </a:rPr>
              <a:t>Native versus custom capabilities</a:t>
            </a:r>
          </a:p>
        </p:txBody>
      </p:sp>
      <p:sp>
        <p:nvSpPr>
          <p:cNvPr id="9" name="TextBox 8">
            <a:hlinkClick action="ppaction://hlinksldjump" r:id="rId6"/>
          </p:cNvPr>
          <p:cNvSpPr txBox="1"/>
          <p:nvPr/>
        </p:nvSpPr>
        <p:spPr>
          <a:xfrm>
            <a:off x="54864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15  </a:t>
            </a:r>
            <a:r>
              <a:rPr sz="1300" b="1" i="0">
                <a:solidFill>
                  <a:srgbClr val="000048"/>
                </a:solidFill>
                <a:latin typeface="Arial"/>
              </a:rPr>
              <a:t>A3  </a:t>
            </a:r>
            <a:r>
              <a:rPr sz="1300" b="0" i="0">
                <a:solidFill>
                  <a:srgbClr val="1E1E2E"/>
                </a:solidFill>
                <a:latin typeface="Arial"/>
              </a:rPr>
              <a:t>Minimum catalogue record</a:t>
            </a:r>
          </a:p>
        </p:txBody>
      </p:sp>
      <p:sp>
        <p:nvSpPr>
          <p:cNvPr id="10" name="TextBox 9">
            <a:hlinkClick action="ppaction://hlinksldjump" r:id="rId7"/>
          </p:cNvPr>
          <p:cNvSpPr txBox="1"/>
          <p:nvPr/>
        </p:nvSpPr>
        <p:spPr>
          <a:xfrm>
            <a:off x="54864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16  </a:t>
            </a:r>
            <a:r>
              <a:rPr sz="1300" b="1" i="0">
                <a:solidFill>
                  <a:srgbClr val="000048"/>
                </a:solidFill>
                <a:latin typeface="Arial"/>
              </a:rPr>
              <a:t>A4  </a:t>
            </a:r>
            <a:r>
              <a:rPr sz="1300" b="0" i="0">
                <a:solidFill>
                  <a:srgbClr val="1E1E2E"/>
                </a:solidFill>
                <a:latin typeface="Arial"/>
              </a:rPr>
              <a:t>Inventory versus runtime evidence</a:t>
            </a:r>
          </a:p>
        </p:txBody>
      </p:sp>
      <p:sp>
        <p:nvSpPr>
          <p:cNvPr id="11" name="TextBox 10">
            <a:hlinkClick action="ppaction://hlinksldjump" r:id="rId8"/>
          </p:cNvPr>
          <p:cNvSpPr txBox="1"/>
          <p:nvPr/>
        </p:nvSpPr>
        <p:spPr>
          <a:xfrm>
            <a:off x="54864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17  </a:t>
            </a:r>
            <a:r>
              <a:rPr sz="1300" b="1" i="0">
                <a:solidFill>
                  <a:srgbClr val="000048"/>
                </a:solidFill>
                <a:latin typeface="Arial"/>
              </a:rPr>
              <a:t>A5  </a:t>
            </a:r>
            <a:r>
              <a:rPr sz="1300" b="0" i="0">
                <a:solidFill>
                  <a:srgbClr val="1E1E2E"/>
                </a:solidFill>
                <a:latin typeface="Arial"/>
              </a:rPr>
              <a:t>Usage classification rules</a:t>
            </a:r>
          </a:p>
        </p:txBody>
      </p:sp>
      <p:sp>
        <p:nvSpPr>
          <p:cNvPr id="12" name="TextBox 11">
            <a:hlinkClick action="ppaction://hlinksldjump" r:id="rId9"/>
          </p:cNvPr>
          <p:cNvSpPr txBox="1"/>
          <p:nvPr/>
        </p:nvSpPr>
        <p:spPr>
          <a:xfrm>
            <a:off x="54864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18  </a:t>
            </a:r>
            <a:r>
              <a:rPr sz="1300" b="1" i="0">
                <a:solidFill>
                  <a:srgbClr val="000048"/>
                </a:solidFill>
                <a:latin typeface="Arial"/>
              </a:rPr>
              <a:t>A6  </a:t>
            </a:r>
            <a:r>
              <a:rPr sz="1300" b="0" i="0">
                <a:solidFill>
                  <a:srgbClr val="1E1E2E"/>
                </a:solidFill>
                <a:latin typeface="Arial"/>
              </a:rPr>
              <a:t>Coverage: native, custom, outside</a:t>
            </a:r>
          </a:p>
        </p:txBody>
      </p:sp>
      <p:sp>
        <p:nvSpPr>
          <p:cNvPr id="13" name="TextBox 12">
            <a:hlinkClick action="ppaction://hlinksldjump" r:id="rId10"/>
          </p:cNvPr>
          <p:cNvSpPr txBox="1"/>
          <p:nvPr/>
        </p:nvSpPr>
        <p:spPr>
          <a:xfrm>
            <a:off x="548640" y="3227832"/>
            <a:ext cx="5486400" cy="301752"/>
          </a:xfrm>
          <a:prstGeom prst="rect">
            <a:avLst/>
          </a:prstGeom>
          <a:noFill/>
        </p:spPr>
        <p:txBody>
          <a:bodyPr wrap="square" lIns="0" rIns="0" tIns="0" bIns="0" anchor="t">
            <a:noAutofit/>
          </a:bodyPr>
          <a:lstStyle/>
          <a:p>
            <a:pPr algn="l"/>
            <a:r>
              <a:rPr sz="1300" b="1" i="0">
                <a:solidFill>
                  <a:srgbClr val="2F78C4"/>
                </a:solidFill>
                <a:latin typeface="Arial"/>
              </a:rPr>
              <a:t>19  </a:t>
            </a:r>
            <a:r>
              <a:rPr sz="1300" b="1" i="0">
                <a:solidFill>
                  <a:srgbClr val="000048"/>
                </a:solidFill>
                <a:latin typeface="Arial"/>
              </a:rPr>
              <a:t>A7  </a:t>
            </a:r>
            <a:r>
              <a:rPr sz="1300" b="0" i="0">
                <a:solidFill>
                  <a:srgbClr val="1E1E2E"/>
                </a:solidFill>
                <a:latin typeface="Arial"/>
              </a:rPr>
              <a:t>Illustrative catalogue dashboard</a:t>
            </a:r>
          </a:p>
        </p:txBody>
      </p:sp>
      <p:sp>
        <p:nvSpPr>
          <p:cNvPr id="14" name="TextBox 13">
            <a:hlinkClick action="ppaction://hlinksldjump" r:id="rId11"/>
          </p:cNvPr>
          <p:cNvSpPr txBox="1"/>
          <p:nvPr/>
        </p:nvSpPr>
        <p:spPr>
          <a:xfrm>
            <a:off x="548640" y="3529584"/>
            <a:ext cx="5486400" cy="301752"/>
          </a:xfrm>
          <a:prstGeom prst="rect">
            <a:avLst/>
          </a:prstGeom>
          <a:noFill/>
        </p:spPr>
        <p:txBody>
          <a:bodyPr wrap="square" lIns="0" rIns="0" tIns="0" bIns="0" anchor="t">
            <a:noAutofit/>
          </a:bodyPr>
          <a:lstStyle/>
          <a:p>
            <a:pPr algn="l"/>
            <a:r>
              <a:rPr sz="1300" b="1" i="0">
                <a:solidFill>
                  <a:srgbClr val="2F78C4"/>
                </a:solidFill>
                <a:latin typeface="Arial"/>
              </a:rPr>
              <a:t>20  </a:t>
            </a:r>
            <a:r>
              <a:rPr sz="1300" b="1" i="0">
                <a:solidFill>
                  <a:srgbClr val="000048"/>
                </a:solidFill>
                <a:latin typeface="Arial"/>
              </a:rPr>
              <a:t>K1  </a:t>
            </a:r>
            <a:r>
              <a:rPr sz="1300" b="0" i="0">
                <a:solidFill>
                  <a:srgbClr val="1E1E2E"/>
                </a:solidFill>
                <a:latin typeface="Arial"/>
              </a:rPr>
              <a:t>Kill-switch reference architecture</a:t>
            </a:r>
          </a:p>
        </p:txBody>
      </p:sp>
      <p:sp>
        <p:nvSpPr>
          <p:cNvPr id="15" name="TextBox 14">
            <a:hlinkClick action="ppaction://hlinksldjump" r:id="rId12"/>
          </p:cNvPr>
          <p:cNvSpPr txBox="1"/>
          <p:nvPr/>
        </p:nvSpPr>
        <p:spPr>
          <a:xfrm>
            <a:off x="548640" y="3831336"/>
            <a:ext cx="5486400" cy="301752"/>
          </a:xfrm>
          <a:prstGeom prst="rect">
            <a:avLst/>
          </a:prstGeom>
          <a:noFill/>
        </p:spPr>
        <p:txBody>
          <a:bodyPr wrap="square" lIns="0" rIns="0" tIns="0" bIns="0" anchor="t">
            <a:noAutofit/>
          </a:bodyPr>
          <a:lstStyle/>
          <a:p>
            <a:pPr algn="l"/>
            <a:r>
              <a:rPr sz="1300" b="1" i="0">
                <a:solidFill>
                  <a:srgbClr val="2F78C4"/>
                </a:solidFill>
                <a:latin typeface="Arial"/>
              </a:rPr>
              <a:t>21  </a:t>
            </a:r>
            <a:r>
              <a:rPr sz="1300" b="1" i="0">
                <a:solidFill>
                  <a:srgbClr val="000048"/>
                </a:solidFill>
                <a:latin typeface="Arial"/>
              </a:rPr>
              <a:t>K2  </a:t>
            </a:r>
            <a:r>
              <a:rPr sz="1300" b="0" i="0">
                <a:solidFill>
                  <a:srgbClr val="1E1E2E"/>
                </a:solidFill>
                <a:latin typeface="Arial"/>
              </a:rPr>
              <a:t>Block, cancel, deny: what each layer does</a:t>
            </a:r>
          </a:p>
        </p:txBody>
      </p:sp>
      <p:sp>
        <p:nvSpPr>
          <p:cNvPr id="16" name="TextBox 15">
            <a:hlinkClick action="ppaction://hlinksldjump" r:id="rId13"/>
          </p:cNvPr>
          <p:cNvSpPr txBox="1"/>
          <p:nvPr/>
        </p:nvSpPr>
        <p:spPr>
          <a:xfrm>
            <a:off x="548640" y="4133088"/>
            <a:ext cx="5486400" cy="301752"/>
          </a:xfrm>
          <a:prstGeom prst="rect">
            <a:avLst/>
          </a:prstGeom>
          <a:noFill/>
        </p:spPr>
        <p:txBody>
          <a:bodyPr wrap="square" lIns="0" rIns="0" tIns="0" bIns="0" anchor="t">
            <a:noAutofit/>
          </a:bodyPr>
          <a:lstStyle/>
          <a:p>
            <a:pPr algn="l"/>
            <a:r>
              <a:rPr sz="1300" b="1" i="0">
                <a:solidFill>
                  <a:srgbClr val="2F78C4"/>
                </a:solidFill>
                <a:latin typeface="Arial"/>
              </a:rPr>
              <a:t>22  </a:t>
            </a:r>
            <a:r>
              <a:rPr sz="1300" b="1" i="0">
                <a:solidFill>
                  <a:srgbClr val="000048"/>
                </a:solidFill>
                <a:latin typeface="Arial"/>
              </a:rPr>
              <a:t>K3  </a:t>
            </a:r>
            <a:r>
              <a:rPr sz="1300" b="0" i="0">
                <a:solidFill>
                  <a:srgbClr val="1E1E2E"/>
                </a:solidFill>
                <a:latin typeface="Arial"/>
              </a:rPr>
              <a:t>Containment limits</a:t>
            </a:r>
          </a:p>
        </p:txBody>
      </p:sp>
      <p:sp>
        <p:nvSpPr>
          <p:cNvPr id="17" name="TextBox 16">
            <a:hlinkClick action="ppaction://hlinksldjump" r:id="rId14"/>
          </p:cNvPr>
          <p:cNvSpPr txBox="1"/>
          <p:nvPr/>
        </p:nvSpPr>
        <p:spPr>
          <a:xfrm>
            <a:off x="548640" y="4434840"/>
            <a:ext cx="5486400" cy="301752"/>
          </a:xfrm>
          <a:prstGeom prst="rect">
            <a:avLst/>
          </a:prstGeom>
          <a:noFill/>
        </p:spPr>
        <p:txBody>
          <a:bodyPr wrap="square" lIns="0" rIns="0" tIns="0" bIns="0" anchor="t">
            <a:noAutofit/>
          </a:bodyPr>
          <a:lstStyle/>
          <a:p>
            <a:pPr algn="l"/>
            <a:r>
              <a:rPr sz="1300" b="1" i="0">
                <a:solidFill>
                  <a:srgbClr val="2F78C4"/>
                </a:solidFill>
                <a:latin typeface="Arial"/>
              </a:rPr>
              <a:t>23  </a:t>
            </a:r>
            <a:r>
              <a:rPr sz="1300" b="1" i="0">
                <a:solidFill>
                  <a:srgbClr val="000048"/>
                </a:solidFill>
                <a:latin typeface="Arial"/>
              </a:rPr>
              <a:t>K4  </a:t>
            </a:r>
            <a:r>
              <a:rPr sz="1300" b="0" i="0">
                <a:solidFill>
                  <a:srgbClr val="1E1E2E"/>
                </a:solidFill>
                <a:latin typeface="Arial"/>
              </a:rPr>
              <a:t>Containment test scenarios</a:t>
            </a:r>
          </a:p>
        </p:txBody>
      </p:sp>
      <p:sp>
        <p:nvSpPr>
          <p:cNvPr id="18" name="TextBox 17">
            <a:hlinkClick action="ppaction://hlinksldjump" r:id="rId15"/>
          </p:cNvPr>
          <p:cNvSpPr txBox="1"/>
          <p:nvPr/>
        </p:nvSpPr>
        <p:spPr>
          <a:xfrm>
            <a:off x="548640" y="4736592"/>
            <a:ext cx="5486400" cy="301752"/>
          </a:xfrm>
          <a:prstGeom prst="rect">
            <a:avLst/>
          </a:prstGeom>
          <a:noFill/>
        </p:spPr>
        <p:txBody>
          <a:bodyPr wrap="square" lIns="0" rIns="0" tIns="0" bIns="0" anchor="t">
            <a:noAutofit/>
          </a:bodyPr>
          <a:lstStyle/>
          <a:p>
            <a:pPr algn="l"/>
            <a:r>
              <a:rPr sz="1300" b="1" i="0">
                <a:solidFill>
                  <a:srgbClr val="2F78C4"/>
                </a:solidFill>
                <a:latin typeface="Arial"/>
              </a:rPr>
              <a:t>24  </a:t>
            </a:r>
            <a:r>
              <a:rPr sz="1300" b="1" i="0">
                <a:solidFill>
                  <a:srgbClr val="000048"/>
                </a:solidFill>
                <a:latin typeface="Arial"/>
              </a:rPr>
              <a:t>A8  </a:t>
            </a:r>
            <a:r>
              <a:rPr sz="1300" b="0" i="0">
                <a:solidFill>
                  <a:srgbClr val="1E1E2E"/>
                </a:solidFill>
                <a:latin typeface="Arial"/>
              </a:rPr>
              <a:t>Foundry lifecycle actions by agent type</a:t>
            </a:r>
          </a:p>
        </p:txBody>
      </p:sp>
      <p:sp>
        <p:nvSpPr>
          <p:cNvPr id="19" name="TextBox 18">
            <a:hlinkClick action="ppaction://hlinksldjump" r:id="rId16"/>
          </p:cNvPr>
          <p:cNvSpPr txBox="1"/>
          <p:nvPr/>
        </p:nvSpPr>
        <p:spPr>
          <a:xfrm>
            <a:off x="548640" y="5038344"/>
            <a:ext cx="5486400" cy="301752"/>
          </a:xfrm>
          <a:prstGeom prst="rect">
            <a:avLst/>
          </a:prstGeom>
          <a:noFill/>
        </p:spPr>
        <p:txBody>
          <a:bodyPr wrap="square" lIns="0" rIns="0" tIns="0" bIns="0" anchor="t">
            <a:noAutofit/>
          </a:bodyPr>
          <a:lstStyle/>
          <a:p>
            <a:pPr algn="l"/>
            <a:r>
              <a:rPr sz="1300" b="1" i="0">
                <a:solidFill>
                  <a:srgbClr val="2F78C4"/>
                </a:solidFill>
                <a:latin typeface="Arial"/>
              </a:rPr>
              <a:t>25  </a:t>
            </a:r>
            <a:r>
              <a:rPr sz="1300" b="1" i="0">
                <a:solidFill>
                  <a:srgbClr val="000048"/>
                </a:solidFill>
                <a:latin typeface="Arial"/>
              </a:rPr>
              <a:t>A9  </a:t>
            </a:r>
            <a:r>
              <a:rPr sz="1300" b="0" i="0">
                <a:solidFill>
                  <a:srgbClr val="1E1E2E"/>
                </a:solidFill>
                <a:latin typeface="Arial"/>
              </a:rPr>
              <a:t>Runtime limits and approvals</a:t>
            </a:r>
          </a:p>
        </p:txBody>
      </p:sp>
      <p:sp>
        <p:nvSpPr>
          <p:cNvPr id="20" name="TextBox 19">
            <a:hlinkClick action="ppaction://hlinksldjump" r:id="rId17"/>
          </p:cNvPr>
          <p:cNvSpPr txBox="1"/>
          <p:nvPr/>
        </p:nvSpPr>
        <p:spPr>
          <a:xfrm>
            <a:off x="548640" y="5340096"/>
            <a:ext cx="5486400" cy="301752"/>
          </a:xfrm>
          <a:prstGeom prst="rect">
            <a:avLst/>
          </a:prstGeom>
          <a:noFill/>
        </p:spPr>
        <p:txBody>
          <a:bodyPr wrap="square" lIns="0" rIns="0" tIns="0" bIns="0" anchor="t">
            <a:noAutofit/>
          </a:bodyPr>
          <a:lstStyle/>
          <a:p>
            <a:pPr algn="l"/>
            <a:r>
              <a:rPr sz="1300" b="1" i="0">
                <a:solidFill>
                  <a:srgbClr val="2F78C4"/>
                </a:solidFill>
                <a:latin typeface="Arial"/>
              </a:rPr>
              <a:t>26  </a:t>
            </a:r>
            <a:r>
              <a:rPr sz="1300" b="1" i="0">
                <a:solidFill>
                  <a:srgbClr val="000048"/>
                </a:solidFill>
                <a:latin typeface="Arial"/>
              </a:rPr>
              <a:t>A10  </a:t>
            </a:r>
            <a:r>
              <a:rPr sz="1300" b="0" i="0">
                <a:solidFill>
                  <a:srgbClr val="1E1E2E"/>
                </a:solidFill>
                <a:latin typeface="Arial"/>
              </a:rPr>
              <a:t>Agentic retrieval loop (adapted)</a:t>
            </a:r>
          </a:p>
        </p:txBody>
      </p:sp>
      <p:sp>
        <p:nvSpPr>
          <p:cNvPr id="21" name="TextBox 20">
            <a:hlinkClick action="ppaction://hlinksldjump" r:id="rId18"/>
          </p:cNvPr>
          <p:cNvSpPr txBox="1"/>
          <p:nvPr/>
        </p:nvSpPr>
        <p:spPr>
          <a:xfrm>
            <a:off x="6217920" y="1417320"/>
            <a:ext cx="5486400" cy="301752"/>
          </a:xfrm>
          <a:prstGeom prst="rect">
            <a:avLst/>
          </a:prstGeom>
          <a:noFill/>
        </p:spPr>
        <p:txBody>
          <a:bodyPr wrap="square" lIns="0" rIns="0" tIns="0" bIns="0" anchor="t">
            <a:noAutofit/>
          </a:bodyPr>
          <a:lstStyle/>
          <a:p>
            <a:pPr algn="l"/>
            <a:r>
              <a:rPr sz="1300" b="1" i="0">
                <a:solidFill>
                  <a:srgbClr val="2F78C4"/>
                </a:solidFill>
                <a:latin typeface="Arial"/>
              </a:rPr>
              <a:t>27  </a:t>
            </a:r>
            <a:r>
              <a:rPr sz="1300" b="1" i="0">
                <a:solidFill>
                  <a:srgbClr val="000048"/>
                </a:solidFill>
                <a:latin typeface="Arial"/>
              </a:rPr>
              <a:t>A11  </a:t>
            </a:r>
            <a:r>
              <a:rPr sz="1300" b="0" i="0">
                <a:solidFill>
                  <a:srgbClr val="1E1E2E"/>
                </a:solidFill>
                <a:latin typeface="Arial"/>
              </a:rPr>
              <a:t>Multi-agent workload (adapted)</a:t>
            </a:r>
          </a:p>
        </p:txBody>
      </p:sp>
      <p:sp>
        <p:nvSpPr>
          <p:cNvPr id="22" name="TextBox 21">
            <a:hlinkClick action="ppaction://hlinksldjump" r:id="rId19"/>
          </p:cNvPr>
          <p:cNvSpPr txBox="1"/>
          <p:nvPr/>
        </p:nvSpPr>
        <p:spPr>
          <a:xfrm>
            <a:off x="6217920" y="1719072"/>
            <a:ext cx="5486400" cy="301752"/>
          </a:xfrm>
          <a:prstGeom prst="rect">
            <a:avLst/>
          </a:prstGeom>
          <a:noFill/>
        </p:spPr>
        <p:txBody>
          <a:bodyPr wrap="square" lIns="0" rIns="0" tIns="0" bIns="0" anchor="t">
            <a:noAutofit/>
          </a:bodyPr>
          <a:lstStyle/>
          <a:p>
            <a:pPr algn="l"/>
            <a:r>
              <a:rPr sz="1300" b="1" i="0">
                <a:solidFill>
                  <a:srgbClr val="2F78C4"/>
                </a:solidFill>
                <a:latin typeface="Arial"/>
              </a:rPr>
              <a:t>28  </a:t>
            </a:r>
            <a:r>
              <a:rPr sz="1300" b="1" i="0">
                <a:solidFill>
                  <a:srgbClr val="000048"/>
                </a:solidFill>
                <a:latin typeface="Arial"/>
              </a:rPr>
              <a:t>A12  </a:t>
            </a:r>
            <a:r>
              <a:rPr sz="1300" b="0" i="0">
                <a:solidFill>
                  <a:srgbClr val="1E1E2E"/>
                </a:solidFill>
                <a:latin typeface="Arial"/>
              </a:rPr>
              <a:t>Operations, quality and economics signals</a:t>
            </a:r>
          </a:p>
        </p:txBody>
      </p:sp>
      <p:sp>
        <p:nvSpPr>
          <p:cNvPr id="23" name="TextBox 22">
            <a:hlinkClick action="ppaction://hlinksldjump" r:id="rId20"/>
          </p:cNvPr>
          <p:cNvSpPr txBox="1"/>
          <p:nvPr/>
        </p:nvSpPr>
        <p:spPr>
          <a:xfrm>
            <a:off x="6217920" y="2020824"/>
            <a:ext cx="5486400" cy="301752"/>
          </a:xfrm>
          <a:prstGeom prst="rect">
            <a:avLst/>
          </a:prstGeom>
          <a:noFill/>
        </p:spPr>
        <p:txBody>
          <a:bodyPr wrap="square" lIns="0" rIns="0" tIns="0" bIns="0" anchor="t">
            <a:noAutofit/>
          </a:bodyPr>
          <a:lstStyle/>
          <a:p>
            <a:pPr algn="l"/>
            <a:r>
              <a:rPr sz="1300" b="1" i="0">
                <a:solidFill>
                  <a:srgbClr val="2F78C4"/>
                </a:solidFill>
                <a:latin typeface="Arial"/>
              </a:rPr>
              <a:t>29  </a:t>
            </a:r>
            <a:r>
              <a:rPr sz="1300" b="1" i="0">
                <a:solidFill>
                  <a:srgbClr val="000048"/>
                </a:solidFill>
                <a:latin typeface="Arial"/>
              </a:rPr>
              <a:t>A13  </a:t>
            </a:r>
            <a:r>
              <a:rPr sz="1300" b="0" i="0">
                <a:solidFill>
                  <a:srgbClr val="1E1E2E"/>
                </a:solidFill>
                <a:latin typeface="Arial"/>
              </a:rPr>
              <a:t>Containment runbook</a:t>
            </a:r>
          </a:p>
        </p:txBody>
      </p:sp>
      <p:sp>
        <p:nvSpPr>
          <p:cNvPr id="24" name="TextBox 23">
            <a:hlinkClick action="ppaction://hlinksldjump" r:id="rId21"/>
          </p:cNvPr>
          <p:cNvSpPr txBox="1"/>
          <p:nvPr/>
        </p:nvSpPr>
        <p:spPr>
          <a:xfrm>
            <a:off x="6217920" y="2322576"/>
            <a:ext cx="5486400" cy="301752"/>
          </a:xfrm>
          <a:prstGeom prst="rect">
            <a:avLst/>
          </a:prstGeom>
          <a:noFill/>
        </p:spPr>
        <p:txBody>
          <a:bodyPr wrap="square" lIns="0" rIns="0" tIns="0" bIns="0" anchor="t">
            <a:noAutofit/>
          </a:bodyPr>
          <a:lstStyle/>
          <a:p>
            <a:pPr algn="l"/>
            <a:r>
              <a:rPr sz="1300" b="1" i="0">
                <a:solidFill>
                  <a:srgbClr val="2F78C4"/>
                </a:solidFill>
                <a:latin typeface="Arial"/>
              </a:rPr>
              <a:t>30  </a:t>
            </a:r>
            <a:r>
              <a:rPr sz="1300" b="1" i="0">
                <a:solidFill>
                  <a:srgbClr val="000048"/>
                </a:solidFill>
                <a:latin typeface="Arial"/>
              </a:rPr>
              <a:t>A14  </a:t>
            </a:r>
            <a:r>
              <a:rPr sz="1300" b="0" i="0">
                <a:solidFill>
                  <a:srgbClr val="1E1E2E"/>
                </a:solidFill>
                <a:latin typeface="Arial"/>
              </a:rPr>
              <a:t>Delivery gates and acceptance</a:t>
            </a:r>
          </a:p>
        </p:txBody>
      </p:sp>
      <p:sp>
        <p:nvSpPr>
          <p:cNvPr id="25" name="TextBox 24">
            <a:hlinkClick action="ppaction://hlinksldjump" r:id="rId22"/>
          </p:cNvPr>
          <p:cNvSpPr txBox="1"/>
          <p:nvPr/>
        </p:nvSpPr>
        <p:spPr>
          <a:xfrm>
            <a:off x="6217920" y="2624328"/>
            <a:ext cx="5486400" cy="301752"/>
          </a:xfrm>
          <a:prstGeom prst="rect">
            <a:avLst/>
          </a:prstGeom>
          <a:noFill/>
        </p:spPr>
        <p:txBody>
          <a:bodyPr wrap="square" lIns="0" rIns="0" tIns="0" bIns="0" anchor="t">
            <a:noAutofit/>
          </a:bodyPr>
          <a:lstStyle/>
          <a:p>
            <a:pPr algn="l"/>
            <a:r>
              <a:rPr sz="1300" b="1" i="0">
                <a:solidFill>
                  <a:srgbClr val="2F78C4"/>
                </a:solidFill>
                <a:latin typeface="Arial"/>
              </a:rPr>
              <a:t>31  </a:t>
            </a:r>
            <a:r>
              <a:rPr sz="1300" b="1" i="0">
                <a:solidFill>
                  <a:srgbClr val="000048"/>
                </a:solidFill>
                <a:latin typeface="Arial"/>
              </a:rPr>
              <a:t>A15  </a:t>
            </a:r>
            <a:r>
              <a:rPr sz="1300" b="0" i="0">
                <a:solidFill>
                  <a:srgbClr val="1E1E2E"/>
                </a:solidFill>
                <a:latin typeface="Arial"/>
              </a:rPr>
              <a:t>Dormant review and retirement</a:t>
            </a:r>
          </a:p>
        </p:txBody>
      </p:sp>
      <p:sp>
        <p:nvSpPr>
          <p:cNvPr id="26" name="TextBox 25">
            <a:hlinkClick action="ppaction://hlinksldjump" r:id="rId23"/>
          </p:cNvPr>
          <p:cNvSpPr txBox="1"/>
          <p:nvPr/>
        </p:nvSpPr>
        <p:spPr>
          <a:xfrm>
            <a:off x="6217920" y="2926080"/>
            <a:ext cx="5486400" cy="301752"/>
          </a:xfrm>
          <a:prstGeom prst="rect">
            <a:avLst/>
          </a:prstGeom>
          <a:noFill/>
        </p:spPr>
        <p:txBody>
          <a:bodyPr wrap="square" lIns="0" rIns="0" tIns="0" bIns="0" anchor="t">
            <a:noAutofit/>
          </a:bodyPr>
          <a:lstStyle/>
          <a:p>
            <a:pPr algn="l"/>
            <a:r>
              <a:rPr sz="1300" b="1" i="0">
                <a:solidFill>
                  <a:srgbClr val="2F78C4"/>
                </a:solidFill>
                <a:latin typeface="Arial"/>
              </a:rPr>
              <a:t>32  </a:t>
            </a:r>
            <a:r>
              <a:rPr sz="1300" b="1" i="0">
                <a:solidFill>
                  <a:srgbClr val="000048"/>
                </a:solidFill>
                <a:latin typeface="Arial"/>
              </a:rPr>
              <a:t>C1  </a:t>
            </a:r>
            <a:r>
              <a:rPr sz="1300" b="0" i="0">
                <a:solidFill>
                  <a:srgbClr val="1E1E2E"/>
                </a:solidFill>
                <a:latin typeface="Arial"/>
              </a:rPr>
              <a:t>Cost layers and pricing formula</a:t>
            </a:r>
          </a:p>
        </p:txBody>
      </p:sp>
      <p:sp>
        <p:nvSpPr>
          <p:cNvPr id="27" name="TextBox 26">
            <a:hlinkClick action="ppaction://hlinksldjump" r:id="rId24"/>
          </p:cNvPr>
          <p:cNvSpPr txBox="1"/>
          <p:nvPr/>
        </p:nvSpPr>
        <p:spPr>
          <a:xfrm>
            <a:off x="6217920" y="3227832"/>
            <a:ext cx="5486400" cy="301752"/>
          </a:xfrm>
          <a:prstGeom prst="rect">
            <a:avLst/>
          </a:prstGeom>
          <a:noFill/>
        </p:spPr>
        <p:txBody>
          <a:bodyPr wrap="square" lIns="0" rIns="0" tIns="0" bIns="0" anchor="t">
            <a:noAutofit/>
          </a:bodyPr>
          <a:lstStyle/>
          <a:p>
            <a:pPr algn="l"/>
            <a:r>
              <a:rPr sz="1300" b="1" i="0">
                <a:solidFill>
                  <a:srgbClr val="2F78C4"/>
                </a:solidFill>
                <a:latin typeface="Arial"/>
              </a:rPr>
              <a:t>33  </a:t>
            </a:r>
            <a:r>
              <a:rPr sz="1300" b="1" i="0">
                <a:solidFill>
                  <a:srgbClr val="000048"/>
                </a:solidFill>
                <a:latin typeface="Arial"/>
              </a:rPr>
              <a:t>R1  </a:t>
            </a:r>
            <a:r>
              <a:rPr sz="1300" b="0" i="0">
                <a:solidFill>
                  <a:srgbClr val="1E1E2E"/>
                </a:solidFill>
                <a:latin typeface="Arial"/>
              </a:rPr>
              <a:t>RACI matrix</a:t>
            </a:r>
          </a:p>
        </p:txBody>
      </p:sp>
      <p:sp>
        <p:nvSpPr>
          <p:cNvPr id="28" name="TextBox 27">
            <a:hlinkClick action="ppaction://hlinksldjump" r:id="rId25"/>
          </p:cNvPr>
          <p:cNvSpPr txBox="1"/>
          <p:nvPr/>
        </p:nvSpPr>
        <p:spPr>
          <a:xfrm>
            <a:off x="6217920" y="3529584"/>
            <a:ext cx="5486400" cy="301752"/>
          </a:xfrm>
          <a:prstGeom prst="rect">
            <a:avLst/>
          </a:prstGeom>
          <a:noFill/>
        </p:spPr>
        <p:txBody>
          <a:bodyPr wrap="square" lIns="0" rIns="0" tIns="0" bIns="0" anchor="t">
            <a:noAutofit/>
          </a:bodyPr>
          <a:lstStyle/>
          <a:p>
            <a:pPr algn="l"/>
            <a:r>
              <a:rPr sz="1300" b="1" i="0">
                <a:solidFill>
                  <a:srgbClr val="2F78C4"/>
                </a:solidFill>
                <a:latin typeface="Arial"/>
              </a:rPr>
              <a:t>34  </a:t>
            </a:r>
            <a:r>
              <a:rPr sz="1300" b="1" i="0">
                <a:solidFill>
                  <a:srgbClr val="000048"/>
                </a:solidFill>
                <a:latin typeface="Arial"/>
              </a:rPr>
              <a:t>R2  </a:t>
            </a:r>
            <a:r>
              <a:rPr sz="1300" b="0" i="0">
                <a:solidFill>
                  <a:srgbClr val="1E1E2E"/>
                </a:solidFill>
                <a:latin typeface="Arial"/>
              </a:rPr>
              <a:t>Revenue attribution framework</a:t>
            </a:r>
          </a:p>
        </p:txBody>
      </p:sp>
      <p:sp>
        <p:nvSpPr>
          <p:cNvPr id="29" name="TextBox 28">
            <a:hlinkClick action="ppaction://hlinksldjump" r:id="rId26"/>
          </p:cNvPr>
          <p:cNvSpPr txBox="1"/>
          <p:nvPr/>
        </p:nvSpPr>
        <p:spPr>
          <a:xfrm>
            <a:off x="6217920" y="3831336"/>
            <a:ext cx="5486400" cy="301752"/>
          </a:xfrm>
          <a:prstGeom prst="rect">
            <a:avLst/>
          </a:prstGeom>
          <a:noFill/>
        </p:spPr>
        <p:txBody>
          <a:bodyPr wrap="square" lIns="0" rIns="0" tIns="0" bIns="0" anchor="t">
            <a:noAutofit/>
          </a:bodyPr>
          <a:lstStyle/>
          <a:p>
            <a:pPr algn="l"/>
            <a:r>
              <a:rPr sz="1300" b="1" i="0">
                <a:solidFill>
                  <a:srgbClr val="2F78C4"/>
                </a:solidFill>
                <a:latin typeface="Arial"/>
              </a:rPr>
              <a:t>35  </a:t>
            </a:r>
            <a:r>
              <a:rPr sz="1300" b="1" i="0">
                <a:solidFill>
                  <a:srgbClr val="000048"/>
                </a:solidFill>
                <a:latin typeface="Arial"/>
              </a:rPr>
              <a:t>R3  </a:t>
            </a:r>
            <a:r>
              <a:rPr sz="1300" b="0" i="0">
                <a:solidFill>
                  <a:srgbClr val="1E1E2E"/>
                </a:solidFill>
                <a:latin typeface="Arial"/>
              </a:rPr>
              <a:t>Delivery and commercial readiness</a:t>
            </a:r>
          </a:p>
        </p:txBody>
      </p:sp>
      <p:sp>
        <p:nvSpPr>
          <p:cNvPr id="30" name="TextBox 29">
            <a:hlinkClick action="ppaction://hlinksldjump" r:id="rId27"/>
          </p:cNvPr>
          <p:cNvSpPr txBox="1"/>
          <p:nvPr/>
        </p:nvSpPr>
        <p:spPr>
          <a:xfrm>
            <a:off x="6217920" y="4133088"/>
            <a:ext cx="5486400" cy="301752"/>
          </a:xfrm>
          <a:prstGeom prst="rect">
            <a:avLst/>
          </a:prstGeom>
          <a:noFill/>
        </p:spPr>
        <p:txBody>
          <a:bodyPr wrap="square" lIns="0" rIns="0" tIns="0" bIns="0" anchor="t">
            <a:noAutofit/>
          </a:bodyPr>
          <a:lstStyle/>
          <a:p>
            <a:pPr algn="l"/>
            <a:r>
              <a:rPr sz="1300" b="1" i="0">
                <a:solidFill>
                  <a:srgbClr val="2F78C4"/>
                </a:solidFill>
                <a:latin typeface="Arial"/>
              </a:rPr>
              <a:t>36  </a:t>
            </a:r>
            <a:r>
              <a:rPr sz="1300" b="1" i="0">
                <a:solidFill>
                  <a:srgbClr val="000048"/>
                </a:solidFill>
                <a:latin typeface="Arial"/>
              </a:rPr>
              <a:t>D1  </a:t>
            </a:r>
            <a:r>
              <a:rPr sz="1300" b="0" i="0">
                <a:solidFill>
                  <a:srgbClr val="1E1E2E"/>
                </a:solidFill>
                <a:latin typeface="Arial"/>
              </a:rPr>
              <a:t>Decision and approval register</a:t>
            </a:r>
          </a:p>
        </p:txBody>
      </p:sp>
      <p:sp>
        <p:nvSpPr>
          <p:cNvPr id="31" name="TextBox 30">
            <a:hlinkClick action="ppaction://hlinksldjump" r:id="rId28"/>
          </p:cNvPr>
          <p:cNvSpPr txBox="1"/>
          <p:nvPr/>
        </p:nvSpPr>
        <p:spPr>
          <a:xfrm>
            <a:off x="6217920" y="4434840"/>
            <a:ext cx="5486400" cy="301752"/>
          </a:xfrm>
          <a:prstGeom prst="rect">
            <a:avLst/>
          </a:prstGeom>
          <a:noFill/>
        </p:spPr>
        <p:txBody>
          <a:bodyPr wrap="square" lIns="0" rIns="0" tIns="0" bIns="0" anchor="t">
            <a:noAutofit/>
          </a:bodyPr>
          <a:lstStyle/>
          <a:p>
            <a:pPr algn="l"/>
            <a:r>
              <a:rPr sz="1300" b="1" i="0">
                <a:solidFill>
                  <a:srgbClr val="2F78C4"/>
                </a:solidFill>
                <a:latin typeface="Arial"/>
              </a:rPr>
              <a:t>37  </a:t>
            </a:r>
            <a:r>
              <a:rPr sz="1300" b="1" i="0">
                <a:solidFill>
                  <a:srgbClr val="000048"/>
                </a:solidFill>
                <a:latin typeface="Arial"/>
              </a:rPr>
              <a:t>O1  </a:t>
            </a:r>
            <a:r>
              <a:rPr sz="1300" b="0" i="0">
                <a:solidFill>
                  <a:srgbClr val="1E1E2E"/>
                </a:solidFill>
                <a:latin typeface="Arial"/>
              </a:rPr>
              <a:t>Original: multiple-agent workflow</a:t>
            </a:r>
          </a:p>
        </p:txBody>
      </p:sp>
      <p:sp>
        <p:nvSpPr>
          <p:cNvPr id="32" name="TextBox 31">
            <a:hlinkClick action="ppaction://hlinksldjump" r:id="rId29"/>
          </p:cNvPr>
          <p:cNvSpPr txBox="1"/>
          <p:nvPr/>
        </p:nvSpPr>
        <p:spPr>
          <a:xfrm>
            <a:off x="6217920" y="4736592"/>
            <a:ext cx="5486400" cy="301752"/>
          </a:xfrm>
          <a:prstGeom prst="rect">
            <a:avLst/>
          </a:prstGeom>
          <a:noFill/>
        </p:spPr>
        <p:txBody>
          <a:bodyPr wrap="square" lIns="0" rIns="0" tIns="0" bIns="0" anchor="t">
            <a:noAutofit/>
          </a:bodyPr>
          <a:lstStyle/>
          <a:p>
            <a:pPr algn="l"/>
            <a:r>
              <a:rPr sz="1300" b="1" i="0">
                <a:solidFill>
                  <a:srgbClr val="2F78C4"/>
                </a:solidFill>
                <a:latin typeface="Arial"/>
              </a:rPr>
              <a:t>38  </a:t>
            </a:r>
            <a:r>
              <a:rPr sz="1300" b="1" i="0">
                <a:solidFill>
                  <a:srgbClr val="000048"/>
                </a:solidFill>
                <a:latin typeface="Arial"/>
              </a:rPr>
              <a:t>O2  </a:t>
            </a:r>
            <a:r>
              <a:rPr sz="1300" b="0" i="0">
                <a:solidFill>
                  <a:srgbClr val="1E1E2E"/>
                </a:solidFill>
                <a:latin typeface="Arial"/>
              </a:rPr>
              <a:t>Original: agentic RAG loop</a:t>
            </a:r>
          </a:p>
        </p:txBody>
      </p:sp>
      <p:sp>
        <p:nvSpPr>
          <p:cNvPr id="33" name="TextBox 32">
            <a:hlinkClick action="ppaction://hlinksldjump" r:id="rId30"/>
          </p:cNvPr>
          <p:cNvSpPr txBox="1"/>
          <p:nvPr/>
        </p:nvSpPr>
        <p:spPr>
          <a:xfrm>
            <a:off x="6217920" y="5038344"/>
            <a:ext cx="5486400" cy="301752"/>
          </a:xfrm>
          <a:prstGeom prst="rect">
            <a:avLst/>
          </a:prstGeom>
          <a:noFill/>
        </p:spPr>
        <p:txBody>
          <a:bodyPr wrap="square" lIns="0" rIns="0" tIns="0" bIns="0" anchor="t">
            <a:noAutofit/>
          </a:bodyPr>
          <a:lstStyle/>
          <a:p>
            <a:pPr algn="l"/>
            <a:r>
              <a:rPr sz="1300" b="1" i="0">
                <a:solidFill>
                  <a:srgbClr val="2F78C4"/>
                </a:solidFill>
                <a:latin typeface="Arial"/>
              </a:rPr>
              <a:t>39  </a:t>
            </a:r>
            <a:r>
              <a:rPr sz="1300" b="1" i="0">
                <a:solidFill>
                  <a:srgbClr val="000048"/>
                </a:solidFill>
                <a:latin typeface="Arial"/>
              </a:rPr>
              <a:t>O3  </a:t>
            </a:r>
            <a:r>
              <a:rPr sz="1300" b="0" i="0">
                <a:solidFill>
                  <a:srgbClr val="1E1E2E"/>
                </a:solidFill>
                <a:latin typeface="Arial"/>
              </a:rPr>
              <a:t>Original: Foundry baseline</a:t>
            </a:r>
          </a:p>
        </p:txBody>
      </p:sp>
      <p:sp>
        <p:nvSpPr>
          <p:cNvPr id="34" name="TextBox 33">
            <a:hlinkClick action="ppaction://hlinksldjump" r:id="rId31"/>
          </p:cNvPr>
          <p:cNvSpPr txBox="1"/>
          <p:nvPr/>
        </p:nvSpPr>
        <p:spPr>
          <a:xfrm>
            <a:off x="6217920" y="5340096"/>
            <a:ext cx="5486400" cy="301752"/>
          </a:xfrm>
          <a:prstGeom prst="rect">
            <a:avLst/>
          </a:prstGeom>
          <a:noFill/>
        </p:spPr>
        <p:txBody>
          <a:bodyPr wrap="square" lIns="0" rIns="0" tIns="0" bIns="0" anchor="t">
            <a:noAutofit/>
          </a:bodyPr>
          <a:lstStyle/>
          <a:p>
            <a:pPr algn="l"/>
            <a:r>
              <a:rPr sz="1300" b="1" i="0">
                <a:solidFill>
                  <a:srgbClr val="2F78C4"/>
                </a:solidFill>
                <a:latin typeface="Arial"/>
              </a:rPr>
              <a:t>40  </a:t>
            </a:r>
            <a:r>
              <a:rPr sz="1300" b="1" i="0">
                <a:solidFill>
                  <a:srgbClr val="000048"/>
                </a:solidFill>
                <a:latin typeface="Arial"/>
              </a:rPr>
              <a:t>S1  </a:t>
            </a:r>
            <a:r>
              <a:rPr sz="1300" b="0" i="0">
                <a:solidFill>
                  <a:srgbClr val="1E1E2E"/>
                </a:solidFill>
                <a:latin typeface="Arial"/>
              </a:rPr>
              <a:t>Sources and verification dates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catalogue: detailed reference architecture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22"/>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13</a:t>
            </a:r>
          </a:p>
        </p:txBody>
      </p:sp>
      <p:sp>
        <p:nvSpPr>
          <p:cNvPr id="9" name="Rounded Rectangle 8"/>
          <p:cNvSpPr/>
          <p:nvPr/>
        </p:nvSpPr>
        <p:spPr>
          <a:xfrm>
            <a:off x="548640" y="1600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zure DevOps" descr="Official Azure icon: Azure DevOp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426463" y="1673352"/>
            <a:ext cx="438912" cy="438912"/>
          </a:xfrm>
          <a:prstGeom prst="rect">
            <a:avLst/>
          </a:prstGeom>
        </p:spPr>
      </p:pic>
      <p:sp>
        <p:nvSpPr>
          <p:cNvPr id="11" name="TextBox 10"/>
          <p:cNvSpPr txBox="1"/>
          <p:nvPr/>
        </p:nvSpPr>
        <p:spPr>
          <a:xfrm>
            <a:off x="585216" y="2148840"/>
            <a:ext cx="2121408" cy="512064"/>
          </a:xfrm>
          <a:prstGeom prst="rect">
            <a:avLst/>
          </a:prstGeom>
          <a:noFill/>
        </p:spPr>
        <p:txBody>
          <a:bodyPr wrap="square" lIns="0" rIns="0" tIns="0" bIns="0" anchor="t">
            <a:noAutofit/>
          </a:bodyPr>
          <a:lstStyle/>
          <a:p>
            <a:pPr algn="ctr"/>
            <a:r>
              <a:rPr sz="1300" b="1" i="0">
                <a:solidFill>
                  <a:srgbClr val="000048"/>
                </a:solidFill>
                <a:latin typeface="Arial"/>
              </a:rPr>
              <a:t>Deployment pipelines</a:t>
            </a:r>
          </a:p>
          <a:p>
            <a:pPr algn="ctr"/>
            <a:r>
              <a:rPr sz="1100" b="0" i="0">
                <a:solidFill>
                  <a:srgbClr val="53565A"/>
                </a:solidFill>
                <a:latin typeface="Arial"/>
              </a:rPr>
              <a:t>release record</a:t>
            </a:r>
          </a:p>
        </p:txBody>
      </p:sp>
      <p:sp>
        <p:nvSpPr>
          <p:cNvPr id="12" name="Rounded Rectangle 11"/>
          <p:cNvSpPr/>
          <p:nvPr/>
        </p:nvSpPr>
        <p:spPr>
          <a:xfrm>
            <a:off x="548640" y="274320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Foundry Control Plane" descr="Official Azure icon: Foundry Control Plan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426463" y="2816352"/>
            <a:ext cx="438912" cy="438912"/>
          </a:xfrm>
          <a:prstGeom prst="rect">
            <a:avLst/>
          </a:prstGeom>
        </p:spPr>
      </p:pic>
      <p:sp>
        <p:nvSpPr>
          <p:cNvPr id="14" name="TextBox 13"/>
          <p:cNvSpPr txBox="1"/>
          <p:nvPr/>
        </p:nvSpPr>
        <p:spPr>
          <a:xfrm>
            <a:off x="585216" y="3291840"/>
            <a:ext cx="2121408" cy="512064"/>
          </a:xfrm>
          <a:prstGeom prst="rect">
            <a:avLst/>
          </a:prstGeom>
          <a:noFill/>
        </p:spPr>
        <p:txBody>
          <a:bodyPr wrap="square" lIns="0" rIns="0" tIns="0" bIns="0" anchor="t">
            <a:noAutofit/>
          </a:bodyPr>
          <a:lstStyle/>
          <a:p>
            <a:pPr algn="ctr"/>
            <a:r>
              <a:rPr sz="1300" b="1" i="0">
                <a:solidFill>
                  <a:srgbClr val="000048"/>
                </a:solidFill>
                <a:latin typeface="Arial"/>
              </a:rPr>
              <a:t>Foundry Control Plane</a:t>
            </a:r>
          </a:p>
          <a:p>
            <a:pPr algn="ctr"/>
            <a:r>
              <a:rPr sz="1100" b="0" i="0">
                <a:solidFill>
                  <a:srgbClr val="53565A"/>
                </a:solidFill>
                <a:latin typeface="Arial"/>
              </a:rPr>
              <a:t>Foundry, SRE Agent, Logic Apps, custom</a:t>
            </a:r>
          </a:p>
        </p:txBody>
      </p:sp>
      <p:sp>
        <p:nvSpPr>
          <p:cNvPr id="15" name="Rounded Rectangle 14"/>
          <p:cNvSpPr/>
          <p:nvPr/>
        </p:nvSpPr>
        <p:spPr>
          <a:xfrm>
            <a:off x="548640" y="4160520"/>
            <a:ext cx="219456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Resource Graph Explorer" descr="Official Azure icon: Resource Graph Explore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426463" y="4233672"/>
            <a:ext cx="438912" cy="438912"/>
          </a:xfrm>
          <a:prstGeom prst="rect">
            <a:avLst/>
          </a:prstGeom>
        </p:spPr>
      </p:pic>
      <p:sp>
        <p:nvSpPr>
          <p:cNvPr id="17" name="TextBox 16"/>
          <p:cNvSpPr txBox="1"/>
          <p:nvPr/>
        </p:nvSpPr>
        <p:spPr>
          <a:xfrm>
            <a:off x="585216" y="4709159"/>
            <a:ext cx="2121408" cy="512064"/>
          </a:xfrm>
          <a:prstGeom prst="rect">
            <a:avLst/>
          </a:prstGeom>
          <a:noFill/>
        </p:spPr>
        <p:txBody>
          <a:bodyPr wrap="square" lIns="0" rIns="0" tIns="0" bIns="0" anchor="t">
            <a:noAutofit/>
          </a:bodyPr>
          <a:lstStyle/>
          <a:p>
            <a:pPr algn="ctr"/>
            <a:r>
              <a:rPr sz="1300" b="1" i="0">
                <a:solidFill>
                  <a:srgbClr val="000048"/>
                </a:solidFill>
                <a:latin typeface="Arial"/>
              </a:rPr>
              <a:t>Resource Graph</a:t>
            </a:r>
          </a:p>
          <a:p>
            <a:pPr algn="ctr"/>
            <a:r>
              <a:rPr sz="1100" b="0" i="0">
                <a:solidFill>
                  <a:srgbClr val="53565A"/>
                </a:solidFill>
                <a:latin typeface="Arial"/>
              </a:rPr>
              <a:t>hosting resources, tags</a:t>
            </a:r>
          </a:p>
        </p:txBody>
      </p:sp>
      <p:sp>
        <p:nvSpPr>
          <p:cNvPr id="18" name="Rounded Rectangle 17"/>
          <p:cNvSpPr/>
          <p:nvPr/>
        </p:nvSpPr>
        <p:spPr>
          <a:xfrm>
            <a:off x="3657600" y="2743200"/>
            <a:ext cx="237744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Function App" descr="Official Azure icon: Function App"/>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94859" y="2816352"/>
            <a:ext cx="502920" cy="502920"/>
          </a:xfrm>
          <a:prstGeom prst="rect">
            <a:avLst/>
          </a:prstGeom>
        </p:spPr>
      </p:pic>
      <p:sp>
        <p:nvSpPr>
          <p:cNvPr id="20" name="TextBox 19"/>
          <p:cNvSpPr txBox="1"/>
          <p:nvPr/>
        </p:nvSpPr>
        <p:spPr>
          <a:xfrm>
            <a:off x="3694176" y="3355848"/>
            <a:ext cx="2304288" cy="528945"/>
          </a:xfrm>
          <a:prstGeom prst="rect">
            <a:avLst/>
          </a:prstGeom>
          <a:noFill/>
        </p:spPr>
        <p:txBody>
          <a:bodyPr wrap="square" lIns="0" rIns="0" tIns="0" bIns="0" anchor="t">
            <a:noAutofit/>
          </a:bodyPr>
          <a:lstStyle/>
          <a:p>
            <a:pPr algn="ctr"/>
            <a:r>
              <a:rPr sz="1400" b="1" i="0">
                <a:solidFill>
                  <a:srgbClr val="000048"/>
                </a:solidFill>
                <a:latin typeface="Arial"/>
              </a:rPr>
              <a:t>Reconciliation job</a:t>
            </a:r>
          </a:p>
          <a:p>
            <a:pPr algn="ctr"/>
            <a:r>
              <a:rPr sz="1100" b="0" i="0">
                <a:solidFill>
                  <a:srgbClr val="53565A"/>
                </a:solidFill>
                <a:latin typeface="Arial"/>
              </a:rPr>
              <a:t>Function App, managed identity, read-only</a:t>
            </a:r>
          </a:p>
        </p:txBody>
      </p:sp>
      <p:sp>
        <p:nvSpPr>
          <p:cNvPr id="21" name="Rounded Rectangle 20"/>
          <p:cNvSpPr/>
          <p:nvPr/>
        </p:nvSpPr>
        <p:spPr>
          <a:xfrm>
            <a:off x="6675120" y="2743200"/>
            <a:ext cx="2011680" cy="1159881"/>
          </a:xfrm>
          <a:prstGeom prst="roundRect">
            <a:avLst>
              <a:gd name="adj" fmla="val 630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zure Cosmos DB" descr="Official Azure icon: Azure Cosmos DB"/>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429500" y="2816352"/>
            <a:ext cx="502920" cy="502920"/>
          </a:xfrm>
          <a:prstGeom prst="rect">
            <a:avLst/>
          </a:prstGeom>
        </p:spPr>
      </p:pic>
      <p:sp>
        <p:nvSpPr>
          <p:cNvPr id="23" name="TextBox 22"/>
          <p:cNvSpPr txBox="1"/>
          <p:nvPr/>
        </p:nvSpPr>
        <p:spPr>
          <a:xfrm>
            <a:off x="6711696" y="3355848"/>
            <a:ext cx="1938528" cy="528945"/>
          </a:xfrm>
          <a:prstGeom prst="rect">
            <a:avLst/>
          </a:prstGeom>
          <a:noFill/>
        </p:spPr>
        <p:txBody>
          <a:bodyPr wrap="square" lIns="0" rIns="0" tIns="0" bIns="0" anchor="t">
            <a:noAutofit/>
          </a:bodyPr>
          <a:lstStyle/>
          <a:p>
            <a:pPr algn="ctr"/>
            <a:r>
              <a:rPr sz="1400" b="1" i="0">
                <a:solidFill>
                  <a:srgbClr val="000048"/>
                </a:solidFill>
                <a:latin typeface="Arial"/>
              </a:rPr>
              <a:t>Agent registry</a:t>
            </a:r>
          </a:p>
          <a:p>
            <a:pPr algn="ctr"/>
            <a:r>
              <a:rPr sz="1100" b="0" i="0">
                <a:solidFill>
                  <a:srgbClr val="53565A"/>
                </a:solidFill>
                <a:latin typeface="Arial"/>
              </a:rPr>
              <a:t>Cosmos DB</a:t>
            </a:r>
          </a:p>
        </p:txBody>
      </p:sp>
      <p:sp>
        <p:nvSpPr>
          <p:cNvPr id="24" name="Rounded Rectangle 23"/>
          <p:cNvSpPr/>
          <p:nvPr/>
        </p:nvSpPr>
        <p:spPr>
          <a:xfrm>
            <a:off x="3657600" y="1536192"/>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5" name="Azure icon: Application Insights" descr="Official Azure icon: Application Insights"/>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3730752" y="1687067"/>
            <a:ext cx="384048" cy="384048"/>
          </a:xfrm>
          <a:prstGeom prst="rect">
            <a:avLst/>
          </a:prstGeom>
        </p:spPr>
      </p:pic>
      <p:sp>
        <p:nvSpPr>
          <p:cNvPr id="26" name="TextBox 25"/>
          <p:cNvSpPr txBox="1"/>
          <p:nvPr/>
        </p:nvSpPr>
        <p:spPr>
          <a:xfrm>
            <a:off x="4187952" y="1572768"/>
            <a:ext cx="1810512" cy="612648"/>
          </a:xfrm>
          <a:prstGeom prst="rect">
            <a:avLst/>
          </a:prstGeom>
          <a:noFill/>
        </p:spPr>
        <p:txBody>
          <a:bodyPr wrap="square" lIns="0" rIns="0" tIns="0" bIns="0" anchor="ctr">
            <a:noAutofit/>
          </a:bodyPr>
          <a:lstStyle/>
          <a:p>
            <a:pPr algn="l"/>
            <a:r>
              <a:rPr sz="1200" b="1" i="0">
                <a:solidFill>
                  <a:srgbClr val="000048"/>
                </a:solidFill>
                <a:latin typeface="Arial"/>
              </a:rPr>
              <a:t>Application Insights</a:t>
            </a:r>
          </a:p>
          <a:p>
            <a:pPr algn="l"/>
            <a:r>
              <a:rPr sz="1000" b="0" i="0">
                <a:solidFill>
                  <a:srgbClr val="53565A"/>
                </a:solidFill>
                <a:latin typeface="Arial"/>
              </a:rPr>
              <a:t>per Foundry project or app</a:t>
            </a:r>
          </a:p>
        </p:txBody>
      </p:sp>
      <p:sp>
        <p:nvSpPr>
          <p:cNvPr id="27" name="Rounded Rectangle 26"/>
          <p:cNvSpPr/>
          <p:nvPr/>
        </p:nvSpPr>
        <p:spPr>
          <a:xfrm>
            <a:off x="3657600" y="4572000"/>
            <a:ext cx="23774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Log Analytics workspace" descr="Official Azure icon: Log Analytics workspace"/>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3730752" y="4722876"/>
            <a:ext cx="384048" cy="384048"/>
          </a:xfrm>
          <a:prstGeom prst="rect">
            <a:avLst/>
          </a:prstGeom>
        </p:spPr>
      </p:pic>
      <p:sp>
        <p:nvSpPr>
          <p:cNvPr id="29" name="TextBox 28"/>
          <p:cNvSpPr txBox="1"/>
          <p:nvPr/>
        </p:nvSpPr>
        <p:spPr>
          <a:xfrm>
            <a:off x="4187952" y="4608576"/>
            <a:ext cx="1810512" cy="612648"/>
          </a:xfrm>
          <a:prstGeom prst="rect">
            <a:avLst/>
          </a:prstGeom>
          <a:noFill/>
        </p:spPr>
        <p:txBody>
          <a:bodyPr wrap="square" lIns="0" rIns="0" tIns="0" bIns="0" anchor="ctr">
            <a:noAutofit/>
          </a:bodyPr>
          <a:lstStyle/>
          <a:p>
            <a:pPr algn="l"/>
            <a:r>
              <a:rPr sz="1200" b="1" i="0">
                <a:solidFill>
                  <a:srgbClr val="000048"/>
                </a:solidFill>
                <a:latin typeface="Arial"/>
              </a:rPr>
              <a:t>Log Analytics</a:t>
            </a:r>
          </a:p>
          <a:p>
            <a:pPr algn="l"/>
            <a:r>
              <a:rPr sz="1000" b="0" i="0">
                <a:solidFill>
                  <a:srgbClr val="53565A"/>
                </a:solidFill>
                <a:latin typeface="Arial"/>
              </a:rPr>
              <a:t>gateway, platform logs</a:t>
            </a:r>
          </a:p>
        </p:txBody>
      </p:sp>
      <p:sp>
        <p:nvSpPr>
          <p:cNvPr id="30" name="Rounded Rectangle 29"/>
          <p:cNvSpPr/>
          <p:nvPr/>
        </p:nvSpPr>
        <p:spPr>
          <a:xfrm>
            <a:off x="9372600" y="160020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1" name="Azure icon: Azure Workbooks" descr="Official Azure icon: Azure Workbooks"/>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10296144" y="1673352"/>
            <a:ext cx="438912" cy="438912"/>
          </a:xfrm>
          <a:prstGeom prst="rect">
            <a:avLst/>
          </a:prstGeom>
        </p:spPr>
      </p:pic>
      <p:sp>
        <p:nvSpPr>
          <p:cNvPr id="32" name="TextBox 31"/>
          <p:cNvSpPr txBox="1"/>
          <p:nvPr/>
        </p:nvSpPr>
        <p:spPr>
          <a:xfrm>
            <a:off x="9409176" y="2148840"/>
            <a:ext cx="2212848" cy="512064"/>
          </a:xfrm>
          <a:prstGeom prst="rect">
            <a:avLst/>
          </a:prstGeom>
          <a:noFill/>
        </p:spPr>
        <p:txBody>
          <a:bodyPr wrap="square" lIns="0" rIns="0" tIns="0" bIns="0" anchor="t">
            <a:noAutofit/>
          </a:bodyPr>
          <a:lstStyle/>
          <a:p>
            <a:pPr algn="ctr"/>
            <a:r>
              <a:rPr sz="1300" b="1" i="0">
                <a:solidFill>
                  <a:srgbClr val="000048"/>
                </a:solidFill>
                <a:latin typeface="Arial"/>
              </a:rPr>
              <a:t>Catalogue workbook</a:t>
            </a:r>
          </a:p>
          <a:p>
            <a:pPr algn="ctr"/>
            <a:r>
              <a:rPr sz="1100" b="0" i="0">
                <a:solidFill>
                  <a:srgbClr val="53565A"/>
                </a:solidFill>
                <a:latin typeface="Arial"/>
              </a:rPr>
              <a:t>status, owner, usage, risk</a:t>
            </a:r>
          </a:p>
        </p:txBody>
      </p:sp>
      <p:sp>
        <p:nvSpPr>
          <p:cNvPr id="33" name="Rounded Rectangle 32"/>
          <p:cNvSpPr/>
          <p:nvPr/>
        </p:nvSpPr>
        <p:spPr>
          <a:xfrm>
            <a:off x="9372600" y="4023360"/>
            <a:ext cx="2286000" cy="1078992"/>
          </a:xfrm>
          <a:prstGeom prst="roundRect">
            <a:avLst>
              <a:gd name="adj" fmla="val 6779"/>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4" name="Azure icon: Alerts" descr="Official Azure icon: Alerts"/>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10296144" y="4096512"/>
            <a:ext cx="438912" cy="438912"/>
          </a:xfrm>
          <a:prstGeom prst="rect">
            <a:avLst/>
          </a:prstGeom>
        </p:spPr>
      </p:pic>
      <p:sp>
        <p:nvSpPr>
          <p:cNvPr id="35" name="TextBox 34"/>
          <p:cNvSpPr txBox="1"/>
          <p:nvPr/>
        </p:nvSpPr>
        <p:spPr>
          <a:xfrm>
            <a:off x="9409176" y="4572000"/>
            <a:ext cx="2212848" cy="512064"/>
          </a:xfrm>
          <a:prstGeom prst="rect">
            <a:avLst/>
          </a:prstGeom>
          <a:noFill/>
        </p:spPr>
        <p:txBody>
          <a:bodyPr wrap="square" lIns="0" rIns="0" tIns="0" bIns="0" anchor="t">
            <a:noAutofit/>
          </a:bodyPr>
          <a:lstStyle/>
          <a:p>
            <a:pPr algn="ctr"/>
            <a:r>
              <a:rPr sz="1300" b="1" i="0">
                <a:solidFill>
                  <a:srgbClr val="000048"/>
                </a:solidFill>
                <a:latin typeface="Arial"/>
              </a:rPr>
              <a:t>Review alerts</a:t>
            </a:r>
          </a:p>
          <a:p>
            <a:pPr algn="ctr"/>
            <a:r>
              <a:rPr sz="1100" b="0" i="0">
                <a:solidFill>
                  <a:srgbClr val="53565A"/>
                </a:solidFill>
                <a:latin typeface="Arial"/>
              </a:rPr>
              <a:t>dormancy, telemetry health, orphan</a:t>
            </a:r>
          </a:p>
        </p:txBody>
      </p:sp>
      <p:cxnSp>
        <p:nvCxnSpPr>
          <p:cNvPr id="36" name="Connector (flow)"/>
          <p:cNvCxnSpPr/>
          <p:nvPr/>
        </p:nvCxnSpPr>
        <p:spPr>
          <a:xfrm>
            <a:off x="2743200" y="201168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flipV="1">
            <a:off x="3108960" y="1389888"/>
            <a:ext cx="0" cy="621792"/>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3108960" y="1389888"/>
            <a:ext cx="457200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7680960" y="1389888"/>
            <a:ext cx="0" cy="1353312"/>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Oval 39"/>
          <p:cNvSpPr/>
          <p:nvPr/>
        </p:nvSpPr>
        <p:spPr>
          <a:xfrm>
            <a:off x="3182112" y="1600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1</a:t>
            </a:r>
          </a:p>
        </p:txBody>
      </p:sp>
      <p:cxnSp>
        <p:nvCxnSpPr>
          <p:cNvPr id="41" name="Connector (telemetry)"/>
          <p:cNvCxnSpPr/>
          <p:nvPr/>
        </p:nvCxnSpPr>
        <p:spPr>
          <a:xfrm>
            <a:off x="2743200" y="3200400"/>
            <a:ext cx="91440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2" name="Connector (telemetry)"/>
          <p:cNvCxnSpPr/>
          <p:nvPr/>
        </p:nvCxnSpPr>
        <p:spPr>
          <a:xfrm flipV="1">
            <a:off x="2743200" y="3520440"/>
            <a:ext cx="914400" cy="96012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3063240" y="361188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2</a:t>
            </a:r>
          </a:p>
        </p:txBody>
      </p:sp>
      <p:cxnSp>
        <p:nvCxnSpPr>
          <p:cNvPr id="44" name="Connector (telemetry)"/>
          <p:cNvCxnSpPr/>
          <p:nvPr/>
        </p:nvCxnSpPr>
        <p:spPr>
          <a:xfrm>
            <a:off x="4846320" y="2221992"/>
            <a:ext cx="0" cy="521208"/>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45" name="Connector (telemetry)"/>
          <p:cNvCxnSpPr/>
          <p:nvPr/>
        </p:nvCxnSpPr>
        <p:spPr>
          <a:xfrm flipV="1">
            <a:off x="4846320" y="4114800"/>
            <a:ext cx="0" cy="45720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sp>
        <p:nvSpPr>
          <p:cNvPr id="46" name="Oval 45"/>
          <p:cNvSpPr/>
          <p:nvPr/>
        </p:nvSpPr>
        <p:spPr>
          <a:xfrm>
            <a:off x="49834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3</a:t>
            </a:r>
          </a:p>
        </p:txBody>
      </p:sp>
      <p:cxnSp>
        <p:nvCxnSpPr>
          <p:cNvPr id="47" name="Connector (flow)"/>
          <p:cNvCxnSpPr/>
          <p:nvPr/>
        </p:nvCxnSpPr>
        <p:spPr>
          <a:xfrm>
            <a:off x="6035040" y="338328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6217920" y="29718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4</a:t>
            </a:r>
          </a:p>
        </p:txBody>
      </p:sp>
      <p:cxnSp>
        <p:nvCxnSpPr>
          <p:cNvPr id="49" name="Connector (flow)"/>
          <p:cNvCxnSpPr/>
          <p:nvPr/>
        </p:nvCxnSpPr>
        <p:spPr>
          <a:xfrm>
            <a:off x="8686800" y="310896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0" name="Connector (flow)"/>
          <p:cNvCxnSpPr/>
          <p:nvPr/>
        </p:nvCxnSpPr>
        <p:spPr>
          <a:xfrm flipV="1">
            <a:off x="9006840" y="1920240"/>
            <a:ext cx="0" cy="118872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1" name="Connector (flow)"/>
          <p:cNvCxnSpPr/>
          <p:nvPr/>
        </p:nvCxnSpPr>
        <p:spPr>
          <a:xfrm>
            <a:off x="9006840" y="192024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Oval 51"/>
          <p:cNvSpPr/>
          <p:nvPr/>
        </p:nvSpPr>
        <p:spPr>
          <a:xfrm>
            <a:off x="9098280" y="22860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5</a:t>
            </a:r>
          </a:p>
        </p:txBody>
      </p:sp>
      <p:cxnSp>
        <p:nvCxnSpPr>
          <p:cNvPr id="53" name="Connector (flow)"/>
          <p:cNvCxnSpPr/>
          <p:nvPr/>
        </p:nvCxnSpPr>
        <p:spPr>
          <a:xfrm>
            <a:off x="8686800" y="3657600"/>
            <a:ext cx="32004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4" name="Connector (flow)"/>
          <p:cNvCxnSpPr/>
          <p:nvPr/>
        </p:nvCxnSpPr>
        <p:spPr>
          <a:xfrm>
            <a:off x="9006840" y="3657600"/>
            <a:ext cx="0" cy="8686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55" name="Connector (flow)"/>
          <p:cNvCxnSpPr/>
          <p:nvPr/>
        </p:nvCxnSpPr>
        <p:spPr>
          <a:xfrm>
            <a:off x="9006840" y="4526280"/>
            <a:ext cx="3657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6" name="Oval 55"/>
          <p:cNvSpPr/>
          <p:nvPr/>
        </p:nvSpPr>
        <p:spPr>
          <a:xfrm>
            <a:off x="9098280" y="3886200"/>
            <a:ext cx="274320" cy="274320"/>
          </a:xfrm>
          <a:prstGeom prst="ellipse">
            <a:avLst/>
          </a:prstGeom>
          <a:solidFill>
            <a:srgbClr val="00004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100" b="1" i="0">
                <a:solidFill>
                  <a:srgbClr val="FFFFFF"/>
                </a:solidFill>
                <a:latin typeface="Arial"/>
              </a:rPr>
              <a:t>6</a:t>
            </a:r>
          </a:p>
        </p:txBody>
      </p:sp>
      <p:cxnSp>
        <p:nvCxnSpPr>
          <p:cNvPr id="57" name="Connector (flow)"/>
          <p:cNvCxnSpPr/>
          <p:nvPr/>
        </p:nvCxnSpPr>
        <p:spPr>
          <a:xfrm>
            <a:off x="548640" y="5715000"/>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1024128" y="5596128"/>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59" name="Connector (telemetry)"/>
          <p:cNvCxnSpPr/>
          <p:nvPr/>
        </p:nvCxnSpPr>
        <p:spPr>
          <a:xfrm>
            <a:off x="2926080" y="5715000"/>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3401568" y="5596128"/>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61" name="TextBox 60"/>
          <p:cNvSpPr txBox="1"/>
          <p:nvPr/>
        </p:nvSpPr>
        <p:spPr>
          <a:xfrm>
            <a:off x="5486400" y="5596128"/>
            <a:ext cx="6126480" cy="274320"/>
          </a:xfrm>
          <a:prstGeom prst="rect">
            <a:avLst/>
          </a:prstGeom>
          <a:noFill/>
        </p:spPr>
        <p:txBody>
          <a:bodyPr wrap="square" lIns="0" rIns="0" tIns="0" bIns="0" anchor="t">
            <a:noAutofit/>
          </a:bodyPr>
          <a:lstStyle/>
          <a:p>
            <a:pPr algn="r"/>
            <a:r>
              <a:rPr sz="1100" b="0" i="0">
                <a:solidFill>
                  <a:srgbClr val="7373D8"/>
                </a:solidFill>
                <a:latin typeface="Arial"/>
              </a:rPr>
              <a:t>Purple outline = custom build. Others are native Azure capabilities.</a:t>
            </a:r>
          </a:p>
        </p:txBody>
      </p:sp>
      <p:sp>
        <p:nvSpPr>
          <p:cNvPr id="62" name="TextBox 61"/>
          <p:cNvSpPr txBox="1"/>
          <p:nvPr/>
        </p:nvSpPr>
        <p:spPr>
          <a:xfrm>
            <a:off x="548640" y="5943600"/>
            <a:ext cx="11064240" cy="256032"/>
          </a:xfrm>
          <a:prstGeom prst="rect">
            <a:avLst/>
          </a:prstGeom>
          <a:noFill/>
        </p:spPr>
        <p:txBody>
          <a:bodyPr wrap="square" lIns="0" rIns="0" tIns="0" bIns="0" anchor="t">
            <a:noAutofit/>
          </a:bodyPr>
          <a:lstStyle/>
          <a:p>
            <a:pPr algn="l"/>
            <a:r>
              <a:rPr sz="1100" b="1" i="0">
                <a:solidFill>
                  <a:srgbClr val="7373D8"/>
                </a:solidFill>
                <a:latin typeface="Arial"/>
              </a:rPr>
              <a:t>Proposed reference architecture  ·  CIS Infra custom design  ·  not a Microsoft-published or Microsoft-endorsed architecture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How each source contributes, and where it stops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A2</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14</a:t>
            </a:r>
          </a:p>
        </p:txBody>
      </p:sp>
      <p:graphicFrame>
        <p:nvGraphicFramePr>
          <p:cNvPr id="9" name="Table"/>
          <p:cNvGraphicFramePr>
            <a:graphicFrameLocks noGrp="1"/>
          </p:cNvGraphicFramePr>
          <p:nvPr/>
        </p:nvGraphicFramePr>
        <p:xfrm>
          <a:off x="548640" y="1371600"/>
          <a:ext cx="11091672" cy="2773680"/>
        </p:xfrm>
        <a:graphic>
          <a:graphicData uri="http://schemas.openxmlformats.org/drawingml/2006/table">
            <a:tbl>
              <a:tblPr firstRow="1" bandRow="0">
                <a:tableStyleId>{5C22544A-7EE6-4342-B048-85BDC9FD1C3A}</a:tableStyleId>
              </a:tblPr>
              <a:tblGrid>
                <a:gridCol w="2194560"/>
                <a:gridCol w="3931920"/>
                <a:gridCol w="2011680"/>
                <a:gridCol w="2953512"/>
              </a:tblGrid>
              <a:tr h="304800">
                <a:tc>
                  <a:txBody>
                    <a:bodyPr wrap="square" anchor="ctr">
                      <a:noAutofit/>
                    </a:bodyPr>
                    <a:lstStyle/>
                    <a:p>
                      <a:pPr algn="l"/>
                      <a:r>
                        <a:rPr sz="1400" b="1" i="0">
                          <a:solidFill>
                            <a:srgbClr val="FFFFFF"/>
                          </a:solidFill>
                          <a:latin typeface="Arial"/>
                        </a:rPr>
                        <a:t>Source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Proves</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Native or custom</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Stops at</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Foundry Control Plane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Supported agents exist; runs, errors, tokens, estimated cost (last month)</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Native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Classic agents and Azure OpenAI assistants not supported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Azure Resource Graph</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Hosting resources and tags exist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Native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Not a logical agent list</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Deployment pipelines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 ID, version, owner at release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Custom integration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Agents deployed outside pipelines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Application Insights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Runs, traces, errors per agent</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Native, needs instrumentation</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Only runs after configuration; sampling</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Log Analytics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Gateway and platform activity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Native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Needs agent ID in logs to join</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Registry and workbook</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Reconciled status and ownership</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Custom</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As good as the joins feeding it</a:t>
                      </a:r>
                    </a:p>
                  </a:txBody>
                  <a:tcPr marL="73152" marR="73152" marT="36576" marB="36576" anchor="ctr">
                    <a:solidFill>
                      <a:srgbClr val="F5F5F2"/>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Minimum catalogue record for each agent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A3</a:t>
            </a:r>
          </a:p>
        </p:txBody>
      </p:sp>
      <p:sp>
        <p:nvSpPr>
          <p:cNvPr id="5" name="Status chip: PROPOSED SCHEMA"/>
          <p:cNvSpPr/>
          <p:nvPr/>
        </p:nvSpPr>
        <p:spPr>
          <a:xfrm>
            <a:off x="1898650" y="274320"/>
            <a:ext cx="15697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SCHEMA</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15</a:t>
            </a:r>
          </a:p>
        </p:txBody>
      </p:sp>
      <p:sp>
        <p:nvSpPr>
          <p:cNvPr id="9" name="Rounded Rectangle 8"/>
          <p:cNvSpPr/>
          <p:nvPr/>
        </p:nvSpPr>
        <p:spPr>
          <a:xfrm>
            <a:off x="54864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Identity</a:t>
            </a:r>
          </a:p>
        </p:txBody>
      </p:sp>
      <p:sp>
        <p:nvSpPr>
          <p:cNvPr id="10" name="Rounded Rectangle 9"/>
          <p:cNvSpPr/>
          <p:nvPr/>
        </p:nvSpPr>
        <p:spPr>
          <a:xfrm>
            <a:off x="54864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Agent ID and version</a:t>
            </a:r>
          </a:p>
          <a:p>
            <a:pPr algn="l" marL="201168" indent="-201168">
              <a:spcAft>
                <a:spcPts val="800"/>
              </a:spcAft>
              <a:buFont typeface="Arial"/>
              <a:buChar char="•"/>
            </a:pPr>
            <a:r>
              <a:rPr sz="1500" b="0" i="0">
                <a:solidFill>
                  <a:srgbClr val="1E1E2E"/>
                </a:solidFill>
                <a:latin typeface="Arial"/>
              </a:rPr>
              <a:t>Environment and hosting platform</a:t>
            </a:r>
          </a:p>
          <a:p>
            <a:pPr algn="l" marL="201168" indent="-201168">
              <a:spcAft>
                <a:spcPts val="800"/>
              </a:spcAft>
              <a:buFont typeface="Arial"/>
              <a:buChar char="•"/>
            </a:pPr>
            <a:r>
              <a:rPr sz="1500" b="0" i="0">
                <a:solidFill>
                  <a:srgbClr val="1E1E2E"/>
                </a:solidFill>
                <a:latin typeface="Arial"/>
              </a:rPr>
              <a:t>Deployment location and endpoint</a:t>
            </a:r>
          </a:p>
        </p:txBody>
      </p:sp>
      <p:sp>
        <p:nvSpPr>
          <p:cNvPr id="11" name="Rounded Rectangle 10"/>
          <p:cNvSpPr/>
          <p:nvPr/>
        </p:nvSpPr>
        <p:spPr>
          <a:xfrm>
            <a:off x="278892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Accountability</a:t>
            </a:r>
          </a:p>
        </p:txBody>
      </p:sp>
      <p:sp>
        <p:nvSpPr>
          <p:cNvPr id="12" name="Rounded Rectangle 11"/>
          <p:cNvSpPr/>
          <p:nvPr/>
        </p:nvSpPr>
        <p:spPr>
          <a:xfrm>
            <a:off x="278892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Business owner</a:t>
            </a:r>
          </a:p>
          <a:p>
            <a:pPr algn="l" marL="201168" indent="-201168">
              <a:spcAft>
                <a:spcPts val="800"/>
              </a:spcAft>
              <a:buFont typeface="Arial"/>
              <a:buChar char="•"/>
            </a:pPr>
            <a:r>
              <a:rPr sz="1500" b="0" i="0">
                <a:solidFill>
                  <a:srgbClr val="1E1E2E"/>
                </a:solidFill>
                <a:latin typeface="Arial"/>
              </a:rPr>
              <a:t>Technical owner and responder</a:t>
            </a:r>
          </a:p>
          <a:p>
            <a:pPr algn="l" marL="201168" indent="-201168">
              <a:spcAft>
                <a:spcPts val="800"/>
              </a:spcAft>
              <a:buFont typeface="Arial"/>
              <a:buChar char="•"/>
            </a:pPr>
            <a:r>
              <a:rPr sz="1500" b="0" i="0">
                <a:solidFill>
                  <a:srgbClr val="1E1E2E"/>
                </a:solidFill>
                <a:latin typeface="Arial"/>
              </a:rPr>
              <a:t>Review date</a:t>
            </a:r>
          </a:p>
        </p:txBody>
      </p:sp>
      <p:sp>
        <p:nvSpPr>
          <p:cNvPr id="13" name="Rounded Rectangle 12"/>
          <p:cNvSpPr/>
          <p:nvPr/>
        </p:nvSpPr>
        <p:spPr>
          <a:xfrm>
            <a:off x="502920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Exposure</a:t>
            </a:r>
          </a:p>
        </p:txBody>
      </p:sp>
      <p:sp>
        <p:nvSpPr>
          <p:cNvPr id="14" name="Rounded Rectangle 13"/>
          <p:cNvSpPr/>
          <p:nvPr/>
        </p:nvSpPr>
        <p:spPr>
          <a:xfrm>
            <a:off x="502920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Identity and permissions</a:t>
            </a:r>
          </a:p>
          <a:p>
            <a:pPr algn="l" marL="201168" indent="-201168">
              <a:spcAft>
                <a:spcPts val="800"/>
              </a:spcAft>
              <a:buFont typeface="Arial"/>
              <a:buChar char="•"/>
            </a:pPr>
            <a:r>
              <a:rPr sz="1500" b="0" i="0">
                <a:solidFill>
                  <a:srgbClr val="1E1E2E"/>
                </a:solidFill>
                <a:latin typeface="Arial"/>
              </a:rPr>
              <a:t>Models, tools and data dependencies</a:t>
            </a:r>
          </a:p>
          <a:p>
            <a:pPr algn="l" marL="201168" indent="-201168">
              <a:spcAft>
                <a:spcPts val="800"/>
              </a:spcAft>
              <a:buFont typeface="Arial"/>
              <a:buChar char="•"/>
            </a:pPr>
            <a:r>
              <a:rPr sz="1500" b="0" i="0">
                <a:solidFill>
                  <a:srgbClr val="1E1E2E"/>
                </a:solidFill>
                <a:latin typeface="Arial"/>
              </a:rPr>
              <a:t>Risk classification</a:t>
            </a:r>
          </a:p>
        </p:txBody>
      </p:sp>
      <p:sp>
        <p:nvSpPr>
          <p:cNvPr id="15" name="Rounded Rectangle 14"/>
          <p:cNvSpPr/>
          <p:nvPr/>
        </p:nvSpPr>
        <p:spPr>
          <a:xfrm>
            <a:off x="726948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Activity</a:t>
            </a:r>
          </a:p>
        </p:txBody>
      </p:sp>
      <p:sp>
        <p:nvSpPr>
          <p:cNvPr id="16" name="Rounded Rectangle 15"/>
          <p:cNvSpPr/>
          <p:nvPr/>
        </p:nvSpPr>
        <p:spPr>
          <a:xfrm>
            <a:off x="726948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Last observed run</a:t>
            </a:r>
          </a:p>
          <a:p>
            <a:pPr algn="l" marL="201168" indent="-201168">
              <a:spcAft>
                <a:spcPts val="800"/>
              </a:spcAft>
              <a:buFont typeface="Arial"/>
              <a:buChar char="•"/>
            </a:pPr>
            <a:r>
              <a:rPr sz="1500" b="0" i="0">
                <a:solidFill>
                  <a:srgbClr val="1E1E2E"/>
                </a:solidFill>
                <a:latin typeface="Arial"/>
              </a:rPr>
              <a:t>Usage, error and cost indicators</a:t>
            </a:r>
          </a:p>
          <a:p>
            <a:pPr algn="l" marL="201168" indent="-201168">
              <a:spcAft>
                <a:spcPts val="800"/>
              </a:spcAft>
              <a:buFont typeface="Arial"/>
              <a:buChar char="•"/>
            </a:pPr>
            <a:r>
              <a:rPr sz="1500" b="0" i="0">
                <a:solidFill>
                  <a:srgbClr val="1E1E2E"/>
                </a:solidFill>
                <a:latin typeface="Arial"/>
              </a:rPr>
              <a:t>Telemetry health</a:t>
            </a:r>
          </a:p>
        </p:txBody>
      </p:sp>
      <p:sp>
        <p:nvSpPr>
          <p:cNvPr id="17" name="Rounded Rectangle 16"/>
          <p:cNvSpPr/>
          <p:nvPr/>
        </p:nvSpPr>
        <p:spPr>
          <a:xfrm>
            <a:off x="9509760" y="1371600"/>
            <a:ext cx="2103120" cy="502920"/>
          </a:xfrm>
          <a:prstGeom prst="roundRect">
            <a:avLst>
              <a:gd name="adj" fmla="val 14545"/>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600" b="1" i="0">
                <a:solidFill>
                  <a:srgbClr val="FFFFFF"/>
                </a:solidFill>
                <a:latin typeface="Arial"/>
              </a:rPr>
              <a:t>Control</a:t>
            </a:r>
          </a:p>
        </p:txBody>
      </p:sp>
      <p:sp>
        <p:nvSpPr>
          <p:cNvPr id="18" name="Rounded Rectangle 17"/>
          <p:cNvSpPr/>
          <p:nvPr/>
        </p:nvSpPr>
        <p:spPr>
          <a:xfrm>
            <a:off x="9509760" y="1920240"/>
            <a:ext cx="2103120" cy="3200400"/>
          </a:xfrm>
          <a:prstGeom prst="roundRect">
            <a:avLst>
              <a:gd name="adj" fmla="val 3478"/>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73152" bIns="73152" wrap="square">
            <a:noAutofit/>
          </a:bodyPr>
          <a:lstStyle/>
          <a:p>
            <a:pPr algn="l" marL="201168" indent="-201168">
              <a:spcAft>
                <a:spcPts val="800"/>
              </a:spcAft>
              <a:buFont typeface="Arial"/>
              <a:buChar char="•"/>
            </a:pPr>
            <a:r>
              <a:rPr sz="1500" b="0" i="0">
                <a:solidFill>
                  <a:srgbClr val="1E1E2E"/>
                </a:solidFill>
                <a:latin typeface="Arial"/>
              </a:rPr>
              <a:t>Containment mechanism per layer</a:t>
            </a:r>
          </a:p>
          <a:p>
            <a:pPr algn="l" marL="201168" indent="-201168">
              <a:spcAft>
                <a:spcPts val="800"/>
              </a:spcAft>
              <a:buFont typeface="Arial"/>
              <a:buChar char="•"/>
            </a:pPr>
            <a:r>
              <a:rPr sz="1500" b="0" i="0">
                <a:solidFill>
                  <a:srgbClr val="1E1E2E"/>
                </a:solidFill>
                <a:latin typeface="Arial"/>
              </a:rPr>
              <a:t>Lifecycle status</a:t>
            </a:r>
          </a:p>
          <a:p>
            <a:pPr algn="l" marL="201168" indent="-201168">
              <a:spcAft>
                <a:spcPts val="800"/>
              </a:spcAft>
              <a:buFont typeface="Arial"/>
              <a:buChar char="•"/>
            </a:pPr>
            <a:r>
              <a:rPr sz="1500" b="0" i="0">
                <a:solidFill>
                  <a:srgbClr val="1E1E2E"/>
                </a:solidFill>
                <a:latin typeface="Arial"/>
              </a:rPr>
              <a:t>State version (quarantine)</a:t>
            </a:r>
          </a:p>
        </p:txBody>
      </p:sp>
      <p:sp>
        <p:nvSpPr>
          <p:cNvPr id="19" name="Rounded Rectangle 18"/>
          <p:cNvSpPr/>
          <p:nvPr/>
        </p:nvSpPr>
        <p:spPr>
          <a:xfrm>
            <a:off x="548640" y="539496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A record with no owner or no containment mechanism is a finding, not a pass.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Inventory and runtime evidence answer different questions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A4</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6"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16</a:t>
            </a:r>
          </a:p>
        </p:txBody>
      </p:sp>
      <p:sp>
        <p:nvSpPr>
          <p:cNvPr id="8" name="Rounded Rectangle 7"/>
          <p:cNvSpPr/>
          <p:nvPr/>
        </p:nvSpPr>
        <p:spPr>
          <a:xfrm>
            <a:off x="548640" y="1371600"/>
            <a:ext cx="5394960" cy="548640"/>
          </a:xfrm>
          <a:prstGeom prst="roundRect">
            <a:avLst>
              <a:gd name="adj" fmla="val 13333"/>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Deployment inventory: what exists</a:t>
            </a:r>
          </a:p>
        </p:txBody>
      </p:sp>
      <p:sp>
        <p:nvSpPr>
          <p:cNvPr id="9" name="TextBox 8"/>
          <p:cNvSpPr txBox="1"/>
          <p:nvPr/>
        </p:nvSpPr>
        <p:spPr>
          <a:xfrm>
            <a:off x="548640" y="2057400"/>
            <a:ext cx="5394960" cy="301752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Sources: Foundry Control Plane, Resource Graph, pipelines</a:t>
            </a:r>
          </a:p>
          <a:p>
            <a:pPr algn="l" marL="201168" indent="-201168">
              <a:spcAft>
                <a:spcPts val="800"/>
              </a:spcAft>
              <a:buFont typeface="Arial"/>
              <a:buChar char="•"/>
            </a:pPr>
            <a:r>
              <a:rPr sz="1700" b="0" i="0">
                <a:solidFill>
                  <a:srgbClr val="1E1E2E"/>
                </a:solidFill>
                <a:latin typeface="Arial"/>
              </a:rPr>
              <a:t>Answers: does it exist, where, who owns it</a:t>
            </a:r>
          </a:p>
          <a:p>
            <a:pPr algn="l" marL="201168" indent="-201168">
              <a:spcAft>
                <a:spcPts val="800"/>
              </a:spcAft>
              <a:buFont typeface="Arial"/>
              <a:buChar char="•"/>
            </a:pPr>
            <a:r>
              <a:rPr sz="1700" b="0" i="0">
                <a:solidFill>
                  <a:srgbClr val="1E1E2E"/>
                </a:solidFill>
                <a:latin typeface="Arial"/>
              </a:rPr>
              <a:t>Fails when: deployed outside pipelines or platforms</a:t>
            </a:r>
          </a:p>
          <a:p>
            <a:pPr algn="l" marL="201168" indent="-201168">
              <a:spcAft>
                <a:spcPts val="800"/>
              </a:spcAft>
              <a:buFont typeface="Arial"/>
              <a:buChar char="•"/>
            </a:pPr>
            <a:r>
              <a:rPr sz="1700" b="0" i="0">
                <a:solidFill>
                  <a:srgbClr val="1E1E2E"/>
                </a:solidFill>
                <a:latin typeface="Arial"/>
              </a:rPr>
              <a:t>Freshness: at deployment and on schedule</a:t>
            </a:r>
          </a:p>
        </p:txBody>
      </p:sp>
      <p:sp>
        <p:nvSpPr>
          <p:cNvPr id="10" name="Rounded Rectangle 9"/>
          <p:cNvSpPr/>
          <p:nvPr/>
        </p:nvSpPr>
        <p:spPr>
          <a:xfrm>
            <a:off x="6245352" y="1371600"/>
            <a:ext cx="5394960" cy="548640"/>
          </a:xfrm>
          <a:prstGeom prst="roundRect">
            <a:avLst>
              <a:gd name="adj" fmla="val 13333"/>
            </a:avLst>
          </a:prstGeom>
          <a:solidFill>
            <a:srgbClr val="2F78C4"/>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800" b="1" i="0">
                <a:solidFill>
                  <a:srgbClr val="FFFFFF"/>
                </a:solidFill>
                <a:latin typeface="Arial"/>
              </a:rPr>
              <a:t>Runtime evidence: what runs</a:t>
            </a:r>
          </a:p>
        </p:txBody>
      </p:sp>
      <p:sp>
        <p:nvSpPr>
          <p:cNvPr id="11" name="TextBox 10"/>
          <p:cNvSpPr txBox="1"/>
          <p:nvPr/>
        </p:nvSpPr>
        <p:spPr>
          <a:xfrm>
            <a:off x="6245352" y="2057400"/>
            <a:ext cx="5394960" cy="301752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Sources: Application Insights, Log Analytics, gateway logs</a:t>
            </a:r>
          </a:p>
          <a:p>
            <a:pPr algn="l" marL="201168" indent="-201168">
              <a:spcAft>
                <a:spcPts val="800"/>
              </a:spcAft>
              <a:buFont typeface="Arial"/>
              <a:buChar char="•"/>
            </a:pPr>
            <a:r>
              <a:rPr sz="1700" b="0" i="0">
                <a:solidFill>
                  <a:srgbClr val="1E1E2E"/>
                </a:solidFill>
                <a:latin typeface="Arial"/>
              </a:rPr>
              <a:t>Answers: when it last ran, how often, errors, cost</a:t>
            </a:r>
          </a:p>
          <a:p>
            <a:pPr algn="l" marL="201168" indent="-201168">
              <a:spcAft>
                <a:spcPts val="800"/>
              </a:spcAft>
              <a:buFont typeface="Arial"/>
              <a:buChar char="•"/>
            </a:pPr>
            <a:r>
              <a:rPr sz="1700" b="0" i="0">
                <a:solidFill>
                  <a:srgbClr val="1E1E2E"/>
                </a:solidFill>
                <a:latin typeface="Arial"/>
              </a:rPr>
              <a:t>Fails when: not instrumented, sampled or misconfigured</a:t>
            </a:r>
          </a:p>
          <a:p>
            <a:pPr algn="l" marL="201168" indent="-201168">
              <a:spcAft>
                <a:spcPts val="800"/>
              </a:spcAft>
              <a:buFont typeface="Arial"/>
              <a:buChar char="•"/>
            </a:pPr>
            <a:r>
              <a:rPr sz="1700" b="0" i="0">
                <a:solidFill>
                  <a:srgbClr val="1E1E2E"/>
                </a:solidFill>
                <a:latin typeface="Arial"/>
              </a:rPr>
              <a:t>Freshness: minutes; only after configuration</a:t>
            </a:r>
          </a:p>
        </p:txBody>
      </p:sp>
      <p:sp>
        <p:nvSpPr>
          <p:cNvPr id="12" name="Rounded Rectangle 11"/>
          <p:cNvSpPr/>
          <p:nvPr/>
        </p:nvSpPr>
        <p:spPr>
          <a:xfrm>
            <a:off x="548640" y="5303520"/>
            <a:ext cx="11091672" cy="594360"/>
          </a:xfrm>
          <a:prstGeom prst="roundRect">
            <a:avLst>
              <a:gd name="adj" fmla="val 12307"/>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Missing telemetry produces "telemetry unknown", never "dormant". Never auto-delete on zero sampled telemetry.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Usage classification rules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A5</a:t>
            </a:r>
          </a:p>
        </p:txBody>
      </p:sp>
      <p:sp>
        <p:nvSpPr>
          <p:cNvPr id="5" name="Status chip: PROPOSED POLICY"/>
          <p:cNvSpPr/>
          <p:nvPr/>
        </p:nvSpPr>
        <p:spPr>
          <a:xfrm>
            <a:off x="1898650" y="274320"/>
            <a:ext cx="15697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POLICY</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17</a:t>
            </a:r>
          </a:p>
        </p:txBody>
      </p:sp>
      <p:graphicFrame>
        <p:nvGraphicFramePr>
          <p:cNvPr id="9" name="Table"/>
          <p:cNvGraphicFramePr>
            <a:graphicFrameLocks noGrp="1"/>
          </p:cNvGraphicFramePr>
          <p:nvPr/>
        </p:nvGraphicFramePr>
        <p:xfrm>
          <a:off x="548640" y="1371600"/>
          <a:ext cx="11091672" cy="3307080"/>
        </p:xfrm>
        <a:graphic>
          <a:graphicData uri="http://schemas.openxmlformats.org/drawingml/2006/table">
            <a:tbl>
              <a:tblPr firstRow="1" bandRow="0">
                <a:tableStyleId>{5C22544A-7EE6-4342-B048-85BDC9FD1C3A}</a:tableStyleId>
              </a:tblPr>
              <a:tblGrid>
                <a:gridCol w="1828800"/>
                <a:gridCol w="3474720"/>
                <a:gridCol w="2834640"/>
                <a:gridCol w="2953512"/>
              </a:tblGrid>
              <a:tr h="289560">
                <a:tc>
                  <a:txBody>
                    <a:bodyPr wrap="square" anchor="ctr">
                      <a:noAutofit/>
                    </a:bodyPr>
                    <a:lstStyle/>
                    <a:p>
                      <a:pPr algn="l"/>
                      <a:r>
                        <a:rPr sz="1300" b="1" i="0">
                          <a:solidFill>
                            <a:srgbClr val="FFFFFF"/>
                          </a:solidFill>
                          <a:latin typeface="Arial"/>
                        </a:rPr>
                        <a:t>State</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Rule (proposed)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Evidence used</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Action and owner</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Active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At least one qualifying production run in 30 days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App Insights or Control Plane runs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Monitor; agent owner</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Never observed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Deployed, no run since onboarding</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Pipeline record, no runs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Validate onboarding; technical owner</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Dormant candidate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No runs for 30 days and telemetry healthy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Telemetry heartbeat present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review in 14 days; business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Telemetry unknown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Missing, stale or unhealthy telemetry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heartbeat; config drift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Repair monitoring; CIS Infra</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Orphaned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Owner invalid, or resource without record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Directory lookup; Resource Graph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Assign or retire; service owner</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Blocked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Containment or policy decision recorded</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Registry state version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Verify enforcement; Security</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Retired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Lifecycle decision; resources removed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Resource Graph shows none left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Verify residual resources; CIS Infra</a:t>
                      </a:r>
                    </a:p>
                  </a:txBody>
                  <a:tcPr marL="73152" marR="73152" marT="36576" marB="36576" anchor="ctr">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Inventory coverage by agent type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A6</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18</a:t>
            </a:r>
          </a:p>
        </p:txBody>
      </p:sp>
      <p:graphicFrame>
        <p:nvGraphicFramePr>
          <p:cNvPr id="9" name="Table"/>
          <p:cNvGraphicFramePr>
            <a:graphicFrameLocks noGrp="1"/>
          </p:cNvGraphicFramePr>
          <p:nvPr/>
        </p:nvGraphicFramePr>
        <p:xfrm>
          <a:off x="548640" y="1371600"/>
          <a:ext cx="11091672" cy="2987040"/>
        </p:xfrm>
        <a:graphic>
          <a:graphicData uri="http://schemas.openxmlformats.org/drawingml/2006/table">
            <a:tbl>
              <a:tblPr firstRow="1" bandRow="0">
                <a:tableStyleId>{5C22544A-7EE6-4342-B048-85BDC9FD1C3A}</a:tableStyleId>
              </a:tblPr>
              <a:tblGrid>
                <a:gridCol w="3291840"/>
                <a:gridCol w="2377440"/>
                <a:gridCol w="2651760"/>
                <a:gridCol w="2770632"/>
              </a:tblGrid>
              <a:tr h="304800">
                <a:tc>
                  <a:txBody>
                    <a:bodyPr wrap="square" anchor="ctr">
                      <a:noAutofit/>
                    </a:bodyPr>
                    <a:lstStyle/>
                    <a:p>
                      <a:pPr algn="l"/>
                      <a:r>
                        <a:rPr sz="1400" b="1" i="0">
                          <a:solidFill>
                            <a:srgbClr val="FFFFFF"/>
                          </a:solidFill>
                          <a:latin typeface="Arial"/>
                        </a:rPr>
                        <a:t>Agent type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Inventory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Usage telemetry</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Containment</a:t>
                      </a:r>
                    </a:p>
                  </a:txBody>
                  <a:tcPr marL="73152" marR="73152" marT="36576" marB="36576" anchor="ctr">
                    <a:solidFill>
                      <a:srgbClr val="000048"/>
                    </a:solidFill>
                  </a:tcPr>
                </a:tc>
              </a:tr>
              <a:tr h="518160">
                <a:tc>
                  <a:txBody>
                    <a:bodyPr wrap="square" anchor="ctr">
                      <a:noAutofit/>
                    </a:bodyPr>
                    <a:lstStyle/>
                    <a:p>
                      <a:pPr algn="l"/>
                      <a:r>
                        <a:rPr sz="1400" b="1" i="0">
                          <a:solidFill>
                            <a:srgbClr val="1E1E2E"/>
                          </a:solidFill>
                          <a:latin typeface="Arial"/>
                        </a:rPr>
                        <a:t>Foundry prompt, workflow, hosted</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Native</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Native once configured</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Stop when published; custom for in-flight</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Azure SRE Agent</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Native</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Native runs count</a:t>
                      </a:r>
                    </a:p>
                  </a:txBody>
                  <a:tcPr marL="73152" marR="73152" marT="36576" marB="36576" anchor="ctr">
                    <a:solidFill>
                      <a:srgbClr val="F5F5F2"/>
                    </a:solidFill>
                  </a:tcPr>
                </a:tc>
                <a:tc>
                  <a:txBody>
                    <a:bodyPr wrap="square" anchor="ctr">
                      <a:noAutofit/>
                    </a:bodyPr>
                    <a:lstStyle/>
                    <a:p>
                      <a:pPr algn="l"/>
                      <a:r>
                        <a:rPr sz="1400" b="1" i="0">
                          <a:solidFill>
                            <a:srgbClr val="1D6B3A"/>
                          </a:solidFill>
                          <a:latin typeface="Arial"/>
                        </a:rPr>
                        <a:t>Start or stop</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Logic Apps agent loops</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Native</a:t>
                      </a:r>
                    </a:p>
                  </a:txBody>
                  <a:tcPr marL="73152" marR="73152" marT="36576" marB="36576" anchor="ctr">
                    <a:solidFill>
                      <a:srgbClr val="FFFFFF"/>
                    </a:solidFill>
                  </a:tcPr>
                </a:tc>
                <a:tc>
                  <a:txBody>
                    <a:bodyPr wrap="square" anchor="ctr">
                      <a:noAutofit/>
                    </a:bodyPr>
                    <a:lstStyle/>
                    <a:p>
                      <a:pPr algn="l"/>
                      <a:r>
                        <a:rPr sz="1400" b="1" i="0">
                          <a:solidFill>
                            <a:srgbClr val="A4262C"/>
                          </a:solidFill>
                          <a:latin typeface="Arial"/>
                        </a:rPr>
                        <a:t>No traces or metrics</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Stop resource: all workflows</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Custom agents on Container Apps or AKS</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Register manually</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Custom instrumentation</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Block proxy; custom adapter</a:t>
                      </a:r>
                    </a:p>
                  </a:txBody>
                  <a:tcPr marL="73152" marR="73152" marT="36576" marB="36576" anchor="ctr">
                    <a:solidFill>
                      <a:srgbClr val="F5F5F2"/>
                    </a:solidFill>
                  </a:tcPr>
                </a:tc>
              </a:tr>
              <a:tr h="518160">
                <a:tc>
                  <a:txBody>
                    <a:bodyPr wrap="square" anchor="ctr">
                      <a:noAutofit/>
                    </a:bodyPr>
                    <a:lstStyle/>
                    <a:p>
                      <a:pPr algn="l"/>
                      <a:r>
                        <a:rPr sz="1400" b="1" i="0">
                          <a:solidFill>
                            <a:srgbClr val="1E1E2E"/>
                          </a:solidFill>
                          <a:latin typeface="Arial"/>
                        </a:rPr>
                        <a:t>Classic agents, Azure OpenAI assistants</a:t>
                      </a:r>
                    </a:p>
                  </a:txBody>
                  <a:tcPr marL="73152" marR="73152" marT="36576" marB="36576" anchor="ctr">
                    <a:solidFill>
                      <a:srgbClr val="FFFFFF"/>
                    </a:solidFill>
                  </a:tcPr>
                </a:tc>
                <a:tc>
                  <a:txBody>
                    <a:bodyPr wrap="square" anchor="ctr">
                      <a:noAutofit/>
                    </a:bodyPr>
                    <a:lstStyle/>
                    <a:p>
                      <a:pPr algn="l"/>
                      <a:r>
                        <a:rPr sz="1400" b="1" i="0">
                          <a:solidFill>
                            <a:srgbClr val="A4262C"/>
                          </a:solidFill>
                          <a:latin typeface="Arial"/>
                        </a:rPr>
                        <a:t>Not supported</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Custom only</a:t>
                      </a:r>
                    </a:p>
                  </a:txBody>
                  <a:tcPr marL="73152" marR="73152" marT="36576" marB="36576" anchor="ctr">
                    <a:solidFill>
                      <a:srgbClr val="FFFFFF"/>
                    </a:solidFill>
                  </a:tcPr>
                </a:tc>
                <a:tc>
                  <a:txBody>
                    <a:bodyPr wrap="square" anchor="ctr">
                      <a:noAutofit/>
                    </a:bodyPr>
                    <a:lstStyle/>
                    <a:p>
                      <a:pPr algn="l"/>
                      <a:r>
                        <a:rPr sz="1400" b="1" i="0">
                          <a:solidFill>
                            <a:srgbClr val="8A4B08"/>
                          </a:solidFill>
                          <a:latin typeface="Arial"/>
                        </a:rPr>
                        <a:t>Custom only</a:t>
                      </a:r>
                    </a:p>
                  </a:txBody>
                  <a:tcPr marL="73152" marR="73152" marT="36576" marB="36576" anchor="ctr">
                    <a:solidFill>
                      <a:srgbClr val="FFFFFF"/>
                    </a:solidFill>
                  </a:tcPr>
                </a:tc>
              </a:tr>
              <a:tr h="518160">
                <a:tc>
                  <a:txBody>
                    <a:bodyPr wrap="square" anchor="ctr">
                      <a:noAutofit/>
                    </a:bodyPr>
                    <a:lstStyle/>
                    <a:p>
                      <a:pPr algn="l"/>
                      <a:r>
                        <a:rPr sz="1400" b="1" i="0">
                          <a:solidFill>
                            <a:srgbClr val="1E1E2E"/>
                          </a:solidFill>
                          <a:latin typeface="Arial"/>
                        </a:rPr>
                        <a:t>Copilot Studio, SaaS or other clouds</a:t>
                      </a:r>
                    </a:p>
                  </a:txBody>
                  <a:tcPr marL="73152" marR="73152" marT="36576" marB="36576" anchor="ctr">
                    <a:solidFill>
                      <a:srgbClr val="F5F5F2"/>
                    </a:solidFill>
                  </a:tcPr>
                </a:tc>
                <a:tc>
                  <a:txBody>
                    <a:bodyPr wrap="square" anchor="ctr">
                      <a:noAutofit/>
                    </a:bodyPr>
                    <a:lstStyle/>
                    <a:p>
                      <a:pPr algn="l"/>
                      <a:r>
                        <a:rPr sz="1400" b="1" i="0">
                          <a:solidFill>
                            <a:srgbClr val="A4262C"/>
                          </a:solidFill>
                          <a:latin typeface="Arial"/>
                        </a:rPr>
                        <a:t>Outside coverage</a:t>
                      </a:r>
                    </a:p>
                  </a:txBody>
                  <a:tcPr marL="73152" marR="73152" marT="36576" marB="36576" anchor="ctr">
                    <a:solidFill>
                      <a:srgbClr val="F5F5F2"/>
                    </a:solidFill>
                  </a:tcPr>
                </a:tc>
                <a:tc>
                  <a:txBody>
                    <a:bodyPr wrap="square" anchor="ctr">
                      <a:noAutofit/>
                    </a:bodyPr>
                    <a:lstStyle/>
                    <a:p>
                      <a:pPr algn="l"/>
                      <a:r>
                        <a:rPr sz="1400" b="1" i="0">
                          <a:solidFill>
                            <a:srgbClr val="A4262C"/>
                          </a:solidFill>
                          <a:latin typeface="Arial"/>
                        </a:rPr>
                        <a:t>Outside coverage</a:t>
                      </a:r>
                    </a:p>
                  </a:txBody>
                  <a:tcPr marL="73152" marR="73152" marT="36576" marB="36576" anchor="ctr">
                    <a:solidFill>
                      <a:srgbClr val="F5F5F2"/>
                    </a:solidFill>
                  </a:tcPr>
                </a:tc>
                <a:tc>
                  <a:txBody>
                    <a:bodyPr wrap="square" anchor="ctr">
                      <a:noAutofit/>
                    </a:bodyPr>
                    <a:lstStyle/>
                    <a:p>
                      <a:pPr algn="l"/>
                      <a:r>
                        <a:rPr sz="1400" b="1" i="0">
                          <a:solidFill>
                            <a:srgbClr val="A4262C"/>
                          </a:solidFill>
                          <a:latin typeface="Arial"/>
                        </a:rPr>
                        <a:t>Outside coverage</a:t>
                      </a:r>
                    </a:p>
                  </a:txBody>
                  <a:tcPr marL="73152" marR="73152" marT="36576" marB="36576" anchor="ctr">
                    <a:solidFill>
                      <a:srgbClr val="F5F5F2"/>
                    </a:solidFill>
                  </a:tcPr>
                </a:tc>
              </a:tr>
            </a:tbl>
          </a:graphicData>
        </a:graphic>
      </p:graphicFrame>
      <p:sp>
        <p:nvSpPr>
          <p:cNvPr id="10" name="Rounded Rectangle 9"/>
          <p:cNvSpPr/>
          <p:nvPr/>
        </p:nvSpPr>
        <p:spPr>
          <a:xfrm>
            <a:off x="548640" y="539496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Outside coverage means invisible until onboarded. Report coverage percentage with the denominator stated.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Agent estate view: what the workbook shows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A7</a:t>
            </a:r>
          </a:p>
        </p:txBody>
      </p:sp>
      <p:sp>
        <p:nvSpPr>
          <p:cNvPr id="5" name="Status chip: ILLUSTRATIVE, NO CUSTOMER DATA"/>
          <p:cNvSpPr/>
          <p:nvPr/>
        </p:nvSpPr>
        <p:spPr>
          <a:xfrm>
            <a:off x="1898650" y="274320"/>
            <a:ext cx="286512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ILLUSTRATIVE, NO CUSTOMER DATA</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19</a:t>
            </a:r>
          </a:p>
        </p:txBody>
      </p:sp>
      <p:sp>
        <p:nvSpPr>
          <p:cNvPr id="9" name="Rounded Rectangle 8"/>
          <p:cNvSpPr/>
          <p:nvPr/>
        </p:nvSpPr>
        <p:spPr>
          <a:xfrm>
            <a:off x="548640" y="1325880"/>
            <a:ext cx="11091672" cy="457200"/>
          </a:xfrm>
          <a:prstGeom prst="roundRect">
            <a:avLst>
              <a:gd name="adj" fmla="val 16000"/>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ctr"/>
            <a:r>
              <a:rPr sz="1400" b="1" i="0">
                <a:solidFill>
                  <a:srgbClr val="8A4B08"/>
                </a:solidFill>
                <a:latin typeface="Arial"/>
              </a:rPr>
              <a:t>ILLUSTRATIVE MOCK-UP  ·  invented sample data  ·  not customer evidence</a:t>
            </a:r>
          </a:p>
        </p:txBody>
      </p:sp>
      <p:sp>
        <p:nvSpPr>
          <p:cNvPr id="10" name="Rounded Rectangle 9"/>
          <p:cNvSpPr/>
          <p:nvPr/>
        </p:nvSpPr>
        <p:spPr>
          <a:xfrm>
            <a:off x="54864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24</a:t>
            </a:r>
          </a:p>
          <a:p>
            <a:pPr algn="l"/>
            <a:r>
              <a:rPr sz="1300" b="0" i="0">
                <a:solidFill>
                  <a:srgbClr val="53565A"/>
                </a:solidFill>
                <a:latin typeface="Arial"/>
              </a:rPr>
              <a:t>Registered</a:t>
            </a:r>
          </a:p>
        </p:txBody>
      </p:sp>
      <p:sp>
        <p:nvSpPr>
          <p:cNvPr id="11" name="Rounded Rectangle 10"/>
          <p:cNvSpPr/>
          <p:nvPr/>
        </p:nvSpPr>
        <p:spPr>
          <a:xfrm>
            <a:off x="278892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17</a:t>
            </a:r>
          </a:p>
          <a:p>
            <a:pPr algn="l"/>
            <a:r>
              <a:rPr sz="1300" b="0" i="0">
                <a:solidFill>
                  <a:srgbClr val="53565A"/>
                </a:solidFill>
                <a:latin typeface="Arial"/>
              </a:rPr>
              <a:t>Active, 30 days</a:t>
            </a:r>
          </a:p>
        </p:txBody>
      </p:sp>
      <p:sp>
        <p:nvSpPr>
          <p:cNvPr id="12" name="Rounded Rectangle 11"/>
          <p:cNvSpPr/>
          <p:nvPr/>
        </p:nvSpPr>
        <p:spPr>
          <a:xfrm>
            <a:off x="502920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4</a:t>
            </a:r>
          </a:p>
          <a:p>
            <a:pPr algn="l"/>
            <a:r>
              <a:rPr sz="1300" b="0" i="0">
                <a:solidFill>
                  <a:srgbClr val="53565A"/>
                </a:solidFill>
                <a:latin typeface="Arial"/>
              </a:rPr>
              <a:t>Dormant review</a:t>
            </a:r>
          </a:p>
        </p:txBody>
      </p:sp>
      <p:sp>
        <p:nvSpPr>
          <p:cNvPr id="13" name="Rounded Rectangle 12"/>
          <p:cNvSpPr/>
          <p:nvPr/>
        </p:nvSpPr>
        <p:spPr>
          <a:xfrm>
            <a:off x="726948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3</a:t>
            </a:r>
          </a:p>
          <a:p>
            <a:pPr algn="l"/>
            <a:r>
              <a:rPr sz="1300" b="0" i="0">
                <a:solidFill>
                  <a:srgbClr val="53565A"/>
                </a:solidFill>
                <a:latin typeface="Arial"/>
              </a:rPr>
              <a:t>Telemetry unknown</a:t>
            </a:r>
          </a:p>
        </p:txBody>
      </p:sp>
      <p:sp>
        <p:nvSpPr>
          <p:cNvPr id="14" name="Rounded Rectangle 13"/>
          <p:cNvSpPr/>
          <p:nvPr/>
        </p:nvSpPr>
        <p:spPr>
          <a:xfrm>
            <a:off x="9509760" y="1920240"/>
            <a:ext cx="2103120"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37160" rIns="137160" tIns="73152" bIns="73152" wrap="square">
            <a:noAutofit/>
          </a:bodyPr>
          <a:lstStyle/>
          <a:p>
            <a:pPr algn="l"/>
            <a:r>
              <a:rPr sz="3400" b="1" i="0">
                <a:solidFill>
                  <a:srgbClr val="000048"/>
                </a:solidFill>
                <a:latin typeface="Arial"/>
              </a:rPr>
              <a:t>1</a:t>
            </a:r>
          </a:p>
          <a:p>
            <a:pPr algn="l"/>
            <a:r>
              <a:rPr sz="1300" b="0" i="0">
                <a:solidFill>
                  <a:srgbClr val="53565A"/>
                </a:solidFill>
                <a:latin typeface="Arial"/>
              </a:rPr>
              <a:t>Orphaned</a:t>
            </a:r>
          </a:p>
        </p:txBody>
      </p:sp>
      <p:graphicFrame>
        <p:nvGraphicFramePr>
          <p:cNvPr id="15" name="Table"/>
          <p:cNvGraphicFramePr>
            <a:graphicFrameLocks noGrp="1"/>
          </p:cNvGraphicFramePr>
          <p:nvPr/>
        </p:nvGraphicFramePr>
        <p:xfrm>
          <a:off x="548640" y="3291840"/>
          <a:ext cx="11091672" cy="1524000"/>
        </p:xfrm>
        <a:graphic>
          <a:graphicData uri="http://schemas.openxmlformats.org/drawingml/2006/table">
            <a:tbl>
              <a:tblPr firstRow="1" bandRow="0">
                <a:tableStyleId>{5C22544A-7EE6-4342-B048-85BDC9FD1C3A}</a:tableStyleId>
              </a:tblPr>
              <a:tblGrid>
                <a:gridCol w="2926080"/>
                <a:gridCol w="1828800"/>
                <a:gridCol w="2194560"/>
                <a:gridCol w="1463040"/>
                <a:gridCol w="2679192"/>
              </a:tblGrid>
              <a:tr h="304800">
                <a:tc>
                  <a:txBody>
                    <a:bodyPr wrap="square" anchor="ctr">
                      <a:noAutofit/>
                    </a:bodyPr>
                    <a:lstStyle/>
                    <a:p>
                      <a:pPr algn="l"/>
                      <a:r>
                        <a:rPr sz="1400" b="1" i="0">
                          <a:solidFill>
                            <a:srgbClr val="FFFFFF"/>
                          </a:solidFill>
                          <a:latin typeface="Arial"/>
                        </a:rPr>
                        <a:t>Agent (sample)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State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Last run</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Containment</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Knowledge assistant</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Workplace</a:t>
                      </a:r>
                    </a:p>
                  </a:txBody>
                  <a:tcPr marL="73152" marR="73152" marT="36576" marB="36576" anchor="ctr">
                    <a:solidFill>
                      <a:srgbClr val="FFFFFF"/>
                    </a:solidFill>
                  </a:tcPr>
                </a:tc>
                <a:tc>
                  <a:txBody>
                    <a:bodyPr wrap="square" anchor="ctr">
                      <a:noAutofit/>
                    </a:bodyPr>
                    <a:lstStyle/>
                    <a:p>
                      <a:pPr algn="l"/>
                      <a:r>
                        <a:rPr sz="1400" b="1" i="0">
                          <a:solidFill>
                            <a:srgbClr val="1D6B3A"/>
                          </a:solidFill>
                          <a:latin typeface="Arial"/>
                        </a:rPr>
                        <a:t>Active</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Today</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Block, cancel, deny tested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Invoice triage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Finance</a:t>
                      </a:r>
                    </a:p>
                  </a:txBody>
                  <a:tcPr marL="73152" marR="73152" marT="36576" marB="36576" anchor="ctr">
                    <a:solidFill>
                      <a:srgbClr val="F5F5F2"/>
                    </a:solidFill>
                  </a:tcPr>
                </a:tc>
                <a:tc>
                  <a:txBody>
                    <a:bodyPr wrap="square" anchor="ctr">
                      <a:noAutofit/>
                    </a:bodyPr>
                    <a:lstStyle/>
                    <a:p>
                      <a:pPr algn="l"/>
                      <a:r>
                        <a:rPr sz="1400" b="1" i="0">
                          <a:solidFill>
                            <a:srgbClr val="8A4B08"/>
                          </a:solidFill>
                          <a:latin typeface="Arial"/>
                        </a:rPr>
                        <a:t>Dormant review</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42 days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Block tested</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Ops helper</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Platform</a:t>
                      </a:r>
                    </a:p>
                  </a:txBody>
                  <a:tcPr marL="73152" marR="73152" marT="36576" marB="36576" anchor="ctr">
                    <a:solidFill>
                      <a:srgbClr val="FFFFFF"/>
                    </a:solidFill>
                  </a:tcPr>
                </a:tc>
                <a:tc>
                  <a:txBody>
                    <a:bodyPr wrap="square" anchor="ctr">
                      <a:noAutofit/>
                    </a:bodyPr>
                    <a:lstStyle/>
                    <a:p>
                      <a:pPr algn="l"/>
                      <a:r>
                        <a:rPr sz="1400" b="1" i="0">
                          <a:solidFill>
                            <a:srgbClr val="53565A"/>
                          </a:solidFill>
                          <a:latin typeface="Arial"/>
                        </a:rPr>
                        <a:t>Telemetry unknown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Unknown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Not tested</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Legacy summariser</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a:t>
                      </a:r>
                    </a:p>
                  </a:txBody>
                  <a:tcPr marL="73152" marR="73152" marT="36576" marB="36576" anchor="ctr">
                    <a:solidFill>
                      <a:srgbClr val="F5F5F2"/>
                    </a:solidFill>
                  </a:tcPr>
                </a:tc>
                <a:tc>
                  <a:txBody>
                    <a:bodyPr wrap="square" anchor="ctr">
                      <a:noAutofit/>
                    </a:bodyPr>
                    <a:lstStyle/>
                    <a:p>
                      <a:pPr algn="l"/>
                      <a:r>
                        <a:rPr sz="1400" b="1" i="0">
                          <a:solidFill>
                            <a:srgbClr val="A4262C"/>
                          </a:solidFill>
                          <a:latin typeface="Arial"/>
                        </a:rPr>
                        <a:t>Orphaned</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96 days</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None recorded</a:t>
                      </a:r>
                    </a:p>
                  </a:txBody>
                  <a:tcPr marL="73152" marR="73152" marT="36576" marB="36576" anchor="ctr">
                    <a:solidFill>
                      <a:srgbClr val="F5F5F2"/>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Rogue-agent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K1</a:t>
            </a:r>
          </a:p>
        </p:txBody>
      </p:sp>
      <p:sp>
        <p:nvSpPr>
          <p:cNvPr id="5" name="Status chip: PROPOSED REFERENCE ARCHITECTURE"/>
          <p:cNvSpPr/>
          <p:nvPr/>
        </p:nvSpPr>
        <p:spPr>
          <a:xfrm>
            <a:off x="1898650" y="274320"/>
            <a:ext cx="29514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REFERENCE ARCHITECTURE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28"/>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20</a:t>
            </a:r>
          </a:p>
        </p:txBody>
      </p:sp>
      <p:sp>
        <p:nvSpPr>
          <p:cNvPr id="9" name="Rounded Rectangle 8"/>
          <p:cNvSpPr/>
          <p:nvPr/>
        </p:nvSpPr>
        <p:spPr>
          <a:xfrm>
            <a:off x="411480" y="1243584"/>
            <a:ext cx="11384280" cy="2377440"/>
          </a:xfrm>
          <a:prstGeom prst="roundRect">
            <a:avLst>
              <a:gd name="adj" fmla="val 3846"/>
            </a:avLst>
          </a:prstGeom>
          <a:solidFill>
            <a:srgbClr val="F7F9FC"/>
          </a:solidFill>
          <a:ln w="15875">
            <a:solidFill>
              <a:srgbClr val="8FB3DE"/>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21208" y="1298448"/>
            <a:ext cx="11164824" cy="237744"/>
          </a:xfrm>
          <a:prstGeom prst="rect">
            <a:avLst/>
          </a:prstGeom>
          <a:noFill/>
        </p:spPr>
        <p:txBody>
          <a:bodyPr wrap="square" lIns="0" rIns="0" tIns="0" bIns="0" anchor="t">
            <a:noAutofit/>
          </a:bodyPr>
          <a:lstStyle/>
          <a:p>
            <a:pPr algn="l"/>
            <a:r>
              <a:rPr sz="1100" b="1" i="0">
                <a:solidFill>
                  <a:srgbClr val="000048"/>
                </a:solidFill>
                <a:latin typeface="Arial"/>
              </a:rPr>
              <a:t>GOVERNED EXECUTION PATH (WORKLOAD SUBSCRIPTION, PRIVATE NETWORK)</a:t>
            </a:r>
          </a:p>
        </p:txBody>
      </p:sp>
      <p:pic>
        <p:nvPicPr>
          <p:cNvPr id="11" name="Azure icon: Users" descr="Official Azure icon: User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92124" y="1865376"/>
            <a:ext cx="438912" cy="438912"/>
          </a:xfrm>
          <a:prstGeom prst="rect">
            <a:avLst/>
          </a:prstGeom>
        </p:spPr>
      </p:pic>
      <p:sp>
        <p:nvSpPr>
          <p:cNvPr id="12" name="TextBox 11"/>
          <p:cNvSpPr txBox="1"/>
          <p:nvPr/>
        </p:nvSpPr>
        <p:spPr>
          <a:xfrm>
            <a:off x="539496" y="2340864"/>
            <a:ext cx="1344168" cy="512064"/>
          </a:xfrm>
          <a:prstGeom prst="rect">
            <a:avLst/>
          </a:prstGeom>
          <a:noFill/>
        </p:spPr>
        <p:txBody>
          <a:bodyPr wrap="square" lIns="0" rIns="0" tIns="0" bIns="0" anchor="t">
            <a:noAutofit/>
          </a:bodyPr>
          <a:lstStyle/>
          <a:p>
            <a:pPr algn="ctr"/>
            <a:r>
              <a:rPr sz="1300" b="1" i="0">
                <a:solidFill>
                  <a:srgbClr val="000048"/>
                </a:solidFill>
                <a:latin typeface="Arial"/>
              </a:rPr>
              <a:t>Users and apps</a:t>
            </a:r>
          </a:p>
          <a:p>
            <a:pPr algn="ctr"/>
            <a:r>
              <a:rPr sz="1100" b="0" i="0">
                <a:solidFill>
                  <a:srgbClr val="53565A"/>
                </a:solidFill>
                <a:latin typeface="Arial"/>
              </a:rPr>
              <a:t>Entra-authenticated callers</a:t>
            </a:r>
          </a:p>
        </p:txBody>
      </p:sp>
      <p:sp>
        <p:nvSpPr>
          <p:cNvPr id="13" name="Rounded Rectangle 12"/>
          <p:cNvSpPr/>
          <p:nvPr/>
        </p:nvSpPr>
        <p:spPr>
          <a:xfrm>
            <a:off x="2103120" y="1700784"/>
            <a:ext cx="18288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98064" y="1773936"/>
            <a:ext cx="438912" cy="438912"/>
          </a:xfrm>
          <a:prstGeom prst="rect">
            <a:avLst/>
          </a:prstGeom>
        </p:spPr>
      </p:pic>
      <p:sp>
        <p:nvSpPr>
          <p:cNvPr id="15" name="TextBox 14"/>
          <p:cNvSpPr txBox="1"/>
          <p:nvPr/>
        </p:nvSpPr>
        <p:spPr>
          <a:xfrm>
            <a:off x="2148840" y="2249424"/>
            <a:ext cx="1737360" cy="822960"/>
          </a:xfrm>
          <a:prstGeom prst="rect">
            <a:avLst/>
          </a:prstGeom>
          <a:noFill/>
        </p:spPr>
        <p:txBody>
          <a:bodyPr wrap="square" lIns="0" rIns="0" tIns="0" bIns="0" anchor="t">
            <a:noAutofit/>
          </a:bodyPr>
          <a:lstStyle/>
          <a:p>
            <a:pPr algn="ctr"/>
            <a:r>
              <a:rPr sz="1200" b="1" i="0">
                <a:solidFill>
                  <a:srgbClr val="000048"/>
                </a:solidFill>
                <a:latin typeface="Arial"/>
              </a:rPr>
              <a:t>API Management</a:t>
            </a:r>
          </a:p>
          <a:p>
            <a:pPr algn="ctr"/>
            <a:r>
              <a:rPr sz="1000" b="0" i="0">
                <a:solidFill>
                  <a:srgbClr val="53565A"/>
                </a:solidFill>
                <a:latin typeface="Arial"/>
              </a:rPr>
              <a:t>Ingress: caller identity, agent ID mapping, deny-state check</a:t>
            </a:r>
          </a:p>
        </p:txBody>
      </p:sp>
      <p:sp>
        <p:nvSpPr>
          <p:cNvPr id="16" name="Rounded Rectangle 15"/>
          <p:cNvSpPr/>
          <p:nvPr/>
        </p:nvSpPr>
        <p:spPr>
          <a:xfrm>
            <a:off x="4343400" y="1700784"/>
            <a:ext cx="205740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Agent Service" descr="Official Azure icon: Foundry Agent Service"/>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901184" y="1773936"/>
            <a:ext cx="438912" cy="438912"/>
          </a:xfrm>
          <a:prstGeom prst="rect">
            <a:avLst/>
          </a:prstGeom>
        </p:spPr>
      </p:pic>
      <p:pic>
        <p:nvPicPr>
          <p:cNvPr id="18" name="Azure icon: Container Apps Environments" descr="Official Azure icon: Container Apps Environments"/>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413248" y="1773936"/>
            <a:ext cx="438912" cy="438912"/>
          </a:xfrm>
          <a:prstGeom prst="rect">
            <a:avLst/>
          </a:prstGeom>
        </p:spPr>
      </p:pic>
      <p:sp>
        <p:nvSpPr>
          <p:cNvPr id="19" name="TextBox 18"/>
          <p:cNvSpPr txBox="1"/>
          <p:nvPr/>
        </p:nvSpPr>
        <p:spPr>
          <a:xfrm>
            <a:off x="4389120" y="2249424"/>
            <a:ext cx="1965960" cy="822960"/>
          </a:xfrm>
          <a:prstGeom prst="rect">
            <a:avLst/>
          </a:prstGeom>
          <a:noFill/>
        </p:spPr>
        <p:txBody>
          <a:bodyPr wrap="square" lIns="0" rIns="0" tIns="0" bIns="0" anchor="t">
            <a:noAutofit/>
          </a:bodyPr>
          <a:lstStyle/>
          <a:p>
            <a:pPr algn="ctr"/>
            <a:r>
              <a:rPr sz="1200" b="1" i="0">
                <a:solidFill>
                  <a:srgbClr val="000048"/>
                </a:solidFill>
                <a:latin typeface="Arial"/>
              </a:rPr>
              <a:t>Agent runtime</a:t>
            </a:r>
          </a:p>
          <a:p>
            <a:pPr algn="ctr"/>
            <a:r>
              <a:rPr sz="1000" b="0" i="0">
                <a:solidFill>
                  <a:srgbClr val="53565A"/>
                </a:solidFill>
                <a:latin typeface="Arial"/>
              </a:rPr>
              <a:t>Foundry Agent Service, or a customer host (Container Apps shown). Guard at each loop checkpoint</a:t>
            </a:r>
          </a:p>
        </p:txBody>
      </p:sp>
      <p:sp>
        <p:nvSpPr>
          <p:cNvPr id="20" name="Rounded Rectangle 19"/>
          <p:cNvSpPr/>
          <p:nvPr/>
        </p:nvSpPr>
        <p:spPr>
          <a:xfrm>
            <a:off x="6812280" y="1700784"/>
            <a:ext cx="1920240" cy="1417320"/>
          </a:xfrm>
          <a:prstGeom prst="roundRect">
            <a:avLst>
              <a:gd name="adj" fmla="val 5161"/>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1"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52944" y="1773936"/>
            <a:ext cx="438912" cy="438912"/>
          </a:xfrm>
          <a:prstGeom prst="rect">
            <a:avLst/>
          </a:prstGeom>
        </p:spPr>
      </p:pic>
      <p:sp>
        <p:nvSpPr>
          <p:cNvPr id="22" name="TextBox 21"/>
          <p:cNvSpPr txBox="1"/>
          <p:nvPr/>
        </p:nvSpPr>
        <p:spPr>
          <a:xfrm>
            <a:off x="6858000" y="2249424"/>
            <a:ext cx="1828800" cy="822960"/>
          </a:xfrm>
          <a:prstGeom prst="rect">
            <a:avLst/>
          </a:prstGeom>
          <a:noFill/>
        </p:spPr>
        <p:txBody>
          <a:bodyPr wrap="square" lIns="0" rIns="0" tIns="0" bIns="0" anchor="t">
            <a:noAutofit/>
          </a:bodyPr>
          <a:lstStyle/>
          <a:p>
            <a:pPr algn="ctr"/>
            <a:r>
              <a:rPr sz="1200" b="1" i="0">
                <a:solidFill>
                  <a:srgbClr val="000048"/>
                </a:solidFill>
                <a:latin typeface="Arial"/>
              </a:rPr>
              <a:t>Model and tool gateway</a:t>
            </a:r>
          </a:p>
          <a:p>
            <a:pPr algn="ctr"/>
            <a:r>
              <a:rPr sz="1000" b="0" i="0">
                <a:solidFill>
                  <a:srgbClr val="53565A"/>
                </a:solidFill>
                <a:latin typeface="Arial"/>
              </a:rPr>
              <a:t>API Management outbound policies plus tool-side authorisation</a:t>
            </a:r>
          </a:p>
        </p:txBody>
      </p:sp>
      <p:sp>
        <p:nvSpPr>
          <p:cNvPr id="23" name="Rounded Rectangle 22"/>
          <p:cNvSpPr/>
          <p:nvPr/>
        </p:nvSpPr>
        <p:spPr>
          <a:xfrm>
            <a:off x="9144000" y="1591056"/>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4" name="Azure icon: Foundry Models" descr="Official Azure icon: Foundry Model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9217152" y="1682496"/>
            <a:ext cx="329184" cy="329184"/>
          </a:xfrm>
          <a:prstGeom prst="rect">
            <a:avLst/>
          </a:prstGeom>
        </p:spPr>
      </p:pic>
      <p:sp>
        <p:nvSpPr>
          <p:cNvPr id="25" name="TextBox 24"/>
          <p:cNvSpPr txBox="1"/>
          <p:nvPr/>
        </p:nvSpPr>
        <p:spPr>
          <a:xfrm>
            <a:off x="9619488" y="1627632"/>
            <a:ext cx="2002536" cy="438912"/>
          </a:xfrm>
          <a:prstGeom prst="rect">
            <a:avLst/>
          </a:prstGeom>
          <a:noFill/>
        </p:spPr>
        <p:txBody>
          <a:bodyPr wrap="square" lIns="0" rIns="0" tIns="0" bIns="0" anchor="ctr">
            <a:noAutofit/>
          </a:bodyPr>
          <a:lstStyle/>
          <a:p>
            <a:pPr algn="l"/>
            <a:r>
              <a:rPr sz="1200" b="1" i="0">
                <a:solidFill>
                  <a:srgbClr val="000048"/>
                </a:solidFill>
                <a:latin typeface="Arial"/>
              </a:rPr>
              <a:t>Foundry Models</a:t>
            </a:r>
          </a:p>
          <a:p>
            <a:pPr algn="l"/>
            <a:r>
              <a:rPr sz="1000" b="0" i="0">
                <a:solidFill>
                  <a:srgbClr val="53565A"/>
                </a:solidFill>
                <a:latin typeface="Arial"/>
              </a:rPr>
              <a:t>model deployments</a:t>
            </a:r>
          </a:p>
        </p:txBody>
      </p:sp>
      <p:sp>
        <p:nvSpPr>
          <p:cNvPr id="26" name="Rounded Rectangle 25"/>
          <p:cNvSpPr/>
          <p:nvPr/>
        </p:nvSpPr>
        <p:spPr>
          <a:xfrm>
            <a:off x="9144000" y="2157984"/>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9217152" y="2249424"/>
            <a:ext cx="329184" cy="329184"/>
          </a:xfrm>
          <a:prstGeom prst="rect">
            <a:avLst/>
          </a:prstGeom>
        </p:spPr>
      </p:pic>
      <p:sp>
        <p:nvSpPr>
          <p:cNvPr id="28" name="TextBox 27"/>
          <p:cNvSpPr txBox="1"/>
          <p:nvPr/>
        </p:nvSpPr>
        <p:spPr>
          <a:xfrm>
            <a:off x="9619488" y="2194560"/>
            <a:ext cx="2002536" cy="438912"/>
          </a:xfrm>
          <a:prstGeom prst="rect">
            <a:avLst/>
          </a:prstGeom>
          <a:noFill/>
        </p:spPr>
        <p:txBody>
          <a:bodyPr wrap="square" lIns="0" rIns="0" tIns="0" bIns="0" anchor="ctr">
            <a:noAutofit/>
          </a:bodyPr>
          <a:lstStyle/>
          <a:p>
            <a:pPr algn="l"/>
            <a:r>
              <a:rPr sz="1200" b="1" i="0">
                <a:solidFill>
                  <a:srgbClr val="000048"/>
                </a:solidFill>
                <a:latin typeface="Arial"/>
              </a:rPr>
              <a:t>Tool APIs (example host)</a:t>
            </a:r>
          </a:p>
          <a:p>
            <a:pPr algn="l"/>
            <a:r>
              <a:rPr sz="1000" b="0" i="0">
                <a:solidFill>
                  <a:srgbClr val="53565A"/>
                </a:solidFill>
                <a:latin typeface="Arial"/>
              </a:rPr>
              <a:t>MCP or REST tools</a:t>
            </a:r>
          </a:p>
        </p:txBody>
      </p:sp>
      <p:sp>
        <p:nvSpPr>
          <p:cNvPr id="29" name="Rounded Rectangle 28"/>
          <p:cNvSpPr/>
          <p:nvPr/>
        </p:nvSpPr>
        <p:spPr>
          <a:xfrm>
            <a:off x="9144000" y="2724912"/>
            <a:ext cx="2514600" cy="512064"/>
          </a:xfrm>
          <a:prstGeom prst="roundRect">
            <a:avLst>
              <a:gd name="adj" fmla="val 14285"/>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30" name="Azure icon: AI Search (Cognitive Search icon)" descr="Official Azure icon: AI Search (Cognitive Search icon)"/>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9217152" y="2816352"/>
            <a:ext cx="329184" cy="329184"/>
          </a:xfrm>
          <a:prstGeom prst="rect">
            <a:avLst/>
          </a:prstGeom>
        </p:spPr>
      </p:pic>
      <p:sp>
        <p:nvSpPr>
          <p:cNvPr id="31" name="TextBox 30"/>
          <p:cNvSpPr txBox="1"/>
          <p:nvPr/>
        </p:nvSpPr>
        <p:spPr>
          <a:xfrm>
            <a:off x="9619488" y="2761488"/>
            <a:ext cx="2002536" cy="438912"/>
          </a:xfrm>
          <a:prstGeom prst="rect">
            <a:avLst/>
          </a:prstGeom>
          <a:noFill/>
        </p:spPr>
        <p:txBody>
          <a:bodyPr wrap="square" lIns="0" rIns="0" tIns="0" bIns="0" anchor="ctr">
            <a:noAutofit/>
          </a:bodyPr>
          <a:lstStyle/>
          <a:p>
            <a:pPr algn="l"/>
            <a:r>
              <a:rPr sz="1200" b="1" i="0">
                <a:solidFill>
                  <a:srgbClr val="000048"/>
                </a:solidFill>
                <a:latin typeface="Arial"/>
              </a:rPr>
              <a:t>Workload data</a:t>
            </a:r>
          </a:p>
          <a:p>
            <a:pPr algn="l"/>
            <a:r>
              <a:rPr sz="1000" b="0" i="0">
                <a:solidFill>
                  <a:srgbClr val="53565A"/>
                </a:solidFill>
                <a:latin typeface="Arial"/>
              </a:rPr>
              <a:t>AI Search, Storage account</a:t>
            </a:r>
          </a:p>
        </p:txBody>
      </p:sp>
      <p:cxnSp>
        <p:nvCxnSpPr>
          <p:cNvPr id="32" name="Connector (flow)"/>
          <p:cNvCxnSpPr/>
          <p:nvPr/>
        </p:nvCxnSpPr>
        <p:spPr>
          <a:xfrm>
            <a:off x="1920240" y="2414016"/>
            <a:ext cx="1828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a:off x="393192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a:off x="6400800" y="2414016"/>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6" name="Connector (flow)"/>
          <p:cNvCxnSpPr/>
          <p:nvPr/>
        </p:nvCxnSpPr>
        <p:spPr>
          <a:xfrm flipV="1">
            <a:off x="8942832" y="1847088"/>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7" name="Connector (flow)"/>
          <p:cNvCxnSpPr/>
          <p:nvPr/>
        </p:nvCxnSpPr>
        <p:spPr>
          <a:xfrm>
            <a:off x="8942832" y="1847088"/>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9" name="Connector (flow)"/>
          <p:cNvCxnSpPr/>
          <p:nvPr/>
        </p:nvCxnSpPr>
        <p:spPr>
          <a:xfrm>
            <a:off x="8942832" y="2414016"/>
            <a:ext cx="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0" name="Connector (flow)"/>
          <p:cNvCxnSpPr/>
          <p:nvPr/>
        </p:nvCxnSpPr>
        <p:spPr>
          <a:xfrm>
            <a:off x="8942832" y="2414016"/>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flow)"/>
          <p:cNvCxnSpPr/>
          <p:nvPr/>
        </p:nvCxnSpPr>
        <p:spPr>
          <a:xfrm>
            <a:off x="8732520" y="2414016"/>
            <a:ext cx="210312"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2" name="Connector (flow)"/>
          <p:cNvCxnSpPr/>
          <p:nvPr/>
        </p:nvCxnSpPr>
        <p:spPr>
          <a:xfrm>
            <a:off x="8942832" y="2414016"/>
            <a:ext cx="0" cy="566928"/>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43" name="Connector (flow)"/>
          <p:cNvCxnSpPr/>
          <p:nvPr/>
        </p:nvCxnSpPr>
        <p:spPr>
          <a:xfrm>
            <a:off x="8942832" y="2980944"/>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Oval 43"/>
          <p:cNvSpPr/>
          <p:nvPr/>
        </p:nvSpPr>
        <p:spPr>
          <a:xfrm>
            <a:off x="197510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1</a:t>
            </a:r>
          </a:p>
        </p:txBody>
      </p:sp>
      <p:sp>
        <p:nvSpPr>
          <p:cNvPr id="45" name="Oval 44"/>
          <p:cNvSpPr/>
          <p:nvPr/>
        </p:nvSpPr>
        <p:spPr>
          <a:xfrm>
            <a:off x="421538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2</a:t>
            </a:r>
          </a:p>
        </p:txBody>
      </p:sp>
      <p:sp>
        <p:nvSpPr>
          <p:cNvPr id="46" name="Oval 45"/>
          <p:cNvSpPr/>
          <p:nvPr/>
        </p:nvSpPr>
        <p:spPr>
          <a:xfrm>
            <a:off x="6684264" y="1517904"/>
            <a:ext cx="310896" cy="310896"/>
          </a:xfrm>
          <a:prstGeom prst="ellipse">
            <a:avLst/>
          </a:prstGeom>
          <a:solidFill>
            <a:srgbClr val="A426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noAutofit/>
          </a:bodyPr>
          <a:lstStyle/>
          <a:p>
            <a:pPr algn="ctr"/>
            <a:r>
              <a:rPr sz="1200" b="1" i="0">
                <a:solidFill>
                  <a:srgbClr val="FFFFFF"/>
                </a:solidFill>
                <a:latin typeface="Arial"/>
              </a:rPr>
              <a:t>3</a:t>
            </a:r>
          </a:p>
        </p:txBody>
      </p:sp>
      <p:sp>
        <p:nvSpPr>
          <p:cNvPr id="47" name="TextBox 46"/>
          <p:cNvSpPr txBox="1"/>
          <p:nvPr/>
        </p:nvSpPr>
        <p:spPr>
          <a:xfrm>
            <a:off x="9144000" y="3273552"/>
            <a:ext cx="2560320" cy="329184"/>
          </a:xfrm>
          <a:prstGeom prst="rect">
            <a:avLst/>
          </a:prstGeom>
          <a:noFill/>
        </p:spPr>
        <p:txBody>
          <a:bodyPr wrap="square" lIns="0" rIns="0" tIns="0" bIns="0" anchor="t">
            <a:noAutofit/>
          </a:bodyPr>
          <a:lstStyle/>
          <a:p>
            <a:pPr algn="l"/>
            <a:r>
              <a:rPr sz="900" b="0" i="0">
                <a:solidFill>
                  <a:srgbClr val="A4262C"/>
                </a:solidFill>
                <a:latin typeface="Arial"/>
              </a:rPr>
              <a:t>Direct calls that bypass the gateway are denied by network and identity design</a:t>
            </a:r>
          </a:p>
        </p:txBody>
      </p:sp>
      <p:sp>
        <p:nvSpPr>
          <p:cNvPr id="48" name="Rounded Rectangle 47"/>
          <p:cNvSpPr/>
          <p:nvPr/>
        </p:nvSpPr>
        <p:spPr>
          <a:xfrm>
            <a:off x="411480" y="4032504"/>
            <a:ext cx="11384280" cy="2103120"/>
          </a:xfrm>
          <a:prstGeom prst="roundRect">
            <a:avLst>
              <a:gd name="adj" fmla="val 4347"/>
            </a:avLst>
          </a:prstGeom>
          <a:solidFill>
            <a:srgbClr val="F6F5FD"/>
          </a:solidFill>
          <a:ln w="15875">
            <a:solidFill>
              <a:srgbClr val="7373D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521207" y="5861304"/>
            <a:ext cx="8229600" cy="237744"/>
          </a:xfrm>
          <a:prstGeom prst="rect">
            <a:avLst/>
          </a:prstGeom>
          <a:noFill/>
        </p:spPr>
        <p:txBody>
          <a:bodyPr wrap="square" lIns="0" rIns="0" tIns="0" bIns="0" anchor="t">
            <a:noAutofit/>
          </a:bodyPr>
          <a:lstStyle/>
          <a:p>
            <a:pPr algn="l"/>
            <a:r>
              <a:rPr sz="1100" b="1" i="0">
                <a:solidFill>
                  <a:srgbClr val="4B4BA8"/>
                </a:solidFill>
                <a:latin typeface="Arial"/>
              </a:rPr>
              <a:t>RESTRICTED CONTAINMENT CONTROL PLANE (SEPARATE SUBSCRIPTION OR MANAGEMENT BOUNDARY)</a:t>
            </a:r>
          </a:p>
        </p:txBody>
      </p:sp>
      <p:sp>
        <p:nvSpPr>
          <p:cNvPr id="50" name="Rounded Rectangle 49"/>
          <p:cNvSpPr/>
          <p:nvPr/>
        </p:nvSpPr>
        <p:spPr>
          <a:xfrm>
            <a:off x="548640" y="421538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1" name="Azure icon: Entra Privileged Identity Management" descr="Official Azure icon: Entra Privileged Identity Management"/>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621792" y="4366260"/>
            <a:ext cx="384048" cy="384048"/>
          </a:xfrm>
          <a:prstGeom prst="rect">
            <a:avLst/>
          </a:prstGeom>
        </p:spPr>
      </p:pic>
      <p:sp>
        <p:nvSpPr>
          <p:cNvPr id="52" name="TextBox 51"/>
          <p:cNvSpPr txBox="1"/>
          <p:nvPr/>
        </p:nvSpPr>
        <p:spPr>
          <a:xfrm>
            <a:off x="1078992" y="4251960"/>
            <a:ext cx="1307592" cy="612648"/>
          </a:xfrm>
          <a:prstGeom prst="rect">
            <a:avLst/>
          </a:prstGeom>
          <a:noFill/>
        </p:spPr>
        <p:txBody>
          <a:bodyPr wrap="square" lIns="0" rIns="0" tIns="0" bIns="0" anchor="ctr">
            <a:noAutofit/>
          </a:bodyPr>
          <a:lstStyle/>
          <a:p>
            <a:pPr algn="l"/>
            <a:r>
              <a:rPr sz="1200" b="1" i="0">
                <a:solidFill>
                  <a:srgbClr val="000048"/>
                </a:solidFill>
                <a:latin typeface="Arial"/>
              </a:rPr>
              <a:t>Authorised operator</a:t>
            </a:r>
          </a:p>
          <a:p>
            <a:pPr algn="l"/>
            <a:r>
              <a:rPr sz="1000" b="0" i="0">
                <a:solidFill>
                  <a:srgbClr val="53565A"/>
                </a:solidFill>
                <a:latin typeface="Arial"/>
              </a:rPr>
              <a:t>Entra PIM, approval</a:t>
            </a:r>
          </a:p>
        </p:txBody>
      </p:sp>
      <p:sp>
        <p:nvSpPr>
          <p:cNvPr id="53" name="Rounded Rectangle 52"/>
          <p:cNvSpPr/>
          <p:nvPr/>
        </p:nvSpPr>
        <p:spPr>
          <a:xfrm>
            <a:off x="548640" y="5038344"/>
            <a:ext cx="1874519"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4" name="Azure icon: Azure Monitor" descr="Official Azure icon: Azure Monitor"/>
          <p:cNvPicPr>
            <a:picLocks noChangeAspect="1"/>
          </p:cNvPicPr>
          <p:nvPr/>
        </p:nvPicPr>
        <p:blipFill>
          <a:blip r:embed="rId20">
            <a:extLst>
              <a:ext uri="{96DAC541-7B7A-43D3-8B79-37D633B846F1}">
                <asvg:svgBlip xmlns:asvg="http://schemas.microsoft.com/office/drawing/2016/SVG/main" r:embed="rId21"/>
              </a:ext>
            </a:extLst>
          </a:blip>
          <a:stretch>
            <a:fillRect/>
          </a:stretch>
        </p:blipFill>
        <p:spPr>
          <a:xfrm>
            <a:off x="621792" y="5189220"/>
            <a:ext cx="384048" cy="384048"/>
          </a:xfrm>
          <a:prstGeom prst="rect">
            <a:avLst/>
          </a:prstGeom>
        </p:spPr>
      </p:pic>
      <p:sp>
        <p:nvSpPr>
          <p:cNvPr id="55" name="TextBox 54"/>
          <p:cNvSpPr txBox="1"/>
          <p:nvPr/>
        </p:nvSpPr>
        <p:spPr>
          <a:xfrm>
            <a:off x="1078992" y="5074920"/>
            <a:ext cx="1307592" cy="612648"/>
          </a:xfrm>
          <a:prstGeom prst="rect">
            <a:avLst/>
          </a:prstGeom>
          <a:noFill/>
        </p:spPr>
        <p:txBody>
          <a:bodyPr wrap="square" lIns="0" rIns="0" tIns="0" bIns="0" anchor="ctr">
            <a:noAutofit/>
          </a:bodyPr>
          <a:lstStyle/>
          <a:p>
            <a:pPr algn="l"/>
            <a:r>
              <a:rPr sz="1200" b="1" i="0">
                <a:solidFill>
                  <a:srgbClr val="000048"/>
                </a:solidFill>
                <a:latin typeface="Arial"/>
              </a:rPr>
              <a:t>Automated detection</a:t>
            </a:r>
          </a:p>
          <a:p>
            <a:pPr algn="l"/>
            <a:r>
              <a:rPr sz="1000" b="0" i="0">
                <a:solidFill>
                  <a:srgbClr val="53565A"/>
                </a:solidFill>
                <a:latin typeface="Arial"/>
              </a:rPr>
              <a:t>Monitor alert, action group</a:t>
            </a:r>
          </a:p>
        </p:txBody>
      </p:sp>
      <p:sp>
        <p:nvSpPr>
          <p:cNvPr id="56" name="Rounded Rectangle 55"/>
          <p:cNvSpPr/>
          <p:nvPr/>
        </p:nvSpPr>
        <p:spPr>
          <a:xfrm>
            <a:off x="2788920" y="4489704"/>
            <a:ext cx="2148840" cy="914400"/>
          </a:xfrm>
          <a:prstGeom prst="roundRect">
            <a:avLst>
              <a:gd name="adj" fmla="val 8000"/>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57" name="Azure icon: Function App" descr="Official Azure icon: Function App"/>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2862072" y="4754880"/>
            <a:ext cx="384048" cy="384048"/>
          </a:xfrm>
          <a:prstGeom prst="rect">
            <a:avLst/>
          </a:prstGeom>
        </p:spPr>
      </p:pic>
      <p:sp>
        <p:nvSpPr>
          <p:cNvPr id="58" name="TextBox 57"/>
          <p:cNvSpPr txBox="1"/>
          <p:nvPr/>
        </p:nvSpPr>
        <p:spPr>
          <a:xfrm>
            <a:off x="3319272" y="4526280"/>
            <a:ext cx="1581912" cy="841248"/>
          </a:xfrm>
          <a:prstGeom prst="rect">
            <a:avLst/>
          </a:prstGeom>
          <a:noFill/>
        </p:spPr>
        <p:txBody>
          <a:bodyPr wrap="square" lIns="0" rIns="0" tIns="0" bIns="0" anchor="ctr">
            <a:noAutofit/>
          </a:bodyPr>
          <a:lstStyle/>
          <a:p>
            <a:pPr algn="l"/>
            <a:r>
              <a:rPr sz="1200" b="1" i="0">
                <a:solidFill>
                  <a:srgbClr val="000048"/>
                </a:solidFill>
                <a:latin typeface="Arial"/>
              </a:rPr>
              <a:t>Containment orchestrator</a:t>
            </a:r>
          </a:p>
          <a:p>
            <a:pPr algn="l"/>
            <a:r>
              <a:rPr sz="1000" b="0" i="0">
                <a:solidFill>
                  <a:srgbClr val="53565A"/>
                </a:solidFill>
                <a:latin typeface="Arial"/>
              </a:rPr>
              <a:t>Durable Functions, custom code</a:t>
            </a:r>
          </a:p>
        </p:txBody>
      </p:sp>
      <p:sp>
        <p:nvSpPr>
          <p:cNvPr id="59" name="Rounded Rectangle 58"/>
          <p:cNvSpPr/>
          <p:nvPr/>
        </p:nvSpPr>
        <p:spPr>
          <a:xfrm>
            <a:off x="5440680" y="4197096"/>
            <a:ext cx="2148840" cy="685800"/>
          </a:xfrm>
          <a:prstGeom prst="roundRect">
            <a:avLst>
              <a:gd name="adj" fmla="val 10666"/>
            </a:avLst>
          </a:prstGeom>
          <a:solidFill>
            <a:srgbClr val="FFFFFF"/>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0" name="Azure icon: Azure Cosmos DB" descr="Official Azure icon: Azure Cosmos DB"/>
          <p:cNvPicPr>
            <a:picLocks noChangeAspect="1"/>
          </p:cNvPicPr>
          <p:nvPr/>
        </p:nvPicPr>
        <p:blipFill>
          <a:blip r:embed="rId22">
            <a:extLst>
              <a:ext uri="{96DAC541-7B7A-43D3-8B79-37D633B846F1}">
                <asvg:svgBlip xmlns:asvg="http://schemas.microsoft.com/office/drawing/2016/SVG/main" r:embed="rId23"/>
              </a:ext>
            </a:extLst>
          </a:blip>
          <a:stretch>
            <a:fillRect/>
          </a:stretch>
        </p:blipFill>
        <p:spPr>
          <a:xfrm>
            <a:off x="5513832" y="4357116"/>
            <a:ext cx="365760" cy="365760"/>
          </a:xfrm>
          <a:prstGeom prst="rect">
            <a:avLst/>
          </a:prstGeom>
        </p:spPr>
      </p:pic>
      <p:sp>
        <p:nvSpPr>
          <p:cNvPr id="61" name="TextBox 60"/>
          <p:cNvSpPr txBox="1"/>
          <p:nvPr/>
        </p:nvSpPr>
        <p:spPr>
          <a:xfrm>
            <a:off x="5952744" y="4233672"/>
            <a:ext cx="1600200" cy="612648"/>
          </a:xfrm>
          <a:prstGeom prst="rect">
            <a:avLst/>
          </a:prstGeom>
          <a:noFill/>
        </p:spPr>
        <p:txBody>
          <a:bodyPr wrap="square" lIns="0" rIns="0" tIns="0" bIns="0" anchor="ctr">
            <a:noAutofit/>
          </a:bodyPr>
          <a:lstStyle/>
          <a:p>
            <a:pPr algn="l"/>
            <a:r>
              <a:rPr sz="1200" b="1" i="0">
                <a:solidFill>
                  <a:srgbClr val="000048"/>
                </a:solidFill>
                <a:latin typeface="Arial"/>
              </a:rPr>
              <a:t>Quarantine registry</a:t>
            </a:r>
          </a:p>
          <a:p>
            <a:pPr algn="l"/>
            <a:r>
              <a:rPr sz="1000" b="0" i="0">
                <a:solidFill>
                  <a:srgbClr val="53565A"/>
                </a:solidFill>
                <a:latin typeface="Arial"/>
              </a:rPr>
              <a:t>agent ID, version, state version</a:t>
            </a:r>
          </a:p>
        </p:txBody>
      </p:sp>
      <p:sp>
        <p:nvSpPr>
          <p:cNvPr id="62" name="Rounded Rectangle 61"/>
          <p:cNvSpPr/>
          <p:nvPr/>
        </p:nvSpPr>
        <p:spPr>
          <a:xfrm>
            <a:off x="5440680" y="5056632"/>
            <a:ext cx="2148840" cy="685800"/>
          </a:xfrm>
          <a:prstGeom prst="roundRect">
            <a:avLst>
              <a:gd name="adj" fmla="val 10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3" name="Azure icon: Storage account" descr="Official Azure icon: Storage account"/>
          <p:cNvPicPr>
            <a:picLocks noChangeAspect="1"/>
          </p:cNvPicPr>
          <p:nvPr/>
        </p:nvPicPr>
        <p:blipFill>
          <a:blip r:embed="rId24">
            <a:extLst>
              <a:ext uri="{96DAC541-7B7A-43D3-8B79-37D633B846F1}">
                <asvg:svgBlip xmlns:asvg="http://schemas.microsoft.com/office/drawing/2016/SVG/main" r:embed="rId25"/>
              </a:ext>
            </a:extLst>
          </a:blip>
          <a:stretch>
            <a:fillRect/>
          </a:stretch>
        </p:blipFill>
        <p:spPr>
          <a:xfrm>
            <a:off x="5513832" y="5216652"/>
            <a:ext cx="365760" cy="365760"/>
          </a:xfrm>
          <a:prstGeom prst="rect">
            <a:avLst/>
          </a:prstGeom>
        </p:spPr>
      </p:pic>
      <p:sp>
        <p:nvSpPr>
          <p:cNvPr id="64" name="TextBox 63"/>
          <p:cNvSpPr txBox="1"/>
          <p:nvPr/>
        </p:nvSpPr>
        <p:spPr>
          <a:xfrm>
            <a:off x="5952744" y="5093208"/>
            <a:ext cx="1600200" cy="612648"/>
          </a:xfrm>
          <a:prstGeom prst="rect">
            <a:avLst/>
          </a:prstGeom>
          <a:noFill/>
        </p:spPr>
        <p:txBody>
          <a:bodyPr wrap="square" lIns="0" rIns="0" tIns="0" bIns="0" anchor="ctr">
            <a:noAutofit/>
          </a:bodyPr>
          <a:lstStyle/>
          <a:p>
            <a:pPr algn="l"/>
            <a:r>
              <a:rPr sz="1200" b="1" i="0">
                <a:solidFill>
                  <a:srgbClr val="000048"/>
                </a:solidFill>
                <a:latin typeface="Arial"/>
              </a:rPr>
              <a:t>Incident evidence</a:t>
            </a:r>
          </a:p>
          <a:p>
            <a:pPr algn="l"/>
            <a:r>
              <a:rPr sz="1000" b="0" i="0">
                <a:solidFill>
                  <a:srgbClr val="53565A"/>
                </a:solidFill>
                <a:latin typeface="Arial"/>
              </a:rPr>
              <a:t>Storage account, immutability policy</a:t>
            </a:r>
          </a:p>
        </p:txBody>
      </p:sp>
      <p:sp>
        <p:nvSpPr>
          <p:cNvPr id="65" name="Rounded Rectangle 64"/>
          <p:cNvSpPr/>
          <p:nvPr/>
        </p:nvSpPr>
        <p:spPr>
          <a:xfrm>
            <a:off x="8001000" y="4489704"/>
            <a:ext cx="1828800" cy="914400"/>
          </a:xfrm>
          <a:prstGeom prst="roundRect">
            <a:avLst>
              <a:gd name="adj" fmla="val 8000"/>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66" name="Azure icon: Application Insights" descr="Official Azure icon: Application Insights"/>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8074152" y="4764024"/>
            <a:ext cx="365760" cy="365760"/>
          </a:xfrm>
          <a:prstGeom prst="rect">
            <a:avLst/>
          </a:prstGeom>
        </p:spPr>
      </p:pic>
      <p:sp>
        <p:nvSpPr>
          <p:cNvPr id="67" name="TextBox 66"/>
          <p:cNvSpPr txBox="1"/>
          <p:nvPr/>
        </p:nvSpPr>
        <p:spPr>
          <a:xfrm>
            <a:off x="8513064" y="4526280"/>
            <a:ext cx="1280160" cy="841248"/>
          </a:xfrm>
          <a:prstGeom prst="rect">
            <a:avLst/>
          </a:prstGeom>
          <a:noFill/>
        </p:spPr>
        <p:txBody>
          <a:bodyPr wrap="square" lIns="0" rIns="0" tIns="0" bIns="0" anchor="ctr">
            <a:noAutofit/>
          </a:bodyPr>
          <a:lstStyle/>
          <a:p>
            <a:pPr algn="l"/>
            <a:r>
              <a:rPr sz="1200" b="1" i="0">
                <a:solidFill>
                  <a:srgbClr val="000048"/>
                </a:solidFill>
                <a:latin typeface="Arial"/>
              </a:rPr>
              <a:t>Containment check</a:t>
            </a:r>
          </a:p>
          <a:p>
            <a:pPr algn="l"/>
            <a:r>
              <a:rPr sz="1000" b="0" i="0">
                <a:solidFill>
                  <a:srgbClr val="53565A"/>
                </a:solidFill>
                <a:latin typeface="Arial"/>
              </a:rPr>
              <a:t>traces confirm no new actions</a:t>
            </a:r>
          </a:p>
        </p:txBody>
      </p:sp>
      <p:sp>
        <p:nvSpPr>
          <p:cNvPr id="68" name="Rounded Rectangle 67"/>
          <p:cNvSpPr/>
          <p:nvPr/>
        </p:nvSpPr>
        <p:spPr>
          <a:xfrm>
            <a:off x="10104120" y="4306824"/>
            <a:ext cx="1554480" cy="1280160"/>
          </a:xfrm>
          <a:prstGeom prst="roundRect">
            <a:avLst>
              <a:gd name="adj" fmla="val 5714"/>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Human-approved restart</a:t>
            </a:r>
          </a:p>
          <a:p>
            <a:pPr algn="ctr"/>
            <a:r>
              <a:rPr sz="1000" b="0" i="0">
                <a:solidFill>
                  <a:srgbClr val="53565A"/>
                </a:solidFill>
                <a:latin typeface="Arial"/>
              </a:rPr>
              <a:t>root cause, canary, two-person approval</a:t>
            </a:r>
          </a:p>
        </p:txBody>
      </p:sp>
      <p:cxnSp>
        <p:nvCxnSpPr>
          <p:cNvPr id="69" name="Connector (control)"/>
          <p:cNvCxnSpPr/>
          <p:nvPr/>
        </p:nvCxnSpPr>
        <p:spPr>
          <a:xfrm>
            <a:off x="2423160" y="4562856"/>
            <a:ext cx="36576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0" name="Connector (control)"/>
          <p:cNvCxnSpPr/>
          <p:nvPr/>
        </p:nvCxnSpPr>
        <p:spPr>
          <a:xfrm flipV="1">
            <a:off x="2423160" y="5129784"/>
            <a:ext cx="365760" cy="246888"/>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1" name="Connector (control)"/>
          <p:cNvCxnSpPr/>
          <p:nvPr/>
        </p:nvCxnSpPr>
        <p:spPr>
          <a:xfrm flipV="1">
            <a:off x="4937760" y="4544568"/>
            <a:ext cx="502920" cy="17373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2" name="Connector (control)"/>
          <p:cNvCxnSpPr/>
          <p:nvPr/>
        </p:nvCxnSpPr>
        <p:spPr>
          <a:xfrm>
            <a:off x="4937760" y="5175504"/>
            <a:ext cx="502920" cy="219456"/>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3" name="Connector (telemetry)"/>
          <p:cNvCxnSpPr/>
          <p:nvPr/>
        </p:nvCxnSpPr>
        <p:spPr>
          <a:xfrm flipH="1">
            <a:off x="4937760" y="4946904"/>
            <a:ext cx="3063240" cy="0"/>
          </a:xfrm>
          <a:prstGeom prst="line">
            <a:avLst/>
          </a:prstGeom>
          <a:ln w="15875">
            <a:solidFill>
              <a:srgbClr val="8A8A8A"/>
            </a:solidFill>
            <a:prstDash val="sysDot"/>
            <a:tailEnd type="triangle" w="med" len="med"/>
          </a:ln>
        </p:spPr>
        <p:style>
          <a:lnRef idx="2">
            <a:schemeClr val="accent1"/>
          </a:lnRef>
          <a:fillRef idx="0">
            <a:schemeClr val="accent1"/>
          </a:fillRef>
          <a:effectRef idx="1">
            <a:schemeClr val="accent1"/>
          </a:effectRef>
          <a:fontRef idx="minor">
            <a:schemeClr val="tx1"/>
          </a:fontRef>
        </p:style>
      </p:cxnSp>
      <p:cxnSp>
        <p:nvCxnSpPr>
          <p:cNvPr id="74" name="Connector (control)"/>
          <p:cNvCxnSpPr/>
          <p:nvPr/>
        </p:nvCxnSpPr>
        <p:spPr>
          <a:xfrm>
            <a:off x="9829800" y="4946904"/>
            <a:ext cx="27432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5" name="Connector (control)"/>
          <p:cNvCxnSpPr/>
          <p:nvPr/>
        </p:nvCxnSpPr>
        <p:spPr>
          <a:xfrm>
            <a:off x="3017520" y="3831336"/>
            <a:ext cx="4754880" cy="0"/>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76" name="Connector (control)"/>
          <p:cNvCxnSpPr/>
          <p:nvPr/>
        </p:nvCxnSpPr>
        <p:spPr>
          <a:xfrm flipV="1">
            <a:off x="301752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7" name="Connector (control)"/>
          <p:cNvCxnSpPr/>
          <p:nvPr/>
        </p:nvCxnSpPr>
        <p:spPr>
          <a:xfrm flipV="1">
            <a:off x="53721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8" name="Connector (control)"/>
          <p:cNvCxnSpPr/>
          <p:nvPr/>
        </p:nvCxnSpPr>
        <p:spPr>
          <a:xfrm flipV="1">
            <a:off x="7772400" y="3118104"/>
            <a:ext cx="0" cy="713232"/>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79" name="Connector (control)"/>
          <p:cNvCxnSpPr/>
          <p:nvPr/>
        </p:nvCxnSpPr>
        <p:spPr>
          <a:xfrm flipV="1">
            <a:off x="3858768" y="3831336"/>
            <a:ext cx="0" cy="658368"/>
          </a:xfrm>
          <a:prstGeom prst="line">
            <a:avLst/>
          </a:prstGeom>
          <a:ln w="22225">
            <a:solidFill>
              <a:srgbClr val="6363C9"/>
            </a:solidFill>
            <a:prstDash val="dash"/>
          </a:ln>
        </p:spPr>
        <p:style>
          <a:lnRef idx="2">
            <a:schemeClr val="accent1"/>
          </a:lnRef>
          <a:fillRef idx="0">
            <a:schemeClr val="accent1"/>
          </a:fillRef>
          <a:effectRef idx="1">
            <a:schemeClr val="accent1"/>
          </a:effectRef>
          <a:fontRef idx="minor">
            <a:schemeClr val="tx1"/>
          </a:fontRef>
        </p:style>
      </p:cxnSp>
      <p:cxnSp>
        <p:nvCxnSpPr>
          <p:cNvPr id="80" name="Connector (telemetry)"/>
          <p:cNvCxnSpPr/>
          <p:nvPr/>
        </p:nvCxnSpPr>
        <p:spPr>
          <a:xfrm flipV="1">
            <a:off x="6510528" y="3831336"/>
            <a:ext cx="0" cy="36576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telemetry)"/>
          <p:cNvCxnSpPr/>
          <p:nvPr/>
        </p:nvCxnSpPr>
        <p:spPr>
          <a:xfrm flipV="1">
            <a:off x="8915400" y="3621024"/>
            <a:ext cx="0" cy="86868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8979408" y="3639312"/>
            <a:ext cx="1097280" cy="237744"/>
          </a:xfrm>
          <a:prstGeom prst="rect">
            <a:avLst/>
          </a:prstGeom>
          <a:noFill/>
        </p:spPr>
        <p:txBody>
          <a:bodyPr wrap="square" lIns="0" rIns="0" tIns="0" bIns="0" anchor="t">
            <a:noAutofit/>
          </a:bodyPr>
          <a:lstStyle/>
          <a:p>
            <a:pPr algn="l"/>
            <a:r>
              <a:rPr sz="1000" b="0" i="0">
                <a:solidFill>
                  <a:srgbClr val="53565A"/>
                </a:solidFill>
                <a:latin typeface="Arial"/>
              </a:rPr>
              <a:t>traces</a:t>
            </a:r>
          </a:p>
        </p:txBody>
      </p:sp>
      <p:sp>
        <p:nvSpPr>
          <p:cNvPr id="83" name="TextBox 82"/>
          <p:cNvSpPr txBox="1"/>
          <p:nvPr/>
        </p:nvSpPr>
        <p:spPr>
          <a:xfrm>
            <a:off x="548640" y="3694176"/>
            <a:ext cx="2423160" cy="274320"/>
          </a:xfrm>
          <a:prstGeom prst="rect">
            <a:avLst/>
          </a:prstGeom>
          <a:noFill/>
        </p:spPr>
        <p:txBody>
          <a:bodyPr wrap="square" lIns="0" rIns="0" tIns="0" bIns="0" anchor="t">
            <a:noAutofit/>
          </a:bodyPr>
          <a:lstStyle/>
          <a:p>
            <a:pPr algn="r"/>
            <a:r>
              <a:rPr sz="1000" b="0" i="0">
                <a:solidFill>
                  <a:srgbClr val="6363C9"/>
                </a:solidFill>
                <a:latin typeface="Arial"/>
              </a:rPr>
              <a:t>deny-state checks and runtime adapters</a:t>
            </a:r>
          </a:p>
        </p:txBody>
      </p:sp>
      <p:cxnSp>
        <p:nvCxnSpPr>
          <p:cNvPr id="84" name="Connector (flow)"/>
          <p:cNvCxnSpPr/>
          <p:nvPr/>
        </p:nvCxnSpPr>
        <p:spPr>
          <a:xfrm>
            <a:off x="548640" y="6281928"/>
            <a:ext cx="4114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85" name="TextBox 84"/>
          <p:cNvSpPr txBox="1"/>
          <p:nvPr/>
        </p:nvSpPr>
        <p:spPr>
          <a:xfrm>
            <a:off x="102412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Request / data flow</a:t>
            </a:r>
          </a:p>
        </p:txBody>
      </p:sp>
      <p:cxnSp>
        <p:nvCxnSpPr>
          <p:cNvPr id="86" name="Connector (control)"/>
          <p:cNvCxnSpPr/>
          <p:nvPr/>
        </p:nvCxnSpPr>
        <p:spPr>
          <a:xfrm>
            <a:off x="2926080" y="6281928"/>
            <a:ext cx="411480" cy="0"/>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87" name="TextBox 86"/>
          <p:cNvSpPr txBox="1"/>
          <p:nvPr/>
        </p:nvSpPr>
        <p:spPr>
          <a:xfrm>
            <a:off x="340156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Control or containment path</a:t>
            </a:r>
          </a:p>
        </p:txBody>
      </p:sp>
      <p:cxnSp>
        <p:nvCxnSpPr>
          <p:cNvPr id="88" name="Connector (telemetry)"/>
          <p:cNvCxnSpPr/>
          <p:nvPr/>
        </p:nvCxnSpPr>
        <p:spPr>
          <a:xfrm>
            <a:off x="5303520" y="6281928"/>
            <a:ext cx="411480" cy="0"/>
          </a:xfrm>
          <a:prstGeom prst="line">
            <a:avLst/>
          </a:prstGeom>
          <a:ln w="15875">
            <a:solidFill>
              <a:srgbClr val="8A8A8A"/>
            </a:solidFill>
            <a:prstDash val="sysDot"/>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5779008" y="6163056"/>
            <a:ext cx="1874519" cy="256032"/>
          </a:xfrm>
          <a:prstGeom prst="rect">
            <a:avLst/>
          </a:prstGeom>
          <a:noFill/>
        </p:spPr>
        <p:txBody>
          <a:bodyPr wrap="square" lIns="0" rIns="0" tIns="0" bIns="0" anchor="t">
            <a:noAutofit/>
          </a:bodyPr>
          <a:lstStyle/>
          <a:p>
            <a:pPr algn="l"/>
            <a:r>
              <a:rPr sz="1100" b="0" i="0">
                <a:solidFill>
                  <a:srgbClr val="53565A"/>
                </a:solidFill>
                <a:latin typeface="Arial"/>
              </a:rPr>
              <a:t>Telemetry or state read</a:t>
            </a:r>
          </a:p>
        </p:txBody>
      </p:sp>
      <p:sp>
        <p:nvSpPr>
          <p:cNvPr id="90" name="TextBox 89"/>
          <p:cNvSpPr txBox="1"/>
          <p:nvPr/>
        </p:nvSpPr>
        <p:spPr>
          <a:xfrm>
            <a:off x="7680960" y="6163056"/>
            <a:ext cx="4023360" cy="274320"/>
          </a:xfrm>
          <a:prstGeom prst="rect">
            <a:avLst/>
          </a:prstGeom>
          <a:noFill/>
        </p:spPr>
        <p:txBody>
          <a:bodyPr wrap="square" lIns="0" rIns="0" tIns="0" bIns="0" anchor="t">
            <a:noAutofit/>
          </a:bodyPr>
          <a:lstStyle/>
          <a:p>
            <a:pPr algn="r"/>
            <a:r>
              <a:rPr sz="1100" b="1" i="0">
                <a:solidFill>
                  <a:srgbClr val="A4262C"/>
                </a:solidFill>
                <a:latin typeface="Arial"/>
              </a:rPr>
              <a:t>1</a:t>
            </a:r>
            <a:r>
              <a:rPr sz="1100" b="0" i="0">
                <a:solidFill>
                  <a:srgbClr val="53565A"/>
                </a:solidFill>
                <a:latin typeface="Arial"/>
              </a:rPr>
              <a:t> block new requests  </a:t>
            </a:r>
            <a:r>
              <a:rPr sz="1100" b="1" i="0">
                <a:solidFill>
                  <a:srgbClr val="A4262C"/>
                </a:solidFill>
                <a:latin typeface="Arial"/>
              </a:rPr>
              <a:t>2</a:t>
            </a:r>
            <a:r>
              <a:rPr sz="1100" b="0" i="0">
                <a:solidFill>
                  <a:srgbClr val="53565A"/>
                </a:solidFill>
                <a:latin typeface="Arial"/>
              </a:rPr>
              <a:t> cancel or isolate  </a:t>
            </a:r>
            <a:r>
              <a:rPr sz="1100" b="1" i="0">
                <a:solidFill>
                  <a:srgbClr val="A4262C"/>
                </a:solidFill>
                <a:latin typeface="Arial"/>
              </a:rPr>
              <a:t>3</a:t>
            </a:r>
            <a:r>
              <a:rPr sz="1100" b="0" i="0">
                <a:solidFill>
                  <a:srgbClr val="53565A"/>
                </a:solidFill>
                <a:latin typeface="Arial"/>
              </a:rPr>
              <a:t> deny actions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Three containment actions, three different mechanisms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K2</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21</a:t>
            </a:r>
          </a:p>
        </p:txBody>
      </p:sp>
      <p:sp>
        <p:nvSpPr>
          <p:cNvPr id="9" name="Rounded Rectangle 8"/>
          <p:cNvSpPr/>
          <p:nvPr/>
        </p:nvSpPr>
        <p:spPr>
          <a:xfrm>
            <a:off x="548640"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Block new requests</a:t>
            </a:r>
          </a:p>
        </p:txBody>
      </p:sp>
      <p:sp>
        <p:nvSpPr>
          <p:cNvPr id="10" name="TextBox 9"/>
          <p:cNvSpPr txBox="1"/>
          <p:nvPr/>
        </p:nvSpPr>
        <p:spPr>
          <a:xfrm>
            <a:off x="548640"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1" name="TextBox 10"/>
          <p:cNvSpPr txBox="1"/>
          <p:nvPr/>
        </p:nvSpPr>
        <p:spPr>
          <a:xfrm>
            <a:off x="548640"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API Management ingress rejects calls for the quarantined agent ID and version. Foundry Stop (published agents) or Block (custom agents) adds a platform-level control.</a:t>
            </a:r>
          </a:p>
        </p:txBody>
      </p:sp>
      <p:sp>
        <p:nvSpPr>
          <p:cNvPr id="12" name="Rounded Rectangle 11"/>
          <p:cNvSpPr/>
          <p:nvPr/>
        </p:nvSpPr>
        <p:spPr>
          <a:xfrm>
            <a:off x="548640"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Does not touch runs already executing. A caller holding a direct endpoint or key bypasses it.</a:t>
            </a:r>
          </a:p>
        </p:txBody>
      </p:sp>
      <p:sp>
        <p:nvSpPr>
          <p:cNvPr id="13" name="Rounded Rectangle 12"/>
          <p:cNvSpPr/>
          <p:nvPr/>
        </p:nvSpPr>
        <p:spPr>
          <a:xfrm>
            <a:off x="429767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Cancel or isolate running work</a:t>
            </a:r>
          </a:p>
        </p:txBody>
      </p:sp>
      <p:sp>
        <p:nvSpPr>
          <p:cNvPr id="14" name="TextBox 13"/>
          <p:cNvSpPr txBox="1"/>
          <p:nvPr/>
        </p:nvSpPr>
        <p:spPr>
          <a:xfrm>
            <a:off x="429767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5" name="TextBox 14"/>
          <p:cNvSpPr txBox="1"/>
          <p:nvPr/>
        </p:nvSpPr>
        <p:spPr>
          <a:xfrm>
            <a:off x="429767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Runtime adapter cancels supported runs, disables triggers and queue consumers, or isolates dedicated compute (Container Apps or AKS) where authorised.</a:t>
            </a:r>
          </a:p>
        </p:txBody>
      </p:sp>
      <p:sp>
        <p:nvSpPr>
          <p:cNvPr id="16" name="Rounded Rectangle 15"/>
          <p:cNvSpPr/>
          <p:nvPr/>
        </p:nvSpPr>
        <p:spPr>
          <a:xfrm>
            <a:off x="429767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Cancellation support differs by runtime. Managed Foundry runtimes may not allow process termination. Shared hosts widen the blast radius.</a:t>
            </a:r>
          </a:p>
        </p:txBody>
      </p:sp>
      <p:sp>
        <p:nvSpPr>
          <p:cNvPr id="17" name="Rounded Rectangle 16"/>
          <p:cNvSpPr/>
          <p:nvPr/>
        </p:nvSpPr>
        <p:spPr>
          <a:xfrm>
            <a:off x="8046719" y="1371600"/>
            <a:ext cx="3593592" cy="777240"/>
          </a:xfrm>
          <a:prstGeom prst="roundRect">
            <a:avLst>
              <a:gd name="adj" fmla="val 9411"/>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Deny further model and tool actions</a:t>
            </a:r>
          </a:p>
        </p:txBody>
      </p:sp>
      <p:sp>
        <p:nvSpPr>
          <p:cNvPr id="18" name="TextBox 17"/>
          <p:cNvSpPr txBox="1"/>
          <p:nvPr/>
        </p:nvSpPr>
        <p:spPr>
          <a:xfrm>
            <a:off x="8046719" y="2240280"/>
            <a:ext cx="3593592" cy="274320"/>
          </a:xfrm>
          <a:prstGeom prst="rect">
            <a:avLst/>
          </a:prstGeom>
          <a:noFill/>
        </p:spPr>
        <p:txBody>
          <a:bodyPr wrap="square" lIns="0" rIns="0" tIns="0" bIns="0" anchor="t">
            <a:noAutofit/>
          </a:bodyPr>
          <a:lstStyle/>
          <a:p>
            <a:pPr algn="l"/>
            <a:r>
              <a:rPr sz="1300" b="1" i="0">
                <a:solidFill>
                  <a:srgbClr val="2F78C4"/>
                </a:solidFill>
                <a:latin typeface="Arial"/>
              </a:rPr>
              <a:t>What it does</a:t>
            </a:r>
          </a:p>
        </p:txBody>
      </p:sp>
      <p:sp>
        <p:nvSpPr>
          <p:cNvPr id="19" name="TextBox 18"/>
          <p:cNvSpPr txBox="1"/>
          <p:nvPr/>
        </p:nvSpPr>
        <p:spPr>
          <a:xfrm>
            <a:off x="8046719" y="2514600"/>
            <a:ext cx="3593592" cy="1554480"/>
          </a:xfrm>
          <a:prstGeom prst="rect">
            <a:avLst/>
          </a:prstGeom>
          <a:noFill/>
        </p:spPr>
        <p:txBody>
          <a:bodyPr wrap="square" lIns="0" rIns="0" tIns="0" bIns="0" anchor="t">
            <a:noAutofit/>
          </a:bodyPr>
          <a:lstStyle/>
          <a:p>
            <a:pPr algn="l"/>
            <a:r>
              <a:rPr sz="1600" b="0" i="0">
                <a:solidFill>
                  <a:srgbClr val="1E1E2E"/>
                </a:solidFill>
                <a:latin typeface="Arial"/>
              </a:rPr>
              <a:t>Outbound gateway and tool-side authorisation reject model, tool and data calls for the quarantined scope, checked before irreversible actions.</a:t>
            </a:r>
          </a:p>
        </p:txBody>
      </p:sp>
      <p:sp>
        <p:nvSpPr>
          <p:cNvPr id="20" name="Rounded Rectangle 19"/>
          <p:cNvSpPr/>
          <p:nvPr/>
        </p:nvSpPr>
        <p:spPr>
          <a:xfrm>
            <a:off x="8046719" y="4114800"/>
            <a:ext cx="3593592" cy="1600200"/>
          </a:xfrm>
          <a:prstGeom prst="roundRect">
            <a:avLst>
              <a:gd name="adj" fmla="val 4571"/>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wrap="square">
            <a:noAutofit/>
          </a:bodyPr>
          <a:lstStyle/>
          <a:p>
            <a:pPr algn="l">
              <a:spcAft>
                <a:spcPts val="300"/>
              </a:spcAft>
            </a:pPr>
            <a:r>
              <a:rPr sz="1300" b="1" i="0">
                <a:solidFill>
                  <a:srgbClr val="8A4B08"/>
                </a:solidFill>
                <a:latin typeface="Arial"/>
              </a:rPr>
              <a:t>Limit</a:t>
            </a:r>
          </a:p>
          <a:p>
            <a:pPr algn="l"/>
            <a:r>
              <a:rPr sz="1500" b="0" i="0">
                <a:solidFill>
                  <a:srgbClr val="1E1E2E"/>
                </a:solidFill>
                <a:latin typeface="Arial"/>
              </a:rPr>
              <a:t>Cannot undo side effects already completed. Token and RBAC revocation can lag; use resource-side denial as well.</a:t>
            </a:r>
          </a:p>
        </p:txBody>
      </p:sp>
      <p:sp>
        <p:nvSpPr>
          <p:cNvPr id="21" name="Rounded Rectangle 20"/>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No universal instant stop. Worst-case stop time is measured in drills, not assumed.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Known limits of agent containment on Azure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K3</a:t>
            </a:r>
          </a:p>
        </p:txBody>
      </p:sp>
      <p:sp>
        <p:nvSpPr>
          <p:cNvPr id="5" name="Status chip: VERIFIED BEHAVIOUR + DESIGN LIMITS"/>
          <p:cNvSpPr/>
          <p:nvPr/>
        </p:nvSpPr>
        <p:spPr>
          <a:xfrm>
            <a:off x="1898650" y="274320"/>
            <a:ext cx="32105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BEHAVIOUR + DESIGN LIMITS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22</a:t>
            </a:r>
          </a:p>
        </p:txBody>
      </p:sp>
      <p:graphicFrame>
        <p:nvGraphicFramePr>
          <p:cNvPr id="9" name="Table"/>
          <p:cNvGraphicFramePr>
            <a:graphicFrameLocks noGrp="1"/>
          </p:cNvGraphicFramePr>
          <p:nvPr/>
        </p:nvGraphicFramePr>
        <p:xfrm>
          <a:off x="548640" y="1325880"/>
          <a:ext cx="11091672" cy="3703320"/>
        </p:xfrm>
        <a:graphic>
          <a:graphicData uri="http://schemas.openxmlformats.org/drawingml/2006/table">
            <a:tbl>
              <a:tblPr firstRow="1" bandRow="0">
                <a:tableStyleId>{5C22544A-7EE6-4342-B048-85BDC9FD1C3A}</a:tableStyleId>
              </a:tblPr>
              <a:tblGrid>
                <a:gridCol w="3291840"/>
                <a:gridCol w="4023360"/>
                <a:gridCol w="3776472"/>
              </a:tblGrid>
              <a:tr h="289560">
                <a:tc>
                  <a:txBody>
                    <a:bodyPr wrap="square" anchor="ctr">
                      <a:noAutofit/>
                    </a:bodyPr>
                    <a:lstStyle/>
                    <a:p>
                      <a:pPr algn="l"/>
                      <a:r>
                        <a:rPr sz="1300" b="1" i="0">
                          <a:solidFill>
                            <a:srgbClr val="FFFFFF"/>
                          </a:solidFill>
                          <a:latin typeface="Arial"/>
                        </a:rPr>
                        <a:t>Limit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Why it matters</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Design response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Gateway block does not stop an existing run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Foundry Stop "doesn't terminate existing runs" (Microsoft Learn)</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Runtime checkpoint guard plus outbound denial</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Token or RBAC revocation is not immediate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Cached tokens stay valid until expiry or propagation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Resource-side deny check; short token lifetimes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Runtime cancellation support varies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Foundry, Container Apps, AKS and Logic Apps differ</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Runtime-specific adapters, tested per platform</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Direct endpoint access bypasses a proxy</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Agents holding keys or public endpoints skip API Management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Private endpoints, disable local auth, no shared keys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Circuit breaker is not a kill switch</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It protects a backend dependency, not the agent scope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Separate quarantine state keyed by agent ID</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Distributed state and caches delay enforcement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Replication and cache TTL set worst-case stop time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Bounded freshness contract; no caching of allow on high-impact tools</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Fail-closed reduces availability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Unknown state blocks legitimate work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Agree fail-closed scope per risk class with the business owner</a:t>
                      </a:r>
                    </a:p>
                  </a:txBody>
                  <a:tcPr marL="73152" marR="73152" marT="36576" marB="36576" anchor="ctr">
                    <a:solidFill>
                      <a:srgbClr val="FFFFFF"/>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test scenarios before production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K4</a:t>
            </a:r>
          </a:p>
        </p:txBody>
      </p:sp>
      <p:sp>
        <p:nvSpPr>
          <p:cNvPr id="5" name="Status chip: PROPOSED ACCEPTANCE TESTS"/>
          <p:cNvSpPr/>
          <p:nvPr/>
        </p:nvSpPr>
        <p:spPr>
          <a:xfrm>
            <a:off x="1898650" y="274320"/>
            <a:ext cx="24333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ACCEPTANCE TESTS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23</a:t>
            </a:r>
          </a:p>
        </p:txBody>
      </p:sp>
      <p:graphicFrame>
        <p:nvGraphicFramePr>
          <p:cNvPr id="9" name="Table"/>
          <p:cNvGraphicFramePr>
            <a:graphicFrameLocks noGrp="1"/>
          </p:cNvGraphicFramePr>
          <p:nvPr/>
        </p:nvGraphicFramePr>
        <p:xfrm>
          <a:off x="548640" y="1325880"/>
          <a:ext cx="11091672" cy="3596640"/>
        </p:xfrm>
        <a:graphic>
          <a:graphicData uri="http://schemas.openxmlformats.org/drawingml/2006/table">
            <a:tbl>
              <a:tblPr firstRow="1" bandRow="0">
                <a:tableStyleId>{5C22544A-7EE6-4342-B048-85BDC9FD1C3A}</a:tableStyleId>
              </a:tblPr>
              <a:tblGrid>
                <a:gridCol w="2194560"/>
                <a:gridCol w="4572000"/>
                <a:gridCol w="4325112"/>
              </a:tblGrid>
              <a:tr h="289560">
                <a:tc>
                  <a:txBody>
                    <a:bodyPr wrap="square" anchor="ctr">
                      <a:noAutofit/>
                    </a:bodyPr>
                    <a:lstStyle/>
                    <a:p>
                      <a:pPr algn="l"/>
                      <a:r>
                        <a:rPr sz="1300" b="1" i="0">
                          <a:solidFill>
                            <a:srgbClr val="FFFFFF"/>
                          </a:solidFill>
                          <a:latin typeface="Arial"/>
                        </a:rPr>
                        <a:t>Scenario</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Test</a:t>
                      </a:r>
                    </a:p>
                  </a:txBody>
                  <a:tcPr marL="73152" marR="73152" marT="36576" marB="36576" anchor="ctr">
                    <a:solidFill>
                      <a:srgbClr val="000048"/>
                    </a:solidFill>
                  </a:tcPr>
                </a:tc>
                <a:tc>
                  <a:txBody>
                    <a:bodyPr wrap="square" anchor="ctr">
                      <a:noAutofit/>
                    </a:bodyPr>
                    <a:lstStyle/>
                    <a:p>
                      <a:pPr algn="l"/>
                      <a:r>
                        <a:rPr sz="1300" b="1" i="0">
                          <a:solidFill>
                            <a:srgbClr val="FFFFFF"/>
                          </a:solidFill>
                          <a:latin typeface="Arial"/>
                        </a:rPr>
                        <a:t>Pass evidence</a:t>
                      </a:r>
                    </a:p>
                  </a:txBody>
                  <a:tcPr marL="73152" marR="73152" marT="36576" marB="36576" anchor="ctr">
                    <a:solidFill>
                      <a:srgbClr val="000048"/>
                    </a:solidFill>
                  </a:tcPr>
                </a:tc>
              </a:tr>
              <a:tr h="487680">
                <a:tc>
                  <a:txBody>
                    <a:bodyPr wrap="square" anchor="ctr">
                      <a:noAutofit/>
                    </a:bodyPr>
                    <a:lstStyle/>
                    <a:p>
                      <a:pPr algn="l"/>
                      <a:r>
                        <a:rPr sz="1300" b="1" i="0">
                          <a:solidFill>
                            <a:srgbClr val="1E1E2E"/>
                          </a:solidFill>
                          <a:latin typeface="Arial"/>
                        </a:rPr>
                        <a:t>Bypass</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 model and tool endpoints directly with the agent identity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Calls denied at network and resource level</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Retries</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Client retries and APIM retry policy after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No retried call reaches a backend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Queued work</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Messages already queued for the agent when quarantined</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Consumers disabled; messages held, not processed</a:t>
                      </a:r>
                    </a:p>
                  </a:txBody>
                  <a:tcPr marL="73152" marR="73152" marT="36576" marB="36576" anchor="ctr">
                    <a:solidFill>
                      <a:srgbClr val="FFFFFF"/>
                    </a:solidFill>
                  </a:tcPr>
                </a:tc>
              </a:tr>
              <a:tr h="289560">
                <a:tc>
                  <a:txBody>
                    <a:bodyPr wrap="square" anchor="ctr">
                      <a:noAutofit/>
                    </a:bodyPr>
                    <a:lstStyle/>
                    <a:p>
                      <a:pPr algn="l"/>
                      <a:r>
                        <a:rPr sz="1300" b="1" i="0">
                          <a:solidFill>
                            <a:srgbClr val="1E1E2E"/>
                          </a:solidFill>
                          <a:latin typeface="Arial"/>
                        </a:rPr>
                        <a:t>Long-running run</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Run in progress during quarantine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Next checkpoint halts; no new tool call recorded</a:t>
                      </a:r>
                    </a:p>
                  </a:txBody>
                  <a:tcPr marL="73152" marR="73152" marT="36576" marB="36576" anchor="ctr">
                    <a:solidFill>
                      <a:srgbClr val="F5F5F2"/>
                    </a:solidFill>
                  </a:tcPr>
                </a:tc>
              </a:tr>
              <a:tr h="487680">
                <a:tc>
                  <a:txBody>
                    <a:bodyPr wrap="square" anchor="ctr">
                      <a:noAutofit/>
                    </a:bodyPr>
                    <a:lstStyle/>
                    <a:p>
                      <a:pPr algn="l"/>
                      <a:r>
                        <a:rPr sz="1300" b="1" i="0">
                          <a:solidFill>
                            <a:srgbClr val="1E1E2E"/>
                          </a:solidFill>
                          <a:latin typeface="Arial"/>
                        </a:rPr>
                        <a:t>Missing telemetry</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Disable traces, then trigger containment</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Manual path works; telemetry gap raised as incident</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Partial failure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One enforcement point unavailable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Fail-closed where agreed; failure recorded in evidence</a:t>
                      </a:r>
                    </a:p>
                  </a:txBody>
                  <a:tcPr marL="73152" marR="73152" marT="36576" marB="36576" anchor="ctr">
                    <a:solidFill>
                      <a:srgbClr val="F5F5F2"/>
                    </a:solidFill>
                  </a:tcPr>
                </a:tc>
              </a:tr>
              <a:tr h="289560">
                <a:tc>
                  <a:txBody>
                    <a:bodyPr wrap="square" anchor="ctr">
                      <a:noAutofit/>
                    </a:bodyPr>
                    <a:lstStyle/>
                    <a:p>
                      <a:pPr algn="l"/>
                      <a:r>
                        <a:rPr sz="1300" b="1" i="0">
                          <a:solidFill>
                            <a:srgbClr val="1E1E2E"/>
                          </a:solidFill>
                          <a:latin typeface="Arial"/>
                        </a:rPr>
                        <a:t>Control-plane outage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Orchestrator or registry unavailable</a:t>
                      </a:r>
                    </a:p>
                  </a:txBody>
                  <a:tcPr marL="73152" marR="73152" marT="36576" marB="36576" anchor="ctr">
                    <a:solidFill>
                      <a:srgbClr val="FFFFFF"/>
                    </a:solidFill>
                  </a:tcPr>
                </a:tc>
                <a:tc>
                  <a:txBody>
                    <a:bodyPr wrap="square" anchor="ctr">
                      <a:noAutofit/>
                    </a:bodyPr>
                    <a:lstStyle/>
                    <a:p>
                      <a:pPr algn="l"/>
                      <a:r>
                        <a:rPr sz="1300" b="0" i="0">
                          <a:solidFill>
                            <a:srgbClr val="1E1E2E"/>
                          </a:solidFill>
                          <a:latin typeface="Arial"/>
                        </a:rPr>
                        <a:t>Documented break-glass path executes</a:t>
                      </a:r>
                    </a:p>
                  </a:txBody>
                  <a:tcPr marL="73152" marR="73152" marT="36576" marB="36576" anchor="ctr">
                    <a:solidFill>
                      <a:srgbClr val="FFFFFF"/>
                    </a:solidFill>
                  </a:tcPr>
                </a:tc>
              </a:tr>
              <a:tr h="487680">
                <a:tc>
                  <a:txBody>
                    <a:bodyPr wrap="square" anchor="ctr">
                      <a:noAutofit/>
                    </a:bodyPr>
                    <a:lstStyle/>
                    <a:p>
                      <a:pPr algn="l"/>
                      <a:r>
                        <a:rPr sz="1300" b="1" i="0">
                          <a:solidFill>
                            <a:srgbClr val="1E1E2E"/>
                          </a:solidFill>
                          <a:latin typeface="Arial"/>
                        </a:rPr>
                        <a:t>Restart</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Approved release after root cause</a:t>
                      </a:r>
                    </a:p>
                  </a:txBody>
                  <a:tcPr marL="73152" marR="73152" marT="36576" marB="36576" anchor="ctr">
                    <a:solidFill>
                      <a:srgbClr val="F5F5F2"/>
                    </a:solidFill>
                  </a:tcPr>
                </a:tc>
                <a:tc>
                  <a:txBody>
                    <a:bodyPr wrap="square" anchor="ctr">
                      <a:noAutofit/>
                    </a:bodyPr>
                    <a:lstStyle/>
                    <a:p>
                      <a:pPr algn="l"/>
                      <a:r>
                        <a:rPr sz="1300" b="0" i="0">
                          <a:solidFill>
                            <a:srgbClr val="1E1E2E"/>
                          </a:solidFill>
                          <a:latin typeface="Arial"/>
                        </a:rPr>
                        <a:t>Two-person approval, canary, state version advanced</a:t>
                      </a:r>
                    </a:p>
                  </a:txBody>
                  <a:tcPr marL="73152" marR="73152" marT="36576" marB="36576" anchor="ctr">
                    <a:solidFill>
                      <a:srgbClr val="F5F5F2"/>
                    </a:solidFill>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Foundry lifecycle actions differ by agent type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A8</a:t>
            </a:r>
          </a:p>
        </p:txBody>
      </p:sp>
      <p:sp>
        <p:nvSpPr>
          <p:cNvPr id="5" name="Status chip: VERIFIED 11 OCT 2026"/>
          <p:cNvSpPr/>
          <p:nvPr/>
        </p:nvSpPr>
        <p:spPr>
          <a:xfrm>
            <a:off x="1898650" y="274320"/>
            <a:ext cx="2001519"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VERIFIED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24</a:t>
            </a:r>
          </a:p>
        </p:txBody>
      </p:sp>
      <p:graphicFrame>
        <p:nvGraphicFramePr>
          <p:cNvPr id="9" name="Table"/>
          <p:cNvGraphicFramePr>
            <a:graphicFrameLocks noGrp="1"/>
          </p:cNvGraphicFramePr>
          <p:nvPr/>
        </p:nvGraphicFramePr>
        <p:xfrm>
          <a:off x="548640" y="1371600"/>
          <a:ext cx="11091672" cy="3063240"/>
        </p:xfrm>
        <a:graphic>
          <a:graphicData uri="http://schemas.openxmlformats.org/drawingml/2006/table">
            <a:tbl>
              <a:tblPr firstRow="1" bandRow="0">
                <a:tableStyleId>{5C22544A-7EE6-4342-B048-85BDC9FD1C3A}</a:tableStyleId>
              </a:tblPr>
              <a:tblGrid>
                <a:gridCol w="2651760"/>
                <a:gridCol w="2011680"/>
                <a:gridCol w="3383280"/>
                <a:gridCol w="3044952"/>
              </a:tblGrid>
              <a:tr h="320040">
                <a:tc>
                  <a:txBody>
                    <a:bodyPr wrap="square" anchor="ctr">
                      <a:noAutofit/>
                    </a:bodyPr>
                    <a:lstStyle/>
                    <a:p>
                      <a:pPr algn="l"/>
                      <a:r>
                        <a:rPr sz="1500" b="1" i="0">
                          <a:solidFill>
                            <a:srgbClr val="FFFFFF"/>
                          </a:solidFill>
                          <a:latin typeface="Arial"/>
                        </a:rPr>
                        <a:t>Agent route</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Native action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Effect (Microsoft Learn)</a:t>
                      </a:r>
                    </a:p>
                  </a:txBody>
                  <a:tcPr marL="73152" marR="73152" marT="36576" marB="36576" anchor="ctr">
                    <a:solidFill>
                      <a:srgbClr val="000048"/>
                    </a:solidFill>
                  </a:tcPr>
                </a:tc>
                <a:tc>
                  <a:txBody>
                    <a:bodyPr wrap="square" anchor="ctr">
                      <a:noAutofit/>
                    </a:bodyPr>
                    <a:lstStyle/>
                    <a:p>
                      <a:pPr algn="l"/>
                      <a:r>
                        <a:rPr sz="1500" b="1" i="0">
                          <a:solidFill>
                            <a:srgbClr val="FFFFFF"/>
                          </a:solidFill>
                          <a:latin typeface="Arial"/>
                        </a:rPr>
                        <a:t>Residual risk</a:t>
                      </a:r>
                    </a:p>
                  </a:txBody>
                  <a:tcPr marL="73152" marR="73152" marT="36576" marB="36576" anchor="ctr">
                    <a:solidFill>
                      <a:srgbClr val="000048"/>
                    </a:solidFill>
                  </a:tcPr>
                </a:tc>
              </a:tr>
              <a:tr h="548640">
                <a:tc>
                  <a:txBody>
                    <a:bodyPr wrap="square" anchor="ctr">
                      <a:noAutofit/>
                    </a:bodyPr>
                    <a:lstStyle/>
                    <a:p>
                      <a:pPr algn="l"/>
                      <a:r>
                        <a:rPr sz="1500" b="1" i="0">
                          <a:solidFill>
                            <a:srgbClr val="1E1E2E"/>
                          </a:solidFill>
                          <a:latin typeface="Arial"/>
                        </a:rPr>
                        <a:t>Published Foundry agent</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Start or stop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deployment, deallocates compute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Existing runs not terminated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Unpublished prompt or workflow</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None (delete to stop)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Deletion is the only stop</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Needs a designed containment path</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Hosted agent (unpublished)</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Start or stop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deployment, deallocates compute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Existing runs not terminated</a:t>
                      </a:r>
                    </a:p>
                  </a:txBody>
                  <a:tcPr marL="73152" marR="73152" marT="36576" marB="36576" anchor="ctr">
                    <a:solidFill>
                      <a:srgbClr val="FFFFFF"/>
                    </a:solidFill>
                  </a:tcPr>
                </a:tc>
              </a:tr>
              <a:tr h="548640">
                <a:tc>
                  <a:txBody>
                    <a:bodyPr wrap="square" anchor="ctr">
                      <a:noAutofit/>
                    </a:bodyPr>
                    <a:lstStyle/>
                    <a:p>
                      <a:pPr algn="l"/>
                      <a:r>
                        <a:rPr sz="1500" b="1" i="0">
                          <a:solidFill>
                            <a:srgbClr val="1E1E2E"/>
                          </a:solidFill>
                          <a:latin typeface="Arial"/>
                        </a:rPr>
                        <a:t>Registered custom agent</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Block or unblock</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Agent runs but cannot take requests</a:t>
                      </a:r>
                    </a:p>
                  </a:txBody>
                  <a:tcPr marL="73152" marR="73152" marT="36576" marB="36576" anchor="ctr">
                    <a:solidFill>
                      <a:srgbClr val="F5F5F2"/>
                    </a:solidFill>
                  </a:tcPr>
                </a:tc>
                <a:tc>
                  <a:txBody>
                    <a:bodyPr wrap="square" anchor="ctr">
                      <a:noAutofit/>
                    </a:bodyPr>
                    <a:lstStyle/>
                    <a:p>
                      <a:pPr algn="l"/>
                      <a:r>
                        <a:rPr sz="1500" b="0" i="0">
                          <a:solidFill>
                            <a:srgbClr val="1E1E2E"/>
                          </a:solidFill>
                          <a:latin typeface="Arial"/>
                        </a:rPr>
                        <a:t>Host and direct endpoints remain</a:t>
                      </a:r>
                    </a:p>
                  </a:txBody>
                  <a:tcPr marL="73152" marR="73152" marT="36576" marB="36576" anchor="ctr">
                    <a:solidFill>
                      <a:srgbClr val="F5F5F2"/>
                    </a:solidFill>
                  </a:tcPr>
                </a:tc>
              </a:tr>
              <a:tr h="548640">
                <a:tc>
                  <a:txBody>
                    <a:bodyPr wrap="square" anchor="ctr">
                      <a:noAutofit/>
                    </a:bodyPr>
                    <a:lstStyle/>
                    <a:p>
                      <a:pPr algn="l"/>
                      <a:r>
                        <a:rPr sz="1500" b="1" i="0">
                          <a:solidFill>
                            <a:srgbClr val="1E1E2E"/>
                          </a:solidFill>
                          <a:latin typeface="Arial"/>
                        </a:rPr>
                        <a:t>Logic Apps agent loop</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Stops all workflows in the resource</a:t>
                      </a:r>
                    </a:p>
                  </a:txBody>
                  <a:tcPr marL="73152" marR="73152" marT="36576" marB="36576" anchor="ctr">
                    <a:solidFill>
                      <a:srgbClr val="FFFFFF"/>
                    </a:solidFill>
                  </a:tcPr>
                </a:tc>
                <a:tc>
                  <a:txBody>
                    <a:bodyPr wrap="square" anchor="ctr">
                      <a:noAutofit/>
                    </a:bodyPr>
                    <a:lstStyle/>
                    <a:p>
                      <a:pPr algn="l"/>
                      <a:r>
                        <a:rPr sz="1500" b="0" i="0">
                          <a:solidFill>
                            <a:srgbClr val="1E1E2E"/>
                          </a:solidFill>
                          <a:latin typeface="Arial"/>
                        </a:rPr>
                        <a:t>Collateral impact; no traces</a:t>
                      </a:r>
                    </a:p>
                  </a:txBody>
                  <a:tcPr marL="73152" marR="73152" marT="36576" marB="36576" anchor="ctr">
                    <a:solidFill>
                      <a:srgbClr val="FFFF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Bound the work before a runaway needs detecting</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A9</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25</a:t>
            </a:r>
          </a:p>
        </p:txBody>
      </p:sp>
      <p:sp>
        <p:nvSpPr>
          <p:cNvPr id="8" name="Rounded Rectangle 7"/>
          <p:cNvSpPr/>
          <p:nvPr/>
        </p:nvSpPr>
        <p:spPr>
          <a:xfrm>
            <a:off x="548640" y="146304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Function App" descr="Official Azure icon: Function App"/>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77240" y="1755648"/>
            <a:ext cx="548640" cy="548640"/>
          </a:xfrm>
          <a:prstGeom prst="rect">
            <a:avLst/>
          </a:prstGeom>
        </p:spPr>
      </p:pic>
      <p:sp>
        <p:nvSpPr>
          <p:cNvPr id="10" name="TextBox 9"/>
          <p:cNvSpPr txBox="1"/>
          <p:nvPr/>
        </p:nvSpPr>
        <p:spPr>
          <a:xfrm>
            <a:off x="1554480" y="1627632"/>
            <a:ext cx="2194560" cy="457200"/>
          </a:xfrm>
          <a:prstGeom prst="rect">
            <a:avLst/>
          </a:prstGeom>
          <a:noFill/>
        </p:spPr>
        <p:txBody>
          <a:bodyPr wrap="square" lIns="0" rIns="0" tIns="0" bIns="0" anchor="t">
            <a:noAutofit/>
          </a:bodyPr>
          <a:lstStyle/>
          <a:p>
            <a:pPr algn="l"/>
            <a:r>
              <a:rPr sz="2200" b="1" i="0">
                <a:solidFill>
                  <a:srgbClr val="000048"/>
                </a:solidFill>
                <a:latin typeface="Arial"/>
              </a:rPr>
              <a:t>Execution</a:t>
            </a:r>
          </a:p>
        </p:txBody>
      </p:sp>
      <p:sp>
        <p:nvSpPr>
          <p:cNvPr id="11" name="TextBox 10"/>
          <p:cNvSpPr txBox="1"/>
          <p:nvPr/>
        </p:nvSpPr>
        <p:spPr>
          <a:xfrm>
            <a:off x="3749039" y="1737360"/>
            <a:ext cx="7680960" cy="731520"/>
          </a:xfrm>
          <a:prstGeom prst="rect">
            <a:avLst/>
          </a:prstGeom>
          <a:noFill/>
        </p:spPr>
        <p:txBody>
          <a:bodyPr wrap="square" lIns="0" rIns="0" tIns="0" bIns="0" anchor="t">
            <a:noAutofit/>
          </a:bodyPr>
          <a:lstStyle/>
          <a:p>
            <a:pPr algn="l"/>
            <a:r>
              <a:rPr sz="1900" b="0" i="0">
                <a:solidFill>
                  <a:srgbClr val="1E1E2E"/>
                </a:solidFill>
                <a:latin typeface="Arial"/>
              </a:rPr>
              <a:t>Maximum runtime, iterations, tokens and concurrent runs per agent version</a:t>
            </a:r>
          </a:p>
        </p:txBody>
      </p:sp>
      <p:sp>
        <p:nvSpPr>
          <p:cNvPr id="12" name="Rounded Rectangle 11"/>
          <p:cNvSpPr/>
          <p:nvPr/>
        </p:nvSpPr>
        <p:spPr>
          <a:xfrm>
            <a:off x="548640" y="278892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API Management" descr="Official Azure icon: API Management"/>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77240" y="3081527"/>
            <a:ext cx="548640" cy="548640"/>
          </a:xfrm>
          <a:prstGeom prst="rect">
            <a:avLst/>
          </a:prstGeom>
        </p:spPr>
      </p:pic>
      <p:sp>
        <p:nvSpPr>
          <p:cNvPr id="14" name="TextBox 13"/>
          <p:cNvSpPr txBox="1"/>
          <p:nvPr/>
        </p:nvSpPr>
        <p:spPr>
          <a:xfrm>
            <a:off x="1554480" y="2953512"/>
            <a:ext cx="2194560" cy="457200"/>
          </a:xfrm>
          <a:prstGeom prst="rect">
            <a:avLst/>
          </a:prstGeom>
          <a:noFill/>
        </p:spPr>
        <p:txBody>
          <a:bodyPr wrap="square" lIns="0" rIns="0" tIns="0" bIns="0" anchor="t">
            <a:noAutofit/>
          </a:bodyPr>
          <a:lstStyle/>
          <a:p>
            <a:pPr algn="l"/>
            <a:r>
              <a:rPr sz="2200" b="1" i="0">
                <a:solidFill>
                  <a:srgbClr val="000048"/>
                </a:solidFill>
                <a:latin typeface="Arial"/>
              </a:rPr>
              <a:t>Tools</a:t>
            </a:r>
          </a:p>
        </p:txBody>
      </p:sp>
      <p:sp>
        <p:nvSpPr>
          <p:cNvPr id="15" name="TextBox 14"/>
          <p:cNvSpPr txBox="1"/>
          <p:nvPr/>
        </p:nvSpPr>
        <p:spPr>
          <a:xfrm>
            <a:off x="3749039" y="3063239"/>
            <a:ext cx="7680960" cy="731520"/>
          </a:xfrm>
          <a:prstGeom prst="rect">
            <a:avLst/>
          </a:prstGeom>
          <a:noFill/>
        </p:spPr>
        <p:txBody>
          <a:bodyPr wrap="square" lIns="0" rIns="0" tIns="0" bIns="0" anchor="t">
            <a:noAutofit/>
          </a:bodyPr>
          <a:lstStyle/>
          <a:p>
            <a:pPr algn="l"/>
            <a:r>
              <a:rPr sz="1900" b="0" i="0">
                <a:solidFill>
                  <a:srgbClr val="1E1E2E"/>
                </a:solidFill>
                <a:latin typeface="Arial"/>
              </a:rPr>
              <a:t>Allow-list, scoped identity, transaction limits, idempotency keys</a:t>
            </a:r>
          </a:p>
        </p:txBody>
      </p:sp>
      <p:sp>
        <p:nvSpPr>
          <p:cNvPr id="16" name="Rounded Rectangle 15"/>
          <p:cNvSpPr/>
          <p:nvPr/>
        </p:nvSpPr>
        <p:spPr>
          <a:xfrm>
            <a:off x="548640" y="4114800"/>
            <a:ext cx="11091672" cy="1143000"/>
          </a:xfrm>
          <a:prstGeom prst="roundRect">
            <a:avLst>
              <a:gd name="adj" fmla="val 6400"/>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Entra Privileged Identity Management" descr="Official Azure icon: Entra Privileged Identity Management"/>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77240" y="4407408"/>
            <a:ext cx="548640" cy="548640"/>
          </a:xfrm>
          <a:prstGeom prst="rect">
            <a:avLst/>
          </a:prstGeom>
        </p:spPr>
      </p:pic>
      <p:sp>
        <p:nvSpPr>
          <p:cNvPr id="18" name="TextBox 17"/>
          <p:cNvSpPr txBox="1"/>
          <p:nvPr/>
        </p:nvSpPr>
        <p:spPr>
          <a:xfrm>
            <a:off x="1554480" y="4279392"/>
            <a:ext cx="2194560" cy="457200"/>
          </a:xfrm>
          <a:prstGeom prst="rect">
            <a:avLst/>
          </a:prstGeom>
          <a:noFill/>
        </p:spPr>
        <p:txBody>
          <a:bodyPr wrap="square" lIns="0" rIns="0" tIns="0" bIns="0" anchor="t">
            <a:noAutofit/>
          </a:bodyPr>
          <a:lstStyle/>
          <a:p>
            <a:pPr algn="l"/>
            <a:r>
              <a:rPr sz="2200" b="1" i="0">
                <a:solidFill>
                  <a:srgbClr val="000048"/>
                </a:solidFill>
                <a:latin typeface="Arial"/>
              </a:rPr>
              <a:t>Approval</a:t>
            </a:r>
          </a:p>
        </p:txBody>
      </p:sp>
      <p:sp>
        <p:nvSpPr>
          <p:cNvPr id="19" name="TextBox 18"/>
          <p:cNvSpPr txBox="1"/>
          <p:nvPr/>
        </p:nvSpPr>
        <p:spPr>
          <a:xfrm>
            <a:off x="3749039" y="4389120"/>
            <a:ext cx="7680960" cy="731520"/>
          </a:xfrm>
          <a:prstGeom prst="rect">
            <a:avLst/>
          </a:prstGeom>
          <a:noFill/>
        </p:spPr>
        <p:txBody>
          <a:bodyPr wrap="square" lIns="0" rIns="0" tIns="0" bIns="0" anchor="t">
            <a:noAutofit/>
          </a:bodyPr>
          <a:lstStyle/>
          <a:p>
            <a:pPr algn="l"/>
            <a:r>
              <a:rPr sz="1900" b="0" i="0">
                <a:solidFill>
                  <a:srgbClr val="1E1E2E"/>
                </a:solidFill>
                <a:latin typeface="Arial"/>
              </a:rPr>
              <a:t>Human approval before high-impact or irreversible actions</a:t>
            </a:r>
          </a:p>
        </p:txBody>
      </p:sp>
      <p:sp>
        <p:nvSpPr>
          <p:cNvPr id="20" name="Rounded Rectangle 19"/>
          <p:cNvSpPr/>
          <p:nvPr/>
        </p:nvSpPr>
        <p:spPr>
          <a:xfrm>
            <a:off x="548640" y="5577840"/>
            <a:ext cx="11091672" cy="548640"/>
          </a:xfrm>
          <a:prstGeom prst="roundRect">
            <a:avLst>
              <a:gd name="adj" fmla="val 13333"/>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Note:  </a:t>
            </a:r>
            <a:r>
              <a:rPr sz="1400" b="0" i="0">
                <a:solidFill>
                  <a:srgbClr val="1E1E2E"/>
                </a:solidFill>
                <a:latin typeface="Arial"/>
              </a:rPr>
              <a:t>Limits reduce blast radius; they do not replace containment. Owner: AI tower, with Security.</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Where an agentic loop amplifies calls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A10</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26</a:t>
            </a:r>
          </a:p>
        </p:txBody>
      </p:sp>
      <p:sp>
        <p:nvSpPr>
          <p:cNvPr id="9" name="Rounded Rectangle 8"/>
          <p:cNvSpPr/>
          <p:nvPr/>
        </p:nvSpPr>
        <p:spPr>
          <a:xfrm>
            <a:off x="50292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User query</a:t>
            </a:r>
          </a:p>
        </p:txBody>
      </p:sp>
      <p:cxnSp>
        <p:nvCxnSpPr>
          <p:cNvPr id="10" name="Connector (flow)"/>
          <p:cNvCxnSpPr/>
          <p:nvPr/>
        </p:nvCxnSpPr>
        <p:spPr>
          <a:xfrm>
            <a:off x="176479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90195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2" name="Azure icon: Foundry Agent Service" descr="Official Azure icon: Foundry Agent Service"/>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2327148" y="1901952"/>
            <a:ext cx="411480" cy="411480"/>
          </a:xfrm>
          <a:prstGeom prst="rect">
            <a:avLst/>
          </a:prstGeom>
        </p:spPr>
      </p:pic>
      <p:sp>
        <p:nvSpPr>
          <p:cNvPr id="13" name="TextBox 12"/>
          <p:cNvSpPr txBox="1"/>
          <p:nvPr/>
        </p:nvSpPr>
        <p:spPr>
          <a:xfrm>
            <a:off x="193852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Agent reasoning loop</a:t>
            </a:r>
          </a:p>
        </p:txBody>
      </p:sp>
      <p:cxnSp>
        <p:nvCxnSpPr>
          <p:cNvPr id="14" name="Connector (flow)"/>
          <p:cNvCxnSpPr/>
          <p:nvPr/>
        </p:nvCxnSpPr>
        <p:spPr>
          <a:xfrm>
            <a:off x="316382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300984"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6"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726180" y="1901952"/>
            <a:ext cx="411480" cy="411480"/>
          </a:xfrm>
          <a:prstGeom prst="rect">
            <a:avLst/>
          </a:prstGeom>
        </p:spPr>
      </p:pic>
      <p:sp>
        <p:nvSpPr>
          <p:cNvPr id="17" name="TextBox 16"/>
          <p:cNvSpPr txBox="1"/>
          <p:nvPr/>
        </p:nvSpPr>
        <p:spPr>
          <a:xfrm>
            <a:off x="3337560"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A</a:t>
            </a:r>
          </a:p>
        </p:txBody>
      </p:sp>
      <p:cxnSp>
        <p:nvCxnSpPr>
          <p:cNvPr id="18" name="Connector (flow)"/>
          <p:cNvCxnSpPr/>
          <p:nvPr/>
        </p:nvCxnSpPr>
        <p:spPr>
          <a:xfrm>
            <a:off x="4562856"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700016"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Evaluate results</a:t>
            </a:r>
          </a:p>
        </p:txBody>
      </p:sp>
      <p:cxnSp>
        <p:nvCxnSpPr>
          <p:cNvPr id="20" name="Connector (flow)"/>
          <p:cNvCxnSpPr/>
          <p:nvPr/>
        </p:nvCxnSpPr>
        <p:spPr>
          <a:xfrm>
            <a:off x="5961888"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099048"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2" name="Azure icon: AI Search (Cognitive Search icon)" descr="Official Azure icon: AI Search (Cognitive Search icon)"/>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524244" y="1901952"/>
            <a:ext cx="411480" cy="411480"/>
          </a:xfrm>
          <a:prstGeom prst="rect">
            <a:avLst/>
          </a:prstGeom>
        </p:spPr>
      </p:pic>
      <p:sp>
        <p:nvSpPr>
          <p:cNvPr id="23" name="TextBox 22"/>
          <p:cNvSpPr txBox="1"/>
          <p:nvPr/>
        </p:nvSpPr>
        <p:spPr>
          <a:xfrm>
            <a:off x="6135624"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Tool call: search B</a:t>
            </a:r>
          </a:p>
        </p:txBody>
      </p:sp>
      <p:cxnSp>
        <p:nvCxnSpPr>
          <p:cNvPr id="24" name="Connector (flow)"/>
          <p:cNvCxnSpPr/>
          <p:nvPr/>
        </p:nvCxnSpPr>
        <p:spPr>
          <a:xfrm>
            <a:off x="7360920" y="242316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98080"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Build prompt</a:t>
            </a:r>
          </a:p>
        </p:txBody>
      </p:sp>
      <p:cxnSp>
        <p:nvCxnSpPr>
          <p:cNvPr id="26" name="Connector (flow)"/>
          <p:cNvCxnSpPr/>
          <p:nvPr/>
        </p:nvCxnSpPr>
        <p:spPr>
          <a:xfrm>
            <a:off x="8759952"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897112" y="1828800"/>
            <a:ext cx="1261872" cy="1188720"/>
          </a:xfrm>
          <a:prstGeom prst="roundRect">
            <a:avLst>
              <a:gd name="adj" fmla="val 6153"/>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8"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322308" y="1901952"/>
            <a:ext cx="411480" cy="411480"/>
          </a:xfrm>
          <a:prstGeom prst="rect">
            <a:avLst/>
          </a:prstGeom>
        </p:spPr>
      </p:pic>
      <p:sp>
        <p:nvSpPr>
          <p:cNvPr id="29" name="TextBox 28"/>
          <p:cNvSpPr txBox="1"/>
          <p:nvPr/>
        </p:nvSpPr>
        <p:spPr>
          <a:xfrm>
            <a:off x="8933688" y="2350008"/>
            <a:ext cx="1188719" cy="649224"/>
          </a:xfrm>
          <a:prstGeom prst="rect">
            <a:avLst/>
          </a:prstGeom>
          <a:noFill/>
        </p:spPr>
        <p:txBody>
          <a:bodyPr wrap="square" lIns="0" rIns="0" tIns="0" bIns="0" anchor="t">
            <a:noAutofit/>
          </a:bodyPr>
          <a:lstStyle/>
          <a:p>
            <a:pPr algn="ctr"/>
            <a:r>
              <a:rPr sz="1200" b="1" i="0">
                <a:solidFill>
                  <a:srgbClr val="000048"/>
                </a:solidFill>
                <a:latin typeface="Arial"/>
              </a:rPr>
              <a:t>Model call</a:t>
            </a:r>
          </a:p>
        </p:txBody>
      </p:sp>
      <p:cxnSp>
        <p:nvCxnSpPr>
          <p:cNvPr id="30" name="Connector (flow)"/>
          <p:cNvCxnSpPr/>
          <p:nvPr/>
        </p:nvCxnSpPr>
        <p:spPr>
          <a:xfrm>
            <a:off x="10158984" y="242316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296144" y="1828800"/>
            <a:ext cx="1261872"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200" b="1" i="0">
                <a:solidFill>
                  <a:srgbClr val="000048"/>
                </a:solidFill>
                <a:latin typeface="Arial"/>
              </a:rPr>
              <a:t>Response</a:t>
            </a:r>
          </a:p>
        </p:txBody>
      </p:sp>
      <p:cxnSp>
        <p:nvCxnSpPr>
          <p:cNvPr id="32" name="Connector (flow)"/>
          <p:cNvCxnSpPr/>
          <p:nvPr/>
        </p:nvCxnSpPr>
        <p:spPr>
          <a:xfrm>
            <a:off x="4059935" y="3017520"/>
            <a:ext cx="0" cy="4114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3" name="Connector (flow)"/>
          <p:cNvCxnSpPr/>
          <p:nvPr/>
        </p:nvCxnSpPr>
        <p:spPr>
          <a:xfrm flipH="1">
            <a:off x="2532888" y="3429000"/>
            <a:ext cx="1527047"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4" name="Connector (flow)"/>
          <p:cNvCxnSpPr/>
          <p:nvPr/>
        </p:nvCxnSpPr>
        <p:spPr>
          <a:xfrm flipV="1">
            <a:off x="2532888" y="3017520"/>
            <a:ext cx="0" cy="41148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2377440" y="3474720"/>
            <a:ext cx="2194560" cy="274320"/>
          </a:xfrm>
          <a:prstGeom prst="rect">
            <a:avLst/>
          </a:prstGeom>
          <a:noFill/>
        </p:spPr>
        <p:txBody>
          <a:bodyPr wrap="square" lIns="0" rIns="0" tIns="0" bIns="0" anchor="t">
            <a:noAutofit/>
          </a:bodyPr>
          <a:lstStyle/>
          <a:p>
            <a:pPr algn="ctr"/>
            <a:r>
              <a:rPr sz="1100" b="0" i="0">
                <a:solidFill>
                  <a:srgbClr val="000048"/>
                </a:solidFill>
                <a:latin typeface="Arial"/>
              </a:rPr>
              <a:t>repeat until sufficient</a:t>
            </a:r>
          </a:p>
        </p:txBody>
      </p:sp>
      <p:sp>
        <p:nvSpPr>
          <p:cNvPr id="36" name="Rounded Rectangle 35"/>
          <p:cNvSpPr/>
          <p:nvPr/>
        </p:nvSpPr>
        <p:spPr>
          <a:xfrm>
            <a:off x="185623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Iteration and time limit</a:t>
            </a:r>
          </a:p>
        </p:txBody>
      </p:sp>
      <p:cxnSp>
        <p:nvCxnSpPr>
          <p:cNvPr id="37" name="Connector (control)"/>
          <p:cNvCxnSpPr/>
          <p:nvPr/>
        </p:nvCxnSpPr>
        <p:spPr>
          <a:xfrm flipV="1">
            <a:off x="254203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8" name="Rounded Rectangle 37"/>
          <p:cNvSpPr/>
          <p:nvPr/>
        </p:nvSpPr>
        <p:spPr>
          <a:xfrm>
            <a:off x="3255264"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Tool allow-list</a:t>
            </a:r>
          </a:p>
        </p:txBody>
      </p:sp>
      <p:cxnSp>
        <p:nvCxnSpPr>
          <p:cNvPr id="39" name="Connector (control)"/>
          <p:cNvCxnSpPr/>
          <p:nvPr/>
        </p:nvCxnSpPr>
        <p:spPr>
          <a:xfrm flipV="1">
            <a:off x="3941063"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6053328"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Checkpoint deny-state check</a:t>
            </a:r>
          </a:p>
        </p:txBody>
      </p:sp>
      <p:cxnSp>
        <p:nvCxnSpPr>
          <p:cNvPr id="41" name="Connector (control)"/>
          <p:cNvCxnSpPr/>
          <p:nvPr/>
        </p:nvCxnSpPr>
        <p:spPr>
          <a:xfrm flipV="1">
            <a:off x="6739128"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2" name="Rounded Rectangle 41"/>
          <p:cNvSpPr/>
          <p:nvPr/>
        </p:nvSpPr>
        <p:spPr>
          <a:xfrm>
            <a:off x="8851392" y="3977639"/>
            <a:ext cx="1371600" cy="685800"/>
          </a:xfrm>
          <a:prstGeom prst="roundRect">
            <a:avLst>
              <a:gd name="adj" fmla="val 10666"/>
            </a:avLst>
          </a:prstGeom>
          <a:solidFill>
            <a:srgbClr val="EFEFFC"/>
          </a:solidFill>
          <a:ln w="12700">
            <a:solidFill>
              <a:srgbClr val="7373D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wrap="square">
            <a:noAutofit/>
          </a:bodyPr>
          <a:lstStyle/>
          <a:p>
            <a:pPr algn="ctr"/>
            <a:r>
              <a:rPr sz="1100" b="1" i="0">
                <a:solidFill>
                  <a:srgbClr val="000048"/>
                </a:solidFill>
                <a:latin typeface="Arial"/>
              </a:rPr>
              <a:t>Token budget</a:t>
            </a:r>
          </a:p>
        </p:txBody>
      </p:sp>
      <p:cxnSp>
        <p:nvCxnSpPr>
          <p:cNvPr id="43" name="Connector (control)"/>
          <p:cNvCxnSpPr/>
          <p:nvPr/>
        </p:nvCxnSpPr>
        <p:spPr>
          <a:xfrm flipV="1">
            <a:off x="9537192" y="3035808"/>
            <a:ext cx="0" cy="941831"/>
          </a:xfrm>
          <a:prstGeom prst="line">
            <a:avLst/>
          </a:prstGeom>
          <a:ln w="22225">
            <a:solidFill>
              <a:srgbClr val="6363C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48640" y="4892040"/>
            <a:ext cx="11064240" cy="731520"/>
          </a:xfrm>
          <a:prstGeom prst="rect">
            <a:avLst/>
          </a:prstGeom>
          <a:noFill/>
        </p:spPr>
        <p:txBody>
          <a:bodyPr wrap="square" lIns="0" rIns="0" tIns="0" bIns="0" anchor="t">
            <a:noAutofit/>
          </a:bodyPr>
          <a:lstStyle/>
          <a:p>
            <a:pPr algn="l"/>
            <a:r>
              <a:rPr sz="1600" b="0" i="0">
                <a:solidFill>
                  <a:srgbClr val="1E1E2E"/>
                </a:solidFill>
                <a:latin typeface="Arial"/>
              </a:rPr>
              <a:t>Each loop multiplies model and tool calls. One user question can drive many backend calls, so budgets and stop checks belong at every checkpoint.</a:t>
            </a:r>
          </a:p>
        </p:txBody>
      </p:sp>
      <p:sp>
        <p:nvSpPr>
          <p:cNvPr id="45" name="TextBox 44"/>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from Microsoft source; control points are proposed additions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Multi-agent workload: owners and stop points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A11</a:t>
            </a:r>
          </a:p>
        </p:txBody>
      </p:sp>
      <p:sp>
        <p:nvSpPr>
          <p:cNvPr id="5" name="Status chip: ADAPTED FROM SOURCE"/>
          <p:cNvSpPr/>
          <p:nvPr/>
        </p:nvSpPr>
        <p:spPr>
          <a:xfrm>
            <a:off x="1996440" y="274320"/>
            <a:ext cx="19151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ADAPTED FROM SOURCE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1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27</a:t>
            </a:r>
          </a:p>
        </p:txBody>
      </p:sp>
      <p:sp>
        <p:nvSpPr>
          <p:cNvPr id="9" name="Rounded Rectangle 8"/>
          <p:cNvSpPr/>
          <p:nvPr/>
        </p:nvSpPr>
        <p:spPr>
          <a:xfrm>
            <a:off x="548640" y="155448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0" name="Azure icon: App Services" descr="Official Azure icon: App Service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280160" y="1627632"/>
            <a:ext cx="457200" cy="457200"/>
          </a:xfrm>
          <a:prstGeom prst="rect">
            <a:avLst/>
          </a:prstGeom>
        </p:spPr>
      </p:pic>
      <p:sp>
        <p:nvSpPr>
          <p:cNvPr id="11" name="TextBox 10"/>
          <p:cNvSpPr txBox="1"/>
          <p:nvPr/>
        </p:nvSpPr>
        <p:spPr>
          <a:xfrm>
            <a:off x="585216" y="2121408"/>
            <a:ext cx="1847088" cy="512064"/>
          </a:xfrm>
          <a:prstGeom prst="rect">
            <a:avLst/>
          </a:prstGeom>
          <a:noFill/>
        </p:spPr>
        <p:txBody>
          <a:bodyPr wrap="square" lIns="0" rIns="0" tIns="0" bIns="0" anchor="t">
            <a:noAutofit/>
          </a:bodyPr>
          <a:lstStyle/>
          <a:p>
            <a:pPr algn="ctr"/>
            <a:r>
              <a:rPr sz="1300" b="1" i="0">
                <a:solidFill>
                  <a:srgbClr val="000048"/>
                </a:solidFill>
                <a:latin typeface="Arial"/>
              </a:rPr>
              <a:t>Web front end</a:t>
            </a:r>
          </a:p>
          <a:p>
            <a:pPr algn="ctr"/>
            <a:r>
              <a:rPr sz="1100" b="0" i="0">
                <a:solidFill>
                  <a:srgbClr val="53565A"/>
                </a:solidFill>
                <a:latin typeface="Arial"/>
              </a:rPr>
              <a:t>App Service</a:t>
            </a:r>
          </a:p>
        </p:txBody>
      </p:sp>
      <p:sp>
        <p:nvSpPr>
          <p:cNvPr id="12" name="Rounded Rectangle 11"/>
          <p:cNvSpPr/>
          <p:nvPr/>
        </p:nvSpPr>
        <p:spPr>
          <a:xfrm>
            <a:off x="3108960" y="1554480"/>
            <a:ext cx="2286000" cy="1097280"/>
          </a:xfrm>
          <a:prstGeom prst="roundRect">
            <a:avLst>
              <a:gd name="adj" fmla="val 6666"/>
            </a:avLst>
          </a:prstGeom>
          <a:solidFill>
            <a:srgbClr val="FFFFFF"/>
          </a:solidFill>
          <a:ln w="12700">
            <a:solidFill>
              <a:srgbClr val="000048"/>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3" name="Azure icon: Container Apps Environments" descr="Official Azure icon: Container Apps Environments"/>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023360" y="1627632"/>
            <a:ext cx="457200" cy="457200"/>
          </a:xfrm>
          <a:prstGeom prst="rect">
            <a:avLst/>
          </a:prstGeom>
        </p:spPr>
      </p:pic>
      <p:sp>
        <p:nvSpPr>
          <p:cNvPr id="14" name="TextBox 13"/>
          <p:cNvSpPr txBox="1"/>
          <p:nvPr/>
        </p:nvSpPr>
        <p:spPr>
          <a:xfrm>
            <a:off x="3145536" y="2121408"/>
            <a:ext cx="2212848" cy="512064"/>
          </a:xfrm>
          <a:prstGeom prst="rect">
            <a:avLst/>
          </a:prstGeom>
          <a:noFill/>
        </p:spPr>
        <p:txBody>
          <a:bodyPr wrap="square" lIns="0" rIns="0" tIns="0" bIns="0" anchor="t">
            <a:noAutofit/>
          </a:bodyPr>
          <a:lstStyle/>
          <a:p>
            <a:pPr algn="ctr"/>
            <a:r>
              <a:rPr sz="1300" b="1" i="0">
                <a:solidFill>
                  <a:srgbClr val="000048"/>
                </a:solidFill>
                <a:latin typeface="Arial"/>
              </a:rPr>
              <a:t>Agent orchestration API</a:t>
            </a:r>
          </a:p>
          <a:p>
            <a:pPr algn="ctr"/>
            <a:r>
              <a:rPr sz="1100" b="0" i="0">
                <a:solidFill>
                  <a:srgbClr val="53565A"/>
                </a:solidFill>
                <a:latin typeface="Arial"/>
              </a:rPr>
              <a:t>Container Apps</a:t>
            </a:r>
          </a:p>
        </p:txBody>
      </p:sp>
      <p:sp>
        <p:nvSpPr>
          <p:cNvPr id="15" name="Rounded Rectangle 14"/>
          <p:cNvSpPr/>
          <p:nvPr/>
        </p:nvSpPr>
        <p:spPr>
          <a:xfrm>
            <a:off x="6035040" y="1554480"/>
            <a:ext cx="2103120" cy="1188720"/>
          </a:xfrm>
          <a:prstGeom prst="roundRect">
            <a:avLst>
              <a:gd name="adj" fmla="val 6153"/>
            </a:avLst>
          </a:prstGeom>
          <a:solidFill>
            <a:srgbClr val="FFFFFF"/>
          </a:solidFill>
          <a:ln w="12700">
            <a:solidFill>
              <a:srgbClr val="8A8A8A"/>
            </a:solidFill>
            <a:prstDash val="dash"/>
          </a:ln>
          <a:effectLst/>
        </p:spPr>
        <p:style>
          <a:lnRef idx="1">
            <a:schemeClr val="accent1"/>
          </a:lnRef>
          <a:fillRef idx="3">
            <a:schemeClr val="accent1"/>
          </a:fillRef>
          <a:effectRef idx="2">
            <a:schemeClr val="accent1"/>
          </a:effectRef>
          <a:fontRef idx="minor">
            <a:schemeClr val="lt1"/>
          </a:fontRef>
        </p:style>
        <p:txBody>
          <a:bodyPr rtlCol="0" anchor="ctr" lIns="73152" rIns="73152" tIns="73152" bIns="73152" wrap="square">
            <a:noAutofit/>
          </a:bodyPr>
          <a:lstStyle/>
          <a:p>
            <a:pPr algn="ctr"/>
            <a:r>
              <a:rPr sz="1300" b="1" i="0">
                <a:solidFill>
                  <a:srgbClr val="000048"/>
                </a:solidFill>
                <a:latin typeface="Arial"/>
              </a:rPr>
              <a:t>Knowledge sources and tools</a:t>
            </a:r>
          </a:p>
          <a:p>
            <a:pPr algn="ctr"/>
            <a:r>
              <a:rPr sz="1100" b="0" i="0">
                <a:solidFill>
                  <a:srgbClr val="53565A"/>
                </a:solidFill>
                <a:latin typeface="Arial"/>
              </a:rPr>
              <a:t>per workload</a:t>
            </a:r>
          </a:p>
        </p:txBody>
      </p:sp>
      <p:sp>
        <p:nvSpPr>
          <p:cNvPr id="16" name="Rounded Rectangle 15"/>
          <p:cNvSpPr/>
          <p:nvPr/>
        </p:nvSpPr>
        <p:spPr>
          <a:xfrm>
            <a:off x="3108960" y="3337560"/>
            <a:ext cx="228600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7" name="Azure icon: Foundry Models" descr="Official Azure icon: Foundry Model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023360" y="3410712"/>
            <a:ext cx="457200" cy="457200"/>
          </a:xfrm>
          <a:prstGeom prst="rect">
            <a:avLst/>
          </a:prstGeom>
        </p:spPr>
      </p:pic>
      <p:sp>
        <p:nvSpPr>
          <p:cNvPr id="18" name="TextBox 17"/>
          <p:cNvSpPr txBox="1"/>
          <p:nvPr/>
        </p:nvSpPr>
        <p:spPr>
          <a:xfrm>
            <a:off x="3145536" y="3904488"/>
            <a:ext cx="2212848" cy="512064"/>
          </a:xfrm>
          <a:prstGeom prst="rect">
            <a:avLst/>
          </a:prstGeom>
          <a:noFill/>
        </p:spPr>
        <p:txBody>
          <a:bodyPr wrap="square" lIns="0" rIns="0" tIns="0" bIns="0" anchor="t">
            <a:noAutofit/>
          </a:bodyPr>
          <a:lstStyle/>
          <a:p>
            <a:pPr algn="ctr"/>
            <a:r>
              <a:rPr sz="1300" b="1" i="0">
                <a:solidFill>
                  <a:srgbClr val="000048"/>
                </a:solidFill>
                <a:latin typeface="Arial"/>
              </a:rPr>
              <a:t>Model deployment</a:t>
            </a:r>
          </a:p>
          <a:p>
            <a:pPr algn="ctr"/>
            <a:r>
              <a:rPr sz="1100" b="0" i="0">
                <a:solidFill>
                  <a:srgbClr val="53565A"/>
                </a:solidFill>
                <a:latin typeface="Arial"/>
              </a:rPr>
              <a:t>Microsoft Foundry</a:t>
            </a:r>
          </a:p>
        </p:txBody>
      </p:sp>
      <p:sp>
        <p:nvSpPr>
          <p:cNvPr id="19" name="Rounded Rectangle 18"/>
          <p:cNvSpPr/>
          <p:nvPr/>
        </p:nvSpPr>
        <p:spPr>
          <a:xfrm>
            <a:off x="6035040" y="3337560"/>
            <a:ext cx="210312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0" name="Azure icon: Azure Cosmos DB" descr="Official Azure icon: Azure Cosmos DB"/>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858000" y="3410712"/>
            <a:ext cx="457200" cy="457200"/>
          </a:xfrm>
          <a:prstGeom prst="rect">
            <a:avLst/>
          </a:prstGeom>
        </p:spPr>
      </p:pic>
      <p:sp>
        <p:nvSpPr>
          <p:cNvPr id="21" name="TextBox 20"/>
          <p:cNvSpPr txBox="1"/>
          <p:nvPr/>
        </p:nvSpPr>
        <p:spPr>
          <a:xfrm>
            <a:off x="6071616" y="3904488"/>
            <a:ext cx="2029967" cy="512064"/>
          </a:xfrm>
          <a:prstGeom prst="rect">
            <a:avLst/>
          </a:prstGeom>
          <a:noFill/>
        </p:spPr>
        <p:txBody>
          <a:bodyPr wrap="square" lIns="0" rIns="0" tIns="0" bIns="0" anchor="t">
            <a:noAutofit/>
          </a:bodyPr>
          <a:lstStyle/>
          <a:p>
            <a:pPr algn="ctr"/>
            <a:r>
              <a:rPr sz="1300" b="1" i="0">
                <a:solidFill>
                  <a:srgbClr val="000048"/>
                </a:solidFill>
                <a:latin typeface="Arial"/>
              </a:rPr>
              <a:t>Plans and state</a:t>
            </a:r>
          </a:p>
          <a:p>
            <a:pPr algn="ctr"/>
            <a:r>
              <a:rPr sz="1100" b="0" i="0">
                <a:solidFill>
                  <a:srgbClr val="53565A"/>
                </a:solidFill>
                <a:latin typeface="Arial"/>
              </a:rPr>
              <a:t>Azure Cosmos DB</a:t>
            </a:r>
          </a:p>
        </p:txBody>
      </p:sp>
      <p:sp>
        <p:nvSpPr>
          <p:cNvPr id="22" name="Rounded Rectangle 21"/>
          <p:cNvSpPr/>
          <p:nvPr/>
        </p:nvSpPr>
        <p:spPr>
          <a:xfrm>
            <a:off x="548640" y="3337560"/>
            <a:ext cx="1920240" cy="1097280"/>
          </a:xfrm>
          <a:prstGeom prst="roundRect">
            <a:avLst>
              <a:gd name="adj" fmla="val 6666"/>
            </a:avLst>
          </a:prstGeom>
          <a:solidFill>
            <a:srgbClr val="FFFFFF"/>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23" name="Azure icon: Container Registries" descr="Official Azure icon: Container Registries"/>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80160" y="3410712"/>
            <a:ext cx="457200" cy="457200"/>
          </a:xfrm>
          <a:prstGeom prst="rect">
            <a:avLst/>
          </a:prstGeom>
        </p:spPr>
      </p:pic>
      <p:sp>
        <p:nvSpPr>
          <p:cNvPr id="24" name="TextBox 23"/>
          <p:cNvSpPr txBox="1"/>
          <p:nvPr/>
        </p:nvSpPr>
        <p:spPr>
          <a:xfrm>
            <a:off x="585216" y="3904488"/>
            <a:ext cx="1847088" cy="512064"/>
          </a:xfrm>
          <a:prstGeom prst="rect">
            <a:avLst/>
          </a:prstGeom>
          <a:noFill/>
        </p:spPr>
        <p:txBody>
          <a:bodyPr wrap="square" lIns="0" rIns="0" tIns="0" bIns="0" anchor="t">
            <a:noAutofit/>
          </a:bodyPr>
          <a:lstStyle/>
          <a:p>
            <a:pPr algn="ctr"/>
            <a:r>
              <a:rPr sz="1300" b="1" i="0">
                <a:solidFill>
                  <a:srgbClr val="000048"/>
                </a:solidFill>
                <a:latin typeface="Arial"/>
              </a:rPr>
              <a:t>Images</a:t>
            </a:r>
          </a:p>
          <a:p>
            <a:pPr algn="ctr"/>
            <a:r>
              <a:rPr sz="1100" b="0" i="0">
                <a:solidFill>
                  <a:srgbClr val="53565A"/>
                </a:solidFill>
                <a:latin typeface="Arial"/>
              </a:rPr>
              <a:t>Container Registry</a:t>
            </a:r>
          </a:p>
        </p:txBody>
      </p:sp>
      <p:cxnSp>
        <p:nvCxnSpPr>
          <p:cNvPr id="25" name="Connector (flow)"/>
          <p:cNvCxnSpPr/>
          <p:nvPr/>
        </p:nvCxnSpPr>
        <p:spPr>
          <a:xfrm>
            <a:off x="246888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flow)"/>
          <p:cNvCxnSpPr/>
          <p:nvPr/>
        </p:nvCxnSpPr>
        <p:spPr>
          <a:xfrm>
            <a:off x="5394960" y="2103120"/>
            <a:ext cx="64008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flow)"/>
          <p:cNvCxnSpPr/>
          <p:nvPr/>
        </p:nvCxnSpPr>
        <p:spPr>
          <a:xfrm>
            <a:off x="4251960" y="2743200"/>
            <a:ext cx="0" cy="59436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flow)"/>
          <p:cNvCxnSpPr/>
          <p:nvPr/>
        </p:nvCxnSpPr>
        <p:spPr>
          <a:xfrm>
            <a:off x="5394960" y="2514600"/>
            <a:ext cx="365760" cy="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29" name="Connector (flow)"/>
          <p:cNvCxnSpPr/>
          <p:nvPr/>
        </p:nvCxnSpPr>
        <p:spPr>
          <a:xfrm>
            <a:off x="5760720" y="2514600"/>
            <a:ext cx="0" cy="1325880"/>
          </a:xfrm>
          <a:prstGeom prst="line">
            <a:avLst/>
          </a:prstGeom>
          <a:ln w="22225">
            <a:solidFill>
              <a:srgbClr val="000048"/>
            </a:solidFill>
          </a:ln>
        </p:spPr>
        <p:style>
          <a:lnRef idx="2">
            <a:schemeClr val="accent1"/>
          </a:lnRef>
          <a:fillRef idx="0">
            <a:schemeClr val="accent1"/>
          </a:fillRef>
          <a:effectRef idx="1">
            <a:schemeClr val="accent1"/>
          </a:effectRef>
          <a:fontRef idx="minor">
            <a:schemeClr val="tx1"/>
          </a:fontRef>
        </p:style>
      </p:cxnSp>
      <p:cxnSp>
        <p:nvCxnSpPr>
          <p:cNvPr id="30" name="Connector (flow)"/>
          <p:cNvCxnSpPr/>
          <p:nvPr/>
        </p:nvCxnSpPr>
        <p:spPr>
          <a:xfrm>
            <a:off x="5760720" y="3840480"/>
            <a:ext cx="27432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graphicFrame>
        <p:nvGraphicFramePr>
          <p:cNvPr id="31" name="Table"/>
          <p:cNvGraphicFramePr>
            <a:graphicFrameLocks noGrp="1"/>
          </p:cNvGraphicFramePr>
          <p:nvPr/>
        </p:nvGraphicFramePr>
        <p:xfrm>
          <a:off x="8503920" y="1554480"/>
          <a:ext cx="3136392" cy="2392680"/>
        </p:xfrm>
        <a:graphic>
          <a:graphicData uri="http://schemas.openxmlformats.org/drawingml/2006/table">
            <a:tbl>
              <a:tblPr firstRow="1" bandRow="0">
                <a:tableStyleId>{5C22544A-7EE6-4342-B048-85BDC9FD1C3A}</a:tableStyleId>
              </a:tblPr>
              <a:tblGrid>
                <a:gridCol w="1143000"/>
                <a:gridCol w="914400"/>
                <a:gridCol w="1078992"/>
              </a:tblGrid>
              <a:tr h="259080">
                <a:tc>
                  <a:txBody>
                    <a:bodyPr wrap="square" anchor="ctr">
                      <a:noAutofit/>
                    </a:bodyPr>
                    <a:lstStyle/>
                    <a:p>
                      <a:pPr algn="l"/>
                      <a:r>
                        <a:rPr sz="1100" b="1" i="0">
                          <a:solidFill>
                            <a:srgbClr val="FFFFFF"/>
                          </a:solidFill>
                          <a:latin typeface="Arial"/>
                        </a:rPr>
                        <a:t>Component</a:t>
                      </a:r>
                    </a:p>
                  </a:txBody>
                  <a:tcPr marL="73152" marR="73152" marT="36576" marB="36576" anchor="ctr">
                    <a:solidFill>
                      <a:srgbClr val="000048"/>
                    </a:solidFill>
                  </a:tcPr>
                </a:tc>
                <a:tc>
                  <a:txBody>
                    <a:bodyPr wrap="square" anchor="ctr">
                      <a:noAutofit/>
                    </a:bodyPr>
                    <a:lstStyle/>
                    <a:p>
                      <a:pPr algn="l"/>
                      <a:r>
                        <a:rPr sz="11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l"/>
                      <a:r>
                        <a:rPr sz="1100" b="1" i="0">
                          <a:solidFill>
                            <a:srgbClr val="FFFFFF"/>
                          </a:solidFill>
                          <a:latin typeface="Arial"/>
                        </a:rPr>
                        <a:t>Stop action</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Front end</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AI / app team</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Block at ingress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Orchestration API</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Scale to zero or isolate</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Tools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Tool owners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Deny at tool side</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Model</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AI</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Deny at gateway</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State</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AI with Data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Freeze writes</a:t>
                      </a:r>
                    </a:p>
                  </a:txBody>
                  <a:tcPr marL="73152" marR="73152" marT="36576" marB="36576" anchor="ctr">
                    <a:solidFill>
                      <a:srgbClr val="FFFFFF"/>
                    </a:solidFill>
                  </a:tcPr>
                </a:tc>
              </a:tr>
            </a:tbl>
          </a:graphicData>
        </a:graphic>
      </p:graphicFrame>
      <p:sp>
        <p:nvSpPr>
          <p:cNvPr id="32" name="TextBox 31"/>
          <p:cNvSpPr txBox="1"/>
          <p:nvPr/>
        </p:nvSpPr>
        <p:spPr>
          <a:xfrm>
            <a:off x="548640" y="5852160"/>
            <a:ext cx="11064240" cy="256032"/>
          </a:xfrm>
          <a:prstGeom prst="rect">
            <a:avLst/>
          </a:prstGeom>
          <a:noFill/>
        </p:spPr>
        <p:txBody>
          <a:bodyPr wrap="square" lIns="0" rIns="0" tIns="0" bIns="0" anchor="t">
            <a:noAutofit/>
          </a:bodyPr>
          <a:lstStyle/>
          <a:p>
            <a:pPr algn="l"/>
            <a:r>
              <a:rPr sz="1100" b="1" i="0">
                <a:solidFill>
                  <a:srgbClr val="7373D8"/>
                </a:solidFill>
                <a:latin typeface="Arial"/>
              </a:rPr>
              <a:t>Adapted from Microsoft source; owners and stop actions are proposed</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Monitor behaviour as well as technical success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A12</a:t>
            </a:r>
          </a:p>
        </p:txBody>
      </p:sp>
      <p:sp>
        <p:nvSpPr>
          <p:cNvPr id="5" name="TextBox 4"/>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6" name="IndexLink">
            <a:hlinkClick action="ppaction://hlinksldjump" r:id="rId10"/>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7" name="TextBox 6"/>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28</a:t>
            </a:r>
          </a:p>
        </p:txBody>
      </p:sp>
      <p:sp>
        <p:nvSpPr>
          <p:cNvPr id="8" name="Rounded Rectangle 7"/>
          <p:cNvSpPr/>
          <p:nvPr/>
        </p:nvSpPr>
        <p:spPr>
          <a:xfrm>
            <a:off x="548640"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9" name="Azure icon: Application Insights" descr="Official Azure icon: Application Insights"/>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31520" y="1554480"/>
            <a:ext cx="502920" cy="502920"/>
          </a:xfrm>
          <a:prstGeom prst="rect">
            <a:avLst/>
          </a:prstGeom>
        </p:spPr>
      </p:pic>
      <p:sp>
        <p:nvSpPr>
          <p:cNvPr id="10" name="TextBox 9"/>
          <p:cNvSpPr txBox="1"/>
          <p:nvPr/>
        </p:nvSpPr>
        <p:spPr>
          <a:xfrm>
            <a:off x="137160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Operations</a:t>
            </a:r>
          </a:p>
        </p:txBody>
      </p:sp>
      <p:sp>
        <p:nvSpPr>
          <p:cNvPr id="11" name="TextBox 10"/>
          <p:cNvSpPr txBox="1"/>
          <p:nvPr/>
        </p:nvSpPr>
        <p:spPr>
          <a:xfrm>
            <a:off x="731520"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Errors and latency</a:t>
            </a:r>
          </a:p>
          <a:p>
            <a:pPr algn="l" marL="201168" indent="-201168">
              <a:spcAft>
                <a:spcPts val="800"/>
              </a:spcAft>
              <a:buFont typeface="Arial"/>
              <a:buChar char="•"/>
            </a:pPr>
            <a:r>
              <a:rPr sz="1700" b="0" i="0">
                <a:solidFill>
                  <a:srgbClr val="1E1E2E"/>
                </a:solidFill>
                <a:latin typeface="Arial"/>
              </a:rPr>
              <a:t>Tool failures</a:t>
            </a:r>
          </a:p>
          <a:p>
            <a:pPr algn="l" marL="201168" indent="-201168">
              <a:spcAft>
                <a:spcPts val="800"/>
              </a:spcAft>
              <a:buFont typeface="Arial"/>
              <a:buChar char="•"/>
            </a:pPr>
            <a:r>
              <a:rPr sz="1700" b="0" i="0">
                <a:solidFill>
                  <a:srgbClr val="1E1E2E"/>
                </a:solidFill>
                <a:latin typeface="Arial"/>
              </a:rPr>
              <a:t>Telemetry health</a:t>
            </a:r>
          </a:p>
        </p:txBody>
      </p:sp>
      <p:sp>
        <p:nvSpPr>
          <p:cNvPr id="12" name="TextBox 11"/>
          <p:cNvSpPr txBox="1"/>
          <p:nvPr/>
        </p:nvSpPr>
        <p:spPr>
          <a:xfrm>
            <a:off x="731520"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CIS Infra</a:t>
            </a:r>
          </a:p>
        </p:txBody>
      </p:sp>
      <p:sp>
        <p:nvSpPr>
          <p:cNvPr id="13" name="Rounded Rectangle 12"/>
          <p:cNvSpPr/>
          <p:nvPr/>
        </p:nvSpPr>
        <p:spPr>
          <a:xfrm>
            <a:off x="4297679"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4" name="Azure icon: Foundry Control Plane" descr="Official Azure icon: Foundry Control Plane"/>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480559" y="1554480"/>
            <a:ext cx="502920" cy="502920"/>
          </a:xfrm>
          <a:prstGeom prst="rect">
            <a:avLst/>
          </a:prstGeom>
        </p:spPr>
      </p:pic>
      <p:sp>
        <p:nvSpPr>
          <p:cNvPr id="15" name="TextBox 14"/>
          <p:cNvSpPr txBox="1"/>
          <p:nvPr/>
        </p:nvSpPr>
        <p:spPr>
          <a:xfrm>
            <a:off x="512064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Quality</a:t>
            </a:r>
          </a:p>
        </p:txBody>
      </p:sp>
      <p:sp>
        <p:nvSpPr>
          <p:cNvPr id="16" name="TextBox 15"/>
          <p:cNvSpPr txBox="1"/>
          <p:nvPr/>
        </p:nvSpPr>
        <p:spPr>
          <a:xfrm>
            <a:off x="4480559"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Task outcome</a:t>
            </a:r>
          </a:p>
          <a:p>
            <a:pPr algn="l" marL="201168" indent="-201168">
              <a:spcAft>
                <a:spcPts val="800"/>
              </a:spcAft>
              <a:buFont typeface="Arial"/>
              <a:buChar char="•"/>
            </a:pPr>
            <a:r>
              <a:rPr sz="1700" b="0" i="0">
                <a:solidFill>
                  <a:srgbClr val="1E1E2E"/>
                </a:solidFill>
                <a:latin typeface="Arial"/>
              </a:rPr>
              <a:t>Evaluation scores</a:t>
            </a:r>
          </a:p>
          <a:p>
            <a:pPr algn="l" marL="201168" indent="-201168">
              <a:spcAft>
                <a:spcPts val="800"/>
              </a:spcAft>
              <a:buFont typeface="Arial"/>
              <a:buChar char="•"/>
            </a:pPr>
            <a:r>
              <a:rPr sz="1700" b="0" i="0">
                <a:solidFill>
                  <a:srgbClr val="1E1E2E"/>
                </a:solidFill>
                <a:latin typeface="Arial"/>
              </a:rPr>
              <a:t>Escalation rate</a:t>
            </a:r>
          </a:p>
        </p:txBody>
      </p:sp>
      <p:sp>
        <p:nvSpPr>
          <p:cNvPr id="17" name="TextBox 16"/>
          <p:cNvSpPr txBox="1"/>
          <p:nvPr/>
        </p:nvSpPr>
        <p:spPr>
          <a:xfrm>
            <a:off x="4480559"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AI tower</a:t>
            </a:r>
          </a:p>
        </p:txBody>
      </p:sp>
      <p:sp>
        <p:nvSpPr>
          <p:cNvPr id="18" name="Rounded Rectangle 17"/>
          <p:cNvSpPr/>
          <p:nvPr/>
        </p:nvSpPr>
        <p:spPr>
          <a:xfrm>
            <a:off x="8046719" y="1371600"/>
            <a:ext cx="3593592" cy="4023360"/>
          </a:xfrm>
          <a:prstGeom prst="roundRect">
            <a:avLst>
              <a:gd name="adj" fmla="val 2035"/>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09728" rIns="109728" tIns="73152" bIns="73152"/>
          <a:lstStyle/>
          <a:p/>
        </p:txBody>
      </p:sp>
      <p:pic>
        <p:nvPicPr>
          <p:cNvPr id="19" name="Azure icon: Cost Analysis" descr="Official Azure icon: Cost Analysis"/>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229599" y="1554480"/>
            <a:ext cx="502920" cy="502920"/>
          </a:xfrm>
          <a:prstGeom prst="rect">
            <a:avLst/>
          </a:prstGeom>
        </p:spPr>
      </p:pic>
      <p:sp>
        <p:nvSpPr>
          <p:cNvPr id="20" name="TextBox 19"/>
          <p:cNvSpPr txBox="1"/>
          <p:nvPr/>
        </p:nvSpPr>
        <p:spPr>
          <a:xfrm>
            <a:off x="8869680" y="1627632"/>
            <a:ext cx="2651760" cy="411480"/>
          </a:xfrm>
          <a:prstGeom prst="rect">
            <a:avLst/>
          </a:prstGeom>
          <a:noFill/>
        </p:spPr>
        <p:txBody>
          <a:bodyPr wrap="square" lIns="0" rIns="0" tIns="0" bIns="0" anchor="t">
            <a:noAutofit/>
          </a:bodyPr>
          <a:lstStyle/>
          <a:p>
            <a:pPr algn="l"/>
            <a:r>
              <a:rPr sz="2100" b="1" i="0">
                <a:solidFill>
                  <a:srgbClr val="000048"/>
                </a:solidFill>
                <a:latin typeface="Arial"/>
              </a:rPr>
              <a:t>Economics</a:t>
            </a:r>
          </a:p>
        </p:txBody>
      </p:sp>
      <p:sp>
        <p:nvSpPr>
          <p:cNvPr id="21" name="TextBox 20"/>
          <p:cNvSpPr txBox="1"/>
          <p:nvPr/>
        </p:nvSpPr>
        <p:spPr>
          <a:xfrm>
            <a:off x="8229599" y="2286000"/>
            <a:ext cx="3291840" cy="2194560"/>
          </a:xfrm>
          <a:prstGeom prst="rect">
            <a:avLst/>
          </a:prstGeom>
          <a:noFill/>
        </p:spPr>
        <p:txBody>
          <a:bodyPr wrap="square" lIns="0" rIns="0" tIns="0" bIns="0" anchor="t">
            <a:noAutofit/>
          </a:bodyPr>
          <a:lstStyle/>
          <a:p>
            <a:pPr algn="l" marL="201168" indent="-201168">
              <a:spcAft>
                <a:spcPts val="800"/>
              </a:spcAft>
              <a:buFont typeface="Arial"/>
              <a:buChar char="•"/>
            </a:pPr>
            <a:r>
              <a:rPr sz="1700" b="0" i="0">
                <a:solidFill>
                  <a:srgbClr val="1E1E2E"/>
                </a:solidFill>
                <a:latin typeface="Arial"/>
              </a:rPr>
              <a:t>Tokens per task</a:t>
            </a:r>
          </a:p>
          <a:p>
            <a:pPr algn="l" marL="201168" indent="-201168">
              <a:spcAft>
                <a:spcPts val="800"/>
              </a:spcAft>
              <a:buFont typeface="Arial"/>
              <a:buChar char="•"/>
            </a:pPr>
            <a:r>
              <a:rPr sz="1700" b="0" i="0">
                <a:solidFill>
                  <a:srgbClr val="1E1E2E"/>
                </a:solidFill>
                <a:latin typeface="Arial"/>
              </a:rPr>
              <a:t>Cost per useful task</a:t>
            </a:r>
          </a:p>
          <a:p>
            <a:pPr algn="l" marL="201168" indent="-201168">
              <a:spcAft>
                <a:spcPts val="800"/>
              </a:spcAft>
              <a:buFont typeface="Arial"/>
              <a:buChar char="•"/>
            </a:pPr>
            <a:r>
              <a:rPr sz="1700" b="0" i="0">
                <a:solidFill>
                  <a:srgbClr val="1E1E2E"/>
                </a:solidFill>
                <a:latin typeface="Arial"/>
              </a:rPr>
              <a:t>Retry and loop amplification</a:t>
            </a:r>
          </a:p>
        </p:txBody>
      </p:sp>
      <p:sp>
        <p:nvSpPr>
          <p:cNvPr id="22" name="TextBox 21"/>
          <p:cNvSpPr txBox="1"/>
          <p:nvPr/>
        </p:nvSpPr>
        <p:spPr>
          <a:xfrm>
            <a:off x="8229599" y="4846320"/>
            <a:ext cx="3291840" cy="365760"/>
          </a:xfrm>
          <a:prstGeom prst="rect">
            <a:avLst/>
          </a:prstGeom>
          <a:noFill/>
        </p:spPr>
        <p:txBody>
          <a:bodyPr wrap="square" lIns="0" rIns="0" tIns="0" bIns="0" anchor="t">
            <a:noAutofit/>
          </a:bodyPr>
          <a:lstStyle/>
          <a:p>
            <a:pPr algn="l"/>
            <a:r>
              <a:rPr sz="1500" b="1" i="0">
                <a:solidFill>
                  <a:srgbClr val="2F78C4"/>
                </a:solidFill>
                <a:latin typeface="Arial"/>
              </a:rPr>
              <a:t>Owner: </a:t>
            </a:r>
            <a:r>
              <a:rPr sz="1500" b="0" i="0">
                <a:solidFill>
                  <a:srgbClr val="1E1E2E"/>
                </a:solidFill>
                <a:latin typeface="Arial"/>
              </a:rPr>
              <a:t>CIS Infra with AI</a:t>
            </a:r>
          </a:p>
        </p:txBody>
      </p:sp>
      <p:sp>
        <p:nvSpPr>
          <p:cNvPr id="23" name="Rounded Rectangle 22"/>
          <p:cNvSpPr/>
          <p:nvPr/>
        </p:nvSpPr>
        <p:spPr>
          <a:xfrm>
            <a:off x="548640" y="5577840"/>
            <a:ext cx="11091672" cy="548640"/>
          </a:xfrm>
          <a:prstGeom prst="roundRect">
            <a:avLst>
              <a:gd name="adj" fmla="val 13333"/>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Quality scoring needs approved test data and evaluators. It is not automatic proof of safety.</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Containment runbook sequence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A13</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29</a:t>
            </a:r>
          </a:p>
        </p:txBody>
      </p:sp>
      <p:sp>
        <p:nvSpPr>
          <p:cNvPr id="9" name="Rounded Rectangle 8"/>
          <p:cNvSpPr/>
          <p:nvPr/>
        </p:nvSpPr>
        <p:spPr>
          <a:xfrm>
            <a:off x="54864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1  Detect</a:t>
            </a:r>
          </a:p>
        </p:txBody>
      </p:sp>
      <p:sp>
        <p:nvSpPr>
          <p:cNvPr id="10" name="TextBox 9"/>
          <p:cNvSpPr txBox="1"/>
          <p:nvPr/>
        </p:nvSpPr>
        <p:spPr>
          <a:xfrm>
            <a:off x="54864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Alert or report names agent ID and version</a:t>
            </a:r>
          </a:p>
        </p:txBody>
      </p:sp>
      <p:cxnSp>
        <p:nvCxnSpPr>
          <p:cNvPr id="11" name="Connector (flow)"/>
          <p:cNvCxnSpPr/>
          <p:nvPr/>
        </p:nvCxnSpPr>
        <p:spPr>
          <a:xfrm>
            <a:off x="2286000" y="178308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42316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2  Triage</a:t>
            </a:r>
          </a:p>
        </p:txBody>
      </p:sp>
      <p:sp>
        <p:nvSpPr>
          <p:cNvPr id="13" name="TextBox 12"/>
          <p:cNvSpPr txBox="1"/>
          <p:nvPr/>
        </p:nvSpPr>
        <p:spPr>
          <a:xfrm>
            <a:off x="242316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Responder confirms scope and risk class</a:t>
            </a:r>
          </a:p>
        </p:txBody>
      </p:sp>
      <p:cxnSp>
        <p:nvCxnSpPr>
          <p:cNvPr id="14" name="Connector (flow)"/>
          <p:cNvCxnSpPr/>
          <p:nvPr/>
        </p:nvCxnSpPr>
        <p:spPr>
          <a:xfrm>
            <a:off x="416052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767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3  Quarantine</a:t>
            </a:r>
          </a:p>
        </p:txBody>
      </p:sp>
      <p:sp>
        <p:nvSpPr>
          <p:cNvPr id="16" name="TextBox 15"/>
          <p:cNvSpPr txBox="1"/>
          <p:nvPr/>
        </p:nvSpPr>
        <p:spPr>
          <a:xfrm>
            <a:off x="429767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Write state; block, cancel, deny</a:t>
            </a:r>
          </a:p>
        </p:txBody>
      </p:sp>
      <p:cxnSp>
        <p:nvCxnSpPr>
          <p:cNvPr id="17" name="Connector (flow)"/>
          <p:cNvCxnSpPr/>
          <p:nvPr/>
        </p:nvCxnSpPr>
        <p:spPr>
          <a:xfrm>
            <a:off x="603504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7219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4  Verify</a:t>
            </a:r>
          </a:p>
        </p:txBody>
      </p:sp>
      <p:sp>
        <p:nvSpPr>
          <p:cNvPr id="19" name="TextBox 18"/>
          <p:cNvSpPr txBox="1"/>
          <p:nvPr/>
        </p:nvSpPr>
        <p:spPr>
          <a:xfrm>
            <a:off x="617219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Traces show no new actions</a:t>
            </a:r>
          </a:p>
        </p:txBody>
      </p:sp>
      <p:cxnSp>
        <p:nvCxnSpPr>
          <p:cNvPr id="20" name="Connector (flow)"/>
          <p:cNvCxnSpPr/>
          <p:nvPr/>
        </p:nvCxnSpPr>
        <p:spPr>
          <a:xfrm>
            <a:off x="7909559" y="1783080"/>
            <a:ext cx="137160"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046719"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5  Preserve</a:t>
            </a:r>
          </a:p>
        </p:txBody>
      </p:sp>
      <p:sp>
        <p:nvSpPr>
          <p:cNvPr id="22" name="TextBox 21"/>
          <p:cNvSpPr txBox="1"/>
          <p:nvPr/>
        </p:nvSpPr>
        <p:spPr>
          <a:xfrm>
            <a:off x="8046719"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Evidence stored with retention</a:t>
            </a:r>
          </a:p>
        </p:txBody>
      </p:sp>
      <p:cxnSp>
        <p:nvCxnSpPr>
          <p:cNvPr id="23" name="Connector (flow)"/>
          <p:cNvCxnSpPr/>
          <p:nvPr/>
        </p:nvCxnSpPr>
        <p:spPr>
          <a:xfrm>
            <a:off x="9784080" y="1783080"/>
            <a:ext cx="137159"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921240" y="1463040"/>
            <a:ext cx="1737360" cy="640080"/>
          </a:xfrm>
          <a:prstGeom prst="roundRect">
            <a:avLst>
              <a:gd name="adj" fmla="val 11428"/>
            </a:avLst>
          </a:prstGeom>
          <a:solidFill>
            <a:srgbClr val="000048"/>
          </a:solidFill>
          <a:ln w="12700">
            <a:solidFill>
              <a:srgbClr val="D0D0CE"/>
            </a:solidFill>
          </a:ln>
          <a:effectLst/>
        </p:spPr>
        <p:style>
          <a:lnRef idx="1">
            <a:schemeClr val="accent1"/>
          </a:lnRef>
          <a:fillRef idx="3">
            <a:schemeClr val="accent1"/>
          </a:fillRef>
          <a:effectRef idx="2">
            <a:schemeClr val="accent1"/>
          </a:effectRef>
          <a:fontRef idx="minor">
            <a:schemeClr val="lt1"/>
          </a:fontRef>
        </p:style>
        <p:txBody>
          <a:bodyPr rtlCol="0" anchor="ctr" lIns="109728" rIns="109728" tIns="73152" bIns="73152" wrap="square">
            <a:noAutofit/>
          </a:bodyPr>
          <a:lstStyle/>
          <a:p>
            <a:pPr algn="l"/>
            <a:r>
              <a:rPr sz="1700" b="1" i="0">
                <a:solidFill>
                  <a:srgbClr val="FFFFFF"/>
                </a:solidFill>
                <a:latin typeface="Arial"/>
              </a:rPr>
              <a:t>6  Recover</a:t>
            </a:r>
          </a:p>
        </p:txBody>
      </p:sp>
      <p:sp>
        <p:nvSpPr>
          <p:cNvPr id="25" name="TextBox 24"/>
          <p:cNvSpPr txBox="1"/>
          <p:nvPr/>
        </p:nvSpPr>
        <p:spPr>
          <a:xfrm>
            <a:off x="9921240" y="2240280"/>
            <a:ext cx="1737360" cy="1463040"/>
          </a:xfrm>
          <a:prstGeom prst="rect">
            <a:avLst/>
          </a:prstGeom>
          <a:noFill/>
        </p:spPr>
        <p:txBody>
          <a:bodyPr wrap="square" lIns="0" rIns="0" tIns="0" bIns="0" anchor="t">
            <a:noAutofit/>
          </a:bodyPr>
          <a:lstStyle/>
          <a:p>
            <a:pPr algn="l"/>
            <a:r>
              <a:rPr sz="1500" b="0" i="0">
                <a:solidFill>
                  <a:srgbClr val="1E1E2E"/>
                </a:solidFill>
                <a:latin typeface="Arial"/>
              </a:rPr>
              <a:t>Root cause, approval, canary</a:t>
            </a:r>
          </a:p>
        </p:txBody>
      </p:sp>
      <p:graphicFrame>
        <p:nvGraphicFramePr>
          <p:cNvPr id="26" name="Table"/>
          <p:cNvGraphicFramePr>
            <a:graphicFrameLocks noGrp="1"/>
          </p:cNvGraphicFramePr>
          <p:nvPr/>
        </p:nvGraphicFramePr>
        <p:xfrm>
          <a:off x="548640" y="3749039"/>
          <a:ext cx="11091672" cy="1828800"/>
        </p:xfrm>
        <a:graphic>
          <a:graphicData uri="http://schemas.openxmlformats.org/drawingml/2006/table">
            <a:tbl>
              <a:tblPr firstRow="1" bandRow="0">
                <a:tableStyleId>{5C22544A-7EE6-4342-B048-85BDC9FD1C3A}</a:tableStyleId>
              </a:tblPr>
              <a:tblGrid>
                <a:gridCol w="4572000"/>
                <a:gridCol w="6519672"/>
              </a:tblGrid>
              <a:tr h="304800">
                <a:tc>
                  <a:txBody>
                    <a:bodyPr wrap="square" anchor="ctr">
                      <a:noAutofit/>
                    </a:bodyPr>
                    <a:lstStyle/>
                    <a:p>
                      <a:pPr algn="l"/>
                      <a:r>
                        <a:rPr sz="1400" b="1" i="0">
                          <a:solidFill>
                            <a:srgbClr val="FFFFFF"/>
                          </a:solidFill>
                          <a:latin typeface="Arial"/>
                        </a:rPr>
                        <a:t>Partial failure</a:t>
                      </a:r>
                    </a:p>
                  </a:txBody>
                  <a:tcPr marL="73152" marR="73152" marT="36576" marB="36576" anchor="ctr">
                    <a:solidFill>
                      <a:srgbClr val="000048"/>
                    </a:solidFill>
                  </a:tcPr>
                </a:tc>
                <a:tc>
                  <a:txBody>
                    <a:bodyPr wrap="square" anchor="ctr">
                      <a:noAutofit/>
                    </a:bodyPr>
                    <a:lstStyle/>
                    <a:p>
                      <a:pPr algn="l"/>
                      <a:r>
                        <a:rPr sz="1400" b="1" i="0">
                          <a:solidFill>
                            <a:srgbClr val="FFFFFF"/>
                          </a:solidFill>
                          <a:latin typeface="Arial"/>
                        </a:rPr>
                        <a:t>Required behaviour</a:t>
                      </a:r>
                    </a:p>
                  </a:txBody>
                  <a:tcPr marL="73152" marR="73152" marT="36576" marB="36576" anchor="ctr">
                    <a:solidFill>
                      <a:srgbClr val="000048"/>
                    </a:solidFill>
                  </a:tcPr>
                </a:tc>
              </a:tr>
              <a:tr h="304800">
                <a:tc>
                  <a:txBody>
                    <a:bodyPr wrap="square" anchor="ctr">
                      <a:noAutofit/>
                    </a:bodyPr>
                    <a:lstStyle/>
                    <a:p>
                      <a:pPr algn="l"/>
                      <a:r>
                        <a:rPr sz="1400" b="1" i="0">
                          <a:solidFill>
                            <a:srgbClr val="1E1E2E"/>
                          </a:solidFill>
                          <a:latin typeface="Arial"/>
                        </a:rPr>
                        <a:t>Proxy blocked, direct endpoint open</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Bypass denied by network and identity</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Worker continues after stop</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Checkpoint guard and tool denial</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Token revocation delayed</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Resource-side denial</a:t>
                      </a:r>
                    </a:p>
                  </a:txBody>
                  <a:tcPr marL="73152" marR="73152" marT="36576" marB="36576" anchor="ctr">
                    <a:solidFill>
                      <a:srgbClr val="FFFFFF"/>
                    </a:solidFill>
                  </a:tcPr>
                </a:tc>
              </a:tr>
              <a:tr h="304800">
                <a:tc>
                  <a:txBody>
                    <a:bodyPr wrap="square" anchor="ctr">
                      <a:noAutofit/>
                    </a:bodyPr>
                    <a:lstStyle/>
                    <a:p>
                      <a:pPr algn="l"/>
                      <a:r>
                        <a:rPr sz="1400" b="1" i="0">
                          <a:solidFill>
                            <a:srgbClr val="1E1E2E"/>
                          </a:solidFill>
                          <a:latin typeface="Arial"/>
                        </a:rPr>
                        <a:t>Monitoring unavailable</a:t>
                      </a:r>
                    </a:p>
                  </a:txBody>
                  <a:tcPr marL="73152" marR="73152" marT="36576" marB="36576" anchor="ctr">
                    <a:solidFill>
                      <a:srgbClr val="F5F5F2"/>
                    </a:solidFill>
                  </a:tcPr>
                </a:tc>
                <a:tc>
                  <a:txBody>
                    <a:bodyPr wrap="square" anchor="ctr">
                      <a:noAutofit/>
                    </a:bodyPr>
                    <a:lstStyle/>
                    <a:p>
                      <a:pPr algn="l"/>
                      <a:r>
                        <a:rPr sz="1400" b="0" i="0">
                          <a:solidFill>
                            <a:srgbClr val="1E1E2E"/>
                          </a:solidFill>
                          <a:latin typeface="Arial"/>
                        </a:rPr>
                        <a:t>Manual containment path</a:t>
                      </a:r>
                    </a:p>
                  </a:txBody>
                  <a:tcPr marL="73152" marR="73152" marT="36576" marB="36576" anchor="ctr">
                    <a:solidFill>
                      <a:srgbClr val="F5F5F2"/>
                    </a:solidFill>
                  </a:tcPr>
                </a:tc>
              </a:tr>
              <a:tr h="304800">
                <a:tc>
                  <a:txBody>
                    <a:bodyPr wrap="square" anchor="ctr">
                      <a:noAutofit/>
                    </a:bodyPr>
                    <a:lstStyle/>
                    <a:p>
                      <a:pPr algn="l"/>
                      <a:r>
                        <a:rPr sz="1400" b="1" i="0">
                          <a:solidFill>
                            <a:srgbClr val="1E1E2E"/>
                          </a:solidFill>
                          <a:latin typeface="Arial"/>
                        </a:rPr>
                        <a:t>Restart triggers retries</a:t>
                      </a:r>
                    </a:p>
                  </a:txBody>
                  <a:tcPr marL="73152" marR="73152" marT="36576" marB="36576" anchor="ctr">
                    <a:solidFill>
                      <a:srgbClr val="FFFFFF"/>
                    </a:solidFill>
                  </a:tcPr>
                </a:tc>
                <a:tc>
                  <a:txBody>
                    <a:bodyPr wrap="square" anchor="ctr">
                      <a:noAutofit/>
                    </a:bodyPr>
                    <a:lstStyle/>
                    <a:p>
                      <a:pPr algn="l"/>
                      <a:r>
                        <a:rPr sz="1400" b="0" i="0">
                          <a:solidFill>
                            <a:srgbClr val="1E1E2E"/>
                          </a:solidFill>
                          <a:latin typeface="Arial"/>
                        </a:rPr>
                        <a:t>Idempotency and queue handling</a:t>
                      </a:r>
                    </a:p>
                  </a:txBody>
                  <a:tcPr marL="73152" marR="73152" marT="36576" marB="36576"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gates and acceptance evidence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A14</a:t>
            </a:r>
          </a:p>
        </p:txBody>
      </p:sp>
      <p:sp>
        <p:nvSpPr>
          <p:cNvPr id="5" name="Status chip: PROPOSED"/>
          <p:cNvSpPr/>
          <p:nvPr/>
        </p:nvSpPr>
        <p:spPr>
          <a:xfrm>
            <a:off x="199644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30</a:t>
            </a:r>
          </a:p>
        </p:txBody>
      </p:sp>
      <p:graphicFrame>
        <p:nvGraphicFramePr>
          <p:cNvPr id="9" name="Table"/>
          <p:cNvGraphicFramePr>
            <a:graphicFrameLocks noGrp="1"/>
          </p:cNvGraphicFramePr>
          <p:nvPr/>
        </p:nvGraphicFramePr>
        <p:xfrm>
          <a:off x="548640" y="1371600"/>
          <a:ext cx="11091672" cy="2011680"/>
        </p:xfrm>
        <a:graphic>
          <a:graphicData uri="http://schemas.openxmlformats.org/drawingml/2006/table">
            <a:tbl>
              <a:tblPr firstRow="1" bandRow="0">
                <a:tableStyleId>{5C22544A-7EE6-4342-B048-85BDC9FD1C3A}</a:tableStyleId>
              </a:tblPr>
              <a:tblGrid>
                <a:gridCol w="2194560"/>
                <a:gridCol w="5943600"/>
                <a:gridCol w="2953512"/>
              </a:tblGrid>
              <a:tr h="335280">
                <a:tc>
                  <a:txBody>
                    <a:bodyPr wrap="square" anchor="ctr">
                      <a:noAutofit/>
                    </a:bodyPr>
                    <a:lstStyle/>
                    <a:p>
                      <a:pPr algn="l"/>
                      <a:r>
                        <a:rPr sz="1600" b="1" i="0">
                          <a:solidFill>
                            <a:srgbClr val="FFFFFF"/>
                          </a:solidFill>
                          <a:latin typeface="Arial"/>
                        </a:rPr>
                        <a:t>Gate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Pass evidence</a:t>
                      </a:r>
                    </a:p>
                  </a:txBody>
                  <a:tcPr marL="73152" marR="73152" marT="36576" marB="36576" anchor="ctr">
                    <a:solidFill>
                      <a:srgbClr val="000048"/>
                    </a:solidFill>
                  </a:tcPr>
                </a:tc>
                <a:tc>
                  <a:txBody>
                    <a:bodyPr wrap="square" anchor="ctr">
                      <a:noAutofit/>
                    </a:bodyPr>
                    <a:lstStyle/>
                    <a:p>
                      <a:pPr algn="l"/>
                      <a:r>
                        <a:rPr sz="1600" b="1" i="0">
                          <a:solidFill>
                            <a:srgbClr val="FFFFFF"/>
                          </a:solidFill>
                          <a:latin typeface="Arial"/>
                        </a:rPr>
                        <a:t>Approver</a:t>
                      </a:r>
                    </a:p>
                  </a:txBody>
                  <a:tcPr marL="73152" marR="73152" marT="36576" marB="36576" anchor="ctr">
                    <a:solidFill>
                      <a:srgbClr val="000048"/>
                    </a:solidFill>
                  </a:tcPr>
                </a:tc>
              </a:tr>
              <a:tr h="335280">
                <a:tc>
                  <a:txBody>
                    <a:bodyPr wrap="square" anchor="ctr">
                      <a:noAutofit/>
                    </a:bodyPr>
                    <a:lstStyle/>
                    <a:p>
                      <a:pPr algn="l"/>
                      <a:r>
                        <a:rPr sz="1600" b="1" i="0">
                          <a:solidFill>
                            <a:srgbClr val="1E1E2E"/>
                          </a:solidFill>
                          <a:latin typeface="Arial"/>
                        </a:rPr>
                        <a:t>Coverage</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All in-scope agents reconciled; gaps listed by reason</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platform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Usage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Test agents correctly classified in every state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service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Containment</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New, in-flight and tool paths each tested separately</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Customer security owner</a:t>
                      </a:r>
                    </a:p>
                  </a:txBody>
                  <a:tcPr marL="73152" marR="73152" marT="36576" marB="36576" anchor="ctr">
                    <a:solidFill>
                      <a:srgbClr val="FFFFFF"/>
                    </a:solidFill>
                  </a:tcPr>
                </a:tc>
              </a:tr>
              <a:tr h="335280">
                <a:tc>
                  <a:txBody>
                    <a:bodyPr wrap="square" anchor="ctr">
                      <a:noAutofit/>
                    </a:bodyPr>
                    <a:lstStyle/>
                    <a:p>
                      <a:pPr algn="l"/>
                      <a:r>
                        <a:rPr sz="1600" b="1" i="0">
                          <a:solidFill>
                            <a:srgbClr val="1E1E2E"/>
                          </a:solidFill>
                          <a:latin typeface="Arial"/>
                        </a:rPr>
                        <a:t>Recovery</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Controlled restart with two-person approval and evidence</a:t>
                      </a:r>
                    </a:p>
                  </a:txBody>
                  <a:tcPr marL="73152" marR="73152" marT="36576" marB="36576" anchor="ctr">
                    <a:solidFill>
                      <a:srgbClr val="F5F5F2"/>
                    </a:solidFill>
                  </a:tcPr>
                </a:tc>
                <a:tc>
                  <a:txBody>
                    <a:bodyPr wrap="square" anchor="ctr">
                      <a:noAutofit/>
                    </a:bodyPr>
                    <a:lstStyle/>
                    <a:p>
                      <a:pPr algn="l"/>
                      <a:r>
                        <a:rPr sz="1600" b="0" i="0">
                          <a:solidFill>
                            <a:srgbClr val="1E1E2E"/>
                          </a:solidFill>
                          <a:latin typeface="Arial"/>
                        </a:rPr>
                        <a:t>Customer business owner</a:t>
                      </a:r>
                    </a:p>
                  </a:txBody>
                  <a:tcPr marL="73152" marR="73152" marT="36576" marB="36576" anchor="ctr">
                    <a:solidFill>
                      <a:srgbClr val="F5F5F2"/>
                    </a:solidFill>
                  </a:tcPr>
                </a:tc>
              </a:tr>
              <a:tr h="335280">
                <a:tc>
                  <a:txBody>
                    <a:bodyPr wrap="square" anchor="ctr">
                      <a:noAutofit/>
                    </a:bodyPr>
                    <a:lstStyle/>
                    <a:p>
                      <a:pPr algn="l"/>
                      <a:r>
                        <a:rPr sz="1600" b="1" i="0">
                          <a:solidFill>
                            <a:srgbClr val="1E1E2E"/>
                          </a:solidFill>
                          <a:latin typeface="Arial"/>
                        </a:rPr>
                        <a:t>Operations</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Runbooks, alert routing and review queues accepted</a:t>
                      </a:r>
                    </a:p>
                  </a:txBody>
                  <a:tcPr marL="73152" marR="73152" marT="36576" marB="36576" anchor="ctr">
                    <a:solidFill>
                      <a:srgbClr val="FFFFFF"/>
                    </a:solidFill>
                  </a:tcPr>
                </a:tc>
                <a:tc>
                  <a:txBody>
                    <a:bodyPr wrap="square" anchor="ctr">
                      <a:noAutofit/>
                    </a:bodyPr>
                    <a:lstStyle/>
                    <a:p>
                      <a:pPr algn="l"/>
                      <a:r>
                        <a:rPr sz="1600" b="0" i="0">
                          <a:solidFill>
                            <a:srgbClr val="1E1E2E"/>
                          </a:solidFill>
                          <a:latin typeface="Arial"/>
                        </a:rPr>
                        <a:t>Integrated service owner</a:t>
                      </a:r>
                    </a:p>
                  </a:txBody>
                  <a:tcPr marL="73152" marR="73152" marT="36576" marB="36576" anchor="ctr">
                    <a:solidFill>
                      <a:srgbClr val="FFFF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Dormant-agent review and retirement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264920" cy="256032"/>
          </a:xfrm>
          <a:prstGeom prst="rect">
            <a:avLst/>
          </a:prstGeom>
          <a:noFill/>
        </p:spPr>
        <p:txBody>
          <a:bodyPr wrap="square" lIns="0" rIns="0" tIns="0" bIns="0" anchor="t">
            <a:noAutofit/>
          </a:bodyPr>
          <a:lstStyle/>
          <a:p>
            <a:pPr algn="l"/>
            <a:r>
              <a:rPr sz="1100" b="1" i="0">
                <a:solidFill>
                  <a:srgbClr val="2F78C4"/>
                </a:solidFill>
                <a:latin typeface="Arial"/>
              </a:rPr>
              <a:t>APPENDIX A15</a:t>
            </a:r>
          </a:p>
        </p:txBody>
      </p:sp>
      <p:sp>
        <p:nvSpPr>
          <p:cNvPr id="5" name="Status chip: PROPOSED PROCESS"/>
          <p:cNvSpPr/>
          <p:nvPr/>
        </p:nvSpPr>
        <p:spPr>
          <a:xfrm>
            <a:off x="1996440" y="274320"/>
            <a:ext cx="165608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PROCESS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31</a:t>
            </a:r>
          </a:p>
        </p:txBody>
      </p:sp>
      <p:sp>
        <p:nvSpPr>
          <p:cNvPr id="9" name="Rounded Rectangle 8"/>
          <p:cNvSpPr/>
          <p:nvPr/>
        </p:nvSpPr>
        <p:spPr>
          <a:xfrm>
            <a:off x="548640"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Flag</a:t>
            </a:r>
          </a:p>
          <a:p>
            <a:pPr algn="l"/>
            <a:r>
              <a:rPr sz="1600" b="0" i="0">
                <a:solidFill>
                  <a:srgbClr val="1E1E2E"/>
                </a:solidFill>
                <a:latin typeface="Arial"/>
              </a:rPr>
              <a:t>Dormant candidate or orphaned state</a:t>
            </a:r>
          </a:p>
        </p:txBody>
      </p:sp>
      <p:cxnSp>
        <p:nvCxnSpPr>
          <p:cNvPr id="10" name="Connector (flow)"/>
          <p:cNvCxnSpPr/>
          <p:nvPr/>
        </p:nvCxnSpPr>
        <p:spPr>
          <a:xfrm>
            <a:off x="2606040"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807208"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Notify</a:t>
            </a:r>
          </a:p>
          <a:p>
            <a:pPr algn="l"/>
            <a:r>
              <a:rPr sz="1600" b="0" i="0">
                <a:solidFill>
                  <a:srgbClr val="1E1E2E"/>
                </a:solidFill>
                <a:latin typeface="Arial"/>
              </a:rPr>
              <a:t>Owner asked to confirm need</a:t>
            </a:r>
          </a:p>
        </p:txBody>
      </p:sp>
      <p:cxnSp>
        <p:nvCxnSpPr>
          <p:cNvPr id="12" name="Connector (flow)"/>
          <p:cNvCxnSpPr/>
          <p:nvPr/>
        </p:nvCxnSpPr>
        <p:spPr>
          <a:xfrm>
            <a:off x="4864608"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065776"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Decide</a:t>
            </a:r>
          </a:p>
          <a:p>
            <a:pPr algn="l"/>
            <a:r>
              <a:rPr sz="1600" b="0" i="0">
                <a:solidFill>
                  <a:srgbClr val="1E1E2E"/>
                </a:solidFill>
                <a:latin typeface="Arial"/>
              </a:rPr>
              <a:t>Keep with reason, or retire</a:t>
            </a:r>
          </a:p>
        </p:txBody>
      </p:sp>
      <p:cxnSp>
        <p:nvCxnSpPr>
          <p:cNvPr id="14" name="Connector (flow)"/>
          <p:cNvCxnSpPr/>
          <p:nvPr/>
        </p:nvCxnSpPr>
        <p:spPr>
          <a:xfrm>
            <a:off x="7123176"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324344"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Retire</a:t>
            </a:r>
          </a:p>
          <a:p>
            <a:pPr algn="l"/>
            <a:r>
              <a:rPr sz="1600" b="0" i="0">
                <a:solidFill>
                  <a:srgbClr val="1E1E2E"/>
                </a:solidFill>
                <a:latin typeface="Arial"/>
              </a:rPr>
              <a:t>Remove identity, secrets, endpoints, compute</a:t>
            </a:r>
          </a:p>
        </p:txBody>
      </p:sp>
      <p:cxnSp>
        <p:nvCxnSpPr>
          <p:cNvPr id="16" name="Connector (flow)"/>
          <p:cNvCxnSpPr/>
          <p:nvPr/>
        </p:nvCxnSpPr>
        <p:spPr>
          <a:xfrm>
            <a:off x="9381744" y="2560320"/>
            <a:ext cx="201168" cy="0"/>
          </a:xfrm>
          <a:prstGeom prst="line">
            <a:avLst/>
          </a:prstGeom>
          <a:ln w="22225">
            <a:solidFill>
              <a:srgbClr val="00004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582912" y="1554480"/>
            <a:ext cx="2057400" cy="2011680"/>
          </a:xfrm>
          <a:prstGeom prst="roundRect">
            <a:avLst>
              <a:gd name="adj" fmla="val 3636"/>
            </a:avLst>
          </a:prstGeom>
          <a:solidFill>
            <a:srgbClr val="F5F5F2"/>
          </a:solidFill>
          <a:ln>
            <a:noFill/>
          </a:ln>
          <a:effectLst/>
        </p:spPr>
        <p:style>
          <a:lnRef idx="1">
            <a:schemeClr val="accent1"/>
          </a:lnRef>
          <a:fillRef idx="3">
            <a:schemeClr val="accent1"/>
          </a:fillRef>
          <a:effectRef idx="2">
            <a:schemeClr val="accent1"/>
          </a:effectRef>
          <a:fontRef idx="minor">
            <a:schemeClr val="lt1"/>
          </a:fontRef>
        </p:style>
        <p:txBody>
          <a:bodyPr rtlCol="0" anchor="t" lIns="146304" rIns="146304" tIns="73152" bIns="73152" wrap="square">
            <a:noAutofit/>
          </a:bodyPr>
          <a:lstStyle/>
          <a:p>
            <a:pPr algn="l">
              <a:spcAft>
                <a:spcPts val="600"/>
              </a:spcAft>
            </a:pPr>
            <a:r>
              <a:rPr sz="2000" b="1" i="0">
                <a:solidFill>
                  <a:srgbClr val="000048"/>
                </a:solidFill>
                <a:latin typeface="Arial"/>
              </a:rPr>
              <a:t>Confirm</a:t>
            </a:r>
          </a:p>
          <a:p>
            <a:pPr algn="l"/>
            <a:r>
              <a:rPr sz="1600" b="0" i="0">
                <a:solidFill>
                  <a:srgbClr val="1E1E2E"/>
                </a:solidFill>
                <a:latin typeface="Arial"/>
              </a:rPr>
              <a:t>Resource Graph shows nothing left</a:t>
            </a:r>
          </a:p>
        </p:txBody>
      </p:sp>
      <p:sp>
        <p:nvSpPr>
          <p:cNvPr id="18" name="Rounded Rectangle 17"/>
          <p:cNvSpPr/>
          <p:nvPr/>
        </p:nvSpPr>
        <p:spPr>
          <a:xfrm>
            <a:off x="548640" y="3931920"/>
            <a:ext cx="11091672" cy="548640"/>
          </a:xfrm>
          <a:prstGeom prst="roundRect">
            <a:avLst>
              <a:gd name="adj" fmla="val 13333"/>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automatic deletion. Seasonal and standby agents keep an exception with a review date.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Six cost layers are priced and owned separately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C1</a:t>
            </a:r>
          </a:p>
        </p:txBody>
      </p:sp>
      <p:sp>
        <p:nvSpPr>
          <p:cNvPr id="5" name="Status chip: NO APPROVED QUOTE"/>
          <p:cNvSpPr/>
          <p:nvPr/>
        </p:nvSpPr>
        <p:spPr>
          <a:xfrm>
            <a:off x="1898650" y="274320"/>
            <a:ext cx="1742440"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NO APPROVED QUOTE</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32</a:t>
            </a:r>
          </a:p>
        </p:txBody>
      </p:sp>
      <p:graphicFrame>
        <p:nvGraphicFramePr>
          <p:cNvPr id="9" name="Table"/>
          <p:cNvGraphicFramePr>
            <a:graphicFrameLocks noGrp="1"/>
          </p:cNvGraphicFramePr>
          <p:nvPr/>
        </p:nvGraphicFramePr>
        <p:xfrm>
          <a:off x="548640" y="1325880"/>
          <a:ext cx="11091672" cy="2651760"/>
        </p:xfrm>
        <a:graphic>
          <a:graphicData uri="http://schemas.openxmlformats.org/drawingml/2006/table">
            <a:tbl>
              <a:tblPr firstRow="1" bandRow="0">
                <a:tableStyleId>{5C22544A-7EE6-4342-B048-85BDC9FD1C3A}</a:tableStyleId>
              </a:tblPr>
              <a:tblGrid>
                <a:gridCol w="1965960"/>
                <a:gridCol w="3291840"/>
                <a:gridCol w="3291840"/>
                <a:gridCol w="2542032"/>
              </a:tblGrid>
              <a:tr h="274320">
                <a:tc>
                  <a:txBody>
                    <a:bodyPr wrap="square" anchor="ctr">
                      <a:noAutofit/>
                    </a:bodyPr>
                    <a:lstStyle/>
                    <a:p>
                      <a:pPr algn="l"/>
                      <a:r>
                        <a:rPr sz="1200" b="1" i="0">
                          <a:solidFill>
                            <a:srgbClr val="FFFFFF"/>
                          </a:solidFill>
                          <a:latin typeface="Arial"/>
                        </a:rPr>
                        <a:t>Layer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Applies to this offering</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Pricing formula or unit</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Missing input (owner)</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1  CIS Infra services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Assessment, catalogue build, containment plumbing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Fixed fee; role days x approved sell rate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Sell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2  Specialist towers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runtime limits; Security policy; DevOps registration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role days x tower rate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estimates (tower leads)</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3  Recurring managed service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Catalogue operation and drills (offering 05)</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Base + agents x rate + coverage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Service rates (Finance)</a:t>
                      </a:r>
                    </a:p>
                  </a:txBody>
                  <a:tcPr marL="73152" marR="73152" marT="36576" marB="36576" anchor="ctr">
                    <a:solidFill>
                      <a:srgbClr val="FFFFFF"/>
                    </a:solidFill>
                  </a:tcPr>
                </a:tc>
              </a:tr>
              <a:tr h="457200">
                <a:tc>
                  <a:txBody>
                    <a:bodyPr wrap="square" anchor="ctr">
                      <a:noAutofit/>
                    </a:bodyPr>
                    <a:lstStyle/>
                    <a:p>
                      <a:pPr algn="l"/>
                      <a:r>
                        <a:rPr sz="1200" b="1" i="0">
                          <a:solidFill>
                            <a:srgbClr val="1E1E2E"/>
                          </a:solidFill>
                          <a:latin typeface="Arial"/>
                        </a:rPr>
                        <a:t>4  Azure platform consumption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Functions, Cosmos DB, Log Analytics, App Insights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Meters x quantity; log GB is the main driver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Volumes (CIS Infra); prices (customer)</a:t>
                      </a:r>
                    </a:p>
                  </a:txBody>
                  <a:tcPr marL="73152" marR="73152" marT="36576" marB="36576" anchor="ctr">
                    <a:solidFill>
                      <a:srgbClr val="F5F5F2"/>
                    </a:solidFill>
                  </a:tcPr>
                </a:tc>
              </a:tr>
              <a:tr h="274320">
                <a:tc>
                  <a:txBody>
                    <a:bodyPr wrap="square" anchor="ctr">
                      <a:noAutofit/>
                    </a:bodyPr>
                    <a:lstStyle/>
                    <a:p>
                      <a:pPr algn="l"/>
                      <a:r>
                        <a:rPr sz="1200" b="1" i="0">
                          <a:solidFill>
                            <a:srgbClr val="1E1E2E"/>
                          </a:solidFill>
                          <a:latin typeface="Arial"/>
                        </a:rPr>
                        <a:t>5  Model consumption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Not changed by this offering</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FFFFF"/>
                    </a:solidFill>
                  </a:tcPr>
                </a:tc>
              </a:tr>
              <a:tr h="274320">
                <a:tc>
                  <a:txBody>
                    <a:bodyPr wrap="square" anchor="ctr">
                      <a:noAutofit/>
                    </a:bodyPr>
                    <a:lstStyle/>
                    <a:p>
                      <a:pPr algn="l"/>
                      <a:r>
                        <a:rPr sz="1200" b="1" i="0">
                          <a:solidFill>
                            <a:srgbClr val="1E1E2E"/>
                          </a:solidFill>
                          <a:latin typeface="Arial"/>
                        </a:rPr>
                        <a:t>6  GPU hosting</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Not applicable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a:t>
                      </a:r>
                    </a:p>
                  </a:txBody>
                  <a:tcPr marL="73152" marR="73152" marT="36576" marB="36576" anchor="ctr">
                    <a:solidFill>
                      <a:srgbClr val="F5F5F2"/>
                    </a:solidFill>
                  </a:tcPr>
                </a:tc>
              </a:tr>
            </a:tbl>
          </a:graphicData>
        </a:graphic>
      </p:graphicFrame>
      <p:sp>
        <p:nvSpPr>
          <p:cNvPr id="10" name="Rounded Rectangle 9"/>
          <p:cNvSpPr/>
          <p:nvPr/>
        </p:nvSpPr>
        <p:spPr>
          <a:xfrm>
            <a:off x="548640" y="5833872"/>
            <a:ext cx="11091672" cy="502920"/>
          </a:xfrm>
          <a:prstGeom prst="roundRect">
            <a:avLst>
              <a:gd name="adj" fmla="val 14545"/>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8A4B08"/>
                </a:solidFill>
                <a:latin typeface="Arial"/>
              </a:rPr>
              <a:t>Limit:  </a:t>
            </a:r>
            <a:r>
              <a:rPr sz="1400" b="0" i="0">
                <a:solidFill>
                  <a:srgbClr val="1E1E2E"/>
                </a:solidFill>
                <a:latin typeface="Arial"/>
              </a:rPr>
              <a:t>Layers 4 to 6 are customer Azure spend unless a resale agreement says otherwise. They are not CIS Infra services revenue.</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RACI: one accountable role per activity</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R1</a:t>
            </a:r>
          </a:p>
        </p:txBody>
      </p:sp>
      <p:sp>
        <p:nvSpPr>
          <p:cNvPr id="5" name="Status chip: PROPOSED, VALIDATE WITH TOWERS"/>
          <p:cNvSpPr/>
          <p:nvPr/>
        </p:nvSpPr>
        <p:spPr>
          <a:xfrm>
            <a:off x="1898650" y="274320"/>
            <a:ext cx="286512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VALIDATE WITH TOWERS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33</a:t>
            </a:r>
          </a:p>
        </p:txBody>
      </p:sp>
      <p:graphicFrame>
        <p:nvGraphicFramePr>
          <p:cNvPr id="9" name="Table"/>
          <p:cNvGraphicFramePr>
            <a:graphicFrameLocks noGrp="1"/>
          </p:cNvGraphicFramePr>
          <p:nvPr/>
        </p:nvGraphicFramePr>
        <p:xfrm>
          <a:off x="548640" y="1325880"/>
          <a:ext cx="11091671" cy="3810000"/>
        </p:xfrm>
        <a:graphic>
          <a:graphicData uri="http://schemas.openxmlformats.org/drawingml/2006/table">
            <a:tbl>
              <a:tblPr firstRow="1" bandRow="0">
                <a:tableStyleId>{5C22544A-7EE6-4342-B048-85BDC9FD1C3A}</a:tableStyleId>
              </a:tblPr>
              <a:tblGrid>
                <a:gridCol w="3246119"/>
                <a:gridCol w="871728"/>
                <a:gridCol w="871728"/>
                <a:gridCol w="871728"/>
                <a:gridCol w="871728"/>
                <a:gridCol w="871728"/>
                <a:gridCol w="871728"/>
                <a:gridCol w="871728"/>
                <a:gridCol w="871728"/>
                <a:gridCol w="871728"/>
              </a:tblGrid>
              <a:tr h="701040">
                <a:tc>
                  <a:txBody>
                    <a:bodyPr wrap="square" anchor="ctr">
                      <a:noAutofit/>
                    </a:bodyPr>
                    <a:lstStyle/>
                    <a:p>
                      <a:pPr algn="l"/>
                      <a:r>
                        <a:rPr sz="1000" b="1" i="0">
                          <a:solidFill>
                            <a:srgbClr val="FFFFFF"/>
                          </a:solidFill>
                          <a:latin typeface="Arial"/>
                        </a:rPr>
                        <a:t>Activity (proposed, validate with towers)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CIS</a:t>
                      </a:r>
                    </a:p>
                    <a:p>
                      <a:pPr algn="ctr"/>
                      <a:r>
                        <a:rPr sz="1000" b="1" i="0">
                          <a:solidFill>
                            <a:srgbClr val="FFFFFF"/>
                          </a:solidFill>
                          <a:latin typeface="Arial"/>
                        </a:rPr>
                        <a:t>Infra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Secu-</a:t>
                      </a:r>
                    </a:p>
                    <a:p>
                      <a:pPr algn="ctr"/>
                      <a:r>
                        <a:rPr sz="1000" b="1" i="0">
                          <a:solidFill>
                            <a:srgbClr val="FFFFFF"/>
                          </a:solidFill>
                          <a:latin typeface="Arial"/>
                        </a:rPr>
                        <a:t>rity</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Dev-</a:t>
                      </a:r>
                    </a:p>
                    <a:p>
                      <a:pPr algn="ctr"/>
                      <a:r>
                        <a:rPr sz="1000" b="1" i="0">
                          <a:solidFill>
                            <a:srgbClr val="FFFFFF"/>
                          </a:solidFill>
                          <a:latin typeface="Arial"/>
                        </a:rPr>
                        <a:t>Ops</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AI</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Data</a:t>
                      </a:r>
                    </a:p>
                    <a:p>
                      <a:pPr algn="ctr"/>
                      <a:r>
                        <a:rPr sz="1000" b="1" i="0">
                          <a:solidFill>
                            <a:srgbClr val="FFFFFF"/>
                          </a:solidFill>
                          <a:latin typeface="Arial"/>
                        </a:rPr>
                        <a:t>Eng.</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Integr.</a:t>
                      </a:r>
                    </a:p>
                    <a:p>
                      <a:pPr algn="ctr"/>
                      <a:r>
                        <a:rPr sz="1000" b="1" i="0">
                          <a:solidFill>
                            <a:srgbClr val="FFFFFF"/>
                          </a:solidFill>
                          <a:latin typeface="Arial"/>
                        </a:rPr>
                        <a:t>service</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Cust.</a:t>
                      </a:r>
                    </a:p>
                    <a:p>
                      <a:pPr algn="ctr"/>
                      <a:r>
                        <a:rPr sz="1000" b="1" i="0">
                          <a:solidFill>
                            <a:srgbClr val="FFFFFF"/>
                          </a:solidFill>
                          <a:latin typeface="Arial"/>
                        </a:rPr>
                        <a:t>work-</a:t>
                      </a:r>
                    </a:p>
                    <a:p>
                      <a:pPr algn="ctr"/>
                      <a:r>
                        <a:rPr sz="1000" b="1" i="0">
                          <a:solidFill>
                            <a:srgbClr val="FFFFFF"/>
                          </a:solidFill>
                          <a:latin typeface="Arial"/>
                        </a:rPr>
                        <a:t>load</a:t>
                      </a:r>
                    </a:p>
                    <a:p>
                      <a:pPr algn="ctr"/>
                      <a:r>
                        <a:rPr sz="1000" b="1" i="0">
                          <a:solidFill>
                            <a:srgbClr val="FFFFFF"/>
                          </a:solidFill>
                          <a:latin typeface="Arial"/>
                        </a:rPr>
                        <a:t>owner</a:t>
                      </a:r>
                    </a:p>
                  </a:txBody>
                  <a:tcPr marL="73152" marR="73152" marT="36576" marB="36576" anchor="ctr">
                    <a:solidFill>
                      <a:srgbClr val="000048"/>
                    </a:solidFill>
                  </a:tcPr>
                </a:tc>
                <a:tc>
                  <a:txBody>
                    <a:bodyPr wrap="square" anchor="ctr">
                      <a:noAutofit/>
                    </a:bodyPr>
                    <a:lstStyle/>
                    <a:p>
                      <a:pPr algn="ctr"/>
                      <a:r>
                        <a:rPr sz="1000" b="1" i="0">
                          <a:solidFill>
                            <a:srgbClr val="FFFFFF"/>
                          </a:solidFill>
                          <a:latin typeface="Arial"/>
                        </a:rPr>
                        <a:t>Comm.</a:t>
                      </a:r>
                    </a:p>
                    <a:p>
                      <a:pPr algn="ctr"/>
                      <a:r>
                        <a:rPr sz="1000" b="1" i="0">
                          <a:solidFill>
                            <a:srgbClr val="FFFFFF"/>
                          </a:solidFill>
                          <a:latin typeface="Arial"/>
                        </a:rPr>
                        <a:t>/ fin.</a:t>
                      </a:r>
                    </a:p>
                  </a:txBody>
                  <a:tcPr marL="73152" marR="73152" marT="36576" marB="36576" anchor="ctr">
                    <a:solidFill>
                      <a:srgbClr val="000048"/>
                    </a:solidFill>
                  </a:tcPr>
                </a:tc>
              </a:tr>
              <a:tr h="259080">
                <a:tc>
                  <a:txBody>
                    <a:bodyPr wrap="square" anchor="ctr">
                      <a:noAutofit/>
                    </a:bodyPr>
                    <a:lstStyle/>
                    <a:p>
                      <a:pPr algn="l"/>
                      <a:r>
                        <a:rPr sz="1100" b="0" i="0">
                          <a:solidFill>
                            <a:srgbClr val="1E1E2E"/>
                          </a:solidFill>
                          <a:latin typeface="Arial"/>
                        </a:rPr>
                        <a:t>Catalogue and registry design</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Reconciliation and workbook build</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Deployment registration in pipelines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Agent instrumentation (traces)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Risk classes and containment authority</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control plane build</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Runtime limits and tool guards</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A/R</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Containment drills (testing)</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Service acceptance</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Live containment (operations)</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Restart and recovery approval</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r>
              <a:tr h="259080">
                <a:tc>
                  <a:txBody>
                    <a:bodyPr wrap="square" anchor="ctr">
                      <a:noAutofit/>
                    </a:bodyPr>
                    <a:lstStyle/>
                    <a:p>
                      <a:pPr algn="l"/>
                      <a:r>
                        <a:rPr sz="1100" b="0" i="0">
                          <a:solidFill>
                            <a:srgbClr val="1E1E2E"/>
                          </a:solidFill>
                          <a:latin typeface="Arial"/>
                        </a:rPr>
                        <a:t>Pricing, attribution and quote</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53565A"/>
                          </a:solidFill>
                          <a:latin typeface="Arial"/>
                        </a:rPr>
                        <a:t>C</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000048"/>
                          </a:solidFill>
                          <a:latin typeface="Arial"/>
                        </a:rPr>
                        <a:t>R</a:t>
                      </a:r>
                    </a:p>
                  </a:txBody>
                  <a:tcPr marL="73152" marR="73152" marT="36576" marB="36576" anchor="ctr">
                    <a:solidFill>
                      <a:srgbClr val="EAF2FB"/>
                    </a:solidFill>
                  </a:tcPr>
                </a:tc>
                <a:tc>
                  <a:txBody>
                    <a:bodyPr wrap="square" anchor="ctr">
                      <a:noAutofit/>
                    </a:bodyPr>
                    <a:lstStyle/>
                    <a:p>
                      <a:pPr algn="ctr"/>
                      <a:r>
                        <a:rPr sz="1100" b="0" i="0">
                          <a:solidFill>
                            <a:srgbClr val="A0A0A0"/>
                          </a:solidFill>
                          <a:latin typeface="Arial"/>
                        </a:rPr>
                        <a:t>I</a:t>
                      </a:r>
                    </a:p>
                  </a:txBody>
                  <a:tcPr marL="73152" marR="73152" marT="36576" marB="36576" anchor="ctr">
                    <a:solidFill>
                      <a:srgbClr val="FFFFFF"/>
                    </a:solidFill>
                  </a:tcPr>
                </a:tc>
                <a:tc>
                  <a:txBody>
                    <a:bodyPr wrap="square" anchor="ctr">
                      <a:noAutofit/>
                    </a:bodyPr>
                    <a:lstStyle/>
                    <a:p>
                      <a:pPr algn="ctr"/>
                      <a:r>
                        <a:rPr sz="1100" b="0" i="0">
                          <a:solidFill>
                            <a:srgbClr val="FFFFFF"/>
                          </a:solidFill>
                          <a:latin typeface="Arial"/>
                        </a:rPr>
                        <a:t>A</a:t>
                      </a:r>
                    </a:p>
                  </a:txBody>
                  <a:tcPr marL="73152" marR="73152" marT="36576" marB="36576" anchor="ctr">
                    <a:solidFill>
                      <a:srgbClr val="000048"/>
                    </a:solidFill>
                  </a:tcPr>
                </a:tc>
              </a:tr>
            </a:tbl>
          </a:graphicData>
        </a:graphic>
      </p:graphicFrame>
      <p:sp>
        <p:nvSpPr>
          <p:cNvPr id="10" name="TextBox 9"/>
          <p:cNvSpPr txBox="1"/>
          <p:nvPr/>
        </p:nvSpPr>
        <p:spPr>
          <a:xfrm>
            <a:off x="548640" y="5245608"/>
            <a:ext cx="11064240" cy="274320"/>
          </a:xfrm>
          <a:prstGeom prst="rect">
            <a:avLst/>
          </a:prstGeom>
          <a:noFill/>
        </p:spPr>
        <p:txBody>
          <a:bodyPr wrap="square" lIns="0" rIns="0" tIns="0" bIns="0" anchor="t">
            <a:noAutofit/>
          </a:bodyPr>
          <a:lstStyle/>
          <a:p>
            <a:pPr algn="l"/>
            <a:r>
              <a:rPr sz="1200" b="1" i="0">
                <a:solidFill>
                  <a:srgbClr val="000048"/>
                </a:solidFill>
                <a:latin typeface="Arial"/>
              </a:rPr>
              <a:t>A</a:t>
            </a:r>
            <a:r>
              <a:rPr sz="1200" b="0" i="0">
                <a:solidFill>
                  <a:srgbClr val="53565A"/>
                </a:solidFill>
                <a:latin typeface="Arial"/>
              </a:rPr>
              <a:t> accountable (one per row)   </a:t>
            </a:r>
            <a:r>
              <a:rPr sz="1200" b="1" i="0">
                <a:solidFill>
                  <a:srgbClr val="2F78C4"/>
                </a:solidFill>
                <a:latin typeface="Arial"/>
              </a:rPr>
              <a:t>R</a:t>
            </a:r>
            <a:r>
              <a:rPr sz="1200" b="0" i="0">
                <a:solidFill>
                  <a:srgbClr val="53565A"/>
                </a:solidFill>
                <a:latin typeface="Arial"/>
              </a:rPr>
              <a:t> responsible   C consulted   I informed.   </a:t>
            </a:r>
            <a:r>
              <a:rPr sz="1200" b="1" i="0">
                <a:solidFill>
                  <a:srgbClr val="53565A"/>
                </a:solidFill>
                <a:latin typeface="Arial"/>
              </a:rPr>
              <a:t>Integrated service owner</a:t>
            </a:r>
            <a:r>
              <a:rPr sz="1200" b="0" i="0">
                <a:solidFill>
                  <a:srgbClr val="53565A"/>
                </a:solidFill>
                <a:latin typeface="Arial"/>
              </a:rPr>
              <a:t> = named Cognizant delivery lead for the end-to-end outcome.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Revenue attribution follows contracted work packages</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R2</a:t>
            </a:r>
          </a:p>
        </p:txBody>
      </p:sp>
      <p:sp>
        <p:nvSpPr>
          <p:cNvPr id="5" name="Status chip: PROPOSED FRAMEWORK"/>
          <p:cNvSpPr/>
          <p:nvPr/>
        </p:nvSpPr>
        <p:spPr>
          <a:xfrm>
            <a:off x="1898650" y="274320"/>
            <a:ext cx="18288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 FRAMEWORK</a:t>
            </a:r>
          </a:p>
        </p:txBody>
      </p:sp>
      <p:sp>
        <p:nvSpPr>
          <p:cNvPr id="6" name="Status chip: HYPOTHETICAL EXAMPLE"/>
          <p:cNvSpPr/>
          <p:nvPr/>
        </p:nvSpPr>
        <p:spPr>
          <a:xfrm>
            <a:off x="3818890" y="274320"/>
            <a:ext cx="2001519" cy="237744"/>
          </a:xfrm>
          <a:prstGeom prst="roundRect">
            <a:avLst>
              <a:gd name="adj" fmla="val 30769"/>
            </a:avLst>
          </a:prstGeom>
          <a:solidFill>
            <a:srgbClr val="FDF0D5"/>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8A4B08"/>
                </a:solidFill>
                <a:latin typeface="Arial"/>
              </a:rPr>
              <a:t>HYPOTHETICAL EXAMPLE</a:t>
            </a:r>
          </a:p>
        </p:txBody>
      </p:sp>
      <p:sp>
        <p:nvSpPr>
          <p:cNvPr id="7" name="TextBox 6"/>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8"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9" name="TextBox 8"/>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34</a:t>
            </a:r>
          </a:p>
        </p:txBody>
      </p:sp>
      <p:sp>
        <p:nvSpPr>
          <p:cNvPr id="10" name="TextBox 9"/>
          <p:cNvSpPr txBox="1"/>
          <p:nvPr/>
        </p:nvSpPr>
        <p:spPr>
          <a:xfrm>
            <a:off x="548640" y="1325880"/>
            <a:ext cx="5760720" cy="320040"/>
          </a:xfrm>
          <a:prstGeom prst="rect">
            <a:avLst/>
          </a:prstGeom>
          <a:noFill/>
        </p:spPr>
        <p:txBody>
          <a:bodyPr wrap="square" lIns="0" rIns="0" tIns="0" bIns="0" anchor="t">
            <a:noAutofit/>
          </a:bodyPr>
          <a:lstStyle/>
          <a:p>
            <a:pPr algn="l"/>
            <a:r>
              <a:rPr sz="1600" b="1" i="0">
                <a:solidFill>
                  <a:srgbClr val="000048"/>
                </a:solidFill>
                <a:latin typeface="Arial"/>
              </a:rPr>
              <a:t>Four separate views</a:t>
            </a:r>
          </a:p>
        </p:txBody>
      </p:sp>
      <p:graphicFrame>
        <p:nvGraphicFramePr>
          <p:cNvPr id="11" name="Table"/>
          <p:cNvGraphicFramePr>
            <a:graphicFrameLocks noGrp="1"/>
          </p:cNvGraphicFramePr>
          <p:nvPr/>
        </p:nvGraphicFramePr>
        <p:xfrm>
          <a:off x="548640" y="1691640"/>
          <a:ext cx="5760717" cy="2468880"/>
        </p:xfrm>
        <a:graphic>
          <a:graphicData uri="http://schemas.openxmlformats.org/drawingml/2006/table">
            <a:tbl>
              <a:tblPr firstRow="1" bandRow="0">
                <a:tableStyleId>{5C22544A-7EE6-4342-B048-85BDC9FD1C3A}</a:tableStyleId>
              </a:tblPr>
              <a:tblGrid>
                <a:gridCol w="1234439"/>
                <a:gridCol w="2834639"/>
                <a:gridCol w="1691639"/>
              </a:tblGrid>
              <a:tr h="274320">
                <a:tc>
                  <a:txBody>
                    <a:bodyPr wrap="square" anchor="ctr">
                      <a:noAutofit/>
                    </a:bodyPr>
                    <a:lstStyle/>
                    <a:p>
                      <a:pPr algn="l"/>
                      <a:r>
                        <a:rPr sz="1200" b="1" i="0">
                          <a:solidFill>
                            <a:srgbClr val="FFFFFF"/>
                          </a:solidFill>
                          <a:latin typeface="Arial"/>
                        </a:rPr>
                        <a:t>View</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Basis</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Owner of the rule</a:t>
                      </a:r>
                    </a:p>
                  </a:txBody>
                  <a:tcPr marL="73152" marR="73152" marT="36576" marB="36576" anchor="ctr">
                    <a:solidFill>
                      <a:srgbClr val="000048"/>
                    </a:solidFill>
                  </a:tcPr>
                </a:tc>
              </a:tr>
              <a:tr h="457200">
                <a:tc>
                  <a:txBody>
                    <a:bodyPr wrap="square" anchor="ctr">
                      <a:noAutofit/>
                    </a:bodyPr>
                    <a:lstStyle/>
                    <a:p>
                      <a:pPr algn="l"/>
                      <a:r>
                        <a:rPr sz="1200" b="1" i="0">
                          <a:solidFill>
                            <a:srgbClr val="1E1E2E"/>
                          </a:solidFill>
                          <a:latin typeface="Arial"/>
                        </a:rPr>
                        <a:t>Sales credit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Origination and pursuit role, per internal sales policy</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Sales leadership</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Booked revenue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Priced work package in the signed SOW, credited to the delivering tower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5F5F2"/>
                    </a:solidFill>
                  </a:tcPr>
                </a:tc>
              </a:tr>
              <a:tr h="457200">
                <a:tc>
                  <a:txBody>
                    <a:bodyPr wrap="square" anchor="ctr">
                      <a:noAutofit/>
                    </a:bodyPr>
                    <a:lstStyle/>
                    <a:p>
                      <a:pPr algn="l"/>
                      <a:r>
                        <a:rPr sz="1200" b="1" i="0">
                          <a:solidFill>
                            <a:srgbClr val="1E1E2E"/>
                          </a:solidFill>
                          <a:latin typeface="Arial"/>
                        </a:rPr>
                        <a:t>Delivery cost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Actual role days at approved loaded cost, per work package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Delivering tower</a:t>
                      </a:r>
                    </a:p>
                  </a:txBody>
                  <a:tcPr marL="73152" marR="73152" marT="36576" marB="36576" anchor="ctr">
                    <a:solidFill>
                      <a:srgbClr val="FFFFFF"/>
                    </a:solidFill>
                  </a:tcPr>
                </a:tc>
              </a:tr>
              <a:tr h="640080">
                <a:tc>
                  <a:txBody>
                    <a:bodyPr wrap="square" anchor="ctr">
                      <a:noAutofit/>
                    </a:bodyPr>
                    <a:lstStyle/>
                    <a:p>
                      <a:pPr algn="l"/>
                      <a:r>
                        <a:rPr sz="1200" b="1" i="0">
                          <a:solidFill>
                            <a:srgbClr val="1E1E2E"/>
                          </a:solidFill>
                          <a:latin typeface="Arial"/>
                        </a:rPr>
                        <a:t>Margin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Work package revenue minus its delivery cost; shared costs allocated once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Finance with integrated service owner</a:t>
                      </a:r>
                    </a:p>
                  </a:txBody>
                  <a:tcPr marL="73152" marR="73152" marT="36576" marB="36576" anchor="ctr">
                    <a:solidFill>
                      <a:srgbClr val="F5F5F2"/>
                    </a:solidFill>
                  </a:tcPr>
                </a:tc>
              </a:tr>
            </a:tbl>
          </a:graphicData>
        </a:graphic>
      </p:graphicFrame>
      <p:sp>
        <p:nvSpPr>
          <p:cNvPr id="12" name="TextBox 11"/>
          <p:cNvSpPr txBox="1"/>
          <p:nvPr/>
        </p:nvSpPr>
        <p:spPr>
          <a:xfrm>
            <a:off x="548640" y="4297680"/>
            <a:ext cx="5760720" cy="320040"/>
          </a:xfrm>
          <a:prstGeom prst="rect">
            <a:avLst/>
          </a:prstGeom>
          <a:noFill/>
        </p:spPr>
        <p:txBody>
          <a:bodyPr wrap="square" lIns="0" rIns="0" tIns="0" bIns="0" anchor="t">
            <a:noAutofit/>
          </a:bodyPr>
          <a:lstStyle/>
          <a:p>
            <a:pPr algn="l"/>
            <a:r>
              <a:rPr sz="1600" b="1" i="0">
                <a:solidFill>
                  <a:srgbClr val="000048"/>
                </a:solidFill>
                <a:latin typeface="Arial"/>
              </a:rPr>
              <a:t>Approval mechanism</a:t>
            </a:r>
          </a:p>
        </p:txBody>
      </p:sp>
      <p:sp>
        <p:nvSpPr>
          <p:cNvPr id="13" name="TextBox 12"/>
          <p:cNvSpPr txBox="1"/>
          <p:nvPr/>
        </p:nvSpPr>
        <p:spPr>
          <a:xfrm>
            <a:off x="548640" y="4636008"/>
            <a:ext cx="5760720" cy="1097280"/>
          </a:xfrm>
          <a:prstGeom prst="rect">
            <a:avLst/>
          </a:prstGeom>
          <a:noFill/>
        </p:spPr>
        <p:txBody>
          <a:bodyPr wrap="square" lIns="0" rIns="0" tIns="0" bIns="0" anchor="t">
            <a:noAutofit/>
          </a:bodyPr>
          <a:lstStyle/>
          <a:p>
            <a:pPr algn="l" marL="201168" indent="-201168">
              <a:spcAft>
                <a:spcPts val="300"/>
              </a:spcAft>
              <a:buFont typeface="Arial"/>
              <a:buChar char="•"/>
            </a:pPr>
            <a:r>
              <a:rPr sz="1400" b="0" i="0">
                <a:solidFill>
                  <a:srgbClr val="1E1E2E"/>
                </a:solidFill>
                <a:latin typeface="Arial"/>
              </a:rPr>
              <a:t>Tower leads agree the work package ledger before pricing</a:t>
            </a:r>
          </a:p>
          <a:p>
            <a:pPr algn="l" marL="201168" indent="-201168">
              <a:spcAft>
                <a:spcPts val="300"/>
              </a:spcAft>
              <a:buFont typeface="Arial"/>
              <a:buChar char="•"/>
            </a:pPr>
            <a:r>
              <a:rPr sz="1400" b="0" i="0">
                <a:solidFill>
                  <a:srgbClr val="1E1E2E"/>
                </a:solidFill>
                <a:latin typeface="Arial"/>
              </a:rPr>
              <a:t>Finance approves attribution, shared-cost and pass-through treatment</a:t>
            </a:r>
          </a:p>
          <a:p>
            <a:pPr algn="l" marL="201168" indent="-201168">
              <a:spcAft>
                <a:spcPts val="300"/>
              </a:spcAft>
              <a:buFont typeface="Arial"/>
              <a:buChar char="•"/>
            </a:pPr>
            <a:r>
              <a:rPr sz="1400" b="0" i="0">
                <a:solidFill>
                  <a:srgbClr val="1E1E2E"/>
                </a:solidFill>
                <a:latin typeface="Arial"/>
              </a:rPr>
              <a:t>Changes in scope rebaseline the ledger through change control</a:t>
            </a:r>
          </a:p>
        </p:txBody>
      </p:sp>
      <p:sp>
        <p:nvSpPr>
          <p:cNvPr id="14" name="TextBox 13"/>
          <p:cNvSpPr txBox="1"/>
          <p:nvPr/>
        </p:nvSpPr>
        <p:spPr>
          <a:xfrm>
            <a:off x="6629400" y="1325880"/>
            <a:ext cx="5029200" cy="320040"/>
          </a:xfrm>
          <a:prstGeom prst="rect">
            <a:avLst/>
          </a:prstGeom>
          <a:noFill/>
        </p:spPr>
        <p:txBody>
          <a:bodyPr wrap="square" lIns="0" rIns="0" tIns="0" bIns="0" anchor="t">
            <a:noAutofit/>
          </a:bodyPr>
          <a:lstStyle/>
          <a:p>
            <a:pPr algn="l"/>
            <a:r>
              <a:rPr sz="1600" b="1" i="0">
                <a:solidFill>
                  <a:srgbClr val="000048"/>
                </a:solidFill>
                <a:latin typeface="Arial"/>
              </a:rPr>
              <a:t>Hypothetical worked example</a:t>
            </a:r>
          </a:p>
        </p:txBody>
      </p:sp>
      <p:graphicFrame>
        <p:nvGraphicFramePr>
          <p:cNvPr id="15" name="Table"/>
          <p:cNvGraphicFramePr>
            <a:graphicFrameLocks noGrp="1"/>
          </p:cNvGraphicFramePr>
          <p:nvPr/>
        </p:nvGraphicFramePr>
        <p:xfrm>
          <a:off x="6629400" y="1691640"/>
          <a:ext cx="5010912" cy="2651760"/>
        </p:xfrm>
        <a:graphic>
          <a:graphicData uri="http://schemas.openxmlformats.org/drawingml/2006/table">
            <a:tbl>
              <a:tblPr firstRow="1" bandRow="0">
                <a:tableStyleId>{5C22544A-7EE6-4342-B048-85BDC9FD1C3A}</a:tableStyleId>
              </a:tblPr>
              <a:tblGrid>
                <a:gridCol w="2377440"/>
                <a:gridCol w="1417320"/>
                <a:gridCol w="1216152"/>
              </a:tblGrid>
              <a:tr h="457200">
                <a:tc>
                  <a:txBody>
                    <a:bodyPr wrap="square" anchor="ctr">
                      <a:noAutofit/>
                    </a:bodyPr>
                    <a:lstStyle/>
                    <a:p>
                      <a:pPr algn="l"/>
                      <a:r>
                        <a:rPr sz="1200" b="1" i="0">
                          <a:solidFill>
                            <a:srgbClr val="FFFFFF"/>
                          </a:solidFill>
                          <a:latin typeface="Arial"/>
                        </a:rPr>
                        <a:t>Work package</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Delivering tower</a:t>
                      </a:r>
                    </a:p>
                  </a:txBody>
                  <a:tcPr marL="73152" marR="73152" marT="36576" marB="36576" anchor="ctr">
                    <a:solidFill>
                      <a:srgbClr val="000048"/>
                    </a:solidFill>
                  </a:tcPr>
                </a:tc>
                <a:tc>
                  <a:txBody>
                    <a:bodyPr wrap="square" anchor="ctr">
                      <a:noAutofit/>
                    </a:bodyPr>
                    <a:lstStyle/>
                    <a:p>
                      <a:pPr algn="r"/>
                      <a:r>
                        <a:rPr sz="1200" b="1" i="0">
                          <a:solidFill>
                            <a:srgbClr val="FFFFFF"/>
                          </a:solidFill>
                          <a:latin typeface="Arial"/>
                        </a:rPr>
                        <a:t>Hypothetical fee</a:t>
                      </a:r>
                    </a:p>
                  </a:txBody>
                  <a:tcPr marL="73152" marR="73152" marT="36576" marB="36576" anchor="ctr">
                    <a:solidFill>
                      <a:srgbClr val="000048"/>
                    </a:solidFill>
                  </a:tcPr>
                </a:tc>
              </a:tr>
              <a:tr h="457200">
                <a:tc>
                  <a:txBody>
                    <a:bodyPr wrap="square" anchor="ctr">
                      <a:noAutofit/>
                    </a:bodyPr>
                    <a:lstStyle/>
                    <a:p>
                      <a:pPr algn="l"/>
                      <a:r>
                        <a:rPr sz="1200" b="0" i="0">
                          <a:solidFill>
                            <a:srgbClr val="1E1E2E"/>
                          </a:solidFill>
                          <a:latin typeface="Arial"/>
                        </a:rPr>
                        <a:t>Coverage assessment and catalogue build</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$120,000</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Containment control plane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CIS Infra</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$60,000</a:t>
                      </a:r>
                    </a:p>
                  </a:txBody>
                  <a:tcPr marL="73152" marR="73152" marT="36576" marB="36576" anchor="ctr">
                    <a:solidFill>
                      <a:srgbClr val="F5F5F2"/>
                    </a:solidFill>
                  </a:tcPr>
                </a:tc>
              </a:tr>
              <a:tr h="457200">
                <a:tc>
                  <a:txBody>
                    <a:bodyPr wrap="square" anchor="ctr">
                      <a:noAutofit/>
                    </a:bodyPr>
                    <a:lstStyle/>
                    <a:p>
                      <a:pPr algn="l"/>
                      <a:r>
                        <a:rPr sz="1200" b="0" i="0">
                          <a:solidFill>
                            <a:srgbClr val="1E1E2E"/>
                          </a:solidFill>
                          <a:latin typeface="Arial"/>
                        </a:rPr>
                        <a:t>Runtime limits and instrumentation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AI</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$45,000</a:t>
                      </a:r>
                    </a:p>
                  </a:txBody>
                  <a:tcPr marL="73152" marR="73152" marT="36576" marB="36576" anchor="ctr">
                    <a:solidFill>
                      <a:srgbClr val="FFFFFF"/>
                    </a:solidFill>
                  </a:tcPr>
                </a:tc>
              </a:tr>
              <a:tr h="457200">
                <a:tc>
                  <a:txBody>
                    <a:bodyPr wrap="square" anchor="ctr">
                      <a:noAutofit/>
                    </a:bodyPr>
                    <a:lstStyle/>
                    <a:p>
                      <a:pPr algn="l"/>
                      <a:r>
                        <a:rPr sz="1200" b="0" i="0">
                          <a:solidFill>
                            <a:srgbClr val="1E1E2E"/>
                          </a:solidFill>
                          <a:latin typeface="Arial"/>
                        </a:rPr>
                        <a:t>Risk policy and drill verification</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Security</a:t>
                      </a:r>
                    </a:p>
                  </a:txBody>
                  <a:tcPr marL="73152" marR="73152" marT="36576" marB="36576" anchor="ctr">
                    <a:solidFill>
                      <a:srgbClr val="F5F5F2"/>
                    </a:solidFill>
                  </a:tcPr>
                </a:tc>
                <a:tc>
                  <a:txBody>
                    <a:bodyPr wrap="square" anchor="ctr">
                      <a:noAutofit/>
                    </a:bodyPr>
                    <a:lstStyle/>
                    <a:p>
                      <a:pPr algn="r"/>
                      <a:r>
                        <a:rPr sz="1200" b="0" i="0">
                          <a:solidFill>
                            <a:srgbClr val="1E1E2E"/>
                          </a:solidFill>
                          <a:latin typeface="Arial"/>
                        </a:rPr>
                        <a:t>$25,000</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Pipeline registration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DevOps</a:t>
                      </a:r>
                    </a:p>
                  </a:txBody>
                  <a:tcPr marL="73152" marR="73152" marT="36576" marB="36576" anchor="ctr">
                    <a:solidFill>
                      <a:srgbClr val="FFFFFF"/>
                    </a:solidFill>
                  </a:tcPr>
                </a:tc>
                <a:tc>
                  <a:txBody>
                    <a:bodyPr wrap="square" anchor="ctr">
                      <a:noAutofit/>
                    </a:bodyPr>
                    <a:lstStyle/>
                    <a:p>
                      <a:pPr algn="r"/>
                      <a:r>
                        <a:rPr sz="1200" b="0" i="0">
                          <a:solidFill>
                            <a:srgbClr val="1E1E2E"/>
                          </a:solidFill>
                          <a:latin typeface="Arial"/>
                        </a:rPr>
                        <a:t>$20,000</a:t>
                      </a:r>
                    </a:p>
                  </a:txBody>
                  <a:tcPr marL="73152" marR="73152" marT="36576" marB="36576" anchor="ctr">
                    <a:solidFill>
                      <a:srgbClr val="FFFFFF"/>
                    </a:solidFill>
                  </a:tcPr>
                </a:tc>
              </a:tr>
              <a:tr h="274320">
                <a:tc>
                  <a:txBody>
                    <a:bodyPr wrap="square" anchor="ctr">
                      <a:noAutofit/>
                    </a:bodyPr>
                    <a:lstStyle/>
                    <a:p>
                      <a:pPr algn="l"/>
                      <a:r>
                        <a:rPr sz="1200" b="1" i="0">
                          <a:solidFill>
                            <a:srgbClr val="000048"/>
                          </a:solidFill>
                          <a:latin typeface="Arial"/>
                        </a:rPr>
                        <a:t>Services total</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
                      </a:r>
                    </a:p>
                  </a:txBody>
                  <a:tcPr marL="73152" marR="73152" marT="36576" marB="36576" anchor="ctr">
                    <a:solidFill>
                      <a:srgbClr val="F5F5F2"/>
                    </a:solidFill>
                  </a:tcPr>
                </a:tc>
                <a:tc>
                  <a:txBody>
                    <a:bodyPr wrap="square" anchor="ctr">
                      <a:noAutofit/>
                    </a:bodyPr>
                    <a:lstStyle/>
                    <a:p>
                      <a:pPr algn="r"/>
                      <a:r>
                        <a:rPr sz="1200" b="1" i="0">
                          <a:solidFill>
                            <a:srgbClr val="000048"/>
                          </a:solidFill>
                          <a:latin typeface="Arial"/>
                        </a:rPr>
                        <a:t>$270,000</a:t>
                      </a:r>
                    </a:p>
                  </a:txBody>
                  <a:tcPr marL="73152" marR="73152" marT="36576" marB="36576" anchor="ctr">
                    <a:solidFill>
                      <a:srgbClr val="F5F5F2"/>
                    </a:solidFill>
                  </a:tcPr>
                </a:tc>
              </a:tr>
            </a:tbl>
          </a:graphicData>
        </a:graphic>
      </p:graphicFrame>
      <p:sp>
        <p:nvSpPr>
          <p:cNvPr id="16" name="TextBox 15"/>
          <p:cNvSpPr txBox="1"/>
          <p:nvPr/>
        </p:nvSpPr>
        <p:spPr>
          <a:xfrm>
            <a:off x="6629400" y="4434840"/>
            <a:ext cx="5010912" cy="914400"/>
          </a:xfrm>
          <a:prstGeom prst="rect">
            <a:avLst/>
          </a:prstGeom>
          <a:noFill/>
        </p:spPr>
        <p:txBody>
          <a:bodyPr wrap="square" lIns="0" rIns="0" tIns="0" bIns="0" anchor="t">
            <a:noAutofit/>
          </a:bodyPr>
          <a:lstStyle/>
          <a:p>
            <a:pPr algn="l"/>
            <a:r>
              <a:rPr sz="1200" b="0" i="0">
                <a:solidFill>
                  <a:srgbClr val="8A4B08"/>
                </a:solidFill>
                <a:latin typeface="Arial"/>
              </a:rPr>
              <a:t>Round numbers to show mechanics only. Not a rate card, quote or tower split. Azure consumption excluded.</a:t>
            </a:r>
          </a:p>
        </p:txBody>
      </p:sp>
      <p:sp>
        <p:nvSpPr>
          <p:cNvPr id="17" name="Rounded Rectangle 16"/>
          <p:cNvSpPr/>
          <p:nvPr/>
        </p:nvSpPr>
        <p:spPr>
          <a:xfrm>
            <a:off x="548640" y="5833872"/>
            <a:ext cx="11091672" cy="502920"/>
          </a:xfrm>
          <a:prstGeom prst="roundRect">
            <a:avLst>
              <a:gd name="adj" fmla="val 14545"/>
            </a:avLst>
          </a:prstGeom>
          <a:solidFill>
            <a:srgbClr val="EFEFFC"/>
          </a:solidFill>
          <a:ln>
            <a:noFill/>
          </a:ln>
          <a:effectLst/>
        </p:spPr>
        <p:style>
          <a:lnRef idx="1">
            <a:schemeClr val="accent1"/>
          </a:lnRef>
          <a:fillRef idx="3">
            <a:schemeClr val="accent1"/>
          </a:fillRef>
          <a:effectRef idx="2">
            <a:schemeClr val="accent1"/>
          </a:effectRef>
          <a:fontRef idx="minor">
            <a:schemeClr val="lt1"/>
          </a:fontRef>
        </p:style>
        <p:txBody>
          <a:bodyPr rtlCol="0" anchor="ctr" lIns="137160" rIns="137160" tIns="73152" bIns="73152" wrap="square">
            <a:noAutofit/>
          </a:bodyPr>
          <a:lstStyle/>
          <a:p>
            <a:pPr algn="l"/>
            <a:r>
              <a:rPr sz="1400" b="1" i="0">
                <a:solidFill>
                  <a:srgbClr val="000048"/>
                </a:solidFill>
                <a:latin typeface="Arial"/>
              </a:rPr>
              <a:t>Decision:  </a:t>
            </a:r>
            <a:r>
              <a:rPr sz="1400" b="0" i="0">
                <a:solidFill>
                  <a:srgbClr val="1E1E2E"/>
                </a:solidFill>
                <a:latin typeface="Arial"/>
              </a:rPr>
              <a:t>No fixed tower percentages. Attribution is derived from priced work packages and approved by Finance.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Delivery and commercial readiness checklist</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R3</a:t>
            </a:r>
          </a:p>
        </p:txBody>
      </p:sp>
      <p:sp>
        <p:nvSpPr>
          <p:cNvPr id="5" name="Status chip: PROPOSED"/>
          <p:cNvSpPr/>
          <p:nvPr/>
        </p:nvSpPr>
        <p:spPr>
          <a:xfrm>
            <a:off x="1898650" y="274320"/>
            <a:ext cx="96520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PROPOSED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35</a:t>
            </a:r>
          </a:p>
        </p:txBody>
      </p:sp>
      <p:graphicFrame>
        <p:nvGraphicFramePr>
          <p:cNvPr id="9" name="Table"/>
          <p:cNvGraphicFramePr>
            <a:graphicFrameLocks noGrp="1"/>
          </p:cNvGraphicFramePr>
          <p:nvPr/>
        </p:nvGraphicFramePr>
        <p:xfrm>
          <a:off x="54864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Entry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Named agent cohort, runtimes, containment authority, access to subscriptions and workspaces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Discovery inputs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Agent list (any form), runtimes, identities, tools, telemetry setup, incident process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Deliverables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Registry, reconciliation, workbook, classification rules, containment plane, runbooks, drill records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Scope boundaries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Agreed runtimes and subscriptions; outside-coverage agents listed, not managed</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Dependencies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AI instrumentation, DevOps registration, Security policy, offering 01 network design</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Delivery phases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Inventory, instrument, control, exercise (estimate per engagement)</a:t>
                      </a:r>
                    </a:p>
                  </a:txBody>
                  <a:tcPr marL="73152" marR="73152" marT="36576" marB="36576" anchor="ctr">
                    <a:solidFill>
                      <a:srgbClr val="F5F5F2"/>
                    </a:solidFill>
                  </a:tcPr>
                </a:tc>
              </a:tr>
            </a:tbl>
          </a:graphicData>
        </a:graphic>
      </p:graphicFrame>
      <p:graphicFrame>
        <p:nvGraphicFramePr>
          <p:cNvPr id="10" name="Table"/>
          <p:cNvGraphicFramePr>
            <a:graphicFrameLocks noGrp="1"/>
          </p:cNvGraphicFramePr>
          <p:nvPr/>
        </p:nvGraphicFramePr>
        <p:xfrm>
          <a:off x="6172200" y="1325880"/>
          <a:ext cx="5468111" cy="2834640"/>
        </p:xfrm>
        <a:graphic>
          <a:graphicData uri="http://schemas.openxmlformats.org/drawingml/2006/table">
            <a:tbl>
              <a:tblPr firstRow="1" bandRow="0">
                <a:tableStyleId>{5C22544A-7EE6-4342-B048-85BDC9FD1C3A}</a:tableStyleId>
              </a:tblPr>
              <a:tblGrid>
                <a:gridCol w="1417320"/>
                <a:gridCol w="4050791"/>
              </a:tblGrid>
              <a:tr h="274320">
                <a:tc>
                  <a:txBody>
                    <a:bodyPr wrap="square" anchor="ctr">
                      <a:noAutofit/>
                    </a:bodyPr>
                    <a:lstStyle/>
                    <a:p>
                      <a:pPr algn="l"/>
                      <a:r>
                        <a:rPr sz="1200" b="1" i="0">
                          <a:solidFill>
                            <a:srgbClr val="FFFFFF"/>
                          </a:solidFill>
                          <a:latin typeface="Arial"/>
                        </a:rPr>
                        <a:t>Item</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This offering</a:t>
                      </a:r>
                    </a:p>
                  </a:txBody>
                  <a:tcPr marL="73152" marR="73152" marT="36576" marB="36576" anchor="ctr">
                    <a:solidFill>
                      <a:srgbClr val="000048"/>
                    </a:solidFill>
                  </a:tcPr>
                </a:tc>
              </a:tr>
              <a:tr h="426720">
                <a:tc>
                  <a:txBody>
                    <a:bodyPr wrap="square" anchor="ctr">
                      <a:noAutofit/>
                    </a:bodyPr>
                    <a:lstStyle/>
                    <a:p>
                      <a:pPr algn="l"/>
                      <a:r>
                        <a:rPr sz="1100" b="1" i="0">
                          <a:solidFill>
                            <a:srgbClr val="1E1E2E"/>
                          </a:solidFill>
                          <a:latin typeface="Arial"/>
                        </a:rPr>
                        <a:t>Acceptance criteria</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Appendix A14 gates and K4 tests</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Customer responsibilities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Owners per agent, authority decisions, approvals for drills and restarts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Pricing units</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Fixed assessment; role days per work package; recurring via offering 05</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Change-control triggers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New runtime family, subscriptions, agents above cohort, new tool classes</a:t>
                      </a:r>
                    </a:p>
                  </a:txBody>
                  <a:tcPr marL="73152" marR="73152" marT="36576" marB="36576" anchor="ctr">
                    <a:solidFill>
                      <a:srgbClr val="F5F5F2"/>
                    </a:solidFill>
                  </a:tcPr>
                </a:tc>
              </a:tr>
              <a:tr h="426720">
                <a:tc>
                  <a:txBody>
                    <a:bodyPr wrap="square" anchor="ctr">
                      <a:noAutofit/>
                    </a:bodyPr>
                    <a:lstStyle/>
                    <a:p>
                      <a:pPr algn="l"/>
                      <a:r>
                        <a:rPr sz="1100" b="1" i="0">
                          <a:solidFill>
                            <a:srgbClr val="1E1E2E"/>
                          </a:solidFill>
                          <a:latin typeface="Arial"/>
                        </a:rPr>
                        <a:t>Support handoff</a:t>
                      </a:r>
                    </a:p>
                  </a:txBody>
                  <a:tcPr marL="73152" marR="73152" marT="36576" marB="36576" anchor="ctr">
                    <a:solidFill>
                      <a:srgbClr val="FFFFFF"/>
                    </a:solidFill>
                  </a:tcPr>
                </a:tc>
                <a:tc>
                  <a:txBody>
                    <a:bodyPr wrap="square" anchor="ctr">
                      <a:noAutofit/>
                    </a:bodyPr>
                    <a:lstStyle/>
                    <a:p>
                      <a:pPr algn="l"/>
                      <a:r>
                        <a:rPr sz="1100" b="0" i="0">
                          <a:solidFill>
                            <a:srgbClr val="1E1E2E"/>
                          </a:solidFill>
                          <a:latin typeface="Arial"/>
                        </a:rPr>
                        <a:t>Offering 05 or customer operations; review queues and drills scheduled</a:t>
                      </a:r>
                    </a:p>
                  </a:txBody>
                  <a:tcPr marL="73152" marR="73152" marT="36576" marB="36576" anchor="ctr">
                    <a:solidFill>
                      <a:srgbClr val="FFFFFF"/>
                    </a:solidFill>
                  </a:tcPr>
                </a:tc>
              </a:tr>
              <a:tr h="426720">
                <a:tc>
                  <a:txBody>
                    <a:bodyPr wrap="square" anchor="ctr">
                      <a:noAutofit/>
                    </a:bodyPr>
                    <a:lstStyle/>
                    <a:p>
                      <a:pPr algn="l"/>
                      <a:r>
                        <a:rPr sz="1100" b="1" i="0">
                          <a:solidFill>
                            <a:srgbClr val="1E1E2E"/>
                          </a:solidFill>
                          <a:latin typeface="Arial"/>
                        </a:rPr>
                        <a:t>Success indicators</a:t>
                      </a:r>
                    </a:p>
                  </a:txBody>
                  <a:tcPr marL="73152" marR="73152" marT="36576" marB="36576" anchor="ctr">
                    <a:solidFill>
                      <a:srgbClr val="F5F5F2"/>
                    </a:solidFill>
                  </a:tcPr>
                </a:tc>
                <a:tc>
                  <a:txBody>
                    <a:bodyPr wrap="square" anchor="ctr">
                      <a:noAutofit/>
                    </a:bodyPr>
                    <a:lstStyle/>
                    <a:p>
                      <a:pPr algn="l"/>
                      <a:r>
                        <a:rPr sz="1100" b="0" i="0">
                          <a:solidFill>
                            <a:srgbClr val="1E1E2E"/>
                          </a:solidFill>
                          <a:latin typeface="Arial"/>
                        </a:rPr>
                        <a:t>Coverage with stated denominator; owners; drills passed; measured stop time</a:t>
                      </a:r>
                    </a:p>
                  </a:txBody>
                  <a:tcPr marL="73152" marR="73152" marT="36576" marB="36576" anchor="ctr">
                    <a:solidFill>
                      <a:srgbClr val="F5F5F2"/>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Decisions that need an owner and a date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D1</a:t>
            </a:r>
          </a:p>
        </p:txBody>
      </p:sp>
      <p:sp>
        <p:nvSpPr>
          <p:cNvPr id="5" name="Status chip: OPEN DECISIONS"/>
          <p:cNvSpPr/>
          <p:nvPr/>
        </p:nvSpPr>
        <p:spPr>
          <a:xfrm>
            <a:off x="1898650" y="274320"/>
            <a:ext cx="1483360" cy="237744"/>
          </a:xfrm>
          <a:prstGeom prst="roundRect">
            <a:avLst>
              <a:gd name="adj" fmla="val 30769"/>
            </a:avLst>
          </a:prstGeom>
          <a:solidFill>
            <a:srgbClr val="7373D8"/>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FFFFFF"/>
                </a:solidFill>
                <a:latin typeface="Arial"/>
              </a:rPr>
              <a:t>OPEN DECISIONS</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4"/>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36</a:t>
            </a:r>
          </a:p>
        </p:txBody>
      </p:sp>
      <p:graphicFrame>
        <p:nvGraphicFramePr>
          <p:cNvPr id="9" name="Table"/>
          <p:cNvGraphicFramePr>
            <a:graphicFrameLocks noGrp="1"/>
          </p:cNvGraphicFramePr>
          <p:nvPr/>
        </p:nvGraphicFramePr>
        <p:xfrm>
          <a:off x="548640" y="1325880"/>
          <a:ext cx="11091672" cy="1920240"/>
        </p:xfrm>
        <a:graphic>
          <a:graphicData uri="http://schemas.openxmlformats.org/drawingml/2006/table">
            <a:tbl>
              <a:tblPr firstRow="1" bandRow="0">
                <a:tableStyleId>{5C22544A-7EE6-4342-B048-85BDC9FD1C3A}</a:tableStyleId>
              </a:tblPr>
              <a:tblGrid>
                <a:gridCol w="4206240"/>
                <a:gridCol w="1828800"/>
                <a:gridCol w="2194560"/>
                <a:gridCol w="2862072"/>
              </a:tblGrid>
              <a:tr h="274320">
                <a:tc>
                  <a:txBody>
                    <a:bodyPr wrap="square" anchor="ctr">
                      <a:noAutofit/>
                    </a:bodyPr>
                    <a:lstStyle/>
                    <a:p>
                      <a:pPr algn="l"/>
                      <a:r>
                        <a:rPr sz="1200" b="1" i="0">
                          <a:solidFill>
                            <a:srgbClr val="FFFFFF"/>
                          </a:solidFill>
                          <a:latin typeface="Arial"/>
                        </a:rPr>
                        <a:t>Decision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Decide when</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Proposed owner</a:t>
                      </a:r>
                    </a:p>
                  </a:txBody>
                  <a:tcPr marL="73152" marR="73152" marT="36576" marB="36576" anchor="ctr">
                    <a:solidFill>
                      <a:srgbClr val="000048"/>
                    </a:solidFill>
                  </a:tcPr>
                </a:tc>
                <a:tc>
                  <a:txBody>
                    <a:bodyPr wrap="square" anchor="ctr">
                      <a:noAutofit/>
                    </a:bodyPr>
                    <a:lstStyle/>
                    <a:p>
                      <a:pPr algn="l"/>
                      <a:r>
                        <a:rPr sz="1200" b="1" i="0">
                          <a:solidFill>
                            <a:srgbClr val="FFFFFF"/>
                          </a:solidFill>
                          <a:latin typeface="Arial"/>
                        </a:rPr>
                        <a:t>Evidence needed</a:t>
                      </a:r>
                    </a:p>
                  </a:txBody>
                  <a:tcPr marL="73152" marR="73152" marT="36576" marB="36576" anchor="ctr">
                    <a:solidFill>
                      <a:srgbClr val="000048"/>
                    </a:solidFill>
                  </a:tcPr>
                </a:tc>
              </a:tr>
              <a:tr h="274320">
                <a:tc>
                  <a:txBody>
                    <a:bodyPr wrap="square" anchor="ctr">
                      <a:noAutofit/>
                    </a:bodyPr>
                    <a:lstStyle/>
                    <a:p>
                      <a:pPr algn="l"/>
                      <a:r>
                        <a:rPr sz="1200" b="0" i="0">
                          <a:solidFill>
                            <a:srgbClr val="1E1E2E"/>
                          </a:solidFill>
                          <a:latin typeface="Arial"/>
                        </a:rPr>
                        <a:t>Pilot agent cohort and runtimes</a:t>
                      </a:r>
                    </a:p>
                  </a:txBody>
                  <a:tcPr marL="73152" marR="73152" marT="36576" marB="36576" anchor="ctr">
                    <a:solidFill>
                      <a:srgbClr val="FFFFFF"/>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AI platform leader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Agent list and runtimes</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Containment and restart authority</a:t>
                      </a:r>
                    </a:p>
                  </a:txBody>
                  <a:tcPr marL="73152" marR="73152" marT="36576" marB="36576" anchor="ctr">
                    <a:solidFill>
                      <a:srgbClr val="F5F5F2"/>
                    </a:solidFill>
                  </a:tcPr>
                </a:tc>
                <a:tc>
                  <a:txBody>
                    <a:bodyPr wrap="square" anchor="ctr">
                      <a:noAutofit/>
                    </a:bodyPr>
                    <a:lstStyle/>
                    <a:p>
                      <a:pPr algn="l"/>
                      <a:r>
                        <a:rPr sz="1200" b="0" i="0">
                          <a:solidFill>
                            <a:srgbClr val="1D6B3A"/>
                          </a:solidFill>
                          <a:latin typeface="Arial"/>
                        </a:rPr>
                        <a:t>Now</a:t>
                      </a:r>
                    </a:p>
                  </a:txBody>
                  <a:tcPr marL="73152" marR="73152" marT="36576" marB="36576" anchor="ctr">
                    <a:solidFill>
                      <a:srgbClr val="E1F4E7"/>
                    </a:solidFill>
                  </a:tcPr>
                </a:tc>
                <a:tc>
                  <a:txBody>
                    <a:bodyPr wrap="square" anchor="ctr">
                      <a:noAutofit/>
                    </a:bodyPr>
                    <a:lstStyle/>
                    <a:p>
                      <a:pPr algn="l"/>
                      <a:r>
                        <a:rPr sz="1200" b="0" i="0">
                          <a:solidFill>
                            <a:srgbClr val="1E1E2E"/>
                          </a:solidFill>
                          <a:latin typeface="Arial"/>
                        </a:rPr>
                        <a:t>Customer risk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Named roles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Dormancy threshold and exceptions</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After pilot</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Customer service owner</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Usage patterns from pilot</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Stop-time targets per runtime</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After drills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Integrated service owner</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Measured drill timings</a:t>
                      </a:r>
                    </a:p>
                  </a:txBody>
                  <a:tcPr marL="73152" marR="73152" marT="36576" marB="36576" anchor="ctr">
                    <a:solidFill>
                      <a:srgbClr val="F5F5F2"/>
                    </a:solidFill>
                  </a:tcPr>
                </a:tc>
              </a:tr>
              <a:tr h="274320">
                <a:tc>
                  <a:txBody>
                    <a:bodyPr wrap="square" anchor="ctr">
                      <a:noAutofit/>
                    </a:bodyPr>
                    <a:lstStyle/>
                    <a:p>
                      <a:pPr algn="l"/>
                      <a:r>
                        <a:rPr sz="1200" b="0" i="0">
                          <a:solidFill>
                            <a:srgbClr val="1E1E2E"/>
                          </a:solidFill>
                          <a:latin typeface="Arial"/>
                        </a:rPr>
                        <a:t>Sell rates and attribution</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 approval</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Finance</a:t>
                      </a:r>
                    </a:p>
                  </a:txBody>
                  <a:tcPr marL="73152" marR="73152" marT="36576" marB="36576" anchor="ctr">
                    <a:solidFill>
                      <a:srgbClr val="FFFFFF"/>
                    </a:solidFill>
                  </a:tcPr>
                </a:tc>
                <a:tc>
                  <a:txBody>
                    <a:bodyPr wrap="square" anchor="ctr">
                      <a:noAutofit/>
                    </a:bodyPr>
                    <a:lstStyle/>
                    <a:p>
                      <a:pPr algn="l"/>
                      <a:r>
                        <a:rPr sz="1200" b="0" i="0">
                          <a:solidFill>
                            <a:srgbClr val="1E1E2E"/>
                          </a:solidFill>
                          <a:latin typeface="Arial"/>
                        </a:rPr>
                        <a:t>Costing model</a:t>
                      </a:r>
                    </a:p>
                  </a:txBody>
                  <a:tcPr marL="73152" marR="73152" marT="36576" marB="36576" anchor="ctr">
                    <a:solidFill>
                      <a:srgbClr val="FFFFFF"/>
                    </a:solidFill>
                  </a:tcPr>
                </a:tc>
              </a:tr>
              <a:tr h="274320">
                <a:tc>
                  <a:txBody>
                    <a:bodyPr wrap="square" anchor="ctr">
                      <a:noAutofit/>
                    </a:bodyPr>
                    <a:lstStyle/>
                    <a:p>
                      <a:pPr algn="l"/>
                      <a:r>
                        <a:rPr sz="1200" b="0" i="0">
                          <a:solidFill>
                            <a:srgbClr val="1E1E2E"/>
                          </a:solidFill>
                          <a:latin typeface="Arial"/>
                        </a:rPr>
                        <a:t>AI tower commitment for runtime limits</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Tower agreement</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AI tower lead</a:t>
                      </a:r>
                    </a:p>
                  </a:txBody>
                  <a:tcPr marL="73152" marR="73152" marT="36576" marB="36576" anchor="ctr">
                    <a:solidFill>
                      <a:srgbClr val="F5F5F2"/>
                    </a:solidFill>
                  </a:tcPr>
                </a:tc>
                <a:tc>
                  <a:txBody>
                    <a:bodyPr wrap="square" anchor="ctr">
                      <a:noAutofit/>
                    </a:bodyPr>
                    <a:lstStyle/>
                    <a:p>
                      <a:pPr algn="l"/>
                      <a:r>
                        <a:rPr sz="1200" b="0" i="0">
                          <a:solidFill>
                            <a:srgbClr val="1E1E2E"/>
                          </a:solidFill>
                          <a:latin typeface="Arial"/>
                        </a:rPr>
                        <a:t>Effort and owner</a:t>
                      </a:r>
                    </a:p>
                  </a:txBody>
                  <a:tcPr marL="73152" marR="73152" marT="36576" marB="36576" anchor="ctr">
                    <a:solidFill>
                      <a:srgbClr val="F5F5F2"/>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multiple-agent workflow</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O1</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37</a:t>
            </a:r>
          </a:p>
        </p:txBody>
      </p:sp>
      <p:pic>
        <p:nvPicPr>
          <p:cNvPr id="9" name="Original reference image: 15_multiple-agent-workflow-automation.png" descr="15_multiple-agent-workflow-automation.png"/>
          <p:cNvPicPr>
            <a:picLocks noChangeAspect="1"/>
          </p:cNvPicPr>
          <p:nvPr/>
        </p:nvPicPr>
        <p:blipFill>
          <a:blip r:embed="rId4"/>
          <a:stretch>
            <a:fillRect/>
          </a:stretch>
        </p:blipFill>
        <p:spPr>
          <a:xfrm>
            <a:off x="3160776" y="1280160"/>
            <a:ext cx="5867400"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15_multiple-agent-workflow-automation.png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Source labels the model GPT-4.1, which retires 2027-04-14; adapted view (A11) uses a generic model deployment.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agentic RAG loop</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O2</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38</a:t>
            </a:r>
          </a:p>
        </p:txBody>
      </p:sp>
      <p:pic>
        <p:nvPicPr>
          <p:cNvPr id="9" name="Original reference image: 14_agentic-rag.png" descr="14_agentic-rag.png"/>
          <p:cNvPicPr>
            <a:picLocks noChangeAspect="1"/>
          </p:cNvPicPr>
          <p:nvPr/>
        </p:nvPicPr>
        <p:blipFill>
          <a:blip r:embed="rId4"/>
          <a:stretch>
            <a:fillRect/>
          </a:stretch>
        </p:blipFill>
        <p:spPr>
          <a:xfrm>
            <a:off x="548640" y="1280160"/>
            <a:ext cx="11091672" cy="2852144"/>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14_agentic-rag.png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Reasoning loop only; it does not show an implemented kill switch.</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Original reference: Foundry baseline monitoring scope</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O3</a:t>
            </a:r>
          </a:p>
        </p:txBody>
      </p:sp>
      <p:sp>
        <p:nvSpPr>
          <p:cNvPr id="5" name="Status chip: ORIGINAL REFERENCE, UNCHANGED"/>
          <p:cNvSpPr/>
          <p:nvPr/>
        </p:nvSpPr>
        <p:spPr>
          <a:xfrm>
            <a:off x="1898650" y="274320"/>
            <a:ext cx="2778760" cy="237744"/>
          </a:xfrm>
          <a:prstGeom prst="roundRect">
            <a:avLst>
              <a:gd name="adj" fmla="val 30769"/>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2F78C4"/>
                </a:solidFill>
                <a:latin typeface="Arial"/>
              </a:rPr>
              <a:t>ORIGINAL REFERENCE, UNCHANGED</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7"/>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39</a:t>
            </a:r>
          </a:p>
        </p:txBody>
      </p:sp>
      <p:pic>
        <p:nvPicPr>
          <p:cNvPr id="9" name="Original reference image: 07_baseline-microsoft-foundry.png" descr="07_baseline-microsoft-foundry.png"/>
          <p:cNvPicPr>
            <a:picLocks noChangeAspect="1"/>
          </p:cNvPicPr>
          <p:nvPr/>
        </p:nvPicPr>
        <p:blipFill>
          <a:blip r:embed="rId4"/>
          <a:stretch>
            <a:fillRect/>
          </a:stretch>
        </p:blipFill>
        <p:spPr>
          <a:xfrm>
            <a:off x="1789590" y="1280160"/>
            <a:ext cx="8609771" cy="4526280"/>
          </a:xfrm>
          <a:prstGeom prst="rect">
            <a:avLst/>
          </a:prstGeom>
        </p:spPr>
      </p:pic>
      <p:sp>
        <p:nvSpPr>
          <p:cNvPr id="10" name="TextBox 9"/>
          <p:cNvSpPr txBox="1"/>
          <p:nvPr/>
        </p:nvSpPr>
        <p:spPr>
          <a:xfrm>
            <a:off x="548640" y="5897880"/>
            <a:ext cx="11064240" cy="274320"/>
          </a:xfrm>
          <a:prstGeom prst="rect">
            <a:avLst/>
          </a:prstGeom>
          <a:noFill/>
        </p:spPr>
        <p:txBody>
          <a:bodyPr wrap="square" lIns="0" rIns="0" tIns="0" bIns="0" anchor="t">
            <a:noAutofit/>
          </a:bodyPr>
          <a:lstStyle/>
          <a:p>
            <a:pPr algn="l"/>
            <a:r>
              <a:rPr sz="1100" b="1" i="0">
                <a:solidFill>
                  <a:srgbClr val="53565A"/>
                </a:solidFill>
                <a:latin typeface="Arial"/>
              </a:rPr>
              <a:t>Source: </a:t>
            </a:r>
            <a:r>
              <a:rPr sz="1100" b="0" i="0">
                <a:solidFill>
                  <a:srgbClr val="2F78C4"/>
                </a:solidFill>
                <a:latin typeface="Arial"/>
                <a:hlinkClick r:id="rId5"/>
              </a:rPr>
              <a:t>07_baseline-microsoft-foundry.png in the GTM repository</a:t>
            </a:r>
            <a:r>
              <a:rPr sz="1100" b="1" i="0">
                <a:solidFill>
                  <a:srgbClr val="53565A"/>
                </a:solidFill>
                <a:latin typeface="Arial"/>
              </a:rPr>
              <a:t>  ·  Microsoft page: </a:t>
            </a:r>
            <a:r>
              <a:rPr sz="1100" b="0" i="0">
                <a:solidFill>
                  <a:srgbClr val="2F78C4"/>
                </a:solidFill>
                <a:latin typeface="Arial"/>
                <a:hlinkClick r:id="rId6"/>
              </a:rPr>
              <a:t>link</a:t>
            </a:r>
          </a:p>
        </p:txBody>
      </p:sp>
      <p:sp>
        <p:nvSpPr>
          <p:cNvPr id="11" name="TextBox 10"/>
          <p:cNvSpPr txBox="1"/>
          <p:nvPr/>
        </p:nvSpPr>
        <p:spPr>
          <a:xfrm>
            <a:off x="548640" y="6144768"/>
            <a:ext cx="11064240" cy="274320"/>
          </a:xfrm>
          <a:prstGeom prst="rect">
            <a:avLst/>
          </a:prstGeom>
          <a:noFill/>
        </p:spPr>
        <p:txBody>
          <a:bodyPr wrap="square" lIns="0" rIns="0" tIns="0" bIns="0" anchor="t">
            <a:noAutofit/>
          </a:bodyPr>
          <a:lstStyle/>
          <a:p>
            <a:pPr algn="l"/>
            <a:r>
              <a:rPr sz="1100" b="0" i="0">
                <a:solidFill>
                  <a:srgbClr val="53565A"/>
                </a:solidFill>
                <a:latin typeface="Arial"/>
              </a:rPr>
              <a:t>Use to map agent registrations, runtime, search, storage and network to monitored assets.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621792"/>
            <a:ext cx="11091672" cy="640080"/>
          </a:xfrm>
        </p:spPr>
        <p:txBody>
          <a:bodyPr wrap="square" anchor="t">
            <a:noAutofit/>
          </a:bodyPr>
          <a:lstStyle/>
          <a:p>
            <a:pPr algn="l"/>
            <a:r>
              <a:rPr sz="2800" b="1">
                <a:solidFill>
                  <a:srgbClr val="000048"/>
                </a:solidFill>
                <a:latin typeface="Arial"/>
              </a:rPr>
              <a:t>Sources and verification</a:t>
            </a:r>
          </a:p>
        </p:txBody>
      </p:sp>
      <p:pic>
        <p:nvPicPr>
          <p:cNvPr id="3" name="Picture 2" descr="image.png"/>
          <p:cNvPicPr>
            <a:picLocks noChangeAspect="1"/>
          </p:cNvPicPr>
          <p:nvPr/>
        </p:nvPicPr>
        <p:blipFill>
          <a:blip r:embed="rId2"/>
          <a:stretch>
            <a:fillRect/>
          </a:stretch>
        </p:blipFill>
        <p:spPr>
          <a:xfrm>
            <a:off x="10104120" y="274320"/>
            <a:ext cx="1536192" cy="275045"/>
          </a:xfrm>
          <a:prstGeom prst="rect">
            <a:avLst/>
          </a:prstGeom>
        </p:spPr>
      </p:pic>
      <p:sp>
        <p:nvSpPr>
          <p:cNvPr id="4" name="TextBox 3"/>
          <p:cNvSpPr txBox="1"/>
          <p:nvPr/>
        </p:nvSpPr>
        <p:spPr>
          <a:xfrm>
            <a:off x="548640" y="274320"/>
            <a:ext cx="1167130" cy="256032"/>
          </a:xfrm>
          <a:prstGeom prst="rect">
            <a:avLst/>
          </a:prstGeom>
          <a:noFill/>
        </p:spPr>
        <p:txBody>
          <a:bodyPr wrap="square" lIns="0" rIns="0" tIns="0" bIns="0" anchor="t">
            <a:noAutofit/>
          </a:bodyPr>
          <a:lstStyle/>
          <a:p>
            <a:pPr algn="l"/>
            <a:r>
              <a:rPr sz="1100" b="1" i="0">
                <a:solidFill>
                  <a:srgbClr val="2F78C4"/>
                </a:solidFill>
                <a:latin typeface="Arial"/>
              </a:rPr>
              <a:t>APPENDIX S1</a:t>
            </a:r>
          </a:p>
        </p:txBody>
      </p:sp>
      <p:sp>
        <p:nvSpPr>
          <p:cNvPr id="5" name="Status chip: CHECKED 11 OCT 2026"/>
          <p:cNvSpPr/>
          <p:nvPr/>
        </p:nvSpPr>
        <p:spPr>
          <a:xfrm>
            <a:off x="1898650" y="274320"/>
            <a:ext cx="1915160" cy="237744"/>
          </a:xfrm>
          <a:prstGeom prst="roundRect">
            <a:avLst>
              <a:gd name="adj" fmla="val 30769"/>
            </a:avLst>
          </a:prstGeom>
          <a:solidFill>
            <a:srgbClr val="E1F4E7"/>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wrap="none">
            <a:noAutofit/>
          </a:bodyPr>
          <a:lstStyle/>
          <a:p>
            <a:pPr algn="ctr"/>
            <a:r>
              <a:rPr sz="1000" b="1" i="0">
                <a:solidFill>
                  <a:srgbClr val="1D6B3A"/>
                </a:solidFill>
                <a:latin typeface="Arial"/>
              </a:rPr>
              <a:t>CHECKED 11 OCT 2026</a:t>
            </a:r>
          </a:p>
        </p:txBody>
      </p:sp>
      <p:sp>
        <p:nvSpPr>
          <p:cNvPr id="6" name="TextBox 5"/>
          <p:cNvSpPr txBox="1"/>
          <p:nvPr/>
        </p:nvSpPr>
        <p:spPr>
          <a:xfrm>
            <a:off x="548640" y="6446520"/>
            <a:ext cx="6949440" cy="256032"/>
          </a:xfrm>
          <a:prstGeom prst="rect">
            <a:avLst/>
          </a:prstGeom>
          <a:noFill/>
        </p:spPr>
        <p:txBody>
          <a:bodyPr wrap="square" lIns="0" rIns="0" tIns="0" bIns="0" anchor="t">
            <a:noAutofit/>
          </a:bodyPr>
          <a:lstStyle/>
          <a:p>
            <a:pPr algn="l"/>
            <a:r>
              <a:rPr sz="1000" b="0" i="0">
                <a:solidFill>
                  <a:srgbClr val="53565A"/>
                </a:solidFill>
                <a:latin typeface="Arial"/>
              </a:rPr>
              <a:t>CIS Infra  ·  Agent Governance and Operations  ·  11 Oct 2026  ·  Working proposal, not approved terms</a:t>
            </a:r>
          </a:p>
        </p:txBody>
      </p:sp>
      <p:sp>
        <p:nvSpPr>
          <p:cNvPr id="7" name="IndexLink">
            <a:hlinkClick action="ppaction://hlinksldjump" r:id="rId16"/>
          </p:cNvPr>
          <p:cNvSpPr txBox="1"/>
          <p:nvPr/>
        </p:nvSpPr>
        <p:spPr>
          <a:xfrm>
            <a:off x="8778240" y="6446520"/>
            <a:ext cx="1463040" cy="256032"/>
          </a:xfrm>
          <a:prstGeom prst="rect">
            <a:avLst/>
          </a:prstGeom>
          <a:noFill/>
        </p:spPr>
        <p:txBody>
          <a:bodyPr wrap="square" lIns="0" rIns="0" tIns="0" bIns="0" anchor="t">
            <a:noAutofit/>
          </a:bodyPr>
          <a:lstStyle/>
          <a:p>
            <a:pPr algn="r"/>
            <a:r>
              <a:rPr sz="1000" b="1" i="0">
                <a:solidFill>
                  <a:srgbClr val="2F78C4"/>
                </a:solidFill>
                <a:latin typeface="Arial"/>
              </a:rPr>
              <a:t>Appendix index</a:t>
            </a:r>
          </a:p>
        </p:txBody>
      </p:sp>
      <p:sp>
        <p:nvSpPr>
          <p:cNvPr id="8" name="TextBox 7"/>
          <p:cNvSpPr txBox="1"/>
          <p:nvPr/>
        </p:nvSpPr>
        <p:spPr>
          <a:xfrm>
            <a:off x="10881360" y="6446520"/>
            <a:ext cx="758952" cy="256032"/>
          </a:xfrm>
          <a:prstGeom prst="rect">
            <a:avLst/>
          </a:prstGeom>
          <a:noFill/>
        </p:spPr>
        <p:txBody>
          <a:bodyPr wrap="square" lIns="0" rIns="0" tIns="0" bIns="0" anchor="t">
            <a:noAutofit/>
          </a:bodyPr>
          <a:lstStyle/>
          <a:p>
            <a:pPr algn="r"/>
            <a:r>
              <a:rPr sz="1000" b="0" i="0">
                <a:solidFill>
                  <a:srgbClr val="53565A"/>
                </a:solidFill>
                <a:latin typeface="Arial"/>
              </a:rPr>
              <a:t>40</a:t>
            </a:r>
          </a:p>
        </p:txBody>
      </p:sp>
      <p:sp>
        <p:nvSpPr>
          <p:cNvPr id="9" name="TextBox 8"/>
          <p:cNvSpPr txBox="1"/>
          <p:nvPr/>
        </p:nvSpPr>
        <p:spPr>
          <a:xfrm>
            <a:off x="548640" y="1325880"/>
            <a:ext cx="11091672" cy="4937760"/>
          </a:xfrm>
          <a:prstGeom prst="rect">
            <a:avLst/>
          </a:prstGeom>
          <a:noFill/>
        </p:spPr>
        <p:txBody>
          <a:bodyPr wrap="square" lIns="0" rIns="0" tIns="0" bIns="0" anchor="t">
            <a:noAutofit/>
          </a:bodyPr>
          <a:lstStyle/>
          <a:p>
            <a:pPr algn="l">
              <a:spcAft>
                <a:spcPts val="300"/>
              </a:spcAft>
            </a:pPr>
            <a:r>
              <a:rPr sz="1300" b="1" i="0">
                <a:solidFill>
                  <a:srgbClr val="000048"/>
                </a:solidFill>
                <a:latin typeface="Arial"/>
              </a:rPr>
              <a:t>Foundry Control Plane: manage agents:  </a:t>
            </a:r>
            <a:r>
              <a:rPr sz="1300" b="0" i="0">
                <a:solidFill>
                  <a:srgbClr val="2F78C4"/>
                </a:solidFill>
                <a:latin typeface="Arial"/>
                <a:hlinkClick r:id="rId4"/>
              </a:rPr>
              <a:t>https://learn.microsoft.com/en-us/azure/foundry/control-plane/how-to-manage-agents</a:t>
            </a:r>
          </a:p>
          <a:p>
            <a:pPr algn="l">
              <a:spcAft>
                <a:spcPts val="300"/>
              </a:spcAft>
            </a:pPr>
            <a:r>
              <a:rPr sz="1300" b="1" i="0">
                <a:solidFill>
                  <a:srgbClr val="000048"/>
                </a:solidFill>
                <a:latin typeface="Arial"/>
              </a:rPr>
              <a:t>Foundry Control Plane: register custom agent:  </a:t>
            </a:r>
            <a:r>
              <a:rPr sz="1300" b="0" i="0">
                <a:solidFill>
                  <a:srgbClr val="2F78C4"/>
                </a:solidFill>
                <a:latin typeface="Arial"/>
                <a:hlinkClick r:id="rId5"/>
              </a:rPr>
              <a:t>https://learn.microsoft.com/en-us/azure/foundry/control-plane/register-custom-agent</a:t>
            </a:r>
          </a:p>
          <a:p>
            <a:pPr algn="l">
              <a:spcAft>
                <a:spcPts val="300"/>
              </a:spcAft>
            </a:pPr>
            <a:r>
              <a:rPr sz="1300" b="1" i="0">
                <a:solidFill>
                  <a:srgbClr val="000048"/>
                </a:solidFill>
                <a:latin typeface="Arial"/>
              </a:rPr>
              <a:t>AI gateway capabilities in API Management:  </a:t>
            </a:r>
            <a:r>
              <a:rPr sz="1300" b="0" i="0">
                <a:solidFill>
                  <a:srgbClr val="2F78C4"/>
                </a:solidFill>
                <a:latin typeface="Arial"/>
                <a:hlinkClick r:id="rId6"/>
              </a:rPr>
              <a:t>https://learn.microsoft.com/en-us/azure/api-management/genai-gateway-capabilities</a:t>
            </a:r>
          </a:p>
          <a:p>
            <a:pPr algn="l">
              <a:spcAft>
                <a:spcPts val="300"/>
              </a:spcAft>
            </a:pPr>
            <a:r>
              <a:rPr sz="1300" b="1" i="0">
                <a:solidFill>
                  <a:srgbClr val="000048"/>
                </a:solidFill>
                <a:latin typeface="Arial"/>
              </a:rPr>
              <a:t>Azure Architecture Icons (V24):  </a:t>
            </a:r>
            <a:r>
              <a:rPr sz="1300" b="0" i="0">
                <a:solidFill>
                  <a:srgbClr val="2F78C4"/>
                </a:solidFill>
                <a:latin typeface="Arial"/>
                <a:hlinkClick r:id="rId7"/>
              </a:rPr>
              <a:t>https://learn.microsoft.com/en-us/azure/architecture/icons/</a:t>
            </a:r>
          </a:p>
          <a:p>
            <a:pPr algn="l">
              <a:spcAft>
                <a:spcPts val="300"/>
              </a:spcAft>
            </a:pPr>
            <a:r>
              <a:rPr sz="1300" b="1" i="0">
                <a:solidFill>
                  <a:srgbClr val="000048"/>
                </a:solidFill>
                <a:latin typeface="Arial"/>
              </a:rPr>
              <a:t>az-icons.com catalogue of official Azure icons (July 2026 set):  </a:t>
            </a:r>
            <a:r>
              <a:rPr sz="1300" b="0" i="0">
                <a:solidFill>
                  <a:srgbClr val="2F78C4"/>
                </a:solidFill>
                <a:latin typeface="Arial"/>
                <a:hlinkClick r:id="rId8"/>
              </a:rPr>
              <a:t>https://az-icons.com/</a:t>
            </a:r>
          </a:p>
          <a:p>
            <a:pPr algn="l">
              <a:spcAft>
                <a:spcPts val="300"/>
              </a:spcAft>
            </a:pPr>
            <a:r>
              <a:rPr sz="1300" b="1" i="0">
                <a:solidFill>
                  <a:srgbClr val="000048"/>
                </a:solidFill>
                <a:latin typeface="Arial"/>
              </a:rPr>
              <a:t>Azure Architecture Center browse:  </a:t>
            </a:r>
            <a:r>
              <a:rPr sz="1300" b="0" i="0">
                <a:solidFill>
                  <a:srgbClr val="2F78C4"/>
                </a:solidFill>
                <a:latin typeface="Arial"/>
                <a:hlinkClick r:id="rId9"/>
              </a:rPr>
              <a:t>https://learn.microsoft.com/en-us/azure/architecture/browse/</a:t>
            </a:r>
          </a:p>
          <a:p>
            <a:pPr algn="l">
              <a:spcAft>
                <a:spcPts val="300"/>
              </a:spcAft>
            </a:pPr>
            <a:r>
              <a:rPr sz="1300" b="1" i="0">
                <a:solidFill>
                  <a:srgbClr val="000048"/>
                </a:solidFill>
                <a:latin typeface="Arial"/>
              </a:rPr>
              <a:t>Foundry agent monitoring dashboard:  </a:t>
            </a:r>
            <a:r>
              <a:rPr sz="1300" b="0" i="0">
                <a:solidFill>
                  <a:srgbClr val="2F78C4"/>
                </a:solidFill>
                <a:latin typeface="Arial"/>
                <a:hlinkClick r:id="rId10"/>
              </a:rPr>
              <a:t>https://learn.microsoft.com/en-us/azure/foundry/observability/how-to/how-to-monitor-agents-dashboard</a:t>
            </a:r>
          </a:p>
          <a:p>
            <a:pPr algn="l">
              <a:spcAft>
                <a:spcPts val="300"/>
              </a:spcAft>
            </a:pPr>
            <a:r>
              <a:rPr sz="1300" b="1" i="0">
                <a:solidFill>
                  <a:srgbClr val="000048"/>
                </a:solidFill>
                <a:latin typeface="Arial"/>
              </a:rPr>
              <a:t>APIM send-request policy:  </a:t>
            </a:r>
            <a:r>
              <a:rPr sz="1300" b="0" i="0">
                <a:solidFill>
                  <a:srgbClr val="2F78C4"/>
                </a:solidFill>
                <a:latin typeface="Arial"/>
                <a:hlinkClick r:id="rId11"/>
              </a:rPr>
              <a:t>https://learn.microsoft.com/en-us/azure/api-management/send-request-policy</a:t>
            </a:r>
          </a:p>
          <a:p>
            <a:pPr algn="l">
              <a:spcAft>
                <a:spcPts val="300"/>
              </a:spcAft>
            </a:pPr>
            <a:r>
              <a:rPr sz="1300" b="1" i="0">
                <a:solidFill>
                  <a:srgbClr val="000048"/>
                </a:solidFill>
                <a:latin typeface="Arial"/>
              </a:rPr>
              <a:t>APIM managed identity authentication:  </a:t>
            </a:r>
            <a:r>
              <a:rPr sz="1300" b="0" i="0">
                <a:solidFill>
                  <a:srgbClr val="2F78C4"/>
                </a:solidFill>
                <a:latin typeface="Arial"/>
                <a:hlinkClick r:id="rId12"/>
              </a:rPr>
              <a:t>https://learn.microsoft.com/en-us/azure/api-management/authentication-managed-identity-policy</a:t>
            </a:r>
          </a:p>
          <a:p>
            <a:pPr algn="l">
              <a:spcAft>
                <a:spcPts val="300"/>
              </a:spcAft>
            </a:pPr>
            <a:r>
              <a:rPr sz="1300" b="1" i="0">
                <a:solidFill>
                  <a:srgbClr val="000048"/>
                </a:solidFill>
                <a:latin typeface="Arial"/>
              </a:rPr>
              <a:t>Agentic RAG guide:  </a:t>
            </a:r>
            <a:r>
              <a:rPr sz="1300" b="0" i="0">
                <a:solidFill>
                  <a:srgbClr val="2F78C4"/>
                </a:solidFill>
                <a:latin typeface="Arial"/>
                <a:hlinkClick r:id="rId13"/>
              </a:rPr>
              <a:t>https://learn.microsoft.com/en-us/azure/architecture/ai-ml/guide/rag/rag-agentic</a:t>
            </a:r>
          </a:p>
          <a:p>
            <a:pPr algn="l">
              <a:spcAft>
                <a:spcPts val="300"/>
              </a:spcAft>
            </a:pPr>
            <a:r>
              <a:rPr sz="1300" b="1" i="0">
                <a:solidFill>
                  <a:srgbClr val="000048"/>
                </a:solidFill>
                <a:latin typeface="Arial"/>
              </a:rPr>
              <a:t>Multiple-agent workflow automation:  </a:t>
            </a:r>
            <a:r>
              <a:rPr sz="1300" b="0" i="0">
                <a:solidFill>
                  <a:srgbClr val="2F78C4"/>
                </a:solidFill>
                <a:latin typeface="Arial"/>
                <a:hlinkClick r:id="rId14"/>
              </a:rPr>
              <a:t>https://learn.microsoft.com/en-us/azure/architecture/ai-ml/idea/multiple-agent-workflow-automation</a:t>
            </a:r>
          </a:p>
          <a:p>
            <a:pPr algn="l">
              <a:spcAft>
                <a:spcPts val="300"/>
              </a:spcAft>
            </a:pPr>
            <a:r>
              <a:rPr sz="1300" b="1" i="0">
                <a:solidFill>
                  <a:srgbClr val="000048"/>
                </a:solidFill>
                <a:latin typeface="Arial"/>
              </a:rPr>
              <a:t>GTM proposal V3:  </a:t>
            </a:r>
            <a:r>
              <a:rPr sz="1300" b="0" i="0">
                <a:solidFill>
                  <a:srgbClr val="2F78C4"/>
                </a:solidFill>
                <a:latin typeface="Arial"/>
                <a:hlinkClick r:id="rId15"/>
              </a:rPr>
              <a:t>https://github.com/upendra25312/AI-Foundry-GTM-offering-/blob/main/CIS_Infra_Azure_AI_Platform_GTM_Proposal_V3.docx</a:t>
            </a:r>
          </a:p>
        </p:txBody>
      </p:sp>
    </p:spTree>
  </p:cSld>
  <p:clrMapOvr>
    <a:masterClrMapping/>
  </p:clrMapOvr>
</p:sld>
</file>

<file path=ppt/theme/theme1.xml><?xml version="1.0" encoding="utf-8"?>
<a:theme xmlns:a="http://schemas.openxmlformats.org/drawingml/2006/main" name="ChatGPT">
  <a:themeElements>
    <a:clrScheme name="Cognizant website palette">
      <a:dk1>
        <a:srgbClr val="000048"/>
      </a:dk1>
      <a:lt1>
        <a:srgbClr val="FFFFFF"/>
      </a:lt1>
      <a:dk2>
        <a:srgbClr val="53565A"/>
      </a:dk2>
      <a:lt2>
        <a:srgbClr val="F5F5F2"/>
      </a:lt2>
      <a:accent1>
        <a:srgbClr val="000048"/>
      </a:accent1>
      <a:accent2>
        <a:srgbClr val="2F78C4"/>
      </a:accent2>
      <a:accent3>
        <a:srgbClr val="26EFE9"/>
      </a:accent3>
      <a:accent4>
        <a:srgbClr val="7373D8"/>
      </a:accent4>
      <a:accent5>
        <a:srgbClr val="53565A"/>
      </a:accent5>
      <a:accent6>
        <a:srgbClr val="D0D0CE"/>
      </a:accent6>
      <a:hlink>
        <a:srgbClr val="2F78C4"/>
      </a:hlink>
      <a:folHlink>
        <a:srgbClr val="7373D8"/>
      </a:folHlink>
    </a:clrScheme>
    <a:fontScheme name="">
      <a:majorFont>
        <a:latin typeface="Arial"/>
        <a:ea typeface=""/>
        <a:cs typeface=""/>
      </a:majorFont>
      <a:minorFont>
        <a:latin typeface="Arial"/>
        <a:ea typeface=""/>
        <a:cs typeface=""/>
      </a:minorFont>
    </a:fontScheme>
    <a:fmtScheme name="Cognizant website palett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CIS Infra offering team (prepared with Claude)</dc:creator>
  <lastModifiedBy>Walnut Exporter</lastModifiedBy>
  <dc:title>Agent Governance and Operations</dc:title>
  <dcterms:created xsi:type="dcterms:W3CDTF">2026-10-10T13:56:28.3080000Z</dcterms:created>
  <dcterms:modified xsi:type="dcterms:W3CDTF">2026-10-10T13:56:28.3090000Z</dcterms:modified>
  <dc:subject>Proposed CIS Infra GTM offering for internal leadership review</dc:subject>
</coreProperties>
</file>