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purpose: open the leadership review of the CIS Infra Managed AI Platform Operations offering.</a:t>
            </a:r>
          </a:p>
          <a:p/>
          <a:p>
            <a:r>
              <a:t>No baseline deck for this offering was supplied with the request; this deck is built new from the regeneration brief, the GTM proposal V3 (managed platform operations section) and verified Microsoft sources. Audit items for the original deck (architecture slides 5, 7, 13; kill switch slide 12; response targets slide 10; packaging slides 20 and 21) are addressed by exec 6, appendix A3 and A4, K1 to K4, exec 8 and A14, and exec 7 and A16.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demand, outcome and decision. Quote recurring platform services separately from build revenue (V3 proposal). Specialist tower support needs an internal agreement or a separate customer work package. Do not assume 24x7 specialist coverage.</a:t>
            </a:r>
          </a:p>
          <a:p/>
          <a:p>
            <a:r>
              <a:t>No baseline deck for this offering was supplied with the request; this deck is built new from the regeneration brief, the GTM proposal V3 (managed platform operations section) and verified Microsoft sources. Audit items for the original deck (architecture slides 5, 7, 13; kill switch slide 12; response targets slide 10; packaging slides 20 and 21) are addressed by exec 6, appendix A3 and A4, K1 to K4, exec 8 and A14, and exec 7 and A16.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 roles and triggers for managed operations.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Managed operations receives accepted platforms and governance tooling from the other offerings and feeds monthly evidence back to the capacity and FinOps assessment.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platform availability, agent task quality and security incident response (audit requirement). CIS Infra is accountable for the platform lane. AI is accountable for agent quality. A contracted security resolver is accountable for security incidents. CIS Infra executes containment on its allocated components when directed.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Improved executive operations architecture (replaces the original architecture slides 5, 7 and 13, which were not supplied). Signals: Azure Monitor and Service Health for platform health, Application Insights and Foundry traces for agents, Log Analytics for logs, cost budgets for spend. Alert rules and action groups route to the customer service desk (ITSM tool, conceptual, not an Azure service) which assigns the lane resolver. The containment control plane (appendix K1) is invoked by authorised operators. A workbook provides monthly reporting.</a:t>
            </a:r>
          </a:p>
          <a:p/>
          <a:p>
            <a:r>
              <a:t>Sources (checked 11 Oct 2026):</a:t>
            </a:r>
          </a:p>
          <a:p>
            <a:r>
              <a:t>Foundry Control Plane: manage agents: https://learn.microsoft.com/en-us/azure/foundry/control-plane/how-to-manage-agents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Strengthens service packaging, coverage and pricing logic (audit items for original slides 20 and 21). Packages are proposals for pilots, not approved Cognizant offerings. Continuous coverage is offered only with a funded on-call roster and agreed specialist escalation. Pricing formula in appendix A16.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targets are PROPOSED until approved by delivery leadership, Finance and the customer, and validated against staffing. They apply only inside the package coverage hours and only to contracted components. Restore targets are not proposed because they depend on dependency-specific testing and Microsoft service health.</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dependencies and risks for managed operations.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are definitions. Targets are set after pilot data. Decisions split into now and after evidence.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Each entry links to the appendix slide. Use the Index link in the footer of any appendix slide to return here.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platform enters managed operations only after these gates. Gaps become a remediation plan priced separately.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Managed scope is defined by an inventory, not by a description. Agent inventory uses the catalogue from offering 02, with the same coverage limits.</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monitoring architecture. Each monitored dependency maps to an alert rule with an owner. Dependency map derived from the Foundry baseline network flows (appendix O1). Service Health covers Azure-side incidents and planned maintenance. Application Insights availability tests check the user path end to end.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Resolver routing from the V3 proposal managed operations table. A single customer incident entry point routes internally. Unexpected spend: CIS Infra coordinates; AI explains calls and tokens; towers fix attributable causes.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Processes follow the customer ITSM framework; CIS Infra operates within it. Containment is a P1 incident type with its own runbook (appendix A8 and 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lane boundaries. Measures are separate: platform availability is measured where meaningful; agent quality and data freshness are separately owned measures; security incident handling follows the contracted security service.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with synthetic agents in a non-production environment first, then as a scheduled production drill with business approval. Record timestamps at each step to measure actual stop time; set any target only after measurement.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is never automatic when an alert clears. The state version is advanced on release so stale approvals are rejected.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Monthly review inputs come from the FinOps telemetry (offering 04). Quota does not guarantee capacity; scaling down releases capacity with no guarantee of return.</a:t>
            </a:r>
          </a:p>
          <a:p/>
          <a:p>
            <a:r>
              <a:t>Sources (checked 11 Oct 2026):</a:t>
            </a:r>
          </a:p>
          <a:p>
            <a:r>
              <a:t>Provisioned throughput concepts: https://learn.microsoft.com/en-us/azure/foundry/openai/concepts/provisioned-throughput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the offering 02 classification. No automatic deletion; owner confirmation required; orphaned agents go to the service owner.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responsibility per component. Single-region restoration is not regional disaster recovery. RTO and RPO require dependency-specific testing.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support agreement fields from the V3 proposal: lead and backup, hours, response and restore expectations, escalation, access, warranty, maintenance releases, enhancement limits and charging. Align internal targets to customer obligations.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objectives remain proposals until approved and validated against staffing and dependencies. Report monthly.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Monthly governance agenda. Outputs feed the capacity and FinOps assessment (offering 04) and change backlog.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Recurring fee formula. No approved rates exist; each term names its missing input and owner. Specialist tower support is either inside the fee through internal agreements or a separate work package. Azure consumption is outside the fee unless a resale agreement says otherwise.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Cognizant services revenue from customer-paid Azure consumption. Where internal sell rates or enterprise Azure rates are unavailable, the formula and the missing input owner are shown instead of a number. </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Security incidents: Security is shown accountable as the contracted security resolver; if the customer or a third party provides security operations, that party is accountable instead.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criteria for this offering. Timelines and staffing are estimates only and require named tower commitments. Use this as the qualification and SOW checklist.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Unresolved decisions for this offering. "Now" means leadership can decide at this review. Other items depend on pilot evidence, Finance approval or specialist tower agreement. The consolidated register is delivered as a separate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https://github.com/upendra25312/AI-Foundry-GTM-offering-/blob/main/architectures/08_baseline-microsoft-foundry-network-flow.png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derive the monitored dependency map (A3). Source labels the model "Azure OpenAI model".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source register (URL, date checked, product, deployment type, region, SKU, GA or preview status, limitations) is provided as a separate workbook. Links below are clickable in slideshow mode.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17.png"/><Relationship Id="rId13" Type="http://schemas.openxmlformats.org/officeDocument/2006/relationships/image" Target="../media/image20.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21.png"/><Relationship Id="rId17" Type="http://schemas.openxmlformats.org/officeDocument/2006/relationships/image" Target="../media/image2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27.png"/><Relationship Id="rId9" Type="http://schemas.openxmlformats.org/officeDocument/2006/relationships/image" Target="../media/image30.svg"/><Relationship Id="rId10" Type="http://schemas.openxmlformats.org/officeDocument/2006/relationships/image" Target="../media/image29.png"/><Relationship Id="rId11" Type="http://schemas.openxmlformats.org/officeDocument/2006/relationships/image" Target="../media/image32.svg"/><Relationship Id="rId12" Type="http://schemas.openxmlformats.org/officeDocument/2006/relationships/image" Target="../media/image31.png"/><Relationship Id="rId13" Type="http://schemas.openxmlformats.org/officeDocument/2006/relationships/image" Target="../media/image34.svg"/><Relationship Id="rId14" Type="http://schemas.openxmlformats.org/officeDocument/2006/relationships/image" Target="../media/image33.png"/><Relationship Id="rId15" Type="http://schemas.openxmlformats.org/officeDocument/2006/relationships/image" Target="../media/image36.svg"/><Relationship Id="rId16" Type="http://schemas.openxmlformats.org/officeDocument/2006/relationships/image" Target="../media/image35.png"/><Relationship Id="rId17" Type="http://schemas.openxmlformats.org/officeDocument/2006/relationships/image" Target="../media/image38.svg"/><Relationship Id="rId18" Type="http://schemas.openxmlformats.org/officeDocument/2006/relationships/image" Target="../media/image37.png"/><Relationship Id="rId19" Type="http://schemas.openxmlformats.org/officeDocument/2006/relationships/image" Target="../media/image40.svg"/><Relationship Id="rId20" Type="http://schemas.openxmlformats.org/officeDocument/2006/relationships/image" Target="../media/image39.png"/><Relationship Id="rId21" Type="http://schemas.openxmlformats.org/officeDocument/2006/relationships/image" Target="../media/image42.svg"/><Relationship Id="rId22" Type="http://schemas.openxmlformats.org/officeDocument/2006/relationships/image" Target="../media/image41.png"/><Relationship Id="rId23" Type="http://schemas.openxmlformats.org/officeDocument/2006/relationships/image" Target="../media/image44.svg"/><Relationship Id="rId24" Type="http://schemas.openxmlformats.org/officeDocument/2006/relationships/image" Target="../media/image43.png"/><Relationship Id="rId25" Type="http://schemas.openxmlformats.org/officeDocument/2006/relationships/image" Target="../media/image46.svg"/><Relationship Id="rId26" Type="http://schemas.openxmlformats.org/officeDocument/2006/relationships/image" Target="../media/image1.png"/><Relationship Id="rId27" Type="http://schemas.openxmlformats.org/officeDocument/2006/relationships/image" Target="../media/image12.svg"/><Relationship Id="rId28" Type="http://schemas.openxmlformats.org/officeDocument/2006/relationships/image" Target="../media/image11.png"/><Relationship Id="rId29" Type="http://schemas.openxmlformats.org/officeDocument/2006/relationships/image" Target="../media/image14.svg"/><Relationship Id="rId30" Type="http://schemas.openxmlformats.org/officeDocument/2006/relationships/image" Target="../media/image13.png"/><Relationship Id="rId31" Type="http://schemas.openxmlformats.org/officeDocument/2006/relationships/image" Target="../media/image16.svg"/><Relationship Id="rId32"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45.png"/><Relationship Id="rId5" Type="http://schemas.openxmlformats.org/officeDocument/2006/relationships/image" Target="../media/image48.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47.png"/><Relationship Id="rId11" Type="http://schemas.openxmlformats.org/officeDocument/2006/relationships/image" Target="../media/image50.svg"/><Relationship Id="rId12" Type="http://schemas.openxmlformats.org/officeDocument/2006/relationships/image" Target="../media/image31.png"/><Relationship Id="rId13" Type="http://schemas.openxmlformats.org/officeDocument/2006/relationships/image" Target="../media/image34.svg"/><Relationship Id="rId14" Type="http://schemas.openxmlformats.org/officeDocument/2006/relationships/image" Target="../media/image49.png"/><Relationship Id="rId15" Type="http://schemas.openxmlformats.org/officeDocument/2006/relationships/image" Target="../media/image52.svg"/><Relationship Id="rId16" Type="http://schemas.openxmlformats.org/officeDocument/2006/relationships/image" Target="../media/image33.png"/><Relationship Id="rId17" Type="http://schemas.openxmlformats.org/officeDocument/2006/relationships/image" Target="../media/image36.svg"/><Relationship Id="rId18" Type="http://schemas.openxmlformats.org/officeDocument/2006/relationships/image" Target="../media/image51.png"/><Relationship Id="rId19" Type="http://schemas.openxmlformats.org/officeDocument/2006/relationships/image" Target="../media/image54.svg"/><Relationship Id="rId20" Type="http://schemas.openxmlformats.org/officeDocument/2006/relationships/image" Target="../media/image1.png"/><Relationship Id="rId21" Type="http://schemas.openxmlformats.org/officeDocument/2006/relationships/image" Target="../media/image12.svg"/><Relationship Id="rId22" Type="http://schemas.openxmlformats.org/officeDocument/2006/relationships/image" Target="../media/image35.png"/><Relationship Id="rId23" Type="http://schemas.openxmlformats.org/officeDocument/2006/relationships/image" Target="../media/image38.svg"/><Relationship Id="rId24" Type="http://schemas.openxmlformats.org/officeDocument/2006/relationships/image" Target="../media/image37.png"/><Relationship Id="rId25" Type="http://schemas.openxmlformats.org/officeDocument/2006/relationships/image" Target="../media/image40.svg"/><Relationship Id="rId26" Type="http://schemas.openxmlformats.org/officeDocument/2006/relationships/image" Target="../media/image13.png"/><Relationship Id="rId27" Type="http://schemas.openxmlformats.org/officeDocument/2006/relationships/image" Target="../media/image16.svg"/><Relationship Id="rId28"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image" Target="../media/image53.png"/><Relationship Id="rId5" Type="http://schemas.openxmlformats.org/officeDocument/2006/relationships/hyperlink" Target="https://github.com/upendra25312/AI-Foundry-GTM-offering-/blob/main/architectures/08_baseline-microsoft-foundry-network-flow.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hyperlink" Target="https://learn.microsoft.com/en-us/azure/foundry/control-plane/how-to-manage-agents" TargetMode="External"/><Relationship Id="rId5" Type="http://schemas.openxmlformats.org/officeDocument/2006/relationships/hyperlink" Target="https://learn.microsoft.com/en-us/azure/foundry/control-plane/register-custom-agent" TargetMode="External"/><Relationship Id="rId6" Type="http://schemas.openxmlformats.org/officeDocument/2006/relationships/hyperlink" Target="https://learn.microsoft.com/en-us/azure/foundry/openai/concepts/provisioned-throughput" TargetMode="External"/><Relationship Id="rId7" Type="http://schemas.openxmlformats.org/officeDocument/2006/relationships/hyperlink" Target="https://prices.azure.com/api/retail/prices?$filter=serviceName eq 'Log Analytics' and armRegionName eq 'eastus2'" TargetMode="External"/><Relationship Id="rId8" Type="http://schemas.openxmlformats.org/officeDocument/2006/relationships/hyperlink" Target="https://learn.microsoft.com/en-us/azure/api-management/genai-gateway-capabilities" TargetMode="External"/><Relationship Id="rId9" Type="http://schemas.openxmlformats.org/officeDocument/2006/relationships/hyperlink" Target="https://learn.microsoft.com/en-us/azure/architecture/icons/" TargetMode="External"/><Relationship Id="rId10" Type="http://schemas.openxmlformats.org/officeDocument/2006/relationships/hyperlink" Target="https://az-icons.com/" TargetMode="External"/><Relationship Id="rId11" Type="http://schemas.openxmlformats.org/officeDocument/2006/relationships/hyperlink" Target="https://github.com/upendra25312/AI-Foundry-GTM-offering-/blob/main/CIS_Infra_Azure_AI_Platform_GTM_Proposal_V3.docx" TargetMode="External"/><Relationship Id="rId12" Type="http://schemas.openxmlformats.org/officeDocument/2006/relationships/hyperlink" Target="https://learn.microsoft.com/en-us/azure/foundry/observability/how-to/how-to-monitor-agents-dashboard" TargetMode="External"/><Relationship Id="rId13"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Managed AI Platform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Run the Azure AI platform with clear ownership, proposed service objectives and tested containment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Recurring CIS Infra service with defined handoffs to AI, Data and Security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2.0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one accountable operator for the AI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554480" cy="457200"/>
          </a:xfrm>
          <a:prstGeom prst="rect">
            <a:avLst/>
          </a:prstGeom>
          <a:noFill/>
        </p:spPr>
        <p:txBody>
          <a:bodyPr wrap="square" lIns="0" rIns="0" tIns="0" bIns="0" anchor="t">
            <a:noAutofit/>
          </a:bodyPr>
          <a:lstStyle/>
          <a:p>
            <a:pPr algn="l"/>
            <a:r>
              <a:rPr sz="2000" b="1" i="0">
                <a:solidFill>
                  <a:srgbClr val="2F78C4"/>
                </a:solidFill>
                <a:latin typeface="Arial"/>
              </a:rPr>
              <a:t>Problem</a:t>
            </a:r>
          </a:p>
        </p:txBody>
      </p:sp>
      <p:sp>
        <p:nvSpPr>
          <p:cNvPr id="9" name="TextBox 8"/>
          <p:cNvSpPr txBox="1"/>
          <p:nvPr/>
        </p:nvSpPr>
        <p:spPr>
          <a:xfrm>
            <a:off x="2103120" y="1371600"/>
            <a:ext cx="5120640" cy="1234440"/>
          </a:xfrm>
          <a:prstGeom prst="rect">
            <a:avLst/>
          </a:prstGeom>
          <a:noFill/>
        </p:spPr>
        <p:txBody>
          <a:bodyPr wrap="square" lIns="0" rIns="0" tIns="0" bIns="0" anchor="t">
            <a:noAutofit/>
          </a:bodyPr>
          <a:lstStyle/>
          <a:p>
            <a:pPr algn="l"/>
            <a:r>
              <a:rPr sz="2000" b="0" i="0">
                <a:solidFill>
                  <a:srgbClr val="1E1E2E"/>
                </a:solidFill>
                <a:latin typeface="Arial"/>
              </a:rPr>
              <a:t>AI workloads reach production with unowned alerts, unclear tower handoffs, drifting costs and no rehearsed way to stop a rogue agent.</a:t>
            </a:r>
          </a:p>
        </p:txBody>
      </p:sp>
      <p:sp>
        <p:nvSpPr>
          <p:cNvPr id="10" name="TextBox 9"/>
          <p:cNvSpPr txBox="1"/>
          <p:nvPr/>
        </p:nvSpPr>
        <p:spPr>
          <a:xfrm>
            <a:off x="548640" y="2670048"/>
            <a:ext cx="1554480" cy="457200"/>
          </a:xfrm>
          <a:prstGeom prst="rect">
            <a:avLst/>
          </a:prstGeom>
          <a:noFill/>
        </p:spPr>
        <p:txBody>
          <a:bodyPr wrap="square" lIns="0" rIns="0" tIns="0" bIns="0" anchor="t">
            <a:noAutofit/>
          </a:bodyPr>
          <a:lstStyle/>
          <a:p>
            <a:pPr algn="l"/>
            <a:r>
              <a:rPr sz="2000" b="1" i="0">
                <a:solidFill>
                  <a:srgbClr val="2F78C4"/>
                </a:solidFill>
                <a:latin typeface="Arial"/>
              </a:rPr>
              <a:t>Offer</a:t>
            </a:r>
          </a:p>
        </p:txBody>
      </p:sp>
      <p:sp>
        <p:nvSpPr>
          <p:cNvPr id="11" name="TextBox 10"/>
          <p:cNvSpPr txBox="1"/>
          <p:nvPr/>
        </p:nvSpPr>
        <p:spPr>
          <a:xfrm>
            <a:off x="2103120" y="2670048"/>
            <a:ext cx="5120640" cy="1234440"/>
          </a:xfrm>
          <a:prstGeom prst="rect">
            <a:avLst/>
          </a:prstGeom>
          <a:noFill/>
        </p:spPr>
        <p:txBody>
          <a:bodyPr wrap="square" lIns="0" rIns="0" tIns="0" bIns="0" anchor="t">
            <a:noAutofit/>
          </a:bodyPr>
          <a:lstStyle/>
          <a:p>
            <a:pPr algn="l"/>
            <a:r>
              <a:rPr sz="2000" b="0" i="0">
                <a:solidFill>
                  <a:srgbClr val="1E1E2E"/>
                </a:solidFill>
                <a:latin typeface="Arial"/>
              </a:rPr>
              <a:t>A recurring CIS Infra service that runs platform health, incidents, changes, inventory, containment and monthly cost reviews.</a:t>
            </a:r>
          </a:p>
        </p:txBody>
      </p:sp>
      <p:sp>
        <p:nvSpPr>
          <p:cNvPr id="12" name="TextBox 11"/>
          <p:cNvSpPr txBox="1"/>
          <p:nvPr/>
        </p:nvSpPr>
        <p:spPr>
          <a:xfrm>
            <a:off x="548640" y="3968496"/>
            <a:ext cx="1554480" cy="457200"/>
          </a:xfrm>
          <a:prstGeom prst="rect">
            <a:avLst/>
          </a:prstGeom>
          <a:noFill/>
        </p:spPr>
        <p:txBody>
          <a:bodyPr wrap="square" lIns="0" rIns="0" tIns="0" bIns="0" anchor="t">
            <a:noAutofit/>
          </a:bodyPr>
          <a:lstStyle/>
          <a:p>
            <a:pPr algn="l"/>
            <a:r>
              <a:rPr sz="2000" b="1" i="0">
                <a:solidFill>
                  <a:srgbClr val="2F78C4"/>
                </a:solidFill>
                <a:latin typeface="Arial"/>
              </a:rPr>
              <a:t>Outcome</a:t>
            </a:r>
          </a:p>
        </p:txBody>
      </p:sp>
      <p:sp>
        <p:nvSpPr>
          <p:cNvPr id="13" name="TextBox 12"/>
          <p:cNvSpPr txBox="1"/>
          <p:nvPr/>
        </p:nvSpPr>
        <p:spPr>
          <a:xfrm>
            <a:off x="2103120" y="3968496"/>
            <a:ext cx="5120640" cy="1234440"/>
          </a:xfrm>
          <a:prstGeom prst="rect">
            <a:avLst/>
          </a:prstGeom>
          <a:noFill/>
        </p:spPr>
        <p:txBody>
          <a:bodyPr wrap="square" lIns="0" rIns="0" tIns="0" bIns="0" anchor="t">
            <a:noAutofit/>
          </a:bodyPr>
          <a:lstStyle/>
          <a:p>
            <a:pPr algn="l"/>
            <a:r>
              <a:rPr sz="2000" b="0" i="0">
                <a:solidFill>
                  <a:srgbClr val="1E1E2E"/>
                </a:solidFill>
                <a:latin typeface="Arial"/>
              </a:rPr>
              <a:t>One service entry point, named resolvers per lane, proposed service objectives and monthly evidence.</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000" b="1" i="0">
                <a:solidFill>
                  <a:srgbClr val="FFFFFF"/>
                </a:solidFill>
                <a:latin typeface="Arial"/>
              </a:rPr>
              <a:t>Decision requested</a:t>
            </a:r>
          </a:p>
          <a:p>
            <a:pPr algn="l" marL="201168" indent="-201168">
              <a:spcAft>
                <a:spcPts val="1000"/>
              </a:spcAft>
              <a:buFont typeface="Arial"/>
              <a:buChar char="•"/>
            </a:pPr>
            <a:r>
              <a:rPr sz="1800" b="0" i="0">
                <a:solidFill>
                  <a:srgbClr val="FFFFFF"/>
                </a:solidFill>
                <a:latin typeface="Arial"/>
              </a:rPr>
              <a:t>Approve three proposed coverage packages for pilots</a:t>
            </a:r>
          </a:p>
          <a:p>
            <a:pPr algn="l" marL="201168" indent="-201168">
              <a:spcAft>
                <a:spcPts val="1000"/>
              </a:spcAft>
              <a:buFont typeface="Arial"/>
              <a:buChar char="•"/>
            </a:pPr>
            <a:r>
              <a:rPr sz="1800" b="0" i="0">
                <a:solidFill>
                  <a:srgbClr val="FFFFFF"/>
                </a:solidFill>
                <a:latin typeface="Arial"/>
              </a:rPr>
              <a:t>No 24x7 offer without a funded roster and escalation</a:t>
            </a:r>
          </a:p>
          <a:p>
            <a:pPr algn="l" marL="201168" indent="-201168">
              <a:spcAft>
                <a:spcPts val="1000"/>
              </a:spcAft>
              <a:buFont typeface="Arial"/>
              <a:buChar char="•"/>
            </a:pPr>
            <a:r>
              <a:rPr sz="1800" b="0" i="0">
                <a:solidFill>
                  <a:srgbClr val="FFFFFF"/>
                </a:solidFill>
                <a:latin typeface="Arial"/>
              </a:rPr>
              <a:t>Sponsor internal support agreements with towers</a:t>
            </a:r>
          </a:p>
        </p:txBody>
      </p:sp>
      <p:sp>
        <p:nvSpPr>
          <p:cNvPr id="15" name="Rounded Rectangle 14"/>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Platform operations are not AI quality management or security operations. Those stay with their towers.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buys, and what triggers the purchase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graphicFrame>
        <p:nvGraphicFramePr>
          <p:cNvPr id="7" name="Table"/>
          <p:cNvGraphicFramePr>
            <a:graphicFrameLocks noGrp="1"/>
          </p:cNvGraphicFramePr>
          <p:nvPr/>
        </p:nvGraphicFramePr>
        <p:xfrm>
          <a:off x="548640" y="1371600"/>
          <a:ext cx="11091672" cy="2636520"/>
        </p:xfrm>
        <a:graphic>
          <a:graphicData uri="http://schemas.openxmlformats.org/drawingml/2006/table">
            <a:tbl>
              <a:tblPr firstRow="1" bandRow="0">
                <a:tableStyleId>{5C22544A-7EE6-4342-B048-85BDC9FD1C3A}</a:tableStyleId>
              </a:tblPr>
              <a:tblGrid>
                <a:gridCol w="2743200"/>
                <a:gridCol w="4206240"/>
                <a:gridCol w="4142232"/>
              </a:tblGrid>
              <a:tr h="350520">
                <a:tc>
                  <a:txBody>
                    <a:bodyPr wrap="square" anchor="ctr">
                      <a:noAutofit/>
                    </a:bodyPr>
                    <a:lstStyle/>
                    <a:p>
                      <a:pPr algn="l"/>
                      <a:r>
                        <a:rPr sz="17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Purchase trigger</a:t>
                      </a:r>
                    </a:p>
                  </a:txBody>
                  <a:tcPr marL="73152" marR="73152" marT="36576" marB="36576" anchor="ctr">
                    <a:solidFill>
                      <a:srgbClr val="000048"/>
                    </a:solidFill>
                  </a:tcPr>
                </a:tc>
              </a:tr>
              <a:tr h="640080">
                <a:tc>
                  <a:txBody>
                    <a:bodyPr wrap="square" anchor="ctr">
                      <a:noAutofit/>
                    </a:bodyPr>
                    <a:lstStyle/>
                    <a:p>
                      <a:pPr algn="l"/>
                      <a:r>
                        <a:rPr sz="1800" b="1" i="0">
                          <a:solidFill>
                            <a:srgbClr val="1E1E2E"/>
                          </a:solidFill>
                          <a:latin typeface="Arial"/>
                        </a:rPr>
                        <a:t>IT service owner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 named operator and service desk route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AI workload entering production</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AI platform leader</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Platform stable while teams build agents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Engineering team firefighting the platform</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CISO delegate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Containment that someone can execute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Agent incident or audit finding</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FinOps lead</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Monthly capacity and cost review</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Unplanned spend or idle capacity</a:t>
                      </a:r>
                    </a:p>
                  </a:txBody>
                  <a:tcPr marL="73152" marR="73152" marT="36576" marB="36576" anchor="ctr">
                    <a:solidFill>
                      <a:srgbClr val="F5F5F2"/>
                    </a:solidFill>
                  </a:tcPr>
                </a:tc>
              </a:tr>
            </a:tbl>
          </a:graphicData>
        </a:graphic>
      </p:graphicFrame>
      <p:sp>
        <p:nvSpPr>
          <p:cNvPr id="8" name="Rounded Rectangle 7"/>
          <p:cNvSpPr/>
          <p:nvPr/>
        </p:nvSpPr>
        <p:spPr>
          <a:xfrm>
            <a:off x="548640" y="548640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700" b="1" i="0">
                <a:solidFill>
                  <a:srgbClr val="000048"/>
                </a:solidFill>
                <a:latin typeface="Arial"/>
              </a:rPr>
              <a:t>Decision:  </a:t>
            </a:r>
            <a:r>
              <a:rPr sz="1700" b="0" i="0">
                <a:solidFill>
                  <a:srgbClr val="1E1E2E"/>
                </a:solidFill>
                <a:latin typeface="Arial"/>
              </a:rPr>
              <a:t>Qualify on platform acceptance: operate only what passed offering 01 or an equivalent onboarding gate.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in the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spcAft>
                <a:spcPts val="400"/>
              </a:spcAft>
            </a:pPr>
            <a:r>
              <a:rPr sz="1500" b="1" i="0">
                <a:solidFill>
                  <a:srgbClr val="000048"/>
                </a:solidFill>
                <a:latin typeface="Arial"/>
              </a:rPr>
              <a:t>AI Capacity and
FinOps Assessment</a:t>
            </a:r>
          </a:p>
          <a:p>
            <a:pPr algn="l"/>
            <a:r>
              <a:rPr sz="1100" b="0" i="0">
                <a:solidFill>
                  <a:srgbClr val="53565A"/>
                </a:solidFill>
                <a:latin typeface="Arial"/>
              </a:rPr>
              <a:t>Measure demand, choose
capacity model</a:t>
            </a:r>
          </a:p>
        </p:txBody>
      </p:sp>
      <p:cxnSp>
        <p:nvCxnSpPr>
          <p:cNvPr id="9" name="Connector (flow)"/>
          <p:cNvCxnSpPr/>
          <p:nvPr/>
        </p:nvCxnSpPr>
        <p:spPr>
          <a:xfrm>
            <a:off x="258775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spcAft>
                <a:spcPts val="400"/>
              </a:spcAft>
            </a:pPr>
            <a:r>
              <a:rPr sz="1500" b="1" i="0">
                <a:solidFill>
                  <a:srgbClr val="000048"/>
                </a:solidFill>
                <a:latin typeface="Arial"/>
              </a:rPr>
              <a:t>AI Platform /
Landing Zone</a:t>
            </a:r>
          </a:p>
          <a:p>
            <a:pPr algn="l"/>
            <a:r>
              <a:rPr sz="1100" b="0" i="0">
                <a:solidFill>
                  <a:srgbClr val="53565A"/>
                </a:solidFill>
                <a:latin typeface="Arial"/>
              </a:rPr>
              <a:t>Governed foundation for
AI workloads</a:t>
            </a:r>
          </a:p>
        </p:txBody>
      </p:sp>
      <p:cxnSp>
        <p:nvCxnSpPr>
          <p:cNvPr id="11" name="Connector (flow)"/>
          <p:cNvCxnSpPr/>
          <p:nvPr/>
        </p:nvCxnSpPr>
        <p:spPr>
          <a:xfrm>
            <a:off x="485820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spcAft>
                <a:spcPts val="400"/>
              </a:spcAft>
            </a:pPr>
            <a:r>
              <a:rPr sz="1500" b="1" i="0">
                <a:solidFill>
                  <a:srgbClr val="000048"/>
                </a:solidFill>
                <a:latin typeface="Arial"/>
              </a:rPr>
              <a:t>AI Gateway
Implementation</a:t>
            </a:r>
          </a:p>
          <a:p>
            <a:pPr algn="l"/>
            <a:r>
              <a:rPr sz="1100" b="0" i="0">
                <a:solidFill>
                  <a:srgbClr val="53565A"/>
                </a:solidFill>
                <a:latin typeface="Arial"/>
              </a:rPr>
              <a:t>Control model and
tool traffic</a:t>
            </a:r>
          </a:p>
        </p:txBody>
      </p:sp>
      <p:cxnSp>
        <p:nvCxnSpPr>
          <p:cNvPr id="13" name="Connector (flow)"/>
          <p:cNvCxnSpPr/>
          <p:nvPr/>
        </p:nvCxnSpPr>
        <p:spPr>
          <a:xfrm>
            <a:off x="712866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spcAft>
                <a:spcPts val="400"/>
              </a:spcAft>
            </a:pPr>
            <a:r>
              <a:rPr sz="1500" b="1" i="0">
                <a:solidFill>
                  <a:srgbClr val="000048"/>
                </a:solidFill>
                <a:latin typeface="Arial"/>
              </a:rPr>
              <a:t>Agent Governance
and Operations</a:t>
            </a:r>
          </a:p>
          <a:p>
            <a:pPr algn="l"/>
            <a:r>
              <a:rPr sz="1100" b="0" i="0">
                <a:solidFill>
                  <a:srgbClr val="53565A"/>
                </a:solidFill>
                <a:latin typeface="Arial"/>
              </a:rPr>
              <a:t>Know, observe and
contain agents</a:t>
            </a:r>
          </a:p>
        </p:txBody>
      </p:sp>
      <p:cxnSp>
        <p:nvCxnSpPr>
          <p:cNvPr id="15" name="Connector (flow)"/>
          <p:cNvCxnSpPr/>
          <p:nvPr/>
        </p:nvCxnSpPr>
        <p:spPr>
          <a:xfrm>
            <a:off x="939911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371600"/>
            <a:ext cx="2011680" cy="1572768"/>
          </a:xfrm>
          <a:prstGeom prst="roundRect">
            <a:avLst>
              <a:gd name="adj" fmla="val 465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05</a:t>
            </a:r>
          </a:p>
          <a:p>
            <a:pPr algn="l">
              <a:spcAft>
                <a:spcPts val="400"/>
              </a:spcAft>
            </a:pPr>
            <a:r>
              <a:rPr sz="1500" b="1" i="0">
                <a:solidFill>
                  <a:srgbClr val="FFFFFF"/>
                </a:solidFill>
                <a:latin typeface="Arial"/>
              </a:rPr>
              <a:t>Managed AI
Platform Operations</a:t>
            </a:r>
          </a:p>
          <a:p>
            <a:pPr algn="l"/>
            <a:r>
              <a:rPr sz="1100" b="0" i="0">
                <a:solidFill>
                  <a:srgbClr val="26EFE9"/>
                </a:solidFill>
                <a:latin typeface="Arial"/>
              </a:rPr>
              <a:t>Run, report and
optimise the platform</a:t>
            </a:r>
          </a:p>
        </p:txBody>
      </p:sp>
      <p:sp>
        <p:nvSpPr>
          <p:cNvPr id="17" name="Status chip: THIS OFFERING"/>
          <p:cNvSpPr/>
          <p:nvPr/>
        </p:nvSpPr>
        <p:spPr>
          <a:xfrm>
            <a:off x="9740188" y="30175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THIS OFFERING</a:t>
            </a:r>
          </a:p>
        </p:txBody>
      </p:sp>
      <p:cxnSp>
        <p:nvCxnSpPr>
          <p:cNvPr id="18" name="Connector (control)"/>
          <p:cNvCxnSpPr/>
          <p:nvPr/>
        </p:nvCxnSpPr>
        <p:spPr>
          <a:xfrm>
            <a:off x="10636300" y="2944368"/>
            <a:ext cx="0" cy="45720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H="1">
            <a:off x="1554480" y="3401568"/>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control)"/>
          <p:cNvCxnSpPr/>
          <p:nvPr/>
        </p:nvCxnSpPr>
        <p:spPr>
          <a:xfrm flipV="1">
            <a:off x="1554480" y="2944368"/>
            <a:ext cx="0" cy="45720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926080" y="3438144"/>
            <a:ext cx="6400800" cy="274320"/>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2" name="TextBox 21"/>
          <p:cNvSpPr txBox="1"/>
          <p:nvPr/>
        </p:nvSpPr>
        <p:spPr>
          <a:xfrm>
            <a:off x="548640" y="3840479"/>
            <a:ext cx="11064240" cy="320040"/>
          </a:xfrm>
          <a:prstGeom prst="rect">
            <a:avLst/>
          </a:prstGeom>
          <a:noFill/>
        </p:spPr>
        <p:txBody>
          <a:bodyPr wrap="square" lIns="0" rIns="0" tIns="0" bIns="0" anchor="t">
            <a:noAutofit/>
          </a:bodyPr>
          <a:lstStyle/>
          <a:p>
            <a:pPr algn="l"/>
            <a:r>
              <a:rPr sz="1600" b="1" i="0">
                <a:solidFill>
                  <a:srgbClr val="000048"/>
                </a:solidFill>
                <a:latin typeface="Arial"/>
              </a:rPr>
              <a:t>Handoffs for this offering</a:t>
            </a:r>
          </a:p>
        </p:txBody>
      </p:sp>
      <p:sp>
        <p:nvSpPr>
          <p:cNvPr id="23" name="Rounded Rectangle 22"/>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Each handoff has a named owner, acceptance evidence and a date. No offering assumes another is sold.</a:t>
            </a:r>
          </a:p>
        </p:txBody>
      </p:sp>
      <p:sp>
        <p:nvSpPr>
          <p:cNvPr id="24" name="Rounded Rectangle 23"/>
          <p:cNvSpPr/>
          <p:nvPr/>
        </p:nvSpPr>
        <p:spPr>
          <a:xfrm>
            <a:off x="5486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01 and 03</a:t>
            </a:r>
          </a:p>
          <a:p>
            <a:pPr algn="l"/>
            <a:r>
              <a:rPr sz="1600" b="0" i="0">
                <a:solidFill>
                  <a:srgbClr val="1E1E2E"/>
                </a:solidFill>
                <a:latin typeface="Arial"/>
              </a:rPr>
              <a:t>Accepted platform, gateway, runbooks and alert routing</a:t>
            </a:r>
          </a:p>
        </p:txBody>
      </p:sp>
      <p:sp>
        <p:nvSpPr>
          <p:cNvPr id="25" name="Rounded Rectangle 24"/>
          <p:cNvSpPr/>
          <p:nvPr/>
        </p:nvSpPr>
        <p:spPr>
          <a:xfrm>
            <a:off x="4319016"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02 Agent Governance</a:t>
            </a:r>
          </a:p>
          <a:p>
            <a:pPr algn="l"/>
            <a:r>
              <a:rPr sz="1600" b="0" i="0">
                <a:solidFill>
                  <a:srgbClr val="1E1E2E"/>
                </a:solidFill>
                <a:latin typeface="Arial"/>
              </a:rPr>
              <a:t>Catalogue, classification rules, containment plane and drills</a:t>
            </a:r>
          </a:p>
        </p:txBody>
      </p:sp>
      <p:sp>
        <p:nvSpPr>
          <p:cNvPr id="26" name="Rounded Rectangle 25"/>
          <p:cNvSpPr/>
          <p:nvPr/>
        </p:nvSpPr>
        <p:spPr>
          <a:xfrm>
            <a:off x="80162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04 Capacity and FinOps</a:t>
            </a:r>
          </a:p>
          <a:p>
            <a:pPr algn="l"/>
            <a:r>
              <a:rPr sz="1600" b="0" i="0">
                <a:solidFill>
                  <a:srgbClr val="1E1E2E"/>
                </a:solidFill>
                <a:latin typeface="Arial"/>
              </a:rPr>
              <a:t>Monthly utilisation, overflow and cost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lanes: platform, agent quality and security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914400"/>
          </a:xfrm>
          <a:prstGeom prst="roundRect">
            <a:avLst>
              <a:gd name="adj" fmla="val 8000"/>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Platform availability</a:t>
            </a:r>
          </a:p>
          <a:p>
            <a:pPr algn="l"/>
            <a:r>
              <a:rPr sz="1300" b="0" i="0">
                <a:solidFill>
                  <a:srgbClr val="26EFE9"/>
                </a:solidFill>
                <a:latin typeface="Arial"/>
              </a:rPr>
              <a:t>Accountable: CIS Infra</a:t>
            </a:r>
          </a:p>
        </p:txBody>
      </p:sp>
      <p:sp>
        <p:nvSpPr>
          <p:cNvPr id="9" name="Rounded Rectangle 8"/>
          <p:cNvSpPr/>
          <p:nvPr/>
        </p:nvSpPr>
        <p:spPr>
          <a:xfrm>
            <a:off x="548640" y="237744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Resource health and dependencies</a:t>
            </a:r>
          </a:p>
          <a:p>
            <a:pPr algn="l" marL="201168" indent="-201168">
              <a:spcAft>
                <a:spcPts val="800"/>
              </a:spcAft>
              <a:buFont typeface="Arial"/>
              <a:buChar char="•"/>
            </a:pPr>
            <a:r>
              <a:rPr sz="1700" b="0" i="0">
                <a:solidFill>
                  <a:srgbClr val="1E1E2E"/>
                </a:solidFill>
                <a:latin typeface="Arial"/>
              </a:rPr>
              <a:t>Network, DNS, identity plumbing</a:t>
            </a:r>
          </a:p>
          <a:p>
            <a:pPr algn="l" marL="201168" indent="-201168">
              <a:spcAft>
                <a:spcPts val="800"/>
              </a:spcAft>
              <a:buFont typeface="Arial"/>
              <a:buChar char="•"/>
            </a:pPr>
            <a:r>
              <a:rPr sz="1700" b="0" i="0">
                <a:solidFill>
                  <a:srgbClr val="1E1E2E"/>
                </a:solidFill>
                <a:latin typeface="Arial"/>
              </a:rPr>
              <a:t>Gateway and capacity</a:t>
            </a:r>
          </a:p>
          <a:p>
            <a:pPr algn="l" marL="201168" indent="-201168">
              <a:spcAft>
                <a:spcPts val="800"/>
              </a:spcAft>
              <a:buFont typeface="Arial"/>
              <a:buChar char="•"/>
            </a:pPr>
            <a:r>
              <a:rPr sz="1700" b="0" i="0">
                <a:solidFill>
                  <a:srgbClr val="1E1E2E"/>
                </a:solidFill>
                <a:latin typeface="Arial"/>
              </a:rPr>
              <a:t>Platform recovery</a:t>
            </a:r>
          </a:p>
        </p:txBody>
      </p:sp>
      <p:sp>
        <p:nvSpPr>
          <p:cNvPr id="10" name="Rounded Rectangle 9"/>
          <p:cNvSpPr/>
          <p:nvPr/>
        </p:nvSpPr>
        <p:spPr>
          <a:xfrm>
            <a:off x="4297679" y="1371600"/>
            <a:ext cx="3593592" cy="914400"/>
          </a:xfrm>
          <a:prstGeom prst="roundRect">
            <a:avLst>
              <a:gd name="adj" fmla="val 8000"/>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Agent task quality</a:t>
            </a:r>
          </a:p>
          <a:p>
            <a:pPr algn="l"/>
            <a:r>
              <a:rPr sz="1300" b="0" i="0">
                <a:solidFill>
                  <a:srgbClr val="26EFE9"/>
                </a:solidFill>
                <a:latin typeface="Arial"/>
              </a:rPr>
              <a:t>Accountable: AI tower</a:t>
            </a:r>
          </a:p>
        </p:txBody>
      </p:sp>
      <p:sp>
        <p:nvSpPr>
          <p:cNvPr id="11" name="Rounded Rectangle 10"/>
          <p:cNvSpPr/>
          <p:nvPr/>
        </p:nvSpPr>
        <p:spPr>
          <a:xfrm>
            <a:off x="4297679" y="237744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Wrong or poor answers</a:t>
            </a:r>
          </a:p>
          <a:p>
            <a:pPr algn="l" marL="201168" indent="-201168">
              <a:spcAft>
                <a:spcPts val="800"/>
              </a:spcAft>
              <a:buFont typeface="Arial"/>
              <a:buChar char="•"/>
            </a:pPr>
            <a:r>
              <a:rPr sz="1700" b="0" i="0">
                <a:solidFill>
                  <a:srgbClr val="1E1E2E"/>
                </a:solidFill>
                <a:latin typeface="Arial"/>
              </a:rPr>
              <a:t>Tool misuse by design</a:t>
            </a:r>
          </a:p>
          <a:p>
            <a:pPr algn="l" marL="201168" indent="-201168">
              <a:spcAft>
                <a:spcPts val="800"/>
              </a:spcAft>
              <a:buFont typeface="Arial"/>
              <a:buChar char="•"/>
            </a:pPr>
            <a:r>
              <a:rPr sz="1700" b="0" i="0">
                <a:solidFill>
                  <a:srgbClr val="1E1E2E"/>
                </a:solidFill>
                <a:latin typeface="Arial"/>
              </a:rPr>
              <a:t>Evaluation drift</a:t>
            </a:r>
          </a:p>
          <a:p>
            <a:pPr algn="l" marL="201168" indent="-201168">
              <a:spcAft>
                <a:spcPts val="800"/>
              </a:spcAft>
              <a:buFont typeface="Arial"/>
              <a:buChar char="•"/>
            </a:pPr>
            <a:r>
              <a:rPr sz="1700" b="0" i="0">
                <a:solidFill>
                  <a:srgbClr val="1E1E2E"/>
                </a:solidFill>
                <a:latin typeface="Arial"/>
              </a:rPr>
              <a:t>Model and prompt changes</a:t>
            </a:r>
          </a:p>
        </p:txBody>
      </p:sp>
      <p:sp>
        <p:nvSpPr>
          <p:cNvPr id="12" name="Rounded Rectangle 11"/>
          <p:cNvSpPr/>
          <p:nvPr/>
        </p:nvSpPr>
        <p:spPr>
          <a:xfrm>
            <a:off x="8046719" y="1371600"/>
            <a:ext cx="3593592" cy="914400"/>
          </a:xfrm>
          <a:prstGeom prst="roundRect">
            <a:avLst>
              <a:gd name="adj" fmla="val 8000"/>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Security incidents</a:t>
            </a:r>
          </a:p>
          <a:p>
            <a:pPr algn="l"/>
            <a:r>
              <a:rPr sz="1300" b="0" i="0">
                <a:solidFill>
                  <a:srgbClr val="26EFE9"/>
                </a:solidFill>
                <a:latin typeface="Arial"/>
              </a:rPr>
              <a:t>Accountable: Contracted security resolver</a:t>
            </a:r>
          </a:p>
        </p:txBody>
      </p:sp>
      <p:sp>
        <p:nvSpPr>
          <p:cNvPr id="13" name="Rounded Rectangle 12"/>
          <p:cNvSpPr/>
          <p:nvPr/>
        </p:nvSpPr>
        <p:spPr>
          <a:xfrm>
            <a:off x="8046719" y="237744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Attack or data exposure</a:t>
            </a:r>
          </a:p>
          <a:p>
            <a:pPr algn="l" marL="201168" indent="-201168">
              <a:spcAft>
                <a:spcPts val="800"/>
              </a:spcAft>
              <a:buFont typeface="Arial"/>
              <a:buChar char="•"/>
            </a:pPr>
            <a:r>
              <a:rPr sz="1700" b="0" i="0">
                <a:solidFill>
                  <a:srgbClr val="1E1E2E"/>
                </a:solidFill>
                <a:latin typeface="Arial"/>
              </a:rPr>
              <a:t>Containment authority</a:t>
            </a:r>
          </a:p>
          <a:p>
            <a:pPr algn="l" marL="201168" indent="-201168">
              <a:spcAft>
                <a:spcPts val="800"/>
              </a:spcAft>
              <a:buFont typeface="Arial"/>
              <a:buChar char="•"/>
            </a:pPr>
            <a:r>
              <a:rPr sz="1700" b="0" i="0">
                <a:solidFill>
                  <a:srgbClr val="1E1E2E"/>
                </a:solidFill>
                <a:latin typeface="Arial"/>
              </a:rPr>
              <a:t>Forensics and notification</a:t>
            </a:r>
          </a:p>
          <a:p>
            <a:pPr algn="l" marL="201168" indent="-201168">
              <a:spcAft>
                <a:spcPts val="800"/>
              </a:spcAft>
              <a:buFont typeface="Arial"/>
              <a:buChar char="•"/>
            </a:pPr>
            <a:r>
              <a:rPr sz="1700" b="0" i="0">
                <a:solidFill>
                  <a:srgbClr val="1E1E2E"/>
                </a:solidFill>
                <a:latin typeface="Arial"/>
              </a:rPr>
              <a:t>CIS Infra contains allocated parts</a:t>
            </a:r>
          </a:p>
        </p:txBody>
      </p:sp>
      <p:sp>
        <p:nvSpPr>
          <p:cNvPr id="14" name="Rounded Rectangle 13"/>
          <p:cNvSpPr/>
          <p:nvPr/>
        </p:nvSpPr>
        <p:spPr>
          <a:xfrm>
            <a:off x="548640" y="571500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One service desk entry point routes to the right lane. CIS Infra does not own model quality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signals, routing and resolvers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108960" cy="4389120"/>
          </a:xfrm>
          <a:prstGeom prst="roundRect">
            <a:avLst>
              <a:gd name="adj" fmla="val 294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89504" cy="237744"/>
          </a:xfrm>
          <a:prstGeom prst="rect">
            <a:avLst/>
          </a:prstGeom>
          <a:noFill/>
        </p:spPr>
        <p:txBody>
          <a:bodyPr wrap="square" lIns="0" rIns="0" tIns="0" bIns="0" anchor="t">
            <a:noAutofit/>
          </a:bodyPr>
          <a:lstStyle/>
          <a:p>
            <a:pPr algn="l"/>
            <a:r>
              <a:rPr sz="1100" b="1" i="0">
                <a:solidFill>
                  <a:srgbClr val="000048"/>
                </a:solidFill>
                <a:latin typeface="Arial"/>
              </a:rPr>
              <a:t>SIGNALS</a:t>
            </a:r>
          </a:p>
        </p:txBody>
      </p:sp>
      <p:pic>
        <p:nvPicPr>
          <p:cNvPr id="10"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42516"/>
            <a:ext cx="384048" cy="384048"/>
          </a:xfrm>
          <a:prstGeom prst="rect">
            <a:avLst/>
          </a:prstGeom>
        </p:spPr>
      </p:pic>
      <p:sp>
        <p:nvSpPr>
          <p:cNvPr id="11" name="TextBox 10"/>
          <p:cNvSpPr txBox="1"/>
          <p:nvPr/>
        </p:nvSpPr>
        <p:spPr>
          <a:xfrm>
            <a:off x="1078992" y="1728216"/>
            <a:ext cx="2267712" cy="61264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100" b="0" i="0">
                <a:solidFill>
                  <a:srgbClr val="53565A"/>
                </a:solidFill>
                <a:latin typeface="Arial"/>
              </a:rPr>
              <a:t>metrics, alerts</a:t>
            </a:r>
          </a:p>
        </p:txBody>
      </p:sp>
      <p:pic>
        <p:nvPicPr>
          <p:cNvPr id="12" name="Azure icon: Service Health" descr="Official Azure icon: Service Healt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19756"/>
            <a:ext cx="384048" cy="384048"/>
          </a:xfrm>
          <a:prstGeom prst="rect">
            <a:avLst/>
          </a:prstGeom>
        </p:spPr>
      </p:pic>
      <p:sp>
        <p:nvSpPr>
          <p:cNvPr id="13" name="TextBox 12"/>
          <p:cNvSpPr txBox="1"/>
          <p:nvPr/>
        </p:nvSpPr>
        <p:spPr>
          <a:xfrm>
            <a:off x="1078992" y="2505456"/>
            <a:ext cx="2267712" cy="61264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100" b="0" i="0">
                <a:solidFill>
                  <a:srgbClr val="53565A"/>
                </a:solidFill>
                <a:latin typeface="Arial"/>
              </a:rPr>
              <a:t>Azure incidents</a:t>
            </a:r>
          </a:p>
        </p:txBody>
      </p:sp>
      <p:pic>
        <p:nvPicPr>
          <p:cNvPr id="14" name="Azure icon: Application Insights" descr="Official Azure icon: Application Insigh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396996"/>
            <a:ext cx="384048" cy="384048"/>
          </a:xfrm>
          <a:prstGeom prst="rect">
            <a:avLst/>
          </a:prstGeom>
        </p:spPr>
      </p:pic>
      <p:sp>
        <p:nvSpPr>
          <p:cNvPr id="15" name="TextBox 14"/>
          <p:cNvSpPr txBox="1"/>
          <p:nvPr/>
        </p:nvSpPr>
        <p:spPr>
          <a:xfrm>
            <a:off x="1078992" y="3282696"/>
            <a:ext cx="2267712" cy="61264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agent traces, errors</a:t>
            </a:r>
          </a:p>
        </p:txBody>
      </p:sp>
      <p:pic>
        <p:nvPicPr>
          <p:cNvPr id="16" name="Azure icon: Log Analytics workspace" descr="Official Azure icon: Log Analytics workspa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174236"/>
            <a:ext cx="384048" cy="384048"/>
          </a:xfrm>
          <a:prstGeom prst="rect">
            <a:avLst/>
          </a:prstGeom>
        </p:spPr>
      </p:pic>
      <p:sp>
        <p:nvSpPr>
          <p:cNvPr id="17" name="TextBox 16"/>
          <p:cNvSpPr txBox="1"/>
          <p:nvPr/>
        </p:nvSpPr>
        <p:spPr>
          <a:xfrm>
            <a:off x="1078992" y="4059936"/>
            <a:ext cx="2267712" cy="61264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100" b="0" i="0">
                <a:solidFill>
                  <a:srgbClr val="53565A"/>
                </a:solidFill>
                <a:latin typeface="Arial"/>
              </a:rPr>
              <a:t>platform and gateway logs</a:t>
            </a:r>
          </a:p>
        </p:txBody>
      </p:sp>
      <p:pic>
        <p:nvPicPr>
          <p:cNvPr id="18" name="Azure icon: Cost Budgets" descr="Official Azure icon: Cost Budge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951476"/>
            <a:ext cx="384048" cy="384048"/>
          </a:xfrm>
          <a:prstGeom prst="rect">
            <a:avLst/>
          </a:prstGeom>
        </p:spPr>
      </p:pic>
      <p:sp>
        <p:nvSpPr>
          <p:cNvPr id="19" name="TextBox 18"/>
          <p:cNvSpPr txBox="1"/>
          <p:nvPr/>
        </p:nvSpPr>
        <p:spPr>
          <a:xfrm>
            <a:off x="1078992" y="4837176"/>
            <a:ext cx="2267712" cy="612648"/>
          </a:xfrm>
          <a:prstGeom prst="rect">
            <a:avLst/>
          </a:prstGeom>
          <a:noFill/>
        </p:spPr>
        <p:txBody>
          <a:bodyPr wrap="square" lIns="0" rIns="0" tIns="0" bIns="0" anchor="ctr">
            <a:noAutofit/>
          </a:bodyPr>
          <a:lstStyle/>
          <a:p>
            <a:pPr algn="l"/>
            <a:r>
              <a:rPr sz="1300" b="1" i="0">
                <a:solidFill>
                  <a:srgbClr val="000048"/>
                </a:solidFill>
                <a:latin typeface="Arial"/>
              </a:rPr>
              <a:t>Budgets</a:t>
            </a:r>
          </a:p>
          <a:p>
            <a:pPr algn="l"/>
            <a:r>
              <a:rPr sz="1100" b="0" i="0">
                <a:solidFill>
                  <a:srgbClr val="53565A"/>
                </a:solidFill>
                <a:latin typeface="Arial"/>
              </a:rPr>
              <a:t>spend alerts</a:t>
            </a:r>
          </a:p>
        </p:txBody>
      </p:sp>
      <p:sp>
        <p:nvSpPr>
          <p:cNvPr id="20" name="Rounded Rectangle 19"/>
          <p:cNvSpPr/>
          <p:nvPr/>
        </p:nvSpPr>
        <p:spPr>
          <a:xfrm>
            <a:off x="3977639" y="2697480"/>
            <a:ext cx="192024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lerts" descr="Official Azure icon: Aler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86299" y="2770632"/>
            <a:ext cx="502920" cy="502920"/>
          </a:xfrm>
          <a:prstGeom prst="rect">
            <a:avLst/>
          </a:prstGeom>
        </p:spPr>
      </p:pic>
      <p:sp>
        <p:nvSpPr>
          <p:cNvPr id="22" name="TextBox 21"/>
          <p:cNvSpPr txBox="1"/>
          <p:nvPr/>
        </p:nvSpPr>
        <p:spPr>
          <a:xfrm>
            <a:off x="4014215" y="3310128"/>
            <a:ext cx="1847088" cy="528945"/>
          </a:xfrm>
          <a:prstGeom prst="rect">
            <a:avLst/>
          </a:prstGeom>
          <a:noFill/>
        </p:spPr>
        <p:txBody>
          <a:bodyPr wrap="square" lIns="0" rIns="0" tIns="0" bIns="0" anchor="t">
            <a:noAutofit/>
          </a:bodyPr>
          <a:lstStyle/>
          <a:p>
            <a:pPr algn="ctr"/>
            <a:r>
              <a:rPr sz="1400" b="1" i="0">
                <a:solidFill>
                  <a:srgbClr val="000048"/>
                </a:solidFill>
                <a:latin typeface="Arial"/>
              </a:rPr>
              <a:t>Alert rules</a:t>
            </a:r>
          </a:p>
          <a:p>
            <a:pPr algn="ctr"/>
            <a:r>
              <a:rPr sz="1100" b="0" i="0">
                <a:solidFill>
                  <a:srgbClr val="53565A"/>
                </a:solidFill>
                <a:latin typeface="Arial"/>
              </a:rPr>
              <a:t>action groups, owners</a:t>
            </a:r>
          </a:p>
        </p:txBody>
      </p:sp>
      <p:sp>
        <p:nvSpPr>
          <p:cNvPr id="23" name="Rounded Rectangle 22"/>
          <p:cNvSpPr/>
          <p:nvPr/>
        </p:nvSpPr>
        <p:spPr>
          <a:xfrm>
            <a:off x="6355080" y="2697480"/>
            <a:ext cx="192024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Service desk</a:t>
            </a:r>
          </a:p>
          <a:p>
            <a:pPr algn="ctr"/>
            <a:r>
              <a:rPr sz="1100" b="0" i="0">
                <a:solidFill>
                  <a:srgbClr val="53565A"/>
                </a:solidFill>
                <a:latin typeface="Arial"/>
              </a:rPr>
              <a:t>customer ITSM, one entry point</a:t>
            </a:r>
          </a:p>
        </p:txBody>
      </p:sp>
      <p:sp>
        <p:nvSpPr>
          <p:cNvPr id="24" name="Rounded Rectangle 23"/>
          <p:cNvSpPr/>
          <p:nvPr/>
        </p:nvSpPr>
        <p:spPr>
          <a:xfrm>
            <a:off x="8732520" y="1325880"/>
            <a:ext cx="3017520" cy="4389120"/>
          </a:xfrm>
          <a:prstGeom prst="roundRect">
            <a:avLst>
              <a:gd name="adj" fmla="val 3030"/>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42248" y="1380744"/>
            <a:ext cx="2798063" cy="237744"/>
          </a:xfrm>
          <a:prstGeom prst="rect">
            <a:avLst/>
          </a:prstGeom>
          <a:noFill/>
        </p:spPr>
        <p:txBody>
          <a:bodyPr wrap="square" lIns="0" rIns="0" tIns="0" bIns="0" anchor="t">
            <a:noAutofit/>
          </a:bodyPr>
          <a:lstStyle/>
          <a:p>
            <a:pPr algn="l"/>
            <a:r>
              <a:rPr sz="1100" b="1" i="0">
                <a:solidFill>
                  <a:srgbClr val="000048"/>
                </a:solidFill>
                <a:latin typeface="Arial"/>
              </a:rPr>
              <a:t>RESOLVER LANES</a:t>
            </a:r>
          </a:p>
        </p:txBody>
      </p:sp>
      <p:sp>
        <p:nvSpPr>
          <p:cNvPr id="26" name="Rounded Rectangle 25"/>
          <p:cNvSpPr/>
          <p:nvPr/>
        </p:nvSpPr>
        <p:spPr>
          <a:xfrm>
            <a:off x="8869680" y="16916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CIS Infra</a:t>
            </a:r>
          </a:p>
          <a:p>
            <a:pPr algn="l"/>
            <a:r>
              <a:rPr sz="1100" b="0" i="0">
                <a:solidFill>
                  <a:srgbClr val="53565A"/>
                </a:solidFill>
                <a:latin typeface="Arial"/>
              </a:rPr>
              <a:t>platform availability</a:t>
            </a:r>
          </a:p>
        </p:txBody>
      </p:sp>
      <p:sp>
        <p:nvSpPr>
          <p:cNvPr id="27" name="Rounded Rectangle 26"/>
          <p:cNvSpPr/>
          <p:nvPr/>
        </p:nvSpPr>
        <p:spPr>
          <a:xfrm>
            <a:off x="8869680" y="25603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AI tower</a:t>
            </a:r>
          </a:p>
          <a:p>
            <a:pPr algn="l"/>
            <a:r>
              <a:rPr sz="1100" b="0" i="0">
                <a:solidFill>
                  <a:srgbClr val="53565A"/>
                </a:solidFill>
                <a:latin typeface="Arial"/>
              </a:rPr>
              <a:t>agent task quality</a:t>
            </a:r>
          </a:p>
        </p:txBody>
      </p:sp>
      <p:sp>
        <p:nvSpPr>
          <p:cNvPr id="28" name="Rounded Rectangle 27"/>
          <p:cNvSpPr/>
          <p:nvPr/>
        </p:nvSpPr>
        <p:spPr>
          <a:xfrm>
            <a:off x="8869680" y="34290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Data Eng.</a:t>
            </a:r>
          </a:p>
          <a:p>
            <a:pPr algn="l"/>
            <a:r>
              <a:rPr sz="1100" b="0" i="0">
                <a:solidFill>
                  <a:srgbClr val="53565A"/>
                </a:solidFill>
                <a:latin typeface="Arial"/>
              </a:rPr>
              <a:t>pipelines, indexes</a:t>
            </a:r>
          </a:p>
        </p:txBody>
      </p:sp>
      <p:sp>
        <p:nvSpPr>
          <p:cNvPr id="29" name="Rounded Rectangle 28"/>
          <p:cNvSpPr/>
          <p:nvPr/>
        </p:nvSpPr>
        <p:spPr>
          <a:xfrm>
            <a:off x="8869680" y="4297679"/>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Security resolver</a:t>
            </a:r>
          </a:p>
          <a:p>
            <a:pPr algn="l"/>
            <a:r>
              <a:rPr sz="1100" b="0" i="0">
                <a:solidFill>
                  <a:srgbClr val="53565A"/>
                </a:solidFill>
                <a:latin typeface="Arial"/>
              </a:rPr>
              <a:t>security incidents</a:t>
            </a:r>
          </a:p>
        </p:txBody>
      </p:sp>
      <p:sp>
        <p:nvSpPr>
          <p:cNvPr id="30" name="Rounded Rectangle 29"/>
          <p:cNvSpPr/>
          <p:nvPr/>
        </p:nvSpPr>
        <p:spPr>
          <a:xfrm>
            <a:off x="8869680" y="5212080"/>
            <a:ext cx="2743200" cy="411480"/>
          </a:xfrm>
          <a:prstGeom prst="roundRect">
            <a:avLst>
              <a:gd name="adj" fmla="val 17777"/>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200" b="1" i="0">
                <a:solidFill>
                  <a:srgbClr val="000048"/>
                </a:solidFill>
                <a:latin typeface="Arial"/>
              </a:rPr>
              <a:t>Containment plane: appendix K1</a:t>
            </a:r>
          </a:p>
        </p:txBody>
      </p:sp>
      <p:cxnSp>
        <p:nvCxnSpPr>
          <p:cNvPr id="31" name="Connector (telemetry)"/>
          <p:cNvCxnSpPr/>
          <p:nvPr/>
        </p:nvCxnSpPr>
        <p:spPr>
          <a:xfrm>
            <a:off x="3383280" y="2029968"/>
            <a:ext cx="594359" cy="126187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3383280" y="2807208"/>
            <a:ext cx="594359" cy="48463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telemetry)"/>
          <p:cNvCxnSpPr/>
          <p:nvPr/>
        </p:nvCxnSpPr>
        <p:spPr>
          <a:xfrm flipV="1">
            <a:off x="3383280" y="3291840"/>
            <a:ext cx="594359" cy="2926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telemetry)"/>
          <p:cNvCxnSpPr/>
          <p:nvPr/>
        </p:nvCxnSpPr>
        <p:spPr>
          <a:xfrm flipV="1">
            <a:off x="3383280" y="3291840"/>
            <a:ext cx="594359" cy="106984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telemetry)"/>
          <p:cNvCxnSpPr/>
          <p:nvPr/>
        </p:nvCxnSpPr>
        <p:spPr>
          <a:xfrm flipV="1">
            <a:off x="3383280" y="3291840"/>
            <a:ext cx="594359" cy="184708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5897880" y="333756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8275320" y="2057400"/>
            <a:ext cx="594360" cy="1280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8275320" y="2926080"/>
            <a:ext cx="59436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275320" y="3337560"/>
            <a:ext cx="594360" cy="4572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275320" y="3337560"/>
            <a:ext cx="59436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telemetry)"/>
          <p:cNvCxnSpPr/>
          <p:nvPr/>
        </p:nvCxnSpPr>
        <p:spPr>
          <a:xfrm>
            <a:off x="4937760" y="3749039"/>
            <a:ext cx="0" cy="685801"/>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977639" y="4434840"/>
            <a:ext cx="19202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Azure Workbooks" descr="Official Azure icon: Azure Workbook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50791" y="4572000"/>
            <a:ext cx="411480" cy="411480"/>
          </a:xfrm>
          <a:prstGeom prst="rect">
            <a:avLst/>
          </a:prstGeom>
        </p:spPr>
      </p:pic>
      <p:sp>
        <p:nvSpPr>
          <p:cNvPr id="44" name="TextBox 43"/>
          <p:cNvSpPr txBox="1"/>
          <p:nvPr/>
        </p:nvSpPr>
        <p:spPr>
          <a:xfrm>
            <a:off x="4535424" y="4471416"/>
            <a:ext cx="1325880" cy="612648"/>
          </a:xfrm>
          <a:prstGeom prst="rect">
            <a:avLst/>
          </a:prstGeom>
          <a:noFill/>
        </p:spPr>
        <p:txBody>
          <a:bodyPr wrap="square" lIns="0" rIns="0" tIns="0" bIns="0" anchor="ctr">
            <a:noAutofit/>
          </a:bodyPr>
          <a:lstStyle/>
          <a:p>
            <a:pPr algn="l"/>
            <a:r>
              <a:rPr sz="1200" b="1" i="0">
                <a:solidFill>
                  <a:srgbClr val="000048"/>
                </a:solidFill>
                <a:latin typeface="Arial"/>
              </a:rPr>
              <a:t>Monthly report</a:t>
            </a:r>
          </a:p>
          <a:p>
            <a:pPr algn="l"/>
            <a:r>
              <a:rPr sz="1000" b="0" i="0">
                <a:solidFill>
                  <a:srgbClr val="53565A"/>
                </a:solidFill>
                <a:latin typeface="Arial"/>
              </a:rPr>
              <a:t>service objectives, cost</a:t>
            </a:r>
          </a:p>
        </p:txBody>
      </p:sp>
      <p:cxnSp>
        <p:nvCxnSpPr>
          <p:cNvPr id="45" name="Connector (flow)"/>
          <p:cNvCxnSpPr/>
          <p:nvPr/>
        </p:nvCxnSpPr>
        <p:spPr>
          <a:xfrm>
            <a:off x="548640" y="59710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24128" y="5852160"/>
            <a:ext cx="17830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7" name="Connector (telemetry)"/>
          <p:cNvCxnSpPr/>
          <p:nvPr/>
        </p:nvCxnSpPr>
        <p:spPr>
          <a:xfrm>
            <a:off x="2834640" y="597103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10128" y="5852160"/>
            <a:ext cx="1783080"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49" name="TextBox 48"/>
          <p:cNvSpPr txBox="1"/>
          <p:nvPr/>
        </p:nvSpPr>
        <p:spPr>
          <a:xfrm>
            <a:off x="548640" y="612648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service packages and coverage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PACKAGES"/>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PACKAGES</a:t>
            </a:r>
          </a:p>
        </p:txBody>
      </p:sp>
      <p:sp>
        <p:nvSpPr>
          <p:cNvPr id="6" name="Status chip: NO APPROVED RATES"/>
          <p:cNvSpPr/>
          <p:nvPr/>
        </p:nvSpPr>
        <p:spPr>
          <a:xfrm>
            <a:off x="54927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RATES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graphicFrame>
        <p:nvGraphicFramePr>
          <p:cNvPr id="9" name="Table"/>
          <p:cNvGraphicFramePr>
            <a:graphicFrameLocks noGrp="1"/>
          </p:cNvGraphicFramePr>
          <p:nvPr/>
        </p:nvGraphicFramePr>
        <p:xfrm>
          <a:off x="548640" y="1371600"/>
          <a:ext cx="11091672" cy="3566160"/>
        </p:xfrm>
        <a:graphic>
          <a:graphicData uri="http://schemas.openxmlformats.org/drawingml/2006/table">
            <a:tbl>
              <a:tblPr firstRow="1" bandRow="0">
                <a:tableStyleId>{5C22544A-7EE6-4342-B048-85BDC9FD1C3A}</a:tableStyleId>
              </a:tblPr>
              <a:tblGrid>
                <a:gridCol w="3200400"/>
                <a:gridCol w="2560320"/>
                <a:gridCol w="2651760"/>
                <a:gridCol w="2679192"/>
              </a:tblGrid>
              <a:tr h="335280">
                <a:tc>
                  <a:txBody>
                    <a:bodyPr wrap="square" anchor="ctr">
                      <a:noAutofit/>
                    </a:bodyPr>
                    <a:lstStyle/>
                    <a:p>
                      <a:pPr algn="l"/>
                      <a:r>
                        <a:rPr sz="1600" b="1" i="0">
                          <a:solidFill>
                            <a:srgbClr val="FFFFFF"/>
                          </a:solidFill>
                          <a:latin typeface="Arial"/>
                        </a:rPr>
                        <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Foundation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Extended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Continuous</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Coverage hours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Business hours, one time zone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Extended hours, two time zones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24x7, funded roster only</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Platform incidents and changes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Included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Included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Included</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Containment execution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 hours; out of hours by agreement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 extended hours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24x7 with security resolver</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Monthly cost and capacity review</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Included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Included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Included</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Specialist tower response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Best effort via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Agreed hours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Agreed 24x7 escalation</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Pricing unit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Base + assets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Base + assets + hours uplift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Base + assets + roster cost</a:t>
                      </a:r>
                    </a:p>
                  </a:txBody>
                  <a:tcPr marL="73152" marR="73152" marT="36576" marB="36576" anchor="ctr">
                    <a:solidFill>
                      <a:srgbClr val="F5F5F2"/>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24x7 promise without a funded roster, named escalation and tower agreements.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service objectives, pending approval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PROPOSED, NOT APPROVED"/>
          <p:cNvSpPr/>
          <p:nvPr/>
        </p:nvSpPr>
        <p:spPr>
          <a:xfrm>
            <a:off x="3658870" y="274320"/>
            <a:ext cx="21742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8" name="Rounded Rectangle 7"/>
          <p:cNvSpPr/>
          <p:nvPr/>
        </p:nvSpPr>
        <p:spPr>
          <a:xfrm>
            <a:off x="548640" y="1325880"/>
            <a:ext cx="11091672" cy="457200"/>
          </a:xfrm>
          <a:prstGeom prst="roundRect">
            <a:avLst>
              <a:gd name="adj" fmla="val 16000"/>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000048"/>
                </a:solidFill>
                <a:latin typeface="Arial"/>
              </a:rPr>
              <a:t>PROPOSED targets for pilot discussion only  ·  not contractual  ·  valid inside coverage hours</a:t>
            </a:r>
          </a:p>
        </p:txBody>
      </p:sp>
      <p:graphicFrame>
        <p:nvGraphicFramePr>
          <p:cNvPr id="9" name="Table"/>
          <p:cNvGraphicFramePr>
            <a:graphicFrameLocks noGrp="1"/>
          </p:cNvGraphicFramePr>
          <p:nvPr/>
        </p:nvGraphicFramePr>
        <p:xfrm>
          <a:off x="548640" y="1920240"/>
          <a:ext cx="11091672" cy="2499360"/>
        </p:xfrm>
        <a:graphic>
          <a:graphicData uri="http://schemas.openxmlformats.org/drawingml/2006/table">
            <a:tbl>
              <a:tblPr firstRow="1" bandRow="0">
                <a:tableStyleId>{5C22544A-7EE6-4342-B048-85BDC9FD1C3A}</a:tableStyleId>
              </a:tblPr>
              <a:tblGrid>
                <a:gridCol w="1280160"/>
                <a:gridCol w="4572000"/>
                <a:gridCol w="2743200"/>
                <a:gridCol w="2496312"/>
              </a:tblGrid>
              <a:tr h="579120">
                <a:tc>
                  <a:txBody>
                    <a:bodyPr wrap="square" anchor="ctr">
                      <a:noAutofit/>
                    </a:bodyPr>
                    <a:lstStyle/>
                    <a:p>
                      <a:pPr algn="l"/>
                      <a:r>
                        <a:rPr sz="1600" b="1" i="0">
                          <a:solidFill>
                            <a:srgbClr val="FFFFFF"/>
                          </a:solidFill>
                          <a:latin typeface="Arial"/>
                        </a:rPr>
                        <a:t>Priority</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Response target (proposed)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Update cadence (proposed)</a:t>
                      </a:r>
                    </a:p>
                  </a:txBody>
                  <a:tcPr marL="73152" marR="73152" marT="36576" marB="36576" anchor="ctr">
                    <a:solidFill>
                      <a:srgbClr val="000048"/>
                    </a:solidFill>
                  </a:tcPr>
                </a:tc>
              </a:tr>
              <a:tr h="609600">
                <a:tc>
                  <a:txBody>
                    <a:bodyPr wrap="square" anchor="ctr">
                      <a:noAutofit/>
                    </a:bodyPr>
                    <a:lstStyle/>
                    <a:p>
                      <a:pPr algn="l"/>
                      <a:r>
                        <a:rPr sz="1700" b="1" i="0">
                          <a:solidFill>
                            <a:srgbClr val="1E1E2E"/>
                          </a:solidFill>
                          <a:latin typeface="Arial"/>
                        </a:rPr>
                        <a:t>P1</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Platform outage or agent containment request</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30 minutes</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Every hour</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P2</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Degraded platform, gateway throttling</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2 hours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Every 4 hours</a:t>
                      </a:r>
                    </a:p>
                  </a:txBody>
                  <a:tcPr marL="73152" marR="73152" marT="36576" marB="36576" anchor="ctr">
                    <a:solidFill>
                      <a:srgbClr val="F5F5F2"/>
                    </a:solidFill>
                  </a:tcPr>
                </a:tc>
              </a:tr>
              <a:tr h="609600">
                <a:tc>
                  <a:txBody>
                    <a:bodyPr wrap="square" anchor="ctr">
                      <a:noAutofit/>
                    </a:bodyPr>
                    <a:lstStyle/>
                    <a:p>
                      <a:pPr algn="l"/>
                      <a:r>
                        <a:rPr sz="1700" b="1" i="0">
                          <a:solidFill>
                            <a:srgbClr val="1E1E2E"/>
                          </a:solidFill>
                          <a:latin typeface="Arial"/>
                        </a:rPr>
                        <a:t>P3</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Single component issue, workaround exists</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1 business day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Daily</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P4</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Request or question</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3 business days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On change</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Response, not resolution. Restore objectives need dependency tests and depend on Azure service health.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Dependencies and risks that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graphicFrame>
        <p:nvGraphicFramePr>
          <p:cNvPr id="7" name="Table"/>
          <p:cNvGraphicFramePr>
            <a:graphicFrameLocks noGrp="1"/>
          </p:cNvGraphicFramePr>
          <p:nvPr/>
        </p:nvGraphicFramePr>
        <p:xfrm>
          <a:off x="548640" y="1371600"/>
          <a:ext cx="11091672" cy="2499360"/>
        </p:xfrm>
        <a:graphic>
          <a:graphicData uri="http://schemas.openxmlformats.org/drawingml/2006/table">
            <a:tbl>
              <a:tblPr firstRow="1" bandRow="0">
                <a:tableStyleId>{5C22544A-7EE6-4342-B048-85BDC9FD1C3A}</a:tableStyleId>
              </a:tblPr>
              <a:tblGrid>
                <a:gridCol w="3017520"/>
                <a:gridCol w="2560320"/>
                <a:gridCol w="3108960"/>
                <a:gridCol w="2404872"/>
              </a:tblGrid>
              <a:tr h="335280">
                <a:tc>
                  <a:txBody>
                    <a:bodyPr wrap="square" anchor="ctr">
                      <a:noAutofit/>
                    </a:bodyPr>
                    <a:lstStyle/>
                    <a:p>
                      <a:pPr algn="l"/>
                      <a:r>
                        <a:rPr sz="1600" b="1" i="0">
                          <a:solidFill>
                            <a:srgbClr val="FFFFFF"/>
                          </a:solidFill>
                          <a:latin typeface="Arial"/>
                        </a:rPr>
                        <a:t>Risk or dependency</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Effect if unmanaged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Owner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No tower support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Tickets stall between towers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Signed internal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24x7 sold without roster</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Missed obligations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Funded roster before contract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Delivery leadership</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Platform not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Operating unknown risk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Onboarding gate (A1)</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Alert noise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Real incidents missed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Owner per alert; tuning</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Containment authority unclear</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Slow stop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Named authority in runbook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risk owner</a:t>
                      </a:r>
                    </a:p>
                  </a:txBody>
                  <a:tcPr marL="73152" marR="73152" marT="36576" marB="36576"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success is measured, and what to decide now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TO AGREE"/>
          <p:cNvSpPr/>
          <p:nvPr/>
        </p:nvSpPr>
        <p:spPr>
          <a:xfrm>
            <a:off x="375666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TO AGREE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graphicFrame>
        <p:nvGraphicFramePr>
          <p:cNvPr id="8" name="Table"/>
          <p:cNvGraphicFramePr>
            <a:graphicFrameLocks noGrp="1"/>
          </p:cNvGraphicFramePr>
          <p:nvPr/>
        </p:nvGraphicFramePr>
        <p:xfrm>
          <a:off x="548640" y="1371600"/>
          <a:ext cx="6035040" cy="2255520"/>
        </p:xfrm>
        <a:graphic>
          <a:graphicData uri="http://schemas.openxmlformats.org/drawingml/2006/table">
            <a:tbl>
              <a:tblPr firstRow="1" bandRow="0">
                <a:tableStyleId>{5C22544A-7EE6-4342-B048-85BDC9FD1C3A}</a:tableStyleId>
              </a:tblPr>
              <a:tblGrid>
                <a:gridCol w="2103120"/>
                <a:gridCol w="3931920"/>
              </a:tblGrid>
              <a:tr h="335280">
                <a:tc>
                  <a:txBody>
                    <a:bodyPr wrap="square" anchor="ctr">
                      <a:noAutofit/>
                    </a:bodyPr>
                    <a:lstStyle/>
                    <a:p>
                      <a:pPr algn="l"/>
                      <a:r>
                        <a:rPr sz="1600" b="1" i="0">
                          <a:solidFill>
                            <a:srgbClr val="FFFFFF"/>
                          </a:solidFill>
                          <a:latin typeface="Arial"/>
                        </a:rPr>
                        <a:t>Measure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Definition</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Response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Share of tickets meeting the agreed target</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Change success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Changes without rollback or incident</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Alert ownership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Alerts with a named owner and runbook</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Containment drills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Drills run and passed per quarter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Cost visibility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Spend attributed and reviewed monthly</a:t>
                      </a:r>
                    </a:p>
                  </a:txBody>
                  <a:tcPr marL="73152" marR="73152" marT="36576" marB="36576" anchor="ctr">
                    <a:solidFill>
                      <a:srgbClr val="FFFFFF"/>
                    </a:solidFill>
                  </a:tcPr>
                </a:tc>
              </a:tr>
            </a:tbl>
          </a:graphicData>
        </a:graphic>
      </p:graphicFrame>
      <p:sp>
        <p:nvSpPr>
          <p:cNvPr id="9" name="Rounded Rectangle 8"/>
          <p:cNvSpPr/>
          <p:nvPr/>
        </p:nvSpPr>
        <p:spPr>
          <a:xfrm>
            <a:off x="6903720" y="1371600"/>
            <a:ext cx="4736592"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Decide now</a:t>
            </a:r>
          </a:p>
        </p:txBody>
      </p:sp>
      <p:sp>
        <p:nvSpPr>
          <p:cNvPr id="10" name="TextBox 9"/>
          <p:cNvSpPr txBox="1"/>
          <p:nvPr/>
        </p:nvSpPr>
        <p:spPr>
          <a:xfrm>
            <a:off x="6903720" y="1965960"/>
            <a:ext cx="4736592" cy="146304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Packages for pilot use</a:t>
            </a:r>
          </a:p>
          <a:p>
            <a:pPr algn="l" marL="201168" indent="-201168">
              <a:spcAft>
                <a:spcPts val="400"/>
              </a:spcAft>
              <a:buFont typeface="Arial"/>
              <a:buChar char="•"/>
            </a:pPr>
            <a:r>
              <a:rPr sz="1700" b="0" i="0">
                <a:solidFill>
                  <a:srgbClr val="1E1E2E"/>
                </a:solidFill>
                <a:latin typeface="Arial"/>
              </a:rPr>
              <a:t>No 24x7 without funded roster</a:t>
            </a:r>
          </a:p>
        </p:txBody>
      </p:sp>
      <p:sp>
        <p:nvSpPr>
          <p:cNvPr id="11" name="Rounded Rectangle 10"/>
          <p:cNvSpPr/>
          <p:nvPr/>
        </p:nvSpPr>
        <p:spPr>
          <a:xfrm>
            <a:off x="6903720" y="3337560"/>
            <a:ext cx="4736592" cy="502920"/>
          </a:xfrm>
          <a:prstGeom prst="roundRect">
            <a:avLst>
              <a:gd name="adj" fmla="val 14545"/>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After evidence or approval</a:t>
            </a:r>
          </a:p>
        </p:txBody>
      </p:sp>
      <p:sp>
        <p:nvSpPr>
          <p:cNvPr id="12" name="TextBox 11"/>
          <p:cNvSpPr txBox="1"/>
          <p:nvPr/>
        </p:nvSpPr>
        <p:spPr>
          <a:xfrm>
            <a:off x="6903720" y="3931920"/>
            <a:ext cx="4736592" cy="182880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Service objectives (leadership, customer)</a:t>
            </a:r>
          </a:p>
          <a:p>
            <a:pPr algn="l" marL="201168" indent="-201168">
              <a:spcAft>
                <a:spcPts val="400"/>
              </a:spcAft>
              <a:buFont typeface="Arial"/>
              <a:buChar char="•"/>
            </a:pPr>
            <a:r>
              <a:rPr sz="1700" b="0" i="0">
                <a:solidFill>
                  <a:srgbClr val="1E1E2E"/>
                </a:solidFill>
                <a:latin typeface="Arial"/>
              </a:rPr>
              <a:t>Rates and uplifts (Finance)</a:t>
            </a:r>
          </a:p>
          <a:p>
            <a:pPr algn="l" marL="201168" indent="-201168">
              <a:spcAft>
                <a:spcPts val="400"/>
              </a:spcAft>
              <a:buFont typeface="Arial"/>
              <a:buChar char="•"/>
            </a:pPr>
            <a:r>
              <a:rPr sz="1700" b="0" i="0">
                <a:solidFill>
                  <a:srgbClr val="1E1E2E"/>
                </a:solidFill>
                <a:latin typeface="Arial"/>
              </a:rPr>
              <a:t>Tower agreements (tower leads)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Onboarding, monitoring, alert routing, ITSM processes, containment and recovery, reviews, coverage, objectives, pricing logic,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Onboarding and readiness gates</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Asset and agent inventory</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Health and dependency monitoring</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Foundry observability, App Insights, Log Analytics</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Alert ownership and routing</a:t>
            </a:r>
          </a:p>
        </p:txBody>
      </p:sp>
      <p:sp>
        <p:nvSpPr>
          <p:cNvPr id="12" name="TextBox 11">
            <a:hlinkClick action="ppaction://hlinksldjump" r:id="rId9"/>
          </p:cNvPr>
          <p:cNvSpPr txBox="1"/>
          <p:nvPr/>
        </p:nvSpPr>
        <p:spPr>
          <a:xfrm>
            <a:off x="54864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Incident, problem and change</a:t>
            </a:r>
          </a:p>
        </p:txBody>
      </p:sp>
      <p:sp>
        <p:nvSpPr>
          <p:cNvPr id="13" name="TextBox 12">
            <a:hlinkClick action="ppaction://hlinksldjump" r:id="rId10"/>
          </p:cNvPr>
          <p:cNvSpPr txBox="1"/>
          <p:nvPr/>
        </p:nvSpPr>
        <p:spPr>
          <a:xfrm>
            <a:off x="54864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Platform, quality and security lanes</a:t>
            </a:r>
          </a:p>
        </p:txBody>
      </p:sp>
      <p:sp>
        <p:nvSpPr>
          <p:cNvPr id="14" name="TextBox 13">
            <a:hlinkClick action="ppaction://hlinksldjump" r:id="rId11"/>
          </p:cNvPr>
          <p:cNvSpPr txBox="1"/>
          <p:nvPr/>
        </p:nvSpPr>
        <p:spPr>
          <a:xfrm>
            <a:off x="54864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K1  </a:t>
            </a:r>
            <a:r>
              <a:rPr sz="1300" b="0" i="0">
                <a:solidFill>
                  <a:srgbClr val="1E1E2E"/>
                </a:solidFill>
                <a:latin typeface="Arial"/>
              </a:rPr>
              <a:t>Kill-switch reference architecture</a:t>
            </a:r>
          </a:p>
        </p:txBody>
      </p:sp>
      <p:sp>
        <p:nvSpPr>
          <p:cNvPr id="15" name="TextBox 14">
            <a:hlinkClick action="ppaction://hlinksldjump" r:id="rId12"/>
          </p:cNvPr>
          <p:cNvSpPr txBox="1"/>
          <p:nvPr/>
        </p:nvSpPr>
        <p:spPr>
          <a:xfrm>
            <a:off x="54864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K2  </a:t>
            </a:r>
            <a:r>
              <a:rPr sz="1300" b="0" i="0">
                <a:solidFill>
                  <a:srgbClr val="1E1E2E"/>
                </a:solidFill>
                <a:latin typeface="Arial"/>
              </a:rPr>
              <a:t>Block, cancel, deny: what each layer does</a:t>
            </a:r>
          </a:p>
        </p:txBody>
      </p:sp>
      <p:sp>
        <p:nvSpPr>
          <p:cNvPr id="16" name="TextBox 15">
            <a:hlinkClick action="ppaction://hlinksldjump" r:id="rId13"/>
          </p:cNvPr>
          <p:cNvSpPr txBox="1"/>
          <p:nvPr/>
        </p:nvSpPr>
        <p:spPr>
          <a:xfrm>
            <a:off x="54864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K3  </a:t>
            </a:r>
            <a:r>
              <a:rPr sz="1300" b="0" i="0">
                <a:solidFill>
                  <a:srgbClr val="1E1E2E"/>
                </a:solidFill>
                <a:latin typeface="Arial"/>
              </a:rPr>
              <a:t>Containment limits</a:t>
            </a:r>
          </a:p>
        </p:txBody>
      </p:sp>
      <p:sp>
        <p:nvSpPr>
          <p:cNvPr id="17" name="TextBox 16">
            <a:hlinkClick action="ppaction://hlinksldjump" r:id="rId14"/>
          </p:cNvPr>
          <p:cNvSpPr txBox="1"/>
          <p:nvPr/>
        </p:nvSpPr>
        <p:spPr>
          <a:xfrm>
            <a:off x="54864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K4  </a:t>
            </a:r>
            <a:r>
              <a:rPr sz="1300" b="0" i="0">
                <a:solidFill>
                  <a:srgbClr val="1E1E2E"/>
                </a:solidFill>
                <a:latin typeface="Arial"/>
              </a:rPr>
              <a:t>Containment test scenarios</a:t>
            </a:r>
          </a:p>
        </p:txBody>
      </p:sp>
      <p:sp>
        <p:nvSpPr>
          <p:cNvPr id="18" name="TextBox 17">
            <a:hlinkClick action="ppaction://hlinksldjump" r:id="rId15"/>
          </p:cNvPr>
          <p:cNvSpPr txBox="1"/>
          <p:nvPr/>
        </p:nvSpPr>
        <p:spPr>
          <a:xfrm>
            <a:off x="54864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A8  </a:t>
            </a:r>
            <a:r>
              <a:rPr sz="1300" b="0" i="0">
                <a:solidFill>
                  <a:srgbClr val="1E1E2E"/>
                </a:solidFill>
                <a:latin typeface="Arial"/>
              </a:rPr>
              <a:t>Controlled recovery</a:t>
            </a:r>
          </a:p>
        </p:txBody>
      </p:sp>
      <p:sp>
        <p:nvSpPr>
          <p:cNvPr id="19" name="TextBox 18">
            <a:hlinkClick action="ppaction://hlinksldjump" r:id="rId16"/>
          </p:cNvPr>
          <p:cNvSpPr txBox="1"/>
          <p:nvPr/>
        </p:nvSpPr>
        <p:spPr>
          <a:xfrm>
            <a:off x="548640" y="5038344"/>
            <a:ext cx="5486400" cy="301752"/>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A9  </a:t>
            </a:r>
            <a:r>
              <a:rPr sz="1300" b="0" i="0">
                <a:solidFill>
                  <a:srgbClr val="1E1E2E"/>
                </a:solidFill>
                <a:latin typeface="Arial"/>
              </a:rPr>
              <a:t>Capacity, quota and cost review</a:t>
            </a:r>
          </a:p>
        </p:txBody>
      </p:sp>
      <p:sp>
        <p:nvSpPr>
          <p:cNvPr id="20" name="TextBox 19">
            <a:hlinkClick action="ppaction://hlinksldjump" r:id="rId17"/>
          </p:cNvPr>
          <p:cNvSpPr txBox="1"/>
          <p:nvPr/>
        </p:nvSpPr>
        <p:spPr>
          <a:xfrm>
            <a:off x="548640" y="5340096"/>
            <a:ext cx="5486400" cy="301752"/>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A10  </a:t>
            </a:r>
            <a:r>
              <a:rPr sz="1300" b="0" i="0">
                <a:solidFill>
                  <a:srgbClr val="1E1E2E"/>
                </a:solidFill>
                <a:latin typeface="Arial"/>
              </a:rPr>
              <a:t>Dormant-agent review</a:t>
            </a:r>
          </a:p>
        </p:txBody>
      </p:sp>
      <p:sp>
        <p:nvSpPr>
          <p:cNvPr id="21" name="TextBox 20">
            <a:hlinkClick action="ppaction://hlinksldjump" r:id="rId18"/>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A11  </a:t>
            </a:r>
            <a:r>
              <a:rPr sz="1300" b="0" i="0">
                <a:solidFill>
                  <a:srgbClr val="1E1E2E"/>
                </a:solidFill>
                <a:latin typeface="Arial"/>
              </a:rPr>
              <a:t>Backup and recovery responsibilities</a:t>
            </a:r>
          </a:p>
        </p:txBody>
      </p:sp>
      <p:sp>
        <p:nvSpPr>
          <p:cNvPr id="22" name="TextBox 21">
            <a:hlinkClick action="ppaction://hlinksldjump" r:id="rId19"/>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A12  </a:t>
            </a:r>
            <a:r>
              <a:rPr sz="1300" b="0" i="0">
                <a:solidFill>
                  <a:srgbClr val="1E1E2E"/>
                </a:solidFill>
                <a:latin typeface="Arial"/>
              </a:rPr>
              <a:t>Runbooks and specialist dependencies</a:t>
            </a:r>
          </a:p>
        </p:txBody>
      </p:sp>
      <p:sp>
        <p:nvSpPr>
          <p:cNvPr id="23" name="TextBox 22">
            <a:hlinkClick action="ppaction://hlinksldjump" r:id="rId20"/>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A13  </a:t>
            </a:r>
            <a:r>
              <a:rPr sz="1300" b="0" i="0">
                <a:solidFill>
                  <a:srgbClr val="1E1E2E"/>
                </a:solidFill>
                <a:latin typeface="Arial"/>
              </a:rPr>
              <a:t>Coverage, on-call and effort</a:t>
            </a:r>
          </a:p>
        </p:txBody>
      </p:sp>
      <p:sp>
        <p:nvSpPr>
          <p:cNvPr id="24" name="TextBox 23">
            <a:hlinkClick action="ppaction://hlinksldjump" r:id="rId21"/>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A14  </a:t>
            </a:r>
            <a:r>
              <a:rPr sz="1300" b="0" i="0">
                <a:solidFill>
                  <a:srgbClr val="1E1E2E"/>
                </a:solidFill>
                <a:latin typeface="Arial"/>
              </a:rPr>
              <a:t>Service objectives and reporting</a:t>
            </a:r>
          </a:p>
        </p:txBody>
      </p:sp>
      <p:sp>
        <p:nvSpPr>
          <p:cNvPr id="25" name="TextBox 24">
            <a:hlinkClick action="ppaction://hlinksldjump" r:id="rId22"/>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A15  </a:t>
            </a:r>
            <a:r>
              <a:rPr sz="1300" b="0" i="0">
                <a:solidFill>
                  <a:srgbClr val="1E1E2E"/>
                </a:solidFill>
                <a:latin typeface="Arial"/>
              </a:rPr>
              <a:t>Monthly governance agenda</a:t>
            </a:r>
          </a:p>
        </p:txBody>
      </p:sp>
      <p:sp>
        <p:nvSpPr>
          <p:cNvPr id="26" name="TextBox 25">
            <a:hlinkClick action="ppaction://hlinksldjump" r:id="rId23"/>
          </p:cNvPr>
          <p:cNvSpPr txBox="1"/>
          <p:nvPr/>
        </p:nvSpPr>
        <p:spPr>
          <a:xfrm>
            <a:off x="621792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A16  </a:t>
            </a:r>
            <a:r>
              <a:rPr sz="1300" b="0" i="0">
                <a:solidFill>
                  <a:srgbClr val="1E1E2E"/>
                </a:solidFill>
                <a:latin typeface="Arial"/>
              </a:rPr>
              <a:t>Pricing logic</a:t>
            </a:r>
          </a:p>
        </p:txBody>
      </p:sp>
      <p:sp>
        <p:nvSpPr>
          <p:cNvPr id="27" name="TextBox 26">
            <a:hlinkClick action="ppaction://hlinksldjump" r:id="rId24"/>
          </p:cNvPr>
          <p:cNvSpPr txBox="1"/>
          <p:nvPr/>
        </p:nvSpPr>
        <p:spPr>
          <a:xfrm>
            <a:off x="621792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C1  </a:t>
            </a:r>
            <a:r>
              <a:rPr sz="1300" b="0" i="0">
                <a:solidFill>
                  <a:srgbClr val="1E1E2E"/>
                </a:solidFill>
                <a:latin typeface="Arial"/>
              </a:rPr>
              <a:t>Cost layers and pricing formula</a:t>
            </a:r>
          </a:p>
        </p:txBody>
      </p:sp>
      <p:sp>
        <p:nvSpPr>
          <p:cNvPr id="28" name="TextBox 27">
            <a:hlinkClick action="ppaction://hlinksldjump" r:id="rId25"/>
          </p:cNvPr>
          <p:cNvSpPr txBox="1"/>
          <p:nvPr/>
        </p:nvSpPr>
        <p:spPr>
          <a:xfrm>
            <a:off x="621792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R1  </a:t>
            </a:r>
            <a:r>
              <a:rPr sz="1300" b="0" i="0">
                <a:solidFill>
                  <a:srgbClr val="1E1E2E"/>
                </a:solidFill>
                <a:latin typeface="Arial"/>
              </a:rPr>
              <a:t>RACI matrix</a:t>
            </a:r>
          </a:p>
        </p:txBody>
      </p:sp>
      <p:sp>
        <p:nvSpPr>
          <p:cNvPr id="29" name="TextBox 28">
            <a:hlinkClick action="ppaction://hlinksldjump" r:id="rId26"/>
          </p:cNvPr>
          <p:cNvSpPr txBox="1"/>
          <p:nvPr/>
        </p:nvSpPr>
        <p:spPr>
          <a:xfrm>
            <a:off x="621792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R2  </a:t>
            </a:r>
            <a:r>
              <a:rPr sz="1300" b="0" i="0">
                <a:solidFill>
                  <a:srgbClr val="1E1E2E"/>
                </a:solidFill>
                <a:latin typeface="Arial"/>
              </a:rPr>
              <a:t>Revenue attribution framework</a:t>
            </a:r>
          </a:p>
        </p:txBody>
      </p:sp>
      <p:sp>
        <p:nvSpPr>
          <p:cNvPr id="30" name="TextBox 29">
            <a:hlinkClick action="ppaction://hlinksldjump" r:id="rId27"/>
          </p:cNvPr>
          <p:cNvSpPr txBox="1"/>
          <p:nvPr/>
        </p:nvSpPr>
        <p:spPr>
          <a:xfrm>
            <a:off x="621792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R3  </a:t>
            </a:r>
            <a:r>
              <a:rPr sz="1300" b="0" i="0">
                <a:solidFill>
                  <a:srgbClr val="1E1E2E"/>
                </a:solidFill>
                <a:latin typeface="Arial"/>
              </a:rPr>
              <a:t>Delivery and commercial readiness</a:t>
            </a:r>
          </a:p>
        </p:txBody>
      </p:sp>
      <p:sp>
        <p:nvSpPr>
          <p:cNvPr id="31" name="TextBox 30">
            <a:hlinkClick action="ppaction://hlinksldjump" r:id="rId28"/>
          </p:cNvPr>
          <p:cNvSpPr txBox="1"/>
          <p:nvPr/>
        </p:nvSpPr>
        <p:spPr>
          <a:xfrm>
            <a:off x="621792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D1  </a:t>
            </a:r>
            <a:r>
              <a:rPr sz="1300" b="0" i="0">
                <a:solidFill>
                  <a:srgbClr val="1E1E2E"/>
                </a:solidFill>
                <a:latin typeface="Arial"/>
              </a:rPr>
              <a:t>Decision and approval register</a:t>
            </a:r>
          </a:p>
        </p:txBody>
      </p:sp>
      <p:sp>
        <p:nvSpPr>
          <p:cNvPr id="32" name="TextBox 31">
            <a:hlinkClick action="ppaction://hlinksldjump" r:id="rId29"/>
          </p:cNvPr>
          <p:cNvSpPr txBox="1"/>
          <p:nvPr/>
        </p:nvSpPr>
        <p:spPr>
          <a:xfrm>
            <a:off x="621792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O1  </a:t>
            </a:r>
            <a:r>
              <a:rPr sz="1300" b="0" i="0">
                <a:solidFill>
                  <a:srgbClr val="1E1E2E"/>
                </a:solidFill>
                <a:latin typeface="Arial"/>
              </a:rPr>
              <a:t>Original: Foundry baseline network flows</a:t>
            </a:r>
          </a:p>
        </p:txBody>
      </p:sp>
      <p:sp>
        <p:nvSpPr>
          <p:cNvPr id="33" name="TextBox 32">
            <a:hlinkClick action="ppaction://hlinksldjump" r:id="rId30"/>
          </p:cNvPr>
          <p:cNvSpPr txBox="1"/>
          <p:nvPr/>
        </p:nvSpPr>
        <p:spPr>
          <a:xfrm>
            <a:off x="6217920" y="5038344"/>
            <a:ext cx="5486400" cy="301752"/>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onboarding and readiness gates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 required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Owner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Platform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Offering 01 gates passed or equivalent review</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Inventory complete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Assets and agents in scope listed, owners named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 with agent owners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Monitoring live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Alerts with owners and runbooks; telemetry healthy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Access in place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PIM roles, break-glass, service desk queues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with Security</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Tower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Resolver, hours and escalation per tower</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Containment ready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K4 drills passed in non-production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Security with CIS Infra</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Managed asset and agent inventory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8"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560320"/>
                <a:gridCol w="5669280"/>
                <a:gridCol w="2862072"/>
              </a:tblGrid>
              <a:tr h="320040">
                <a:tc>
                  <a:txBody>
                    <a:bodyPr wrap="square" anchor="ctr">
                      <a:noAutofit/>
                    </a:bodyPr>
                    <a:lstStyle/>
                    <a:p>
                      <a:pPr algn="l"/>
                      <a:r>
                        <a:rPr sz="1500" b="1" i="0">
                          <a:solidFill>
                            <a:srgbClr val="FFFFFF"/>
                          </a:solidFill>
                          <a:latin typeface="Arial"/>
                        </a:rPr>
                        <a:t>Asset class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Examples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Pricing unit</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Subscriptions, VNets, private endpoints, DNS, firewall rules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Per environment</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services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Foundry resources and projects, model deployments, AI Search</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resource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API Management instances, APIs, policies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Per instance and API band</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Agents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Catalogued agents by runtime family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agent band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Telemetry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Workspaces, App Insights, workbooks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Included in base</a:t>
                      </a:r>
                    </a:p>
                  </a:txBody>
                  <a:tcPr marL="73152" marR="73152" marT="36576" marB="36576" anchor="ctr">
                    <a:solidFill>
                      <a:srgbClr val="FFFFFF"/>
                    </a:solidFill>
                  </a:tcPr>
                </a:tc>
              </a:tr>
            </a:tbl>
          </a:graphicData>
        </a:graphic>
      </p:graphicFrame>
      <p:sp>
        <p:nvSpPr>
          <p:cNvPr id="9" name="Rounded Rectangle 8"/>
          <p:cNvSpPr/>
          <p:nvPr/>
        </p:nvSpPr>
        <p:spPr>
          <a:xfrm>
            <a:off x="548640" y="4572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Agents outside catalogue coverage are listed as gaps and are not operated.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Platform health and dependency monitoring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3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502919"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INGRESS</a:t>
            </a:r>
          </a:p>
        </p:txBody>
      </p:sp>
      <p:pic>
        <p:nvPicPr>
          <p:cNvPr id="11"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080" y="1805940"/>
            <a:ext cx="365760" cy="365760"/>
          </a:xfrm>
          <a:prstGeom prst="rect">
            <a:avLst/>
          </a:prstGeom>
        </p:spPr>
      </p:pic>
      <p:sp>
        <p:nvSpPr>
          <p:cNvPr id="12" name="TextBox 11"/>
          <p:cNvSpPr txBox="1"/>
          <p:nvPr/>
        </p:nvSpPr>
        <p:spPr>
          <a:xfrm>
            <a:off x="10789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Gateway WAF</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0080" y="2519172"/>
            <a:ext cx="365760" cy="365760"/>
          </a:xfrm>
          <a:prstGeom prst="rect">
            <a:avLst/>
          </a:prstGeom>
        </p:spPr>
      </p:pic>
      <p:sp>
        <p:nvSpPr>
          <p:cNvPr id="14" name="TextBox 13"/>
          <p:cNvSpPr txBox="1"/>
          <p:nvPr/>
        </p:nvSpPr>
        <p:spPr>
          <a:xfrm>
            <a:off x="10789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API Management</a:t>
            </a:r>
          </a:p>
        </p:txBody>
      </p:sp>
      <p:sp>
        <p:nvSpPr>
          <p:cNvPr id="15" name="Rounded Rectangle 14"/>
          <p:cNvSpPr/>
          <p:nvPr/>
        </p:nvSpPr>
        <p:spPr>
          <a:xfrm>
            <a:off x="25603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700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RUNTIME</a:t>
            </a:r>
          </a:p>
        </p:txBody>
      </p:sp>
      <p:pic>
        <p:nvPicPr>
          <p:cNvPr id="17"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480" y="1805940"/>
            <a:ext cx="365760" cy="365760"/>
          </a:xfrm>
          <a:prstGeom prst="rect">
            <a:avLst/>
          </a:prstGeom>
        </p:spPr>
      </p:pic>
      <p:sp>
        <p:nvSpPr>
          <p:cNvPr id="18" name="TextBox 17"/>
          <p:cNvSpPr txBox="1"/>
          <p:nvPr/>
        </p:nvSpPr>
        <p:spPr>
          <a:xfrm>
            <a:off x="31363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Service</a:t>
            </a:r>
          </a:p>
        </p:txBody>
      </p:sp>
      <p:pic>
        <p:nvPicPr>
          <p:cNvPr id="19"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2519172"/>
            <a:ext cx="365760" cy="365760"/>
          </a:xfrm>
          <a:prstGeom prst="rect">
            <a:avLst/>
          </a:prstGeom>
        </p:spPr>
      </p:pic>
      <p:sp>
        <p:nvSpPr>
          <p:cNvPr id="20" name="TextBox 19"/>
          <p:cNvSpPr txBox="1"/>
          <p:nvPr/>
        </p:nvSpPr>
        <p:spPr>
          <a:xfrm>
            <a:off x="31363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Agent Service</a:t>
            </a:r>
          </a:p>
        </p:txBody>
      </p:sp>
      <p:sp>
        <p:nvSpPr>
          <p:cNvPr id="21" name="Rounded Rectangle 20"/>
          <p:cNvSpPr/>
          <p:nvPr/>
        </p:nvSpPr>
        <p:spPr>
          <a:xfrm>
            <a:off x="46177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274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MODELS AND DATA</a:t>
            </a:r>
          </a:p>
        </p:txBody>
      </p:sp>
      <p:pic>
        <p:nvPicPr>
          <p:cNvPr id="23"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54879" y="1805940"/>
            <a:ext cx="365760" cy="365760"/>
          </a:xfrm>
          <a:prstGeom prst="rect">
            <a:avLst/>
          </a:prstGeom>
        </p:spPr>
      </p:pic>
      <p:sp>
        <p:nvSpPr>
          <p:cNvPr id="24" name="TextBox 23"/>
          <p:cNvSpPr txBox="1"/>
          <p:nvPr/>
        </p:nvSpPr>
        <p:spPr>
          <a:xfrm>
            <a:off x="51937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Model deployments</a:t>
            </a:r>
          </a:p>
        </p:txBody>
      </p:sp>
      <p:pic>
        <p:nvPicPr>
          <p:cNvPr id="25" name="Azure icon: AI Search (Cognitive Search icon)" descr="Official Azure icon: AI Search (Cognitive Search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54879" y="2519172"/>
            <a:ext cx="365760" cy="365760"/>
          </a:xfrm>
          <a:prstGeom prst="rect">
            <a:avLst/>
          </a:prstGeom>
        </p:spPr>
      </p:pic>
      <p:sp>
        <p:nvSpPr>
          <p:cNvPr id="26" name="TextBox 25"/>
          <p:cNvSpPr txBox="1"/>
          <p:nvPr/>
        </p:nvSpPr>
        <p:spPr>
          <a:xfrm>
            <a:off x="51937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AI Search</a:t>
            </a:r>
          </a:p>
        </p:txBody>
      </p:sp>
      <p:pic>
        <p:nvPicPr>
          <p:cNvPr id="27" name="Azure icon: Azure Cosmos DB" descr="Official Azure icon: Azure Cosmos DB"/>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54879" y="3232404"/>
            <a:ext cx="365760" cy="365760"/>
          </a:xfrm>
          <a:prstGeom prst="rect">
            <a:avLst/>
          </a:prstGeom>
        </p:spPr>
      </p:pic>
      <p:sp>
        <p:nvSpPr>
          <p:cNvPr id="28" name="TextBox 27"/>
          <p:cNvSpPr txBox="1"/>
          <p:nvPr/>
        </p:nvSpPr>
        <p:spPr>
          <a:xfrm>
            <a:off x="51937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Cosmos DB</a:t>
            </a:r>
          </a:p>
        </p:txBody>
      </p:sp>
      <p:pic>
        <p:nvPicPr>
          <p:cNvPr id="29" name="Azure icon: Storage account" descr="Official Azure icon: Storage accou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54879" y="3945635"/>
            <a:ext cx="365760" cy="365760"/>
          </a:xfrm>
          <a:prstGeom prst="rect">
            <a:avLst/>
          </a:prstGeom>
        </p:spPr>
      </p:pic>
      <p:sp>
        <p:nvSpPr>
          <p:cNvPr id="30" name="TextBox 29"/>
          <p:cNvSpPr txBox="1"/>
          <p:nvPr/>
        </p:nvSpPr>
        <p:spPr>
          <a:xfrm>
            <a:off x="5193792" y="3867911"/>
            <a:ext cx="1280160" cy="521208"/>
          </a:xfrm>
          <a:prstGeom prst="rect">
            <a:avLst/>
          </a:prstGeom>
          <a:noFill/>
        </p:spPr>
        <p:txBody>
          <a:bodyPr wrap="square" lIns="0" rIns="0" tIns="0" bIns="0" anchor="ctr">
            <a:noAutofit/>
          </a:bodyPr>
          <a:lstStyle/>
          <a:p>
            <a:pPr algn="l"/>
            <a:r>
              <a:rPr sz="1200" b="1" i="0">
                <a:solidFill>
                  <a:srgbClr val="000048"/>
                </a:solidFill>
                <a:latin typeface="Arial"/>
              </a:rPr>
              <a:t>Storage account</a:t>
            </a:r>
          </a:p>
        </p:txBody>
      </p:sp>
      <p:sp>
        <p:nvSpPr>
          <p:cNvPr id="31" name="Rounded Rectangle 30"/>
          <p:cNvSpPr/>
          <p:nvPr/>
        </p:nvSpPr>
        <p:spPr>
          <a:xfrm>
            <a:off x="66751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848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NETWORK</a:t>
            </a:r>
          </a:p>
        </p:txBody>
      </p:sp>
      <p:pic>
        <p:nvPicPr>
          <p:cNvPr id="33" name="Azure icon: Private Endpoints" descr="Official Azure icon: Private Endpoin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812279" y="1805940"/>
            <a:ext cx="365760" cy="365760"/>
          </a:xfrm>
          <a:prstGeom prst="rect">
            <a:avLst/>
          </a:prstGeom>
        </p:spPr>
      </p:pic>
      <p:sp>
        <p:nvSpPr>
          <p:cNvPr id="34" name="TextBox 33"/>
          <p:cNvSpPr txBox="1"/>
          <p:nvPr/>
        </p:nvSpPr>
        <p:spPr>
          <a:xfrm>
            <a:off x="72511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Private endpoints</a:t>
            </a:r>
          </a:p>
        </p:txBody>
      </p:sp>
      <p:pic>
        <p:nvPicPr>
          <p:cNvPr id="35" name="Azure icon: DNS Private Resolver" descr="Official Azure icon: DNS Private Resolve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12279" y="2519172"/>
            <a:ext cx="365760" cy="365760"/>
          </a:xfrm>
          <a:prstGeom prst="rect">
            <a:avLst/>
          </a:prstGeom>
        </p:spPr>
      </p:pic>
      <p:sp>
        <p:nvSpPr>
          <p:cNvPr id="36" name="TextBox 35"/>
          <p:cNvSpPr txBox="1"/>
          <p:nvPr/>
        </p:nvSpPr>
        <p:spPr>
          <a:xfrm>
            <a:off x="72511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DNS resolver</a:t>
            </a:r>
          </a:p>
        </p:txBody>
      </p:sp>
      <p:pic>
        <p:nvPicPr>
          <p:cNvPr id="37"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812279" y="3232404"/>
            <a:ext cx="365760" cy="365760"/>
          </a:xfrm>
          <a:prstGeom prst="rect">
            <a:avLst/>
          </a:prstGeom>
        </p:spPr>
      </p:pic>
      <p:sp>
        <p:nvSpPr>
          <p:cNvPr id="38" name="TextBox 37"/>
          <p:cNvSpPr txBox="1"/>
          <p:nvPr/>
        </p:nvSpPr>
        <p:spPr>
          <a:xfrm>
            <a:off x="72511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Firewall</a:t>
            </a:r>
          </a:p>
        </p:txBody>
      </p:sp>
      <p:sp>
        <p:nvSpPr>
          <p:cNvPr id="39" name="Rounded Rectangle 38"/>
          <p:cNvSpPr/>
          <p:nvPr/>
        </p:nvSpPr>
        <p:spPr>
          <a:xfrm>
            <a:off x="8915400" y="14630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0" name="Azure icon: Azure Monitor" descr="Official Azure icon: Azure Monito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988552" y="1623060"/>
            <a:ext cx="411480" cy="411480"/>
          </a:xfrm>
          <a:prstGeom prst="rect">
            <a:avLst/>
          </a:prstGeom>
        </p:spPr>
      </p:pic>
      <p:sp>
        <p:nvSpPr>
          <p:cNvPr id="41" name="TextBox 40"/>
          <p:cNvSpPr txBox="1"/>
          <p:nvPr/>
        </p:nvSpPr>
        <p:spPr>
          <a:xfrm>
            <a:off x="9473184" y="1499616"/>
            <a:ext cx="2148839" cy="65836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100" b="0" i="0">
                <a:solidFill>
                  <a:srgbClr val="53565A"/>
                </a:solidFill>
                <a:latin typeface="Arial"/>
              </a:rPr>
              <a:t>metrics, alert rules</a:t>
            </a:r>
          </a:p>
        </p:txBody>
      </p:sp>
      <p:sp>
        <p:nvSpPr>
          <p:cNvPr id="42" name="Rounded Rectangle 41"/>
          <p:cNvSpPr/>
          <p:nvPr/>
        </p:nvSpPr>
        <p:spPr>
          <a:xfrm>
            <a:off x="8915400" y="23317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Service Health" descr="Official Azure icon: Service Health"/>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988552" y="2491739"/>
            <a:ext cx="411480" cy="411480"/>
          </a:xfrm>
          <a:prstGeom prst="rect">
            <a:avLst/>
          </a:prstGeom>
        </p:spPr>
      </p:pic>
      <p:sp>
        <p:nvSpPr>
          <p:cNvPr id="44" name="TextBox 43"/>
          <p:cNvSpPr txBox="1"/>
          <p:nvPr/>
        </p:nvSpPr>
        <p:spPr>
          <a:xfrm>
            <a:off x="9473184" y="2368296"/>
            <a:ext cx="2148839" cy="65836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100" b="0" i="0">
                <a:solidFill>
                  <a:srgbClr val="53565A"/>
                </a:solidFill>
                <a:latin typeface="Arial"/>
              </a:rPr>
              <a:t>Azure incidents, maintenance</a:t>
            </a:r>
          </a:p>
        </p:txBody>
      </p:sp>
      <p:sp>
        <p:nvSpPr>
          <p:cNvPr id="45" name="Rounded Rectangle 44"/>
          <p:cNvSpPr/>
          <p:nvPr/>
        </p:nvSpPr>
        <p:spPr>
          <a:xfrm>
            <a:off x="8915400" y="32004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6" name="Azure icon: Application Insights" descr="Official Azure icon: Application Insigh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988552" y="3360420"/>
            <a:ext cx="411480" cy="411480"/>
          </a:xfrm>
          <a:prstGeom prst="rect">
            <a:avLst/>
          </a:prstGeom>
        </p:spPr>
      </p:pic>
      <p:sp>
        <p:nvSpPr>
          <p:cNvPr id="47" name="TextBox 46"/>
          <p:cNvSpPr txBox="1"/>
          <p:nvPr/>
        </p:nvSpPr>
        <p:spPr>
          <a:xfrm>
            <a:off x="9473184" y="3236976"/>
            <a:ext cx="2148839" cy="658368"/>
          </a:xfrm>
          <a:prstGeom prst="rect">
            <a:avLst/>
          </a:prstGeom>
          <a:noFill/>
        </p:spPr>
        <p:txBody>
          <a:bodyPr wrap="square" lIns="0" rIns="0" tIns="0" bIns="0" anchor="ctr">
            <a:noAutofit/>
          </a:bodyPr>
          <a:lstStyle/>
          <a:p>
            <a:pPr algn="l"/>
            <a:r>
              <a:rPr sz="1300" b="1" i="0">
                <a:solidFill>
                  <a:srgbClr val="000048"/>
                </a:solidFill>
                <a:latin typeface="Arial"/>
              </a:rPr>
              <a:t>Availability tests</a:t>
            </a:r>
          </a:p>
          <a:p>
            <a:pPr algn="l"/>
            <a:r>
              <a:rPr sz="1100" b="0" i="0">
                <a:solidFill>
                  <a:srgbClr val="53565A"/>
                </a:solidFill>
                <a:latin typeface="Arial"/>
              </a:rPr>
              <a:t>App Insights, end-to-end path</a:t>
            </a:r>
          </a:p>
        </p:txBody>
      </p:sp>
      <p:cxnSp>
        <p:nvCxnSpPr>
          <p:cNvPr id="48" name="Connector (telemetry)"/>
          <p:cNvCxnSpPr/>
          <p:nvPr/>
        </p:nvCxnSpPr>
        <p:spPr>
          <a:xfrm flipV="1">
            <a:off x="8595360" y="1828800"/>
            <a:ext cx="320040" cy="9144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telemetry)"/>
          <p:cNvCxnSpPr/>
          <p:nvPr/>
        </p:nvCxnSpPr>
        <p:spPr>
          <a:xfrm>
            <a:off x="8595360" y="2743200"/>
            <a:ext cx="32004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0" name="Table"/>
          <p:cNvGraphicFramePr>
            <a:graphicFrameLocks noGrp="1"/>
          </p:cNvGraphicFramePr>
          <p:nvPr/>
        </p:nvGraphicFramePr>
        <p:xfrm>
          <a:off x="548640" y="4709160"/>
          <a:ext cx="11091672" cy="1158240"/>
        </p:xfrm>
        <a:graphic>
          <a:graphicData uri="http://schemas.openxmlformats.org/drawingml/2006/table">
            <a:tbl>
              <a:tblPr firstRow="1" bandRow="0">
                <a:tableStyleId>{5C22544A-7EE6-4342-B048-85BDC9FD1C3A}</a:tableStyleId>
              </a:tblPr>
              <a:tblGrid>
                <a:gridCol w="2377440"/>
                <a:gridCol w="5486400"/>
                <a:gridCol w="3227832"/>
              </a:tblGrid>
              <a:tr h="289560">
                <a:tc>
                  <a:txBody>
                    <a:bodyPr wrap="square" anchor="ctr">
                      <a:noAutofit/>
                    </a:bodyPr>
                    <a:lstStyle/>
                    <a:p>
                      <a:pPr algn="l"/>
                      <a:r>
                        <a:rPr sz="1300" b="1" i="0">
                          <a:solidFill>
                            <a:srgbClr val="FFFFFF"/>
                          </a:solidFill>
                          <a:latin typeface="Arial"/>
                        </a:rPr>
                        <a:t>Signal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 alert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429 rate or latency above agreed level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AI informed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Private DNS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Resolution failures for private endpoints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Backend circuit open; capacity units saturated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observability and agent traces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3291840"/>
                <a:gridCol w="4206240"/>
                <a:gridCol w="3593592"/>
              </a:tblGrid>
              <a:tr h="320040">
                <a:tc>
                  <a:txBody>
                    <a:bodyPr wrap="square" anchor="ctr">
                      <a:noAutofit/>
                    </a:bodyPr>
                    <a:lstStyle/>
                    <a:p>
                      <a:pPr algn="l"/>
                      <a:r>
                        <a:rPr sz="1500" b="1" i="0">
                          <a:solidFill>
                            <a:srgbClr val="FFFFFF"/>
                          </a:solidFill>
                          <a:latin typeface="Arial"/>
                        </a:rPr>
                        <a:t>Integration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it gives operations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Application Insights per Foundry project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Runs, errors, traces, tokens per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Only after configuration; up to 15 min delay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Log Analytics workspace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Platform and gateway logs, KQL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Ingestion cost; retention to agree</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Foundry Control Plane inventory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Agent list with runs and errors (last 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 platforms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Correlation IDs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Join gateway call, agent run and tool call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agent ID in every hop</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Payload logging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Debugging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Redact; restrict access; short retention</a:t>
                      </a:r>
                    </a:p>
                  </a:txBody>
                  <a:tcPr marL="73152" marR="73152" marT="36576" marB="36576"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Alert ownership and service desk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3749039"/>
                <a:gridCol w="2834640"/>
                <a:gridCol w="4507992"/>
              </a:tblGrid>
              <a:tr h="320040">
                <a:tc>
                  <a:txBody>
                    <a:bodyPr wrap="square" anchor="ctr">
                      <a:noAutofit/>
                    </a:bodyPr>
                    <a:lstStyle/>
                    <a:p>
                      <a:pPr algn="l"/>
                      <a:r>
                        <a:rPr sz="1500" b="1" i="0">
                          <a:solidFill>
                            <a:srgbClr val="FFFFFF"/>
                          </a:solidFill>
                          <a:latin typeface="Arial"/>
                        </a:rPr>
                        <a:t>Incident or change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Primary resolver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Supporting dependency</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DNS, network, endpoint or resource health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 for control changes; AI for runtime limits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Failed pipeline or infrastructure release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for configuration; Security for controls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Stale index or failed ingestion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owner for source quality and access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Poor answer or unauthorised agent action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and Data Engineering as relevant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Security event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and workload owners contain allocated parts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Unexpected spend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coordinates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explains usage; towers fix causes</a:t>
                      </a:r>
                    </a:p>
                  </a:txBody>
                  <a:tcPr marL="73152" marR="73152" marT="36576" marB="36576" anchor="ctr">
                    <a:solidFill>
                      <a:srgbClr val="F5F5F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Incident, problem and change management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8" name="Rounded Rectangle 7"/>
          <p:cNvSpPr/>
          <p:nvPr/>
        </p:nvSpPr>
        <p:spPr>
          <a:xfrm>
            <a:off x="548640"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Incident</a:t>
            </a:r>
          </a:p>
        </p:txBody>
      </p:sp>
      <p:sp>
        <p:nvSpPr>
          <p:cNvPr id="9" name="Rounded Rectangle 8"/>
          <p:cNvSpPr/>
          <p:nvPr/>
        </p:nvSpPr>
        <p:spPr>
          <a:xfrm>
            <a:off x="548640"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Single entry point</a:t>
            </a:r>
          </a:p>
        </p:txBody>
      </p:sp>
      <p:sp>
        <p:nvSpPr>
          <p:cNvPr id="10" name="Rounded Rectangle 9"/>
          <p:cNvSpPr/>
          <p:nvPr/>
        </p:nvSpPr>
        <p:spPr>
          <a:xfrm>
            <a:off x="548640"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Lane triage</a:t>
            </a:r>
          </a:p>
        </p:txBody>
      </p:sp>
      <p:sp>
        <p:nvSpPr>
          <p:cNvPr id="11" name="Rounded Rectangle 10"/>
          <p:cNvSpPr/>
          <p:nvPr/>
        </p:nvSpPr>
        <p:spPr>
          <a:xfrm>
            <a:off x="548640"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Resolver works, updates</a:t>
            </a:r>
          </a:p>
        </p:txBody>
      </p:sp>
      <p:sp>
        <p:nvSpPr>
          <p:cNvPr id="12" name="Rounded Rectangle 11"/>
          <p:cNvSpPr/>
          <p:nvPr/>
        </p:nvSpPr>
        <p:spPr>
          <a:xfrm>
            <a:off x="548640"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Close with cause</a:t>
            </a:r>
          </a:p>
        </p:txBody>
      </p:sp>
      <p:sp>
        <p:nvSpPr>
          <p:cNvPr id="13" name="Rounded Rectangle 12"/>
          <p:cNvSpPr/>
          <p:nvPr/>
        </p:nvSpPr>
        <p:spPr>
          <a:xfrm>
            <a:off x="429767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Problem</a:t>
            </a:r>
          </a:p>
        </p:txBody>
      </p:sp>
      <p:sp>
        <p:nvSpPr>
          <p:cNvPr id="14" name="Rounded Rectangle 13"/>
          <p:cNvSpPr/>
          <p:nvPr/>
        </p:nvSpPr>
        <p:spPr>
          <a:xfrm>
            <a:off x="429767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Recurring incident trend</a:t>
            </a:r>
          </a:p>
        </p:txBody>
      </p:sp>
      <p:sp>
        <p:nvSpPr>
          <p:cNvPr id="15" name="Rounded Rectangle 14"/>
          <p:cNvSpPr/>
          <p:nvPr/>
        </p:nvSpPr>
        <p:spPr>
          <a:xfrm>
            <a:off x="429767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Root cause analysis</a:t>
            </a:r>
          </a:p>
        </p:txBody>
      </p:sp>
      <p:sp>
        <p:nvSpPr>
          <p:cNvPr id="16" name="Rounded Rectangle 15"/>
          <p:cNvSpPr/>
          <p:nvPr/>
        </p:nvSpPr>
        <p:spPr>
          <a:xfrm>
            <a:off x="429767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Fix through change</a:t>
            </a:r>
          </a:p>
        </p:txBody>
      </p:sp>
      <p:sp>
        <p:nvSpPr>
          <p:cNvPr id="17" name="Rounded Rectangle 16"/>
          <p:cNvSpPr/>
          <p:nvPr/>
        </p:nvSpPr>
        <p:spPr>
          <a:xfrm>
            <a:off x="429767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Review monthly</a:t>
            </a:r>
          </a:p>
        </p:txBody>
      </p:sp>
      <p:sp>
        <p:nvSpPr>
          <p:cNvPr id="18" name="Rounded Rectangle 17"/>
          <p:cNvSpPr/>
          <p:nvPr/>
        </p:nvSpPr>
        <p:spPr>
          <a:xfrm>
            <a:off x="804671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Change</a:t>
            </a:r>
          </a:p>
        </p:txBody>
      </p:sp>
      <p:sp>
        <p:nvSpPr>
          <p:cNvPr id="19" name="Rounded Rectangle 18"/>
          <p:cNvSpPr/>
          <p:nvPr/>
        </p:nvSpPr>
        <p:spPr>
          <a:xfrm>
            <a:off x="804671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Request with risk class</a:t>
            </a:r>
          </a:p>
        </p:txBody>
      </p:sp>
      <p:sp>
        <p:nvSpPr>
          <p:cNvPr id="20" name="Rounded Rectangle 19"/>
          <p:cNvSpPr/>
          <p:nvPr/>
        </p:nvSpPr>
        <p:spPr>
          <a:xfrm>
            <a:off x="804671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Pipeline-only to production</a:t>
            </a:r>
          </a:p>
        </p:txBody>
      </p:sp>
      <p:sp>
        <p:nvSpPr>
          <p:cNvPr id="21" name="Rounded Rectangle 20"/>
          <p:cNvSpPr/>
          <p:nvPr/>
        </p:nvSpPr>
        <p:spPr>
          <a:xfrm>
            <a:off x="804671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Approval by customer authority</a:t>
            </a:r>
          </a:p>
        </p:txBody>
      </p:sp>
      <p:sp>
        <p:nvSpPr>
          <p:cNvPr id="22" name="Rounded Rectangle 21"/>
          <p:cNvSpPr/>
          <p:nvPr/>
        </p:nvSpPr>
        <p:spPr>
          <a:xfrm>
            <a:off x="804671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Rollback tested</a:t>
            </a:r>
          </a:p>
        </p:txBody>
      </p:sp>
      <p:sp>
        <p:nvSpPr>
          <p:cNvPr id="23" name="Rounded Rectangle 22"/>
          <p:cNvSpPr/>
          <p:nvPr/>
        </p:nvSpPr>
        <p:spPr>
          <a:xfrm>
            <a:off x="548640" y="539496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Model, prompt and agent changes follow the AI tower change path; platform changes follow CIS Infra’s.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Lane boundaries in detail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2468880"/>
                <a:gridCol w="2834640"/>
                <a:gridCol w="2834640"/>
                <a:gridCol w="295351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Platform availability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Agent task quality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Security incidents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AI tower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Typical signal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Health alert, 5xx, DNS failure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Evaluation drop, user complaint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Defender alert, abuse report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Measure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Availability, response, change success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Task success, escalation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security service terms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 role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Resolve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Provide telemetry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 allocated components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Out of scope for 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Prompt, model, evaluation fixes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Forensics, notification</a:t>
                      </a:r>
                    </a:p>
                  </a:txBody>
                  <a:tcPr marL="73152" marR="73152" marT="36576" marB="36576"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2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1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1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0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0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0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0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0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0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900" b="0" i="0">
                <a:solidFill>
                  <a:srgbClr val="A4262C"/>
                </a:solidFill>
                <a:latin typeface="Arial"/>
              </a:rPr>
              <a:t>Direct calls that bypass the gateway are denied by network and identity design</a:t>
            </a:r>
          </a:p>
        </p:txBody>
      </p:sp>
      <p:sp>
        <p:nvSpPr>
          <p:cNvPr id="48" name="Rounded Rectangle 47"/>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21207" y="5861304"/>
            <a:ext cx="8229600" cy="237744"/>
          </a:xfrm>
          <a:prstGeom prst="rect">
            <a:avLst/>
          </a:prstGeom>
          <a:noFill/>
        </p:spPr>
        <p:txBody>
          <a:bodyPr wrap="square" lIns="0" rIns="0" tIns="0" bIns="0" anchor="t">
            <a:noAutofit/>
          </a:bodyPr>
          <a:lstStyle/>
          <a:p>
            <a:pPr algn="l"/>
            <a:r>
              <a:rPr sz="1100" b="1" i="0">
                <a:solidFill>
                  <a:srgbClr val="4B4BA8"/>
                </a:solidFill>
                <a:latin typeface="Arial"/>
              </a:rPr>
              <a:t>RESTRICTED CONTAINMENT CONTROL PLANE (SEPARATE SUBSCRIPTION OR MANAGEMENT BOUNDARY)</a:t>
            </a:r>
          </a:p>
        </p:txBody>
      </p:sp>
      <p:sp>
        <p:nvSpPr>
          <p:cNvPr id="50" name="Rounded Rectangle 49"/>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1" name="Azure icon: Entra Privileged Identity Management" descr="Official Azure icon: Entra Privileged Identity Manageme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21792" y="4366260"/>
            <a:ext cx="384048" cy="384048"/>
          </a:xfrm>
          <a:prstGeom prst="rect">
            <a:avLst/>
          </a:prstGeom>
        </p:spPr>
      </p:pic>
      <p:sp>
        <p:nvSpPr>
          <p:cNvPr id="52" name="TextBox 51"/>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000" b="0" i="0">
                <a:solidFill>
                  <a:srgbClr val="53565A"/>
                </a:solidFill>
                <a:latin typeface="Arial"/>
              </a:rPr>
              <a:t>Entra PIM, approval</a:t>
            </a:r>
          </a:p>
        </p:txBody>
      </p:sp>
      <p:sp>
        <p:nvSpPr>
          <p:cNvPr id="53" name="Rounded Rectangle 52"/>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4" name="Azure icon: Azure Monitor" descr="Official Azure icon: Azure Monito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5189220"/>
            <a:ext cx="384048" cy="384048"/>
          </a:xfrm>
          <a:prstGeom prst="rect">
            <a:avLst/>
          </a:prstGeom>
        </p:spPr>
      </p:pic>
      <p:sp>
        <p:nvSpPr>
          <p:cNvPr id="55" name="TextBox 54"/>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000" b="0" i="0">
                <a:solidFill>
                  <a:srgbClr val="53565A"/>
                </a:solidFill>
                <a:latin typeface="Arial"/>
              </a:rPr>
              <a:t>Monitor alert, action group</a:t>
            </a:r>
          </a:p>
        </p:txBody>
      </p:sp>
      <p:sp>
        <p:nvSpPr>
          <p:cNvPr id="56" name="Rounded Rectangle 55"/>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58" name="TextBox 57"/>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000" b="0" i="0">
                <a:solidFill>
                  <a:srgbClr val="53565A"/>
                </a:solidFill>
                <a:latin typeface="Arial"/>
              </a:rPr>
              <a:t>Durable Functions, custom code</a:t>
            </a:r>
          </a:p>
        </p:txBody>
      </p:sp>
      <p:sp>
        <p:nvSpPr>
          <p:cNvPr id="59" name="Rounded Rectangle 58"/>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0" name="Azure icon: Azure Cosmos DB" descr="Official Azure icon: Azure Cosmos DB"/>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513832" y="4357116"/>
            <a:ext cx="365760" cy="365760"/>
          </a:xfrm>
          <a:prstGeom prst="rect">
            <a:avLst/>
          </a:prstGeom>
        </p:spPr>
      </p:pic>
      <p:sp>
        <p:nvSpPr>
          <p:cNvPr id="61" name="TextBox 60"/>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000" b="0" i="0">
                <a:solidFill>
                  <a:srgbClr val="53565A"/>
                </a:solidFill>
                <a:latin typeface="Arial"/>
              </a:rPr>
              <a:t>agent ID, version, state version</a:t>
            </a:r>
          </a:p>
        </p:txBody>
      </p:sp>
      <p:sp>
        <p:nvSpPr>
          <p:cNvPr id="62" name="Rounded Rectangle 61"/>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3" name="Azure icon: Storage account" descr="Official Azure icon: Storage account"/>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5216652"/>
            <a:ext cx="365760" cy="365760"/>
          </a:xfrm>
          <a:prstGeom prst="rect">
            <a:avLst/>
          </a:prstGeom>
        </p:spPr>
      </p:pic>
      <p:sp>
        <p:nvSpPr>
          <p:cNvPr id="64" name="TextBox 63"/>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000" b="0" i="0">
                <a:solidFill>
                  <a:srgbClr val="53565A"/>
                </a:solidFill>
                <a:latin typeface="Arial"/>
              </a:rPr>
              <a:t>Storage account, immutability policy</a:t>
            </a:r>
          </a:p>
        </p:txBody>
      </p:sp>
      <p:sp>
        <p:nvSpPr>
          <p:cNvPr id="65" name="Rounded Rectangle 64"/>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6" name="Azure icon: Application Insights" descr="Official Azure icon: Application Insights"/>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074152" y="4764024"/>
            <a:ext cx="365760" cy="365760"/>
          </a:xfrm>
          <a:prstGeom prst="rect">
            <a:avLst/>
          </a:prstGeom>
        </p:spPr>
      </p:pic>
      <p:sp>
        <p:nvSpPr>
          <p:cNvPr id="67" name="TextBox 66"/>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000" b="0" i="0">
                <a:solidFill>
                  <a:srgbClr val="53565A"/>
                </a:solidFill>
                <a:latin typeface="Arial"/>
              </a:rPr>
              <a:t>traces confirm no new actions</a:t>
            </a:r>
          </a:p>
        </p:txBody>
      </p:sp>
      <p:sp>
        <p:nvSpPr>
          <p:cNvPr id="68" name="Rounded Rectangle 67"/>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000" b="0" i="0">
                <a:solidFill>
                  <a:srgbClr val="53565A"/>
                </a:solidFill>
                <a:latin typeface="Arial"/>
              </a:rPr>
              <a:t>root cause, canary, two-person approval</a:t>
            </a:r>
          </a:p>
        </p:txBody>
      </p:sp>
      <p:cxnSp>
        <p:nvCxnSpPr>
          <p:cNvPr id="69"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979408" y="3639312"/>
            <a:ext cx="1097280" cy="237744"/>
          </a:xfrm>
          <a:prstGeom prst="rect">
            <a:avLst/>
          </a:prstGeom>
          <a:noFill/>
        </p:spPr>
        <p:txBody>
          <a:bodyPr wrap="square" lIns="0" rIns="0" tIns="0" bIns="0" anchor="t">
            <a:noAutofit/>
          </a:bodyPr>
          <a:lstStyle/>
          <a:p>
            <a:pPr algn="l"/>
            <a:r>
              <a:rPr sz="1000" b="0" i="0">
                <a:solidFill>
                  <a:srgbClr val="53565A"/>
                </a:solidFill>
                <a:latin typeface="Arial"/>
              </a:rPr>
              <a:t>traces</a:t>
            </a:r>
          </a:p>
        </p:txBody>
      </p:sp>
      <p:sp>
        <p:nvSpPr>
          <p:cNvPr id="83" name="TextBox 82"/>
          <p:cNvSpPr txBox="1"/>
          <p:nvPr/>
        </p:nvSpPr>
        <p:spPr>
          <a:xfrm>
            <a:off x="548640" y="3694176"/>
            <a:ext cx="2423160" cy="274320"/>
          </a:xfrm>
          <a:prstGeom prst="rect">
            <a:avLst/>
          </a:prstGeom>
          <a:noFill/>
        </p:spPr>
        <p:txBody>
          <a:bodyPr wrap="square" lIns="0" rIns="0" tIns="0" bIns="0" anchor="t">
            <a:noAutofit/>
          </a:bodyPr>
          <a:lstStyle/>
          <a:p>
            <a:pPr algn="r"/>
            <a:r>
              <a:rPr sz="1000" b="0" i="0">
                <a:solidFill>
                  <a:srgbClr val="6363C9"/>
                </a:solidFill>
                <a:latin typeface="Arial"/>
              </a:rPr>
              <a:t>deny-state checks and runtime adapters</a:t>
            </a:r>
          </a:p>
        </p:txBody>
      </p:sp>
      <p:cxnSp>
        <p:nvCxnSpPr>
          <p:cNvPr id="84"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102412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86"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40156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88"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77900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90" name="TextBox 89"/>
          <p:cNvSpPr txBox="1"/>
          <p:nvPr/>
        </p:nvSpPr>
        <p:spPr>
          <a:xfrm>
            <a:off x="7680960" y="6163056"/>
            <a:ext cx="4023360" cy="274320"/>
          </a:xfrm>
          <a:prstGeom prst="rect">
            <a:avLst/>
          </a:prstGeom>
          <a:noFill/>
        </p:spPr>
        <p:txBody>
          <a:bodyPr wrap="square" lIns="0" rIns="0" tIns="0" bIns="0" anchor="t">
            <a:noAutofit/>
          </a:bodyPr>
          <a:lstStyle/>
          <a:p>
            <a:pPr algn="r"/>
            <a:r>
              <a:rPr sz="1100" b="1" i="0">
                <a:solidFill>
                  <a:srgbClr val="A4262C"/>
                </a:solidFill>
                <a:latin typeface="Arial"/>
              </a:rPr>
              <a:t>1</a:t>
            </a:r>
            <a:r>
              <a:rPr sz="1100" b="0" i="0">
                <a:solidFill>
                  <a:srgbClr val="53565A"/>
                </a:solidFill>
                <a:latin typeface="Arial"/>
              </a:rPr>
              <a:t> block new requests  </a:t>
            </a:r>
            <a:r>
              <a:rPr sz="1100" b="1" i="0">
                <a:solidFill>
                  <a:srgbClr val="A4262C"/>
                </a:solidFill>
                <a:latin typeface="Arial"/>
              </a:rPr>
              <a:t>2</a:t>
            </a:r>
            <a:r>
              <a:rPr sz="1100" b="0" i="0">
                <a:solidFill>
                  <a:srgbClr val="53565A"/>
                </a:solidFill>
                <a:latin typeface="Arial"/>
              </a:rPr>
              <a:t> cancel or isolate  </a:t>
            </a:r>
            <a:r>
              <a:rPr sz="1100" b="1" i="0">
                <a:solidFill>
                  <a:srgbClr val="A4262C"/>
                </a:solidFill>
                <a:latin typeface="Arial"/>
              </a:rPr>
              <a:t>3</a:t>
            </a:r>
            <a:r>
              <a:rPr sz="1100" b="0" i="0">
                <a:solidFill>
                  <a:srgbClr val="53565A"/>
                </a:solidFill>
                <a:latin typeface="Arial"/>
              </a:rPr>
              <a:t> deny actions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25880"/>
          <a:ext cx="11091672" cy="3703320"/>
        </p:xfrm>
        <a:graphic>
          <a:graphicData uri="http://schemas.openxmlformats.org/drawingml/2006/table">
            <a:tbl>
              <a:tblPr firstRow="1" bandRow="0">
                <a:tableStyleId>{5C22544A-7EE6-4342-B048-85BDC9FD1C3A}</a:tableStyleId>
              </a:tblPr>
              <a:tblGrid>
                <a:gridCol w="3291840"/>
                <a:gridCol w="4023360"/>
                <a:gridCol w="3776472"/>
              </a:tblGrid>
              <a:tr h="289560">
                <a:tc>
                  <a:txBody>
                    <a:bodyPr wrap="square" anchor="ctr">
                      <a:noAutofit/>
                    </a:bodyPr>
                    <a:lstStyle/>
                    <a:p>
                      <a:pPr algn="l"/>
                      <a:r>
                        <a:rPr sz="13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Design response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Runtime checkpoint guard plus outbound denial</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Resource-side deny check; short token lifetimes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Runtime-specific adapters, tested per platform</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Private endpoints, disable local auth, no shared keys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Separate quarantine state keyed by agent ID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Bounded freshness contract; no caching of allow on high-impact tools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Agree fail-closed scope per risk class with the business owner</a:t>
                      </a:r>
                    </a:p>
                  </a:txBody>
                  <a:tcPr marL="73152" marR="73152" marT="36576" marB="3657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recovery after containment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Root cause</a:t>
            </a:r>
          </a:p>
          <a:p>
            <a:pPr algn="l"/>
            <a:r>
              <a:rPr sz="1600" b="0" i="0">
                <a:solidFill>
                  <a:srgbClr val="1E1E2E"/>
                </a:solidFill>
                <a:latin typeface="Arial"/>
              </a:rPr>
              <a:t>AI and Security confirm cause and fix</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Approval</a:t>
            </a:r>
          </a:p>
          <a:p>
            <a:pPr algn="l"/>
            <a:r>
              <a:rPr sz="1600" b="0" i="0">
                <a:solidFill>
                  <a:srgbClr val="1E1E2E"/>
                </a:solidFill>
                <a:latin typeface="Arial"/>
              </a:rPr>
              <a:t>Two-person approval by named authority</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Canary</a:t>
            </a:r>
          </a:p>
          <a:p>
            <a:pPr algn="l"/>
            <a:r>
              <a:rPr sz="1600" b="0" i="0">
                <a:solidFill>
                  <a:srgbClr val="1E1E2E"/>
                </a:solidFill>
                <a:latin typeface="Arial"/>
              </a:rPr>
              <a:t>Bounded traffic, close monitoring</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Release</a:t>
            </a:r>
          </a:p>
          <a:p>
            <a:pPr algn="l"/>
            <a:r>
              <a:rPr sz="1600" b="0" i="0">
                <a:solidFill>
                  <a:srgbClr val="1E1E2E"/>
                </a:solidFill>
                <a:latin typeface="Arial"/>
              </a:rPr>
              <a:t>State version advanced; limits restored</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Review</a:t>
            </a:r>
          </a:p>
          <a:p>
            <a:pPr algn="l"/>
            <a:r>
              <a:rPr sz="1600" b="0" i="0">
                <a:solidFill>
                  <a:srgbClr val="1E1E2E"/>
                </a:solidFill>
                <a:latin typeface="Arial"/>
              </a:rPr>
              <a:t>Evidence filed; drill updated</a:t>
            </a:r>
          </a:p>
        </p:txBody>
      </p:sp>
      <p:sp>
        <p:nvSpPr>
          <p:cNvPr id="18" name="Rounded Rectangle 17"/>
          <p:cNvSpPr/>
          <p:nvPr/>
        </p:nvSpPr>
        <p:spPr>
          <a:xfrm>
            <a:off x="548640" y="39319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Completed side effects are not undone by restart. Compensation is a separate, workload-owned process.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Capacity, quota and cost review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8"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Review 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Typical action</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PTU utilisation and coverage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Utilisation, reserved vs deployed, overflow share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 to FinOps; resize at term</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Throttling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429 rate by deployment and caller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Rebalance routing; request quota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Quota headroom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vs planned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Request quota early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Spend vs budget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Actual and forecast by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Explain variance; fix causes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Model lifecycle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Retirement dates of deployed models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Plan migration and re-benchmark</a:t>
                      </a:r>
                    </a:p>
                  </a:txBody>
                  <a:tcPr marL="73152" marR="73152" marT="36576" marB="36576"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sp>
        <p:nvSpPr>
          <p:cNvPr id="9" name="Rounded Rectangle 8"/>
          <p:cNvSpPr/>
          <p:nvPr/>
        </p:nvSpPr>
        <p:spPr>
          <a:xfrm>
            <a:off x="548640" y="146304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Dormant candidate</a:t>
            </a:r>
          </a:p>
        </p:txBody>
      </p:sp>
      <p:sp>
        <p:nvSpPr>
          <p:cNvPr id="10" name="TextBox 9"/>
          <p:cNvSpPr txBox="1"/>
          <p:nvPr/>
        </p:nvSpPr>
        <p:spPr>
          <a:xfrm>
            <a:off x="3931920" y="1627632"/>
            <a:ext cx="7680960" cy="548640"/>
          </a:xfrm>
          <a:prstGeom prst="rect">
            <a:avLst/>
          </a:prstGeom>
          <a:noFill/>
        </p:spPr>
        <p:txBody>
          <a:bodyPr wrap="square" lIns="0" rIns="0" tIns="0" bIns="0" anchor="t">
            <a:noAutofit/>
          </a:bodyPr>
          <a:lstStyle/>
          <a:p>
            <a:pPr algn="l"/>
            <a:r>
              <a:rPr sz="1800" b="0" i="0">
                <a:solidFill>
                  <a:srgbClr val="1E1E2E"/>
                </a:solidFill>
                <a:latin typeface="Arial"/>
              </a:rPr>
              <a:t>Owner asked to keep or retire within 14 days</a:t>
            </a:r>
          </a:p>
        </p:txBody>
      </p:sp>
      <p:sp>
        <p:nvSpPr>
          <p:cNvPr id="11" name="Rounded Rectangle 10"/>
          <p:cNvSpPr/>
          <p:nvPr/>
        </p:nvSpPr>
        <p:spPr>
          <a:xfrm>
            <a:off x="548640" y="242316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Telemetry unknown</a:t>
            </a:r>
          </a:p>
        </p:txBody>
      </p:sp>
      <p:sp>
        <p:nvSpPr>
          <p:cNvPr id="12" name="TextBox 11"/>
          <p:cNvSpPr txBox="1"/>
          <p:nvPr/>
        </p:nvSpPr>
        <p:spPr>
          <a:xfrm>
            <a:off x="3931920" y="2587752"/>
            <a:ext cx="7680960" cy="548640"/>
          </a:xfrm>
          <a:prstGeom prst="rect">
            <a:avLst/>
          </a:prstGeom>
          <a:noFill/>
        </p:spPr>
        <p:txBody>
          <a:bodyPr wrap="square" lIns="0" rIns="0" tIns="0" bIns="0" anchor="t">
            <a:noAutofit/>
          </a:bodyPr>
          <a:lstStyle/>
          <a:p>
            <a:pPr algn="l"/>
            <a:r>
              <a:rPr sz="1800" b="0" i="0">
                <a:solidFill>
                  <a:srgbClr val="1E1E2E"/>
                </a:solidFill>
                <a:latin typeface="Arial"/>
              </a:rPr>
              <a:t>Repair monitoring before any decision</a:t>
            </a:r>
          </a:p>
        </p:txBody>
      </p:sp>
      <p:sp>
        <p:nvSpPr>
          <p:cNvPr id="13" name="Rounded Rectangle 12"/>
          <p:cNvSpPr/>
          <p:nvPr/>
        </p:nvSpPr>
        <p:spPr>
          <a:xfrm>
            <a:off x="548640" y="338328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Orphaned</a:t>
            </a:r>
          </a:p>
        </p:txBody>
      </p:sp>
      <p:sp>
        <p:nvSpPr>
          <p:cNvPr id="14" name="TextBox 13"/>
          <p:cNvSpPr txBox="1"/>
          <p:nvPr/>
        </p:nvSpPr>
        <p:spPr>
          <a:xfrm>
            <a:off x="3931920" y="3547872"/>
            <a:ext cx="7680960" cy="548640"/>
          </a:xfrm>
          <a:prstGeom prst="rect">
            <a:avLst/>
          </a:prstGeom>
          <a:noFill/>
        </p:spPr>
        <p:txBody>
          <a:bodyPr wrap="square" lIns="0" rIns="0" tIns="0" bIns="0" anchor="t">
            <a:noAutofit/>
          </a:bodyPr>
          <a:lstStyle/>
          <a:p>
            <a:pPr algn="l"/>
            <a:r>
              <a:rPr sz="1800" b="0" i="0">
                <a:solidFill>
                  <a:srgbClr val="1E1E2E"/>
                </a:solidFill>
                <a:latin typeface="Arial"/>
              </a:rPr>
              <a:t>Service owner assigns or retires</a:t>
            </a:r>
          </a:p>
        </p:txBody>
      </p:sp>
      <p:sp>
        <p:nvSpPr>
          <p:cNvPr id="15" name="Rounded Rectangle 14"/>
          <p:cNvSpPr/>
          <p:nvPr/>
        </p:nvSpPr>
        <p:spPr>
          <a:xfrm>
            <a:off x="548640" y="434340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Retire</a:t>
            </a:r>
          </a:p>
        </p:txBody>
      </p:sp>
      <p:sp>
        <p:nvSpPr>
          <p:cNvPr id="16" name="TextBox 15"/>
          <p:cNvSpPr txBox="1"/>
          <p:nvPr/>
        </p:nvSpPr>
        <p:spPr>
          <a:xfrm>
            <a:off x="3931920" y="4507992"/>
            <a:ext cx="7680960" cy="548640"/>
          </a:xfrm>
          <a:prstGeom prst="rect">
            <a:avLst/>
          </a:prstGeom>
          <a:noFill/>
        </p:spPr>
        <p:txBody>
          <a:bodyPr wrap="square" lIns="0" rIns="0" tIns="0" bIns="0" anchor="t">
            <a:noAutofit/>
          </a:bodyPr>
          <a:lstStyle/>
          <a:p>
            <a:pPr algn="l"/>
            <a:r>
              <a:rPr sz="1800" b="0" i="0">
                <a:solidFill>
                  <a:srgbClr val="1E1E2E"/>
                </a:solidFill>
                <a:latin typeface="Arial"/>
              </a:rPr>
              <a:t>Remove identity, secrets, endpoints, compute; confirm none left</a:t>
            </a:r>
          </a:p>
        </p:txBody>
      </p:sp>
      <p:sp>
        <p:nvSpPr>
          <p:cNvPr id="17" name="Rounded Rectangle 16"/>
          <p:cNvSpPr/>
          <p:nvPr/>
        </p:nvSpPr>
        <p:spPr>
          <a:xfrm>
            <a:off x="548640" y="544068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Never delete on zero sampled telemetry alone.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Backup and recovery responsibilities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9"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651760"/>
                <a:gridCol w="3291840"/>
                <a:gridCol w="2377440"/>
                <a:gridCol w="2770632"/>
              </a:tblGrid>
              <a:tr h="320040">
                <a:tc>
                  <a:txBody>
                    <a:bodyPr wrap="square" anchor="ctr">
                      <a:noAutofit/>
                    </a:bodyPr>
                    <a:lstStyle/>
                    <a:p>
                      <a:pPr algn="l"/>
                      <a:r>
                        <a:rPr sz="15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Recovery method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Responsible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Customer decision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from IaC</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RTO per environment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Cosmos DB (agent state)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Continuous or periodic backup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Backup mode and retention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Storage account (documents)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Soft delete, versioning, replication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Retention and replication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Search index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from source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time accepted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Model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capacity may not be available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AI</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Second region or not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configuration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Redeploy policies from repository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Multi-region or not</a:t>
                      </a:r>
                    </a:p>
                  </a:txBody>
                  <a:tcPr marL="73152" marR="73152" marT="36576" marB="36576" anchor="ctr">
                    <a:solidFill>
                      <a:srgbClr val="F5F5F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Runbooks, escalation and tower agreements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3017520"/>
                <a:gridCol w="8074152"/>
              </a:tblGrid>
              <a:tr h="320040">
                <a:tc>
                  <a:txBody>
                    <a:bodyPr wrap="square" anchor="ctr">
                      <a:noAutofit/>
                    </a:bodyPr>
                    <a:lstStyle/>
                    <a:p>
                      <a:pPr algn="l"/>
                      <a:r>
                        <a:rPr sz="1500" b="1" i="0">
                          <a:solidFill>
                            <a:srgbClr val="FFFFFF"/>
                          </a:solidFill>
                          <a:latin typeface="Arial"/>
                        </a:rPr>
                        <a:t>Agreement field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Content</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Lead and backup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Named resolver per tower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Hours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Must match or exceed the sold package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Targets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Internal response aligned to customer objectives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Escalation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Path and contacts to tower leadership</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Roles and PIM for each resolver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Charging</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Internal charge or attributed revenue, per Finance</a:t>
                      </a:r>
                    </a:p>
                  </a:txBody>
                  <a:tcPr marL="73152" marR="73152" marT="36576" marB="36576" anchor="ctr">
                    <a:solidFill>
                      <a:srgbClr val="F5F5F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hours, on-call and effort allowances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1965960"/>
        </p:xfrm>
        <a:graphic>
          <a:graphicData uri="http://schemas.openxmlformats.org/drawingml/2006/table">
            <a:tbl>
              <a:tblPr firstRow="1" bandRow="0">
                <a:tableStyleId>{5C22544A-7EE6-4342-B048-85BDC9FD1C3A}</a:tableStyleId>
              </a:tblPr>
              <a:tblGrid>
                <a:gridCol w="2103120"/>
                <a:gridCol w="2926080"/>
                <a:gridCol w="3291840"/>
                <a:gridCol w="27706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Coverage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Staffing model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Effort allowance</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Business hours, one time zone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Shared pool, named lead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 hours band; overage at rate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Extended hours, two time zones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Follow-the-sun pool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Higher band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24x7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Funded on-call roster, about 5 people per seat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plus band</a:t>
                      </a:r>
                    </a:p>
                  </a:txBody>
                  <a:tcPr marL="73152" marR="73152" marT="36576" marB="36576" anchor="ctr">
                    <a:solidFill>
                      <a:srgbClr val="FFFFFF"/>
                    </a:solidFill>
                  </a:tcPr>
                </a:tc>
              </a:tr>
            </a:tbl>
          </a:graphicData>
        </a:graphic>
      </p:graphicFrame>
      <p:sp>
        <p:nvSpPr>
          <p:cNvPr id="10" name="Rounded Rectangle 9"/>
          <p:cNvSpPr/>
          <p:nvPr/>
        </p:nvSpPr>
        <p:spPr>
          <a:xfrm>
            <a:off x="548640" y="338328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About 8,760 hours a year per seat ÷ about 1,700 productive hours per person. Estimate only; not a commitment.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service objectives and reporting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NOT APPROVED"/>
          <p:cNvSpPr/>
          <p:nvPr/>
        </p:nvSpPr>
        <p:spPr>
          <a:xfrm>
            <a:off x="1996440" y="274320"/>
            <a:ext cx="21742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3017520"/>
                <a:gridCol w="5486400"/>
                <a:gridCol w="2587752"/>
              </a:tblGrid>
              <a:tr h="320040">
                <a:tc>
                  <a:txBody>
                    <a:bodyPr wrap="square" anchor="ctr">
                      <a:noAutofit/>
                    </a:bodyPr>
                    <a:lstStyle/>
                    <a:p>
                      <a:pPr algn="l"/>
                      <a:r>
                        <a:rPr sz="1500" b="1" i="0">
                          <a:solidFill>
                            <a:srgbClr val="FFFFFF"/>
                          </a:solidFill>
                          <a:latin typeface="Arial"/>
                        </a:rPr>
                        <a:t>Objective (proposed)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Definition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Reported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Response within target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priority, inside coverage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Change success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Changes without rollback or incident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Alert ownership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Alerts with owner and runbook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Drill completion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Containment and restore drills run and passed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Quarterly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Platform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Where meaningful, for contracted components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Cost visibility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Spend attributed to an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5F5F2"/>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Monthly governance and optimisation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8" name="Rounded Rectangle 7"/>
          <p:cNvSpPr/>
          <p:nvPr/>
        </p:nvSpPr>
        <p:spPr>
          <a:xfrm>
            <a:off x="548640" y="13716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Service</a:t>
            </a:r>
          </a:p>
          <a:p>
            <a:pPr algn="l"/>
            <a:r>
              <a:rPr sz="1700" b="0" i="0">
                <a:solidFill>
                  <a:srgbClr val="1E1E2E"/>
                </a:solidFill>
                <a:latin typeface="Arial"/>
              </a:rPr>
              <a:t>Objectives, incidents, problems, changes</a:t>
            </a:r>
          </a:p>
        </p:txBody>
      </p:sp>
      <p:sp>
        <p:nvSpPr>
          <p:cNvPr id="9" name="Rounded Rectangle 8"/>
          <p:cNvSpPr/>
          <p:nvPr/>
        </p:nvSpPr>
        <p:spPr>
          <a:xfrm>
            <a:off x="6172200" y="13716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Agents</a:t>
            </a:r>
          </a:p>
          <a:p>
            <a:pPr algn="l"/>
            <a:r>
              <a:rPr sz="1700" b="0" i="0">
                <a:solidFill>
                  <a:srgbClr val="1E1E2E"/>
                </a:solidFill>
                <a:latin typeface="Arial"/>
              </a:rPr>
              <a:t>Catalogue changes, dormant reviews, drills</a:t>
            </a:r>
          </a:p>
        </p:txBody>
      </p:sp>
      <p:sp>
        <p:nvSpPr>
          <p:cNvPr id="10" name="Rounded Rectangle 9"/>
          <p:cNvSpPr/>
          <p:nvPr/>
        </p:nvSpPr>
        <p:spPr>
          <a:xfrm>
            <a:off x="548640" y="32004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Capacity</a:t>
            </a:r>
          </a:p>
          <a:p>
            <a:pPr algn="l"/>
            <a:r>
              <a:rPr sz="1700" b="0" i="0">
                <a:solidFill>
                  <a:srgbClr val="1E1E2E"/>
                </a:solidFill>
                <a:latin typeface="Arial"/>
              </a:rPr>
              <a:t>Utilisation, throttling, quota, lifecycle</a:t>
            </a:r>
          </a:p>
        </p:txBody>
      </p:sp>
      <p:sp>
        <p:nvSpPr>
          <p:cNvPr id="11" name="Rounded Rectangle 10"/>
          <p:cNvSpPr/>
          <p:nvPr/>
        </p:nvSpPr>
        <p:spPr>
          <a:xfrm>
            <a:off x="6172200" y="32004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Cost</a:t>
            </a:r>
          </a:p>
          <a:p>
            <a:pPr algn="l"/>
            <a:r>
              <a:rPr sz="1700" b="0" i="0">
                <a:solidFill>
                  <a:srgbClr val="1E1E2E"/>
                </a:solidFill>
                <a:latin typeface="Arial"/>
              </a:rPr>
              <a:t>Spend versus budget, unit cost, actions</a:t>
            </a:r>
          </a:p>
        </p:txBody>
      </p:sp>
      <p:sp>
        <p:nvSpPr>
          <p:cNvPr id="12" name="Rounded Rectangle 11"/>
          <p:cNvSpPr/>
          <p:nvPr/>
        </p:nvSpPr>
        <p:spPr>
          <a:xfrm>
            <a:off x="548640" y="521208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Each action has an owner and a date, tracked to closure.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Pricing logic for the recurring service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FORMULA, NO RATES"/>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FORMULA, NO RATES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TextBox 8"/>
          <p:cNvSpPr txBox="1"/>
          <p:nvPr/>
        </p:nvSpPr>
        <p:spPr>
          <a:xfrm>
            <a:off x="548640" y="1371600"/>
            <a:ext cx="11064240" cy="822960"/>
          </a:xfrm>
          <a:prstGeom prst="rect">
            <a:avLst/>
          </a:prstGeom>
          <a:noFill/>
        </p:spPr>
        <p:txBody>
          <a:bodyPr wrap="square" lIns="0" rIns="0" tIns="0" bIns="0" anchor="t">
            <a:noAutofit/>
          </a:bodyPr>
          <a:lstStyle/>
          <a:p>
            <a:pPr algn="l">
              <a:spcAft>
                <a:spcPts val="400"/>
              </a:spcAft>
            </a:pPr>
            <a:r>
              <a:rPr sz="1800" b="1" i="0">
                <a:solidFill>
                  <a:srgbClr val="000048"/>
                </a:solidFill>
                <a:latin typeface="Arial"/>
              </a:rPr>
              <a:t>Monthly fee</a:t>
            </a:r>
            <a:r>
              <a:rPr sz="1800" b="0" i="0">
                <a:solidFill>
                  <a:srgbClr val="1E1E2E"/>
                </a:solidFill>
                <a:latin typeface="Arial"/>
              </a:rPr>
              <a:t> = base service fee + Σ (asset units x unit rate) + coverage uplift + specialist allowance</a:t>
            </a:r>
          </a:p>
          <a:p>
            <a:pPr algn="l"/>
            <a:r>
              <a:rPr sz="1800" b="1" i="0">
                <a:solidFill>
                  <a:srgbClr val="000048"/>
                </a:solidFill>
                <a:latin typeface="Arial"/>
              </a:rPr>
              <a:t>One-time</a:t>
            </a:r>
            <a:r>
              <a:rPr sz="1800" b="0" i="0">
                <a:solidFill>
                  <a:srgbClr val="1E1E2E"/>
                </a:solidFill>
                <a:latin typeface="Arial"/>
              </a:rPr>
              <a:t> = onboarding (gates in A1) + remediation work packages, if any</a:t>
            </a:r>
          </a:p>
        </p:txBody>
      </p:sp>
      <p:graphicFrame>
        <p:nvGraphicFramePr>
          <p:cNvPr id="10" name="Table"/>
          <p:cNvGraphicFramePr>
            <a:graphicFrameLocks noGrp="1"/>
          </p:cNvGraphicFramePr>
          <p:nvPr/>
        </p:nvGraphicFramePr>
        <p:xfrm>
          <a:off x="548640" y="2377440"/>
          <a:ext cx="11091672" cy="2148840"/>
        </p:xfrm>
        <a:graphic>
          <a:graphicData uri="http://schemas.openxmlformats.org/drawingml/2006/table">
            <a:tbl>
              <a:tblPr firstRow="1" bandRow="0">
                <a:tableStyleId>{5C22544A-7EE6-4342-B048-85BDC9FD1C3A}</a:tableStyleId>
              </a:tblPr>
              <a:tblGrid>
                <a:gridCol w="2743200"/>
                <a:gridCol w="4937760"/>
                <a:gridCol w="3410712"/>
              </a:tblGrid>
              <a:tr h="320040">
                <a:tc>
                  <a:txBody>
                    <a:bodyPr wrap="square" anchor="ctr">
                      <a:noAutofit/>
                    </a:bodyPr>
                    <a:lstStyle/>
                    <a:p>
                      <a:pPr algn="l"/>
                      <a:r>
                        <a:rPr sz="15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Missing input (owner)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service fee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Governance, reporting, service management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Base rate (Finance)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Asset units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Environments, AI resources, gateway APIs, agent bands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Unit rates (Finance)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Coverage uplift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Extended or continuous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(delivery leadership)</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hours inside the service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agreements (tower leads)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Hours or assets above band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Overage rate (Finance)</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Onboarding and remediation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Data Eng., Security support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agreement or work package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Formula in A16</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unit and uplift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Monitoring, logs, backup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workloads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 to the service fee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 hours plus operations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Separate scope if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1" cy="355092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Service design and onboarding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Monitoring and alert implementation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Onboarding readiness testing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incidents and changes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quality incidents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Security incidents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execution</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Recovery and restart approval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Monthly governance and reporting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renewal</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98652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56032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Platform operations base and assets, per month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$24,000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AI support allowance, per month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$6,000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Data Eng. support allowance, per month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 Eng.</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$3,000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Security support allowance, per month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$3,000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$36,000</a:t>
                      </a:r>
                    </a:p>
                  </a:txBody>
                  <a:tcPr marL="73152" marR="73152" marT="36576" marB="36576" anchor="ctr">
                    <a:solidFill>
                      <a:srgbClr val="FFFFFF"/>
                    </a:solidFill>
                  </a:tcPr>
                </a:tc>
              </a:tr>
            </a:tbl>
          </a:graphicData>
        </a:graphic>
      </p:graphicFrame>
      <p:sp>
        <p:nvSpPr>
          <p:cNvPr id="16" name="TextBox 15"/>
          <p:cNvSpPr txBox="1"/>
          <p:nvPr/>
        </p:nvSpPr>
        <p:spPr>
          <a:xfrm>
            <a:off x="6629400" y="434340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Accepted platform (offering 01 or equivalent), inventory, owners, ITSM route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Asset list, agents, alerts, runbooks, coverage need, tower contacts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Operated service, monthly report, reviews, drills, runbooks maintained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Contracted assets and coverage; specialist lanes per agreements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Tower agreements, security resolver, customer service desk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Onboard, stabilise, operate,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Onboarding gates A1; service acceptance by customer</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Service desk, approvals, containment authority, data owners</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Base + asset units + coverage uplift + allowance (A16)</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assets above band, coverage change, new runtime or region</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Exit plan and knowledge transfer at contract end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Objectives met, drills passed, cost reviewed, alert ownership</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2" cy="210312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Proposed packages for pilots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24x7 without funded roster</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Service objectives values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 with customer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ticket data</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Base, unit and uplift rates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Tower support agreements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Signed agreements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Security resolver model per customer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CISO delegate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Existing SOC contracts</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network flows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pic>
        <p:nvPicPr>
          <p:cNvPr id="9" name="Original reference image: 08_baseline-microsoft-foundry-network-flow.png" descr="08_baseline-microsoft-foundry-network-flow.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08_baseline-microsoft-foundry-network-flow.png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Use to derive the monitored dependency map (A3). Source labels the model "Azure OpenAI model".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11 Oct 2026  ·  Working proposal, not approved terms</a:t>
            </a:r>
          </a:p>
        </p:txBody>
      </p:sp>
      <p:sp>
        <p:nvSpPr>
          <p:cNvPr id="7" name="IndexLink">
            <a:hlinkClick action="ppaction://hlinksldjump" r:id="rId13"/>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Foundry Control Plane: manage agents:  </a:t>
            </a:r>
            <a:r>
              <a:rPr sz="1300" b="0" i="0">
                <a:solidFill>
                  <a:srgbClr val="2F78C4"/>
                </a:solidFill>
                <a:latin typeface="Arial"/>
                <a:hlinkClick r:id="rId4"/>
              </a:rPr>
              <a:t>https://learn.microsoft.com/en-us/azure/foundry/control-plane/how-to-manage-agents</a:t>
            </a:r>
          </a:p>
          <a:p>
            <a:pPr algn="l">
              <a:spcAft>
                <a:spcPts val="300"/>
              </a:spcAft>
            </a:pPr>
            <a:r>
              <a:rPr sz="1300" b="1" i="0">
                <a:solidFill>
                  <a:srgbClr val="000048"/>
                </a:solidFill>
                <a:latin typeface="Arial"/>
              </a:rPr>
              <a:t>Foundry Control Plane: register custom agent:  </a:t>
            </a:r>
            <a:r>
              <a:rPr sz="1300" b="0" i="0">
                <a:solidFill>
                  <a:srgbClr val="2F78C4"/>
                </a:solidFill>
                <a:latin typeface="Arial"/>
                <a:hlinkClick r:id="rId5"/>
              </a:rPr>
              <a:t>https://learn.microsoft.com/en-us/azure/foundry/control-plane/register-custom-agent</a:t>
            </a:r>
          </a:p>
          <a:p>
            <a:pPr algn="l">
              <a:spcAft>
                <a:spcPts val="300"/>
              </a:spcAft>
            </a:pPr>
            <a:r>
              <a:rPr sz="1300" b="1" i="0">
                <a:solidFill>
                  <a:srgbClr val="000048"/>
                </a:solidFill>
                <a:latin typeface="Arial"/>
              </a:rPr>
              <a:t>Provisioned throughput concepts:  </a:t>
            </a:r>
            <a:r>
              <a:rPr sz="1300" b="0" i="0">
                <a:solidFill>
                  <a:srgbClr val="2F78C4"/>
                </a:solidFill>
                <a:latin typeface="Arial"/>
                <a:hlinkClick r:id="rId6"/>
              </a:rPr>
              <a:t>https://learn.microsoft.com/en-us/azure/foundry/openai/concepts/provisioned-throughput</a:t>
            </a:r>
          </a:p>
          <a:p>
            <a:pPr algn="l">
              <a:spcAft>
                <a:spcPts val="300"/>
              </a:spcAft>
            </a:pPr>
            <a:r>
              <a:rPr sz="1300" b="1" i="0">
                <a:solidFill>
                  <a:srgbClr val="000048"/>
                </a:solidFill>
                <a:latin typeface="Arial"/>
              </a:rPr>
              <a:t>Azure Retail Prices API: Log Analytics, East US 2:  </a:t>
            </a:r>
            <a:r>
              <a:rPr sz="1300" b="0" i="0">
                <a:solidFill>
                  <a:srgbClr val="2F78C4"/>
                </a:solidFill>
                <a:latin typeface="Arial"/>
                <a:hlinkClick r:id="rId7"/>
              </a:rPr>
              <a:t>https://prices.azure.com/api/retail/prices?$filter=serviceName eq 'Log Analytics' and armRegionName eq 'eastus2'</a:t>
            </a:r>
          </a:p>
          <a:p>
            <a:pPr algn="l">
              <a:spcAft>
                <a:spcPts val="300"/>
              </a:spcAft>
            </a:pPr>
            <a:r>
              <a:rPr sz="1300" b="1" i="0">
                <a:solidFill>
                  <a:srgbClr val="000048"/>
                </a:solidFill>
                <a:latin typeface="Arial"/>
              </a:rPr>
              <a:t>AI gateway capabilities in API Management:  </a:t>
            </a:r>
            <a:r>
              <a:rPr sz="1300" b="0" i="0">
                <a:solidFill>
                  <a:srgbClr val="2F78C4"/>
                </a:solidFill>
                <a:latin typeface="Arial"/>
                <a:hlinkClick r:id="rId8"/>
              </a:rPr>
              <a:t>https://learn.microsoft.com/en-us/azure/api-management/genai-gateway-capabilities</a:t>
            </a:r>
          </a:p>
          <a:p>
            <a:pPr algn="l">
              <a:spcAft>
                <a:spcPts val="300"/>
              </a:spcAft>
            </a:pPr>
            <a:r>
              <a:rPr sz="1300" b="1" i="0">
                <a:solidFill>
                  <a:srgbClr val="000048"/>
                </a:solidFill>
                <a:latin typeface="Arial"/>
              </a:rPr>
              <a:t>Azure Architecture Icons (V24):  </a:t>
            </a:r>
            <a:r>
              <a:rPr sz="1300" b="0" i="0">
                <a:solidFill>
                  <a:srgbClr val="2F78C4"/>
                </a:solidFill>
                <a:latin typeface="Arial"/>
                <a:hlinkClick r:id="rId9"/>
              </a:rPr>
              <a:t>https://learn.microsoft.com/en-us/azure/architecture/icons/</a:t>
            </a:r>
          </a:p>
          <a:p>
            <a:pPr algn="l">
              <a:spcAft>
                <a:spcPts val="300"/>
              </a:spcAft>
            </a:pPr>
            <a:r>
              <a:rPr sz="1300" b="1" i="0">
                <a:solidFill>
                  <a:srgbClr val="000048"/>
                </a:solidFill>
                <a:latin typeface="Arial"/>
              </a:rPr>
              <a:t>az-icons.com catalogue of official Azure icons (July 2026 set):  </a:t>
            </a:r>
            <a:r>
              <a:rPr sz="1300" b="0" i="0">
                <a:solidFill>
                  <a:srgbClr val="2F78C4"/>
                </a:solidFill>
                <a:latin typeface="Arial"/>
                <a:hlinkClick r:id="rId10"/>
              </a:rPr>
              <a:t>https://az-icons.com/</a:t>
            </a:r>
          </a:p>
          <a:p>
            <a:pPr algn="l">
              <a:spcAft>
                <a:spcPts val="300"/>
              </a:spcAft>
            </a:pPr>
            <a:r>
              <a:rPr sz="1300" b="1" i="0">
                <a:solidFill>
                  <a:srgbClr val="000048"/>
                </a:solidFill>
                <a:latin typeface="Arial"/>
              </a:rPr>
              <a:t>GTM proposal V3 (managed operations section):  </a:t>
            </a:r>
            <a:r>
              <a:rPr sz="1300" b="0" i="0">
                <a:solidFill>
                  <a:srgbClr val="2F78C4"/>
                </a:solidFill>
                <a:latin typeface="Arial"/>
                <a:hlinkClick r:id="rId11"/>
              </a:rPr>
              <a:t>https://github.com/upendra25312/AI-Foundry-GTM-offering-/blob/main/CIS_Infra_Azure_AI_Platform_GTM_Proposal_V3.docx</a:t>
            </a:r>
          </a:p>
          <a:p>
            <a:pPr algn="l">
              <a:spcAft>
                <a:spcPts val="300"/>
              </a:spcAft>
            </a:pPr>
            <a:r>
              <a:rPr sz="1300" b="1" i="0">
                <a:solidFill>
                  <a:srgbClr val="000048"/>
                </a:solidFill>
                <a:latin typeface="Arial"/>
              </a:rPr>
              <a:t>Foundry agent monitoring dashboard:  </a:t>
            </a:r>
            <a:r>
              <a:rPr sz="1300" b="0" i="0">
                <a:solidFill>
                  <a:srgbClr val="2F78C4"/>
                </a:solidFill>
                <a:latin typeface="Arial"/>
                <a:hlinkClick r:id="rId12"/>
              </a:rPr>
              <a:t>https://learn.microsoft.com/en-us/azure/foundry/observability/how-to/how-to-monitor-agents-dashboard</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Managed AI Platform Operations</dc:title>
  <dcterms:created xsi:type="dcterms:W3CDTF">2026-10-10T13:56:28.3080000Z</dcterms:created>
  <dcterms:modified xsi:type="dcterms:W3CDTF">2026-10-10T13:56:28.3090000Z</dcterms:modified>
  <dc:subject>Proposed CIS Infra GTM offering for internal leadership review</dc:subject>
</coreProperties>
</file>