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76772939a44dca" /><Relationship Type="http://schemas.openxmlformats.org/officeDocument/2006/relationships/extended-properties" Target="/docProps/app.xml" Id="R43f4285cdf1c4c01" /><Relationship Type="http://schemas.openxmlformats.org/officeDocument/2006/relationships/officeDocument" Target="/ppt/presentation.xml" Id="R12be940d9fc342a0" /></Relationships>
</file>

<file path=ppt/presentation.xml><?xml version="1.0" encoding="utf-8"?>
<p:presentation xmlns:p="http://schemas.openxmlformats.org/presentationml/2006/main">
  <p:sldMasterIdLst>
    <p:sldMasterId xmlns:r="http://schemas.openxmlformats.org/officeDocument/2006/relationships" id="2147483648" r:id="R2147278fb898426f"/>
  </p:sldMasterIdLst>
  <p:notesMasterIdLst>
    <p:notesMasterId xmlns:r="http://schemas.openxmlformats.org/officeDocument/2006/relationships" r:id="Re8fb76018f7f472c"/>
  </p:notesMasterIdLst>
  <p:sldIdLst>
    <p:sldId xmlns:r="http://schemas.openxmlformats.org/officeDocument/2006/relationships" id="256" r:id="Rd4092c89f4024ed1"/>
    <p:sldId xmlns:r="http://schemas.openxmlformats.org/officeDocument/2006/relationships" id="257" r:id="Rc9f08ef29db44c2f"/>
    <p:sldId xmlns:r="http://schemas.openxmlformats.org/officeDocument/2006/relationships" id="258" r:id="R23233bfd02e941bc"/>
    <p:sldId xmlns:r="http://schemas.openxmlformats.org/officeDocument/2006/relationships" id="259" r:id="R199c117c3faf49a8"/>
    <p:sldId xmlns:r="http://schemas.openxmlformats.org/officeDocument/2006/relationships" id="260" r:id="Rba6e6ab7fc274f09"/>
    <p:sldId xmlns:r="http://schemas.openxmlformats.org/officeDocument/2006/relationships" id="261" r:id="Rdd096b033a574c02"/>
    <p:sldId xmlns:r="http://schemas.openxmlformats.org/officeDocument/2006/relationships" id="262" r:id="R01fcfe0d83804445"/>
    <p:sldId xmlns:r="http://schemas.openxmlformats.org/officeDocument/2006/relationships" id="263" r:id="Rccb3ad3d3b74428a"/>
    <p:sldId xmlns:r="http://schemas.openxmlformats.org/officeDocument/2006/relationships" id="264" r:id="R043705e0a54c40c4"/>
    <p:sldId xmlns:r="http://schemas.openxmlformats.org/officeDocument/2006/relationships" id="265" r:id="R23e56a3b9ce54766"/>
    <p:sldId xmlns:r="http://schemas.openxmlformats.org/officeDocument/2006/relationships" id="266" r:id="Rdc9ae4e635904ef3"/>
    <p:sldId xmlns:r="http://schemas.openxmlformats.org/officeDocument/2006/relationships" id="267" r:id="R88d2a631137a40cc"/>
    <p:sldId xmlns:r="http://schemas.openxmlformats.org/officeDocument/2006/relationships" id="268" r:id="Rf2be2ea1033247bc"/>
    <p:sldId xmlns:r="http://schemas.openxmlformats.org/officeDocument/2006/relationships" id="269" r:id="Rbbbfae54d05a4864"/>
    <p:sldId xmlns:r="http://schemas.openxmlformats.org/officeDocument/2006/relationships" id="270" r:id="Rb3c106bb62bd4477"/>
    <p:sldId xmlns:r="http://schemas.openxmlformats.org/officeDocument/2006/relationships" id="271" r:id="R5b6cf6a9aef64a8f"/>
    <p:sldId xmlns:r="http://schemas.openxmlformats.org/officeDocument/2006/relationships" id="272" r:id="Rae087fa674d24478"/>
    <p:sldId xmlns:r="http://schemas.openxmlformats.org/officeDocument/2006/relationships" id="273" r:id="R0f2c2b8f78e34b9e"/>
    <p:sldId xmlns:r="http://schemas.openxmlformats.org/officeDocument/2006/relationships" id="274" r:id="R758086709ebb4dba"/>
    <p:sldId xmlns:r="http://schemas.openxmlformats.org/officeDocument/2006/relationships" id="275" r:id="R09f279f12d3f42f9"/>
    <p:sldId xmlns:r="http://schemas.openxmlformats.org/officeDocument/2006/relationships" id="276" r:id="R24a25d4fd5524d53"/>
    <p:sldId xmlns:r="http://schemas.openxmlformats.org/officeDocument/2006/relationships" id="277" r:id="R65721fff975a4805"/>
    <p:sldId xmlns:r="http://schemas.openxmlformats.org/officeDocument/2006/relationships" id="278" r:id="R7db511113fb64bc1"/>
    <p:sldId xmlns:r="http://schemas.openxmlformats.org/officeDocument/2006/relationships" id="279" r:id="Rb1f65995b9e24259"/>
    <p:sldId xmlns:r="http://schemas.openxmlformats.org/officeDocument/2006/relationships" id="280" r:id="R9a5bfc3f06f74790"/>
    <p:sldId xmlns:r="http://schemas.openxmlformats.org/officeDocument/2006/relationships" id="281" r:id="Rabc4fc00b1c14755"/>
    <p:sldId xmlns:r="http://schemas.openxmlformats.org/officeDocument/2006/relationships" id="282" r:id="Rd455ca97e5d9453a"/>
    <p:sldId xmlns:r="http://schemas.openxmlformats.org/officeDocument/2006/relationships" id="283" r:id="R45f417463c084df7"/>
    <p:sldId xmlns:r="http://schemas.openxmlformats.org/officeDocument/2006/relationships" id="284" r:id="R1e6a289faff644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7d5eedd019646de" /><Relationship Type="http://schemas.openxmlformats.org/officeDocument/2006/relationships/slideMaster" Target="/ppt/slideMasters/slideMaster1.xml" Id="R2147278fb898426f" /><Relationship Type="http://schemas.openxmlformats.org/officeDocument/2006/relationships/notesMaster" Target="/ppt/notesMasters/notesMaster1.xml" Id="Re8fb76018f7f472c" /><Relationship Type="http://schemas.openxmlformats.org/officeDocument/2006/relationships/presProps" Target="/ppt/presProps.xml" Id="R2f7cd5eadfaa4a33" /><Relationship Type="http://schemas.openxmlformats.org/officeDocument/2006/relationships/tableStyles" Target="/ppt/tableStyles.xml" Id="R441c2aa76f2d4b62" /><Relationship Type="http://schemas.openxmlformats.org/officeDocument/2006/relationships/slide" Target="/ppt/slides/slide1.xml" Id="Rd4092c89f4024ed1" /><Relationship Type="http://schemas.openxmlformats.org/officeDocument/2006/relationships/slide" Target="/ppt/slides/slide2.xml" Id="Rc9f08ef29db44c2f" /><Relationship Type="http://schemas.openxmlformats.org/officeDocument/2006/relationships/slide" Target="/ppt/slides/slide3.xml" Id="R23233bfd02e941bc" /><Relationship Type="http://schemas.openxmlformats.org/officeDocument/2006/relationships/slide" Target="/ppt/slides/slide4.xml" Id="R199c117c3faf49a8" /><Relationship Type="http://schemas.openxmlformats.org/officeDocument/2006/relationships/slide" Target="/ppt/slides/slide5.xml" Id="Rba6e6ab7fc274f09" /><Relationship Type="http://schemas.openxmlformats.org/officeDocument/2006/relationships/slide" Target="/ppt/slides/slide6.xml" Id="Rdd096b033a574c02" /><Relationship Type="http://schemas.openxmlformats.org/officeDocument/2006/relationships/slide" Target="/ppt/slides/slide7.xml" Id="R01fcfe0d83804445" /><Relationship Type="http://schemas.openxmlformats.org/officeDocument/2006/relationships/slide" Target="/ppt/slides/slide8.xml" Id="Rccb3ad3d3b74428a" /><Relationship Type="http://schemas.openxmlformats.org/officeDocument/2006/relationships/slide" Target="/ppt/slides/slide9.xml" Id="R043705e0a54c40c4" /><Relationship Type="http://schemas.openxmlformats.org/officeDocument/2006/relationships/slide" Target="/ppt/slides/slide10.xml" Id="R23e56a3b9ce54766" /><Relationship Type="http://schemas.openxmlformats.org/officeDocument/2006/relationships/slide" Target="/ppt/slides/slide11.xml" Id="Rdc9ae4e635904ef3" /><Relationship Type="http://schemas.openxmlformats.org/officeDocument/2006/relationships/slide" Target="/ppt/slides/slide12.xml" Id="R88d2a631137a40cc" /><Relationship Type="http://schemas.openxmlformats.org/officeDocument/2006/relationships/slide" Target="/ppt/slides/slide13.xml" Id="Rf2be2ea1033247bc" /><Relationship Type="http://schemas.openxmlformats.org/officeDocument/2006/relationships/slide" Target="/ppt/slides/slide14.xml" Id="Rbbbfae54d05a4864" /><Relationship Type="http://schemas.openxmlformats.org/officeDocument/2006/relationships/slide" Target="/ppt/slides/slide15.xml" Id="Rb3c106bb62bd4477" /><Relationship Type="http://schemas.openxmlformats.org/officeDocument/2006/relationships/slide" Target="/ppt/slides/slide16.xml" Id="R5b6cf6a9aef64a8f" /><Relationship Type="http://schemas.openxmlformats.org/officeDocument/2006/relationships/slide" Target="/ppt/slides/slide17.xml" Id="Rae087fa674d24478" /><Relationship Type="http://schemas.openxmlformats.org/officeDocument/2006/relationships/slide" Target="/ppt/slides/slide18.xml" Id="R0f2c2b8f78e34b9e" /><Relationship Type="http://schemas.openxmlformats.org/officeDocument/2006/relationships/slide" Target="/ppt/slides/slide19.xml" Id="R758086709ebb4dba" /><Relationship Type="http://schemas.openxmlformats.org/officeDocument/2006/relationships/slide" Target="/ppt/slides/slide20.xml" Id="R09f279f12d3f42f9" /><Relationship Type="http://schemas.openxmlformats.org/officeDocument/2006/relationships/slide" Target="/ppt/slides/slide21.xml" Id="R24a25d4fd5524d53" /><Relationship Type="http://schemas.openxmlformats.org/officeDocument/2006/relationships/slide" Target="/ppt/slides/slide22.xml" Id="R65721fff975a4805" /><Relationship Type="http://schemas.openxmlformats.org/officeDocument/2006/relationships/slide" Target="/ppt/slides/slide23.xml" Id="R7db511113fb64bc1" /><Relationship Type="http://schemas.openxmlformats.org/officeDocument/2006/relationships/slide" Target="/ppt/slides/slide24.xml" Id="Rb1f65995b9e24259" /><Relationship Type="http://schemas.openxmlformats.org/officeDocument/2006/relationships/slide" Target="/ppt/slides/slide25.xml" Id="R9a5bfc3f06f74790" /><Relationship Type="http://schemas.openxmlformats.org/officeDocument/2006/relationships/slide" Target="/ppt/slides/slide26.xml" Id="Rabc4fc00b1c14755" /><Relationship Type="http://schemas.openxmlformats.org/officeDocument/2006/relationships/slide" Target="/ppt/slides/slide27.xml" Id="Rd455ca97e5d9453a" /><Relationship Type="http://schemas.openxmlformats.org/officeDocument/2006/relationships/slide" Target="/ppt/slides/slide28.xml" Id="R45f417463c084df7" /><Relationship Type="http://schemas.openxmlformats.org/officeDocument/2006/relationships/slide" Target="/ppt/slides/slide29.xml" Id="R1e6a289faff644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41c699f0ac4e9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ognizant referenc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Gellix"/>
        <a:ea typeface=""/>
        <a:cs typeface=""/>
      </a:majorFont>
      <a:minorFont>
        <a:latin typeface="Gellix"/>
        <a:ea typeface=""/>
        <a:cs typeface=""/>
      </a:minorFont>
    </a:fontScheme>
    <a:fmtScheme name="Cognizant referenc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92b60e79c74dea" /><Relationship Type="http://schemas.openxmlformats.org/officeDocument/2006/relationships/notesMaster" Target="/ppt/notesMasters/notesMaster1.xml" Id="R1f0dbee0e98242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202be59f304e72" /><Relationship Type="http://schemas.openxmlformats.org/officeDocument/2006/relationships/notesMaster" Target="/ppt/notesMasters/notesMaster1.xml" Id="Rf91162789c5a4f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e1510d4d7f410b" /><Relationship Type="http://schemas.openxmlformats.org/officeDocument/2006/relationships/notesMaster" Target="/ppt/notesMasters/notesMaster1.xml" Id="Rcc57a87faf544b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846b86b96446be" /><Relationship Type="http://schemas.openxmlformats.org/officeDocument/2006/relationships/notesMaster" Target="/ppt/notesMasters/notesMaster1.xml" Id="R8e14583d6a9543d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620a29205840c3" /><Relationship Type="http://schemas.openxmlformats.org/officeDocument/2006/relationships/notesMaster" Target="/ppt/notesMasters/notesMaster1.xml" Id="Rb4a3ab063a3243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c0502aef70f495f" /><Relationship Type="http://schemas.openxmlformats.org/officeDocument/2006/relationships/notesMaster" Target="/ppt/notesMasters/notesMaster1.xml" Id="Rf8fe0424b2bc45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6f1ff958cc49f7" /><Relationship Type="http://schemas.openxmlformats.org/officeDocument/2006/relationships/notesMaster" Target="/ppt/notesMasters/notesMaster1.xml" Id="Rfc4985c08dbd40f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729ab286a9a45e9" /><Relationship Type="http://schemas.openxmlformats.org/officeDocument/2006/relationships/notesMaster" Target="/ppt/notesMasters/notesMaster1.xml" Id="R1ad4ecd15e4f4e71" /></Relationships>
</file>

<file path=ppt/notesSlides/_rels/notesSlide9.xml.rels>&#65279;<?xml version="1.0" encoding="utf-8"?><Relationships xmlns="http://schemas.openxmlformats.org/package/2006/relationships"><Relationship Type="http://schemas.openxmlformats.org/officeDocument/2006/relationships/slide" Target="/ppt/slides/slide9.xml" Id="R51e4ff62223049e9" /><Relationship Type="http://schemas.openxmlformats.org/officeDocument/2006/relationships/notesMaster" Target="/ppt/notesMasters/notesMaster1.xml" Id="R916842fd7ddf45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61854ebf5bb4818" /><Relationship Type="http://schemas.openxmlformats.org/officeDocument/2006/relationships/notesMaster" Target="/ppt/notesMasters/notesMaster1.xml" Id="Rf23a1653b59b4d0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d74accf91e7424c" /><Relationship Type="http://schemas.openxmlformats.org/officeDocument/2006/relationships/notesMaster" Target="/ppt/notesMasters/notesMaster1.xml" Id="R50043838d0fb4a8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cd14718d6cd4d95" /><Relationship Type="http://schemas.openxmlformats.org/officeDocument/2006/relationships/notesMaster" Target="/ppt/notesMasters/notesMaster1.xml" Id="Rc62d93a196de4b0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c42e12824047c9" /><Relationship Type="http://schemas.openxmlformats.org/officeDocument/2006/relationships/notesMaster" Target="/ppt/notesMasters/notesMaster1.xml" Id="R2eba068d0ccb476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76c02673c2e4947" /><Relationship Type="http://schemas.openxmlformats.org/officeDocument/2006/relationships/notesMaster" Target="/ppt/notesMasters/notesMaster1.xml" Id="R0723e33a2dfa45d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74c38fa92c7463d" /><Relationship Type="http://schemas.openxmlformats.org/officeDocument/2006/relationships/notesMaster" Target="/ppt/notesMasters/notesMaster1.xml" Id="R6d8b8c7fac48412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52c1912f1c44b21" /><Relationship Type="http://schemas.openxmlformats.org/officeDocument/2006/relationships/notesMaster" Target="/ppt/notesMasters/notesMaster1.xml" Id="R1d73f9108600459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07a1df01d3b40ec" /><Relationship Type="http://schemas.openxmlformats.org/officeDocument/2006/relationships/notesMaster" Target="/ppt/notesMasters/notesMaster1.xml" Id="Re18fcebb48d94c9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b10e0dbea314bd7" /><Relationship Type="http://schemas.openxmlformats.org/officeDocument/2006/relationships/notesMaster" Target="/ppt/notesMasters/notesMaster1.xml" Id="Rbeccb3e7230c4d3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0c50cd8f79943a8" /><Relationship Type="http://schemas.openxmlformats.org/officeDocument/2006/relationships/notesMaster" Target="/ppt/notesMasters/notesMaster1.xml" Id="R7b4072bc964b438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828f5fb93e943ff" /><Relationship Type="http://schemas.openxmlformats.org/officeDocument/2006/relationships/notesMaster" Target="/ppt/notesMasters/notesMaster1.xml" Id="Rbce14ff9210843c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957c587c36e420e" /><Relationship Type="http://schemas.openxmlformats.org/officeDocument/2006/relationships/notesMaster" Target="/ppt/notesMasters/notesMaster1.xml" Id="R4143343be7a8485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98f8f956d884236" /><Relationship Type="http://schemas.openxmlformats.org/officeDocument/2006/relationships/notesMaster" Target="/ppt/notesMasters/notesMaster1.xml" Id="R1845ad23b4ea450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6dac55b6e3b4495" /><Relationship Type="http://schemas.openxmlformats.org/officeDocument/2006/relationships/notesMaster" Target="/ppt/notesMasters/notesMaster1.xml" Id="R5ed6e07faa8640a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af4d2ebed7b4cab" /><Relationship Type="http://schemas.openxmlformats.org/officeDocument/2006/relationships/notesMaster" Target="/ppt/notesMasters/notesMaster1.xml" Id="R50b3c5603976462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c6a0cbcbe9648dd" /><Relationship Type="http://schemas.openxmlformats.org/officeDocument/2006/relationships/notesMaster" Target="/ppt/notesMasters/notesMaster1.xml" Id="R811db8f5d90f4d3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40c5a00140e4cc0" /><Relationship Type="http://schemas.openxmlformats.org/officeDocument/2006/relationships/notesMaster" Target="/ppt/notesMasters/notesMaster1.xml" Id="R4ce75981ba35478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d0a80cb88dd4a1c" /><Relationship Type="http://schemas.openxmlformats.org/officeDocument/2006/relationships/notesMaster" Target="/ppt/notesMasters/notesMaster1.xml" Id="Rfe126e88d3f840d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7a8ce0f667e41f0" /><Relationship Type="http://schemas.openxmlformats.org/officeDocument/2006/relationships/notesMaster" Target="/ppt/notesMasters/notesMaster1.xml" Id="R3570ab73eeef4a3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97aafa0f66540a6" /><Relationship Type="http://schemas.openxmlformats.org/officeDocument/2006/relationships/notesMaster" Target="/ppt/notesMasters/notesMaster1.xml" Id="Rcad14786329540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custom application RAG pattern, not the current Microsoft Foundry Agent Service baseline. No Agent Service, Cosmos DB, APIM, tool actions or semantic cache in the baseline. Application generates embeddings, performs security-filtered retrieval, sends authorized context to the chat model and returns citations. HTTPS private endpoints for app, Search, Azure OpenAI, Blob and Key Vault. Existing VPN/ExpressRoute provides private app access. Sources: https://github.com/Azure-Samples/azure-search-openai-demo and https://github.com/Azure-Samples/azure-search-openai-demo/blob/main/docs/deploy_private.md . Document filtering is application-enforced and must be implemented and tested; source ACL synchronization is customer-specific. Authentication reference: https://github.com/Azure-Samples/azure-search-openai-demo/blob/main/docs/login_and_acl.md API: https://learn.microsoft.com/en-us/azure/foundry/openai/api-version-lifecycle . Candidate models are subject to availability and evaluation; pin the chosen version in the deployment register. Data Zone scope follows Microsoft definitions, not a single country. Chat and embedding deployment support must be validated separately. Do not infer that the embedding model supports Data Zone Standard.</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Technical/public sources: https://learn.microsoft.com/en-us/azure/foundry/foundry-models/concepts/deployment-types</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custom application RAG pattern, not the current Microsoft Foundry Agent Service baseline. No Agent Service, Cosmos DB, APIM, tool actions or semantic cache in the baseline. Application generates embeddings, performs security-filtered retrieval, sends authorized context to the chat model and returns citations. HTTPS private endpoints for app, Search, Azure OpenAI, Blob and Key Vault. Existing VPN/ExpressRoute provides private app access. Sources: https://github.com/Azure-Samples/azure-search-openai-demo and https://github.com/Azure-Samples/azure-search-openai-demo/blob/main/docs/deploy_private.md . Document filtering is application-enforced and must be implemented and tested; source ACL synchronization is customer-specific. Authentication reference: https://github.com/Azure-Samples/azure-search-openai-demo/blob/main/docs/login_and_acl.md</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custom application RAG pattern, not the current Microsoft Foundry Agent Service baseline. No Agent Service, Cosmos DB, APIM, tool actions or semantic cache in the baseline. Application generates embeddings, performs security-filtered retrieval, sends authorized context to the chat model and returns citations. HTTPS private endpoints for app, Search, Azure OpenAI, Blob and Key Vault. Existing VPN/ExpressRoute provides private app access. Sources: https://github.com/Azure-Samples/azure-search-openai-demo and https://github.com/Azure-Samples/azure-search-openai-demo/blob/main/docs/deploy_private.md . Document filtering is application-enforced and must be implemented and tested; source ACL synchronization is customer-specific. Authentication reference: https://github.com/Azure-Samples/azure-search-openai-demo/blob/main/docs/login_and_acl.md</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custom application RAG pattern, not the current Microsoft Foundry Agent Service baseline. No Agent Service, Cosmos DB, APIM, tool actions or semantic cache in the baseline. Application generates embeddings, performs security-filtered retrieval, sends authorized context to the chat model and returns citations. HTTPS private endpoints for app, Search, Azure OpenAI, Blob and Key Vault. Existing VPN/ExpressRoute provides private app access. Sources: https://github.com/Azure-Samples/azure-search-openai-demo and https://github.com/Azure-Samples/azure-search-openai-demo/blob/main/docs/deploy_private.md . Document filtering is application-enforced and must be implemented and tested; source ACL synchronization is customer-specific. Authentication reference: https://github.com/Azure-Samples/azure-search-openai-demo/blob/main/docs/login_and_acl.md Build agents are separate by environment. Search replicas in the budget are a sizing hypothesis, not an HA or recovery guarantee.</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custom application RAG pattern, not the current Microsoft Foundry Agent Service baseline. No Agent Service, Cosmos DB, APIM, tool actions or semantic cache in the baseline. Application generates embeddings, performs security-filtered retrieval, sends authorized context to the chat model and returns citations. HTTPS private endpoints for app, Search, Azure OpenAI, Blob and Key Vault. Existing VPN/ExpressRoute provides private app access. Sources: https://github.com/Azure-Samples/azure-search-openai-demo and https://github.com/Azure-Samples/azure-search-openai-demo/blob/main/docs/deploy_private.md . Document filtering is application-enforced and must be implemented and tested; source ACL synchronization is customer-specific. Authentication reference: https://github.com/Azure-Samples/azure-search-openai-demo/blob/main/docs/login_and_acl.md Fifteen-minute revocation target is proposed and requires source change-event or polling feasibility. Do not promise it before proof. No automatic user-level security is asserted for managed identity retrieval.</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https://learn.microsoft.com/en-us/azure/api-management/ai-gateway-overview documents preview status and no preview SLA. https://learn.microsoft.com/en-us/azure/foundry/agents/concepts/networking-options defines setup choices. Existing APIM AI capability support varies by tier. No selected optional tier is quoted here.</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Technical/public sources: https://learn.microsoft.com/en-us/azure/architecture/ai-ml/guide/azure-openai-gateway-guide</a:t>
            </a:r>
          </a:p>
          <a:p xmlns:a="http://schemas.openxmlformats.org/drawingml/2006/main">
            <a:r>
              <a:t>https://learn.microsoft.com/en-us/azure/api-management/genai-gateway-capabilities</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dollar figure is a synthetic planning input, not an Azure list price or Cognizant rate card. Reprice using dated customer agreement prices, actual geography, role mix, support pool cost and Finance policy. No FX conversion is used. USD excludes taxes, licences, optional assessment and changes. Numbers deliberately demonstrate quote mechanics.</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dollar figure is a synthetic planning input, not an Azure list price or Cognizant rate card. Reprice using dated customer agreement prices, actual geography, role mix, support pool cost and Finance policy. No FX conversion is used. USD excludes taxes, licences, optional assessment and changes. Numbers deliberately demonstrate quote mechanics. Original workbook scenario retained. Output tokens/request=500/750/1000 and input=2000/3000/4000. Monthly volumes do not determine TPM, RPM or latency. Fixed/other budget includes embeddings and ingestion allowance; changes in their load need re-estimation.</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Targets are newly proposed, not Microsoft guarantees or source benchmarks. Query embeddings add calls. Capture actual tokens/minute, RPM, queueing, throttling, retry behaviour and retrieval latency. 200 questions are a starter evaluation set, not statistical proof for all workloads.</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Weekly base totals calculated from appendix: 12,14,12,14,12,11,10,3 =88. Peak14/5=2.8 FTE. Reserve is not committed capacity or automatic calendar float.</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copy snapshot/versioning configuration and retention are subject to data approval. Search is rebuilt, not represented as having a native snapshot backup. Shared platform availability may block recovery. This limitation must be explicit in SOW.</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dollar figure is a synthetic planning input, not an Azure list price or Cognizant rate card. Reprice using dated customer agreement prices, actual geography, role mix, support pool cost and Finance policy. No FX conversion is used. USD excludes taxes, licences, optional assessment and changes. Numbers deliberately demonstrate quote mechanics. 2*500+.5*600+.5*650=1625; /0.7=2321.4285714. Illustrative allowance is24h at8h/day. Shared service staffing, on-call cover, P1 acknowledgment and specialist OLAs remain open approvals. No unlimited ticket entitlement or resolution SLA.</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dollar figure is a synthetic planning input, not an Azure list price or Cognizant rate card. Reprice using dated customer agreement prices, actual geography, role mix, support pool cost and Finance policy. No FX conversion is used. USD excludes taxes, licences, optional assessment and changes. Numbers deliberately demonstrate quote mechanics. App, Azure OpenAI, Search, Blob and Key Vault each have one private endpoint per environment. Separate App Service Plans per environment. Search S1:1partition×3replicas prod,1×1dev. Search unit count does not prove full solution SLA.</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dollar figure is a synthetic planning input, not an Azure list price or Cognizant rate card. Reprice using dated customer agreement prices, actual geography, role mix, support pool cost and Finance policy. No FX conversion is used. USD excludes taxes, licences, optional assessment and changes. Numbers deliberately demonstrate quote mechanics. Region: Sweden Central for EU candidate or East US2 for US candidate. Actual log retention, snapshots, storage transactions, network transfer and peak scaling must be priced within/replacing allowances. Shared hub costs must not be double-counted. Five zones are app, model, search, blob and vault; existing hub authority resolves conditional forwarding. No Cosmos DB, Agent Service, APIM, OCR, licence or regional DR resource in baseline.</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dollar figure is a synthetic planning input, not an Azure list price or Cognizant rate card. Reprice using dated customer agreement prices, actual geography, role mix, support pool cost and Finance policy. No FX conversion is used. USD excludes taxes, licences, optional assessment and changes. Numbers deliberately demonstrate quote mechanics.</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5dayweeks and8h/role-day are planning conventions. Fractional specialist involvement requires agreed allocations. Customer elapsed review windows and holidays are outside role-day arithmetic.</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Baseline V3 RACI. M365 or Power Platform options add their own accountable practice and tenant owner. One accountable tower per deliverable. Customer obligations remain explicit in the SOW.</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Technical/public sources: https://learn.microsoft.com/en-us/azure/architecture/ai-ml/architecture/baseline-microsoft-foundry-landing-zone</a:t>
            </a:r>
          </a:p>
          <a:p xmlns:a="http://schemas.openxmlformats.org/drawingml/2006/main">
            <a:r>
              <a:t>Diagram source: https://github.com/upendra25312/AI-Foundry-GTM-offering-/blob/ad3af1ef8701abbcf05ee926c2f9e09ca8d346f4/architectures/10_baseline-microsoft-foundry-landing-zone.png</a:t>
            </a:r>
          </a:p>
          <a:p xmlns:a="http://schemas.openxmlformats.org/drawingml/2006/main">
            <a:r>
              <a:t>Original Microsoft diagram retained as an image. Editable Visio sources, where published, are in the repository architectures folder.</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gateway extends Azure API Management. It is not a separate Azure product. Source diagram is conceptual. Validate workload benefit against operational complexity.</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Technical/public sources: https://learn.microsoft.com/en-us/azure/architecture/ai-ml/guide/azure-openai-gateway-guide</a:t>
            </a:r>
          </a:p>
          <a:p xmlns:a="http://schemas.openxmlformats.org/drawingml/2006/main">
            <a:r>
              <a:t>https://learn.microsoft.com/en-us/azure/api-management/genai-gateway-capabilities</a:t>
            </a:r>
          </a:p>
          <a:p xmlns:a="http://schemas.openxmlformats.org/drawingml/2006/main">
            <a:r>
              <a:t>Diagram source: https://github.com/upendra25312/AI-Foundry-GTM-offering-/blob/ad3af1ef8701abbcf05ee926c2f9e09ca8d346f4/architectures/38_foundry-gateway-conceptual-architecture.png</a:t>
            </a:r>
          </a:p>
          <a:p xmlns:a="http://schemas.openxmlformats.org/drawingml/2006/main">
            <a:r>
              <a:t>Original Microsoft diagram retained as an image. Editable Visio sources, where published, are in the repository architectures folder.</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 for the illustrative baseline, not a promise that a specific retrieval method meets the business target. Test no-answer handling, stale source behaviour and access revocation.</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Technical/public sources: https://learn.microsoft.com/en-us/azure/architecture/ai-ml/guide/rag/rag-agentic</a:t>
            </a:r>
          </a:p>
          <a:p xmlns:a="http://schemas.openxmlformats.org/drawingml/2006/main">
            <a:r>
              <a:t>Diagram source: https://github.com/upendra25312/AI-Foundry-GTM-offering-/blob/ad3af1ef8701abbcf05ee926c2f9e09ca8d346f4/architectures/13_standard-rag.png</a:t>
            </a:r>
          </a:p>
          <a:p xmlns:a="http://schemas.openxmlformats.org/drawingml/2006/main">
            <a:r>
              <a:t>Original Microsoft diagram retained as an image. Editable Visio sources, where published, are in the repository architectures folder.</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option outside the baseline. Source image describes agentic retrieval. It does not authorize autonomous write actions. Scope action tools and their security separately.</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Technical/public sources: https://learn.microsoft.com/en-us/azure/architecture/ai-ml/guide/rag/rag-agentic</a:t>
            </a:r>
          </a:p>
          <a:p xmlns:a="http://schemas.openxmlformats.org/drawingml/2006/main">
            <a:r>
              <a:t>Diagram source: https://github.com/upendra25312/AI-Foundry-GTM-offering-/blob/ad3af1ef8701abbcf05ee926c2f9e09ca8d346f4/architectures/14_agentic-rag.png</a:t>
            </a:r>
          </a:p>
          <a:p xmlns:a="http://schemas.openxmlformats.org/drawingml/2006/main">
            <a:r>
              <a:t>Original Microsoft diagram retained as an image. Editable Visio sources, where published, are in the repository architectures folder.</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Microsoft Learn image, not the legacy 2023 Visio poster. Do not place customer APIM in the core Microsoft 365 Copilot service path. Custom extensions need their own architecture and authorizations.</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Technical/public sources: https://learn.microsoft.com/en-us/microsoft-365/copilot/microsoft-365-copilot-architecture</a:t>
            </a:r>
          </a:p>
          <a:p xmlns:a="http://schemas.openxmlformats.org/drawingml/2006/main">
            <a:r>
              <a:t>Diagram source: https://github.com/upendra25312/AI-Foundry-GTM-offering-/blob/ad3af1ef8701abbcf05ee926c2f9e09ca8d346f4/architectures/24_copilot-tenant-architecture.png</a:t>
            </a:r>
          </a:p>
          <a:p xmlns:a="http://schemas.openxmlformats.org/drawingml/2006/main">
            <a:r>
              <a:t>Original Microsoft diagram retained as an image. Editable Visio sources, where published, are in the repository architectures folder.</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Microsoft architecture. Existing permissions can be overly broad, so tenant readiness must inspect them. Infra does not own enterprise content remediation or SaaS licensing by default.</a:t>
            </a:r>
          </a:p>
          <a:p xmlns:a="http://schemas.openxmlformats.org/drawingml/2006/main">
            <a:r>
              <a:t/>
            </a:r>
          </a:p>
          <a:p xmlns:a="http://schemas.openxmlformats.org/drawingml/2006/main">
            <a:r>
              <a:t>Source materials:</a:t>
            </a:r>
          </a:p>
          <a:p xmlns:a="http://schemas.openxmlformats.org/drawingml/2006/main">
            <a:r>
              <a:t>https://github.com/upendra25312/AI-Foundry-GTM-offering-/blob/ad3af1ef8701abbcf05ee926c2f9e09ca8d346f4/CIS_Infra_Azure_AI_Platform_GTM_Proposal_V3.docx</a:t>
            </a:r>
          </a:p>
          <a:p xmlns:a="http://schemas.openxmlformats.org/drawingml/2006/main">
            <a:r>
              <a:t>https://github.com/upendra25312/AI-Foundry-GTM-offering-/blob/ad3af1ef8701abbcf05ee926c2f9e09ca8d346f4/Microsoft_AI_Architect_Learning_Roadmap.xlsx</a:t>
            </a:r>
          </a:p>
          <a:p xmlns:a="http://schemas.openxmlformats.org/drawingml/2006/main">
            <a:r>
              <a:t>Brand reference: https://github.com/upendra25312/AI-Foundry-GTM-offering-/blob/ad3af1ef8701abbcf05ee926c2f9e09ca8d346f4/Cognizant_Branded_Presales_Template.pptx</a:t>
            </a:r>
          </a:p>
          <a:p xmlns:a="http://schemas.openxmlformats.org/drawingml/2006/main">
            <a:r>
              <a:t>Technical/public sources: https://learn.microsoft.com/en-us/microsoft-365/copilot/microsoft-365-copilot-architecture</a:t>
            </a:r>
          </a:p>
          <a:p xmlns:a="http://schemas.openxmlformats.org/drawingml/2006/main">
            <a:r>
              <a:t>Diagram source: https://github.com/upendra25312/AI-Foundry-GTM-offering-/blob/ad3af1ef8701abbcf05ee926c2f9e09ca8d346f4/architectures/26_copilot-user-access.png</a:t>
            </a:r>
          </a:p>
          <a:p xmlns:a="http://schemas.openxmlformats.org/drawingml/2006/main">
            <a:r>
              <a:t>Original Microsoft diagram retained as an image. Editable Visio sources, where published, are in the repository architectures folder.</a:t>
            </a:r>
          </a:p>
          <a:p xmlns:a="http://schemas.openxmlformats.org/drawingml/2006/main">
            <a:r>
              <a:t>Reviewed 10 October 2026. Estimates and RACI are proposed. Source diagrams may use names that differ from current Microsoft branding. Verify exact runtime, API and feature support at deal design. No approved internal product or rate card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77f7fca4434a3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55215e7727348f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45a82b5ee22418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07cf2bb8fd74de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8dfe437f5c0424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ff25b0646614a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DD587B-DD9D-423F-88BF-2FAA1F4BF8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9C2A314-9F74-42F3-BA5F-45A4AF2DF90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E83CC72-B5E4-459C-98BF-5DEFA34892C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0D6827-DCE3-4AEB-AB6B-9484D56E9DA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1C46ECD-476E-41D4-83E6-DE9C533AD90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4556CBD-91C4-4FB8-AB67-81CD977E95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276A4D6-0DB7-4244-AA31-CA73600BE3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7D2782D-69F0-403D-A5EB-0C8E78E2105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58D87F-BC6F-4C5C-808E-F8565B91278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E44CEE-3F17-45A0-BB7A-FC24D24CA63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8b172024e946c2" /><Relationship Type="http://schemas.openxmlformats.org/officeDocument/2006/relationships/slideLayout" Target="/ppt/slideLayouts/slideLayout1.xml" Id="R6dcd80138c95438c" /><Relationship Type="http://schemas.openxmlformats.org/officeDocument/2006/relationships/slideLayout" Target="/ppt/slideLayouts/slideLayout2.xml" Id="Rca8d36b9ff5d410f" /><Relationship Type="http://schemas.openxmlformats.org/officeDocument/2006/relationships/slideLayout" Target="/ppt/slideLayouts/slideLayout3.xml" Id="R427b546f40f64cca" /><Relationship Type="http://schemas.openxmlformats.org/officeDocument/2006/relationships/slideLayout" Target="/ppt/slideLayouts/slideLayout4.xml" Id="Radff7eccc22545b8" /><Relationship Type="http://schemas.openxmlformats.org/officeDocument/2006/relationships/slideLayout" Target="/ppt/slideLayouts/slideLayout5.xml" Id="Rcb112d9ebbcf4cb2" /><Relationship Type="http://schemas.openxmlformats.org/officeDocument/2006/relationships/slideLayout" Target="/ppt/slideLayouts/slideLayout6.xml" Id="R9570d338511049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dcd80138c95438c"/>
    <p:sldLayoutId xmlns:r="http://schemas.openxmlformats.org/officeDocument/2006/relationships" id="2147483650" r:id="Rca8d36b9ff5d410f"/>
    <p:sldLayoutId xmlns:r="http://schemas.openxmlformats.org/officeDocument/2006/relationships" id="2147483651" r:id="R427b546f40f64cca"/>
    <p:sldLayoutId xmlns:r="http://schemas.openxmlformats.org/officeDocument/2006/relationships" id="2147483652" r:id="Radff7eccc22545b8"/>
    <p:sldLayoutId xmlns:r="http://schemas.openxmlformats.org/officeDocument/2006/relationships" id="2147483653" r:id="Rcb112d9ebbcf4cb2"/>
    <p:sldLayoutId xmlns:r="http://schemas.openxmlformats.org/officeDocument/2006/relationships" id="2147483654" r:id="R9570d338511049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ognizant referenc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Gellix"/>
        <a:ea typeface=""/>
        <a:cs typeface=""/>
      </a:majorFont>
      <a:minorFont>
        <a:latin typeface="Gellix"/>
        <a:ea typeface=""/>
        <a:cs typeface=""/>
      </a:minorFont>
    </a:fontScheme>
    <a:fmtScheme name="Cognizant referenc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56a65a182ba4a86" /><Relationship Type="http://schemas.openxmlformats.org/officeDocument/2006/relationships/image" Target="/ppt/media/image.png" Id="R1584eccf81c94b09" /><Relationship Type="http://schemas.openxmlformats.org/officeDocument/2006/relationships/notesSlide" Target="/ppt/notesSlides/notesSlide1.xml" Id="R837fbe66149846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14f682e179c443a" /><Relationship Type="http://schemas.openxmlformats.org/officeDocument/2006/relationships/image" Target="/ppt/media/image2.png" Id="R62e57fe4c3fc4f48" /><Relationship Type="http://schemas.openxmlformats.org/officeDocument/2006/relationships/notesSlide" Target="/ppt/notesSlides/notesSlide2.xml" Id="Rb9e7d3ab724d40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661ca4028f74ad0" /><Relationship Type="http://schemas.openxmlformats.org/officeDocument/2006/relationships/image" Target="/ppt/media/image3.png" Id="Rf07b5182306c4e78" /><Relationship Type="http://schemas.openxmlformats.org/officeDocument/2006/relationships/notesSlide" Target="/ppt/notesSlides/notesSlide3.xml" Id="Ree27ae26e7ea43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4525365a91746fe" /><Relationship Type="http://schemas.openxmlformats.org/officeDocument/2006/relationships/image" Target="/ppt/media/image4.png" Id="R885c4ef96d724d96" /><Relationship Type="http://schemas.openxmlformats.org/officeDocument/2006/relationships/notesSlide" Target="/ppt/notesSlides/notesSlide4.xml" Id="R73e3a82cb7394c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dac9b2f69154705" /><Relationship Type="http://schemas.openxmlformats.org/officeDocument/2006/relationships/image" Target="/ppt/media/image5.png" Id="R83af40d959314cc1" /><Relationship Type="http://schemas.openxmlformats.org/officeDocument/2006/relationships/notesSlide" Target="/ppt/notesSlides/notesSlide5.xml" Id="R65b33af978c6446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ea62cc0a8f04051" /><Relationship Type="http://schemas.openxmlformats.org/officeDocument/2006/relationships/image" Target="/ppt/media/image6.png" Id="Rcc48c0e6a6d04b6e" /><Relationship Type="http://schemas.openxmlformats.org/officeDocument/2006/relationships/notesSlide" Target="/ppt/notesSlides/notesSlide6.xml" Id="R17bd759cb45b400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6fa12a3c8904913" /><Relationship Type="http://schemas.openxmlformats.org/officeDocument/2006/relationships/image" Target="/ppt/media/image7.png" Id="R67f3aaf1bb774fee" /><Relationship Type="http://schemas.openxmlformats.org/officeDocument/2006/relationships/notesSlide" Target="/ppt/notesSlides/notesSlide7.xml" Id="R34ee31ede37f4af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b2b9dd48a454f0e" /><Relationship Type="http://schemas.openxmlformats.org/officeDocument/2006/relationships/image" Target="/ppt/media/image8.png" Id="Rb66743970c7c4dd3" /><Relationship Type="http://schemas.openxmlformats.org/officeDocument/2006/relationships/notesSlide" Target="/ppt/notesSlides/notesSlide8.xml" Id="R6aa167146d6d4ec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79926ea34fe4ac1" /><Relationship Type="http://schemas.openxmlformats.org/officeDocument/2006/relationships/image" Target="/ppt/media/image9.png" Id="Ra10d9e5f65b2484f" /><Relationship Type="http://schemas.openxmlformats.org/officeDocument/2006/relationships/notesSlide" Target="/ppt/notesSlides/notesSlide9.xml" Id="R8bf854139678477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f5745ae1c274518" /><Relationship Type="http://schemas.openxmlformats.org/officeDocument/2006/relationships/image" Target="/ppt/media/image10.png" Id="R65db4334ee6d46b9" /><Relationship Type="http://schemas.openxmlformats.org/officeDocument/2006/relationships/notesSlide" Target="/ppt/notesSlides/notesSlide10.xml" Id="Re19f8257d4c846b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ef0699cdbd149ee" /><Relationship Type="http://schemas.openxmlformats.org/officeDocument/2006/relationships/image" Target="/ppt/media/image11.png" Id="Ra0af6f7be53443e6" /><Relationship Type="http://schemas.openxmlformats.org/officeDocument/2006/relationships/notesSlide" Target="/ppt/notesSlides/notesSlide11.xml" Id="R152fd292eede4f7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41f15a0b6634638" /><Relationship Type="http://schemas.openxmlformats.org/officeDocument/2006/relationships/image" Target="/ppt/media/image12.png" Id="R5d91d16e3bbf4d3b" /><Relationship Type="http://schemas.openxmlformats.org/officeDocument/2006/relationships/notesSlide" Target="/ppt/notesSlides/notesSlide12.xml" Id="R00fc16e038344a2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819f11ae8fd4274" /><Relationship Type="http://schemas.openxmlformats.org/officeDocument/2006/relationships/image" Target="/ppt/media/image13.png" Id="R4b2ed5c68b6a4255" /><Relationship Type="http://schemas.openxmlformats.org/officeDocument/2006/relationships/notesSlide" Target="/ppt/notesSlides/notesSlide13.xml" Id="Ra31ed557fa484a3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6407f2ff00f4ab8" /><Relationship Type="http://schemas.openxmlformats.org/officeDocument/2006/relationships/image" Target="/ppt/media/image14.png" Id="Rd88f8a811f374389" /><Relationship Type="http://schemas.openxmlformats.org/officeDocument/2006/relationships/notesSlide" Target="/ppt/notesSlides/notesSlide14.xml" Id="R17c5bb52a481456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27d3b93e53541b4" /><Relationship Type="http://schemas.openxmlformats.org/officeDocument/2006/relationships/image" Target="/ppt/media/image15.png" Id="R9feedb8f90c64718" /><Relationship Type="http://schemas.openxmlformats.org/officeDocument/2006/relationships/notesSlide" Target="/ppt/notesSlides/notesSlide15.xml" Id="Rb326a7adf5e6455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bbcc6f55a8e41b6" /><Relationship Type="http://schemas.openxmlformats.org/officeDocument/2006/relationships/image" Target="/ppt/media/image16.png" Id="Rc26dffc312f84775" /><Relationship Type="http://schemas.openxmlformats.org/officeDocument/2006/relationships/notesSlide" Target="/ppt/notesSlides/notesSlide16.xml" Id="R59f77fa94d7d43a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7ebb8e27ee44ad4" /><Relationship Type="http://schemas.openxmlformats.org/officeDocument/2006/relationships/image" Target="/ppt/media/image17.png" Id="R49f0d953820e4ad9" /><Relationship Type="http://schemas.openxmlformats.org/officeDocument/2006/relationships/notesSlide" Target="/ppt/notesSlides/notesSlide17.xml" Id="R56e2e7e3ce6f411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1357c8c794c463c" /><Relationship Type="http://schemas.openxmlformats.org/officeDocument/2006/relationships/image" Target="/ppt/media/image18.png" Id="Re5e8463d71684a45" /><Relationship Type="http://schemas.openxmlformats.org/officeDocument/2006/relationships/notesSlide" Target="/ppt/notesSlides/notesSlide18.xml" Id="R0cb28e2f7c834f1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6c89b7db0f7467f" /><Relationship Type="http://schemas.openxmlformats.org/officeDocument/2006/relationships/image" Target="/ppt/media/image19.png" Id="R436f3ca0b1834b74" /><Relationship Type="http://schemas.openxmlformats.org/officeDocument/2006/relationships/notesSlide" Target="/ppt/notesSlides/notesSlide19.xml" Id="Rb27c7753bfc4474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6e6091af59f43d6" /><Relationship Type="http://schemas.openxmlformats.org/officeDocument/2006/relationships/image" Target="/ppt/media/image20.png" Id="Re607e19e6cba442f" /><Relationship Type="http://schemas.openxmlformats.org/officeDocument/2006/relationships/notesSlide" Target="/ppt/notesSlides/notesSlide20.xml" Id="R68d719161791476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3d858aa8be8457e" /><Relationship Type="http://schemas.openxmlformats.org/officeDocument/2006/relationships/image" Target="/ppt/media/image21.png" Id="R9cb6d5c3046943be" /><Relationship Type="http://schemas.openxmlformats.org/officeDocument/2006/relationships/notesSlide" Target="/ppt/notesSlides/notesSlide21.xml" Id="R50bfaf035daa4d8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b009afcb91e49a3" /><Relationship Type="http://schemas.openxmlformats.org/officeDocument/2006/relationships/image" Target="/ppt/media/image22.png" Id="Ra6742ff927684e62" /><Relationship Type="http://schemas.openxmlformats.org/officeDocument/2006/relationships/notesSlide" Target="/ppt/notesSlides/notesSlide22.xml" Id="Rb6f9b875cb92434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9c68194c1b744e0" /><Relationship Type="http://schemas.openxmlformats.org/officeDocument/2006/relationships/image" Target="/ppt/media/image23.png" Id="Rcb75e4d0f7cf43bf" /><Relationship Type="http://schemas.openxmlformats.org/officeDocument/2006/relationships/notesSlide" Target="/ppt/notesSlides/notesSlide23.xml" Id="R9f36ff1dab3d403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1d2230319034f9f" /><Relationship Type="http://schemas.openxmlformats.org/officeDocument/2006/relationships/image" Target="/ppt/media/image24.png" Id="Rf7c4a51ce136428d" /><Relationship Type="http://schemas.openxmlformats.org/officeDocument/2006/relationships/image" Target="/ppt/media/image25.png" Id="R37d2f67344644bd2" /><Relationship Type="http://schemas.openxmlformats.org/officeDocument/2006/relationships/notesSlide" Target="/ppt/notesSlides/notesSlide24.xml" Id="R1d2daee8d4f1486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48ed9af621b4dc4" /><Relationship Type="http://schemas.openxmlformats.org/officeDocument/2006/relationships/image" Target="/ppt/media/image26.png" Id="R27c93011748b4e4b" /><Relationship Type="http://schemas.openxmlformats.org/officeDocument/2006/relationships/image" Target="/ppt/media/image27.png" Id="Rcdc20fa9a1ad4fa3" /><Relationship Type="http://schemas.openxmlformats.org/officeDocument/2006/relationships/notesSlide" Target="/ppt/notesSlides/notesSlide25.xml" Id="Recaf3783abde476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8366ae5d389452f" /><Relationship Type="http://schemas.openxmlformats.org/officeDocument/2006/relationships/image" Target="/ppt/media/image28.png" Id="R6fdb71075e3f4ee9" /><Relationship Type="http://schemas.openxmlformats.org/officeDocument/2006/relationships/image" Target="/ppt/media/image29.png" Id="R47a7f65c80214c5d" /><Relationship Type="http://schemas.openxmlformats.org/officeDocument/2006/relationships/notesSlide" Target="/ppt/notesSlides/notesSlide26.xml" Id="R08717ec4ec4449a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42e87e040dd484b" /><Relationship Type="http://schemas.openxmlformats.org/officeDocument/2006/relationships/image" Target="/ppt/media/image30.png" Id="R22a1cfb918b14275" /><Relationship Type="http://schemas.openxmlformats.org/officeDocument/2006/relationships/image" Target="/ppt/media/image31.png" Id="Ra8f65581b0584a4b" /><Relationship Type="http://schemas.openxmlformats.org/officeDocument/2006/relationships/notesSlide" Target="/ppt/notesSlides/notesSlide27.xml" Id="Re04468d4d6f948b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c59593256c984df1" /><Relationship Type="http://schemas.openxmlformats.org/officeDocument/2006/relationships/image" Target="/ppt/media/image32.png" Id="Rd89c3264930843b1" /><Relationship Type="http://schemas.openxmlformats.org/officeDocument/2006/relationships/image" Target="/ppt/media/image33.png" Id="R03d9dfcb328d4786" /><Relationship Type="http://schemas.openxmlformats.org/officeDocument/2006/relationships/notesSlide" Target="/ppt/notesSlides/notesSlide28.xml" Id="R475d02f5e65947c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ae2941c5c054d02" /><Relationship Type="http://schemas.openxmlformats.org/officeDocument/2006/relationships/image" Target="/ppt/media/image34.png" Id="R573684b66b1440d5" /><Relationship Type="http://schemas.openxmlformats.org/officeDocument/2006/relationships/image" Target="/ppt/media/image35.png" Id="R6047e5e3d2924ad2" /><Relationship Type="http://schemas.openxmlformats.org/officeDocument/2006/relationships/notesSlide" Target="/ppt/notesSlides/notesSlide29.xml" Id="R1fabaa9bd8cc4782" /></Relationships>
</file>

<file path=ppt/slides/slide1.xml><?xml version="1.0" encoding="utf-8"?>
<p:sld xmlns:p="http://schemas.openxmlformats.org/presentationml/2006/main">
  <p:cSld>
    <p:bg>
      <p:bgPr>
        <a:solidFill xmlns:a="http://schemas.openxmlformats.org/drawingml/2006/main">
          <a:srgbClr val="000048"/>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5F0003F-E8F4-4304-9C57-5D849BE7315B}"/>
              </a:ext>
            </a:extLst>
          </p:cNvPr>
          <p:cNvPicPr>
            <a:picLocks xmlns:a="http://schemas.openxmlformats.org/drawingml/2006/main" noChangeAspect="1"/>
          </p:cNvPicPr>
          <p:nvPr/>
        </p:nvPicPr>
        <p:blipFill>
          <a:blip xmlns:r="http://schemas.openxmlformats.org/officeDocument/2006/relationships" xmlns:a="http://schemas.openxmlformats.org/drawingml/2006/main" r:embed="R1584eccf81c94b09"/>
          <a:stretch xmlns:a="http://schemas.openxmlformats.org/drawingml/2006/main"/>
        </p:blipFill>
        <p:spPr>
          <a:xfrm xmlns:a="http://schemas.openxmlformats.org/drawingml/2006/main">
            <a:off x="685800" y="555271"/>
            <a:ext cx="2571750" cy="461084"/>
          </a:xfrm>
          <a:prstGeom xmlns:a="http://schemas.openxmlformats.org/drawingml/2006/main" prst="rect">
            <a:avLst/>
          </a:prstGeom>
        </p:spPr>
      </p:pic>
      <p:sp>
        <p:nvSpPr>
          <p:cNvPr id="2" name="heading">
            <a:extLst xmlns:a="http://schemas.openxmlformats.org/drawingml/2006/main">
              <a:ext uri="{FF2B5EF4-FFF2-40B4-BE49-F238E27FC236}">
                <a16:creationId xmlns:a16="http://schemas.microsoft.com/office/drawing/2014/main" id="{B05D447D-F075-4CC5-8276-6168DCC68574}"/>
              </a:ext>
            </a:extLst>
          </p:cNvPr>
          <p:cNvSpPr>
            <a:spLocks xmlns:a="http://schemas.openxmlformats.org/drawingml/2006/main" noGrp="1"/>
          </p:cNvSpPr>
          <p:nvPr/>
        </p:nvSpPr>
        <p:spPr>
          <a:xfrm xmlns:a="http://schemas.openxmlformats.org/drawingml/2006/main">
            <a:off x="685800" y="2076450"/>
            <a:ext cx="10668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0">
                <a:solidFill>
                  <a:srgbClr val="FFFFFF"/>
                </a:solidFill>
              </a:defRPr>
            </a:defPPr>
          </a:lstStyle>
          <a:p xmlns:a="http://schemas.openxmlformats.org/drawingml/2006/main">
            <a:pPr>
              <a:defRPr sz="4800" b="0">
                <a:solidFill>
                  <a:srgbClr val="FFFFFF"/>
                </a:solidFill>
              </a:defRPr>
            </a:pPr>
            <a:r>
              <a:rPr sz="4800" b="0">
                <a:solidFill>
                  <a:srgbClr val="FFFFFF"/>
                </a:solidFill>
              </a:rPr>
              <a:t>Enterprise RAG</a:t>
            </a:r>
          </a:p>
          <a:p xmlns:a="http://schemas.openxmlformats.org/drawingml/2006/main">
            <a:pPr>
              <a:defRPr sz="4800" b="0">
                <a:solidFill>
                  <a:srgbClr val="FFFFFF"/>
                </a:solidFill>
              </a:defRPr>
            </a:pPr>
            <a:r>
              <a:rPr sz="4800" b="0">
                <a:solidFill>
                  <a:srgbClr val="FFFFFF"/>
                </a:solidFill>
              </a:rPr>
              <a:t>Solutioning Proposal</a:t>
            </a:r>
          </a:p>
        </p:txBody>
      </p:sp>
      <p:sp>
        <p:nvSpPr>
          <p:cNvPr id="3" name="content">
            <a:extLst xmlns:a="http://schemas.openxmlformats.org/drawingml/2006/main">
              <a:ext uri="{FF2B5EF4-FFF2-40B4-BE49-F238E27FC236}">
                <a16:creationId xmlns:a16="http://schemas.microsoft.com/office/drawing/2014/main" id="{ED483A9D-465A-431E-A539-90945EC7FF57}"/>
              </a:ext>
            </a:extLst>
          </p:cNvPr>
          <p:cNvSpPr>
            <a:spLocks xmlns:a="http://schemas.openxmlformats.org/drawingml/2006/main" noGrp="1"/>
          </p:cNvSpPr>
          <p:nvPr/>
        </p:nvSpPr>
        <p:spPr>
          <a:xfrm xmlns:a="http://schemas.openxmlformats.org/drawingml/2006/main">
            <a:off x="685800" y="409575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6EFE9"/>
                </a:solidFill>
              </a:defRPr>
            </a:defPPr>
          </a:lstStyle>
          <a:p xmlns:a="http://schemas.openxmlformats.org/drawingml/2006/main">
            <a:pPr>
              <a:defRPr sz="2400" b="0">
                <a:solidFill>
                  <a:srgbClr val="26EFE9"/>
                </a:solidFill>
              </a:defRPr>
            </a:pPr>
            <a:r>
              <a:rPr sz="2400" b="0">
                <a:solidFill>
                  <a:srgbClr val="26EFE9"/>
                </a:solidFill>
              </a:rPr>
              <a:t>CIS Infra customer pursuit reference</a:t>
            </a:r>
          </a:p>
        </p:txBody>
      </p:sp>
      <p:sp>
        <p:nvSpPr>
          <p:cNvPr id="4" name="content">
            <a:extLst xmlns:a="http://schemas.openxmlformats.org/drawingml/2006/main">
              <a:ext uri="{FF2B5EF4-FFF2-40B4-BE49-F238E27FC236}">
                <a16:creationId xmlns:a16="http://schemas.microsoft.com/office/drawing/2014/main" id="{99C613D8-0D81-4DDF-9502-D7406CE05530}"/>
              </a:ext>
            </a:extLst>
          </p:cNvPr>
          <p:cNvSpPr>
            <a:spLocks xmlns:a="http://schemas.openxmlformats.org/drawingml/2006/main" noGrp="1"/>
          </p:cNvSpPr>
          <p:nvPr/>
        </p:nvSpPr>
        <p:spPr>
          <a:xfrm xmlns:a="http://schemas.openxmlformats.org/drawingml/2006/main">
            <a:off x="685800" y="50958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FFFFF"/>
                </a:solidFill>
              </a:defRPr>
            </a:defPPr>
          </a:lstStyle>
          <a:p xmlns:a="http://schemas.openxmlformats.org/drawingml/2006/main">
            <a:pPr>
              <a:defRPr sz="1950" b="0">
                <a:solidFill>
                  <a:srgbClr val="FFFFFF"/>
                </a:solidFill>
              </a:defRPr>
            </a:pPr>
            <a:r>
              <a:rPr sz="1950" b="0">
                <a:solidFill>
                  <a:srgbClr val="FFFFFF"/>
                </a:solidFill>
              </a:rPr>
              <a:t>Worked reference case / Revision 2</a:t>
            </a:r>
          </a:p>
          <a:p xmlns:a="http://schemas.openxmlformats.org/drawingml/2006/main">
            <a:pPr>
              <a:defRPr sz="1950" b="0">
                <a:solidFill>
                  <a:srgbClr val="FFFFFF"/>
                </a:solidFill>
              </a:defRPr>
            </a:pPr>
            <a:r>
              <a:rPr sz="1950" b="0">
                <a:solidFill>
                  <a:srgbClr val="FFFFFF"/>
                </a:solidFill>
              </a:rPr>
              <a:t>Candidate EU and US deployments / Illustrative USD budget</a:t>
            </a:r>
          </a:p>
        </p:txBody>
      </p:sp>
      <p:sp>
        <p:nvSpPr>
          <p:cNvPr id="5" name="content">
            <a:extLst xmlns:a="http://schemas.openxmlformats.org/drawingml/2006/main">
              <a:ext uri="{FF2B5EF4-FFF2-40B4-BE49-F238E27FC236}">
                <a16:creationId xmlns:a16="http://schemas.microsoft.com/office/drawing/2014/main" id="{96850AB4-F10C-4B57-8E15-95BF60B6EBA9}"/>
              </a:ext>
            </a:extLst>
          </p:cNvPr>
          <p:cNvSpPr>
            <a:spLocks xmlns:a="http://schemas.openxmlformats.org/drawingml/2006/main" noGrp="1"/>
          </p:cNvSpPr>
          <p:nvPr/>
        </p:nvSpPr>
        <p:spPr>
          <a:xfrm xmlns:a="http://schemas.openxmlformats.org/drawingml/2006/main">
            <a:off x="685800" y="636270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FFFFFF"/>
                </a:solidFill>
              </a:defRPr>
            </a:defPPr>
          </a:lstStyle>
          <a:p xmlns:a="http://schemas.openxmlformats.org/drawingml/2006/main">
            <a:pPr>
              <a:defRPr sz="1350" b="0">
                <a:solidFill>
                  <a:srgbClr val="FFFFFF"/>
                </a:solidFill>
              </a:defRPr>
            </a:pPr>
            <a:r>
              <a:rPr sz="1350" b="0">
                <a:solidFill>
                  <a:srgbClr val="FFFFFF"/>
                </a:solidFill>
              </a:rPr>
              <a:t>Upendra Kumar / Azure Presales Architect / 10 October 2026</a:t>
            </a:r>
          </a:p>
        </p:txBody>
      </p:sp>
    </p:spTree>
    <p:extLst>
      <p:ext uri="{BB962C8B-B14F-4D97-AF65-F5344CB8AC3E}">
        <p14:creationId xmlns:p14="http://schemas.microsoft.com/office/powerpoint/2010/main" val="140237333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F1BD9960-66CD-4D69-B49D-68A35A88E8AD}"/>
              </a:ext>
            </a:extLst>
          </p:cNvPr>
          <p:cNvPicPr>
            <a:picLocks xmlns:a="http://schemas.openxmlformats.org/drawingml/2006/main" noChangeAspect="1"/>
          </p:cNvPicPr>
          <p:nvPr/>
        </p:nvPicPr>
        <p:blipFill>
          <a:blip xmlns:r="http://schemas.openxmlformats.org/officeDocument/2006/relationships" xmlns:a="http://schemas.openxmlformats.org/drawingml/2006/main" r:embed="R62e57fe4c3fc4f48"/>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FB87759F-BD5B-407E-8358-E0CE30C1CD10}"/>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CIS Infra / Solutioning proposal</a:t>
            </a:r>
          </a:p>
        </p:txBody>
      </p:sp>
      <p:sp>
        <p:nvSpPr>
          <p:cNvPr id="3" name="heading">
            <a:extLst xmlns:a="http://schemas.openxmlformats.org/drawingml/2006/main">
              <a:ext uri="{FF2B5EF4-FFF2-40B4-BE49-F238E27FC236}">
                <a16:creationId xmlns:a16="http://schemas.microsoft.com/office/drawing/2014/main" id="{F6E8095A-6F76-4D51-89C0-55B6DF0A2557}"/>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The reference case has a bounded business outcome</a:t>
            </a:r>
          </a:p>
        </p:txBody>
      </p:sp>
      <p:sp>
        <p:nvSpPr>
          <p:cNvPr id="4" name="content">
            <a:extLst xmlns:a="http://schemas.openxmlformats.org/drawingml/2006/main">
              <a:ext uri="{FF2B5EF4-FFF2-40B4-BE49-F238E27FC236}">
                <a16:creationId xmlns:a16="http://schemas.microsoft.com/office/drawing/2014/main" id="{9099848C-00F2-46FD-9D78-058A64C6ADD3}"/>
              </a:ext>
            </a:extLst>
          </p:cNvPr>
          <p:cNvSpPr>
            <a:spLocks xmlns:a="http://schemas.openxmlformats.org/drawingml/2006/main" noGrp="1"/>
          </p:cNvSpPr>
          <p:nvPr/>
        </p:nvSpPr>
        <p:spPr>
          <a:xfrm xmlns:a="http://schemas.openxmlformats.org/drawingml/2006/main">
            <a:off x="6858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Business objective</a:t>
            </a:r>
          </a:p>
        </p:txBody>
      </p:sp>
      <p:sp>
        <p:nvSpPr>
          <p:cNvPr id="5" name="content">
            <a:extLst xmlns:a="http://schemas.openxmlformats.org/drawingml/2006/main">
              <a:ext uri="{FF2B5EF4-FFF2-40B4-BE49-F238E27FC236}">
                <a16:creationId xmlns:a16="http://schemas.microsoft.com/office/drawing/2014/main" id="{DD2E7C8D-F0A6-44E9-8E63-061049B5C140}"/>
              </a:ext>
            </a:extLst>
          </p:cNvPr>
          <p:cNvSpPr>
            <a:spLocks xmlns:a="http://schemas.openxmlformats.org/drawingml/2006/main" noGrp="1"/>
          </p:cNvSpPr>
          <p:nvPr/>
        </p:nvSpPr>
        <p:spPr>
          <a:xfrm xmlns:a="http://schemas.openxmlformats.org/drawingml/2006/main">
            <a:off x="6858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Help employees answer questions over one approved document collection, with citations.</a:t>
            </a:r>
          </a:p>
        </p:txBody>
      </p:sp>
      <p:sp>
        <p:nvSpPr>
          <p:cNvPr id="6" name="content">
            <a:extLst xmlns:a="http://schemas.openxmlformats.org/drawingml/2006/main">
              <a:ext uri="{FF2B5EF4-FFF2-40B4-BE49-F238E27FC236}">
                <a16:creationId xmlns:a16="http://schemas.microsoft.com/office/drawing/2014/main" id="{38CAE413-E0C8-49E7-8CD2-DA163E930F10}"/>
              </a:ext>
            </a:extLst>
          </p:cNvPr>
          <p:cNvSpPr>
            <a:spLocks xmlns:a="http://schemas.openxmlformats.org/drawingml/2006/main" noGrp="1"/>
          </p:cNvSpPr>
          <p:nvPr/>
        </p:nvSpPr>
        <p:spPr>
          <a:xfrm xmlns:a="http://schemas.openxmlformats.org/drawingml/2006/main">
            <a:off x="6858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Reference population</a:t>
            </a:r>
          </a:p>
        </p:txBody>
      </p:sp>
      <p:sp>
        <p:nvSpPr>
          <p:cNvPr id="7" name="content">
            <a:extLst xmlns:a="http://schemas.openxmlformats.org/drawingml/2006/main">
              <a:ext uri="{FF2B5EF4-FFF2-40B4-BE49-F238E27FC236}">
                <a16:creationId xmlns:a16="http://schemas.microsoft.com/office/drawing/2014/main" id="{3E2A9057-AD27-490E-9D4F-13FA27FD632F}"/>
              </a:ext>
            </a:extLst>
          </p:cNvPr>
          <p:cNvSpPr>
            <a:spLocks xmlns:a="http://schemas.openxmlformats.org/drawingml/2006/main" noGrp="1"/>
          </p:cNvSpPr>
          <p:nvPr/>
        </p:nvSpPr>
        <p:spPr>
          <a:xfrm xmlns:a="http://schemas.openxmlformats.org/drawingml/2006/main">
            <a:off x="6858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5,000 eligible users. Base scenario assumes 1,000 active users and 20 monthly requests each.</a:t>
            </a:r>
          </a:p>
        </p:txBody>
      </p:sp>
      <p:sp>
        <p:nvSpPr>
          <p:cNvPr id="8" name="content">
            <a:extLst xmlns:a="http://schemas.openxmlformats.org/drawingml/2006/main">
              <a:ext uri="{FF2B5EF4-FFF2-40B4-BE49-F238E27FC236}">
                <a16:creationId xmlns:a16="http://schemas.microsoft.com/office/drawing/2014/main" id="{760D9890-68C8-4C6A-AF3D-C9BDBA2A1698}"/>
              </a:ext>
            </a:extLst>
          </p:cNvPr>
          <p:cNvSpPr>
            <a:spLocks xmlns:a="http://schemas.openxmlformats.org/drawingml/2006/main" noGrp="1"/>
          </p:cNvSpPr>
          <p:nvPr/>
        </p:nvSpPr>
        <p:spPr>
          <a:xfrm xmlns:a="http://schemas.openxmlformats.org/drawingml/2006/main">
            <a:off x="6858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Scope</a:t>
            </a:r>
          </a:p>
        </p:txBody>
      </p:sp>
      <p:sp>
        <p:nvSpPr>
          <p:cNvPr id="9" name="content">
            <a:extLst xmlns:a="http://schemas.openxmlformats.org/drawingml/2006/main">
              <a:ext uri="{FF2B5EF4-FFF2-40B4-BE49-F238E27FC236}">
                <a16:creationId xmlns:a16="http://schemas.microsoft.com/office/drawing/2014/main" id="{D7185E14-F62E-4ED6-A947-3DBCA4FB4E8D}"/>
              </a:ext>
            </a:extLst>
          </p:cNvPr>
          <p:cNvSpPr>
            <a:spLocks xmlns:a="http://schemas.openxmlformats.org/drawingml/2006/main" noGrp="1"/>
          </p:cNvSpPr>
          <p:nvPr/>
        </p:nvSpPr>
        <p:spPr>
          <a:xfrm xmlns:a="http://schemas.openxmlformats.org/drawingml/2006/main">
            <a:off x="6858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One source collection and read-only answers. Development and production in separate workload subscriptions.</a:t>
            </a:r>
          </a:p>
        </p:txBody>
      </p:sp>
      <p:sp>
        <p:nvSpPr>
          <p:cNvPr id="10" name="content">
            <a:extLst xmlns:a="http://schemas.openxmlformats.org/drawingml/2006/main">
              <a:ext uri="{FF2B5EF4-FFF2-40B4-BE49-F238E27FC236}">
                <a16:creationId xmlns:a16="http://schemas.microsoft.com/office/drawing/2014/main" id="{B17D4357-A0CF-46C3-A969-ED8E7D543325}"/>
              </a:ext>
            </a:extLst>
          </p:cNvPr>
          <p:cNvSpPr>
            <a:spLocks xmlns:a="http://schemas.openxmlformats.org/drawingml/2006/main" noGrp="1"/>
          </p:cNvSpPr>
          <p:nvPr/>
        </p:nvSpPr>
        <p:spPr>
          <a:xfrm xmlns:a="http://schemas.openxmlformats.org/drawingml/2006/main">
            <a:off x="64389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Customer outcome</a:t>
            </a:r>
          </a:p>
        </p:txBody>
      </p:sp>
      <p:sp>
        <p:nvSpPr>
          <p:cNvPr id="11" name="content">
            <a:extLst xmlns:a="http://schemas.openxmlformats.org/drawingml/2006/main">
              <a:ext uri="{FF2B5EF4-FFF2-40B4-BE49-F238E27FC236}">
                <a16:creationId xmlns:a16="http://schemas.microsoft.com/office/drawing/2014/main" id="{9DBF0DF6-2FAD-48D8-960C-6CA3D170A386}"/>
              </a:ext>
            </a:extLst>
          </p:cNvPr>
          <p:cNvSpPr>
            <a:spLocks xmlns:a="http://schemas.openxmlformats.org/drawingml/2006/main" noGrp="1"/>
          </p:cNvSpPr>
          <p:nvPr/>
        </p:nvSpPr>
        <p:spPr>
          <a:xfrm xmlns:a="http://schemas.openxmlformats.org/drawingml/2006/main">
            <a:off x="64389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A tested platform with access enforcement, repeatable releases and accepted operating ownership.</a:t>
            </a:r>
          </a:p>
        </p:txBody>
      </p:sp>
      <p:sp>
        <p:nvSpPr>
          <p:cNvPr id="12" name="content">
            <a:extLst xmlns:a="http://schemas.openxmlformats.org/drawingml/2006/main">
              <a:ext uri="{FF2B5EF4-FFF2-40B4-BE49-F238E27FC236}">
                <a16:creationId xmlns:a16="http://schemas.microsoft.com/office/drawing/2014/main" id="{7F8DA1C9-4264-4601-BD08-603C32C3B6E5}"/>
              </a:ext>
            </a:extLst>
          </p:cNvPr>
          <p:cNvSpPr>
            <a:spLocks xmlns:a="http://schemas.openxmlformats.org/drawingml/2006/main" noGrp="1"/>
          </p:cNvSpPr>
          <p:nvPr/>
        </p:nvSpPr>
        <p:spPr>
          <a:xfrm xmlns:a="http://schemas.openxmlformats.org/drawingml/2006/main">
            <a:off x="64389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Source assumption</a:t>
            </a:r>
          </a:p>
        </p:txBody>
      </p:sp>
      <p:sp>
        <p:nvSpPr>
          <p:cNvPr id="13" name="content">
            <a:extLst xmlns:a="http://schemas.openxmlformats.org/drawingml/2006/main">
              <a:ext uri="{FF2B5EF4-FFF2-40B4-BE49-F238E27FC236}">
                <a16:creationId xmlns:a16="http://schemas.microsoft.com/office/drawing/2014/main" id="{CA95E81A-61DF-490E-8D5A-02BBAD1A8E14}"/>
              </a:ext>
            </a:extLst>
          </p:cNvPr>
          <p:cNvSpPr>
            <a:spLocks xmlns:a="http://schemas.openxmlformats.org/drawingml/2006/main" noGrp="1"/>
          </p:cNvSpPr>
          <p:nvPr/>
        </p:nvSpPr>
        <p:spPr>
          <a:xfrm xmlns:a="http://schemas.openxmlformats.org/drawingml/2006/main">
            <a:off x="64389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Up to 10,000 text documents and 10M source tokens. 50 GB storage allowance. Approved ACL metadata. No OCR.</a:t>
            </a:r>
          </a:p>
        </p:txBody>
      </p:sp>
      <p:sp>
        <p:nvSpPr>
          <p:cNvPr id="14" name="content">
            <a:extLst xmlns:a="http://schemas.openxmlformats.org/drawingml/2006/main">
              <a:ext uri="{FF2B5EF4-FFF2-40B4-BE49-F238E27FC236}">
                <a16:creationId xmlns:a16="http://schemas.microsoft.com/office/drawing/2014/main" id="{7C992105-070A-42F5-8138-45B5C2F8FB80}"/>
              </a:ext>
            </a:extLst>
          </p:cNvPr>
          <p:cNvSpPr>
            <a:spLocks xmlns:a="http://schemas.openxmlformats.org/drawingml/2006/main" noGrp="1"/>
          </p:cNvSpPr>
          <p:nvPr/>
        </p:nvSpPr>
        <p:spPr>
          <a:xfrm xmlns:a="http://schemas.openxmlformats.org/drawingml/2006/main">
            <a:off x="64389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Decision status</a:t>
            </a:r>
          </a:p>
        </p:txBody>
      </p:sp>
      <p:sp>
        <p:nvSpPr>
          <p:cNvPr id="15" name="content">
            <a:extLst xmlns:a="http://schemas.openxmlformats.org/drawingml/2006/main">
              <a:ext uri="{FF2B5EF4-FFF2-40B4-BE49-F238E27FC236}">
                <a16:creationId xmlns:a16="http://schemas.microsoft.com/office/drawing/2014/main" id="{A5334154-BC41-47E2-BDCC-F23138969015}"/>
              </a:ext>
            </a:extLst>
          </p:cNvPr>
          <p:cNvSpPr>
            <a:spLocks xmlns:a="http://schemas.openxmlformats.org/drawingml/2006/main" noGrp="1"/>
          </p:cNvSpPr>
          <p:nvPr/>
        </p:nvSpPr>
        <p:spPr>
          <a:xfrm xmlns:a="http://schemas.openxmlformats.org/drawingml/2006/main">
            <a:off x="64389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Customer identity, source rights, model capacity and approved geography remain prerequisites.</a:t>
            </a:r>
          </a:p>
        </p:txBody>
      </p:sp>
      <p:sp>
        <p:nvSpPr>
          <p:cNvPr id="16" name="content">
            <a:extLst xmlns:a="http://schemas.openxmlformats.org/drawingml/2006/main">
              <a:ext uri="{FF2B5EF4-FFF2-40B4-BE49-F238E27FC236}">
                <a16:creationId xmlns:a16="http://schemas.microsoft.com/office/drawing/2014/main" id="{10ED40C8-E02B-48A8-8D7B-67518682DF69}"/>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Synthetic customer case. Extra sources, OCR, actions and region recovery require a change estimate.</a:t>
            </a:r>
          </a:p>
        </p:txBody>
      </p:sp>
      <p:sp>
        <p:nvSpPr>
          <p:cNvPr id="17" name="content">
            <a:extLst xmlns:a="http://schemas.openxmlformats.org/drawingml/2006/main">
              <a:ext uri="{FF2B5EF4-FFF2-40B4-BE49-F238E27FC236}">
                <a16:creationId xmlns:a16="http://schemas.microsoft.com/office/drawing/2014/main" id="{1ECFB374-AFD0-4C55-9540-CF057FE5BE0E}"/>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8" name="content">
            <a:extLst xmlns:a="http://schemas.openxmlformats.org/drawingml/2006/main">
              <a:ext uri="{FF2B5EF4-FFF2-40B4-BE49-F238E27FC236}">
                <a16:creationId xmlns:a16="http://schemas.microsoft.com/office/drawing/2014/main" id="{208842A2-8F8A-4318-8913-B693615513E4}"/>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02</a:t>
            </a:r>
          </a:p>
        </p:txBody>
      </p:sp>
    </p:spTree>
    <p:extLst>
      <p:ext uri="{BB962C8B-B14F-4D97-AF65-F5344CB8AC3E}">
        <p14:creationId xmlns:p14="http://schemas.microsoft.com/office/powerpoint/2010/main" val="5539165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8524693B-FA90-4461-8DB3-9447FA607EEB}"/>
              </a:ext>
            </a:extLst>
          </p:cNvPr>
          <p:cNvPicPr>
            <a:picLocks xmlns:a="http://schemas.openxmlformats.org/drawingml/2006/main" noChangeAspect="1"/>
          </p:cNvPicPr>
          <p:nvPr/>
        </p:nvPicPr>
        <p:blipFill>
          <a:blip xmlns:r="http://schemas.openxmlformats.org/officeDocument/2006/relationships" xmlns:a="http://schemas.openxmlformats.org/drawingml/2006/main" r:embed="Rf07b5182306c4e78"/>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D5D019E5-AE93-41CC-B2E0-64D9F978DDAC}"/>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CIS Infra / Solutioning proposal</a:t>
            </a:r>
          </a:p>
        </p:txBody>
      </p:sp>
      <p:sp>
        <p:nvSpPr>
          <p:cNvPr id="3" name="heading">
            <a:extLst xmlns:a="http://schemas.openxmlformats.org/drawingml/2006/main">
              <a:ext uri="{FF2B5EF4-FFF2-40B4-BE49-F238E27FC236}">
                <a16:creationId xmlns:a16="http://schemas.microsoft.com/office/drawing/2014/main" id="{ED6D1D0A-2FCA-4707-B6AE-4C256997FDFE}"/>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A custom RAG application is the selected route</a:t>
            </a:r>
          </a:p>
        </p:txBody>
      </p:sp>
      <p:sp>
        <p:nvSpPr>
          <p:cNvPr id="4" name="content">
            <a:extLst xmlns:a="http://schemas.openxmlformats.org/drawingml/2006/main">
              <a:ext uri="{FF2B5EF4-FFF2-40B4-BE49-F238E27FC236}">
                <a16:creationId xmlns:a16="http://schemas.microsoft.com/office/drawing/2014/main" id="{15D9110C-AC18-421B-A52D-B2CF37010B45}"/>
              </a:ext>
            </a:extLst>
          </p:cNvPr>
          <p:cNvSpPr>
            <a:spLocks xmlns:a="http://schemas.openxmlformats.org/drawingml/2006/main" noGrp="1"/>
          </p:cNvSpPr>
          <p:nvPr/>
        </p:nvSpPr>
        <p:spPr>
          <a:xfrm xmlns:a="http://schemas.openxmlformats.org/drawingml/2006/main">
            <a:off x="6858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Application runtime</a:t>
            </a:r>
          </a:p>
        </p:txBody>
      </p:sp>
      <p:sp>
        <p:nvSpPr>
          <p:cNvPr id="5" name="content">
            <a:extLst xmlns:a="http://schemas.openxmlformats.org/drawingml/2006/main">
              <a:ext uri="{FF2B5EF4-FFF2-40B4-BE49-F238E27FC236}">
                <a16:creationId xmlns:a16="http://schemas.microsoft.com/office/drawing/2014/main" id="{3161395A-E841-4C56-BCF2-A97EEEB909C3}"/>
              </a:ext>
            </a:extLst>
          </p:cNvPr>
          <p:cNvSpPr>
            <a:spLocks xmlns:a="http://schemas.openxmlformats.org/drawingml/2006/main" noGrp="1"/>
          </p:cNvSpPr>
          <p:nvPr/>
        </p:nvSpPr>
        <p:spPr>
          <a:xfrm xmlns:a="http://schemas.openxmlformats.org/drawingml/2006/main">
            <a:off x="6858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App Service hosts UI, API, ingestion job and the retrieval pipeline. No hosted agent runtime in this baseline.</a:t>
            </a:r>
          </a:p>
        </p:txBody>
      </p:sp>
      <p:sp>
        <p:nvSpPr>
          <p:cNvPr id="6" name="content">
            <a:extLst xmlns:a="http://schemas.openxmlformats.org/drawingml/2006/main">
              <a:ext uri="{FF2B5EF4-FFF2-40B4-BE49-F238E27FC236}">
                <a16:creationId xmlns:a16="http://schemas.microsoft.com/office/drawing/2014/main" id="{648D7979-89CA-4AB2-B92A-F4525EDEF175}"/>
              </a:ext>
            </a:extLst>
          </p:cNvPr>
          <p:cNvSpPr>
            <a:spLocks xmlns:a="http://schemas.openxmlformats.org/drawingml/2006/main" noGrp="1"/>
          </p:cNvSpPr>
          <p:nvPr/>
        </p:nvSpPr>
        <p:spPr>
          <a:xfrm xmlns:a="http://schemas.openxmlformats.org/drawingml/2006/main">
            <a:off x="6858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Model access</a:t>
            </a:r>
          </a:p>
        </p:txBody>
      </p:sp>
      <p:sp>
        <p:nvSpPr>
          <p:cNvPr id="7" name="content">
            <a:extLst xmlns:a="http://schemas.openxmlformats.org/drawingml/2006/main">
              <a:ext uri="{FF2B5EF4-FFF2-40B4-BE49-F238E27FC236}">
                <a16:creationId xmlns:a16="http://schemas.microsoft.com/office/drawing/2014/main" id="{41F37315-105B-47C9-BC52-510C9AAF2A7A}"/>
              </a:ext>
            </a:extLst>
          </p:cNvPr>
          <p:cNvSpPr>
            <a:spLocks xmlns:a="http://schemas.openxmlformats.org/drawingml/2006/main" noGrp="1"/>
          </p:cNvSpPr>
          <p:nvPr/>
        </p:nvSpPr>
        <p:spPr>
          <a:xfrm xmlns:a="http://schemas.openxmlformats.org/drawingml/2006/main">
            <a:off x="6858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Azure OpenAI in Foundry Models through the v1 GA API. Candidate GPT-4.1 and text-embedding-3-small.</a:t>
            </a:r>
          </a:p>
        </p:txBody>
      </p:sp>
      <p:sp>
        <p:nvSpPr>
          <p:cNvPr id="8" name="content">
            <a:extLst xmlns:a="http://schemas.openxmlformats.org/drawingml/2006/main">
              <a:ext uri="{FF2B5EF4-FFF2-40B4-BE49-F238E27FC236}">
                <a16:creationId xmlns:a16="http://schemas.microsoft.com/office/drawing/2014/main" id="{F65AB323-B890-4B9E-BD1E-75AED2DC50F5}"/>
              </a:ext>
            </a:extLst>
          </p:cNvPr>
          <p:cNvSpPr>
            <a:spLocks xmlns:a="http://schemas.openxmlformats.org/drawingml/2006/main" noGrp="1"/>
          </p:cNvSpPr>
          <p:nvPr/>
        </p:nvSpPr>
        <p:spPr>
          <a:xfrm xmlns:a="http://schemas.openxmlformats.org/drawingml/2006/main">
            <a:off x="6858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Data services</a:t>
            </a:r>
          </a:p>
        </p:txBody>
      </p:sp>
      <p:sp>
        <p:nvSpPr>
          <p:cNvPr id="9" name="content">
            <a:extLst xmlns:a="http://schemas.openxmlformats.org/drawingml/2006/main">
              <a:ext uri="{FF2B5EF4-FFF2-40B4-BE49-F238E27FC236}">
                <a16:creationId xmlns:a16="http://schemas.microsoft.com/office/drawing/2014/main" id="{2A5F56B3-8050-4CA7-853D-9AE5803FE7D9}"/>
              </a:ext>
            </a:extLst>
          </p:cNvPr>
          <p:cNvSpPr>
            <a:spLocks xmlns:a="http://schemas.openxmlformats.org/drawingml/2006/main" noGrp="1"/>
          </p:cNvSpPr>
          <p:nvPr/>
        </p:nvSpPr>
        <p:spPr>
          <a:xfrm xmlns:a="http://schemas.openxmlformats.org/drawingml/2006/main">
            <a:off x="6858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Azure AI Search stores document chunks and access metadata. Blob holds the approved source copy.</a:t>
            </a:r>
          </a:p>
        </p:txBody>
      </p:sp>
      <p:sp>
        <p:nvSpPr>
          <p:cNvPr id="10" name="content">
            <a:extLst xmlns:a="http://schemas.openxmlformats.org/drawingml/2006/main">
              <a:ext uri="{FF2B5EF4-FFF2-40B4-BE49-F238E27FC236}">
                <a16:creationId xmlns:a16="http://schemas.microsoft.com/office/drawing/2014/main" id="{4BA125C2-3283-445D-9E8B-4A6D7EF2AE33}"/>
              </a:ext>
            </a:extLst>
          </p:cNvPr>
          <p:cNvSpPr>
            <a:spLocks xmlns:a="http://schemas.openxmlformats.org/drawingml/2006/main" noGrp="1"/>
          </p:cNvSpPr>
          <p:nvPr/>
        </p:nvSpPr>
        <p:spPr>
          <a:xfrm xmlns:a="http://schemas.openxmlformats.org/drawingml/2006/main">
            <a:off x="64389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EU candidate</a:t>
            </a:r>
          </a:p>
        </p:txBody>
      </p:sp>
      <p:sp>
        <p:nvSpPr>
          <p:cNvPr id="11" name="content">
            <a:extLst xmlns:a="http://schemas.openxmlformats.org/drawingml/2006/main">
              <a:ext uri="{FF2B5EF4-FFF2-40B4-BE49-F238E27FC236}">
                <a16:creationId xmlns:a16="http://schemas.microsoft.com/office/drawing/2014/main" id="{FC7CA161-4EDF-41FC-8F23-F57FE3F5838F}"/>
              </a:ext>
            </a:extLst>
          </p:cNvPr>
          <p:cNvSpPr>
            <a:spLocks xmlns:a="http://schemas.openxmlformats.org/drawingml/2006/main" noGrp="1"/>
          </p:cNvSpPr>
          <p:nvPr/>
        </p:nvSpPr>
        <p:spPr>
          <a:xfrm xmlns:a="http://schemas.openxmlformats.org/drawingml/2006/main">
            <a:off x="64389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Sweden Central resources. Candidate chat uses EU Data Zone Standard; embeddings use a supported regional deployment.</a:t>
            </a:r>
          </a:p>
        </p:txBody>
      </p:sp>
      <p:sp>
        <p:nvSpPr>
          <p:cNvPr id="12" name="content">
            <a:extLst xmlns:a="http://schemas.openxmlformats.org/drawingml/2006/main">
              <a:ext uri="{FF2B5EF4-FFF2-40B4-BE49-F238E27FC236}">
                <a16:creationId xmlns:a16="http://schemas.microsoft.com/office/drawing/2014/main" id="{A8720F37-05C3-4E0C-80D6-04EB72A5EB59}"/>
              </a:ext>
            </a:extLst>
          </p:cNvPr>
          <p:cNvSpPr>
            <a:spLocks xmlns:a="http://schemas.openxmlformats.org/drawingml/2006/main" noGrp="1"/>
          </p:cNvSpPr>
          <p:nvPr/>
        </p:nvSpPr>
        <p:spPr>
          <a:xfrm xmlns:a="http://schemas.openxmlformats.org/drawingml/2006/main">
            <a:off x="64389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US candidate</a:t>
            </a:r>
          </a:p>
        </p:txBody>
      </p:sp>
      <p:sp>
        <p:nvSpPr>
          <p:cNvPr id="13" name="content">
            <a:extLst xmlns:a="http://schemas.openxmlformats.org/drawingml/2006/main">
              <a:ext uri="{FF2B5EF4-FFF2-40B4-BE49-F238E27FC236}">
                <a16:creationId xmlns:a16="http://schemas.microsoft.com/office/drawing/2014/main" id="{6CE483DF-3CD7-42C5-B0AA-691EFDC1AE95}"/>
              </a:ext>
            </a:extLst>
          </p:cNvPr>
          <p:cNvSpPr>
            <a:spLocks xmlns:a="http://schemas.openxmlformats.org/drawingml/2006/main" noGrp="1"/>
          </p:cNvSpPr>
          <p:nvPr/>
        </p:nvSpPr>
        <p:spPr>
          <a:xfrm xmlns:a="http://schemas.openxmlformats.org/drawingml/2006/main">
            <a:off x="64389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East US 2 resources. Candidate chat uses US Data Zone Standard; embeddings use a supported regional deployment.</a:t>
            </a:r>
          </a:p>
        </p:txBody>
      </p:sp>
      <p:sp>
        <p:nvSpPr>
          <p:cNvPr id="14" name="content">
            <a:extLst xmlns:a="http://schemas.openxmlformats.org/drawingml/2006/main">
              <a:ext uri="{FF2B5EF4-FFF2-40B4-BE49-F238E27FC236}">
                <a16:creationId xmlns:a16="http://schemas.microsoft.com/office/drawing/2014/main" id="{8B69D2AF-FD8D-4258-9AE3-1926D957DB48}"/>
              </a:ext>
            </a:extLst>
          </p:cNvPr>
          <p:cNvSpPr>
            <a:spLocks xmlns:a="http://schemas.openxmlformats.org/drawingml/2006/main" noGrp="1"/>
          </p:cNvSpPr>
          <p:nvPr/>
        </p:nvSpPr>
        <p:spPr>
          <a:xfrm xmlns:a="http://schemas.openxmlformats.org/drawingml/2006/main">
            <a:off x="64389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Approval boundary</a:t>
            </a:r>
          </a:p>
        </p:txBody>
      </p:sp>
      <p:sp>
        <p:nvSpPr>
          <p:cNvPr id="15" name="content">
            <a:extLst xmlns:a="http://schemas.openxmlformats.org/drawingml/2006/main">
              <a:ext uri="{FF2B5EF4-FFF2-40B4-BE49-F238E27FC236}">
                <a16:creationId xmlns:a16="http://schemas.microsoft.com/office/drawing/2014/main" id="{017112E7-EEE1-4973-8F17-108B9C5E8865}"/>
              </a:ext>
            </a:extLst>
          </p:cNvPr>
          <p:cNvSpPr>
            <a:spLocks xmlns:a="http://schemas.openxmlformats.org/drawingml/2006/main" noGrp="1"/>
          </p:cNvSpPr>
          <p:nvPr/>
        </p:nvSpPr>
        <p:spPr>
          <a:xfrm xmlns:a="http://schemas.openxmlformats.org/drawingml/2006/main">
            <a:off x="64389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Validate model version, deployment type, quota, private routes and lifecycle before ordering.</a:t>
            </a:r>
          </a:p>
        </p:txBody>
      </p:sp>
      <p:sp>
        <p:nvSpPr>
          <p:cNvPr id="16" name="content">
            <a:extLst xmlns:a="http://schemas.openxmlformats.org/drawingml/2006/main">
              <a:ext uri="{FF2B5EF4-FFF2-40B4-BE49-F238E27FC236}">
                <a16:creationId xmlns:a16="http://schemas.microsoft.com/office/drawing/2014/main" id="{F8D8020C-7951-41EE-98C2-B6C875595AF6}"/>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These are alternative customer patterns, not a two-region HA or DR commitment.</a:t>
            </a:r>
          </a:p>
        </p:txBody>
      </p:sp>
      <p:sp>
        <p:nvSpPr>
          <p:cNvPr id="17" name="content">
            <a:extLst xmlns:a="http://schemas.openxmlformats.org/drawingml/2006/main">
              <a:ext uri="{FF2B5EF4-FFF2-40B4-BE49-F238E27FC236}">
                <a16:creationId xmlns:a16="http://schemas.microsoft.com/office/drawing/2014/main" id="{DE7892E8-9DD9-4E83-BD3D-C9F6E4137AF2}"/>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8" name="content">
            <a:extLst xmlns:a="http://schemas.openxmlformats.org/drawingml/2006/main">
              <a:ext uri="{FF2B5EF4-FFF2-40B4-BE49-F238E27FC236}">
                <a16:creationId xmlns:a16="http://schemas.microsoft.com/office/drawing/2014/main" id="{F7EE21D4-4961-44BE-8467-7E34DE4B65DE}"/>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03</a:t>
            </a:r>
          </a:p>
        </p:txBody>
      </p:sp>
    </p:spTree>
    <p:extLst>
      <p:ext uri="{BB962C8B-B14F-4D97-AF65-F5344CB8AC3E}">
        <p14:creationId xmlns:p14="http://schemas.microsoft.com/office/powerpoint/2010/main" val="54436829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41403C58-7DBB-44C7-986D-F636F1B54F83}"/>
              </a:ext>
            </a:extLst>
          </p:cNvPr>
          <p:cNvCxnSpPr>
            <a:stCxn xmlns:a="http://schemas.openxmlformats.org/drawingml/2006/main" id="9" idx="1"/>
            <a:endCxn xmlns:a="http://schemas.openxmlformats.org/drawingml/2006/main" id="7" idx="3"/>
          </p:cNvCxnSpPr>
          <p:nvPr/>
        </p:nvCxnSpPr>
        <p:spPr>
          <a:xfrm xmlns:a="http://schemas.openxmlformats.org/drawingml/2006/main" flipH="1">
            <a:off x="7239000" y="4733925"/>
            <a:ext cx="1828800" cy="0"/>
          </a:xfrm>
          <a:prstGeom xmlns:a="http://schemas.openxmlformats.org/drawingml/2006/main" prst="straightConnector1">
            <a:avLst/>
          </a:prstGeom>
          <a:ln xmlns:a="http://schemas.openxmlformats.org/drawingml/2006/main" w="19050">
            <a:solidFill>
              <a:srgbClr val="2F78C4"/>
            </a:solidFill>
            <a:tailEnd type="arrow" w="med" len="med"/>
          </a:ln>
        </p:spPr>
      </p:cxnSp>
      <p:cxnSp>
        <p:nvCxnSpPr>
          <p:cNvPr id="14" name="">
            <a:extLst xmlns:a="http://schemas.openxmlformats.org/drawingml/2006/main">
              <a:ext uri="{FF2B5EF4-FFF2-40B4-BE49-F238E27FC236}">
                <a16:creationId xmlns:a16="http://schemas.microsoft.com/office/drawing/2014/main" id="{2CCB5567-78E1-44EF-8038-D35FA8B2BD50}"/>
              </a:ext>
            </a:extLst>
          </p:cNvPr>
          <p:cNvCxnSpPr>
            <a:stCxn xmlns:a="http://schemas.openxmlformats.org/drawingml/2006/main" id="9" idx="0"/>
            <a:endCxn xmlns:a="http://schemas.openxmlformats.org/drawingml/2006/main" id="6" idx="2"/>
          </p:cNvCxnSpPr>
          <p:nvPr/>
        </p:nvCxnSpPr>
        <p:spPr>
          <a:xfrm xmlns:a="http://schemas.openxmlformats.org/drawingml/2006/main" flipV="1">
            <a:off x="10287000" y="3114675"/>
            <a:ext cx="0" cy="1095375"/>
          </a:xfrm>
          <a:prstGeom xmlns:a="http://schemas.openxmlformats.org/drawingml/2006/main" prst="straightConnector1">
            <a:avLst/>
          </a:prstGeom>
          <a:ln xmlns:a="http://schemas.openxmlformats.org/drawingml/2006/main" w="19050">
            <a:solidFill>
              <a:srgbClr val="2F78C4"/>
            </a:solidFill>
            <a:tailEnd type="arrow" w="med" len="med"/>
          </a:ln>
        </p:spPr>
      </p:cxnSp>
      <p:cxnSp>
        <p:nvCxnSpPr>
          <p:cNvPr id="13" name="">
            <a:extLst xmlns:a="http://schemas.openxmlformats.org/drawingml/2006/main">
              <a:ext uri="{FF2B5EF4-FFF2-40B4-BE49-F238E27FC236}">
                <a16:creationId xmlns:a16="http://schemas.microsoft.com/office/drawing/2014/main" id="{3BB1C4EC-DA1B-49C2-AEC5-9476A888A3FC}"/>
              </a:ext>
            </a:extLst>
          </p:cNvPr>
          <p:cNvCxnSpPr>
            <a:stCxn xmlns:a="http://schemas.openxmlformats.org/drawingml/2006/main" id="5" idx="2"/>
            <a:endCxn xmlns:a="http://schemas.openxmlformats.org/drawingml/2006/main" id="7" idx="0"/>
          </p:cNvCxnSpPr>
          <p:nvPr/>
        </p:nvCxnSpPr>
        <p:spPr>
          <a:xfrm xmlns:a="http://schemas.openxmlformats.org/drawingml/2006/main">
            <a:off x="5691188" y="3419475"/>
            <a:ext cx="0" cy="790575"/>
          </a:xfrm>
          <a:prstGeom xmlns:a="http://schemas.openxmlformats.org/drawingml/2006/main" prst="straightConnector1">
            <a:avLst/>
          </a:prstGeom>
          <a:ln xmlns:a="http://schemas.openxmlformats.org/drawingml/2006/main" w="19050">
            <a:solidFill>
              <a:srgbClr val="2F78C4"/>
            </a:solidFill>
            <a:tailEnd type="arrow" w="med" len="med"/>
          </a:ln>
        </p:spPr>
      </p:cxnSp>
      <p:cxnSp>
        <p:nvCxnSpPr>
          <p:cNvPr id="12" name="">
            <a:extLst xmlns:a="http://schemas.openxmlformats.org/drawingml/2006/main">
              <a:ext uri="{FF2B5EF4-FFF2-40B4-BE49-F238E27FC236}">
                <a16:creationId xmlns:a16="http://schemas.microsoft.com/office/drawing/2014/main" id="{96CD9A4B-F464-41DA-AFAF-665705395B4E}"/>
              </a:ext>
            </a:extLst>
          </p:cNvPr>
          <p:cNvCxnSpPr>
            <a:stCxn xmlns:a="http://schemas.openxmlformats.org/drawingml/2006/main" id="5" idx="3"/>
            <a:endCxn xmlns:a="http://schemas.openxmlformats.org/drawingml/2006/main" id="6" idx="1"/>
          </p:cNvCxnSpPr>
          <p:nvPr/>
        </p:nvCxnSpPr>
        <p:spPr>
          <a:xfrm xmlns:a="http://schemas.openxmlformats.org/drawingml/2006/main" flipV="1">
            <a:off x="7239000" y="2676525"/>
            <a:ext cx="1828800" cy="152400"/>
          </a:xfrm>
          <a:prstGeom xmlns:a="http://schemas.openxmlformats.org/drawingml/2006/main" prst="straightConnector1">
            <a:avLst/>
          </a:prstGeom>
          <a:ln xmlns:a="http://schemas.openxmlformats.org/drawingml/2006/main" w="19050">
            <a:solidFill>
              <a:srgbClr val="2F78C4"/>
            </a:solidFill>
            <a:tailEnd type="arrow" w="med" len="med"/>
          </a:ln>
        </p:spPr>
      </p:cxnSp>
      <p:cxnSp>
        <p:nvCxnSpPr>
          <p:cNvPr id="11" name="">
            <a:extLst xmlns:a="http://schemas.openxmlformats.org/drawingml/2006/main">
              <a:ext uri="{FF2B5EF4-FFF2-40B4-BE49-F238E27FC236}">
                <a16:creationId xmlns:a16="http://schemas.microsoft.com/office/drawing/2014/main" id="{AD45CA4F-B6F8-46FF-A1A8-0733239E35A5}"/>
              </a:ext>
            </a:extLst>
          </p:cNvPr>
          <p:cNvCxnSpPr>
            <a:stCxn xmlns:a="http://schemas.openxmlformats.org/drawingml/2006/main" id="8" idx="0"/>
            <a:endCxn xmlns:a="http://schemas.openxmlformats.org/drawingml/2006/main" id="4" idx="2"/>
          </p:cNvCxnSpPr>
          <p:nvPr/>
        </p:nvCxnSpPr>
        <p:spPr>
          <a:xfrm xmlns:a="http://schemas.openxmlformats.org/drawingml/2006/main" flipV="1">
            <a:off x="1876425" y="3114675"/>
            <a:ext cx="0" cy="1143000"/>
          </a:xfrm>
          <a:prstGeom xmlns:a="http://schemas.openxmlformats.org/drawingml/2006/main" prst="straightConnector1">
            <a:avLst/>
          </a:prstGeom>
          <a:ln xmlns:a="http://schemas.openxmlformats.org/drawingml/2006/main" w="19050">
            <a:solidFill>
              <a:srgbClr val="2F78C4"/>
            </a:solidFill>
            <a:tailEnd type="arrow" w="med" len="med"/>
          </a:ln>
        </p:spPr>
      </p:cxnSp>
      <p:cxnSp>
        <p:nvCxnSpPr>
          <p:cNvPr id="10" name="">
            <a:extLst xmlns:a="http://schemas.openxmlformats.org/drawingml/2006/main">
              <a:ext uri="{FF2B5EF4-FFF2-40B4-BE49-F238E27FC236}">
                <a16:creationId xmlns:a16="http://schemas.microsoft.com/office/drawing/2014/main" id="{83BE17D6-DC77-4559-877A-29BDEC292010}"/>
              </a:ext>
            </a:extLst>
          </p:cNvPr>
          <p:cNvCxnSpPr>
            <a:stCxn xmlns:a="http://schemas.openxmlformats.org/drawingml/2006/main" id="4" idx="3"/>
            <a:endCxn xmlns:a="http://schemas.openxmlformats.org/drawingml/2006/main" id="5" idx="1"/>
          </p:cNvCxnSpPr>
          <p:nvPr/>
        </p:nvCxnSpPr>
        <p:spPr>
          <a:xfrm xmlns:a="http://schemas.openxmlformats.org/drawingml/2006/main">
            <a:off x="3067050" y="2676525"/>
            <a:ext cx="1076325" cy="152400"/>
          </a:xfrm>
          <a:prstGeom xmlns:a="http://schemas.openxmlformats.org/drawingml/2006/main" prst="straightConnector1">
            <a:avLst/>
          </a:prstGeom>
          <a:ln xmlns:a="http://schemas.openxmlformats.org/drawingml/2006/main" w="19050">
            <a:solidFill>
              <a:srgbClr val="2F78C4"/>
            </a:solidFill>
            <a:tailEnd type="arrow" w="med" len="med"/>
          </a:ln>
        </p:spPr>
      </p:cxnSp>
      <p:pic>
        <p:nvPicPr>
          <p:cNvPr id="25" name="">
            <a:extLst xmlns:a="http://schemas.openxmlformats.org/drawingml/2006/main">
              <a:ext uri="{FF2B5EF4-FFF2-40B4-BE49-F238E27FC236}">
                <a16:creationId xmlns:a16="http://schemas.microsoft.com/office/drawing/2014/main" id="{6B55A108-E053-4E33-8FEA-C67C07663814}"/>
              </a:ext>
            </a:extLst>
          </p:cNvPr>
          <p:cNvPicPr>
            <a:picLocks xmlns:a="http://schemas.openxmlformats.org/drawingml/2006/main" noChangeAspect="1"/>
          </p:cNvPicPr>
          <p:nvPr/>
        </p:nvPicPr>
        <p:blipFill>
          <a:blip xmlns:r="http://schemas.openxmlformats.org/officeDocument/2006/relationships" xmlns:a="http://schemas.openxmlformats.org/drawingml/2006/main" r:embed="R885c4ef96d724d96"/>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867F38E8-EFE8-4BB1-8D9D-9E10D5A60460}"/>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CIS Infra / Solutioning proposal</a:t>
            </a:r>
          </a:p>
        </p:txBody>
      </p:sp>
      <p:sp>
        <p:nvSpPr>
          <p:cNvPr id="3" name="heading">
            <a:extLst xmlns:a="http://schemas.openxmlformats.org/drawingml/2006/main">
              <a:ext uri="{FF2B5EF4-FFF2-40B4-BE49-F238E27FC236}">
                <a16:creationId xmlns:a16="http://schemas.microsoft.com/office/drawing/2014/main" id="{5BE2A602-4AF8-4E9E-9311-BD0564E649C0}"/>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Authorized retrieval precedes answer generation</a:t>
            </a:r>
          </a:p>
        </p:txBody>
      </p:sp>
      <p:sp>
        <p:nvSpPr>
          <p:cNvPr id="4" name="Employee client&#10;Enterprise private access">
            <a:extLst xmlns:a="http://schemas.openxmlformats.org/drawingml/2006/main">
              <a:ext uri="{FF2B5EF4-FFF2-40B4-BE49-F238E27FC236}">
                <a16:creationId xmlns:a16="http://schemas.microsoft.com/office/drawing/2014/main" id="{D2EE54AC-1CC3-4B83-8BF4-00B89B4F6BDA}"/>
              </a:ext>
            </a:extLst>
          </p:cNvPr>
          <p:cNvSpPr>
            <a:spLocks xmlns:a="http://schemas.openxmlformats.org/drawingml/2006/main" noGrp="1"/>
          </p:cNvSpPr>
          <p:nvPr/>
        </p:nvSpPr>
        <p:spPr>
          <a:xfrm xmlns:a="http://schemas.openxmlformats.org/drawingml/2006/main">
            <a:off x="685800" y="2238375"/>
            <a:ext cx="2381250" cy="876300"/>
          </a:xfrm>
          <a:prstGeom xmlns:a="http://schemas.openxmlformats.org/drawingml/2006/main" prst="rect">
            <a:avLst/>
          </a:prstGeom>
          <a:solidFill xmlns:a="http://schemas.openxmlformats.org/drawingml/2006/main">
            <a:srgbClr val="F5F5F2"/>
          </a:solidFill>
          <a:ln xmlns:a="http://schemas.openxmlformats.org/drawingml/2006/main" w="14288">
            <a:solidFill>
              <a:srgbClr val="2F78C4"/>
            </a:solidFill>
          </a:ln>
        </p:spPr>
        <p:txBody>
          <a:bodyPr xmlns:a="http://schemas.openxmlformats.org/drawingml/2006/main" anchor="ctr"/>
          <a:lstStyle xmlns:a="http://schemas.openxmlformats.org/drawingml/2006/main">
            <a:defPPr algn="ctr">
              <a:defRPr sz="1800">
                <a:solidFill>
                  <a:srgbClr val="000048"/>
                </a:solidFill>
              </a:defRPr>
            </a:defPPr>
          </a:lstStyle>
          <a:p xmlns:a="http://schemas.openxmlformats.org/drawingml/2006/main">
            <a:pPr algn="ctr">
              <a:defRPr sz="1800">
                <a:solidFill>
                  <a:srgbClr val="000048"/>
                </a:solidFill>
              </a:defRPr>
            </a:pPr>
            <a:r>
              <a:rPr sz="1800">
                <a:solidFill>
                  <a:srgbClr val="000048"/>
                </a:solidFill>
              </a:rPr>
              <a:t>Employee client</a:t>
            </a:r>
          </a:p>
          <a:p xmlns:a="http://schemas.openxmlformats.org/drawingml/2006/main">
            <a:pPr algn="ctr">
              <a:defRPr sz="1800">
                <a:solidFill>
                  <a:srgbClr val="000048"/>
                </a:solidFill>
              </a:defRPr>
            </a:pPr>
            <a:r>
              <a:rPr sz="1800">
                <a:solidFill>
                  <a:srgbClr val="000048"/>
                </a:solidFill>
              </a:rPr>
              <a:t>Enterprise private access</a:t>
            </a:r>
          </a:p>
        </p:txBody>
      </p:sp>
      <p:sp>
        <p:nvSpPr>
          <p:cNvPr id="5" name="App Service UI / API&#10;RAG orchestration&#10;Permission enforcement">
            <a:extLst xmlns:a="http://schemas.openxmlformats.org/drawingml/2006/main">
              <a:ext uri="{FF2B5EF4-FFF2-40B4-BE49-F238E27FC236}">
                <a16:creationId xmlns:a16="http://schemas.microsoft.com/office/drawing/2014/main" id="{AE3698A3-4A6A-4DE6-965E-E149D89C9864}"/>
              </a:ext>
            </a:extLst>
          </p:cNvPr>
          <p:cNvSpPr>
            <a:spLocks xmlns:a="http://schemas.openxmlformats.org/drawingml/2006/main" noGrp="1"/>
          </p:cNvSpPr>
          <p:nvPr/>
        </p:nvSpPr>
        <p:spPr>
          <a:xfrm xmlns:a="http://schemas.openxmlformats.org/drawingml/2006/main">
            <a:off x="4143375" y="2238375"/>
            <a:ext cx="3095625" cy="1181100"/>
          </a:xfrm>
          <a:prstGeom xmlns:a="http://schemas.openxmlformats.org/drawingml/2006/main" prst="rect">
            <a:avLst/>
          </a:prstGeom>
          <a:solidFill xmlns:a="http://schemas.openxmlformats.org/drawingml/2006/main">
            <a:srgbClr val="F5F5F2"/>
          </a:solidFill>
          <a:ln xmlns:a="http://schemas.openxmlformats.org/drawingml/2006/main" w="14288">
            <a:solidFill>
              <a:srgbClr val="2F78C4"/>
            </a:solidFill>
          </a:ln>
        </p:spPr>
        <p:txBody>
          <a:bodyPr xmlns:a="http://schemas.openxmlformats.org/drawingml/2006/main" anchor="ctr"/>
          <a:lstStyle xmlns:a="http://schemas.openxmlformats.org/drawingml/2006/main">
            <a:defPPr algn="ctr">
              <a:defRPr sz="1800">
                <a:solidFill>
                  <a:srgbClr val="000048"/>
                </a:solidFill>
              </a:defRPr>
            </a:defPPr>
          </a:lstStyle>
          <a:p xmlns:a="http://schemas.openxmlformats.org/drawingml/2006/main">
            <a:pPr algn="ctr">
              <a:defRPr sz="1800">
                <a:solidFill>
                  <a:srgbClr val="000048"/>
                </a:solidFill>
              </a:defRPr>
            </a:pPr>
            <a:r>
              <a:rPr sz="1800">
                <a:solidFill>
                  <a:srgbClr val="000048"/>
                </a:solidFill>
              </a:rPr>
              <a:t>App Service UI / API</a:t>
            </a:r>
          </a:p>
          <a:p xmlns:a="http://schemas.openxmlformats.org/drawingml/2006/main">
            <a:pPr algn="ctr">
              <a:defRPr sz="1800">
                <a:solidFill>
                  <a:srgbClr val="000048"/>
                </a:solidFill>
              </a:defRPr>
            </a:pPr>
            <a:r>
              <a:rPr sz="1800">
                <a:solidFill>
                  <a:srgbClr val="000048"/>
                </a:solidFill>
              </a:rPr>
              <a:t>RAG orchestration</a:t>
            </a:r>
          </a:p>
          <a:p xmlns:a="http://schemas.openxmlformats.org/drawingml/2006/main">
            <a:pPr algn="ctr">
              <a:defRPr sz="1800">
                <a:solidFill>
                  <a:srgbClr val="000048"/>
                </a:solidFill>
              </a:defRPr>
            </a:pPr>
            <a:r>
              <a:rPr sz="1800">
                <a:solidFill>
                  <a:srgbClr val="000048"/>
                </a:solidFill>
              </a:rPr>
              <a:t>Permission enforcement</a:t>
            </a:r>
          </a:p>
        </p:txBody>
      </p:sp>
      <p:sp>
        <p:nvSpPr>
          <p:cNvPr id="6" name="Azure AI Search&#10;Chunks + ACL metadata">
            <a:extLst xmlns:a="http://schemas.openxmlformats.org/drawingml/2006/main">
              <a:ext uri="{FF2B5EF4-FFF2-40B4-BE49-F238E27FC236}">
                <a16:creationId xmlns:a16="http://schemas.microsoft.com/office/drawing/2014/main" id="{51A8B631-23AA-44F3-9B72-3C594C27FCC9}"/>
              </a:ext>
            </a:extLst>
          </p:cNvPr>
          <p:cNvSpPr>
            <a:spLocks xmlns:a="http://schemas.openxmlformats.org/drawingml/2006/main" noGrp="1"/>
          </p:cNvSpPr>
          <p:nvPr/>
        </p:nvSpPr>
        <p:spPr>
          <a:xfrm xmlns:a="http://schemas.openxmlformats.org/drawingml/2006/main">
            <a:off x="9067800" y="2238375"/>
            <a:ext cx="2438400" cy="876300"/>
          </a:xfrm>
          <a:prstGeom xmlns:a="http://schemas.openxmlformats.org/drawingml/2006/main" prst="rect">
            <a:avLst/>
          </a:prstGeom>
          <a:solidFill xmlns:a="http://schemas.openxmlformats.org/drawingml/2006/main">
            <a:srgbClr val="F5F5F2"/>
          </a:solidFill>
          <a:ln xmlns:a="http://schemas.openxmlformats.org/drawingml/2006/main" w="14288">
            <a:solidFill>
              <a:srgbClr val="2F78C4"/>
            </a:solidFill>
          </a:ln>
        </p:spPr>
        <p:txBody>
          <a:bodyPr xmlns:a="http://schemas.openxmlformats.org/drawingml/2006/main" anchor="ctr"/>
          <a:lstStyle xmlns:a="http://schemas.openxmlformats.org/drawingml/2006/main">
            <a:defPPr algn="ctr">
              <a:defRPr sz="1800">
                <a:solidFill>
                  <a:srgbClr val="000048"/>
                </a:solidFill>
              </a:defRPr>
            </a:defPPr>
          </a:lstStyle>
          <a:p xmlns:a="http://schemas.openxmlformats.org/drawingml/2006/main">
            <a:pPr algn="ctr">
              <a:defRPr sz="1800">
                <a:solidFill>
                  <a:srgbClr val="000048"/>
                </a:solidFill>
              </a:defRPr>
            </a:pPr>
            <a:r>
              <a:rPr sz="1800">
                <a:solidFill>
                  <a:srgbClr val="000048"/>
                </a:solidFill>
              </a:rPr>
              <a:t>Azure AI Search</a:t>
            </a:r>
          </a:p>
          <a:p xmlns:a="http://schemas.openxmlformats.org/drawingml/2006/main">
            <a:pPr algn="ctr">
              <a:defRPr sz="1800">
                <a:solidFill>
                  <a:srgbClr val="000048"/>
                </a:solidFill>
              </a:defRPr>
            </a:pPr>
            <a:r>
              <a:rPr sz="1800">
                <a:solidFill>
                  <a:srgbClr val="000048"/>
                </a:solidFill>
              </a:rPr>
              <a:t>Chunks + ACL metadata</a:t>
            </a:r>
          </a:p>
        </p:txBody>
      </p:sp>
      <p:sp>
        <p:nvSpPr>
          <p:cNvPr id="7" name="Azure OpenAI&#10;Chat + embeddings">
            <a:extLst xmlns:a="http://schemas.openxmlformats.org/drawingml/2006/main">
              <a:ext uri="{FF2B5EF4-FFF2-40B4-BE49-F238E27FC236}">
                <a16:creationId xmlns:a16="http://schemas.microsoft.com/office/drawing/2014/main" id="{EEB751BB-54F9-450A-98F3-C7A70BED7E3C}"/>
              </a:ext>
            </a:extLst>
          </p:cNvPr>
          <p:cNvSpPr>
            <a:spLocks xmlns:a="http://schemas.openxmlformats.org/drawingml/2006/main" noGrp="1"/>
          </p:cNvSpPr>
          <p:nvPr/>
        </p:nvSpPr>
        <p:spPr>
          <a:xfrm xmlns:a="http://schemas.openxmlformats.org/drawingml/2006/main">
            <a:off x="4143375" y="4210050"/>
            <a:ext cx="3095625" cy="1047750"/>
          </a:xfrm>
          <a:prstGeom xmlns:a="http://schemas.openxmlformats.org/drawingml/2006/main" prst="rect">
            <a:avLst/>
          </a:prstGeom>
          <a:solidFill xmlns:a="http://schemas.openxmlformats.org/drawingml/2006/main">
            <a:srgbClr val="F5F5F2"/>
          </a:solidFill>
          <a:ln xmlns:a="http://schemas.openxmlformats.org/drawingml/2006/main" w="14288">
            <a:solidFill>
              <a:srgbClr val="2F78C4"/>
            </a:solidFill>
          </a:ln>
        </p:spPr>
        <p:txBody>
          <a:bodyPr xmlns:a="http://schemas.openxmlformats.org/drawingml/2006/main" anchor="ctr"/>
          <a:lstStyle xmlns:a="http://schemas.openxmlformats.org/drawingml/2006/main">
            <a:defPPr algn="ctr">
              <a:defRPr sz="1800">
                <a:solidFill>
                  <a:srgbClr val="000048"/>
                </a:solidFill>
              </a:defRPr>
            </a:defPPr>
          </a:lstStyle>
          <a:p xmlns:a="http://schemas.openxmlformats.org/drawingml/2006/main">
            <a:pPr algn="ctr">
              <a:defRPr sz="1800">
                <a:solidFill>
                  <a:srgbClr val="000048"/>
                </a:solidFill>
              </a:defRPr>
            </a:pPr>
            <a:r>
              <a:rPr sz="1800">
                <a:solidFill>
                  <a:srgbClr val="000048"/>
                </a:solidFill>
              </a:rPr>
              <a:t>Azure OpenAI</a:t>
            </a:r>
          </a:p>
          <a:p xmlns:a="http://schemas.openxmlformats.org/drawingml/2006/main">
            <a:pPr algn="ctr">
              <a:defRPr sz="1800">
                <a:solidFill>
                  <a:srgbClr val="000048"/>
                </a:solidFill>
              </a:defRPr>
            </a:pPr>
            <a:r>
              <a:rPr sz="1800">
                <a:solidFill>
                  <a:srgbClr val="000048"/>
                </a:solidFill>
              </a:rPr>
              <a:t>Chat + embeddings</a:t>
            </a:r>
          </a:p>
        </p:txBody>
      </p:sp>
      <p:sp>
        <p:nvSpPr>
          <p:cNvPr id="8" name="Microsoft Entra ID&#10;User authentication">
            <a:extLst xmlns:a="http://schemas.openxmlformats.org/drawingml/2006/main">
              <a:ext uri="{FF2B5EF4-FFF2-40B4-BE49-F238E27FC236}">
                <a16:creationId xmlns:a16="http://schemas.microsoft.com/office/drawing/2014/main" id="{A3A8C3DF-BC15-400A-9AEF-0DB38EDF54FE}"/>
              </a:ext>
            </a:extLst>
          </p:cNvPr>
          <p:cNvSpPr>
            <a:spLocks xmlns:a="http://schemas.openxmlformats.org/drawingml/2006/main" noGrp="1"/>
          </p:cNvSpPr>
          <p:nvPr/>
        </p:nvSpPr>
        <p:spPr>
          <a:xfrm xmlns:a="http://schemas.openxmlformats.org/drawingml/2006/main">
            <a:off x="685800" y="4257675"/>
            <a:ext cx="2381250" cy="828675"/>
          </a:xfrm>
          <a:prstGeom xmlns:a="http://schemas.openxmlformats.org/drawingml/2006/main" prst="rect">
            <a:avLst/>
          </a:prstGeom>
          <a:solidFill xmlns:a="http://schemas.openxmlformats.org/drawingml/2006/main">
            <a:srgbClr val="F5F5F2"/>
          </a:solidFill>
          <a:ln xmlns:a="http://schemas.openxmlformats.org/drawingml/2006/main" w="14288">
            <a:solidFill>
              <a:srgbClr val="2F78C4"/>
            </a:solidFill>
          </a:ln>
        </p:spPr>
        <p:txBody>
          <a:bodyPr xmlns:a="http://schemas.openxmlformats.org/drawingml/2006/main" anchor="ctr"/>
          <a:lstStyle xmlns:a="http://schemas.openxmlformats.org/drawingml/2006/main">
            <a:defPPr algn="ctr">
              <a:defRPr sz="1800">
                <a:solidFill>
                  <a:srgbClr val="000048"/>
                </a:solidFill>
              </a:defRPr>
            </a:defPPr>
          </a:lstStyle>
          <a:p xmlns:a="http://schemas.openxmlformats.org/drawingml/2006/main">
            <a:pPr algn="ctr">
              <a:defRPr sz="1800">
                <a:solidFill>
                  <a:srgbClr val="000048"/>
                </a:solidFill>
              </a:defRPr>
            </a:pPr>
            <a:r>
              <a:rPr sz="1800">
                <a:solidFill>
                  <a:srgbClr val="000048"/>
                </a:solidFill>
              </a:rPr>
              <a:t>Microsoft Entra ID</a:t>
            </a:r>
          </a:p>
          <a:p xmlns:a="http://schemas.openxmlformats.org/drawingml/2006/main">
            <a:pPr algn="ctr">
              <a:defRPr sz="1800">
                <a:solidFill>
                  <a:srgbClr val="000048"/>
                </a:solidFill>
              </a:defRPr>
            </a:pPr>
            <a:r>
              <a:rPr sz="1800">
                <a:solidFill>
                  <a:srgbClr val="000048"/>
                </a:solidFill>
              </a:rPr>
              <a:t>User authentication</a:t>
            </a:r>
          </a:p>
        </p:txBody>
      </p:sp>
      <p:sp>
        <p:nvSpPr>
          <p:cNvPr id="9" name="Scoped ingestion job&#10;Approved Blob copy&#10;Chunk, embed, index">
            <a:extLst xmlns:a="http://schemas.openxmlformats.org/drawingml/2006/main">
              <a:ext uri="{FF2B5EF4-FFF2-40B4-BE49-F238E27FC236}">
                <a16:creationId xmlns:a16="http://schemas.microsoft.com/office/drawing/2014/main" id="{DA548CD1-A905-4B36-80AE-404C4BEFBD6C}"/>
              </a:ext>
            </a:extLst>
          </p:cNvPr>
          <p:cNvSpPr>
            <a:spLocks xmlns:a="http://schemas.openxmlformats.org/drawingml/2006/main" noGrp="1"/>
          </p:cNvSpPr>
          <p:nvPr/>
        </p:nvSpPr>
        <p:spPr>
          <a:xfrm xmlns:a="http://schemas.openxmlformats.org/drawingml/2006/main">
            <a:off x="9067800" y="4210050"/>
            <a:ext cx="2438400" cy="1047750"/>
          </a:xfrm>
          <a:prstGeom xmlns:a="http://schemas.openxmlformats.org/drawingml/2006/main" prst="rect">
            <a:avLst/>
          </a:prstGeom>
          <a:solidFill xmlns:a="http://schemas.openxmlformats.org/drawingml/2006/main">
            <a:srgbClr val="F5F5F2"/>
          </a:solidFill>
          <a:ln xmlns:a="http://schemas.openxmlformats.org/drawingml/2006/main" w="14288">
            <a:solidFill>
              <a:srgbClr val="2F78C4"/>
            </a:solidFill>
          </a:ln>
        </p:spPr>
        <p:txBody>
          <a:bodyPr xmlns:a="http://schemas.openxmlformats.org/drawingml/2006/main" anchor="ctr"/>
          <a:lstStyle xmlns:a="http://schemas.openxmlformats.org/drawingml/2006/main">
            <a:defPPr algn="ctr">
              <a:defRPr sz="1800">
                <a:solidFill>
                  <a:srgbClr val="000048"/>
                </a:solidFill>
              </a:defRPr>
            </a:defPPr>
          </a:lstStyle>
          <a:p xmlns:a="http://schemas.openxmlformats.org/drawingml/2006/main">
            <a:pPr algn="ctr">
              <a:defRPr sz="1800">
                <a:solidFill>
                  <a:srgbClr val="000048"/>
                </a:solidFill>
              </a:defRPr>
            </a:pPr>
            <a:r>
              <a:rPr sz="1800">
                <a:solidFill>
                  <a:srgbClr val="000048"/>
                </a:solidFill>
              </a:rPr>
              <a:t>Scoped ingestion job</a:t>
            </a:r>
          </a:p>
          <a:p xmlns:a="http://schemas.openxmlformats.org/drawingml/2006/main">
            <a:pPr algn="ctr">
              <a:defRPr sz="1800">
                <a:solidFill>
                  <a:srgbClr val="000048"/>
                </a:solidFill>
              </a:defRPr>
            </a:pPr>
            <a:r>
              <a:rPr sz="1800">
                <a:solidFill>
                  <a:srgbClr val="000048"/>
                </a:solidFill>
              </a:rPr>
              <a:t>Approved Blob copy</a:t>
            </a:r>
          </a:p>
          <a:p xmlns:a="http://schemas.openxmlformats.org/drawingml/2006/main">
            <a:pPr algn="ctr">
              <a:defRPr sz="1800">
                <a:solidFill>
                  <a:srgbClr val="000048"/>
                </a:solidFill>
              </a:defRPr>
            </a:pPr>
            <a:r>
              <a:rPr sz="1800">
                <a:solidFill>
                  <a:srgbClr val="000048"/>
                </a:solidFill>
              </a:rPr>
              <a:t>Chunk, embed, index</a:t>
            </a:r>
          </a:p>
        </p:txBody>
      </p:sp>
      <p:sp>
        <p:nvSpPr>
          <p:cNvPr id="16" name="content">
            <a:extLst xmlns:a="http://schemas.openxmlformats.org/drawingml/2006/main">
              <a:ext uri="{FF2B5EF4-FFF2-40B4-BE49-F238E27FC236}">
                <a16:creationId xmlns:a16="http://schemas.microsoft.com/office/drawing/2014/main" id="{47863105-8134-4449-A7BA-BC0F1D14E32E}"/>
              </a:ext>
            </a:extLst>
          </p:cNvPr>
          <p:cNvSpPr>
            <a:spLocks xmlns:a="http://schemas.openxmlformats.org/drawingml/2006/main" noGrp="1"/>
          </p:cNvSpPr>
          <p:nvPr/>
        </p:nvSpPr>
        <p:spPr>
          <a:xfrm xmlns:a="http://schemas.openxmlformats.org/drawingml/2006/main">
            <a:off x="3209925" y="2409825"/>
            <a:ext cx="923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1  request</a:t>
            </a:r>
          </a:p>
        </p:txBody>
      </p:sp>
      <p:sp>
        <p:nvSpPr>
          <p:cNvPr id="17" name="content">
            <a:extLst xmlns:a="http://schemas.openxmlformats.org/drawingml/2006/main">
              <a:ext uri="{FF2B5EF4-FFF2-40B4-BE49-F238E27FC236}">
                <a16:creationId xmlns:a16="http://schemas.microsoft.com/office/drawing/2014/main" id="{E1B206F5-692F-49A7-B268-3C2F262FF07F}"/>
              </a:ext>
            </a:extLst>
          </p:cNvPr>
          <p:cNvSpPr>
            <a:spLocks xmlns:a="http://schemas.openxmlformats.org/drawingml/2006/main" noGrp="1"/>
          </p:cNvSpPr>
          <p:nvPr/>
        </p:nvSpPr>
        <p:spPr>
          <a:xfrm xmlns:a="http://schemas.openxmlformats.org/drawingml/2006/main">
            <a:off x="7315200" y="2333625"/>
            <a:ext cx="1695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2  filtered query</a:t>
            </a:r>
          </a:p>
        </p:txBody>
      </p:sp>
      <p:sp>
        <p:nvSpPr>
          <p:cNvPr id="18" name="content">
            <a:extLst xmlns:a="http://schemas.openxmlformats.org/drawingml/2006/main">
              <a:ext uri="{FF2B5EF4-FFF2-40B4-BE49-F238E27FC236}">
                <a16:creationId xmlns:a16="http://schemas.microsoft.com/office/drawing/2014/main" id="{58F64C95-81E6-4667-9F6F-2FE8B80BA44F}"/>
              </a:ext>
            </a:extLst>
          </p:cNvPr>
          <p:cNvSpPr>
            <a:spLocks xmlns:a="http://schemas.openxmlformats.org/drawingml/2006/main" noGrp="1"/>
          </p:cNvSpPr>
          <p:nvPr/>
        </p:nvSpPr>
        <p:spPr>
          <a:xfrm xmlns:a="http://schemas.openxmlformats.org/drawingml/2006/main">
            <a:off x="5905500" y="36385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3  model calls</a:t>
            </a:r>
          </a:p>
        </p:txBody>
      </p:sp>
      <p:sp>
        <p:nvSpPr>
          <p:cNvPr id="19" name="content">
            <a:extLst xmlns:a="http://schemas.openxmlformats.org/drawingml/2006/main">
              <a:ext uri="{FF2B5EF4-FFF2-40B4-BE49-F238E27FC236}">
                <a16:creationId xmlns:a16="http://schemas.microsoft.com/office/drawing/2014/main" id="{A984CDBB-F899-4229-90A1-B1463A92B182}"/>
              </a:ext>
            </a:extLst>
          </p:cNvPr>
          <p:cNvSpPr>
            <a:spLocks xmlns:a="http://schemas.openxmlformats.org/drawingml/2006/main" noGrp="1"/>
          </p:cNvSpPr>
          <p:nvPr/>
        </p:nvSpPr>
        <p:spPr>
          <a:xfrm xmlns:a="http://schemas.openxmlformats.org/drawingml/2006/main">
            <a:off x="10382250" y="3600450"/>
            <a:ext cx="1123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4  ingest</a:t>
            </a:r>
          </a:p>
        </p:txBody>
      </p:sp>
      <p:sp>
        <p:nvSpPr>
          <p:cNvPr id="20" name="content">
            <a:extLst xmlns:a="http://schemas.openxmlformats.org/drawingml/2006/main">
              <a:ext uri="{FF2B5EF4-FFF2-40B4-BE49-F238E27FC236}">
                <a16:creationId xmlns:a16="http://schemas.microsoft.com/office/drawing/2014/main" id="{88377C3A-5299-4C93-9CA2-2965F7870004}"/>
              </a:ext>
            </a:extLst>
          </p:cNvPr>
          <p:cNvSpPr>
            <a:spLocks xmlns:a="http://schemas.openxmlformats.org/drawingml/2006/main" noGrp="1"/>
          </p:cNvSpPr>
          <p:nvPr/>
        </p:nvSpPr>
        <p:spPr>
          <a:xfrm xmlns:a="http://schemas.openxmlformats.org/drawingml/2006/main">
            <a:off x="7362825" y="4419600"/>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4  embeddings</a:t>
            </a:r>
          </a:p>
        </p:txBody>
      </p:sp>
      <p:sp>
        <p:nvSpPr>
          <p:cNvPr id="21" name="content">
            <a:extLst xmlns:a="http://schemas.openxmlformats.org/drawingml/2006/main">
              <a:ext uri="{FF2B5EF4-FFF2-40B4-BE49-F238E27FC236}">
                <a16:creationId xmlns:a16="http://schemas.microsoft.com/office/drawing/2014/main" id="{4FBA5E78-4794-4729-B3FD-73A083C6F596}"/>
              </a:ext>
            </a:extLst>
          </p:cNvPr>
          <p:cNvSpPr>
            <a:spLocks xmlns:a="http://schemas.openxmlformats.org/drawingml/2006/main" noGrp="1"/>
          </p:cNvSpPr>
          <p:nvPr/>
        </p:nvSpPr>
        <p:spPr>
          <a:xfrm xmlns:a="http://schemas.openxmlformats.org/drawingml/2006/main">
            <a:off x="685800" y="57054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2F78C4"/>
                </a:solidFill>
              </a:defRPr>
            </a:defPPr>
          </a:lstStyle>
          <a:p xmlns:a="http://schemas.openxmlformats.org/drawingml/2006/main">
            <a:pPr>
              <a:defRPr sz="1650" b="0">
                <a:solidFill>
                  <a:srgbClr val="2F78C4"/>
                </a:solidFill>
              </a:defRPr>
            </a:pPr>
            <a:r>
              <a:rPr sz="1650" b="0">
                <a:solidFill>
                  <a:srgbClr val="2F78C4"/>
                </a:solidFill>
              </a:rPr>
              <a:t>5  Redacted telemetry, request IDs and cost metrics to Azure Monitor</a:t>
            </a:r>
          </a:p>
        </p:txBody>
      </p:sp>
      <p:sp>
        <p:nvSpPr>
          <p:cNvPr id="22" name="content">
            <a:extLst xmlns:a="http://schemas.openxmlformats.org/drawingml/2006/main">
              <a:ext uri="{FF2B5EF4-FFF2-40B4-BE49-F238E27FC236}">
                <a16:creationId xmlns:a16="http://schemas.microsoft.com/office/drawing/2014/main" id="{DFA65473-1AD4-4B43-8D62-1314C92198E2}"/>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Proposed logical design. Numbered flows are explained on the next slide.</a:t>
            </a:r>
          </a:p>
        </p:txBody>
      </p:sp>
      <p:sp>
        <p:nvSpPr>
          <p:cNvPr id="23" name="content">
            <a:extLst xmlns:a="http://schemas.openxmlformats.org/drawingml/2006/main">
              <a:ext uri="{FF2B5EF4-FFF2-40B4-BE49-F238E27FC236}">
                <a16:creationId xmlns:a16="http://schemas.microsoft.com/office/drawing/2014/main" id="{F79312B5-C616-40B3-9D70-EF69131812DC}"/>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24" name="content">
            <a:extLst xmlns:a="http://schemas.openxmlformats.org/drawingml/2006/main">
              <a:ext uri="{FF2B5EF4-FFF2-40B4-BE49-F238E27FC236}">
                <a16:creationId xmlns:a16="http://schemas.microsoft.com/office/drawing/2014/main" id="{CF319A92-4514-4275-AFED-861D1E2ACA31}"/>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04</a:t>
            </a:r>
          </a:p>
        </p:txBody>
      </p:sp>
    </p:spTree>
    <p:extLst>
      <p:ext uri="{BB962C8B-B14F-4D97-AF65-F5344CB8AC3E}">
        <p14:creationId xmlns:p14="http://schemas.microsoft.com/office/powerpoint/2010/main" val="149704926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30D7ACCB-3E87-494E-8FFE-8C53291C1DDB}"/>
              </a:ext>
            </a:extLst>
          </p:cNvPr>
          <p:cNvPicPr>
            <a:picLocks xmlns:a="http://schemas.openxmlformats.org/drawingml/2006/main" noChangeAspect="1"/>
          </p:cNvPicPr>
          <p:nvPr/>
        </p:nvPicPr>
        <p:blipFill>
          <a:blip xmlns:r="http://schemas.openxmlformats.org/officeDocument/2006/relationships" xmlns:a="http://schemas.openxmlformats.org/drawingml/2006/main" r:embed="R83af40d959314cc1"/>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8D492025-0897-48E1-93BF-953598C09ED5}"/>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CIS Infra / Solutioning proposal</a:t>
            </a:r>
          </a:p>
        </p:txBody>
      </p:sp>
      <p:sp>
        <p:nvSpPr>
          <p:cNvPr id="3" name="heading">
            <a:extLst xmlns:a="http://schemas.openxmlformats.org/drawingml/2006/main">
              <a:ext uri="{FF2B5EF4-FFF2-40B4-BE49-F238E27FC236}">
                <a16:creationId xmlns:a16="http://schemas.microsoft.com/office/drawing/2014/main" id="{DA41589C-53AD-4BD2-B74C-E8A7464A40C9}"/>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Five flows define the solution boundary</a:t>
            </a:r>
          </a:p>
        </p:txBody>
      </p:sp>
      <p:sp>
        <p:nvSpPr>
          <p:cNvPr id="4" name="content">
            <a:extLst xmlns:a="http://schemas.openxmlformats.org/drawingml/2006/main">
              <a:ext uri="{FF2B5EF4-FFF2-40B4-BE49-F238E27FC236}">
                <a16:creationId xmlns:a16="http://schemas.microsoft.com/office/drawing/2014/main" id="{5632E571-7F78-4AEE-A7DB-CA8C745594F8}"/>
              </a:ext>
            </a:extLst>
          </p:cNvPr>
          <p:cNvSpPr>
            <a:spLocks xmlns:a="http://schemas.openxmlformats.org/drawingml/2006/main" noGrp="1"/>
          </p:cNvSpPr>
          <p:nvPr/>
        </p:nvSpPr>
        <p:spPr>
          <a:xfrm xmlns:a="http://schemas.openxmlformats.org/drawingml/2006/main">
            <a:off x="6858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1 / sign-in and request</a:t>
            </a:r>
          </a:p>
        </p:txBody>
      </p:sp>
      <p:sp>
        <p:nvSpPr>
          <p:cNvPr id="5" name="content">
            <a:extLst xmlns:a="http://schemas.openxmlformats.org/drawingml/2006/main">
              <a:ext uri="{FF2B5EF4-FFF2-40B4-BE49-F238E27FC236}">
                <a16:creationId xmlns:a16="http://schemas.microsoft.com/office/drawing/2014/main" id="{05E9E73A-1BCA-4244-B133-5B5A049CD2A2}"/>
              </a:ext>
            </a:extLst>
          </p:cNvPr>
          <p:cNvSpPr>
            <a:spLocks xmlns:a="http://schemas.openxmlformats.org/drawingml/2006/main" noGrp="1"/>
          </p:cNvSpPr>
          <p:nvPr/>
        </p:nvSpPr>
        <p:spPr>
          <a:xfrm xmlns:a="http://schemas.openxmlformats.org/drawingml/2006/main">
            <a:off x="6858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The client authenticates with Entra ID and reaches the private application through existing enterprise connectivity.</a:t>
            </a:r>
          </a:p>
        </p:txBody>
      </p:sp>
      <p:sp>
        <p:nvSpPr>
          <p:cNvPr id="6" name="content">
            <a:extLst xmlns:a="http://schemas.openxmlformats.org/drawingml/2006/main">
              <a:ext uri="{FF2B5EF4-FFF2-40B4-BE49-F238E27FC236}">
                <a16:creationId xmlns:a16="http://schemas.microsoft.com/office/drawing/2014/main" id="{7B4E4798-C0AD-4456-A033-84FBCFD2F8E8}"/>
              </a:ext>
            </a:extLst>
          </p:cNvPr>
          <p:cNvSpPr>
            <a:spLocks xmlns:a="http://schemas.openxmlformats.org/drawingml/2006/main" noGrp="1"/>
          </p:cNvSpPr>
          <p:nvPr/>
        </p:nvSpPr>
        <p:spPr>
          <a:xfrm xmlns:a="http://schemas.openxmlformats.org/drawingml/2006/main">
            <a:off x="6858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2 / authorized retrieval</a:t>
            </a:r>
          </a:p>
        </p:txBody>
      </p:sp>
      <p:sp>
        <p:nvSpPr>
          <p:cNvPr id="7" name="content">
            <a:extLst xmlns:a="http://schemas.openxmlformats.org/drawingml/2006/main">
              <a:ext uri="{FF2B5EF4-FFF2-40B4-BE49-F238E27FC236}">
                <a16:creationId xmlns:a16="http://schemas.microsoft.com/office/drawing/2014/main" id="{209A53C7-E279-45A3-95D2-AFAF6C3B96CF}"/>
              </a:ext>
            </a:extLst>
          </p:cNvPr>
          <p:cNvSpPr>
            <a:spLocks xmlns:a="http://schemas.openxmlformats.org/drawingml/2006/main" noGrp="1"/>
          </p:cNvSpPr>
          <p:nvPr/>
        </p:nvSpPr>
        <p:spPr>
          <a:xfrm xmlns:a="http://schemas.openxmlformats.org/drawingml/2006/main">
            <a:off x="6858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The API resolves the approved user/group scope, applies a mandatory document filter and requests permitted chunks.</a:t>
            </a:r>
          </a:p>
        </p:txBody>
      </p:sp>
      <p:sp>
        <p:nvSpPr>
          <p:cNvPr id="8" name="content">
            <a:extLst xmlns:a="http://schemas.openxmlformats.org/drawingml/2006/main">
              <a:ext uri="{FF2B5EF4-FFF2-40B4-BE49-F238E27FC236}">
                <a16:creationId xmlns:a16="http://schemas.microsoft.com/office/drawing/2014/main" id="{D170BA96-AC05-4084-A1AD-1194B17B7BA6}"/>
              </a:ext>
            </a:extLst>
          </p:cNvPr>
          <p:cNvSpPr>
            <a:spLocks xmlns:a="http://schemas.openxmlformats.org/drawingml/2006/main" noGrp="1"/>
          </p:cNvSpPr>
          <p:nvPr/>
        </p:nvSpPr>
        <p:spPr>
          <a:xfrm xmlns:a="http://schemas.openxmlformats.org/drawingml/2006/main">
            <a:off x="6858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3 / model generation</a:t>
            </a:r>
          </a:p>
        </p:txBody>
      </p:sp>
      <p:sp>
        <p:nvSpPr>
          <p:cNvPr id="9" name="content">
            <a:extLst xmlns:a="http://schemas.openxmlformats.org/drawingml/2006/main">
              <a:ext uri="{FF2B5EF4-FFF2-40B4-BE49-F238E27FC236}">
                <a16:creationId xmlns:a16="http://schemas.microsoft.com/office/drawing/2014/main" id="{D76E8A56-9247-4522-BE42-B06396431C8F}"/>
              </a:ext>
            </a:extLst>
          </p:cNvPr>
          <p:cNvSpPr>
            <a:spLocks xmlns:a="http://schemas.openxmlformats.org/drawingml/2006/main" noGrp="1"/>
          </p:cNvSpPr>
          <p:nvPr/>
        </p:nvSpPr>
        <p:spPr>
          <a:xfrm xmlns:a="http://schemas.openxmlformats.org/drawingml/2006/main">
            <a:off x="6858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The API sends authorized context and the prompt to the model. It returns the answer and allowed citations.</a:t>
            </a:r>
          </a:p>
        </p:txBody>
      </p:sp>
      <p:sp>
        <p:nvSpPr>
          <p:cNvPr id="10" name="content">
            <a:extLst xmlns:a="http://schemas.openxmlformats.org/drawingml/2006/main">
              <a:ext uri="{FF2B5EF4-FFF2-40B4-BE49-F238E27FC236}">
                <a16:creationId xmlns:a16="http://schemas.microsoft.com/office/drawing/2014/main" id="{92025135-4AC0-4401-9EFB-0379A9741B2B}"/>
              </a:ext>
            </a:extLst>
          </p:cNvPr>
          <p:cNvSpPr>
            <a:spLocks xmlns:a="http://schemas.openxmlformats.org/drawingml/2006/main" noGrp="1"/>
          </p:cNvSpPr>
          <p:nvPr/>
        </p:nvSpPr>
        <p:spPr>
          <a:xfrm xmlns:a="http://schemas.openxmlformats.org/drawingml/2006/main">
            <a:off x="64389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4 / source ingestion</a:t>
            </a:r>
          </a:p>
        </p:txBody>
      </p:sp>
      <p:sp>
        <p:nvSpPr>
          <p:cNvPr id="11" name="content">
            <a:extLst xmlns:a="http://schemas.openxmlformats.org/drawingml/2006/main">
              <a:ext uri="{FF2B5EF4-FFF2-40B4-BE49-F238E27FC236}">
                <a16:creationId xmlns:a16="http://schemas.microsoft.com/office/drawing/2014/main" id="{ECB333BC-FF57-4905-ACB5-813476344DD9}"/>
              </a:ext>
            </a:extLst>
          </p:cNvPr>
          <p:cNvSpPr>
            <a:spLocks xmlns:a="http://schemas.openxmlformats.org/drawingml/2006/main" noGrp="1"/>
          </p:cNvSpPr>
          <p:nvPr/>
        </p:nvSpPr>
        <p:spPr>
          <a:xfrm xmlns:a="http://schemas.openxmlformats.org/drawingml/2006/main">
            <a:off x="64389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The ingestion identity reads approved Blob content and writes chunks, embeddings and ACL metadata to Search.</a:t>
            </a:r>
          </a:p>
        </p:txBody>
      </p:sp>
      <p:sp>
        <p:nvSpPr>
          <p:cNvPr id="12" name="content">
            <a:extLst xmlns:a="http://schemas.openxmlformats.org/drawingml/2006/main">
              <a:ext uri="{FF2B5EF4-FFF2-40B4-BE49-F238E27FC236}">
                <a16:creationId xmlns:a16="http://schemas.microsoft.com/office/drawing/2014/main" id="{5ACB9D6E-ECEA-4543-B9F8-1D7D7F660B86}"/>
              </a:ext>
            </a:extLst>
          </p:cNvPr>
          <p:cNvSpPr>
            <a:spLocks xmlns:a="http://schemas.openxmlformats.org/drawingml/2006/main" noGrp="1"/>
          </p:cNvSpPr>
          <p:nvPr/>
        </p:nvSpPr>
        <p:spPr>
          <a:xfrm xmlns:a="http://schemas.openxmlformats.org/drawingml/2006/main">
            <a:off x="64389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5 / operational evidence</a:t>
            </a:r>
          </a:p>
        </p:txBody>
      </p:sp>
      <p:sp>
        <p:nvSpPr>
          <p:cNvPr id="13" name="content">
            <a:extLst xmlns:a="http://schemas.openxmlformats.org/drawingml/2006/main">
              <a:ext uri="{FF2B5EF4-FFF2-40B4-BE49-F238E27FC236}">
                <a16:creationId xmlns:a16="http://schemas.microsoft.com/office/drawing/2014/main" id="{BE4555AC-DFB3-4729-AA30-6313F4C4BF96}"/>
              </a:ext>
            </a:extLst>
          </p:cNvPr>
          <p:cNvSpPr>
            <a:spLocks xmlns:a="http://schemas.openxmlformats.org/drawingml/2006/main" noGrp="1"/>
          </p:cNvSpPr>
          <p:nvPr/>
        </p:nvSpPr>
        <p:spPr>
          <a:xfrm xmlns:a="http://schemas.openxmlformats.org/drawingml/2006/main">
            <a:off x="64389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Request IDs and redacted metrics flow to monitoring. Raw source content and prompts are off by default.</a:t>
            </a:r>
          </a:p>
        </p:txBody>
      </p:sp>
      <p:sp>
        <p:nvSpPr>
          <p:cNvPr id="14" name="content">
            <a:extLst xmlns:a="http://schemas.openxmlformats.org/drawingml/2006/main">
              <a:ext uri="{FF2B5EF4-FFF2-40B4-BE49-F238E27FC236}">
                <a16:creationId xmlns:a16="http://schemas.microsoft.com/office/drawing/2014/main" id="{81FE899F-37B4-48BE-B1A3-115A3C0DF080}"/>
              </a:ext>
            </a:extLst>
          </p:cNvPr>
          <p:cNvSpPr>
            <a:spLocks xmlns:a="http://schemas.openxmlformats.org/drawingml/2006/main" noGrp="1"/>
          </p:cNvSpPr>
          <p:nvPr/>
        </p:nvSpPr>
        <p:spPr>
          <a:xfrm xmlns:a="http://schemas.openxmlformats.org/drawingml/2006/main">
            <a:off x="64389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Excluded flow</a:t>
            </a:r>
          </a:p>
        </p:txBody>
      </p:sp>
      <p:sp>
        <p:nvSpPr>
          <p:cNvPr id="15" name="content">
            <a:extLst xmlns:a="http://schemas.openxmlformats.org/drawingml/2006/main">
              <a:ext uri="{FF2B5EF4-FFF2-40B4-BE49-F238E27FC236}">
                <a16:creationId xmlns:a16="http://schemas.microsoft.com/office/drawing/2014/main" id="{67CB4ED5-DB0C-40F4-BCDF-6BCA3BA80495}"/>
              </a:ext>
            </a:extLst>
          </p:cNvPr>
          <p:cNvSpPr>
            <a:spLocks xmlns:a="http://schemas.openxmlformats.org/drawingml/2006/main" noGrp="1"/>
          </p:cNvSpPr>
          <p:nvPr/>
        </p:nvSpPr>
        <p:spPr>
          <a:xfrm xmlns:a="http://schemas.openxmlformats.org/drawingml/2006/main">
            <a:off x="64389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No autonomous tool execution, MCP tools, shared semantic cache or unrestricted source browsing.</a:t>
            </a:r>
          </a:p>
        </p:txBody>
      </p:sp>
      <p:sp>
        <p:nvSpPr>
          <p:cNvPr id="16" name="content">
            <a:extLst xmlns:a="http://schemas.openxmlformats.org/drawingml/2006/main">
              <a:ext uri="{FF2B5EF4-FFF2-40B4-BE49-F238E27FC236}">
                <a16:creationId xmlns:a16="http://schemas.microsoft.com/office/drawing/2014/main" id="{561CCCF1-D133-4FB0-8A18-8C9C69E90C84}"/>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The app generates query embeddings before vector retrieval. Citation links must enforce source access.</a:t>
            </a:r>
          </a:p>
        </p:txBody>
      </p:sp>
      <p:sp>
        <p:nvSpPr>
          <p:cNvPr id="17" name="content">
            <a:extLst xmlns:a="http://schemas.openxmlformats.org/drawingml/2006/main">
              <a:ext uri="{FF2B5EF4-FFF2-40B4-BE49-F238E27FC236}">
                <a16:creationId xmlns:a16="http://schemas.microsoft.com/office/drawing/2014/main" id="{195D9C14-0C90-4379-A68B-57A8DE0E5664}"/>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8" name="content">
            <a:extLst xmlns:a="http://schemas.openxmlformats.org/drawingml/2006/main">
              <a:ext uri="{FF2B5EF4-FFF2-40B4-BE49-F238E27FC236}">
                <a16:creationId xmlns:a16="http://schemas.microsoft.com/office/drawing/2014/main" id="{86863842-EEC5-4119-BA67-94DD106F5F04}"/>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05</a:t>
            </a:r>
          </a:p>
        </p:txBody>
      </p:sp>
    </p:spTree>
    <p:extLst>
      <p:ext uri="{BB962C8B-B14F-4D97-AF65-F5344CB8AC3E}">
        <p14:creationId xmlns:p14="http://schemas.microsoft.com/office/powerpoint/2010/main" val="4293211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9767045E-2E07-4361-8489-9A6A20AEBF04}"/>
              </a:ext>
            </a:extLst>
          </p:cNvPr>
          <p:cNvCxnSpPr>
            <a:stCxn xmlns:a="http://schemas.openxmlformats.org/drawingml/2006/main" id="12" idx="0"/>
            <a:endCxn xmlns:a="http://schemas.openxmlformats.org/drawingml/2006/main" id="8" idx="2"/>
          </p:cNvCxnSpPr>
          <p:nvPr/>
        </p:nvCxnSpPr>
        <p:spPr>
          <a:xfrm xmlns:a="http://schemas.openxmlformats.org/drawingml/2006/main" flipV="1">
            <a:off x="6162675" y="3686175"/>
            <a:ext cx="0" cy="762000"/>
          </a:xfrm>
          <a:prstGeom xmlns:a="http://schemas.openxmlformats.org/drawingml/2006/main" prst="straightConnector1">
            <a:avLst/>
          </a:prstGeom>
          <a:ln xmlns:a="http://schemas.openxmlformats.org/drawingml/2006/main" w="19050">
            <a:solidFill>
              <a:srgbClr val="2F78C4"/>
            </a:solidFill>
            <a:tailEnd type="arrow" w="med" len="med"/>
          </a:ln>
        </p:spPr>
      </p:cxnSp>
      <p:cxnSp>
        <p:nvCxnSpPr>
          <p:cNvPr id="11" name="">
            <a:extLst xmlns:a="http://schemas.openxmlformats.org/drawingml/2006/main">
              <a:ext uri="{FF2B5EF4-FFF2-40B4-BE49-F238E27FC236}">
                <a16:creationId xmlns:a16="http://schemas.microsoft.com/office/drawing/2014/main" id="{237D81CB-19B8-44A3-BADE-D97F7AC4D3A1}"/>
              </a:ext>
            </a:extLst>
          </p:cNvPr>
          <p:cNvCxnSpPr>
            <a:stCxn xmlns:a="http://schemas.openxmlformats.org/drawingml/2006/main" id="8" idx="3"/>
            <a:endCxn xmlns:a="http://schemas.openxmlformats.org/drawingml/2006/main" id="9" idx="1"/>
          </p:cNvCxnSpPr>
          <p:nvPr/>
        </p:nvCxnSpPr>
        <p:spPr>
          <a:xfrm xmlns:a="http://schemas.openxmlformats.org/drawingml/2006/main">
            <a:off x="7829550" y="3090863"/>
            <a:ext cx="876300" cy="0"/>
          </a:xfrm>
          <a:prstGeom xmlns:a="http://schemas.openxmlformats.org/drawingml/2006/main" prst="straightConnector1">
            <a:avLst/>
          </a:prstGeom>
          <a:ln xmlns:a="http://schemas.openxmlformats.org/drawingml/2006/main" w="19050">
            <a:solidFill>
              <a:srgbClr val="2F78C4"/>
            </a:solidFill>
            <a:tailEnd type="arrow" w="med" len="med"/>
          </a:ln>
        </p:spPr>
      </p:cxnSp>
      <p:cxnSp>
        <p:nvCxnSpPr>
          <p:cNvPr id="10" name="">
            <a:extLst xmlns:a="http://schemas.openxmlformats.org/drawingml/2006/main">
              <a:ext uri="{FF2B5EF4-FFF2-40B4-BE49-F238E27FC236}">
                <a16:creationId xmlns:a16="http://schemas.microsoft.com/office/drawing/2014/main" id="{5243FCFE-7CA0-4F62-8B3F-BEAE17AAB308}"/>
              </a:ext>
            </a:extLst>
          </p:cNvPr>
          <p:cNvCxnSpPr>
            <a:stCxn xmlns:a="http://schemas.openxmlformats.org/drawingml/2006/main" id="7" idx="3"/>
            <a:endCxn xmlns:a="http://schemas.openxmlformats.org/drawingml/2006/main" id="8" idx="1"/>
          </p:cNvCxnSpPr>
          <p:nvPr/>
        </p:nvCxnSpPr>
        <p:spPr>
          <a:xfrm xmlns:a="http://schemas.openxmlformats.org/drawingml/2006/main">
            <a:off x="3733800" y="3090863"/>
            <a:ext cx="762000" cy="0"/>
          </a:xfrm>
          <a:prstGeom xmlns:a="http://schemas.openxmlformats.org/drawingml/2006/main" prst="straightConnector1">
            <a:avLst/>
          </a:prstGeom>
          <a:ln xmlns:a="http://schemas.openxmlformats.org/drawingml/2006/main" w="19050">
            <a:solidFill>
              <a:srgbClr val="2F78C4"/>
            </a:solidFill>
            <a:tailEnd type="arrow" w="med" len="med"/>
          </a:ln>
        </p:spPr>
      </p:cxnSp>
      <p:pic>
        <p:nvPicPr>
          <p:cNvPr id="20" name="">
            <a:extLst xmlns:a="http://schemas.openxmlformats.org/drawingml/2006/main">
              <a:ext uri="{FF2B5EF4-FFF2-40B4-BE49-F238E27FC236}">
                <a16:creationId xmlns:a16="http://schemas.microsoft.com/office/drawing/2014/main" id="{D789534D-3BE1-4545-B90C-ADB6F91D245B}"/>
              </a:ext>
            </a:extLst>
          </p:cNvPr>
          <p:cNvPicPr>
            <a:picLocks xmlns:a="http://schemas.openxmlformats.org/drawingml/2006/main" noChangeAspect="1"/>
          </p:cNvPicPr>
          <p:nvPr/>
        </p:nvPicPr>
        <p:blipFill>
          <a:blip xmlns:r="http://schemas.openxmlformats.org/officeDocument/2006/relationships" xmlns:a="http://schemas.openxmlformats.org/drawingml/2006/main" r:embed="Rcc48c0e6a6d04b6e"/>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0BEC5908-EFBA-49D1-95BC-D50C8BCEC6FD}"/>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CIS Infra / Solutioning proposal</a:t>
            </a:r>
          </a:p>
        </p:txBody>
      </p:sp>
      <p:sp>
        <p:nvSpPr>
          <p:cNvPr id="3" name="heading">
            <a:extLst xmlns:a="http://schemas.openxmlformats.org/drawingml/2006/main">
              <a:ext uri="{FF2B5EF4-FFF2-40B4-BE49-F238E27FC236}">
                <a16:creationId xmlns:a16="http://schemas.microsoft.com/office/drawing/2014/main" id="{A617E3D5-8089-44D8-BF3D-700553DD67F0}"/>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The workload reuses approved enterprise connectivity</a:t>
            </a:r>
          </a:p>
        </p:txBody>
      </p:sp>
      <p:sp>
        <p:nvSpPr>
          <p:cNvPr id="4" name="content">
            <a:extLst xmlns:a="http://schemas.openxmlformats.org/drawingml/2006/main">
              <a:ext uri="{FF2B5EF4-FFF2-40B4-BE49-F238E27FC236}">
                <a16:creationId xmlns:a16="http://schemas.microsoft.com/office/drawing/2014/main" id="{57358351-CFAD-47E6-B801-86E2C8E67CD8}"/>
              </a:ext>
            </a:extLst>
          </p:cNvPr>
          <p:cNvSpPr>
            <a:spLocks xmlns:a="http://schemas.openxmlformats.org/drawingml/2006/main" noGrp="1"/>
          </p:cNvSpPr>
          <p:nvPr/>
        </p:nvSpPr>
        <p:spPr>
          <a:xfrm xmlns:a="http://schemas.openxmlformats.org/drawingml/2006/main">
            <a:off x="685800" y="18669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F78C4"/>
                </a:solidFill>
              </a:defRPr>
            </a:defPPr>
          </a:lstStyle>
          <a:p xmlns:a="http://schemas.openxmlformats.org/drawingml/2006/main">
            <a:pPr>
              <a:defRPr sz="1800" b="1">
                <a:solidFill>
                  <a:srgbClr val="2F78C4"/>
                </a:solidFill>
              </a:defRPr>
            </a:pPr>
            <a:r>
              <a:rPr sz="1800" b="1">
                <a:solidFill>
                  <a:srgbClr val="2F78C4"/>
                </a:solidFill>
              </a:rPr>
              <a:t>Shared platform / existing</a:t>
            </a:r>
          </a:p>
        </p:txBody>
      </p:sp>
      <p:sp>
        <p:nvSpPr>
          <p:cNvPr id="5" name="content">
            <a:extLst xmlns:a="http://schemas.openxmlformats.org/drawingml/2006/main">
              <a:ext uri="{FF2B5EF4-FFF2-40B4-BE49-F238E27FC236}">
                <a16:creationId xmlns:a16="http://schemas.microsoft.com/office/drawing/2014/main" id="{16C96277-D643-4454-B920-094635FDC9C6}"/>
              </a:ext>
            </a:extLst>
          </p:cNvPr>
          <p:cNvSpPr>
            <a:spLocks xmlns:a="http://schemas.openxmlformats.org/drawingml/2006/main" noGrp="1"/>
          </p:cNvSpPr>
          <p:nvPr/>
        </p:nvSpPr>
        <p:spPr>
          <a:xfrm xmlns:a="http://schemas.openxmlformats.org/drawingml/2006/main">
            <a:off x="4495800" y="18669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F78C4"/>
                </a:solidFill>
              </a:defRPr>
            </a:defPPr>
          </a:lstStyle>
          <a:p xmlns:a="http://schemas.openxmlformats.org/drawingml/2006/main">
            <a:pPr>
              <a:defRPr sz="1800" b="1">
                <a:solidFill>
                  <a:srgbClr val="2F78C4"/>
                </a:solidFill>
              </a:defRPr>
            </a:pPr>
            <a:r>
              <a:rPr sz="1800" b="1">
                <a:solidFill>
                  <a:srgbClr val="2F78C4"/>
                </a:solidFill>
              </a:rPr>
              <a:t>Workload / per environment</a:t>
            </a:r>
          </a:p>
        </p:txBody>
      </p:sp>
      <p:sp>
        <p:nvSpPr>
          <p:cNvPr id="6" name="content">
            <a:extLst xmlns:a="http://schemas.openxmlformats.org/drawingml/2006/main">
              <a:ext uri="{FF2B5EF4-FFF2-40B4-BE49-F238E27FC236}">
                <a16:creationId xmlns:a16="http://schemas.microsoft.com/office/drawing/2014/main" id="{891715A6-B270-48A6-83AF-1B00C59A4837}"/>
              </a:ext>
            </a:extLst>
          </p:cNvPr>
          <p:cNvSpPr>
            <a:spLocks xmlns:a="http://schemas.openxmlformats.org/drawingml/2006/main" noGrp="1"/>
          </p:cNvSpPr>
          <p:nvPr/>
        </p:nvSpPr>
        <p:spPr>
          <a:xfrm xmlns:a="http://schemas.openxmlformats.org/drawingml/2006/main">
            <a:off x="8705850" y="1866900"/>
            <a:ext cx="2800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F78C4"/>
                </a:solidFill>
              </a:defRPr>
            </a:defPPr>
          </a:lstStyle>
          <a:p xmlns:a="http://schemas.openxmlformats.org/drawingml/2006/main">
            <a:pPr>
              <a:defRPr sz="1800" b="1">
                <a:solidFill>
                  <a:srgbClr val="2F78C4"/>
                </a:solidFill>
              </a:defRPr>
            </a:pPr>
            <a:r>
              <a:rPr sz="1800" b="1">
                <a:solidFill>
                  <a:srgbClr val="2F78C4"/>
                </a:solidFill>
              </a:rPr>
              <a:t>Private service endpoints</a:t>
            </a:r>
          </a:p>
        </p:txBody>
      </p:sp>
      <p:sp>
        <p:nvSpPr>
          <p:cNvPr id="7" name="Hub VNet&#10;VPN / ExpressRoute&#10;Firewall + DNS resolver">
            <a:extLst xmlns:a="http://schemas.openxmlformats.org/drawingml/2006/main">
              <a:ext uri="{FF2B5EF4-FFF2-40B4-BE49-F238E27FC236}">
                <a16:creationId xmlns:a16="http://schemas.microsoft.com/office/drawing/2014/main" id="{D952DDCC-7201-48BE-AC4B-7C6EA58275A2}"/>
              </a:ext>
            </a:extLst>
          </p:cNvPr>
          <p:cNvSpPr>
            <a:spLocks xmlns:a="http://schemas.openxmlformats.org/drawingml/2006/main" noGrp="1"/>
          </p:cNvSpPr>
          <p:nvPr/>
        </p:nvSpPr>
        <p:spPr>
          <a:xfrm xmlns:a="http://schemas.openxmlformats.org/drawingml/2006/main">
            <a:off x="685800" y="2495550"/>
            <a:ext cx="3048000" cy="1190625"/>
          </a:xfrm>
          <a:prstGeom xmlns:a="http://schemas.openxmlformats.org/drawingml/2006/main" prst="rect">
            <a:avLst/>
          </a:prstGeom>
          <a:solidFill xmlns:a="http://schemas.openxmlformats.org/drawingml/2006/main">
            <a:srgbClr val="F5F5F2"/>
          </a:solidFill>
          <a:ln xmlns:a="http://schemas.openxmlformats.org/drawingml/2006/main" w="14288">
            <a:solidFill>
              <a:srgbClr val="2F78C4"/>
            </a:solidFill>
          </a:ln>
        </p:spPr>
        <p:txBody>
          <a:bodyPr xmlns:a="http://schemas.openxmlformats.org/drawingml/2006/main" anchor="ctr"/>
          <a:lstStyle xmlns:a="http://schemas.openxmlformats.org/drawingml/2006/main">
            <a:defPPr algn="ctr">
              <a:defRPr sz="1800">
                <a:solidFill>
                  <a:srgbClr val="000048"/>
                </a:solidFill>
              </a:defRPr>
            </a:defPPr>
          </a:lstStyle>
          <a:p xmlns:a="http://schemas.openxmlformats.org/drawingml/2006/main">
            <a:pPr algn="ctr">
              <a:defRPr sz="1800">
                <a:solidFill>
                  <a:srgbClr val="000048"/>
                </a:solidFill>
              </a:defRPr>
            </a:pPr>
            <a:r>
              <a:rPr sz="1800">
                <a:solidFill>
                  <a:srgbClr val="000048"/>
                </a:solidFill>
              </a:rPr>
              <a:t>Hub VNet</a:t>
            </a:r>
          </a:p>
          <a:p xmlns:a="http://schemas.openxmlformats.org/drawingml/2006/main">
            <a:pPr algn="ctr">
              <a:defRPr sz="1800">
                <a:solidFill>
                  <a:srgbClr val="000048"/>
                </a:solidFill>
              </a:defRPr>
            </a:pPr>
            <a:r>
              <a:rPr sz="1800">
                <a:solidFill>
                  <a:srgbClr val="000048"/>
                </a:solidFill>
              </a:rPr>
              <a:t>VPN / ExpressRoute</a:t>
            </a:r>
          </a:p>
          <a:p xmlns:a="http://schemas.openxmlformats.org/drawingml/2006/main">
            <a:pPr algn="ctr">
              <a:defRPr sz="1800">
                <a:solidFill>
                  <a:srgbClr val="000048"/>
                </a:solidFill>
              </a:defRPr>
            </a:pPr>
            <a:r>
              <a:rPr sz="1800">
                <a:solidFill>
                  <a:srgbClr val="000048"/>
                </a:solidFill>
              </a:rPr>
              <a:t>Firewall + DNS resolver</a:t>
            </a:r>
          </a:p>
        </p:txBody>
      </p:sp>
      <p:sp>
        <p:nvSpPr>
          <p:cNvPr id="8" name="Spoke VNet&#10;App integration subnet&#10;Private app endpoint">
            <a:extLst xmlns:a="http://schemas.openxmlformats.org/drawingml/2006/main">
              <a:ext uri="{FF2B5EF4-FFF2-40B4-BE49-F238E27FC236}">
                <a16:creationId xmlns:a16="http://schemas.microsoft.com/office/drawing/2014/main" id="{13A88930-F9F2-4F39-8462-55F062DE3860}"/>
              </a:ext>
            </a:extLst>
          </p:cNvPr>
          <p:cNvSpPr>
            <a:spLocks xmlns:a="http://schemas.openxmlformats.org/drawingml/2006/main" noGrp="1"/>
          </p:cNvSpPr>
          <p:nvPr/>
        </p:nvSpPr>
        <p:spPr>
          <a:xfrm xmlns:a="http://schemas.openxmlformats.org/drawingml/2006/main">
            <a:off x="4495800" y="2495550"/>
            <a:ext cx="3333750" cy="1190625"/>
          </a:xfrm>
          <a:prstGeom xmlns:a="http://schemas.openxmlformats.org/drawingml/2006/main" prst="rect">
            <a:avLst/>
          </a:prstGeom>
          <a:solidFill xmlns:a="http://schemas.openxmlformats.org/drawingml/2006/main">
            <a:srgbClr val="F5F5F2"/>
          </a:solidFill>
          <a:ln xmlns:a="http://schemas.openxmlformats.org/drawingml/2006/main" w="14288">
            <a:solidFill>
              <a:srgbClr val="2F78C4"/>
            </a:solidFill>
          </a:ln>
        </p:spPr>
        <p:txBody>
          <a:bodyPr xmlns:a="http://schemas.openxmlformats.org/drawingml/2006/main" anchor="ctr"/>
          <a:lstStyle xmlns:a="http://schemas.openxmlformats.org/drawingml/2006/main">
            <a:defPPr algn="ctr">
              <a:defRPr sz="1800">
                <a:solidFill>
                  <a:srgbClr val="000048"/>
                </a:solidFill>
              </a:defRPr>
            </a:defPPr>
          </a:lstStyle>
          <a:p xmlns:a="http://schemas.openxmlformats.org/drawingml/2006/main">
            <a:pPr algn="ctr">
              <a:defRPr sz="1800">
                <a:solidFill>
                  <a:srgbClr val="000048"/>
                </a:solidFill>
              </a:defRPr>
            </a:pPr>
            <a:r>
              <a:rPr sz="1800">
                <a:solidFill>
                  <a:srgbClr val="000048"/>
                </a:solidFill>
              </a:rPr>
              <a:t>Spoke VNet</a:t>
            </a:r>
          </a:p>
          <a:p xmlns:a="http://schemas.openxmlformats.org/drawingml/2006/main">
            <a:pPr algn="ctr">
              <a:defRPr sz="1800">
                <a:solidFill>
                  <a:srgbClr val="000048"/>
                </a:solidFill>
              </a:defRPr>
            </a:pPr>
            <a:r>
              <a:rPr sz="1800">
                <a:solidFill>
                  <a:srgbClr val="000048"/>
                </a:solidFill>
              </a:rPr>
              <a:t>App integration subnet</a:t>
            </a:r>
          </a:p>
          <a:p xmlns:a="http://schemas.openxmlformats.org/drawingml/2006/main">
            <a:pPr algn="ctr">
              <a:defRPr sz="1800">
                <a:solidFill>
                  <a:srgbClr val="000048"/>
                </a:solidFill>
              </a:defRPr>
            </a:pPr>
            <a:r>
              <a:rPr sz="1800">
                <a:solidFill>
                  <a:srgbClr val="000048"/>
                </a:solidFill>
              </a:rPr>
              <a:t>Private app endpoint</a:t>
            </a:r>
          </a:p>
        </p:txBody>
      </p:sp>
      <p:sp>
        <p:nvSpPr>
          <p:cNvPr id="9" name="Azure OpenAI / Search&#10;Blob / Key Vault&#10;Private endpoints">
            <a:extLst xmlns:a="http://schemas.openxmlformats.org/drawingml/2006/main">
              <a:ext uri="{FF2B5EF4-FFF2-40B4-BE49-F238E27FC236}">
                <a16:creationId xmlns:a16="http://schemas.microsoft.com/office/drawing/2014/main" id="{C56EA11C-EE08-4999-88B9-2D2EAC192D13}"/>
              </a:ext>
            </a:extLst>
          </p:cNvPr>
          <p:cNvSpPr>
            <a:spLocks xmlns:a="http://schemas.openxmlformats.org/drawingml/2006/main" noGrp="1"/>
          </p:cNvSpPr>
          <p:nvPr/>
        </p:nvSpPr>
        <p:spPr>
          <a:xfrm xmlns:a="http://schemas.openxmlformats.org/drawingml/2006/main">
            <a:off x="8705850" y="2495550"/>
            <a:ext cx="2800350" cy="1190625"/>
          </a:xfrm>
          <a:prstGeom xmlns:a="http://schemas.openxmlformats.org/drawingml/2006/main" prst="rect">
            <a:avLst/>
          </a:prstGeom>
          <a:solidFill xmlns:a="http://schemas.openxmlformats.org/drawingml/2006/main">
            <a:srgbClr val="F5F5F2"/>
          </a:solidFill>
          <a:ln xmlns:a="http://schemas.openxmlformats.org/drawingml/2006/main" w="14288">
            <a:solidFill>
              <a:srgbClr val="2F78C4"/>
            </a:solidFill>
          </a:ln>
        </p:spPr>
        <p:txBody>
          <a:bodyPr xmlns:a="http://schemas.openxmlformats.org/drawingml/2006/main" anchor="ctr"/>
          <a:lstStyle xmlns:a="http://schemas.openxmlformats.org/drawingml/2006/main">
            <a:defPPr algn="ctr">
              <a:defRPr sz="1800">
                <a:solidFill>
                  <a:srgbClr val="000048"/>
                </a:solidFill>
              </a:defRPr>
            </a:defPPr>
          </a:lstStyle>
          <a:p xmlns:a="http://schemas.openxmlformats.org/drawingml/2006/main">
            <a:pPr algn="ctr">
              <a:defRPr sz="1800">
                <a:solidFill>
                  <a:srgbClr val="000048"/>
                </a:solidFill>
              </a:defRPr>
            </a:pPr>
            <a:r>
              <a:rPr sz="1800">
                <a:solidFill>
                  <a:srgbClr val="000048"/>
                </a:solidFill>
              </a:rPr>
              <a:t>Azure OpenAI / Search</a:t>
            </a:r>
          </a:p>
          <a:p xmlns:a="http://schemas.openxmlformats.org/drawingml/2006/main">
            <a:pPr algn="ctr">
              <a:defRPr sz="1800">
                <a:solidFill>
                  <a:srgbClr val="000048"/>
                </a:solidFill>
              </a:defRPr>
            </a:pPr>
            <a:r>
              <a:rPr sz="1800">
                <a:solidFill>
                  <a:srgbClr val="000048"/>
                </a:solidFill>
              </a:rPr>
              <a:t>Blob / Key Vault</a:t>
            </a:r>
          </a:p>
          <a:p xmlns:a="http://schemas.openxmlformats.org/drawingml/2006/main">
            <a:pPr algn="ctr">
              <a:defRPr sz="1800">
                <a:solidFill>
                  <a:srgbClr val="000048"/>
                </a:solidFill>
              </a:defRPr>
            </a:pPr>
            <a:r>
              <a:rPr sz="1800">
                <a:solidFill>
                  <a:srgbClr val="000048"/>
                </a:solidFill>
              </a:rPr>
              <a:t>Private endpoints</a:t>
            </a:r>
          </a:p>
        </p:txBody>
      </p:sp>
      <p:sp>
        <p:nvSpPr>
          <p:cNvPr id="12" name="Private build VM&#10;Separate dev / prod pools">
            <a:extLst xmlns:a="http://schemas.openxmlformats.org/drawingml/2006/main">
              <a:ext uri="{FF2B5EF4-FFF2-40B4-BE49-F238E27FC236}">
                <a16:creationId xmlns:a16="http://schemas.microsoft.com/office/drawing/2014/main" id="{A8C01321-0CA6-4F2C-A876-6E0FA56BB964}"/>
              </a:ext>
            </a:extLst>
          </p:cNvPr>
          <p:cNvSpPr>
            <a:spLocks xmlns:a="http://schemas.openxmlformats.org/drawingml/2006/main" noGrp="1"/>
          </p:cNvSpPr>
          <p:nvPr/>
        </p:nvSpPr>
        <p:spPr>
          <a:xfrm xmlns:a="http://schemas.openxmlformats.org/drawingml/2006/main">
            <a:off x="4495800" y="4448175"/>
            <a:ext cx="3333750" cy="952500"/>
          </a:xfrm>
          <a:prstGeom xmlns:a="http://schemas.openxmlformats.org/drawingml/2006/main" prst="rect">
            <a:avLst/>
          </a:prstGeom>
          <a:solidFill xmlns:a="http://schemas.openxmlformats.org/drawingml/2006/main">
            <a:srgbClr val="F5F5F2"/>
          </a:solidFill>
          <a:ln xmlns:a="http://schemas.openxmlformats.org/drawingml/2006/main" w="14288">
            <a:solidFill>
              <a:srgbClr val="2F78C4"/>
            </a:solidFill>
          </a:ln>
        </p:spPr>
        <p:txBody>
          <a:bodyPr xmlns:a="http://schemas.openxmlformats.org/drawingml/2006/main" anchor="ctr"/>
          <a:lstStyle xmlns:a="http://schemas.openxmlformats.org/drawingml/2006/main">
            <a:defPPr algn="ctr">
              <a:defRPr sz="1800">
                <a:solidFill>
                  <a:srgbClr val="000048"/>
                </a:solidFill>
              </a:defRPr>
            </a:defPPr>
          </a:lstStyle>
          <a:p xmlns:a="http://schemas.openxmlformats.org/drawingml/2006/main">
            <a:pPr algn="ctr">
              <a:defRPr sz="1800">
                <a:solidFill>
                  <a:srgbClr val="000048"/>
                </a:solidFill>
              </a:defRPr>
            </a:pPr>
            <a:r>
              <a:rPr sz="1800">
                <a:solidFill>
                  <a:srgbClr val="000048"/>
                </a:solidFill>
              </a:rPr>
              <a:t>Private build VM</a:t>
            </a:r>
          </a:p>
          <a:p xmlns:a="http://schemas.openxmlformats.org/drawingml/2006/main">
            <a:pPr algn="ctr">
              <a:defRPr sz="1800">
                <a:solidFill>
                  <a:srgbClr val="000048"/>
                </a:solidFill>
              </a:defRPr>
            </a:pPr>
            <a:r>
              <a:rPr sz="1800">
                <a:solidFill>
                  <a:srgbClr val="000048"/>
                </a:solidFill>
              </a:rPr>
              <a:t>Separate dev / prod pools</a:t>
            </a:r>
          </a:p>
        </p:txBody>
      </p:sp>
      <p:sp>
        <p:nvSpPr>
          <p:cNvPr id="14" name="content">
            <a:extLst xmlns:a="http://schemas.openxmlformats.org/drawingml/2006/main">
              <a:ext uri="{FF2B5EF4-FFF2-40B4-BE49-F238E27FC236}">
                <a16:creationId xmlns:a16="http://schemas.microsoft.com/office/drawing/2014/main" id="{E83AF93C-484C-4AB9-9619-056F258F938B}"/>
              </a:ext>
            </a:extLst>
          </p:cNvPr>
          <p:cNvSpPr>
            <a:spLocks xmlns:a="http://schemas.openxmlformats.org/drawingml/2006/main" noGrp="1"/>
          </p:cNvSpPr>
          <p:nvPr/>
        </p:nvSpPr>
        <p:spPr>
          <a:xfrm xmlns:a="http://schemas.openxmlformats.org/drawingml/2006/main">
            <a:off x="685800" y="4210050"/>
            <a:ext cx="304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Peering, private DNS links</a:t>
            </a:r>
          </a:p>
          <a:p xmlns:a="http://schemas.openxmlformats.org/drawingml/2006/main">
            <a:pPr>
              <a:defRPr sz="1875" b="0">
                <a:solidFill>
                  <a:srgbClr val="000048"/>
                </a:solidFill>
              </a:defRPr>
            </a:pPr>
            <a:r>
              <a:rPr sz="1875" b="0">
                <a:solidFill>
                  <a:srgbClr val="000048"/>
                </a:solidFill>
              </a:rPr>
              <a:t>and approved firewall routes</a:t>
            </a:r>
          </a:p>
        </p:txBody>
      </p:sp>
      <p:sp>
        <p:nvSpPr>
          <p:cNvPr id="15" name="content">
            <a:extLst xmlns:a="http://schemas.openxmlformats.org/drawingml/2006/main">
              <a:ext uri="{FF2B5EF4-FFF2-40B4-BE49-F238E27FC236}">
                <a16:creationId xmlns:a16="http://schemas.microsoft.com/office/drawing/2014/main" id="{81F37016-A627-46AC-B67D-2638FBF51598}"/>
              </a:ext>
            </a:extLst>
          </p:cNvPr>
          <p:cNvSpPr>
            <a:spLocks xmlns:a="http://schemas.openxmlformats.org/drawingml/2006/main" noGrp="1"/>
          </p:cNvSpPr>
          <p:nvPr/>
        </p:nvSpPr>
        <p:spPr>
          <a:xfrm xmlns:a="http://schemas.openxmlformats.org/drawingml/2006/main">
            <a:off x="8705850" y="4210050"/>
            <a:ext cx="28003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000048"/>
                </a:solidFill>
              </a:defRPr>
            </a:defPPr>
          </a:lstStyle>
          <a:p xmlns:a="http://schemas.openxmlformats.org/drawingml/2006/main">
            <a:pPr>
              <a:defRPr sz="1800" b="0">
                <a:solidFill>
                  <a:srgbClr val="000048"/>
                </a:solidFill>
              </a:defRPr>
            </a:pPr>
            <a:r>
              <a:rPr sz="1800" b="0">
                <a:solidFill>
                  <a:srgbClr val="000048"/>
                </a:solidFill>
              </a:rPr>
              <a:t>No public data endpoints</a:t>
            </a:r>
          </a:p>
          <a:p xmlns:a="http://schemas.openxmlformats.org/drawingml/2006/main">
            <a:pPr>
              <a:defRPr sz="1800" b="0">
                <a:solidFill>
                  <a:srgbClr val="000048"/>
                </a:solidFill>
              </a:defRPr>
            </a:pPr>
            <a:r>
              <a:rPr sz="1800" b="0">
                <a:solidFill>
                  <a:srgbClr val="000048"/>
                </a:solidFill>
              </a:rPr>
              <a:t>No new WAN in scope</a:t>
            </a:r>
          </a:p>
          <a:p xmlns:a="http://schemas.openxmlformats.org/drawingml/2006/main">
            <a:pPr>
              <a:defRPr sz="1800" b="0">
                <a:solidFill>
                  <a:srgbClr val="000048"/>
                </a:solidFill>
              </a:defRPr>
            </a:pPr>
            <a:r>
              <a:rPr sz="1800" b="0">
                <a:solidFill>
                  <a:srgbClr val="000048"/>
                </a:solidFill>
              </a:rPr>
              <a:t>Outbound paths tested</a:t>
            </a:r>
          </a:p>
        </p:txBody>
      </p:sp>
      <p:sp>
        <p:nvSpPr>
          <p:cNvPr id="16" name="content">
            <a:extLst xmlns:a="http://schemas.openxmlformats.org/drawingml/2006/main">
              <a:ext uri="{FF2B5EF4-FFF2-40B4-BE49-F238E27FC236}">
                <a16:creationId xmlns:a16="http://schemas.microsoft.com/office/drawing/2014/main" id="{C13CF2BB-1064-4B78-978C-3A0CF06C59B7}"/>
              </a:ext>
            </a:extLst>
          </p:cNvPr>
          <p:cNvSpPr>
            <a:spLocks xmlns:a="http://schemas.openxmlformats.org/drawingml/2006/main" noGrp="1"/>
          </p:cNvSpPr>
          <p:nvPr/>
        </p:nvSpPr>
        <p:spPr>
          <a:xfrm xmlns:a="http://schemas.openxmlformats.org/drawingml/2006/main">
            <a:off x="685800" y="56769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2F78C4"/>
                </a:solidFill>
              </a:defRPr>
            </a:defPPr>
          </a:lstStyle>
          <a:p xmlns:a="http://schemas.openxmlformats.org/drawingml/2006/main">
            <a:pPr>
              <a:defRPr sz="1650" b="0">
                <a:solidFill>
                  <a:srgbClr val="2F78C4"/>
                </a:solidFill>
              </a:defRPr>
            </a:pPr>
            <a:r>
              <a:rPr sz="1650" b="0">
                <a:solidFill>
                  <a:srgbClr val="2F78C4"/>
                </a:solidFill>
              </a:rPr>
              <a:t>Separate dev / prod subscriptions. Customer platform team owns the shared hub.</a:t>
            </a:r>
          </a:p>
        </p:txBody>
      </p:sp>
      <p:sp>
        <p:nvSpPr>
          <p:cNvPr id="17" name="content">
            <a:extLst xmlns:a="http://schemas.openxmlformats.org/drawingml/2006/main">
              <a:ext uri="{FF2B5EF4-FFF2-40B4-BE49-F238E27FC236}">
                <a16:creationId xmlns:a16="http://schemas.microsoft.com/office/drawing/2014/main" id="{160A7109-4B2B-42AB-B265-020576782B3D}"/>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Private endpoints restrict inbound access. Approved routes and outbound dependencies require separate validation.</a:t>
            </a:r>
          </a:p>
        </p:txBody>
      </p:sp>
      <p:sp>
        <p:nvSpPr>
          <p:cNvPr id="18" name="content">
            <a:extLst xmlns:a="http://schemas.openxmlformats.org/drawingml/2006/main">
              <a:ext uri="{FF2B5EF4-FFF2-40B4-BE49-F238E27FC236}">
                <a16:creationId xmlns:a16="http://schemas.microsoft.com/office/drawing/2014/main" id="{77291846-92BD-48B9-AF6B-EDEE3C2ADAF4}"/>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9" name="content">
            <a:extLst xmlns:a="http://schemas.openxmlformats.org/drawingml/2006/main">
              <a:ext uri="{FF2B5EF4-FFF2-40B4-BE49-F238E27FC236}">
                <a16:creationId xmlns:a16="http://schemas.microsoft.com/office/drawing/2014/main" id="{0AA19739-465C-4EF8-B22B-97BBF246807C}"/>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06</a:t>
            </a:r>
          </a:p>
        </p:txBody>
      </p:sp>
    </p:spTree>
    <p:extLst>
      <p:ext uri="{BB962C8B-B14F-4D97-AF65-F5344CB8AC3E}">
        <p14:creationId xmlns:p14="http://schemas.microsoft.com/office/powerpoint/2010/main" val="28111504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7AF1B728-A145-4630-B30F-F3C8CB84384E}"/>
              </a:ext>
            </a:extLst>
          </p:cNvPr>
          <p:cNvPicPr>
            <a:picLocks xmlns:a="http://schemas.openxmlformats.org/drawingml/2006/main" noChangeAspect="1"/>
          </p:cNvPicPr>
          <p:nvPr/>
        </p:nvPicPr>
        <p:blipFill>
          <a:blip xmlns:r="http://schemas.openxmlformats.org/officeDocument/2006/relationships" xmlns:a="http://schemas.openxmlformats.org/drawingml/2006/main" r:embed="R67f3aaf1bb774fee"/>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7EB77BCE-5FC1-4A6C-9000-4D14D9B7EF20}"/>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CIS Infra / Solutioning proposal</a:t>
            </a:r>
          </a:p>
        </p:txBody>
      </p:sp>
      <p:sp>
        <p:nvSpPr>
          <p:cNvPr id="3" name="heading">
            <a:extLst xmlns:a="http://schemas.openxmlformats.org/drawingml/2006/main">
              <a:ext uri="{FF2B5EF4-FFF2-40B4-BE49-F238E27FC236}">
                <a16:creationId xmlns:a16="http://schemas.microsoft.com/office/drawing/2014/main" id="{A437F80D-8376-459A-8C2C-90FBB8EC6940}"/>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Authorization fails closed at the application boundary</a:t>
            </a:r>
          </a:p>
        </p:txBody>
      </p:sp>
      <p:sp>
        <p:nvSpPr>
          <p:cNvPr id="4" name="content">
            <a:extLst xmlns:a="http://schemas.openxmlformats.org/drawingml/2006/main">
              <a:ext uri="{FF2B5EF4-FFF2-40B4-BE49-F238E27FC236}">
                <a16:creationId xmlns:a16="http://schemas.microsoft.com/office/drawing/2014/main" id="{AC95C77C-6D44-4B83-BA03-3DD5C0F8C770}"/>
              </a:ext>
            </a:extLst>
          </p:cNvPr>
          <p:cNvSpPr>
            <a:spLocks xmlns:a="http://schemas.openxmlformats.org/drawingml/2006/main" noGrp="1"/>
          </p:cNvSpPr>
          <p:nvPr/>
        </p:nvSpPr>
        <p:spPr>
          <a:xfrm xmlns:a="http://schemas.openxmlformats.org/drawingml/2006/main">
            <a:off x="6858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User access</a:t>
            </a:r>
          </a:p>
        </p:txBody>
      </p:sp>
      <p:sp>
        <p:nvSpPr>
          <p:cNvPr id="5" name="content">
            <a:extLst xmlns:a="http://schemas.openxmlformats.org/drawingml/2006/main">
              <a:ext uri="{FF2B5EF4-FFF2-40B4-BE49-F238E27FC236}">
                <a16:creationId xmlns:a16="http://schemas.microsoft.com/office/drawing/2014/main" id="{C007A24B-45A6-4836-ABD7-B66D61821E42}"/>
              </a:ext>
            </a:extLst>
          </p:cNvPr>
          <p:cNvSpPr>
            <a:spLocks xmlns:a="http://schemas.openxmlformats.org/drawingml/2006/main" noGrp="1"/>
          </p:cNvSpPr>
          <p:nvPr/>
        </p:nvSpPr>
        <p:spPr>
          <a:xfrm xmlns:a="http://schemas.openxmlformats.org/drawingml/2006/main">
            <a:off x="6858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Validate tenant, token audience and required claims. Missing or unresolvable permissions deny retrieval.</a:t>
            </a:r>
          </a:p>
        </p:txBody>
      </p:sp>
      <p:sp>
        <p:nvSpPr>
          <p:cNvPr id="6" name="content">
            <a:extLst xmlns:a="http://schemas.openxmlformats.org/drawingml/2006/main">
              <a:ext uri="{FF2B5EF4-FFF2-40B4-BE49-F238E27FC236}">
                <a16:creationId xmlns:a16="http://schemas.microsoft.com/office/drawing/2014/main" id="{20AE1FD0-A8BB-4C84-B922-AF620830DFAC}"/>
              </a:ext>
            </a:extLst>
          </p:cNvPr>
          <p:cNvSpPr>
            <a:spLocks xmlns:a="http://schemas.openxmlformats.org/drawingml/2006/main" noGrp="1"/>
          </p:cNvSpPr>
          <p:nvPr/>
        </p:nvSpPr>
        <p:spPr>
          <a:xfrm xmlns:a="http://schemas.openxmlformats.org/drawingml/2006/main">
            <a:off x="6858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Runtime identity</a:t>
            </a:r>
          </a:p>
        </p:txBody>
      </p:sp>
      <p:sp>
        <p:nvSpPr>
          <p:cNvPr id="7" name="content">
            <a:extLst xmlns:a="http://schemas.openxmlformats.org/drawingml/2006/main">
              <a:ext uri="{FF2B5EF4-FFF2-40B4-BE49-F238E27FC236}">
                <a16:creationId xmlns:a16="http://schemas.microsoft.com/office/drawing/2014/main" id="{739C13A0-35DE-483D-8F3A-84D417674FA2}"/>
              </a:ext>
            </a:extLst>
          </p:cNvPr>
          <p:cNvSpPr>
            <a:spLocks xmlns:a="http://schemas.openxmlformats.org/drawingml/2006/main" noGrp="1"/>
          </p:cNvSpPr>
          <p:nvPr/>
        </p:nvSpPr>
        <p:spPr>
          <a:xfrm xmlns:a="http://schemas.openxmlformats.org/drawingml/2006/main">
            <a:off x="6858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Use a scoped managed identity for model and data access. Keep deployment permissions separate.</a:t>
            </a:r>
          </a:p>
        </p:txBody>
      </p:sp>
      <p:sp>
        <p:nvSpPr>
          <p:cNvPr id="8" name="content">
            <a:extLst xmlns:a="http://schemas.openxmlformats.org/drawingml/2006/main">
              <a:ext uri="{FF2B5EF4-FFF2-40B4-BE49-F238E27FC236}">
                <a16:creationId xmlns:a16="http://schemas.microsoft.com/office/drawing/2014/main" id="{70BF293D-BAA9-4E1C-830F-AC21BC2774E9}"/>
              </a:ext>
            </a:extLst>
          </p:cNvPr>
          <p:cNvSpPr>
            <a:spLocks xmlns:a="http://schemas.openxmlformats.org/drawingml/2006/main" noGrp="1"/>
          </p:cNvSpPr>
          <p:nvPr/>
        </p:nvSpPr>
        <p:spPr>
          <a:xfrm xmlns:a="http://schemas.openxmlformats.org/drawingml/2006/main">
            <a:off x="6858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Document enforcement</a:t>
            </a:r>
          </a:p>
        </p:txBody>
      </p:sp>
      <p:sp>
        <p:nvSpPr>
          <p:cNvPr id="9" name="content">
            <a:extLst xmlns:a="http://schemas.openxmlformats.org/drawingml/2006/main">
              <a:ext uri="{FF2B5EF4-FFF2-40B4-BE49-F238E27FC236}">
                <a16:creationId xmlns:a16="http://schemas.microsoft.com/office/drawing/2014/main" id="{4D0C3427-5421-4F5C-BF4D-2266DD274112}"/>
              </a:ext>
            </a:extLst>
          </p:cNvPr>
          <p:cNvSpPr>
            <a:spLocks xmlns:a="http://schemas.openxmlformats.org/drawingml/2006/main" noGrp="1"/>
          </p:cNvSpPr>
          <p:nvPr/>
        </p:nvSpPr>
        <p:spPr>
          <a:xfrm xmlns:a="http://schemas.openxmlformats.org/drawingml/2006/main">
            <a:off x="6858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Attach source ACL metadata to chunks. Apply the mandatory security filter before any context reaches the model.</a:t>
            </a:r>
          </a:p>
        </p:txBody>
      </p:sp>
      <p:sp>
        <p:nvSpPr>
          <p:cNvPr id="10" name="content">
            <a:extLst xmlns:a="http://schemas.openxmlformats.org/drawingml/2006/main">
              <a:ext uri="{FF2B5EF4-FFF2-40B4-BE49-F238E27FC236}">
                <a16:creationId xmlns:a16="http://schemas.microsoft.com/office/drawing/2014/main" id="{724B613A-13C8-4E67-9B32-07FFD9E38976}"/>
              </a:ext>
            </a:extLst>
          </p:cNvPr>
          <p:cNvSpPr>
            <a:spLocks xmlns:a="http://schemas.openxmlformats.org/drawingml/2006/main" noGrp="1"/>
          </p:cNvSpPr>
          <p:nvPr/>
        </p:nvSpPr>
        <p:spPr>
          <a:xfrm xmlns:a="http://schemas.openxmlformats.org/drawingml/2006/main">
            <a:off x="64389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Permission changes</a:t>
            </a:r>
          </a:p>
        </p:txBody>
      </p:sp>
      <p:sp>
        <p:nvSpPr>
          <p:cNvPr id="11" name="content">
            <a:extLst xmlns:a="http://schemas.openxmlformats.org/drawingml/2006/main">
              <a:ext uri="{FF2B5EF4-FFF2-40B4-BE49-F238E27FC236}">
                <a16:creationId xmlns:a16="http://schemas.microsoft.com/office/drawing/2014/main" id="{879DC2BF-F292-48A4-B27F-B03A32177335}"/>
              </a:ext>
            </a:extLst>
          </p:cNvPr>
          <p:cNvSpPr>
            <a:spLocks xmlns:a="http://schemas.openxmlformats.org/drawingml/2006/main" noGrp="1"/>
          </p:cNvSpPr>
          <p:nvPr/>
        </p:nvSpPr>
        <p:spPr>
          <a:xfrm xmlns:a="http://schemas.openxmlformats.org/drawingml/2006/main">
            <a:off x="64389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Deny content with unknown ACL freshness. Proposed revocation target: 15 minutes, subject to source feasibility.</a:t>
            </a:r>
          </a:p>
        </p:txBody>
      </p:sp>
      <p:sp>
        <p:nvSpPr>
          <p:cNvPr id="12" name="content">
            <a:extLst xmlns:a="http://schemas.openxmlformats.org/drawingml/2006/main">
              <a:ext uri="{FF2B5EF4-FFF2-40B4-BE49-F238E27FC236}">
                <a16:creationId xmlns:a16="http://schemas.microsoft.com/office/drawing/2014/main" id="{CF43E868-6D6E-4EC2-96F1-1D3CB979F813}"/>
              </a:ext>
            </a:extLst>
          </p:cNvPr>
          <p:cNvSpPr>
            <a:spLocks xmlns:a="http://schemas.openxmlformats.org/drawingml/2006/main" noGrp="1"/>
          </p:cNvSpPr>
          <p:nvPr/>
        </p:nvSpPr>
        <p:spPr>
          <a:xfrm xmlns:a="http://schemas.openxmlformats.org/drawingml/2006/main">
            <a:off x="64389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Ingestion access</a:t>
            </a:r>
          </a:p>
        </p:txBody>
      </p:sp>
      <p:sp>
        <p:nvSpPr>
          <p:cNvPr id="13" name="content">
            <a:extLst xmlns:a="http://schemas.openxmlformats.org/drawingml/2006/main">
              <a:ext uri="{FF2B5EF4-FFF2-40B4-BE49-F238E27FC236}">
                <a16:creationId xmlns:a16="http://schemas.microsoft.com/office/drawing/2014/main" id="{BE6A27D7-705E-45EC-B583-DEF3CC8498AB}"/>
              </a:ext>
            </a:extLst>
          </p:cNvPr>
          <p:cNvSpPr>
            <a:spLocks xmlns:a="http://schemas.openxmlformats.org/drawingml/2006/main" noGrp="1"/>
          </p:cNvSpPr>
          <p:nvPr/>
        </p:nvSpPr>
        <p:spPr>
          <a:xfrm xmlns:a="http://schemas.openxmlformats.org/drawingml/2006/main">
            <a:off x="64389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Separate source-read and index-write permissions from the query identity. Audit all administrative changes.</a:t>
            </a:r>
          </a:p>
        </p:txBody>
      </p:sp>
      <p:sp>
        <p:nvSpPr>
          <p:cNvPr id="14" name="content">
            <a:extLst xmlns:a="http://schemas.openxmlformats.org/drawingml/2006/main">
              <a:ext uri="{FF2B5EF4-FFF2-40B4-BE49-F238E27FC236}">
                <a16:creationId xmlns:a16="http://schemas.microsoft.com/office/drawing/2014/main" id="{ADD7431F-C50A-40C0-B9C5-F7E6F9F656F4}"/>
              </a:ext>
            </a:extLst>
          </p:cNvPr>
          <p:cNvSpPr>
            <a:spLocks xmlns:a="http://schemas.openxmlformats.org/drawingml/2006/main" noGrp="1"/>
          </p:cNvSpPr>
          <p:nvPr/>
        </p:nvSpPr>
        <p:spPr>
          <a:xfrm xmlns:a="http://schemas.openxmlformats.org/drawingml/2006/main">
            <a:off x="64389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Citation access</a:t>
            </a:r>
          </a:p>
        </p:txBody>
      </p:sp>
      <p:sp>
        <p:nvSpPr>
          <p:cNvPr id="15" name="content">
            <a:extLst xmlns:a="http://schemas.openxmlformats.org/drawingml/2006/main">
              <a:ext uri="{FF2B5EF4-FFF2-40B4-BE49-F238E27FC236}">
                <a16:creationId xmlns:a16="http://schemas.microsoft.com/office/drawing/2014/main" id="{C7AEDFD0-7A2E-49E6-ADD2-6D5D6F3F4DAB}"/>
              </a:ext>
            </a:extLst>
          </p:cNvPr>
          <p:cNvSpPr>
            <a:spLocks xmlns:a="http://schemas.openxmlformats.org/drawingml/2006/main" noGrp="1"/>
          </p:cNvSpPr>
          <p:nvPr/>
        </p:nvSpPr>
        <p:spPr>
          <a:xfrm xmlns:a="http://schemas.openxmlformats.org/drawingml/2006/main">
            <a:off x="64389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Recheck document authorization when returning or opening citations. Deny unauthenticated downloads.</a:t>
            </a:r>
          </a:p>
        </p:txBody>
      </p:sp>
      <p:sp>
        <p:nvSpPr>
          <p:cNvPr id="16" name="content">
            <a:extLst xmlns:a="http://schemas.openxmlformats.org/drawingml/2006/main">
              <a:ext uri="{FF2B5EF4-FFF2-40B4-BE49-F238E27FC236}">
                <a16:creationId xmlns:a16="http://schemas.microsoft.com/office/drawing/2014/main" id="{EA1BACFB-5CD1-40F4-9044-1BE428D70622}"/>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Proposed control design. Security, AI and Data Engineering must implement and verify it.</a:t>
            </a:r>
          </a:p>
        </p:txBody>
      </p:sp>
      <p:sp>
        <p:nvSpPr>
          <p:cNvPr id="17" name="content">
            <a:extLst xmlns:a="http://schemas.openxmlformats.org/drawingml/2006/main">
              <a:ext uri="{FF2B5EF4-FFF2-40B4-BE49-F238E27FC236}">
                <a16:creationId xmlns:a16="http://schemas.microsoft.com/office/drawing/2014/main" id="{7AD10BEA-1E0B-444B-B265-88237BED3760}"/>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8" name="content">
            <a:extLst xmlns:a="http://schemas.openxmlformats.org/drawingml/2006/main">
              <a:ext uri="{FF2B5EF4-FFF2-40B4-BE49-F238E27FC236}">
                <a16:creationId xmlns:a16="http://schemas.microsoft.com/office/drawing/2014/main" id="{E1F60B36-7E5D-48D0-96FB-F1E87293BC95}"/>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07</a:t>
            </a:r>
          </a:p>
        </p:txBody>
      </p:sp>
    </p:spTree>
    <p:extLst>
      <p:ext uri="{BB962C8B-B14F-4D97-AF65-F5344CB8AC3E}">
        <p14:creationId xmlns:p14="http://schemas.microsoft.com/office/powerpoint/2010/main" val="141025529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DC789801-7F4E-492A-B9EB-89F93510D7C6}"/>
              </a:ext>
            </a:extLst>
          </p:cNvPr>
          <p:cNvPicPr>
            <a:picLocks xmlns:a="http://schemas.openxmlformats.org/drawingml/2006/main" noChangeAspect="1"/>
          </p:cNvPicPr>
          <p:nvPr/>
        </p:nvPicPr>
        <p:blipFill>
          <a:blip xmlns:r="http://schemas.openxmlformats.org/officeDocument/2006/relationships" xmlns:a="http://schemas.openxmlformats.org/drawingml/2006/main" r:embed="Rb66743970c7c4dd3"/>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743FCA7B-D7B5-4F81-8876-62B49DA11FA4}"/>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CIS Infra / Solutioning proposal</a:t>
            </a:r>
          </a:p>
        </p:txBody>
      </p:sp>
      <p:sp>
        <p:nvSpPr>
          <p:cNvPr id="3" name="heading">
            <a:extLst xmlns:a="http://schemas.openxmlformats.org/drawingml/2006/main">
              <a:ext uri="{FF2B5EF4-FFF2-40B4-BE49-F238E27FC236}">
                <a16:creationId xmlns:a16="http://schemas.microsoft.com/office/drawing/2014/main" id="{CBA0E286-2214-445E-9EB4-AF050947A6C0}"/>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Security controls have explicit test obligations</a:t>
            </a:r>
          </a:p>
        </p:txBody>
      </p:sp>
      <p:sp>
        <p:nvSpPr>
          <p:cNvPr id="4" name="content">
            <a:extLst xmlns:a="http://schemas.openxmlformats.org/drawingml/2006/main">
              <a:ext uri="{FF2B5EF4-FFF2-40B4-BE49-F238E27FC236}">
                <a16:creationId xmlns:a16="http://schemas.microsoft.com/office/drawing/2014/main" id="{9A5793A0-3CDF-4942-A463-A58946BD38DB}"/>
              </a:ext>
            </a:extLst>
          </p:cNvPr>
          <p:cNvSpPr>
            <a:spLocks xmlns:a="http://schemas.openxmlformats.org/drawingml/2006/main" noGrp="1"/>
          </p:cNvSpPr>
          <p:nvPr/>
        </p:nvSpPr>
        <p:spPr>
          <a:xfrm xmlns:a="http://schemas.openxmlformats.org/drawingml/2006/main">
            <a:off x="6858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Network exposure</a:t>
            </a:r>
          </a:p>
        </p:txBody>
      </p:sp>
      <p:sp>
        <p:nvSpPr>
          <p:cNvPr id="5" name="content">
            <a:extLst xmlns:a="http://schemas.openxmlformats.org/drawingml/2006/main">
              <a:ext uri="{FF2B5EF4-FFF2-40B4-BE49-F238E27FC236}">
                <a16:creationId xmlns:a16="http://schemas.microsoft.com/office/drawing/2014/main" id="{768A6B91-E664-470A-A939-27DBC833438B}"/>
              </a:ext>
            </a:extLst>
          </p:cNvPr>
          <p:cNvSpPr>
            <a:spLocks xmlns:a="http://schemas.openxmlformats.org/drawingml/2006/main" noGrp="1"/>
          </p:cNvSpPr>
          <p:nvPr/>
        </p:nvSpPr>
        <p:spPr>
          <a:xfrm xmlns:a="http://schemas.openxmlformats.org/drawingml/2006/main">
            <a:off x="6858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Disable public data endpoints and test denied public paths. Record private DNS and firewall dependencies.</a:t>
            </a:r>
          </a:p>
        </p:txBody>
      </p:sp>
      <p:sp>
        <p:nvSpPr>
          <p:cNvPr id="6" name="content">
            <a:extLst xmlns:a="http://schemas.openxmlformats.org/drawingml/2006/main">
              <a:ext uri="{FF2B5EF4-FFF2-40B4-BE49-F238E27FC236}">
                <a16:creationId xmlns:a16="http://schemas.microsoft.com/office/drawing/2014/main" id="{94ECC540-57E8-4E89-88ED-40A12A851D4E}"/>
              </a:ext>
            </a:extLst>
          </p:cNvPr>
          <p:cNvSpPr>
            <a:spLocks xmlns:a="http://schemas.openxmlformats.org/drawingml/2006/main" noGrp="1"/>
          </p:cNvSpPr>
          <p:nvPr/>
        </p:nvSpPr>
        <p:spPr>
          <a:xfrm xmlns:a="http://schemas.openxmlformats.org/drawingml/2006/main">
            <a:off x="6858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Prompt and content safety</a:t>
            </a:r>
          </a:p>
        </p:txBody>
      </p:sp>
      <p:sp>
        <p:nvSpPr>
          <p:cNvPr id="7" name="content">
            <a:extLst xmlns:a="http://schemas.openxmlformats.org/drawingml/2006/main">
              <a:ext uri="{FF2B5EF4-FFF2-40B4-BE49-F238E27FC236}">
                <a16:creationId xmlns:a16="http://schemas.microsoft.com/office/drawing/2014/main" id="{84108D3E-4434-4609-97EC-D2D2B10A2DC0}"/>
              </a:ext>
            </a:extLst>
          </p:cNvPr>
          <p:cNvSpPr>
            <a:spLocks xmlns:a="http://schemas.openxmlformats.org/drawingml/2006/main" noGrp="1"/>
          </p:cNvSpPr>
          <p:nvPr/>
        </p:nvSpPr>
        <p:spPr>
          <a:xfrm xmlns:a="http://schemas.openxmlformats.org/drawingml/2006/main">
            <a:off x="6858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Test malicious documents, instruction injection and sensitive-data prompts. Refuse unsupported questions.</a:t>
            </a:r>
          </a:p>
        </p:txBody>
      </p:sp>
      <p:sp>
        <p:nvSpPr>
          <p:cNvPr id="8" name="content">
            <a:extLst xmlns:a="http://schemas.openxmlformats.org/drawingml/2006/main">
              <a:ext uri="{FF2B5EF4-FFF2-40B4-BE49-F238E27FC236}">
                <a16:creationId xmlns:a16="http://schemas.microsoft.com/office/drawing/2014/main" id="{A9A18444-6EC2-47FD-93DF-C0F729C3F6CD}"/>
              </a:ext>
            </a:extLst>
          </p:cNvPr>
          <p:cNvSpPr>
            <a:spLocks xmlns:a="http://schemas.openxmlformats.org/drawingml/2006/main" noGrp="1"/>
          </p:cNvSpPr>
          <p:nvPr/>
        </p:nvSpPr>
        <p:spPr>
          <a:xfrm xmlns:a="http://schemas.openxmlformats.org/drawingml/2006/main">
            <a:off x="6858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Sensitive telemetry</a:t>
            </a:r>
          </a:p>
        </p:txBody>
      </p:sp>
      <p:sp>
        <p:nvSpPr>
          <p:cNvPr id="9" name="content">
            <a:extLst xmlns:a="http://schemas.openxmlformats.org/drawingml/2006/main">
              <a:ext uri="{FF2B5EF4-FFF2-40B4-BE49-F238E27FC236}">
                <a16:creationId xmlns:a16="http://schemas.microsoft.com/office/drawing/2014/main" id="{3AC74EF7-26EC-403E-A001-FF6F26248DCE}"/>
              </a:ext>
            </a:extLst>
          </p:cNvPr>
          <p:cNvSpPr>
            <a:spLocks xmlns:a="http://schemas.openxmlformats.org/drawingml/2006/main" noGrp="1"/>
          </p:cNvSpPr>
          <p:nvPr/>
        </p:nvSpPr>
        <p:spPr>
          <a:xfrm xmlns:a="http://schemas.openxmlformats.org/drawingml/2006/main">
            <a:off x="6858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Redact logs and restrict readers. Set retention with the data owner. No raw prompt retention by default.</a:t>
            </a:r>
          </a:p>
        </p:txBody>
      </p:sp>
      <p:sp>
        <p:nvSpPr>
          <p:cNvPr id="10" name="content">
            <a:extLst xmlns:a="http://schemas.openxmlformats.org/drawingml/2006/main">
              <a:ext uri="{FF2B5EF4-FFF2-40B4-BE49-F238E27FC236}">
                <a16:creationId xmlns:a16="http://schemas.microsoft.com/office/drawing/2014/main" id="{74A4E300-2AC5-42EA-B2D2-4F0159491209}"/>
              </a:ext>
            </a:extLst>
          </p:cNvPr>
          <p:cNvSpPr>
            <a:spLocks xmlns:a="http://schemas.openxmlformats.org/drawingml/2006/main" noGrp="1"/>
          </p:cNvSpPr>
          <p:nvPr/>
        </p:nvSpPr>
        <p:spPr>
          <a:xfrm xmlns:a="http://schemas.openxmlformats.org/drawingml/2006/main">
            <a:off x="64389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Release controls</a:t>
            </a:r>
          </a:p>
        </p:txBody>
      </p:sp>
      <p:sp>
        <p:nvSpPr>
          <p:cNvPr id="11" name="content">
            <a:extLst xmlns:a="http://schemas.openxmlformats.org/drawingml/2006/main">
              <a:ext uri="{FF2B5EF4-FFF2-40B4-BE49-F238E27FC236}">
                <a16:creationId xmlns:a16="http://schemas.microsoft.com/office/drawing/2014/main" id="{5F796886-2549-4E88-BDBE-F53AA7027722}"/>
              </a:ext>
            </a:extLst>
          </p:cNvPr>
          <p:cNvSpPr>
            <a:spLocks xmlns:a="http://schemas.openxmlformats.org/drawingml/2006/main" noGrp="1"/>
          </p:cNvSpPr>
          <p:nvPr/>
        </p:nvSpPr>
        <p:spPr>
          <a:xfrm xmlns:a="http://schemas.openxmlformats.org/drawingml/2006/main">
            <a:off x="64389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Scan code, dependencies, secrets and Terraform. Approve plans and test rollback.</a:t>
            </a:r>
          </a:p>
        </p:txBody>
      </p:sp>
      <p:sp>
        <p:nvSpPr>
          <p:cNvPr id="12" name="content">
            <a:extLst xmlns:a="http://schemas.openxmlformats.org/drawingml/2006/main">
              <a:ext uri="{FF2B5EF4-FFF2-40B4-BE49-F238E27FC236}">
                <a16:creationId xmlns:a16="http://schemas.microsoft.com/office/drawing/2014/main" id="{717F02AB-0B55-450B-B5E9-3941410DF50A}"/>
              </a:ext>
            </a:extLst>
          </p:cNvPr>
          <p:cNvSpPr>
            <a:spLocks xmlns:a="http://schemas.openxmlformats.org/drawingml/2006/main" noGrp="1"/>
          </p:cNvSpPr>
          <p:nvPr/>
        </p:nvSpPr>
        <p:spPr>
          <a:xfrm xmlns:a="http://schemas.openxmlformats.org/drawingml/2006/main">
            <a:off x="64389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Key and data controls</a:t>
            </a:r>
          </a:p>
        </p:txBody>
      </p:sp>
      <p:sp>
        <p:nvSpPr>
          <p:cNvPr id="13" name="content">
            <a:extLst xmlns:a="http://schemas.openxmlformats.org/drawingml/2006/main">
              <a:ext uri="{FF2B5EF4-FFF2-40B4-BE49-F238E27FC236}">
                <a16:creationId xmlns:a16="http://schemas.microsoft.com/office/drawing/2014/main" id="{9189C0CC-D797-41F0-BAC2-181B4F657E01}"/>
              </a:ext>
            </a:extLst>
          </p:cNvPr>
          <p:cNvSpPr>
            <a:spLocks xmlns:a="http://schemas.openxmlformats.org/drawingml/2006/main" noGrp="1"/>
          </p:cNvSpPr>
          <p:nvPr/>
        </p:nvSpPr>
        <p:spPr>
          <a:xfrm xmlns:a="http://schemas.openxmlformats.org/drawingml/2006/main">
            <a:off x="64389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Use platform encryption by default. Customer-managed keys require an explicit requirement and design package.</a:t>
            </a:r>
          </a:p>
        </p:txBody>
      </p:sp>
      <p:sp>
        <p:nvSpPr>
          <p:cNvPr id="14" name="content">
            <a:extLst xmlns:a="http://schemas.openxmlformats.org/drawingml/2006/main">
              <a:ext uri="{FF2B5EF4-FFF2-40B4-BE49-F238E27FC236}">
                <a16:creationId xmlns:a16="http://schemas.microsoft.com/office/drawing/2014/main" id="{7BD03E1C-6B53-4038-B739-5FC142EE1ABE}"/>
              </a:ext>
            </a:extLst>
          </p:cNvPr>
          <p:cNvSpPr>
            <a:spLocks xmlns:a="http://schemas.openxmlformats.org/drawingml/2006/main" noGrp="1"/>
          </p:cNvSpPr>
          <p:nvPr/>
        </p:nvSpPr>
        <p:spPr>
          <a:xfrm xmlns:a="http://schemas.openxmlformats.org/drawingml/2006/main">
            <a:off x="64389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Risk decision</a:t>
            </a:r>
          </a:p>
        </p:txBody>
      </p:sp>
      <p:sp>
        <p:nvSpPr>
          <p:cNvPr id="15" name="content">
            <a:extLst xmlns:a="http://schemas.openxmlformats.org/drawingml/2006/main">
              <a:ext uri="{FF2B5EF4-FFF2-40B4-BE49-F238E27FC236}">
                <a16:creationId xmlns:a16="http://schemas.microsoft.com/office/drawing/2014/main" id="{B6444EE5-7F6B-42E8-A685-E45504EAEC91}"/>
              </a:ext>
            </a:extLst>
          </p:cNvPr>
          <p:cNvSpPr>
            <a:spLocks xmlns:a="http://schemas.openxmlformats.org/drawingml/2006/main" noGrp="1"/>
          </p:cNvSpPr>
          <p:nvPr/>
        </p:nvSpPr>
        <p:spPr>
          <a:xfrm xmlns:a="http://schemas.openxmlformats.org/drawingml/2006/main">
            <a:off x="64389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No unresolved critical finding at release. Named risk owner decides treatment of high findings.</a:t>
            </a:r>
          </a:p>
        </p:txBody>
      </p:sp>
      <p:sp>
        <p:nvSpPr>
          <p:cNvPr id="16" name="content">
            <a:extLst xmlns:a="http://schemas.openxmlformats.org/drawingml/2006/main">
              <a:ext uri="{FF2B5EF4-FFF2-40B4-BE49-F238E27FC236}">
                <a16:creationId xmlns:a16="http://schemas.microsoft.com/office/drawing/2014/main" id="{71A2EE7D-F50F-476F-A4A9-A28BC4DBEFAB}"/>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Finite tests demonstrate agreed controls. They do not establish universal accuracy or legal compliance.</a:t>
            </a:r>
          </a:p>
        </p:txBody>
      </p:sp>
      <p:sp>
        <p:nvSpPr>
          <p:cNvPr id="17" name="content">
            <a:extLst xmlns:a="http://schemas.openxmlformats.org/drawingml/2006/main">
              <a:ext uri="{FF2B5EF4-FFF2-40B4-BE49-F238E27FC236}">
                <a16:creationId xmlns:a16="http://schemas.microsoft.com/office/drawing/2014/main" id="{62A42A90-6E35-45CA-AA11-6A7AF624F328}"/>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8" name="content">
            <a:extLst xmlns:a="http://schemas.openxmlformats.org/drawingml/2006/main">
              <a:ext uri="{FF2B5EF4-FFF2-40B4-BE49-F238E27FC236}">
                <a16:creationId xmlns:a16="http://schemas.microsoft.com/office/drawing/2014/main" id="{27366EA6-2930-4756-8B27-72632D49111A}"/>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08</a:t>
            </a:r>
          </a:p>
        </p:txBody>
      </p:sp>
    </p:spTree>
    <p:extLst>
      <p:ext uri="{BB962C8B-B14F-4D97-AF65-F5344CB8AC3E}">
        <p14:creationId xmlns:p14="http://schemas.microsoft.com/office/powerpoint/2010/main" val="9581888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D1BCCC77-849E-45DE-8543-C6C487052A95}"/>
              </a:ext>
            </a:extLst>
          </p:cNvPr>
          <p:cNvPicPr>
            <a:picLocks xmlns:a="http://schemas.openxmlformats.org/drawingml/2006/main" noChangeAspect="1"/>
          </p:cNvPicPr>
          <p:nvPr/>
        </p:nvPicPr>
        <p:blipFill>
          <a:blip xmlns:r="http://schemas.openxmlformats.org/officeDocument/2006/relationships" xmlns:a="http://schemas.openxmlformats.org/drawingml/2006/main" r:embed="Ra10d9e5f65b2484f"/>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8A60218B-1B34-4F03-A430-9DA102994913}"/>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CIS Infra / Solutioning proposal</a:t>
            </a:r>
          </a:p>
        </p:txBody>
      </p:sp>
      <p:sp>
        <p:nvSpPr>
          <p:cNvPr id="3" name="heading">
            <a:extLst xmlns:a="http://schemas.openxmlformats.org/drawingml/2006/main">
              <a:ext uri="{FF2B5EF4-FFF2-40B4-BE49-F238E27FC236}">
                <a16:creationId xmlns:a16="http://schemas.microsoft.com/office/drawing/2014/main" id="{F33285D4-7696-4CAC-A068-9CE11829DAFD}"/>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Gateway and agent expansion require separate design</a:t>
            </a:r>
          </a:p>
        </p:txBody>
      </p:sp>
      <p:sp>
        <p:nvSpPr>
          <p:cNvPr id="4" name="content">
            <a:extLst xmlns:a="http://schemas.openxmlformats.org/drawingml/2006/main">
              <a:ext uri="{FF2B5EF4-FFF2-40B4-BE49-F238E27FC236}">
                <a16:creationId xmlns:a16="http://schemas.microsoft.com/office/drawing/2014/main" id="{E34AA998-934A-424B-9357-429D8D057507}"/>
              </a:ext>
            </a:extLst>
          </p:cNvPr>
          <p:cNvSpPr>
            <a:spLocks xmlns:a="http://schemas.openxmlformats.org/drawingml/2006/main" noGrp="1"/>
          </p:cNvSpPr>
          <p:nvPr/>
        </p:nvSpPr>
        <p:spPr>
          <a:xfrm xmlns:a="http://schemas.openxmlformats.org/drawingml/2006/main">
            <a:off x="6858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Baseline gateway</a:t>
            </a:r>
          </a:p>
        </p:txBody>
      </p:sp>
      <p:sp>
        <p:nvSpPr>
          <p:cNvPr id="5" name="content">
            <a:extLst xmlns:a="http://schemas.openxmlformats.org/drawingml/2006/main">
              <a:ext uri="{FF2B5EF4-FFF2-40B4-BE49-F238E27FC236}">
                <a16:creationId xmlns:a16="http://schemas.microsoft.com/office/drawing/2014/main" id="{0889D1A6-426E-4351-9CF0-B10A2D62610A}"/>
              </a:ext>
            </a:extLst>
          </p:cNvPr>
          <p:cNvSpPr>
            <a:spLocks xmlns:a="http://schemas.openxmlformats.org/drawingml/2006/main" noGrp="1"/>
          </p:cNvSpPr>
          <p:nvPr/>
        </p:nvSpPr>
        <p:spPr>
          <a:xfrm xmlns:a="http://schemas.openxmlformats.org/drawingml/2006/main">
            <a:off x="6858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No APIM cost or dependency in the selected baseline. The app calls approved private model endpoints.</a:t>
            </a:r>
          </a:p>
        </p:txBody>
      </p:sp>
      <p:sp>
        <p:nvSpPr>
          <p:cNvPr id="6" name="content">
            <a:extLst xmlns:a="http://schemas.openxmlformats.org/drawingml/2006/main">
              <a:ext uri="{FF2B5EF4-FFF2-40B4-BE49-F238E27FC236}">
                <a16:creationId xmlns:a16="http://schemas.microsoft.com/office/drawing/2014/main" id="{45FFBA41-F34C-4539-B96B-A7B7DC887D9A}"/>
              </a:ext>
            </a:extLst>
          </p:cNvPr>
          <p:cNvSpPr>
            <a:spLocks xmlns:a="http://schemas.openxmlformats.org/drawingml/2006/main" noGrp="1"/>
          </p:cNvSpPr>
          <p:nvPr/>
        </p:nvSpPr>
        <p:spPr>
          <a:xfrm xmlns:a="http://schemas.openxmlformats.org/drawingml/2006/main">
            <a:off x="6858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Optional APIM</a:t>
            </a:r>
          </a:p>
        </p:txBody>
      </p:sp>
      <p:sp>
        <p:nvSpPr>
          <p:cNvPr id="7" name="content">
            <a:extLst xmlns:a="http://schemas.openxmlformats.org/drawingml/2006/main">
              <a:ext uri="{FF2B5EF4-FFF2-40B4-BE49-F238E27FC236}">
                <a16:creationId xmlns:a16="http://schemas.microsoft.com/office/drawing/2014/main" id="{3C40C8A9-E328-4C28-881F-17C32F544630}"/>
              </a:ext>
            </a:extLst>
          </p:cNvPr>
          <p:cNvSpPr>
            <a:spLocks xmlns:a="http://schemas.openxmlformats.org/drawingml/2006/main" noGrp="1"/>
          </p:cNvSpPr>
          <p:nvPr/>
        </p:nvSpPr>
        <p:spPr>
          <a:xfrm xmlns:a="http://schemas.openxmlformats.org/drawingml/2006/main">
            <a:off x="6858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Use supported AI policies in an approved GA APIM tier after private routing, latency and failover tests.</a:t>
            </a:r>
          </a:p>
        </p:txBody>
      </p:sp>
      <p:sp>
        <p:nvSpPr>
          <p:cNvPr id="8" name="content">
            <a:extLst xmlns:a="http://schemas.openxmlformats.org/drawingml/2006/main">
              <a:ext uri="{FF2B5EF4-FFF2-40B4-BE49-F238E27FC236}">
                <a16:creationId xmlns:a16="http://schemas.microsoft.com/office/drawing/2014/main" id="{D2CA93BC-567B-40BB-B6AB-8ED142527D78}"/>
              </a:ext>
            </a:extLst>
          </p:cNvPr>
          <p:cNvSpPr>
            <a:spLocks xmlns:a="http://schemas.openxmlformats.org/drawingml/2006/main" noGrp="1"/>
          </p:cNvSpPr>
          <p:nvPr/>
        </p:nvSpPr>
        <p:spPr>
          <a:xfrm xmlns:a="http://schemas.openxmlformats.org/drawingml/2006/main">
            <a:off x="6858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Preview distinction</a:t>
            </a:r>
          </a:p>
        </p:txBody>
      </p:sp>
      <p:sp>
        <p:nvSpPr>
          <p:cNvPr id="9" name="content">
            <a:extLst xmlns:a="http://schemas.openxmlformats.org/drawingml/2006/main">
              <a:ext uri="{FF2B5EF4-FFF2-40B4-BE49-F238E27FC236}">
                <a16:creationId xmlns:a16="http://schemas.microsoft.com/office/drawing/2014/main" id="{8C240423-8CAD-4A2D-8D04-2D1518F79965}"/>
              </a:ext>
            </a:extLst>
          </p:cNvPr>
          <p:cNvSpPr>
            <a:spLocks xmlns:a="http://schemas.openxmlformats.org/drawingml/2006/main" noGrp="1"/>
          </p:cNvSpPr>
          <p:nvPr/>
        </p:nvSpPr>
        <p:spPr>
          <a:xfrm xmlns:a="http://schemas.openxmlformats.org/drawingml/2006/main">
            <a:off x="6858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The dedicated AI Gateway tier is preview. It does not enter this production baseline.</a:t>
            </a:r>
          </a:p>
        </p:txBody>
      </p:sp>
      <p:sp>
        <p:nvSpPr>
          <p:cNvPr id="10" name="content">
            <a:extLst xmlns:a="http://schemas.openxmlformats.org/drawingml/2006/main">
              <a:ext uri="{FF2B5EF4-FFF2-40B4-BE49-F238E27FC236}">
                <a16:creationId xmlns:a16="http://schemas.microsoft.com/office/drawing/2014/main" id="{1FBF1BB2-83CA-42E4-9353-458EEC761806}"/>
              </a:ext>
            </a:extLst>
          </p:cNvPr>
          <p:cNvSpPr>
            <a:spLocks xmlns:a="http://schemas.openxmlformats.org/drawingml/2006/main" noGrp="1"/>
          </p:cNvSpPr>
          <p:nvPr/>
        </p:nvSpPr>
        <p:spPr>
          <a:xfrm xmlns:a="http://schemas.openxmlformats.org/drawingml/2006/main">
            <a:off x="64389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Agent expansion</a:t>
            </a:r>
          </a:p>
        </p:txBody>
      </p:sp>
      <p:sp>
        <p:nvSpPr>
          <p:cNvPr id="11" name="content">
            <a:extLst xmlns:a="http://schemas.openxmlformats.org/drawingml/2006/main">
              <a:ext uri="{FF2B5EF4-FFF2-40B4-BE49-F238E27FC236}">
                <a16:creationId xmlns:a16="http://schemas.microsoft.com/office/drawing/2014/main" id="{ECCFF97E-3857-46CC-80E7-7975104E6E66}"/>
              </a:ext>
            </a:extLst>
          </p:cNvPr>
          <p:cNvSpPr>
            <a:spLocks xmlns:a="http://schemas.openxmlformats.org/drawingml/2006/main" noGrp="1"/>
          </p:cNvSpPr>
          <p:nvPr/>
        </p:nvSpPr>
        <p:spPr>
          <a:xfrm xmlns:a="http://schemas.openxmlformats.org/drawingml/2006/main">
            <a:off x="64389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Price agentic retrieval and autonomous actions separately. Add tool authorization and evaluation tests for actions.</a:t>
            </a:r>
          </a:p>
        </p:txBody>
      </p:sp>
      <p:sp>
        <p:nvSpPr>
          <p:cNvPr id="12" name="content">
            <a:extLst xmlns:a="http://schemas.openxmlformats.org/drawingml/2006/main">
              <a:ext uri="{FF2B5EF4-FFF2-40B4-BE49-F238E27FC236}">
                <a16:creationId xmlns:a16="http://schemas.microsoft.com/office/drawing/2014/main" id="{442BA04C-B635-4F77-A91D-1197ACEA3579}"/>
              </a:ext>
            </a:extLst>
          </p:cNvPr>
          <p:cNvSpPr>
            <a:spLocks xmlns:a="http://schemas.openxmlformats.org/drawingml/2006/main" noGrp="1"/>
          </p:cNvSpPr>
          <p:nvPr/>
        </p:nvSpPr>
        <p:spPr>
          <a:xfrm xmlns:a="http://schemas.openxmlformats.org/drawingml/2006/main">
            <a:off x="64389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Hosted runtime</a:t>
            </a:r>
          </a:p>
        </p:txBody>
      </p:sp>
      <p:sp>
        <p:nvSpPr>
          <p:cNvPr id="13" name="content">
            <a:extLst xmlns:a="http://schemas.openxmlformats.org/drawingml/2006/main">
              <a:ext uri="{FF2B5EF4-FFF2-40B4-BE49-F238E27FC236}">
                <a16:creationId xmlns:a16="http://schemas.microsoft.com/office/drawing/2014/main" id="{F38B9D9D-F057-4E58-AEDF-21683B756748}"/>
              </a:ext>
            </a:extLst>
          </p:cNvPr>
          <p:cNvSpPr>
            <a:spLocks xmlns:a="http://schemas.openxmlformats.org/drawingml/2006/main" noGrp="1"/>
          </p:cNvSpPr>
          <p:nvPr/>
        </p:nvSpPr>
        <p:spPr>
          <a:xfrm xmlns:a="http://schemas.openxmlformats.org/drawingml/2006/main">
            <a:off x="64389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Foundry Agent Service introduces setup-specific compute, data and networking dependencies.</a:t>
            </a:r>
          </a:p>
        </p:txBody>
      </p:sp>
      <p:sp>
        <p:nvSpPr>
          <p:cNvPr id="14" name="content">
            <a:extLst xmlns:a="http://schemas.openxmlformats.org/drawingml/2006/main">
              <a:ext uri="{FF2B5EF4-FFF2-40B4-BE49-F238E27FC236}">
                <a16:creationId xmlns:a16="http://schemas.microsoft.com/office/drawing/2014/main" id="{159A71AD-554B-40A5-9AB9-168A3B68AF61}"/>
              </a:ext>
            </a:extLst>
          </p:cNvPr>
          <p:cNvSpPr>
            <a:spLocks xmlns:a="http://schemas.openxmlformats.org/drawingml/2006/main" noGrp="1"/>
          </p:cNvSpPr>
          <p:nvPr/>
        </p:nvSpPr>
        <p:spPr>
          <a:xfrm xmlns:a="http://schemas.openxmlformats.org/drawingml/2006/main">
            <a:off x="64389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Change gate</a:t>
            </a:r>
          </a:p>
        </p:txBody>
      </p:sp>
      <p:sp>
        <p:nvSpPr>
          <p:cNvPr id="15" name="content">
            <a:extLst xmlns:a="http://schemas.openxmlformats.org/drawingml/2006/main">
              <a:ext uri="{FF2B5EF4-FFF2-40B4-BE49-F238E27FC236}">
                <a16:creationId xmlns:a16="http://schemas.microsoft.com/office/drawing/2014/main" id="{6C347667-7265-4E8A-9C10-3762E459F6F4}"/>
              </a:ext>
            </a:extLst>
          </p:cNvPr>
          <p:cNvSpPr>
            <a:spLocks xmlns:a="http://schemas.openxmlformats.org/drawingml/2006/main" noGrp="1"/>
          </p:cNvSpPr>
          <p:nvPr/>
        </p:nvSpPr>
        <p:spPr>
          <a:xfrm xmlns:a="http://schemas.openxmlformats.org/drawingml/2006/main">
            <a:off x="64389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Reprice the BOM, threat model, acceptance and support schedule before adding a gateway or tool.</a:t>
            </a:r>
          </a:p>
        </p:txBody>
      </p:sp>
      <p:sp>
        <p:nvSpPr>
          <p:cNvPr id="16" name="content">
            <a:extLst xmlns:a="http://schemas.openxmlformats.org/drawingml/2006/main">
              <a:ext uri="{FF2B5EF4-FFF2-40B4-BE49-F238E27FC236}">
                <a16:creationId xmlns:a16="http://schemas.microsoft.com/office/drawing/2014/main" id="{2C78A539-712E-4056-920C-F1477EDF3776}"/>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Preview feature adoption requires an explicit customer risk decision.</a:t>
            </a:r>
          </a:p>
        </p:txBody>
      </p:sp>
      <p:sp>
        <p:nvSpPr>
          <p:cNvPr id="17" name="content">
            <a:extLst xmlns:a="http://schemas.openxmlformats.org/drawingml/2006/main">
              <a:ext uri="{FF2B5EF4-FFF2-40B4-BE49-F238E27FC236}">
                <a16:creationId xmlns:a16="http://schemas.microsoft.com/office/drawing/2014/main" id="{9347234A-2381-4932-91E8-8314703CB856}"/>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8" name="content">
            <a:extLst xmlns:a="http://schemas.openxmlformats.org/drawingml/2006/main">
              <a:ext uri="{FF2B5EF4-FFF2-40B4-BE49-F238E27FC236}">
                <a16:creationId xmlns:a16="http://schemas.microsoft.com/office/drawing/2014/main" id="{CA450593-037D-4ECA-AF56-26CA94613B7E}"/>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09</a:t>
            </a:r>
          </a:p>
        </p:txBody>
      </p:sp>
    </p:spTree>
    <p:extLst>
      <p:ext uri="{BB962C8B-B14F-4D97-AF65-F5344CB8AC3E}">
        <p14:creationId xmlns:p14="http://schemas.microsoft.com/office/powerpoint/2010/main" val="24923129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865FB4BD-01CA-48BB-B7E4-2DE48CDF4649}"/>
              </a:ext>
            </a:extLst>
          </p:cNvPr>
          <p:cNvPicPr>
            <a:picLocks xmlns:a="http://schemas.openxmlformats.org/drawingml/2006/main" noChangeAspect="1"/>
          </p:cNvPicPr>
          <p:nvPr/>
        </p:nvPicPr>
        <p:blipFill>
          <a:blip xmlns:r="http://schemas.openxmlformats.org/officeDocument/2006/relationships" xmlns:a="http://schemas.openxmlformats.org/drawingml/2006/main" r:embed="R65db4334ee6d46b9"/>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3BFA1BDE-9979-4946-8139-B1A62D14DEF3}"/>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CIS Infra / Solutioning proposal</a:t>
            </a:r>
          </a:p>
        </p:txBody>
      </p:sp>
      <p:sp>
        <p:nvSpPr>
          <p:cNvPr id="3" name="heading">
            <a:extLst xmlns:a="http://schemas.openxmlformats.org/drawingml/2006/main">
              <a:ext uri="{FF2B5EF4-FFF2-40B4-BE49-F238E27FC236}">
                <a16:creationId xmlns:a16="http://schemas.microsoft.com/office/drawing/2014/main" id="{AE657794-83FB-447D-A40A-1CB3E045389A}"/>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The USD quote separates implementation and run costs</a:t>
            </a:r>
          </a:p>
        </p:txBody>
      </p:sp>
      <p:sp>
        <p:nvSpPr>
          <p:cNvPr id="4" name="content">
            <a:extLst xmlns:a="http://schemas.openxmlformats.org/drawingml/2006/main">
              <a:ext uri="{FF2B5EF4-FFF2-40B4-BE49-F238E27FC236}">
                <a16:creationId xmlns:a16="http://schemas.microsoft.com/office/drawing/2014/main" id="{A061CA04-250A-491D-A6BC-B2E04D36B990}"/>
              </a:ext>
            </a:extLst>
          </p:cNvPr>
          <p:cNvSpPr>
            <a:spLocks xmlns:a="http://schemas.openxmlformats.org/drawingml/2006/main" noGrp="1"/>
          </p:cNvSpPr>
          <p:nvPr/>
        </p:nvSpPr>
        <p:spPr>
          <a:xfrm xmlns:a="http://schemas.openxmlformats.org/drawingml/2006/main">
            <a:off x="6858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Implementation fee</a:t>
            </a:r>
          </a:p>
        </p:txBody>
      </p:sp>
      <p:sp>
        <p:nvSpPr>
          <p:cNvPr id="5" name="content">
            <a:extLst xmlns:a="http://schemas.openxmlformats.org/drawingml/2006/main">
              <a:ext uri="{FF2B5EF4-FFF2-40B4-BE49-F238E27FC236}">
                <a16:creationId xmlns:a16="http://schemas.microsoft.com/office/drawing/2014/main" id="{2E76C2C7-25F5-40E0-B839-C0D97E82AC9B}"/>
              </a:ext>
            </a:extLst>
          </p:cNvPr>
          <p:cNvSpPr>
            <a:spLocks xmlns:a="http://schemas.openxmlformats.org/drawingml/2006/main" noGrp="1"/>
          </p:cNvSpPr>
          <p:nvPr/>
        </p:nvSpPr>
        <p:spPr>
          <a:xfrm xmlns:a="http://schemas.openxmlformats.org/drawingml/2006/main">
            <a:off x="6858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$76,885.71 for 88 base days plus 15% cost reserve at a sample 30% margin.</a:t>
            </a:r>
          </a:p>
        </p:txBody>
      </p:sp>
      <p:sp>
        <p:nvSpPr>
          <p:cNvPr id="6" name="content">
            <a:extLst xmlns:a="http://schemas.openxmlformats.org/drawingml/2006/main">
              <a:ext uri="{FF2B5EF4-FFF2-40B4-BE49-F238E27FC236}">
                <a16:creationId xmlns:a16="http://schemas.microsoft.com/office/drawing/2014/main" id="{F31CDB8A-B354-46FE-A222-1D268275BEB4}"/>
              </a:ext>
            </a:extLst>
          </p:cNvPr>
          <p:cNvSpPr>
            <a:spLocks xmlns:a="http://schemas.openxmlformats.org/drawingml/2006/main" noGrp="1"/>
          </p:cNvSpPr>
          <p:nvPr/>
        </p:nvSpPr>
        <p:spPr>
          <a:xfrm xmlns:a="http://schemas.openxmlformats.org/drawingml/2006/main">
            <a:off x="6858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Azure base budget</a:t>
            </a:r>
          </a:p>
        </p:txBody>
      </p:sp>
      <p:sp>
        <p:nvSpPr>
          <p:cNvPr id="7" name="content">
            <a:extLst xmlns:a="http://schemas.openxmlformats.org/drawingml/2006/main">
              <a:ext uri="{FF2B5EF4-FFF2-40B4-BE49-F238E27FC236}">
                <a16:creationId xmlns:a16="http://schemas.microsoft.com/office/drawing/2014/main" id="{6ED52097-AC9F-4362-B80A-EBFE18B96A85}"/>
              </a:ext>
            </a:extLst>
          </p:cNvPr>
          <p:cNvSpPr>
            <a:spLocks xmlns:a="http://schemas.openxmlformats.org/drawingml/2006/main" noGrp="1"/>
          </p:cNvSpPr>
          <p:nvPr/>
        </p:nvSpPr>
        <p:spPr>
          <a:xfrm xmlns:a="http://schemas.openxmlformats.org/drawingml/2006/main">
            <a:off x="6858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$2,500/month for the two environments at 20,000 monthly requests.</a:t>
            </a:r>
          </a:p>
        </p:txBody>
      </p:sp>
      <p:sp>
        <p:nvSpPr>
          <p:cNvPr id="8" name="content">
            <a:extLst xmlns:a="http://schemas.openxmlformats.org/drawingml/2006/main">
              <a:ext uri="{FF2B5EF4-FFF2-40B4-BE49-F238E27FC236}">
                <a16:creationId xmlns:a16="http://schemas.microsoft.com/office/drawing/2014/main" id="{4B6D9A17-D0B4-4194-85AA-C353CE5BF9CC}"/>
              </a:ext>
            </a:extLst>
          </p:cNvPr>
          <p:cNvSpPr>
            <a:spLocks xmlns:a="http://schemas.openxmlformats.org/drawingml/2006/main" noGrp="1"/>
          </p:cNvSpPr>
          <p:nvPr/>
        </p:nvSpPr>
        <p:spPr>
          <a:xfrm xmlns:a="http://schemas.openxmlformats.org/drawingml/2006/main">
            <a:off x="6858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Operations fee</a:t>
            </a:r>
          </a:p>
        </p:txBody>
      </p:sp>
      <p:sp>
        <p:nvSpPr>
          <p:cNvPr id="9" name="content">
            <a:extLst xmlns:a="http://schemas.openxmlformats.org/drawingml/2006/main">
              <a:ext uri="{FF2B5EF4-FFF2-40B4-BE49-F238E27FC236}">
                <a16:creationId xmlns:a16="http://schemas.microsoft.com/office/drawing/2014/main" id="{8000CF04-3263-4ED3-B505-6D53585E8651}"/>
              </a:ext>
            </a:extLst>
          </p:cNvPr>
          <p:cNvSpPr>
            <a:spLocks xmlns:a="http://schemas.openxmlformats.org/drawingml/2006/main" noGrp="1"/>
          </p:cNvSpPr>
          <p:nvPr/>
        </p:nvSpPr>
        <p:spPr>
          <a:xfrm xmlns:a="http://schemas.openxmlformats.org/drawingml/2006/main">
            <a:off x="6858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$2,321.43/month for a pooled, bounded business-hours service.</a:t>
            </a:r>
          </a:p>
        </p:txBody>
      </p:sp>
      <p:sp>
        <p:nvSpPr>
          <p:cNvPr id="10" name="content">
            <a:extLst xmlns:a="http://schemas.openxmlformats.org/drawingml/2006/main">
              <a:ext uri="{FF2B5EF4-FFF2-40B4-BE49-F238E27FC236}">
                <a16:creationId xmlns:a16="http://schemas.microsoft.com/office/drawing/2014/main" id="{C2F3FF4D-0EA4-48DB-BB7E-C718A89BF184}"/>
              </a:ext>
            </a:extLst>
          </p:cNvPr>
          <p:cNvSpPr>
            <a:spLocks xmlns:a="http://schemas.openxmlformats.org/drawingml/2006/main" noGrp="1"/>
          </p:cNvSpPr>
          <p:nvPr/>
        </p:nvSpPr>
        <p:spPr>
          <a:xfrm xmlns:a="http://schemas.openxmlformats.org/drawingml/2006/main">
            <a:off x="64389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First-year total</a:t>
            </a:r>
          </a:p>
        </p:txBody>
      </p:sp>
      <p:sp>
        <p:nvSpPr>
          <p:cNvPr id="11" name="content">
            <a:extLst xmlns:a="http://schemas.openxmlformats.org/drawingml/2006/main">
              <a:ext uri="{FF2B5EF4-FFF2-40B4-BE49-F238E27FC236}">
                <a16:creationId xmlns:a16="http://schemas.microsoft.com/office/drawing/2014/main" id="{E2953E88-59F6-41CB-9889-911F62AEC0FD}"/>
              </a:ext>
            </a:extLst>
          </p:cNvPr>
          <p:cNvSpPr>
            <a:spLocks xmlns:a="http://schemas.openxmlformats.org/drawingml/2006/main" noGrp="1"/>
          </p:cNvSpPr>
          <p:nvPr/>
        </p:nvSpPr>
        <p:spPr>
          <a:xfrm xmlns:a="http://schemas.openxmlformats.org/drawingml/2006/main">
            <a:off x="64389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$134,742.87 using 12 base months. Excludes assessment, licences, taxes and optional scope.</a:t>
            </a:r>
          </a:p>
        </p:txBody>
      </p:sp>
      <p:sp>
        <p:nvSpPr>
          <p:cNvPr id="12" name="content">
            <a:extLst xmlns:a="http://schemas.openxmlformats.org/drawingml/2006/main">
              <a:ext uri="{FF2B5EF4-FFF2-40B4-BE49-F238E27FC236}">
                <a16:creationId xmlns:a16="http://schemas.microsoft.com/office/drawing/2014/main" id="{7479A504-D7D0-443C-9B97-753E98C38D42}"/>
              </a:ext>
            </a:extLst>
          </p:cNvPr>
          <p:cNvSpPr>
            <a:spLocks xmlns:a="http://schemas.openxmlformats.org/drawingml/2006/main" noGrp="1"/>
          </p:cNvSpPr>
          <p:nvPr/>
        </p:nvSpPr>
        <p:spPr>
          <a:xfrm xmlns:a="http://schemas.openxmlformats.org/drawingml/2006/main">
            <a:off x="64389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Commercial inputs</a:t>
            </a:r>
          </a:p>
        </p:txBody>
      </p:sp>
      <p:sp>
        <p:nvSpPr>
          <p:cNvPr id="13" name="content">
            <a:extLst xmlns:a="http://schemas.openxmlformats.org/drawingml/2006/main">
              <a:ext uri="{FF2B5EF4-FFF2-40B4-BE49-F238E27FC236}">
                <a16:creationId xmlns:a16="http://schemas.microsoft.com/office/drawing/2014/main" id="{D5DC8000-E18C-45DA-B7CA-3F13B0CF909F}"/>
              </a:ext>
            </a:extLst>
          </p:cNvPr>
          <p:cNvSpPr>
            <a:spLocks xmlns:a="http://schemas.openxmlformats.org/drawingml/2006/main" noGrp="1"/>
          </p:cNvSpPr>
          <p:nvPr/>
        </p:nvSpPr>
        <p:spPr>
          <a:xfrm xmlns:a="http://schemas.openxmlformats.org/drawingml/2006/main">
            <a:off x="64389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Role costs, region-specific Azure prices, delivery mix and support capacity need approval.</a:t>
            </a:r>
          </a:p>
        </p:txBody>
      </p:sp>
      <p:sp>
        <p:nvSpPr>
          <p:cNvPr id="14" name="content">
            <a:extLst xmlns:a="http://schemas.openxmlformats.org/drawingml/2006/main">
              <a:ext uri="{FF2B5EF4-FFF2-40B4-BE49-F238E27FC236}">
                <a16:creationId xmlns:a16="http://schemas.microsoft.com/office/drawing/2014/main" id="{CE93854C-9662-4894-958D-3EE5872CA083}"/>
              </a:ext>
            </a:extLst>
          </p:cNvPr>
          <p:cNvSpPr>
            <a:spLocks xmlns:a="http://schemas.openxmlformats.org/drawingml/2006/main" noGrp="1"/>
          </p:cNvSpPr>
          <p:nvPr/>
        </p:nvSpPr>
        <p:spPr>
          <a:xfrm xmlns:a="http://schemas.openxmlformats.org/drawingml/2006/main">
            <a:off x="64389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Price validity</a:t>
            </a:r>
          </a:p>
        </p:txBody>
      </p:sp>
      <p:sp>
        <p:nvSpPr>
          <p:cNvPr id="15" name="content">
            <a:extLst xmlns:a="http://schemas.openxmlformats.org/drawingml/2006/main">
              <a:ext uri="{FF2B5EF4-FFF2-40B4-BE49-F238E27FC236}">
                <a16:creationId xmlns:a16="http://schemas.microsoft.com/office/drawing/2014/main" id="{0871FB40-4267-4E66-BC3D-A223F86D8CD2}"/>
              </a:ext>
            </a:extLst>
          </p:cNvPr>
          <p:cNvSpPr>
            <a:spLocks xmlns:a="http://schemas.openxmlformats.org/drawingml/2006/main" noGrp="1"/>
          </p:cNvSpPr>
          <p:nvPr/>
        </p:nvSpPr>
        <p:spPr>
          <a:xfrm xmlns:a="http://schemas.openxmlformats.org/drawingml/2006/main">
            <a:off x="64389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Attach a dated estimate and agreed quote expiry. Reprice when inputs or scope change.</a:t>
            </a:r>
          </a:p>
        </p:txBody>
      </p:sp>
      <p:sp>
        <p:nvSpPr>
          <p:cNvPr id="16" name="content">
            <a:extLst xmlns:a="http://schemas.openxmlformats.org/drawingml/2006/main">
              <a:ext uri="{FF2B5EF4-FFF2-40B4-BE49-F238E27FC236}">
                <a16:creationId xmlns:a16="http://schemas.microsoft.com/office/drawing/2014/main" id="{587FC5ED-C9C9-4909-BACE-16922845C2B3}"/>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ILLUSTRATIVE USD BUDGET. Not an approved quote or Microsoft price.</a:t>
            </a:r>
          </a:p>
        </p:txBody>
      </p:sp>
      <p:sp>
        <p:nvSpPr>
          <p:cNvPr id="17" name="content">
            <a:extLst xmlns:a="http://schemas.openxmlformats.org/drawingml/2006/main">
              <a:ext uri="{FF2B5EF4-FFF2-40B4-BE49-F238E27FC236}">
                <a16:creationId xmlns:a16="http://schemas.microsoft.com/office/drawing/2014/main" id="{D963AE2D-2F38-44A1-B044-EB52DC193740}"/>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8" name="content">
            <a:extLst xmlns:a="http://schemas.openxmlformats.org/drawingml/2006/main">
              <a:ext uri="{FF2B5EF4-FFF2-40B4-BE49-F238E27FC236}">
                <a16:creationId xmlns:a16="http://schemas.microsoft.com/office/drawing/2014/main" id="{9C6DF720-7016-467E-AF40-741C50513D1C}"/>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10</a:t>
            </a:r>
          </a:p>
        </p:txBody>
      </p:sp>
    </p:spTree>
    <p:extLst>
      <p:ext uri="{BB962C8B-B14F-4D97-AF65-F5344CB8AC3E}">
        <p14:creationId xmlns:p14="http://schemas.microsoft.com/office/powerpoint/2010/main" val="138882219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A7527C53-B0E5-4899-AA76-D4079AE9A623}"/>
              </a:ext>
            </a:extLst>
          </p:cNvPr>
          <p:cNvPicPr>
            <a:picLocks xmlns:a="http://schemas.openxmlformats.org/drawingml/2006/main" noChangeAspect="1"/>
          </p:cNvPicPr>
          <p:nvPr/>
        </p:nvPicPr>
        <p:blipFill>
          <a:blip xmlns:r="http://schemas.openxmlformats.org/officeDocument/2006/relationships" xmlns:a="http://schemas.openxmlformats.org/drawingml/2006/main" r:embed="Ra0af6f7be53443e6"/>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AD00C77B-4D7F-441C-BC1A-EE1199836496}"/>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CIS Infra / Solutioning proposal</a:t>
            </a:r>
          </a:p>
        </p:txBody>
      </p:sp>
      <p:sp>
        <p:nvSpPr>
          <p:cNvPr id="3" name="heading">
            <a:extLst xmlns:a="http://schemas.openxmlformats.org/drawingml/2006/main">
              <a:ext uri="{FF2B5EF4-FFF2-40B4-BE49-F238E27FC236}">
                <a16:creationId xmlns:a16="http://schemas.microsoft.com/office/drawing/2014/main" id="{A4EDF549-145B-45EB-8EBC-3563E07B3A0E}"/>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Token volume drives only part of the Azure budget</a:t>
            </a:r>
          </a:p>
        </p:txBody>
      </p:sp>
      <p:graphicFrame>
        <p:nvGraphicFramePr>
          <p:cNvPr id="4" name="">
            <a:extLst xmlns:a="http://schemas.openxmlformats.org/drawingml/2006/main">
              <a:ext uri="{FF2B5EF4-FFF2-40B4-BE49-F238E27FC236}">
                <a16:creationId xmlns:a16="http://schemas.microsoft.com/office/drawing/2014/main" id="{88F49DD2-D17E-4C95-9E16-5392ACFA7356}"/>
              </a:ext>
            </a:extLst>
          </p:cNvPr>
          <p:cNvGraphicFramePr/>
          <p:nvPr/>
        </p:nvGraphicFramePr>
        <p:xfrm>
          <a:off xmlns:a="http://schemas.openxmlformats.org/drawingml/2006/main" x="685800" y="1905000"/>
          <a:ext xmlns:a="http://schemas.openxmlformats.org/drawingml/2006/main" cx="10820400" cy="4000500"/>
        </p:xfrm>
        <a:graphic xmlns:a="http://schemas.openxmlformats.org/drawingml/2006/main">
          <a:graphicData uri="http://schemas.openxmlformats.org/drawingml/2006/table">
            <a:tbl>
              <a:tblPr/>
              <a:tblGrid>
                <a:gridCol w="4333875"/>
                <a:gridCol w="2162175"/>
                <a:gridCol w="2162175"/>
                <a:gridCol w="2162175"/>
              </a:tblGrid>
              <a:tr h="571500">
                <a:tc>
                  <a:txBody>
                    <a:bodyPr/>
                    <a:lstStyle/>
                    <a:p>
                      <a:r>
                        <a:rPr sz="1725" b="1">
                          <a:solidFill>
                            <a:srgbClr val="FFFFFF"/>
                          </a:solidFill>
                        </a:rPr>
                        <a:t>Monthly input</a:t>
                      </a:r>
                    </a:p>
                  </a:txBody>
                  <a:tcPr marL="95250" marR="95250" marT="19050" marB="19050" anchor="ctr">
                    <a:solidFill>
                      <a:srgbClr val="000048"/>
                    </a:solidFill>
                  </a:tcPr>
                </a:tc>
                <a:tc>
                  <a:txBody>
                    <a:bodyPr/>
                    <a:lstStyle/>
                    <a:p>
                      <a:r>
                        <a:rPr sz="1725" b="1">
                          <a:solidFill>
                            <a:srgbClr val="FFFFFF"/>
                          </a:solidFill>
                        </a:rPr>
                        <a:t>Low</a:t>
                      </a:r>
                    </a:p>
                  </a:txBody>
                  <a:tcPr marL="95250" marR="95250" marT="19050" marB="19050" anchor="ctr">
                    <a:solidFill>
                      <a:srgbClr val="000048"/>
                    </a:solidFill>
                  </a:tcPr>
                </a:tc>
                <a:tc>
                  <a:txBody>
                    <a:bodyPr/>
                    <a:lstStyle/>
                    <a:p>
                      <a:r>
                        <a:rPr sz="1725" b="1">
                          <a:solidFill>
                            <a:srgbClr val="FFFFFF"/>
                          </a:solidFill>
                        </a:rPr>
                        <a:t>Base</a:t>
                      </a:r>
                    </a:p>
                  </a:txBody>
                  <a:tcPr marL="95250" marR="95250" marT="19050" marB="19050" anchor="ctr">
                    <a:solidFill>
                      <a:srgbClr val="000048"/>
                    </a:solidFill>
                  </a:tcPr>
                </a:tc>
                <a:tc>
                  <a:txBody>
                    <a:bodyPr/>
                    <a:lstStyle/>
                    <a:p>
                      <a:r>
                        <a:rPr sz="1725" b="1">
                          <a:solidFill>
                            <a:srgbClr val="FFFFFF"/>
                          </a:solidFill>
                        </a:rPr>
                        <a:t>High</a:t>
                      </a:r>
                    </a:p>
                  </a:txBody>
                  <a:tcPr marL="95250" marR="95250" marT="19050" marB="19050" anchor="ctr">
                    <a:solidFill>
                      <a:srgbClr val="000048"/>
                    </a:solidFill>
                  </a:tcPr>
                </a:tc>
              </a:tr>
              <a:tr h="571500">
                <a:tc>
                  <a:txBody>
                    <a:bodyPr/>
                    <a:lstStyle/>
                    <a:p>
                      <a:r>
                        <a:rPr sz="1725" b="0">
                          <a:solidFill>
                            <a:srgbClr val="000048"/>
                          </a:solidFill>
                        </a:rPr>
                        <a:t>Active users</a:t>
                      </a:r>
                    </a:p>
                  </a:txBody>
                  <a:tcPr marL="95250" marR="95250" marT="19050" marB="19050" anchor="ctr">
                    <a:solidFill>
                      <a:srgbClr val="F5F5F2"/>
                    </a:solidFill>
                  </a:tcPr>
                </a:tc>
                <a:tc>
                  <a:txBody>
                    <a:bodyPr/>
                    <a:lstStyle/>
                    <a:p>
                      <a:r>
                        <a:rPr sz="1725" b="0">
                          <a:solidFill>
                            <a:srgbClr val="000048"/>
                          </a:solidFill>
                        </a:rPr>
                        <a:t>500</a:t>
                      </a:r>
                    </a:p>
                  </a:txBody>
                  <a:tcPr marL="95250" marR="95250" marT="19050" marB="19050" anchor="ctr">
                    <a:solidFill>
                      <a:srgbClr val="F5F5F2"/>
                    </a:solidFill>
                  </a:tcPr>
                </a:tc>
                <a:tc>
                  <a:txBody>
                    <a:bodyPr/>
                    <a:lstStyle/>
                    <a:p>
                      <a:r>
                        <a:rPr sz="1725" b="0">
                          <a:solidFill>
                            <a:srgbClr val="000048"/>
                          </a:solidFill>
                        </a:rPr>
                        <a:t>1,000</a:t>
                      </a:r>
                    </a:p>
                  </a:txBody>
                  <a:tcPr marL="95250" marR="95250" marT="19050" marB="19050" anchor="ctr">
                    <a:solidFill>
                      <a:srgbClr val="F5F5F2"/>
                    </a:solidFill>
                  </a:tcPr>
                </a:tc>
                <a:tc>
                  <a:txBody>
                    <a:bodyPr/>
                    <a:lstStyle/>
                    <a:p>
                      <a:r>
                        <a:rPr sz="1725" b="0">
                          <a:solidFill>
                            <a:srgbClr val="000048"/>
                          </a:solidFill>
                        </a:rPr>
                        <a:t>2,000</a:t>
                      </a:r>
                    </a:p>
                  </a:txBody>
                  <a:tcPr marL="95250" marR="95250" marT="19050" marB="19050" anchor="ctr">
                    <a:solidFill>
                      <a:srgbClr val="F5F5F2"/>
                    </a:solidFill>
                  </a:tcPr>
                </a:tc>
              </a:tr>
              <a:tr h="571500">
                <a:tc>
                  <a:txBody>
                    <a:bodyPr/>
                    <a:lstStyle/>
                    <a:p>
                      <a:r>
                        <a:rPr sz="1725" b="0">
                          <a:solidFill>
                            <a:srgbClr val="000048"/>
                          </a:solidFill>
                        </a:rPr>
                        <a:t>Requests/user</a:t>
                      </a:r>
                    </a:p>
                  </a:txBody>
                  <a:tcPr marL="95250" marR="95250" marT="19050" marB="19050" anchor="ctr">
                    <a:solidFill>
                      <a:srgbClr val="FFFFFF"/>
                    </a:solidFill>
                  </a:tcPr>
                </a:tc>
                <a:tc>
                  <a:txBody>
                    <a:bodyPr/>
                    <a:lstStyle/>
                    <a:p>
                      <a:r>
                        <a:rPr sz="1725" b="0">
                          <a:solidFill>
                            <a:srgbClr val="000048"/>
                          </a:solidFill>
                        </a:rPr>
                        <a:t>10</a:t>
                      </a:r>
                    </a:p>
                  </a:txBody>
                  <a:tcPr marL="95250" marR="95250" marT="19050" marB="19050" anchor="ctr">
                    <a:solidFill>
                      <a:srgbClr val="FFFFFF"/>
                    </a:solidFill>
                  </a:tcPr>
                </a:tc>
                <a:tc>
                  <a:txBody>
                    <a:bodyPr/>
                    <a:lstStyle/>
                    <a:p>
                      <a:r>
                        <a:rPr sz="1725" b="0">
                          <a:solidFill>
                            <a:srgbClr val="000048"/>
                          </a:solidFill>
                        </a:rPr>
                        <a:t>20</a:t>
                      </a:r>
                    </a:p>
                  </a:txBody>
                  <a:tcPr marL="95250" marR="95250" marT="19050" marB="19050" anchor="ctr">
                    <a:solidFill>
                      <a:srgbClr val="FFFFFF"/>
                    </a:solidFill>
                  </a:tcPr>
                </a:tc>
                <a:tc>
                  <a:txBody>
                    <a:bodyPr/>
                    <a:lstStyle/>
                    <a:p>
                      <a:r>
                        <a:rPr sz="1725" b="0">
                          <a:solidFill>
                            <a:srgbClr val="000048"/>
                          </a:solidFill>
                        </a:rPr>
                        <a:t>30</a:t>
                      </a:r>
                    </a:p>
                  </a:txBody>
                  <a:tcPr marL="95250" marR="95250" marT="19050" marB="19050" anchor="ctr">
                    <a:solidFill>
                      <a:srgbClr val="FFFFFF"/>
                    </a:solidFill>
                  </a:tcPr>
                </a:tc>
              </a:tr>
              <a:tr h="571500">
                <a:tc>
                  <a:txBody>
                    <a:bodyPr/>
                    <a:lstStyle/>
                    <a:p>
                      <a:r>
                        <a:rPr sz="1725" b="0">
                          <a:solidFill>
                            <a:srgbClr val="000048"/>
                          </a:solidFill>
                        </a:rPr>
                        <a:t>Total requests</a:t>
                      </a:r>
                    </a:p>
                  </a:txBody>
                  <a:tcPr marL="95250" marR="95250" marT="19050" marB="19050" anchor="ctr">
                    <a:solidFill>
                      <a:srgbClr val="F5F5F2"/>
                    </a:solidFill>
                  </a:tcPr>
                </a:tc>
                <a:tc>
                  <a:txBody>
                    <a:bodyPr/>
                    <a:lstStyle/>
                    <a:p>
                      <a:r>
                        <a:rPr sz="1725" b="0">
                          <a:solidFill>
                            <a:srgbClr val="000048"/>
                          </a:solidFill>
                        </a:rPr>
                        <a:t>5,000</a:t>
                      </a:r>
                    </a:p>
                  </a:txBody>
                  <a:tcPr marL="95250" marR="95250" marT="19050" marB="19050" anchor="ctr">
                    <a:solidFill>
                      <a:srgbClr val="F5F5F2"/>
                    </a:solidFill>
                  </a:tcPr>
                </a:tc>
                <a:tc>
                  <a:txBody>
                    <a:bodyPr/>
                    <a:lstStyle/>
                    <a:p>
                      <a:r>
                        <a:rPr sz="1725" b="0">
                          <a:solidFill>
                            <a:srgbClr val="000048"/>
                          </a:solidFill>
                        </a:rPr>
                        <a:t>20,000</a:t>
                      </a:r>
                    </a:p>
                  </a:txBody>
                  <a:tcPr marL="95250" marR="95250" marT="19050" marB="19050" anchor="ctr">
                    <a:solidFill>
                      <a:srgbClr val="F5F5F2"/>
                    </a:solidFill>
                  </a:tcPr>
                </a:tc>
                <a:tc>
                  <a:txBody>
                    <a:bodyPr/>
                    <a:lstStyle/>
                    <a:p>
                      <a:r>
                        <a:rPr sz="1725" b="0">
                          <a:solidFill>
                            <a:srgbClr val="000048"/>
                          </a:solidFill>
                        </a:rPr>
                        <a:t>60,000</a:t>
                      </a:r>
                    </a:p>
                  </a:txBody>
                  <a:tcPr marL="95250" marR="95250" marT="19050" marB="19050" anchor="ctr">
                    <a:solidFill>
                      <a:srgbClr val="F5F5F2"/>
                    </a:solidFill>
                  </a:tcPr>
                </a:tc>
              </a:tr>
              <a:tr h="571500">
                <a:tc>
                  <a:txBody>
                    <a:bodyPr/>
                    <a:lstStyle/>
                    <a:p>
                      <a:r>
                        <a:rPr sz="1725" b="0">
                          <a:solidFill>
                            <a:srgbClr val="000048"/>
                          </a:solidFill>
                        </a:rPr>
                        <a:t>Input/output tokens, M</a:t>
                      </a:r>
                    </a:p>
                  </a:txBody>
                  <a:tcPr marL="95250" marR="95250" marT="19050" marB="19050" anchor="ctr">
                    <a:solidFill>
                      <a:srgbClr val="FFFFFF"/>
                    </a:solidFill>
                  </a:tcPr>
                </a:tc>
                <a:tc>
                  <a:txBody>
                    <a:bodyPr/>
                    <a:lstStyle/>
                    <a:p>
                      <a:r>
                        <a:rPr sz="1725" b="0">
                          <a:solidFill>
                            <a:srgbClr val="000048"/>
                          </a:solidFill>
                        </a:rPr>
                        <a:t>10 / 2.5</a:t>
                      </a:r>
                    </a:p>
                  </a:txBody>
                  <a:tcPr marL="95250" marR="95250" marT="19050" marB="19050" anchor="ctr">
                    <a:solidFill>
                      <a:srgbClr val="FFFFFF"/>
                    </a:solidFill>
                  </a:tcPr>
                </a:tc>
                <a:tc>
                  <a:txBody>
                    <a:bodyPr/>
                    <a:lstStyle/>
                    <a:p>
                      <a:r>
                        <a:rPr sz="1725" b="0">
                          <a:solidFill>
                            <a:srgbClr val="000048"/>
                          </a:solidFill>
                        </a:rPr>
                        <a:t>60 / 15</a:t>
                      </a:r>
                    </a:p>
                  </a:txBody>
                  <a:tcPr marL="95250" marR="95250" marT="19050" marB="19050" anchor="ctr">
                    <a:solidFill>
                      <a:srgbClr val="FFFFFF"/>
                    </a:solidFill>
                  </a:tcPr>
                </a:tc>
                <a:tc>
                  <a:txBody>
                    <a:bodyPr/>
                    <a:lstStyle/>
                    <a:p>
                      <a:r>
                        <a:rPr sz="1725" b="0">
                          <a:solidFill>
                            <a:srgbClr val="000048"/>
                          </a:solidFill>
                        </a:rPr>
                        <a:t>240 / 60</a:t>
                      </a:r>
                    </a:p>
                  </a:txBody>
                  <a:tcPr marL="95250" marR="95250" marT="19050" marB="19050" anchor="ctr">
                    <a:solidFill>
                      <a:srgbClr val="FFFFFF"/>
                    </a:solidFill>
                  </a:tcPr>
                </a:tc>
              </a:tr>
              <a:tr h="571500">
                <a:tc>
                  <a:txBody>
                    <a:bodyPr/>
                    <a:lstStyle/>
                    <a:p>
                      <a:r>
                        <a:rPr sz="1725" b="0">
                          <a:solidFill>
                            <a:srgbClr val="000048"/>
                          </a:solidFill>
                        </a:rPr>
                        <a:t>Model budget</a:t>
                      </a:r>
                    </a:p>
                  </a:txBody>
                  <a:tcPr marL="95250" marR="95250" marT="19050" marB="19050" anchor="ctr">
                    <a:solidFill>
                      <a:srgbClr val="F5F5F2"/>
                    </a:solidFill>
                  </a:tcPr>
                </a:tc>
                <a:tc>
                  <a:txBody>
                    <a:bodyPr/>
                    <a:lstStyle/>
                    <a:p>
                      <a:r>
                        <a:rPr sz="1725" b="0">
                          <a:solidFill>
                            <a:srgbClr val="000048"/>
                          </a:solidFill>
                        </a:rPr>
                        <a:t> $87.50</a:t>
                      </a:r>
                    </a:p>
                  </a:txBody>
                  <a:tcPr marL="95250" marR="95250" marT="19050" marB="19050" anchor="ctr">
                    <a:solidFill>
                      <a:srgbClr val="F5F5F2"/>
                    </a:solidFill>
                  </a:tcPr>
                </a:tc>
                <a:tc>
                  <a:txBody>
                    <a:bodyPr/>
                    <a:lstStyle/>
                    <a:p>
                      <a:r>
                        <a:rPr sz="1725" b="0">
                          <a:solidFill>
                            <a:srgbClr val="000048"/>
                          </a:solidFill>
                        </a:rPr>
                        <a:t>$525.00</a:t>
                      </a:r>
                    </a:p>
                  </a:txBody>
                  <a:tcPr marL="95250" marR="95250" marT="19050" marB="19050" anchor="ctr">
                    <a:solidFill>
                      <a:srgbClr val="F5F5F2"/>
                    </a:solidFill>
                  </a:tcPr>
                </a:tc>
                <a:tc>
                  <a:txBody>
                    <a:bodyPr/>
                    <a:lstStyle/>
                    <a:p>
                      <a:r>
                        <a:rPr sz="1725" b="0">
                          <a:solidFill>
                            <a:srgbClr val="000048"/>
                          </a:solidFill>
                        </a:rPr>
                        <a:t>$2,100.00</a:t>
                      </a:r>
                    </a:p>
                  </a:txBody>
                  <a:tcPr marL="95250" marR="95250" marT="19050" marB="19050" anchor="ctr">
                    <a:solidFill>
                      <a:srgbClr val="F5F5F2"/>
                    </a:solidFill>
                  </a:tcPr>
                </a:tc>
              </a:tr>
              <a:tr h="571500">
                <a:tc>
                  <a:txBody>
                    <a:bodyPr/>
                    <a:lstStyle/>
                    <a:p>
                      <a:r>
                        <a:rPr sz="1725" b="0">
                          <a:solidFill>
                            <a:srgbClr val="000048"/>
                          </a:solidFill>
                        </a:rPr>
                        <a:t>Total Azure budget</a:t>
                      </a:r>
                    </a:p>
                  </a:txBody>
                  <a:tcPr marL="95250" marR="95250" marT="19050" marB="19050" anchor="ctr">
                    <a:solidFill>
                      <a:srgbClr val="FFFFFF"/>
                    </a:solidFill>
                  </a:tcPr>
                </a:tc>
                <a:tc>
                  <a:txBody>
                    <a:bodyPr/>
                    <a:lstStyle/>
                    <a:p>
                      <a:r>
                        <a:rPr sz="1725" b="0">
                          <a:solidFill>
                            <a:srgbClr val="000048"/>
                          </a:solidFill>
                        </a:rPr>
                        <a:t>$2,062.50</a:t>
                      </a:r>
                    </a:p>
                  </a:txBody>
                  <a:tcPr marL="95250" marR="95250" marT="19050" marB="19050" anchor="ctr">
                    <a:solidFill>
                      <a:srgbClr val="FFFFFF"/>
                    </a:solidFill>
                  </a:tcPr>
                </a:tc>
                <a:tc>
                  <a:txBody>
                    <a:bodyPr/>
                    <a:lstStyle/>
                    <a:p>
                      <a:r>
                        <a:rPr sz="1725" b="0">
                          <a:solidFill>
                            <a:srgbClr val="000048"/>
                          </a:solidFill>
                        </a:rPr>
                        <a:t>$2,500.00</a:t>
                      </a:r>
                    </a:p>
                  </a:txBody>
                  <a:tcPr marL="95250" marR="95250" marT="19050" marB="19050" anchor="ctr">
                    <a:solidFill>
                      <a:srgbClr val="FFFFFF"/>
                    </a:solidFill>
                  </a:tcPr>
                </a:tc>
                <a:tc>
                  <a:txBody>
                    <a:bodyPr/>
                    <a:lstStyle/>
                    <a:p>
                      <a:r>
                        <a:rPr sz="1725" b="0">
                          <a:solidFill>
                            <a:srgbClr val="000048"/>
                          </a:solidFill>
                        </a:rPr>
                        <a:t>$4,075.00</a:t>
                      </a:r>
                    </a:p>
                  </a:txBody>
                  <a:tcPr marL="95250" marR="95250" marT="19050" marB="19050" anchor="ctr">
                    <a:solidFill>
                      <a:srgbClr val="FFFFFF"/>
                    </a:solidFill>
                  </a:tcPr>
                </a:tc>
              </a:tr>
            </a:tbl>
          </a:graphicData>
        </a:graphic>
      </p:graphicFrame>
      <p:sp>
        <p:nvSpPr>
          <p:cNvPr id="5" name="content">
            <a:extLst xmlns:a="http://schemas.openxmlformats.org/drawingml/2006/main">
              <a:ext uri="{FF2B5EF4-FFF2-40B4-BE49-F238E27FC236}">
                <a16:creationId xmlns:a16="http://schemas.microsoft.com/office/drawing/2014/main" id="{87955CF4-29CA-4DB1-AA4C-2090902A8E03}"/>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Planning rates, not Azure prices: $5/M input, $15/M output. Other Azure budget $1,975/month.</a:t>
            </a:r>
          </a:p>
        </p:txBody>
      </p:sp>
      <p:sp>
        <p:nvSpPr>
          <p:cNvPr id="6" name="content">
            <a:extLst xmlns:a="http://schemas.openxmlformats.org/drawingml/2006/main">
              <a:ext uri="{FF2B5EF4-FFF2-40B4-BE49-F238E27FC236}">
                <a16:creationId xmlns:a16="http://schemas.microsoft.com/office/drawing/2014/main" id="{32B18973-7100-44CE-A43B-BE03E3146C71}"/>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7" name="content">
            <a:extLst xmlns:a="http://schemas.openxmlformats.org/drawingml/2006/main">
              <a:ext uri="{FF2B5EF4-FFF2-40B4-BE49-F238E27FC236}">
                <a16:creationId xmlns:a16="http://schemas.microsoft.com/office/drawing/2014/main" id="{C5C77331-06E8-4E24-B29A-D6D3C72EB6AD}"/>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11</a:t>
            </a:r>
          </a:p>
        </p:txBody>
      </p:sp>
    </p:spTree>
    <p:extLst>
      <p:ext uri="{BB962C8B-B14F-4D97-AF65-F5344CB8AC3E}">
        <p14:creationId xmlns:p14="http://schemas.microsoft.com/office/powerpoint/2010/main" val="212029830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1A6E94CE-8145-4F22-A801-9714AD3CAA14}"/>
              </a:ext>
            </a:extLst>
          </p:cNvPr>
          <p:cNvPicPr>
            <a:picLocks xmlns:a="http://schemas.openxmlformats.org/drawingml/2006/main" noChangeAspect="1"/>
          </p:cNvPicPr>
          <p:nvPr/>
        </p:nvPicPr>
        <p:blipFill>
          <a:blip xmlns:r="http://schemas.openxmlformats.org/officeDocument/2006/relationships" xmlns:a="http://schemas.openxmlformats.org/drawingml/2006/main" r:embed="R5d91d16e3bbf4d3b"/>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7D2D38CD-8439-4E3D-A723-9200EAB7DD60}"/>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CIS Infra / Solutioning proposal</a:t>
            </a:r>
          </a:p>
        </p:txBody>
      </p:sp>
      <p:sp>
        <p:nvSpPr>
          <p:cNvPr id="3" name="heading">
            <a:extLst xmlns:a="http://schemas.openxmlformats.org/drawingml/2006/main">
              <a:ext uri="{FF2B5EF4-FFF2-40B4-BE49-F238E27FC236}">
                <a16:creationId xmlns:a16="http://schemas.microsoft.com/office/drawing/2014/main" id="{B3E193E6-B00D-466E-9BB7-9CD5F2A00B8C}"/>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Capacity and service targets need customer agreement</a:t>
            </a:r>
          </a:p>
        </p:txBody>
      </p:sp>
      <p:sp>
        <p:nvSpPr>
          <p:cNvPr id="4" name="content">
            <a:extLst xmlns:a="http://schemas.openxmlformats.org/drawingml/2006/main">
              <a:ext uri="{FF2B5EF4-FFF2-40B4-BE49-F238E27FC236}">
                <a16:creationId xmlns:a16="http://schemas.microsoft.com/office/drawing/2014/main" id="{9F0A25BA-4104-4407-9E37-FA7CA8D0D2BF}"/>
              </a:ext>
            </a:extLst>
          </p:cNvPr>
          <p:cNvSpPr>
            <a:spLocks xmlns:a="http://schemas.openxmlformats.org/drawingml/2006/main" noGrp="1"/>
          </p:cNvSpPr>
          <p:nvPr/>
        </p:nvSpPr>
        <p:spPr>
          <a:xfrm xmlns:a="http://schemas.openxmlformats.org/drawingml/2006/main">
            <a:off x="6858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Initial load test</a:t>
            </a:r>
          </a:p>
        </p:txBody>
      </p:sp>
      <p:sp>
        <p:nvSpPr>
          <p:cNvPr id="5" name="content">
            <a:extLst xmlns:a="http://schemas.openxmlformats.org/drawingml/2006/main">
              <a:ext uri="{FF2B5EF4-FFF2-40B4-BE49-F238E27FC236}">
                <a16:creationId xmlns:a16="http://schemas.microsoft.com/office/drawing/2014/main" id="{54E0B7C0-7417-498B-82E5-B6020E37BFE4}"/>
              </a:ext>
            </a:extLst>
          </p:cNvPr>
          <p:cNvSpPr>
            <a:spLocks xmlns:a="http://schemas.openxmlformats.org/drawingml/2006/main" noGrp="1"/>
          </p:cNvSpPr>
          <p:nvPr/>
        </p:nvSpPr>
        <p:spPr>
          <a:xfrm xmlns:a="http://schemas.openxmlformats.org/drawingml/2006/main">
            <a:off x="6858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Proposed 25 concurrent sessions and 20 requests/minute for 30 minutes. Record P95, errors and throttling.</a:t>
            </a:r>
          </a:p>
        </p:txBody>
      </p:sp>
      <p:sp>
        <p:nvSpPr>
          <p:cNvPr id="6" name="content">
            <a:extLst xmlns:a="http://schemas.openxmlformats.org/drawingml/2006/main">
              <a:ext uri="{FF2B5EF4-FFF2-40B4-BE49-F238E27FC236}">
                <a16:creationId xmlns:a16="http://schemas.microsoft.com/office/drawing/2014/main" id="{4C51AB13-B051-493E-9AE8-0F81BAB61C05}"/>
              </a:ext>
            </a:extLst>
          </p:cNvPr>
          <p:cNvSpPr>
            <a:spLocks xmlns:a="http://schemas.openxmlformats.org/drawingml/2006/main" noGrp="1"/>
          </p:cNvSpPr>
          <p:nvPr/>
        </p:nvSpPr>
        <p:spPr>
          <a:xfrm xmlns:a="http://schemas.openxmlformats.org/drawingml/2006/main">
            <a:off x="6858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Quota basis</a:t>
            </a:r>
          </a:p>
        </p:txBody>
      </p:sp>
      <p:sp>
        <p:nvSpPr>
          <p:cNvPr id="7" name="content">
            <a:extLst xmlns:a="http://schemas.openxmlformats.org/drawingml/2006/main">
              <a:ext uri="{FF2B5EF4-FFF2-40B4-BE49-F238E27FC236}">
                <a16:creationId xmlns:a16="http://schemas.microsoft.com/office/drawing/2014/main" id="{2B98A42B-4D4D-417F-A3F2-003EB4135098}"/>
              </a:ext>
            </a:extLst>
          </p:cNvPr>
          <p:cNvSpPr>
            <a:spLocks xmlns:a="http://schemas.openxmlformats.org/drawingml/2006/main" noGrp="1"/>
          </p:cNvSpPr>
          <p:nvPr/>
        </p:nvSpPr>
        <p:spPr>
          <a:xfrm xmlns:a="http://schemas.openxmlformats.org/drawingml/2006/main">
            <a:off x="6858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Base prompt sizes at 20 RPM imply about 60,000 input tokens/minute. Include output and retry headroom.</a:t>
            </a:r>
          </a:p>
        </p:txBody>
      </p:sp>
      <p:sp>
        <p:nvSpPr>
          <p:cNvPr id="8" name="content">
            <a:extLst xmlns:a="http://schemas.openxmlformats.org/drawingml/2006/main">
              <a:ext uri="{FF2B5EF4-FFF2-40B4-BE49-F238E27FC236}">
                <a16:creationId xmlns:a16="http://schemas.microsoft.com/office/drawing/2014/main" id="{58A2685B-1E61-4F10-8295-677BEE2FE659}"/>
              </a:ext>
            </a:extLst>
          </p:cNvPr>
          <p:cNvSpPr>
            <a:spLocks xmlns:a="http://schemas.openxmlformats.org/drawingml/2006/main" noGrp="1"/>
          </p:cNvSpPr>
          <p:nvPr/>
        </p:nvSpPr>
        <p:spPr>
          <a:xfrm xmlns:a="http://schemas.openxmlformats.org/drawingml/2006/main">
            <a:off x="6858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Scale decision</a:t>
            </a:r>
          </a:p>
        </p:txBody>
      </p:sp>
      <p:sp>
        <p:nvSpPr>
          <p:cNvPr id="9" name="content">
            <a:extLst xmlns:a="http://schemas.openxmlformats.org/drawingml/2006/main">
              <a:ext uri="{FF2B5EF4-FFF2-40B4-BE49-F238E27FC236}">
                <a16:creationId xmlns:a16="http://schemas.microsoft.com/office/drawing/2014/main" id="{AE621EF0-D019-4AE0-B44E-A7C5861CA233}"/>
              </a:ext>
            </a:extLst>
          </p:cNvPr>
          <p:cNvSpPr>
            <a:spLocks xmlns:a="http://schemas.openxmlformats.org/drawingml/2006/main" noGrp="1"/>
          </p:cNvSpPr>
          <p:nvPr/>
        </p:nvSpPr>
        <p:spPr>
          <a:xfrm xmlns:a="http://schemas.openxmlformats.org/drawingml/2006/main">
            <a:off x="6858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Use measured throughput to confirm App Service replicas, Search units and model quota.</a:t>
            </a:r>
          </a:p>
        </p:txBody>
      </p:sp>
      <p:sp>
        <p:nvSpPr>
          <p:cNvPr id="10" name="content">
            <a:extLst xmlns:a="http://schemas.openxmlformats.org/drawingml/2006/main">
              <a:ext uri="{FF2B5EF4-FFF2-40B4-BE49-F238E27FC236}">
                <a16:creationId xmlns:a16="http://schemas.microsoft.com/office/drawing/2014/main" id="{3ED7532E-E0AC-482D-B3C1-2628E9758804}"/>
              </a:ext>
            </a:extLst>
          </p:cNvPr>
          <p:cNvSpPr>
            <a:spLocks xmlns:a="http://schemas.openxmlformats.org/drawingml/2006/main" noGrp="1"/>
          </p:cNvSpPr>
          <p:nvPr/>
        </p:nvSpPr>
        <p:spPr>
          <a:xfrm xmlns:a="http://schemas.openxmlformats.org/drawingml/2006/main">
            <a:off x="64389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Quality target</a:t>
            </a:r>
          </a:p>
        </p:txBody>
      </p:sp>
      <p:sp>
        <p:nvSpPr>
          <p:cNvPr id="11" name="content">
            <a:extLst xmlns:a="http://schemas.openxmlformats.org/drawingml/2006/main">
              <a:ext uri="{FF2B5EF4-FFF2-40B4-BE49-F238E27FC236}">
                <a16:creationId xmlns:a16="http://schemas.microsoft.com/office/drawing/2014/main" id="{D7F4EAD0-EF0C-49B4-9D33-57A103FF89BC}"/>
              </a:ext>
            </a:extLst>
          </p:cNvPr>
          <p:cNvSpPr>
            <a:spLocks xmlns:a="http://schemas.openxmlformats.org/drawingml/2006/main" noGrp="1"/>
          </p:cNvSpPr>
          <p:nvPr/>
        </p:nvSpPr>
        <p:spPr>
          <a:xfrm xmlns:a="http://schemas.openxmlformats.org/drawingml/2006/main">
            <a:off x="64389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At least 85% business-approved answers over 200 held-out questions, with valid citations.</a:t>
            </a:r>
          </a:p>
        </p:txBody>
      </p:sp>
      <p:sp>
        <p:nvSpPr>
          <p:cNvPr id="12" name="content">
            <a:extLst xmlns:a="http://schemas.openxmlformats.org/drawingml/2006/main">
              <a:ext uri="{FF2B5EF4-FFF2-40B4-BE49-F238E27FC236}">
                <a16:creationId xmlns:a16="http://schemas.microsoft.com/office/drawing/2014/main" id="{8F3EBD6E-47ED-4C3E-8B6D-B13302FBABC7}"/>
              </a:ext>
            </a:extLst>
          </p:cNvPr>
          <p:cNvSpPr>
            <a:spLocks xmlns:a="http://schemas.openxmlformats.org/drawingml/2006/main" noGrp="1"/>
          </p:cNvSpPr>
          <p:nvPr/>
        </p:nvSpPr>
        <p:spPr>
          <a:xfrm xmlns:a="http://schemas.openxmlformats.org/drawingml/2006/main">
            <a:off x="64389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Latency target</a:t>
            </a:r>
          </a:p>
        </p:txBody>
      </p:sp>
      <p:sp>
        <p:nvSpPr>
          <p:cNvPr id="13" name="content">
            <a:extLst xmlns:a="http://schemas.openxmlformats.org/drawingml/2006/main">
              <a:ext uri="{FF2B5EF4-FFF2-40B4-BE49-F238E27FC236}">
                <a16:creationId xmlns:a16="http://schemas.microsoft.com/office/drawing/2014/main" id="{B2185D42-DC85-45E8-B84F-CE18F5392F2E}"/>
              </a:ext>
            </a:extLst>
          </p:cNvPr>
          <p:cNvSpPr>
            <a:spLocks xmlns:a="http://schemas.openxmlformats.org/drawingml/2006/main" noGrp="1"/>
          </p:cNvSpPr>
          <p:nvPr/>
        </p:nvSpPr>
        <p:spPr>
          <a:xfrm xmlns:a="http://schemas.openxmlformats.org/drawingml/2006/main">
            <a:off x="64389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Proposed P95 complete answer within 15 seconds for agreed prompt and response sizes.</a:t>
            </a:r>
          </a:p>
        </p:txBody>
      </p:sp>
      <p:sp>
        <p:nvSpPr>
          <p:cNvPr id="14" name="content">
            <a:extLst xmlns:a="http://schemas.openxmlformats.org/drawingml/2006/main">
              <a:ext uri="{FF2B5EF4-FFF2-40B4-BE49-F238E27FC236}">
                <a16:creationId xmlns:a16="http://schemas.microsoft.com/office/drawing/2014/main" id="{1749475E-8A98-4E68-9765-11843E4EC61A}"/>
              </a:ext>
            </a:extLst>
          </p:cNvPr>
          <p:cNvSpPr>
            <a:spLocks xmlns:a="http://schemas.openxmlformats.org/drawingml/2006/main" noGrp="1"/>
          </p:cNvSpPr>
          <p:nvPr/>
        </p:nvSpPr>
        <p:spPr>
          <a:xfrm xmlns:a="http://schemas.openxmlformats.org/drawingml/2006/main">
            <a:off x="64389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Availability boundary</a:t>
            </a:r>
          </a:p>
        </p:txBody>
      </p:sp>
      <p:sp>
        <p:nvSpPr>
          <p:cNvPr id="15" name="content">
            <a:extLst xmlns:a="http://schemas.openxmlformats.org/drawingml/2006/main">
              <a:ext uri="{FF2B5EF4-FFF2-40B4-BE49-F238E27FC236}">
                <a16:creationId xmlns:a16="http://schemas.microsoft.com/office/drawing/2014/main" id="{C32FFF6D-CF71-47E4-8FFB-8DAB28B3EB6A}"/>
              </a:ext>
            </a:extLst>
          </p:cNvPr>
          <p:cNvSpPr>
            <a:spLocks xmlns:a="http://schemas.openxmlformats.org/drawingml/2006/main" noGrp="1"/>
          </p:cNvSpPr>
          <p:nvPr/>
        </p:nvSpPr>
        <p:spPr>
          <a:xfrm xmlns:a="http://schemas.openxmlformats.org/drawingml/2006/main">
            <a:off x="64389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Agree an end-to-end SLO after dependency analysis. Component SLAs do not establish application availability.</a:t>
            </a:r>
          </a:p>
        </p:txBody>
      </p:sp>
      <p:sp>
        <p:nvSpPr>
          <p:cNvPr id="16" name="content">
            <a:extLst xmlns:a="http://schemas.openxmlformats.org/drawingml/2006/main">
              <a:ext uri="{FF2B5EF4-FFF2-40B4-BE49-F238E27FC236}">
                <a16:creationId xmlns:a16="http://schemas.microsoft.com/office/drawing/2014/main" id="{15F09A8F-E199-4CB6-819A-2080EF625D70}"/>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All thresholds are proposal targets. Customer approval and measured results are pending.</a:t>
            </a:r>
          </a:p>
        </p:txBody>
      </p:sp>
      <p:sp>
        <p:nvSpPr>
          <p:cNvPr id="17" name="content">
            <a:extLst xmlns:a="http://schemas.openxmlformats.org/drawingml/2006/main">
              <a:ext uri="{FF2B5EF4-FFF2-40B4-BE49-F238E27FC236}">
                <a16:creationId xmlns:a16="http://schemas.microsoft.com/office/drawing/2014/main" id="{588FBC52-F533-4F46-8D40-945B26ECFE3A}"/>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8" name="content">
            <a:extLst xmlns:a="http://schemas.openxmlformats.org/drawingml/2006/main">
              <a:ext uri="{FF2B5EF4-FFF2-40B4-BE49-F238E27FC236}">
                <a16:creationId xmlns:a16="http://schemas.microsoft.com/office/drawing/2014/main" id="{A8E58667-55C1-4523-8539-E36DD6CA7C1D}"/>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12</a:t>
            </a:r>
          </a:p>
        </p:txBody>
      </p:sp>
    </p:spTree>
    <p:extLst>
      <p:ext uri="{BB962C8B-B14F-4D97-AF65-F5344CB8AC3E}">
        <p14:creationId xmlns:p14="http://schemas.microsoft.com/office/powerpoint/2010/main" val="159403952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D1F5EAD5-E411-40CE-B437-B547CBE8BA59}"/>
              </a:ext>
            </a:extLst>
          </p:cNvPr>
          <p:cNvPicPr>
            <a:picLocks xmlns:a="http://schemas.openxmlformats.org/drawingml/2006/main" noChangeAspect="1"/>
          </p:cNvPicPr>
          <p:nvPr/>
        </p:nvPicPr>
        <p:blipFill>
          <a:blip xmlns:r="http://schemas.openxmlformats.org/officeDocument/2006/relationships" xmlns:a="http://schemas.openxmlformats.org/drawingml/2006/main" r:embed="R4b2ed5c68b6a4255"/>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10AD94B6-C6D2-49EF-AFBA-F93D46D0094C}"/>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CIS Infra / Solutioning proposal</a:t>
            </a:r>
          </a:p>
        </p:txBody>
      </p:sp>
      <p:sp>
        <p:nvSpPr>
          <p:cNvPr id="3" name="heading">
            <a:extLst xmlns:a="http://schemas.openxmlformats.org/drawingml/2006/main">
              <a:ext uri="{FF2B5EF4-FFF2-40B4-BE49-F238E27FC236}">
                <a16:creationId xmlns:a16="http://schemas.microsoft.com/office/drawing/2014/main" id="{3ADDB1CF-F978-4741-96AB-25AF47B1C101}"/>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Eight weeks depend on accepted prerequisites</a:t>
            </a:r>
          </a:p>
        </p:txBody>
      </p:sp>
      <p:sp>
        <p:nvSpPr>
          <p:cNvPr id="4" name="content">
            <a:extLst xmlns:a="http://schemas.openxmlformats.org/drawingml/2006/main">
              <a:ext uri="{FF2B5EF4-FFF2-40B4-BE49-F238E27FC236}">
                <a16:creationId xmlns:a16="http://schemas.microsoft.com/office/drawing/2014/main" id="{D370E9EA-C3BA-4A2D-B1D5-0D7C67B65A1E}"/>
              </a:ext>
            </a:extLst>
          </p:cNvPr>
          <p:cNvSpPr>
            <a:spLocks xmlns:a="http://schemas.openxmlformats.org/drawingml/2006/main" noGrp="1"/>
          </p:cNvSpPr>
          <p:nvPr/>
        </p:nvSpPr>
        <p:spPr>
          <a:xfrm xmlns:a="http://schemas.openxmlformats.org/drawingml/2006/main">
            <a:off x="6858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Weeks 1–2</a:t>
            </a:r>
          </a:p>
        </p:txBody>
      </p:sp>
      <p:sp>
        <p:nvSpPr>
          <p:cNvPr id="5" name="content">
            <a:extLst xmlns:a="http://schemas.openxmlformats.org/drawingml/2006/main">
              <a:ext uri="{FF2B5EF4-FFF2-40B4-BE49-F238E27FC236}">
                <a16:creationId xmlns:a16="http://schemas.microsoft.com/office/drawing/2014/main" id="{5D9C7B20-B150-4B3D-BFD2-2BCC4EAA10AE}"/>
              </a:ext>
            </a:extLst>
          </p:cNvPr>
          <p:cNvSpPr>
            <a:spLocks xmlns:a="http://schemas.openxmlformats.org/drawingml/2006/main" noGrp="1"/>
          </p:cNvSpPr>
          <p:nvPr/>
        </p:nvSpPr>
        <p:spPr>
          <a:xfrm xmlns:a="http://schemas.openxmlformats.org/drawingml/2006/main">
            <a:off x="6858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Confirm source and access. Approve design, BOM, threat model and test targets.</a:t>
            </a:r>
          </a:p>
        </p:txBody>
      </p:sp>
      <p:sp>
        <p:nvSpPr>
          <p:cNvPr id="6" name="content">
            <a:extLst xmlns:a="http://schemas.openxmlformats.org/drawingml/2006/main">
              <a:ext uri="{FF2B5EF4-FFF2-40B4-BE49-F238E27FC236}">
                <a16:creationId xmlns:a16="http://schemas.microsoft.com/office/drawing/2014/main" id="{0E136C55-2D29-46F7-AC0A-C091FD965002}"/>
              </a:ext>
            </a:extLst>
          </p:cNvPr>
          <p:cNvSpPr>
            <a:spLocks xmlns:a="http://schemas.openxmlformats.org/drawingml/2006/main" noGrp="1"/>
          </p:cNvSpPr>
          <p:nvPr/>
        </p:nvSpPr>
        <p:spPr>
          <a:xfrm xmlns:a="http://schemas.openxmlformats.org/drawingml/2006/main">
            <a:off x="6858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Weeks 3–6</a:t>
            </a:r>
          </a:p>
        </p:txBody>
      </p:sp>
      <p:sp>
        <p:nvSpPr>
          <p:cNvPr id="7" name="content">
            <a:extLst xmlns:a="http://schemas.openxmlformats.org/drawingml/2006/main">
              <a:ext uri="{FF2B5EF4-FFF2-40B4-BE49-F238E27FC236}">
                <a16:creationId xmlns:a16="http://schemas.microsoft.com/office/drawing/2014/main" id="{206DBBCA-DD80-4D10-A1E0-FB34600AA220}"/>
              </a:ext>
            </a:extLst>
          </p:cNvPr>
          <p:cNvSpPr>
            <a:spLocks xmlns:a="http://schemas.openxmlformats.org/drawingml/2006/main" noGrp="1"/>
          </p:cNvSpPr>
          <p:nvPr/>
        </p:nvSpPr>
        <p:spPr>
          <a:xfrm xmlns:a="http://schemas.openxmlformats.org/drawingml/2006/main">
            <a:off x="6858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Build platform and application. Implement ingestion and access filtering. Test incrementally.</a:t>
            </a:r>
          </a:p>
        </p:txBody>
      </p:sp>
      <p:sp>
        <p:nvSpPr>
          <p:cNvPr id="8" name="content">
            <a:extLst xmlns:a="http://schemas.openxmlformats.org/drawingml/2006/main">
              <a:ext uri="{FF2B5EF4-FFF2-40B4-BE49-F238E27FC236}">
                <a16:creationId xmlns:a16="http://schemas.microsoft.com/office/drawing/2014/main" id="{50ED6AF9-C636-4EF4-84E4-6B36B062BB31}"/>
              </a:ext>
            </a:extLst>
          </p:cNvPr>
          <p:cNvSpPr>
            <a:spLocks xmlns:a="http://schemas.openxmlformats.org/drawingml/2006/main" noGrp="1"/>
          </p:cNvSpPr>
          <p:nvPr/>
        </p:nvSpPr>
        <p:spPr>
          <a:xfrm xmlns:a="http://schemas.openxmlformats.org/drawingml/2006/main">
            <a:off x="6858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Weeks 7–8</a:t>
            </a:r>
          </a:p>
        </p:txBody>
      </p:sp>
      <p:sp>
        <p:nvSpPr>
          <p:cNvPr id="9" name="content">
            <a:extLst xmlns:a="http://schemas.openxmlformats.org/drawingml/2006/main">
              <a:ext uri="{FF2B5EF4-FFF2-40B4-BE49-F238E27FC236}">
                <a16:creationId xmlns:a16="http://schemas.microsoft.com/office/drawing/2014/main" id="{78634412-24EF-4078-81AD-E3F5EC218EF3}"/>
              </a:ext>
            </a:extLst>
          </p:cNvPr>
          <p:cNvSpPr>
            <a:spLocks xmlns:a="http://schemas.openxmlformats.org/drawingml/2006/main" noGrp="1"/>
          </p:cNvSpPr>
          <p:nvPr/>
        </p:nvSpPr>
        <p:spPr>
          <a:xfrm xmlns:a="http://schemas.openxmlformats.org/drawingml/2006/main">
            <a:off x="6858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Complete integrated tests, recovery evidence, customer acceptance and service handover.</a:t>
            </a:r>
          </a:p>
        </p:txBody>
      </p:sp>
      <p:sp>
        <p:nvSpPr>
          <p:cNvPr id="10" name="content">
            <a:extLst xmlns:a="http://schemas.openxmlformats.org/drawingml/2006/main">
              <a:ext uri="{FF2B5EF4-FFF2-40B4-BE49-F238E27FC236}">
                <a16:creationId xmlns:a16="http://schemas.microsoft.com/office/drawing/2014/main" id="{51CE6EB1-3E92-4E12-A36B-159BDD60246C}"/>
              </a:ext>
            </a:extLst>
          </p:cNvPr>
          <p:cNvSpPr>
            <a:spLocks xmlns:a="http://schemas.openxmlformats.org/drawingml/2006/main" noGrp="1"/>
          </p:cNvSpPr>
          <p:nvPr/>
        </p:nvSpPr>
        <p:spPr>
          <a:xfrm xmlns:a="http://schemas.openxmlformats.org/drawingml/2006/main">
            <a:off x="64389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Base staffing</a:t>
            </a:r>
          </a:p>
        </p:txBody>
      </p:sp>
      <p:sp>
        <p:nvSpPr>
          <p:cNvPr id="11" name="content">
            <a:extLst xmlns:a="http://schemas.openxmlformats.org/drawingml/2006/main">
              <a:ext uri="{FF2B5EF4-FFF2-40B4-BE49-F238E27FC236}">
                <a16:creationId xmlns:a16="http://schemas.microsoft.com/office/drawing/2014/main" id="{78696DA2-8DC3-4198-80F9-0A1C14E26CE6}"/>
              </a:ext>
            </a:extLst>
          </p:cNvPr>
          <p:cNvSpPr>
            <a:spLocks xmlns:a="http://schemas.openxmlformats.org/drawingml/2006/main" noGrp="1"/>
          </p:cNvSpPr>
          <p:nvPr/>
        </p:nvSpPr>
        <p:spPr>
          <a:xfrm xmlns:a="http://schemas.openxmlformats.org/drawingml/2006/main">
            <a:off x="64389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88 role days across six towers. Peak week: 14 days, or 2.8 FTE at five days per week.</a:t>
            </a:r>
          </a:p>
        </p:txBody>
      </p:sp>
      <p:sp>
        <p:nvSpPr>
          <p:cNvPr id="12" name="content">
            <a:extLst xmlns:a="http://schemas.openxmlformats.org/drawingml/2006/main">
              <a:ext uri="{FF2B5EF4-FFF2-40B4-BE49-F238E27FC236}">
                <a16:creationId xmlns:a16="http://schemas.microsoft.com/office/drawing/2014/main" id="{4A0E2B08-1215-45CD-B3AD-01E4E2342989}"/>
              </a:ext>
            </a:extLst>
          </p:cNvPr>
          <p:cNvSpPr>
            <a:spLocks xmlns:a="http://schemas.openxmlformats.org/drawingml/2006/main" noGrp="1"/>
          </p:cNvSpPr>
          <p:nvPr/>
        </p:nvSpPr>
        <p:spPr>
          <a:xfrm xmlns:a="http://schemas.openxmlformats.org/drawingml/2006/main">
            <a:off x="64389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Reserve handling</a:t>
            </a:r>
          </a:p>
        </p:txBody>
      </p:sp>
      <p:sp>
        <p:nvSpPr>
          <p:cNvPr id="13" name="content">
            <a:extLst xmlns:a="http://schemas.openxmlformats.org/drawingml/2006/main">
              <a:ext uri="{FF2B5EF4-FFF2-40B4-BE49-F238E27FC236}">
                <a16:creationId xmlns:a16="http://schemas.microsoft.com/office/drawing/2014/main" id="{35146C4F-B09B-4795-B230-8A1C969D83CB}"/>
              </a:ext>
            </a:extLst>
          </p:cNvPr>
          <p:cNvSpPr>
            <a:spLocks xmlns:a="http://schemas.openxmlformats.org/drawingml/2006/main" noGrp="1"/>
          </p:cNvSpPr>
          <p:nvPr/>
        </p:nvSpPr>
        <p:spPr>
          <a:xfrm xmlns:a="http://schemas.openxmlformats.org/drawingml/2006/main">
            <a:off x="64389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13.2 additional role days are unallocated risk reserve. Schedule them after the risk decision.</a:t>
            </a:r>
          </a:p>
        </p:txBody>
      </p:sp>
      <p:sp>
        <p:nvSpPr>
          <p:cNvPr id="14" name="content">
            <a:extLst xmlns:a="http://schemas.openxmlformats.org/drawingml/2006/main">
              <a:ext uri="{FF2B5EF4-FFF2-40B4-BE49-F238E27FC236}">
                <a16:creationId xmlns:a16="http://schemas.microsoft.com/office/drawing/2014/main" id="{37288903-C093-4444-AA2B-B7CC49E21792}"/>
              </a:ext>
            </a:extLst>
          </p:cNvPr>
          <p:cNvSpPr>
            <a:spLocks xmlns:a="http://schemas.openxmlformats.org/drawingml/2006/main" noGrp="1"/>
          </p:cNvSpPr>
          <p:nvPr/>
        </p:nvSpPr>
        <p:spPr>
          <a:xfrm xmlns:a="http://schemas.openxmlformats.org/drawingml/2006/main">
            <a:off x="64389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Customer review gates</a:t>
            </a:r>
          </a:p>
        </p:txBody>
      </p:sp>
      <p:sp>
        <p:nvSpPr>
          <p:cNvPr id="15" name="content">
            <a:extLst xmlns:a="http://schemas.openxmlformats.org/drawingml/2006/main">
              <a:ext uri="{FF2B5EF4-FFF2-40B4-BE49-F238E27FC236}">
                <a16:creationId xmlns:a16="http://schemas.microsoft.com/office/drawing/2014/main" id="{C90EE766-D509-454D-8229-1C8220199244}"/>
              </a:ext>
            </a:extLst>
          </p:cNvPr>
          <p:cNvSpPr>
            <a:spLocks xmlns:a="http://schemas.openxmlformats.org/drawingml/2006/main" noGrp="1"/>
          </p:cNvSpPr>
          <p:nvPr/>
        </p:nvSpPr>
        <p:spPr>
          <a:xfrm xmlns:a="http://schemas.openxmlformats.org/drawingml/2006/main">
            <a:off x="64389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Allow agreed review windows, source-owner access and CAB dates. Delays trigger a schedule update.</a:t>
            </a:r>
          </a:p>
        </p:txBody>
      </p:sp>
      <p:sp>
        <p:nvSpPr>
          <p:cNvPr id="16" name="content">
            <a:extLst xmlns:a="http://schemas.openxmlformats.org/drawingml/2006/main">
              <a:ext uri="{FF2B5EF4-FFF2-40B4-BE49-F238E27FC236}">
                <a16:creationId xmlns:a16="http://schemas.microsoft.com/office/drawing/2014/main" id="{3DF89001-5AE3-47E2-9567-81811BD7BB54}"/>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Illustrative schedule begins after access, source, funding, capacity and tower staffing are accepted.</a:t>
            </a:r>
          </a:p>
        </p:txBody>
      </p:sp>
      <p:sp>
        <p:nvSpPr>
          <p:cNvPr id="17" name="content">
            <a:extLst xmlns:a="http://schemas.openxmlformats.org/drawingml/2006/main">
              <a:ext uri="{FF2B5EF4-FFF2-40B4-BE49-F238E27FC236}">
                <a16:creationId xmlns:a16="http://schemas.microsoft.com/office/drawing/2014/main" id="{5B2B46A1-F60C-4351-AB46-BBBCBD251CCD}"/>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8" name="content">
            <a:extLst xmlns:a="http://schemas.openxmlformats.org/drawingml/2006/main">
              <a:ext uri="{FF2B5EF4-FFF2-40B4-BE49-F238E27FC236}">
                <a16:creationId xmlns:a16="http://schemas.microsoft.com/office/drawing/2014/main" id="{AF4BA339-10C6-41C9-B8C7-0A3AB6A61A38}"/>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13</a:t>
            </a:r>
          </a:p>
        </p:txBody>
      </p:sp>
    </p:spTree>
    <p:extLst>
      <p:ext uri="{BB962C8B-B14F-4D97-AF65-F5344CB8AC3E}">
        <p14:creationId xmlns:p14="http://schemas.microsoft.com/office/powerpoint/2010/main" val="117971015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B13BA398-29D2-4169-A56A-BCBFE9962820}"/>
              </a:ext>
            </a:extLst>
          </p:cNvPr>
          <p:cNvPicPr>
            <a:picLocks xmlns:a="http://schemas.openxmlformats.org/drawingml/2006/main" noChangeAspect="1"/>
          </p:cNvPicPr>
          <p:nvPr/>
        </p:nvPicPr>
        <p:blipFill>
          <a:blip xmlns:r="http://schemas.openxmlformats.org/officeDocument/2006/relationships" xmlns:a="http://schemas.openxmlformats.org/drawingml/2006/main" r:embed="Rd88f8a811f374389"/>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C2642838-B474-4EA3-9817-54F03E0CB7A5}"/>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CIS Infra / Solutioning proposal</a:t>
            </a:r>
          </a:p>
        </p:txBody>
      </p:sp>
      <p:sp>
        <p:nvSpPr>
          <p:cNvPr id="3" name="heading">
            <a:extLst xmlns:a="http://schemas.openxmlformats.org/drawingml/2006/main">
              <a:ext uri="{FF2B5EF4-FFF2-40B4-BE49-F238E27FC236}">
                <a16:creationId xmlns:a16="http://schemas.microsoft.com/office/drawing/2014/main" id="{20ABDA94-D01E-4D1B-AA83-21ADABA3AE47}"/>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Recovery protects a bounded single-region service</a:t>
            </a:r>
          </a:p>
        </p:txBody>
      </p:sp>
      <p:sp>
        <p:nvSpPr>
          <p:cNvPr id="4" name="content">
            <a:extLst xmlns:a="http://schemas.openxmlformats.org/drawingml/2006/main">
              <a:ext uri="{FF2B5EF4-FFF2-40B4-BE49-F238E27FC236}">
                <a16:creationId xmlns:a16="http://schemas.microsoft.com/office/drawing/2014/main" id="{CF75F92B-046E-430B-833D-746F6A678F8E}"/>
              </a:ext>
            </a:extLst>
          </p:cNvPr>
          <p:cNvSpPr>
            <a:spLocks xmlns:a="http://schemas.openxmlformats.org/drawingml/2006/main" noGrp="1"/>
          </p:cNvSpPr>
          <p:nvPr/>
        </p:nvSpPr>
        <p:spPr>
          <a:xfrm xmlns:a="http://schemas.openxmlformats.org/drawingml/2006/main">
            <a:off x="6858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Initial objectives</a:t>
            </a:r>
          </a:p>
        </p:txBody>
      </p:sp>
      <p:sp>
        <p:nvSpPr>
          <p:cNvPr id="5" name="content">
            <a:extLst xmlns:a="http://schemas.openxmlformats.org/drawingml/2006/main">
              <a:ext uri="{FF2B5EF4-FFF2-40B4-BE49-F238E27FC236}">
                <a16:creationId xmlns:a16="http://schemas.microsoft.com/office/drawing/2014/main" id="{26E26208-4B58-4087-A503-F835664E48BA}"/>
              </a:ext>
            </a:extLst>
          </p:cNvPr>
          <p:cNvSpPr>
            <a:spLocks xmlns:a="http://schemas.openxmlformats.org/drawingml/2006/main" noGrp="1"/>
          </p:cNvSpPr>
          <p:nvPr/>
        </p:nvSpPr>
        <p:spPr>
          <a:xfrm xmlns:a="http://schemas.openxmlformats.org/drawingml/2006/main">
            <a:off x="6858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Proposed RTO: one business day. Proposed RPO: 24 hours for the approved source copy.</a:t>
            </a:r>
          </a:p>
        </p:txBody>
      </p:sp>
      <p:sp>
        <p:nvSpPr>
          <p:cNvPr id="6" name="content">
            <a:extLst xmlns:a="http://schemas.openxmlformats.org/drawingml/2006/main">
              <a:ext uri="{FF2B5EF4-FFF2-40B4-BE49-F238E27FC236}">
                <a16:creationId xmlns:a16="http://schemas.microsoft.com/office/drawing/2014/main" id="{C343E278-AF6E-466A-95DA-5503ECCE2AC6}"/>
              </a:ext>
            </a:extLst>
          </p:cNvPr>
          <p:cNvSpPr>
            <a:spLocks xmlns:a="http://schemas.openxmlformats.org/drawingml/2006/main" noGrp="1"/>
          </p:cNvSpPr>
          <p:nvPr/>
        </p:nvSpPr>
        <p:spPr>
          <a:xfrm xmlns:a="http://schemas.openxmlformats.org/drawingml/2006/main">
            <a:off x="6858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Restoration method</a:t>
            </a:r>
          </a:p>
        </p:txBody>
      </p:sp>
      <p:sp>
        <p:nvSpPr>
          <p:cNvPr id="7" name="content">
            <a:extLst xmlns:a="http://schemas.openxmlformats.org/drawingml/2006/main">
              <a:ext uri="{FF2B5EF4-FFF2-40B4-BE49-F238E27FC236}">
                <a16:creationId xmlns:a16="http://schemas.microsoft.com/office/drawing/2014/main" id="{B36B8E7A-99E0-45FE-AE55-318438FAA1E0}"/>
              </a:ext>
            </a:extLst>
          </p:cNvPr>
          <p:cNvSpPr>
            <a:spLocks xmlns:a="http://schemas.openxmlformats.org/drawingml/2006/main" noGrp="1"/>
          </p:cNvSpPr>
          <p:nvPr/>
        </p:nvSpPr>
        <p:spPr>
          <a:xfrm xmlns:a="http://schemas.openxmlformats.org/drawingml/2006/main">
            <a:off x="6858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Redeploy Terraform and app versions, restore the source snapshot, then rebuild the search index.</a:t>
            </a:r>
          </a:p>
        </p:txBody>
      </p:sp>
      <p:sp>
        <p:nvSpPr>
          <p:cNvPr id="8" name="content">
            <a:extLst xmlns:a="http://schemas.openxmlformats.org/drawingml/2006/main">
              <a:ext uri="{FF2B5EF4-FFF2-40B4-BE49-F238E27FC236}">
                <a16:creationId xmlns:a16="http://schemas.microsoft.com/office/drawing/2014/main" id="{FC0F73C0-B51A-4EA6-BD18-D4CA0E52BD4A}"/>
              </a:ext>
            </a:extLst>
          </p:cNvPr>
          <p:cNvSpPr>
            <a:spLocks xmlns:a="http://schemas.openxmlformats.org/drawingml/2006/main" noGrp="1"/>
          </p:cNvSpPr>
          <p:nvPr/>
        </p:nvSpPr>
        <p:spPr>
          <a:xfrm xmlns:a="http://schemas.openxmlformats.org/drawingml/2006/main">
            <a:off x="6858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Recovery evidence</a:t>
            </a:r>
          </a:p>
        </p:txBody>
      </p:sp>
      <p:sp>
        <p:nvSpPr>
          <p:cNvPr id="9" name="content">
            <a:extLst xmlns:a="http://schemas.openxmlformats.org/drawingml/2006/main">
              <a:ext uri="{FF2B5EF4-FFF2-40B4-BE49-F238E27FC236}">
                <a16:creationId xmlns:a16="http://schemas.microsoft.com/office/drawing/2014/main" id="{98FD74D7-1658-45CB-B1C7-6D538C14254A}"/>
              </a:ext>
            </a:extLst>
          </p:cNvPr>
          <p:cNvSpPr>
            <a:spLocks xmlns:a="http://schemas.openxmlformats.org/drawingml/2006/main" noGrp="1"/>
          </p:cNvSpPr>
          <p:nvPr/>
        </p:nvSpPr>
        <p:spPr>
          <a:xfrm xmlns:a="http://schemas.openxmlformats.org/drawingml/2006/main">
            <a:off x="6858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Measure restore and re-index time for 10M source tokens and 10,000 documents. Test model dependencies.</a:t>
            </a:r>
          </a:p>
        </p:txBody>
      </p:sp>
      <p:sp>
        <p:nvSpPr>
          <p:cNvPr id="10" name="content">
            <a:extLst xmlns:a="http://schemas.openxmlformats.org/drawingml/2006/main">
              <a:ext uri="{FF2B5EF4-FFF2-40B4-BE49-F238E27FC236}">
                <a16:creationId xmlns:a16="http://schemas.microsoft.com/office/drawing/2014/main" id="{2CCD28F7-4B77-44B3-90D9-3976558E0BB4}"/>
              </a:ext>
            </a:extLst>
          </p:cNvPr>
          <p:cNvSpPr>
            <a:spLocks xmlns:a="http://schemas.openxmlformats.org/drawingml/2006/main" noGrp="1"/>
          </p:cNvSpPr>
          <p:nvPr/>
        </p:nvSpPr>
        <p:spPr>
          <a:xfrm xmlns:a="http://schemas.openxmlformats.org/drawingml/2006/main">
            <a:off x="64389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Regional outage</a:t>
            </a:r>
          </a:p>
        </p:txBody>
      </p:sp>
      <p:sp>
        <p:nvSpPr>
          <p:cNvPr id="11" name="content">
            <a:extLst xmlns:a="http://schemas.openxmlformats.org/drawingml/2006/main">
              <a:ext uri="{FF2B5EF4-FFF2-40B4-BE49-F238E27FC236}">
                <a16:creationId xmlns:a16="http://schemas.microsoft.com/office/drawing/2014/main" id="{6D942AC2-78FA-4F84-9FA8-A4A45F478B9E}"/>
              </a:ext>
            </a:extLst>
          </p:cNvPr>
          <p:cNvSpPr>
            <a:spLocks xmlns:a="http://schemas.openxmlformats.org/drawingml/2006/main" noGrp="1"/>
          </p:cNvSpPr>
          <p:nvPr/>
        </p:nvSpPr>
        <p:spPr>
          <a:xfrm xmlns:a="http://schemas.openxmlformats.org/drawingml/2006/main">
            <a:off x="64389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No alternate region or model capacity is included. Recovery objectives exclude a full-region outage.</a:t>
            </a:r>
          </a:p>
        </p:txBody>
      </p:sp>
      <p:sp>
        <p:nvSpPr>
          <p:cNvPr id="12" name="content">
            <a:extLst xmlns:a="http://schemas.openxmlformats.org/drawingml/2006/main">
              <a:ext uri="{FF2B5EF4-FFF2-40B4-BE49-F238E27FC236}">
                <a16:creationId xmlns:a16="http://schemas.microsoft.com/office/drawing/2014/main" id="{108B33B2-26AC-457B-9FE0-FC81EB380B9D}"/>
              </a:ext>
            </a:extLst>
          </p:cNvPr>
          <p:cNvSpPr>
            <a:spLocks xmlns:a="http://schemas.openxmlformats.org/drawingml/2006/main" noGrp="1"/>
          </p:cNvSpPr>
          <p:nvPr/>
        </p:nvSpPr>
        <p:spPr>
          <a:xfrm xmlns:a="http://schemas.openxmlformats.org/drawingml/2006/main">
            <a:off x="64389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Source availability</a:t>
            </a:r>
          </a:p>
        </p:txBody>
      </p:sp>
      <p:sp>
        <p:nvSpPr>
          <p:cNvPr id="13" name="content">
            <a:extLst xmlns:a="http://schemas.openxmlformats.org/drawingml/2006/main">
              <a:ext uri="{FF2B5EF4-FFF2-40B4-BE49-F238E27FC236}">
                <a16:creationId xmlns:a16="http://schemas.microsoft.com/office/drawing/2014/main" id="{25629CCC-B892-44F6-B5AE-A51E9BF08A97}"/>
              </a:ext>
            </a:extLst>
          </p:cNvPr>
          <p:cNvSpPr>
            <a:spLocks xmlns:a="http://schemas.openxmlformats.org/drawingml/2006/main" noGrp="1"/>
          </p:cNvSpPr>
          <p:nvPr/>
        </p:nvSpPr>
        <p:spPr>
          <a:xfrm xmlns:a="http://schemas.openxmlformats.org/drawingml/2006/main">
            <a:off x="64389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Customer retains the authoritative source and accepts the snapshot, retention and restore method.</a:t>
            </a:r>
          </a:p>
        </p:txBody>
      </p:sp>
      <p:sp>
        <p:nvSpPr>
          <p:cNvPr id="14" name="content">
            <a:extLst xmlns:a="http://schemas.openxmlformats.org/drawingml/2006/main">
              <a:ext uri="{FF2B5EF4-FFF2-40B4-BE49-F238E27FC236}">
                <a16:creationId xmlns:a16="http://schemas.microsoft.com/office/drawing/2014/main" id="{AE078C05-8311-47DE-9ED7-41716D228D7D}"/>
              </a:ext>
            </a:extLst>
          </p:cNvPr>
          <p:cNvSpPr>
            <a:spLocks xmlns:a="http://schemas.openxmlformats.org/drawingml/2006/main" noGrp="1"/>
          </p:cNvSpPr>
          <p:nvPr/>
        </p:nvSpPr>
        <p:spPr>
          <a:xfrm xmlns:a="http://schemas.openxmlformats.org/drawingml/2006/main">
            <a:off x="64389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Extension option</a:t>
            </a:r>
          </a:p>
        </p:txBody>
      </p:sp>
      <p:sp>
        <p:nvSpPr>
          <p:cNvPr id="15" name="content">
            <a:extLst xmlns:a="http://schemas.openxmlformats.org/drawingml/2006/main">
              <a:ext uri="{FF2B5EF4-FFF2-40B4-BE49-F238E27FC236}">
                <a16:creationId xmlns:a16="http://schemas.microsoft.com/office/drawing/2014/main" id="{79F0796C-C87C-42E2-B1B7-AB032807913A}"/>
              </a:ext>
            </a:extLst>
          </p:cNvPr>
          <p:cNvSpPr>
            <a:spLocks xmlns:a="http://schemas.openxmlformats.org/drawingml/2006/main" noGrp="1"/>
          </p:cNvSpPr>
          <p:nvPr/>
        </p:nvSpPr>
        <p:spPr>
          <a:xfrm xmlns:a="http://schemas.openxmlformats.org/drawingml/2006/main">
            <a:off x="64389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Regional DR adds capacity, replicas, data-boundary review, network changes and another priced test package.</a:t>
            </a:r>
          </a:p>
        </p:txBody>
      </p:sp>
      <p:sp>
        <p:nvSpPr>
          <p:cNvPr id="16" name="content">
            <a:extLst xmlns:a="http://schemas.openxmlformats.org/drawingml/2006/main">
              <a:ext uri="{FF2B5EF4-FFF2-40B4-BE49-F238E27FC236}">
                <a16:creationId xmlns:a16="http://schemas.microsoft.com/office/drawing/2014/main" id="{278EBA22-8250-4FC6-A7FB-EAE5928522BD}"/>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Targets require test evidence. No guaranteed recovery or automatic region failover.</a:t>
            </a:r>
          </a:p>
        </p:txBody>
      </p:sp>
      <p:sp>
        <p:nvSpPr>
          <p:cNvPr id="17" name="content">
            <a:extLst xmlns:a="http://schemas.openxmlformats.org/drawingml/2006/main">
              <a:ext uri="{FF2B5EF4-FFF2-40B4-BE49-F238E27FC236}">
                <a16:creationId xmlns:a16="http://schemas.microsoft.com/office/drawing/2014/main" id="{90B3E06C-48E3-42BF-8877-5BEE07540702}"/>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8" name="content">
            <a:extLst xmlns:a="http://schemas.openxmlformats.org/drawingml/2006/main">
              <a:ext uri="{FF2B5EF4-FFF2-40B4-BE49-F238E27FC236}">
                <a16:creationId xmlns:a16="http://schemas.microsoft.com/office/drawing/2014/main" id="{A6F24A48-20B8-46C1-94EF-29CC4D1B3563}"/>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14</a:t>
            </a:r>
          </a:p>
        </p:txBody>
      </p:sp>
    </p:spTree>
    <p:extLst>
      <p:ext uri="{BB962C8B-B14F-4D97-AF65-F5344CB8AC3E}">
        <p14:creationId xmlns:p14="http://schemas.microsoft.com/office/powerpoint/2010/main" val="53585972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311EDCB5-9A99-43EA-B0FA-146900223CF3}"/>
              </a:ext>
            </a:extLst>
          </p:cNvPr>
          <p:cNvPicPr>
            <a:picLocks xmlns:a="http://schemas.openxmlformats.org/drawingml/2006/main" noChangeAspect="1"/>
          </p:cNvPicPr>
          <p:nvPr/>
        </p:nvPicPr>
        <p:blipFill>
          <a:blip xmlns:r="http://schemas.openxmlformats.org/officeDocument/2006/relationships" xmlns:a="http://schemas.openxmlformats.org/drawingml/2006/main" r:embed="R9feedb8f90c64718"/>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3F0792E6-65E4-4B96-BCB9-61F675B1EB81}"/>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CIS Infra / Solutioning proposal</a:t>
            </a:r>
          </a:p>
        </p:txBody>
      </p:sp>
      <p:sp>
        <p:nvSpPr>
          <p:cNvPr id="3" name="heading">
            <a:extLst xmlns:a="http://schemas.openxmlformats.org/drawingml/2006/main">
              <a:ext uri="{FF2B5EF4-FFF2-40B4-BE49-F238E27FC236}">
                <a16:creationId xmlns:a16="http://schemas.microsoft.com/office/drawing/2014/main" id="{D171730C-7DC4-4DA0-972B-713D6D9A383E}"/>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Acceptance separates platform and workload evidence</a:t>
            </a:r>
          </a:p>
        </p:txBody>
      </p:sp>
      <p:graphicFrame>
        <p:nvGraphicFramePr>
          <p:cNvPr id="4" name="">
            <a:extLst xmlns:a="http://schemas.openxmlformats.org/drawingml/2006/main">
              <a:ext uri="{FF2B5EF4-FFF2-40B4-BE49-F238E27FC236}">
                <a16:creationId xmlns:a16="http://schemas.microsoft.com/office/drawing/2014/main" id="{27712F1C-02D6-442C-8714-2A0B54C05C7F}"/>
              </a:ext>
            </a:extLst>
          </p:cNvPr>
          <p:cNvGraphicFramePr/>
          <p:nvPr/>
        </p:nvGraphicFramePr>
        <p:xfrm>
          <a:off xmlns:a="http://schemas.openxmlformats.org/drawingml/2006/main" x="685800" y="1905000"/>
          <a:ext xmlns:a="http://schemas.openxmlformats.org/drawingml/2006/main" cx="10820400" cy="4000500"/>
        </p:xfrm>
        <a:graphic xmlns:a="http://schemas.openxmlformats.org/drawingml/2006/main">
          <a:graphicData uri="http://schemas.openxmlformats.org/drawingml/2006/table">
            <a:tbl>
              <a:tblPr/>
              <a:tblGrid>
                <a:gridCol w="2333625"/>
                <a:gridCol w="5429250"/>
                <a:gridCol w="3057525"/>
              </a:tblGrid>
              <a:tr h="571500">
                <a:tc>
                  <a:txBody>
                    <a:bodyPr/>
                    <a:lstStyle/>
                    <a:p>
                      <a:r>
                        <a:rPr sz="1650" b="1">
                          <a:solidFill>
                            <a:srgbClr val="FFFFFF"/>
                          </a:solidFill>
                        </a:rPr>
                        <a:t>Gate</a:t>
                      </a:r>
                    </a:p>
                  </a:txBody>
                  <a:tcPr marL="95250" marR="95250" marT="19050" marB="19050" anchor="ctr">
                    <a:solidFill>
                      <a:srgbClr val="000048"/>
                    </a:solidFill>
                  </a:tcPr>
                </a:tc>
                <a:tc>
                  <a:txBody>
                    <a:bodyPr/>
                    <a:lstStyle/>
                    <a:p>
                      <a:r>
                        <a:rPr sz="1650" b="1">
                          <a:solidFill>
                            <a:srgbClr val="FFFFFF"/>
                          </a:solidFill>
                        </a:rPr>
                        <a:t>Proposed pass condition</a:t>
                      </a:r>
                    </a:p>
                  </a:txBody>
                  <a:tcPr marL="95250" marR="95250" marT="19050" marB="19050" anchor="ctr">
                    <a:solidFill>
                      <a:srgbClr val="000048"/>
                    </a:solidFill>
                  </a:tcPr>
                </a:tc>
                <a:tc>
                  <a:txBody>
                    <a:bodyPr/>
                    <a:lstStyle/>
                    <a:p>
                      <a:r>
                        <a:rPr sz="1650" b="1">
                          <a:solidFill>
                            <a:srgbClr val="FFFFFF"/>
                          </a:solidFill>
                        </a:rPr>
                        <a:t>Approver</a:t>
                      </a:r>
                    </a:p>
                  </a:txBody>
                  <a:tcPr marL="95250" marR="95250" marT="19050" marB="19050" anchor="ctr">
                    <a:solidFill>
                      <a:srgbClr val="000048"/>
                    </a:solidFill>
                  </a:tcPr>
                </a:tc>
              </a:tr>
              <a:tr h="571500">
                <a:tc>
                  <a:txBody>
                    <a:bodyPr/>
                    <a:lstStyle/>
                    <a:p>
                      <a:r>
                        <a:rPr sz="1650" b="0">
                          <a:solidFill>
                            <a:srgbClr val="000048"/>
                          </a:solidFill>
                        </a:rPr>
                        <a:t>Platform</a:t>
                      </a:r>
                    </a:p>
                  </a:txBody>
                  <a:tcPr marL="95250" marR="95250" marT="19050" marB="19050" anchor="ctr">
                    <a:solidFill>
                      <a:srgbClr val="F5F5F2"/>
                    </a:solidFill>
                  </a:tcPr>
                </a:tc>
                <a:tc>
                  <a:txBody>
                    <a:bodyPr/>
                    <a:lstStyle/>
                    <a:p>
                      <a:r>
                        <a:rPr sz="1650" b="0">
                          <a:solidFill>
                            <a:srgbClr val="000048"/>
                          </a:solidFill>
                        </a:rPr>
                        <a:t>Repeat deploy, rollback and private-path tests pass</a:t>
                      </a:r>
                    </a:p>
                  </a:txBody>
                  <a:tcPr marL="95250" marR="95250" marT="19050" marB="19050" anchor="ctr">
                    <a:solidFill>
                      <a:srgbClr val="F5F5F2"/>
                    </a:solidFill>
                  </a:tcPr>
                </a:tc>
                <a:tc>
                  <a:txBody>
                    <a:bodyPr/>
                    <a:lstStyle/>
                    <a:p>
                      <a:r>
                        <a:rPr sz="1650" b="0">
                          <a:solidFill>
                            <a:srgbClr val="000048"/>
                          </a:solidFill>
                        </a:rPr>
                        <a:t>Platform owner</a:t>
                      </a:r>
                    </a:p>
                  </a:txBody>
                  <a:tcPr marL="95250" marR="95250" marT="19050" marB="19050" anchor="ctr">
                    <a:solidFill>
                      <a:srgbClr val="F5F5F2"/>
                    </a:solidFill>
                  </a:tcPr>
                </a:tc>
              </a:tr>
              <a:tr h="571500">
                <a:tc>
                  <a:txBody>
                    <a:bodyPr/>
                    <a:lstStyle/>
                    <a:p>
                      <a:r>
                        <a:rPr sz="1650" b="0">
                          <a:solidFill>
                            <a:srgbClr val="000048"/>
                          </a:solidFill>
                        </a:rPr>
                        <a:t>Authorization</a:t>
                      </a:r>
                    </a:p>
                  </a:txBody>
                  <a:tcPr marL="95250" marR="95250" marT="19050" marB="19050" anchor="ctr">
                    <a:solidFill>
                      <a:srgbClr val="FFFFFF"/>
                    </a:solidFill>
                  </a:tcPr>
                </a:tc>
                <a:tc>
                  <a:txBody>
                    <a:bodyPr/>
                    <a:lstStyle/>
                    <a:p>
                      <a:r>
                        <a:rPr sz="1650" b="0">
                          <a:solidFill>
                            <a:srgbClr val="000048"/>
                          </a:solidFill>
                        </a:rPr>
                        <a:t>Zero forbidden chunks/citations in agreed deny tests</a:t>
                      </a:r>
                    </a:p>
                  </a:txBody>
                  <a:tcPr marL="95250" marR="95250" marT="19050" marB="19050" anchor="ctr">
                    <a:solidFill>
                      <a:srgbClr val="FFFFFF"/>
                    </a:solidFill>
                  </a:tcPr>
                </a:tc>
                <a:tc>
                  <a:txBody>
                    <a:bodyPr/>
                    <a:lstStyle/>
                    <a:p>
                      <a:r>
                        <a:rPr sz="1650" b="0">
                          <a:solidFill>
                            <a:srgbClr val="000048"/>
                          </a:solidFill>
                        </a:rPr>
                        <a:t>Security and data owner</a:t>
                      </a:r>
                    </a:p>
                  </a:txBody>
                  <a:tcPr marL="95250" marR="95250" marT="19050" marB="19050" anchor="ctr">
                    <a:solidFill>
                      <a:srgbClr val="FFFFFF"/>
                    </a:solidFill>
                  </a:tcPr>
                </a:tc>
              </a:tr>
              <a:tr h="571500">
                <a:tc>
                  <a:txBody>
                    <a:bodyPr/>
                    <a:lstStyle/>
                    <a:p>
                      <a:r>
                        <a:rPr sz="1650" b="0">
                          <a:solidFill>
                            <a:srgbClr val="000048"/>
                          </a:solidFill>
                        </a:rPr>
                        <a:t>Quality</a:t>
                      </a:r>
                    </a:p>
                  </a:txBody>
                  <a:tcPr marL="95250" marR="95250" marT="19050" marB="19050" anchor="ctr">
                    <a:solidFill>
                      <a:srgbClr val="F5F5F2"/>
                    </a:solidFill>
                  </a:tcPr>
                </a:tc>
                <a:tc>
                  <a:txBody>
                    <a:bodyPr/>
                    <a:lstStyle/>
                    <a:p>
                      <a:r>
                        <a:rPr sz="1650" b="0">
                          <a:solidFill>
                            <a:srgbClr val="000048"/>
                          </a:solidFill>
                        </a:rPr>
                        <a:t>≥85% accepted answers on 200 held-out questions</a:t>
                      </a:r>
                    </a:p>
                  </a:txBody>
                  <a:tcPr marL="95250" marR="95250" marT="19050" marB="19050" anchor="ctr">
                    <a:solidFill>
                      <a:srgbClr val="F5F5F2"/>
                    </a:solidFill>
                  </a:tcPr>
                </a:tc>
                <a:tc>
                  <a:txBody>
                    <a:bodyPr/>
                    <a:lstStyle/>
                    <a:p>
                      <a:r>
                        <a:rPr sz="1650" b="0">
                          <a:solidFill>
                            <a:srgbClr val="000048"/>
                          </a:solidFill>
                        </a:rPr>
                        <a:t>Business workload owner</a:t>
                      </a:r>
                    </a:p>
                  </a:txBody>
                  <a:tcPr marL="95250" marR="95250" marT="19050" marB="19050" anchor="ctr">
                    <a:solidFill>
                      <a:srgbClr val="F5F5F2"/>
                    </a:solidFill>
                  </a:tcPr>
                </a:tc>
              </a:tr>
              <a:tr h="571500">
                <a:tc>
                  <a:txBody>
                    <a:bodyPr/>
                    <a:lstStyle/>
                    <a:p>
                      <a:r>
                        <a:rPr sz="1650" b="0">
                          <a:solidFill>
                            <a:srgbClr val="000048"/>
                          </a:solidFill>
                        </a:rPr>
                        <a:t>Performance</a:t>
                      </a:r>
                    </a:p>
                  </a:txBody>
                  <a:tcPr marL="95250" marR="95250" marT="19050" marB="19050" anchor="ctr">
                    <a:solidFill>
                      <a:srgbClr val="FFFFFF"/>
                    </a:solidFill>
                  </a:tcPr>
                </a:tc>
                <a:tc>
                  <a:txBody>
                    <a:bodyPr/>
                    <a:lstStyle/>
                    <a:p>
                      <a:r>
                        <a:rPr sz="1650" b="0">
                          <a:solidFill>
                            <a:srgbClr val="000048"/>
                          </a:solidFill>
                        </a:rPr>
                        <a:t>P95 ≤15s at the agreed 20 RPM test</a:t>
                      </a:r>
                    </a:p>
                  </a:txBody>
                  <a:tcPr marL="95250" marR="95250" marT="19050" marB="19050" anchor="ctr">
                    <a:solidFill>
                      <a:srgbClr val="FFFFFF"/>
                    </a:solidFill>
                  </a:tcPr>
                </a:tc>
                <a:tc>
                  <a:txBody>
                    <a:bodyPr/>
                    <a:lstStyle/>
                    <a:p>
                      <a:r>
                        <a:rPr sz="1650" b="0">
                          <a:solidFill>
                            <a:srgbClr val="000048"/>
                          </a:solidFill>
                        </a:rPr>
                        <a:t>Workload owner</a:t>
                      </a:r>
                    </a:p>
                  </a:txBody>
                  <a:tcPr marL="95250" marR="95250" marT="19050" marB="19050" anchor="ctr">
                    <a:solidFill>
                      <a:srgbClr val="FFFFFF"/>
                    </a:solidFill>
                  </a:tcPr>
                </a:tc>
              </a:tr>
              <a:tr h="571500">
                <a:tc>
                  <a:txBody>
                    <a:bodyPr/>
                    <a:lstStyle/>
                    <a:p>
                      <a:r>
                        <a:rPr sz="1650" b="0">
                          <a:solidFill>
                            <a:srgbClr val="000048"/>
                          </a:solidFill>
                        </a:rPr>
                        <a:t>Recovery</a:t>
                      </a:r>
                    </a:p>
                  </a:txBody>
                  <a:tcPr marL="95250" marR="95250" marT="19050" marB="19050" anchor="ctr">
                    <a:solidFill>
                      <a:srgbClr val="F5F5F2"/>
                    </a:solidFill>
                  </a:tcPr>
                </a:tc>
                <a:tc>
                  <a:txBody>
                    <a:bodyPr/>
                    <a:lstStyle/>
                    <a:p>
                      <a:r>
                        <a:rPr sz="1650" b="0">
                          <a:solidFill>
                            <a:srgbClr val="000048"/>
                          </a:solidFill>
                        </a:rPr>
                        <a:t>Agreed source restore and re-index targets met</a:t>
                      </a:r>
                    </a:p>
                  </a:txBody>
                  <a:tcPr marL="95250" marR="95250" marT="19050" marB="19050" anchor="ctr">
                    <a:solidFill>
                      <a:srgbClr val="F5F5F2"/>
                    </a:solidFill>
                  </a:tcPr>
                </a:tc>
                <a:tc>
                  <a:txBody>
                    <a:bodyPr/>
                    <a:lstStyle/>
                    <a:p>
                      <a:r>
                        <a:rPr sz="1650" b="0">
                          <a:solidFill>
                            <a:srgbClr val="000048"/>
                          </a:solidFill>
                        </a:rPr>
                        <a:t>Service owner</a:t>
                      </a:r>
                    </a:p>
                  </a:txBody>
                  <a:tcPr marL="95250" marR="95250" marT="19050" marB="19050" anchor="ctr">
                    <a:solidFill>
                      <a:srgbClr val="F5F5F2"/>
                    </a:solidFill>
                  </a:tcPr>
                </a:tc>
              </a:tr>
              <a:tr h="571500">
                <a:tc>
                  <a:txBody>
                    <a:bodyPr/>
                    <a:lstStyle/>
                    <a:p>
                      <a:r>
                        <a:rPr sz="1650" b="0">
                          <a:solidFill>
                            <a:srgbClr val="000048"/>
                          </a:solidFill>
                        </a:rPr>
                        <a:t>Handover</a:t>
                      </a:r>
                    </a:p>
                  </a:txBody>
                  <a:tcPr marL="95250" marR="95250" marT="19050" marB="19050" anchor="ctr">
                    <a:solidFill>
                      <a:srgbClr val="FFFFFF"/>
                    </a:solidFill>
                  </a:tcPr>
                </a:tc>
                <a:tc>
                  <a:txBody>
                    <a:bodyPr/>
                    <a:lstStyle/>
                    <a:p>
                      <a:r>
                        <a:rPr sz="1650" b="0">
                          <a:solidFill>
                            <a:srgbClr val="000048"/>
                          </a:solidFill>
                        </a:rPr>
                        <a:t>Costs, runbooks, support and exceptions accepted</a:t>
                      </a:r>
                    </a:p>
                  </a:txBody>
                  <a:tcPr marL="95250" marR="95250" marT="19050" marB="19050" anchor="ctr">
                    <a:solidFill>
                      <a:srgbClr val="FFFFFF"/>
                    </a:solidFill>
                  </a:tcPr>
                </a:tc>
                <a:tc>
                  <a:txBody>
                    <a:bodyPr/>
                    <a:lstStyle/>
                    <a:p>
                      <a:r>
                        <a:rPr sz="1650" b="0">
                          <a:solidFill>
                            <a:srgbClr val="000048"/>
                          </a:solidFill>
                        </a:rPr>
                        <a:t>Service owner</a:t>
                      </a:r>
                    </a:p>
                  </a:txBody>
                  <a:tcPr marL="95250" marR="95250" marT="19050" marB="19050" anchor="ctr">
                    <a:solidFill>
                      <a:srgbClr val="FFFFFF"/>
                    </a:solidFill>
                  </a:tcPr>
                </a:tc>
              </a:tr>
            </a:tbl>
          </a:graphicData>
        </a:graphic>
      </p:graphicFrame>
      <p:sp>
        <p:nvSpPr>
          <p:cNvPr id="5" name="content">
            <a:extLst xmlns:a="http://schemas.openxmlformats.org/drawingml/2006/main">
              <a:ext uri="{FF2B5EF4-FFF2-40B4-BE49-F238E27FC236}">
                <a16:creationId xmlns:a16="http://schemas.microsoft.com/office/drawing/2014/main" id="{8CC9B5A7-635D-4343-A2C9-30B0B3C5E70D}"/>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Proposed thresholds. Name approvers and agree defects, retests and risk exceptions before signature.</a:t>
            </a:r>
          </a:p>
        </p:txBody>
      </p:sp>
      <p:sp>
        <p:nvSpPr>
          <p:cNvPr id="6" name="content">
            <a:extLst xmlns:a="http://schemas.openxmlformats.org/drawingml/2006/main">
              <a:ext uri="{FF2B5EF4-FFF2-40B4-BE49-F238E27FC236}">
                <a16:creationId xmlns:a16="http://schemas.microsoft.com/office/drawing/2014/main" id="{F9CDB707-D388-4D4D-B105-298515D191BB}"/>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7" name="content">
            <a:extLst xmlns:a="http://schemas.openxmlformats.org/drawingml/2006/main">
              <a:ext uri="{FF2B5EF4-FFF2-40B4-BE49-F238E27FC236}">
                <a16:creationId xmlns:a16="http://schemas.microsoft.com/office/drawing/2014/main" id="{A42F2A2C-B248-47CB-9490-1DBCF9EF4065}"/>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15</a:t>
            </a:r>
          </a:p>
        </p:txBody>
      </p:sp>
    </p:spTree>
    <p:extLst>
      <p:ext uri="{BB962C8B-B14F-4D97-AF65-F5344CB8AC3E}">
        <p14:creationId xmlns:p14="http://schemas.microsoft.com/office/powerpoint/2010/main" val="120168300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3D640AAD-C245-4BB8-B969-2044CC297FB4}"/>
              </a:ext>
            </a:extLst>
          </p:cNvPr>
          <p:cNvPicPr>
            <a:picLocks xmlns:a="http://schemas.openxmlformats.org/drawingml/2006/main" noChangeAspect="1"/>
          </p:cNvPicPr>
          <p:nvPr/>
        </p:nvPicPr>
        <p:blipFill>
          <a:blip xmlns:r="http://schemas.openxmlformats.org/officeDocument/2006/relationships" xmlns:a="http://schemas.openxmlformats.org/drawingml/2006/main" r:embed="Rc26dffc312f84775"/>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9D511AA9-D228-4E8F-818F-0F71EC4F6D6C}"/>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CIS Infra / Solutioning proposal</a:t>
            </a:r>
          </a:p>
        </p:txBody>
      </p:sp>
      <p:sp>
        <p:nvSpPr>
          <p:cNvPr id="3" name="heading">
            <a:extLst xmlns:a="http://schemas.openxmlformats.org/drawingml/2006/main">
              <a:ext uri="{FF2B5EF4-FFF2-40B4-BE49-F238E27FC236}">
                <a16:creationId xmlns:a16="http://schemas.microsoft.com/office/drawing/2014/main" id="{FF287155-EAFF-474B-9993-EBE9ED34047E}"/>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Operations use a priced shared service pool</a:t>
            </a:r>
          </a:p>
        </p:txBody>
      </p:sp>
      <p:sp>
        <p:nvSpPr>
          <p:cNvPr id="4" name="content">
            <a:extLst xmlns:a="http://schemas.openxmlformats.org/drawingml/2006/main">
              <a:ext uri="{FF2B5EF4-FFF2-40B4-BE49-F238E27FC236}">
                <a16:creationId xmlns:a16="http://schemas.microsoft.com/office/drawing/2014/main" id="{ABE756A8-DDF7-4612-A1CE-393C6E5E2189}"/>
              </a:ext>
            </a:extLst>
          </p:cNvPr>
          <p:cNvSpPr>
            <a:spLocks xmlns:a="http://schemas.openxmlformats.org/drawingml/2006/main" noGrp="1"/>
          </p:cNvSpPr>
          <p:nvPr/>
        </p:nvSpPr>
        <p:spPr>
          <a:xfrm xmlns:a="http://schemas.openxmlformats.org/drawingml/2006/main">
            <a:off x="6858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Coverage proposal</a:t>
            </a:r>
          </a:p>
        </p:txBody>
      </p:sp>
      <p:sp>
        <p:nvSpPr>
          <p:cNvPr id="5" name="content">
            <a:extLst xmlns:a="http://schemas.openxmlformats.org/drawingml/2006/main">
              <a:ext uri="{FF2B5EF4-FFF2-40B4-BE49-F238E27FC236}">
                <a16:creationId xmlns:a16="http://schemas.microsoft.com/office/drawing/2014/main" id="{61492A65-A5BA-4E3E-BEFB-0E4FBBAC632C}"/>
              </a:ext>
            </a:extLst>
          </p:cNvPr>
          <p:cNvSpPr>
            <a:spLocks xmlns:a="http://schemas.openxmlformats.org/drawingml/2006/main" noGrp="1"/>
          </p:cNvSpPr>
          <p:nvPr/>
        </p:nvSpPr>
        <p:spPr>
          <a:xfrm xmlns:a="http://schemas.openxmlformats.org/drawingml/2006/main">
            <a:off x="6858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8×5 in one agreed customer time zone. Holidays and out-of-hours escalation are explicit exclusions.</a:t>
            </a:r>
          </a:p>
        </p:txBody>
      </p:sp>
      <p:sp>
        <p:nvSpPr>
          <p:cNvPr id="6" name="content">
            <a:extLst xmlns:a="http://schemas.openxmlformats.org/drawingml/2006/main">
              <a:ext uri="{FF2B5EF4-FFF2-40B4-BE49-F238E27FC236}">
                <a16:creationId xmlns:a16="http://schemas.microsoft.com/office/drawing/2014/main" id="{AA12BEEC-2FA3-420E-953A-E161F45ED8EE}"/>
              </a:ext>
            </a:extLst>
          </p:cNvPr>
          <p:cNvSpPr>
            <a:spLocks xmlns:a="http://schemas.openxmlformats.org/drawingml/2006/main" noGrp="1"/>
          </p:cNvSpPr>
          <p:nvPr/>
        </p:nvSpPr>
        <p:spPr>
          <a:xfrm xmlns:a="http://schemas.openxmlformats.org/drawingml/2006/main">
            <a:off x="6858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Included monthly effort</a:t>
            </a:r>
          </a:p>
        </p:txBody>
      </p:sp>
      <p:sp>
        <p:nvSpPr>
          <p:cNvPr id="7" name="content">
            <a:extLst xmlns:a="http://schemas.openxmlformats.org/drawingml/2006/main">
              <a:ext uri="{FF2B5EF4-FFF2-40B4-BE49-F238E27FC236}">
                <a16:creationId xmlns:a16="http://schemas.microsoft.com/office/drawing/2014/main" id="{3F53CCE1-2840-4ED7-86E3-B956AB131EB0}"/>
              </a:ext>
            </a:extLst>
          </p:cNvPr>
          <p:cNvSpPr>
            <a:spLocks xmlns:a="http://schemas.openxmlformats.org/drawingml/2006/main" noGrp="1"/>
          </p:cNvSpPr>
          <p:nvPr/>
        </p:nvSpPr>
        <p:spPr>
          <a:xfrm xmlns:a="http://schemas.openxmlformats.org/drawingml/2006/main">
            <a:off x="6858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Infra 2 days, Security 0.5 day and AI 0.5 day. Planned incidents, maintenance and FinOps use this allowance.</a:t>
            </a:r>
          </a:p>
        </p:txBody>
      </p:sp>
      <p:sp>
        <p:nvSpPr>
          <p:cNvPr id="8" name="content">
            <a:extLst xmlns:a="http://schemas.openxmlformats.org/drawingml/2006/main">
              <a:ext uri="{FF2B5EF4-FFF2-40B4-BE49-F238E27FC236}">
                <a16:creationId xmlns:a16="http://schemas.microsoft.com/office/drawing/2014/main" id="{CBB138DE-BAE1-41CB-BB53-9754A25E6BCF}"/>
              </a:ext>
            </a:extLst>
          </p:cNvPr>
          <p:cNvSpPr>
            <a:spLocks xmlns:a="http://schemas.openxmlformats.org/drawingml/2006/main" noGrp="1"/>
          </p:cNvSpPr>
          <p:nvPr/>
        </p:nvSpPr>
        <p:spPr>
          <a:xfrm xmlns:a="http://schemas.openxmlformats.org/drawingml/2006/main">
            <a:off x="6858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Incident target</a:t>
            </a:r>
          </a:p>
        </p:txBody>
      </p:sp>
      <p:sp>
        <p:nvSpPr>
          <p:cNvPr id="9" name="content">
            <a:extLst xmlns:a="http://schemas.openxmlformats.org/drawingml/2006/main">
              <a:ext uri="{FF2B5EF4-FFF2-40B4-BE49-F238E27FC236}">
                <a16:creationId xmlns:a16="http://schemas.microsoft.com/office/drawing/2014/main" id="{480C474E-554C-4BDB-8405-188980FE49CD}"/>
              </a:ext>
            </a:extLst>
          </p:cNvPr>
          <p:cNvSpPr>
            <a:spLocks xmlns:a="http://schemas.openxmlformats.org/drawingml/2006/main" noGrp="1"/>
          </p:cNvSpPr>
          <p:nvPr/>
        </p:nvSpPr>
        <p:spPr>
          <a:xfrm xmlns:a="http://schemas.openxmlformats.org/drawingml/2006/main">
            <a:off x="6858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Proposed P1 acknowledgment within one covered hour. Resolution depends on the contracted resolver.</a:t>
            </a:r>
          </a:p>
        </p:txBody>
      </p:sp>
      <p:sp>
        <p:nvSpPr>
          <p:cNvPr id="10" name="content">
            <a:extLst xmlns:a="http://schemas.openxmlformats.org/drawingml/2006/main">
              <a:ext uri="{FF2B5EF4-FFF2-40B4-BE49-F238E27FC236}">
                <a16:creationId xmlns:a16="http://schemas.microsoft.com/office/drawing/2014/main" id="{5290F245-59EE-41E8-9C8B-17F7CEDD0C43}"/>
              </a:ext>
            </a:extLst>
          </p:cNvPr>
          <p:cNvSpPr>
            <a:spLocks xmlns:a="http://schemas.openxmlformats.org/drawingml/2006/main" noGrp="1"/>
          </p:cNvSpPr>
          <p:nvPr/>
        </p:nvSpPr>
        <p:spPr>
          <a:xfrm xmlns:a="http://schemas.openxmlformats.org/drawingml/2006/main">
            <a:off x="64389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Commercial basis</a:t>
            </a:r>
          </a:p>
        </p:txBody>
      </p:sp>
      <p:sp>
        <p:nvSpPr>
          <p:cNvPr id="11" name="content">
            <a:extLst xmlns:a="http://schemas.openxmlformats.org/drawingml/2006/main">
              <a:ext uri="{FF2B5EF4-FFF2-40B4-BE49-F238E27FC236}">
                <a16:creationId xmlns:a16="http://schemas.microsoft.com/office/drawing/2014/main" id="{AFC92DA7-E6E1-466E-912D-E73FAD0EE057}"/>
              </a:ext>
            </a:extLst>
          </p:cNvPr>
          <p:cNvSpPr>
            <a:spLocks xmlns:a="http://schemas.openxmlformats.org/drawingml/2006/main" noGrp="1"/>
          </p:cNvSpPr>
          <p:nvPr/>
        </p:nvSpPr>
        <p:spPr>
          <a:xfrm xmlns:a="http://schemas.openxmlformats.org/drawingml/2006/main">
            <a:off x="64389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Cost $1,625/month. Sample 30% margin produces a $2,321.43 fee. Existing support-pool capacity must be approved.</a:t>
            </a:r>
          </a:p>
        </p:txBody>
      </p:sp>
      <p:sp>
        <p:nvSpPr>
          <p:cNvPr id="12" name="content">
            <a:extLst xmlns:a="http://schemas.openxmlformats.org/drawingml/2006/main">
              <a:ext uri="{FF2B5EF4-FFF2-40B4-BE49-F238E27FC236}">
                <a16:creationId xmlns:a16="http://schemas.microsoft.com/office/drawing/2014/main" id="{962F4B4A-244D-49FC-B01B-B002B8E6FDDB}"/>
              </a:ext>
            </a:extLst>
          </p:cNvPr>
          <p:cNvSpPr>
            <a:spLocks xmlns:a="http://schemas.openxmlformats.org/drawingml/2006/main" noGrp="1"/>
          </p:cNvSpPr>
          <p:nvPr/>
        </p:nvSpPr>
        <p:spPr>
          <a:xfrm xmlns:a="http://schemas.openxmlformats.org/drawingml/2006/main">
            <a:off x="64389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Specialist routing</a:t>
            </a:r>
          </a:p>
        </p:txBody>
      </p:sp>
      <p:sp>
        <p:nvSpPr>
          <p:cNvPr id="13" name="content">
            <a:extLst xmlns:a="http://schemas.openxmlformats.org/drawingml/2006/main">
              <a:ext uri="{FF2B5EF4-FFF2-40B4-BE49-F238E27FC236}">
                <a16:creationId xmlns:a16="http://schemas.microsoft.com/office/drawing/2014/main" id="{4F862B17-5FFB-41B7-8BCA-6EDAD69D98AC}"/>
              </a:ext>
            </a:extLst>
          </p:cNvPr>
          <p:cNvSpPr>
            <a:spLocks xmlns:a="http://schemas.openxmlformats.org/drawingml/2006/main" noGrp="1"/>
          </p:cNvSpPr>
          <p:nvPr/>
        </p:nvSpPr>
        <p:spPr>
          <a:xfrm xmlns:a="http://schemas.openxmlformats.org/drawingml/2006/main">
            <a:off x="64389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DevOps, Engineering and other resolvers need separate OLAs or priced call-off support.</a:t>
            </a:r>
          </a:p>
        </p:txBody>
      </p:sp>
      <p:sp>
        <p:nvSpPr>
          <p:cNvPr id="14" name="content">
            <a:extLst xmlns:a="http://schemas.openxmlformats.org/drawingml/2006/main">
              <a:ext uri="{FF2B5EF4-FFF2-40B4-BE49-F238E27FC236}">
                <a16:creationId xmlns:a16="http://schemas.microsoft.com/office/drawing/2014/main" id="{FBB36EC6-E0BA-4DAD-B7B4-65C3D8BE1E7D}"/>
              </a:ext>
            </a:extLst>
          </p:cNvPr>
          <p:cNvSpPr>
            <a:spLocks xmlns:a="http://schemas.openxmlformats.org/drawingml/2006/main" noGrp="1"/>
          </p:cNvSpPr>
          <p:nvPr/>
        </p:nvSpPr>
        <p:spPr>
          <a:xfrm xmlns:a="http://schemas.openxmlformats.org/drawingml/2006/main">
            <a:off x="64389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Overage and change</a:t>
            </a:r>
          </a:p>
        </p:txBody>
      </p:sp>
      <p:sp>
        <p:nvSpPr>
          <p:cNvPr id="15" name="content">
            <a:extLst xmlns:a="http://schemas.openxmlformats.org/drawingml/2006/main">
              <a:ext uri="{FF2B5EF4-FFF2-40B4-BE49-F238E27FC236}">
                <a16:creationId xmlns:a16="http://schemas.microsoft.com/office/drawing/2014/main" id="{6B70CB01-5035-4DA7-B02B-358AF4285EEA}"/>
              </a:ext>
            </a:extLst>
          </p:cNvPr>
          <p:cNvSpPr>
            <a:spLocks xmlns:a="http://schemas.openxmlformats.org/drawingml/2006/main" noGrp="1"/>
          </p:cNvSpPr>
          <p:nvPr/>
        </p:nvSpPr>
        <p:spPr>
          <a:xfrm xmlns:a="http://schemas.openxmlformats.org/drawingml/2006/main">
            <a:off x="64389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Track hours by incident and package. Obtain approval for allowance overrun or scope changes.</a:t>
            </a:r>
          </a:p>
        </p:txBody>
      </p:sp>
      <p:sp>
        <p:nvSpPr>
          <p:cNvPr id="16" name="content">
            <a:extLst xmlns:a="http://schemas.openxmlformats.org/drawingml/2006/main">
              <a:ext uri="{FF2B5EF4-FFF2-40B4-BE49-F238E27FC236}">
                <a16:creationId xmlns:a16="http://schemas.microsoft.com/office/drawing/2014/main" id="{89105C6D-6B99-49F8-B3E7-670181C2B021}"/>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Three role days do not provide a dedicated 8×5 engineer or 24×7 specialist coverage.</a:t>
            </a:r>
          </a:p>
        </p:txBody>
      </p:sp>
      <p:sp>
        <p:nvSpPr>
          <p:cNvPr id="17" name="content">
            <a:extLst xmlns:a="http://schemas.openxmlformats.org/drawingml/2006/main">
              <a:ext uri="{FF2B5EF4-FFF2-40B4-BE49-F238E27FC236}">
                <a16:creationId xmlns:a16="http://schemas.microsoft.com/office/drawing/2014/main" id="{63FAC082-DBE2-4405-9A28-A666B0078CE7}"/>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8" name="content">
            <a:extLst xmlns:a="http://schemas.openxmlformats.org/drawingml/2006/main">
              <a:ext uri="{FF2B5EF4-FFF2-40B4-BE49-F238E27FC236}">
                <a16:creationId xmlns:a16="http://schemas.microsoft.com/office/drawing/2014/main" id="{90036055-37E6-4927-8A70-D82E0B824BD3}"/>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16</a:t>
            </a:r>
          </a:p>
        </p:txBody>
      </p:sp>
    </p:spTree>
    <p:extLst>
      <p:ext uri="{BB962C8B-B14F-4D97-AF65-F5344CB8AC3E}">
        <p14:creationId xmlns:p14="http://schemas.microsoft.com/office/powerpoint/2010/main" val="94136928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C1A70D6B-6EAF-49A5-830E-447B44BA9222}"/>
              </a:ext>
            </a:extLst>
          </p:cNvPr>
          <p:cNvPicPr>
            <a:picLocks xmlns:a="http://schemas.openxmlformats.org/drawingml/2006/main" noChangeAspect="1"/>
          </p:cNvPicPr>
          <p:nvPr/>
        </p:nvPicPr>
        <p:blipFill>
          <a:blip xmlns:r="http://schemas.openxmlformats.org/officeDocument/2006/relationships" xmlns:a="http://schemas.openxmlformats.org/drawingml/2006/main" r:embed="R49f0d953820e4ad9"/>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B8AF4A64-DDBF-4A65-81F1-C09CB8AB95C3}"/>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CIS Infra / Solutioning proposal</a:t>
            </a:r>
          </a:p>
        </p:txBody>
      </p:sp>
      <p:sp>
        <p:nvSpPr>
          <p:cNvPr id="3" name="heading">
            <a:extLst xmlns:a="http://schemas.openxmlformats.org/drawingml/2006/main">
              <a:ext uri="{FF2B5EF4-FFF2-40B4-BE49-F238E27FC236}">
                <a16:creationId xmlns:a16="http://schemas.microsoft.com/office/drawing/2014/main" id="{E5EF605F-6041-4747-8950-3D0FB313F177}"/>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PDCA controls design, delivery and ongoing changes</a:t>
            </a:r>
          </a:p>
        </p:txBody>
      </p:sp>
      <p:sp>
        <p:nvSpPr>
          <p:cNvPr id="4" name="content">
            <a:extLst xmlns:a="http://schemas.openxmlformats.org/drawingml/2006/main">
              <a:ext uri="{FF2B5EF4-FFF2-40B4-BE49-F238E27FC236}">
                <a16:creationId xmlns:a16="http://schemas.microsoft.com/office/drawing/2014/main" id="{A271D17A-45D1-4D00-A027-BF20513BFBC6}"/>
              </a:ext>
            </a:extLst>
          </p:cNvPr>
          <p:cNvSpPr>
            <a:spLocks xmlns:a="http://schemas.openxmlformats.org/drawingml/2006/main" noGrp="1"/>
          </p:cNvSpPr>
          <p:nvPr/>
        </p:nvSpPr>
        <p:spPr>
          <a:xfrm xmlns:a="http://schemas.openxmlformats.org/drawingml/2006/main">
            <a:off x="6858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Plan</a:t>
            </a:r>
          </a:p>
        </p:txBody>
      </p:sp>
      <p:sp>
        <p:nvSpPr>
          <p:cNvPr id="5" name="content">
            <a:extLst xmlns:a="http://schemas.openxmlformats.org/drawingml/2006/main">
              <a:ext uri="{FF2B5EF4-FFF2-40B4-BE49-F238E27FC236}">
                <a16:creationId xmlns:a16="http://schemas.microsoft.com/office/drawing/2014/main" id="{5F3038E2-5980-470B-80A4-346B1986435E}"/>
              </a:ext>
            </a:extLst>
          </p:cNvPr>
          <p:cNvSpPr>
            <a:spLocks xmlns:a="http://schemas.openxmlformats.org/drawingml/2006/main" noGrp="1"/>
          </p:cNvSpPr>
          <p:nvPr/>
        </p:nvSpPr>
        <p:spPr>
          <a:xfrm xmlns:a="http://schemas.openxmlformats.org/drawingml/2006/main">
            <a:off x="6858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Agree requirements, architecture decisions, commercial inputs and acceptance thresholds.</a:t>
            </a:r>
          </a:p>
        </p:txBody>
      </p:sp>
      <p:sp>
        <p:nvSpPr>
          <p:cNvPr id="6" name="content">
            <a:extLst xmlns:a="http://schemas.openxmlformats.org/drawingml/2006/main">
              <a:ext uri="{FF2B5EF4-FFF2-40B4-BE49-F238E27FC236}">
                <a16:creationId xmlns:a16="http://schemas.microsoft.com/office/drawing/2014/main" id="{9FBFF8DB-E71C-4C06-861E-069FA7E1704F}"/>
              </a:ext>
            </a:extLst>
          </p:cNvPr>
          <p:cNvSpPr>
            <a:spLocks xmlns:a="http://schemas.openxmlformats.org/drawingml/2006/main" noGrp="1"/>
          </p:cNvSpPr>
          <p:nvPr/>
        </p:nvSpPr>
        <p:spPr>
          <a:xfrm xmlns:a="http://schemas.openxmlformats.org/drawingml/2006/main">
            <a:off x="6858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Do</a:t>
            </a:r>
          </a:p>
        </p:txBody>
      </p:sp>
      <p:sp>
        <p:nvSpPr>
          <p:cNvPr id="7" name="content">
            <a:extLst xmlns:a="http://schemas.openxmlformats.org/drawingml/2006/main">
              <a:ext uri="{FF2B5EF4-FFF2-40B4-BE49-F238E27FC236}">
                <a16:creationId xmlns:a16="http://schemas.microsoft.com/office/drawing/2014/main" id="{5BD7BCDF-0217-40F3-9A0A-48212E1FBCB5}"/>
              </a:ext>
            </a:extLst>
          </p:cNvPr>
          <p:cNvSpPr>
            <a:spLocks xmlns:a="http://schemas.openxmlformats.org/drawingml/2006/main" noGrp="1"/>
          </p:cNvSpPr>
          <p:nvPr/>
        </p:nvSpPr>
        <p:spPr>
          <a:xfrm xmlns:a="http://schemas.openxmlformats.org/drawingml/2006/main">
            <a:off x="6858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Build the platform, application, ingestion and operational evidence through versioned releases.</a:t>
            </a:r>
          </a:p>
        </p:txBody>
      </p:sp>
      <p:sp>
        <p:nvSpPr>
          <p:cNvPr id="8" name="content">
            <a:extLst xmlns:a="http://schemas.openxmlformats.org/drawingml/2006/main">
              <a:ext uri="{FF2B5EF4-FFF2-40B4-BE49-F238E27FC236}">
                <a16:creationId xmlns:a16="http://schemas.microsoft.com/office/drawing/2014/main" id="{F5340158-99FA-4366-84FA-BD45284FE3E6}"/>
              </a:ext>
            </a:extLst>
          </p:cNvPr>
          <p:cNvSpPr>
            <a:spLocks xmlns:a="http://schemas.openxmlformats.org/drawingml/2006/main" noGrp="1"/>
          </p:cNvSpPr>
          <p:nvPr/>
        </p:nvSpPr>
        <p:spPr>
          <a:xfrm xmlns:a="http://schemas.openxmlformats.org/drawingml/2006/main">
            <a:off x="6858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Check</a:t>
            </a:r>
          </a:p>
        </p:txBody>
      </p:sp>
      <p:sp>
        <p:nvSpPr>
          <p:cNvPr id="9" name="content">
            <a:extLst xmlns:a="http://schemas.openxmlformats.org/drawingml/2006/main">
              <a:ext uri="{FF2B5EF4-FFF2-40B4-BE49-F238E27FC236}">
                <a16:creationId xmlns:a16="http://schemas.microsoft.com/office/drawing/2014/main" id="{DF02F0A5-F14C-4A11-93ED-168CA6C4EF62}"/>
              </a:ext>
            </a:extLst>
          </p:cNvPr>
          <p:cNvSpPr>
            <a:spLocks xmlns:a="http://schemas.openxmlformats.org/drawingml/2006/main" noGrp="1"/>
          </p:cNvSpPr>
          <p:nvPr/>
        </p:nvSpPr>
        <p:spPr>
          <a:xfrm xmlns:a="http://schemas.openxmlformats.org/drawingml/2006/main">
            <a:off x="6858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Run security, quality, performance, cost and recovery tests against the approved baseline.</a:t>
            </a:r>
          </a:p>
        </p:txBody>
      </p:sp>
      <p:sp>
        <p:nvSpPr>
          <p:cNvPr id="10" name="content">
            <a:extLst xmlns:a="http://schemas.openxmlformats.org/drawingml/2006/main">
              <a:ext uri="{FF2B5EF4-FFF2-40B4-BE49-F238E27FC236}">
                <a16:creationId xmlns:a16="http://schemas.microsoft.com/office/drawing/2014/main" id="{44EE89A6-0C11-4F0D-9949-A87DFAB84451}"/>
              </a:ext>
            </a:extLst>
          </p:cNvPr>
          <p:cNvSpPr>
            <a:spLocks xmlns:a="http://schemas.openxmlformats.org/drawingml/2006/main" noGrp="1"/>
          </p:cNvSpPr>
          <p:nvPr/>
        </p:nvSpPr>
        <p:spPr>
          <a:xfrm xmlns:a="http://schemas.openxmlformats.org/drawingml/2006/main">
            <a:off x="64389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Act</a:t>
            </a:r>
          </a:p>
        </p:txBody>
      </p:sp>
      <p:sp>
        <p:nvSpPr>
          <p:cNvPr id="11" name="content">
            <a:extLst xmlns:a="http://schemas.openxmlformats.org/drawingml/2006/main">
              <a:ext uri="{FF2B5EF4-FFF2-40B4-BE49-F238E27FC236}">
                <a16:creationId xmlns:a16="http://schemas.microsoft.com/office/drawing/2014/main" id="{10941581-6C9E-4B16-830C-236238FEFF1A}"/>
              </a:ext>
            </a:extLst>
          </p:cNvPr>
          <p:cNvSpPr>
            <a:spLocks xmlns:a="http://schemas.openxmlformats.org/drawingml/2006/main" noGrp="1"/>
          </p:cNvSpPr>
          <p:nvPr/>
        </p:nvSpPr>
        <p:spPr>
          <a:xfrm xmlns:a="http://schemas.openxmlformats.org/drawingml/2006/main">
            <a:off x="64389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Close defects, approve residual risks and release only when platform and workload gates pass.</a:t>
            </a:r>
          </a:p>
        </p:txBody>
      </p:sp>
      <p:sp>
        <p:nvSpPr>
          <p:cNvPr id="12" name="content">
            <a:extLst xmlns:a="http://schemas.openxmlformats.org/drawingml/2006/main">
              <a:ext uri="{FF2B5EF4-FFF2-40B4-BE49-F238E27FC236}">
                <a16:creationId xmlns:a16="http://schemas.microsoft.com/office/drawing/2014/main" id="{BE77357F-FFC8-412D-AC03-B19599C1DDAB}"/>
              </a:ext>
            </a:extLst>
          </p:cNvPr>
          <p:cNvSpPr>
            <a:spLocks xmlns:a="http://schemas.openxmlformats.org/drawingml/2006/main" noGrp="1"/>
          </p:cNvSpPr>
          <p:nvPr/>
        </p:nvSpPr>
        <p:spPr>
          <a:xfrm xmlns:a="http://schemas.openxmlformats.org/drawingml/2006/main">
            <a:off x="64389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After release</a:t>
            </a:r>
          </a:p>
        </p:txBody>
      </p:sp>
      <p:sp>
        <p:nvSpPr>
          <p:cNvPr id="13" name="content">
            <a:extLst xmlns:a="http://schemas.openxmlformats.org/drawingml/2006/main">
              <a:ext uri="{FF2B5EF4-FFF2-40B4-BE49-F238E27FC236}">
                <a16:creationId xmlns:a16="http://schemas.microsoft.com/office/drawing/2014/main" id="{F25AB3D5-9BCB-41DA-9BBB-01C47C6D0E60}"/>
              </a:ext>
            </a:extLst>
          </p:cNvPr>
          <p:cNvSpPr>
            <a:spLocks xmlns:a="http://schemas.openxmlformats.org/drawingml/2006/main" noGrp="1"/>
          </p:cNvSpPr>
          <p:nvPr/>
        </p:nvSpPr>
        <p:spPr>
          <a:xfrm xmlns:a="http://schemas.openxmlformats.org/drawingml/2006/main">
            <a:off x="64389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Review cost and incidents monthly. Trigger re-evaluation on model, prompt, source or permission changes.</a:t>
            </a:r>
          </a:p>
        </p:txBody>
      </p:sp>
      <p:sp>
        <p:nvSpPr>
          <p:cNvPr id="14" name="content">
            <a:extLst xmlns:a="http://schemas.openxmlformats.org/drawingml/2006/main">
              <a:ext uri="{FF2B5EF4-FFF2-40B4-BE49-F238E27FC236}">
                <a16:creationId xmlns:a16="http://schemas.microsoft.com/office/drawing/2014/main" id="{59AF490D-0BD6-4297-9538-8A8D7E7C911D}"/>
              </a:ext>
            </a:extLst>
          </p:cNvPr>
          <p:cNvSpPr>
            <a:spLocks xmlns:a="http://schemas.openxmlformats.org/drawingml/2006/main" noGrp="1"/>
          </p:cNvSpPr>
          <p:nvPr/>
        </p:nvSpPr>
        <p:spPr>
          <a:xfrm xmlns:a="http://schemas.openxmlformats.org/drawingml/2006/main">
            <a:off x="64389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Change record</a:t>
            </a:r>
          </a:p>
        </p:txBody>
      </p:sp>
      <p:sp>
        <p:nvSpPr>
          <p:cNvPr id="15" name="content">
            <a:extLst xmlns:a="http://schemas.openxmlformats.org/drawingml/2006/main">
              <a:ext uri="{FF2B5EF4-FFF2-40B4-BE49-F238E27FC236}">
                <a16:creationId xmlns:a16="http://schemas.microsoft.com/office/drawing/2014/main" id="{DE3F01ED-683C-458A-B239-718562AD210C}"/>
              </a:ext>
            </a:extLst>
          </p:cNvPr>
          <p:cNvSpPr>
            <a:spLocks xmlns:a="http://schemas.openxmlformats.org/drawingml/2006/main" noGrp="1"/>
          </p:cNvSpPr>
          <p:nvPr/>
        </p:nvSpPr>
        <p:spPr>
          <a:xfrm xmlns:a="http://schemas.openxmlformats.org/drawingml/2006/main">
            <a:off x="64389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Every change updates design, BOM, WBS, acceptance, support terms and the quote where affected.</a:t>
            </a:r>
          </a:p>
        </p:txBody>
      </p:sp>
      <p:sp>
        <p:nvSpPr>
          <p:cNvPr id="16" name="content">
            <a:extLst xmlns:a="http://schemas.openxmlformats.org/drawingml/2006/main">
              <a:ext uri="{FF2B5EF4-FFF2-40B4-BE49-F238E27FC236}">
                <a16:creationId xmlns:a16="http://schemas.microsoft.com/office/drawing/2014/main" id="{86A015F2-743E-4F9A-A9A1-FFF63C5B1DB1}"/>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The detailed PDCA action plan maps each audit recommendation to an owner, evidence and release gate.</a:t>
            </a:r>
          </a:p>
        </p:txBody>
      </p:sp>
      <p:sp>
        <p:nvSpPr>
          <p:cNvPr id="17" name="content">
            <a:extLst xmlns:a="http://schemas.openxmlformats.org/drawingml/2006/main">
              <a:ext uri="{FF2B5EF4-FFF2-40B4-BE49-F238E27FC236}">
                <a16:creationId xmlns:a16="http://schemas.microsoft.com/office/drawing/2014/main" id="{B9B0C128-8DD7-41EE-9E20-1C636626D31F}"/>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8" name="content">
            <a:extLst xmlns:a="http://schemas.openxmlformats.org/drawingml/2006/main">
              <a:ext uri="{FF2B5EF4-FFF2-40B4-BE49-F238E27FC236}">
                <a16:creationId xmlns:a16="http://schemas.microsoft.com/office/drawing/2014/main" id="{1F286545-DE8D-45D9-BFC0-F398525C223F}"/>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17</a:t>
            </a:r>
          </a:p>
        </p:txBody>
      </p:sp>
    </p:spTree>
    <p:extLst>
      <p:ext uri="{BB962C8B-B14F-4D97-AF65-F5344CB8AC3E}">
        <p14:creationId xmlns:p14="http://schemas.microsoft.com/office/powerpoint/2010/main" val="195052136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D8F6A11B-AF18-42BD-8CB3-F18813A6318A}"/>
              </a:ext>
            </a:extLst>
          </p:cNvPr>
          <p:cNvPicPr>
            <a:picLocks xmlns:a="http://schemas.openxmlformats.org/drawingml/2006/main" noChangeAspect="1"/>
          </p:cNvPicPr>
          <p:nvPr/>
        </p:nvPicPr>
        <p:blipFill>
          <a:blip xmlns:r="http://schemas.openxmlformats.org/officeDocument/2006/relationships" xmlns:a="http://schemas.openxmlformats.org/drawingml/2006/main" r:embed="Re5e8463d71684a45"/>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A2F0DA1C-DEC2-41DE-B115-6A598432A9AD}"/>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CIS Infra / Solutioning proposal</a:t>
            </a:r>
          </a:p>
        </p:txBody>
      </p:sp>
      <p:sp>
        <p:nvSpPr>
          <p:cNvPr id="3" name="heading">
            <a:extLst xmlns:a="http://schemas.openxmlformats.org/drawingml/2006/main">
              <a:ext uri="{FF2B5EF4-FFF2-40B4-BE49-F238E27FC236}">
                <a16:creationId xmlns:a16="http://schemas.microsoft.com/office/drawing/2014/main" id="{B937C0C2-A471-405B-AE80-813C317E0946}"/>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The SOW needs six accepted decision records</a:t>
            </a:r>
          </a:p>
        </p:txBody>
      </p:sp>
      <p:sp>
        <p:nvSpPr>
          <p:cNvPr id="4" name="content">
            <a:extLst xmlns:a="http://schemas.openxmlformats.org/drawingml/2006/main">
              <a:ext uri="{FF2B5EF4-FFF2-40B4-BE49-F238E27FC236}">
                <a16:creationId xmlns:a16="http://schemas.microsoft.com/office/drawing/2014/main" id="{75E425DF-258E-4791-8479-01D05D581ECF}"/>
              </a:ext>
            </a:extLst>
          </p:cNvPr>
          <p:cNvSpPr>
            <a:spLocks xmlns:a="http://schemas.openxmlformats.org/drawingml/2006/main" noGrp="1"/>
          </p:cNvSpPr>
          <p:nvPr/>
        </p:nvSpPr>
        <p:spPr>
          <a:xfrm xmlns:a="http://schemas.openxmlformats.org/drawingml/2006/main">
            <a:off x="6858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Scope and architecture</a:t>
            </a:r>
          </a:p>
        </p:txBody>
      </p:sp>
      <p:sp>
        <p:nvSpPr>
          <p:cNvPr id="5" name="content">
            <a:extLst xmlns:a="http://schemas.openxmlformats.org/drawingml/2006/main">
              <a:ext uri="{FF2B5EF4-FFF2-40B4-BE49-F238E27FC236}">
                <a16:creationId xmlns:a16="http://schemas.microsoft.com/office/drawing/2014/main" id="{897EB6A2-E9FB-4144-B144-40E04BF9E747}"/>
              </a:ext>
            </a:extLst>
          </p:cNvPr>
          <p:cNvSpPr>
            <a:spLocks xmlns:a="http://schemas.openxmlformats.org/drawingml/2006/main" noGrp="1"/>
          </p:cNvSpPr>
          <p:nvPr/>
        </p:nvSpPr>
        <p:spPr>
          <a:xfrm xmlns:a="http://schemas.openxmlformats.org/drawingml/2006/main">
            <a:off x="6858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Source collection, read-only boundary, product route, geography and selected runtime.</a:t>
            </a:r>
          </a:p>
        </p:txBody>
      </p:sp>
      <p:sp>
        <p:nvSpPr>
          <p:cNvPr id="6" name="content">
            <a:extLst xmlns:a="http://schemas.openxmlformats.org/drawingml/2006/main">
              <a:ext uri="{FF2B5EF4-FFF2-40B4-BE49-F238E27FC236}">
                <a16:creationId xmlns:a16="http://schemas.microsoft.com/office/drawing/2014/main" id="{F969CA10-54B7-4CC1-837A-FEFE64A9BDE3}"/>
              </a:ext>
            </a:extLst>
          </p:cNvPr>
          <p:cNvSpPr>
            <a:spLocks xmlns:a="http://schemas.openxmlformats.org/drawingml/2006/main" noGrp="1"/>
          </p:cNvSpPr>
          <p:nvPr/>
        </p:nvSpPr>
        <p:spPr>
          <a:xfrm xmlns:a="http://schemas.openxmlformats.org/drawingml/2006/main">
            <a:off x="6858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Commercials and schedule</a:t>
            </a:r>
          </a:p>
        </p:txBody>
      </p:sp>
      <p:sp>
        <p:nvSpPr>
          <p:cNvPr id="7" name="content">
            <a:extLst xmlns:a="http://schemas.openxmlformats.org/drawingml/2006/main">
              <a:ext uri="{FF2B5EF4-FFF2-40B4-BE49-F238E27FC236}">
                <a16:creationId xmlns:a16="http://schemas.microsoft.com/office/drawing/2014/main" id="{7E937B20-96AE-4132-8C4B-213EA3864383}"/>
              </a:ext>
            </a:extLst>
          </p:cNvPr>
          <p:cNvSpPr>
            <a:spLocks xmlns:a="http://schemas.openxmlformats.org/drawingml/2006/main" noGrp="1"/>
          </p:cNvSpPr>
          <p:nvPr/>
        </p:nvSpPr>
        <p:spPr>
          <a:xfrm xmlns:a="http://schemas.openxmlformats.org/drawingml/2006/main">
            <a:off x="6858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Approved BOM, rate mix, staffing, reserve and quote validity.</a:t>
            </a:r>
          </a:p>
        </p:txBody>
      </p:sp>
      <p:sp>
        <p:nvSpPr>
          <p:cNvPr id="8" name="content">
            <a:extLst xmlns:a="http://schemas.openxmlformats.org/drawingml/2006/main">
              <a:ext uri="{FF2B5EF4-FFF2-40B4-BE49-F238E27FC236}">
                <a16:creationId xmlns:a16="http://schemas.microsoft.com/office/drawing/2014/main" id="{BAE8CB64-3AE6-4906-AE9C-F743C3F9FC83}"/>
              </a:ext>
            </a:extLst>
          </p:cNvPr>
          <p:cNvSpPr>
            <a:spLocks xmlns:a="http://schemas.openxmlformats.org/drawingml/2006/main" noGrp="1"/>
          </p:cNvSpPr>
          <p:nvPr/>
        </p:nvSpPr>
        <p:spPr>
          <a:xfrm xmlns:a="http://schemas.openxmlformats.org/drawingml/2006/main">
            <a:off x="6858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Customer obligations</a:t>
            </a:r>
          </a:p>
        </p:txBody>
      </p:sp>
      <p:sp>
        <p:nvSpPr>
          <p:cNvPr id="9" name="content">
            <a:extLst xmlns:a="http://schemas.openxmlformats.org/drawingml/2006/main">
              <a:ext uri="{FF2B5EF4-FFF2-40B4-BE49-F238E27FC236}">
                <a16:creationId xmlns:a16="http://schemas.microsoft.com/office/drawing/2014/main" id="{88FFCA66-6ECA-422B-92A8-FB4896E2806E}"/>
              </a:ext>
            </a:extLst>
          </p:cNvPr>
          <p:cNvSpPr>
            <a:spLocks xmlns:a="http://schemas.openxmlformats.org/drawingml/2006/main" noGrp="1"/>
          </p:cNvSpPr>
          <p:nvPr/>
        </p:nvSpPr>
        <p:spPr>
          <a:xfrm xmlns:a="http://schemas.openxmlformats.org/drawingml/2006/main">
            <a:off x="6858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Tenant authority, source rights, CAB access and review turnaround.</a:t>
            </a:r>
          </a:p>
        </p:txBody>
      </p:sp>
      <p:sp>
        <p:nvSpPr>
          <p:cNvPr id="10" name="content">
            <a:extLst xmlns:a="http://schemas.openxmlformats.org/drawingml/2006/main">
              <a:ext uri="{FF2B5EF4-FFF2-40B4-BE49-F238E27FC236}">
                <a16:creationId xmlns:a16="http://schemas.microsoft.com/office/drawing/2014/main" id="{96058493-99F0-471E-A484-FC502D5213BE}"/>
              </a:ext>
            </a:extLst>
          </p:cNvPr>
          <p:cNvSpPr>
            <a:spLocks xmlns:a="http://schemas.openxmlformats.org/drawingml/2006/main" noGrp="1"/>
          </p:cNvSpPr>
          <p:nvPr/>
        </p:nvSpPr>
        <p:spPr>
          <a:xfrm xmlns:a="http://schemas.openxmlformats.org/drawingml/2006/main">
            <a:off x="6438900" y="1905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Acceptance</a:t>
            </a:r>
          </a:p>
        </p:txBody>
      </p:sp>
      <p:sp>
        <p:nvSpPr>
          <p:cNvPr id="11" name="content">
            <a:extLst xmlns:a="http://schemas.openxmlformats.org/drawingml/2006/main">
              <a:ext uri="{FF2B5EF4-FFF2-40B4-BE49-F238E27FC236}">
                <a16:creationId xmlns:a16="http://schemas.microsoft.com/office/drawing/2014/main" id="{C2CA667B-468C-4D14-8C0A-DBF5CC1AF636}"/>
              </a:ext>
            </a:extLst>
          </p:cNvPr>
          <p:cNvSpPr>
            <a:spLocks xmlns:a="http://schemas.openxmlformats.org/drawingml/2006/main" noGrp="1"/>
          </p:cNvSpPr>
          <p:nvPr/>
        </p:nvSpPr>
        <p:spPr>
          <a:xfrm xmlns:a="http://schemas.openxmlformats.org/drawingml/2006/main">
            <a:off x="6438900" y="228600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Signed quality, permission, load and recovery targets with approvers.</a:t>
            </a:r>
          </a:p>
        </p:txBody>
      </p:sp>
      <p:sp>
        <p:nvSpPr>
          <p:cNvPr id="12" name="content">
            <a:extLst xmlns:a="http://schemas.openxmlformats.org/drawingml/2006/main">
              <a:ext uri="{FF2B5EF4-FFF2-40B4-BE49-F238E27FC236}">
                <a16:creationId xmlns:a16="http://schemas.microsoft.com/office/drawing/2014/main" id="{D61A3D10-E73A-4DA6-BFB7-21079A0A0268}"/>
              </a:ext>
            </a:extLst>
          </p:cNvPr>
          <p:cNvSpPr>
            <a:spLocks xmlns:a="http://schemas.openxmlformats.org/drawingml/2006/main" noGrp="1"/>
          </p:cNvSpPr>
          <p:nvPr/>
        </p:nvSpPr>
        <p:spPr>
          <a:xfrm xmlns:a="http://schemas.openxmlformats.org/drawingml/2006/main">
            <a:off x="6438900" y="3248025"/>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Operations</a:t>
            </a:r>
          </a:p>
        </p:txBody>
      </p:sp>
      <p:sp>
        <p:nvSpPr>
          <p:cNvPr id="13" name="content">
            <a:extLst xmlns:a="http://schemas.openxmlformats.org/drawingml/2006/main">
              <a:ext uri="{FF2B5EF4-FFF2-40B4-BE49-F238E27FC236}">
                <a16:creationId xmlns:a16="http://schemas.microsoft.com/office/drawing/2014/main" id="{0CD692B9-FAEE-4E9F-AA79-FC06AF9AE685}"/>
              </a:ext>
            </a:extLst>
          </p:cNvPr>
          <p:cNvSpPr>
            <a:spLocks xmlns:a="http://schemas.openxmlformats.org/drawingml/2006/main" noGrp="1"/>
          </p:cNvSpPr>
          <p:nvPr/>
        </p:nvSpPr>
        <p:spPr>
          <a:xfrm xmlns:a="http://schemas.openxmlformats.org/drawingml/2006/main">
            <a:off x="6438900" y="3629025"/>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Accepted service pool, specialist OLAs, coverage and overage rules.</a:t>
            </a:r>
          </a:p>
        </p:txBody>
      </p:sp>
      <p:sp>
        <p:nvSpPr>
          <p:cNvPr id="14" name="content">
            <a:extLst xmlns:a="http://schemas.openxmlformats.org/drawingml/2006/main">
              <a:ext uri="{FF2B5EF4-FFF2-40B4-BE49-F238E27FC236}">
                <a16:creationId xmlns:a16="http://schemas.microsoft.com/office/drawing/2014/main" id="{EE5FC67B-B391-4B89-AE2C-479515935B43}"/>
              </a:ext>
            </a:extLst>
          </p:cNvPr>
          <p:cNvSpPr>
            <a:spLocks xmlns:a="http://schemas.openxmlformats.org/drawingml/2006/main" noGrp="1"/>
          </p:cNvSpPr>
          <p:nvPr/>
        </p:nvSpPr>
        <p:spPr>
          <a:xfrm xmlns:a="http://schemas.openxmlformats.org/drawingml/2006/main">
            <a:off x="6438900" y="459105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F78C4"/>
                </a:solidFill>
              </a:defRPr>
            </a:defPPr>
          </a:lstStyle>
          <a:p xmlns:a="http://schemas.openxmlformats.org/drawingml/2006/main">
            <a:pPr>
              <a:defRPr sz="2025" b="1">
                <a:solidFill>
                  <a:srgbClr val="2F78C4"/>
                </a:solidFill>
              </a:defRPr>
            </a:pPr>
            <a:r>
              <a:rPr sz="2025" b="1">
                <a:solidFill>
                  <a:srgbClr val="2F78C4"/>
                </a:solidFill>
              </a:rPr>
              <a:t>Release decision</a:t>
            </a:r>
          </a:p>
        </p:txBody>
      </p:sp>
      <p:sp>
        <p:nvSpPr>
          <p:cNvPr id="15" name="content">
            <a:extLst xmlns:a="http://schemas.openxmlformats.org/drawingml/2006/main">
              <a:ext uri="{FF2B5EF4-FFF2-40B4-BE49-F238E27FC236}">
                <a16:creationId xmlns:a16="http://schemas.microsoft.com/office/drawing/2014/main" id="{E6FFE556-74F8-4146-8281-4AFE21734ADC}"/>
              </a:ext>
            </a:extLst>
          </p:cNvPr>
          <p:cNvSpPr>
            <a:spLocks xmlns:a="http://schemas.openxmlformats.org/drawingml/2006/main" noGrp="1"/>
          </p:cNvSpPr>
          <p:nvPr/>
        </p:nvSpPr>
        <p:spPr>
          <a:xfrm xmlns:a="http://schemas.openxmlformats.org/drawingml/2006/main">
            <a:off x="6438900" y="4972050"/>
            <a:ext cx="5067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00048"/>
                </a:solidFill>
              </a:defRPr>
            </a:defPPr>
          </a:lstStyle>
          <a:p xmlns:a="http://schemas.openxmlformats.org/drawingml/2006/main">
            <a:pPr>
              <a:defRPr sz="1875" b="0">
                <a:solidFill>
                  <a:srgbClr val="000048"/>
                </a:solidFill>
              </a:defRPr>
            </a:pPr>
            <a:r>
              <a:rPr sz="1875" b="0">
                <a:solidFill>
                  <a:srgbClr val="000048"/>
                </a:solidFill>
              </a:rPr>
              <a:t>Evidence pack, exceptions and accountable sign-off for platform and workload.</a:t>
            </a:r>
          </a:p>
        </p:txBody>
      </p:sp>
      <p:sp>
        <p:nvSpPr>
          <p:cNvPr id="16" name="content">
            <a:extLst xmlns:a="http://schemas.openxmlformats.org/drawingml/2006/main">
              <a:ext uri="{FF2B5EF4-FFF2-40B4-BE49-F238E27FC236}">
                <a16:creationId xmlns:a16="http://schemas.microsoft.com/office/drawing/2014/main" id="{B07F8A50-C78B-40C4-A6E3-3EF87679A000}"/>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Complete these records before presenting this reference case as a customer commitment.</a:t>
            </a:r>
          </a:p>
        </p:txBody>
      </p:sp>
      <p:sp>
        <p:nvSpPr>
          <p:cNvPr id="17" name="content">
            <a:extLst xmlns:a="http://schemas.openxmlformats.org/drawingml/2006/main">
              <a:ext uri="{FF2B5EF4-FFF2-40B4-BE49-F238E27FC236}">
                <a16:creationId xmlns:a16="http://schemas.microsoft.com/office/drawing/2014/main" id="{0562D9FE-BF19-408D-91A7-A400A45FBB0E}"/>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8" name="content">
            <a:extLst xmlns:a="http://schemas.openxmlformats.org/drawingml/2006/main">
              <a:ext uri="{FF2B5EF4-FFF2-40B4-BE49-F238E27FC236}">
                <a16:creationId xmlns:a16="http://schemas.microsoft.com/office/drawing/2014/main" id="{95AA1C51-9C1B-4112-9E74-8C54B144DC59}"/>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18</a:t>
            </a:r>
          </a:p>
        </p:txBody>
      </p:sp>
    </p:spTree>
    <p:extLst>
      <p:ext uri="{BB962C8B-B14F-4D97-AF65-F5344CB8AC3E}">
        <p14:creationId xmlns:p14="http://schemas.microsoft.com/office/powerpoint/2010/main" val="163068578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64F726D0-41DB-4A10-9CBE-F81D84EBC8F9}"/>
              </a:ext>
            </a:extLst>
          </p:cNvPr>
          <p:cNvPicPr>
            <a:picLocks xmlns:a="http://schemas.openxmlformats.org/drawingml/2006/main" noChangeAspect="1"/>
          </p:cNvPicPr>
          <p:nvPr/>
        </p:nvPicPr>
        <p:blipFill>
          <a:blip xmlns:r="http://schemas.openxmlformats.org/officeDocument/2006/relationships" xmlns:a="http://schemas.openxmlformats.org/drawingml/2006/main" r:embed="R436f3ca0b1834b74"/>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8E8E7EF3-9E74-41FD-AEA7-7DB725C39B37}"/>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Reference appendix / Solutioning proposal</a:t>
            </a:r>
          </a:p>
        </p:txBody>
      </p:sp>
      <p:sp>
        <p:nvSpPr>
          <p:cNvPr id="3" name="heading">
            <a:extLst xmlns:a="http://schemas.openxmlformats.org/drawingml/2006/main">
              <a:ext uri="{FF2B5EF4-FFF2-40B4-BE49-F238E27FC236}">
                <a16:creationId xmlns:a16="http://schemas.microsoft.com/office/drawing/2014/main" id="{1E27A1D9-2261-44F4-9DB4-7D59938F3A74}"/>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Appendix / selected resource budget, part 1</a:t>
            </a:r>
          </a:p>
        </p:txBody>
      </p:sp>
      <p:graphicFrame>
        <p:nvGraphicFramePr>
          <p:cNvPr id="4" name="">
            <a:extLst xmlns:a="http://schemas.openxmlformats.org/drawingml/2006/main">
              <a:ext uri="{FF2B5EF4-FFF2-40B4-BE49-F238E27FC236}">
                <a16:creationId xmlns:a16="http://schemas.microsoft.com/office/drawing/2014/main" id="{136736C5-2C20-443B-A85F-042B01D700E7}"/>
              </a:ext>
            </a:extLst>
          </p:cNvPr>
          <p:cNvGraphicFramePr/>
          <p:nvPr/>
        </p:nvGraphicFramePr>
        <p:xfrm>
          <a:off xmlns:a="http://schemas.openxmlformats.org/drawingml/2006/main" x="685800" y="1905000"/>
          <a:ext xmlns:a="http://schemas.openxmlformats.org/drawingml/2006/main" cx="10820400" cy="4000500"/>
        </p:xfrm>
        <a:graphic xmlns:a="http://schemas.openxmlformats.org/drawingml/2006/main">
          <a:graphicData uri="http://schemas.openxmlformats.org/drawingml/2006/table">
            <a:tbl>
              <a:tblPr/>
              <a:tblGrid>
                <a:gridCol w="3190875"/>
                <a:gridCol w="3000375"/>
                <a:gridCol w="2476500"/>
                <a:gridCol w="2152650"/>
              </a:tblGrid>
              <a:tr h="666750">
                <a:tc>
                  <a:txBody>
                    <a:bodyPr/>
                    <a:lstStyle/>
                    <a:p>
                      <a:r>
                        <a:rPr sz="1650" b="1">
                          <a:solidFill>
                            <a:srgbClr val="FFFFFF"/>
                          </a:solidFill>
                        </a:rPr>
                        <a:t>Resource / proposed SKU</a:t>
                      </a:r>
                    </a:p>
                  </a:txBody>
                  <a:tcPr marL="95250" marR="95250" marT="19050" marB="19050" anchor="ctr">
                    <a:solidFill>
                      <a:srgbClr val="000048"/>
                    </a:solidFill>
                  </a:tcPr>
                </a:tc>
                <a:tc>
                  <a:txBody>
                    <a:bodyPr/>
                    <a:lstStyle/>
                    <a:p>
                      <a:r>
                        <a:rPr sz="1650" b="1">
                          <a:solidFill>
                            <a:srgbClr val="FFFFFF"/>
                          </a:solidFill>
                        </a:rPr>
                        <a:t>Quantity basis</a:t>
                      </a:r>
                    </a:p>
                  </a:txBody>
                  <a:tcPr marL="95250" marR="95250" marT="19050" marB="19050" anchor="ctr">
                    <a:solidFill>
                      <a:srgbClr val="000048"/>
                    </a:solidFill>
                  </a:tcPr>
                </a:tc>
                <a:tc>
                  <a:txBody>
                    <a:bodyPr/>
                    <a:lstStyle/>
                    <a:p>
                      <a:r>
                        <a:rPr sz="1650" b="1">
                          <a:solidFill>
                            <a:srgbClr val="FFFFFF"/>
                          </a:solidFill>
                        </a:rPr>
                        <a:t>Sample monthly input</a:t>
                      </a:r>
                    </a:p>
                  </a:txBody>
                  <a:tcPr marL="95250" marR="95250" marT="19050" marB="19050" anchor="ctr">
                    <a:solidFill>
                      <a:srgbClr val="000048"/>
                    </a:solidFill>
                  </a:tcPr>
                </a:tc>
                <a:tc>
                  <a:txBody>
                    <a:bodyPr/>
                    <a:lstStyle/>
                    <a:p>
                      <a:r>
                        <a:rPr sz="1650" b="1">
                          <a:solidFill>
                            <a:srgbClr val="FFFFFF"/>
                          </a:solidFill>
                        </a:rPr>
                        <a:t>USD total</a:t>
                      </a:r>
                    </a:p>
                  </a:txBody>
                  <a:tcPr marL="95250" marR="95250" marT="19050" marB="19050" anchor="ctr">
                    <a:solidFill>
                      <a:srgbClr val="000048"/>
                    </a:solidFill>
                  </a:tcPr>
                </a:tc>
              </a:tr>
              <a:tr h="666750">
                <a:tc>
                  <a:txBody>
                    <a:bodyPr/>
                    <a:lstStyle/>
                    <a:p>
                      <a:r>
                        <a:rPr sz="1650" b="0">
                          <a:solidFill>
                            <a:srgbClr val="000048"/>
                          </a:solidFill>
                        </a:rPr>
                        <a:t>App Service P1v3 Linux</a:t>
                      </a:r>
                    </a:p>
                  </a:txBody>
                  <a:tcPr marL="95250" marR="95250" marT="19050" marB="19050" anchor="ctr">
                    <a:solidFill>
                      <a:srgbClr val="F5F5F2"/>
                    </a:solidFill>
                  </a:tcPr>
                </a:tc>
                <a:tc>
                  <a:txBody>
                    <a:bodyPr/>
                    <a:lstStyle/>
                    <a:p>
                      <a:r>
                        <a:rPr sz="1650" b="0">
                          <a:solidFill>
                            <a:srgbClr val="000048"/>
                          </a:solidFill>
                        </a:rPr>
                        <a:t>Prod 2 + dev 1</a:t>
                      </a:r>
                    </a:p>
                  </a:txBody>
                  <a:tcPr marL="95250" marR="95250" marT="19050" marB="19050" anchor="ctr">
                    <a:solidFill>
                      <a:srgbClr val="F5F5F2"/>
                    </a:solidFill>
                  </a:tcPr>
                </a:tc>
                <a:tc>
                  <a:txBody>
                    <a:bodyPr/>
                    <a:lstStyle/>
                    <a:p>
                      <a:r>
                        <a:rPr sz="1650" b="0">
                          <a:solidFill>
                            <a:srgbClr val="000048"/>
                          </a:solidFill>
                        </a:rPr>
                        <a:t>3 × $150</a:t>
                      </a:r>
                    </a:p>
                  </a:txBody>
                  <a:tcPr marL="95250" marR="95250" marT="19050" marB="19050" anchor="ctr">
                    <a:solidFill>
                      <a:srgbClr val="F5F5F2"/>
                    </a:solidFill>
                  </a:tcPr>
                </a:tc>
                <a:tc>
                  <a:txBody>
                    <a:bodyPr/>
                    <a:lstStyle/>
                    <a:p>
                      <a:r>
                        <a:rPr sz="1650" b="0">
                          <a:solidFill>
                            <a:srgbClr val="000048"/>
                          </a:solidFill>
                        </a:rPr>
                        <a:t>$450</a:t>
                      </a:r>
                    </a:p>
                  </a:txBody>
                  <a:tcPr marL="95250" marR="95250" marT="19050" marB="19050" anchor="ctr">
                    <a:solidFill>
                      <a:srgbClr val="F5F5F2"/>
                    </a:solidFill>
                  </a:tcPr>
                </a:tc>
              </a:tr>
              <a:tr h="666750">
                <a:tc>
                  <a:txBody>
                    <a:bodyPr/>
                    <a:lstStyle/>
                    <a:p>
                      <a:r>
                        <a:rPr sz="1650" b="0">
                          <a:solidFill>
                            <a:srgbClr val="000048"/>
                          </a:solidFill>
                        </a:rPr>
                        <a:t>AI Search S1</a:t>
                      </a:r>
                    </a:p>
                  </a:txBody>
                  <a:tcPr marL="95250" marR="95250" marT="19050" marB="19050" anchor="ctr">
                    <a:solidFill>
                      <a:srgbClr val="FFFFFF"/>
                    </a:solidFill>
                  </a:tcPr>
                </a:tc>
                <a:tc>
                  <a:txBody>
                    <a:bodyPr/>
                    <a:lstStyle/>
                    <a:p>
                      <a:r>
                        <a:rPr sz="1650" b="0">
                          <a:solidFill>
                            <a:srgbClr val="000048"/>
                          </a:solidFill>
                        </a:rPr>
                        <a:t>Prod 3 SU + dev 1</a:t>
                      </a:r>
                    </a:p>
                  </a:txBody>
                  <a:tcPr marL="95250" marR="95250" marT="19050" marB="19050" anchor="ctr">
                    <a:solidFill>
                      <a:srgbClr val="FFFFFF"/>
                    </a:solidFill>
                  </a:tcPr>
                </a:tc>
                <a:tc>
                  <a:txBody>
                    <a:bodyPr/>
                    <a:lstStyle/>
                    <a:p>
                      <a:r>
                        <a:rPr sz="1650" b="0">
                          <a:solidFill>
                            <a:srgbClr val="000048"/>
                          </a:solidFill>
                        </a:rPr>
                        <a:t>4 × $250</a:t>
                      </a:r>
                    </a:p>
                  </a:txBody>
                  <a:tcPr marL="95250" marR="95250" marT="19050" marB="19050" anchor="ctr">
                    <a:solidFill>
                      <a:srgbClr val="FFFFFF"/>
                    </a:solidFill>
                  </a:tcPr>
                </a:tc>
                <a:tc>
                  <a:txBody>
                    <a:bodyPr/>
                    <a:lstStyle/>
                    <a:p>
                      <a:r>
                        <a:rPr sz="1650" b="0">
                          <a:solidFill>
                            <a:srgbClr val="000048"/>
                          </a:solidFill>
                        </a:rPr>
                        <a:t>$1,000</a:t>
                      </a:r>
                    </a:p>
                  </a:txBody>
                  <a:tcPr marL="95250" marR="95250" marT="19050" marB="19050" anchor="ctr">
                    <a:solidFill>
                      <a:srgbClr val="FFFFFF"/>
                    </a:solidFill>
                  </a:tcPr>
                </a:tc>
              </a:tr>
              <a:tr h="666750">
                <a:tc>
                  <a:txBody>
                    <a:bodyPr/>
                    <a:lstStyle/>
                    <a:p>
                      <a:r>
                        <a:rPr sz="1650" b="0">
                          <a:solidFill>
                            <a:srgbClr val="000048"/>
                          </a:solidFill>
                        </a:rPr>
                        <a:t>Blob source copy</a:t>
                      </a:r>
                    </a:p>
                  </a:txBody>
                  <a:tcPr marL="95250" marR="95250" marT="19050" marB="19050" anchor="ctr">
                    <a:solidFill>
                      <a:srgbClr val="F5F5F2"/>
                    </a:solidFill>
                  </a:tcPr>
                </a:tc>
                <a:tc>
                  <a:txBody>
                    <a:bodyPr/>
                    <a:lstStyle/>
                    <a:p>
                      <a:r>
                        <a:rPr sz="1650" b="0">
                          <a:solidFill>
                            <a:srgbClr val="000048"/>
                          </a:solidFill>
                        </a:rPr>
                        <a:t>2 × 50 GB allowance</a:t>
                      </a:r>
                    </a:p>
                  </a:txBody>
                  <a:tcPr marL="95250" marR="95250" marT="19050" marB="19050" anchor="ctr">
                    <a:solidFill>
                      <a:srgbClr val="F5F5F2"/>
                    </a:solidFill>
                  </a:tcPr>
                </a:tc>
                <a:tc>
                  <a:txBody>
                    <a:bodyPr/>
                    <a:lstStyle/>
                    <a:p>
                      <a:r>
                        <a:rPr sz="1650" b="0">
                          <a:solidFill>
                            <a:srgbClr val="000048"/>
                          </a:solidFill>
                        </a:rPr>
                        <a:t>2 × $20</a:t>
                      </a:r>
                    </a:p>
                  </a:txBody>
                  <a:tcPr marL="95250" marR="95250" marT="19050" marB="19050" anchor="ctr">
                    <a:solidFill>
                      <a:srgbClr val="F5F5F2"/>
                    </a:solidFill>
                  </a:tcPr>
                </a:tc>
                <a:tc>
                  <a:txBody>
                    <a:bodyPr/>
                    <a:lstStyle/>
                    <a:p>
                      <a:r>
                        <a:rPr sz="1650" b="0">
                          <a:solidFill>
                            <a:srgbClr val="000048"/>
                          </a:solidFill>
                        </a:rPr>
                        <a:t>$40</a:t>
                      </a:r>
                    </a:p>
                  </a:txBody>
                  <a:tcPr marL="95250" marR="95250" marT="19050" marB="19050" anchor="ctr">
                    <a:solidFill>
                      <a:srgbClr val="F5F5F2"/>
                    </a:solidFill>
                  </a:tcPr>
                </a:tc>
              </a:tr>
              <a:tr h="666750">
                <a:tc>
                  <a:txBody>
                    <a:bodyPr/>
                    <a:lstStyle/>
                    <a:p>
                      <a:r>
                        <a:rPr sz="1650" b="0">
                          <a:solidFill>
                            <a:srgbClr val="000048"/>
                          </a:solidFill>
                        </a:rPr>
                        <a:t>Key Vault Standard</a:t>
                      </a:r>
                    </a:p>
                  </a:txBody>
                  <a:tcPr marL="95250" marR="95250" marT="19050" marB="19050" anchor="ctr">
                    <a:solidFill>
                      <a:srgbClr val="FFFFFF"/>
                    </a:solidFill>
                  </a:tcPr>
                </a:tc>
                <a:tc>
                  <a:txBody>
                    <a:bodyPr/>
                    <a:lstStyle/>
                    <a:p>
                      <a:r>
                        <a:rPr sz="1650" b="0">
                          <a:solidFill>
                            <a:srgbClr val="000048"/>
                          </a:solidFill>
                        </a:rPr>
                        <a:t>2 operation allowances</a:t>
                      </a:r>
                    </a:p>
                  </a:txBody>
                  <a:tcPr marL="95250" marR="95250" marT="19050" marB="19050" anchor="ctr">
                    <a:solidFill>
                      <a:srgbClr val="FFFFFF"/>
                    </a:solidFill>
                  </a:tcPr>
                </a:tc>
                <a:tc>
                  <a:txBody>
                    <a:bodyPr/>
                    <a:lstStyle/>
                    <a:p>
                      <a:r>
                        <a:rPr sz="1650" b="0">
                          <a:solidFill>
                            <a:srgbClr val="000048"/>
                          </a:solidFill>
                        </a:rPr>
                        <a:t>2 × $5</a:t>
                      </a:r>
                    </a:p>
                  </a:txBody>
                  <a:tcPr marL="95250" marR="95250" marT="19050" marB="19050" anchor="ctr">
                    <a:solidFill>
                      <a:srgbClr val="FFFFFF"/>
                    </a:solidFill>
                  </a:tcPr>
                </a:tc>
                <a:tc>
                  <a:txBody>
                    <a:bodyPr/>
                    <a:lstStyle/>
                    <a:p>
                      <a:r>
                        <a:rPr sz="1650" b="0">
                          <a:solidFill>
                            <a:srgbClr val="000048"/>
                          </a:solidFill>
                        </a:rPr>
                        <a:t>$10</a:t>
                      </a:r>
                    </a:p>
                  </a:txBody>
                  <a:tcPr marL="95250" marR="95250" marT="19050" marB="19050" anchor="ctr">
                    <a:solidFill>
                      <a:srgbClr val="FFFFFF"/>
                    </a:solidFill>
                  </a:tcPr>
                </a:tc>
              </a:tr>
              <a:tr h="666750">
                <a:tc>
                  <a:txBody>
                    <a:bodyPr/>
                    <a:lstStyle/>
                    <a:p>
                      <a:r>
                        <a:rPr sz="1650" b="0">
                          <a:solidFill>
                            <a:srgbClr val="000048"/>
                          </a:solidFill>
                        </a:rPr>
                        <a:t>Private endpoints</a:t>
                      </a:r>
                    </a:p>
                  </a:txBody>
                  <a:tcPr marL="95250" marR="95250" marT="19050" marB="19050" anchor="ctr">
                    <a:solidFill>
                      <a:srgbClr val="F5F5F2"/>
                    </a:solidFill>
                  </a:tcPr>
                </a:tc>
                <a:tc>
                  <a:txBody>
                    <a:bodyPr/>
                    <a:lstStyle/>
                    <a:p>
                      <a:r>
                        <a:rPr sz="1650" b="0">
                          <a:solidFill>
                            <a:srgbClr val="000048"/>
                          </a:solidFill>
                        </a:rPr>
                        <a:t>5 services × 2 env</a:t>
                      </a:r>
                    </a:p>
                  </a:txBody>
                  <a:tcPr marL="95250" marR="95250" marT="19050" marB="19050" anchor="ctr">
                    <a:solidFill>
                      <a:srgbClr val="F5F5F2"/>
                    </a:solidFill>
                  </a:tcPr>
                </a:tc>
                <a:tc>
                  <a:txBody>
                    <a:bodyPr/>
                    <a:lstStyle/>
                    <a:p>
                      <a:r>
                        <a:rPr sz="1650" b="0">
                          <a:solidFill>
                            <a:srgbClr val="000048"/>
                          </a:solidFill>
                        </a:rPr>
                        <a:t>10 × $8</a:t>
                      </a:r>
                    </a:p>
                  </a:txBody>
                  <a:tcPr marL="95250" marR="95250" marT="19050" marB="19050" anchor="ctr">
                    <a:solidFill>
                      <a:srgbClr val="F5F5F2"/>
                    </a:solidFill>
                  </a:tcPr>
                </a:tc>
                <a:tc>
                  <a:txBody>
                    <a:bodyPr/>
                    <a:lstStyle/>
                    <a:p>
                      <a:r>
                        <a:rPr sz="1650" b="0">
                          <a:solidFill>
                            <a:srgbClr val="000048"/>
                          </a:solidFill>
                        </a:rPr>
                        <a:t>$80</a:t>
                      </a:r>
                    </a:p>
                  </a:txBody>
                  <a:tcPr marL="95250" marR="95250" marT="19050" marB="19050" anchor="ctr">
                    <a:solidFill>
                      <a:srgbClr val="F5F5F2"/>
                    </a:solidFill>
                  </a:tcPr>
                </a:tc>
              </a:tr>
            </a:tbl>
          </a:graphicData>
        </a:graphic>
      </p:graphicFrame>
      <p:sp>
        <p:nvSpPr>
          <p:cNvPr id="5" name="content">
            <a:extLst xmlns:a="http://schemas.openxmlformats.org/drawingml/2006/main">
              <a:ext uri="{FF2B5EF4-FFF2-40B4-BE49-F238E27FC236}">
                <a16:creationId xmlns:a16="http://schemas.microsoft.com/office/drawing/2014/main" id="{7CC066E5-E602-4E08-85BE-1DBBAC639EAA}"/>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Monthly planning inputs, not Azure prices. SKU and scale require availability and load validation.</a:t>
            </a:r>
          </a:p>
        </p:txBody>
      </p:sp>
      <p:sp>
        <p:nvSpPr>
          <p:cNvPr id="6" name="content">
            <a:extLst xmlns:a="http://schemas.openxmlformats.org/drawingml/2006/main">
              <a:ext uri="{FF2B5EF4-FFF2-40B4-BE49-F238E27FC236}">
                <a16:creationId xmlns:a16="http://schemas.microsoft.com/office/drawing/2014/main" id="{14316B95-FA18-482E-95DC-559DB63F15E5}"/>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7" name="content">
            <a:extLst xmlns:a="http://schemas.openxmlformats.org/drawingml/2006/main">
              <a:ext uri="{FF2B5EF4-FFF2-40B4-BE49-F238E27FC236}">
                <a16:creationId xmlns:a16="http://schemas.microsoft.com/office/drawing/2014/main" id="{130E3262-FC50-44CE-B47C-99618AE40A89}"/>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19</a:t>
            </a:r>
          </a:p>
        </p:txBody>
      </p:sp>
    </p:spTree>
    <p:extLst>
      <p:ext uri="{BB962C8B-B14F-4D97-AF65-F5344CB8AC3E}">
        <p14:creationId xmlns:p14="http://schemas.microsoft.com/office/powerpoint/2010/main" val="61342601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1B68BE52-1055-4F95-85CF-EC41C180EBD1}"/>
              </a:ext>
            </a:extLst>
          </p:cNvPr>
          <p:cNvPicPr>
            <a:picLocks xmlns:a="http://schemas.openxmlformats.org/drawingml/2006/main" noChangeAspect="1"/>
          </p:cNvPicPr>
          <p:nvPr/>
        </p:nvPicPr>
        <p:blipFill>
          <a:blip xmlns:r="http://schemas.openxmlformats.org/officeDocument/2006/relationships" xmlns:a="http://schemas.openxmlformats.org/drawingml/2006/main" r:embed="Re607e19e6cba442f"/>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59BCD55B-978A-4AA3-8B9C-7DA999B98E18}"/>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Reference appendix / Solutioning proposal</a:t>
            </a:r>
          </a:p>
        </p:txBody>
      </p:sp>
      <p:sp>
        <p:nvSpPr>
          <p:cNvPr id="3" name="heading">
            <a:extLst xmlns:a="http://schemas.openxmlformats.org/drawingml/2006/main">
              <a:ext uri="{FF2B5EF4-FFF2-40B4-BE49-F238E27FC236}">
                <a16:creationId xmlns:a16="http://schemas.microsoft.com/office/drawing/2014/main" id="{68AE5E8F-1301-4D39-B312-5111B2021EE8}"/>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Appendix / selected resource budget, part 2</a:t>
            </a:r>
          </a:p>
        </p:txBody>
      </p:sp>
      <p:graphicFrame>
        <p:nvGraphicFramePr>
          <p:cNvPr id="4" name="">
            <a:extLst xmlns:a="http://schemas.openxmlformats.org/drawingml/2006/main">
              <a:ext uri="{FF2B5EF4-FFF2-40B4-BE49-F238E27FC236}">
                <a16:creationId xmlns:a16="http://schemas.microsoft.com/office/drawing/2014/main" id="{6656E0B2-1828-47DF-BBDB-D4C726D20D48}"/>
              </a:ext>
            </a:extLst>
          </p:cNvPr>
          <p:cNvGraphicFramePr/>
          <p:nvPr/>
        </p:nvGraphicFramePr>
        <p:xfrm>
          <a:off xmlns:a="http://schemas.openxmlformats.org/drawingml/2006/main" x="685800" y="1905000"/>
          <a:ext xmlns:a="http://schemas.openxmlformats.org/drawingml/2006/main" cx="10820400" cy="4000500"/>
        </p:xfrm>
        <a:graphic xmlns:a="http://schemas.openxmlformats.org/drawingml/2006/main">
          <a:graphicData uri="http://schemas.openxmlformats.org/drawingml/2006/table">
            <a:tbl>
              <a:tblPr/>
              <a:tblGrid>
                <a:gridCol w="3190875"/>
                <a:gridCol w="3000375"/>
                <a:gridCol w="2476500"/>
                <a:gridCol w="2152650"/>
              </a:tblGrid>
              <a:tr h="666750">
                <a:tc>
                  <a:txBody>
                    <a:bodyPr/>
                    <a:lstStyle/>
                    <a:p>
                      <a:r>
                        <a:rPr sz="1650" b="1">
                          <a:solidFill>
                            <a:srgbClr val="FFFFFF"/>
                          </a:solidFill>
                        </a:rPr>
                        <a:t>Resource / proposed SKU</a:t>
                      </a:r>
                    </a:p>
                  </a:txBody>
                  <a:tcPr marL="95250" marR="95250" marT="19050" marB="19050" anchor="ctr">
                    <a:solidFill>
                      <a:srgbClr val="000048"/>
                    </a:solidFill>
                  </a:tcPr>
                </a:tc>
                <a:tc>
                  <a:txBody>
                    <a:bodyPr/>
                    <a:lstStyle/>
                    <a:p>
                      <a:r>
                        <a:rPr sz="1650" b="1">
                          <a:solidFill>
                            <a:srgbClr val="FFFFFF"/>
                          </a:solidFill>
                        </a:rPr>
                        <a:t>Quantity basis</a:t>
                      </a:r>
                    </a:p>
                  </a:txBody>
                  <a:tcPr marL="95250" marR="95250" marT="19050" marB="19050" anchor="ctr">
                    <a:solidFill>
                      <a:srgbClr val="000048"/>
                    </a:solidFill>
                  </a:tcPr>
                </a:tc>
                <a:tc>
                  <a:txBody>
                    <a:bodyPr/>
                    <a:lstStyle/>
                    <a:p>
                      <a:r>
                        <a:rPr sz="1650" b="1">
                          <a:solidFill>
                            <a:srgbClr val="FFFFFF"/>
                          </a:solidFill>
                        </a:rPr>
                        <a:t>Sample monthly input</a:t>
                      </a:r>
                    </a:p>
                  </a:txBody>
                  <a:tcPr marL="95250" marR="95250" marT="19050" marB="19050" anchor="ctr">
                    <a:solidFill>
                      <a:srgbClr val="000048"/>
                    </a:solidFill>
                  </a:tcPr>
                </a:tc>
                <a:tc>
                  <a:txBody>
                    <a:bodyPr/>
                    <a:lstStyle/>
                    <a:p>
                      <a:r>
                        <a:rPr sz="1650" b="1">
                          <a:solidFill>
                            <a:srgbClr val="FFFFFF"/>
                          </a:solidFill>
                        </a:rPr>
                        <a:t>USD total</a:t>
                      </a:r>
                    </a:p>
                  </a:txBody>
                  <a:tcPr marL="95250" marR="95250" marT="19050" marB="19050" anchor="ctr">
                    <a:solidFill>
                      <a:srgbClr val="000048"/>
                    </a:solidFill>
                  </a:tcPr>
                </a:tc>
              </a:tr>
              <a:tr h="666750">
                <a:tc>
                  <a:txBody>
                    <a:bodyPr/>
                    <a:lstStyle/>
                    <a:p>
                      <a:r>
                        <a:rPr sz="1650" b="0">
                          <a:solidFill>
                            <a:srgbClr val="000048"/>
                          </a:solidFill>
                        </a:rPr>
                        <a:t>Private DNS</a:t>
                      </a:r>
                    </a:p>
                  </a:txBody>
                  <a:tcPr marL="95250" marR="95250" marT="19050" marB="19050" anchor="ctr">
                    <a:solidFill>
                      <a:srgbClr val="F5F5F2"/>
                    </a:solidFill>
                  </a:tcPr>
                </a:tc>
                <a:tc>
                  <a:txBody>
                    <a:bodyPr/>
                    <a:lstStyle/>
                    <a:p>
                      <a:r>
                        <a:rPr sz="1650" b="0">
                          <a:solidFill>
                            <a:srgbClr val="000048"/>
                          </a:solidFill>
                        </a:rPr>
                        <a:t>5 shared-zone allocations</a:t>
                      </a:r>
                    </a:p>
                  </a:txBody>
                  <a:tcPr marL="95250" marR="95250" marT="19050" marB="19050" anchor="ctr">
                    <a:solidFill>
                      <a:srgbClr val="F5F5F2"/>
                    </a:solidFill>
                  </a:tcPr>
                </a:tc>
                <a:tc>
                  <a:txBody>
                    <a:bodyPr/>
                    <a:lstStyle/>
                    <a:p>
                      <a:r>
                        <a:rPr sz="1650" b="0">
                          <a:solidFill>
                            <a:srgbClr val="000048"/>
                          </a:solidFill>
                        </a:rPr>
                        <a:t>5 × $1</a:t>
                      </a:r>
                    </a:p>
                  </a:txBody>
                  <a:tcPr marL="95250" marR="95250" marT="19050" marB="19050" anchor="ctr">
                    <a:solidFill>
                      <a:srgbClr val="F5F5F2"/>
                    </a:solidFill>
                  </a:tcPr>
                </a:tc>
                <a:tc>
                  <a:txBody>
                    <a:bodyPr/>
                    <a:lstStyle/>
                    <a:p>
                      <a:r>
                        <a:rPr sz="1650" b="0">
                          <a:solidFill>
                            <a:srgbClr val="000048"/>
                          </a:solidFill>
                        </a:rPr>
                        <a:t>$5</a:t>
                      </a:r>
                    </a:p>
                  </a:txBody>
                  <a:tcPr marL="95250" marR="95250" marT="19050" marB="19050" anchor="ctr">
                    <a:solidFill>
                      <a:srgbClr val="F5F5F2"/>
                    </a:solidFill>
                  </a:tcPr>
                </a:tc>
              </a:tr>
              <a:tr h="666750">
                <a:tc>
                  <a:txBody>
                    <a:bodyPr/>
                    <a:lstStyle/>
                    <a:p>
                      <a:r>
                        <a:rPr sz="1650" b="0">
                          <a:solidFill>
                            <a:srgbClr val="000048"/>
                          </a:solidFill>
                        </a:rPr>
                        <a:t>Azure Monitor</a:t>
                      </a:r>
                    </a:p>
                  </a:txBody>
                  <a:tcPr marL="95250" marR="95250" marT="19050" marB="19050" anchor="ctr">
                    <a:solidFill>
                      <a:srgbClr val="FFFFFF"/>
                    </a:solidFill>
                  </a:tcPr>
                </a:tc>
                <a:tc>
                  <a:txBody>
                    <a:bodyPr/>
                    <a:lstStyle/>
                    <a:p>
                      <a:r>
                        <a:rPr sz="1650" b="0">
                          <a:solidFill>
                            <a:srgbClr val="000048"/>
                          </a:solidFill>
                        </a:rPr>
                        <a:t>30 GB ingestion allowance</a:t>
                      </a:r>
                    </a:p>
                  </a:txBody>
                  <a:tcPr marL="95250" marR="95250" marT="19050" marB="19050" anchor="ctr">
                    <a:solidFill>
                      <a:srgbClr val="FFFFFF"/>
                    </a:solidFill>
                  </a:tcPr>
                </a:tc>
                <a:tc>
                  <a:txBody>
                    <a:bodyPr/>
                    <a:lstStyle/>
                    <a:p>
                      <a:r>
                        <a:rPr sz="1650" b="0">
                          <a:solidFill>
                            <a:srgbClr val="000048"/>
                          </a:solidFill>
                        </a:rPr>
                        <a:t>30 × $3</a:t>
                      </a:r>
                    </a:p>
                  </a:txBody>
                  <a:tcPr marL="95250" marR="95250" marT="19050" marB="19050" anchor="ctr">
                    <a:solidFill>
                      <a:srgbClr val="FFFFFF"/>
                    </a:solidFill>
                  </a:tcPr>
                </a:tc>
                <a:tc>
                  <a:txBody>
                    <a:bodyPr/>
                    <a:lstStyle/>
                    <a:p>
                      <a:r>
                        <a:rPr sz="1650" b="0">
                          <a:solidFill>
                            <a:srgbClr val="000048"/>
                          </a:solidFill>
                        </a:rPr>
                        <a:t>$90</a:t>
                      </a:r>
                    </a:p>
                  </a:txBody>
                  <a:tcPr marL="95250" marR="95250" marT="19050" marB="19050" anchor="ctr">
                    <a:solidFill>
                      <a:srgbClr val="FFFFFF"/>
                    </a:solidFill>
                  </a:tcPr>
                </a:tc>
              </a:tr>
              <a:tr h="666750">
                <a:tc>
                  <a:txBody>
                    <a:bodyPr/>
                    <a:lstStyle/>
                    <a:p>
                      <a:r>
                        <a:rPr sz="1650" b="0">
                          <a:solidFill>
                            <a:srgbClr val="000048"/>
                          </a:solidFill>
                        </a:rPr>
                        <a:t>Build VM D2s_v5 Linux</a:t>
                      </a:r>
                    </a:p>
                  </a:txBody>
                  <a:tcPr marL="95250" marR="95250" marT="19050" marB="19050" anchor="ctr">
                    <a:solidFill>
                      <a:srgbClr val="F5F5F2"/>
                    </a:solidFill>
                  </a:tcPr>
                </a:tc>
                <a:tc>
                  <a:txBody>
                    <a:bodyPr/>
                    <a:lstStyle/>
                    <a:p>
                      <a:r>
                        <a:rPr sz="1650" b="0">
                          <a:solidFill>
                            <a:srgbClr val="000048"/>
                          </a:solidFill>
                        </a:rPr>
                        <a:t>One per environment</a:t>
                      </a:r>
                    </a:p>
                  </a:txBody>
                  <a:tcPr marL="95250" marR="95250" marT="19050" marB="19050" anchor="ctr">
                    <a:solidFill>
                      <a:srgbClr val="F5F5F2"/>
                    </a:solidFill>
                  </a:tcPr>
                </a:tc>
                <a:tc>
                  <a:txBody>
                    <a:bodyPr/>
                    <a:lstStyle/>
                    <a:p>
                      <a:r>
                        <a:rPr sz="1650" b="0">
                          <a:solidFill>
                            <a:srgbClr val="000048"/>
                          </a:solidFill>
                        </a:rPr>
                        <a:t>2 × $90</a:t>
                      </a:r>
                    </a:p>
                  </a:txBody>
                  <a:tcPr marL="95250" marR="95250" marT="19050" marB="19050" anchor="ctr">
                    <a:solidFill>
                      <a:srgbClr val="F5F5F2"/>
                    </a:solidFill>
                  </a:tcPr>
                </a:tc>
                <a:tc>
                  <a:txBody>
                    <a:bodyPr/>
                    <a:lstStyle/>
                    <a:p>
                      <a:r>
                        <a:rPr sz="1650" b="0">
                          <a:solidFill>
                            <a:srgbClr val="000048"/>
                          </a:solidFill>
                        </a:rPr>
                        <a:t>$180</a:t>
                      </a:r>
                    </a:p>
                  </a:txBody>
                  <a:tcPr marL="95250" marR="95250" marT="19050" marB="19050" anchor="ctr">
                    <a:solidFill>
                      <a:srgbClr val="F5F5F2"/>
                    </a:solidFill>
                  </a:tcPr>
                </a:tc>
              </a:tr>
              <a:tr h="666750">
                <a:tc>
                  <a:txBody>
                    <a:bodyPr/>
                    <a:lstStyle/>
                    <a:p>
                      <a:r>
                        <a:rPr sz="1650" b="0">
                          <a:solidFill>
                            <a:srgbClr val="000048"/>
                          </a:solidFill>
                        </a:rPr>
                        <a:t>Shared hub services</a:t>
                      </a:r>
                    </a:p>
                  </a:txBody>
                  <a:tcPr marL="95250" marR="95250" marT="19050" marB="19050" anchor="ctr">
                    <a:solidFill>
                      <a:srgbClr val="FFFFFF"/>
                    </a:solidFill>
                  </a:tcPr>
                </a:tc>
                <a:tc>
                  <a:txBody>
                    <a:bodyPr/>
                    <a:lstStyle/>
                    <a:p>
                      <a:r>
                        <a:rPr sz="1650" b="0">
                          <a:solidFill>
                            <a:srgbClr val="000048"/>
                          </a:solidFill>
                        </a:rPr>
                        <a:t>Firewall/resolver allocation</a:t>
                      </a:r>
                    </a:p>
                  </a:txBody>
                  <a:tcPr marL="95250" marR="95250" marT="19050" marB="19050" anchor="ctr">
                    <a:solidFill>
                      <a:srgbClr val="FFFFFF"/>
                    </a:solidFill>
                  </a:tcPr>
                </a:tc>
                <a:tc>
                  <a:txBody>
                    <a:bodyPr/>
                    <a:lstStyle/>
                    <a:p>
                      <a:r>
                        <a:rPr sz="1650" b="0">
                          <a:solidFill>
                            <a:srgbClr val="000048"/>
                          </a:solidFill>
                        </a:rPr>
                        <a:t>Monthly allocation</a:t>
                      </a:r>
                    </a:p>
                  </a:txBody>
                  <a:tcPr marL="95250" marR="95250" marT="19050" marB="19050" anchor="ctr">
                    <a:solidFill>
                      <a:srgbClr val="FFFFFF"/>
                    </a:solidFill>
                  </a:tcPr>
                </a:tc>
                <a:tc>
                  <a:txBody>
                    <a:bodyPr/>
                    <a:lstStyle/>
                    <a:p>
                      <a:r>
                        <a:rPr sz="1650" b="0">
                          <a:solidFill>
                            <a:srgbClr val="000048"/>
                          </a:solidFill>
                        </a:rPr>
                        <a:t>$100</a:t>
                      </a:r>
                    </a:p>
                  </a:txBody>
                  <a:tcPr marL="95250" marR="95250" marT="19050" marB="19050" anchor="ctr">
                    <a:solidFill>
                      <a:srgbClr val="FFFFFF"/>
                    </a:solidFill>
                  </a:tcPr>
                </a:tc>
              </a:tr>
              <a:tr h="666750">
                <a:tc>
                  <a:txBody>
                    <a:bodyPr/>
                    <a:lstStyle/>
                    <a:p>
                      <a:r>
                        <a:rPr sz="1650" b="0">
                          <a:solidFill>
                            <a:srgbClr val="000048"/>
                          </a:solidFill>
                        </a:rPr>
                        <a:t>Embedding/ingestion</a:t>
                      </a:r>
                    </a:p>
                  </a:txBody>
                  <a:tcPr marL="95250" marR="95250" marT="19050" marB="19050" anchor="ctr">
                    <a:solidFill>
                      <a:srgbClr val="F5F5F2"/>
                    </a:solidFill>
                  </a:tcPr>
                </a:tc>
                <a:tc>
                  <a:txBody>
                    <a:bodyPr/>
                    <a:lstStyle/>
                    <a:p>
                      <a:r>
                        <a:rPr sz="1650" b="0">
                          <a:solidFill>
                            <a:srgbClr val="000048"/>
                          </a:solidFill>
                        </a:rPr>
                        <a:t>Bounded monthly allowance</a:t>
                      </a:r>
                    </a:p>
                  </a:txBody>
                  <a:tcPr marL="95250" marR="95250" marT="19050" marB="19050" anchor="ctr">
                    <a:solidFill>
                      <a:srgbClr val="F5F5F2"/>
                    </a:solidFill>
                  </a:tcPr>
                </a:tc>
                <a:tc>
                  <a:txBody>
                    <a:bodyPr/>
                    <a:lstStyle/>
                    <a:p>
                      <a:r>
                        <a:rPr sz="1650" b="0">
                          <a:solidFill>
                            <a:srgbClr val="000048"/>
                          </a:solidFill>
                        </a:rPr>
                        <a:t>Token/job budget</a:t>
                      </a:r>
                    </a:p>
                  </a:txBody>
                  <a:tcPr marL="95250" marR="95250" marT="19050" marB="19050" anchor="ctr">
                    <a:solidFill>
                      <a:srgbClr val="F5F5F2"/>
                    </a:solidFill>
                  </a:tcPr>
                </a:tc>
                <a:tc>
                  <a:txBody>
                    <a:bodyPr/>
                    <a:lstStyle/>
                    <a:p>
                      <a:r>
                        <a:rPr sz="1650" b="0">
                          <a:solidFill>
                            <a:srgbClr val="000048"/>
                          </a:solidFill>
                        </a:rPr>
                        <a:t>$20</a:t>
                      </a:r>
                    </a:p>
                  </a:txBody>
                  <a:tcPr marL="95250" marR="95250" marT="19050" marB="19050" anchor="ctr">
                    <a:solidFill>
                      <a:srgbClr val="F5F5F2"/>
                    </a:solidFill>
                  </a:tcPr>
                </a:tc>
              </a:tr>
            </a:tbl>
          </a:graphicData>
        </a:graphic>
      </p:graphicFrame>
      <p:sp>
        <p:nvSpPr>
          <p:cNvPr id="5" name="content">
            <a:extLst xmlns:a="http://schemas.openxmlformats.org/drawingml/2006/main">
              <a:ext uri="{FF2B5EF4-FFF2-40B4-BE49-F238E27FC236}">
                <a16:creationId xmlns:a16="http://schemas.microsoft.com/office/drawing/2014/main" id="{D9D70AD0-8EFA-44A9-903F-3B11FE34303C}"/>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Parts 1–2 total $1,975. Chat model adds $525 base budget. Total $2,500/month.</a:t>
            </a:r>
          </a:p>
        </p:txBody>
      </p:sp>
      <p:sp>
        <p:nvSpPr>
          <p:cNvPr id="6" name="content">
            <a:extLst xmlns:a="http://schemas.openxmlformats.org/drawingml/2006/main">
              <a:ext uri="{FF2B5EF4-FFF2-40B4-BE49-F238E27FC236}">
                <a16:creationId xmlns:a16="http://schemas.microsoft.com/office/drawing/2014/main" id="{C9AD1B8D-4A9F-48E4-A906-3F8132804576}"/>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7" name="content">
            <a:extLst xmlns:a="http://schemas.openxmlformats.org/drawingml/2006/main">
              <a:ext uri="{FF2B5EF4-FFF2-40B4-BE49-F238E27FC236}">
                <a16:creationId xmlns:a16="http://schemas.microsoft.com/office/drawing/2014/main" id="{CF86DE94-6269-4994-A80A-B6A7E1F592A6}"/>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20</a:t>
            </a:r>
          </a:p>
        </p:txBody>
      </p:sp>
    </p:spTree>
    <p:extLst>
      <p:ext uri="{BB962C8B-B14F-4D97-AF65-F5344CB8AC3E}">
        <p14:creationId xmlns:p14="http://schemas.microsoft.com/office/powerpoint/2010/main" val="95142706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08E48353-30FE-403A-8CC4-5E0846ABB468}"/>
              </a:ext>
            </a:extLst>
          </p:cNvPr>
          <p:cNvPicPr>
            <a:picLocks xmlns:a="http://schemas.openxmlformats.org/drawingml/2006/main" noChangeAspect="1"/>
          </p:cNvPicPr>
          <p:nvPr/>
        </p:nvPicPr>
        <p:blipFill>
          <a:blip xmlns:r="http://schemas.openxmlformats.org/officeDocument/2006/relationships" xmlns:a="http://schemas.openxmlformats.org/drawingml/2006/main" r:embed="R9cb6d5c3046943be"/>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51289E44-AED4-499B-B726-E7D45F50B4ED}"/>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Reference appendix / Solutioning proposal</a:t>
            </a:r>
          </a:p>
        </p:txBody>
      </p:sp>
      <p:sp>
        <p:nvSpPr>
          <p:cNvPr id="3" name="heading">
            <a:extLst xmlns:a="http://schemas.openxmlformats.org/drawingml/2006/main">
              <a:ext uri="{FF2B5EF4-FFF2-40B4-BE49-F238E27FC236}">
                <a16:creationId xmlns:a16="http://schemas.microsoft.com/office/drawing/2014/main" id="{EE8B6A0D-EAF2-449D-8A98-C39F4AA4283E}"/>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Appendix / implementation cost and commercial controls</a:t>
            </a:r>
          </a:p>
        </p:txBody>
      </p:sp>
      <p:graphicFrame>
        <p:nvGraphicFramePr>
          <p:cNvPr id="4" name="">
            <a:extLst xmlns:a="http://schemas.openxmlformats.org/drawingml/2006/main">
              <a:ext uri="{FF2B5EF4-FFF2-40B4-BE49-F238E27FC236}">
                <a16:creationId xmlns:a16="http://schemas.microsoft.com/office/drawing/2014/main" id="{0AA056A0-8B2E-4AB6-AF8E-2A10D16B5977}"/>
              </a:ext>
            </a:extLst>
          </p:cNvPr>
          <p:cNvGraphicFramePr/>
          <p:nvPr/>
        </p:nvGraphicFramePr>
        <p:xfrm>
          <a:off xmlns:a="http://schemas.openxmlformats.org/drawingml/2006/main" x="685800" y="1905000"/>
          <a:ext xmlns:a="http://schemas.openxmlformats.org/drawingml/2006/main" cx="10820400" cy="4000500"/>
        </p:xfrm>
        <a:graphic xmlns:a="http://schemas.openxmlformats.org/drawingml/2006/main">
          <a:graphicData uri="http://schemas.openxmlformats.org/drawingml/2006/table">
            <a:tbl>
              <a:tblPr/>
              <a:tblGrid>
                <a:gridCol w="4000500"/>
                <a:gridCol w="1809750"/>
                <a:gridCol w="2286000"/>
                <a:gridCol w="2724150"/>
              </a:tblGrid>
              <a:tr h="571500">
                <a:tc>
                  <a:txBody>
                    <a:bodyPr/>
                    <a:lstStyle/>
                    <a:p>
                      <a:r>
                        <a:rPr sz="1725" b="1">
                          <a:solidFill>
                            <a:srgbClr val="FFFFFF"/>
                          </a:solidFill>
                        </a:rPr>
                        <a:t>Tower</a:t>
                      </a:r>
                    </a:p>
                  </a:txBody>
                  <a:tcPr marL="95250" marR="95250" marT="19050" marB="19050" anchor="ctr">
                    <a:solidFill>
                      <a:srgbClr val="000048"/>
                    </a:solidFill>
                  </a:tcPr>
                </a:tc>
                <a:tc>
                  <a:txBody>
                    <a:bodyPr/>
                    <a:lstStyle/>
                    <a:p>
                      <a:r>
                        <a:rPr sz="1725" b="1">
                          <a:solidFill>
                            <a:srgbClr val="FFFFFF"/>
                          </a:solidFill>
                        </a:rPr>
                        <a:t>Days</a:t>
                      </a:r>
                    </a:p>
                  </a:txBody>
                  <a:tcPr marL="95250" marR="95250" marT="19050" marB="19050" anchor="ctr">
                    <a:solidFill>
                      <a:srgbClr val="000048"/>
                    </a:solidFill>
                  </a:tcPr>
                </a:tc>
                <a:tc>
                  <a:txBody>
                    <a:bodyPr/>
                    <a:lstStyle/>
                    <a:p>
                      <a:r>
                        <a:rPr sz="1725" b="1">
                          <a:solidFill>
                            <a:srgbClr val="FFFFFF"/>
                          </a:solidFill>
                        </a:rPr>
                        <a:t>Sample USD/day</a:t>
                      </a:r>
                    </a:p>
                  </a:txBody>
                  <a:tcPr marL="95250" marR="95250" marT="19050" marB="19050" anchor="ctr">
                    <a:solidFill>
                      <a:srgbClr val="000048"/>
                    </a:solidFill>
                  </a:tcPr>
                </a:tc>
                <a:tc>
                  <a:txBody>
                    <a:bodyPr/>
                    <a:lstStyle/>
                    <a:p>
                      <a:r>
                        <a:rPr sz="1725" b="1">
                          <a:solidFill>
                            <a:srgbClr val="FFFFFF"/>
                          </a:solidFill>
                        </a:rPr>
                        <a:t>Base cost</a:t>
                      </a:r>
                    </a:p>
                  </a:txBody>
                  <a:tcPr marL="95250" marR="95250" marT="19050" marB="19050" anchor="ctr">
                    <a:solidFill>
                      <a:srgbClr val="000048"/>
                    </a:solidFill>
                  </a:tcPr>
                </a:tc>
              </a:tr>
              <a:tr h="571500">
                <a:tc>
                  <a:txBody>
                    <a:bodyPr/>
                    <a:lstStyle/>
                    <a:p>
                      <a:r>
                        <a:rPr sz="1725" b="0">
                          <a:solidFill>
                            <a:srgbClr val="000048"/>
                          </a:solidFill>
                        </a:rPr>
                        <a:t>Infra</a:t>
                      </a:r>
                    </a:p>
                  </a:txBody>
                  <a:tcPr marL="95250" marR="95250" marT="19050" marB="19050" anchor="ctr">
                    <a:solidFill>
                      <a:srgbClr val="F5F5F2"/>
                    </a:solidFill>
                  </a:tcPr>
                </a:tc>
                <a:tc>
                  <a:txBody>
                    <a:bodyPr/>
                    <a:lstStyle/>
                    <a:p>
                      <a:r>
                        <a:rPr sz="1725" b="0">
                          <a:solidFill>
                            <a:srgbClr val="000048"/>
                          </a:solidFill>
                        </a:rPr>
                        <a:t>40</a:t>
                      </a:r>
                    </a:p>
                  </a:txBody>
                  <a:tcPr marL="95250" marR="95250" marT="19050" marB="19050" anchor="ctr">
                    <a:solidFill>
                      <a:srgbClr val="F5F5F2"/>
                    </a:solidFill>
                  </a:tcPr>
                </a:tc>
                <a:tc>
                  <a:txBody>
                    <a:bodyPr/>
                    <a:lstStyle/>
                    <a:p>
                      <a:r>
                        <a:rPr sz="1725" b="0">
                          <a:solidFill>
                            <a:srgbClr val="000048"/>
                          </a:solidFill>
                        </a:rPr>
                        <a:t>$500.00</a:t>
                      </a:r>
                    </a:p>
                  </a:txBody>
                  <a:tcPr marL="95250" marR="95250" marT="19050" marB="19050" anchor="ctr">
                    <a:solidFill>
                      <a:srgbClr val="F5F5F2"/>
                    </a:solidFill>
                  </a:tcPr>
                </a:tc>
                <a:tc>
                  <a:txBody>
                    <a:bodyPr/>
                    <a:lstStyle/>
                    <a:p>
                      <a:r>
                        <a:rPr sz="1725" b="0">
                          <a:solidFill>
                            <a:srgbClr val="000048"/>
                          </a:solidFill>
                        </a:rPr>
                        <a:t>$20,000.00</a:t>
                      </a:r>
                    </a:p>
                  </a:txBody>
                  <a:tcPr marL="95250" marR="95250" marT="19050" marB="19050" anchor="ctr">
                    <a:solidFill>
                      <a:srgbClr val="F5F5F2"/>
                    </a:solidFill>
                  </a:tcPr>
                </a:tc>
              </a:tr>
              <a:tr h="571500">
                <a:tc>
                  <a:txBody>
                    <a:bodyPr/>
                    <a:lstStyle/>
                    <a:p>
                      <a:r>
                        <a:rPr sz="1725" b="0">
                          <a:solidFill>
                            <a:srgbClr val="000048"/>
                          </a:solidFill>
                        </a:rPr>
                        <a:t>Security</a:t>
                      </a:r>
                    </a:p>
                  </a:txBody>
                  <a:tcPr marL="95250" marR="95250" marT="19050" marB="19050" anchor="ctr">
                    <a:solidFill>
                      <a:srgbClr val="FFFFFF"/>
                    </a:solidFill>
                  </a:tcPr>
                </a:tc>
                <a:tc>
                  <a:txBody>
                    <a:bodyPr/>
                    <a:lstStyle/>
                    <a:p>
                      <a:r>
                        <a:rPr sz="1725" b="0">
                          <a:solidFill>
                            <a:srgbClr val="000048"/>
                          </a:solidFill>
                        </a:rPr>
                        <a:t>8</a:t>
                      </a:r>
                    </a:p>
                  </a:txBody>
                  <a:tcPr marL="95250" marR="95250" marT="19050" marB="19050" anchor="ctr">
                    <a:solidFill>
                      <a:srgbClr val="FFFFFF"/>
                    </a:solidFill>
                  </a:tcPr>
                </a:tc>
                <a:tc>
                  <a:txBody>
                    <a:bodyPr/>
                    <a:lstStyle/>
                    <a:p>
                      <a:r>
                        <a:rPr sz="1725" b="0">
                          <a:solidFill>
                            <a:srgbClr val="000048"/>
                          </a:solidFill>
                        </a:rPr>
                        <a:t>$600.00</a:t>
                      </a:r>
                    </a:p>
                  </a:txBody>
                  <a:tcPr marL="95250" marR="95250" marT="19050" marB="19050" anchor="ctr">
                    <a:solidFill>
                      <a:srgbClr val="FFFFFF"/>
                    </a:solidFill>
                  </a:tcPr>
                </a:tc>
                <a:tc>
                  <a:txBody>
                    <a:bodyPr/>
                    <a:lstStyle/>
                    <a:p>
                      <a:r>
                        <a:rPr sz="1725" b="0">
                          <a:solidFill>
                            <a:srgbClr val="000048"/>
                          </a:solidFill>
                        </a:rPr>
                        <a:t>$4,800.00</a:t>
                      </a:r>
                    </a:p>
                  </a:txBody>
                  <a:tcPr marL="95250" marR="95250" marT="19050" marB="19050" anchor="ctr">
                    <a:solidFill>
                      <a:srgbClr val="FFFFFF"/>
                    </a:solidFill>
                  </a:tcPr>
                </a:tc>
              </a:tr>
              <a:tr h="571500">
                <a:tc>
                  <a:txBody>
                    <a:bodyPr/>
                    <a:lstStyle/>
                    <a:p>
                      <a:r>
                        <a:rPr sz="1725" b="0">
                          <a:solidFill>
                            <a:srgbClr val="000048"/>
                          </a:solidFill>
                        </a:rPr>
                        <a:t>DevOps</a:t>
                      </a:r>
                    </a:p>
                  </a:txBody>
                  <a:tcPr marL="95250" marR="95250" marT="19050" marB="19050" anchor="ctr">
                    <a:solidFill>
                      <a:srgbClr val="F5F5F2"/>
                    </a:solidFill>
                  </a:tcPr>
                </a:tc>
                <a:tc>
                  <a:txBody>
                    <a:bodyPr/>
                    <a:lstStyle/>
                    <a:p>
                      <a:r>
                        <a:rPr sz="1725" b="0">
                          <a:solidFill>
                            <a:srgbClr val="000048"/>
                          </a:solidFill>
                        </a:rPr>
                        <a:t>12</a:t>
                      </a:r>
                    </a:p>
                  </a:txBody>
                  <a:tcPr marL="95250" marR="95250" marT="19050" marB="19050" anchor="ctr">
                    <a:solidFill>
                      <a:srgbClr val="F5F5F2"/>
                    </a:solidFill>
                  </a:tcPr>
                </a:tc>
                <a:tc>
                  <a:txBody>
                    <a:bodyPr/>
                    <a:lstStyle/>
                    <a:p>
                      <a:r>
                        <a:rPr sz="1725" b="0">
                          <a:solidFill>
                            <a:srgbClr val="000048"/>
                          </a:solidFill>
                        </a:rPr>
                        <a:t>$500.00</a:t>
                      </a:r>
                    </a:p>
                  </a:txBody>
                  <a:tcPr marL="95250" marR="95250" marT="19050" marB="19050" anchor="ctr">
                    <a:solidFill>
                      <a:srgbClr val="F5F5F2"/>
                    </a:solidFill>
                  </a:tcPr>
                </a:tc>
                <a:tc>
                  <a:txBody>
                    <a:bodyPr/>
                    <a:lstStyle/>
                    <a:p>
                      <a:r>
                        <a:rPr sz="1725" b="0">
                          <a:solidFill>
                            <a:srgbClr val="000048"/>
                          </a:solidFill>
                        </a:rPr>
                        <a:t>$6,000.00</a:t>
                      </a:r>
                    </a:p>
                  </a:txBody>
                  <a:tcPr marL="95250" marR="95250" marT="19050" marB="19050" anchor="ctr">
                    <a:solidFill>
                      <a:srgbClr val="F5F5F2"/>
                    </a:solidFill>
                  </a:tcPr>
                </a:tc>
              </a:tr>
              <a:tr h="571500">
                <a:tc>
                  <a:txBody>
                    <a:bodyPr/>
                    <a:lstStyle/>
                    <a:p>
                      <a:r>
                        <a:rPr sz="1725" b="0">
                          <a:solidFill>
                            <a:srgbClr val="000048"/>
                          </a:solidFill>
                        </a:rPr>
                        <a:t>Data</a:t>
                      </a:r>
                    </a:p>
                  </a:txBody>
                  <a:tcPr marL="95250" marR="95250" marT="19050" marB="19050" anchor="ctr">
                    <a:solidFill>
                      <a:srgbClr val="FFFFFF"/>
                    </a:solidFill>
                  </a:tcPr>
                </a:tc>
                <a:tc>
                  <a:txBody>
                    <a:bodyPr/>
                    <a:lstStyle/>
                    <a:p>
                      <a:r>
                        <a:rPr sz="1725" b="0">
                          <a:solidFill>
                            <a:srgbClr val="000048"/>
                          </a:solidFill>
                        </a:rPr>
                        <a:t>4</a:t>
                      </a:r>
                    </a:p>
                  </a:txBody>
                  <a:tcPr marL="95250" marR="95250" marT="19050" marB="19050" anchor="ctr">
                    <a:solidFill>
                      <a:srgbClr val="FFFFFF"/>
                    </a:solidFill>
                  </a:tcPr>
                </a:tc>
                <a:tc>
                  <a:txBody>
                    <a:bodyPr/>
                    <a:lstStyle/>
                    <a:p>
                      <a:r>
                        <a:rPr sz="1725" b="0">
                          <a:solidFill>
                            <a:srgbClr val="000048"/>
                          </a:solidFill>
                        </a:rPr>
                        <a:t>$550.00</a:t>
                      </a:r>
                    </a:p>
                  </a:txBody>
                  <a:tcPr marL="95250" marR="95250" marT="19050" marB="19050" anchor="ctr">
                    <a:solidFill>
                      <a:srgbClr val="FFFFFF"/>
                    </a:solidFill>
                  </a:tcPr>
                </a:tc>
                <a:tc>
                  <a:txBody>
                    <a:bodyPr/>
                    <a:lstStyle/>
                    <a:p>
                      <a:r>
                        <a:rPr sz="1725" b="0">
                          <a:solidFill>
                            <a:srgbClr val="000048"/>
                          </a:solidFill>
                        </a:rPr>
                        <a:t>$2,200.00</a:t>
                      </a:r>
                    </a:p>
                  </a:txBody>
                  <a:tcPr marL="95250" marR="95250" marT="19050" marB="19050" anchor="ctr">
                    <a:solidFill>
                      <a:srgbClr val="FFFFFF"/>
                    </a:solidFill>
                  </a:tcPr>
                </a:tc>
              </a:tr>
              <a:tr h="571500">
                <a:tc>
                  <a:txBody>
                    <a:bodyPr/>
                    <a:lstStyle/>
                    <a:p>
                      <a:r>
                        <a:rPr sz="1725" b="0">
                          <a:solidFill>
                            <a:srgbClr val="000048"/>
                          </a:solidFill>
                        </a:rPr>
                        <a:t>Data Engineering</a:t>
                      </a:r>
                    </a:p>
                  </a:txBody>
                  <a:tcPr marL="95250" marR="95250" marT="19050" marB="19050" anchor="ctr">
                    <a:solidFill>
                      <a:srgbClr val="F5F5F2"/>
                    </a:solidFill>
                  </a:tcPr>
                </a:tc>
                <a:tc>
                  <a:txBody>
                    <a:bodyPr/>
                    <a:lstStyle/>
                    <a:p>
                      <a:r>
                        <a:rPr sz="1725" b="0">
                          <a:solidFill>
                            <a:srgbClr val="000048"/>
                          </a:solidFill>
                        </a:rPr>
                        <a:t>12</a:t>
                      </a:r>
                    </a:p>
                  </a:txBody>
                  <a:tcPr marL="95250" marR="95250" marT="19050" marB="19050" anchor="ctr">
                    <a:solidFill>
                      <a:srgbClr val="F5F5F2"/>
                    </a:solidFill>
                  </a:tcPr>
                </a:tc>
                <a:tc>
                  <a:txBody>
                    <a:bodyPr/>
                    <a:lstStyle/>
                    <a:p>
                      <a:r>
                        <a:rPr sz="1725" b="0">
                          <a:solidFill>
                            <a:srgbClr val="000048"/>
                          </a:solidFill>
                        </a:rPr>
                        <a:t>$500.00</a:t>
                      </a:r>
                    </a:p>
                  </a:txBody>
                  <a:tcPr marL="95250" marR="95250" marT="19050" marB="19050" anchor="ctr">
                    <a:solidFill>
                      <a:srgbClr val="F5F5F2"/>
                    </a:solidFill>
                  </a:tcPr>
                </a:tc>
                <a:tc>
                  <a:txBody>
                    <a:bodyPr/>
                    <a:lstStyle/>
                    <a:p>
                      <a:r>
                        <a:rPr sz="1725" b="0">
                          <a:solidFill>
                            <a:srgbClr val="000048"/>
                          </a:solidFill>
                        </a:rPr>
                        <a:t>$6,000.00</a:t>
                      </a:r>
                    </a:p>
                  </a:txBody>
                  <a:tcPr marL="95250" marR="95250" marT="19050" marB="19050" anchor="ctr">
                    <a:solidFill>
                      <a:srgbClr val="F5F5F2"/>
                    </a:solidFill>
                  </a:tcPr>
                </a:tc>
              </a:tr>
              <a:tr h="571500">
                <a:tc>
                  <a:txBody>
                    <a:bodyPr/>
                    <a:lstStyle/>
                    <a:p>
                      <a:r>
                        <a:rPr sz="1725" b="0">
                          <a:solidFill>
                            <a:srgbClr val="000048"/>
                          </a:solidFill>
                        </a:rPr>
                        <a:t>AI</a:t>
                      </a:r>
                    </a:p>
                  </a:txBody>
                  <a:tcPr marL="95250" marR="95250" marT="19050" marB="19050" anchor="ctr">
                    <a:solidFill>
                      <a:srgbClr val="FFFFFF"/>
                    </a:solidFill>
                  </a:tcPr>
                </a:tc>
                <a:tc>
                  <a:txBody>
                    <a:bodyPr/>
                    <a:lstStyle/>
                    <a:p>
                      <a:r>
                        <a:rPr sz="1725" b="0">
                          <a:solidFill>
                            <a:srgbClr val="000048"/>
                          </a:solidFill>
                        </a:rPr>
                        <a:t>12</a:t>
                      </a:r>
                    </a:p>
                  </a:txBody>
                  <a:tcPr marL="95250" marR="95250" marT="19050" marB="19050" anchor="ctr">
                    <a:solidFill>
                      <a:srgbClr val="FFFFFF"/>
                    </a:solidFill>
                  </a:tcPr>
                </a:tc>
                <a:tc>
                  <a:txBody>
                    <a:bodyPr/>
                    <a:lstStyle/>
                    <a:p>
                      <a:r>
                        <a:rPr sz="1725" b="0">
                          <a:solidFill>
                            <a:srgbClr val="000048"/>
                          </a:solidFill>
                        </a:rPr>
                        <a:t>$650.00</a:t>
                      </a:r>
                    </a:p>
                  </a:txBody>
                  <a:tcPr marL="95250" marR="95250" marT="19050" marB="19050" anchor="ctr">
                    <a:solidFill>
                      <a:srgbClr val="FFFFFF"/>
                    </a:solidFill>
                  </a:tcPr>
                </a:tc>
                <a:tc>
                  <a:txBody>
                    <a:bodyPr/>
                    <a:lstStyle/>
                    <a:p>
                      <a:r>
                        <a:rPr sz="1725" b="0">
                          <a:solidFill>
                            <a:srgbClr val="000048"/>
                          </a:solidFill>
                        </a:rPr>
                        <a:t>$7,800.00</a:t>
                      </a:r>
                    </a:p>
                  </a:txBody>
                  <a:tcPr marL="95250" marR="95250" marT="19050" marB="19050" anchor="ctr">
                    <a:solidFill>
                      <a:srgbClr val="FFFFFF"/>
                    </a:solidFill>
                  </a:tcPr>
                </a:tc>
              </a:tr>
            </a:tbl>
          </a:graphicData>
        </a:graphic>
      </p:graphicFrame>
      <p:sp>
        <p:nvSpPr>
          <p:cNvPr id="5" name="content">
            <a:extLst xmlns:a="http://schemas.openxmlformats.org/drawingml/2006/main">
              <a:ext uri="{FF2B5EF4-FFF2-40B4-BE49-F238E27FC236}">
                <a16:creationId xmlns:a16="http://schemas.microsoft.com/office/drawing/2014/main" id="{2078CFC8-80A0-4024-8F55-A8DC57A14886}"/>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Base $46,800 + reserve $7,020 = cost $53,820. At 30% margin, fee $76,885.71.</a:t>
            </a:r>
          </a:p>
        </p:txBody>
      </p:sp>
      <p:sp>
        <p:nvSpPr>
          <p:cNvPr id="6" name="content">
            <a:extLst xmlns:a="http://schemas.openxmlformats.org/drawingml/2006/main">
              <a:ext uri="{FF2B5EF4-FFF2-40B4-BE49-F238E27FC236}">
                <a16:creationId xmlns:a16="http://schemas.microsoft.com/office/drawing/2014/main" id="{916B1A96-B4FD-43A2-B0EC-2C92B179BC63}"/>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7" name="content">
            <a:extLst xmlns:a="http://schemas.openxmlformats.org/drawingml/2006/main">
              <a:ext uri="{FF2B5EF4-FFF2-40B4-BE49-F238E27FC236}">
                <a16:creationId xmlns:a16="http://schemas.microsoft.com/office/drawing/2014/main" id="{D9EB5C4F-1504-4456-8C0A-11F2A62D0531}"/>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21</a:t>
            </a:r>
          </a:p>
        </p:txBody>
      </p:sp>
    </p:spTree>
    <p:extLst>
      <p:ext uri="{BB962C8B-B14F-4D97-AF65-F5344CB8AC3E}">
        <p14:creationId xmlns:p14="http://schemas.microsoft.com/office/powerpoint/2010/main" val="122033348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2B374ED1-F9D6-4C29-8AE7-3DEBCFAB6D2E}"/>
              </a:ext>
            </a:extLst>
          </p:cNvPr>
          <p:cNvPicPr>
            <a:picLocks xmlns:a="http://schemas.openxmlformats.org/drawingml/2006/main" noChangeAspect="1"/>
          </p:cNvPicPr>
          <p:nvPr/>
        </p:nvPicPr>
        <p:blipFill>
          <a:blip xmlns:r="http://schemas.openxmlformats.org/officeDocument/2006/relationships" xmlns:a="http://schemas.openxmlformats.org/drawingml/2006/main" r:embed="Ra6742ff927684e62"/>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CEEA587E-C718-444D-8B4A-E1F306A5C875}"/>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Reference appendix / Solutioning proposal</a:t>
            </a:r>
          </a:p>
        </p:txBody>
      </p:sp>
      <p:sp>
        <p:nvSpPr>
          <p:cNvPr id="3" name="heading">
            <a:extLst xmlns:a="http://schemas.openxmlformats.org/drawingml/2006/main">
              <a:ext uri="{FF2B5EF4-FFF2-40B4-BE49-F238E27FC236}">
                <a16:creationId xmlns:a16="http://schemas.microsoft.com/office/drawing/2014/main" id="{77C83F82-83E8-4B38-A7AF-05E358E3813B}"/>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Appendix / weekly staffing in base role days</a:t>
            </a:r>
          </a:p>
        </p:txBody>
      </p:sp>
      <p:graphicFrame>
        <p:nvGraphicFramePr>
          <p:cNvPr id="4" name="">
            <a:extLst xmlns:a="http://schemas.openxmlformats.org/drawingml/2006/main">
              <a:ext uri="{FF2B5EF4-FFF2-40B4-BE49-F238E27FC236}">
                <a16:creationId xmlns:a16="http://schemas.microsoft.com/office/drawing/2014/main" id="{E34EEDE7-82B0-469D-8D34-5F9F20F5C00A}"/>
              </a:ext>
            </a:extLst>
          </p:cNvPr>
          <p:cNvGraphicFramePr/>
          <p:nvPr/>
        </p:nvGraphicFramePr>
        <p:xfrm>
          <a:off xmlns:a="http://schemas.openxmlformats.org/drawingml/2006/main" x="685800" y="1905000"/>
          <a:ext xmlns:a="http://schemas.openxmlformats.org/drawingml/2006/main" cx="10820400" cy="4000500"/>
        </p:xfrm>
        <a:graphic xmlns:a="http://schemas.openxmlformats.org/drawingml/2006/main">
          <a:graphicData uri="http://schemas.openxmlformats.org/drawingml/2006/table">
            <a:tbl>
              <a:tblPr/>
              <a:tblGrid>
                <a:gridCol w="2667000"/>
                <a:gridCol w="1019175"/>
                <a:gridCol w="1019175"/>
                <a:gridCol w="1019175"/>
                <a:gridCol w="1019175"/>
                <a:gridCol w="1019175"/>
                <a:gridCol w="1019175"/>
                <a:gridCol w="1019175"/>
                <a:gridCol w="1019175"/>
              </a:tblGrid>
              <a:tr h="571500">
                <a:tc>
                  <a:txBody>
                    <a:bodyPr/>
                    <a:lstStyle/>
                    <a:p>
                      <a:r>
                        <a:rPr sz="1650" b="1">
                          <a:solidFill>
                            <a:srgbClr val="FFFFFF"/>
                          </a:solidFill>
                        </a:rPr>
                        <a:t>Tower</a:t>
                      </a:r>
                    </a:p>
                  </a:txBody>
                  <a:tcPr marL="95250" marR="95250" marT="19050" marB="19050" anchor="ctr">
                    <a:solidFill>
                      <a:srgbClr val="000048"/>
                    </a:solidFill>
                  </a:tcPr>
                </a:tc>
                <a:tc>
                  <a:txBody>
                    <a:bodyPr/>
                    <a:lstStyle/>
                    <a:p>
                      <a:r>
                        <a:rPr sz="1650" b="1">
                          <a:solidFill>
                            <a:srgbClr val="FFFFFF"/>
                          </a:solidFill>
                        </a:rPr>
                        <a:t>W1</a:t>
                      </a:r>
                    </a:p>
                  </a:txBody>
                  <a:tcPr marL="95250" marR="95250" marT="19050" marB="19050" anchor="ctr">
                    <a:solidFill>
                      <a:srgbClr val="000048"/>
                    </a:solidFill>
                  </a:tcPr>
                </a:tc>
                <a:tc>
                  <a:txBody>
                    <a:bodyPr/>
                    <a:lstStyle/>
                    <a:p>
                      <a:r>
                        <a:rPr sz="1650" b="1">
                          <a:solidFill>
                            <a:srgbClr val="FFFFFF"/>
                          </a:solidFill>
                        </a:rPr>
                        <a:t>W2</a:t>
                      </a:r>
                    </a:p>
                  </a:txBody>
                  <a:tcPr marL="95250" marR="95250" marT="19050" marB="19050" anchor="ctr">
                    <a:solidFill>
                      <a:srgbClr val="000048"/>
                    </a:solidFill>
                  </a:tcPr>
                </a:tc>
                <a:tc>
                  <a:txBody>
                    <a:bodyPr/>
                    <a:lstStyle/>
                    <a:p>
                      <a:r>
                        <a:rPr sz="1650" b="1">
                          <a:solidFill>
                            <a:srgbClr val="FFFFFF"/>
                          </a:solidFill>
                        </a:rPr>
                        <a:t>W3</a:t>
                      </a:r>
                    </a:p>
                  </a:txBody>
                  <a:tcPr marL="95250" marR="95250" marT="19050" marB="19050" anchor="ctr">
                    <a:solidFill>
                      <a:srgbClr val="000048"/>
                    </a:solidFill>
                  </a:tcPr>
                </a:tc>
                <a:tc>
                  <a:txBody>
                    <a:bodyPr/>
                    <a:lstStyle/>
                    <a:p>
                      <a:r>
                        <a:rPr sz="1650" b="1">
                          <a:solidFill>
                            <a:srgbClr val="FFFFFF"/>
                          </a:solidFill>
                        </a:rPr>
                        <a:t>W4</a:t>
                      </a:r>
                    </a:p>
                  </a:txBody>
                  <a:tcPr marL="95250" marR="95250" marT="19050" marB="19050" anchor="ctr">
                    <a:solidFill>
                      <a:srgbClr val="000048"/>
                    </a:solidFill>
                  </a:tcPr>
                </a:tc>
                <a:tc>
                  <a:txBody>
                    <a:bodyPr/>
                    <a:lstStyle/>
                    <a:p>
                      <a:r>
                        <a:rPr sz="1650" b="1">
                          <a:solidFill>
                            <a:srgbClr val="FFFFFF"/>
                          </a:solidFill>
                        </a:rPr>
                        <a:t>W5</a:t>
                      </a:r>
                    </a:p>
                  </a:txBody>
                  <a:tcPr marL="95250" marR="95250" marT="19050" marB="19050" anchor="ctr">
                    <a:solidFill>
                      <a:srgbClr val="000048"/>
                    </a:solidFill>
                  </a:tcPr>
                </a:tc>
                <a:tc>
                  <a:txBody>
                    <a:bodyPr/>
                    <a:lstStyle/>
                    <a:p>
                      <a:r>
                        <a:rPr sz="1650" b="1">
                          <a:solidFill>
                            <a:srgbClr val="FFFFFF"/>
                          </a:solidFill>
                        </a:rPr>
                        <a:t>W6</a:t>
                      </a:r>
                    </a:p>
                  </a:txBody>
                  <a:tcPr marL="95250" marR="95250" marT="19050" marB="19050" anchor="ctr">
                    <a:solidFill>
                      <a:srgbClr val="000048"/>
                    </a:solidFill>
                  </a:tcPr>
                </a:tc>
                <a:tc>
                  <a:txBody>
                    <a:bodyPr/>
                    <a:lstStyle/>
                    <a:p>
                      <a:r>
                        <a:rPr sz="1650" b="1">
                          <a:solidFill>
                            <a:srgbClr val="FFFFFF"/>
                          </a:solidFill>
                        </a:rPr>
                        <a:t>W7</a:t>
                      </a:r>
                    </a:p>
                  </a:txBody>
                  <a:tcPr marL="95250" marR="95250" marT="19050" marB="19050" anchor="ctr">
                    <a:solidFill>
                      <a:srgbClr val="000048"/>
                    </a:solidFill>
                  </a:tcPr>
                </a:tc>
                <a:tc>
                  <a:txBody>
                    <a:bodyPr/>
                    <a:lstStyle/>
                    <a:p>
                      <a:r>
                        <a:rPr sz="1650" b="1">
                          <a:solidFill>
                            <a:srgbClr val="FFFFFF"/>
                          </a:solidFill>
                        </a:rPr>
                        <a:t>W8</a:t>
                      </a:r>
                    </a:p>
                  </a:txBody>
                  <a:tcPr marL="95250" marR="95250" marT="19050" marB="19050" anchor="ctr">
                    <a:solidFill>
                      <a:srgbClr val="000048"/>
                    </a:solidFill>
                  </a:tcPr>
                </a:tc>
              </a:tr>
              <a:tr h="571500">
                <a:tc>
                  <a:txBody>
                    <a:bodyPr/>
                    <a:lstStyle/>
                    <a:p>
                      <a:r>
                        <a:rPr sz="1650" b="0">
                          <a:solidFill>
                            <a:srgbClr val="000048"/>
                          </a:solidFill>
                        </a:rPr>
                        <a:t>Infra</a:t>
                      </a:r>
                    </a:p>
                  </a:txBody>
                  <a:tcPr marL="95250" marR="95250" marT="19050" marB="19050" anchor="ctr">
                    <a:solidFill>
                      <a:srgbClr val="F5F5F2"/>
                    </a:solidFill>
                  </a:tcPr>
                </a:tc>
                <a:tc>
                  <a:txBody>
                    <a:bodyPr/>
                    <a:lstStyle/>
                    <a:p>
                      <a:r>
                        <a:rPr sz="1650" b="0">
                          <a:solidFill>
                            <a:srgbClr val="000048"/>
                          </a:solidFill>
                        </a:rPr>
                        <a:t>6</a:t>
                      </a:r>
                    </a:p>
                  </a:txBody>
                  <a:tcPr marL="95250" marR="95250" marT="19050" marB="19050" anchor="ctr">
                    <a:solidFill>
                      <a:srgbClr val="F5F5F2"/>
                    </a:solidFill>
                  </a:tcPr>
                </a:tc>
                <a:tc>
                  <a:txBody>
                    <a:bodyPr/>
                    <a:lstStyle/>
                    <a:p>
                      <a:r>
                        <a:rPr sz="1650" b="0">
                          <a:solidFill>
                            <a:srgbClr val="000048"/>
                          </a:solidFill>
                        </a:rPr>
                        <a:t>7</a:t>
                      </a:r>
                    </a:p>
                  </a:txBody>
                  <a:tcPr marL="95250" marR="95250" marT="19050" marB="19050" anchor="ctr">
                    <a:solidFill>
                      <a:srgbClr val="F5F5F2"/>
                    </a:solidFill>
                  </a:tcPr>
                </a:tc>
                <a:tc>
                  <a:txBody>
                    <a:bodyPr/>
                    <a:lstStyle/>
                    <a:p>
                      <a:r>
                        <a:rPr sz="1650" b="0">
                          <a:solidFill>
                            <a:srgbClr val="000048"/>
                          </a:solidFill>
                        </a:rPr>
                        <a:t>6</a:t>
                      </a:r>
                    </a:p>
                  </a:txBody>
                  <a:tcPr marL="95250" marR="95250" marT="19050" marB="19050" anchor="ctr">
                    <a:solidFill>
                      <a:srgbClr val="F5F5F2"/>
                    </a:solidFill>
                  </a:tcPr>
                </a:tc>
                <a:tc>
                  <a:txBody>
                    <a:bodyPr/>
                    <a:lstStyle/>
                    <a:p>
                      <a:r>
                        <a:rPr sz="1650" b="0">
                          <a:solidFill>
                            <a:srgbClr val="000048"/>
                          </a:solidFill>
                        </a:rPr>
                        <a:t>6</a:t>
                      </a:r>
                    </a:p>
                  </a:txBody>
                  <a:tcPr marL="95250" marR="95250" marT="19050" marB="19050" anchor="ctr">
                    <a:solidFill>
                      <a:srgbClr val="F5F5F2"/>
                    </a:solidFill>
                  </a:tcPr>
                </a:tc>
                <a:tc>
                  <a:txBody>
                    <a:bodyPr/>
                    <a:lstStyle/>
                    <a:p>
                      <a:r>
                        <a:rPr sz="1650" b="0">
                          <a:solidFill>
                            <a:srgbClr val="000048"/>
                          </a:solidFill>
                        </a:rPr>
                        <a:t>5</a:t>
                      </a:r>
                    </a:p>
                  </a:txBody>
                  <a:tcPr marL="95250" marR="95250" marT="19050" marB="19050" anchor="ctr">
                    <a:solidFill>
                      <a:srgbClr val="F5F5F2"/>
                    </a:solidFill>
                  </a:tcPr>
                </a:tc>
                <a:tc>
                  <a:txBody>
                    <a:bodyPr/>
                    <a:lstStyle/>
                    <a:p>
                      <a:r>
                        <a:rPr sz="1650" b="0">
                          <a:solidFill>
                            <a:srgbClr val="000048"/>
                          </a:solidFill>
                        </a:rPr>
                        <a:t>4</a:t>
                      </a:r>
                    </a:p>
                  </a:txBody>
                  <a:tcPr marL="95250" marR="95250" marT="19050" marB="19050" anchor="ctr">
                    <a:solidFill>
                      <a:srgbClr val="F5F5F2"/>
                    </a:solidFill>
                  </a:tcPr>
                </a:tc>
                <a:tc>
                  <a:txBody>
                    <a:bodyPr/>
                    <a:lstStyle/>
                    <a:p>
                      <a:r>
                        <a:rPr sz="1650" b="0">
                          <a:solidFill>
                            <a:srgbClr val="000048"/>
                          </a:solidFill>
                        </a:rPr>
                        <a:t>4</a:t>
                      </a:r>
                    </a:p>
                  </a:txBody>
                  <a:tcPr marL="95250" marR="95250" marT="19050" marB="19050" anchor="ctr">
                    <a:solidFill>
                      <a:srgbClr val="F5F5F2"/>
                    </a:solidFill>
                  </a:tcPr>
                </a:tc>
                <a:tc>
                  <a:txBody>
                    <a:bodyPr/>
                    <a:lstStyle/>
                    <a:p>
                      <a:r>
                        <a:rPr sz="1650" b="0">
                          <a:solidFill>
                            <a:srgbClr val="000048"/>
                          </a:solidFill>
                        </a:rPr>
                        <a:t>2</a:t>
                      </a:r>
                    </a:p>
                  </a:txBody>
                  <a:tcPr marL="95250" marR="95250" marT="19050" marB="19050" anchor="ctr">
                    <a:solidFill>
                      <a:srgbClr val="F5F5F2"/>
                    </a:solidFill>
                  </a:tcPr>
                </a:tc>
              </a:tr>
              <a:tr h="571500">
                <a:tc>
                  <a:txBody>
                    <a:bodyPr/>
                    <a:lstStyle/>
                    <a:p>
                      <a:r>
                        <a:rPr sz="1650" b="0">
                          <a:solidFill>
                            <a:srgbClr val="000048"/>
                          </a:solidFill>
                        </a:rPr>
                        <a:t>Security</a:t>
                      </a:r>
                    </a:p>
                  </a:txBody>
                  <a:tcPr marL="95250" marR="95250" marT="19050" marB="19050" anchor="ctr">
                    <a:solidFill>
                      <a:srgbClr val="FFFFFF"/>
                    </a:solidFill>
                  </a:tcPr>
                </a:tc>
                <a:tc>
                  <a:txBody>
                    <a:bodyPr/>
                    <a:lstStyle/>
                    <a:p>
                      <a:r>
                        <a:rPr sz="1650" b="0">
                          <a:solidFill>
                            <a:srgbClr val="000048"/>
                          </a:solidFill>
                        </a:rPr>
                        <a:t>2</a:t>
                      </a:r>
                    </a:p>
                  </a:txBody>
                  <a:tcPr marL="95250" marR="95250" marT="19050" marB="19050" anchor="ctr">
                    <a:solidFill>
                      <a:srgbClr val="FFFFFF"/>
                    </a:solidFill>
                  </a:tcPr>
                </a:tc>
                <a:tc>
                  <a:txBody>
                    <a:bodyPr/>
                    <a:lstStyle/>
                    <a:p>
                      <a:r>
                        <a:rPr sz="1650" b="0">
                          <a:solidFill>
                            <a:srgbClr val="000048"/>
                          </a:solidFill>
                        </a:rPr>
                        <a:t>2</a:t>
                      </a:r>
                    </a:p>
                  </a:txBody>
                  <a:tcPr marL="95250" marR="95250" marT="19050" marB="19050" anchor="ctr">
                    <a:solidFill>
                      <a:srgbClr val="FFFFFF"/>
                    </a:solidFill>
                  </a:tcPr>
                </a:tc>
                <a:tc>
                  <a:txBody>
                    <a:bodyPr/>
                    <a:lstStyle/>
                    <a:p>
                      <a:r>
                        <a:rPr sz="1650" b="0">
                          <a:solidFill>
                            <a:srgbClr val="000048"/>
                          </a:solidFill>
                        </a:rPr>
                        <a:t>0</a:t>
                      </a:r>
                    </a:p>
                  </a:txBody>
                  <a:tcPr marL="95250" marR="95250" marT="19050" marB="19050" anchor="ctr">
                    <a:solidFill>
                      <a:srgbClr val="FFFFFF"/>
                    </a:solidFill>
                  </a:tcPr>
                </a:tc>
                <a:tc>
                  <a:txBody>
                    <a:bodyPr/>
                    <a:lstStyle/>
                    <a:p>
                      <a:r>
                        <a:rPr sz="1650" b="0">
                          <a:solidFill>
                            <a:srgbClr val="000048"/>
                          </a:solidFill>
                        </a:rPr>
                        <a:t>0</a:t>
                      </a:r>
                    </a:p>
                  </a:txBody>
                  <a:tcPr marL="95250" marR="95250" marT="19050" marB="19050" anchor="ctr">
                    <a:solidFill>
                      <a:srgbClr val="FFFFFF"/>
                    </a:solidFill>
                  </a:tcPr>
                </a:tc>
                <a:tc>
                  <a:txBody>
                    <a:bodyPr/>
                    <a:lstStyle/>
                    <a:p>
                      <a:r>
                        <a:rPr sz="1650" b="0">
                          <a:solidFill>
                            <a:srgbClr val="000048"/>
                          </a:solidFill>
                        </a:rPr>
                        <a:t>1</a:t>
                      </a:r>
                    </a:p>
                  </a:txBody>
                  <a:tcPr marL="95250" marR="95250" marT="19050" marB="19050" anchor="ctr">
                    <a:solidFill>
                      <a:srgbClr val="FFFFFF"/>
                    </a:solidFill>
                  </a:tcPr>
                </a:tc>
                <a:tc>
                  <a:txBody>
                    <a:bodyPr/>
                    <a:lstStyle/>
                    <a:p>
                      <a:r>
                        <a:rPr sz="1650" b="0">
                          <a:solidFill>
                            <a:srgbClr val="000048"/>
                          </a:solidFill>
                        </a:rPr>
                        <a:t>1</a:t>
                      </a:r>
                    </a:p>
                  </a:txBody>
                  <a:tcPr marL="95250" marR="95250" marT="19050" marB="19050" anchor="ctr">
                    <a:solidFill>
                      <a:srgbClr val="FFFFFF"/>
                    </a:solidFill>
                  </a:tcPr>
                </a:tc>
                <a:tc>
                  <a:txBody>
                    <a:bodyPr/>
                    <a:lstStyle/>
                    <a:p>
                      <a:r>
                        <a:rPr sz="1650" b="0">
                          <a:solidFill>
                            <a:srgbClr val="000048"/>
                          </a:solidFill>
                        </a:rPr>
                        <a:t>2</a:t>
                      </a:r>
                    </a:p>
                  </a:txBody>
                  <a:tcPr marL="95250" marR="95250" marT="19050" marB="19050" anchor="ctr">
                    <a:solidFill>
                      <a:srgbClr val="FFFFFF"/>
                    </a:solidFill>
                  </a:tcPr>
                </a:tc>
                <a:tc>
                  <a:txBody>
                    <a:bodyPr/>
                    <a:lstStyle/>
                    <a:p>
                      <a:r>
                        <a:rPr sz="1650" b="0">
                          <a:solidFill>
                            <a:srgbClr val="000048"/>
                          </a:solidFill>
                        </a:rPr>
                        <a:t>0</a:t>
                      </a:r>
                    </a:p>
                  </a:txBody>
                  <a:tcPr marL="95250" marR="95250" marT="19050" marB="19050" anchor="ctr">
                    <a:solidFill>
                      <a:srgbClr val="FFFFFF"/>
                    </a:solidFill>
                  </a:tcPr>
                </a:tc>
              </a:tr>
              <a:tr h="571500">
                <a:tc>
                  <a:txBody>
                    <a:bodyPr/>
                    <a:lstStyle/>
                    <a:p>
                      <a:r>
                        <a:rPr sz="1650" b="0">
                          <a:solidFill>
                            <a:srgbClr val="000048"/>
                          </a:solidFill>
                        </a:rPr>
                        <a:t>DevOps</a:t>
                      </a:r>
                    </a:p>
                  </a:txBody>
                  <a:tcPr marL="95250" marR="95250" marT="19050" marB="19050" anchor="ctr">
                    <a:solidFill>
                      <a:srgbClr val="F5F5F2"/>
                    </a:solidFill>
                  </a:tcPr>
                </a:tc>
                <a:tc>
                  <a:txBody>
                    <a:bodyPr/>
                    <a:lstStyle/>
                    <a:p>
                      <a:r>
                        <a:rPr sz="1650" b="0">
                          <a:solidFill>
                            <a:srgbClr val="000048"/>
                          </a:solidFill>
                        </a:rPr>
                        <a:t>1</a:t>
                      </a:r>
                    </a:p>
                  </a:txBody>
                  <a:tcPr marL="95250" marR="95250" marT="19050" marB="19050" anchor="ctr">
                    <a:solidFill>
                      <a:srgbClr val="F5F5F2"/>
                    </a:solidFill>
                  </a:tcPr>
                </a:tc>
                <a:tc>
                  <a:txBody>
                    <a:bodyPr/>
                    <a:lstStyle/>
                    <a:p>
                      <a:r>
                        <a:rPr sz="1650" b="0">
                          <a:solidFill>
                            <a:srgbClr val="000048"/>
                          </a:solidFill>
                        </a:rPr>
                        <a:t>2</a:t>
                      </a:r>
                    </a:p>
                  </a:txBody>
                  <a:tcPr marL="95250" marR="95250" marT="19050" marB="19050" anchor="ctr">
                    <a:solidFill>
                      <a:srgbClr val="F5F5F2"/>
                    </a:solidFill>
                  </a:tcPr>
                </a:tc>
                <a:tc>
                  <a:txBody>
                    <a:bodyPr/>
                    <a:lstStyle/>
                    <a:p>
                      <a:r>
                        <a:rPr sz="1650" b="0">
                          <a:solidFill>
                            <a:srgbClr val="000048"/>
                          </a:solidFill>
                        </a:rPr>
                        <a:t>3</a:t>
                      </a:r>
                    </a:p>
                  </a:txBody>
                  <a:tcPr marL="95250" marR="95250" marT="19050" marB="19050" anchor="ctr">
                    <a:solidFill>
                      <a:srgbClr val="F5F5F2"/>
                    </a:solidFill>
                  </a:tcPr>
                </a:tc>
                <a:tc>
                  <a:txBody>
                    <a:bodyPr/>
                    <a:lstStyle/>
                    <a:p>
                      <a:r>
                        <a:rPr sz="1650" b="0">
                          <a:solidFill>
                            <a:srgbClr val="000048"/>
                          </a:solidFill>
                        </a:rPr>
                        <a:t>3</a:t>
                      </a:r>
                    </a:p>
                  </a:txBody>
                  <a:tcPr marL="95250" marR="95250" marT="19050" marB="19050" anchor="ctr">
                    <a:solidFill>
                      <a:srgbClr val="F5F5F2"/>
                    </a:solidFill>
                  </a:tcPr>
                </a:tc>
                <a:tc>
                  <a:txBody>
                    <a:bodyPr/>
                    <a:lstStyle/>
                    <a:p>
                      <a:r>
                        <a:rPr sz="1650" b="0">
                          <a:solidFill>
                            <a:srgbClr val="000048"/>
                          </a:solidFill>
                        </a:rPr>
                        <a:t>1</a:t>
                      </a:r>
                    </a:p>
                  </a:txBody>
                  <a:tcPr marL="95250" marR="95250" marT="19050" marB="19050" anchor="ctr">
                    <a:solidFill>
                      <a:srgbClr val="F5F5F2"/>
                    </a:solidFill>
                  </a:tcPr>
                </a:tc>
                <a:tc>
                  <a:txBody>
                    <a:bodyPr/>
                    <a:lstStyle/>
                    <a:p>
                      <a:r>
                        <a:rPr sz="1650" b="0">
                          <a:solidFill>
                            <a:srgbClr val="000048"/>
                          </a:solidFill>
                        </a:rPr>
                        <a:t>1</a:t>
                      </a:r>
                    </a:p>
                  </a:txBody>
                  <a:tcPr marL="95250" marR="95250" marT="19050" marB="19050" anchor="ctr">
                    <a:solidFill>
                      <a:srgbClr val="F5F5F2"/>
                    </a:solidFill>
                  </a:tcPr>
                </a:tc>
                <a:tc>
                  <a:txBody>
                    <a:bodyPr/>
                    <a:lstStyle/>
                    <a:p>
                      <a:r>
                        <a:rPr sz="1650" b="0">
                          <a:solidFill>
                            <a:srgbClr val="000048"/>
                          </a:solidFill>
                        </a:rPr>
                        <a:t>1</a:t>
                      </a:r>
                    </a:p>
                  </a:txBody>
                  <a:tcPr marL="95250" marR="95250" marT="19050" marB="19050" anchor="ctr">
                    <a:solidFill>
                      <a:srgbClr val="F5F5F2"/>
                    </a:solidFill>
                  </a:tcPr>
                </a:tc>
                <a:tc>
                  <a:txBody>
                    <a:bodyPr/>
                    <a:lstStyle/>
                    <a:p>
                      <a:r>
                        <a:rPr sz="1650" b="0">
                          <a:solidFill>
                            <a:srgbClr val="000048"/>
                          </a:solidFill>
                        </a:rPr>
                        <a:t>0</a:t>
                      </a:r>
                    </a:p>
                  </a:txBody>
                  <a:tcPr marL="95250" marR="95250" marT="19050" marB="19050" anchor="ctr">
                    <a:solidFill>
                      <a:srgbClr val="F5F5F2"/>
                    </a:solidFill>
                  </a:tcPr>
                </a:tc>
              </a:tr>
              <a:tr h="571500">
                <a:tc>
                  <a:txBody>
                    <a:bodyPr/>
                    <a:lstStyle/>
                    <a:p>
                      <a:r>
                        <a:rPr sz="1650" b="0">
                          <a:solidFill>
                            <a:srgbClr val="000048"/>
                          </a:solidFill>
                        </a:rPr>
                        <a:t>Data</a:t>
                      </a:r>
                    </a:p>
                  </a:txBody>
                  <a:tcPr marL="95250" marR="95250" marT="19050" marB="19050" anchor="ctr">
                    <a:solidFill>
                      <a:srgbClr val="FFFFFF"/>
                    </a:solidFill>
                  </a:tcPr>
                </a:tc>
                <a:tc>
                  <a:txBody>
                    <a:bodyPr/>
                    <a:lstStyle/>
                    <a:p>
                      <a:r>
                        <a:rPr sz="1650" b="0">
                          <a:solidFill>
                            <a:srgbClr val="000048"/>
                          </a:solidFill>
                        </a:rPr>
                        <a:t>2</a:t>
                      </a:r>
                    </a:p>
                  </a:txBody>
                  <a:tcPr marL="95250" marR="95250" marT="19050" marB="19050" anchor="ctr">
                    <a:solidFill>
                      <a:srgbClr val="FFFFFF"/>
                    </a:solidFill>
                  </a:tcPr>
                </a:tc>
                <a:tc>
                  <a:txBody>
                    <a:bodyPr/>
                    <a:lstStyle/>
                    <a:p>
                      <a:r>
                        <a:rPr sz="1650" b="0">
                          <a:solidFill>
                            <a:srgbClr val="000048"/>
                          </a:solidFill>
                        </a:rPr>
                        <a:t>1</a:t>
                      </a:r>
                    </a:p>
                  </a:txBody>
                  <a:tcPr marL="95250" marR="95250" marT="19050" marB="19050" anchor="ctr">
                    <a:solidFill>
                      <a:srgbClr val="FFFFFF"/>
                    </a:solidFill>
                  </a:tcPr>
                </a:tc>
                <a:tc>
                  <a:txBody>
                    <a:bodyPr/>
                    <a:lstStyle/>
                    <a:p>
                      <a:r>
                        <a:rPr sz="1650" b="0">
                          <a:solidFill>
                            <a:srgbClr val="000048"/>
                          </a:solidFill>
                        </a:rPr>
                        <a:t>0</a:t>
                      </a:r>
                    </a:p>
                  </a:txBody>
                  <a:tcPr marL="95250" marR="95250" marT="19050" marB="19050" anchor="ctr">
                    <a:solidFill>
                      <a:srgbClr val="FFFFFF"/>
                    </a:solidFill>
                  </a:tcPr>
                </a:tc>
                <a:tc>
                  <a:txBody>
                    <a:bodyPr/>
                    <a:lstStyle/>
                    <a:p>
                      <a:r>
                        <a:rPr sz="1650" b="0">
                          <a:solidFill>
                            <a:srgbClr val="000048"/>
                          </a:solidFill>
                        </a:rPr>
                        <a:t>0</a:t>
                      </a:r>
                    </a:p>
                  </a:txBody>
                  <a:tcPr marL="95250" marR="95250" marT="19050" marB="19050" anchor="ctr">
                    <a:solidFill>
                      <a:srgbClr val="FFFFFF"/>
                    </a:solidFill>
                  </a:tcPr>
                </a:tc>
                <a:tc>
                  <a:txBody>
                    <a:bodyPr/>
                    <a:lstStyle/>
                    <a:p>
                      <a:r>
                        <a:rPr sz="1650" b="0">
                          <a:solidFill>
                            <a:srgbClr val="000048"/>
                          </a:solidFill>
                        </a:rPr>
                        <a:t>0</a:t>
                      </a:r>
                    </a:p>
                  </a:txBody>
                  <a:tcPr marL="95250" marR="95250" marT="19050" marB="19050" anchor="ctr">
                    <a:solidFill>
                      <a:srgbClr val="FFFFFF"/>
                    </a:solidFill>
                  </a:tcPr>
                </a:tc>
                <a:tc>
                  <a:txBody>
                    <a:bodyPr/>
                    <a:lstStyle/>
                    <a:p>
                      <a:r>
                        <a:rPr sz="1650" b="0">
                          <a:solidFill>
                            <a:srgbClr val="000048"/>
                          </a:solidFill>
                        </a:rPr>
                        <a:t>1</a:t>
                      </a:r>
                    </a:p>
                  </a:txBody>
                  <a:tcPr marL="95250" marR="95250" marT="19050" marB="19050" anchor="ctr">
                    <a:solidFill>
                      <a:srgbClr val="FFFFFF"/>
                    </a:solidFill>
                  </a:tcPr>
                </a:tc>
                <a:tc>
                  <a:txBody>
                    <a:bodyPr/>
                    <a:lstStyle/>
                    <a:p>
                      <a:r>
                        <a:rPr sz="1650" b="0">
                          <a:solidFill>
                            <a:srgbClr val="000048"/>
                          </a:solidFill>
                        </a:rPr>
                        <a:t>0</a:t>
                      </a:r>
                    </a:p>
                  </a:txBody>
                  <a:tcPr marL="95250" marR="95250" marT="19050" marB="19050" anchor="ctr">
                    <a:solidFill>
                      <a:srgbClr val="FFFFFF"/>
                    </a:solidFill>
                  </a:tcPr>
                </a:tc>
                <a:tc>
                  <a:txBody>
                    <a:bodyPr/>
                    <a:lstStyle/>
                    <a:p>
                      <a:r>
                        <a:rPr sz="1650" b="0">
                          <a:solidFill>
                            <a:srgbClr val="000048"/>
                          </a:solidFill>
                        </a:rPr>
                        <a:t>0</a:t>
                      </a:r>
                    </a:p>
                  </a:txBody>
                  <a:tcPr marL="95250" marR="95250" marT="19050" marB="19050" anchor="ctr">
                    <a:solidFill>
                      <a:srgbClr val="FFFFFF"/>
                    </a:solidFill>
                  </a:tcPr>
                </a:tc>
              </a:tr>
              <a:tr h="571500">
                <a:tc>
                  <a:txBody>
                    <a:bodyPr/>
                    <a:lstStyle/>
                    <a:p>
                      <a:r>
                        <a:rPr sz="1650" b="0">
                          <a:solidFill>
                            <a:srgbClr val="000048"/>
                          </a:solidFill>
                        </a:rPr>
                        <a:t>Data Engineering</a:t>
                      </a:r>
                    </a:p>
                  </a:txBody>
                  <a:tcPr marL="95250" marR="95250" marT="19050" marB="19050" anchor="ctr">
                    <a:solidFill>
                      <a:srgbClr val="F5F5F2"/>
                    </a:solidFill>
                  </a:tcPr>
                </a:tc>
                <a:tc>
                  <a:txBody>
                    <a:bodyPr/>
                    <a:lstStyle/>
                    <a:p>
                      <a:r>
                        <a:rPr sz="1650" b="0">
                          <a:solidFill>
                            <a:srgbClr val="000048"/>
                          </a:solidFill>
                        </a:rPr>
                        <a:t>0</a:t>
                      </a:r>
                    </a:p>
                  </a:txBody>
                  <a:tcPr marL="95250" marR="95250" marT="19050" marB="19050" anchor="ctr">
                    <a:solidFill>
                      <a:srgbClr val="F5F5F2"/>
                    </a:solidFill>
                  </a:tcPr>
                </a:tc>
                <a:tc>
                  <a:txBody>
                    <a:bodyPr/>
                    <a:lstStyle/>
                    <a:p>
                      <a:r>
                        <a:rPr sz="1650" b="0">
                          <a:solidFill>
                            <a:srgbClr val="000048"/>
                          </a:solidFill>
                        </a:rPr>
                        <a:t>1</a:t>
                      </a:r>
                    </a:p>
                  </a:txBody>
                  <a:tcPr marL="95250" marR="95250" marT="19050" marB="19050" anchor="ctr">
                    <a:solidFill>
                      <a:srgbClr val="F5F5F2"/>
                    </a:solidFill>
                  </a:tcPr>
                </a:tc>
                <a:tc>
                  <a:txBody>
                    <a:bodyPr/>
                    <a:lstStyle/>
                    <a:p>
                      <a:r>
                        <a:rPr sz="1650" b="0">
                          <a:solidFill>
                            <a:srgbClr val="000048"/>
                          </a:solidFill>
                        </a:rPr>
                        <a:t>2</a:t>
                      </a:r>
                    </a:p>
                  </a:txBody>
                  <a:tcPr marL="95250" marR="95250" marT="19050" marB="19050" anchor="ctr">
                    <a:solidFill>
                      <a:srgbClr val="F5F5F2"/>
                    </a:solidFill>
                  </a:tcPr>
                </a:tc>
                <a:tc>
                  <a:txBody>
                    <a:bodyPr/>
                    <a:lstStyle/>
                    <a:p>
                      <a:r>
                        <a:rPr sz="1650" b="0">
                          <a:solidFill>
                            <a:srgbClr val="000048"/>
                          </a:solidFill>
                        </a:rPr>
                        <a:t>3</a:t>
                      </a:r>
                    </a:p>
                  </a:txBody>
                  <a:tcPr marL="95250" marR="95250" marT="19050" marB="19050" anchor="ctr">
                    <a:solidFill>
                      <a:srgbClr val="F5F5F2"/>
                    </a:solidFill>
                  </a:tcPr>
                </a:tc>
                <a:tc>
                  <a:txBody>
                    <a:bodyPr/>
                    <a:lstStyle/>
                    <a:p>
                      <a:r>
                        <a:rPr sz="1650" b="0">
                          <a:solidFill>
                            <a:srgbClr val="000048"/>
                          </a:solidFill>
                        </a:rPr>
                        <a:t>3</a:t>
                      </a:r>
                    </a:p>
                  </a:txBody>
                  <a:tcPr marL="95250" marR="95250" marT="19050" marB="19050" anchor="ctr">
                    <a:solidFill>
                      <a:srgbClr val="F5F5F2"/>
                    </a:solidFill>
                  </a:tcPr>
                </a:tc>
                <a:tc>
                  <a:txBody>
                    <a:bodyPr/>
                    <a:lstStyle/>
                    <a:p>
                      <a:r>
                        <a:rPr sz="1650" b="0">
                          <a:solidFill>
                            <a:srgbClr val="000048"/>
                          </a:solidFill>
                        </a:rPr>
                        <a:t>2</a:t>
                      </a:r>
                    </a:p>
                  </a:txBody>
                  <a:tcPr marL="95250" marR="95250" marT="19050" marB="19050" anchor="ctr">
                    <a:solidFill>
                      <a:srgbClr val="F5F5F2"/>
                    </a:solidFill>
                  </a:tcPr>
                </a:tc>
                <a:tc>
                  <a:txBody>
                    <a:bodyPr/>
                    <a:lstStyle/>
                    <a:p>
                      <a:r>
                        <a:rPr sz="1650" b="0">
                          <a:solidFill>
                            <a:srgbClr val="000048"/>
                          </a:solidFill>
                        </a:rPr>
                        <a:t>1</a:t>
                      </a:r>
                    </a:p>
                  </a:txBody>
                  <a:tcPr marL="95250" marR="95250" marT="19050" marB="19050" anchor="ctr">
                    <a:solidFill>
                      <a:srgbClr val="F5F5F2"/>
                    </a:solidFill>
                  </a:tcPr>
                </a:tc>
                <a:tc>
                  <a:txBody>
                    <a:bodyPr/>
                    <a:lstStyle/>
                    <a:p>
                      <a:r>
                        <a:rPr sz="1650" b="0">
                          <a:solidFill>
                            <a:srgbClr val="000048"/>
                          </a:solidFill>
                        </a:rPr>
                        <a:t>0</a:t>
                      </a:r>
                    </a:p>
                  </a:txBody>
                  <a:tcPr marL="95250" marR="95250" marT="19050" marB="19050" anchor="ctr">
                    <a:solidFill>
                      <a:srgbClr val="F5F5F2"/>
                    </a:solidFill>
                  </a:tcPr>
                </a:tc>
              </a:tr>
              <a:tr h="571500">
                <a:tc>
                  <a:txBody>
                    <a:bodyPr/>
                    <a:lstStyle/>
                    <a:p>
                      <a:r>
                        <a:rPr sz="1650" b="0">
                          <a:solidFill>
                            <a:srgbClr val="000048"/>
                          </a:solidFill>
                        </a:rPr>
                        <a:t>AI</a:t>
                      </a:r>
                    </a:p>
                  </a:txBody>
                  <a:tcPr marL="95250" marR="95250" marT="19050" marB="19050" anchor="ctr">
                    <a:solidFill>
                      <a:srgbClr val="FFFFFF"/>
                    </a:solidFill>
                  </a:tcPr>
                </a:tc>
                <a:tc>
                  <a:txBody>
                    <a:bodyPr/>
                    <a:lstStyle/>
                    <a:p>
                      <a:r>
                        <a:rPr sz="1650" b="0">
                          <a:solidFill>
                            <a:srgbClr val="000048"/>
                          </a:solidFill>
                        </a:rPr>
                        <a:t>1</a:t>
                      </a:r>
                    </a:p>
                  </a:txBody>
                  <a:tcPr marL="95250" marR="95250" marT="19050" marB="19050" anchor="ctr">
                    <a:solidFill>
                      <a:srgbClr val="FFFFFF"/>
                    </a:solidFill>
                  </a:tcPr>
                </a:tc>
                <a:tc>
                  <a:txBody>
                    <a:bodyPr/>
                    <a:lstStyle/>
                    <a:p>
                      <a:r>
                        <a:rPr sz="1650" b="0">
                          <a:solidFill>
                            <a:srgbClr val="000048"/>
                          </a:solidFill>
                        </a:rPr>
                        <a:t>1</a:t>
                      </a:r>
                    </a:p>
                  </a:txBody>
                  <a:tcPr marL="95250" marR="95250" marT="19050" marB="19050" anchor="ctr">
                    <a:solidFill>
                      <a:srgbClr val="FFFFFF"/>
                    </a:solidFill>
                  </a:tcPr>
                </a:tc>
                <a:tc>
                  <a:txBody>
                    <a:bodyPr/>
                    <a:lstStyle/>
                    <a:p>
                      <a:r>
                        <a:rPr sz="1650" b="0">
                          <a:solidFill>
                            <a:srgbClr val="000048"/>
                          </a:solidFill>
                        </a:rPr>
                        <a:t>1</a:t>
                      </a:r>
                    </a:p>
                  </a:txBody>
                  <a:tcPr marL="95250" marR="95250" marT="19050" marB="19050" anchor="ctr">
                    <a:solidFill>
                      <a:srgbClr val="FFFFFF"/>
                    </a:solidFill>
                  </a:tcPr>
                </a:tc>
                <a:tc>
                  <a:txBody>
                    <a:bodyPr/>
                    <a:lstStyle/>
                    <a:p>
                      <a:r>
                        <a:rPr sz="1650" b="0">
                          <a:solidFill>
                            <a:srgbClr val="000048"/>
                          </a:solidFill>
                        </a:rPr>
                        <a:t>2</a:t>
                      </a:r>
                    </a:p>
                  </a:txBody>
                  <a:tcPr marL="95250" marR="95250" marT="19050" marB="19050" anchor="ctr">
                    <a:solidFill>
                      <a:srgbClr val="FFFFFF"/>
                    </a:solidFill>
                  </a:tcPr>
                </a:tc>
                <a:tc>
                  <a:txBody>
                    <a:bodyPr/>
                    <a:lstStyle/>
                    <a:p>
                      <a:r>
                        <a:rPr sz="1650" b="0">
                          <a:solidFill>
                            <a:srgbClr val="000048"/>
                          </a:solidFill>
                        </a:rPr>
                        <a:t>2</a:t>
                      </a:r>
                    </a:p>
                  </a:txBody>
                  <a:tcPr marL="95250" marR="95250" marT="19050" marB="19050" anchor="ctr">
                    <a:solidFill>
                      <a:srgbClr val="FFFFFF"/>
                    </a:solidFill>
                  </a:tcPr>
                </a:tc>
                <a:tc>
                  <a:txBody>
                    <a:bodyPr/>
                    <a:lstStyle/>
                    <a:p>
                      <a:r>
                        <a:rPr sz="1650" b="0">
                          <a:solidFill>
                            <a:srgbClr val="000048"/>
                          </a:solidFill>
                        </a:rPr>
                        <a:t>2</a:t>
                      </a:r>
                    </a:p>
                  </a:txBody>
                  <a:tcPr marL="95250" marR="95250" marT="19050" marB="19050" anchor="ctr">
                    <a:solidFill>
                      <a:srgbClr val="FFFFFF"/>
                    </a:solidFill>
                  </a:tcPr>
                </a:tc>
                <a:tc>
                  <a:txBody>
                    <a:bodyPr/>
                    <a:lstStyle/>
                    <a:p>
                      <a:r>
                        <a:rPr sz="1650" b="0">
                          <a:solidFill>
                            <a:srgbClr val="000048"/>
                          </a:solidFill>
                        </a:rPr>
                        <a:t>2</a:t>
                      </a:r>
                    </a:p>
                  </a:txBody>
                  <a:tcPr marL="95250" marR="95250" marT="19050" marB="19050" anchor="ctr">
                    <a:solidFill>
                      <a:srgbClr val="FFFFFF"/>
                    </a:solidFill>
                  </a:tcPr>
                </a:tc>
                <a:tc>
                  <a:txBody>
                    <a:bodyPr/>
                    <a:lstStyle/>
                    <a:p>
                      <a:r>
                        <a:rPr sz="1650" b="0">
                          <a:solidFill>
                            <a:srgbClr val="000048"/>
                          </a:solidFill>
                        </a:rPr>
                        <a:t>1</a:t>
                      </a:r>
                    </a:p>
                  </a:txBody>
                  <a:tcPr marL="95250" marR="95250" marT="19050" marB="19050" anchor="ctr">
                    <a:solidFill>
                      <a:srgbClr val="FFFFFF"/>
                    </a:solidFill>
                  </a:tcPr>
                </a:tc>
              </a:tr>
            </a:tbl>
          </a:graphicData>
        </a:graphic>
      </p:graphicFrame>
      <p:sp>
        <p:nvSpPr>
          <p:cNvPr id="5" name="content">
            <a:extLst xmlns:a="http://schemas.openxmlformats.org/drawingml/2006/main">
              <a:ext uri="{FF2B5EF4-FFF2-40B4-BE49-F238E27FC236}">
                <a16:creationId xmlns:a16="http://schemas.microsoft.com/office/drawing/2014/main" id="{517C9FAA-6295-48F4-89AC-9346AE39EE49}"/>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Weekly totals: 12, 14, 12, 14, 12, 11, 10, 3. Base 88 days. Reserve 13.2 days is unscheduled.</a:t>
            </a:r>
          </a:p>
        </p:txBody>
      </p:sp>
      <p:sp>
        <p:nvSpPr>
          <p:cNvPr id="6" name="content">
            <a:extLst xmlns:a="http://schemas.openxmlformats.org/drawingml/2006/main">
              <a:ext uri="{FF2B5EF4-FFF2-40B4-BE49-F238E27FC236}">
                <a16:creationId xmlns:a16="http://schemas.microsoft.com/office/drawing/2014/main" id="{9F36F8A7-2B01-42D8-9822-683F358BC88B}"/>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7" name="content">
            <a:extLst xmlns:a="http://schemas.openxmlformats.org/drawingml/2006/main">
              <a:ext uri="{FF2B5EF4-FFF2-40B4-BE49-F238E27FC236}">
                <a16:creationId xmlns:a16="http://schemas.microsoft.com/office/drawing/2014/main" id="{10617A7C-4CD4-49CF-8CB5-66A048DE51A7}"/>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22</a:t>
            </a:r>
          </a:p>
        </p:txBody>
      </p:sp>
    </p:spTree>
    <p:extLst>
      <p:ext uri="{BB962C8B-B14F-4D97-AF65-F5344CB8AC3E}">
        <p14:creationId xmlns:p14="http://schemas.microsoft.com/office/powerpoint/2010/main" val="5231664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FE83D8BD-221B-4C1C-8647-FE45087478C3}"/>
              </a:ext>
            </a:extLst>
          </p:cNvPr>
          <p:cNvPicPr>
            <a:picLocks xmlns:a="http://schemas.openxmlformats.org/drawingml/2006/main" noChangeAspect="1"/>
          </p:cNvPicPr>
          <p:nvPr/>
        </p:nvPicPr>
        <p:blipFill>
          <a:blip xmlns:r="http://schemas.openxmlformats.org/officeDocument/2006/relationships" xmlns:a="http://schemas.openxmlformats.org/drawingml/2006/main" r:embed="Rcb75e4d0f7cf43bf"/>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0DBE87B8-6466-4FE6-B66E-23B387441831}"/>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Reference appendix / Solutioning proposal</a:t>
            </a:r>
          </a:p>
        </p:txBody>
      </p:sp>
      <p:sp>
        <p:nvSpPr>
          <p:cNvPr id="3" name="heading">
            <a:extLst xmlns:a="http://schemas.openxmlformats.org/drawingml/2006/main">
              <a:ext uri="{FF2B5EF4-FFF2-40B4-BE49-F238E27FC236}">
                <a16:creationId xmlns:a16="http://schemas.microsoft.com/office/drawing/2014/main" id="{B7F67228-9603-4A22-97FD-8A1685160132}"/>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Appendix / delivery accountability</a:t>
            </a:r>
          </a:p>
        </p:txBody>
      </p:sp>
      <p:graphicFrame>
        <p:nvGraphicFramePr>
          <p:cNvPr id="4" name="">
            <a:extLst xmlns:a="http://schemas.openxmlformats.org/drawingml/2006/main">
              <a:ext uri="{FF2B5EF4-FFF2-40B4-BE49-F238E27FC236}">
                <a16:creationId xmlns:a16="http://schemas.microsoft.com/office/drawing/2014/main" id="{81D961AA-CBAC-4E89-984A-B10FCF9F072F}"/>
              </a:ext>
            </a:extLst>
          </p:cNvPr>
          <p:cNvGraphicFramePr/>
          <p:nvPr/>
        </p:nvGraphicFramePr>
        <p:xfrm>
          <a:off xmlns:a="http://schemas.openxmlformats.org/drawingml/2006/main" x="685800" y="1905000"/>
          <a:ext xmlns:a="http://schemas.openxmlformats.org/drawingml/2006/main" cx="10820400" cy="4000500"/>
        </p:xfrm>
        <a:graphic xmlns:a="http://schemas.openxmlformats.org/drawingml/2006/main">
          <a:graphicData uri="http://schemas.openxmlformats.org/drawingml/2006/table">
            <a:tbl>
              <a:tblPr/>
              <a:tblGrid>
                <a:gridCol w="4476750"/>
                <a:gridCol w="1057275"/>
                <a:gridCol w="1057275"/>
                <a:gridCol w="1057275"/>
                <a:gridCol w="1057275"/>
                <a:gridCol w="1057275"/>
                <a:gridCol w="1057275"/>
              </a:tblGrid>
              <a:tr h="500063">
                <a:tc>
                  <a:txBody>
                    <a:bodyPr/>
                    <a:lstStyle/>
                    <a:p>
                      <a:r>
                        <a:rPr sz="1650" b="1">
                          <a:solidFill>
                            <a:srgbClr val="FFFFFF"/>
                          </a:solidFill>
                        </a:rPr>
                        <a:t>Deliverable</a:t>
                      </a:r>
                    </a:p>
                  </a:txBody>
                  <a:tcPr marL="95250" marR="95250" marT="9525" marB="9525" anchor="ctr">
                    <a:solidFill>
                      <a:srgbClr val="000048"/>
                    </a:solidFill>
                  </a:tcPr>
                </a:tc>
                <a:tc>
                  <a:txBody>
                    <a:bodyPr/>
                    <a:lstStyle/>
                    <a:p>
                      <a:r>
                        <a:rPr sz="1650" b="1">
                          <a:solidFill>
                            <a:srgbClr val="FFFFFF"/>
                          </a:solidFill>
                        </a:rPr>
                        <a:t>INF</a:t>
                      </a:r>
                    </a:p>
                  </a:txBody>
                  <a:tcPr marL="95250" marR="95250" marT="9525" marB="9525" anchor="ctr">
                    <a:solidFill>
                      <a:srgbClr val="000048"/>
                    </a:solidFill>
                  </a:tcPr>
                </a:tc>
                <a:tc>
                  <a:txBody>
                    <a:bodyPr/>
                    <a:lstStyle/>
                    <a:p>
                      <a:r>
                        <a:rPr sz="1650" b="1">
                          <a:solidFill>
                            <a:srgbClr val="FFFFFF"/>
                          </a:solidFill>
                        </a:rPr>
                        <a:t>SEC</a:t>
                      </a:r>
                    </a:p>
                  </a:txBody>
                  <a:tcPr marL="95250" marR="95250" marT="9525" marB="9525" anchor="ctr">
                    <a:solidFill>
                      <a:srgbClr val="000048"/>
                    </a:solidFill>
                  </a:tcPr>
                </a:tc>
                <a:tc>
                  <a:txBody>
                    <a:bodyPr/>
                    <a:lstStyle/>
                    <a:p>
                      <a:r>
                        <a:rPr sz="1650" b="1">
                          <a:solidFill>
                            <a:srgbClr val="FFFFFF"/>
                          </a:solidFill>
                        </a:rPr>
                        <a:t>DEV</a:t>
                      </a:r>
                    </a:p>
                  </a:txBody>
                  <a:tcPr marL="95250" marR="95250" marT="9525" marB="9525" anchor="ctr">
                    <a:solidFill>
                      <a:srgbClr val="000048"/>
                    </a:solidFill>
                  </a:tcPr>
                </a:tc>
                <a:tc>
                  <a:txBody>
                    <a:bodyPr/>
                    <a:lstStyle/>
                    <a:p>
                      <a:r>
                        <a:rPr sz="1650" b="1">
                          <a:solidFill>
                            <a:srgbClr val="FFFFFF"/>
                          </a:solidFill>
                        </a:rPr>
                        <a:t>DAT</a:t>
                      </a:r>
                    </a:p>
                  </a:txBody>
                  <a:tcPr marL="95250" marR="95250" marT="9525" marB="9525" anchor="ctr">
                    <a:solidFill>
                      <a:srgbClr val="000048"/>
                    </a:solidFill>
                  </a:tcPr>
                </a:tc>
                <a:tc>
                  <a:txBody>
                    <a:bodyPr/>
                    <a:lstStyle/>
                    <a:p>
                      <a:r>
                        <a:rPr sz="1650" b="1">
                          <a:solidFill>
                            <a:srgbClr val="FFFFFF"/>
                          </a:solidFill>
                        </a:rPr>
                        <a:t>ENG</a:t>
                      </a:r>
                    </a:p>
                  </a:txBody>
                  <a:tcPr marL="95250" marR="95250" marT="9525" marB="9525" anchor="ctr">
                    <a:solidFill>
                      <a:srgbClr val="000048"/>
                    </a:solidFill>
                  </a:tcPr>
                </a:tc>
                <a:tc>
                  <a:txBody>
                    <a:bodyPr/>
                    <a:lstStyle/>
                    <a:p>
                      <a:r>
                        <a:rPr sz="1650" b="1">
                          <a:solidFill>
                            <a:srgbClr val="FFFFFF"/>
                          </a:solidFill>
                        </a:rPr>
                        <a:t>AI</a:t>
                      </a:r>
                    </a:p>
                  </a:txBody>
                  <a:tcPr marL="95250" marR="95250" marT="9525" marB="9525" anchor="ctr">
                    <a:solidFill>
                      <a:srgbClr val="000048"/>
                    </a:solidFill>
                  </a:tcPr>
                </a:tc>
              </a:tr>
              <a:tr h="500063">
                <a:tc>
                  <a:txBody>
                    <a:bodyPr/>
                    <a:lstStyle/>
                    <a:p>
                      <a:r>
                        <a:rPr sz="1650" b="0">
                          <a:solidFill>
                            <a:srgbClr val="000048"/>
                          </a:solidFill>
                        </a:rPr>
                        <a:t>Network and platform</a:t>
                      </a:r>
                    </a:p>
                  </a:txBody>
                  <a:tcPr marL="95250" marR="95250" marT="9525" marB="9525" anchor="ctr">
                    <a:solidFill>
                      <a:srgbClr val="F5F5F2"/>
                    </a:solidFill>
                  </a:tcPr>
                </a:tc>
                <a:tc>
                  <a:txBody>
                    <a:bodyPr/>
                    <a:lstStyle/>
                    <a:p>
                      <a:r>
                        <a:rPr sz="1650" b="0">
                          <a:solidFill>
                            <a:srgbClr val="000048"/>
                          </a:solidFill>
                        </a:rPr>
                        <a:t>A/R</a:t>
                      </a:r>
                    </a:p>
                  </a:txBody>
                  <a:tcPr marL="95250" marR="95250" marT="9525" marB="9525" anchor="ctr">
                    <a:solidFill>
                      <a:srgbClr val="F5F5F2"/>
                    </a:solidFill>
                  </a:tcPr>
                </a:tc>
                <a:tc>
                  <a:txBody>
                    <a:bodyPr/>
                    <a:lstStyle/>
                    <a:p>
                      <a:r>
                        <a:rPr sz="1650" b="0">
                          <a:solidFill>
                            <a:srgbClr val="000048"/>
                          </a:solidFill>
                        </a:rPr>
                        <a:t>C</a:t>
                      </a:r>
                    </a:p>
                  </a:txBody>
                  <a:tcPr marL="95250" marR="95250" marT="9525" marB="9525" anchor="ctr">
                    <a:solidFill>
                      <a:srgbClr val="F5F5F2"/>
                    </a:solidFill>
                  </a:tcPr>
                </a:tc>
                <a:tc>
                  <a:txBody>
                    <a:bodyPr/>
                    <a:lstStyle/>
                    <a:p>
                      <a:r>
                        <a:rPr sz="1650" b="0">
                          <a:solidFill>
                            <a:srgbClr val="000048"/>
                          </a:solidFill>
                        </a:rPr>
                        <a:t>C</a:t>
                      </a:r>
                    </a:p>
                  </a:txBody>
                  <a:tcPr marL="95250" marR="95250" marT="9525" marB="9525" anchor="ctr">
                    <a:solidFill>
                      <a:srgbClr val="F5F5F2"/>
                    </a:solidFill>
                  </a:tcPr>
                </a:tc>
                <a:tc>
                  <a:txBody>
                    <a:bodyPr/>
                    <a:lstStyle/>
                    <a:p>
                      <a:r>
                        <a:rPr sz="1650" b="0">
                          <a:solidFill>
                            <a:srgbClr val="000048"/>
                          </a:solidFill>
                        </a:rPr>
                        <a:t>I</a:t>
                      </a:r>
                    </a:p>
                  </a:txBody>
                  <a:tcPr marL="95250" marR="95250" marT="9525" marB="9525" anchor="ctr">
                    <a:solidFill>
                      <a:srgbClr val="F5F5F2"/>
                    </a:solidFill>
                  </a:tcPr>
                </a:tc>
                <a:tc>
                  <a:txBody>
                    <a:bodyPr/>
                    <a:lstStyle/>
                    <a:p>
                      <a:r>
                        <a:rPr sz="1650" b="0">
                          <a:solidFill>
                            <a:srgbClr val="000048"/>
                          </a:solidFill>
                        </a:rPr>
                        <a:t>C</a:t>
                      </a:r>
                    </a:p>
                  </a:txBody>
                  <a:tcPr marL="95250" marR="95250" marT="9525" marB="9525" anchor="ctr">
                    <a:solidFill>
                      <a:srgbClr val="F5F5F2"/>
                    </a:solidFill>
                  </a:tcPr>
                </a:tc>
                <a:tc>
                  <a:txBody>
                    <a:bodyPr/>
                    <a:lstStyle/>
                    <a:p>
                      <a:r>
                        <a:rPr sz="1650" b="0">
                          <a:solidFill>
                            <a:srgbClr val="000048"/>
                          </a:solidFill>
                        </a:rPr>
                        <a:t>C</a:t>
                      </a:r>
                    </a:p>
                  </a:txBody>
                  <a:tcPr marL="95250" marR="95250" marT="9525" marB="9525" anchor="ctr">
                    <a:solidFill>
                      <a:srgbClr val="F5F5F2"/>
                    </a:solidFill>
                  </a:tcPr>
                </a:tc>
              </a:tr>
              <a:tr h="500063">
                <a:tc>
                  <a:txBody>
                    <a:bodyPr/>
                    <a:lstStyle/>
                    <a:p>
                      <a:r>
                        <a:rPr sz="1650" b="0">
                          <a:solidFill>
                            <a:srgbClr val="000048"/>
                          </a:solidFill>
                        </a:rPr>
                        <a:t>Security verification</a:t>
                      </a:r>
                    </a:p>
                  </a:txBody>
                  <a:tcPr marL="95250" marR="95250" marT="9525" marB="9525" anchor="ctr">
                    <a:solidFill>
                      <a:srgbClr val="FFFFFF"/>
                    </a:solidFill>
                  </a:tcPr>
                </a:tc>
                <a:tc>
                  <a:txBody>
                    <a:bodyPr/>
                    <a:lstStyle/>
                    <a:p>
                      <a:r>
                        <a:rPr sz="1650" b="0">
                          <a:solidFill>
                            <a:srgbClr val="000048"/>
                          </a:solidFill>
                        </a:rPr>
                        <a:t>R</a:t>
                      </a:r>
                    </a:p>
                  </a:txBody>
                  <a:tcPr marL="95250" marR="95250" marT="9525" marB="9525" anchor="ctr">
                    <a:solidFill>
                      <a:srgbClr val="FFFFFF"/>
                    </a:solidFill>
                  </a:tcPr>
                </a:tc>
                <a:tc>
                  <a:txBody>
                    <a:bodyPr/>
                    <a:lstStyle/>
                    <a:p>
                      <a:r>
                        <a:rPr sz="1650" b="0">
                          <a:solidFill>
                            <a:srgbClr val="000048"/>
                          </a:solidFill>
                        </a:rPr>
                        <a:t>A/R</a:t>
                      </a:r>
                    </a:p>
                  </a:txBody>
                  <a:tcPr marL="95250" marR="95250" marT="9525" marB="9525" anchor="ctr">
                    <a:solidFill>
                      <a:srgbClr val="FFFFFF"/>
                    </a:solidFill>
                  </a:tcPr>
                </a:tc>
                <a:tc>
                  <a:txBody>
                    <a:bodyPr/>
                    <a:lstStyle/>
                    <a:p>
                      <a:r>
                        <a:rPr sz="1650" b="0">
                          <a:solidFill>
                            <a:srgbClr val="000048"/>
                          </a:solidFill>
                        </a:rPr>
                        <a:t>C</a:t>
                      </a:r>
                    </a:p>
                  </a:txBody>
                  <a:tcPr marL="95250" marR="95250" marT="9525" marB="9525" anchor="ctr">
                    <a:solidFill>
                      <a:srgbClr val="FFFFFF"/>
                    </a:solidFill>
                  </a:tcPr>
                </a:tc>
                <a:tc>
                  <a:txBody>
                    <a:bodyPr/>
                    <a:lstStyle/>
                    <a:p>
                      <a:r>
                        <a:rPr sz="1650" b="0">
                          <a:solidFill>
                            <a:srgbClr val="000048"/>
                          </a:solidFill>
                        </a:rPr>
                        <a:t>C</a:t>
                      </a:r>
                    </a:p>
                  </a:txBody>
                  <a:tcPr marL="95250" marR="95250" marT="9525" marB="9525" anchor="ctr">
                    <a:solidFill>
                      <a:srgbClr val="FFFFFF"/>
                    </a:solidFill>
                  </a:tcPr>
                </a:tc>
                <a:tc>
                  <a:txBody>
                    <a:bodyPr/>
                    <a:lstStyle/>
                    <a:p>
                      <a:r>
                        <a:rPr sz="1650" b="0">
                          <a:solidFill>
                            <a:srgbClr val="000048"/>
                          </a:solidFill>
                        </a:rPr>
                        <a:t>C</a:t>
                      </a:r>
                    </a:p>
                  </a:txBody>
                  <a:tcPr marL="95250" marR="95250" marT="9525" marB="9525" anchor="ctr">
                    <a:solidFill>
                      <a:srgbClr val="FFFFFF"/>
                    </a:solidFill>
                  </a:tcPr>
                </a:tc>
                <a:tc>
                  <a:txBody>
                    <a:bodyPr/>
                    <a:lstStyle/>
                    <a:p>
                      <a:r>
                        <a:rPr sz="1650" b="0">
                          <a:solidFill>
                            <a:srgbClr val="000048"/>
                          </a:solidFill>
                        </a:rPr>
                        <a:t>C</a:t>
                      </a:r>
                    </a:p>
                  </a:txBody>
                  <a:tcPr marL="95250" marR="95250" marT="9525" marB="9525" anchor="ctr">
                    <a:solidFill>
                      <a:srgbClr val="FFFFFF"/>
                    </a:solidFill>
                  </a:tcPr>
                </a:tc>
              </a:tr>
              <a:tr h="500063">
                <a:tc>
                  <a:txBody>
                    <a:bodyPr/>
                    <a:lstStyle/>
                    <a:p>
                      <a:r>
                        <a:rPr sz="1650" b="0">
                          <a:solidFill>
                            <a:srgbClr val="000048"/>
                          </a:solidFill>
                        </a:rPr>
                        <a:t>IaC and deployment</a:t>
                      </a:r>
                    </a:p>
                  </a:txBody>
                  <a:tcPr marL="95250" marR="95250" marT="9525" marB="9525" anchor="ctr">
                    <a:solidFill>
                      <a:srgbClr val="F5F5F2"/>
                    </a:solidFill>
                  </a:tcPr>
                </a:tc>
                <a:tc>
                  <a:txBody>
                    <a:bodyPr/>
                    <a:lstStyle/>
                    <a:p>
                      <a:r>
                        <a:rPr sz="1650" b="0">
                          <a:solidFill>
                            <a:srgbClr val="000048"/>
                          </a:solidFill>
                        </a:rPr>
                        <a:t>R</a:t>
                      </a:r>
                    </a:p>
                  </a:txBody>
                  <a:tcPr marL="95250" marR="95250" marT="9525" marB="9525" anchor="ctr">
                    <a:solidFill>
                      <a:srgbClr val="F5F5F2"/>
                    </a:solidFill>
                  </a:tcPr>
                </a:tc>
                <a:tc>
                  <a:txBody>
                    <a:bodyPr/>
                    <a:lstStyle/>
                    <a:p>
                      <a:r>
                        <a:rPr sz="1650" b="0">
                          <a:solidFill>
                            <a:srgbClr val="000048"/>
                          </a:solidFill>
                        </a:rPr>
                        <a:t>C</a:t>
                      </a:r>
                    </a:p>
                  </a:txBody>
                  <a:tcPr marL="95250" marR="95250" marT="9525" marB="9525" anchor="ctr">
                    <a:solidFill>
                      <a:srgbClr val="F5F5F2"/>
                    </a:solidFill>
                  </a:tcPr>
                </a:tc>
                <a:tc>
                  <a:txBody>
                    <a:bodyPr/>
                    <a:lstStyle/>
                    <a:p>
                      <a:r>
                        <a:rPr sz="1650" b="0">
                          <a:solidFill>
                            <a:srgbClr val="000048"/>
                          </a:solidFill>
                        </a:rPr>
                        <a:t>A/R</a:t>
                      </a:r>
                    </a:p>
                  </a:txBody>
                  <a:tcPr marL="95250" marR="95250" marT="9525" marB="9525" anchor="ctr">
                    <a:solidFill>
                      <a:srgbClr val="F5F5F2"/>
                    </a:solidFill>
                  </a:tcPr>
                </a:tc>
                <a:tc>
                  <a:txBody>
                    <a:bodyPr/>
                    <a:lstStyle/>
                    <a:p>
                      <a:r>
                        <a:rPr sz="1650" b="0">
                          <a:solidFill>
                            <a:srgbClr val="000048"/>
                          </a:solidFill>
                        </a:rPr>
                        <a:t>I</a:t>
                      </a:r>
                    </a:p>
                  </a:txBody>
                  <a:tcPr marL="95250" marR="95250" marT="9525" marB="9525" anchor="ctr">
                    <a:solidFill>
                      <a:srgbClr val="F5F5F2"/>
                    </a:solidFill>
                  </a:tcPr>
                </a:tc>
                <a:tc>
                  <a:txBody>
                    <a:bodyPr/>
                    <a:lstStyle/>
                    <a:p>
                      <a:r>
                        <a:rPr sz="1650" b="0">
                          <a:solidFill>
                            <a:srgbClr val="000048"/>
                          </a:solidFill>
                        </a:rPr>
                        <a:t>I</a:t>
                      </a:r>
                    </a:p>
                  </a:txBody>
                  <a:tcPr marL="95250" marR="95250" marT="9525" marB="9525" anchor="ctr">
                    <a:solidFill>
                      <a:srgbClr val="F5F5F2"/>
                    </a:solidFill>
                  </a:tcPr>
                </a:tc>
                <a:tc>
                  <a:txBody>
                    <a:bodyPr/>
                    <a:lstStyle/>
                    <a:p>
                      <a:r>
                        <a:rPr sz="1650" b="0">
                          <a:solidFill>
                            <a:srgbClr val="000048"/>
                          </a:solidFill>
                        </a:rPr>
                        <a:t>C</a:t>
                      </a:r>
                    </a:p>
                  </a:txBody>
                  <a:tcPr marL="95250" marR="95250" marT="9525" marB="9525" anchor="ctr">
                    <a:solidFill>
                      <a:srgbClr val="F5F5F2"/>
                    </a:solidFill>
                  </a:tcPr>
                </a:tc>
              </a:tr>
              <a:tr h="500063">
                <a:tc>
                  <a:txBody>
                    <a:bodyPr/>
                    <a:lstStyle/>
                    <a:p>
                      <a:r>
                        <a:rPr sz="1650" b="0">
                          <a:solidFill>
                            <a:srgbClr val="000048"/>
                          </a:solidFill>
                        </a:rPr>
                        <a:t>Source governance</a:t>
                      </a:r>
                    </a:p>
                  </a:txBody>
                  <a:tcPr marL="95250" marR="95250" marT="9525" marB="9525" anchor="ctr">
                    <a:solidFill>
                      <a:srgbClr val="FFFFFF"/>
                    </a:solidFill>
                  </a:tcPr>
                </a:tc>
                <a:tc>
                  <a:txBody>
                    <a:bodyPr/>
                    <a:lstStyle/>
                    <a:p>
                      <a:r>
                        <a:rPr sz="1650" b="0">
                          <a:solidFill>
                            <a:srgbClr val="000048"/>
                          </a:solidFill>
                        </a:rPr>
                        <a:t>C</a:t>
                      </a:r>
                    </a:p>
                  </a:txBody>
                  <a:tcPr marL="95250" marR="95250" marT="9525" marB="9525" anchor="ctr">
                    <a:solidFill>
                      <a:srgbClr val="FFFFFF"/>
                    </a:solidFill>
                  </a:tcPr>
                </a:tc>
                <a:tc>
                  <a:txBody>
                    <a:bodyPr/>
                    <a:lstStyle/>
                    <a:p>
                      <a:r>
                        <a:rPr sz="1650" b="0">
                          <a:solidFill>
                            <a:srgbClr val="000048"/>
                          </a:solidFill>
                        </a:rPr>
                        <a:t>C</a:t>
                      </a:r>
                    </a:p>
                  </a:txBody>
                  <a:tcPr marL="95250" marR="95250" marT="9525" marB="9525" anchor="ctr">
                    <a:solidFill>
                      <a:srgbClr val="FFFFFF"/>
                    </a:solidFill>
                  </a:tcPr>
                </a:tc>
                <a:tc>
                  <a:txBody>
                    <a:bodyPr/>
                    <a:lstStyle/>
                    <a:p>
                      <a:r>
                        <a:rPr sz="1650" b="0">
                          <a:solidFill>
                            <a:srgbClr val="000048"/>
                          </a:solidFill>
                        </a:rPr>
                        <a:t>I</a:t>
                      </a:r>
                    </a:p>
                  </a:txBody>
                  <a:tcPr marL="95250" marR="95250" marT="9525" marB="9525" anchor="ctr">
                    <a:solidFill>
                      <a:srgbClr val="FFFFFF"/>
                    </a:solidFill>
                  </a:tcPr>
                </a:tc>
                <a:tc>
                  <a:txBody>
                    <a:bodyPr/>
                    <a:lstStyle/>
                    <a:p>
                      <a:r>
                        <a:rPr sz="1650" b="0">
                          <a:solidFill>
                            <a:srgbClr val="000048"/>
                          </a:solidFill>
                        </a:rPr>
                        <a:t>A/R</a:t>
                      </a:r>
                    </a:p>
                  </a:txBody>
                  <a:tcPr marL="95250" marR="95250" marT="9525" marB="9525" anchor="ctr">
                    <a:solidFill>
                      <a:srgbClr val="FFFFFF"/>
                    </a:solidFill>
                  </a:tcPr>
                </a:tc>
                <a:tc>
                  <a:txBody>
                    <a:bodyPr/>
                    <a:lstStyle/>
                    <a:p>
                      <a:r>
                        <a:rPr sz="1650" b="0">
                          <a:solidFill>
                            <a:srgbClr val="000048"/>
                          </a:solidFill>
                        </a:rPr>
                        <a:t>R</a:t>
                      </a:r>
                    </a:p>
                  </a:txBody>
                  <a:tcPr marL="95250" marR="95250" marT="9525" marB="9525" anchor="ctr">
                    <a:solidFill>
                      <a:srgbClr val="FFFFFF"/>
                    </a:solidFill>
                  </a:tcPr>
                </a:tc>
                <a:tc>
                  <a:txBody>
                    <a:bodyPr/>
                    <a:lstStyle/>
                    <a:p>
                      <a:r>
                        <a:rPr sz="1650" b="0">
                          <a:solidFill>
                            <a:srgbClr val="000048"/>
                          </a:solidFill>
                        </a:rPr>
                        <a:t>C</a:t>
                      </a:r>
                    </a:p>
                  </a:txBody>
                  <a:tcPr marL="95250" marR="95250" marT="9525" marB="9525" anchor="ctr">
                    <a:solidFill>
                      <a:srgbClr val="FFFFFF"/>
                    </a:solidFill>
                  </a:tcPr>
                </a:tc>
              </a:tr>
              <a:tr h="500063">
                <a:tc>
                  <a:txBody>
                    <a:bodyPr/>
                    <a:lstStyle/>
                    <a:p>
                      <a:r>
                        <a:rPr sz="1650" b="0">
                          <a:solidFill>
                            <a:srgbClr val="000048"/>
                          </a:solidFill>
                        </a:rPr>
                        <a:t>Ingestion and indexing</a:t>
                      </a:r>
                    </a:p>
                  </a:txBody>
                  <a:tcPr marL="95250" marR="95250" marT="9525" marB="9525" anchor="ctr">
                    <a:solidFill>
                      <a:srgbClr val="F5F5F2"/>
                    </a:solidFill>
                  </a:tcPr>
                </a:tc>
                <a:tc>
                  <a:txBody>
                    <a:bodyPr/>
                    <a:lstStyle/>
                    <a:p>
                      <a:r>
                        <a:rPr sz="1650" b="0">
                          <a:solidFill>
                            <a:srgbClr val="000048"/>
                          </a:solidFill>
                        </a:rPr>
                        <a:t>C</a:t>
                      </a:r>
                    </a:p>
                  </a:txBody>
                  <a:tcPr marL="95250" marR="95250" marT="9525" marB="9525" anchor="ctr">
                    <a:solidFill>
                      <a:srgbClr val="F5F5F2"/>
                    </a:solidFill>
                  </a:tcPr>
                </a:tc>
                <a:tc>
                  <a:txBody>
                    <a:bodyPr/>
                    <a:lstStyle/>
                    <a:p>
                      <a:r>
                        <a:rPr sz="1650" b="0">
                          <a:solidFill>
                            <a:srgbClr val="000048"/>
                          </a:solidFill>
                        </a:rPr>
                        <a:t>C</a:t>
                      </a:r>
                    </a:p>
                  </a:txBody>
                  <a:tcPr marL="95250" marR="95250" marT="9525" marB="9525" anchor="ctr">
                    <a:solidFill>
                      <a:srgbClr val="F5F5F2"/>
                    </a:solidFill>
                  </a:tcPr>
                </a:tc>
                <a:tc>
                  <a:txBody>
                    <a:bodyPr/>
                    <a:lstStyle/>
                    <a:p>
                      <a:r>
                        <a:rPr sz="1650" b="0">
                          <a:solidFill>
                            <a:srgbClr val="000048"/>
                          </a:solidFill>
                        </a:rPr>
                        <a:t>C</a:t>
                      </a:r>
                    </a:p>
                  </a:txBody>
                  <a:tcPr marL="95250" marR="95250" marT="9525" marB="9525" anchor="ctr">
                    <a:solidFill>
                      <a:srgbClr val="F5F5F2"/>
                    </a:solidFill>
                  </a:tcPr>
                </a:tc>
                <a:tc>
                  <a:txBody>
                    <a:bodyPr/>
                    <a:lstStyle/>
                    <a:p>
                      <a:r>
                        <a:rPr sz="1650" b="0">
                          <a:solidFill>
                            <a:srgbClr val="000048"/>
                          </a:solidFill>
                        </a:rPr>
                        <a:t>C</a:t>
                      </a:r>
                    </a:p>
                  </a:txBody>
                  <a:tcPr marL="95250" marR="95250" marT="9525" marB="9525" anchor="ctr">
                    <a:solidFill>
                      <a:srgbClr val="F5F5F2"/>
                    </a:solidFill>
                  </a:tcPr>
                </a:tc>
                <a:tc>
                  <a:txBody>
                    <a:bodyPr/>
                    <a:lstStyle/>
                    <a:p>
                      <a:r>
                        <a:rPr sz="1650" b="0">
                          <a:solidFill>
                            <a:srgbClr val="000048"/>
                          </a:solidFill>
                        </a:rPr>
                        <a:t>A/R</a:t>
                      </a:r>
                    </a:p>
                  </a:txBody>
                  <a:tcPr marL="95250" marR="95250" marT="9525" marB="9525" anchor="ctr">
                    <a:solidFill>
                      <a:srgbClr val="F5F5F2"/>
                    </a:solidFill>
                  </a:tcPr>
                </a:tc>
                <a:tc>
                  <a:txBody>
                    <a:bodyPr/>
                    <a:lstStyle/>
                    <a:p>
                      <a:r>
                        <a:rPr sz="1650" b="0">
                          <a:solidFill>
                            <a:srgbClr val="000048"/>
                          </a:solidFill>
                        </a:rPr>
                        <a:t>C</a:t>
                      </a:r>
                    </a:p>
                  </a:txBody>
                  <a:tcPr marL="95250" marR="95250" marT="9525" marB="9525" anchor="ctr">
                    <a:solidFill>
                      <a:srgbClr val="F5F5F2"/>
                    </a:solidFill>
                  </a:tcPr>
                </a:tc>
              </a:tr>
              <a:tr h="500063">
                <a:tc>
                  <a:txBody>
                    <a:bodyPr/>
                    <a:lstStyle/>
                    <a:p>
                      <a:r>
                        <a:rPr sz="1650" b="0">
                          <a:solidFill>
                            <a:srgbClr val="000048"/>
                          </a:solidFill>
                        </a:rPr>
                        <a:t>Workload and evaluation</a:t>
                      </a:r>
                    </a:p>
                  </a:txBody>
                  <a:tcPr marL="95250" marR="95250" marT="9525" marB="9525" anchor="ctr">
                    <a:solidFill>
                      <a:srgbClr val="FFFFFF"/>
                    </a:solidFill>
                  </a:tcPr>
                </a:tc>
                <a:tc>
                  <a:txBody>
                    <a:bodyPr/>
                    <a:lstStyle/>
                    <a:p>
                      <a:r>
                        <a:rPr sz="1650" b="0">
                          <a:solidFill>
                            <a:srgbClr val="000048"/>
                          </a:solidFill>
                        </a:rPr>
                        <a:t>C</a:t>
                      </a:r>
                    </a:p>
                  </a:txBody>
                  <a:tcPr marL="95250" marR="95250" marT="9525" marB="9525" anchor="ctr">
                    <a:solidFill>
                      <a:srgbClr val="FFFFFF"/>
                    </a:solidFill>
                  </a:tcPr>
                </a:tc>
                <a:tc>
                  <a:txBody>
                    <a:bodyPr/>
                    <a:lstStyle/>
                    <a:p>
                      <a:r>
                        <a:rPr sz="1650" b="0">
                          <a:solidFill>
                            <a:srgbClr val="000048"/>
                          </a:solidFill>
                        </a:rPr>
                        <a:t>C</a:t>
                      </a:r>
                    </a:p>
                  </a:txBody>
                  <a:tcPr marL="95250" marR="95250" marT="9525" marB="9525" anchor="ctr">
                    <a:solidFill>
                      <a:srgbClr val="FFFFFF"/>
                    </a:solidFill>
                  </a:tcPr>
                </a:tc>
                <a:tc>
                  <a:txBody>
                    <a:bodyPr/>
                    <a:lstStyle/>
                    <a:p>
                      <a:r>
                        <a:rPr sz="1650" b="0">
                          <a:solidFill>
                            <a:srgbClr val="000048"/>
                          </a:solidFill>
                        </a:rPr>
                        <a:t>C</a:t>
                      </a:r>
                    </a:p>
                  </a:txBody>
                  <a:tcPr marL="95250" marR="95250" marT="9525" marB="9525" anchor="ctr">
                    <a:solidFill>
                      <a:srgbClr val="FFFFFF"/>
                    </a:solidFill>
                  </a:tcPr>
                </a:tc>
                <a:tc>
                  <a:txBody>
                    <a:bodyPr/>
                    <a:lstStyle/>
                    <a:p>
                      <a:r>
                        <a:rPr sz="1650" b="0">
                          <a:solidFill>
                            <a:srgbClr val="000048"/>
                          </a:solidFill>
                        </a:rPr>
                        <a:t>C</a:t>
                      </a:r>
                    </a:p>
                  </a:txBody>
                  <a:tcPr marL="95250" marR="95250" marT="9525" marB="9525" anchor="ctr">
                    <a:solidFill>
                      <a:srgbClr val="FFFFFF"/>
                    </a:solidFill>
                  </a:tcPr>
                </a:tc>
                <a:tc>
                  <a:txBody>
                    <a:bodyPr/>
                    <a:lstStyle/>
                    <a:p>
                      <a:r>
                        <a:rPr sz="1650" b="0">
                          <a:solidFill>
                            <a:srgbClr val="000048"/>
                          </a:solidFill>
                        </a:rPr>
                        <a:t>R</a:t>
                      </a:r>
                    </a:p>
                  </a:txBody>
                  <a:tcPr marL="95250" marR="95250" marT="9525" marB="9525" anchor="ctr">
                    <a:solidFill>
                      <a:srgbClr val="FFFFFF"/>
                    </a:solidFill>
                  </a:tcPr>
                </a:tc>
                <a:tc>
                  <a:txBody>
                    <a:bodyPr/>
                    <a:lstStyle/>
                    <a:p>
                      <a:r>
                        <a:rPr sz="1650" b="0">
                          <a:solidFill>
                            <a:srgbClr val="000048"/>
                          </a:solidFill>
                        </a:rPr>
                        <a:t>A/R</a:t>
                      </a:r>
                    </a:p>
                  </a:txBody>
                  <a:tcPr marL="95250" marR="95250" marT="9525" marB="9525" anchor="ctr">
                    <a:solidFill>
                      <a:srgbClr val="FFFFFF"/>
                    </a:solidFill>
                  </a:tcPr>
                </a:tc>
              </a:tr>
              <a:tr h="500063">
                <a:tc>
                  <a:txBody>
                    <a:bodyPr/>
                    <a:lstStyle/>
                    <a:p>
                      <a:r>
                        <a:rPr sz="1650" b="0">
                          <a:solidFill>
                            <a:srgbClr val="000048"/>
                          </a:solidFill>
                        </a:rPr>
                        <a:t>Platform handover</a:t>
                      </a:r>
                    </a:p>
                  </a:txBody>
                  <a:tcPr marL="95250" marR="95250" marT="9525" marB="9525" anchor="ctr">
                    <a:solidFill>
                      <a:srgbClr val="F5F5F2"/>
                    </a:solidFill>
                  </a:tcPr>
                </a:tc>
                <a:tc>
                  <a:txBody>
                    <a:bodyPr/>
                    <a:lstStyle/>
                    <a:p>
                      <a:r>
                        <a:rPr sz="1650" b="0">
                          <a:solidFill>
                            <a:srgbClr val="000048"/>
                          </a:solidFill>
                        </a:rPr>
                        <a:t>A/R</a:t>
                      </a:r>
                    </a:p>
                  </a:txBody>
                  <a:tcPr marL="95250" marR="95250" marT="9525" marB="9525" anchor="ctr">
                    <a:solidFill>
                      <a:srgbClr val="F5F5F2"/>
                    </a:solidFill>
                  </a:tcPr>
                </a:tc>
                <a:tc>
                  <a:txBody>
                    <a:bodyPr/>
                    <a:lstStyle/>
                    <a:p>
                      <a:r>
                        <a:rPr sz="1650" b="0">
                          <a:solidFill>
                            <a:srgbClr val="000048"/>
                          </a:solidFill>
                        </a:rPr>
                        <a:t>R</a:t>
                      </a:r>
                    </a:p>
                  </a:txBody>
                  <a:tcPr marL="95250" marR="95250" marT="9525" marB="9525" anchor="ctr">
                    <a:solidFill>
                      <a:srgbClr val="F5F5F2"/>
                    </a:solidFill>
                  </a:tcPr>
                </a:tc>
                <a:tc>
                  <a:txBody>
                    <a:bodyPr/>
                    <a:lstStyle/>
                    <a:p>
                      <a:r>
                        <a:rPr sz="1650" b="0">
                          <a:solidFill>
                            <a:srgbClr val="000048"/>
                          </a:solidFill>
                        </a:rPr>
                        <a:t>R</a:t>
                      </a:r>
                    </a:p>
                  </a:txBody>
                  <a:tcPr marL="95250" marR="95250" marT="9525" marB="9525" anchor="ctr">
                    <a:solidFill>
                      <a:srgbClr val="F5F5F2"/>
                    </a:solidFill>
                  </a:tcPr>
                </a:tc>
                <a:tc>
                  <a:txBody>
                    <a:bodyPr/>
                    <a:lstStyle/>
                    <a:p>
                      <a:r>
                        <a:rPr sz="1650" b="0">
                          <a:solidFill>
                            <a:srgbClr val="000048"/>
                          </a:solidFill>
                        </a:rPr>
                        <a:t>C</a:t>
                      </a:r>
                    </a:p>
                  </a:txBody>
                  <a:tcPr marL="95250" marR="95250" marT="9525" marB="9525" anchor="ctr">
                    <a:solidFill>
                      <a:srgbClr val="F5F5F2"/>
                    </a:solidFill>
                  </a:tcPr>
                </a:tc>
                <a:tc>
                  <a:txBody>
                    <a:bodyPr/>
                    <a:lstStyle/>
                    <a:p>
                      <a:r>
                        <a:rPr sz="1650" b="0">
                          <a:solidFill>
                            <a:srgbClr val="000048"/>
                          </a:solidFill>
                        </a:rPr>
                        <a:t>R</a:t>
                      </a:r>
                    </a:p>
                  </a:txBody>
                  <a:tcPr marL="95250" marR="95250" marT="9525" marB="9525" anchor="ctr">
                    <a:solidFill>
                      <a:srgbClr val="F5F5F2"/>
                    </a:solidFill>
                  </a:tcPr>
                </a:tc>
                <a:tc>
                  <a:txBody>
                    <a:bodyPr/>
                    <a:lstStyle/>
                    <a:p>
                      <a:r>
                        <a:rPr sz="1650" b="0">
                          <a:solidFill>
                            <a:srgbClr val="000048"/>
                          </a:solidFill>
                        </a:rPr>
                        <a:t>R</a:t>
                      </a:r>
                    </a:p>
                  </a:txBody>
                  <a:tcPr marL="95250" marR="95250" marT="9525" marB="9525" anchor="ctr">
                    <a:solidFill>
                      <a:srgbClr val="F5F5F2"/>
                    </a:solidFill>
                  </a:tcPr>
                </a:tc>
              </a:tr>
            </a:tbl>
          </a:graphicData>
        </a:graphic>
      </p:graphicFrame>
      <p:sp>
        <p:nvSpPr>
          <p:cNvPr id="5" name="content">
            <a:extLst xmlns:a="http://schemas.openxmlformats.org/drawingml/2006/main">
              <a:ext uri="{FF2B5EF4-FFF2-40B4-BE49-F238E27FC236}">
                <a16:creationId xmlns:a16="http://schemas.microsoft.com/office/drawing/2014/main" id="{87AA64F4-7F4D-43D8-B387-B29EFD7A2312}"/>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A/R accountable/responsible, C consulted, I informed. INF Infra, SEC Security, DEV DevOps, DAT Data, ENG Data Engineering.</a:t>
            </a:r>
          </a:p>
        </p:txBody>
      </p:sp>
      <p:sp>
        <p:nvSpPr>
          <p:cNvPr id="6" name="content">
            <a:extLst xmlns:a="http://schemas.openxmlformats.org/drawingml/2006/main">
              <a:ext uri="{FF2B5EF4-FFF2-40B4-BE49-F238E27FC236}">
                <a16:creationId xmlns:a16="http://schemas.microsoft.com/office/drawing/2014/main" id="{15AD56A5-9C98-4F3D-AF18-5C2589170398}"/>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7" name="content">
            <a:extLst xmlns:a="http://schemas.openxmlformats.org/drawingml/2006/main">
              <a:ext uri="{FF2B5EF4-FFF2-40B4-BE49-F238E27FC236}">
                <a16:creationId xmlns:a16="http://schemas.microsoft.com/office/drawing/2014/main" id="{E8EC2714-95BC-4F20-987A-104715DFC24C}"/>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23</a:t>
            </a:r>
          </a:p>
        </p:txBody>
      </p:sp>
    </p:spTree>
    <p:extLst>
      <p:ext uri="{BB962C8B-B14F-4D97-AF65-F5344CB8AC3E}">
        <p14:creationId xmlns:p14="http://schemas.microsoft.com/office/powerpoint/2010/main" val="20302683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971B05C7-AAA8-496A-8B75-129AA3674A10}"/>
              </a:ext>
            </a:extLst>
          </p:cNvPr>
          <p:cNvPicPr>
            <a:picLocks xmlns:a="http://schemas.openxmlformats.org/drawingml/2006/main" noChangeAspect="1"/>
          </p:cNvPicPr>
          <p:nvPr/>
        </p:nvPicPr>
        <p:blipFill>
          <a:blip xmlns:r="http://schemas.openxmlformats.org/officeDocument/2006/relationships" xmlns:a="http://schemas.openxmlformats.org/drawingml/2006/main" r:embed="Rf7c4a51ce136428d"/>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C8ACD2C2-286B-4A72-8637-C5C8685FD7CD}"/>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Reference appendix / Solutioning proposal</a:t>
            </a:r>
          </a:p>
        </p:txBody>
      </p:sp>
      <p:sp>
        <p:nvSpPr>
          <p:cNvPr id="3" name="heading">
            <a:extLst xmlns:a="http://schemas.openxmlformats.org/drawingml/2006/main">
              <a:ext uri="{FF2B5EF4-FFF2-40B4-BE49-F238E27FC236}">
                <a16:creationId xmlns:a16="http://schemas.microsoft.com/office/drawing/2014/main" id="{86715FE8-4393-41C4-9FFD-31B874FC2607}"/>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Appendix / Microsoft landing zone reference</a:t>
            </a:r>
          </a:p>
        </p:txBody>
      </p:sp>
      <p:pic>
        <p:nvPicPr>
          <p:cNvPr id="4" name="">
            <a:extLst xmlns:a="http://schemas.openxmlformats.org/drawingml/2006/main">
              <a:ext uri="{FF2B5EF4-FFF2-40B4-BE49-F238E27FC236}">
                <a16:creationId xmlns:a16="http://schemas.microsoft.com/office/drawing/2014/main" id="{9E39DF24-B881-4159-BEE4-1B6BF62B9066}"/>
              </a:ext>
            </a:extLst>
          </p:cNvPr>
          <p:cNvPicPr>
            <a:picLocks xmlns:a="http://schemas.openxmlformats.org/drawingml/2006/main" noChangeAspect="1"/>
          </p:cNvPicPr>
          <p:nvPr/>
        </p:nvPicPr>
        <p:blipFill>
          <a:blip xmlns:r="http://schemas.openxmlformats.org/officeDocument/2006/relationships" xmlns:a="http://schemas.openxmlformats.org/drawingml/2006/main" r:embed="R37d2f67344644bd2"/>
          <a:stretch xmlns:a="http://schemas.openxmlformats.org/drawingml/2006/main"/>
        </p:blipFill>
        <p:spPr>
          <a:xfrm xmlns:a="http://schemas.openxmlformats.org/drawingml/2006/main">
            <a:off x="2170116" y="1857375"/>
            <a:ext cx="4651369" cy="4114800"/>
          </a:xfrm>
          <a:prstGeom xmlns:a="http://schemas.openxmlformats.org/drawingml/2006/main" prst="rect">
            <a:avLst/>
          </a:prstGeom>
        </p:spPr>
      </p:pic>
      <p:sp>
        <p:nvSpPr>
          <p:cNvPr id="5" name="content">
            <a:extLst xmlns:a="http://schemas.openxmlformats.org/drawingml/2006/main">
              <a:ext uri="{FF2B5EF4-FFF2-40B4-BE49-F238E27FC236}">
                <a16:creationId xmlns:a16="http://schemas.microsoft.com/office/drawing/2014/main" id="{E5795388-F807-4DE2-8F1A-46C20566F19C}"/>
              </a:ext>
            </a:extLst>
          </p:cNvPr>
          <p:cNvSpPr>
            <a:spLocks xmlns:a="http://schemas.openxmlformats.org/drawingml/2006/main" noGrp="1"/>
          </p:cNvSpPr>
          <p:nvPr/>
        </p:nvSpPr>
        <p:spPr>
          <a:xfrm xmlns:a="http://schemas.openxmlformats.org/drawingml/2006/main">
            <a:off x="8715375" y="1905000"/>
            <a:ext cx="2790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F78C4"/>
                </a:solidFill>
              </a:defRPr>
            </a:defPPr>
          </a:lstStyle>
          <a:p xmlns:a="http://schemas.openxmlformats.org/drawingml/2006/main">
            <a:pPr>
              <a:defRPr sz="1875" b="1">
                <a:solidFill>
                  <a:srgbClr val="2F78C4"/>
                </a:solidFill>
              </a:defRPr>
            </a:pPr>
            <a:r>
              <a:rPr sz="1875" b="1">
                <a:solidFill>
                  <a:srgbClr val="2F78C4"/>
                </a:solidFill>
              </a:rPr>
              <a:t>Existing platform</a:t>
            </a:r>
          </a:p>
        </p:txBody>
      </p:sp>
      <p:sp>
        <p:nvSpPr>
          <p:cNvPr id="6" name="content">
            <a:extLst xmlns:a="http://schemas.openxmlformats.org/drawingml/2006/main">
              <a:ext uri="{FF2B5EF4-FFF2-40B4-BE49-F238E27FC236}">
                <a16:creationId xmlns:a16="http://schemas.microsoft.com/office/drawing/2014/main" id="{4B311DD3-E490-4A66-BABF-B2973639970C}"/>
              </a:ext>
            </a:extLst>
          </p:cNvPr>
          <p:cNvSpPr>
            <a:spLocks xmlns:a="http://schemas.openxmlformats.org/drawingml/2006/main" noGrp="1"/>
          </p:cNvSpPr>
          <p:nvPr/>
        </p:nvSpPr>
        <p:spPr>
          <a:xfrm xmlns:a="http://schemas.openxmlformats.org/drawingml/2006/main">
            <a:off x="8715375" y="2295525"/>
            <a:ext cx="27908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000048"/>
                </a:solidFill>
              </a:defRPr>
            </a:defPPr>
          </a:lstStyle>
          <a:p xmlns:a="http://schemas.openxmlformats.org/drawingml/2006/main">
            <a:pPr>
              <a:defRPr sz="1725" b="0">
                <a:solidFill>
                  <a:srgbClr val="000048"/>
                </a:solidFill>
              </a:defRPr>
            </a:pPr>
            <a:r>
              <a:rPr sz="1725" b="0">
                <a:solidFill>
                  <a:srgbClr val="000048"/>
                </a:solidFill>
              </a:rPr>
              <a:t>Reuse approved connectivity, policy and identity foundations.</a:t>
            </a:r>
          </a:p>
        </p:txBody>
      </p:sp>
      <p:sp>
        <p:nvSpPr>
          <p:cNvPr id="7" name="content">
            <a:extLst xmlns:a="http://schemas.openxmlformats.org/drawingml/2006/main">
              <a:ext uri="{FF2B5EF4-FFF2-40B4-BE49-F238E27FC236}">
                <a16:creationId xmlns:a16="http://schemas.microsoft.com/office/drawing/2014/main" id="{193C13F8-6C0E-42AD-8C2C-CCC55B3E55DB}"/>
              </a:ext>
            </a:extLst>
          </p:cNvPr>
          <p:cNvSpPr>
            <a:spLocks xmlns:a="http://schemas.openxmlformats.org/drawingml/2006/main" noGrp="1"/>
          </p:cNvSpPr>
          <p:nvPr/>
        </p:nvSpPr>
        <p:spPr>
          <a:xfrm xmlns:a="http://schemas.openxmlformats.org/drawingml/2006/main">
            <a:off x="8715375" y="3248025"/>
            <a:ext cx="2790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F78C4"/>
                </a:solidFill>
              </a:defRPr>
            </a:defPPr>
          </a:lstStyle>
          <a:p xmlns:a="http://schemas.openxmlformats.org/drawingml/2006/main">
            <a:pPr>
              <a:defRPr sz="1875" b="1">
                <a:solidFill>
                  <a:srgbClr val="2F78C4"/>
                </a:solidFill>
              </a:defRPr>
            </a:pPr>
            <a:r>
              <a:rPr sz="1875" b="1">
                <a:solidFill>
                  <a:srgbClr val="2F78C4"/>
                </a:solidFill>
              </a:rPr>
              <a:t>Environments</a:t>
            </a:r>
          </a:p>
        </p:txBody>
      </p:sp>
      <p:sp>
        <p:nvSpPr>
          <p:cNvPr id="8" name="content">
            <a:extLst xmlns:a="http://schemas.openxmlformats.org/drawingml/2006/main">
              <a:ext uri="{FF2B5EF4-FFF2-40B4-BE49-F238E27FC236}">
                <a16:creationId xmlns:a16="http://schemas.microsoft.com/office/drawing/2014/main" id="{41264DF7-97AB-4975-89B1-6328F8969B17}"/>
              </a:ext>
            </a:extLst>
          </p:cNvPr>
          <p:cNvSpPr>
            <a:spLocks xmlns:a="http://schemas.openxmlformats.org/drawingml/2006/main" noGrp="1"/>
          </p:cNvSpPr>
          <p:nvPr/>
        </p:nvSpPr>
        <p:spPr>
          <a:xfrm xmlns:a="http://schemas.openxmlformats.org/drawingml/2006/main">
            <a:off x="8715375" y="3638550"/>
            <a:ext cx="27908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000048"/>
                </a:solidFill>
              </a:defRPr>
            </a:defPPr>
          </a:lstStyle>
          <a:p xmlns:a="http://schemas.openxmlformats.org/drawingml/2006/main">
            <a:pPr>
              <a:defRPr sz="1725" b="0">
                <a:solidFill>
                  <a:srgbClr val="000048"/>
                </a:solidFill>
              </a:defRPr>
            </a:pPr>
            <a:r>
              <a:rPr sz="1725" b="0">
                <a:solidFill>
                  <a:srgbClr val="000048"/>
                </a:solidFill>
              </a:rPr>
              <a:t>Define subscriptions; separate development from production.</a:t>
            </a:r>
          </a:p>
        </p:txBody>
      </p:sp>
      <p:sp>
        <p:nvSpPr>
          <p:cNvPr id="9" name="content">
            <a:extLst xmlns:a="http://schemas.openxmlformats.org/drawingml/2006/main">
              <a:ext uri="{FF2B5EF4-FFF2-40B4-BE49-F238E27FC236}">
                <a16:creationId xmlns:a16="http://schemas.microsoft.com/office/drawing/2014/main" id="{ACEAAAD8-A9D7-4D2F-B723-458289D33A62}"/>
              </a:ext>
            </a:extLst>
          </p:cNvPr>
          <p:cNvSpPr>
            <a:spLocks xmlns:a="http://schemas.openxmlformats.org/drawingml/2006/main" noGrp="1"/>
          </p:cNvSpPr>
          <p:nvPr/>
        </p:nvSpPr>
        <p:spPr>
          <a:xfrm xmlns:a="http://schemas.openxmlformats.org/drawingml/2006/main">
            <a:off x="8715375" y="4591050"/>
            <a:ext cx="2790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F78C4"/>
                </a:solidFill>
              </a:defRPr>
            </a:defPPr>
          </a:lstStyle>
          <a:p xmlns:a="http://schemas.openxmlformats.org/drawingml/2006/main">
            <a:pPr>
              <a:defRPr sz="1875" b="1">
                <a:solidFill>
                  <a:srgbClr val="2F78C4"/>
                </a:solidFill>
              </a:defRPr>
            </a:pPr>
            <a:r>
              <a:rPr sz="1875" b="1">
                <a:solidFill>
                  <a:srgbClr val="2F78C4"/>
                </a:solidFill>
              </a:rPr>
              <a:t>Quote boundary</a:t>
            </a:r>
          </a:p>
        </p:txBody>
      </p:sp>
      <p:sp>
        <p:nvSpPr>
          <p:cNvPr id="10" name="content">
            <a:extLst xmlns:a="http://schemas.openxmlformats.org/drawingml/2006/main">
              <a:ext uri="{FF2B5EF4-FFF2-40B4-BE49-F238E27FC236}">
                <a16:creationId xmlns:a16="http://schemas.microsoft.com/office/drawing/2014/main" id="{C1960F8E-801E-44A1-A1C0-A537981CB688}"/>
              </a:ext>
            </a:extLst>
          </p:cNvPr>
          <p:cNvSpPr>
            <a:spLocks xmlns:a="http://schemas.openxmlformats.org/drawingml/2006/main" noGrp="1"/>
          </p:cNvSpPr>
          <p:nvPr/>
        </p:nvSpPr>
        <p:spPr>
          <a:xfrm xmlns:a="http://schemas.openxmlformats.org/drawingml/2006/main">
            <a:off x="8715375" y="4981575"/>
            <a:ext cx="27908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000048"/>
                </a:solidFill>
              </a:defRPr>
            </a:defPPr>
          </a:lstStyle>
          <a:p xmlns:a="http://schemas.openxmlformats.org/drawingml/2006/main">
            <a:pPr>
              <a:defRPr sz="1725" b="0">
                <a:solidFill>
                  <a:srgbClr val="000048"/>
                </a:solidFill>
              </a:defRPr>
            </a:pPr>
            <a:r>
              <a:rPr sz="1725" b="0">
                <a:solidFill>
                  <a:srgbClr val="000048"/>
                </a:solidFill>
              </a:rPr>
              <a:t>New platform or WAN work requires a separate package.</a:t>
            </a:r>
          </a:p>
        </p:txBody>
      </p:sp>
      <p:sp>
        <p:nvSpPr>
          <p:cNvPr id="11" name="content">
            <a:extLst xmlns:a="http://schemas.openxmlformats.org/drawingml/2006/main">
              <a:ext uri="{FF2B5EF4-FFF2-40B4-BE49-F238E27FC236}">
                <a16:creationId xmlns:a16="http://schemas.microsoft.com/office/drawing/2014/main" id="{A1DF4A2A-D1BC-44D8-B634-2B595AEE4887}"/>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Microsoft Agent Service landing zone reference. The selected custom RAG runtime differs from this reference.</a:t>
            </a:r>
          </a:p>
        </p:txBody>
      </p:sp>
      <p:sp>
        <p:nvSpPr>
          <p:cNvPr id="12" name="content">
            <a:extLst xmlns:a="http://schemas.openxmlformats.org/drawingml/2006/main">
              <a:ext uri="{FF2B5EF4-FFF2-40B4-BE49-F238E27FC236}">
                <a16:creationId xmlns:a16="http://schemas.microsoft.com/office/drawing/2014/main" id="{7D828F55-879A-4D55-9587-08F7C81DEFC7}"/>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3" name="content">
            <a:extLst xmlns:a="http://schemas.openxmlformats.org/drawingml/2006/main">
              <a:ext uri="{FF2B5EF4-FFF2-40B4-BE49-F238E27FC236}">
                <a16:creationId xmlns:a16="http://schemas.microsoft.com/office/drawing/2014/main" id="{B714DB55-F1FB-4B0D-B76B-886DEB07E040}"/>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24</a:t>
            </a:r>
          </a:p>
        </p:txBody>
      </p:sp>
    </p:spTree>
    <p:extLst>
      <p:ext uri="{BB962C8B-B14F-4D97-AF65-F5344CB8AC3E}">
        <p14:creationId xmlns:p14="http://schemas.microsoft.com/office/powerpoint/2010/main" val="17141965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ACEB52DA-D0A8-43B3-BBEC-0C3C57C41D7E}"/>
              </a:ext>
            </a:extLst>
          </p:cNvPr>
          <p:cNvPicPr>
            <a:picLocks xmlns:a="http://schemas.openxmlformats.org/drawingml/2006/main" noChangeAspect="1"/>
          </p:cNvPicPr>
          <p:nvPr/>
        </p:nvPicPr>
        <p:blipFill>
          <a:blip xmlns:r="http://schemas.openxmlformats.org/officeDocument/2006/relationships" xmlns:a="http://schemas.openxmlformats.org/drawingml/2006/main" r:embed="R27c93011748b4e4b"/>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630CCAA1-A5A1-436B-8716-5A6EE7F9946A}"/>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Reference appendix / Solutioning proposal</a:t>
            </a:r>
          </a:p>
        </p:txBody>
      </p:sp>
      <p:sp>
        <p:nvSpPr>
          <p:cNvPr id="3" name="heading">
            <a:extLst xmlns:a="http://schemas.openxmlformats.org/drawingml/2006/main">
              <a:ext uri="{FF2B5EF4-FFF2-40B4-BE49-F238E27FC236}">
                <a16:creationId xmlns:a16="http://schemas.microsoft.com/office/drawing/2014/main" id="{E7921D90-8534-4D9D-9B93-DF2E8553CD0B}"/>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Appendix / Microsoft gateway reference</a:t>
            </a:r>
          </a:p>
        </p:txBody>
      </p:sp>
      <p:pic>
        <p:nvPicPr>
          <p:cNvPr id="4" name="">
            <a:extLst xmlns:a="http://schemas.openxmlformats.org/drawingml/2006/main">
              <a:ext uri="{FF2B5EF4-FFF2-40B4-BE49-F238E27FC236}">
                <a16:creationId xmlns:a16="http://schemas.microsoft.com/office/drawing/2014/main" id="{014AF940-7AA7-4C1F-8804-33C0AC18DE14}"/>
              </a:ext>
            </a:extLst>
          </p:cNvPr>
          <p:cNvPicPr>
            <a:picLocks xmlns:a="http://schemas.openxmlformats.org/drawingml/2006/main" noChangeAspect="1"/>
          </p:cNvPicPr>
          <p:nvPr/>
        </p:nvPicPr>
        <p:blipFill>
          <a:blip xmlns:r="http://schemas.openxmlformats.org/officeDocument/2006/relationships" xmlns:a="http://schemas.openxmlformats.org/drawingml/2006/main" r:embed="Rcdc20fa9a1ad4fa3"/>
          <a:stretch xmlns:a="http://schemas.openxmlformats.org/drawingml/2006/main"/>
        </p:blipFill>
        <p:spPr>
          <a:xfrm xmlns:a="http://schemas.openxmlformats.org/drawingml/2006/main">
            <a:off x="1092889" y="1857375"/>
            <a:ext cx="6805822" cy="4114800"/>
          </a:xfrm>
          <a:prstGeom xmlns:a="http://schemas.openxmlformats.org/drawingml/2006/main" prst="rect">
            <a:avLst/>
          </a:prstGeom>
        </p:spPr>
      </p:pic>
      <p:sp>
        <p:nvSpPr>
          <p:cNvPr id="5" name="content">
            <a:extLst xmlns:a="http://schemas.openxmlformats.org/drawingml/2006/main">
              <a:ext uri="{FF2B5EF4-FFF2-40B4-BE49-F238E27FC236}">
                <a16:creationId xmlns:a16="http://schemas.microsoft.com/office/drawing/2014/main" id="{0A7EA363-A8CA-49F8-A6AB-4B57DEE8C139}"/>
              </a:ext>
            </a:extLst>
          </p:cNvPr>
          <p:cNvSpPr>
            <a:spLocks xmlns:a="http://schemas.openxmlformats.org/drawingml/2006/main" noGrp="1"/>
          </p:cNvSpPr>
          <p:nvPr/>
        </p:nvSpPr>
        <p:spPr>
          <a:xfrm xmlns:a="http://schemas.openxmlformats.org/drawingml/2006/main">
            <a:off x="8715375" y="1905000"/>
            <a:ext cx="2790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F78C4"/>
                </a:solidFill>
              </a:defRPr>
            </a:defPPr>
          </a:lstStyle>
          <a:p xmlns:a="http://schemas.openxmlformats.org/drawingml/2006/main">
            <a:pPr>
              <a:defRPr sz="1875" b="1">
                <a:solidFill>
                  <a:srgbClr val="2F78C4"/>
                </a:solidFill>
              </a:defRPr>
            </a:pPr>
            <a:r>
              <a:rPr sz="1875" b="1">
                <a:solidFill>
                  <a:srgbClr val="2F78C4"/>
                </a:solidFill>
              </a:rPr>
              <a:t>Shared governance</a:t>
            </a:r>
          </a:p>
        </p:txBody>
      </p:sp>
      <p:sp>
        <p:nvSpPr>
          <p:cNvPr id="6" name="content">
            <a:extLst xmlns:a="http://schemas.openxmlformats.org/drawingml/2006/main">
              <a:ext uri="{FF2B5EF4-FFF2-40B4-BE49-F238E27FC236}">
                <a16:creationId xmlns:a16="http://schemas.microsoft.com/office/drawing/2014/main" id="{0817E582-5BCD-46ED-B40C-D70752ED250C}"/>
              </a:ext>
            </a:extLst>
          </p:cNvPr>
          <p:cNvSpPr>
            <a:spLocks xmlns:a="http://schemas.openxmlformats.org/drawingml/2006/main" noGrp="1"/>
          </p:cNvSpPr>
          <p:nvPr/>
        </p:nvSpPr>
        <p:spPr>
          <a:xfrm xmlns:a="http://schemas.openxmlformats.org/drawingml/2006/main">
            <a:off x="8715375" y="2295525"/>
            <a:ext cx="27908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000048"/>
                </a:solidFill>
              </a:defRPr>
            </a:defPPr>
          </a:lstStyle>
          <a:p xmlns:a="http://schemas.openxmlformats.org/drawingml/2006/main">
            <a:pPr>
              <a:defRPr sz="1725" b="0">
                <a:solidFill>
                  <a:srgbClr val="000048"/>
                </a:solidFill>
              </a:defRPr>
            </a:pPr>
            <a:r>
              <a:rPr sz="1725" b="0">
                <a:solidFill>
                  <a:srgbClr val="000048"/>
                </a:solidFill>
              </a:rPr>
              <a:t>Use APIM for shared access, usage controls and routing.</a:t>
            </a:r>
          </a:p>
        </p:txBody>
      </p:sp>
      <p:sp>
        <p:nvSpPr>
          <p:cNvPr id="7" name="content">
            <a:extLst xmlns:a="http://schemas.openxmlformats.org/drawingml/2006/main">
              <a:ext uri="{FF2B5EF4-FFF2-40B4-BE49-F238E27FC236}">
                <a16:creationId xmlns:a16="http://schemas.microsoft.com/office/drawing/2014/main" id="{DE9D5367-55DD-4976-8AE0-96F99C394753}"/>
              </a:ext>
            </a:extLst>
          </p:cNvPr>
          <p:cNvSpPr>
            <a:spLocks xmlns:a="http://schemas.openxmlformats.org/drawingml/2006/main" noGrp="1"/>
          </p:cNvSpPr>
          <p:nvPr/>
        </p:nvSpPr>
        <p:spPr>
          <a:xfrm xmlns:a="http://schemas.openxmlformats.org/drawingml/2006/main">
            <a:off x="8715375" y="3248025"/>
            <a:ext cx="2790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F78C4"/>
                </a:solidFill>
              </a:defRPr>
            </a:defPPr>
          </a:lstStyle>
          <a:p xmlns:a="http://schemas.openxmlformats.org/drawingml/2006/main">
            <a:pPr>
              <a:defRPr sz="1875" b="1">
                <a:solidFill>
                  <a:srgbClr val="2F78C4"/>
                </a:solidFill>
              </a:defRPr>
            </a:pPr>
            <a:r>
              <a:rPr sz="1875" b="1">
                <a:solidFill>
                  <a:srgbClr val="2F78C4"/>
                </a:solidFill>
              </a:rPr>
              <a:t>Tier decision</a:t>
            </a:r>
          </a:p>
        </p:txBody>
      </p:sp>
      <p:sp>
        <p:nvSpPr>
          <p:cNvPr id="8" name="content">
            <a:extLst xmlns:a="http://schemas.openxmlformats.org/drawingml/2006/main">
              <a:ext uri="{FF2B5EF4-FFF2-40B4-BE49-F238E27FC236}">
                <a16:creationId xmlns:a16="http://schemas.microsoft.com/office/drawing/2014/main" id="{A79FD597-4E17-4980-90B2-6FC2C9EF53C1}"/>
              </a:ext>
            </a:extLst>
          </p:cNvPr>
          <p:cNvSpPr>
            <a:spLocks xmlns:a="http://schemas.openxmlformats.org/drawingml/2006/main" noGrp="1"/>
          </p:cNvSpPr>
          <p:nvPr/>
        </p:nvSpPr>
        <p:spPr>
          <a:xfrm xmlns:a="http://schemas.openxmlformats.org/drawingml/2006/main">
            <a:off x="8715375" y="3638550"/>
            <a:ext cx="27908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000048"/>
                </a:solidFill>
              </a:defRPr>
            </a:defPPr>
          </a:lstStyle>
          <a:p xmlns:a="http://schemas.openxmlformats.org/drawingml/2006/main">
            <a:pPr>
              <a:defRPr sz="1725" b="0">
                <a:solidFill>
                  <a:srgbClr val="000048"/>
                </a:solidFill>
              </a:defRPr>
            </a:pPr>
            <a:r>
              <a:rPr sz="1725" b="0">
                <a:solidFill>
                  <a:srgbClr val="000048"/>
                </a:solidFill>
              </a:rPr>
              <a:t>Validate policy and networking in the chosen tier.</a:t>
            </a:r>
          </a:p>
        </p:txBody>
      </p:sp>
      <p:sp>
        <p:nvSpPr>
          <p:cNvPr id="9" name="content">
            <a:extLst xmlns:a="http://schemas.openxmlformats.org/drawingml/2006/main">
              <a:ext uri="{FF2B5EF4-FFF2-40B4-BE49-F238E27FC236}">
                <a16:creationId xmlns:a16="http://schemas.microsoft.com/office/drawing/2014/main" id="{DCAE6EE7-5921-457B-AA4C-18226FCB6606}"/>
              </a:ext>
            </a:extLst>
          </p:cNvPr>
          <p:cNvSpPr>
            <a:spLocks xmlns:a="http://schemas.openxmlformats.org/drawingml/2006/main" noGrp="1"/>
          </p:cNvSpPr>
          <p:nvPr/>
        </p:nvSpPr>
        <p:spPr>
          <a:xfrm xmlns:a="http://schemas.openxmlformats.org/drawingml/2006/main">
            <a:off x="8715375" y="4591050"/>
            <a:ext cx="2790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F78C4"/>
                </a:solidFill>
              </a:defRPr>
            </a:defPPr>
          </a:lstStyle>
          <a:p xmlns:a="http://schemas.openxmlformats.org/drawingml/2006/main">
            <a:pPr>
              <a:defRPr sz="1875" b="1">
                <a:solidFill>
                  <a:srgbClr val="2F78C4"/>
                </a:solidFill>
              </a:defRPr>
            </a:pPr>
            <a:r>
              <a:rPr sz="1875" b="1">
                <a:solidFill>
                  <a:srgbClr val="2F78C4"/>
                </a:solidFill>
              </a:rPr>
              <a:t>Scope decision</a:t>
            </a:r>
          </a:p>
        </p:txBody>
      </p:sp>
      <p:sp>
        <p:nvSpPr>
          <p:cNvPr id="10" name="content">
            <a:extLst xmlns:a="http://schemas.openxmlformats.org/drawingml/2006/main">
              <a:ext uri="{FF2B5EF4-FFF2-40B4-BE49-F238E27FC236}">
                <a16:creationId xmlns:a16="http://schemas.microsoft.com/office/drawing/2014/main" id="{820C3A27-11F6-4766-A2A2-0272DD9A7C84}"/>
              </a:ext>
            </a:extLst>
          </p:cNvPr>
          <p:cNvSpPr>
            <a:spLocks xmlns:a="http://schemas.openxmlformats.org/drawingml/2006/main" noGrp="1"/>
          </p:cNvSpPr>
          <p:nvPr/>
        </p:nvSpPr>
        <p:spPr>
          <a:xfrm xmlns:a="http://schemas.openxmlformats.org/drawingml/2006/main">
            <a:off x="8715375" y="4981575"/>
            <a:ext cx="27908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000048"/>
                </a:solidFill>
              </a:defRPr>
            </a:defPPr>
          </a:lstStyle>
          <a:p xmlns:a="http://schemas.openxmlformats.org/drawingml/2006/main">
            <a:pPr>
              <a:defRPr sz="1725" b="0">
                <a:solidFill>
                  <a:srgbClr val="000048"/>
                </a:solidFill>
              </a:defRPr>
            </a:pPr>
            <a:r>
              <a:rPr sz="1725" b="0">
                <a:solidFill>
                  <a:srgbClr val="000048"/>
                </a:solidFill>
              </a:rPr>
              <a:t>Gateway cost and support enter a separate approved work package.</a:t>
            </a:r>
          </a:p>
        </p:txBody>
      </p:sp>
      <p:sp>
        <p:nvSpPr>
          <p:cNvPr id="11" name="content">
            <a:extLst xmlns:a="http://schemas.openxmlformats.org/drawingml/2006/main">
              <a:ext uri="{FF2B5EF4-FFF2-40B4-BE49-F238E27FC236}">
                <a16:creationId xmlns:a16="http://schemas.microsoft.com/office/drawing/2014/main" id="{2BCAD215-D35C-4C0E-86AE-2961F5494FCD}"/>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Microsoft reference only. Optional capabilities require a separate design, estimate and acceptance.</a:t>
            </a:r>
          </a:p>
        </p:txBody>
      </p:sp>
      <p:sp>
        <p:nvSpPr>
          <p:cNvPr id="12" name="content">
            <a:extLst xmlns:a="http://schemas.openxmlformats.org/drawingml/2006/main">
              <a:ext uri="{FF2B5EF4-FFF2-40B4-BE49-F238E27FC236}">
                <a16:creationId xmlns:a16="http://schemas.microsoft.com/office/drawing/2014/main" id="{96861340-CD1D-440B-B20A-5C985A3B859C}"/>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3" name="content">
            <a:extLst xmlns:a="http://schemas.openxmlformats.org/drawingml/2006/main">
              <a:ext uri="{FF2B5EF4-FFF2-40B4-BE49-F238E27FC236}">
                <a16:creationId xmlns:a16="http://schemas.microsoft.com/office/drawing/2014/main" id="{053E9993-1902-4BDC-809B-773595CABF64}"/>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25</a:t>
            </a:r>
          </a:p>
        </p:txBody>
      </p:sp>
    </p:spTree>
    <p:extLst>
      <p:ext uri="{BB962C8B-B14F-4D97-AF65-F5344CB8AC3E}">
        <p14:creationId xmlns:p14="http://schemas.microsoft.com/office/powerpoint/2010/main" val="55528199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CF8360F2-4240-4914-86E5-39DC867B7FA2}"/>
              </a:ext>
            </a:extLst>
          </p:cNvPr>
          <p:cNvPicPr>
            <a:picLocks xmlns:a="http://schemas.openxmlformats.org/drawingml/2006/main" noChangeAspect="1"/>
          </p:cNvPicPr>
          <p:nvPr/>
        </p:nvPicPr>
        <p:blipFill>
          <a:blip xmlns:r="http://schemas.openxmlformats.org/officeDocument/2006/relationships" xmlns:a="http://schemas.openxmlformats.org/drawingml/2006/main" r:embed="R6fdb71075e3f4ee9"/>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A2E44BEC-972A-442F-82ED-8FA44D5E5B22}"/>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Reference appendix / Solutioning proposal</a:t>
            </a:r>
          </a:p>
        </p:txBody>
      </p:sp>
      <p:sp>
        <p:nvSpPr>
          <p:cNvPr id="3" name="heading">
            <a:extLst xmlns:a="http://schemas.openxmlformats.org/drawingml/2006/main">
              <a:ext uri="{FF2B5EF4-FFF2-40B4-BE49-F238E27FC236}">
                <a16:creationId xmlns:a16="http://schemas.microsoft.com/office/drawing/2014/main" id="{0E53EE4A-7176-422B-A796-44033FE6217C}"/>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Appendix / Microsoft standard RAG reference</a:t>
            </a:r>
          </a:p>
        </p:txBody>
      </p:sp>
      <p:pic>
        <p:nvPicPr>
          <p:cNvPr id="4" name="">
            <a:extLst xmlns:a="http://schemas.openxmlformats.org/drawingml/2006/main">
              <a:ext uri="{FF2B5EF4-FFF2-40B4-BE49-F238E27FC236}">
                <a16:creationId xmlns:a16="http://schemas.microsoft.com/office/drawing/2014/main" id="{A2686109-B534-46DB-BFFC-A6981E13D03B}"/>
              </a:ext>
            </a:extLst>
          </p:cNvPr>
          <p:cNvPicPr>
            <a:picLocks xmlns:a="http://schemas.openxmlformats.org/drawingml/2006/main" noChangeAspect="1"/>
          </p:cNvPicPr>
          <p:nvPr/>
        </p:nvPicPr>
        <p:blipFill>
          <a:blip xmlns:r="http://schemas.openxmlformats.org/officeDocument/2006/relationships" xmlns:a="http://schemas.openxmlformats.org/drawingml/2006/main" r:embed="R47a7f65c80214c5d"/>
          <a:stretch xmlns:a="http://schemas.openxmlformats.org/drawingml/2006/main"/>
        </p:blipFill>
        <p:spPr>
          <a:xfrm xmlns:a="http://schemas.openxmlformats.org/drawingml/2006/main">
            <a:off x="685800" y="2445204"/>
            <a:ext cx="7620000" cy="2939143"/>
          </a:xfrm>
          <a:prstGeom xmlns:a="http://schemas.openxmlformats.org/drawingml/2006/main" prst="rect">
            <a:avLst/>
          </a:prstGeom>
        </p:spPr>
      </p:pic>
      <p:sp>
        <p:nvSpPr>
          <p:cNvPr id="5" name="content">
            <a:extLst xmlns:a="http://schemas.openxmlformats.org/drawingml/2006/main">
              <a:ext uri="{FF2B5EF4-FFF2-40B4-BE49-F238E27FC236}">
                <a16:creationId xmlns:a16="http://schemas.microsoft.com/office/drawing/2014/main" id="{4F8B65E4-2BD9-43B1-B352-DEB3885A03AC}"/>
              </a:ext>
            </a:extLst>
          </p:cNvPr>
          <p:cNvSpPr>
            <a:spLocks xmlns:a="http://schemas.openxmlformats.org/drawingml/2006/main" noGrp="1"/>
          </p:cNvSpPr>
          <p:nvPr/>
        </p:nvSpPr>
        <p:spPr>
          <a:xfrm xmlns:a="http://schemas.openxmlformats.org/drawingml/2006/main">
            <a:off x="8715375" y="1905000"/>
            <a:ext cx="2790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F78C4"/>
                </a:solidFill>
              </a:defRPr>
            </a:defPPr>
          </a:lstStyle>
          <a:p xmlns:a="http://schemas.openxmlformats.org/drawingml/2006/main">
            <a:pPr>
              <a:defRPr sz="1875" b="1">
                <a:solidFill>
                  <a:srgbClr val="2F78C4"/>
                </a:solidFill>
              </a:defRPr>
            </a:pPr>
            <a:r>
              <a:rPr sz="1875" b="1">
                <a:solidFill>
                  <a:srgbClr val="2F78C4"/>
                </a:solidFill>
              </a:rPr>
              <a:t>Retrieval boundary</a:t>
            </a:r>
          </a:p>
        </p:txBody>
      </p:sp>
      <p:sp>
        <p:nvSpPr>
          <p:cNvPr id="6" name="content">
            <a:extLst xmlns:a="http://schemas.openxmlformats.org/drawingml/2006/main">
              <a:ext uri="{FF2B5EF4-FFF2-40B4-BE49-F238E27FC236}">
                <a16:creationId xmlns:a16="http://schemas.microsoft.com/office/drawing/2014/main" id="{1C8DA088-1D76-4D32-9FEF-A89D4FCC5C89}"/>
              </a:ext>
            </a:extLst>
          </p:cNvPr>
          <p:cNvSpPr>
            <a:spLocks xmlns:a="http://schemas.openxmlformats.org/drawingml/2006/main" noGrp="1"/>
          </p:cNvSpPr>
          <p:nvPr/>
        </p:nvSpPr>
        <p:spPr>
          <a:xfrm xmlns:a="http://schemas.openxmlformats.org/drawingml/2006/main">
            <a:off x="8715375" y="2295525"/>
            <a:ext cx="27908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000048"/>
                </a:solidFill>
              </a:defRPr>
            </a:defPPr>
          </a:lstStyle>
          <a:p xmlns:a="http://schemas.openxmlformats.org/drawingml/2006/main">
            <a:pPr>
              <a:defRPr sz="1725" b="0">
                <a:solidFill>
                  <a:srgbClr val="000048"/>
                </a:solidFill>
              </a:defRPr>
            </a:pPr>
            <a:r>
              <a:rPr sz="1725" b="0">
                <a:solidFill>
                  <a:srgbClr val="000048"/>
                </a:solidFill>
              </a:rPr>
              <a:t>Use one approved source with permitted content and citations.</a:t>
            </a:r>
          </a:p>
        </p:txBody>
      </p:sp>
      <p:sp>
        <p:nvSpPr>
          <p:cNvPr id="7" name="content">
            <a:extLst xmlns:a="http://schemas.openxmlformats.org/drawingml/2006/main">
              <a:ext uri="{FF2B5EF4-FFF2-40B4-BE49-F238E27FC236}">
                <a16:creationId xmlns:a16="http://schemas.microsoft.com/office/drawing/2014/main" id="{67B820B8-7E81-4FC3-8A95-09C60B2EABB2}"/>
              </a:ext>
            </a:extLst>
          </p:cNvPr>
          <p:cNvSpPr>
            <a:spLocks xmlns:a="http://schemas.openxmlformats.org/drawingml/2006/main" noGrp="1"/>
          </p:cNvSpPr>
          <p:nvPr/>
        </p:nvSpPr>
        <p:spPr>
          <a:xfrm xmlns:a="http://schemas.openxmlformats.org/drawingml/2006/main">
            <a:off x="8715375" y="3248025"/>
            <a:ext cx="2790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F78C4"/>
                </a:solidFill>
              </a:defRPr>
            </a:defPPr>
          </a:lstStyle>
          <a:p xmlns:a="http://schemas.openxmlformats.org/drawingml/2006/main">
            <a:pPr>
              <a:defRPr sz="1875" b="1">
                <a:solidFill>
                  <a:srgbClr val="2F78C4"/>
                </a:solidFill>
              </a:defRPr>
            </a:pPr>
            <a:r>
              <a:rPr sz="1875" b="1">
                <a:solidFill>
                  <a:srgbClr val="2F78C4"/>
                </a:solidFill>
              </a:rPr>
              <a:t>Quality evidence</a:t>
            </a:r>
          </a:p>
        </p:txBody>
      </p:sp>
      <p:sp>
        <p:nvSpPr>
          <p:cNvPr id="8" name="content">
            <a:extLst xmlns:a="http://schemas.openxmlformats.org/drawingml/2006/main">
              <a:ext uri="{FF2B5EF4-FFF2-40B4-BE49-F238E27FC236}">
                <a16:creationId xmlns:a16="http://schemas.microsoft.com/office/drawing/2014/main" id="{5CD69809-868C-43C8-9035-D32DF3DA1CCC}"/>
              </a:ext>
            </a:extLst>
          </p:cNvPr>
          <p:cNvSpPr>
            <a:spLocks xmlns:a="http://schemas.openxmlformats.org/drawingml/2006/main" noGrp="1"/>
          </p:cNvSpPr>
          <p:nvPr/>
        </p:nvSpPr>
        <p:spPr>
          <a:xfrm xmlns:a="http://schemas.openxmlformats.org/drawingml/2006/main">
            <a:off x="8715375" y="3638550"/>
            <a:ext cx="27908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000048"/>
                </a:solidFill>
              </a:defRPr>
            </a:defPPr>
          </a:lstStyle>
          <a:p xmlns:a="http://schemas.openxmlformats.org/drawingml/2006/main">
            <a:pPr>
              <a:defRPr sz="1725" b="0">
                <a:solidFill>
                  <a:srgbClr val="000048"/>
                </a:solidFill>
              </a:defRPr>
            </a:pPr>
            <a:r>
              <a:rPr sz="1725" b="0">
                <a:solidFill>
                  <a:srgbClr val="000048"/>
                </a:solidFill>
              </a:rPr>
              <a:t>Agree the evaluation set, answer threshold and escalation rule.</a:t>
            </a:r>
          </a:p>
        </p:txBody>
      </p:sp>
      <p:sp>
        <p:nvSpPr>
          <p:cNvPr id="9" name="content">
            <a:extLst xmlns:a="http://schemas.openxmlformats.org/drawingml/2006/main">
              <a:ext uri="{FF2B5EF4-FFF2-40B4-BE49-F238E27FC236}">
                <a16:creationId xmlns:a16="http://schemas.microsoft.com/office/drawing/2014/main" id="{0CFEAF6B-C6A7-441D-9C80-7A852C2CA46C}"/>
              </a:ext>
            </a:extLst>
          </p:cNvPr>
          <p:cNvSpPr>
            <a:spLocks xmlns:a="http://schemas.openxmlformats.org/drawingml/2006/main" noGrp="1"/>
          </p:cNvSpPr>
          <p:nvPr/>
        </p:nvSpPr>
        <p:spPr>
          <a:xfrm xmlns:a="http://schemas.openxmlformats.org/drawingml/2006/main">
            <a:off x="8715375" y="4591050"/>
            <a:ext cx="2790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F78C4"/>
                </a:solidFill>
              </a:defRPr>
            </a:defPPr>
          </a:lstStyle>
          <a:p xmlns:a="http://schemas.openxmlformats.org/drawingml/2006/main">
            <a:pPr>
              <a:defRPr sz="1875" b="1">
                <a:solidFill>
                  <a:srgbClr val="2F78C4"/>
                </a:solidFill>
              </a:defRPr>
            </a:pPr>
            <a:r>
              <a:rPr sz="1875" b="1">
                <a:solidFill>
                  <a:srgbClr val="2F78C4"/>
                </a:solidFill>
              </a:rPr>
              <a:t>Data ownership</a:t>
            </a:r>
          </a:p>
        </p:txBody>
      </p:sp>
      <p:sp>
        <p:nvSpPr>
          <p:cNvPr id="10" name="content">
            <a:extLst xmlns:a="http://schemas.openxmlformats.org/drawingml/2006/main">
              <a:ext uri="{FF2B5EF4-FFF2-40B4-BE49-F238E27FC236}">
                <a16:creationId xmlns:a16="http://schemas.microsoft.com/office/drawing/2014/main" id="{25B95FAA-7D88-439A-913B-0DC2AFFE8B4B}"/>
              </a:ext>
            </a:extLst>
          </p:cNvPr>
          <p:cNvSpPr>
            <a:spLocks xmlns:a="http://schemas.openxmlformats.org/drawingml/2006/main" noGrp="1"/>
          </p:cNvSpPr>
          <p:nvPr/>
        </p:nvSpPr>
        <p:spPr>
          <a:xfrm xmlns:a="http://schemas.openxmlformats.org/drawingml/2006/main">
            <a:off x="8715375" y="4981575"/>
            <a:ext cx="27908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000048"/>
                </a:solidFill>
              </a:defRPr>
            </a:defPPr>
          </a:lstStyle>
          <a:p xmlns:a="http://schemas.openxmlformats.org/drawingml/2006/main">
            <a:pPr>
              <a:defRPr sz="1725" b="0">
                <a:solidFill>
                  <a:srgbClr val="000048"/>
                </a:solidFill>
              </a:defRPr>
            </a:pPr>
            <a:r>
              <a:rPr sz="1725" b="0">
                <a:solidFill>
                  <a:srgbClr val="000048"/>
                </a:solidFill>
              </a:rPr>
              <a:t>Engineering proves ingestion, freshness and permission behaviour.</a:t>
            </a:r>
          </a:p>
        </p:txBody>
      </p:sp>
      <p:sp>
        <p:nvSpPr>
          <p:cNvPr id="11" name="content">
            <a:extLst xmlns:a="http://schemas.openxmlformats.org/drawingml/2006/main">
              <a:ext uri="{FF2B5EF4-FFF2-40B4-BE49-F238E27FC236}">
                <a16:creationId xmlns:a16="http://schemas.microsoft.com/office/drawing/2014/main" id="{00805CF6-045D-490C-8C14-6DE83F3142A0}"/>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Microsoft reference only. Validate selected retrieval design, source access and permissions.</a:t>
            </a:r>
          </a:p>
        </p:txBody>
      </p:sp>
      <p:sp>
        <p:nvSpPr>
          <p:cNvPr id="12" name="content">
            <a:extLst xmlns:a="http://schemas.openxmlformats.org/drawingml/2006/main">
              <a:ext uri="{FF2B5EF4-FFF2-40B4-BE49-F238E27FC236}">
                <a16:creationId xmlns:a16="http://schemas.microsoft.com/office/drawing/2014/main" id="{4DAF9BCC-3351-48A9-BC54-53CBA2E63771}"/>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3" name="content">
            <a:extLst xmlns:a="http://schemas.openxmlformats.org/drawingml/2006/main">
              <a:ext uri="{FF2B5EF4-FFF2-40B4-BE49-F238E27FC236}">
                <a16:creationId xmlns:a16="http://schemas.microsoft.com/office/drawing/2014/main" id="{3C2023BF-A1E1-499E-99B5-3C230D74AA2C}"/>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26</a:t>
            </a:r>
          </a:p>
        </p:txBody>
      </p:sp>
    </p:spTree>
    <p:extLst>
      <p:ext uri="{BB962C8B-B14F-4D97-AF65-F5344CB8AC3E}">
        <p14:creationId xmlns:p14="http://schemas.microsoft.com/office/powerpoint/2010/main" val="108998549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553E5F3B-75AA-42DC-9EF5-E79651F99372}"/>
              </a:ext>
            </a:extLst>
          </p:cNvPr>
          <p:cNvPicPr>
            <a:picLocks xmlns:a="http://schemas.openxmlformats.org/drawingml/2006/main" noChangeAspect="1"/>
          </p:cNvPicPr>
          <p:nvPr/>
        </p:nvPicPr>
        <p:blipFill>
          <a:blip xmlns:r="http://schemas.openxmlformats.org/officeDocument/2006/relationships" xmlns:a="http://schemas.openxmlformats.org/drawingml/2006/main" r:embed="R22a1cfb918b14275"/>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C2FDBC70-6940-446E-B8A2-E3BFB4365B4C}"/>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Reference appendix / Solutioning proposal</a:t>
            </a:r>
          </a:p>
        </p:txBody>
      </p:sp>
      <p:sp>
        <p:nvSpPr>
          <p:cNvPr id="3" name="heading">
            <a:extLst xmlns:a="http://schemas.openxmlformats.org/drawingml/2006/main">
              <a:ext uri="{FF2B5EF4-FFF2-40B4-BE49-F238E27FC236}">
                <a16:creationId xmlns:a16="http://schemas.microsoft.com/office/drawing/2014/main" id="{1525B505-94DB-4306-A9CB-6F7D8ED17090}"/>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Appendix / Microsoft agentic retrieval reference</a:t>
            </a:r>
          </a:p>
        </p:txBody>
      </p:sp>
      <p:pic>
        <p:nvPicPr>
          <p:cNvPr id="4" name="">
            <a:extLst xmlns:a="http://schemas.openxmlformats.org/drawingml/2006/main">
              <a:ext uri="{FF2B5EF4-FFF2-40B4-BE49-F238E27FC236}">
                <a16:creationId xmlns:a16="http://schemas.microsoft.com/office/drawing/2014/main" id="{2C0F023E-FCA2-4F63-BE94-DF532B5E4422}"/>
              </a:ext>
            </a:extLst>
          </p:cNvPr>
          <p:cNvPicPr>
            <a:picLocks xmlns:a="http://schemas.openxmlformats.org/drawingml/2006/main" noChangeAspect="1"/>
          </p:cNvPicPr>
          <p:nvPr/>
        </p:nvPicPr>
        <p:blipFill>
          <a:blip xmlns:r="http://schemas.openxmlformats.org/officeDocument/2006/relationships" xmlns:a="http://schemas.openxmlformats.org/drawingml/2006/main" r:embed="Ra8f65581b0584a4b"/>
          <a:stretch xmlns:a="http://schemas.openxmlformats.org/drawingml/2006/main"/>
        </p:blipFill>
        <p:spPr>
          <a:xfrm xmlns:a="http://schemas.openxmlformats.org/drawingml/2006/main">
            <a:off x="685800" y="2935061"/>
            <a:ext cx="7620000" cy="1959429"/>
          </a:xfrm>
          <a:prstGeom xmlns:a="http://schemas.openxmlformats.org/drawingml/2006/main" prst="rect">
            <a:avLst/>
          </a:prstGeom>
        </p:spPr>
      </p:pic>
      <p:sp>
        <p:nvSpPr>
          <p:cNvPr id="5" name="content">
            <a:extLst xmlns:a="http://schemas.openxmlformats.org/drawingml/2006/main">
              <a:ext uri="{FF2B5EF4-FFF2-40B4-BE49-F238E27FC236}">
                <a16:creationId xmlns:a16="http://schemas.microsoft.com/office/drawing/2014/main" id="{A45EE14A-1177-4818-8A06-8CCAD305FDC1}"/>
              </a:ext>
            </a:extLst>
          </p:cNvPr>
          <p:cNvSpPr>
            <a:spLocks xmlns:a="http://schemas.openxmlformats.org/drawingml/2006/main" noGrp="1"/>
          </p:cNvSpPr>
          <p:nvPr/>
        </p:nvSpPr>
        <p:spPr>
          <a:xfrm xmlns:a="http://schemas.openxmlformats.org/drawingml/2006/main">
            <a:off x="8715375" y="1905000"/>
            <a:ext cx="2790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F78C4"/>
                </a:solidFill>
              </a:defRPr>
            </a:defPPr>
          </a:lstStyle>
          <a:p xmlns:a="http://schemas.openxmlformats.org/drawingml/2006/main">
            <a:pPr>
              <a:defRPr sz="1875" b="1">
                <a:solidFill>
                  <a:srgbClr val="2F78C4"/>
                </a:solidFill>
              </a:defRPr>
            </a:pPr>
            <a:r>
              <a:rPr sz="1875" b="1">
                <a:solidFill>
                  <a:srgbClr val="2F78C4"/>
                </a:solidFill>
              </a:rPr>
              <a:t>Expansion trigger</a:t>
            </a:r>
          </a:p>
        </p:txBody>
      </p:sp>
      <p:sp>
        <p:nvSpPr>
          <p:cNvPr id="6" name="content">
            <a:extLst xmlns:a="http://schemas.openxmlformats.org/drawingml/2006/main">
              <a:ext uri="{FF2B5EF4-FFF2-40B4-BE49-F238E27FC236}">
                <a16:creationId xmlns:a16="http://schemas.microsoft.com/office/drawing/2014/main" id="{2AD426E9-0EDA-44CB-9122-5A15EE73DD0C}"/>
              </a:ext>
            </a:extLst>
          </p:cNvPr>
          <p:cNvSpPr>
            <a:spLocks xmlns:a="http://schemas.openxmlformats.org/drawingml/2006/main" noGrp="1"/>
          </p:cNvSpPr>
          <p:nvPr/>
        </p:nvSpPr>
        <p:spPr>
          <a:xfrm xmlns:a="http://schemas.openxmlformats.org/drawingml/2006/main">
            <a:off x="8715375" y="2295525"/>
            <a:ext cx="27908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000048"/>
                </a:solidFill>
              </a:defRPr>
            </a:defPPr>
          </a:lstStyle>
          <a:p xmlns:a="http://schemas.openxmlformats.org/drawingml/2006/main">
            <a:pPr>
              <a:defRPr sz="1725" b="0">
                <a:solidFill>
                  <a:srgbClr val="000048"/>
                </a:solidFill>
              </a:defRPr>
            </a:pPr>
            <a:r>
              <a:rPr sz="1725" b="0">
                <a:solidFill>
                  <a:srgbClr val="000048"/>
                </a:solidFill>
              </a:rPr>
              <a:t>Use agentic retrieval when a measured search task needs iterative reasoning.</a:t>
            </a:r>
          </a:p>
        </p:txBody>
      </p:sp>
      <p:sp>
        <p:nvSpPr>
          <p:cNvPr id="7" name="content">
            <a:extLst xmlns:a="http://schemas.openxmlformats.org/drawingml/2006/main">
              <a:ext uri="{FF2B5EF4-FFF2-40B4-BE49-F238E27FC236}">
                <a16:creationId xmlns:a16="http://schemas.microsoft.com/office/drawing/2014/main" id="{B01CAC97-44F8-44E4-9A7B-792EC761604C}"/>
              </a:ext>
            </a:extLst>
          </p:cNvPr>
          <p:cNvSpPr>
            <a:spLocks xmlns:a="http://schemas.openxmlformats.org/drawingml/2006/main" noGrp="1"/>
          </p:cNvSpPr>
          <p:nvPr/>
        </p:nvSpPr>
        <p:spPr>
          <a:xfrm xmlns:a="http://schemas.openxmlformats.org/drawingml/2006/main">
            <a:off x="8715375" y="3248025"/>
            <a:ext cx="2790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F78C4"/>
                </a:solidFill>
              </a:defRPr>
            </a:defPPr>
          </a:lstStyle>
          <a:p xmlns:a="http://schemas.openxmlformats.org/drawingml/2006/main">
            <a:pPr>
              <a:defRPr sz="1875" b="1">
                <a:solidFill>
                  <a:srgbClr val="2F78C4"/>
                </a:solidFill>
              </a:defRPr>
            </a:pPr>
            <a:r>
              <a:rPr sz="1875" b="1">
                <a:solidFill>
                  <a:srgbClr val="2F78C4"/>
                </a:solidFill>
              </a:rPr>
              <a:t>Cost and safety</a:t>
            </a:r>
          </a:p>
        </p:txBody>
      </p:sp>
      <p:sp>
        <p:nvSpPr>
          <p:cNvPr id="8" name="content">
            <a:extLst xmlns:a="http://schemas.openxmlformats.org/drawingml/2006/main">
              <a:ext uri="{FF2B5EF4-FFF2-40B4-BE49-F238E27FC236}">
                <a16:creationId xmlns:a16="http://schemas.microsoft.com/office/drawing/2014/main" id="{E294A958-886E-4FE1-B8E2-D92040AC7F77}"/>
              </a:ext>
            </a:extLst>
          </p:cNvPr>
          <p:cNvSpPr>
            <a:spLocks xmlns:a="http://schemas.openxmlformats.org/drawingml/2006/main" noGrp="1"/>
          </p:cNvSpPr>
          <p:nvPr/>
        </p:nvSpPr>
        <p:spPr>
          <a:xfrm xmlns:a="http://schemas.openxmlformats.org/drawingml/2006/main">
            <a:off x="8715375" y="3638550"/>
            <a:ext cx="27908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000048"/>
                </a:solidFill>
              </a:defRPr>
            </a:defPPr>
          </a:lstStyle>
          <a:p xmlns:a="http://schemas.openxmlformats.org/drawingml/2006/main">
            <a:pPr>
              <a:defRPr sz="1725" b="0">
                <a:solidFill>
                  <a:srgbClr val="000048"/>
                </a:solidFill>
              </a:defRPr>
            </a:pPr>
            <a:r>
              <a:rPr sz="1725" b="0">
                <a:solidFill>
                  <a:srgbClr val="000048"/>
                </a:solidFill>
              </a:rPr>
              <a:t>Re-estimate model calls, tool loops, latency and misuse tests.</a:t>
            </a:r>
          </a:p>
        </p:txBody>
      </p:sp>
      <p:sp>
        <p:nvSpPr>
          <p:cNvPr id="9" name="content">
            <a:extLst xmlns:a="http://schemas.openxmlformats.org/drawingml/2006/main">
              <a:ext uri="{FF2B5EF4-FFF2-40B4-BE49-F238E27FC236}">
                <a16:creationId xmlns:a16="http://schemas.microsoft.com/office/drawing/2014/main" id="{855F2782-1F99-499E-BF1B-22587FBE512C}"/>
              </a:ext>
            </a:extLst>
          </p:cNvPr>
          <p:cNvSpPr>
            <a:spLocks xmlns:a="http://schemas.openxmlformats.org/drawingml/2006/main" noGrp="1"/>
          </p:cNvSpPr>
          <p:nvPr/>
        </p:nvSpPr>
        <p:spPr>
          <a:xfrm xmlns:a="http://schemas.openxmlformats.org/drawingml/2006/main">
            <a:off x="8715375" y="4591050"/>
            <a:ext cx="2790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F78C4"/>
                </a:solidFill>
              </a:defRPr>
            </a:defPPr>
          </a:lstStyle>
          <a:p xmlns:a="http://schemas.openxmlformats.org/drawingml/2006/main">
            <a:pPr>
              <a:defRPr sz="1875" b="1">
                <a:solidFill>
                  <a:srgbClr val="2F78C4"/>
                </a:solidFill>
              </a:defRPr>
            </a:pPr>
            <a:r>
              <a:rPr sz="1875" b="1">
                <a:solidFill>
                  <a:srgbClr val="2F78C4"/>
                </a:solidFill>
              </a:rPr>
              <a:t>Acceptance scope</a:t>
            </a:r>
          </a:p>
        </p:txBody>
      </p:sp>
      <p:sp>
        <p:nvSpPr>
          <p:cNvPr id="10" name="content">
            <a:extLst xmlns:a="http://schemas.openxmlformats.org/drawingml/2006/main">
              <a:ext uri="{FF2B5EF4-FFF2-40B4-BE49-F238E27FC236}">
                <a16:creationId xmlns:a16="http://schemas.microsoft.com/office/drawing/2014/main" id="{D380E13A-752A-45B9-BEBC-A79AA35DF417}"/>
              </a:ext>
            </a:extLst>
          </p:cNvPr>
          <p:cNvSpPr>
            <a:spLocks xmlns:a="http://schemas.openxmlformats.org/drawingml/2006/main" noGrp="1"/>
          </p:cNvSpPr>
          <p:nvPr/>
        </p:nvSpPr>
        <p:spPr>
          <a:xfrm xmlns:a="http://schemas.openxmlformats.org/drawingml/2006/main">
            <a:off x="8715375" y="4981575"/>
            <a:ext cx="27908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000048"/>
                </a:solidFill>
              </a:defRPr>
            </a:defPPr>
          </a:lstStyle>
          <a:p xmlns:a="http://schemas.openxmlformats.org/drawingml/2006/main">
            <a:pPr>
              <a:defRPr sz="1725" b="0">
                <a:solidFill>
                  <a:srgbClr val="000048"/>
                </a:solidFill>
              </a:defRPr>
            </a:pPr>
            <a:r>
              <a:rPr sz="1725" b="0">
                <a:solidFill>
                  <a:srgbClr val="000048"/>
                </a:solidFill>
              </a:rPr>
              <a:t>Approve retrieval permissions and quality gates. Actions need separate design.</a:t>
            </a:r>
          </a:p>
        </p:txBody>
      </p:sp>
      <p:sp>
        <p:nvSpPr>
          <p:cNvPr id="11" name="content">
            <a:extLst xmlns:a="http://schemas.openxmlformats.org/drawingml/2006/main">
              <a:ext uri="{FF2B5EF4-FFF2-40B4-BE49-F238E27FC236}">
                <a16:creationId xmlns:a16="http://schemas.microsoft.com/office/drawing/2014/main" id="{0714F9BB-6CC5-4EDD-97FB-7D66D99581EF}"/>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Microsoft reference only. Optional capabilities require a separate design, estimate and acceptance.</a:t>
            </a:r>
          </a:p>
        </p:txBody>
      </p:sp>
      <p:sp>
        <p:nvSpPr>
          <p:cNvPr id="12" name="content">
            <a:extLst xmlns:a="http://schemas.openxmlformats.org/drawingml/2006/main">
              <a:ext uri="{FF2B5EF4-FFF2-40B4-BE49-F238E27FC236}">
                <a16:creationId xmlns:a16="http://schemas.microsoft.com/office/drawing/2014/main" id="{AA7D17B3-347D-4751-A3A7-EA5A1DF73182}"/>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3" name="content">
            <a:extLst xmlns:a="http://schemas.openxmlformats.org/drawingml/2006/main">
              <a:ext uri="{FF2B5EF4-FFF2-40B4-BE49-F238E27FC236}">
                <a16:creationId xmlns:a16="http://schemas.microsoft.com/office/drawing/2014/main" id="{929C0D90-89E5-43DB-B531-1A7A697DA2F1}"/>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27</a:t>
            </a:r>
          </a:p>
        </p:txBody>
      </p:sp>
    </p:spTree>
    <p:extLst>
      <p:ext uri="{BB962C8B-B14F-4D97-AF65-F5344CB8AC3E}">
        <p14:creationId xmlns:p14="http://schemas.microsoft.com/office/powerpoint/2010/main" val="118331732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ADE0CBEA-99B4-4359-BB87-5A4A3294C8BD}"/>
              </a:ext>
            </a:extLst>
          </p:cNvPr>
          <p:cNvPicPr>
            <a:picLocks xmlns:a="http://schemas.openxmlformats.org/drawingml/2006/main" noChangeAspect="1"/>
          </p:cNvPicPr>
          <p:nvPr/>
        </p:nvPicPr>
        <p:blipFill>
          <a:blip xmlns:r="http://schemas.openxmlformats.org/officeDocument/2006/relationships" xmlns:a="http://schemas.openxmlformats.org/drawingml/2006/main" r:embed="Rd89c3264930843b1"/>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9E9DBF0C-5EEF-4B82-AA51-04BC173D3352}"/>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Reference appendix / Solutioning proposal</a:t>
            </a:r>
          </a:p>
        </p:txBody>
      </p:sp>
      <p:sp>
        <p:nvSpPr>
          <p:cNvPr id="3" name="heading">
            <a:extLst xmlns:a="http://schemas.openxmlformats.org/drawingml/2006/main">
              <a:ext uri="{FF2B5EF4-FFF2-40B4-BE49-F238E27FC236}">
                <a16:creationId xmlns:a16="http://schemas.microsoft.com/office/drawing/2014/main" id="{50850721-27EA-4FBB-9C93-C92C4869C5FF}"/>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Appendix / Microsoft 365 Copilot service boundary</a:t>
            </a:r>
          </a:p>
        </p:txBody>
      </p:sp>
      <p:pic>
        <p:nvPicPr>
          <p:cNvPr id="4" name="">
            <a:extLst xmlns:a="http://schemas.openxmlformats.org/drawingml/2006/main">
              <a:ext uri="{FF2B5EF4-FFF2-40B4-BE49-F238E27FC236}">
                <a16:creationId xmlns:a16="http://schemas.microsoft.com/office/drawing/2014/main" id="{50553C6B-9BC0-4955-80A6-479DB5D614B9}"/>
              </a:ext>
            </a:extLst>
          </p:cNvPr>
          <p:cNvPicPr>
            <a:picLocks xmlns:a="http://schemas.openxmlformats.org/drawingml/2006/main" noChangeAspect="1"/>
          </p:cNvPicPr>
          <p:nvPr/>
        </p:nvPicPr>
        <p:blipFill>
          <a:blip xmlns:r="http://schemas.openxmlformats.org/officeDocument/2006/relationships" xmlns:a="http://schemas.openxmlformats.org/drawingml/2006/main" r:embed="R03d9dfcb328d4786"/>
          <a:stretch xmlns:a="http://schemas.openxmlformats.org/drawingml/2006/main"/>
        </p:blipFill>
        <p:spPr>
          <a:xfrm xmlns:a="http://schemas.openxmlformats.org/drawingml/2006/main">
            <a:off x="1710825" y="1857375"/>
            <a:ext cx="5569949" cy="4114800"/>
          </a:xfrm>
          <a:prstGeom xmlns:a="http://schemas.openxmlformats.org/drawingml/2006/main" prst="rect">
            <a:avLst/>
          </a:prstGeom>
        </p:spPr>
      </p:pic>
      <p:sp>
        <p:nvSpPr>
          <p:cNvPr id="5" name="content">
            <a:extLst xmlns:a="http://schemas.openxmlformats.org/drawingml/2006/main">
              <a:ext uri="{FF2B5EF4-FFF2-40B4-BE49-F238E27FC236}">
                <a16:creationId xmlns:a16="http://schemas.microsoft.com/office/drawing/2014/main" id="{4AD35482-EC00-4F3C-8A4F-03A255F9761F}"/>
              </a:ext>
            </a:extLst>
          </p:cNvPr>
          <p:cNvSpPr>
            <a:spLocks xmlns:a="http://schemas.openxmlformats.org/drawingml/2006/main" noGrp="1"/>
          </p:cNvSpPr>
          <p:nvPr/>
        </p:nvSpPr>
        <p:spPr>
          <a:xfrm xmlns:a="http://schemas.openxmlformats.org/drawingml/2006/main">
            <a:off x="8715375" y="1905000"/>
            <a:ext cx="2790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F78C4"/>
                </a:solidFill>
              </a:defRPr>
            </a:defPPr>
          </a:lstStyle>
          <a:p xmlns:a="http://schemas.openxmlformats.org/drawingml/2006/main">
            <a:pPr>
              <a:defRPr sz="1875" b="1">
                <a:solidFill>
                  <a:srgbClr val="2F78C4"/>
                </a:solidFill>
              </a:defRPr>
            </a:pPr>
            <a:r>
              <a:rPr sz="1875" b="1">
                <a:solidFill>
                  <a:srgbClr val="2F78C4"/>
                </a:solidFill>
              </a:rPr>
              <a:t>SaaS architecture</a:t>
            </a:r>
          </a:p>
        </p:txBody>
      </p:sp>
      <p:sp>
        <p:nvSpPr>
          <p:cNvPr id="6" name="content">
            <a:extLst xmlns:a="http://schemas.openxmlformats.org/drawingml/2006/main">
              <a:ext uri="{FF2B5EF4-FFF2-40B4-BE49-F238E27FC236}">
                <a16:creationId xmlns:a16="http://schemas.microsoft.com/office/drawing/2014/main" id="{B5C56EE3-285E-4786-B955-4B7611280CFF}"/>
              </a:ext>
            </a:extLst>
          </p:cNvPr>
          <p:cNvSpPr>
            <a:spLocks xmlns:a="http://schemas.openxmlformats.org/drawingml/2006/main" noGrp="1"/>
          </p:cNvSpPr>
          <p:nvPr/>
        </p:nvSpPr>
        <p:spPr>
          <a:xfrm xmlns:a="http://schemas.openxmlformats.org/drawingml/2006/main">
            <a:off x="8715375" y="2295525"/>
            <a:ext cx="27908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000048"/>
                </a:solidFill>
              </a:defRPr>
            </a:defPPr>
          </a:lstStyle>
          <a:p xmlns:a="http://schemas.openxmlformats.org/drawingml/2006/main">
            <a:pPr>
              <a:defRPr sz="1725" b="0">
                <a:solidFill>
                  <a:srgbClr val="000048"/>
                </a:solidFill>
              </a:defRPr>
            </a:pPr>
            <a:r>
              <a:rPr sz="1725" b="0">
                <a:solidFill>
                  <a:srgbClr val="000048"/>
                </a:solidFill>
              </a:rPr>
              <a:t>Microsoft operates the Copilot service within Microsoft 365.</a:t>
            </a:r>
          </a:p>
        </p:txBody>
      </p:sp>
      <p:sp>
        <p:nvSpPr>
          <p:cNvPr id="7" name="content">
            <a:extLst xmlns:a="http://schemas.openxmlformats.org/drawingml/2006/main">
              <a:ext uri="{FF2B5EF4-FFF2-40B4-BE49-F238E27FC236}">
                <a16:creationId xmlns:a16="http://schemas.microsoft.com/office/drawing/2014/main" id="{4F0C88E9-94E3-4BEB-9187-30B44D3AE4D9}"/>
              </a:ext>
            </a:extLst>
          </p:cNvPr>
          <p:cNvSpPr>
            <a:spLocks xmlns:a="http://schemas.openxmlformats.org/drawingml/2006/main" noGrp="1"/>
          </p:cNvSpPr>
          <p:nvPr/>
        </p:nvSpPr>
        <p:spPr>
          <a:xfrm xmlns:a="http://schemas.openxmlformats.org/drawingml/2006/main">
            <a:off x="8715375" y="3248025"/>
            <a:ext cx="2790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F78C4"/>
                </a:solidFill>
              </a:defRPr>
            </a:defPPr>
          </a:lstStyle>
          <a:p xmlns:a="http://schemas.openxmlformats.org/drawingml/2006/main">
            <a:pPr>
              <a:defRPr sz="1875" b="1">
                <a:solidFill>
                  <a:srgbClr val="2F78C4"/>
                </a:solidFill>
              </a:defRPr>
            </a:pPr>
            <a:r>
              <a:rPr sz="1875" b="1">
                <a:solidFill>
                  <a:srgbClr val="2F78C4"/>
                </a:solidFill>
              </a:rPr>
              <a:t>Practice ownership</a:t>
            </a:r>
          </a:p>
        </p:txBody>
      </p:sp>
      <p:sp>
        <p:nvSpPr>
          <p:cNvPr id="8" name="content">
            <a:extLst xmlns:a="http://schemas.openxmlformats.org/drawingml/2006/main">
              <a:ext uri="{FF2B5EF4-FFF2-40B4-BE49-F238E27FC236}">
                <a16:creationId xmlns:a16="http://schemas.microsoft.com/office/drawing/2014/main" id="{832D87A0-A74B-4541-844B-7112D7C7A3E8}"/>
              </a:ext>
            </a:extLst>
          </p:cNvPr>
          <p:cNvSpPr>
            <a:spLocks xmlns:a="http://schemas.openxmlformats.org/drawingml/2006/main" noGrp="1"/>
          </p:cNvSpPr>
          <p:nvPr/>
        </p:nvSpPr>
        <p:spPr>
          <a:xfrm xmlns:a="http://schemas.openxmlformats.org/drawingml/2006/main">
            <a:off x="8715375" y="3638550"/>
            <a:ext cx="27908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000048"/>
                </a:solidFill>
              </a:defRPr>
            </a:defPPr>
          </a:lstStyle>
          <a:p xmlns:a="http://schemas.openxmlformats.org/drawingml/2006/main">
            <a:pPr>
              <a:defRPr sz="1725" b="0">
                <a:solidFill>
                  <a:srgbClr val="000048"/>
                </a:solidFill>
              </a:defRPr>
            </a:pPr>
            <a:r>
              <a:rPr sz="1725" b="0">
                <a:solidFill>
                  <a:srgbClr val="000048"/>
                </a:solidFill>
              </a:rPr>
              <a:t>M365 administrators and Security own tenant readiness.</a:t>
            </a:r>
          </a:p>
        </p:txBody>
      </p:sp>
      <p:sp>
        <p:nvSpPr>
          <p:cNvPr id="9" name="content">
            <a:extLst xmlns:a="http://schemas.openxmlformats.org/drawingml/2006/main">
              <a:ext uri="{FF2B5EF4-FFF2-40B4-BE49-F238E27FC236}">
                <a16:creationId xmlns:a16="http://schemas.microsoft.com/office/drawing/2014/main" id="{5209DE47-63A0-453E-BB50-94AC08DE1CDE}"/>
              </a:ext>
            </a:extLst>
          </p:cNvPr>
          <p:cNvSpPr>
            <a:spLocks xmlns:a="http://schemas.openxmlformats.org/drawingml/2006/main" noGrp="1"/>
          </p:cNvSpPr>
          <p:nvPr/>
        </p:nvSpPr>
        <p:spPr>
          <a:xfrm xmlns:a="http://schemas.openxmlformats.org/drawingml/2006/main">
            <a:off x="8715375" y="4591050"/>
            <a:ext cx="2790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F78C4"/>
                </a:solidFill>
              </a:defRPr>
            </a:defPPr>
          </a:lstStyle>
          <a:p xmlns:a="http://schemas.openxmlformats.org/drawingml/2006/main">
            <a:pPr>
              <a:defRPr sz="1875" b="1">
                <a:solidFill>
                  <a:srgbClr val="2F78C4"/>
                </a:solidFill>
              </a:defRPr>
            </a:pPr>
            <a:r>
              <a:rPr sz="1875" b="1">
                <a:solidFill>
                  <a:srgbClr val="2F78C4"/>
                </a:solidFill>
              </a:rPr>
              <a:t>Infra work package</a:t>
            </a:r>
          </a:p>
        </p:txBody>
      </p:sp>
      <p:sp>
        <p:nvSpPr>
          <p:cNvPr id="10" name="content">
            <a:extLst xmlns:a="http://schemas.openxmlformats.org/drawingml/2006/main">
              <a:ext uri="{FF2B5EF4-FFF2-40B4-BE49-F238E27FC236}">
                <a16:creationId xmlns:a16="http://schemas.microsoft.com/office/drawing/2014/main" id="{BF641C58-EC24-475B-BAC3-0E526BA48335}"/>
              </a:ext>
            </a:extLst>
          </p:cNvPr>
          <p:cNvSpPr>
            <a:spLocks xmlns:a="http://schemas.openxmlformats.org/drawingml/2006/main" noGrp="1"/>
          </p:cNvSpPr>
          <p:nvPr/>
        </p:nvSpPr>
        <p:spPr>
          <a:xfrm xmlns:a="http://schemas.openxmlformats.org/drawingml/2006/main">
            <a:off x="8715375" y="4981575"/>
            <a:ext cx="27908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000048"/>
                </a:solidFill>
              </a:defRPr>
            </a:defPPr>
          </a:lstStyle>
          <a:p xmlns:a="http://schemas.openxmlformats.org/drawingml/2006/main">
            <a:pPr>
              <a:defRPr sz="1725" b="0">
                <a:solidFill>
                  <a:srgbClr val="000048"/>
                </a:solidFill>
              </a:defRPr>
            </a:pPr>
            <a:r>
              <a:rPr sz="1725" b="0">
                <a:solidFill>
                  <a:srgbClr val="000048"/>
                </a:solidFill>
              </a:rPr>
              <a:t>Custom Azure endpoints and integrations remain separately scoped.</a:t>
            </a:r>
          </a:p>
        </p:txBody>
      </p:sp>
      <p:sp>
        <p:nvSpPr>
          <p:cNvPr id="11" name="content">
            <a:extLst xmlns:a="http://schemas.openxmlformats.org/drawingml/2006/main">
              <a:ext uri="{FF2B5EF4-FFF2-40B4-BE49-F238E27FC236}">
                <a16:creationId xmlns:a16="http://schemas.microsoft.com/office/drawing/2014/main" id="{7C560002-B6FD-4FA8-AC83-BFC677E92B05}"/>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Optional M365 reference. Separate practice, tenant readiness, licensing and service scope apply.</a:t>
            </a:r>
          </a:p>
        </p:txBody>
      </p:sp>
      <p:sp>
        <p:nvSpPr>
          <p:cNvPr id="12" name="content">
            <a:extLst xmlns:a="http://schemas.openxmlformats.org/drawingml/2006/main">
              <a:ext uri="{FF2B5EF4-FFF2-40B4-BE49-F238E27FC236}">
                <a16:creationId xmlns:a16="http://schemas.microsoft.com/office/drawing/2014/main" id="{559E4B7F-DBAC-4B37-88EE-8314EE412D76}"/>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3" name="content">
            <a:extLst xmlns:a="http://schemas.openxmlformats.org/drawingml/2006/main">
              <a:ext uri="{FF2B5EF4-FFF2-40B4-BE49-F238E27FC236}">
                <a16:creationId xmlns:a16="http://schemas.microsoft.com/office/drawing/2014/main" id="{DD620582-D97D-4297-800A-328DB2959FFF}"/>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28</a:t>
            </a:r>
          </a:p>
        </p:txBody>
      </p:sp>
    </p:spTree>
    <p:extLst>
      <p:ext uri="{BB962C8B-B14F-4D97-AF65-F5344CB8AC3E}">
        <p14:creationId xmlns:p14="http://schemas.microsoft.com/office/powerpoint/2010/main" val="25143041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758A34A-1CDB-49E6-A19B-0747ED9CB8AC}"/>
              </a:ext>
            </a:extLst>
          </p:cNvPr>
          <p:cNvPicPr>
            <a:picLocks xmlns:a="http://schemas.openxmlformats.org/drawingml/2006/main" noChangeAspect="1"/>
          </p:cNvPicPr>
          <p:nvPr/>
        </p:nvPicPr>
        <p:blipFill>
          <a:blip xmlns:r="http://schemas.openxmlformats.org/officeDocument/2006/relationships" xmlns:a="http://schemas.openxmlformats.org/drawingml/2006/main" r:embed="R573684b66b1440d5"/>
          <a:stretch xmlns:a="http://schemas.openxmlformats.org/drawingml/2006/main"/>
        </p:blipFill>
        <p:spPr>
          <a:xfrm xmlns:a="http://schemas.openxmlformats.org/drawingml/2006/main">
            <a:off x="9658350" y="401315"/>
            <a:ext cx="1847850" cy="330846"/>
          </a:xfrm>
          <a:prstGeom xmlns:a="http://schemas.openxmlformats.org/drawingml/2006/main" prst="rect">
            <a:avLst/>
          </a:prstGeom>
        </p:spPr>
      </p:pic>
      <p:sp>
        <p:nvSpPr>
          <p:cNvPr id="2" name="content">
            <a:extLst xmlns:a="http://schemas.openxmlformats.org/drawingml/2006/main">
              <a:ext uri="{FF2B5EF4-FFF2-40B4-BE49-F238E27FC236}">
                <a16:creationId xmlns:a16="http://schemas.microsoft.com/office/drawing/2014/main" id="{842F2205-41EC-4C57-B307-8949244EA6E9}"/>
              </a:ext>
            </a:extLst>
          </p:cNvPr>
          <p:cNvSpPr>
            <a:spLocks xmlns:a="http://schemas.openxmlformats.org/drawingml/2006/main" noGrp="1"/>
          </p:cNvSpPr>
          <p:nvPr/>
        </p:nvSpPr>
        <p:spPr>
          <a:xfrm xmlns:a="http://schemas.openxmlformats.org/drawingml/2006/main">
            <a:off x="685800" y="428625"/>
            <a:ext cx="828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Reference appendix / Solutioning proposal</a:t>
            </a:r>
          </a:p>
        </p:txBody>
      </p:sp>
      <p:sp>
        <p:nvSpPr>
          <p:cNvPr id="3" name="heading">
            <a:extLst xmlns:a="http://schemas.openxmlformats.org/drawingml/2006/main">
              <a:ext uri="{FF2B5EF4-FFF2-40B4-BE49-F238E27FC236}">
                <a16:creationId xmlns:a16="http://schemas.microsoft.com/office/drawing/2014/main" id="{E6BBF40C-D478-4808-89AC-9D2F56F0E7AC}"/>
              </a:ext>
            </a:extLst>
          </p:cNvPr>
          <p:cNvSpPr>
            <a:spLocks xmlns:a="http://schemas.openxmlformats.org/drawingml/2006/main" noGrp="1"/>
          </p:cNvSpPr>
          <p:nvPr/>
        </p:nvSpPr>
        <p:spPr>
          <a:xfrm xmlns:a="http://schemas.openxmlformats.org/drawingml/2006/main">
            <a:off x="685800" y="10001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000048"/>
                </a:solidFill>
              </a:defRPr>
            </a:defPPr>
          </a:lstStyle>
          <a:p xmlns:a="http://schemas.openxmlformats.org/drawingml/2006/main">
            <a:pPr>
              <a:defRPr sz="3150" b="0">
                <a:solidFill>
                  <a:srgbClr val="000048"/>
                </a:solidFill>
              </a:defRPr>
            </a:pPr>
            <a:r>
              <a:rPr sz="3150" b="0">
                <a:solidFill>
                  <a:srgbClr val="000048"/>
                </a:solidFill>
              </a:rPr>
              <a:t>Appendix / Microsoft 365 permissions reference</a:t>
            </a:r>
          </a:p>
        </p:txBody>
      </p:sp>
      <p:pic>
        <p:nvPicPr>
          <p:cNvPr id="4" name="">
            <a:extLst xmlns:a="http://schemas.openxmlformats.org/drawingml/2006/main">
              <a:ext uri="{FF2B5EF4-FFF2-40B4-BE49-F238E27FC236}">
                <a16:creationId xmlns:a16="http://schemas.microsoft.com/office/drawing/2014/main" id="{DC91CDAD-BDE1-4CB4-8F64-8D06AB5180B9}"/>
              </a:ext>
            </a:extLst>
          </p:cNvPr>
          <p:cNvPicPr>
            <a:picLocks xmlns:a="http://schemas.openxmlformats.org/drawingml/2006/main" noChangeAspect="1"/>
          </p:cNvPicPr>
          <p:nvPr/>
        </p:nvPicPr>
        <p:blipFill>
          <a:blip xmlns:r="http://schemas.openxmlformats.org/officeDocument/2006/relationships" xmlns:a="http://schemas.openxmlformats.org/drawingml/2006/main" r:embed="R6047e5e3d2924ad2"/>
          <a:stretch xmlns:a="http://schemas.openxmlformats.org/drawingml/2006/main"/>
        </p:blipFill>
        <p:spPr>
          <a:xfrm xmlns:a="http://schemas.openxmlformats.org/drawingml/2006/main">
            <a:off x="1695799" y="1857375"/>
            <a:ext cx="5600002" cy="4114800"/>
          </a:xfrm>
          <a:prstGeom xmlns:a="http://schemas.openxmlformats.org/drawingml/2006/main" prst="rect">
            <a:avLst/>
          </a:prstGeom>
        </p:spPr>
      </p:pic>
      <p:sp>
        <p:nvSpPr>
          <p:cNvPr id="5" name="content">
            <a:extLst xmlns:a="http://schemas.openxmlformats.org/drawingml/2006/main">
              <a:ext uri="{FF2B5EF4-FFF2-40B4-BE49-F238E27FC236}">
                <a16:creationId xmlns:a16="http://schemas.microsoft.com/office/drawing/2014/main" id="{0A0D166B-B4D0-4BFE-AD9B-4EFFF26F1720}"/>
              </a:ext>
            </a:extLst>
          </p:cNvPr>
          <p:cNvSpPr>
            <a:spLocks xmlns:a="http://schemas.openxmlformats.org/drawingml/2006/main" noGrp="1"/>
          </p:cNvSpPr>
          <p:nvPr/>
        </p:nvSpPr>
        <p:spPr>
          <a:xfrm xmlns:a="http://schemas.openxmlformats.org/drawingml/2006/main">
            <a:off x="8715375" y="1905000"/>
            <a:ext cx="2790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F78C4"/>
                </a:solidFill>
              </a:defRPr>
            </a:defPPr>
          </a:lstStyle>
          <a:p xmlns:a="http://schemas.openxmlformats.org/drawingml/2006/main">
            <a:pPr>
              <a:defRPr sz="1875" b="1">
                <a:solidFill>
                  <a:srgbClr val="2F78C4"/>
                </a:solidFill>
              </a:defRPr>
            </a:pPr>
            <a:r>
              <a:rPr sz="1875" b="1">
                <a:solidFill>
                  <a:srgbClr val="2F78C4"/>
                </a:solidFill>
              </a:rPr>
              <a:t>User permissions</a:t>
            </a:r>
          </a:p>
        </p:txBody>
      </p:sp>
      <p:sp>
        <p:nvSpPr>
          <p:cNvPr id="6" name="content">
            <a:extLst xmlns:a="http://schemas.openxmlformats.org/drawingml/2006/main">
              <a:ext uri="{FF2B5EF4-FFF2-40B4-BE49-F238E27FC236}">
                <a16:creationId xmlns:a16="http://schemas.microsoft.com/office/drawing/2014/main" id="{F9EF1BA8-08D5-4EAC-9CC2-7A736AF4CD0F}"/>
              </a:ext>
            </a:extLst>
          </p:cNvPr>
          <p:cNvSpPr>
            <a:spLocks xmlns:a="http://schemas.openxmlformats.org/drawingml/2006/main" noGrp="1"/>
          </p:cNvSpPr>
          <p:nvPr/>
        </p:nvSpPr>
        <p:spPr>
          <a:xfrm xmlns:a="http://schemas.openxmlformats.org/drawingml/2006/main">
            <a:off x="8715375" y="2295525"/>
            <a:ext cx="27908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000048"/>
                </a:solidFill>
              </a:defRPr>
            </a:defPPr>
          </a:lstStyle>
          <a:p xmlns:a="http://schemas.openxmlformats.org/drawingml/2006/main">
            <a:pPr>
              <a:defRPr sz="1725" b="0">
                <a:solidFill>
                  <a:srgbClr val="000048"/>
                </a:solidFill>
              </a:defRPr>
            </a:pPr>
            <a:r>
              <a:rPr sz="1725" b="0">
                <a:solidFill>
                  <a:srgbClr val="000048"/>
                </a:solidFill>
              </a:rPr>
              <a:t>Copilot access follows the signed-in user’s permissions.</a:t>
            </a:r>
          </a:p>
        </p:txBody>
      </p:sp>
      <p:sp>
        <p:nvSpPr>
          <p:cNvPr id="7" name="content">
            <a:extLst xmlns:a="http://schemas.openxmlformats.org/drawingml/2006/main">
              <a:ext uri="{FF2B5EF4-FFF2-40B4-BE49-F238E27FC236}">
                <a16:creationId xmlns:a16="http://schemas.microsoft.com/office/drawing/2014/main" id="{CEA69D8E-2932-4E3F-AD11-CBA1255C9D6A}"/>
              </a:ext>
            </a:extLst>
          </p:cNvPr>
          <p:cNvSpPr>
            <a:spLocks xmlns:a="http://schemas.openxmlformats.org/drawingml/2006/main" noGrp="1"/>
          </p:cNvSpPr>
          <p:nvPr/>
        </p:nvSpPr>
        <p:spPr>
          <a:xfrm xmlns:a="http://schemas.openxmlformats.org/drawingml/2006/main">
            <a:off x="8715375" y="3248025"/>
            <a:ext cx="2790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F78C4"/>
                </a:solidFill>
              </a:defRPr>
            </a:defPPr>
          </a:lstStyle>
          <a:p xmlns:a="http://schemas.openxmlformats.org/drawingml/2006/main">
            <a:pPr>
              <a:defRPr sz="1875" b="1">
                <a:solidFill>
                  <a:srgbClr val="2F78C4"/>
                </a:solidFill>
              </a:defRPr>
            </a:pPr>
            <a:r>
              <a:rPr sz="1875" b="1">
                <a:solidFill>
                  <a:srgbClr val="2F78C4"/>
                </a:solidFill>
              </a:rPr>
              <a:t>Readiness work</a:t>
            </a:r>
          </a:p>
        </p:txBody>
      </p:sp>
      <p:sp>
        <p:nvSpPr>
          <p:cNvPr id="8" name="content">
            <a:extLst xmlns:a="http://schemas.openxmlformats.org/drawingml/2006/main">
              <a:ext uri="{FF2B5EF4-FFF2-40B4-BE49-F238E27FC236}">
                <a16:creationId xmlns:a16="http://schemas.microsoft.com/office/drawing/2014/main" id="{8A4F7971-0735-43E5-9B21-3E67DEDEE927}"/>
              </a:ext>
            </a:extLst>
          </p:cNvPr>
          <p:cNvSpPr>
            <a:spLocks xmlns:a="http://schemas.openxmlformats.org/drawingml/2006/main" noGrp="1"/>
          </p:cNvSpPr>
          <p:nvPr/>
        </p:nvSpPr>
        <p:spPr>
          <a:xfrm xmlns:a="http://schemas.openxmlformats.org/drawingml/2006/main">
            <a:off x="8715375" y="3638550"/>
            <a:ext cx="27908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000048"/>
                </a:solidFill>
              </a:defRPr>
            </a:defPPr>
          </a:lstStyle>
          <a:p xmlns:a="http://schemas.openxmlformats.org/drawingml/2006/main">
            <a:pPr>
              <a:defRPr sz="1725" b="0">
                <a:solidFill>
                  <a:srgbClr val="000048"/>
                </a:solidFill>
              </a:defRPr>
            </a:pPr>
            <a:r>
              <a:rPr sz="1725" b="0">
                <a:solidFill>
                  <a:srgbClr val="000048"/>
                </a:solidFill>
              </a:rPr>
              <a:t>Review sharing, access and policies with tenant owners.</a:t>
            </a:r>
          </a:p>
        </p:txBody>
      </p:sp>
      <p:sp>
        <p:nvSpPr>
          <p:cNvPr id="9" name="content">
            <a:extLst xmlns:a="http://schemas.openxmlformats.org/drawingml/2006/main">
              <a:ext uri="{FF2B5EF4-FFF2-40B4-BE49-F238E27FC236}">
                <a16:creationId xmlns:a16="http://schemas.microsoft.com/office/drawing/2014/main" id="{E03F5BCB-497B-4698-87A1-2B299E1B3D48}"/>
              </a:ext>
            </a:extLst>
          </p:cNvPr>
          <p:cNvSpPr>
            <a:spLocks xmlns:a="http://schemas.openxmlformats.org/drawingml/2006/main" noGrp="1"/>
          </p:cNvSpPr>
          <p:nvPr/>
        </p:nvSpPr>
        <p:spPr>
          <a:xfrm xmlns:a="http://schemas.openxmlformats.org/drawingml/2006/main">
            <a:off x="8715375" y="4591050"/>
            <a:ext cx="2790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F78C4"/>
                </a:solidFill>
              </a:defRPr>
            </a:defPPr>
          </a:lstStyle>
          <a:p xmlns:a="http://schemas.openxmlformats.org/drawingml/2006/main">
            <a:pPr>
              <a:defRPr sz="1875" b="1">
                <a:solidFill>
                  <a:srgbClr val="2F78C4"/>
                </a:solidFill>
              </a:defRPr>
            </a:pPr>
            <a:r>
              <a:rPr sz="1875" b="1">
                <a:solidFill>
                  <a:srgbClr val="2F78C4"/>
                </a:solidFill>
              </a:rPr>
              <a:t>Release decision</a:t>
            </a:r>
          </a:p>
        </p:txBody>
      </p:sp>
      <p:sp>
        <p:nvSpPr>
          <p:cNvPr id="10" name="content">
            <a:extLst xmlns:a="http://schemas.openxmlformats.org/drawingml/2006/main">
              <a:ext uri="{FF2B5EF4-FFF2-40B4-BE49-F238E27FC236}">
                <a16:creationId xmlns:a16="http://schemas.microsoft.com/office/drawing/2014/main" id="{8B23B5DE-DE27-42F3-A28B-17976EB0AAAD}"/>
              </a:ext>
            </a:extLst>
          </p:cNvPr>
          <p:cNvSpPr>
            <a:spLocks xmlns:a="http://schemas.openxmlformats.org/drawingml/2006/main" noGrp="1"/>
          </p:cNvSpPr>
          <p:nvPr/>
        </p:nvSpPr>
        <p:spPr>
          <a:xfrm xmlns:a="http://schemas.openxmlformats.org/drawingml/2006/main">
            <a:off x="8715375" y="4981575"/>
            <a:ext cx="27908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000048"/>
                </a:solidFill>
              </a:defRPr>
            </a:defPPr>
          </a:lstStyle>
          <a:p xmlns:a="http://schemas.openxmlformats.org/drawingml/2006/main">
            <a:pPr>
              <a:defRPr sz="1725" b="0">
                <a:solidFill>
                  <a:srgbClr val="000048"/>
                </a:solidFill>
              </a:defRPr>
            </a:pPr>
            <a:r>
              <a:rPr sz="1725" b="0">
                <a:solidFill>
                  <a:srgbClr val="000048"/>
                </a:solidFill>
              </a:rPr>
              <a:t>M365 and business owners approve rollout and licensing.</a:t>
            </a:r>
          </a:p>
        </p:txBody>
      </p:sp>
      <p:sp>
        <p:nvSpPr>
          <p:cNvPr id="11" name="content">
            <a:extLst xmlns:a="http://schemas.openxmlformats.org/drawingml/2006/main">
              <a:ext uri="{FF2B5EF4-FFF2-40B4-BE49-F238E27FC236}">
                <a16:creationId xmlns:a16="http://schemas.microsoft.com/office/drawing/2014/main" id="{34DD6464-0F72-40DE-A014-FEAD82E40C6B}"/>
              </a:ext>
            </a:extLst>
          </p:cNvPr>
          <p:cNvSpPr>
            <a:spLocks xmlns:a="http://schemas.openxmlformats.org/drawingml/2006/main" noGrp="1"/>
          </p:cNvSpPr>
          <p:nvPr/>
        </p:nvSpPr>
        <p:spPr>
          <a:xfrm xmlns:a="http://schemas.openxmlformats.org/drawingml/2006/main">
            <a:off x="685800" y="60864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565A"/>
                </a:solidFill>
              </a:defRPr>
            </a:defPPr>
          </a:lstStyle>
          <a:p xmlns:a="http://schemas.openxmlformats.org/drawingml/2006/main">
            <a:pPr>
              <a:defRPr sz="1350" b="0">
                <a:solidFill>
                  <a:srgbClr val="53565A"/>
                </a:solidFill>
              </a:defRPr>
            </a:pPr>
            <a:r>
              <a:rPr sz="1350" b="0">
                <a:solidFill>
                  <a:srgbClr val="53565A"/>
                </a:solidFill>
              </a:rPr>
              <a:t>Optional M365 reference. Separate practice, tenant readiness, licensing and service scope apply.</a:t>
            </a:r>
          </a:p>
        </p:txBody>
      </p:sp>
      <p:sp>
        <p:nvSpPr>
          <p:cNvPr id="12" name="content">
            <a:extLst xmlns:a="http://schemas.openxmlformats.org/drawingml/2006/main">
              <a:ext uri="{FF2B5EF4-FFF2-40B4-BE49-F238E27FC236}">
                <a16:creationId xmlns:a16="http://schemas.microsoft.com/office/drawing/2014/main" id="{32E8F2C9-A9ED-4932-B451-DBEC8BEDA622}"/>
              </a:ext>
            </a:extLst>
          </p:cNvPr>
          <p:cNvSpPr>
            <a:spLocks xmlns:a="http://schemas.openxmlformats.org/drawingml/2006/main" noGrp="1"/>
          </p:cNvSpPr>
          <p:nvPr/>
        </p:nvSpPr>
        <p:spPr>
          <a:xfrm xmlns:a="http://schemas.openxmlformats.org/drawingml/2006/main">
            <a:off x="685800" y="64865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CIS Infra / Revision 2 / 10 Oct 2026</a:t>
            </a:r>
          </a:p>
        </p:txBody>
      </p:sp>
      <p:sp>
        <p:nvSpPr>
          <p:cNvPr id="13" name="content">
            <a:extLst xmlns:a="http://schemas.openxmlformats.org/drawingml/2006/main">
              <a:ext uri="{FF2B5EF4-FFF2-40B4-BE49-F238E27FC236}">
                <a16:creationId xmlns:a16="http://schemas.microsoft.com/office/drawing/2014/main" id="{2FA44686-0B49-4293-8F05-2F521DA3CFE0}"/>
              </a:ext>
            </a:extLst>
          </p:cNvPr>
          <p:cNvSpPr>
            <a:spLocks xmlns:a="http://schemas.openxmlformats.org/drawingml/2006/main" noGrp="1"/>
          </p:cNvSpPr>
          <p:nvPr/>
        </p:nvSpPr>
        <p:spPr>
          <a:xfrm xmlns:a="http://schemas.openxmlformats.org/drawingml/2006/main">
            <a:off x="11049000" y="64865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565A"/>
                </a:solidFill>
              </a:defRPr>
            </a:defPPr>
          </a:lstStyle>
          <a:p xmlns:a="http://schemas.openxmlformats.org/drawingml/2006/main">
            <a:pPr>
              <a:defRPr sz="1200" b="0">
                <a:solidFill>
                  <a:srgbClr val="53565A"/>
                </a:solidFill>
              </a:defRPr>
            </a:pPr>
            <a:r>
              <a:rPr sz="1200" b="0">
                <a:solidFill>
                  <a:srgbClr val="53565A"/>
                </a:solidFill>
              </a:rPr>
              <a:t>29</a:t>
            </a:r>
          </a:p>
        </p:txBody>
      </p:sp>
    </p:spTree>
    <p:extLst>
      <p:ext uri="{BB962C8B-B14F-4D97-AF65-F5344CB8AC3E}">
        <p14:creationId xmlns:p14="http://schemas.microsoft.com/office/powerpoint/2010/main" val="1782459459"/>
      </p:ext>
    </p:extLst>
  </p:cSld>
</p:sld>
</file>

<file path=ppt/theme/theme1.xml><?xml version="1.0" encoding="utf-8"?>
<a:theme xmlns:a="http://schemas.openxmlformats.org/drawingml/2006/main" name="ChatGPT">
  <a:themeElements>
    <a:clrScheme name="Cognizant referenc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Gellix"/>
        <a:ea typeface=""/>
        <a:cs typeface=""/>
      </a:majorFont>
      <a:minorFont>
        <a:latin typeface="Gellix"/>
        <a:ea typeface=""/>
        <a:cs typeface=""/>
      </a:minorFont>
    </a:fontScheme>
    <a:fmtScheme name="Cognizant referenc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2026-10-10T15:19:30.1770000Z</dcterms:created>
  <dcterms:modified xsi:type="dcterms:W3CDTF">2026-10-10T15:19:30.1770000Z</dcterms:modified>
</coreProperties>
</file>