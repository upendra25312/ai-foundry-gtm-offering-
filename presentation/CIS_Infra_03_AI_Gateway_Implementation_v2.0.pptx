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Synthetic USD per month</c:v>
                </c:pt>
              </c:strCache>
            </c:strRef>
          </c:tx>
          <c:spPr>
            <a:solidFill>
              <a:srgbClr val="7373D8"/>
            </a:solidFill>
          </c:spPr>
          <c:cat>
            <c:strRef>
              <c:f>Sheet1!$A$2:$A$5</c:f>
              <c:strCache>
                <c:ptCount val="4"/>
                <c:pt idx="0">
                  <c:v>Gateway platform</c:v>
                </c:pt>
                <c:pt idx="1">
                  <c:v>Telemetry and network</c:v>
                </c:pt>
                <c:pt idx="2">
                  <c:v>Content safety</c:v>
                </c:pt>
                <c:pt idx="3">
                  <c:v>Model consumption</c:v>
                </c:pt>
              </c:strCache>
            </c:strRef>
          </c:cat>
          <c:val>
            <c:numRef>
              <c:f>Sheet1!$B$2:$B$5</c:f>
              <c:numCache>
                <c:formatCode>General</c:formatCode>
                <c:ptCount val="4"/>
                <c:pt idx="0">
                  <c:v>1200</c:v>
                </c:pt>
                <c:pt idx="1">
                  <c:v>300</c:v>
                </c:pt>
                <c:pt idx="2">
                  <c:v>100</c:v>
                </c:pt>
                <c:pt idx="3">
                  <c:v>2400</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0D0CE"/>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E3E3E3"/>
              </a:solidFill>
            </a:ln>
          </c:spPr>
        </c:majorGridlines>
        <c:numFmt formatCode="$#,##0" sourceLinked="0"/>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purpose: open the leadership review of the CIS Infra AI Gateway Implementation offering.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Sell when several consumers, identity controls, cost allocation or routing justify a shared gateway. A single low-risk application may not justify a new service. The gateway controls only traffic routed through it.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 roles and triggers for the gateway offering.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gateway depends on the landing zone network and identity, uses the capacity plan from offering 04 for routing, and is an enforcement point for agent containment in offering 02.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CIS Infra owns the gateway platform, network and service health. Security owns identity design and safety policy requirements. AI owns API contracts, model routing choices and behaviour tests. DevOps owns policy deployment pipelines. Finance and the customer own budgets and cost allocation rules.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view replacing the legacy identity diagram (old slide 8). No legacy model labels are used; backends are shown as deployment types, not model names.</a:t>
            </a:r>
          </a:p>
          <a:p/>
          <a:p>
            <a:r>
              <a:t>Steps: (1) app or agent obtains an Entra token; (2) API Management validates the token and maps the caller to a counter key; (3) inbound policies apply token and request limits and the content-safety check; (4) the backend policy routes to the PTU deployment first and to an approved PAYG deployment on 429, using managed identity; (5) tool calls go to tool APIs under their own policies and tool-side authorisation; (6) outbound policies check completions and emit token metrics to Application Insights. Direct calls from apps to model endpoints are blocked by private endpoints and disabled local auth.</a:t>
            </a:r>
          </a:p>
          <a:p/>
          <a:p>
            <a:r>
              <a:t>Sources (checked 11 Oct 2026):</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r>
              <a:t>Provisioned throughput concepts: https://learn.microsoft.com/en-us/azure/foundry/openai/concepts/provisioned-throughput</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against Microsoft Learn on 11 Oct 2026. llm-token-limit "tracks token usage independently at each gateway ... It doesn't aggregate token counts across the entire instance." Concurrent requests "can temporarily exceed the configured token limit". With streaming, prompt and completion tokens are estimated. The policy counts prompt and completion tokens only. Content safety returns 403; with streaming it stops forwarding without a 403.</a:t>
            </a:r>
          </a:p>
          <a:p/>
          <a:p>
            <a:r>
              <a:t>Sources (checked 11 Oct 2026):</a:t>
            </a:r>
          </a:p>
          <a:p>
            <a:r>
              <a:t>APIM llm-token-limit policy: https://learn.microsoft.com/en-us/azure/api-management/llm-token-limit-policy</a:t>
            </a:r>
          </a:p>
          <a:p>
            <a:r>
              <a:t>APIM llm-content-safety policy: https://learn.microsoft.com/en-us/azure/api-management/llm-content-safety-policy</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Improves the distinction between platform cost, model consumption and implementation fees (audit finding). Platform and model prices are Azure Retail Prices API list prices for East US 2 in USD, retrieved 11 Oct 2026, at 730 hours per month; enterprise agreements differ. The AI Gateway tier meter shows $0.00 but Microsoft states pricing will be announced later in the preview; do not treat it as free. Implementation fees have no approved rate; the formula is shown.</a:t>
            </a:r>
          </a:p>
          <a:p/>
          <a:p>
            <a:r>
              <a:t>Sources (checked 11 Oct 2026):</a:t>
            </a:r>
          </a:p>
          <a:p>
            <a:r>
              <a:t>Azure Retail Prices API: API Management, East US 2: https://prices.azure.com/api/retail/prices?$filter=serviceName eq 'API Management' and armRegionName eq 'eastus2'</a:t>
            </a:r>
          </a:p>
          <a:p>
            <a:r>
              <a:t>Azure Retail Prices API: Azure OpenAI gpt-4.1, East US 2: https://prices.azure.com/api/retail/prices?$filter=productName eq 'Azure OpenAI' and armRegionName eq 'eastus2'</a:t>
            </a:r>
          </a:p>
          <a:p>
            <a:r>
              <a:t>AI Gateway tier (preview) overview: https://learn.microsoft.com/en-us/azure/api-management/ai-gateway-overview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dependencies and risks for the gateway offering.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Measures are definitions; thresholds agreed in the SOW after load tests. Full decision register in appendix D1.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divider.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Each entry links to the appendix slide. Use the Index link in the footer of any appendix slide to return here.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 placement follows API Management inbound, backend and outbound sections. Exact policies vary by tier and API type; verify per deployment.</a:t>
            </a:r>
          </a:p>
          <a:p/>
          <a:p>
            <a:r>
              <a:t>Sources (checked 11 Oct 2026):</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Management can expose REST APIs as MCP servers, pass through to existing MCP servers, and import A2A agent APIs. Tool calls change systems, so they need authorisation on the tool side as well as at the gateway.</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44_azure-openai-gateway-identity-solution-combined.png (Microsoft Azure OpenAI gateway custom authentication guide). The source labels two backends "gpt-35-turbo (1106 | 30K TPM)" and "Azure OpenAI"; those legacy labels are replaced with "model deployment" and "Microsoft Foundry", and the TPM example is removed. The original is kept only as a historical reference (appendix O2).</a:t>
            </a:r>
          </a:p>
          <a:p/>
          <a:p>
            <a:r>
              <a:t>Pattern: the client obtains a JWT from the identity provider and calls the gateway with the JWT and, optionally, a subscription key for product mapping. The gateway validates the JWT, then calls regional Foundry resources with its managed identity. Subscription keys alone are not user identity.</a:t>
            </a:r>
          </a:p>
          <a:p/>
          <a:p>
            <a:r>
              <a:t>Sources (checked 11 Oct 2026):</a:t>
            </a:r>
          </a:p>
          <a:p>
            <a:r>
              <a:t>https://github.com/upendra25312/AI-Foundry-GTM-offering-/blob/main/architectures/44_azure-openai-gateway-identity-solution-combined.png</a:t>
            </a:r>
          </a:p>
          <a:p>
            <a:r>
              <a:t>https://github.com/upendra25312/AI-Foundry-GTM-offering-/blob/main/architectures/14_azure-openai-authentication.vsdx</a:t>
            </a:r>
          </a:p>
          <a:p>
            <a:r>
              <a:t>https://learn.microsoft.com/en-us/azure/architecture/ai-ml/guide/azure-openai-gateway-custom-authentication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llm-token-limit supports tokens-per-minute and token-quota with Hourly, Daily, Weekly, Monthly or Yearly periods; exceeding a rate limit returns 429, exceeding a quota returns 403. The counter key accepts policy expressions; use a claim from the validated token, not a caller-supplied header. Example values are illustrative: 20,000 TPM and 2M daily tokens per application.</a:t>
            </a:r>
          </a:p>
          <a:p/>
          <a:p>
            <a:r>
              <a:t>Sources (checked 11 Oct 2026):</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29_token-rate-limiting.png (609 x 297 px, dark background, OpenAI logo). The source shows requests funnelling through API Management rate-limiting policies to a model backend. Rebuilt with the official API Management and Foundry Models icons and the verified response codes. Original kept in appendix O5 for traceability.</a:t>
            </a:r>
          </a:p>
          <a:p/>
          <a:p>
            <a:r>
              <a:t>Sources (checked 11 Oct 2026):</a:t>
            </a:r>
          </a:p>
          <a:p>
            <a:r>
              <a:t>https://github.com/upendra25312/AI-Foundry-GTM-offering-/blob/main/architectures/29_token-rate-limiting.png</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Quoted from Microsoft Learn llm-token-limit policy: "tracks token usage independently at each gateway where it is applied, including workspace gateways and regional gateways in a multi-region deployment. It doesn't aggregate token counts across the entire instance." "concurrent or near-concurrent requests can temporarily exceed the configured token limit." "When streaming is enabled ... prompt tokens are always estimated ... Completion tokens are also estimated." v2 tiers use a token bucket algorithm; classic tiers a sliding window. The policy counts prompt and completion tokens only.</a:t>
            </a:r>
          </a:p>
          <a:p/>
          <a:p>
            <a:r>
              <a:t>Sources (checked 11 Oct 2026):</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 and concurrency policies complement token limits. A budget control in currency needs price per model and token type and a service designed for bounded overshoot; API Management token limits alone are not a currency cap.</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32_backend-load-balancing.png (708 x 422 px). The source shows a backend pool with one unavailable backend and requests flowing to another region or instance. API Management load-balancer modes (verified): round-robin, weighted, priority-based and session-aware. Priorities can favour PTU endpoints. Route only to approved models, regions and deployments with available capacity; retries, failover and PTU overflow can increase PAYG spend.</a:t>
            </a:r>
          </a:p>
          <a:p/>
          <a:p>
            <a:r>
              <a:t>Sources (checked 11 Oct 2026):</a:t>
            </a:r>
          </a:p>
          <a:p>
            <a:r>
              <a:t>https://github.com/upendra25312/AI-Foundry-GTM-offering-/blob/main/architectures/32_backend-load-balancing.png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33_backend-circuit-breaker.png (715 x 253 px). Verified: the circuit breaker features dynamic trip duration using the backend Retry-After header. Configure trip conditions (for example 429 and 5xx counts in an interval) and recovery. A circuit breaker does not cancel work already running or revoke an agent tool permission; it is not an agent kill switch.</a:t>
            </a:r>
          </a:p>
          <a:p/>
          <a:p>
            <a:r>
              <a:t>Sources (checked 11 Oct 2026):</a:t>
            </a:r>
          </a:p>
          <a:p>
            <a:r>
              <a:t>https://github.com/upendra25312/AI-Foundry-GTM-offering-/blob/main/architectures/33_backend-circuit-breaker.png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Foundry spillover (verified): optional configuration that routes overflow requests from a fully utilised provisioned deployment (non-200 such as 429) to a corresponding standard deployment in the same Foundry resource; set per deployment or per request with the x-ms-spillover-deployment header; Azure OpenAI models support it, Azure DeepSeek and Meta Llama do not currently. API Management priority routing works across resources and regions but must be kept within the approved processing boundary.</a:t>
            </a:r>
          </a:p>
          <a:p/>
          <a:p>
            <a:r>
              <a:t>Sources (checked 11 Oct 2026):</a:t>
            </a:r>
          </a:p>
          <a:p>
            <a:r>
              <a:t>Provisioned throughput concepts: https://learn.microsoft.com/en-us/azure/foundry/openai/concepts/provisioned-throughput</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31_content-safety.png (622 x 332 px). The source labels the safety service "Content Safety in Foundry Control Plane"; the verified implementation is the API Management llm-content-safety policy calling a configured Azure AI Content Safety resource through a backend with managed identity (Cognitive Services User role). Verified behaviour: categories Hate, SelfHarm, Sexual, Violence with thresholds; shield-prompt checks user attacks; blocklists supported; inbound checks requests, outbound checks responses; violation returns 403; with streaming, forwarding stops without a 403. Not a universal DLP, transaction approval or agent authorisation engine.</a:t>
            </a:r>
          </a:p>
          <a:p/>
          <a:p>
            <a:r>
              <a:t>Sources (checked 11 Oct 2026):</a:t>
            </a:r>
          </a:p>
          <a:p>
            <a:r>
              <a:t>https://github.com/upendra25312/AI-Foundry-GTM-offering-/blob/main/architectures/31_content-safety.png</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safety moderates content; it does not authorise actions. Tool authorisation decides whether this caller may do this operation on this target. Human approval gates high-impact or irreversible actions. API Management can front MCP servers and use the credential manager for OAuth to downstream tools.</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34_emit-token-metrics.png (709 x 318 px). Verified: llm-emit-token-metric emits token counts with custom dimensions (for example client IP, API ID, user ID) to Application Insights; prompts, completions and token usage can be logged to Azure Monitor and Application Insights. Use identity-derived dimensions (app, agent, team) for allocation; avoid sensitive payloads in logs and agree retention.</a:t>
            </a:r>
          </a:p>
          <a:p/>
          <a:p>
            <a:r>
              <a:t>Sources (checked 11 Oct 2026):</a:t>
            </a:r>
          </a:p>
          <a:p>
            <a:r>
              <a:t>https://github.com/upendra25312/AI-Foundry-GTM-offering-/blob/main/architectures/34_emit-token-metrics.png</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Multi-region deployment is available only in Premium (classic) per the feature comparison (updated 2026-06-18). Standard v2 supports inbound private endpoint and outbound VNet integration; Premium v2 adds VNet injection and availability zones. Original references 20 and 21 show one gateway with regional backends and a multi-region gateway (appendix O3, O4).</a:t>
            </a:r>
          </a:p>
          <a:p/>
          <a:p>
            <a:r>
              <a:t>Sources (checked 11 Oct 2026):</a:t>
            </a:r>
          </a:p>
          <a:p>
            <a:r>
              <a:t>API Management feature comparison by tier: https://learn.microsoft.com/en-us/azure/api-management/api-management-features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gateway controls only traffic routed through it. These controls close or detect ungoverned direct paths. Each must be tested with a negative test.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as stated on Microsoft Learn on 11 Oct 2026. "No label" means the page does not mark the feature as preview; confirm GA status for the exact tier and region before contract.</a:t>
            </a:r>
          </a:p>
          <a:p/>
          <a:p>
            <a:r>
              <a:t>Sources (checked 11 Oct 2026):</a:t>
            </a:r>
          </a:p>
          <a:p>
            <a:r>
              <a:t>AI Gateway tier (preview) overview: https://learn.microsoft.com/en-us/azure/api-management/ai-gateway-overview</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Selected capabilities from the API Management feature comparison (updated 2026-06-18), not a complete comparison. Developer tier has no SLA. SKU selection is not a capacity guarantee; see the region snapshot.</a:t>
            </a:r>
          </a:p>
          <a:p/>
          <a:p>
            <a:r>
              <a:t>Sources (checked 11 Oct 2026):</a:t>
            </a:r>
          </a:p>
          <a:p>
            <a:r>
              <a:t>API Management feature comparison by tier: https://learn.microsoft.com/en-us/azure/api-management/api-management-features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 from the API Management v2 region availability page (updated 2026-09-28). Creation blocked = Microsoft notice that new instance creation is temporarily unavailable; existing instances are not affected. Not listed = not shown as supported on that date; it is not a prediction. This is a selected-region view for US, EU, UK and Middle East pursuits, not a global list. Qatar Central and Saudi Arabia regions are not in the table. AI Gateway tier (preview) regions: East US 2 and Sweden Central only. Published availability is not subscription quota or deployable capacity.</a:t>
            </a:r>
          </a:p>
          <a:p/>
          <a:p>
            <a:r>
              <a:t>Sources (checked 11 Oct 2026):</a:t>
            </a:r>
          </a:p>
          <a:p>
            <a:r>
              <a:t>API Management v2 tier region availability: https://learn.microsoft.com/en-us/azure/api-management/api-management-region-availability</a:t>
            </a:r>
          </a:p>
          <a:p>
            <a:r>
              <a:t>AI Gateway tier (preview) overview: https://learn.microsoft.com/en-us/azure/api-management/ai-gateway-overview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Retail Prices API, region eastus2, USD, consumption list prices, retrieved 11 Oct 2026. Monthly = hourly x 730. Call meters show $0 up to the included tier, then the listed price per 10,000 calls. AI Gateway tier meter shows $0.00 per 10K requests effective 2026-09-01, while Microsoft states pricing will be announced; treat as unknown. Enterprise agreement prices differ.</a:t>
            </a:r>
          </a:p>
          <a:p/>
          <a:p>
            <a:r>
              <a:t>Sources (checked 11 Oct 2026):</a:t>
            </a:r>
          </a:p>
          <a:p>
            <a:r>
              <a:t>Azure Retail Prices API: API Management, East US 2: https://prices.azure.com/api/retail/prices?$filter=serviceName eq 'API Management'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example carried from the baseline deck (old slides 20 and 21) and kept separate from verified prices. Round planning inputs in USD per month: gateway allowance 1,200; telemetry and network 300; safety 100; model 2,400; total 4,000. These are not observed Azure rates, SKU prices or customer estimates. Implementation services are excluded. Replace every input with dated meter-based quantities.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Caching is optional and must preserve tenant and document permission isolation. Do not reuse protected answers across users without an approved permission-aware key and invalidation design.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acceptance criteria. Agree test cases, thresholds and exception authority in the SOW.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Icons: official Azure icons. Container Apps is shown as one example of a customer-hosted runtime; AKS is equivalent. Function App represents an example tool host.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Separates Cognizant services revenue from customer-paid Azure consumption. Where internal sell rates or enterprise Azure rates are unavailable, the formula and the missing input owner are shown instead of a number. </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Budget and allocation rules: the commercial or finance owner is accountable, with the customer budget owner consulted through the customer workload owner column.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Readiness criteria for this offering. Timelines and staffing are estimates only and require named tower commitments. Use this as the qualification and SOW checklist.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Unresolved decisions for this offering. "Now" means leadership can decide at this review. Other items depend on pilot evidence, Finance approval or specialist tower agreement. The consolidated register is delivered as a separate workbook.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https://github.com/upendra25312/AI-Foundry-GTM-offering-/blob/main/architectures/38_foundry-gateway-conceptual-architecture.png</a:t>
            </a:r>
          </a:p>
          <a:p>
            <a:r>
              <a:t>Editable Visio: https://github.com/upendra25312/AI-Foundry-GTM-offering-/blob/main/architectures/12_foundry-gateway-conceptual-architecture.vsdx</a:t>
            </a:r>
          </a:p>
          <a:p>
            <a:r>
              <a:t>Microsoft source: https://learn.microsoft.com/en-us/azure/architecture/ai-ml/guide/azure-openai-gateway-guide</a:t>
            </a:r>
          </a:p>
          <a:p/>
          <a:p>
            <a:r>
              <a:t>Conceptual functions; queuing and compute may need services beyond one API Management tier.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https://github.com/upendra25312/AI-Foundry-GTM-offering-/blob/main/architectures/44_azure-openai-gateway-identity-solution-combined.png</a:t>
            </a:r>
          </a:p>
          <a:p>
            <a:r>
              <a:t>Editable Visio: https://github.com/upendra25312/AI-Foundry-GTM-offering-/blob/main/architectures/14_azure-openai-authentication.vsdx</a:t>
            </a:r>
          </a:p>
          <a:p>
            <a:r>
              <a:t>Microsoft source: https://learn.microsoft.com/en-us/azure/architecture/ai-ml/guide/azure-openai-gateway-custom-authentication</a:t>
            </a:r>
          </a:p>
          <a:p/>
          <a:p>
            <a:r>
              <a:t>HISTORICAL: legacy gpt-35-turbo and Azure OpenAI labels. Do not use in proposals; use appendix A3.</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https://github.com/upendra25312/AI-Foundry-GTM-offering-/blob/main/architectures/20_multiple-regions-api-management-single-after.png</a:t>
            </a:r>
          </a:p>
          <a:p>
            <a:r>
              <a:t>Microsoft source: https://learn.microsoft.com/en-us/azure/architecture/ai-ml/guide/azure-openai-gateway-guide</a:t>
            </a:r>
          </a:p>
          <a:p/>
          <a:p>
            <a:r>
              <a:t>Source labels "rt-foundry-westus" appear to mean resource group; backend failover keeps one gateway failure domain.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https://github.com/upendra25312/AI-Foundry-GTM-offering-/blob/main/architectures/21_multiple-regions-api-management-multiple-after.png</a:t>
            </a:r>
          </a:p>
          <a:p>
            <a:r>
              <a:t>Microsoft source: https://learn.microsoft.com/en-us/azure/architecture/ai-ml/guide/azure-openai-gateway-guide</a:t>
            </a:r>
          </a:p>
          <a:p/>
          <a:p>
            <a:r>
              <a:t>Built-in multi-region API Management needs Premium (classic).</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source PNGs (609 to 715 px wide, dark theme, third-party OpenAI logo) are kept only for traceability and shown at or below native size. Rebuilt editable versions: A5 (29), A11 (31), A8 (32), A9 (33), A13 (34). Sources: https://github.com/upendra25312/AI-Foundry-GTM-offering-/blob/main/architectures/29_token-rate-limiting.png, https://github.com/upendra25312/AI-Foundry-GTM-offering-/blob/main/architectures/31_content-safety.png, https://github.com/upendra25312/AI-Foundry-GTM-offering-/blob/main/architectures/32_backend-load-balancing.png, https://github.com/upendra25312/AI-Foundry-GTM-offering-/blob/main/architectures/33_backend-circuit-breaker.png, https://github.com/upendra25312/AI-Foundry-GTM-offering-/blob/main/architectures/34_emit-token-metrics.png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source register (URL, date checked, product, deployment type, region, SKU, GA or preview status, limitations) is provided as a separate workbook. Links below are clickable in slideshow mode.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17.png"/><Relationship Id="rId13" Type="http://schemas.openxmlformats.org/officeDocument/2006/relationships/image" Target="../media/image20.svg"/><Relationship Id="rId14" Type="http://schemas.openxmlformats.org/officeDocument/2006/relationships/image" Target="../media/image19.png"/><Relationship Id="rId15" Type="http://schemas.openxmlformats.org/officeDocument/2006/relationships/image" Target="../media/image22.svg"/><Relationship Id="rId16" Type="http://schemas.openxmlformats.org/officeDocument/2006/relationships/image" Target="../media/image21.png"/><Relationship Id="rId17" Type="http://schemas.openxmlformats.org/officeDocument/2006/relationships/image" Target="../media/image2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25.png"/><Relationship Id="rId9" Type="http://schemas.openxmlformats.org/officeDocument/2006/relationships/image" Target="../media/image28.svg"/><Relationship Id="rId10" Type="http://schemas.openxmlformats.org/officeDocument/2006/relationships/image" Target="../media/image27.png"/><Relationship Id="rId11" Type="http://schemas.openxmlformats.org/officeDocument/2006/relationships/image" Target="../media/image30.svg"/><Relationship Id="rId12" Type="http://schemas.openxmlformats.org/officeDocument/2006/relationships/image" Target="../media/image13.png"/><Relationship Id="rId13" Type="http://schemas.openxmlformats.org/officeDocument/2006/relationships/image" Target="../media/image16.svg"/><Relationship Id="rId1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3.png"/><Relationship Id="rId11" Type="http://schemas.openxmlformats.org/officeDocument/2006/relationships/image" Target="../media/image16.svg"/><Relationship Id="rId12" Type="http://schemas.openxmlformats.org/officeDocument/2006/relationships/image" Target="../media/image29.png"/><Relationship Id="rId13" Type="http://schemas.openxmlformats.org/officeDocument/2006/relationships/image" Target="../media/image32.svg"/><Relationship Id="rId1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image" Target="../media/image15.png"/><Relationship Id="rId5" Type="http://schemas.openxmlformats.org/officeDocument/2006/relationships/image" Target="../media/image18.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31.png"/><Relationship Id="rId9" Type="http://schemas.openxmlformats.org/officeDocument/2006/relationships/image" Target="../media/image34.svg"/><Relationship Id="rId10"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21.png"/><Relationship Id="rId7" Type="http://schemas.openxmlformats.org/officeDocument/2006/relationships/image" Target="../media/image24.svg"/><Relationship Id="rId8" Type="http://schemas.openxmlformats.org/officeDocument/2006/relationships/image" Target="../media/image33.png"/><Relationship Id="rId9" Type="http://schemas.openxmlformats.org/officeDocument/2006/relationships/image" Target="../media/image36.svg"/><Relationship Id="rId10" Type="http://schemas.openxmlformats.org/officeDocument/2006/relationships/image" Target="../media/image35.png"/><Relationship Id="rId11" Type="http://schemas.openxmlformats.org/officeDocument/2006/relationships/image" Target="../media/image38.svg"/><Relationship Id="rId12"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chart" Target="../charts/chart1.xml"/><Relationship Id="rId5"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image" Target="../media/image37.png"/><Relationship Id="rId5" Type="http://schemas.openxmlformats.org/officeDocument/2006/relationships/hyperlink" Target="https://github.com/upendra25312/AI-Foundry-GTM-offering-/blob/main/architectures/38_foundry-gateway-conceptual-architecture.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image" Target="../media/image39.png"/><Relationship Id="rId5" Type="http://schemas.openxmlformats.org/officeDocument/2006/relationships/hyperlink" Target="https://github.com/upendra25312/AI-Foundry-GTM-offering-/blob/main/architectures/44_azure-openai-gateway-identity-solution-combined.png" TargetMode="External"/><Relationship Id="rId6" Type="http://schemas.openxmlformats.org/officeDocument/2006/relationships/hyperlink" Target="https://learn.microsoft.com/en-us/azure/architecture/ai-ml/guide/azure-openai-gateway-custom-authentication" TargetMode="External"/><Relationship Id="rId7"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image" Target="../media/image40.png"/><Relationship Id="rId5" Type="http://schemas.openxmlformats.org/officeDocument/2006/relationships/hyperlink" Target="https://github.com/upendra25312/AI-Foundry-GTM-offering-/blob/main/architectures/20_multiple-regions-api-management-single-after.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image" Target="../media/image41.png"/><Relationship Id="rId5" Type="http://schemas.openxmlformats.org/officeDocument/2006/relationships/hyperlink" Target="https://github.com/upendra25312/AI-Foundry-GTM-offering-/blob/main/architectures/21_multiple-regions-api-management-multiple-after.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hyperlink" Target="https://learn.microsoft.com/en-us/azure/api-management/genai-gateway-capabilities" TargetMode="External"/><Relationship Id="rId5" Type="http://schemas.openxmlformats.org/officeDocument/2006/relationships/hyperlink" Target="https://learn.microsoft.com/en-us/azure/api-management/llm-token-limit-policy" TargetMode="External"/><Relationship Id="rId6" Type="http://schemas.openxmlformats.org/officeDocument/2006/relationships/hyperlink" Target="https://learn.microsoft.com/en-us/azure/api-management/llm-content-safety-policy" TargetMode="External"/><Relationship Id="rId7" Type="http://schemas.openxmlformats.org/officeDocument/2006/relationships/hyperlink" Target="https://learn.microsoft.com/en-us/azure/api-management/ai-gateway-overview" TargetMode="External"/><Relationship Id="rId8" Type="http://schemas.openxmlformats.org/officeDocument/2006/relationships/hyperlink" Target="https://learn.microsoft.com/en-us/azure/api-management/api-management-features" TargetMode="External"/><Relationship Id="rId9" Type="http://schemas.openxmlformats.org/officeDocument/2006/relationships/hyperlink" Target="https://learn.microsoft.com/en-us/azure/api-management/api-management-region-availability" TargetMode="External"/><Relationship Id="rId10" Type="http://schemas.openxmlformats.org/officeDocument/2006/relationships/hyperlink" Target="https://prices.azure.com/api/retail/prices?$filter=serviceName eq 'API Management' and armRegionName eq 'eastus2'" TargetMode="External"/><Relationship Id="rId11" Type="http://schemas.openxmlformats.org/officeDocument/2006/relationships/hyperlink" Target="https://prices.azure.com/api/retail/prices?$filter=productName eq 'Azure OpenAI' and armRegionName eq 'eastus2'" TargetMode="External"/><Relationship Id="rId12" Type="http://schemas.openxmlformats.org/officeDocument/2006/relationships/hyperlink" Target="https://learn.microsoft.com/en-us/azure/foundry/openai/concepts/provisioned-throughput" TargetMode="External"/><Relationship Id="rId13" Type="http://schemas.openxmlformats.org/officeDocument/2006/relationships/hyperlink" Target="https://prices.azure.com/api/retail/prices?$filter=serviceName eq 'Log Analytics' and armRegionName eq 'eastus2'" TargetMode="External"/><Relationship Id="rId14" Type="http://schemas.openxmlformats.org/officeDocument/2006/relationships/hyperlink" Target="https://learn.microsoft.com/en-us/azure/architecture/icons/" TargetMode="External"/><Relationship Id="rId15" Type="http://schemas.openxmlformats.org/officeDocument/2006/relationships/hyperlink" Target="https://az-icons.com/" TargetMode="External"/><Relationship Id="rId16" Type="http://schemas.openxmlformats.org/officeDocument/2006/relationships/hyperlink" Target="https://learn.microsoft.com/en-us/azure/architecture/ai-ml/guide/azure-openai-gateway-guide" TargetMode="External"/><Relationship Id="rId17" Type="http://schemas.openxmlformats.org/officeDocument/2006/relationships/hyperlink" Target="https://learn.microsoft.com/en-us/azure/architecture/ai-ml/guide/azure-openai-gateway-custom-authentication" TargetMode="External"/><Relationship Id="rId18"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Gateway Implementation</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Govern model and tool traffic through one controlled, observable path</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Azure API Management AI gateway: identity, token budgets, routing, safety, telemetry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2.0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one governed path for model and tool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554480" cy="457200"/>
          </a:xfrm>
          <a:prstGeom prst="rect">
            <a:avLst/>
          </a:prstGeom>
          <a:noFill/>
        </p:spPr>
        <p:txBody>
          <a:bodyPr wrap="square" lIns="0" rIns="0" tIns="0" bIns="0" anchor="t">
            <a:noAutofit/>
          </a:bodyPr>
          <a:lstStyle/>
          <a:p>
            <a:pPr algn="l"/>
            <a:r>
              <a:rPr sz="2000" b="1" i="0">
                <a:solidFill>
                  <a:srgbClr val="2F78C4"/>
                </a:solidFill>
                <a:latin typeface="Arial"/>
              </a:rPr>
              <a:t>Problem</a:t>
            </a:r>
          </a:p>
        </p:txBody>
      </p:sp>
      <p:sp>
        <p:nvSpPr>
          <p:cNvPr id="9" name="TextBox 8"/>
          <p:cNvSpPr txBox="1"/>
          <p:nvPr/>
        </p:nvSpPr>
        <p:spPr>
          <a:xfrm>
            <a:off x="2103120" y="1371600"/>
            <a:ext cx="5120640" cy="1234440"/>
          </a:xfrm>
          <a:prstGeom prst="rect">
            <a:avLst/>
          </a:prstGeom>
          <a:noFill/>
        </p:spPr>
        <p:txBody>
          <a:bodyPr wrap="square" lIns="0" rIns="0" tIns="0" bIns="0" anchor="t">
            <a:noAutofit/>
          </a:bodyPr>
          <a:lstStyle/>
          <a:p>
            <a:pPr algn="l"/>
            <a:r>
              <a:rPr sz="2000" b="0" i="0">
                <a:solidFill>
                  <a:srgbClr val="1E1E2E"/>
                </a:solidFill>
                <a:latin typeface="Arial"/>
              </a:rPr>
              <a:t>Apps and agents call models and tools directly, often with keys. There are no shared limits, routing, cost allocation or safety checks.</a:t>
            </a:r>
          </a:p>
        </p:txBody>
      </p:sp>
      <p:sp>
        <p:nvSpPr>
          <p:cNvPr id="10" name="TextBox 9"/>
          <p:cNvSpPr txBox="1"/>
          <p:nvPr/>
        </p:nvSpPr>
        <p:spPr>
          <a:xfrm>
            <a:off x="548640" y="2670048"/>
            <a:ext cx="1554480" cy="457200"/>
          </a:xfrm>
          <a:prstGeom prst="rect">
            <a:avLst/>
          </a:prstGeom>
          <a:noFill/>
        </p:spPr>
        <p:txBody>
          <a:bodyPr wrap="square" lIns="0" rIns="0" tIns="0" bIns="0" anchor="t">
            <a:noAutofit/>
          </a:bodyPr>
          <a:lstStyle/>
          <a:p>
            <a:pPr algn="l"/>
            <a:r>
              <a:rPr sz="2000" b="1" i="0">
                <a:solidFill>
                  <a:srgbClr val="2F78C4"/>
                </a:solidFill>
                <a:latin typeface="Arial"/>
              </a:rPr>
              <a:t>Offer</a:t>
            </a:r>
          </a:p>
        </p:txBody>
      </p:sp>
      <p:sp>
        <p:nvSpPr>
          <p:cNvPr id="11" name="TextBox 10"/>
          <p:cNvSpPr txBox="1"/>
          <p:nvPr/>
        </p:nvSpPr>
        <p:spPr>
          <a:xfrm>
            <a:off x="2103120" y="2670048"/>
            <a:ext cx="5120640" cy="1234440"/>
          </a:xfrm>
          <a:prstGeom prst="rect">
            <a:avLst/>
          </a:prstGeom>
          <a:noFill/>
        </p:spPr>
        <p:txBody>
          <a:bodyPr wrap="square" lIns="0" rIns="0" tIns="0" bIns="0" anchor="t">
            <a:noAutofit/>
          </a:bodyPr>
          <a:lstStyle/>
          <a:p>
            <a:pPr algn="l"/>
            <a:r>
              <a:rPr sz="2000" b="0" i="0">
                <a:solidFill>
                  <a:srgbClr val="1E1E2E"/>
                </a:solidFill>
                <a:latin typeface="Arial"/>
              </a:rPr>
              <a:t>CIS Infra designs and builds an API Management AI gateway, its policies and its private network, and closes bypass routes.</a:t>
            </a:r>
          </a:p>
        </p:txBody>
      </p:sp>
      <p:sp>
        <p:nvSpPr>
          <p:cNvPr id="12" name="TextBox 11"/>
          <p:cNvSpPr txBox="1"/>
          <p:nvPr/>
        </p:nvSpPr>
        <p:spPr>
          <a:xfrm>
            <a:off x="548640" y="3968496"/>
            <a:ext cx="1554480" cy="457200"/>
          </a:xfrm>
          <a:prstGeom prst="rect">
            <a:avLst/>
          </a:prstGeom>
          <a:noFill/>
        </p:spPr>
        <p:txBody>
          <a:bodyPr wrap="square" lIns="0" rIns="0" tIns="0" bIns="0" anchor="t">
            <a:noAutofit/>
          </a:bodyPr>
          <a:lstStyle/>
          <a:p>
            <a:pPr algn="l"/>
            <a:r>
              <a:rPr sz="2000" b="1" i="0">
                <a:solidFill>
                  <a:srgbClr val="2F78C4"/>
                </a:solidFill>
                <a:latin typeface="Arial"/>
              </a:rPr>
              <a:t>Outcome</a:t>
            </a:r>
          </a:p>
        </p:txBody>
      </p:sp>
      <p:sp>
        <p:nvSpPr>
          <p:cNvPr id="13" name="TextBox 12"/>
          <p:cNvSpPr txBox="1"/>
          <p:nvPr/>
        </p:nvSpPr>
        <p:spPr>
          <a:xfrm>
            <a:off x="2103120" y="3968496"/>
            <a:ext cx="5120640" cy="1234440"/>
          </a:xfrm>
          <a:prstGeom prst="rect">
            <a:avLst/>
          </a:prstGeom>
          <a:noFill/>
        </p:spPr>
        <p:txBody>
          <a:bodyPr wrap="square" lIns="0" rIns="0" tIns="0" bIns="0" anchor="t">
            <a:noAutofit/>
          </a:bodyPr>
          <a:lstStyle/>
          <a:p>
            <a:pPr algn="l"/>
            <a:r>
              <a:rPr sz="2000" b="0" i="0">
                <a:solidFill>
                  <a:srgbClr val="1E1E2E"/>
                </a:solidFill>
                <a:latin typeface="Arial"/>
              </a:rPr>
              <a:t>Every governed call is authenticated, metered, attributable and routable. Ungoverned paths are closed or listed.</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000" b="1" i="0">
                <a:solidFill>
                  <a:srgbClr val="FFFFFF"/>
                </a:solidFill>
                <a:latin typeface="Arial"/>
              </a:rPr>
              <a:t>Decision requested</a:t>
            </a:r>
          </a:p>
          <a:p>
            <a:pPr algn="l" marL="201168" indent="-201168">
              <a:spcAft>
                <a:spcPts val="1000"/>
              </a:spcAft>
              <a:buFont typeface="Arial"/>
              <a:buChar char="•"/>
            </a:pPr>
            <a:r>
              <a:rPr sz="1800" b="0" i="0">
                <a:solidFill>
                  <a:srgbClr val="FFFFFF"/>
                </a:solidFill>
                <a:latin typeface="Arial"/>
              </a:rPr>
              <a:t>Production on GA API Management tiers; AI Gateway tier only as a pilot</a:t>
            </a:r>
          </a:p>
          <a:p>
            <a:pPr algn="l" marL="201168" indent="-201168">
              <a:spcAft>
                <a:spcPts val="1000"/>
              </a:spcAft>
              <a:buFont typeface="Arial"/>
              <a:buChar char="•"/>
            </a:pPr>
            <a:r>
              <a:rPr sz="1800" b="0" i="0">
                <a:solidFill>
                  <a:srgbClr val="FFFFFF"/>
                </a:solidFill>
                <a:latin typeface="Arial"/>
              </a:rPr>
              <a:t>Approve the policy scope and owners</a:t>
            </a:r>
          </a:p>
          <a:p>
            <a:pPr algn="l" marL="201168" indent="-201168">
              <a:spcAft>
                <a:spcPts val="1000"/>
              </a:spcAft>
              <a:buFont typeface="Arial"/>
              <a:buChar char="•"/>
            </a:pPr>
            <a:r>
              <a:rPr sz="1800" b="0" i="0">
                <a:solidFill>
                  <a:srgbClr val="FFFFFF"/>
                </a:solidFill>
                <a:latin typeface="Arial"/>
              </a:rPr>
              <a:t>Accept that token caps are not exact currency caps</a:t>
            </a:r>
          </a:p>
        </p:txBody>
      </p:sp>
      <p:sp>
        <p:nvSpPr>
          <p:cNvPr id="15" name="Rounded Rectangle 14"/>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 gateway cannot govern calls it never receives. Bypass prevention is part of the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buys, and what triggers the purchase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graphicFrame>
        <p:nvGraphicFramePr>
          <p:cNvPr id="7" name="Table"/>
          <p:cNvGraphicFramePr>
            <a:graphicFrameLocks noGrp="1"/>
          </p:cNvGraphicFramePr>
          <p:nvPr/>
        </p:nvGraphicFramePr>
        <p:xfrm>
          <a:off x="548640" y="1371600"/>
          <a:ext cx="11091672" cy="2910840"/>
        </p:xfrm>
        <a:graphic>
          <a:graphicData uri="http://schemas.openxmlformats.org/drawingml/2006/table">
            <a:tbl>
              <a:tblPr firstRow="1" bandRow="0">
                <a:tableStyleId>{5C22544A-7EE6-4342-B048-85BDC9FD1C3A}</a:tableStyleId>
              </a:tblPr>
              <a:tblGrid>
                <a:gridCol w="2834640"/>
                <a:gridCol w="4206240"/>
                <a:gridCol w="4050792"/>
              </a:tblGrid>
              <a:tr h="350520">
                <a:tc>
                  <a:txBody>
                    <a:bodyPr wrap="square" anchor="ctr">
                      <a:noAutofit/>
                    </a:bodyPr>
                    <a:lstStyle/>
                    <a:p>
                      <a:pPr algn="l"/>
                      <a:r>
                        <a:rPr sz="1700" b="1" i="0">
                          <a:solidFill>
                            <a:srgbClr val="FFFFFF"/>
                          </a:solidFill>
                          <a:latin typeface="Arial"/>
                        </a:rPr>
                        <a:t>Buyer role</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What they need</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Purchase trigger</a:t>
                      </a:r>
                    </a:p>
                  </a:txBody>
                  <a:tcPr marL="73152" marR="73152" marT="36576" marB="36576" anchor="ctr">
                    <a:solidFill>
                      <a:srgbClr val="000048"/>
                    </a:solidFill>
                  </a:tcPr>
                </a:tc>
              </a:tr>
              <a:tr h="640080">
                <a:tc>
                  <a:txBody>
                    <a:bodyPr wrap="square" anchor="ctr">
                      <a:noAutofit/>
                    </a:bodyPr>
                    <a:lstStyle/>
                    <a:p>
                      <a:pPr algn="l"/>
                      <a:r>
                        <a:rPr sz="1800" b="1" i="0">
                          <a:solidFill>
                            <a:srgbClr val="1E1E2E"/>
                          </a:solidFill>
                          <a:latin typeface="Arial"/>
                        </a:rPr>
                        <a:t>Platform or API owner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One controlled entry for AI traffic</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Several teams calling models directly</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FinOps or budget owner</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Usage attributed to teams and agents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Unexplained model spend</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CISO delegate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Identity, safety and logging on every call</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Keys in apps; no prompt-attack controls</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AI platform leader</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Routing across PTU, PAYG and regions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Throttling, quota limits or capacity events</a:t>
                      </a:r>
                    </a:p>
                  </a:txBody>
                  <a:tcPr marL="73152" marR="73152" marT="36576" marB="36576" anchor="ctr">
                    <a:solidFill>
                      <a:srgbClr val="F5F5F2"/>
                    </a:solidFill>
                  </a:tcPr>
                </a:tc>
              </a:tr>
            </a:tbl>
          </a:graphicData>
        </a:graphic>
      </p:graphicFrame>
      <p:sp>
        <p:nvSpPr>
          <p:cNvPr id="8" name="Rounded Rectangle 7"/>
          <p:cNvSpPr/>
          <p:nvPr/>
        </p:nvSpPr>
        <p:spPr>
          <a:xfrm>
            <a:off x="548640" y="548640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700" b="1" i="0">
                <a:solidFill>
                  <a:srgbClr val="000048"/>
                </a:solidFill>
                <a:latin typeface="Arial"/>
              </a:rPr>
              <a:t>Decision:  </a:t>
            </a:r>
            <a:r>
              <a:rPr sz="1700" b="0" i="0">
                <a:solidFill>
                  <a:srgbClr val="1E1E2E"/>
                </a:solidFill>
                <a:latin typeface="Arial"/>
              </a:rPr>
              <a:t>One low-risk app with one model may not need a shared gateway. Qualify on consumers, controls and routing need.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in the portfolio</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04</a:t>
            </a:r>
          </a:p>
          <a:p>
            <a:pPr algn="l">
              <a:spcAft>
                <a:spcPts val="400"/>
              </a:spcAft>
            </a:pPr>
            <a:r>
              <a:rPr sz="1500" b="1" i="0">
                <a:solidFill>
                  <a:srgbClr val="000048"/>
                </a:solidFill>
                <a:latin typeface="Arial"/>
              </a:rPr>
              <a:t>AI Capacity and
FinOps Assessment</a:t>
            </a:r>
          </a:p>
          <a:p>
            <a:pPr algn="l"/>
            <a:r>
              <a:rPr sz="1100" b="0" i="0">
                <a:solidFill>
                  <a:srgbClr val="53565A"/>
                </a:solidFill>
                <a:latin typeface="Arial"/>
              </a:rPr>
              <a:t>Measure demand, choose
capacity model</a:t>
            </a:r>
          </a:p>
        </p:txBody>
      </p:sp>
      <p:cxnSp>
        <p:nvCxnSpPr>
          <p:cNvPr id="9" name="Connector (flow)"/>
          <p:cNvCxnSpPr/>
          <p:nvPr/>
        </p:nvCxnSpPr>
        <p:spPr>
          <a:xfrm>
            <a:off x="258775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01</a:t>
            </a:r>
          </a:p>
          <a:p>
            <a:pPr algn="l">
              <a:spcAft>
                <a:spcPts val="400"/>
              </a:spcAft>
            </a:pPr>
            <a:r>
              <a:rPr sz="1500" b="1" i="0">
                <a:solidFill>
                  <a:srgbClr val="000048"/>
                </a:solidFill>
                <a:latin typeface="Arial"/>
              </a:rPr>
              <a:t>AI Platform /
Landing Zone</a:t>
            </a:r>
          </a:p>
          <a:p>
            <a:pPr algn="l"/>
            <a:r>
              <a:rPr sz="1100" b="0" i="0">
                <a:solidFill>
                  <a:srgbClr val="53565A"/>
                </a:solidFill>
                <a:latin typeface="Arial"/>
              </a:rPr>
              <a:t>Governed foundation for
AI workloads</a:t>
            </a:r>
          </a:p>
        </p:txBody>
      </p:sp>
      <p:cxnSp>
        <p:nvCxnSpPr>
          <p:cNvPr id="11" name="Connector (flow)"/>
          <p:cNvCxnSpPr/>
          <p:nvPr/>
        </p:nvCxnSpPr>
        <p:spPr>
          <a:xfrm>
            <a:off x="485820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371600"/>
            <a:ext cx="2011680" cy="1572768"/>
          </a:xfrm>
          <a:prstGeom prst="roundRect">
            <a:avLst>
              <a:gd name="adj" fmla="val 465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03</a:t>
            </a:r>
          </a:p>
          <a:p>
            <a:pPr algn="l">
              <a:spcAft>
                <a:spcPts val="400"/>
              </a:spcAft>
            </a:pPr>
            <a:r>
              <a:rPr sz="1500" b="1" i="0">
                <a:solidFill>
                  <a:srgbClr val="FFFFFF"/>
                </a:solidFill>
                <a:latin typeface="Arial"/>
              </a:rPr>
              <a:t>AI Gateway
Implementation</a:t>
            </a:r>
          </a:p>
          <a:p>
            <a:pPr algn="l"/>
            <a:r>
              <a:rPr sz="1100" b="0" i="0">
                <a:solidFill>
                  <a:srgbClr val="26EFE9"/>
                </a:solidFill>
                <a:latin typeface="Arial"/>
              </a:rPr>
              <a:t>Control model and
tool traffic</a:t>
            </a:r>
          </a:p>
        </p:txBody>
      </p:sp>
      <p:sp>
        <p:nvSpPr>
          <p:cNvPr id="13" name="Status chip: THIS OFFERING"/>
          <p:cNvSpPr/>
          <p:nvPr/>
        </p:nvSpPr>
        <p:spPr>
          <a:xfrm>
            <a:off x="5199278" y="30175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THIS OFFERING</a:t>
            </a:r>
          </a:p>
        </p:txBody>
      </p:sp>
      <p:cxnSp>
        <p:nvCxnSpPr>
          <p:cNvPr id="14" name="Connector (flow)"/>
          <p:cNvCxnSpPr/>
          <p:nvPr/>
        </p:nvCxnSpPr>
        <p:spPr>
          <a:xfrm>
            <a:off x="712866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60005"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02</a:t>
            </a:r>
          </a:p>
          <a:p>
            <a:pPr algn="l">
              <a:spcAft>
                <a:spcPts val="400"/>
              </a:spcAft>
            </a:pPr>
            <a:r>
              <a:rPr sz="1500" b="1" i="0">
                <a:solidFill>
                  <a:srgbClr val="000048"/>
                </a:solidFill>
                <a:latin typeface="Arial"/>
              </a:rPr>
              <a:t>Agent Governance
and Operations</a:t>
            </a:r>
          </a:p>
          <a:p>
            <a:pPr algn="l"/>
            <a:r>
              <a:rPr sz="1100" b="0" i="0">
                <a:solidFill>
                  <a:srgbClr val="53565A"/>
                </a:solidFill>
                <a:latin typeface="Arial"/>
              </a:rPr>
              <a:t>Know, observe and
contain agents</a:t>
            </a:r>
          </a:p>
        </p:txBody>
      </p:sp>
      <p:cxnSp>
        <p:nvCxnSpPr>
          <p:cNvPr id="16" name="Connector (flow)"/>
          <p:cNvCxnSpPr/>
          <p:nvPr/>
        </p:nvCxnSpPr>
        <p:spPr>
          <a:xfrm>
            <a:off x="939911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63046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05</a:t>
            </a:r>
          </a:p>
          <a:p>
            <a:pPr algn="l">
              <a:spcAft>
                <a:spcPts val="400"/>
              </a:spcAft>
            </a:pPr>
            <a:r>
              <a:rPr sz="1500" b="1" i="0">
                <a:solidFill>
                  <a:srgbClr val="000048"/>
                </a:solidFill>
                <a:latin typeface="Arial"/>
              </a:rPr>
              <a:t>Managed AI
Platform Operations</a:t>
            </a:r>
          </a:p>
          <a:p>
            <a:pPr algn="l"/>
            <a:r>
              <a:rPr sz="1100" b="0" i="0">
                <a:solidFill>
                  <a:srgbClr val="53565A"/>
                </a:solidFill>
                <a:latin typeface="Arial"/>
              </a:rPr>
              <a:t>Run, report and
optimise the platform</a:t>
            </a:r>
          </a:p>
        </p:txBody>
      </p:sp>
      <p:cxnSp>
        <p:nvCxnSpPr>
          <p:cNvPr id="18" name="Connector (control)"/>
          <p:cNvCxnSpPr/>
          <p:nvPr/>
        </p:nvCxnSpPr>
        <p:spPr>
          <a:xfrm>
            <a:off x="10636300" y="2944368"/>
            <a:ext cx="0" cy="45720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H="1">
            <a:off x="1554480" y="3401568"/>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control)"/>
          <p:cNvCxnSpPr/>
          <p:nvPr/>
        </p:nvCxnSpPr>
        <p:spPr>
          <a:xfrm flipV="1">
            <a:off x="1554480" y="2944368"/>
            <a:ext cx="0" cy="45720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926080" y="3438144"/>
            <a:ext cx="6400800" cy="274320"/>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2" name="TextBox 21"/>
          <p:cNvSpPr txBox="1"/>
          <p:nvPr/>
        </p:nvSpPr>
        <p:spPr>
          <a:xfrm>
            <a:off x="548640" y="3840479"/>
            <a:ext cx="11064240" cy="320040"/>
          </a:xfrm>
          <a:prstGeom prst="rect">
            <a:avLst/>
          </a:prstGeom>
          <a:noFill/>
        </p:spPr>
        <p:txBody>
          <a:bodyPr wrap="square" lIns="0" rIns="0" tIns="0" bIns="0" anchor="t">
            <a:noAutofit/>
          </a:bodyPr>
          <a:lstStyle/>
          <a:p>
            <a:pPr algn="l"/>
            <a:r>
              <a:rPr sz="1600" b="1" i="0">
                <a:solidFill>
                  <a:srgbClr val="000048"/>
                </a:solidFill>
                <a:latin typeface="Arial"/>
              </a:rPr>
              <a:t>Handoffs for this offering</a:t>
            </a:r>
          </a:p>
        </p:txBody>
      </p:sp>
      <p:sp>
        <p:nvSpPr>
          <p:cNvPr id="23" name="Rounded Rectangle 22"/>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Each handoff has a named owner, acceptance evidence and a date. No offering assumes another is sold.</a:t>
            </a:r>
          </a:p>
        </p:txBody>
      </p:sp>
      <p:sp>
        <p:nvSpPr>
          <p:cNvPr id="24" name="Rounded Rectangle 23"/>
          <p:cNvSpPr/>
          <p:nvPr/>
        </p:nvSpPr>
        <p:spPr>
          <a:xfrm>
            <a:off x="5486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Receives from 01 and 04</a:t>
            </a:r>
          </a:p>
          <a:p>
            <a:pPr algn="l"/>
            <a:r>
              <a:rPr sz="1600" b="0" i="0">
                <a:solidFill>
                  <a:srgbClr val="1E1E2E"/>
                </a:solidFill>
                <a:latin typeface="Arial"/>
              </a:rPr>
              <a:t>Private network and identities; capacity plan for PTU and PAYG routing</a:t>
            </a:r>
          </a:p>
        </p:txBody>
      </p:sp>
      <p:sp>
        <p:nvSpPr>
          <p:cNvPr id="25" name="Rounded Rectangle 24"/>
          <p:cNvSpPr/>
          <p:nvPr/>
        </p:nvSpPr>
        <p:spPr>
          <a:xfrm>
            <a:off x="4319016"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Hands to 02 Agent Governance</a:t>
            </a:r>
          </a:p>
          <a:p>
            <a:pPr algn="l"/>
            <a:r>
              <a:rPr sz="1600" b="0" i="0">
                <a:solidFill>
                  <a:srgbClr val="1E1E2E"/>
                </a:solidFill>
                <a:latin typeface="Arial"/>
              </a:rPr>
              <a:t>Ingress and outbound enforcement points, per-agent token metrics</a:t>
            </a:r>
          </a:p>
        </p:txBody>
      </p:sp>
      <p:sp>
        <p:nvSpPr>
          <p:cNvPr id="26" name="Rounded Rectangle 25"/>
          <p:cNvSpPr/>
          <p:nvPr/>
        </p:nvSpPr>
        <p:spPr>
          <a:xfrm>
            <a:off x="80162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Hands to 05 Managed Operations</a:t>
            </a:r>
          </a:p>
          <a:p>
            <a:pPr algn="l"/>
            <a:r>
              <a:rPr sz="1600" b="0" i="0">
                <a:solidFill>
                  <a:srgbClr val="1E1E2E"/>
                </a:solidFill>
                <a:latin typeface="Arial"/>
              </a:rPr>
              <a:t>Policy register, dashboards, runbooks and alert routing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CIS Infra provides, and what it does 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Included: CIS Infra delivers</a:t>
            </a:r>
          </a:p>
        </p:txBody>
      </p:sp>
      <p:sp>
        <p:nvSpPr>
          <p:cNvPr id="9" name="Rounded Rectangle 8"/>
          <p:cNvSpPr/>
          <p:nvPr/>
        </p:nvSpPr>
        <p:spPr>
          <a:xfrm>
            <a:off x="548640" y="1965960"/>
            <a:ext cx="3593592" cy="370332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APIM instance, network and DNS</a:t>
            </a:r>
          </a:p>
          <a:p>
            <a:pPr algn="l" marL="201168" indent="-201168">
              <a:spcAft>
                <a:spcPts val="800"/>
              </a:spcAft>
              <a:buFont typeface="Arial"/>
              <a:buChar char="•"/>
            </a:pPr>
            <a:r>
              <a:rPr sz="1700" b="0" i="0">
                <a:solidFill>
                  <a:srgbClr val="1E1E2E"/>
                </a:solidFill>
                <a:latin typeface="Arial"/>
              </a:rPr>
              <a:t>Identity and managed identity setup</a:t>
            </a:r>
          </a:p>
          <a:p>
            <a:pPr algn="l" marL="201168" indent="-201168">
              <a:spcAft>
                <a:spcPts val="800"/>
              </a:spcAft>
              <a:buFont typeface="Arial"/>
              <a:buChar char="•"/>
            </a:pPr>
            <a:r>
              <a:rPr sz="1700" b="0" i="0">
                <a:solidFill>
                  <a:srgbClr val="1E1E2E"/>
                </a:solidFill>
                <a:latin typeface="Arial"/>
              </a:rPr>
              <a:t>Token, request and concurrency policies</a:t>
            </a:r>
          </a:p>
          <a:p>
            <a:pPr algn="l" marL="201168" indent="-201168">
              <a:spcAft>
                <a:spcPts val="800"/>
              </a:spcAft>
              <a:buFont typeface="Arial"/>
              <a:buChar char="•"/>
            </a:pPr>
            <a:r>
              <a:rPr sz="1700" b="0" i="0">
                <a:solidFill>
                  <a:srgbClr val="1E1E2E"/>
                </a:solidFill>
                <a:latin typeface="Arial"/>
              </a:rPr>
              <a:t>Backend pools, retries, circuit breakers</a:t>
            </a:r>
          </a:p>
          <a:p>
            <a:pPr algn="l" marL="201168" indent="-201168">
              <a:spcAft>
                <a:spcPts val="800"/>
              </a:spcAft>
              <a:buFont typeface="Arial"/>
              <a:buChar char="•"/>
            </a:pPr>
            <a:r>
              <a:rPr sz="1700" b="0" i="0">
                <a:solidFill>
                  <a:srgbClr val="1E1E2E"/>
                </a:solidFill>
                <a:latin typeface="Arial"/>
              </a:rPr>
              <a:t>Token metrics, logs and dashboards</a:t>
            </a:r>
          </a:p>
        </p:txBody>
      </p:sp>
      <p:sp>
        <p:nvSpPr>
          <p:cNvPr id="10" name="Rounded Rectangle 9"/>
          <p:cNvSpPr/>
          <p:nvPr/>
        </p:nvSpPr>
        <p:spPr>
          <a:xfrm>
            <a:off x="4297679" y="1371600"/>
            <a:ext cx="3593592" cy="548640"/>
          </a:xfrm>
          <a:prstGeom prst="roundRect">
            <a:avLst>
              <a:gd name="adj" fmla="val 1333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Optional: priced separately</a:t>
            </a:r>
          </a:p>
        </p:txBody>
      </p:sp>
      <p:sp>
        <p:nvSpPr>
          <p:cNvPr id="11" name="Rounded Rectangle 10"/>
          <p:cNvSpPr/>
          <p:nvPr/>
        </p:nvSpPr>
        <p:spPr>
          <a:xfrm>
            <a:off x="4297679" y="1965960"/>
            <a:ext cx="3593592" cy="370332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Multi-region gateway resilience</a:t>
            </a:r>
          </a:p>
          <a:p>
            <a:pPr algn="l" marL="201168" indent="-201168">
              <a:spcAft>
                <a:spcPts val="800"/>
              </a:spcAft>
              <a:buFont typeface="Arial"/>
              <a:buChar char="•"/>
            </a:pPr>
            <a:r>
              <a:rPr sz="1700" b="0" i="0">
                <a:solidFill>
                  <a:srgbClr val="1E1E2E"/>
                </a:solidFill>
                <a:latin typeface="Arial"/>
              </a:rPr>
              <a:t>Semantic caching (needs Redis)</a:t>
            </a:r>
          </a:p>
          <a:p>
            <a:pPr algn="l" marL="201168" indent="-201168">
              <a:spcAft>
                <a:spcPts val="800"/>
              </a:spcAft>
              <a:buFont typeface="Arial"/>
              <a:buChar char="•"/>
            </a:pPr>
            <a:r>
              <a:rPr sz="1700" b="0" i="0">
                <a:solidFill>
                  <a:srgbClr val="1E1E2E"/>
                </a:solidFill>
                <a:latin typeface="Arial"/>
              </a:rPr>
              <a:t>MCP and tool API onboarding</a:t>
            </a:r>
          </a:p>
          <a:p>
            <a:pPr algn="l" marL="201168" indent="-201168">
              <a:spcAft>
                <a:spcPts val="800"/>
              </a:spcAft>
              <a:buFont typeface="Arial"/>
              <a:buChar char="•"/>
            </a:pPr>
            <a:r>
              <a:rPr sz="1700" b="0" i="0">
                <a:solidFill>
                  <a:srgbClr val="1E1E2E"/>
                </a:solidFill>
                <a:latin typeface="Arial"/>
              </a:rPr>
              <a:t>Chargeback reporting</a:t>
            </a:r>
          </a:p>
          <a:p>
            <a:pPr algn="l" marL="201168" indent="-201168">
              <a:spcAft>
                <a:spcPts val="800"/>
              </a:spcAft>
              <a:buFont typeface="Arial"/>
              <a:buChar char="•"/>
            </a:pPr>
            <a:r>
              <a:rPr sz="1700" b="0" i="0">
                <a:solidFill>
                  <a:srgbClr val="1E1E2E"/>
                </a:solidFill>
                <a:latin typeface="Arial"/>
              </a:rPr>
              <a:t>AI Gateway tier pilot (preview)</a:t>
            </a:r>
          </a:p>
        </p:txBody>
      </p:sp>
      <p:sp>
        <p:nvSpPr>
          <p:cNvPr id="12" name="Rounded Rectangle 11"/>
          <p:cNvSpPr/>
          <p:nvPr/>
        </p:nvSpPr>
        <p:spPr>
          <a:xfrm>
            <a:off x="8046719" y="1371600"/>
            <a:ext cx="3593592" cy="548640"/>
          </a:xfrm>
          <a:prstGeom prst="roundRect">
            <a:avLst>
              <a:gd name="adj" fmla="val 1333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Other owners</a:t>
            </a:r>
          </a:p>
        </p:txBody>
      </p:sp>
      <p:sp>
        <p:nvSpPr>
          <p:cNvPr id="13" name="Rounded Rectangle 12"/>
          <p:cNvSpPr/>
          <p:nvPr/>
        </p:nvSpPr>
        <p:spPr>
          <a:xfrm>
            <a:off x="8046719" y="1965960"/>
            <a:ext cx="3593592" cy="370332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Security: identity design, safety policy</a:t>
            </a:r>
          </a:p>
          <a:p>
            <a:pPr algn="l" marL="201168" indent="-201168">
              <a:spcAft>
                <a:spcPts val="800"/>
              </a:spcAft>
              <a:buFont typeface="Arial"/>
              <a:buChar char="•"/>
            </a:pPr>
            <a:r>
              <a:rPr sz="1700" b="0" i="0">
                <a:solidFill>
                  <a:srgbClr val="1E1E2E"/>
                </a:solidFill>
                <a:latin typeface="Arial"/>
              </a:rPr>
              <a:t>AI: API contracts, routing choice, tests</a:t>
            </a:r>
          </a:p>
          <a:p>
            <a:pPr algn="l" marL="201168" indent="-201168">
              <a:spcAft>
                <a:spcPts val="800"/>
              </a:spcAft>
              <a:buFont typeface="Arial"/>
              <a:buChar char="•"/>
            </a:pPr>
            <a:r>
              <a:rPr sz="1700" b="0" i="0">
                <a:solidFill>
                  <a:srgbClr val="1E1E2E"/>
                </a:solidFill>
                <a:latin typeface="Arial"/>
              </a:rPr>
              <a:t>DevOps: policy CI/CD and rollback</a:t>
            </a:r>
          </a:p>
          <a:p>
            <a:pPr algn="l" marL="201168" indent="-201168">
              <a:spcAft>
                <a:spcPts val="800"/>
              </a:spcAft>
              <a:buFont typeface="Arial"/>
              <a:buChar char="•"/>
            </a:pPr>
            <a:r>
              <a:rPr sz="1700" b="0" i="0">
                <a:solidFill>
                  <a:srgbClr val="1E1E2E"/>
                </a:solidFill>
                <a:latin typeface="Arial"/>
              </a:rPr>
              <a:t>Finance: budget and allocation rules</a:t>
            </a:r>
          </a:p>
          <a:p>
            <a:pPr algn="l" marL="201168" indent="-201168">
              <a:spcAft>
                <a:spcPts val="800"/>
              </a:spcAft>
              <a:buFont typeface="Arial"/>
              <a:buChar char="•"/>
            </a:pPr>
            <a:r>
              <a:rPr sz="1700" b="0" i="0">
                <a:solidFill>
                  <a:srgbClr val="1E1E2E"/>
                </a:solidFill>
                <a:latin typeface="Arial"/>
              </a:rPr>
              <a:t>Tool owners: tool-side authorisation</a:t>
            </a:r>
          </a:p>
        </p:txBody>
      </p:sp>
      <p:sp>
        <p:nvSpPr>
          <p:cNvPr id="14" name="Rounded Rectangle 13"/>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CIS Infra does not own model quality, application behaviour or security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Architecture: the gateway in the request path</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pic>
        <p:nvPicPr>
          <p:cNvPr id="8"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120" y="2176272"/>
            <a:ext cx="457200" cy="457200"/>
          </a:xfrm>
          <a:prstGeom prst="rect">
            <a:avLst/>
          </a:prstGeom>
        </p:spPr>
      </p:pic>
      <p:sp>
        <p:nvSpPr>
          <p:cNvPr id="9" name="TextBox 8"/>
          <p:cNvSpPr txBox="1"/>
          <p:nvPr/>
        </p:nvSpPr>
        <p:spPr>
          <a:xfrm>
            <a:off x="493776" y="2670048"/>
            <a:ext cx="1389888" cy="512064"/>
          </a:xfrm>
          <a:prstGeom prst="rect">
            <a:avLst/>
          </a:prstGeom>
          <a:noFill/>
        </p:spPr>
        <p:txBody>
          <a:bodyPr wrap="square" lIns="0" rIns="0" tIns="0" bIns="0" anchor="t">
            <a:noAutofit/>
          </a:bodyPr>
          <a:lstStyle/>
          <a:p>
            <a:pPr algn="ctr"/>
            <a:r>
              <a:rPr sz="1300" b="1" i="0">
                <a:solidFill>
                  <a:srgbClr val="000048"/>
                </a:solidFill>
                <a:latin typeface="Arial"/>
              </a:rPr>
              <a:t>Apps and agents</a:t>
            </a:r>
          </a:p>
          <a:p>
            <a:pPr algn="ctr"/>
            <a:r>
              <a:rPr sz="1100" b="0" i="0">
                <a:solidFill>
                  <a:srgbClr val="53565A"/>
                </a:solidFill>
                <a:latin typeface="Arial"/>
              </a:rPr>
              <a:t>Entra token</a:t>
            </a:r>
          </a:p>
        </p:txBody>
      </p:sp>
      <p:sp>
        <p:nvSpPr>
          <p:cNvPr id="10" name="Rounded Rectangle 9"/>
          <p:cNvSpPr/>
          <p:nvPr/>
        </p:nvSpPr>
        <p:spPr>
          <a:xfrm>
            <a:off x="2240280" y="1325880"/>
            <a:ext cx="4480560" cy="3931920"/>
          </a:xfrm>
          <a:prstGeom prst="roundRect">
            <a:avLst>
              <a:gd name="adj" fmla="val 2325"/>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350008" y="1380744"/>
            <a:ext cx="4261104" cy="237744"/>
          </a:xfrm>
          <a:prstGeom prst="rect">
            <a:avLst/>
          </a:prstGeom>
          <a:noFill/>
        </p:spPr>
        <p:txBody>
          <a:bodyPr wrap="square" lIns="0" rIns="0" tIns="0" bIns="0" anchor="t">
            <a:noAutofit/>
          </a:bodyPr>
          <a:lstStyle/>
          <a:p>
            <a:pPr algn="l"/>
            <a:r>
              <a:rPr sz="1100" b="1" i="0">
                <a:solidFill>
                  <a:srgbClr val="000048"/>
                </a:solidFill>
                <a:latin typeface="Arial"/>
              </a:rPr>
              <a:t>API MANAGEMENT (AI GATEWAY)</a:t>
            </a:r>
          </a:p>
        </p:txBody>
      </p:sp>
      <p:pic>
        <p:nvPicPr>
          <p:cNvPr id="12"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77440" y="1691640"/>
            <a:ext cx="457200" cy="457200"/>
          </a:xfrm>
          <a:prstGeom prst="rect">
            <a:avLst/>
          </a:prstGeom>
        </p:spPr>
      </p:pic>
      <p:sp>
        <p:nvSpPr>
          <p:cNvPr id="13" name="Rounded Rectangle 12"/>
          <p:cNvSpPr/>
          <p:nvPr/>
        </p:nvSpPr>
        <p:spPr>
          <a:xfrm>
            <a:off x="2971800" y="16916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Authenticate  </a:t>
            </a:r>
            <a:r>
              <a:rPr sz="1200" b="0" i="0">
                <a:solidFill>
                  <a:srgbClr val="53565A"/>
                </a:solidFill>
                <a:latin typeface="Arial"/>
              </a:rPr>
              <a:t>validate token, map caller</a:t>
            </a:r>
          </a:p>
        </p:txBody>
      </p:sp>
      <p:sp>
        <p:nvSpPr>
          <p:cNvPr id="14" name="Rounded Rectangle 13"/>
          <p:cNvSpPr/>
          <p:nvPr/>
        </p:nvSpPr>
        <p:spPr>
          <a:xfrm>
            <a:off x="2971800" y="23774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Limit  </a:t>
            </a:r>
            <a:r>
              <a:rPr sz="1200" b="0" i="0">
                <a:solidFill>
                  <a:srgbClr val="53565A"/>
                </a:solidFill>
                <a:latin typeface="Arial"/>
              </a:rPr>
              <a:t>tokens, requests, concurrency</a:t>
            </a:r>
          </a:p>
        </p:txBody>
      </p:sp>
      <p:sp>
        <p:nvSpPr>
          <p:cNvPr id="15" name="Rounded Rectangle 14"/>
          <p:cNvSpPr/>
          <p:nvPr/>
        </p:nvSpPr>
        <p:spPr>
          <a:xfrm>
            <a:off x="2971800" y="30632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Protect  </a:t>
            </a:r>
            <a:r>
              <a:rPr sz="1200" b="0" i="0">
                <a:solidFill>
                  <a:srgbClr val="53565A"/>
                </a:solidFill>
                <a:latin typeface="Arial"/>
              </a:rPr>
              <a:t>content safety, prompt shield</a:t>
            </a:r>
          </a:p>
        </p:txBody>
      </p:sp>
      <p:sp>
        <p:nvSpPr>
          <p:cNvPr id="16" name="Rounded Rectangle 15"/>
          <p:cNvSpPr/>
          <p:nvPr/>
        </p:nvSpPr>
        <p:spPr>
          <a:xfrm>
            <a:off x="2971800" y="3749039"/>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Route  </a:t>
            </a:r>
            <a:r>
              <a:rPr sz="1200" b="0" i="0">
                <a:solidFill>
                  <a:srgbClr val="53565A"/>
                </a:solidFill>
                <a:latin typeface="Arial"/>
              </a:rPr>
              <a:t>priority backends, retry, breaker</a:t>
            </a:r>
          </a:p>
        </p:txBody>
      </p:sp>
      <p:sp>
        <p:nvSpPr>
          <p:cNvPr id="17" name="Rounded Rectangle 16"/>
          <p:cNvSpPr/>
          <p:nvPr/>
        </p:nvSpPr>
        <p:spPr>
          <a:xfrm>
            <a:off x="2971800" y="44348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Observe  </a:t>
            </a:r>
            <a:r>
              <a:rPr sz="1200" b="0" i="0">
                <a:solidFill>
                  <a:srgbClr val="53565A"/>
                </a:solidFill>
                <a:latin typeface="Arial"/>
              </a:rPr>
              <a:t>token metrics, logs</a:t>
            </a:r>
          </a:p>
        </p:txBody>
      </p:sp>
      <p:sp>
        <p:nvSpPr>
          <p:cNvPr id="18" name="Rounded Rectangle 17"/>
          <p:cNvSpPr/>
          <p:nvPr/>
        </p:nvSpPr>
        <p:spPr>
          <a:xfrm>
            <a:off x="7223760" y="1325880"/>
            <a:ext cx="4526280" cy="2514600"/>
          </a:xfrm>
          <a:prstGeom prst="roundRect">
            <a:avLst>
              <a:gd name="adj" fmla="val 363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33488" y="1380744"/>
            <a:ext cx="4306824" cy="237744"/>
          </a:xfrm>
          <a:prstGeom prst="rect">
            <a:avLst/>
          </a:prstGeom>
          <a:noFill/>
        </p:spPr>
        <p:txBody>
          <a:bodyPr wrap="square" lIns="0" rIns="0" tIns="0" bIns="0" anchor="t">
            <a:noAutofit/>
          </a:bodyPr>
          <a:lstStyle/>
          <a:p>
            <a:pPr algn="l"/>
            <a:r>
              <a:rPr sz="1100" b="1" i="0">
                <a:solidFill>
                  <a:srgbClr val="000048"/>
                </a:solidFill>
                <a:latin typeface="Arial"/>
              </a:rPr>
              <a:t>BACKENDS AND POLICY SERVICES (PRIVATE)</a:t>
            </a:r>
          </a:p>
        </p:txBody>
      </p:sp>
      <p:sp>
        <p:nvSpPr>
          <p:cNvPr id="20" name="Rounded Rectangle 19"/>
          <p:cNvSpPr/>
          <p:nvPr/>
        </p:nvSpPr>
        <p:spPr>
          <a:xfrm>
            <a:off x="7360920" y="173736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34072" y="1897379"/>
            <a:ext cx="411480" cy="411480"/>
          </a:xfrm>
          <a:prstGeom prst="rect">
            <a:avLst/>
          </a:prstGeom>
        </p:spPr>
      </p:pic>
      <p:sp>
        <p:nvSpPr>
          <p:cNvPr id="22" name="TextBox 21"/>
          <p:cNvSpPr txBox="1"/>
          <p:nvPr/>
        </p:nvSpPr>
        <p:spPr>
          <a:xfrm>
            <a:off x="7918704" y="1773936"/>
            <a:ext cx="1508760" cy="658368"/>
          </a:xfrm>
          <a:prstGeom prst="rect">
            <a:avLst/>
          </a:prstGeom>
          <a:noFill/>
        </p:spPr>
        <p:txBody>
          <a:bodyPr wrap="square" lIns="0" rIns="0" tIns="0" bIns="0" anchor="ctr">
            <a:noAutofit/>
          </a:bodyPr>
          <a:lstStyle/>
          <a:p>
            <a:pPr algn="l"/>
            <a:r>
              <a:rPr sz="1300" b="1" i="0">
                <a:solidFill>
                  <a:srgbClr val="000048"/>
                </a:solidFill>
                <a:latin typeface="Arial"/>
              </a:rPr>
              <a:t>PTU deployment</a:t>
            </a:r>
          </a:p>
          <a:p>
            <a:pPr algn="l"/>
            <a:r>
              <a:rPr sz="1100" b="0" i="0">
                <a:solidFill>
                  <a:srgbClr val="53565A"/>
                </a:solidFill>
                <a:latin typeface="Arial"/>
              </a:rPr>
              <a:t>primary, priority 1</a:t>
            </a:r>
          </a:p>
        </p:txBody>
      </p:sp>
      <p:sp>
        <p:nvSpPr>
          <p:cNvPr id="23" name="Rounded Rectangle 22"/>
          <p:cNvSpPr/>
          <p:nvPr/>
        </p:nvSpPr>
        <p:spPr>
          <a:xfrm>
            <a:off x="9555480" y="173736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28632" y="1897379"/>
            <a:ext cx="411480" cy="411480"/>
          </a:xfrm>
          <a:prstGeom prst="rect">
            <a:avLst/>
          </a:prstGeom>
        </p:spPr>
      </p:pic>
      <p:sp>
        <p:nvSpPr>
          <p:cNvPr id="25" name="TextBox 24"/>
          <p:cNvSpPr txBox="1"/>
          <p:nvPr/>
        </p:nvSpPr>
        <p:spPr>
          <a:xfrm>
            <a:off x="10113263" y="1773936"/>
            <a:ext cx="1508760" cy="658368"/>
          </a:xfrm>
          <a:prstGeom prst="rect">
            <a:avLst/>
          </a:prstGeom>
          <a:noFill/>
        </p:spPr>
        <p:txBody>
          <a:bodyPr wrap="square" lIns="0" rIns="0" tIns="0" bIns="0" anchor="ctr">
            <a:noAutofit/>
          </a:bodyPr>
          <a:lstStyle/>
          <a:p>
            <a:pPr algn="l"/>
            <a:r>
              <a:rPr sz="1300" b="1" i="0">
                <a:solidFill>
                  <a:srgbClr val="000048"/>
                </a:solidFill>
                <a:latin typeface="Arial"/>
              </a:rPr>
              <a:t>PAYG deployment</a:t>
            </a:r>
          </a:p>
          <a:p>
            <a:pPr algn="l"/>
            <a:r>
              <a:rPr sz="1100" b="0" i="0">
                <a:solidFill>
                  <a:srgbClr val="53565A"/>
                </a:solidFill>
                <a:latin typeface="Arial"/>
              </a:rPr>
              <a:t>approved overflow</a:t>
            </a:r>
          </a:p>
        </p:txBody>
      </p:sp>
      <p:sp>
        <p:nvSpPr>
          <p:cNvPr id="26" name="Rounded Rectangle 25"/>
          <p:cNvSpPr/>
          <p:nvPr/>
        </p:nvSpPr>
        <p:spPr>
          <a:xfrm>
            <a:off x="7360920" y="274320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Content Safety" descr="Official Azure icon: Content Safet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34072" y="2903220"/>
            <a:ext cx="411480" cy="411480"/>
          </a:xfrm>
          <a:prstGeom prst="rect">
            <a:avLst/>
          </a:prstGeom>
        </p:spPr>
      </p:pic>
      <p:sp>
        <p:nvSpPr>
          <p:cNvPr id="28" name="TextBox 27"/>
          <p:cNvSpPr txBox="1"/>
          <p:nvPr/>
        </p:nvSpPr>
        <p:spPr>
          <a:xfrm>
            <a:off x="7918704" y="2779776"/>
            <a:ext cx="1508760" cy="658368"/>
          </a:xfrm>
          <a:prstGeom prst="rect">
            <a:avLst/>
          </a:prstGeom>
          <a:noFill/>
        </p:spPr>
        <p:txBody>
          <a:bodyPr wrap="square" lIns="0" rIns="0" tIns="0" bIns="0" anchor="ctr">
            <a:noAutofit/>
          </a:bodyPr>
          <a:lstStyle/>
          <a:p>
            <a:pPr algn="l"/>
            <a:r>
              <a:rPr sz="1300" b="1" i="0">
                <a:solidFill>
                  <a:srgbClr val="000048"/>
                </a:solidFill>
                <a:latin typeface="Arial"/>
              </a:rPr>
              <a:t>Content Safety</a:t>
            </a:r>
          </a:p>
          <a:p>
            <a:pPr algn="l"/>
            <a:r>
              <a:rPr sz="1100" b="0" i="0">
                <a:solidFill>
                  <a:srgbClr val="53565A"/>
                </a:solidFill>
                <a:latin typeface="Arial"/>
              </a:rPr>
              <a:t>called by policy</a:t>
            </a:r>
          </a:p>
        </p:txBody>
      </p:sp>
      <p:sp>
        <p:nvSpPr>
          <p:cNvPr id="29" name="Rounded Rectangle 28"/>
          <p:cNvSpPr/>
          <p:nvPr/>
        </p:nvSpPr>
        <p:spPr>
          <a:xfrm>
            <a:off x="9555480" y="274320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Key Vault" descr="Official Azure icon: Key Vault"/>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28632" y="2903220"/>
            <a:ext cx="411480" cy="411480"/>
          </a:xfrm>
          <a:prstGeom prst="rect">
            <a:avLst/>
          </a:prstGeom>
        </p:spPr>
      </p:pic>
      <p:sp>
        <p:nvSpPr>
          <p:cNvPr id="31" name="TextBox 30"/>
          <p:cNvSpPr txBox="1"/>
          <p:nvPr/>
        </p:nvSpPr>
        <p:spPr>
          <a:xfrm>
            <a:off x="10113263" y="2779776"/>
            <a:ext cx="1508760" cy="658368"/>
          </a:xfrm>
          <a:prstGeom prst="rect">
            <a:avLst/>
          </a:prstGeom>
          <a:noFill/>
        </p:spPr>
        <p:txBody>
          <a:bodyPr wrap="square" lIns="0" rIns="0" tIns="0" bIns="0" anchor="ctr">
            <a:noAutofit/>
          </a:bodyPr>
          <a:lstStyle/>
          <a:p>
            <a:pPr algn="l"/>
            <a:r>
              <a:rPr sz="1300" b="1" i="0">
                <a:solidFill>
                  <a:srgbClr val="000048"/>
                </a:solidFill>
                <a:latin typeface="Arial"/>
              </a:rPr>
              <a:t>Key Vault</a:t>
            </a:r>
          </a:p>
          <a:p>
            <a:pPr algn="l"/>
            <a:r>
              <a:rPr sz="1100" b="0" i="0">
                <a:solidFill>
                  <a:srgbClr val="53565A"/>
                </a:solidFill>
                <a:latin typeface="Arial"/>
              </a:rPr>
              <a:t>certificates</a:t>
            </a:r>
          </a:p>
        </p:txBody>
      </p:sp>
      <p:sp>
        <p:nvSpPr>
          <p:cNvPr id="32" name="Rounded Rectangle 31"/>
          <p:cNvSpPr/>
          <p:nvPr/>
        </p:nvSpPr>
        <p:spPr>
          <a:xfrm>
            <a:off x="7223760" y="3977639"/>
            <a:ext cx="4526280" cy="1280160"/>
          </a:xfrm>
          <a:prstGeom prst="roundRect">
            <a:avLst>
              <a:gd name="adj" fmla="val 7142"/>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33488" y="4032503"/>
            <a:ext cx="4306824" cy="237744"/>
          </a:xfrm>
          <a:prstGeom prst="rect">
            <a:avLst/>
          </a:prstGeom>
          <a:noFill/>
        </p:spPr>
        <p:txBody>
          <a:bodyPr wrap="square" lIns="0" rIns="0" tIns="0" bIns="0" anchor="t">
            <a:noAutofit/>
          </a:bodyPr>
          <a:lstStyle/>
          <a:p>
            <a:pPr algn="l"/>
            <a:r>
              <a:rPr sz="1100" b="1" i="0">
                <a:solidFill>
                  <a:srgbClr val="000048"/>
                </a:solidFill>
                <a:latin typeface="Arial"/>
              </a:rPr>
              <a:t>TOOLS AND TELEMETRY</a:t>
            </a:r>
          </a:p>
        </p:txBody>
      </p:sp>
      <p:pic>
        <p:nvPicPr>
          <p:cNvPr id="34"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434072" y="4517136"/>
            <a:ext cx="384048" cy="384048"/>
          </a:xfrm>
          <a:prstGeom prst="rect">
            <a:avLst/>
          </a:prstGeom>
        </p:spPr>
      </p:pic>
      <p:sp>
        <p:nvSpPr>
          <p:cNvPr id="35" name="TextBox 34"/>
          <p:cNvSpPr txBox="1"/>
          <p:nvPr/>
        </p:nvSpPr>
        <p:spPr>
          <a:xfrm>
            <a:off x="7891272" y="4379976"/>
            <a:ext cx="1536192" cy="658368"/>
          </a:xfrm>
          <a:prstGeom prst="rect">
            <a:avLst/>
          </a:prstGeom>
          <a:noFill/>
        </p:spPr>
        <p:txBody>
          <a:bodyPr wrap="square" lIns="0" rIns="0" tIns="0" bIns="0" anchor="ctr">
            <a:noAutofit/>
          </a:bodyPr>
          <a:lstStyle/>
          <a:p>
            <a:pPr algn="l"/>
            <a:r>
              <a:rPr sz="1300" b="1" i="0">
                <a:solidFill>
                  <a:srgbClr val="000048"/>
                </a:solidFill>
                <a:latin typeface="Arial"/>
              </a:rPr>
              <a:t>Tool APIs</a:t>
            </a:r>
          </a:p>
          <a:p>
            <a:pPr algn="l"/>
            <a:r>
              <a:rPr sz="1100" b="0" i="0">
                <a:solidFill>
                  <a:srgbClr val="53565A"/>
                </a:solidFill>
                <a:latin typeface="Arial"/>
              </a:rPr>
              <a:t>own policies</a:t>
            </a:r>
          </a:p>
        </p:txBody>
      </p:sp>
      <p:pic>
        <p:nvPicPr>
          <p:cNvPr id="36" name="Azure icon: Application Insights" descr="Official Azure icon: Application Insight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628632" y="4517136"/>
            <a:ext cx="384048" cy="384048"/>
          </a:xfrm>
          <a:prstGeom prst="rect">
            <a:avLst/>
          </a:prstGeom>
        </p:spPr>
      </p:pic>
      <p:sp>
        <p:nvSpPr>
          <p:cNvPr id="37" name="TextBox 36"/>
          <p:cNvSpPr txBox="1"/>
          <p:nvPr/>
        </p:nvSpPr>
        <p:spPr>
          <a:xfrm>
            <a:off x="10085832" y="4379976"/>
            <a:ext cx="1536192" cy="65836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100" b="0" i="0">
                <a:solidFill>
                  <a:srgbClr val="53565A"/>
                </a:solidFill>
                <a:latin typeface="Arial"/>
              </a:rPr>
              <a:t>token metrics</a:t>
            </a:r>
          </a:p>
        </p:txBody>
      </p:sp>
      <p:cxnSp>
        <p:nvCxnSpPr>
          <p:cNvPr id="38" name="Connector (flow)"/>
          <p:cNvCxnSpPr/>
          <p:nvPr/>
        </p:nvCxnSpPr>
        <p:spPr>
          <a:xfrm>
            <a:off x="1920240" y="2377440"/>
            <a:ext cx="3200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1783080" y="1828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cxnSp>
        <p:nvCxnSpPr>
          <p:cNvPr id="40" name="Connector (flow)"/>
          <p:cNvCxnSpPr/>
          <p:nvPr/>
        </p:nvCxnSpPr>
        <p:spPr>
          <a:xfrm flipV="1">
            <a:off x="6720840" y="2148840"/>
            <a:ext cx="502920" cy="6400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6812280" y="214884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4</a:t>
            </a:r>
          </a:p>
        </p:txBody>
      </p:sp>
      <p:cxnSp>
        <p:nvCxnSpPr>
          <p:cNvPr id="42" name="Connector (flow)"/>
          <p:cNvCxnSpPr/>
          <p:nvPr/>
        </p:nvCxnSpPr>
        <p:spPr>
          <a:xfrm>
            <a:off x="6720840" y="3657600"/>
            <a:ext cx="502920" cy="10058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812280" y="3977639"/>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5</a:t>
            </a:r>
          </a:p>
        </p:txBody>
      </p:sp>
      <p:cxnSp>
        <p:nvCxnSpPr>
          <p:cNvPr id="44" name="Connector (telemetry)"/>
          <p:cNvCxnSpPr/>
          <p:nvPr/>
        </p:nvCxnSpPr>
        <p:spPr>
          <a:xfrm>
            <a:off x="6720840" y="4754880"/>
            <a:ext cx="502920" cy="1371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812280" y="4937760"/>
            <a:ext cx="274320" cy="274320"/>
          </a:xfrm>
          <a:prstGeom prst="ellips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sp>
        <p:nvSpPr>
          <p:cNvPr id="46" name="Oval 45"/>
          <p:cNvSpPr/>
          <p:nvPr/>
        </p:nvSpPr>
        <p:spPr>
          <a:xfrm>
            <a:off x="260604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sp>
        <p:nvSpPr>
          <p:cNvPr id="47" name="Oval 46"/>
          <p:cNvSpPr/>
          <p:nvPr/>
        </p:nvSpPr>
        <p:spPr>
          <a:xfrm>
            <a:off x="260604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cxnSp>
        <p:nvCxnSpPr>
          <p:cNvPr id="48" name="Connector (blocked)"/>
          <p:cNvCxnSpPr/>
          <p:nvPr/>
        </p:nvCxnSpPr>
        <p:spPr>
          <a:xfrm>
            <a:off x="1188720" y="3017520"/>
            <a:ext cx="0" cy="246888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blocked)"/>
          <p:cNvCxnSpPr/>
          <p:nvPr/>
        </p:nvCxnSpPr>
        <p:spPr>
          <a:xfrm>
            <a:off x="1188720" y="5486400"/>
            <a:ext cx="5806440" cy="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blocked)"/>
          <p:cNvCxnSpPr/>
          <p:nvPr/>
        </p:nvCxnSpPr>
        <p:spPr>
          <a:xfrm flipV="1">
            <a:off x="6995160" y="2103120"/>
            <a:ext cx="0" cy="338328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blocked)"/>
          <p:cNvCxnSpPr/>
          <p:nvPr/>
        </p:nvCxnSpPr>
        <p:spPr>
          <a:xfrm>
            <a:off x="6995160" y="2103120"/>
            <a:ext cx="36576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377440" y="5522976"/>
            <a:ext cx="4572000" cy="256032"/>
          </a:xfrm>
          <a:prstGeom prst="rect">
            <a:avLst/>
          </a:prstGeom>
          <a:noFill/>
        </p:spPr>
        <p:txBody>
          <a:bodyPr wrap="square" lIns="0" rIns="0" tIns="0" bIns="0" anchor="t">
            <a:noAutofit/>
          </a:bodyPr>
          <a:lstStyle/>
          <a:p>
            <a:pPr algn="l"/>
            <a:r>
              <a:rPr sz="1100" b="0" i="0">
                <a:solidFill>
                  <a:srgbClr val="A4262C"/>
                </a:solidFill>
                <a:latin typeface="Arial"/>
              </a:rPr>
              <a:t>Direct call to model endpoint: blocked by network and identity</a:t>
            </a:r>
          </a:p>
        </p:txBody>
      </p:sp>
      <p:cxnSp>
        <p:nvCxnSpPr>
          <p:cNvPr id="53" name="Connector (flow)"/>
          <p:cNvCxnSpPr/>
          <p:nvPr/>
        </p:nvCxnSpPr>
        <p:spPr>
          <a:xfrm>
            <a:off x="548640" y="592531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24128" y="5806440"/>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5" name="Connector (telemetry)"/>
          <p:cNvCxnSpPr/>
          <p:nvPr/>
        </p:nvCxnSpPr>
        <p:spPr>
          <a:xfrm>
            <a:off x="2926080" y="592531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401568" y="5806440"/>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cxnSp>
        <p:nvCxnSpPr>
          <p:cNvPr id="57" name="Connector (blocked)"/>
          <p:cNvCxnSpPr/>
          <p:nvPr/>
        </p:nvCxnSpPr>
        <p:spPr>
          <a:xfrm>
            <a:off x="5303520" y="5925312"/>
            <a:ext cx="41148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779008" y="5806440"/>
            <a:ext cx="1874519" cy="256032"/>
          </a:xfrm>
          <a:prstGeom prst="rect">
            <a:avLst/>
          </a:prstGeom>
          <a:noFill/>
        </p:spPr>
        <p:txBody>
          <a:bodyPr wrap="square" lIns="0" rIns="0" tIns="0" bIns="0" anchor="t">
            <a:noAutofit/>
          </a:bodyPr>
          <a:lstStyle/>
          <a:p>
            <a:pPr algn="l"/>
            <a:r>
              <a:rPr sz="1100" b="0" i="0">
                <a:solidFill>
                  <a:srgbClr val="53565A"/>
                </a:solidFill>
                <a:latin typeface="Arial"/>
              </a:rPr>
              <a:t>Path that must be blocked</a:t>
            </a:r>
          </a:p>
        </p:txBody>
      </p:sp>
      <p:sp>
        <p:nvSpPr>
          <p:cNvPr id="59" name="TextBox 58"/>
          <p:cNvSpPr txBox="1"/>
          <p:nvPr/>
        </p:nvSpPr>
        <p:spPr>
          <a:xfrm>
            <a:off x="548640" y="6108192"/>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the gateway controls, and what it cannot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VERIFIED 11 OCT 2026"/>
          <p:cNvSpPr/>
          <p:nvPr/>
        </p:nvSpPr>
        <p:spPr>
          <a:xfrm>
            <a:off x="365887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Rounded Rectangle 7"/>
          <p:cNvSpPr/>
          <p:nvPr/>
        </p:nvSpPr>
        <p:spPr>
          <a:xfrm>
            <a:off x="548640" y="1371600"/>
            <a:ext cx="5394960"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Controls for routed traffic</a:t>
            </a:r>
          </a:p>
        </p:txBody>
      </p:sp>
      <p:sp>
        <p:nvSpPr>
          <p:cNvPr id="9" name="TextBox 8"/>
          <p:cNvSpPr txBox="1"/>
          <p:nvPr/>
        </p:nvSpPr>
        <p:spPr>
          <a:xfrm>
            <a:off x="548640" y="2057400"/>
            <a:ext cx="5394960" cy="3566160"/>
          </a:xfrm>
          <a:prstGeom prst="rect">
            <a:avLst/>
          </a:prstGeom>
          <a:noFill/>
        </p:spPr>
        <p:txBody>
          <a:bodyPr wrap="square" lIns="0" rIns="0" tIns="0" bIns="0" anchor="t">
            <a:noAutofit/>
          </a:bodyPr>
          <a:lstStyle/>
          <a:p>
            <a:pPr algn="l" marL="201168" indent="-201168">
              <a:spcAft>
                <a:spcPts val="800"/>
              </a:spcAft>
              <a:buFont typeface="Arial"/>
              <a:buChar char="•"/>
            </a:pPr>
            <a:r>
              <a:rPr sz="1800" b="0" i="0">
                <a:solidFill>
                  <a:srgbClr val="1E1E2E"/>
                </a:solidFill>
                <a:latin typeface="Arial"/>
              </a:rPr>
              <a:t>Caller identity and managed identity to backends</a:t>
            </a:r>
          </a:p>
          <a:p>
            <a:pPr algn="l" marL="201168" indent="-201168">
              <a:spcAft>
                <a:spcPts val="800"/>
              </a:spcAft>
              <a:buFont typeface="Arial"/>
              <a:buChar char="•"/>
            </a:pPr>
            <a:r>
              <a:rPr sz="1800" b="0" i="0">
                <a:solidFill>
                  <a:srgbClr val="1E1E2E"/>
                </a:solidFill>
                <a:latin typeface="Arial"/>
              </a:rPr>
              <a:t>Token rate limits and quotas per caller</a:t>
            </a:r>
          </a:p>
          <a:p>
            <a:pPr algn="l" marL="201168" indent="-201168">
              <a:spcAft>
                <a:spcPts val="800"/>
              </a:spcAft>
              <a:buFont typeface="Arial"/>
              <a:buChar char="•"/>
            </a:pPr>
            <a:r>
              <a:rPr sz="1800" b="0" i="0">
                <a:solidFill>
                  <a:srgbClr val="1E1E2E"/>
                </a:solidFill>
                <a:latin typeface="Arial"/>
              </a:rPr>
              <a:t>Content safety and prompt-attack checks</a:t>
            </a:r>
          </a:p>
          <a:p>
            <a:pPr algn="l" marL="201168" indent="-201168">
              <a:spcAft>
                <a:spcPts val="800"/>
              </a:spcAft>
              <a:buFont typeface="Arial"/>
              <a:buChar char="•"/>
            </a:pPr>
            <a:r>
              <a:rPr sz="1800" b="0" i="0">
                <a:solidFill>
                  <a:srgbClr val="1E1E2E"/>
                </a:solidFill>
                <a:latin typeface="Arial"/>
              </a:rPr>
              <a:t>Priority routing, retries and circuit breakers</a:t>
            </a:r>
          </a:p>
          <a:p>
            <a:pPr algn="l" marL="201168" indent="-201168">
              <a:spcAft>
                <a:spcPts val="800"/>
              </a:spcAft>
              <a:buFont typeface="Arial"/>
              <a:buChar char="•"/>
            </a:pPr>
            <a:r>
              <a:rPr sz="1800" b="0" i="0">
                <a:solidFill>
                  <a:srgbClr val="1E1E2E"/>
                </a:solidFill>
                <a:latin typeface="Arial"/>
              </a:rPr>
              <a:t>Token metrics per caller, app or agent</a:t>
            </a:r>
          </a:p>
        </p:txBody>
      </p:sp>
      <p:sp>
        <p:nvSpPr>
          <p:cNvPr id="10" name="Rounded Rectangle 9"/>
          <p:cNvSpPr/>
          <p:nvPr/>
        </p:nvSpPr>
        <p:spPr>
          <a:xfrm>
            <a:off x="6245352" y="1371600"/>
            <a:ext cx="5394960" cy="548640"/>
          </a:xfrm>
          <a:prstGeom prst="roundRect">
            <a:avLst>
              <a:gd name="adj" fmla="val 13333"/>
            </a:avLst>
          </a:prstGeom>
          <a:solidFill>
            <a:srgbClr val="8A4B0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Limits leaders must accept</a:t>
            </a:r>
          </a:p>
        </p:txBody>
      </p:sp>
      <p:sp>
        <p:nvSpPr>
          <p:cNvPr id="11" name="TextBox 10"/>
          <p:cNvSpPr txBox="1"/>
          <p:nvPr/>
        </p:nvSpPr>
        <p:spPr>
          <a:xfrm>
            <a:off x="6245352" y="2057400"/>
            <a:ext cx="5394960" cy="3566160"/>
          </a:xfrm>
          <a:prstGeom prst="rect">
            <a:avLst/>
          </a:prstGeom>
          <a:noFill/>
        </p:spPr>
        <p:txBody>
          <a:bodyPr wrap="square" lIns="0" rIns="0" tIns="0" bIns="0" anchor="t">
            <a:noAutofit/>
          </a:bodyPr>
          <a:lstStyle/>
          <a:p>
            <a:pPr algn="l" marL="201168" indent="-201168">
              <a:spcAft>
                <a:spcPts val="800"/>
              </a:spcAft>
              <a:buFont typeface="Arial"/>
              <a:buChar char="•"/>
            </a:pPr>
            <a:r>
              <a:rPr sz="1800" b="0" i="0">
                <a:solidFill>
                  <a:srgbClr val="1E1E2E"/>
                </a:solidFill>
                <a:latin typeface="Arial"/>
              </a:rPr>
              <a:t>No control over calls that bypass it</a:t>
            </a:r>
          </a:p>
          <a:p>
            <a:pPr algn="l" marL="201168" indent="-201168">
              <a:spcAft>
                <a:spcPts val="800"/>
              </a:spcAft>
              <a:buFont typeface="Arial"/>
              <a:buChar char="•"/>
            </a:pPr>
            <a:r>
              <a:rPr sz="1800" b="0" i="0">
                <a:solidFill>
                  <a:srgbClr val="1E1E2E"/>
                </a:solidFill>
                <a:latin typeface="Arial"/>
              </a:rPr>
              <a:t>Counters are per gateway, not global</a:t>
            </a:r>
          </a:p>
          <a:p>
            <a:pPr algn="l" marL="201168" indent="-201168">
              <a:spcAft>
                <a:spcPts val="800"/>
              </a:spcAft>
              <a:buFont typeface="Arial"/>
              <a:buChar char="•"/>
            </a:pPr>
            <a:r>
              <a:rPr sz="1800" b="0" i="0">
                <a:solidFill>
                  <a:srgbClr val="1E1E2E"/>
                </a:solidFill>
                <a:latin typeface="Arial"/>
              </a:rPr>
              <a:t>Concurrent calls can overshoot a limit</a:t>
            </a:r>
          </a:p>
          <a:p>
            <a:pPr algn="l" marL="201168" indent="-201168">
              <a:spcAft>
                <a:spcPts val="800"/>
              </a:spcAft>
              <a:buFont typeface="Arial"/>
              <a:buChar char="•"/>
            </a:pPr>
            <a:r>
              <a:rPr sz="1800" b="0" i="0">
                <a:solidFill>
                  <a:srgbClr val="1E1E2E"/>
                </a:solidFill>
                <a:latin typeface="Arial"/>
              </a:rPr>
              <a:t>Streaming usage is estimated</a:t>
            </a:r>
          </a:p>
          <a:p>
            <a:pPr algn="l" marL="201168" indent="-201168">
              <a:spcAft>
                <a:spcPts val="800"/>
              </a:spcAft>
              <a:buFont typeface="Arial"/>
              <a:buChar char="•"/>
            </a:pPr>
            <a:r>
              <a:rPr sz="1800" b="0" i="0">
                <a:solidFill>
                  <a:srgbClr val="1E1E2E"/>
                </a:solidFill>
                <a:latin typeface="Arial"/>
              </a:rPr>
              <a:t>Token caps are not exact currency caps</a:t>
            </a:r>
          </a:p>
        </p:txBody>
      </p:sp>
      <p:sp>
        <p:nvSpPr>
          <p:cNvPr id="12" name="Rounded Rectangle 11"/>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For a hard financial cap, add a budget service designed for bounded overshoot.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things are priced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VERIFIED LIST PRICES"/>
          <p:cNvSpPr/>
          <p:nvPr/>
        </p:nvSpPr>
        <p:spPr>
          <a:xfrm>
            <a:off x="365887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LIST PRICES</a:t>
            </a:r>
          </a:p>
        </p:txBody>
      </p:sp>
      <p:sp>
        <p:nvSpPr>
          <p:cNvPr id="6" name="Status chip: NO APPROVED FEES"/>
          <p:cNvSpPr/>
          <p:nvPr/>
        </p:nvSpPr>
        <p:spPr>
          <a:xfrm>
            <a:off x="5751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FEES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sp>
        <p:nvSpPr>
          <p:cNvPr id="9" name="Rounded Rectangle 8"/>
          <p:cNvSpPr/>
          <p:nvPr/>
        </p:nvSpPr>
        <p:spPr>
          <a:xfrm>
            <a:off x="548640"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1  Gateway platform</a:t>
            </a:r>
          </a:p>
          <a:p>
            <a:pPr algn="l"/>
            <a:r>
              <a:rPr sz="1300" b="0" i="0">
                <a:solidFill>
                  <a:srgbClr val="26EFE9"/>
                </a:solidFill>
                <a:latin typeface="Arial"/>
              </a:rPr>
              <a:t>Customer Azure spend, recurring</a:t>
            </a:r>
          </a:p>
        </p:txBody>
      </p:sp>
      <p:sp>
        <p:nvSpPr>
          <p:cNvPr id="10" name="TextBox 9"/>
          <p:cNvSpPr txBox="1"/>
          <p:nvPr/>
        </p:nvSpPr>
        <p:spPr>
          <a:xfrm>
            <a:off x="548640" y="2377440"/>
            <a:ext cx="3593592" cy="3017520"/>
          </a:xfrm>
          <a:prstGeom prst="rect">
            <a:avLst/>
          </a:prstGeom>
          <a:noFill/>
        </p:spPr>
        <p:txBody>
          <a:bodyPr wrap="square" lIns="0" rIns="0" tIns="0" bIns="0" anchor="t">
            <a:noAutofit/>
          </a:bodyPr>
          <a:lstStyle/>
          <a:p>
            <a:pPr algn="l">
              <a:spcAft>
                <a:spcPts val="1000"/>
              </a:spcAft>
            </a:pPr>
            <a:r>
              <a:rPr sz="1600" b="1" i="0">
                <a:solidFill>
                  <a:srgbClr val="000048"/>
                </a:solidFill>
                <a:latin typeface="Arial"/>
              </a:rPr>
              <a:t>Standard v2: </a:t>
            </a:r>
            <a:r>
              <a:rPr sz="1600" b="0" i="0">
                <a:solidFill>
                  <a:srgbClr val="1E1E2E"/>
                </a:solidFill>
                <a:latin typeface="Arial"/>
              </a:rPr>
              <a:t>$0.9589 per unit-hour, about $700 a month</a:t>
            </a:r>
          </a:p>
          <a:p>
            <a:pPr algn="l">
              <a:spcAft>
                <a:spcPts val="1000"/>
              </a:spcAft>
            </a:pPr>
            <a:r>
              <a:rPr sz="1600" b="1" i="0">
                <a:solidFill>
                  <a:srgbClr val="000048"/>
                </a:solidFill>
                <a:latin typeface="Arial"/>
              </a:rPr>
              <a:t>Premium v2: </a:t>
            </a:r>
            <a:r>
              <a:rPr sz="1600" b="0" i="0">
                <a:solidFill>
                  <a:srgbClr val="1E1E2E"/>
                </a:solidFill>
                <a:latin typeface="Arial"/>
              </a:rPr>
              <a:t>$3.8356 per unit-hour, about $2,800 a month</a:t>
            </a:r>
          </a:p>
          <a:p>
            <a:pPr algn="l">
              <a:spcAft>
                <a:spcPts val="1000"/>
              </a:spcAft>
            </a:pPr>
            <a:r>
              <a:rPr sz="1600" b="1" i="0">
                <a:solidFill>
                  <a:srgbClr val="000048"/>
                </a:solidFill>
                <a:latin typeface="Arial"/>
              </a:rPr>
              <a:t>Also: </a:t>
            </a:r>
            <a:r>
              <a:rPr sz="1600" b="0" i="0">
                <a:solidFill>
                  <a:srgbClr val="1E1E2E"/>
                </a:solidFill>
                <a:latin typeface="Arial"/>
              </a:rPr>
              <a:t>logs, private endpoints, Content Safety calls</a:t>
            </a:r>
          </a:p>
        </p:txBody>
      </p:sp>
      <p:sp>
        <p:nvSpPr>
          <p:cNvPr id="11" name="Rounded Rectangle 10"/>
          <p:cNvSpPr/>
          <p:nvPr/>
        </p:nvSpPr>
        <p:spPr>
          <a:xfrm>
            <a:off x="429767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2  Model consumption</a:t>
            </a:r>
          </a:p>
          <a:p>
            <a:pPr algn="l"/>
            <a:r>
              <a:rPr sz="1300" b="0" i="0">
                <a:solidFill>
                  <a:srgbClr val="26EFE9"/>
                </a:solidFill>
                <a:latin typeface="Arial"/>
              </a:rPr>
              <a:t>Customer Azure spend, per use</a:t>
            </a:r>
          </a:p>
        </p:txBody>
      </p:sp>
      <p:sp>
        <p:nvSpPr>
          <p:cNvPr id="12" name="TextBox 11"/>
          <p:cNvSpPr txBox="1"/>
          <p:nvPr/>
        </p:nvSpPr>
        <p:spPr>
          <a:xfrm>
            <a:off x="4297679" y="2377440"/>
            <a:ext cx="3593592" cy="3017520"/>
          </a:xfrm>
          <a:prstGeom prst="rect">
            <a:avLst/>
          </a:prstGeom>
          <a:noFill/>
        </p:spPr>
        <p:txBody>
          <a:bodyPr wrap="square" lIns="0" rIns="0" tIns="0" bIns="0" anchor="t">
            <a:noAutofit/>
          </a:bodyPr>
          <a:lstStyle/>
          <a:p>
            <a:pPr algn="l">
              <a:spcAft>
                <a:spcPts val="1000"/>
              </a:spcAft>
            </a:pPr>
            <a:r>
              <a:rPr sz="1600" b="1" i="0">
                <a:solidFill>
                  <a:srgbClr val="000048"/>
                </a:solidFill>
                <a:latin typeface="Arial"/>
              </a:rPr>
              <a:t>gpt-4.1 Global: </a:t>
            </a:r>
            <a:r>
              <a:rPr sz="1600" b="0" i="0">
                <a:solidFill>
                  <a:srgbClr val="1E1E2E"/>
                </a:solidFill>
                <a:latin typeface="Arial"/>
              </a:rPr>
              <a:t>$2.00 input, $8.00 output per 1M tokens</a:t>
            </a:r>
          </a:p>
          <a:p>
            <a:pPr algn="l">
              <a:spcAft>
                <a:spcPts val="1000"/>
              </a:spcAft>
            </a:pPr>
            <a:r>
              <a:rPr sz="1600" b="1" i="0">
                <a:solidFill>
                  <a:srgbClr val="000048"/>
                </a:solidFill>
                <a:latin typeface="Arial"/>
              </a:rPr>
              <a:t>Provisioned: </a:t>
            </a:r>
            <a:r>
              <a:rPr sz="1600" b="0" i="0">
                <a:solidFill>
                  <a:srgbClr val="1E1E2E"/>
                </a:solidFill>
                <a:latin typeface="Arial"/>
              </a:rPr>
              <a:t>$1.00 per PTU-hour Global, list</a:t>
            </a:r>
          </a:p>
          <a:p>
            <a:pPr algn="l">
              <a:spcAft>
                <a:spcPts val="1000"/>
              </a:spcAft>
            </a:pPr>
            <a:r>
              <a:rPr sz="1600" b="1" i="0">
                <a:solidFill>
                  <a:srgbClr val="000048"/>
                </a:solidFill>
                <a:latin typeface="Arial"/>
              </a:rPr>
              <a:t>Driver: </a:t>
            </a:r>
            <a:r>
              <a:rPr sz="1600" b="0" i="0">
                <a:solidFill>
                  <a:srgbClr val="1E1E2E"/>
                </a:solidFill>
                <a:latin typeface="Arial"/>
              </a:rPr>
              <a:t>traffic the gateway routes, not the gateway</a:t>
            </a:r>
          </a:p>
        </p:txBody>
      </p:sp>
      <p:sp>
        <p:nvSpPr>
          <p:cNvPr id="13" name="Rounded Rectangle 12"/>
          <p:cNvSpPr/>
          <p:nvPr/>
        </p:nvSpPr>
        <p:spPr>
          <a:xfrm>
            <a:off x="8046719" y="1371600"/>
            <a:ext cx="3593592" cy="868680"/>
          </a:xfrm>
          <a:prstGeom prst="roundRect">
            <a:avLst>
              <a:gd name="adj" fmla="val 8421"/>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3  Implementation</a:t>
            </a:r>
          </a:p>
          <a:p>
            <a:pPr algn="l"/>
            <a:r>
              <a:rPr sz="1300" b="0" i="0">
                <a:solidFill>
                  <a:srgbClr val="26EFE9"/>
                </a:solidFill>
                <a:latin typeface="Arial"/>
              </a:rPr>
              <a:t>CIS Infra services, one-time</a:t>
            </a:r>
          </a:p>
        </p:txBody>
      </p:sp>
      <p:sp>
        <p:nvSpPr>
          <p:cNvPr id="14" name="TextBox 13"/>
          <p:cNvSpPr txBox="1"/>
          <p:nvPr/>
        </p:nvSpPr>
        <p:spPr>
          <a:xfrm>
            <a:off x="8046719" y="2377440"/>
            <a:ext cx="3593592" cy="3017520"/>
          </a:xfrm>
          <a:prstGeom prst="rect">
            <a:avLst/>
          </a:prstGeom>
          <a:noFill/>
        </p:spPr>
        <p:txBody>
          <a:bodyPr wrap="square" lIns="0" rIns="0" tIns="0" bIns="0" anchor="t">
            <a:noAutofit/>
          </a:bodyPr>
          <a:lstStyle/>
          <a:p>
            <a:pPr algn="l">
              <a:spcAft>
                <a:spcPts val="1000"/>
              </a:spcAft>
            </a:pPr>
            <a:r>
              <a:rPr sz="1600" b="1" i="0">
                <a:solidFill>
                  <a:srgbClr val="000048"/>
                </a:solidFill>
                <a:latin typeface="Arial"/>
              </a:rPr>
              <a:t>Unit: </a:t>
            </a:r>
            <a:r>
              <a:rPr sz="1600" b="0" i="0">
                <a:solidFill>
                  <a:srgbClr val="1E1E2E"/>
                </a:solidFill>
                <a:latin typeface="Arial"/>
              </a:rPr>
              <a:t>role days x approved sell rate</a:t>
            </a:r>
          </a:p>
          <a:p>
            <a:pPr algn="l">
              <a:spcAft>
                <a:spcPts val="1000"/>
              </a:spcAft>
            </a:pPr>
            <a:r>
              <a:rPr sz="1600" b="1" i="0">
                <a:solidFill>
                  <a:srgbClr val="000048"/>
                </a:solidFill>
                <a:latin typeface="Arial"/>
              </a:rPr>
              <a:t>Drivers: </a:t>
            </a:r>
            <a:r>
              <a:rPr sz="1600" b="0" i="0">
                <a:solidFill>
                  <a:srgbClr val="1E1E2E"/>
                </a:solidFill>
                <a:latin typeface="Arial"/>
              </a:rPr>
              <a:t>consumers, policies, regions, tests</a:t>
            </a:r>
          </a:p>
          <a:p>
            <a:pPr algn="l">
              <a:spcAft>
                <a:spcPts val="1000"/>
              </a:spcAft>
            </a:pPr>
            <a:r>
              <a:rPr sz="1600" b="1" i="0">
                <a:solidFill>
                  <a:srgbClr val="000048"/>
                </a:solidFill>
                <a:latin typeface="Arial"/>
              </a:rPr>
              <a:t>Status: </a:t>
            </a:r>
            <a:r>
              <a:rPr sz="1600" b="0" i="0">
                <a:solidFill>
                  <a:srgbClr val="1E1E2E"/>
                </a:solidFill>
                <a:latin typeface="Arial"/>
              </a:rPr>
              <a:t>no approved rate yet (Finance)</a:t>
            </a:r>
          </a:p>
        </p:txBody>
      </p:sp>
      <p:sp>
        <p:nvSpPr>
          <p:cNvPr id="15" name="Rounded Rectangle 14"/>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East US 2 retail list prices, USD, checked 11 Oct 2026. Synthetic budget example is kept apart in appendix A20.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Dependencies and risks that decide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graphicFrame>
        <p:nvGraphicFramePr>
          <p:cNvPr id="7" name="Table"/>
          <p:cNvGraphicFramePr>
            <a:graphicFrameLocks noGrp="1"/>
          </p:cNvGraphicFramePr>
          <p:nvPr/>
        </p:nvGraphicFramePr>
        <p:xfrm>
          <a:off x="548640" y="1371600"/>
          <a:ext cx="11091672" cy="3230880"/>
        </p:xfrm>
        <a:graphic>
          <a:graphicData uri="http://schemas.openxmlformats.org/drawingml/2006/table">
            <a:tbl>
              <a:tblPr firstRow="1" bandRow="0">
                <a:tableStyleId>{5C22544A-7EE6-4342-B048-85BDC9FD1C3A}</a:tableStyleId>
              </a:tblPr>
              <a:tblGrid>
                <a:gridCol w="3017520"/>
                <a:gridCol w="2377440"/>
                <a:gridCol w="3291840"/>
                <a:gridCol w="2404872"/>
              </a:tblGrid>
              <a:tr h="335280">
                <a:tc>
                  <a:txBody>
                    <a:bodyPr wrap="square" anchor="ctr">
                      <a:noAutofit/>
                    </a:bodyPr>
                    <a:lstStyle/>
                    <a:p>
                      <a:pPr algn="l"/>
                      <a:r>
                        <a:rPr sz="1600" b="1" i="0">
                          <a:solidFill>
                            <a:srgbClr val="FFFFFF"/>
                          </a:solidFill>
                          <a:latin typeface="Arial"/>
                        </a:rPr>
                        <a:t>Risk or dependency</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Effect if unmanaged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Mitigation</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Owner</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Direct endpoints left open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Controls bypassed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Private endpoints; local auth off</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 with Security</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Preview tier used in production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No SLA; changing limits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GA tiers for production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Architecture owner</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Region capacity notices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Tier cannot be created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Recheck region table before quote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Spoofable counter key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Budgets evaded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Counter key from validated token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Security</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Overflow to PAYG unbudgeted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Spend spikes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Approved overflow, alerts, quota</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Budget owner</a:t>
                      </a:r>
                    </a:p>
                  </a:txBody>
                  <a:tcPr marL="73152" marR="73152" marT="36576" marB="36576"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success is measured, and what to decide now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TO AGREE"/>
          <p:cNvSpPr/>
          <p:nvPr/>
        </p:nvSpPr>
        <p:spPr>
          <a:xfrm>
            <a:off x="375666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TO AGREE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graphicFrame>
        <p:nvGraphicFramePr>
          <p:cNvPr id="8" name="Table"/>
          <p:cNvGraphicFramePr>
            <a:graphicFrameLocks noGrp="1"/>
          </p:cNvGraphicFramePr>
          <p:nvPr/>
        </p:nvGraphicFramePr>
        <p:xfrm>
          <a:off x="548640" y="1371600"/>
          <a:ext cx="6035040" cy="2255520"/>
        </p:xfrm>
        <a:graphic>
          <a:graphicData uri="http://schemas.openxmlformats.org/drawingml/2006/table">
            <a:tbl>
              <a:tblPr firstRow="1" bandRow="0">
                <a:tableStyleId>{5C22544A-7EE6-4342-B048-85BDC9FD1C3A}</a:tableStyleId>
              </a:tblPr>
              <a:tblGrid>
                <a:gridCol w="1920240"/>
                <a:gridCol w="4114800"/>
              </a:tblGrid>
              <a:tr h="335280">
                <a:tc>
                  <a:txBody>
                    <a:bodyPr wrap="square" anchor="ctr">
                      <a:noAutofit/>
                    </a:bodyPr>
                    <a:lstStyle/>
                    <a:p>
                      <a:pPr algn="l"/>
                      <a:r>
                        <a:rPr sz="1600" b="1" i="0">
                          <a:solidFill>
                            <a:srgbClr val="FFFFFF"/>
                          </a:solidFill>
                          <a:latin typeface="Arial"/>
                        </a:rPr>
                        <a:t>Measure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Definition</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Coverage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Share of AI calls routed through the gateway</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Bypass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Direct-call tests denied</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Budget accuracy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Measured overshoot under load</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Resilience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Fallback stays inside approved boundary</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Attribution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Tokens attributed to caller and agent</a:t>
                      </a:r>
                    </a:p>
                  </a:txBody>
                  <a:tcPr marL="73152" marR="73152" marT="36576" marB="36576" anchor="ctr">
                    <a:solidFill>
                      <a:srgbClr val="FFFFFF"/>
                    </a:solidFill>
                  </a:tcPr>
                </a:tc>
              </a:tr>
            </a:tbl>
          </a:graphicData>
        </a:graphic>
      </p:graphicFrame>
      <p:sp>
        <p:nvSpPr>
          <p:cNvPr id="9" name="Rounded Rectangle 8"/>
          <p:cNvSpPr/>
          <p:nvPr/>
        </p:nvSpPr>
        <p:spPr>
          <a:xfrm>
            <a:off x="6903720" y="1371600"/>
            <a:ext cx="4736592"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Decide now</a:t>
            </a:r>
          </a:p>
        </p:txBody>
      </p:sp>
      <p:sp>
        <p:nvSpPr>
          <p:cNvPr id="10" name="TextBox 9"/>
          <p:cNvSpPr txBox="1"/>
          <p:nvPr/>
        </p:nvSpPr>
        <p:spPr>
          <a:xfrm>
            <a:off x="6903720" y="1965960"/>
            <a:ext cx="4736592" cy="1463040"/>
          </a:xfrm>
          <a:prstGeom prst="rect">
            <a:avLst/>
          </a:prstGeom>
          <a:noFill/>
        </p:spPr>
        <p:txBody>
          <a:bodyPr wrap="square" lIns="0" rIns="0" tIns="0" bIns="0" anchor="t">
            <a:noAutofit/>
          </a:bodyPr>
          <a:lstStyle/>
          <a:p>
            <a:pPr algn="l" marL="201168" indent="-201168">
              <a:spcAft>
                <a:spcPts val="400"/>
              </a:spcAft>
              <a:buFont typeface="Arial"/>
              <a:buChar char="•"/>
            </a:pPr>
            <a:r>
              <a:rPr sz="1700" b="0" i="0">
                <a:solidFill>
                  <a:srgbClr val="1E1E2E"/>
                </a:solidFill>
                <a:latin typeface="Arial"/>
              </a:rPr>
              <a:t>GA tier for production; preview for pilot</a:t>
            </a:r>
          </a:p>
          <a:p>
            <a:pPr algn="l" marL="201168" indent="-201168">
              <a:spcAft>
                <a:spcPts val="400"/>
              </a:spcAft>
              <a:buFont typeface="Arial"/>
              <a:buChar char="•"/>
            </a:pPr>
            <a:r>
              <a:rPr sz="1700" b="0" i="0">
                <a:solidFill>
                  <a:srgbClr val="1E1E2E"/>
                </a:solidFill>
                <a:latin typeface="Arial"/>
              </a:rPr>
              <a:t>Counter key from validated identity</a:t>
            </a:r>
          </a:p>
        </p:txBody>
      </p:sp>
      <p:sp>
        <p:nvSpPr>
          <p:cNvPr id="11" name="Rounded Rectangle 10"/>
          <p:cNvSpPr/>
          <p:nvPr/>
        </p:nvSpPr>
        <p:spPr>
          <a:xfrm>
            <a:off x="6903720" y="3337560"/>
            <a:ext cx="4736592" cy="502920"/>
          </a:xfrm>
          <a:prstGeom prst="roundRect">
            <a:avLst>
              <a:gd name="adj" fmla="val 14545"/>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After evidence or approval</a:t>
            </a:r>
          </a:p>
        </p:txBody>
      </p:sp>
      <p:sp>
        <p:nvSpPr>
          <p:cNvPr id="12" name="TextBox 11"/>
          <p:cNvSpPr txBox="1"/>
          <p:nvPr/>
        </p:nvSpPr>
        <p:spPr>
          <a:xfrm>
            <a:off x="6903720" y="3931920"/>
            <a:ext cx="4736592" cy="1828800"/>
          </a:xfrm>
          <a:prstGeom prst="rect">
            <a:avLst/>
          </a:prstGeom>
          <a:noFill/>
        </p:spPr>
        <p:txBody>
          <a:bodyPr wrap="square" lIns="0" rIns="0" tIns="0" bIns="0" anchor="t">
            <a:noAutofit/>
          </a:bodyPr>
          <a:lstStyle/>
          <a:p>
            <a:pPr algn="l" marL="201168" indent="-201168">
              <a:spcAft>
                <a:spcPts val="400"/>
              </a:spcAft>
              <a:buFont typeface="Arial"/>
              <a:buChar char="•"/>
            </a:pPr>
            <a:r>
              <a:rPr sz="1700" b="0" i="0">
                <a:solidFill>
                  <a:srgbClr val="1E1E2E"/>
                </a:solidFill>
                <a:latin typeface="Arial"/>
              </a:rPr>
              <a:t>Region and tier (capacity check)</a:t>
            </a:r>
          </a:p>
          <a:p>
            <a:pPr algn="l" marL="201168" indent="-201168">
              <a:spcAft>
                <a:spcPts val="400"/>
              </a:spcAft>
              <a:buFont typeface="Arial"/>
              <a:buChar char="•"/>
            </a:pPr>
            <a:r>
              <a:rPr sz="1700" b="0" i="0">
                <a:solidFill>
                  <a:srgbClr val="1E1E2E"/>
                </a:solidFill>
                <a:latin typeface="Arial"/>
              </a:rPr>
              <a:t>Overflow budget (budget owner)</a:t>
            </a:r>
          </a:p>
          <a:p>
            <a:pPr algn="l" marL="201168" indent="-201168">
              <a:spcAft>
                <a:spcPts val="400"/>
              </a:spcAft>
              <a:buFont typeface="Arial"/>
              <a:buChar char="•"/>
            </a:pPr>
            <a:r>
              <a:rPr sz="1700" b="0" i="0">
                <a:solidFill>
                  <a:srgbClr val="1E1E2E"/>
                </a:solidFill>
                <a:latin typeface="Arial"/>
              </a:rPr>
              <a:t>Sell rates (Finance)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Request flow, identity, token limits, routing, safety, telemetry, resilience, SKU and regional detail, pricing, original references,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79698"/>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Request and response flow</a:t>
            </a:r>
          </a:p>
        </p:txBody>
      </p:sp>
      <p:sp>
        <p:nvSpPr>
          <p:cNvPr id="8" name="TextBox 7">
            <a:hlinkClick action="ppaction://hlinksldjump" r:id="rId5"/>
          </p:cNvPr>
          <p:cNvSpPr txBox="1"/>
          <p:nvPr/>
        </p:nvSpPr>
        <p:spPr>
          <a:xfrm>
            <a:off x="548640" y="1697018"/>
            <a:ext cx="5486400" cy="279698"/>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Model API and tool API governance</a:t>
            </a:r>
          </a:p>
        </p:txBody>
      </p:sp>
      <p:sp>
        <p:nvSpPr>
          <p:cNvPr id="9" name="TextBox 8">
            <a:hlinkClick action="ppaction://hlinksldjump" r:id="rId6"/>
          </p:cNvPr>
          <p:cNvSpPr txBox="1"/>
          <p:nvPr/>
        </p:nvSpPr>
        <p:spPr>
          <a:xfrm>
            <a:off x="548640" y="1976717"/>
            <a:ext cx="5486400" cy="279698"/>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Identity pattern (rebuilt)</a:t>
            </a:r>
          </a:p>
        </p:txBody>
      </p:sp>
      <p:sp>
        <p:nvSpPr>
          <p:cNvPr id="10" name="TextBox 9">
            <a:hlinkClick action="ppaction://hlinksldjump" r:id="rId7"/>
          </p:cNvPr>
          <p:cNvSpPr txBox="1"/>
          <p:nvPr/>
        </p:nvSpPr>
        <p:spPr>
          <a:xfrm>
            <a:off x="548640" y="2256416"/>
            <a:ext cx="5486400" cy="279698"/>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A4  </a:t>
            </a:r>
            <a:r>
              <a:rPr sz="1300" b="0" i="0">
                <a:solidFill>
                  <a:srgbClr val="1E1E2E"/>
                </a:solidFill>
                <a:latin typeface="Arial"/>
              </a:rPr>
              <a:t>Token rate limits and quotas</a:t>
            </a:r>
          </a:p>
        </p:txBody>
      </p:sp>
      <p:sp>
        <p:nvSpPr>
          <p:cNvPr id="11" name="TextBox 10">
            <a:hlinkClick action="ppaction://hlinksldjump" r:id="rId8"/>
          </p:cNvPr>
          <p:cNvSpPr txBox="1"/>
          <p:nvPr/>
        </p:nvSpPr>
        <p:spPr>
          <a:xfrm>
            <a:off x="548640" y="2536115"/>
            <a:ext cx="5486400" cy="279698"/>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A5  </a:t>
            </a:r>
            <a:r>
              <a:rPr sz="1300" b="0" i="0">
                <a:solidFill>
                  <a:srgbClr val="1E1E2E"/>
                </a:solidFill>
                <a:latin typeface="Arial"/>
              </a:rPr>
              <a:t>Token-limit policy flow (rebuilt)</a:t>
            </a:r>
          </a:p>
        </p:txBody>
      </p:sp>
      <p:sp>
        <p:nvSpPr>
          <p:cNvPr id="12" name="TextBox 11">
            <a:hlinkClick action="ppaction://hlinksldjump" r:id="rId9"/>
          </p:cNvPr>
          <p:cNvSpPr txBox="1"/>
          <p:nvPr/>
        </p:nvSpPr>
        <p:spPr>
          <a:xfrm>
            <a:off x="548640" y="2815814"/>
            <a:ext cx="5486400" cy="279698"/>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A6  </a:t>
            </a:r>
            <a:r>
              <a:rPr sz="1300" b="0" i="0">
                <a:solidFill>
                  <a:srgbClr val="1E1E2E"/>
                </a:solidFill>
                <a:latin typeface="Arial"/>
              </a:rPr>
              <a:t>Counters, streaming and overshoot</a:t>
            </a:r>
          </a:p>
        </p:txBody>
      </p:sp>
      <p:sp>
        <p:nvSpPr>
          <p:cNvPr id="13" name="TextBox 12">
            <a:hlinkClick action="ppaction://hlinksldjump" r:id="rId10"/>
          </p:cNvPr>
          <p:cNvSpPr txBox="1"/>
          <p:nvPr/>
        </p:nvSpPr>
        <p:spPr>
          <a:xfrm>
            <a:off x="548640" y="3095512"/>
            <a:ext cx="5486400" cy="279698"/>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A7  </a:t>
            </a:r>
            <a:r>
              <a:rPr sz="1300" b="0" i="0">
                <a:solidFill>
                  <a:srgbClr val="1E1E2E"/>
                </a:solidFill>
                <a:latin typeface="Arial"/>
              </a:rPr>
              <a:t>Request, concurrency and budget controls</a:t>
            </a:r>
          </a:p>
        </p:txBody>
      </p:sp>
      <p:sp>
        <p:nvSpPr>
          <p:cNvPr id="14" name="TextBox 13">
            <a:hlinkClick action="ppaction://hlinksldjump" r:id="rId11"/>
          </p:cNvPr>
          <p:cNvSpPr txBox="1"/>
          <p:nvPr/>
        </p:nvSpPr>
        <p:spPr>
          <a:xfrm>
            <a:off x="548640" y="3375211"/>
            <a:ext cx="5486400" cy="279698"/>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A8  </a:t>
            </a:r>
            <a:r>
              <a:rPr sz="1300" b="0" i="0">
                <a:solidFill>
                  <a:srgbClr val="1E1E2E"/>
                </a:solidFill>
                <a:latin typeface="Arial"/>
              </a:rPr>
              <a:t>Backend pools and routing (rebuilt)</a:t>
            </a:r>
          </a:p>
        </p:txBody>
      </p:sp>
      <p:sp>
        <p:nvSpPr>
          <p:cNvPr id="15" name="TextBox 14">
            <a:hlinkClick action="ppaction://hlinksldjump" r:id="rId12"/>
          </p:cNvPr>
          <p:cNvSpPr txBox="1"/>
          <p:nvPr/>
        </p:nvSpPr>
        <p:spPr>
          <a:xfrm>
            <a:off x="548640" y="3654910"/>
            <a:ext cx="5486400" cy="279698"/>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A9  </a:t>
            </a:r>
            <a:r>
              <a:rPr sz="1300" b="0" i="0">
                <a:solidFill>
                  <a:srgbClr val="1E1E2E"/>
                </a:solidFill>
                <a:latin typeface="Arial"/>
              </a:rPr>
              <a:t>Circuit breaker (rebuilt)</a:t>
            </a:r>
          </a:p>
        </p:txBody>
      </p:sp>
      <p:sp>
        <p:nvSpPr>
          <p:cNvPr id="16" name="TextBox 15">
            <a:hlinkClick action="ppaction://hlinksldjump" r:id="rId13"/>
          </p:cNvPr>
          <p:cNvSpPr txBox="1"/>
          <p:nvPr/>
        </p:nvSpPr>
        <p:spPr>
          <a:xfrm>
            <a:off x="548640" y="3934609"/>
            <a:ext cx="5486400" cy="279698"/>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A10  </a:t>
            </a:r>
            <a:r>
              <a:rPr sz="1300" b="0" i="0">
                <a:solidFill>
                  <a:srgbClr val="1E1E2E"/>
                </a:solidFill>
                <a:latin typeface="Arial"/>
              </a:rPr>
              <a:t>PTU primary, PAYG overflow options</a:t>
            </a:r>
          </a:p>
        </p:txBody>
      </p:sp>
      <p:sp>
        <p:nvSpPr>
          <p:cNvPr id="17" name="TextBox 16">
            <a:hlinkClick action="ppaction://hlinksldjump" r:id="rId14"/>
          </p:cNvPr>
          <p:cNvSpPr txBox="1"/>
          <p:nvPr/>
        </p:nvSpPr>
        <p:spPr>
          <a:xfrm>
            <a:off x="548640" y="4214308"/>
            <a:ext cx="5486400" cy="279698"/>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A11  </a:t>
            </a:r>
            <a:r>
              <a:rPr sz="1300" b="0" i="0">
                <a:solidFill>
                  <a:srgbClr val="1E1E2E"/>
                </a:solidFill>
                <a:latin typeface="Arial"/>
              </a:rPr>
              <a:t>Content safety (rebuilt)</a:t>
            </a:r>
          </a:p>
        </p:txBody>
      </p:sp>
      <p:sp>
        <p:nvSpPr>
          <p:cNvPr id="18" name="TextBox 17">
            <a:hlinkClick action="ppaction://hlinksldjump" r:id="rId15"/>
          </p:cNvPr>
          <p:cNvSpPr txBox="1"/>
          <p:nvPr/>
        </p:nvSpPr>
        <p:spPr>
          <a:xfrm>
            <a:off x="548640" y="4494007"/>
            <a:ext cx="5486400" cy="279698"/>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A12  </a:t>
            </a:r>
            <a:r>
              <a:rPr sz="1300" b="0" i="0">
                <a:solidFill>
                  <a:srgbClr val="1E1E2E"/>
                </a:solidFill>
                <a:latin typeface="Arial"/>
              </a:rPr>
              <a:t>Tool authorisation and approval</a:t>
            </a:r>
          </a:p>
        </p:txBody>
      </p:sp>
      <p:sp>
        <p:nvSpPr>
          <p:cNvPr id="19" name="TextBox 18">
            <a:hlinkClick action="ppaction://hlinksldjump" r:id="rId16"/>
          </p:cNvPr>
          <p:cNvSpPr txBox="1"/>
          <p:nvPr/>
        </p:nvSpPr>
        <p:spPr>
          <a:xfrm>
            <a:off x="548640" y="4773705"/>
            <a:ext cx="5486400" cy="279698"/>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A13  </a:t>
            </a:r>
            <a:r>
              <a:rPr sz="1300" b="0" i="0">
                <a:solidFill>
                  <a:srgbClr val="1E1E2E"/>
                </a:solidFill>
                <a:latin typeface="Arial"/>
              </a:rPr>
              <a:t>Token metrics and cost allocation (rebuilt)</a:t>
            </a:r>
          </a:p>
        </p:txBody>
      </p:sp>
      <p:sp>
        <p:nvSpPr>
          <p:cNvPr id="20" name="TextBox 19">
            <a:hlinkClick action="ppaction://hlinksldjump" r:id="rId17"/>
          </p:cNvPr>
          <p:cNvSpPr txBox="1"/>
          <p:nvPr/>
        </p:nvSpPr>
        <p:spPr>
          <a:xfrm>
            <a:off x="548640" y="5053404"/>
            <a:ext cx="5486400" cy="279698"/>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A14  </a:t>
            </a:r>
            <a:r>
              <a:rPr sz="1300" b="0" i="0">
                <a:solidFill>
                  <a:srgbClr val="1E1E2E"/>
                </a:solidFill>
                <a:latin typeface="Arial"/>
              </a:rPr>
              <a:t>Private connectivity and regional resilience</a:t>
            </a:r>
          </a:p>
        </p:txBody>
      </p:sp>
      <p:sp>
        <p:nvSpPr>
          <p:cNvPr id="21" name="TextBox 20">
            <a:hlinkClick action="ppaction://hlinksldjump" r:id="rId18"/>
          </p:cNvPr>
          <p:cNvSpPr txBox="1"/>
          <p:nvPr/>
        </p:nvSpPr>
        <p:spPr>
          <a:xfrm>
            <a:off x="548640" y="5333103"/>
            <a:ext cx="5486400" cy="279698"/>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A15  </a:t>
            </a:r>
            <a:r>
              <a:rPr sz="1300" b="0" i="0">
                <a:solidFill>
                  <a:srgbClr val="1E1E2E"/>
                </a:solidFill>
                <a:latin typeface="Arial"/>
              </a:rPr>
              <a:t>Bypass prevention</a:t>
            </a:r>
          </a:p>
        </p:txBody>
      </p:sp>
      <p:sp>
        <p:nvSpPr>
          <p:cNvPr id="22" name="TextBox 21">
            <a:hlinkClick action="ppaction://hlinksldjump" r:id="rId19"/>
          </p:cNvPr>
          <p:cNvSpPr txBox="1"/>
          <p:nvPr/>
        </p:nvSpPr>
        <p:spPr>
          <a:xfrm>
            <a:off x="548640" y="5612802"/>
            <a:ext cx="5486400" cy="279698"/>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A16  </a:t>
            </a:r>
            <a:r>
              <a:rPr sz="1300" b="0" i="0">
                <a:solidFill>
                  <a:srgbClr val="1E1E2E"/>
                </a:solidFill>
                <a:latin typeface="Arial"/>
              </a:rPr>
              <a:t>GA versus preview register</a:t>
            </a:r>
          </a:p>
        </p:txBody>
      </p:sp>
      <p:sp>
        <p:nvSpPr>
          <p:cNvPr id="23" name="TextBox 22">
            <a:hlinkClick action="ppaction://hlinksldjump" r:id="rId20"/>
          </p:cNvPr>
          <p:cNvSpPr txBox="1"/>
          <p:nvPr/>
        </p:nvSpPr>
        <p:spPr>
          <a:xfrm>
            <a:off x="548640" y="5892501"/>
            <a:ext cx="5486400" cy="279698"/>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A17  </a:t>
            </a:r>
            <a:r>
              <a:rPr sz="1300" b="0" i="0">
                <a:solidFill>
                  <a:srgbClr val="1E1E2E"/>
                </a:solidFill>
                <a:latin typeface="Arial"/>
              </a:rPr>
              <a:t>Tier feature matrix</a:t>
            </a:r>
          </a:p>
        </p:txBody>
      </p:sp>
      <p:sp>
        <p:nvSpPr>
          <p:cNvPr id="24" name="TextBox 23">
            <a:hlinkClick action="ppaction://hlinksldjump" r:id="rId21"/>
          </p:cNvPr>
          <p:cNvSpPr txBox="1"/>
          <p:nvPr/>
        </p:nvSpPr>
        <p:spPr>
          <a:xfrm>
            <a:off x="6217920" y="1417320"/>
            <a:ext cx="5486400" cy="279698"/>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A18  </a:t>
            </a:r>
            <a:r>
              <a:rPr sz="1300" b="0" i="0">
                <a:solidFill>
                  <a:srgbClr val="1E1E2E"/>
                </a:solidFill>
                <a:latin typeface="Arial"/>
              </a:rPr>
              <a:t>Regional availability snapshot</a:t>
            </a:r>
          </a:p>
        </p:txBody>
      </p:sp>
      <p:sp>
        <p:nvSpPr>
          <p:cNvPr id="25" name="TextBox 24">
            <a:hlinkClick action="ppaction://hlinksldjump" r:id="rId22"/>
          </p:cNvPr>
          <p:cNvSpPr txBox="1"/>
          <p:nvPr/>
        </p:nvSpPr>
        <p:spPr>
          <a:xfrm>
            <a:off x="6217920" y="1697018"/>
            <a:ext cx="5486400" cy="279698"/>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A19  </a:t>
            </a:r>
            <a:r>
              <a:rPr sz="1300" b="0" i="0">
                <a:solidFill>
                  <a:srgbClr val="1E1E2E"/>
                </a:solidFill>
                <a:latin typeface="Arial"/>
              </a:rPr>
              <a:t>Verified API Management list prices</a:t>
            </a:r>
          </a:p>
        </p:txBody>
      </p:sp>
      <p:sp>
        <p:nvSpPr>
          <p:cNvPr id="26" name="TextBox 25">
            <a:hlinkClick action="ppaction://hlinksldjump" r:id="rId23"/>
          </p:cNvPr>
          <p:cNvSpPr txBox="1"/>
          <p:nvPr/>
        </p:nvSpPr>
        <p:spPr>
          <a:xfrm>
            <a:off x="6217920" y="1976717"/>
            <a:ext cx="5486400" cy="279698"/>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A20  </a:t>
            </a:r>
            <a:r>
              <a:rPr sz="1300" b="0" i="0">
                <a:solidFill>
                  <a:srgbClr val="1E1E2E"/>
                </a:solidFill>
                <a:latin typeface="Arial"/>
              </a:rPr>
              <a:t>Synthetic budget example</a:t>
            </a:r>
          </a:p>
        </p:txBody>
      </p:sp>
      <p:sp>
        <p:nvSpPr>
          <p:cNvPr id="27" name="TextBox 26">
            <a:hlinkClick action="ppaction://hlinksldjump" r:id="rId24"/>
          </p:cNvPr>
          <p:cNvSpPr txBox="1"/>
          <p:nvPr/>
        </p:nvSpPr>
        <p:spPr>
          <a:xfrm>
            <a:off x="6217920" y="2256416"/>
            <a:ext cx="5486400" cy="279698"/>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A21  </a:t>
            </a:r>
            <a:r>
              <a:rPr sz="1300" b="0" i="0">
                <a:solidFill>
                  <a:srgbClr val="1E1E2E"/>
                </a:solidFill>
                <a:latin typeface="Arial"/>
              </a:rPr>
              <a:t>Policy register</a:t>
            </a:r>
          </a:p>
        </p:txBody>
      </p:sp>
      <p:sp>
        <p:nvSpPr>
          <p:cNvPr id="28" name="TextBox 27">
            <a:hlinkClick action="ppaction://hlinksldjump" r:id="rId25"/>
          </p:cNvPr>
          <p:cNvSpPr txBox="1"/>
          <p:nvPr/>
        </p:nvSpPr>
        <p:spPr>
          <a:xfrm>
            <a:off x="6217920" y="2536115"/>
            <a:ext cx="5486400" cy="279698"/>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A22  </a:t>
            </a:r>
            <a:r>
              <a:rPr sz="1300" b="0" i="0">
                <a:solidFill>
                  <a:srgbClr val="1E1E2E"/>
                </a:solidFill>
                <a:latin typeface="Arial"/>
              </a:rPr>
              <a:t>Acceptance gates</a:t>
            </a:r>
          </a:p>
        </p:txBody>
      </p:sp>
      <p:sp>
        <p:nvSpPr>
          <p:cNvPr id="29" name="TextBox 28">
            <a:hlinkClick action="ppaction://hlinksldjump" r:id="rId26"/>
          </p:cNvPr>
          <p:cNvSpPr txBox="1"/>
          <p:nvPr/>
        </p:nvSpPr>
        <p:spPr>
          <a:xfrm>
            <a:off x="6217920" y="2815814"/>
            <a:ext cx="5486400" cy="279698"/>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K  </a:t>
            </a:r>
            <a:r>
              <a:rPr sz="1300" b="0" i="0">
                <a:solidFill>
                  <a:srgbClr val="1E1E2E"/>
                </a:solidFill>
                <a:latin typeface="Arial"/>
              </a:rPr>
              <a:t>Kill-switch cross-reference</a:t>
            </a:r>
          </a:p>
        </p:txBody>
      </p:sp>
      <p:sp>
        <p:nvSpPr>
          <p:cNvPr id="30" name="TextBox 29">
            <a:hlinkClick action="ppaction://hlinksldjump" r:id="rId27"/>
          </p:cNvPr>
          <p:cNvSpPr txBox="1"/>
          <p:nvPr/>
        </p:nvSpPr>
        <p:spPr>
          <a:xfrm>
            <a:off x="6217920" y="3095512"/>
            <a:ext cx="5486400" cy="279698"/>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C1  </a:t>
            </a:r>
            <a:r>
              <a:rPr sz="1300" b="0" i="0">
                <a:solidFill>
                  <a:srgbClr val="1E1E2E"/>
                </a:solidFill>
                <a:latin typeface="Arial"/>
              </a:rPr>
              <a:t>Cost layers and pricing formula</a:t>
            </a:r>
          </a:p>
        </p:txBody>
      </p:sp>
      <p:sp>
        <p:nvSpPr>
          <p:cNvPr id="31" name="TextBox 30">
            <a:hlinkClick action="ppaction://hlinksldjump" r:id="rId28"/>
          </p:cNvPr>
          <p:cNvSpPr txBox="1"/>
          <p:nvPr/>
        </p:nvSpPr>
        <p:spPr>
          <a:xfrm>
            <a:off x="6217920" y="3375211"/>
            <a:ext cx="5486400" cy="279698"/>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R1  </a:t>
            </a:r>
            <a:r>
              <a:rPr sz="1300" b="0" i="0">
                <a:solidFill>
                  <a:srgbClr val="1E1E2E"/>
                </a:solidFill>
                <a:latin typeface="Arial"/>
              </a:rPr>
              <a:t>RACI matrix</a:t>
            </a:r>
          </a:p>
        </p:txBody>
      </p:sp>
      <p:sp>
        <p:nvSpPr>
          <p:cNvPr id="32" name="TextBox 31">
            <a:hlinkClick action="ppaction://hlinksldjump" r:id="rId29"/>
          </p:cNvPr>
          <p:cNvSpPr txBox="1"/>
          <p:nvPr/>
        </p:nvSpPr>
        <p:spPr>
          <a:xfrm>
            <a:off x="6217920" y="3654910"/>
            <a:ext cx="5486400" cy="279698"/>
          </a:xfrm>
          <a:prstGeom prst="rect">
            <a:avLst/>
          </a:prstGeom>
          <a:noFill/>
        </p:spPr>
        <p:txBody>
          <a:bodyPr wrap="square" lIns="0" rIns="0" tIns="0" bIns="0" anchor="t">
            <a:noAutofit/>
          </a:bodyPr>
          <a:lstStyle/>
          <a:p>
            <a:pPr algn="l"/>
            <a:r>
              <a:rPr sz="1300" b="1" i="0">
                <a:solidFill>
                  <a:srgbClr val="2F78C4"/>
                </a:solidFill>
                <a:latin typeface="Arial"/>
              </a:rPr>
              <a:t>38  </a:t>
            </a:r>
            <a:r>
              <a:rPr sz="1300" b="1" i="0">
                <a:solidFill>
                  <a:srgbClr val="000048"/>
                </a:solidFill>
                <a:latin typeface="Arial"/>
              </a:rPr>
              <a:t>R2  </a:t>
            </a:r>
            <a:r>
              <a:rPr sz="1300" b="0" i="0">
                <a:solidFill>
                  <a:srgbClr val="1E1E2E"/>
                </a:solidFill>
                <a:latin typeface="Arial"/>
              </a:rPr>
              <a:t>Revenue attribution framework</a:t>
            </a:r>
          </a:p>
        </p:txBody>
      </p:sp>
      <p:sp>
        <p:nvSpPr>
          <p:cNvPr id="33" name="TextBox 32">
            <a:hlinkClick action="ppaction://hlinksldjump" r:id="rId30"/>
          </p:cNvPr>
          <p:cNvSpPr txBox="1"/>
          <p:nvPr/>
        </p:nvSpPr>
        <p:spPr>
          <a:xfrm>
            <a:off x="6217920" y="3934609"/>
            <a:ext cx="5486400" cy="279698"/>
          </a:xfrm>
          <a:prstGeom prst="rect">
            <a:avLst/>
          </a:prstGeom>
          <a:noFill/>
        </p:spPr>
        <p:txBody>
          <a:bodyPr wrap="square" lIns="0" rIns="0" tIns="0" bIns="0" anchor="t">
            <a:noAutofit/>
          </a:bodyPr>
          <a:lstStyle/>
          <a:p>
            <a:pPr algn="l"/>
            <a:r>
              <a:rPr sz="1300" b="1" i="0">
                <a:solidFill>
                  <a:srgbClr val="2F78C4"/>
                </a:solidFill>
                <a:latin typeface="Arial"/>
              </a:rPr>
              <a:t>39  </a:t>
            </a:r>
            <a:r>
              <a:rPr sz="1300" b="1" i="0">
                <a:solidFill>
                  <a:srgbClr val="000048"/>
                </a:solidFill>
                <a:latin typeface="Arial"/>
              </a:rPr>
              <a:t>R3  </a:t>
            </a:r>
            <a:r>
              <a:rPr sz="1300" b="0" i="0">
                <a:solidFill>
                  <a:srgbClr val="1E1E2E"/>
                </a:solidFill>
                <a:latin typeface="Arial"/>
              </a:rPr>
              <a:t>Delivery and commercial readiness</a:t>
            </a:r>
          </a:p>
        </p:txBody>
      </p:sp>
      <p:sp>
        <p:nvSpPr>
          <p:cNvPr id="34" name="TextBox 33">
            <a:hlinkClick action="ppaction://hlinksldjump" r:id="rId31"/>
          </p:cNvPr>
          <p:cNvSpPr txBox="1"/>
          <p:nvPr/>
        </p:nvSpPr>
        <p:spPr>
          <a:xfrm>
            <a:off x="6217920" y="4214308"/>
            <a:ext cx="5486400" cy="279698"/>
          </a:xfrm>
          <a:prstGeom prst="rect">
            <a:avLst/>
          </a:prstGeom>
          <a:noFill/>
        </p:spPr>
        <p:txBody>
          <a:bodyPr wrap="square" lIns="0" rIns="0" tIns="0" bIns="0" anchor="t">
            <a:noAutofit/>
          </a:bodyPr>
          <a:lstStyle/>
          <a:p>
            <a:pPr algn="l"/>
            <a:r>
              <a:rPr sz="1300" b="1" i="0">
                <a:solidFill>
                  <a:srgbClr val="2F78C4"/>
                </a:solidFill>
                <a:latin typeface="Arial"/>
              </a:rPr>
              <a:t>40  </a:t>
            </a:r>
            <a:r>
              <a:rPr sz="1300" b="1" i="0">
                <a:solidFill>
                  <a:srgbClr val="000048"/>
                </a:solidFill>
                <a:latin typeface="Arial"/>
              </a:rPr>
              <a:t>D1  </a:t>
            </a:r>
            <a:r>
              <a:rPr sz="1300" b="0" i="0">
                <a:solidFill>
                  <a:srgbClr val="1E1E2E"/>
                </a:solidFill>
                <a:latin typeface="Arial"/>
              </a:rPr>
              <a:t>Decision and approval register</a:t>
            </a:r>
          </a:p>
        </p:txBody>
      </p:sp>
      <p:sp>
        <p:nvSpPr>
          <p:cNvPr id="35" name="TextBox 34">
            <a:hlinkClick action="ppaction://hlinksldjump" r:id="rId32"/>
          </p:cNvPr>
          <p:cNvSpPr txBox="1"/>
          <p:nvPr/>
        </p:nvSpPr>
        <p:spPr>
          <a:xfrm>
            <a:off x="6217920" y="4494007"/>
            <a:ext cx="5486400" cy="279698"/>
          </a:xfrm>
          <a:prstGeom prst="rect">
            <a:avLst/>
          </a:prstGeom>
          <a:noFill/>
        </p:spPr>
        <p:txBody>
          <a:bodyPr wrap="square" lIns="0" rIns="0" tIns="0" bIns="0" anchor="t">
            <a:noAutofit/>
          </a:bodyPr>
          <a:lstStyle/>
          <a:p>
            <a:pPr algn="l"/>
            <a:r>
              <a:rPr sz="1300" b="1" i="0">
                <a:solidFill>
                  <a:srgbClr val="2F78C4"/>
                </a:solidFill>
                <a:latin typeface="Arial"/>
              </a:rPr>
              <a:t>41  </a:t>
            </a:r>
            <a:r>
              <a:rPr sz="1300" b="1" i="0">
                <a:solidFill>
                  <a:srgbClr val="000048"/>
                </a:solidFill>
                <a:latin typeface="Arial"/>
              </a:rPr>
              <a:t>O1  </a:t>
            </a:r>
            <a:r>
              <a:rPr sz="1300" b="0" i="0">
                <a:solidFill>
                  <a:srgbClr val="1E1E2E"/>
                </a:solidFill>
                <a:latin typeface="Arial"/>
              </a:rPr>
              <a:t>Original: gateway conceptual</a:t>
            </a:r>
          </a:p>
        </p:txBody>
      </p:sp>
      <p:sp>
        <p:nvSpPr>
          <p:cNvPr id="36" name="TextBox 35">
            <a:hlinkClick action="ppaction://hlinksldjump" r:id="rId33"/>
          </p:cNvPr>
          <p:cNvSpPr txBox="1"/>
          <p:nvPr/>
        </p:nvSpPr>
        <p:spPr>
          <a:xfrm>
            <a:off x="6217920" y="4773705"/>
            <a:ext cx="5486400" cy="279698"/>
          </a:xfrm>
          <a:prstGeom prst="rect">
            <a:avLst/>
          </a:prstGeom>
          <a:noFill/>
        </p:spPr>
        <p:txBody>
          <a:bodyPr wrap="square" lIns="0" rIns="0" tIns="0" bIns="0" anchor="t">
            <a:noAutofit/>
          </a:bodyPr>
          <a:lstStyle/>
          <a:p>
            <a:pPr algn="l"/>
            <a:r>
              <a:rPr sz="1300" b="1" i="0">
                <a:solidFill>
                  <a:srgbClr val="2F78C4"/>
                </a:solidFill>
                <a:latin typeface="Arial"/>
              </a:rPr>
              <a:t>42  </a:t>
            </a:r>
            <a:r>
              <a:rPr sz="1300" b="1" i="0">
                <a:solidFill>
                  <a:srgbClr val="000048"/>
                </a:solidFill>
                <a:latin typeface="Arial"/>
              </a:rPr>
              <a:t>O2  </a:t>
            </a:r>
            <a:r>
              <a:rPr sz="1300" b="0" i="0">
                <a:solidFill>
                  <a:srgbClr val="1E1E2E"/>
                </a:solidFill>
                <a:latin typeface="Arial"/>
              </a:rPr>
              <a:t>Historical: legacy identity diagram</a:t>
            </a:r>
          </a:p>
        </p:txBody>
      </p:sp>
      <p:sp>
        <p:nvSpPr>
          <p:cNvPr id="37" name="TextBox 36">
            <a:hlinkClick action="ppaction://hlinksldjump" r:id="rId34"/>
          </p:cNvPr>
          <p:cNvSpPr txBox="1"/>
          <p:nvPr/>
        </p:nvSpPr>
        <p:spPr>
          <a:xfrm>
            <a:off x="6217920" y="5053404"/>
            <a:ext cx="5486400" cy="279698"/>
          </a:xfrm>
          <a:prstGeom prst="rect">
            <a:avLst/>
          </a:prstGeom>
          <a:noFill/>
        </p:spPr>
        <p:txBody>
          <a:bodyPr wrap="square" lIns="0" rIns="0" tIns="0" bIns="0" anchor="t">
            <a:noAutofit/>
          </a:bodyPr>
          <a:lstStyle/>
          <a:p>
            <a:pPr algn="l"/>
            <a:r>
              <a:rPr sz="1300" b="1" i="0">
                <a:solidFill>
                  <a:srgbClr val="2F78C4"/>
                </a:solidFill>
                <a:latin typeface="Arial"/>
              </a:rPr>
              <a:t>43  </a:t>
            </a:r>
            <a:r>
              <a:rPr sz="1300" b="1" i="0">
                <a:solidFill>
                  <a:srgbClr val="000048"/>
                </a:solidFill>
                <a:latin typeface="Arial"/>
              </a:rPr>
              <a:t>O3  </a:t>
            </a:r>
            <a:r>
              <a:rPr sz="1300" b="0" i="0">
                <a:solidFill>
                  <a:srgbClr val="1E1E2E"/>
                </a:solidFill>
                <a:latin typeface="Arial"/>
              </a:rPr>
              <a:t>Original: single gateway, regional backends</a:t>
            </a:r>
          </a:p>
        </p:txBody>
      </p:sp>
      <p:sp>
        <p:nvSpPr>
          <p:cNvPr id="38" name="TextBox 37">
            <a:hlinkClick action="ppaction://hlinksldjump" r:id="rId35"/>
          </p:cNvPr>
          <p:cNvSpPr txBox="1"/>
          <p:nvPr/>
        </p:nvSpPr>
        <p:spPr>
          <a:xfrm>
            <a:off x="6217920" y="5333103"/>
            <a:ext cx="5486400" cy="279698"/>
          </a:xfrm>
          <a:prstGeom prst="rect">
            <a:avLst/>
          </a:prstGeom>
          <a:noFill/>
        </p:spPr>
        <p:txBody>
          <a:bodyPr wrap="square" lIns="0" rIns="0" tIns="0" bIns="0" anchor="t">
            <a:noAutofit/>
          </a:bodyPr>
          <a:lstStyle/>
          <a:p>
            <a:pPr algn="l"/>
            <a:r>
              <a:rPr sz="1300" b="1" i="0">
                <a:solidFill>
                  <a:srgbClr val="2F78C4"/>
                </a:solidFill>
                <a:latin typeface="Arial"/>
              </a:rPr>
              <a:t>44  </a:t>
            </a:r>
            <a:r>
              <a:rPr sz="1300" b="1" i="0">
                <a:solidFill>
                  <a:srgbClr val="000048"/>
                </a:solidFill>
                <a:latin typeface="Arial"/>
              </a:rPr>
              <a:t>O4  </a:t>
            </a:r>
            <a:r>
              <a:rPr sz="1300" b="0" i="0">
                <a:solidFill>
                  <a:srgbClr val="1E1E2E"/>
                </a:solidFill>
                <a:latin typeface="Arial"/>
              </a:rPr>
              <a:t>Original: multi-region gateway</a:t>
            </a:r>
          </a:p>
        </p:txBody>
      </p:sp>
      <p:sp>
        <p:nvSpPr>
          <p:cNvPr id="39" name="TextBox 38">
            <a:hlinkClick action="ppaction://hlinksldjump" r:id="rId36"/>
          </p:cNvPr>
          <p:cNvSpPr txBox="1"/>
          <p:nvPr/>
        </p:nvSpPr>
        <p:spPr>
          <a:xfrm>
            <a:off x="6217920" y="5612802"/>
            <a:ext cx="5486400" cy="279698"/>
          </a:xfrm>
          <a:prstGeom prst="rect">
            <a:avLst/>
          </a:prstGeom>
          <a:noFill/>
        </p:spPr>
        <p:txBody>
          <a:bodyPr wrap="square" lIns="0" rIns="0" tIns="0" bIns="0" anchor="t">
            <a:noAutofit/>
          </a:bodyPr>
          <a:lstStyle/>
          <a:p>
            <a:pPr algn="l"/>
            <a:r>
              <a:rPr sz="1300" b="1" i="0">
                <a:solidFill>
                  <a:srgbClr val="2F78C4"/>
                </a:solidFill>
                <a:latin typeface="Arial"/>
              </a:rPr>
              <a:t>45  </a:t>
            </a:r>
            <a:r>
              <a:rPr sz="1300" b="1" i="0">
                <a:solidFill>
                  <a:srgbClr val="000048"/>
                </a:solidFill>
                <a:latin typeface="Arial"/>
              </a:rPr>
              <a:t>O5  </a:t>
            </a:r>
            <a:r>
              <a:rPr sz="1300" b="0" i="0">
                <a:solidFill>
                  <a:srgbClr val="1E1E2E"/>
                </a:solidFill>
                <a:latin typeface="Arial"/>
              </a:rPr>
              <a:t>Low-resolution originals</a:t>
            </a:r>
          </a:p>
        </p:txBody>
      </p:sp>
      <p:sp>
        <p:nvSpPr>
          <p:cNvPr id="40" name="TextBox 39">
            <a:hlinkClick action="ppaction://hlinksldjump" r:id="rId37"/>
          </p:cNvPr>
          <p:cNvSpPr txBox="1"/>
          <p:nvPr/>
        </p:nvSpPr>
        <p:spPr>
          <a:xfrm>
            <a:off x="6217920" y="5892501"/>
            <a:ext cx="5486400" cy="279698"/>
          </a:xfrm>
          <a:prstGeom prst="rect">
            <a:avLst/>
          </a:prstGeom>
          <a:noFill/>
        </p:spPr>
        <p:txBody>
          <a:bodyPr wrap="square" lIns="0" rIns="0" tIns="0" bIns="0" anchor="t">
            <a:noAutofit/>
          </a:bodyPr>
          <a:lstStyle/>
          <a:p>
            <a:pPr algn="l"/>
            <a:r>
              <a:rPr sz="1300" b="1" i="0">
                <a:solidFill>
                  <a:srgbClr val="2F78C4"/>
                </a:solidFill>
                <a:latin typeface="Arial"/>
              </a:rPr>
              <a:t>46  </a:t>
            </a:r>
            <a:r>
              <a:rPr sz="1300" b="1" i="0">
                <a:solidFill>
                  <a:srgbClr val="000048"/>
                </a:solidFill>
                <a:latin typeface="Arial"/>
              </a:rPr>
              <a:t>S1  </a:t>
            </a:r>
            <a:r>
              <a:rPr sz="13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Request and response flow, step by step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8" name="Table"/>
          <p:cNvGraphicFramePr>
            <a:graphicFrameLocks noGrp="1"/>
          </p:cNvGraphicFramePr>
          <p:nvPr/>
        </p:nvGraphicFramePr>
        <p:xfrm>
          <a:off x="548640" y="1371600"/>
          <a:ext cx="11091672" cy="2773680"/>
        </p:xfrm>
        <a:graphic>
          <a:graphicData uri="http://schemas.openxmlformats.org/drawingml/2006/table">
            <a:tbl>
              <a:tblPr firstRow="1" bandRow="0">
                <a:tableStyleId>{5C22544A-7EE6-4342-B048-85BDC9FD1C3A}</a:tableStyleId>
              </a:tblPr>
              <a:tblGrid>
                <a:gridCol w="1828800"/>
                <a:gridCol w="1280160"/>
                <a:gridCol w="4663440"/>
                <a:gridCol w="3319272"/>
              </a:tblGrid>
              <a:tr h="304800">
                <a:tc>
                  <a:txBody>
                    <a:bodyPr wrap="square" anchor="ctr">
                      <a:noAutofit/>
                    </a:bodyPr>
                    <a:lstStyle/>
                    <a:p>
                      <a:pPr algn="l"/>
                      <a:r>
                        <a:rPr sz="1400" b="1" i="0">
                          <a:solidFill>
                            <a:srgbClr val="FFFFFF"/>
                          </a:solidFill>
                          <a:latin typeface="Arial"/>
                        </a:rPr>
                        <a:t>Step</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Section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What happens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Policy or service</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1  Authenticate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Inbound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 Entra token; map caller, app and agent to a counter key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validate-azure-ad-token or validate-jwt</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2  Limit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Inbound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rate and quota; request rate; concurrency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llm-token-limit, rate-limit-by-key, limit-concurrency</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3  Protect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Inbound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Harm categories and prompt shield on the prompt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llm-content-safety (shield-prompt)</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4  Route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Backend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Priority pool PTU then PAYG; retry; circuit breaker; managed 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set-backend-service, retry, backend pool</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5  Respond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Outbound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Completion safety check; usage headers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llm-content-safety (outbound)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6  Observe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Outbound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metrics with caller dimensions; logs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llm-emit-token-metric, diagnostics</a:t>
                      </a:r>
                    </a:p>
                  </a:txBody>
                  <a:tcPr marL="73152" marR="73152" marT="36576" marB="36576" anchor="ctr">
                    <a:solidFill>
                      <a:srgbClr val="F5F5F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Model APIs and tool APIs need separate governance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8"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377440"/>
                <a:gridCol w="4206240"/>
                <a:gridCol w="4507992"/>
              </a:tblGrid>
              <a:tr h="320040">
                <a:tc>
                  <a:txBody>
                    <a:bodyPr wrap="square" anchor="ctr">
                      <a:noAutofit/>
                    </a:bodyPr>
                    <a:lstStyle/>
                    <a:p>
                      <a:pPr algn="l"/>
                      <a:r>
                        <a:rPr sz="1500" b="1" i="0">
                          <a:solidFill>
                            <a:srgbClr val="FFFFFF"/>
                          </a:solidFill>
                          <a:latin typeface="Arial"/>
                        </a:rPr>
                        <a:t>Concern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Model APIs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Tool APIs (REST, MCP)</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What a call does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Generates text or embeddings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Reads or changes business systems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Main limit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Tokens per minute and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Requests, transaction value, allowed operations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Authorisation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Caller may use this model deployment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Caller may do this operation on this target</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Safety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Content safety, prompt shield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Input validation, approval for high-impact actions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Containment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Deny further model calls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Deny at gateway and at tool side</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 with 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Tool owner with Security</a:t>
                      </a:r>
                    </a:p>
                  </a:txBody>
                  <a:tcPr marL="73152" marR="73152" marT="36576" marB="36576" anchor="ctr">
                    <a:solidFill>
                      <a:srgbClr val="F5F5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Gateway identity pattern with current labels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ADAPTED, LEGACY LABELS REPLACED"/>
          <p:cNvSpPr/>
          <p:nvPr/>
        </p:nvSpPr>
        <p:spPr>
          <a:xfrm>
            <a:off x="1898650" y="274320"/>
            <a:ext cx="295148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LEGACY LABELS REPLACED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pic>
        <p:nvPicPr>
          <p:cNvPr id="9" name="Azure icon: app-registrations" descr="Official Azure icon: app-registration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34440" y="2770632"/>
            <a:ext cx="457200" cy="457200"/>
          </a:xfrm>
          <a:prstGeom prst="rect">
            <a:avLst/>
          </a:prstGeom>
        </p:spPr>
      </p:pic>
      <p:sp>
        <p:nvSpPr>
          <p:cNvPr id="10" name="TextBox 9"/>
          <p:cNvSpPr txBox="1"/>
          <p:nvPr/>
        </p:nvSpPr>
        <p:spPr>
          <a:xfrm>
            <a:off x="585216" y="3264408"/>
            <a:ext cx="1755648" cy="512064"/>
          </a:xfrm>
          <a:prstGeom prst="rect">
            <a:avLst/>
          </a:prstGeom>
          <a:noFill/>
        </p:spPr>
        <p:txBody>
          <a:bodyPr wrap="square" lIns="0" rIns="0" tIns="0" bIns="0" anchor="t">
            <a:noAutofit/>
          </a:bodyPr>
          <a:lstStyle/>
          <a:p>
            <a:pPr algn="ctr"/>
            <a:r>
              <a:rPr sz="1300" b="1" i="0">
                <a:solidFill>
                  <a:srgbClr val="000048"/>
                </a:solidFill>
                <a:latin typeface="Arial"/>
              </a:rPr>
              <a:t>Intelligent application</a:t>
            </a:r>
          </a:p>
          <a:p>
            <a:pPr algn="ctr"/>
            <a:r>
              <a:rPr sz="1100" b="0" i="0">
                <a:solidFill>
                  <a:srgbClr val="53565A"/>
                </a:solidFill>
                <a:latin typeface="Arial"/>
              </a:rPr>
              <a:t>client</a:t>
            </a:r>
          </a:p>
        </p:txBody>
      </p:sp>
      <p:sp>
        <p:nvSpPr>
          <p:cNvPr id="11" name="Rounded Rectangle 10"/>
          <p:cNvSpPr/>
          <p:nvPr/>
        </p:nvSpPr>
        <p:spPr>
          <a:xfrm>
            <a:off x="3657600" y="1371600"/>
            <a:ext cx="2103120" cy="868680"/>
          </a:xfrm>
          <a:prstGeom prst="roundRect">
            <a:avLst>
              <a:gd name="adj" fmla="val 8421"/>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Identity provider</a:t>
            </a:r>
          </a:p>
          <a:p>
            <a:pPr algn="ctr"/>
            <a:r>
              <a:rPr sz="1100" b="0" i="0">
                <a:solidFill>
                  <a:srgbClr val="53565A"/>
                </a:solidFill>
                <a:latin typeface="Arial"/>
              </a:rPr>
              <a:t>Microsoft Entra ID or external IdP</a:t>
            </a:r>
          </a:p>
        </p:txBody>
      </p:sp>
      <p:sp>
        <p:nvSpPr>
          <p:cNvPr id="12" name="Rounded Rectangle 11"/>
          <p:cNvSpPr/>
          <p:nvPr/>
        </p:nvSpPr>
        <p:spPr>
          <a:xfrm>
            <a:off x="3017520" y="2514600"/>
            <a:ext cx="3840480" cy="2011680"/>
          </a:xfrm>
          <a:prstGeom prst="roundRect">
            <a:avLst>
              <a:gd name="adj" fmla="val 454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127248" y="2569464"/>
            <a:ext cx="3621024" cy="237744"/>
          </a:xfrm>
          <a:prstGeom prst="rect">
            <a:avLst/>
          </a:prstGeom>
          <a:noFill/>
        </p:spPr>
        <p:txBody>
          <a:bodyPr wrap="square" lIns="0" rIns="0" tIns="0" bIns="0" anchor="t">
            <a:noAutofit/>
          </a:bodyPr>
          <a:lstStyle/>
          <a:p>
            <a:pPr algn="l"/>
            <a:r>
              <a:rPr sz="1100" b="1" i="0">
                <a:solidFill>
                  <a:srgbClr val="000048"/>
                </a:solidFill>
                <a:latin typeface="Arial"/>
              </a:rPr>
              <a:t>GATEWAY RESOURCE GROUP</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94760" y="2953512"/>
            <a:ext cx="457200" cy="457200"/>
          </a:xfrm>
          <a:prstGeom prst="rect">
            <a:avLst/>
          </a:prstGeom>
        </p:spPr>
      </p:pic>
      <p:sp>
        <p:nvSpPr>
          <p:cNvPr id="15" name="TextBox 14"/>
          <p:cNvSpPr txBox="1"/>
          <p:nvPr/>
        </p:nvSpPr>
        <p:spPr>
          <a:xfrm>
            <a:off x="323697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100" b="0" i="0">
                <a:solidFill>
                  <a:srgbClr val="53565A"/>
                </a:solidFill>
                <a:latin typeface="Arial"/>
              </a:rPr>
              <a:t>validates JWT</a:t>
            </a:r>
          </a:p>
        </p:txBody>
      </p:sp>
      <p:pic>
        <p:nvPicPr>
          <p:cNvPr id="16" name="Azure icon: Managed Identities" descr="Official Azure icon: Managed Identiti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77840" y="2953512"/>
            <a:ext cx="457200" cy="457200"/>
          </a:xfrm>
          <a:prstGeom prst="rect">
            <a:avLst/>
          </a:prstGeom>
        </p:spPr>
      </p:pic>
      <p:sp>
        <p:nvSpPr>
          <p:cNvPr id="17" name="TextBox 16"/>
          <p:cNvSpPr txBox="1"/>
          <p:nvPr/>
        </p:nvSpPr>
        <p:spPr>
          <a:xfrm>
            <a:off x="502005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Managed identity</a:t>
            </a:r>
          </a:p>
          <a:p>
            <a:pPr algn="ctr"/>
            <a:r>
              <a:rPr sz="1100" b="0" i="0">
                <a:solidFill>
                  <a:srgbClr val="53565A"/>
                </a:solidFill>
                <a:latin typeface="Arial"/>
              </a:rPr>
              <a:t>to backends</a:t>
            </a:r>
          </a:p>
        </p:txBody>
      </p:sp>
      <p:sp>
        <p:nvSpPr>
          <p:cNvPr id="18" name="Rounded Rectangle 17"/>
          <p:cNvSpPr/>
          <p:nvPr/>
        </p:nvSpPr>
        <p:spPr>
          <a:xfrm>
            <a:off x="7680960" y="137160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90688" y="1426464"/>
            <a:ext cx="3803904" cy="237744"/>
          </a:xfrm>
          <a:prstGeom prst="rect">
            <a:avLst/>
          </a:prstGeom>
          <a:noFill/>
        </p:spPr>
        <p:txBody>
          <a:bodyPr wrap="square" lIns="0" rIns="0" tIns="0" bIns="0" anchor="t">
            <a:noAutofit/>
          </a:bodyPr>
          <a:lstStyle/>
          <a:p>
            <a:pPr algn="l"/>
            <a:r>
              <a:rPr sz="1100" b="1" i="0">
                <a:solidFill>
                  <a:srgbClr val="000048"/>
                </a:solidFill>
                <a:latin typeface="Arial"/>
              </a:rPr>
              <a:t>REGION A RESOURCE GROUP</a:t>
            </a:r>
          </a:p>
        </p:txBody>
      </p:sp>
      <p:pic>
        <p:nvPicPr>
          <p:cNvPr id="20"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1856231"/>
            <a:ext cx="457200" cy="457200"/>
          </a:xfrm>
          <a:prstGeom prst="rect">
            <a:avLst/>
          </a:prstGeom>
        </p:spPr>
      </p:pic>
      <p:sp>
        <p:nvSpPr>
          <p:cNvPr id="21" name="TextBox 20"/>
          <p:cNvSpPr txBox="1"/>
          <p:nvPr/>
        </p:nvSpPr>
        <p:spPr>
          <a:xfrm>
            <a:off x="7900415" y="235000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100" b="0" i="0">
                <a:solidFill>
                  <a:srgbClr val="53565A"/>
                </a:solidFill>
                <a:latin typeface="Arial"/>
              </a:rPr>
              <a:t>resource</a:t>
            </a:r>
          </a:p>
        </p:txBody>
      </p:sp>
      <p:pic>
        <p:nvPicPr>
          <p:cNvPr id="22"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1856231"/>
            <a:ext cx="457200" cy="457200"/>
          </a:xfrm>
          <a:prstGeom prst="rect">
            <a:avLst/>
          </a:prstGeom>
        </p:spPr>
      </p:pic>
      <p:sp>
        <p:nvSpPr>
          <p:cNvPr id="23" name="TextBox 22"/>
          <p:cNvSpPr txBox="1"/>
          <p:nvPr/>
        </p:nvSpPr>
        <p:spPr>
          <a:xfrm>
            <a:off x="9729215" y="235000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customer-selected model</a:t>
            </a:r>
          </a:p>
        </p:txBody>
      </p:sp>
      <p:sp>
        <p:nvSpPr>
          <p:cNvPr id="24" name="Rounded Rectangle 23"/>
          <p:cNvSpPr/>
          <p:nvPr/>
        </p:nvSpPr>
        <p:spPr>
          <a:xfrm>
            <a:off x="7680960" y="356616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90688" y="3621024"/>
            <a:ext cx="3803904" cy="237744"/>
          </a:xfrm>
          <a:prstGeom prst="rect">
            <a:avLst/>
          </a:prstGeom>
          <a:noFill/>
        </p:spPr>
        <p:txBody>
          <a:bodyPr wrap="square" lIns="0" rIns="0" tIns="0" bIns="0" anchor="t">
            <a:noAutofit/>
          </a:bodyPr>
          <a:lstStyle/>
          <a:p>
            <a:pPr algn="l"/>
            <a:r>
              <a:rPr sz="1100" b="1" i="0">
                <a:solidFill>
                  <a:srgbClr val="000048"/>
                </a:solidFill>
                <a:latin typeface="Arial"/>
              </a:rPr>
              <a:t>REGION B RESOURCE GROUP</a:t>
            </a:r>
          </a:p>
        </p:txBody>
      </p:sp>
      <p:pic>
        <p:nvPicPr>
          <p:cNvPr id="26"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4050791"/>
            <a:ext cx="457200" cy="457200"/>
          </a:xfrm>
          <a:prstGeom prst="rect">
            <a:avLst/>
          </a:prstGeom>
        </p:spPr>
      </p:pic>
      <p:sp>
        <p:nvSpPr>
          <p:cNvPr id="27" name="TextBox 26"/>
          <p:cNvSpPr txBox="1"/>
          <p:nvPr/>
        </p:nvSpPr>
        <p:spPr>
          <a:xfrm>
            <a:off x="7900415" y="454456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100" b="0" i="0">
                <a:solidFill>
                  <a:srgbClr val="53565A"/>
                </a:solidFill>
                <a:latin typeface="Arial"/>
              </a:rPr>
              <a:t>resource</a:t>
            </a:r>
          </a:p>
        </p:txBody>
      </p:sp>
      <p:pic>
        <p:nvPicPr>
          <p:cNvPr id="28"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4050791"/>
            <a:ext cx="457200" cy="457200"/>
          </a:xfrm>
          <a:prstGeom prst="rect">
            <a:avLst/>
          </a:prstGeom>
        </p:spPr>
      </p:pic>
      <p:sp>
        <p:nvSpPr>
          <p:cNvPr id="29" name="TextBox 28"/>
          <p:cNvSpPr txBox="1"/>
          <p:nvPr/>
        </p:nvSpPr>
        <p:spPr>
          <a:xfrm>
            <a:off x="9729215" y="454456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customer-selected model</a:t>
            </a:r>
          </a:p>
        </p:txBody>
      </p:sp>
      <p:cxnSp>
        <p:nvCxnSpPr>
          <p:cNvPr id="30" name="Connector (telemetry)"/>
          <p:cNvCxnSpPr/>
          <p:nvPr/>
        </p:nvCxnSpPr>
        <p:spPr>
          <a:xfrm flipV="1">
            <a:off x="1463040" y="1801368"/>
            <a:ext cx="0" cy="896112"/>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telemetry)"/>
          <p:cNvCxnSpPr/>
          <p:nvPr/>
        </p:nvCxnSpPr>
        <p:spPr>
          <a:xfrm>
            <a:off x="1463040" y="1801368"/>
            <a:ext cx="21945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00200" y="1463040"/>
            <a:ext cx="2011680" cy="274320"/>
          </a:xfrm>
          <a:prstGeom prst="rect">
            <a:avLst/>
          </a:prstGeom>
          <a:noFill/>
        </p:spPr>
        <p:txBody>
          <a:bodyPr wrap="square" lIns="0" rIns="0" tIns="0" bIns="0" anchor="t">
            <a:noAutofit/>
          </a:bodyPr>
          <a:lstStyle/>
          <a:p>
            <a:pPr algn="l"/>
            <a:r>
              <a:rPr sz="1100" b="0" i="0">
                <a:solidFill>
                  <a:srgbClr val="53565A"/>
                </a:solidFill>
                <a:latin typeface="Arial"/>
              </a:rPr>
              <a:t>obtain token</a:t>
            </a:r>
          </a:p>
        </p:txBody>
      </p:sp>
      <p:cxnSp>
        <p:nvCxnSpPr>
          <p:cNvPr id="33" name="Connector (flow)"/>
          <p:cNvCxnSpPr/>
          <p:nvPr/>
        </p:nvCxnSpPr>
        <p:spPr>
          <a:xfrm>
            <a:off x="2377440" y="3154680"/>
            <a:ext cx="8229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240280" y="2697480"/>
            <a:ext cx="914400" cy="411480"/>
          </a:xfrm>
          <a:prstGeom prst="rect">
            <a:avLst/>
          </a:prstGeom>
          <a:noFill/>
        </p:spPr>
        <p:txBody>
          <a:bodyPr wrap="square" lIns="0" rIns="0" tIns="0" bIns="0" anchor="t">
            <a:noAutofit/>
          </a:bodyPr>
          <a:lstStyle/>
          <a:p>
            <a:pPr algn="ctr"/>
            <a:r>
              <a:rPr sz="1000" b="0" i="0">
                <a:solidFill>
                  <a:srgbClr val="000048"/>
                </a:solidFill>
                <a:latin typeface="Arial"/>
              </a:rPr>
              <a:t>JWT, optional key</a:t>
            </a:r>
          </a:p>
        </p:txBody>
      </p:sp>
      <p:cxnSp>
        <p:nvCxnSpPr>
          <p:cNvPr id="35" name="Connector (telemetry)"/>
          <p:cNvCxnSpPr/>
          <p:nvPr/>
        </p:nvCxnSpPr>
        <p:spPr>
          <a:xfrm flipV="1">
            <a:off x="4023360" y="2240280"/>
            <a:ext cx="45720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526280" y="2377440"/>
            <a:ext cx="914400" cy="274320"/>
          </a:xfrm>
          <a:prstGeom prst="rect">
            <a:avLst/>
          </a:prstGeom>
          <a:noFill/>
        </p:spPr>
        <p:txBody>
          <a:bodyPr wrap="square" lIns="0" rIns="0" tIns="0" bIns="0" anchor="t">
            <a:noAutofit/>
          </a:bodyPr>
          <a:lstStyle/>
          <a:p>
            <a:pPr algn="l"/>
            <a:r>
              <a:rPr sz="1000" b="0" i="0">
                <a:solidFill>
                  <a:srgbClr val="53565A"/>
                </a:solidFill>
                <a:latin typeface="Arial"/>
              </a:rPr>
              <a:t>validate</a:t>
            </a:r>
          </a:p>
        </p:txBody>
      </p:sp>
      <p:cxnSp>
        <p:nvCxnSpPr>
          <p:cNvPr id="37" name="Connector (flow)"/>
          <p:cNvCxnSpPr/>
          <p:nvPr/>
        </p:nvCxnSpPr>
        <p:spPr>
          <a:xfrm>
            <a:off x="6629400" y="3291840"/>
            <a:ext cx="64008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flipV="1">
            <a:off x="7269480" y="210312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269480" y="21031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7269480" y="3291840"/>
            <a:ext cx="0" cy="100584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7269480" y="42976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548640" y="578815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24128" y="5669280"/>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44" name="Connector (telemetry)"/>
          <p:cNvCxnSpPr/>
          <p:nvPr/>
        </p:nvCxnSpPr>
        <p:spPr>
          <a:xfrm>
            <a:off x="2926080" y="578815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401568" y="5669280"/>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46" name="TextBox 45"/>
          <p:cNvSpPr txBox="1"/>
          <p:nvPr/>
        </p:nvSpPr>
        <p:spPr>
          <a:xfrm>
            <a:off x="548640" y="598932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rebuilt from Microsoft source with current labels; original kept as historical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 rate limits and quotas need a trusted counter key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2" cy="2286000"/>
        </p:xfrm>
        <a:graphic>
          <a:graphicData uri="http://schemas.openxmlformats.org/drawingml/2006/table">
            <a:tbl>
              <a:tblPr firstRow="1" bandRow="0">
                <a:tableStyleId>{5C22544A-7EE6-4342-B048-85BDC9FD1C3A}</a:tableStyleId>
              </a:tblPr>
              <a:tblGrid>
                <a:gridCol w="2743200"/>
                <a:gridCol w="2834640"/>
                <a:gridCol w="2743200"/>
                <a:gridCol w="277063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Scope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Response when exceeded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Use for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tokens-per-minute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counter key, per gateway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429 with Retry-After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Smoothing bursts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token-quota (hourly to yearly)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counter key, per gateway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403</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Allowance per team or agent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estimate-prompt-tokens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policy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Rejects earlier using estimates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Reducing wasted backend calls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Counter key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Expression on validated identity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Who the limit applies to</a:t>
                      </a:r>
                    </a:p>
                  </a:txBody>
                  <a:tcPr marL="73152" marR="73152" marT="36576" marB="36576" anchor="ctr">
                    <a:solidFill>
                      <a:srgbClr val="F5F5F2"/>
                    </a:solidFill>
                  </a:tcPr>
                </a:tc>
              </a:tr>
            </a:tbl>
          </a:graphicData>
        </a:graphic>
      </p:graphicFrame>
      <p:sp>
        <p:nvSpPr>
          <p:cNvPr id="10" name="Rounded Rectangle 9"/>
          <p:cNvSpPr/>
          <p:nvPr/>
        </p:nvSpPr>
        <p:spPr>
          <a:xfrm>
            <a:off x="548640" y="40233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Token caps are not currency caps: price differs by model and by input, cached and output tokens.</a:t>
            </a:r>
          </a:p>
        </p:txBody>
      </p:sp>
      <p:sp>
        <p:nvSpPr>
          <p:cNvPr id="11" name="TextBox 10"/>
          <p:cNvSpPr txBox="1"/>
          <p:nvPr/>
        </p:nvSpPr>
        <p:spPr>
          <a:xfrm>
            <a:off x="548640" y="4754880"/>
            <a:ext cx="11064240" cy="822960"/>
          </a:xfrm>
          <a:prstGeom prst="rect">
            <a:avLst/>
          </a:prstGeom>
          <a:noFill/>
        </p:spPr>
        <p:txBody>
          <a:bodyPr wrap="square" lIns="0" rIns="0" tIns="0" bIns="0" anchor="t">
            <a:noAutofit/>
          </a:bodyPr>
          <a:lstStyle/>
          <a:p>
            <a:pPr algn="l"/>
            <a:r>
              <a:rPr sz="1500" b="0" i="0">
                <a:solidFill>
                  <a:srgbClr val="8A4B08"/>
                </a:solidFill>
                <a:latin typeface="Arial"/>
              </a:rPr>
              <a:t>Illustrative design only: 20,000 tokens per minute and 2 million tokens per day per application. Set real values from measured demand (offering 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Token-limit policy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1560" y="2267712"/>
            <a:ext cx="457200" cy="457200"/>
          </a:xfrm>
          <a:prstGeom prst="rect">
            <a:avLst/>
          </a:prstGeom>
        </p:spPr>
      </p:pic>
      <p:sp>
        <p:nvSpPr>
          <p:cNvPr id="10" name="TextBox 9"/>
          <p:cNvSpPr txBox="1"/>
          <p:nvPr/>
        </p:nvSpPr>
        <p:spPr>
          <a:xfrm>
            <a:off x="585216" y="2761488"/>
            <a:ext cx="1389888" cy="512064"/>
          </a:xfrm>
          <a:prstGeom prst="rect">
            <a:avLst/>
          </a:prstGeom>
          <a:noFill/>
        </p:spPr>
        <p:txBody>
          <a:bodyPr wrap="square" lIns="0" rIns="0" tIns="0" bIns="0" anchor="t">
            <a:noAutofit/>
          </a:bodyPr>
          <a:lstStyle/>
          <a:p>
            <a:pPr algn="ctr"/>
            <a:r>
              <a:rPr sz="1300" b="1" i="0">
                <a:solidFill>
                  <a:srgbClr val="000048"/>
                </a:solidFill>
                <a:latin typeface="Arial"/>
              </a:rPr>
              <a:t>Callers</a:t>
            </a:r>
          </a:p>
          <a:p>
            <a:pPr algn="ctr"/>
            <a:r>
              <a:rPr sz="1100" b="0" i="0">
                <a:solidFill>
                  <a:srgbClr val="53565A"/>
                </a:solidFill>
                <a:latin typeface="Arial"/>
              </a:rPr>
              <a:t>apps and agents</a:t>
            </a:r>
          </a:p>
        </p:txBody>
      </p:sp>
      <p:sp>
        <p:nvSpPr>
          <p:cNvPr id="11" name="Rounded Rectangle 10"/>
          <p:cNvSpPr/>
          <p:nvPr/>
        </p:nvSpPr>
        <p:spPr>
          <a:xfrm>
            <a:off x="2468880" y="1417320"/>
            <a:ext cx="5120640" cy="3291840"/>
          </a:xfrm>
          <a:prstGeom prst="roundRect">
            <a:avLst>
              <a:gd name="adj" fmla="val 2777"/>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78608" y="1472184"/>
            <a:ext cx="4901183" cy="237744"/>
          </a:xfrm>
          <a:prstGeom prst="rect">
            <a:avLst/>
          </a:prstGeom>
          <a:noFill/>
        </p:spPr>
        <p:txBody>
          <a:bodyPr wrap="square" lIns="0" rIns="0" tIns="0" bIns="0" anchor="t">
            <a:noAutofit/>
          </a:bodyPr>
          <a:lstStyle/>
          <a:p>
            <a:pPr algn="l"/>
            <a:r>
              <a:rPr sz="1100" b="1" i="0">
                <a:solidFill>
                  <a:srgbClr val="000048"/>
                </a:solidFill>
                <a:latin typeface="Arial"/>
              </a:rPr>
              <a:t>API MANAGEMENT</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06040" y="1783080"/>
            <a:ext cx="457200" cy="457200"/>
          </a:xfrm>
          <a:prstGeom prst="rect">
            <a:avLst/>
          </a:prstGeom>
        </p:spPr>
      </p:pic>
      <p:sp>
        <p:nvSpPr>
          <p:cNvPr id="14" name="Rounded Rectangle 13"/>
          <p:cNvSpPr/>
          <p:nvPr/>
        </p:nvSpPr>
        <p:spPr>
          <a:xfrm>
            <a:off x="3246120" y="178308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Identify caller</a:t>
            </a:r>
            <a:r>
              <a:rPr sz="1200" b="0" i="0">
                <a:solidFill>
                  <a:srgbClr val="53565A"/>
                </a:solidFill>
                <a:latin typeface="Arial"/>
              </a:rPr>
              <a:t>  counter key from token claim</a:t>
            </a:r>
          </a:p>
        </p:txBody>
      </p:sp>
      <p:sp>
        <p:nvSpPr>
          <p:cNvPr id="15" name="Rounded Rectangle 14"/>
          <p:cNvSpPr/>
          <p:nvPr/>
        </p:nvSpPr>
        <p:spPr>
          <a:xfrm>
            <a:off x="3246120" y="265176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llm-token-limit</a:t>
            </a:r>
            <a:r>
              <a:rPr sz="1200" b="0" i="0">
                <a:solidFill>
                  <a:srgbClr val="53565A"/>
                </a:solidFill>
                <a:latin typeface="Arial"/>
              </a:rPr>
              <a:t>  TPM and quota per key</a:t>
            </a:r>
          </a:p>
        </p:txBody>
      </p:sp>
      <p:sp>
        <p:nvSpPr>
          <p:cNvPr id="16" name="Rounded Rectangle 15"/>
          <p:cNvSpPr/>
          <p:nvPr/>
        </p:nvSpPr>
        <p:spPr>
          <a:xfrm>
            <a:off x="3246120" y="3520440"/>
            <a:ext cx="4114800" cy="685800"/>
          </a:xfrm>
          <a:prstGeom prst="roundRect">
            <a:avLst>
              <a:gd name="adj" fmla="val 10666"/>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Within limit?</a:t>
            </a:r>
            <a:r>
              <a:rPr sz="1200" b="0" i="0">
                <a:solidFill>
                  <a:srgbClr val="53565A"/>
                </a:solidFill>
                <a:latin typeface="Arial"/>
              </a:rPr>
              <a:t>  yes: forward   no: reject</a:t>
            </a:r>
          </a:p>
        </p:txBody>
      </p:sp>
      <p:cxnSp>
        <p:nvCxnSpPr>
          <p:cNvPr id="17" name="Connector (flow)"/>
          <p:cNvCxnSpPr/>
          <p:nvPr/>
        </p:nvCxnSpPr>
        <p:spPr>
          <a:xfrm>
            <a:off x="5303520" y="246888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a:off x="5303520" y="333756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21040" y="178308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8280" y="1856231"/>
            <a:ext cx="457200" cy="457200"/>
          </a:xfrm>
          <a:prstGeom prst="rect">
            <a:avLst/>
          </a:prstGeom>
        </p:spPr>
      </p:pic>
      <p:sp>
        <p:nvSpPr>
          <p:cNvPr id="21" name="TextBox 20"/>
          <p:cNvSpPr txBox="1"/>
          <p:nvPr/>
        </p:nvSpPr>
        <p:spPr>
          <a:xfrm>
            <a:off x="8357615" y="2350008"/>
            <a:ext cx="193852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Foundry Models</a:t>
            </a:r>
          </a:p>
        </p:txBody>
      </p:sp>
      <p:sp>
        <p:nvSpPr>
          <p:cNvPr id="22" name="Rounded Rectangle 21"/>
          <p:cNvSpPr/>
          <p:nvPr/>
        </p:nvSpPr>
        <p:spPr>
          <a:xfrm>
            <a:off x="8321040" y="3429000"/>
            <a:ext cx="3291840" cy="914400"/>
          </a:xfrm>
          <a:prstGeom prst="roundRect">
            <a:avLst>
              <a:gd name="adj" fmla="val 8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A4262C"/>
                </a:solidFill>
                <a:latin typeface="Arial"/>
              </a:rPr>
              <a:t>429</a:t>
            </a:r>
            <a:r>
              <a:rPr sz="1300" b="0" i="0">
                <a:solidFill>
                  <a:srgbClr val="1E1E2E"/>
                </a:solidFill>
                <a:latin typeface="Arial"/>
              </a:rPr>
              <a:t>  rate exceeded, Retry-After</a:t>
            </a:r>
          </a:p>
          <a:p>
            <a:pPr algn="l"/>
            <a:r>
              <a:rPr sz="1800" b="1" i="0">
                <a:solidFill>
                  <a:srgbClr val="A4262C"/>
                </a:solidFill>
                <a:latin typeface="Arial"/>
              </a:rPr>
              <a:t>403</a:t>
            </a:r>
            <a:r>
              <a:rPr sz="1300" b="0" i="0">
                <a:solidFill>
                  <a:srgbClr val="1E1E2E"/>
                </a:solidFill>
                <a:latin typeface="Arial"/>
              </a:rPr>
              <a:t>  quota exceeded</a:t>
            </a:r>
          </a:p>
        </p:txBody>
      </p:sp>
      <p:cxnSp>
        <p:nvCxnSpPr>
          <p:cNvPr id="23" name="Connector (flow)"/>
          <p:cNvCxnSpPr/>
          <p:nvPr/>
        </p:nvCxnSpPr>
        <p:spPr>
          <a:xfrm flipV="1">
            <a:off x="2011680" y="2121408"/>
            <a:ext cx="1234440" cy="39319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a:off x="7360920" y="3840480"/>
            <a:ext cx="4572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flipV="1">
            <a:off x="7818120" y="2240280"/>
            <a:ext cx="0" cy="160020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781812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863840" y="2834640"/>
            <a:ext cx="457200" cy="274320"/>
          </a:xfrm>
          <a:prstGeom prst="rect">
            <a:avLst/>
          </a:prstGeom>
          <a:noFill/>
        </p:spPr>
        <p:txBody>
          <a:bodyPr wrap="square" lIns="0" rIns="0" tIns="0" bIns="0" anchor="t">
            <a:noAutofit/>
          </a:bodyPr>
          <a:lstStyle/>
          <a:p>
            <a:pPr algn="l"/>
            <a:r>
              <a:rPr sz="1100" b="0" i="0">
                <a:solidFill>
                  <a:srgbClr val="000048"/>
                </a:solidFill>
                <a:latin typeface="Arial"/>
              </a:rPr>
              <a:t>yes</a:t>
            </a:r>
          </a:p>
        </p:txBody>
      </p:sp>
      <p:cxnSp>
        <p:nvCxnSpPr>
          <p:cNvPr id="28" name="Connector (blocked)"/>
          <p:cNvCxnSpPr/>
          <p:nvPr/>
        </p:nvCxnSpPr>
        <p:spPr>
          <a:xfrm>
            <a:off x="7360920" y="3977639"/>
            <a:ext cx="96012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98079" y="4023360"/>
            <a:ext cx="822960" cy="274320"/>
          </a:xfrm>
          <a:prstGeom prst="rect">
            <a:avLst/>
          </a:prstGeom>
          <a:noFill/>
        </p:spPr>
        <p:txBody>
          <a:bodyPr wrap="square" lIns="0" rIns="0" tIns="0" bIns="0" anchor="t">
            <a:noAutofit/>
          </a:bodyPr>
          <a:lstStyle/>
          <a:p>
            <a:pPr algn="l"/>
            <a:r>
              <a:rPr sz="1100" b="0" i="0">
                <a:solidFill>
                  <a:srgbClr val="A4262C"/>
                </a:solidFill>
                <a:latin typeface="Arial"/>
              </a:rPr>
              <a:t>no</a:t>
            </a:r>
          </a:p>
        </p:txBody>
      </p:sp>
      <p:sp>
        <p:nvSpPr>
          <p:cNvPr id="30" name="Rounded Rectangle 29"/>
          <p:cNvSpPr/>
          <p:nvPr/>
        </p:nvSpPr>
        <p:spPr>
          <a:xfrm>
            <a:off x="548640" y="50292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Counters are per gateway and in-flight requests can overshoot before the limit takes effect (appendix A6).</a:t>
            </a:r>
          </a:p>
        </p:txBody>
      </p:sp>
      <p:sp>
        <p:nvSpPr>
          <p:cNvPr id="31" name="TextBox 30"/>
          <p:cNvSpPr txBox="1"/>
          <p:nvPr/>
        </p:nvSpPr>
        <p:spPr>
          <a:xfrm>
            <a:off x="548640" y="5760720"/>
            <a:ext cx="11064240" cy="256032"/>
          </a:xfrm>
          <a:prstGeom prst="rect">
            <a:avLst/>
          </a:prstGeom>
          <a:noFill/>
        </p:spPr>
        <p:txBody>
          <a:bodyPr wrap="square" lIns="0" rIns="0" tIns="0" bIns="0" anchor="t">
            <a:noAutofit/>
          </a:bodyPr>
          <a:lstStyle/>
          <a:p>
            <a:pPr algn="l"/>
            <a:r>
              <a:rPr sz="1100" b="1" i="0">
                <a:solidFill>
                  <a:srgbClr val="7373D8"/>
                </a:solidFill>
                <a:latin typeface="Arial"/>
              </a:rPr>
              <a:t>Rebuilt reference flow  ·  official Azure icons; source image kept in appendix O5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Distributed counters, streaming and overshoot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sp>
        <p:nvSpPr>
          <p:cNvPr id="9" name="Rounded Rectangle 8"/>
          <p:cNvSpPr/>
          <p:nvPr/>
        </p:nvSpPr>
        <p:spPr>
          <a:xfrm>
            <a:off x="548640" y="137160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Regions</a:t>
            </a:r>
          </a:p>
          <a:p>
            <a:pPr algn="l"/>
            <a:r>
              <a:rPr sz="1600" b="0" i="0">
                <a:solidFill>
                  <a:srgbClr val="1E1E2E"/>
                </a:solidFill>
                <a:latin typeface="Arial"/>
              </a:rPr>
              <a:t>Each regional gateway counts on its own. Two regions can each admit a full allowance.</a:t>
            </a:r>
          </a:p>
        </p:txBody>
      </p:sp>
      <p:sp>
        <p:nvSpPr>
          <p:cNvPr id="10" name="Rounded Rectangle 9"/>
          <p:cNvSpPr/>
          <p:nvPr/>
        </p:nvSpPr>
        <p:spPr>
          <a:xfrm>
            <a:off x="6172200" y="137160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Concurrency</a:t>
            </a:r>
          </a:p>
          <a:p>
            <a:pPr algn="l"/>
            <a:r>
              <a:rPr sz="1600" b="0" i="0">
                <a:solidFill>
                  <a:srgbClr val="1E1E2E"/>
                </a:solidFill>
                <a:latin typeface="Arial"/>
              </a:rPr>
              <a:t>Usage is known only after responses return, so parallel calls can overshoot.</a:t>
            </a:r>
          </a:p>
        </p:txBody>
      </p:sp>
      <p:sp>
        <p:nvSpPr>
          <p:cNvPr id="11" name="Rounded Rectangle 10"/>
          <p:cNvSpPr/>
          <p:nvPr/>
        </p:nvSpPr>
        <p:spPr>
          <a:xfrm>
            <a:off x="548640" y="324612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Streaming</a:t>
            </a:r>
          </a:p>
          <a:p>
            <a:pPr algn="l"/>
            <a:r>
              <a:rPr sz="1600" b="0" i="0">
                <a:solidFill>
                  <a:srgbClr val="1E1E2E"/>
                </a:solidFill>
                <a:latin typeface="Arial"/>
              </a:rPr>
              <a:t>Prompt and completion tokens are estimated when stream is true.</a:t>
            </a:r>
          </a:p>
        </p:txBody>
      </p:sp>
      <p:sp>
        <p:nvSpPr>
          <p:cNvPr id="12" name="Rounded Rectangle 11"/>
          <p:cNvSpPr/>
          <p:nvPr/>
        </p:nvSpPr>
        <p:spPr>
          <a:xfrm>
            <a:off x="6172200" y="324612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Algorithm</a:t>
            </a:r>
          </a:p>
          <a:p>
            <a:pPr algn="l"/>
            <a:r>
              <a:rPr sz="1600" b="0" i="0">
                <a:solidFill>
                  <a:srgbClr val="1E1E2E"/>
                </a:solidFill>
                <a:latin typeface="Arial"/>
              </a:rPr>
              <a:t>v2 tiers use a token bucket; classic tiers a sliding window. Keep values consistent.</a:t>
            </a:r>
          </a:p>
        </p:txBody>
      </p:sp>
      <p:sp>
        <p:nvSpPr>
          <p:cNvPr id="13" name="Rounded Rectangle 12"/>
          <p:cNvSpPr/>
          <p:nvPr/>
        </p:nvSpPr>
        <p:spPr>
          <a:xfrm>
            <a:off x="548640" y="53035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Do not promise zero overspend from API Management alone. Load-test parallel calls, large prompts and stream cancellation.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Request limits, concurrency and budget controls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8" name="Table"/>
          <p:cNvGraphicFramePr>
            <a:graphicFrameLocks noGrp="1"/>
          </p:cNvGraphicFramePr>
          <p:nvPr/>
        </p:nvGraphicFramePr>
        <p:xfrm>
          <a:off x="548640" y="1371600"/>
          <a:ext cx="11091672" cy="2468880"/>
        </p:xfrm>
        <a:graphic>
          <a:graphicData uri="http://schemas.openxmlformats.org/drawingml/2006/table">
            <a:tbl>
              <a:tblPr firstRow="1" bandRow="0">
                <a:tableStyleId>{5C22544A-7EE6-4342-B048-85BDC9FD1C3A}</a:tableStyleId>
              </a:tblPr>
              <a:tblGrid>
                <a:gridCol w="2194560"/>
                <a:gridCol w="5120640"/>
                <a:gridCol w="377647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Mechanism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Limit</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Request rate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rate-limit-by-key on validated identity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Counts calls, not cost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Request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quota-by-key per period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gateway counters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Concurrency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limit-concurrency per key or backend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Queues or rejects; tune timeouts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Token allowance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llm-token-limit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Tokens, not currency</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Currency budget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 budget service: price table x metered tokens, reservation before call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 build; bounded, not zero, overshoot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Azure budgets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Cost Management budget alerts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Alerts after spend; not a gate</a:t>
                      </a:r>
                    </a:p>
                  </a:txBody>
                  <a:tcPr marL="73152" marR="73152" marT="36576" marB="36576" anchor="ctr">
                    <a:solidFill>
                      <a:srgbClr val="F5F5F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pools and routing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119" y="2450592"/>
            <a:ext cx="457200" cy="457200"/>
          </a:xfrm>
          <a:prstGeom prst="rect">
            <a:avLst/>
          </a:prstGeom>
        </p:spPr>
      </p:pic>
      <p:sp>
        <p:nvSpPr>
          <p:cNvPr id="10" name="TextBox 9"/>
          <p:cNvSpPr txBox="1"/>
          <p:nvPr/>
        </p:nvSpPr>
        <p:spPr>
          <a:xfrm>
            <a:off x="585216" y="2944368"/>
            <a:ext cx="1207007" cy="310896"/>
          </a:xfrm>
          <a:prstGeom prst="rect">
            <a:avLst/>
          </a:prstGeom>
          <a:noFill/>
        </p:spPr>
        <p:txBody>
          <a:bodyPr wrap="square" lIns="0" rIns="0" tIns="0" bIns="0" anchor="t">
            <a:noAutofit/>
          </a:bodyPr>
          <a:lstStyle/>
          <a:p>
            <a:pPr algn="ctr"/>
            <a:r>
              <a:rPr sz="1300" b="1" i="0">
                <a:solidFill>
                  <a:srgbClr val="000048"/>
                </a:solidFill>
                <a:latin typeface="Arial"/>
              </a:rPr>
              <a:t>Requests</a:t>
            </a:r>
          </a:p>
        </p:txBody>
      </p:sp>
      <p:sp>
        <p:nvSpPr>
          <p:cNvPr id="11" name="Rounded Rectangle 10"/>
          <p:cNvSpPr/>
          <p:nvPr/>
        </p:nvSpPr>
        <p:spPr>
          <a:xfrm>
            <a:off x="2194560" y="1417320"/>
            <a:ext cx="4023360" cy="3474720"/>
          </a:xfrm>
          <a:prstGeom prst="roundRect">
            <a:avLst>
              <a:gd name="adj" fmla="val 263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304288" y="1472184"/>
            <a:ext cx="3803904" cy="237744"/>
          </a:xfrm>
          <a:prstGeom prst="rect">
            <a:avLst/>
          </a:prstGeom>
          <a:noFill/>
        </p:spPr>
        <p:txBody>
          <a:bodyPr wrap="square" lIns="0" rIns="0" tIns="0" bIns="0" anchor="t">
            <a:noAutofit/>
          </a:bodyPr>
          <a:lstStyle/>
          <a:p>
            <a:pPr algn="l"/>
            <a:r>
              <a:rPr sz="1100" b="1" i="0">
                <a:solidFill>
                  <a:srgbClr val="000048"/>
                </a:solidFill>
                <a:latin typeface="Arial"/>
              </a:rPr>
              <a:t>API MANAGEMENT BACKEND POOL</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31720" y="1783080"/>
            <a:ext cx="457200" cy="457200"/>
          </a:xfrm>
          <a:prstGeom prst="rect">
            <a:avLst/>
          </a:prstGeom>
        </p:spPr>
      </p:pic>
      <p:sp>
        <p:nvSpPr>
          <p:cNvPr id="14" name="Rounded Rectangle 13"/>
          <p:cNvSpPr/>
          <p:nvPr/>
        </p:nvSpPr>
        <p:spPr>
          <a:xfrm>
            <a:off x="2926080" y="1783080"/>
            <a:ext cx="3108960"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200" b="0" i="0">
                <a:solidFill>
                  <a:srgbClr val="1E1E2E"/>
                </a:solidFill>
                <a:latin typeface="Arial"/>
              </a:rPr>
              <a:t>Mode: priority, weighted, round-robin or session-aware</a:t>
            </a:r>
          </a:p>
        </p:txBody>
      </p:sp>
      <p:sp>
        <p:nvSpPr>
          <p:cNvPr id="15" name="Rounded Rectangle 14"/>
          <p:cNvSpPr/>
          <p:nvPr/>
        </p:nvSpPr>
        <p:spPr>
          <a:xfrm>
            <a:off x="2377440" y="2606040"/>
            <a:ext cx="3657600" cy="731520"/>
          </a:xfrm>
          <a:prstGeom prst="roundRect">
            <a:avLst>
              <a:gd name="adj" fmla="val 10000"/>
            </a:avLst>
          </a:prstGeom>
          <a:solidFill>
            <a:srgbClr val="FFFFFF"/>
          </a:solidFill>
          <a:ln w="25400">
            <a:solidFill>
              <a:srgbClr val="1D6B3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1</a:t>
            </a:r>
            <a:r>
              <a:rPr sz="1200" b="0" i="0">
                <a:solidFill>
                  <a:srgbClr val="53565A"/>
                </a:solidFill>
                <a:latin typeface="Arial"/>
              </a:rPr>
              <a:t>  priority 1, PTU, region A</a:t>
            </a:r>
          </a:p>
        </p:txBody>
      </p:sp>
      <p:sp>
        <p:nvSpPr>
          <p:cNvPr id="16" name="Rounded Rectangle 15"/>
          <p:cNvSpPr/>
          <p:nvPr/>
        </p:nvSpPr>
        <p:spPr>
          <a:xfrm>
            <a:off x="2377440" y="35204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2</a:t>
            </a:r>
            <a:r>
              <a:rPr sz="1200" b="0" i="0">
                <a:solidFill>
                  <a:srgbClr val="53565A"/>
                </a:solidFill>
                <a:latin typeface="Arial"/>
              </a:rPr>
              <a:t>  priority 2, PAYG, region A or B</a:t>
            </a:r>
          </a:p>
        </p:txBody>
      </p:sp>
      <p:sp>
        <p:nvSpPr>
          <p:cNvPr id="17" name="Rounded Rectangle 16"/>
          <p:cNvSpPr/>
          <p:nvPr/>
        </p:nvSpPr>
        <p:spPr>
          <a:xfrm>
            <a:off x="7315200" y="233172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2404872"/>
            <a:ext cx="457200" cy="457200"/>
          </a:xfrm>
          <a:prstGeom prst="rect">
            <a:avLst/>
          </a:prstGeom>
        </p:spPr>
      </p:pic>
      <p:sp>
        <p:nvSpPr>
          <p:cNvPr id="19" name="TextBox 18"/>
          <p:cNvSpPr txBox="1"/>
          <p:nvPr/>
        </p:nvSpPr>
        <p:spPr>
          <a:xfrm>
            <a:off x="7351775" y="2898648"/>
            <a:ext cx="1938528" cy="512064"/>
          </a:xfrm>
          <a:prstGeom prst="rect">
            <a:avLst/>
          </a:prstGeom>
          <a:noFill/>
        </p:spPr>
        <p:txBody>
          <a:bodyPr wrap="square" lIns="0" rIns="0" tIns="0" bIns="0" anchor="t">
            <a:noAutofit/>
          </a:bodyPr>
          <a:lstStyle/>
          <a:p>
            <a:pPr algn="ctr"/>
            <a:r>
              <a:rPr sz="1300" b="1" i="0">
                <a:solidFill>
                  <a:srgbClr val="000048"/>
                </a:solidFill>
                <a:latin typeface="Arial"/>
              </a:rPr>
              <a:t>PTU deployment</a:t>
            </a:r>
          </a:p>
          <a:p>
            <a:pPr algn="ctr"/>
            <a:r>
              <a:rPr sz="1100" b="0" i="0">
                <a:solidFill>
                  <a:srgbClr val="53565A"/>
                </a:solidFill>
                <a:latin typeface="Arial"/>
              </a:rPr>
              <a:t>primary</a:t>
            </a:r>
          </a:p>
        </p:txBody>
      </p:sp>
      <p:sp>
        <p:nvSpPr>
          <p:cNvPr id="20" name="Rounded Rectangle 19"/>
          <p:cNvSpPr/>
          <p:nvPr/>
        </p:nvSpPr>
        <p:spPr>
          <a:xfrm>
            <a:off x="7315200" y="365760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3730752"/>
            <a:ext cx="457200" cy="457200"/>
          </a:xfrm>
          <a:prstGeom prst="rect">
            <a:avLst/>
          </a:prstGeom>
        </p:spPr>
      </p:pic>
      <p:sp>
        <p:nvSpPr>
          <p:cNvPr id="22" name="TextBox 21"/>
          <p:cNvSpPr txBox="1"/>
          <p:nvPr/>
        </p:nvSpPr>
        <p:spPr>
          <a:xfrm>
            <a:off x="7351775" y="4224528"/>
            <a:ext cx="1938528" cy="512064"/>
          </a:xfrm>
          <a:prstGeom prst="rect">
            <a:avLst/>
          </a:prstGeom>
          <a:noFill/>
        </p:spPr>
        <p:txBody>
          <a:bodyPr wrap="square" lIns="0" rIns="0" tIns="0" bIns="0" anchor="t">
            <a:noAutofit/>
          </a:bodyPr>
          <a:lstStyle/>
          <a:p>
            <a:pPr algn="ctr"/>
            <a:r>
              <a:rPr sz="1300" b="1" i="0">
                <a:solidFill>
                  <a:srgbClr val="000048"/>
                </a:solidFill>
                <a:latin typeface="Arial"/>
              </a:rPr>
              <a:t>PAYG deployment</a:t>
            </a:r>
          </a:p>
          <a:p>
            <a:pPr algn="ctr"/>
            <a:r>
              <a:rPr sz="1100" b="0" i="0">
                <a:solidFill>
                  <a:srgbClr val="53565A"/>
                </a:solidFill>
                <a:latin typeface="Arial"/>
              </a:rPr>
              <a:t>approved overflow</a:t>
            </a:r>
          </a:p>
        </p:txBody>
      </p:sp>
      <p:cxnSp>
        <p:nvCxnSpPr>
          <p:cNvPr id="23" name="Connector (flow)"/>
          <p:cNvCxnSpPr/>
          <p:nvPr/>
        </p:nvCxnSpPr>
        <p:spPr>
          <a:xfrm>
            <a:off x="1828800" y="2651760"/>
            <a:ext cx="54864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flipV="1">
            <a:off x="6035040" y="2743200"/>
            <a:ext cx="128016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a:off x="6035040" y="3886200"/>
            <a:ext cx="12801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09760" y="2331720"/>
            <a:ext cx="2194560" cy="2377440"/>
          </a:xfrm>
          <a:prstGeom prst="rect">
            <a:avLst/>
          </a:prstGeom>
          <a:noFill/>
        </p:spPr>
        <p:txBody>
          <a:bodyPr wrap="square" lIns="0" rIns="0" tIns="0" bIns="0" anchor="t">
            <a:noAutofit/>
          </a:bodyPr>
          <a:lstStyle/>
          <a:p>
            <a:pPr algn="l"/>
            <a:r>
              <a:rPr sz="1300" b="0" i="0">
                <a:solidFill>
                  <a:srgbClr val="1E1E2E"/>
                </a:solidFill>
                <a:latin typeface="Arial"/>
              </a:rPr>
              <a:t>Health and circuit breaker remove an unavailable backend; traffic moves to the next priority inside the approved boundary.</a:t>
            </a:r>
          </a:p>
        </p:txBody>
      </p:sp>
      <p:sp>
        <p:nvSpPr>
          <p:cNvPr id="27" name="Rounded Rectangle 26"/>
          <p:cNvSpPr/>
          <p:nvPr/>
        </p:nvSpPr>
        <p:spPr>
          <a:xfrm>
            <a:off x="548640" y="51663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Overflow and retries can raise PAYG spend. Fallback must stay inside the approved processing boundary.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circuit breaker protects a dependency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Rounded Rectangle 8"/>
          <p:cNvSpPr/>
          <p:nvPr/>
        </p:nvSpPr>
        <p:spPr>
          <a:xfrm>
            <a:off x="548640" y="1463040"/>
            <a:ext cx="3566160" cy="640080"/>
          </a:xfrm>
          <a:prstGeom prst="roundRect">
            <a:avLst>
              <a:gd name="adj" fmla="val 11428"/>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1D6B3A"/>
                </a:solidFill>
                <a:latin typeface="Arial"/>
              </a:rPr>
              <a:t>Closed</a:t>
            </a:r>
          </a:p>
        </p:txBody>
      </p:sp>
      <p:sp>
        <p:nvSpPr>
          <p:cNvPr id="10" name="TextBox 9"/>
          <p:cNvSpPr txBox="1"/>
          <p:nvPr/>
        </p:nvSpPr>
        <p:spPr>
          <a:xfrm>
            <a:off x="548640"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Calls flow to backend</a:t>
            </a:r>
          </a:p>
        </p:txBody>
      </p:sp>
      <p:cxnSp>
        <p:nvCxnSpPr>
          <p:cNvPr id="11" name="Connector (flow)"/>
          <p:cNvCxnSpPr/>
          <p:nvPr/>
        </p:nvCxnSpPr>
        <p:spPr>
          <a:xfrm>
            <a:off x="411480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463040"/>
            <a:ext cx="3566160" cy="640080"/>
          </a:xfrm>
          <a:prstGeom prst="roundRect">
            <a:avLst>
              <a:gd name="adj" fmla="val 11428"/>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A4262C"/>
                </a:solidFill>
                <a:latin typeface="Arial"/>
              </a:rPr>
              <a:t>Open</a:t>
            </a:r>
          </a:p>
        </p:txBody>
      </p:sp>
      <p:sp>
        <p:nvSpPr>
          <p:cNvPr id="13" name="TextBox 12"/>
          <p:cNvSpPr txBox="1"/>
          <p:nvPr/>
        </p:nvSpPr>
        <p:spPr>
          <a:xfrm>
            <a:off x="429767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Trip on 429 or 5xx rule; calls fail fast or go to next backend</a:t>
            </a:r>
          </a:p>
        </p:txBody>
      </p:sp>
      <p:cxnSp>
        <p:nvCxnSpPr>
          <p:cNvPr id="14" name="Connector (flow)"/>
          <p:cNvCxnSpPr/>
          <p:nvPr/>
        </p:nvCxnSpPr>
        <p:spPr>
          <a:xfrm>
            <a:off x="786384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463040"/>
            <a:ext cx="3566160"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8A4B08"/>
                </a:solidFill>
                <a:latin typeface="Arial"/>
              </a:rPr>
              <a:t>Half-open</a:t>
            </a:r>
          </a:p>
        </p:txBody>
      </p:sp>
      <p:sp>
        <p:nvSpPr>
          <p:cNvPr id="16" name="TextBox 15"/>
          <p:cNvSpPr txBox="1"/>
          <p:nvPr/>
        </p:nvSpPr>
        <p:spPr>
          <a:xfrm>
            <a:off x="804671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After trip duration (can follow Retry-After), test calls allowed</a:t>
            </a:r>
          </a:p>
        </p:txBody>
      </p:sp>
      <p:cxnSp>
        <p:nvCxnSpPr>
          <p:cNvPr id="17" name="Connector (flow)"/>
          <p:cNvCxnSpPr/>
          <p:nvPr/>
        </p:nvCxnSpPr>
        <p:spPr>
          <a:xfrm>
            <a:off x="11521440" y="210312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flipH="1">
            <a:off x="640080" y="3429000"/>
            <a:ext cx="108813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9" name="Connector (flow)"/>
          <p:cNvCxnSpPr/>
          <p:nvPr/>
        </p:nvCxnSpPr>
        <p:spPr>
          <a:xfrm flipV="1">
            <a:off x="640080" y="2103120"/>
            <a:ext cx="0" cy="1325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06240" y="3474720"/>
            <a:ext cx="3657600" cy="274320"/>
          </a:xfrm>
          <a:prstGeom prst="rect">
            <a:avLst/>
          </a:prstGeom>
          <a:noFill/>
        </p:spPr>
        <p:txBody>
          <a:bodyPr wrap="square" lIns="0" rIns="0" tIns="0" bIns="0" anchor="t">
            <a:noAutofit/>
          </a:bodyPr>
          <a:lstStyle/>
          <a:p>
            <a:pPr algn="ctr"/>
            <a:r>
              <a:rPr sz="1200" b="0" i="0">
                <a:solidFill>
                  <a:srgbClr val="000048"/>
                </a:solidFill>
                <a:latin typeface="Arial"/>
              </a:rPr>
              <a:t>test calls succeed: close</a:t>
            </a:r>
          </a:p>
        </p:txBody>
      </p:sp>
      <p:pic>
        <p:nvPicPr>
          <p:cNvPr id="21"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4160520"/>
            <a:ext cx="502920" cy="502920"/>
          </a:xfrm>
          <a:prstGeom prst="rect">
            <a:avLst/>
          </a:prstGeom>
        </p:spPr>
      </p:pic>
      <p:sp>
        <p:nvSpPr>
          <p:cNvPr id="22" name="TextBox 21"/>
          <p:cNvSpPr txBox="1"/>
          <p:nvPr/>
        </p:nvSpPr>
        <p:spPr>
          <a:xfrm>
            <a:off x="1188720" y="4206240"/>
            <a:ext cx="10424160" cy="548640"/>
          </a:xfrm>
          <a:prstGeom prst="rect">
            <a:avLst/>
          </a:prstGeom>
          <a:noFill/>
        </p:spPr>
        <p:txBody>
          <a:bodyPr wrap="square" lIns="0" rIns="0" tIns="0" bIns="0" anchor="t">
            <a:noAutofit/>
          </a:bodyPr>
          <a:lstStyle/>
          <a:p>
            <a:pPr algn="l"/>
            <a:r>
              <a:rPr sz="1600" b="0" i="0">
                <a:solidFill>
                  <a:srgbClr val="1E1E2E"/>
                </a:solidFill>
                <a:latin typeface="Arial"/>
              </a:rPr>
              <a:t>Configured on the API Management backend; pairs with the backend pool for fallback.</a:t>
            </a:r>
          </a:p>
        </p:txBody>
      </p:sp>
      <p:sp>
        <p:nvSpPr>
          <p:cNvPr id="23" name="Rounded Rectangle 22"/>
          <p:cNvSpPr/>
          <p:nvPr/>
        </p:nvSpPr>
        <p:spPr>
          <a:xfrm>
            <a:off x="548640" y="51206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Not an agent kill switch: it does not stop running work or revoke tool access. See appendix 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primary with approved PAYG overflow: two ways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Table"/>
          <p:cNvGraphicFramePr>
            <a:graphicFrameLocks noGrp="1"/>
          </p:cNvGraphicFramePr>
          <p:nvPr/>
        </p:nvGraphicFramePr>
        <p:xfrm>
          <a:off x="548640" y="1371600"/>
          <a:ext cx="11091672" cy="2926080"/>
        </p:xfrm>
        <a:graphic>
          <a:graphicData uri="http://schemas.openxmlformats.org/drawingml/2006/table">
            <a:tbl>
              <a:tblPr firstRow="1" bandRow="0">
                <a:tableStyleId>{5C22544A-7EE6-4342-B048-85BDC9FD1C3A}</a:tableStyleId>
              </a:tblPr>
              <a:tblGrid>
                <a:gridCol w="2377440"/>
                <a:gridCol w="4206240"/>
                <a:gridCol w="4507992"/>
              </a:tblGrid>
              <a:tr h="320040">
                <a:tc>
                  <a:txBody>
                    <a:bodyPr wrap="square" anchor="ctr">
                      <a:noAutofit/>
                    </a:bodyPr>
                    <a:lstStyle/>
                    <a:p>
                      <a:pPr algn="l"/>
                      <a:r>
                        <a:rPr sz="15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Foundry spillover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API Management priority backends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Where it decides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Inside the Foundry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At the gateway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Scope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 resource, standard deployment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Any approved backend, any region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Trigger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Provisioned deployment returns non-200, such as 429</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Circuit breaker or health rule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Model support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Azure OpenAI models; not DeepSeek or Llama today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Any backend the gateway can call</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Cost control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Overflow billed at standard rates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Overflow billed at standard rates; per-key limits apply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Choose when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Single resource, simple overflow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Several resources, regions or policies</a:t>
                      </a:r>
                    </a:p>
                  </a:txBody>
                  <a:tcPr marL="73152" marR="73152" marT="36576" marB="36576" anchor="ctr">
                    <a:solidFill>
                      <a:srgbClr val="F5F5F2"/>
                    </a:solidFill>
                  </a:tcPr>
                </a:tc>
              </a:tr>
            </a:tbl>
          </a:graphicData>
        </a:graphic>
      </p:graphicFrame>
      <p:sp>
        <p:nvSpPr>
          <p:cNvPr id="10" name="Rounded Rectangle 9"/>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Overflow is conditional capacity, not unlimited. Budget the PAYG share and alert on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Content safety in the gateway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Status chip: VERIFIED 11 OCT 2026"/>
          <p:cNvSpPr/>
          <p:nvPr/>
        </p:nvSpPr>
        <p:spPr>
          <a:xfrm>
            <a:off x="469392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8"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pic>
        <p:nvPicPr>
          <p:cNvPr id="10"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5840" y="2267712"/>
            <a:ext cx="457200" cy="457200"/>
          </a:xfrm>
          <a:prstGeom prst="rect">
            <a:avLst/>
          </a:prstGeom>
        </p:spPr>
      </p:pic>
      <p:sp>
        <p:nvSpPr>
          <p:cNvPr id="11" name="TextBox 10"/>
          <p:cNvSpPr txBox="1"/>
          <p:nvPr/>
        </p:nvSpPr>
        <p:spPr>
          <a:xfrm>
            <a:off x="585216" y="2761488"/>
            <a:ext cx="1298448" cy="512064"/>
          </a:xfrm>
          <a:prstGeom prst="rect">
            <a:avLst/>
          </a:prstGeom>
          <a:noFill/>
        </p:spPr>
        <p:txBody>
          <a:bodyPr wrap="square" lIns="0" rIns="0" tIns="0" bIns="0" anchor="t">
            <a:noAutofit/>
          </a:bodyPr>
          <a:lstStyle/>
          <a:p>
            <a:pPr algn="ctr"/>
            <a:r>
              <a:rPr sz="1300" b="1" i="0">
                <a:solidFill>
                  <a:srgbClr val="000048"/>
                </a:solidFill>
                <a:latin typeface="Arial"/>
              </a:rPr>
              <a:t>Prompt</a:t>
            </a:r>
          </a:p>
          <a:p>
            <a:pPr algn="ctr"/>
            <a:r>
              <a:rPr sz="1100" b="0" i="0">
                <a:solidFill>
                  <a:srgbClr val="53565A"/>
                </a:solidFill>
                <a:latin typeface="Arial"/>
              </a:rPr>
              <a:t>from app or agent</a:t>
            </a:r>
          </a:p>
        </p:txBody>
      </p:sp>
      <p:sp>
        <p:nvSpPr>
          <p:cNvPr id="12" name="Rounded Rectangle 11"/>
          <p:cNvSpPr/>
          <p:nvPr/>
        </p:nvSpPr>
        <p:spPr>
          <a:xfrm>
            <a:off x="2286000" y="1417320"/>
            <a:ext cx="3931920" cy="3108960"/>
          </a:xfrm>
          <a:prstGeom prst="roundRect">
            <a:avLst>
              <a:gd name="adj" fmla="val 294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395728" y="1472184"/>
            <a:ext cx="3712463" cy="237744"/>
          </a:xfrm>
          <a:prstGeom prst="rect">
            <a:avLst/>
          </a:prstGeom>
          <a:noFill/>
        </p:spPr>
        <p:txBody>
          <a:bodyPr wrap="square" lIns="0" rIns="0" tIns="0" bIns="0" anchor="t">
            <a:noAutofit/>
          </a:bodyPr>
          <a:lstStyle/>
          <a:p>
            <a:pPr algn="l"/>
            <a:r>
              <a:rPr sz="1100" b="1" i="0">
                <a:solidFill>
                  <a:srgbClr val="000048"/>
                </a:solidFill>
                <a:latin typeface="Arial"/>
              </a:rPr>
              <a:t>API MANAGEMENT POLICIES</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23160" y="1783080"/>
            <a:ext cx="457200" cy="457200"/>
          </a:xfrm>
          <a:prstGeom prst="rect">
            <a:avLst/>
          </a:prstGeom>
        </p:spPr>
      </p:pic>
      <p:sp>
        <p:nvSpPr>
          <p:cNvPr id="15" name="Rounded Rectangle 14"/>
          <p:cNvSpPr/>
          <p:nvPr/>
        </p:nvSpPr>
        <p:spPr>
          <a:xfrm>
            <a:off x="3017520" y="1783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Inbound check</a:t>
            </a:r>
          </a:p>
          <a:p>
            <a:pPr algn="l"/>
            <a:r>
              <a:rPr sz="1200" b="0" i="0">
                <a:solidFill>
                  <a:srgbClr val="53565A"/>
                </a:solidFill>
                <a:latin typeface="Arial"/>
              </a:rPr>
              <a:t>categories, blocklists, prompt shield</a:t>
            </a:r>
          </a:p>
        </p:txBody>
      </p:sp>
      <p:sp>
        <p:nvSpPr>
          <p:cNvPr id="16" name="Rounded Rectangle 15"/>
          <p:cNvSpPr/>
          <p:nvPr/>
        </p:nvSpPr>
        <p:spPr>
          <a:xfrm>
            <a:off x="3017520" y="2926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Outbound check</a:t>
            </a:r>
          </a:p>
          <a:p>
            <a:pPr algn="l"/>
            <a:r>
              <a:rPr sz="1200" b="0" i="0">
                <a:solidFill>
                  <a:srgbClr val="53565A"/>
                </a:solidFill>
                <a:latin typeface="Arial"/>
              </a:rPr>
              <a:t>completion validation</a:t>
            </a:r>
          </a:p>
        </p:txBody>
      </p:sp>
      <p:sp>
        <p:nvSpPr>
          <p:cNvPr id="17" name="Rounded Rectangle 16"/>
          <p:cNvSpPr/>
          <p:nvPr/>
        </p:nvSpPr>
        <p:spPr>
          <a:xfrm>
            <a:off x="6858000" y="141732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ntent Safety" descr="Official Azure icon: Content Safety"/>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2400" y="1490472"/>
            <a:ext cx="457200" cy="457200"/>
          </a:xfrm>
          <a:prstGeom prst="rect">
            <a:avLst/>
          </a:prstGeom>
        </p:spPr>
      </p:pic>
      <p:sp>
        <p:nvSpPr>
          <p:cNvPr id="19" name="TextBox 18"/>
          <p:cNvSpPr txBox="1"/>
          <p:nvPr/>
        </p:nvSpPr>
        <p:spPr>
          <a:xfrm>
            <a:off x="6894576" y="1984248"/>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AI Content Safety</a:t>
            </a:r>
          </a:p>
          <a:p>
            <a:pPr algn="ctr"/>
            <a:r>
              <a:rPr sz="1100" b="0" i="0">
                <a:solidFill>
                  <a:srgbClr val="53565A"/>
                </a:solidFill>
                <a:latin typeface="Arial"/>
              </a:rPr>
              <a:t>managed identity</a:t>
            </a:r>
          </a:p>
        </p:txBody>
      </p:sp>
      <p:sp>
        <p:nvSpPr>
          <p:cNvPr id="20" name="Rounded Rectangle 19"/>
          <p:cNvSpPr/>
          <p:nvPr/>
        </p:nvSpPr>
        <p:spPr>
          <a:xfrm>
            <a:off x="9509760" y="141732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32720" y="1490472"/>
            <a:ext cx="457200" cy="457200"/>
          </a:xfrm>
          <a:prstGeom prst="rect">
            <a:avLst/>
          </a:prstGeom>
        </p:spPr>
      </p:pic>
      <p:sp>
        <p:nvSpPr>
          <p:cNvPr id="22" name="TextBox 21"/>
          <p:cNvSpPr txBox="1"/>
          <p:nvPr/>
        </p:nvSpPr>
        <p:spPr>
          <a:xfrm>
            <a:off x="9546336" y="1984248"/>
            <a:ext cx="2029967"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Foundry Models</a:t>
            </a:r>
          </a:p>
        </p:txBody>
      </p:sp>
      <p:sp>
        <p:nvSpPr>
          <p:cNvPr id="23" name="Rounded Rectangle 22"/>
          <p:cNvSpPr/>
          <p:nvPr/>
        </p:nvSpPr>
        <p:spPr>
          <a:xfrm>
            <a:off x="6858000" y="31089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Azure Monitor" descr="Official Azure icon: Azure Monito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72400" y="3182112"/>
            <a:ext cx="457200" cy="457200"/>
          </a:xfrm>
          <a:prstGeom prst="rect">
            <a:avLst/>
          </a:prstGeom>
        </p:spPr>
      </p:pic>
      <p:sp>
        <p:nvSpPr>
          <p:cNvPr id="25" name="TextBox 24"/>
          <p:cNvSpPr txBox="1"/>
          <p:nvPr/>
        </p:nvSpPr>
        <p:spPr>
          <a:xfrm>
            <a:off x="6894576" y="3675887"/>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Monitor</a:t>
            </a:r>
          </a:p>
          <a:p>
            <a:pPr algn="ctr"/>
            <a:r>
              <a:rPr sz="1100" b="0" i="0">
                <a:solidFill>
                  <a:srgbClr val="53565A"/>
                </a:solidFill>
                <a:latin typeface="Arial"/>
              </a:rPr>
              <a:t>logs and metrics</a:t>
            </a:r>
          </a:p>
        </p:txBody>
      </p:sp>
      <p:cxnSp>
        <p:nvCxnSpPr>
          <p:cNvPr id="26" name="Connector (flow)"/>
          <p:cNvCxnSpPr/>
          <p:nvPr/>
        </p:nvCxnSpPr>
        <p:spPr>
          <a:xfrm flipV="1">
            <a:off x="1920240" y="2240280"/>
            <a:ext cx="109728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flipV="1">
            <a:off x="6035040" y="1920240"/>
            <a:ext cx="822960" cy="18288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6035040" y="2377440"/>
            <a:ext cx="548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6583680" y="237744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6583680" y="2788920"/>
            <a:ext cx="3977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1" name="Connector (flow)"/>
          <p:cNvCxnSpPr/>
          <p:nvPr/>
        </p:nvCxnSpPr>
        <p:spPr>
          <a:xfrm flipV="1">
            <a:off x="10561320" y="2468880"/>
            <a:ext cx="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6035040" y="356616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48640" y="3291840"/>
            <a:ext cx="1554480" cy="777240"/>
          </a:xfrm>
          <a:prstGeom prst="roundRect">
            <a:avLst>
              <a:gd name="adj" fmla="val 9411"/>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A4262C"/>
                </a:solidFill>
                <a:latin typeface="Arial"/>
              </a:rPr>
              <a:t>403</a:t>
            </a:r>
          </a:p>
          <a:p>
            <a:pPr algn="ctr"/>
            <a:r>
              <a:rPr sz="1100" b="0" i="0">
                <a:solidFill>
                  <a:srgbClr val="1E1E2E"/>
                </a:solidFill>
                <a:latin typeface="Arial"/>
              </a:rPr>
              <a:t>on violation</a:t>
            </a:r>
          </a:p>
        </p:txBody>
      </p:sp>
      <p:cxnSp>
        <p:nvCxnSpPr>
          <p:cNvPr id="34" name="Connector (blocked)"/>
          <p:cNvCxnSpPr/>
          <p:nvPr/>
        </p:nvCxnSpPr>
        <p:spPr>
          <a:xfrm flipH="1">
            <a:off x="2103120" y="3611880"/>
            <a:ext cx="914400" cy="4572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48640" y="48463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Streaming: forwarding stops on violation without a 403. Test thresholds, false positives, latency and service failure.</a:t>
            </a:r>
          </a:p>
        </p:txBody>
      </p:sp>
      <p:sp>
        <p:nvSpPr>
          <p:cNvPr id="36" name="TextBox 35"/>
          <p:cNvSpPr txBox="1"/>
          <p:nvPr/>
        </p:nvSpPr>
        <p:spPr>
          <a:xfrm>
            <a:off x="548640" y="5577840"/>
            <a:ext cx="11064240" cy="256032"/>
          </a:xfrm>
          <a:prstGeom prst="rect">
            <a:avLst/>
          </a:prstGeom>
          <a:noFill/>
        </p:spPr>
        <p:txBody>
          <a:bodyPr wrap="square" lIns="0" rIns="0" tIns="0" bIns="0" anchor="t">
            <a:noAutofit/>
          </a:bodyPr>
          <a:lstStyle/>
          <a:p>
            <a:pPr algn="l"/>
            <a:r>
              <a:rPr sz="1100" b="1" i="0">
                <a:solidFill>
                  <a:srgbClr val="7373D8"/>
                </a:solidFill>
                <a:latin typeface="Arial"/>
              </a:rPr>
              <a:t>Rebuilt reference flow  ·  official Azure icons; source image kept in appendix O5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Tool authorisation and human approval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sp>
        <p:nvSpPr>
          <p:cNvPr id="9" name="Rounded Rectangle 8"/>
          <p:cNvSpPr/>
          <p:nvPr/>
        </p:nvSpPr>
        <p:spPr>
          <a:xfrm>
            <a:off x="548640"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Content Safety" descr="Official Azure icon: Content Safet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00200"/>
            <a:ext cx="502920" cy="502920"/>
          </a:xfrm>
          <a:prstGeom prst="rect">
            <a:avLst/>
          </a:prstGeom>
        </p:spPr>
      </p:pic>
      <p:sp>
        <p:nvSpPr>
          <p:cNvPr id="11" name="TextBox 10"/>
          <p:cNvSpPr txBox="1"/>
          <p:nvPr/>
        </p:nvSpPr>
        <p:spPr>
          <a:xfrm>
            <a:off x="137160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Moderate</a:t>
            </a:r>
          </a:p>
        </p:txBody>
      </p:sp>
      <p:sp>
        <p:nvSpPr>
          <p:cNvPr id="12" name="TextBox 11"/>
          <p:cNvSpPr txBox="1"/>
          <p:nvPr/>
        </p:nvSpPr>
        <p:spPr>
          <a:xfrm>
            <a:off x="731520"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Harm categories and prompt attacks on prompts and completions</a:t>
            </a:r>
          </a:p>
        </p:txBody>
      </p:sp>
      <p:sp>
        <p:nvSpPr>
          <p:cNvPr id="13" name="Rounded Rectangle 12"/>
          <p:cNvSpPr/>
          <p:nvPr/>
        </p:nvSpPr>
        <p:spPr>
          <a:xfrm>
            <a:off x="429767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600200"/>
            <a:ext cx="502920" cy="502920"/>
          </a:xfrm>
          <a:prstGeom prst="rect">
            <a:avLst/>
          </a:prstGeom>
        </p:spPr>
      </p:pic>
      <p:sp>
        <p:nvSpPr>
          <p:cNvPr id="15" name="TextBox 14"/>
          <p:cNvSpPr txBox="1"/>
          <p:nvPr/>
        </p:nvSpPr>
        <p:spPr>
          <a:xfrm>
            <a:off x="512064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Authorise</a:t>
            </a:r>
          </a:p>
        </p:txBody>
      </p:sp>
      <p:sp>
        <p:nvSpPr>
          <p:cNvPr id="16" name="TextBox 15"/>
          <p:cNvSpPr txBox="1"/>
          <p:nvPr/>
        </p:nvSpPr>
        <p:spPr>
          <a:xfrm>
            <a:off x="4480559"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Allowed tool, target and operation per agent identity, enforced at gateway and tool side</a:t>
            </a:r>
          </a:p>
        </p:txBody>
      </p:sp>
      <p:sp>
        <p:nvSpPr>
          <p:cNvPr id="17" name="Rounded Rectangle 16"/>
          <p:cNvSpPr/>
          <p:nvPr/>
        </p:nvSpPr>
        <p:spPr>
          <a:xfrm>
            <a:off x="804671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600200"/>
            <a:ext cx="502920" cy="502920"/>
          </a:xfrm>
          <a:prstGeom prst="rect">
            <a:avLst/>
          </a:prstGeom>
        </p:spPr>
      </p:pic>
      <p:sp>
        <p:nvSpPr>
          <p:cNvPr id="19" name="TextBox 18"/>
          <p:cNvSpPr txBox="1"/>
          <p:nvPr/>
        </p:nvSpPr>
        <p:spPr>
          <a:xfrm>
            <a:off x="886968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Approve</a:t>
            </a:r>
          </a:p>
        </p:txBody>
      </p:sp>
      <p:sp>
        <p:nvSpPr>
          <p:cNvPr id="20" name="TextBox 19"/>
          <p:cNvSpPr txBox="1"/>
          <p:nvPr/>
        </p:nvSpPr>
        <p:spPr>
          <a:xfrm>
            <a:off x="8229599"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Human approval before high-impact actions, recorded with the request</a:t>
            </a:r>
          </a:p>
        </p:txBody>
      </p:sp>
      <p:sp>
        <p:nvSpPr>
          <p:cNvPr id="21" name="Rounded Rectangle 20"/>
          <p:cNvSpPr/>
          <p:nvPr/>
        </p:nvSpPr>
        <p:spPr>
          <a:xfrm>
            <a:off x="548640" y="475488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Test fail-open versus fail-closed for each control. Approval services are custom and owned by the AI tower.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 metrics, logs and cost allocation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sp>
        <p:nvSpPr>
          <p:cNvPr id="9" name="Rounded Rectangle 8"/>
          <p:cNvSpPr/>
          <p:nvPr/>
        </p:nvSpPr>
        <p:spPr>
          <a:xfrm>
            <a:off x="548640" y="1554480"/>
            <a:ext cx="2194560" cy="1143000"/>
          </a:xfrm>
          <a:prstGeom prst="roundRect">
            <a:avLst>
              <a:gd name="adj" fmla="val 6400"/>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94460" y="1627632"/>
            <a:ext cx="502920" cy="502920"/>
          </a:xfrm>
          <a:prstGeom prst="rect">
            <a:avLst/>
          </a:prstGeom>
        </p:spPr>
      </p:pic>
      <p:sp>
        <p:nvSpPr>
          <p:cNvPr id="11" name="TextBox 10"/>
          <p:cNvSpPr txBox="1"/>
          <p:nvPr/>
        </p:nvSpPr>
        <p:spPr>
          <a:xfrm>
            <a:off x="58521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100" b="0" i="0">
                <a:solidFill>
                  <a:srgbClr val="53565A"/>
                </a:solidFill>
                <a:latin typeface="Arial"/>
              </a:rPr>
              <a:t>llm-emit-token-metric</a:t>
            </a:r>
          </a:p>
        </p:txBody>
      </p:sp>
      <p:sp>
        <p:nvSpPr>
          <p:cNvPr id="12" name="Rounded Rectangle 11"/>
          <p:cNvSpPr/>
          <p:nvPr/>
        </p:nvSpPr>
        <p:spPr>
          <a:xfrm>
            <a:off x="35661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plication Insights" descr="Official Azure icon: Application Insigh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11979" y="1627632"/>
            <a:ext cx="502920" cy="502920"/>
          </a:xfrm>
          <a:prstGeom prst="rect">
            <a:avLst/>
          </a:prstGeom>
        </p:spPr>
      </p:pic>
      <p:sp>
        <p:nvSpPr>
          <p:cNvPr id="14" name="TextBox 13"/>
          <p:cNvSpPr txBox="1"/>
          <p:nvPr/>
        </p:nvSpPr>
        <p:spPr>
          <a:xfrm>
            <a:off x="36027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Application Insights</a:t>
            </a:r>
          </a:p>
          <a:p>
            <a:pPr algn="ctr"/>
            <a:r>
              <a:rPr sz="1100" b="0" i="0">
                <a:solidFill>
                  <a:srgbClr val="53565A"/>
                </a:solidFill>
                <a:latin typeface="Arial"/>
              </a:rPr>
              <a:t>custom metrics</a:t>
            </a:r>
          </a:p>
        </p:txBody>
      </p:sp>
      <p:sp>
        <p:nvSpPr>
          <p:cNvPr id="15" name="Rounded Rectangle 14"/>
          <p:cNvSpPr/>
          <p:nvPr/>
        </p:nvSpPr>
        <p:spPr>
          <a:xfrm>
            <a:off x="658368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Log Analytics workspace" descr="Official Azure icon: Log Analytics workspa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29500" y="1627632"/>
            <a:ext cx="502920" cy="502920"/>
          </a:xfrm>
          <a:prstGeom prst="rect">
            <a:avLst/>
          </a:prstGeom>
        </p:spPr>
      </p:pic>
      <p:sp>
        <p:nvSpPr>
          <p:cNvPr id="17" name="TextBox 16"/>
          <p:cNvSpPr txBox="1"/>
          <p:nvPr/>
        </p:nvSpPr>
        <p:spPr>
          <a:xfrm>
            <a:off x="662025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Log Analytics</a:t>
            </a:r>
          </a:p>
          <a:p>
            <a:pPr algn="ctr"/>
            <a:r>
              <a:rPr sz="1100" b="0" i="0">
                <a:solidFill>
                  <a:srgbClr val="53565A"/>
                </a:solidFill>
                <a:latin typeface="Arial"/>
              </a:rPr>
              <a:t>gateway logs, retention</a:t>
            </a:r>
          </a:p>
        </p:txBody>
      </p:sp>
      <p:sp>
        <p:nvSpPr>
          <p:cNvPr id="18" name="Rounded Rectangle 17"/>
          <p:cNvSpPr/>
          <p:nvPr/>
        </p:nvSpPr>
        <p:spPr>
          <a:xfrm>
            <a:off x="95097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Azure Workbooks" descr="Official Azure icon: Azure Workbook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55580" y="1627632"/>
            <a:ext cx="502920" cy="502920"/>
          </a:xfrm>
          <a:prstGeom prst="rect">
            <a:avLst/>
          </a:prstGeom>
        </p:spPr>
      </p:pic>
      <p:sp>
        <p:nvSpPr>
          <p:cNvPr id="20" name="TextBox 19"/>
          <p:cNvSpPr txBox="1"/>
          <p:nvPr/>
        </p:nvSpPr>
        <p:spPr>
          <a:xfrm>
            <a:off x="95463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Allocation workbook</a:t>
            </a:r>
          </a:p>
          <a:p>
            <a:pPr algn="ctr"/>
            <a:r>
              <a:rPr sz="1100" b="0" i="0">
                <a:solidFill>
                  <a:srgbClr val="53565A"/>
                </a:solidFill>
                <a:latin typeface="Arial"/>
              </a:rPr>
              <a:t>tokens by team and agent</a:t>
            </a:r>
          </a:p>
        </p:txBody>
      </p:sp>
      <p:cxnSp>
        <p:nvCxnSpPr>
          <p:cNvPr id="21" name="Connector (telemetry)"/>
          <p:cNvCxnSpPr/>
          <p:nvPr/>
        </p:nvCxnSpPr>
        <p:spPr>
          <a:xfrm>
            <a:off x="274320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telemetry)"/>
          <p:cNvCxnSpPr/>
          <p:nvPr/>
        </p:nvCxnSpPr>
        <p:spPr>
          <a:xfrm>
            <a:off x="576072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telemetry)"/>
          <p:cNvCxnSpPr/>
          <p:nvPr/>
        </p:nvCxnSpPr>
        <p:spPr>
          <a:xfrm>
            <a:off x="8778240" y="2103120"/>
            <a:ext cx="73152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4" name="Table"/>
          <p:cNvGraphicFramePr>
            <a:graphicFrameLocks noGrp="1"/>
          </p:cNvGraphicFramePr>
          <p:nvPr/>
        </p:nvGraphicFramePr>
        <p:xfrm>
          <a:off x="548640" y="3246120"/>
          <a:ext cx="11091672" cy="1524000"/>
        </p:xfrm>
        <a:graphic>
          <a:graphicData uri="http://schemas.openxmlformats.org/drawingml/2006/table">
            <a:tbl>
              <a:tblPr firstRow="1" bandRow="0">
                <a:tableStyleId>{5C22544A-7EE6-4342-B048-85BDC9FD1C3A}</a:tableStyleId>
              </a:tblPr>
              <a:tblGrid>
                <a:gridCol w="3108960"/>
                <a:gridCol w="3657600"/>
                <a:gridCol w="4325112"/>
              </a:tblGrid>
              <a:tr h="304800">
                <a:tc>
                  <a:txBody>
                    <a:bodyPr wrap="square" anchor="ctr">
                      <a:noAutofit/>
                    </a:bodyPr>
                    <a:lstStyle/>
                    <a:p>
                      <a:pPr algn="l"/>
                      <a:r>
                        <a:rPr sz="1400" b="1" i="0">
                          <a:solidFill>
                            <a:srgbClr val="FFFFFF"/>
                          </a:solidFill>
                          <a:latin typeface="Arial"/>
                        </a:rPr>
                        <a:t>Dimension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Used for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Application or agent ID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Validated token claim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Allocation and containment scope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Team or cost centre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Product or subscription mapping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Showback</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Model and deployment type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Backend selected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Price per token type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Region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and backend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Residency evidence</a:t>
                      </a:r>
                    </a:p>
                  </a:txBody>
                  <a:tcPr marL="73152" marR="73152" marT="36576" marB="36576" anchor="ctr">
                    <a:solidFill>
                      <a:srgbClr val="F5F5F2"/>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Private connectivity and regional resilience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9" name="Table"/>
          <p:cNvGraphicFramePr>
            <a:graphicFrameLocks noGrp="1"/>
          </p:cNvGraphicFramePr>
          <p:nvPr/>
        </p:nvGraphicFramePr>
        <p:xfrm>
          <a:off x="548640" y="1371600"/>
          <a:ext cx="11091672" cy="2514600"/>
        </p:xfrm>
        <a:graphic>
          <a:graphicData uri="http://schemas.openxmlformats.org/drawingml/2006/table">
            <a:tbl>
              <a:tblPr firstRow="1" bandRow="0">
                <a:tableStyleId>{5C22544A-7EE6-4342-B048-85BDC9FD1C3A}</a:tableStyleId>
              </a:tblPr>
              <a:tblGrid>
                <a:gridCol w="3108960"/>
                <a:gridCol w="2926080"/>
                <a:gridCol w="2651760"/>
                <a:gridCol w="2404872"/>
              </a:tblGrid>
              <a:tr h="320040">
                <a:tc>
                  <a:txBody>
                    <a:bodyPr wrap="square" anchor="ctr">
                      <a:noAutofit/>
                    </a:bodyPr>
                    <a:lstStyle/>
                    <a:p>
                      <a:pPr algn="l"/>
                      <a:r>
                        <a:rPr sz="1500" b="1" i="0">
                          <a:solidFill>
                            <a:srgbClr val="FFFFFF"/>
                          </a:solidFill>
                          <a:latin typeface="Arial"/>
                        </a:rPr>
                        <a:t>Pattern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Gateway failure domain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Network</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Tier fit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One gateway, regional backends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Single gateway region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Private endpoints to each backend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Standard v2 or Premium v2</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Multi-region gateway (built in)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Regional gateways, one control plane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Premium (classic) only</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Two independent gateways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Separate instances, separate counters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Per-region private network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production tier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Zone-redundant gateway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Zones within one region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Premium v2 or Premium (classic)</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Backend failover across regions leaves a single-gateway failure domain in place. Counters do not aggregate across gateways.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Bypass prevention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CONTROLS"/>
          <p:cNvSpPr/>
          <p:nvPr/>
        </p:nvSpPr>
        <p:spPr>
          <a:xfrm>
            <a:off x="199644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CONTROLS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graphicFrame>
        <p:nvGraphicFramePr>
          <p:cNvPr id="9" name="Table"/>
          <p:cNvGraphicFramePr>
            <a:graphicFrameLocks noGrp="1"/>
          </p:cNvGraphicFramePr>
          <p:nvPr/>
        </p:nvGraphicFramePr>
        <p:xfrm>
          <a:off x="548640" y="1371600"/>
          <a:ext cx="11091672" cy="3063240"/>
        </p:xfrm>
        <a:graphic>
          <a:graphicData uri="http://schemas.openxmlformats.org/drawingml/2006/table">
            <a:tbl>
              <a:tblPr firstRow="1" bandRow="0">
                <a:tableStyleId>{5C22544A-7EE6-4342-B048-85BDC9FD1C3A}</a:tableStyleId>
              </a:tblPr>
              <a:tblGrid>
                <a:gridCol w="2743200"/>
                <a:gridCol w="5120640"/>
                <a:gridCol w="322783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How</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Negative test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No public model endpoints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Public network access disabled; private endpoints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 from internet fails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No keys in apps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Local auth disabled where supported; managed identity at gateway only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Key-based call fails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Data-plane RBAC only for gateway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Apps have no role on the Foundry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App identity call fails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Network path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NSG and UDR allow model endpoints only from gateway subnet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Direct call from app subnet fails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Detect drift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Azure Policy deny or audit; Resource Graph query for public endpoints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Policy flags a test resource</a:t>
                      </a:r>
                    </a:p>
                  </a:txBody>
                  <a:tcPr marL="73152" marR="73152" marT="36576" marB="36576"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Generally available versus preview capabilities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4023360"/>
                <a:gridCol w="4206240"/>
                <a:gridCol w="2862072"/>
              </a:tblGrid>
              <a:tr h="320040">
                <a:tc>
                  <a:txBody>
                    <a:bodyPr wrap="square" anchor="ctr">
                      <a:noAutofit/>
                    </a:bodyPr>
                    <a:lstStyle/>
                    <a:p>
                      <a:pPr algn="l"/>
                      <a:r>
                        <a:rPr sz="15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Status on Microsoft Learn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Production use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llm-token-limit, llm-emit-token-metric</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No preview label; all tiers incl. v2</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Yes, with tests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llm-content-safety (incl. shield-prompt)</a:t>
                      </a:r>
                    </a:p>
                  </a:txBody>
                  <a:tcPr marL="73152" marR="73152" marT="36576" marB="36576" anchor="ctr">
                    <a:solidFill>
                      <a:srgbClr val="F5F5F2"/>
                    </a:solidFill>
                  </a:tcPr>
                </a:tc>
                <a:tc>
                  <a:txBody>
                    <a:bodyPr wrap="square" anchor="ctr">
                      <a:noAutofit/>
                    </a:bodyPr>
                    <a:lstStyle/>
                    <a:p>
                      <a:pPr algn="l"/>
                      <a:r>
                        <a:rPr sz="1500" b="1" i="0">
                          <a:solidFill>
                            <a:srgbClr val="1D6B3A"/>
                          </a:solidFill>
                          <a:latin typeface="Arial"/>
                        </a:rPr>
                        <a:t>No preview label (updated 2026-08-19)</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Yes, with tests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Backend pools, circuit breaker</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No preview label; varies by tier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Semantic caching</a:t>
                      </a:r>
                    </a:p>
                  </a:txBody>
                  <a:tcPr marL="73152" marR="73152" marT="36576" marB="36576" anchor="ctr">
                    <a:solidFill>
                      <a:srgbClr val="F5F5F2"/>
                    </a:solidFill>
                  </a:tcPr>
                </a:tc>
                <a:tc>
                  <a:txBody>
                    <a:bodyPr wrap="square" anchor="ctr">
                      <a:noAutofit/>
                    </a:bodyPr>
                    <a:lstStyle/>
                    <a:p>
                      <a:pPr algn="l"/>
                      <a:r>
                        <a:rPr sz="1500" b="1" i="0">
                          <a:solidFill>
                            <a:srgbClr val="1D6B3A"/>
                          </a:solidFill>
                          <a:latin typeface="Arial"/>
                        </a:rPr>
                        <a:t>No preview label; needs RediSearch cache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Optional; isolation design</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Unified model API</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Preview</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Pilot only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gateway in Microsoft Foundry</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Preview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Pilot only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AI Gateway tier (dedicated)</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Public preview, no SLA, pricing TBA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Pilot only</a:t>
                      </a:r>
                    </a:p>
                  </a:txBody>
                  <a:tcPr marL="73152" marR="73152" marT="36576" marB="36576"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Management tier capabilities that drive SKU choice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Status chip: SELECTED FEATURES"/>
          <p:cNvSpPr/>
          <p:nvPr/>
        </p:nvSpPr>
        <p:spPr>
          <a:xfrm>
            <a:off x="408940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SELECTED FEATURES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10" name="Table"/>
          <p:cNvGraphicFramePr>
            <a:graphicFrameLocks noGrp="1"/>
          </p:cNvGraphicFramePr>
          <p:nvPr/>
        </p:nvGraphicFramePr>
        <p:xfrm>
          <a:off x="548640" y="1371600"/>
          <a:ext cx="11091672" cy="2545080"/>
        </p:xfrm>
        <a:graphic>
          <a:graphicData uri="http://schemas.openxmlformats.org/drawingml/2006/table">
            <a:tbl>
              <a:tblPr firstRow="1" bandRow="0">
                <a:tableStyleId>{5C22544A-7EE6-4342-B048-85BDC9FD1C3A}</a:tableStyleId>
              </a:tblPr>
              <a:tblGrid>
                <a:gridCol w="3108960"/>
                <a:gridCol w="1554480"/>
                <a:gridCol w="1554480"/>
                <a:gridCol w="1600200"/>
                <a:gridCol w="1600200"/>
                <a:gridCol w="1673352"/>
              </a:tblGrid>
              <a:tr h="304800">
                <a:tc>
                  <a:txBody>
                    <a:bodyPr wrap="square" anchor="ctr">
                      <a:noAutofit/>
                    </a:bodyPr>
                    <a:lstStyle/>
                    <a:p>
                      <a:pPr algn="l"/>
                      <a:r>
                        <a:rPr sz="14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Developer</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Basic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Standard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Premium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Premium (classic)</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Inbound private endpoint</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Outbound to VNet backends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VNet injection</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Availability zones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Built-in multi-region</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Self-hosted gateway</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Production SLA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r>
            </a:tbl>
          </a:graphicData>
        </a:graphic>
      </p:graphicFrame>
      <p:sp>
        <p:nvSpPr>
          <p:cNvPr id="11" name="Rounded Rectangle 10"/>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SLA terms are tier-specific and not stated on the feature page. Confirm on the Azure SLA page before contract.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Regional availability snapshot for v2 tiers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SNAPSHOT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SNAPSHOT 11 OCT 2026</a:t>
            </a:r>
          </a:p>
        </p:txBody>
      </p:sp>
      <p:sp>
        <p:nvSpPr>
          <p:cNvPr id="6" name="Status chip: SELECTED REGIONS"/>
          <p:cNvSpPr/>
          <p:nvPr/>
        </p:nvSpPr>
        <p:spPr>
          <a:xfrm>
            <a:off x="408940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SELECTED REGIONS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10" name="Table"/>
          <p:cNvGraphicFramePr>
            <a:graphicFrameLocks noGrp="1"/>
          </p:cNvGraphicFramePr>
          <p:nvPr/>
        </p:nvGraphicFramePr>
        <p:xfrm>
          <a:off x="548640" y="1371600"/>
          <a:ext cx="11091671" cy="3185160"/>
        </p:xfrm>
        <a:graphic>
          <a:graphicData uri="http://schemas.openxmlformats.org/drawingml/2006/table">
            <a:tbl>
              <a:tblPr firstRow="1" bandRow="0">
                <a:tableStyleId>{5C22544A-7EE6-4342-B048-85BDC9FD1C3A}</a:tableStyleId>
              </a:tblPr>
              <a:tblGrid>
                <a:gridCol w="2743200"/>
                <a:gridCol w="1920240"/>
                <a:gridCol w="1920240"/>
                <a:gridCol w="1920240"/>
                <a:gridCol w="2587751"/>
              </a:tblGrid>
              <a:tr h="289560">
                <a:tc>
                  <a:txBody>
                    <a:bodyPr wrap="square" anchor="ctr">
                      <a:noAutofit/>
                    </a:bodyPr>
                    <a:lstStyle/>
                    <a:p>
                      <a:pPr algn="l"/>
                      <a:r>
                        <a:rPr sz="1300" b="1" i="0">
                          <a:solidFill>
                            <a:srgbClr val="FFFFFF"/>
                          </a:solidFill>
                          <a:latin typeface="Arial"/>
                        </a:rPr>
                        <a:t>Region</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Basic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Standard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Premium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AI Gateway tier (preview)</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East US 2</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East US</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Sweden Central</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West Europe</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Germany West Central</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France Central</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Norway East</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UK South</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UK West</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UAE North</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bl>
          </a:graphicData>
        </a:graphic>
      </p:graphicFrame>
      <p:sp>
        <p:nvSpPr>
          <p:cNvPr id="11" name="Rounded Rectangle 10"/>
          <p:cNvSpPr/>
          <p:nvPr/>
        </p:nvSpPr>
        <p:spPr>
          <a:xfrm>
            <a:off x="548640" y="56235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UK South has temporary creation blocks on all v2 tiers. Recheck before any quote or design commitment.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Management list prices used in estimates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9" name="Table"/>
          <p:cNvGraphicFramePr>
            <a:graphicFrameLocks noGrp="1"/>
          </p:cNvGraphicFramePr>
          <p:nvPr/>
        </p:nvGraphicFramePr>
        <p:xfrm>
          <a:off x="548640" y="1371600"/>
          <a:ext cx="11091672" cy="2468880"/>
        </p:xfrm>
        <a:graphic>
          <a:graphicData uri="http://schemas.openxmlformats.org/drawingml/2006/table">
            <a:tbl>
              <a:tblPr firstRow="1" bandRow="0">
                <a:tableStyleId>{5C22544A-7EE6-4342-B048-85BDC9FD1C3A}</a:tableStyleId>
              </a:tblPr>
              <a:tblGrid>
                <a:gridCol w="3291840"/>
                <a:gridCol w="2377440"/>
                <a:gridCol w="1828800"/>
                <a:gridCol w="3593592"/>
              </a:tblGrid>
              <a:tr h="320040">
                <a:tc>
                  <a:txBody>
                    <a:bodyPr wrap="square" anchor="ctr">
                      <a:noAutofit/>
                    </a:bodyPr>
                    <a:lstStyle/>
                    <a:p>
                      <a:pPr algn="l"/>
                      <a:r>
                        <a:rPr sz="1500" b="1" i="0">
                          <a:solidFill>
                            <a:srgbClr val="FFFFFF"/>
                          </a:solidFill>
                          <a:latin typeface="Arial"/>
                        </a:rPr>
                        <a:t>Meter (East US 2, USD list)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Unit price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About per month</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Note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Basic v2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$0.20548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$150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 inbound private endpoint</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Standard v2 unit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$0.9589 per hour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$700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Calls: $0.025 per 10K after included tier</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Standard v2 secondary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$0.68493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$500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Scale-out unit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Premium v2 unit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$3.83562 per hour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$2,800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 zones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Premium (classic)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$3.829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$2,795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Built-in multi-region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Gateway tier requests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$0.00 per 10K (listed)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Unknown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Pricing to be announced; not free</a:t>
                      </a:r>
                    </a:p>
                  </a:txBody>
                  <a:tcPr marL="73152" marR="73152" marT="36576" marB="36576" anchor="ctr">
                    <a:solidFill>
                      <a:srgbClr val="F5F5F2"/>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Synthetic budget mechanics, kept apart from prices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SYNTHETIC EXAMPLE"/>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SYNTHETIC EXAMPLE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sp>
        <p:nvSpPr>
          <p:cNvPr id="9" name="Rounded Rectangle 8"/>
          <p:cNvSpPr/>
          <p:nvPr/>
        </p:nvSpPr>
        <p:spPr>
          <a:xfrm>
            <a:off x="548640" y="1325880"/>
            <a:ext cx="11091672" cy="457200"/>
          </a:xfrm>
          <a:prstGeom prst="roundRect">
            <a:avLst>
              <a:gd name="adj" fmla="val 160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8A4B08"/>
                </a:solidFill>
                <a:latin typeface="Arial"/>
              </a:rPr>
              <a:t>SYNTHETIC  ·  round planning inputs  ·  not Azure prices, not a quote, not a customer forecast</a:t>
            </a:r>
          </a:p>
        </p:txBody>
      </p:sp>
      <p:graphicFrame>
        <p:nvGraphicFramePr>
          <p:cNvPr id="10" name="Chart"/>
          <p:cNvGraphicFramePr>
            <a:graphicFrameLocks noGrp="1"/>
          </p:cNvGraphicFramePr>
          <p:nvPr/>
        </p:nvGraphicFramePr>
        <p:xfrm>
          <a:off x="548640" y="1920240"/>
          <a:ext cx="6675120" cy="3749039"/>
        </p:xfrm>
        <a:graphic>
          <a:graphicData uri="http://schemas.openxmlformats.org/drawingml/2006/chart">
            <c:chart xmlns:c="http://schemas.openxmlformats.org/drawingml/2006/chart" r:id="rId4"/>
          </a:graphicData>
        </a:graphic>
      </p:graphicFrame>
      <p:sp>
        <p:nvSpPr>
          <p:cNvPr id="11" name="Rounded Rectangle 10"/>
          <p:cNvSpPr/>
          <p:nvPr/>
        </p:nvSpPr>
        <p:spPr>
          <a:xfrm>
            <a:off x="7589520" y="1920240"/>
            <a:ext cx="4050791" cy="3749039"/>
          </a:xfrm>
          <a:prstGeom prst="roundRect">
            <a:avLst>
              <a:gd name="adj" fmla="val 195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r>
              <a:rPr sz="3600" b="1" i="0">
                <a:solidFill>
                  <a:srgbClr val="000048"/>
                </a:solidFill>
                <a:latin typeface="Arial"/>
              </a:rPr>
              <a:t>$4,000</a:t>
            </a:r>
          </a:p>
          <a:p>
            <a:pPr algn="l">
              <a:spcAft>
                <a:spcPts val="1400"/>
              </a:spcAft>
            </a:pPr>
            <a:r>
              <a:rPr sz="1400" b="0" i="0">
                <a:solidFill>
                  <a:srgbClr val="53565A"/>
                </a:solidFill>
                <a:latin typeface="Arial"/>
              </a:rPr>
              <a:t>synthetic monthly total</a:t>
            </a:r>
          </a:p>
          <a:p>
            <a:pPr algn="l"/>
            <a:r>
              <a:rPr sz="1500" b="1" i="0">
                <a:solidFill>
                  <a:srgbClr val="000048"/>
                </a:solidFill>
                <a:latin typeface="Arial"/>
              </a:rPr>
              <a:t>What it shows: </a:t>
            </a:r>
            <a:r>
              <a:rPr sz="1500" b="0" i="0">
                <a:solidFill>
                  <a:srgbClr val="1E1E2E"/>
                </a:solidFill>
                <a:latin typeface="Arial"/>
              </a:rPr>
              <a:t>model consumption can outweigh the gateway itself. Gateway cost is fixed; model cost moves with traffic.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Policy register is a delivery artefact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8" name="Table"/>
          <p:cNvGraphicFramePr>
            <a:graphicFrameLocks noGrp="1"/>
          </p:cNvGraphicFramePr>
          <p:nvPr/>
        </p:nvGraphicFramePr>
        <p:xfrm>
          <a:off x="548640" y="1371600"/>
          <a:ext cx="11091672" cy="2087880"/>
        </p:xfrm>
        <a:graphic>
          <a:graphicData uri="http://schemas.openxmlformats.org/drawingml/2006/table">
            <a:tbl>
              <a:tblPr firstRow="1" bandRow="0">
                <a:tableStyleId>{5C22544A-7EE6-4342-B048-85BDC9FD1C3A}</a:tableStyleId>
              </a:tblPr>
              <a:tblGrid>
                <a:gridCol w="3657600"/>
                <a:gridCol w="7434072"/>
              </a:tblGrid>
              <a:tr h="335280">
                <a:tc>
                  <a:txBody>
                    <a:bodyPr wrap="square" anchor="ctr">
                      <a:noAutofit/>
                    </a:bodyPr>
                    <a:lstStyle/>
                    <a:p>
                      <a:pPr algn="l"/>
                      <a:r>
                        <a:rPr sz="1600" b="1" i="0">
                          <a:solidFill>
                            <a:srgbClr val="FFFFFF"/>
                          </a:solidFill>
                          <a:latin typeface="Arial"/>
                        </a:rPr>
                        <a:t>Policy record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Required evidence</a:t>
                      </a:r>
                    </a:p>
                  </a:txBody>
                  <a:tcPr marL="73152" marR="73152" marT="36576" marB="36576" anchor="ctr">
                    <a:solidFill>
                      <a:srgbClr val="000048"/>
                    </a:solidFill>
                  </a:tcPr>
                </a:tc>
              </a:tr>
              <a:tr h="350520">
                <a:tc>
                  <a:txBody>
                    <a:bodyPr wrap="square" anchor="ctr">
                      <a:noAutofit/>
                    </a:bodyPr>
                    <a:lstStyle/>
                    <a:p>
                      <a:pPr algn="l"/>
                      <a:r>
                        <a:rPr sz="1700" b="1" i="0">
                          <a:solidFill>
                            <a:srgbClr val="1E1E2E"/>
                          </a:solidFill>
                          <a:latin typeface="Arial"/>
                        </a:rPr>
                        <a:t>Identity and counter key</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Trusted claim mapping and negative tests</a:t>
                      </a:r>
                    </a:p>
                  </a:txBody>
                  <a:tcPr marL="73152" marR="73152" marT="36576" marB="36576" anchor="ctr">
                    <a:solidFill>
                      <a:srgbClr val="FFFFFF"/>
                    </a:solidFill>
                  </a:tcPr>
                </a:tc>
              </a:tr>
              <a:tr h="350520">
                <a:tc>
                  <a:txBody>
                    <a:bodyPr wrap="square" anchor="ctr">
                      <a:noAutofit/>
                    </a:bodyPr>
                    <a:lstStyle/>
                    <a:p>
                      <a:pPr algn="l"/>
                      <a:r>
                        <a:rPr sz="1700" b="1" i="0">
                          <a:solidFill>
                            <a:srgbClr val="1E1E2E"/>
                          </a:solidFill>
                          <a:latin typeface="Arial"/>
                        </a:rPr>
                        <a:t>Token and request limits</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Thresholds, scope and concurrency tests</a:t>
                      </a:r>
                    </a:p>
                  </a:txBody>
                  <a:tcPr marL="73152" marR="73152" marT="36576" marB="36576" anchor="ctr">
                    <a:solidFill>
                      <a:srgbClr val="F5F5F2"/>
                    </a:solidFill>
                  </a:tcPr>
                </a:tc>
              </a:tr>
              <a:tr h="350520">
                <a:tc>
                  <a:txBody>
                    <a:bodyPr wrap="square" anchor="ctr">
                      <a:noAutofit/>
                    </a:bodyPr>
                    <a:lstStyle/>
                    <a:p>
                      <a:pPr algn="l"/>
                      <a:r>
                        <a:rPr sz="1700" b="1" i="0">
                          <a:solidFill>
                            <a:srgbClr val="1E1E2E"/>
                          </a:solidFill>
                          <a:latin typeface="Arial"/>
                        </a:rPr>
                        <a:t>Content safety</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Categories, thresholds, API support and failure behaviour</a:t>
                      </a:r>
                    </a:p>
                  </a:txBody>
                  <a:tcPr marL="73152" marR="73152" marT="36576" marB="36576" anchor="ctr">
                    <a:solidFill>
                      <a:srgbClr val="FFFFFF"/>
                    </a:solidFill>
                  </a:tcPr>
                </a:tc>
              </a:tr>
              <a:tr h="350520">
                <a:tc>
                  <a:txBody>
                    <a:bodyPr wrap="square" anchor="ctr">
                      <a:noAutofit/>
                    </a:bodyPr>
                    <a:lstStyle/>
                    <a:p>
                      <a:pPr algn="l"/>
                      <a:r>
                        <a:rPr sz="1700" b="1" i="0">
                          <a:solidFill>
                            <a:srgbClr val="1E1E2E"/>
                          </a:solidFill>
                          <a:latin typeface="Arial"/>
                        </a:rPr>
                        <a:t>Routing and cache</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Residency, isolation and invalidation tests</a:t>
                      </a:r>
                    </a:p>
                  </a:txBody>
                  <a:tcPr marL="73152" marR="73152" marT="36576" marB="36576" anchor="ctr">
                    <a:solidFill>
                      <a:srgbClr val="F5F5F2"/>
                    </a:solidFill>
                  </a:tcPr>
                </a:tc>
              </a:tr>
              <a:tr h="350520">
                <a:tc>
                  <a:txBody>
                    <a:bodyPr wrap="square" anchor="ctr">
                      <a:noAutofit/>
                    </a:bodyPr>
                    <a:lstStyle/>
                    <a:p>
                      <a:pPr algn="l"/>
                      <a:r>
                        <a:rPr sz="1700" b="1" i="0">
                          <a:solidFill>
                            <a:srgbClr val="1E1E2E"/>
                          </a:solidFill>
                          <a:latin typeface="Arial"/>
                        </a:rPr>
                        <a:t>Logging</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Redaction, retention and access checks</a:t>
                      </a:r>
                    </a:p>
                  </a:txBody>
                  <a:tcPr marL="73152" marR="73152" marT="36576" marB="36576" anchor="ct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Acceptance requires demonstrable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71600"/>
          <a:ext cx="11091672" cy="2255520"/>
        </p:xfrm>
        <a:graphic>
          <a:graphicData uri="http://schemas.openxmlformats.org/drawingml/2006/table">
            <a:tbl>
              <a:tblPr firstRow="1" bandRow="0">
                <a:tableStyleId>{5C22544A-7EE6-4342-B048-85BDC9FD1C3A}</a:tableStyleId>
              </a:tblPr>
              <a:tblGrid>
                <a:gridCol w="2194560"/>
                <a:gridCol w="5852160"/>
                <a:gridCol w="3044952"/>
              </a:tblGrid>
              <a:tr h="335280">
                <a:tc>
                  <a:txBody>
                    <a:bodyPr wrap="square" anchor="ctr">
                      <a:noAutofit/>
                    </a:bodyPr>
                    <a:lstStyle/>
                    <a:p>
                      <a:pPr algn="l"/>
                      <a:r>
                        <a:rPr sz="16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Approver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Access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Unauthorised and bypass calls denied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Budgets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Rate and quota tests pass; overshoot measured and accepted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Resilience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Fallback stays inside approved boundary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architecture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Safety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Thresholds tested; failure behaviour agreed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Telemetry, rollback and runbooks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Ingress enforcement point: reject quarantined agent IDs before work starts</a:t>
            </a:r>
          </a:p>
          <a:p>
            <a:pPr algn="l" marL="201168" indent="-201168">
              <a:spcAft>
                <a:spcPts val="600"/>
              </a:spcAft>
              <a:buFont typeface="Arial"/>
              <a:buChar char="•"/>
            </a:pPr>
            <a:r>
              <a:rPr sz="1800" b="0" i="0">
                <a:solidFill>
                  <a:srgbClr val="1E1E2E"/>
                </a:solidFill>
                <a:latin typeface="Arial"/>
              </a:rPr>
              <a:t>Outbound enforcement point: deny model and tool calls for quarantined scopes</a:t>
            </a:r>
          </a:p>
          <a:p>
            <a:pPr algn="l" marL="201168" indent="-201168">
              <a:spcAft>
                <a:spcPts val="600"/>
              </a:spcAft>
              <a:buFont typeface="Arial"/>
              <a:buChar char="•"/>
            </a:pPr>
            <a:r>
              <a:rPr sz="1800" b="0" i="0">
                <a:solidFill>
                  <a:srgbClr val="1E1E2E"/>
                </a:solidFill>
                <a:latin typeface="Arial"/>
              </a:rPr>
              <a:t>Per-agent token metrics that show whether containment worked</a:t>
            </a:r>
          </a:p>
          <a:p>
            <a:pPr algn="l" marL="201168" indent="-201168">
              <a:spcAft>
                <a:spcPts val="600"/>
              </a:spcAft>
              <a:buFont typeface="Arial"/>
              <a:buChar char="•"/>
            </a:pPr>
            <a:r>
              <a:rPr sz="1800" b="0" i="0">
                <a:solidFill>
                  <a:srgbClr val="1E1E2E"/>
                </a:solidFill>
                <a:latin typeface="Arial"/>
              </a:rPr>
              <a:t>A circuit breaker is not a kill switch: it protects backends, not the agent scope</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Full architecture, limits and tests: deck 02 (Agent Governance) and deck 05 (Managed Operations).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Gateway design, build, policies, tests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identity and safety; AI routing; DevOps CI/CD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Gateway operation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APIs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APIM units, logs, private endpoints, Content Safety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Units x hours; GB; calls (appendix A19)</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Traffic routed through the gateway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or PTU x hours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Volumes (AI); PTU reservation price (Microsoft)</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for self-hosted backends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See offering 04</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 unless selected</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Gateway design and integrated plan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Identity and safety policy requirements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API contracts and model routing choice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APIM build, network, private endpoints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Policy CI/CD and rollback</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Load, bypass and failover testing</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Gateway operations and health</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Agent containment via gateway</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Recovery of gateway service</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Budget and cost allocation rules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37744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Gateway platform, network and policies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$110,000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Identity and safety design review</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$25,000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API contracts and routing tests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$30,000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Policy pipelines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DevOps</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$20,000</a:t>
                      </a:r>
                    </a:p>
                  </a:txBody>
                  <a:tcPr marL="73152" marR="73152" marT="36576" marB="36576" anchor="ctr">
                    <a:solidFill>
                      <a:srgbClr val="F5F5F2"/>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r"/>
                      <a:r>
                        <a:rPr sz="1200" b="1" i="0">
                          <a:solidFill>
                            <a:srgbClr val="000048"/>
                          </a:solidFill>
                          <a:latin typeface="Arial"/>
                        </a:rPr>
                        <a:t>$185,000</a:t>
                      </a:r>
                    </a:p>
                  </a:txBody>
                  <a:tcPr marL="73152" marR="73152" marT="36576" marB="36576" anchor="ctr">
                    <a:solidFill>
                      <a:srgbClr val="FFFFFF"/>
                    </a:solidFill>
                  </a:tcPr>
                </a:tc>
              </a:tr>
            </a:tbl>
          </a:graphicData>
        </a:graphic>
      </p:graphicFrame>
      <p:sp>
        <p:nvSpPr>
          <p:cNvPr id="16" name="TextBox 15"/>
          <p:cNvSpPr txBox="1"/>
          <p:nvPr/>
        </p:nvSpPr>
        <p:spPr>
          <a:xfrm>
            <a:off x="6629400" y="416052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Several consumers or agents, named API owner, approved models and regions, landing zone network</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Consumers, models, tools, identities, traffic shape, regions, existing APIM</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Gateway, network, policies, policy register, dashboards, tests, runbooks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Agreed APIs, policies and regions; tool-side authorisation by tool owners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01 network, Security identity design, AI routing, DevOps CI/CD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Discover, design, build, prove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49936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Appendix A22 gates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API ownership, budget rules, approval of overflow and regions</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Role days per work package; Azure meters separate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New region, tier change, new API classes, caching, multi-region gateway</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05 or customer API platform team</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Gateway coverage, bypass tests, measured overshoot, attribution</a:t>
                      </a:r>
                    </a:p>
                  </a:txBody>
                  <a:tcPr marL="73152" marR="73152" marT="36576" marB="36576" anchor="ctr">
                    <a:solidFill>
                      <a:srgbClr val="F5F5F2"/>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2" cy="19202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Production on GA tiers; AI Gateway tier as pilot only</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Architecture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Preview status (A16)</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Counter key derived from validated identity</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Identity design</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Tier and region per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quote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Region snapshot recheck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Overflow budget and alerts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budget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PAYG share forecast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Hard currency cap needed or not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budget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Overshoot test results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Sell rates and attribution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5F5F2"/>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gateway conceptual architecture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pic>
        <p:nvPicPr>
          <p:cNvPr id="9" name="Original reference image: 38_foundry-gateway-conceptual-architecture.png" descr="38_foundry-gateway-conceptual-architecture.png"/>
          <p:cNvPicPr>
            <a:picLocks noChangeAspect="1"/>
          </p:cNvPicPr>
          <p:nvPr/>
        </p:nvPicPr>
        <p:blipFill>
          <a:blip r:embed="rId4"/>
          <a:stretch>
            <a:fillRect/>
          </a:stretch>
        </p:blipFill>
        <p:spPr>
          <a:xfrm>
            <a:off x="2351273" y="1280160"/>
            <a:ext cx="7486404"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38_foundry-gateway-conceptual-architecture.png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Conceptual functions; queuing and compute may need services beyond one API Management tier.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Historical reference: legacy identity diagram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O2</a:t>
            </a:r>
          </a:p>
        </p:txBody>
      </p:sp>
      <p:sp>
        <p:nvSpPr>
          <p:cNvPr id="5" name="Status chip: HISTORICAL, LEGACY LABELS"/>
          <p:cNvSpPr/>
          <p:nvPr/>
        </p:nvSpPr>
        <p:spPr>
          <a:xfrm>
            <a:off x="1898650" y="274320"/>
            <a:ext cx="2433320"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53565A"/>
                </a:solidFill>
                <a:latin typeface="Arial"/>
              </a:rPr>
              <a:t>HISTORICAL, LEGACY LABELS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pic>
        <p:nvPicPr>
          <p:cNvPr id="9" name="Original reference image: 44_azure-openai-gateway-identity-solution-combined.png" descr="44_azure-openai-gateway-identity-solution-combined.png"/>
          <p:cNvPicPr>
            <a:picLocks noChangeAspect="1"/>
          </p:cNvPicPr>
          <p:nvPr/>
        </p:nvPicPr>
        <p:blipFill>
          <a:blip r:embed="rId4"/>
          <a:stretch>
            <a:fillRect/>
          </a:stretch>
        </p:blipFill>
        <p:spPr>
          <a:xfrm>
            <a:off x="2709582" y="1280160"/>
            <a:ext cx="6769787"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44_azure-openai-gateway-identity-solution-combined.png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8A4B08"/>
                </a:solidFill>
                <a:latin typeface="Arial"/>
              </a:rPr>
              <a:t>HISTORICAL: legacy gpt-35-turbo and Azure OpenAI labels. Do not use in proposals; use appendix A3.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one gateway, regional backends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O3</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pic>
        <p:nvPicPr>
          <p:cNvPr id="9" name="Original reference image: 20_multiple-regions-api-management-single-after.png" descr="20_multiple-regions-api-management-single-after.png"/>
          <p:cNvPicPr>
            <a:picLocks noChangeAspect="1"/>
          </p:cNvPicPr>
          <p:nvPr/>
        </p:nvPicPr>
        <p:blipFill>
          <a:blip r:embed="rId4"/>
          <a:stretch>
            <a:fillRect/>
          </a:stretch>
        </p:blipFill>
        <p:spPr>
          <a:xfrm>
            <a:off x="891855" y="1280160"/>
            <a:ext cx="1040524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20_multiple-regions-api-management-single-after.png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labels "rt-foundry-westus" appear to mean resource group; backend failover keeps one gateway failure domain.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multi-region gateway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O4</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pic>
        <p:nvPicPr>
          <p:cNvPr id="9" name="Original reference image: 21_multiple-regions-api-management-multiple-after.png" descr="21_multiple-regions-api-management-multiple-after.png"/>
          <p:cNvPicPr>
            <a:picLocks noChangeAspect="1"/>
          </p:cNvPicPr>
          <p:nvPr/>
        </p:nvPicPr>
        <p:blipFill>
          <a:blip r:embed="rId4"/>
          <a:stretch>
            <a:fillRect/>
          </a:stretch>
        </p:blipFill>
        <p:spPr>
          <a:xfrm>
            <a:off x="1448734" y="1280160"/>
            <a:ext cx="9291483"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21_multiple-regions-api-management-multiple-after.png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Built-in multi-region API Management needs Premium (classic).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Low-resolution source images kept for traceability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O5</a:t>
            </a:r>
          </a:p>
        </p:txBody>
      </p:sp>
      <p:sp>
        <p:nvSpPr>
          <p:cNvPr id="5" name="Status chip: ORIGINALS, NOT FOR PRESENTATION"/>
          <p:cNvSpPr/>
          <p:nvPr/>
        </p:nvSpPr>
        <p:spPr>
          <a:xfrm>
            <a:off x="1898650" y="274320"/>
            <a:ext cx="2951480"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53565A"/>
                </a:solidFill>
                <a:latin typeface="Arial"/>
              </a:rPr>
              <a:t>ORIGINALS, NOT FOR PRESENTATION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9"/>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pic>
        <p:nvPicPr>
          <p:cNvPr id="9" name="Picture 8" descr="29_token-rate-limiting.png"/>
          <p:cNvPicPr>
            <a:picLocks noChangeAspect="1"/>
          </p:cNvPicPr>
          <p:nvPr/>
        </p:nvPicPr>
        <p:blipFill>
          <a:blip r:embed="rId4"/>
          <a:stretch>
            <a:fillRect/>
          </a:stretch>
        </p:blipFill>
        <p:spPr>
          <a:xfrm>
            <a:off x="548640" y="1325880"/>
            <a:ext cx="3566160" cy="1739161"/>
          </a:xfrm>
          <a:prstGeom prst="rect">
            <a:avLst/>
          </a:prstGeom>
        </p:spPr>
      </p:pic>
      <p:sp>
        <p:nvSpPr>
          <p:cNvPr id="10" name="TextBox 9"/>
          <p:cNvSpPr txBox="1"/>
          <p:nvPr/>
        </p:nvSpPr>
        <p:spPr>
          <a:xfrm>
            <a:off x="548640" y="3092473"/>
            <a:ext cx="3566160" cy="256032"/>
          </a:xfrm>
          <a:prstGeom prst="rect">
            <a:avLst/>
          </a:prstGeom>
          <a:noFill/>
        </p:spPr>
        <p:txBody>
          <a:bodyPr wrap="square" lIns="0" rIns="0" tIns="0" bIns="0" anchor="t">
            <a:noAutofit/>
          </a:bodyPr>
          <a:lstStyle/>
          <a:p>
            <a:pPr algn="l"/>
            <a:r>
              <a:rPr sz="1000" b="0" i="0">
                <a:solidFill>
                  <a:srgbClr val="53565A"/>
                </a:solidFill>
                <a:latin typeface="Arial"/>
              </a:rPr>
              <a:t>29_token-rate-limiting.png</a:t>
            </a:r>
          </a:p>
        </p:txBody>
      </p:sp>
      <p:pic>
        <p:nvPicPr>
          <p:cNvPr id="11" name="Picture 10" descr="31_content-safety.png"/>
          <p:cNvPicPr>
            <a:picLocks noChangeAspect="1"/>
          </p:cNvPicPr>
          <p:nvPr/>
        </p:nvPicPr>
        <p:blipFill>
          <a:blip r:embed="rId5"/>
          <a:stretch>
            <a:fillRect/>
          </a:stretch>
        </p:blipFill>
        <p:spPr>
          <a:xfrm>
            <a:off x="4343400" y="1325880"/>
            <a:ext cx="3566160" cy="1903480"/>
          </a:xfrm>
          <a:prstGeom prst="rect">
            <a:avLst/>
          </a:prstGeom>
        </p:spPr>
      </p:pic>
      <p:sp>
        <p:nvSpPr>
          <p:cNvPr id="12" name="TextBox 11"/>
          <p:cNvSpPr txBox="1"/>
          <p:nvPr/>
        </p:nvSpPr>
        <p:spPr>
          <a:xfrm>
            <a:off x="4343400" y="3256792"/>
            <a:ext cx="3566160" cy="256032"/>
          </a:xfrm>
          <a:prstGeom prst="rect">
            <a:avLst/>
          </a:prstGeom>
          <a:noFill/>
        </p:spPr>
        <p:txBody>
          <a:bodyPr wrap="square" lIns="0" rIns="0" tIns="0" bIns="0" anchor="t">
            <a:noAutofit/>
          </a:bodyPr>
          <a:lstStyle/>
          <a:p>
            <a:pPr algn="l"/>
            <a:r>
              <a:rPr sz="1000" b="0" i="0">
                <a:solidFill>
                  <a:srgbClr val="53565A"/>
                </a:solidFill>
                <a:latin typeface="Arial"/>
              </a:rPr>
              <a:t>31_content-safety.png</a:t>
            </a:r>
          </a:p>
        </p:txBody>
      </p:sp>
      <p:pic>
        <p:nvPicPr>
          <p:cNvPr id="13" name="Picture 12" descr="32_backend-load-balancing.png"/>
          <p:cNvPicPr>
            <a:picLocks noChangeAspect="1"/>
          </p:cNvPicPr>
          <p:nvPr/>
        </p:nvPicPr>
        <p:blipFill>
          <a:blip r:embed="rId6"/>
          <a:stretch>
            <a:fillRect/>
          </a:stretch>
        </p:blipFill>
        <p:spPr>
          <a:xfrm>
            <a:off x="8138160" y="1325880"/>
            <a:ext cx="3375046" cy="2011680"/>
          </a:xfrm>
          <a:prstGeom prst="rect">
            <a:avLst/>
          </a:prstGeom>
        </p:spPr>
      </p:pic>
      <p:sp>
        <p:nvSpPr>
          <p:cNvPr id="14" name="TextBox 13"/>
          <p:cNvSpPr txBox="1"/>
          <p:nvPr/>
        </p:nvSpPr>
        <p:spPr>
          <a:xfrm>
            <a:off x="8138160" y="3364992"/>
            <a:ext cx="3566160" cy="256032"/>
          </a:xfrm>
          <a:prstGeom prst="rect">
            <a:avLst/>
          </a:prstGeom>
          <a:noFill/>
        </p:spPr>
        <p:txBody>
          <a:bodyPr wrap="square" lIns="0" rIns="0" tIns="0" bIns="0" anchor="t">
            <a:noAutofit/>
          </a:bodyPr>
          <a:lstStyle/>
          <a:p>
            <a:pPr algn="l"/>
            <a:r>
              <a:rPr sz="1000" b="0" i="0">
                <a:solidFill>
                  <a:srgbClr val="53565A"/>
                </a:solidFill>
                <a:latin typeface="Arial"/>
              </a:rPr>
              <a:t>32_backend-load-balancing.png</a:t>
            </a:r>
          </a:p>
        </p:txBody>
      </p:sp>
      <p:pic>
        <p:nvPicPr>
          <p:cNvPr id="15" name="Picture 14" descr="33_backend-circuit-breaker.png"/>
          <p:cNvPicPr>
            <a:picLocks noChangeAspect="1"/>
          </p:cNvPicPr>
          <p:nvPr/>
        </p:nvPicPr>
        <p:blipFill>
          <a:blip r:embed="rId7"/>
          <a:stretch>
            <a:fillRect/>
          </a:stretch>
        </p:blipFill>
        <p:spPr>
          <a:xfrm>
            <a:off x="548640" y="3749039"/>
            <a:ext cx="3566160" cy="1261872"/>
          </a:xfrm>
          <a:prstGeom prst="rect">
            <a:avLst/>
          </a:prstGeom>
        </p:spPr>
      </p:pic>
      <p:sp>
        <p:nvSpPr>
          <p:cNvPr id="16" name="TextBox 15"/>
          <p:cNvSpPr txBox="1"/>
          <p:nvPr/>
        </p:nvSpPr>
        <p:spPr>
          <a:xfrm>
            <a:off x="548640" y="5038344"/>
            <a:ext cx="3566160" cy="256032"/>
          </a:xfrm>
          <a:prstGeom prst="rect">
            <a:avLst/>
          </a:prstGeom>
          <a:noFill/>
        </p:spPr>
        <p:txBody>
          <a:bodyPr wrap="square" lIns="0" rIns="0" tIns="0" bIns="0" anchor="t">
            <a:noAutofit/>
          </a:bodyPr>
          <a:lstStyle/>
          <a:p>
            <a:pPr algn="l"/>
            <a:r>
              <a:rPr sz="1000" b="0" i="0">
                <a:solidFill>
                  <a:srgbClr val="53565A"/>
                </a:solidFill>
                <a:latin typeface="Arial"/>
              </a:rPr>
              <a:t>33_backend-circuit-breaker.png</a:t>
            </a:r>
          </a:p>
        </p:txBody>
      </p:sp>
      <p:pic>
        <p:nvPicPr>
          <p:cNvPr id="17" name="Picture 16" descr="34_emit-token-metrics.png"/>
          <p:cNvPicPr>
            <a:picLocks noChangeAspect="1"/>
          </p:cNvPicPr>
          <p:nvPr/>
        </p:nvPicPr>
        <p:blipFill>
          <a:blip r:embed="rId8"/>
          <a:stretch>
            <a:fillRect/>
          </a:stretch>
        </p:blipFill>
        <p:spPr>
          <a:xfrm>
            <a:off x="4343400" y="3749039"/>
            <a:ext cx="3566160" cy="1599490"/>
          </a:xfrm>
          <a:prstGeom prst="rect">
            <a:avLst/>
          </a:prstGeom>
        </p:spPr>
      </p:pic>
      <p:sp>
        <p:nvSpPr>
          <p:cNvPr id="18" name="TextBox 17"/>
          <p:cNvSpPr txBox="1"/>
          <p:nvPr/>
        </p:nvSpPr>
        <p:spPr>
          <a:xfrm>
            <a:off x="4343400" y="5375962"/>
            <a:ext cx="3566160" cy="256032"/>
          </a:xfrm>
          <a:prstGeom prst="rect">
            <a:avLst/>
          </a:prstGeom>
          <a:noFill/>
        </p:spPr>
        <p:txBody>
          <a:bodyPr wrap="square" lIns="0" rIns="0" tIns="0" bIns="0" anchor="t">
            <a:noAutofit/>
          </a:bodyPr>
          <a:lstStyle/>
          <a:p>
            <a:pPr algn="l"/>
            <a:r>
              <a:rPr sz="1000" b="0" i="0">
                <a:solidFill>
                  <a:srgbClr val="53565A"/>
                </a:solidFill>
                <a:latin typeface="Arial"/>
              </a:rPr>
              <a:t>34_emit-token-metrics.png</a:t>
            </a:r>
          </a:p>
        </p:txBody>
      </p:sp>
      <p:sp>
        <p:nvSpPr>
          <p:cNvPr id="19" name="TextBox 18"/>
          <p:cNvSpPr txBox="1"/>
          <p:nvPr/>
        </p:nvSpPr>
        <p:spPr>
          <a:xfrm>
            <a:off x="8138160" y="3749039"/>
            <a:ext cx="3520440" cy="1828800"/>
          </a:xfrm>
          <a:prstGeom prst="rect">
            <a:avLst/>
          </a:prstGeom>
          <a:noFill/>
        </p:spPr>
        <p:txBody>
          <a:bodyPr wrap="square" lIns="0" rIns="0" tIns="0" bIns="0" anchor="t">
            <a:noAutofit/>
          </a:bodyPr>
          <a:lstStyle/>
          <a:p>
            <a:pPr algn="l"/>
            <a:r>
              <a:rPr sz="1500" b="0" i="0">
                <a:solidFill>
                  <a:srgbClr val="000048"/>
                </a:solidFill>
                <a:latin typeface="Arial"/>
              </a:rPr>
              <a:t>Rebuilt as editable diagrams with official Azure icons: A5, A8, A9, A11, A13.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11 Oct 2026  ·  Working proposal, not approved terms</a:t>
            </a:r>
          </a:p>
        </p:txBody>
      </p:sp>
      <p:sp>
        <p:nvSpPr>
          <p:cNvPr id="7" name="IndexLink">
            <a:hlinkClick action="ppaction://hlinksldjump" r:id="rId1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300" b="1" i="0">
                <a:solidFill>
                  <a:srgbClr val="000048"/>
                </a:solidFill>
                <a:latin typeface="Arial"/>
              </a:rPr>
              <a:t>AI gateway capabilities in API Management:  </a:t>
            </a:r>
            <a:r>
              <a:rPr sz="1300" b="0" i="0">
                <a:solidFill>
                  <a:srgbClr val="2F78C4"/>
                </a:solidFill>
                <a:latin typeface="Arial"/>
                <a:hlinkClick r:id="rId4"/>
              </a:rPr>
              <a:t>https://learn.microsoft.com/en-us/azure/api-management/genai-gateway-capabilities</a:t>
            </a:r>
          </a:p>
          <a:p>
            <a:pPr algn="l">
              <a:spcAft>
                <a:spcPts val="300"/>
              </a:spcAft>
            </a:pPr>
            <a:r>
              <a:rPr sz="1300" b="1" i="0">
                <a:solidFill>
                  <a:srgbClr val="000048"/>
                </a:solidFill>
                <a:latin typeface="Arial"/>
              </a:rPr>
              <a:t>APIM llm-token-limit policy:  </a:t>
            </a:r>
            <a:r>
              <a:rPr sz="1300" b="0" i="0">
                <a:solidFill>
                  <a:srgbClr val="2F78C4"/>
                </a:solidFill>
                <a:latin typeface="Arial"/>
                <a:hlinkClick r:id="rId5"/>
              </a:rPr>
              <a:t>https://learn.microsoft.com/en-us/azure/api-management/llm-token-limit-policy</a:t>
            </a:r>
          </a:p>
          <a:p>
            <a:pPr algn="l">
              <a:spcAft>
                <a:spcPts val="300"/>
              </a:spcAft>
            </a:pPr>
            <a:r>
              <a:rPr sz="1300" b="1" i="0">
                <a:solidFill>
                  <a:srgbClr val="000048"/>
                </a:solidFill>
                <a:latin typeface="Arial"/>
              </a:rPr>
              <a:t>APIM llm-content-safety policy:  </a:t>
            </a:r>
            <a:r>
              <a:rPr sz="1300" b="0" i="0">
                <a:solidFill>
                  <a:srgbClr val="2F78C4"/>
                </a:solidFill>
                <a:latin typeface="Arial"/>
                <a:hlinkClick r:id="rId6"/>
              </a:rPr>
              <a:t>https://learn.microsoft.com/en-us/azure/api-management/llm-content-safety-policy</a:t>
            </a:r>
          </a:p>
          <a:p>
            <a:pPr algn="l">
              <a:spcAft>
                <a:spcPts val="300"/>
              </a:spcAft>
            </a:pPr>
            <a:r>
              <a:rPr sz="1300" b="1" i="0">
                <a:solidFill>
                  <a:srgbClr val="000048"/>
                </a:solidFill>
                <a:latin typeface="Arial"/>
              </a:rPr>
              <a:t>AI Gateway tier (preview) overview:  </a:t>
            </a:r>
            <a:r>
              <a:rPr sz="1300" b="0" i="0">
                <a:solidFill>
                  <a:srgbClr val="2F78C4"/>
                </a:solidFill>
                <a:latin typeface="Arial"/>
                <a:hlinkClick r:id="rId7"/>
              </a:rPr>
              <a:t>https://learn.microsoft.com/en-us/azure/api-management/ai-gateway-overview</a:t>
            </a:r>
          </a:p>
          <a:p>
            <a:pPr algn="l">
              <a:spcAft>
                <a:spcPts val="300"/>
              </a:spcAft>
            </a:pPr>
            <a:r>
              <a:rPr sz="1300" b="1" i="0">
                <a:solidFill>
                  <a:srgbClr val="000048"/>
                </a:solidFill>
                <a:latin typeface="Arial"/>
              </a:rPr>
              <a:t>API Management feature comparison by tier:  </a:t>
            </a:r>
            <a:r>
              <a:rPr sz="1300" b="0" i="0">
                <a:solidFill>
                  <a:srgbClr val="2F78C4"/>
                </a:solidFill>
                <a:latin typeface="Arial"/>
                <a:hlinkClick r:id="rId8"/>
              </a:rPr>
              <a:t>https://learn.microsoft.com/en-us/azure/api-management/api-management-features</a:t>
            </a:r>
          </a:p>
          <a:p>
            <a:pPr algn="l">
              <a:spcAft>
                <a:spcPts val="300"/>
              </a:spcAft>
            </a:pPr>
            <a:r>
              <a:rPr sz="1300" b="1" i="0">
                <a:solidFill>
                  <a:srgbClr val="000048"/>
                </a:solidFill>
                <a:latin typeface="Arial"/>
              </a:rPr>
              <a:t>API Management v2 tier region availability:  </a:t>
            </a:r>
            <a:r>
              <a:rPr sz="1300" b="0" i="0">
                <a:solidFill>
                  <a:srgbClr val="2F78C4"/>
                </a:solidFill>
                <a:latin typeface="Arial"/>
                <a:hlinkClick r:id="rId9"/>
              </a:rPr>
              <a:t>https://learn.microsoft.com/en-us/azure/api-management/api-management-region-availability</a:t>
            </a:r>
          </a:p>
          <a:p>
            <a:pPr algn="l">
              <a:spcAft>
                <a:spcPts val="300"/>
              </a:spcAft>
            </a:pPr>
            <a:r>
              <a:rPr sz="1300" b="1" i="0">
                <a:solidFill>
                  <a:srgbClr val="000048"/>
                </a:solidFill>
                <a:latin typeface="Arial"/>
              </a:rPr>
              <a:t>Azure Retail Prices API: API Management, East US 2:  </a:t>
            </a:r>
            <a:r>
              <a:rPr sz="1300" b="0" i="0">
                <a:solidFill>
                  <a:srgbClr val="2F78C4"/>
                </a:solidFill>
                <a:latin typeface="Arial"/>
                <a:hlinkClick r:id="rId10"/>
              </a:rPr>
              <a:t>https://prices.azure.com/api/retail/prices?$filter=serviceName eq 'API Management' and armRegionName eq 'eastus2'</a:t>
            </a:r>
          </a:p>
          <a:p>
            <a:pPr algn="l">
              <a:spcAft>
                <a:spcPts val="300"/>
              </a:spcAft>
            </a:pPr>
            <a:r>
              <a:rPr sz="1300" b="1" i="0">
                <a:solidFill>
                  <a:srgbClr val="000048"/>
                </a:solidFill>
                <a:latin typeface="Arial"/>
              </a:rPr>
              <a:t>Azure Retail Prices API: Azure OpenAI gpt-4.1, East US 2:  </a:t>
            </a:r>
            <a:r>
              <a:rPr sz="1300" b="0" i="0">
                <a:solidFill>
                  <a:srgbClr val="2F78C4"/>
                </a:solidFill>
                <a:latin typeface="Arial"/>
                <a:hlinkClick r:id="rId11"/>
              </a:rPr>
              <a:t>https://prices.azure.com/api/retail/prices?$filter=productName eq 'Azure OpenAI' and armRegionName eq 'eastus2'</a:t>
            </a:r>
          </a:p>
          <a:p>
            <a:pPr algn="l">
              <a:spcAft>
                <a:spcPts val="300"/>
              </a:spcAft>
            </a:pPr>
            <a:r>
              <a:rPr sz="1300" b="1" i="0">
                <a:solidFill>
                  <a:srgbClr val="000048"/>
                </a:solidFill>
                <a:latin typeface="Arial"/>
              </a:rPr>
              <a:t>Provisioned throughput concepts:  </a:t>
            </a:r>
            <a:r>
              <a:rPr sz="1300" b="0" i="0">
                <a:solidFill>
                  <a:srgbClr val="2F78C4"/>
                </a:solidFill>
                <a:latin typeface="Arial"/>
                <a:hlinkClick r:id="rId12"/>
              </a:rPr>
              <a:t>https://learn.microsoft.com/en-us/azure/foundry/openai/concepts/provisioned-throughput</a:t>
            </a:r>
          </a:p>
          <a:p>
            <a:pPr algn="l">
              <a:spcAft>
                <a:spcPts val="300"/>
              </a:spcAft>
            </a:pPr>
            <a:r>
              <a:rPr sz="1300" b="1" i="0">
                <a:solidFill>
                  <a:srgbClr val="000048"/>
                </a:solidFill>
                <a:latin typeface="Arial"/>
              </a:rPr>
              <a:t>Azure Retail Prices API: Log Analytics, East US 2:  </a:t>
            </a:r>
            <a:r>
              <a:rPr sz="1300" b="0" i="0">
                <a:solidFill>
                  <a:srgbClr val="2F78C4"/>
                </a:solidFill>
                <a:latin typeface="Arial"/>
                <a:hlinkClick r:id="rId13"/>
              </a:rPr>
              <a:t>https://prices.azure.com/api/retail/prices?$filter=serviceName eq 'Log Analytics' and armRegionName eq 'eastus2'</a:t>
            </a:r>
          </a:p>
          <a:p>
            <a:pPr algn="l">
              <a:spcAft>
                <a:spcPts val="300"/>
              </a:spcAft>
            </a:pPr>
            <a:r>
              <a:rPr sz="1300" b="1" i="0">
                <a:solidFill>
                  <a:srgbClr val="000048"/>
                </a:solidFill>
                <a:latin typeface="Arial"/>
              </a:rPr>
              <a:t>Azure Architecture Icons (V24):  </a:t>
            </a:r>
            <a:r>
              <a:rPr sz="1300" b="0" i="0">
                <a:solidFill>
                  <a:srgbClr val="2F78C4"/>
                </a:solidFill>
                <a:latin typeface="Arial"/>
                <a:hlinkClick r:id="rId14"/>
              </a:rPr>
              <a:t>https://learn.microsoft.com/en-us/azure/architecture/icons/</a:t>
            </a:r>
          </a:p>
          <a:p>
            <a:pPr algn="l">
              <a:spcAft>
                <a:spcPts val="300"/>
              </a:spcAft>
            </a:pPr>
            <a:r>
              <a:rPr sz="1300" b="1" i="0">
                <a:solidFill>
                  <a:srgbClr val="000048"/>
                </a:solidFill>
                <a:latin typeface="Arial"/>
              </a:rPr>
              <a:t>az-icons.com catalogue of official Azure icons (July 2026 set):  </a:t>
            </a:r>
            <a:r>
              <a:rPr sz="1300" b="0" i="0">
                <a:solidFill>
                  <a:srgbClr val="2F78C4"/>
                </a:solidFill>
                <a:latin typeface="Arial"/>
                <a:hlinkClick r:id="rId15"/>
              </a:rPr>
              <a:t>https://az-icons.com/</a:t>
            </a:r>
          </a:p>
          <a:p>
            <a:pPr algn="l">
              <a:spcAft>
                <a:spcPts val="300"/>
              </a:spcAft>
            </a:pPr>
            <a:r>
              <a:rPr sz="1300" b="1" i="0">
                <a:solidFill>
                  <a:srgbClr val="000048"/>
                </a:solidFill>
                <a:latin typeface="Arial"/>
              </a:rPr>
              <a:t>Azure OpenAI gateway guide:  </a:t>
            </a:r>
            <a:r>
              <a:rPr sz="1300" b="0" i="0">
                <a:solidFill>
                  <a:srgbClr val="2F78C4"/>
                </a:solidFill>
                <a:latin typeface="Arial"/>
                <a:hlinkClick r:id="rId16"/>
              </a:rPr>
              <a:t>https://learn.microsoft.com/en-us/azure/architecture/ai-ml/guide/azure-openai-gateway-guide</a:t>
            </a:r>
          </a:p>
          <a:p>
            <a:pPr algn="l">
              <a:spcAft>
                <a:spcPts val="300"/>
              </a:spcAft>
            </a:pPr>
            <a:r>
              <a:rPr sz="1300" b="1" i="0">
                <a:solidFill>
                  <a:srgbClr val="000048"/>
                </a:solidFill>
                <a:latin typeface="Arial"/>
              </a:rPr>
              <a:t>Gateway custom authentication:  </a:t>
            </a:r>
            <a:r>
              <a:rPr sz="1300" b="0" i="0">
                <a:solidFill>
                  <a:srgbClr val="2F78C4"/>
                </a:solidFill>
                <a:latin typeface="Arial"/>
                <a:hlinkClick r:id="rId17"/>
              </a:rPr>
              <a:t>https://learn.microsoft.com/en-us/azure/architecture/ai-ml/guide/azure-openai-gateway-custom-authentication</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AI Gateway Implementation</dc:title>
  <dcterms:created xsi:type="dcterms:W3CDTF">2026-10-10T13:56:28.3080000Z</dcterms:created>
  <dcterms:modified xsi:type="dcterms:W3CDTF">2026-10-10T13:56:28.3090000Z</dcterms:modified>
  <dc:subject>Proposed CIS Infra GTM offering for internal leadership review</dc:subject>
</coreProperties>
</file>