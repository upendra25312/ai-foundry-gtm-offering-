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purpose: open the leadership review of the CIS Infra AI Platform / Landing Zone offering.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what problem creates demand, what the customer receives, what decision is needed. Source: CIS Infra Azure AI Platform GTM Proposal V3 (8 Oct 2026), repository root.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 roles and triggers from the V3 proposal qualification section. Qualify funding, deployment authority and a named workload before quoting implementation.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view of the five proposed CIS Infra offerings. The landing zone is the foundation the gateway, agent governance and managed operations depend on. Each handoff needs a named owner and acceptance evidence.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boundaries from V3 proposal. CIS Infra does not own model quality, application behaviour, data quality or security operations unless a separately agreed service includes them. Terraform accountability sits with DevOps in this baseline unless Infra staffs and maintains 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editable executive view. Adapted from the AI Landing Zone with platform landing zone diagram (04_AI-Landing-Zone-with-platform.png, source https://github.com/Azure/AI-Landing-Zones) and the Foundry baseline landing zone architecture. Not the original; detailed network and egress diagrams are in the appendix.</a:t>
            </a:r>
          </a:p>
          <a:p/>
          <a:p>
            <a:r>
              <a:t>Reading order: (1) users reach the workload through Application Gateway with WAF; (2) the app host calls the Foundry project and model deployment through private endpoints; (3) retrieval and state use AI Search and a Storage account; secrets in Key Vault; (4) outbound traffic routes through the hub firewall; (5) all resources send telemetry to Log Analytics and Application Insights and are governed by management-group policy and budgets. Identity: managed identities for workloads, Entra PIM for privileged operators.</a:t>
            </a:r>
          </a:p>
          <a:p/>
          <a:p>
            <a:r>
              <a:t>Storage label: the icon is the Azure Storage account; blob containers live inside it.</a:t>
            </a:r>
          </a:p>
          <a:p/>
          <a:p>
            <a:r>
              <a:t>Sources (checked 11 Oct 2026):</a:t>
            </a:r>
          </a:p>
          <a:p>
            <a:r>
              <a:t>Adapted from https://github.com/upendra25312/AI-Foundry-GTM-offering-/blob/main/architectures/04_AI-Landing-Zone-with-platform.png</a:t>
            </a:r>
          </a:p>
          <a:p>
            <a:r>
              <a:t>https://github.com/Azure/AI-Landing-Zones</a:t>
            </a:r>
          </a:p>
          <a:p>
            <a:r>
              <a:t>https://learn.microsoft.com/en-us/azure/architecture/ai-ml/architecture/baseline-microsoft-foundry-landing-zone</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Strengthens the baseline commercial proposition (old slide 17). Extending a mature landing zone adds AI workload resources and controls to an existing platform. Establishing a new foundation also builds the platform layer (management groups, subscription vending, hub connectivity, identity integration, policy baseline). The two have different scope, risk and price and must not share one estimate. Reference effort: the V3 proposal worked example estimates about 88 role days across six towers for a bounded extension, before contingency. That is effort, not elapsed time, and is illustrative only.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dependencies and risks. A critical dependency without a signed commitment blocks the implementation quote (V3 proposal dependency register rule).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are proposed definitions. Numeric targets and test populations are agreed in the SOW. Platform acceptance and workload acceptance are separate milestones with different owners.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decisions leadership can take at this review from those that depend on pilot evidence, Finance approval or specialist tower agreement. Full register in appendix D1 and in the decision register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 All useful baseline content is retained here. Use the appendix index (next slide)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Each entry links to the appendix slide. Use the Index link in the footer of any appendix slide to return here.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finding: explain the difference between extending an existing landing zone and establishing a new foundation. Extending reuses an accepted platform after validation. Establishing builds the platform layer first. New foundations are never included in the extension price.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packaging. Durations are not given because they depend on access, approvals and named tower staff. The V3 worked example (about 88 role days for a bounded extension: Infra 40, Security 8, DevOps 12, Data 4, Data Engineering 12, AI 12) is effort before contingency and is illustrative only.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Sources (checked 11 Oct 2026):</a:t>
            </a:r>
          </a:p>
          <a:p>
            <a:r>
              <a:t>https://github.com/upendra25312/AI-Foundry-GTM-offering-/blob/main/architectures/04_AI-Landing-Zone-with-platform.png</a:t>
            </a:r>
          </a:p>
          <a:p>
            <a:r>
              <a:t>Cloud Adoption Framework: AI Ready: https://learn.microsoft.com/en-us/azure/cloud-adoption-framework/ai/ready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baseline. Security designs and verifies identity controls; CIS Infra implements its allocated platform controls. Keys for Foundry, Search and Storage are disabled where the service supports it, so that identity is the only access path.</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11_baseline-landing-zone-networking.png (Microsoft Foundry chat baseline in an Azure landing zone). The original PNG clips several labels ("Workload landing zo", "Azure Firewa") in its rendering, so it is kept only as a traceability reference in appendix O3. Subnet names follow the source. Changes: simplified to one spoke, labels completed, flows numbered.</a:t>
            </a:r>
          </a:p>
          <a:p/>
          <a:p>
            <a:r>
              <a:t>Flows: (1) users reach Application Gateway with WAF in snet-appGateway; (2) App Service uses VNet integration (snet-appServicePlan) to reach private endpoints; (3) Foundry Agent Service egress uses snet-agentsEgress; (4) all private endpoints in snet-privateEndpoints resolve through hub-provided DNS (DNS Private Resolver and Private DNS zones for Private Link); (5) UDRs send workload egress to the hub firewall.</a:t>
            </a:r>
          </a:p>
          <a:p/>
          <a:p>
            <a:r>
              <a:t>Sources (checked 11 Oct 2026):</a:t>
            </a:r>
          </a:p>
          <a:p>
            <a:r>
              <a:t>https://github.com/upendra25312/AI-Foundry-GTM-offering-/blob/main/architectures/11_baseline-landing-zone-networking.png</a:t>
            </a:r>
          </a:p>
          <a:p>
            <a:r>
              <a:t>https://github.com/upendra25312/AI-Foundry-GTM-offering-/blob/main/architectures/05_baseline-landing-zone-networking.vsdx</a:t>
            </a:r>
          </a:p>
          <a:p>
            <a:r>
              <a:t>https://learn.microsoft.com/en-us/azure/architecture/ai-ml/architecture/baseline-microsoft-foundry-landing-zone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Sources (checked 11 Oct 2026):</a:t>
            </a:r>
          </a:p>
          <a:p>
            <a:r>
              <a:t>https://github.com/upendra25312/AI-Foundry-GTM-offering-/blob/main/architectures/12_baseline-landing-zone-networking-egress.png</a:t>
            </a:r>
          </a:p>
          <a:p>
            <a:r>
              <a:t>https://github.com/upendra25312/AI-Foundry-GTM-offering-/blob/main/architectures/06_baseline-landing-zone-networking-egress.vsdx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Inbound App Service private endpoint does not provide outbound integration. Use separate subnets and validate private DNS, deployment (SCM) access and permitted outbound dependencies. Other runtimes have different network patterns.</a:t>
            </a:r>
          </a:p>
          <a:p/>
          <a:p>
            <a:r>
              <a:t>Sources (checked 11 Oct 2026):</a:t>
            </a:r>
          </a:p>
          <a:p>
            <a:r>
              <a:t>https://learn.microsoft.com/en-us/azure/app-service/overview-private-endpoint</a:t>
            </a:r>
          </a:p>
          <a:p>
            <a:r>
              <a:t>https://learn.microsoft.com/en-us/azure/app-service/overview-vnet-integration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editable adaptation of 07_baseline-microsoft-foundry.png (Microsoft Foundry baseline chat architecture). Original preserved in appendix O2. The source labels the model as "Azure OpenAI model"; here it is shown as a Foundry model deployment, which is the current product framing.</a:t>
            </a:r>
          </a:p>
          <a:p/>
          <a:p>
            <a:r>
              <a:t>Steps: (1) user to Application Gateway with WAF; (2) App Service calls the Foundry agent through the Foundry private endpoint; (3) Foundry Agent Service runs in the Foundry project; (4) agent reaches dependencies through the agent integration subnet and private endpoints; (5) outbound internet calls go through Azure Firewall; (6) the agent calls the model deployment; (7) Foundry Agent Service dependencies (AI Search, Cosmos DB, Storage) hold threads and files.</a:t>
            </a:r>
          </a:p>
          <a:p/>
          <a:p>
            <a:r>
              <a:t>Sources (checked 11 Oct 2026):</a:t>
            </a:r>
          </a:p>
          <a:p>
            <a:r>
              <a:t>https://github.com/upendra25312/AI-Foundry-GTM-offering-/blob/main/architectures/07_baseline-microsoft-foundry.png</a:t>
            </a:r>
          </a:p>
          <a:p>
            <a:r>
              <a:t>https://github.com/upendra25312/AI-Foundry-GTM-offering-/blob/main/architectures/03_baseline-microsoft-foundry.vsdx</a:t>
            </a:r>
          </a:p>
          <a:p>
            <a:r>
              <a:t>https://learn.microsoft.com/en-us/azure/architecture/ai-ml/architecture/baseline-microsoft-foundry-chat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Hosting choices affect containment, observability and network design. Lifecycle actions per agent type are summarised from Microsoft Learn (Foundry Control Plane, updated 2026-07-15). The AI tower selects the runtime; CIS Infra provides the platform pattern.</a:t>
            </a:r>
          </a:p>
          <a:p/>
          <a:p>
            <a:r>
              <a:t>Sources (checked 11 Oct 2026):</a:t>
            </a:r>
          </a:p>
          <a:p>
            <a:r>
              <a:t>Foundry Control Plane: manage agents: https://learn.microsoft.com/en-us/azure/foundry/control-plane/how-to-manage-agents</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platform endpoints (CIS Infra) from data architecture (Data), pipelines (Data Engineering) and data rights (customer). Storage label correction: the Azure resource is a Storage account; blob containers are inside 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DevOps owns Terraform modules and pipelines in this baseline (V3 proposal). If CIS Infra staffs and maintains them, move accountability to CIS Infra. Promotion is the only change path to production.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one workload with development and production (V3 proposal). A test environment is an option that adds policy, release, test and support effort. Each extra environment is a change-control trigger.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controls built during implementation and handed to managed operations (offering 05). Recovery scope is per dependency; single-region restoration is not regional disaster recovery.</a:t>
            </a:r>
          </a:p>
          <a:p/>
          <a:p>
            <a:r>
              <a:t>Sources (checked 11 Oct 2026):</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the resource region from the model processing geography. Data at rest stays in the designated geography; inferencing location depends on deployment type. Data zones published: US, EU, APAC. No UK or Middle East data zone is published, so UK and Middle East pursuits use Standard (regional) or Regional Provisioned deployments, or an approved Global deployment.</a:t>
            </a:r>
          </a:p>
          <a:p/>
          <a:p>
            <a:r>
              <a:t>Sources (checked 11 Oct 2026):</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read on 11 Oct 2026 from the Microsoft Learn region availability page (updated 2026-09-04), Americas, Europe and Middle East tabs, for gpt-4.1 version 2025-04-14. Selected regions only: commonly used US East region plus the main EU, UK and Middle East regions in Cognizant US and EMEA pursuits. "Listed" means published support only; it does not confirm subscription quota or deployable capacity. Not listed means not shown in the table on that date. gpt-4.1 is Deprecated and retires 2027-04-14, so newer models should be checked the same way before design.</a:t>
            </a:r>
          </a:p>
          <a:p/>
          <a:p>
            <a:r>
              <a:t>Sources (checked 11 Oct 2026):</a:t>
            </a:r>
          </a:p>
          <a:p>
            <a:r>
              <a:t>Foundry Models region availability (Europe and MEA tabs read in browser): https://learn.microsoft.com/en-us/azure/foundry/foundry-models/concepts/models-sold-directly-by-azure-region-availability</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Customer-specific quantities and resource list supersede these reference bounds. Source connectors, data volumes, network changes, migration and SaaS scope must be enumerated.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acceptance gates from the V3 proposal. Passing a finite test set does not prove universal security or model accuracy. Agree test cases, thresholds and exception authority in the SOW.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the estimate by discovery, architecture, network, identity, IaC, security, workload integration, project management, testing and stabilisation. Separate customer effort. A risk reserve is not calendar compression.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needs region, quantity, environment, USD unit rate, meter source, pricing date and monthly total. Distinguish shared allocations from incremental spend.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Cognizant services revenue from customer-paid Azure consumption. Where internal sell rates or enterprise Azure rates are unavailable, the formula and the missing input owner are shown instead of a number. </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Icons: official Azure icons. Container Apps is shown as one example of a customer-hosted runtime; AKS is equivalent. Function App represents an example tool host.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Platform service acceptance is accountable to the customer; Cognizant roles are responsible for evidence.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criteria for this offering. Timelines and staffing are estimates only and require named tower commitments. Use this as the qualification and SOW checklist.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Unresolved decisions for this offering. "Now" means leadership can decide at this review. Other items depend on pilot evidence, Finance approval or specialist tower agreement. The consolidated register is delivered as a separate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https://github.com/upendra25312/AI-Foundry-GTM-offering-/blob/main/architectures/04_AI-Landing-Zone-with-platform.png</a:t>
            </a:r>
          </a:p>
          <a:p>
            <a:r>
              <a:t>Editable Visio: https://github.com/upendra25312/AI-Foundry-GTM-offering-/blob/main/architectures/01_AI-Landing-Zones-Multi-Page.vsdx</a:t>
            </a:r>
          </a:p>
          <a:p>
            <a:r>
              <a:t>Microsoft source: https://github.com/Azure/AI-Landing-Zones</a:t>
            </a:r>
          </a:p>
          <a:p/>
          <a:p>
            <a:r>
              <a:t>Source labels use the earlier "AI Foundry" naming; the simplified executive view uses current Foundry names.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Source shows "Azure OpenAI model"; adapted view (A8) uses Foundry model deployment.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https://github.com/upendra25312/AI-Foundry-GTM-offering-/blob/main/architectures/11_baseline-landing-zone-networking.png</a:t>
            </a:r>
          </a:p>
          <a:p>
            <a:r>
              <a:t>Editable Visio: https://github.com/upendra25312/AI-Foundry-GTM-offering-/blob/main/architectures/05_baseline-landing-zone-networking.vsdx</a:t>
            </a:r>
          </a:p>
          <a:p>
            <a:r>
              <a:t>Microsoft source: https://learn.microsoft.com/en-us/azure/architecture/ai-ml/architecture/baseline-microsoft-foundry-landing-zone</a:t>
            </a:r>
          </a:p>
          <a:p/>
          <a:p>
            <a:r>
              <a:t>The source PNG clips some labels in its own render; the editable reconstruction is appendix A5.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https://github.com/upendra25312/AI-Foundry-GTM-offering-/blob/main/architectures/12_baseline-landing-zone-networking-egress.png</a:t>
            </a:r>
          </a:p>
          <a:p>
            <a:r>
              <a:t>Editable Visio: https://github.com/upendra25312/AI-Foundry-GTM-offering-/blob/main/architectures/06_baseline-landing-zone-networking-egress.vsdx</a:t>
            </a:r>
          </a:p>
          <a:p>
            <a:r>
              <a:t>Microsoft source: https://learn.microsoft.com/en-us/azure/architecture/ai-ml/architecture/baseline-microsoft-foundry-landing-zone</a:t>
            </a:r>
          </a:p>
          <a:p/>
          <a:p>
            <a:r>
              <a:t>The source PNG clips some labels in its own render; the editable reconstruction is appendix A6.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https://github.com/upendra25312/AI-Foundry-GTM-offering-/blob/main/architectures/35_azure-landing-zone-conceptual-architecture.png</a:t>
            </a:r>
          </a:p>
          <a:p>
            <a:r>
              <a:t>Microsoft source: https://learn.microsoft.com/en-us/azure/cloud-adoption-framework/ready/landing-zone/</a:t>
            </a:r>
          </a:p>
          <a:p/>
          <a:p>
            <a:r>
              <a:t>Microsoft CAF conceptual view showing Foundry added to workload landing zones that need AI.</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source register (URL, date checked, product, deployment type, region, SKU, GA or preview status, limitations) is provided as a separate workbook. Links below are clickable in slideshow mode.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17.png"/><Relationship Id="rId13" Type="http://schemas.openxmlformats.org/officeDocument/2006/relationships/image" Target="../media/image20.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21.png"/><Relationship Id="rId17" Type="http://schemas.openxmlformats.org/officeDocument/2006/relationships/image" Target="../media/image24.svg"/><Relationship Id="rId18" Type="http://schemas.openxmlformats.org/officeDocument/2006/relationships/image" Target="../media/image23.png"/><Relationship Id="rId19" Type="http://schemas.openxmlformats.org/officeDocument/2006/relationships/image" Target="../media/image26.svg"/><Relationship Id="rId20" Type="http://schemas.openxmlformats.org/officeDocument/2006/relationships/image" Target="../media/image25.png"/><Relationship Id="rId21" Type="http://schemas.openxmlformats.org/officeDocument/2006/relationships/image" Target="../media/image28.svg"/><Relationship Id="rId22" Type="http://schemas.openxmlformats.org/officeDocument/2006/relationships/image" Target="../media/image27.png"/><Relationship Id="rId23" Type="http://schemas.openxmlformats.org/officeDocument/2006/relationships/image" Target="../media/image30.svg"/><Relationship Id="rId24" Type="http://schemas.openxmlformats.org/officeDocument/2006/relationships/image" Target="../media/image29.png"/><Relationship Id="rId25" Type="http://schemas.openxmlformats.org/officeDocument/2006/relationships/image" Target="../media/image32.svg"/><Relationship Id="rId26" Type="http://schemas.openxmlformats.org/officeDocument/2006/relationships/image" Target="../media/image31.png"/><Relationship Id="rId27" Type="http://schemas.openxmlformats.org/officeDocument/2006/relationships/image" Target="../media/image34.svg"/><Relationship Id="rId28" Type="http://schemas.openxmlformats.org/officeDocument/2006/relationships/image" Target="../media/image33.png"/><Relationship Id="rId29" Type="http://schemas.openxmlformats.org/officeDocument/2006/relationships/image" Target="../media/image36.svg"/><Relationship Id="rId30" Type="http://schemas.openxmlformats.org/officeDocument/2006/relationships/image" Target="../media/image35.png"/><Relationship Id="rId31" Type="http://schemas.openxmlformats.org/officeDocument/2006/relationships/image" Target="../media/image38.svg"/><Relationship Id="rId32" Type="http://schemas.openxmlformats.org/officeDocument/2006/relationships/image" Target="../media/image37.png"/><Relationship Id="rId33" Type="http://schemas.openxmlformats.org/officeDocument/2006/relationships/image" Target="../media/image40.svg"/><Relationship Id="rId34" Type="http://schemas.openxmlformats.org/officeDocument/2006/relationships/image" Target="../media/image39.png"/><Relationship Id="rId35" Type="http://schemas.openxmlformats.org/officeDocument/2006/relationships/image" Target="../media/image42.svg"/><Relationship Id="rId36" Type="http://schemas.openxmlformats.org/officeDocument/2006/relationships/image" Target="../media/image41.png"/><Relationship Id="rId37" Type="http://schemas.openxmlformats.org/officeDocument/2006/relationships/image" Target="../media/image44.svg"/><Relationship Id="rId38" Type="http://schemas.openxmlformats.org/officeDocument/2006/relationships/image" Target="../media/image43.png"/><Relationship Id="rId39" Type="http://schemas.openxmlformats.org/officeDocument/2006/relationships/image" Target="../media/image4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45.png"/><Relationship Id="rId7" Type="http://schemas.openxmlformats.org/officeDocument/2006/relationships/image" Target="../media/image48.svg"/><Relationship Id="rId8"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47.png"/><Relationship Id="rId5" Type="http://schemas.openxmlformats.org/officeDocument/2006/relationships/image" Target="../media/image50.svg"/><Relationship Id="rId6" Type="http://schemas.openxmlformats.org/officeDocument/2006/relationships/image" Target="../media/image19.png"/><Relationship Id="rId7" Type="http://schemas.openxmlformats.org/officeDocument/2006/relationships/image" Target="../media/image22.svg"/><Relationship Id="rId8" Type="http://schemas.openxmlformats.org/officeDocument/2006/relationships/image" Target="../media/image33.png"/><Relationship Id="rId9" Type="http://schemas.openxmlformats.org/officeDocument/2006/relationships/image" Target="../media/image36.svg"/><Relationship Id="rId10"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21.png"/><Relationship Id="rId5" Type="http://schemas.openxmlformats.org/officeDocument/2006/relationships/image" Target="../media/image24.svg"/><Relationship Id="rId6" Type="http://schemas.openxmlformats.org/officeDocument/2006/relationships/image" Target="../media/image49.png"/><Relationship Id="rId7" Type="http://schemas.openxmlformats.org/officeDocument/2006/relationships/image" Target="../media/image52.svg"/><Relationship Id="rId8" Type="http://schemas.openxmlformats.org/officeDocument/2006/relationships/image" Target="../media/image51.png"/><Relationship Id="rId9" Type="http://schemas.openxmlformats.org/officeDocument/2006/relationships/image" Target="../media/image54.svg"/><Relationship Id="rId10" Type="http://schemas.openxmlformats.org/officeDocument/2006/relationships/image" Target="../media/image35.png"/><Relationship Id="rId11" Type="http://schemas.openxmlformats.org/officeDocument/2006/relationships/image" Target="../media/image38.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image" Target="../media/image13.png"/><Relationship Id="rId15" Type="http://schemas.openxmlformats.org/officeDocument/2006/relationships/image" Target="../media/image16.svg"/><Relationship Id="rId16" Type="http://schemas.openxmlformats.org/officeDocument/2006/relationships/image" Target="../media/image15.png"/><Relationship Id="rId17" Type="http://schemas.openxmlformats.org/officeDocument/2006/relationships/image" Target="../media/image18.svg"/><Relationship Id="rId18" Type="http://schemas.openxmlformats.org/officeDocument/2006/relationships/image" Target="../media/image17.png"/><Relationship Id="rId19" Type="http://schemas.openxmlformats.org/officeDocument/2006/relationships/image" Target="../media/image20.svg"/><Relationship Id="rId20" Type="http://schemas.openxmlformats.org/officeDocument/2006/relationships/image" Target="../media/image55.png"/><Relationship Id="rId21" Type="http://schemas.openxmlformats.org/officeDocument/2006/relationships/image" Target="../media/image58.svg"/><Relationship Id="rId22" Type="http://schemas.openxmlformats.org/officeDocument/2006/relationships/image" Target="../media/image57.png"/><Relationship Id="rId23" Type="http://schemas.openxmlformats.org/officeDocument/2006/relationships/image" Target="../media/image60.svg"/><Relationship Id="rId24" Type="http://schemas.openxmlformats.org/officeDocument/2006/relationships/image" Target="../media/image59.png"/><Relationship Id="rId25" Type="http://schemas.openxmlformats.org/officeDocument/2006/relationships/image" Target="../media/image62.svg"/><Relationship Id="rId26"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49.png"/><Relationship Id="rId5" Type="http://schemas.openxmlformats.org/officeDocument/2006/relationships/image" Target="../media/image52.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53.png"/><Relationship Id="rId9" Type="http://schemas.openxmlformats.org/officeDocument/2006/relationships/image" Target="../media/image5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21.png"/><Relationship Id="rId5" Type="http://schemas.openxmlformats.org/officeDocument/2006/relationships/image" Target="../media/image24.svg"/><Relationship Id="rId6" Type="http://schemas.openxmlformats.org/officeDocument/2006/relationships/image" Target="../media/image49.png"/><Relationship Id="rId7" Type="http://schemas.openxmlformats.org/officeDocument/2006/relationships/image" Target="../media/image52.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57.png"/><Relationship Id="rId5" Type="http://schemas.openxmlformats.org/officeDocument/2006/relationships/image" Target="../media/image60.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image" Target="../media/image49.png"/><Relationship Id="rId9" Type="http://schemas.openxmlformats.org/officeDocument/2006/relationships/image" Target="../media/image52.svg"/><Relationship Id="rId10" Type="http://schemas.openxmlformats.org/officeDocument/2006/relationships/image" Target="../media/image25.png"/><Relationship Id="rId11" Type="http://schemas.openxmlformats.org/officeDocument/2006/relationships/image" Target="../media/image28.svg"/><Relationship Id="rId12" Type="http://schemas.openxmlformats.org/officeDocument/2006/relationships/image" Target="../media/image51.png"/><Relationship Id="rId13" Type="http://schemas.openxmlformats.org/officeDocument/2006/relationships/image" Target="../media/image54.svg"/><Relationship Id="rId14" Type="http://schemas.openxmlformats.org/officeDocument/2006/relationships/image" Target="../media/image27.png"/><Relationship Id="rId15" Type="http://schemas.openxmlformats.org/officeDocument/2006/relationships/image" Target="../media/image30.svg"/><Relationship Id="rId16" Type="http://schemas.openxmlformats.org/officeDocument/2006/relationships/image" Target="../media/image29.png"/><Relationship Id="rId17" Type="http://schemas.openxmlformats.org/officeDocument/2006/relationships/image" Target="../media/image32.svg"/><Relationship Id="rId18" Type="http://schemas.openxmlformats.org/officeDocument/2006/relationships/image" Target="../media/image61.png"/><Relationship Id="rId19" Type="http://schemas.openxmlformats.org/officeDocument/2006/relationships/image" Target="../media/image64.svg"/><Relationship Id="rId20" Type="http://schemas.openxmlformats.org/officeDocument/2006/relationships/image" Target="../media/image31.png"/><Relationship Id="rId21" Type="http://schemas.openxmlformats.org/officeDocument/2006/relationships/image" Target="../media/image34.svg"/><Relationship Id="rId22" Type="http://schemas.openxmlformats.org/officeDocument/2006/relationships/image" Target="../media/image35.png"/><Relationship Id="rId23" Type="http://schemas.openxmlformats.org/officeDocument/2006/relationships/image" Target="../media/image38.svg"/><Relationship Id="rId24" Type="http://schemas.openxmlformats.org/officeDocument/2006/relationships/image" Target="../media/image15.png"/><Relationship Id="rId25" Type="http://schemas.openxmlformats.org/officeDocument/2006/relationships/image" Target="../media/image18.svg"/><Relationship Id="rId26" Type="http://schemas.openxmlformats.org/officeDocument/2006/relationships/image" Target="../media/image33.png"/><Relationship Id="rId27" Type="http://schemas.openxmlformats.org/officeDocument/2006/relationships/image" Target="../media/image36.svg"/><Relationship Id="rId28" Type="http://schemas.openxmlformats.org/officeDocument/2006/relationships/image" Target="../media/image41.png"/><Relationship Id="rId29" Type="http://schemas.openxmlformats.org/officeDocument/2006/relationships/image" Target="../media/image44.svg"/><Relationship Id="rId30"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29.png"/><Relationship Id="rId5" Type="http://schemas.openxmlformats.org/officeDocument/2006/relationships/image" Target="../media/image32.svg"/><Relationship Id="rId6" Type="http://schemas.openxmlformats.org/officeDocument/2006/relationships/image" Target="../media/image31.png"/><Relationship Id="rId7" Type="http://schemas.openxmlformats.org/officeDocument/2006/relationships/image" Target="../media/image34.svg"/><Relationship Id="rId8" Type="http://schemas.openxmlformats.org/officeDocument/2006/relationships/image" Target="../media/image61.png"/><Relationship Id="rId9" Type="http://schemas.openxmlformats.org/officeDocument/2006/relationships/image" Target="../media/image64.svg"/><Relationship Id="rId10" Type="http://schemas.openxmlformats.org/officeDocument/2006/relationships/image" Target="../media/image33.png"/><Relationship Id="rId11" Type="http://schemas.openxmlformats.org/officeDocument/2006/relationships/image" Target="../media/image36.svg"/><Relationship Id="rId12"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37.png"/><Relationship Id="rId5" Type="http://schemas.openxmlformats.org/officeDocument/2006/relationships/image" Target="../media/image40.svg"/><Relationship Id="rId6" Type="http://schemas.openxmlformats.org/officeDocument/2006/relationships/image" Target="../media/image45.png"/><Relationship Id="rId7" Type="http://schemas.openxmlformats.org/officeDocument/2006/relationships/image" Target="../media/image48.svg"/><Relationship Id="rId8" Type="http://schemas.openxmlformats.org/officeDocument/2006/relationships/image" Target="../media/image19.png"/><Relationship Id="rId9" Type="http://schemas.openxmlformats.org/officeDocument/2006/relationships/image" Target="../media/image22.svg"/><Relationship Id="rId10"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63.png"/><Relationship Id="rId5" Type="http://schemas.openxmlformats.org/officeDocument/2006/relationships/image" Target="../media/image66.svg"/><Relationship Id="rId6" Type="http://schemas.openxmlformats.org/officeDocument/2006/relationships/image" Target="../media/image43.png"/><Relationship Id="rId7" Type="http://schemas.openxmlformats.org/officeDocument/2006/relationships/image" Target="../media/image46.svg"/><Relationship Id="rId8" Type="http://schemas.openxmlformats.org/officeDocument/2006/relationships/image" Target="../media/image65.png"/><Relationship Id="rId9" Type="http://schemas.openxmlformats.org/officeDocument/2006/relationships/image" Target="../media/image68.svg"/><Relationship Id="rId10" Type="http://schemas.openxmlformats.org/officeDocument/2006/relationships/image" Target="../media/image67.png"/><Relationship Id="rId11" Type="http://schemas.openxmlformats.org/officeDocument/2006/relationships/image" Target="../media/image70.svg"/><Relationship Id="rId12"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image" Target="../media/image69.png"/><Relationship Id="rId5" Type="http://schemas.openxmlformats.org/officeDocument/2006/relationships/hyperlink" Target="https://github.com/upendra25312/AI-Foundry-GTM-offering-/blob/main/architectures/04_AI-Landing-Zone-with-platform.png" TargetMode="External"/><Relationship Id="rId6" Type="http://schemas.openxmlformats.org/officeDocument/2006/relationships/hyperlink" Target="https://github.com/Azure/AI-Landing-Zones" TargetMode="External"/><Relationship Id="rId7"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image" Target="../media/image71.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image" Target="../media/image72.png"/><Relationship Id="rId5" Type="http://schemas.openxmlformats.org/officeDocument/2006/relationships/hyperlink" Target="https://github.com/upendra25312/AI-Foundry-GTM-offering-/blob/main/architectures/11_baseline-landing-zone-networking.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image" Target="../media/image73.png"/><Relationship Id="rId5" Type="http://schemas.openxmlformats.org/officeDocument/2006/relationships/hyperlink" Target="https://github.com/upendra25312/AI-Foundry-GTM-offering-/blob/main/architectures/12_baseline-landing-zone-networking-egress.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image" Target="../media/image74.png"/><Relationship Id="rId5" Type="http://schemas.openxmlformats.org/officeDocument/2006/relationships/hyperlink" Target="https://github.com/upendra25312/AI-Foundry-GTM-offering-/blob/main/architectures/35_azure-landing-zone-conceptual-architecture.png" TargetMode="External"/><Relationship Id="rId6" Type="http://schemas.openxmlformats.org/officeDocument/2006/relationships/hyperlink" Target="https://learn.microsoft.com/en-us/azure/cloud-adoption-framework/ready/landing-zone/" TargetMode="External"/><Relationship Id="rId7"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hyperlink" Target="https://learn.microsoft.com/en-us/azure/cloud-adoption-framework/ai/ready" TargetMode="External"/><Relationship Id="rId5" Type="http://schemas.openxmlformats.org/officeDocument/2006/relationships/hyperlink" Target="https://learn.microsoft.com/en-us/azure/foundry/foundry-models/concepts/deployment-types" TargetMode="External"/><Relationship Id="rId6" Type="http://schemas.openxmlformats.org/officeDocument/2006/relationships/hyperlink" Target="https://learn.microsoft.com/en-us/azure/foundry/foundry-models/concepts/models-sold-directly-by-azure-region-availability" TargetMode="External"/><Relationship Id="rId7" Type="http://schemas.openxmlformats.org/officeDocument/2006/relationships/hyperlink" Target="https://learn.microsoft.com/en-us/azure/foundry/openai/concepts/model-retirement-schedule" TargetMode="External"/><Relationship Id="rId8" Type="http://schemas.openxmlformats.org/officeDocument/2006/relationships/hyperlink" Target="https://learn.microsoft.com/en-us/azure/foundry/control-plane/how-to-manage-agents" TargetMode="External"/><Relationship Id="rId9" Type="http://schemas.openxmlformats.org/officeDocument/2006/relationships/hyperlink" Target="https://prices.azure.com/api/retail/prices?$filter=serviceName eq 'Log Analytics' and armRegionName eq 'eastus2'" TargetMode="External"/><Relationship Id="rId10" Type="http://schemas.openxmlformats.org/officeDocument/2006/relationships/hyperlink" Target="https://learn.microsoft.com/en-us/azure/architecture/icons/" TargetMode="External"/><Relationship Id="rId11" Type="http://schemas.openxmlformats.org/officeDocument/2006/relationships/hyperlink" Target="https://az-icons.com/" TargetMode="External"/><Relationship Id="rId12" Type="http://schemas.openxmlformats.org/officeDocument/2006/relationships/hyperlink" Target="https://learn.microsoft.com/en-us/azure/architecture/browse/" TargetMode="External"/><Relationship Id="rId13" Type="http://schemas.openxmlformats.org/officeDocument/2006/relationships/hyperlink" Target="https://github.com/upendra25312/AI-Foundry-GTM-offering-/blob/main/CIS_Infra_Azure_AI_Platform_GTM_Proposal_V3.docx" TargetMode="External"/><Relationship Id="rId14" Type="http://schemas.openxmlformats.org/officeDocument/2006/relationships/hyperlink" Target="https://github.com/Azure/AI-Landing-Zones" TargetMode="External"/><Relationship Id="rId15" Type="http://schemas.openxmlformats.org/officeDocument/2006/relationships/hyperlink" Target="https://learn.microsoft.com/en-us/azure/architecture/ai-ml/architecture/baseline-microsoft-foundry-landing-zone" TargetMode="External"/><Relationship Id="rId16" Type="http://schemas.openxmlformats.org/officeDocument/2006/relationships/hyperlink" Target="https://learn.microsoft.com/en-us/azure/app-service/overview-private-endpoint" TargetMode="External"/><Relationship Id="rId17"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Platform / Landing Zone</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A governed Azure foundation for one funded AI workload, then the next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Assess, extend an existing landing zone, or establish a new foundation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2.0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Executive summary: sell an accepted platform, not hours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554480" cy="457200"/>
          </a:xfrm>
          <a:prstGeom prst="rect">
            <a:avLst/>
          </a:prstGeom>
          <a:noFill/>
        </p:spPr>
        <p:txBody>
          <a:bodyPr wrap="square" lIns="0" rIns="0" tIns="0" bIns="0" anchor="t">
            <a:noAutofit/>
          </a:bodyPr>
          <a:lstStyle/>
          <a:p>
            <a:pPr algn="l"/>
            <a:r>
              <a:rPr sz="2000" b="1" i="0">
                <a:solidFill>
                  <a:srgbClr val="2F78C4"/>
                </a:solidFill>
                <a:latin typeface="Arial"/>
              </a:rPr>
              <a:t>Problem</a:t>
            </a:r>
          </a:p>
        </p:txBody>
      </p:sp>
      <p:sp>
        <p:nvSpPr>
          <p:cNvPr id="9" name="TextBox 8"/>
          <p:cNvSpPr txBox="1"/>
          <p:nvPr/>
        </p:nvSpPr>
        <p:spPr>
          <a:xfrm>
            <a:off x="2103120" y="1371600"/>
            <a:ext cx="5120640" cy="1234440"/>
          </a:xfrm>
          <a:prstGeom prst="rect">
            <a:avLst/>
          </a:prstGeom>
          <a:noFill/>
        </p:spPr>
        <p:txBody>
          <a:bodyPr wrap="square" lIns="0" rIns="0" tIns="0" bIns="0" anchor="t">
            <a:noAutofit/>
          </a:bodyPr>
          <a:lstStyle/>
          <a:p>
            <a:pPr algn="l"/>
            <a:r>
              <a:rPr sz="2000" b="0" i="0">
                <a:solidFill>
                  <a:srgbClr val="1E1E2E"/>
                </a:solidFill>
                <a:latin typeface="Arial"/>
              </a:rPr>
              <a:t>AI pilots stall at the platform: network, identity, environments, capacity and support ownership are unresolved.</a:t>
            </a:r>
          </a:p>
        </p:txBody>
      </p:sp>
      <p:sp>
        <p:nvSpPr>
          <p:cNvPr id="10" name="TextBox 9"/>
          <p:cNvSpPr txBox="1"/>
          <p:nvPr/>
        </p:nvSpPr>
        <p:spPr>
          <a:xfrm>
            <a:off x="548640" y="2670048"/>
            <a:ext cx="1554480" cy="457200"/>
          </a:xfrm>
          <a:prstGeom prst="rect">
            <a:avLst/>
          </a:prstGeom>
          <a:noFill/>
        </p:spPr>
        <p:txBody>
          <a:bodyPr wrap="square" lIns="0" rIns="0" tIns="0" bIns="0" anchor="t">
            <a:noAutofit/>
          </a:bodyPr>
          <a:lstStyle/>
          <a:p>
            <a:pPr algn="l"/>
            <a:r>
              <a:rPr sz="2000" b="1" i="0">
                <a:solidFill>
                  <a:srgbClr val="2F78C4"/>
                </a:solidFill>
                <a:latin typeface="Arial"/>
              </a:rPr>
              <a:t>Offer</a:t>
            </a:r>
          </a:p>
        </p:txBody>
      </p:sp>
      <p:sp>
        <p:nvSpPr>
          <p:cNvPr id="11" name="TextBox 10"/>
          <p:cNvSpPr txBox="1"/>
          <p:nvPr/>
        </p:nvSpPr>
        <p:spPr>
          <a:xfrm>
            <a:off x="2103120" y="2670048"/>
            <a:ext cx="5120640" cy="1234440"/>
          </a:xfrm>
          <a:prstGeom prst="rect">
            <a:avLst/>
          </a:prstGeom>
          <a:noFill/>
        </p:spPr>
        <p:txBody>
          <a:bodyPr wrap="square" lIns="0" rIns="0" tIns="0" bIns="0" anchor="t">
            <a:noAutofit/>
          </a:bodyPr>
          <a:lstStyle/>
          <a:p>
            <a:pPr algn="l"/>
            <a:r>
              <a:rPr sz="2000" b="0" i="0">
                <a:solidFill>
                  <a:srgbClr val="1E1E2E"/>
                </a:solidFill>
                <a:latin typeface="Arial"/>
              </a:rPr>
              <a:t>CIS Infra assesses, extends or establishes the Azure foundation for one approved workload, with specialist towers in one plan.</a:t>
            </a:r>
          </a:p>
        </p:txBody>
      </p:sp>
      <p:sp>
        <p:nvSpPr>
          <p:cNvPr id="12" name="TextBox 11"/>
          <p:cNvSpPr txBox="1"/>
          <p:nvPr/>
        </p:nvSpPr>
        <p:spPr>
          <a:xfrm>
            <a:off x="548640" y="3968496"/>
            <a:ext cx="1554480" cy="457200"/>
          </a:xfrm>
          <a:prstGeom prst="rect">
            <a:avLst/>
          </a:prstGeom>
          <a:noFill/>
        </p:spPr>
        <p:txBody>
          <a:bodyPr wrap="square" lIns="0" rIns="0" tIns="0" bIns="0" anchor="t">
            <a:noAutofit/>
          </a:bodyPr>
          <a:lstStyle/>
          <a:p>
            <a:pPr algn="l"/>
            <a:r>
              <a:rPr sz="2000" b="1" i="0">
                <a:solidFill>
                  <a:srgbClr val="2F78C4"/>
                </a:solidFill>
                <a:latin typeface="Arial"/>
              </a:rPr>
              <a:t>Outcome</a:t>
            </a:r>
          </a:p>
        </p:txBody>
      </p:sp>
      <p:sp>
        <p:nvSpPr>
          <p:cNvPr id="13" name="TextBox 12"/>
          <p:cNvSpPr txBox="1"/>
          <p:nvPr/>
        </p:nvSpPr>
        <p:spPr>
          <a:xfrm>
            <a:off x="2103120" y="3968496"/>
            <a:ext cx="5120640" cy="1234440"/>
          </a:xfrm>
          <a:prstGeom prst="rect">
            <a:avLst/>
          </a:prstGeom>
          <a:noFill/>
        </p:spPr>
        <p:txBody>
          <a:bodyPr wrap="square" lIns="0" rIns="0" tIns="0" bIns="0" anchor="t">
            <a:noAutofit/>
          </a:bodyPr>
          <a:lstStyle/>
          <a:p>
            <a:pPr algn="l"/>
            <a:r>
              <a:rPr sz="2000" b="0" i="0">
                <a:solidFill>
                  <a:srgbClr val="1E1E2E"/>
                </a:solidFill>
                <a:latin typeface="Arial"/>
              </a:rPr>
              <a:t>An accepted, repeatable environment with tested controls, cost visibility and a named operating owner.</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000" b="1" i="0">
                <a:solidFill>
                  <a:srgbClr val="FFFFFF"/>
                </a:solidFill>
                <a:latin typeface="Arial"/>
              </a:rPr>
              <a:t>Decision requested</a:t>
            </a:r>
          </a:p>
          <a:p>
            <a:pPr algn="l" marL="201168" indent="-201168">
              <a:spcAft>
                <a:spcPts val="1000"/>
              </a:spcAft>
              <a:buFont typeface="Arial"/>
              <a:buChar char="•"/>
            </a:pPr>
            <a:r>
              <a:rPr sz="1800" b="0" i="0">
                <a:solidFill>
                  <a:srgbClr val="FFFFFF"/>
                </a:solidFill>
                <a:latin typeface="Arial"/>
              </a:rPr>
              <a:t>Nominate an Infra sponsor and tower leads for a 30-day validation</a:t>
            </a:r>
          </a:p>
          <a:p>
            <a:pPr algn="l" marL="201168" indent="-201168">
              <a:spcAft>
                <a:spcPts val="1000"/>
              </a:spcAft>
              <a:buFont typeface="Arial"/>
              <a:buChar char="•"/>
            </a:pPr>
            <a:r>
              <a:rPr sz="1800" b="0" i="0">
                <a:solidFill>
                  <a:srgbClr val="FFFFFF"/>
                </a:solidFill>
                <a:latin typeface="Arial"/>
              </a:rPr>
              <a:t>Approve the three delivery routes and scope boundaries</a:t>
            </a:r>
          </a:p>
          <a:p>
            <a:pPr algn="l" marL="201168" indent="-201168">
              <a:spcAft>
                <a:spcPts val="1000"/>
              </a:spcAft>
              <a:buFont typeface="Arial"/>
              <a:buChar char="•"/>
            </a:pPr>
            <a:r>
              <a:rPr sz="1800" b="0" i="0">
                <a:solidFill>
                  <a:srgbClr val="FFFFFF"/>
                </a:solidFill>
                <a:latin typeface="Arial"/>
              </a:rPr>
              <a:t>Ask Finance to approve attribution and margin rules before any quote</a:t>
            </a:r>
          </a:p>
        </p:txBody>
      </p:sp>
      <p:sp>
        <p:nvSpPr>
          <p:cNvPr id="15" name="Rounded Rectangle 14"/>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Proposed offering. No approved rate card, staffing commitment or customer evidence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buys, and what triggers the purchase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graphicFrame>
        <p:nvGraphicFramePr>
          <p:cNvPr id="7" name="Table"/>
          <p:cNvGraphicFramePr>
            <a:graphicFrameLocks noGrp="1"/>
          </p:cNvGraphicFramePr>
          <p:nvPr/>
        </p:nvGraphicFramePr>
        <p:xfrm>
          <a:off x="548640" y="1371600"/>
          <a:ext cx="11091672" cy="2910840"/>
        </p:xfrm>
        <a:graphic>
          <a:graphicData uri="http://schemas.openxmlformats.org/drawingml/2006/table">
            <a:tbl>
              <a:tblPr firstRow="1" bandRow="0">
                <a:tableStyleId>{5C22544A-7EE6-4342-B048-85BDC9FD1C3A}</a:tableStyleId>
              </a:tblPr>
              <a:tblGrid>
                <a:gridCol w="3017520"/>
                <a:gridCol w="3840480"/>
                <a:gridCol w="4233672"/>
              </a:tblGrid>
              <a:tr h="350520">
                <a:tc>
                  <a:txBody>
                    <a:bodyPr wrap="square" anchor="ctr">
                      <a:noAutofit/>
                    </a:bodyPr>
                    <a:lstStyle/>
                    <a:p>
                      <a:pPr algn="l"/>
                      <a:r>
                        <a:rPr sz="17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Purchase trigger</a:t>
                      </a:r>
                    </a:p>
                  </a:txBody>
                  <a:tcPr marL="73152" marR="73152" marT="36576" marB="36576" anchor="ctr">
                    <a:solidFill>
                      <a:srgbClr val="000048"/>
                    </a:solidFill>
                  </a:tcPr>
                </a:tc>
              </a:tr>
              <a:tr h="640080">
                <a:tc>
                  <a:txBody>
                    <a:bodyPr wrap="square" anchor="ctr">
                      <a:noAutofit/>
                    </a:bodyPr>
                    <a:lstStyle/>
                    <a:p>
                      <a:pPr algn="l"/>
                      <a:r>
                        <a:rPr sz="1800" b="1" i="0">
                          <a:solidFill>
                            <a:srgbClr val="1E1E2E"/>
                          </a:solidFill>
                          <a:latin typeface="Arial"/>
                        </a:rPr>
                        <a:t>Platform or infrastructure leader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 controlled place to run AI workloads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Pilot blocked by network, identity or environment gaps</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CIO or transformation sponsor</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Funded path from pilot to production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Repeated manual setup; no production route</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Business workload owner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 date the workload can go live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Approved use case waiting on platform readiness</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CISO delegate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Evidence that controls are tested</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Unresolved private connectivity or ownership</a:t>
                      </a:r>
                    </a:p>
                  </a:txBody>
                  <a:tcPr marL="73152" marR="73152" marT="36576" marB="36576" anchor="ctr">
                    <a:solidFill>
                      <a:srgbClr val="F5F5F2"/>
                    </a:solidFill>
                  </a:tcPr>
                </a:tc>
              </a:tr>
            </a:tbl>
          </a:graphicData>
        </a:graphic>
      </p:graphicFrame>
      <p:sp>
        <p:nvSpPr>
          <p:cNvPr id="8" name="Rounded Rectangle 7"/>
          <p:cNvSpPr/>
          <p:nvPr/>
        </p:nvSpPr>
        <p:spPr>
          <a:xfrm>
            <a:off x="548640" y="548640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700" b="1" i="0">
                <a:solidFill>
                  <a:srgbClr val="000048"/>
                </a:solidFill>
                <a:latin typeface="Arial"/>
              </a:rPr>
              <a:t>Decision:  </a:t>
            </a:r>
            <a:r>
              <a:rPr sz="1700" b="0" i="0">
                <a:solidFill>
                  <a:srgbClr val="1E1E2E"/>
                </a:solidFill>
                <a:latin typeface="Arial"/>
              </a:rPr>
              <a:t>No funded workload, no platform authority or unresolved region and capacity: sell the assessment, not an implementation.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in the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spcAft>
                <a:spcPts val="400"/>
              </a:spcAft>
            </a:pPr>
            <a:r>
              <a:rPr sz="1500" b="1" i="0">
                <a:solidFill>
                  <a:srgbClr val="000048"/>
                </a:solidFill>
                <a:latin typeface="Arial"/>
              </a:rPr>
              <a:t>AI Capacity and
FinOps Assessment</a:t>
            </a:r>
          </a:p>
          <a:p>
            <a:pPr algn="l"/>
            <a:r>
              <a:rPr sz="1100" b="0" i="0">
                <a:solidFill>
                  <a:srgbClr val="53565A"/>
                </a:solidFill>
                <a:latin typeface="Arial"/>
              </a:rPr>
              <a:t>Measure demand, choose
capacity model</a:t>
            </a:r>
          </a:p>
        </p:txBody>
      </p:sp>
      <p:cxnSp>
        <p:nvCxnSpPr>
          <p:cNvPr id="9" name="Connector (flow)"/>
          <p:cNvCxnSpPr/>
          <p:nvPr/>
        </p:nvCxnSpPr>
        <p:spPr>
          <a:xfrm>
            <a:off x="258775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371600"/>
            <a:ext cx="2011680" cy="1572768"/>
          </a:xfrm>
          <a:prstGeom prst="roundRect">
            <a:avLst>
              <a:gd name="adj" fmla="val 465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01</a:t>
            </a:r>
          </a:p>
          <a:p>
            <a:pPr algn="l">
              <a:spcAft>
                <a:spcPts val="400"/>
              </a:spcAft>
            </a:pPr>
            <a:r>
              <a:rPr sz="1500" b="1" i="0">
                <a:solidFill>
                  <a:srgbClr val="FFFFFF"/>
                </a:solidFill>
                <a:latin typeface="Arial"/>
              </a:rPr>
              <a:t>AI Platform /
Landing Zone</a:t>
            </a:r>
          </a:p>
          <a:p>
            <a:pPr algn="l"/>
            <a:r>
              <a:rPr sz="1100" b="0" i="0">
                <a:solidFill>
                  <a:srgbClr val="26EFE9"/>
                </a:solidFill>
                <a:latin typeface="Arial"/>
              </a:rPr>
              <a:t>Governed foundation for
AI workloads</a:t>
            </a:r>
          </a:p>
        </p:txBody>
      </p:sp>
      <p:sp>
        <p:nvSpPr>
          <p:cNvPr id="11" name="Status chip: THIS OFFERING"/>
          <p:cNvSpPr/>
          <p:nvPr/>
        </p:nvSpPr>
        <p:spPr>
          <a:xfrm>
            <a:off x="2928823" y="30175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THIS OFFERING</a:t>
            </a:r>
          </a:p>
        </p:txBody>
      </p:sp>
      <p:cxnSp>
        <p:nvCxnSpPr>
          <p:cNvPr id="12" name="Connector (flow)"/>
          <p:cNvCxnSpPr/>
          <p:nvPr/>
        </p:nvCxnSpPr>
        <p:spPr>
          <a:xfrm>
            <a:off x="485820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8955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spcAft>
                <a:spcPts val="400"/>
              </a:spcAft>
            </a:pPr>
            <a:r>
              <a:rPr sz="1500" b="1" i="0">
                <a:solidFill>
                  <a:srgbClr val="000048"/>
                </a:solidFill>
                <a:latin typeface="Arial"/>
              </a:rPr>
              <a:t>AI Gateway
Implementation</a:t>
            </a:r>
          </a:p>
          <a:p>
            <a:pPr algn="l"/>
            <a:r>
              <a:rPr sz="1100" b="0" i="0">
                <a:solidFill>
                  <a:srgbClr val="53565A"/>
                </a:solidFill>
                <a:latin typeface="Arial"/>
              </a:rPr>
              <a:t>Control model and
tool traffic</a:t>
            </a:r>
          </a:p>
        </p:txBody>
      </p:sp>
      <p:cxnSp>
        <p:nvCxnSpPr>
          <p:cNvPr id="14" name="Connector (flow)"/>
          <p:cNvCxnSpPr/>
          <p:nvPr/>
        </p:nvCxnSpPr>
        <p:spPr>
          <a:xfrm>
            <a:off x="712866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6000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spcAft>
                <a:spcPts val="400"/>
              </a:spcAft>
            </a:pPr>
            <a:r>
              <a:rPr sz="1500" b="1" i="0">
                <a:solidFill>
                  <a:srgbClr val="000048"/>
                </a:solidFill>
                <a:latin typeface="Arial"/>
              </a:rPr>
              <a:t>Agent Governance
and Operations</a:t>
            </a:r>
          </a:p>
          <a:p>
            <a:pPr algn="l"/>
            <a:r>
              <a:rPr sz="1100" b="0" i="0">
                <a:solidFill>
                  <a:srgbClr val="53565A"/>
                </a:solidFill>
                <a:latin typeface="Arial"/>
              </a:rPr>
              <a:t>Know, observe and
contain agents</a:t>
            </a:r>
          </a:p>
        </p:txBody>
      </p:sp>
      <p:cxnSp>
        <p:nvCxnSpPr>
          <p:cNvPr id="16" name="Connector (flow)"/>
          <p:cNvCxnSpPr/>
          <p:nvPr/>
        </p:nvCxnSpPr>
        <p:spPr>
          <a:xfrm>
            <a:off x="939911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3046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spcAft>
                <a:spcPts val="400"/>
              </a:spcAft>
            </a:pPr>
            <a:r>
              <a:rPr sz="1500" b="1" i="0">
                <a:solidFill>
                  <a:srgbClr val="000048"/>
                </a:solidFill>
                <a:latin typeface="Arial"/>
              </a:rPr>
              <a:t>Managed AI
Platform Operations</a:t>
            </a:r>
          </a:p>
          <a:p>
            <a:pPr algn="l"/>
            <a:r>
              <a:rPr sz="1100" b="0" i="0">
                <a:solidFill>
                  <a:srgbClr val="53565A"/>
                </a:solidFill>
                <a:latin typeface="Arial"/>
              </a:rPr>
              <a:t>Run, report and
optimise the platform</a:t>
            </a:r>
          </a:p>
        </p:txBody>
      </p:sp>
      <p:cxnSp>
        <p:nvCxnSpPr>
          <p:cNvPr id="18" name="Connector (control)"/>
          <p:cNvCxnSpPr/>
          <p:nvPr/>
        </p:nvCxnSpPr>
        <p:spPr>
          <a:xfrm>
            <a:off x="10636300" y="2944368"/>
            <a:ext cx="0" cy="45720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H="1">
            <a:off x="1554480" y="3401568"/>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control)"/>
          <p:cNvCxnSpPr/>
          <p:nvPr/>
        </p:nvCxnSpPr>
        <p:spPr>
          <a:xfrm flipV="1">
            <a:off x="1554480" y="2944368"/>
            <a:ext cx="0" cy="45720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926080" y="3438144"/>
            <a:ext cx="6400800" cy="274320"/>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2" name="TextBox 21"/>
          <p:cNvSpPr txBox="1"/>
          <p:nvPr/>
        </p:nvSpPr>
        <p:spPr>
          <a:xfrm>
            <a:off x="548640" y="3840479"/>
            <a:ext cx="11064240" cy="320040"/>
          </a:xfrm>
          <a:prstGeom prst="rect">
            <a:avLst/>
          </a:prstGeom>
          <a:noFill/>
        </p:spPr>
        <p:txBody>
          <a:bodyPr wrap="square" lIns="0" rIns="0" tIns="0" bIns="0" anchor="t">
            <a:noAutofit/>
          </a:bodyPr>
          <a:lstStyle/>
          <a:p>
            <a:pPr algn="l"/>
            <a:r>
              <a:rPr sz="1600" b="1" i="0">
                <a:solidFill>
                  <a:srgbClr val="000048"/>
                </a:solidFill>
                <a:latin typeface="Arial"/>
              </a:rPr>
              <a:t>Handoffs for this offering</a:t>
            </a:r>
          </a:p>
        </p:txBody>
      </p:sp>
      <p:sp>
        <p:nvSpPr>
          <p:cNvPr id="23" name="Rounded Rectangle 22"/>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Each handoff has a named owner, acceptance evidence and a date. No offering assumes another is sold.</a:t>
            </a:r>
          </a:p>
        </p:txBody>
      </p:sp>
      <p:sp>
        <p:nvSpPr>
          <p:cNvPr id="24" name="Rounded Rectangle 23"/>
          <p:cNvSpPr/>
          <p:nvPr/>
        </p:nvSpPr>
        <p:spPr>
          <a:xfrm>
            <a:off x="5486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04 Capacity and FinOps</a:t>
            </a:r>
          </a:p>
          <a:p>
            <a:pPr algn="l"/>
            <a:r>
              <a:rPr sz="1600" b="0" i="0">
                <a:solidFill>
                  <a:srgbClr val="1E1E2E"/>
                </a:solidFill>
                <a:latin typeface="Arial"/>
              </a:rPr>
              <a:t>Deployment type, processing boundary, quota and capacity plan</a:t>
            </a:r>
          </a:p>
        </p:txBody>
      </p:sp>
      <p:sp>
        <p:nvSpPr>
          <p:cNvPr id="25" name="Rounded Rectangle 24"/>
          <p:cNvSpPr/>
          <p:nvPr/>
        </p:nvSpPr>
        <p:spPr>
          <a:xfrm>
            <a:off x="4319016"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03 Gateway and 02 Governance</a:t>
            </a:r>
          </a:p>
          <a:p>
            <a:pPr algn="l"/>
            <a:r>
              <a:rPr sz="1600" b="0" i="0">
                <a:solidFill>
                  <a:srgbClr val="1E1E2E"/>
                </a:solidFill>
                <a:latin typeface="Arial"/>
              </a:rPr>
              <a:t>Private network, identities, hosting and telemetry for enforcement</a:t>
            </a:r>
          </a:p>
        </p:txBody>
      </p:sp>
      <p:sp>
        <p:nvSpPr>
          <p:cNvPr id="26" name="Rounded Rectangle 25"/>
          <p:cNvSpPr/>
          <p:nvPr/>
        </p:nvSpPr>
        <p:spPr>
          <a:xfrm>
            <a:off x="80162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05 Managed Operations</a:t>
            </a:r>
          </a:p>
          <a:p>
            <a:pPr algn="l"/>
            <a:r>
              <a:rPr sz="1600" b="0" i="0">
                <a:solidFill>
                  <a:srgbClr val="1E1E2E"/>
                </a:solidFill>
                <a:latin typeface="Arial"/>
              </a:rPr>
              <a:t>Accepted platform, runbooks, alerts and cost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CIS Infra provides,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Included: CIS Infra delivers</a:t>
            </a:r>
          </a:p>
        </p:txBody>
      </p:sp>
      <p:sp>
        <p:nvSpPr>
          <p:cNvPr id="9" name="Rounded Rectangle 8"/>
          <p:cNvSpPr/>
          <p:nvPr/>
        </p:nvSpPr>
        <p:spPr>
          <a:xfrm>
            <a:off x="548640" y="1965960"/>
            <a:ext cx="3593592" cy="370332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Subscriptions, environments, policy and tags</a:t>
            </a:r>
          </a:p>
          <a:p>
            <a:pPr algn="l" marL="201168" indent="-201168">
              <a:spcAft>
                <a:spcPts val="800"/>
              </a:spcAft>
              <a:buFont typeface="Arial"/>
              <a:buChar char="•"/>
            </a:pPr>
            <a:r>
              <a:rPr sz="1700" b="0" i="0">
                <a:solidFill>
                  <a:srgbClr val="1E1E2E"/>
                </a:solidFill>
                <a:latin typeface="Arial"/>
              </a:rPr>
              <a:t>Hub integration, private endpoints, DNS, egress</a:t>
            </a:r>
          </a:p>
          <a:p>
            <a:pPr algn="l" marL="201168" indent="-201168">
              <a:spcAft>
                <a:spcPts val="800"/>
              </a:spcAft>
              <a:buFont typeface="Arial"/>
              <a:buChar char="•"/>
            </a:pPr>
            <a:r>
              <a:rPr sz="1700" b="0" i="0">
                <a:solidFill>
                  <a:srgbClr val="1E1E2E"/>
                </a:solidFill>
                <a:latin typeface="Arial"/>
              </a:rPr>
              <a:t>Foundry project, model endpoint, approved agent hosting</a:t>
            </a:r>
          </a:p>
          <a:p>
            <a:pPr algn="l" marL="201168" indent="-201168">
              <a:spcAft>
                <a:spcPts val="800"/>
              </a:spcAft>
              <a:buFont typeface="Arial"/>
              <a:buChar char="•"/>
            </a:pPr>
            <a:r>
              <a:rPr sz="1700" b="0" i="0">
                <a:solidFill>
                  <a:srgbClr val="1E1E2E"/>
                </a:solidFill>
                <a:latin typeface="Arial"/>
              </a:rPr>
              <a:t>Monitoring, budgets, recovery runbook</a:t>
            </a:r>
          </a:p>
          <a:p>
            <a:pPr algn="l" marL="201168" indent="-201168">
              <a:spcAft>
                <a:spcPts val="800"/>
              </a:spcAft>
              <a:buFont typeface="Arial"/>
              <a:buChar char="•"/>
            </a:pPr>
            <a:r>
              <a:rPr sz="1700" b="0" i="0">
                <a:solidFill>
                  <a:srgbClr val="1E1E2E"/>
                </a:solidFill>
                <a:latin typeface="Arial"/>
              </a:rPr>
              <a:t>Integrated plan and platform handover</a:t>
            </a:r>
          </a:p>
        </p:txBody>
      </p:sp>
      <p:sp>
        <p:nvSpPr>
          <p:cNvPr id="10" name="Rounded Rectangle 9"/>
          <p:cNvSpPr/>
          <p:nvPr/>
        </p:nvSpPr>
        <p:spPr>
          <a:xfrm>
            <a:off x="4297679" y="1371600"/>
            <a:ext cx="3593592"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Optional: priced separately</a:t>
            </a:r>
          </a:p>
        </p:txBody>
      </p:sp>
      <p:sp>
        <p:nvSpPr>
          <p:cNvPr id="11" name="Rounded Rectangle 10"/>
          <p:cNvSpPr/>
          <p:nvPr/>
        </p:nvSpPr>
        <p:spPr>
          <a:xfrm>
            <a:off x="4297679" y="1965960"/>
            <a:ext cx="3593592" cy="370332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More workloads, environments or regions</a:t>
            </a:r>
          </a:p>
          <a:p>
            <a:pPr algn="l" marL="201168" indent="-201168">
              <a:spcAft>
                <a:spcPts val="800"/>
              </a:spcAft>
              <a:buFont typeface="Arial"/>
              <a:buChar char="•"/>
            </a:pPr>
            <a:r>
              <a:rPr sz="1700" b="0" i="0">
                <a:solidFill>
                  <a:srgbClr val="1E1E2E"/>
                </a:solidFill>
                <a:latin typeface="Arial"/>
              </a:rPr>
              <a:t>Regional disaster recovery</a:t>
            </a:r>
          </a:p>
          <a:p>
            <a:pPr algn="l" marL="201168" indent="-201168">
              <a:spcAft>
                <a:spcPts val="800"/>
              </a:spcAft>
              <a:buFont typeface="Arial"/>
              <a:buChar char="•"/>
            </a:pPr>
            <a:r>
              <a:rPr sz="1700" b="0" i="0">
                <a:solidFill>
                  <a:srgbClr val="1E1E2E"/>
                </a:solidFill>
                <a:latin typeface="Arial"/>
              </a:rPr>
              <a:t>AI Gateway (offering 03)</a:t>
            </a:r>
          </a:p>
          <a:p>
            <a:pPr algn="l" marL="201168" indent="-201168">
              <a:spcAft>
                <a:spcPts val="800"/>
              </a:spcAft>
              <a:buFont typeface="Arial"/>
              <a:buChar char="•"/>
            </a:pPr>
            <a:r>
              <a:rPr sz="1700" b="0" i="0">
                <a:solidFill>
                  <a:srgbClr val="1E1E2E"/>
                </a:solidFill>
                <a:latin typeface="Arial"/>
              </a:rPr>
              <a:t>Agent governance (offering 02)</a:t>
            </a:r>
          </a:p>
          <a:p>
            <a:pPr algn="l" marL="201168" indent="-201168">
              <a:spcAft>
                <a:spcPts val="800"/>
              </a:spcAft>
              <a:buFont typeface="Arial"/>
              <a:buChar char="•"/>
            </a:pPr>
            <a:r>
              <a:rPr sz="1700" b="0" i="0">
                <a:solidFill>
                  <a:srgbClr val="1E1E2E"/>
                </a:solidFill>
                <a:latin typeface="Arial"/>
              </a:rPr>
              <a:t>Managed operations (offering 05)</a:t>
            </a:r>
          </a:p>
        </p:txBody>
      </p:sp>
      <p:sp>
        <p:nvSpPr>
          <p:cNvPr id="12" name="Rounded Rectangle 11"/>
          <p:cNvSpPr/>
          <p:nvPr/>
        </p:nvSpPr>
        <p:spPr>
          <a:xfrm>
            <a:off x="8046719" y="1371600"/>
            <a:ext cx="3593592" cy="548640"/>
          </a:xfrm>
          <a:prstGeom prst="roundRect">
            <a:avLst>
              <a:gd name="adj" fmla="val 1333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Other owners</a:t>
            </a:r>
          </a:p>
        </p:txBody>
      </p:sp>
      <p:sp>
        <p:nvSpPr>
          <p:cNvPr id="13" name="Rounded Rectangle 12"/>
          <p:cNvSpPr/>
          <p:nvPr/>
        </p:nvSpPr>
        <p:spPr>
          <a:xfrm>
            <a:off x="8046719" y="1965960"/>
            <a:ext cx="3593592" cy="370332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Security: control design and verification</a:t>
            </a:r>
          </a:p>
          <a:p>
            <a:pPr algn="l" marL="201168" indent="-201168">
              <a:spcAft>
                <a:spcPts val="800"/>
              </a:spcAft>
              <a:buFont typeface="Arial"/>
              <a:buChar char="•"/>
            </a:pPr>
            <a:r>
              <a:rPr sz="1700" b="0" i="0">
                <a:solidFill>
                  <a:srgbClr val="1E1E2E"/>
                </a:solidFill>
                <a:latin typeface="Arial"/>
              </a:rPr>
              <a:t>DevOps: Terraform modules and pipelines</a:t>
            </a:r>
          </a:p>
          <a:p>
            <a:pPr algn="l" marL="201168" indent="-201168">
              <a:spcAft>
                <a:spcPts val="800"/>
              </a:spcAft>
              <a:buFont typeface="Arial"/>
              <a:buChar char="•"/>
            </a:pPr>
            <a:r>
              <a:rPr sz="1700" b="0" i="0">
                <a:solidFill>
                  <a:srgbClr val="1E1E2E"/>
                </a:solidFill>
                <a:latin typeface="Arial"/>
              </a:rPr>
              <a:t>AI: models, agents, quality tests</a:t>
            </a:r>
          </a:p>
          <a:p>
            <a:pPr algn="l" marL="201168" indent="-201168">
              <a:spcAft>
                <a:spcPts val="800"/>
              </a:spcAft>
              <a:buFont typeface="Arial"/>
              <a:buChar char="•"/>
            </a:pPr>
            <a:r>
              <a:rPr sz="1700" b="0" i="0">
                <a:solidFill>
                  <a:srgbClr val="1E1E2E"/>
                </a:solidFill>
                <a:latin typeface="Arial"/>
              </a:rPr>
              <a:t>Data and Data Eng.: governance, ingestion</a:t>
            </a:r>
          </a:p>
          <a:p>
            <a:pPr algn="l" marL="201168" indent="-201168">
              <a:spcAft>
                <a:spcPts val="800"/>
              </a:spcAft>
              <a:buFont typeface="Arial"/>
              <a:buChar char="•"/>
            </a:pPr>
            <a:r>
              <a:rPr sz="1700" b="0" i="0">
                <a:solidFill>
                  <a:srgbClr val="1E1E2E"/>
                </a:solidFill>
                <a:latin typeface="Arial"/>
              </a:rPr>
              <a:t>Customer: data rights, risk acceptance</a:t>
            </a:r>
          </a:p>
        </p:txBody>
      </p:sp>
      <p:sp>
        <p:nvSpPr>
          <p:cNvPr id="14" name="Rounded Rectangle 13"/>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CIS Infra does not own model quality, application behaviour, data quality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shared platform, separate workloads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063240" cy="4343400"/>
          </a:xfrm>
          <a:prstGeom prst="roundRect">
            <a:avLst>
              <a:gd name="adj" fmla="val 298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43784" cy="237744"/>
          </a:xfrm>
          <a:prstGeom prst="rect">
            <a:avLst/>
          </a:prstGeom>
          <a:noFill/>
        </p:spPr>
        <p:txBody>
          <a:bodyPr wrap="square" lIns="0" rIns="0" tIns="0" bIns="0" anchor="t">
            <a:noAutofit/>
          </a:bodyPr>
          <a:lstStyle/>
          <a:p>
            <a:pPr algn="l"/>
            <a:r>
              <a:rPr sz="1100" b="1" i="0">
                <a:solidFill>
                  <a:srgbClr val="000048"/>
                </a:solidFill>
                <a:latin typeface="Arial"/>
              </a:rPr>
              <a:t>PLATFORM LANDING ZONE (SHARED)</a:t>
            </a:r>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764792"/>
            <a:ext cx="384048" cy="384048"/>
          </a:xfrm>
          <a:prstGeom prst="rect">
            <a:avLst/>
          </a:prstGeom>
        </p:spPr>
      </p:pic>
      <p:sp>
        <p:nvSpPr>
          <p:cNvPr id="11" name="TextBox 10"/>
          <p:cNvSpPr txBox="1"/>
          <p:nvPr/>
        </p:nvSpPr>
        <p:spPr>
          <a:xfrm>
            <a:off x="1078992" y="1728216"/>
            <a:ext cx="2267712" cy="457199"/>
          </a:xfrm>
          <a:prstGeom prst="rect">
            <a:avLst/>
          </a:prstGeom>
          <a:noFill/>
        </p:spPr>
        <p:txBody>
          <a:bodyPr wrap="square" lIns="0" rIns="0" tIns="0" bIns="0" anchor="ctr">
            <a:noAutofit/>
          </a:bodyPr>
          <a:lstStyle/>
          <a:p>
            <a:pPr algn="l"/>
            <a:r>
              <a:rPr sz="1300" b="1" i="0">
                <a:solidFill>
                  <a:srgbClr val="000048"/>
                </a:solidFill>
                <a:latin typeface="Arial"/>
              </a:rPr>
              <a:t>Management groups</a:t>
            </a:r>
          </a:p>
          <a:p>
            <a:pPr algn="l"/>
            <a:r>
              <a:rPr sz="1100" b="0" i="0">
                <a:solidFill>
                  <a:srgbClr val="53565A"/>
                </a:solidFill>
                <a:latin typeface="Arial"/>
              </a:rPr>
              <a:t>policy and RBAC inheritance</a:t>
            </a:r>
          </a:p>
        </p:txBody>
      </p:sp>
      <p:pic>
        <p:nvPicPr>
          <p:cNvPr id="12" name="Azure icon: Azure Policy" descr="Official Azure icon: Azure Policy"/>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359152"/>
            <a:ext cx="384048" cy="384048"/>
          </a:xfrm>
          <a:prstGeom prst="rect">
            <a:avLst/>
          </a:prstGeom>
        </p:spPr>
      </p:pic>
      <p:sp>
        <p:nvSpPr>
          <p:cNvPr id="13" name="TextBox 12"/>
          <p:cNvSpPr txBox="1"/>
          <p:nvPr/>
        </p:nvSpPr>
        <p:spPr>
          <a:xfrm>
            <a:off x="1078992" y="232257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Policy</a:t>
            </a:r>
          </a:p>
          <a:p>
            <a:pPr algn="l"/>
            <a:r>
              <a:rPr sz="1100" b="0" i="0">
                <a:solidFill>
                  <a:srgbClr val="53565A"/>
                </a:solidFill>
                <a:latin typeface="Arial"/>
              </a:rPr>
              <a:t>guardrails and tags</a:t>
            </a:r>
          </a:p>
        </p:txBody>
      </p:sp>
      <p:pic>
        <p:nvPicPr>
          <p:cNvPr id="14" name="Azure icon: Virtual Networks" descr="Official Azure icon: Virtual Networ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2953512"/>
            <a:ext cx="384048" cy="384048"/>
          </a:xfrm>
          <a:prstGeom prst="rect">
            <a:avLst/>
          </a:prstGeom>
        </p:spPr>
      </p:pic>
      <p:sp>
        <p:nvSpPr>
          <p:cNvPr id="15" name="TextBox 14"/>
          <p:cNvSpPr txBox="1"/>
          <p:nvPr/>
        </p:nvSpPr>
        <p:spPr>
          <a:xfrm>
            <a:off x="1078992" y="2916936"/>
            <a:ext cx="2267712" cy="457199"/>
          </a:xfrm>
          <a:prstGeom prst="rect">
            <a:avLst/>
          </a:prstGeom>
          <a:noFill/>
        </p:spPr>
        <p:txBody>
          <a:bodyPr wrap="square" lIns="0" rIns="0" tIns="0" bIns="0" anchor="ctr">
            <a:noAutofit/>
          </a:bodyPr>
          <a:lstStyle/>
          <a:p>
            <a:pPr algn="l"/>
            <a:r>
              <a:rPr sz="1300" b="1" i="0">
                <a:solidFill>
                  <a:srgbClr val="000048"/>
                </a:solidFill>
                <a:latin typeface="Arial"/>
              </a:rPr>
              <a:t>Hub virtual network</a:t>
            </a:r>
          </a:p>
          <a:p>
            <a:pPr algn="l"/>
            <a:r>
              <a:rPr sz="1100" b="0" i="0">
                <a:solidFill>
                  <a:srgbClr val="53565A"/>
                </a:solidFill>
                <a:latin typeface="Arial"/>
              </a:rPr>
              <a:t>peering to spokes</a:t>
            </a:r>
          </a:p>
        </p:txBody>
      </p:sp>
      <p:pic>
        <p:nvPicPr>
          <p:cNvPr id="16"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547872"/>
            <a:ext cx="384048" cy="384048"/>
          </a:xfrm>
          <a:prstGeom prst="rect">
            <a:avLst/>
          </a:prstGeom>
        </p:spPr>
      </p:pic>
      <p:sp>
        <p:nvSpPr>
          <p:cNvPr id="17" name="TextBox 16"/>
          <p:cNvSpPr txBox="1"/>
          <p:nvPr/>
        </p:nvSpPr>
        <p:spPr>
          <a:xfrm>
            <a:off x="1078992" y="351129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Firewall</a:t>
            </a:r>
          </a:p>
          <a:p>
            <a:pPr algn="l"/>
            <a:r>
              <a:rPr sz="1100" b="0" i="0">
                <a:solidFill>
                  <a:srgbClr val="53565A"/>
                </a:solidFill>
                <a:latin typeface="Arial"/>
              </a:rPr>
              <a:t>controlled egress</a:t>
            </a:r>
          </a:p>
        </p:txBody>
      </p:sp>
      <p:pic>
        <p:nvPicPr>
          <p:cNvPr id="18" name="Azure icon: DNS Private Resolver" descr="Official Azure icon: DNS Private Resolve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142232"/>
            <a:ext cx="384048" cy="384048"/>
          </a:xfrm>
          <a:prstGeom prst="rect">
            <a:avLst/>
          </a:prstGeom>
        </p:spPr>
      </p:pic>
      <p:sp>
        <p:nvSpPr>
          <p:cNvPr id="19" name="TextBox 18"/>
          <p:cNvSpPr txBox="1"/>
          <p:nvPr/>
        </p:nvSpPr>
        <p:spPr>
          <a:xfrm>
            <a:off x="1078992" y="4105656"/>
            <a:ext cx="2267712" cy="457199"/>
          </a:xfrm>
          <a:prstGeom prst="rect">
            <a:avLst/>
          </a:prstGeom>
          <a:noFill/>
        </p:spPr>
        <p:txBody>
          <a:bodyPr wrap="square" lIns="0" rIns="0" tIns="0" bIns="0" anchor="ctr">
            <a:noAutofit/>
          </a:bodyPr>
          <a:lstStyle/>
          <a:p>
            <a:pPr algn="l"/>
            <a:r>
              <a:rPr sz="1300" b="1" i="0">
                <a:solidFill>
                  <a:srgbClr val="000048"/>
                </a:solidFill>
                <a:latin typeface="Arial"/>
              </a:rPr>
              <a:t>DNS Private Resolver</a:t>
            </a:r>
          </a:p>
          <a:p>
            <a:pPr algn="l"/>
            <a:r>
              <a:rPr sz="1100" b="0" i="0">
                <a:solidFill>
                  <a:srgbClr val="53565A"/>
                </a:solidFill>
                <a:latin typeface="Arial"/>
              </a:rPr>
              <a:t>private DNS zones</a:t>
            </a:r>
          </a:p>
        </p:txBody>
      </p:sp>
      <p:pic>
        <p:nvPicPr>
          <p:cNvPr id="20" name="Azure icon: Entra Privileged Identity Management" descr="Official Azure icon: Entra Privileged Identity Management"/>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1792" y="4736592"/>
            <a:ext cx="384048" cy="384048"/>
          </a:xfrm>
          <a:prstGeom prst="rect">
            <a:avLst/>
          </a:prstGeom>
        </p:spPr>
      </p:pic>
      <p:sp>
        <p:nvSpPr>
          <p:cNvPr id="21" name="TextBox 20"/>
          <p:cNvSpPr txBox="1"/>
          <p:nvPr/>
        </p:nvSpPr>
        <p:spPr>
          <a:xfrm>
            <a:off x="1078992" y="4700016"/>
            <a:ext cx="2267712" cy="457199"/>
          </a:xfrm>
          <a:prstGeom prst="rect">
            <a:avLst/>
          </a:prstGeom>
          <a:noFill/>
        </p:spPr>
        <p:txBody>
          <a:bodyPr wrap="square" lIns="0" rIns="0" tIns="0" bIns="0" anchor="ctr">
            <a:noAutofit/>
          </a:bodyPr>
          <a:lstStyle/>
          <a:p>
            <a:pPr algn="l"/>
            <a:r>
              <a:rPr sz="1300" b="1" i="0">
                <a:solidFill>
                  <a:srgbClr val="000048"/>
                </a:solidFill>
                <a:latin typeface="Arial"/>
              </a:rPr>
              <a:t>Entra PIM</a:t>
            </a:r>
          </a:p>
          <a:p>
            <a:pPr algn="l"/>
            <a:r>
              <a:rPr sz="1100" b="0" i="0">
                <a:solidFill>
                  <a:srgbClr val="53565A"/>
                </a:solidFill>
                <a:latin typeface="Arial"/>
              </a:rPr>
              <a:t>privileged operator access</a:t>
            </a:r>
          </a:p>
        </p:txBody>
      </p:sp>
      <p:sp>
        <p:nvSpPr>
          <p:cNvPr id="22" name="Rounded Rectangle 21"/>
          <p:cNvSpPr/>
          <p:nvPr/>
        </p:nvSpPr>
        <p:spPr>
          <a:xfrm>
            <a:off x="3886200" y="1325880"/>
            <a:ext cx="7909560" cy="2423160"/>
          </a:xfrm>
          <a:prstGeom prst="roundRect">
            <a:avLst>
              <a:gd name="adj" fmla="val 3773"/>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95928" y="1380744"/>
            <a:ext cx="7690104" cy="237744"/>
          </a:xfrm>
          <a:prstGeom prst="rect">
            <a:avLst/>
          </a:prstGeom>
          <a:noFill/>
        </p:spPr>
        <p:txBody>
          <a:bodyPr wrap="square" lIns="0" rIns="0" tIns="0" bIns="0" anchor="t">
            <a:noAutofit/>
          </a:bodyPr>
          <a:lstStyle/>
          <a:p>
            <a:pPr algn="l"/>
            <a:r>
              <a:rPr sz="1100" b="1" i="0">
                <a:solidFill>
                  <a:srgbClr val="000048"/>
                </a:solidFill>
                <a:latin typeface="Arial"/>
              </a:rPr>
              <a:t>PRODUCTION WORKLOAD SUBSCRIPTION</a:t>
            </a:r>
          </a:p>
        </p:txBody>
      </p:sp>
      <p:pic>
        <p:nvPicPr>
          <p:cNvPr id="24" name="Azure icon: Application Gateways" descr="Official Azure icon: Application Gateway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25112" y="1783080"/>
            <a:ext cx="420624" cy="420624"/>
          </a:xfrm>
          <a:prstGeom prst="rect">
            <a:avLst/>
          </a:prstGeom>
        </p:spPr>
      </p:pic>
      <p:sp>
        <p:nvSpPr>
          <p:cNvPr id="25" name="TextBox 24"/>
          <p:cNvSpPr txBox="1"/>
          <p:nvPr/>
        </p:nvSpPr>
        <p:spPr>
          <a:xfrm>
            <a:off x="401421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Gateway</a:t>
            </a:r>
          </a:p>
          <a:p>
            <a:pPr algn="ctr"/>
            <a:r>
              <a:rPr sz="1000" b="0" i="0">
                <a:solidFill>
                  <a:srgbClr val="53565A"/>
                </a:solidFill>
                <a:latin typeface="Arial"/>
              </a:rPr>
              <a:t>WAF ingress</a:t>
            </a:r>
          </a:p>
        </p:txBody>
      </p:sp>
      <p:cxnSp>
        <p:nvCxnSpPr>
          <p:cNvPr id="26" name="Connector (flow)"/>
          <p:cNvCxnSpPr/>
          <p:nvPr/>
        </p:nvCxnSpPr>
        <p:spPr>
          <a:xfrm>
            <a:off x="500176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7" name="Azure icon: Container Apps Environments" descr="Official Azure icon: Container Apps Environment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513831" y="1783080"/>
            <a:ext cx="420624" cy="420624"/>
          </a:xfrm>
          <a:prstGeom prst="rect">
            <a:avLst/>
          </a:prstGeom>
        </p:spPr>
      </p:pic>
      <p:sp>
        <p:nvSpPr>
          <p:cNvPr id="28" name="TextBox 27"/>
          <p:cNvSpPr txBox="1"/>
          <p:nvPr/>
        </p:nvSpPr>
        <p:spPr>
          <a:xfrm>
            <a:off x="5202936"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host</a:t>
            </a:r>
          </a:p>
          <a:p>
            <a:pPr algn="ctr"/>
            <a:r>
              <a:rPr sz="1000" b="0" i="0">
                <a:solidFill>
                  <a:srgbClr val="53565A"/>
                </a:solidFill>
                <a:latin typeface="Arial"/>
              </a:rPr>
              <a:t>Container Apps</a:t>
            </a:r>
          </a:p>
        </p:txBody>
      </p:sp>
      <p:cxnSp>
        <p:nvCxnSpPr>
          <p:cNvPr id="29" name="Connector (flow)"/>
          <p:cNvCxnSpPr/>
          <p:nvPr/>
        </p:nvCxnSpPr>
        <p:spPr>
          <a:xfrm>
            <a:off x="619048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0" name="Azure icon: Microsoft Foundry" descr="Official Azure icon: Microsoft Foundry"/>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02551" y="1783080"/>
            <a:ext cx="420624" cy="420624"/>
          </a:xfrm>
          <a:prstGeom prst="rect">
            <a:avLst/>
          </a:prstGeom>
        </p:spPr>
      </p:pic>
      <p:sp>
        <p:nvSpPr>
          <p:cNvPr id="31" name="TextBox 30"/>
          <p:cNvSpPr txBox="1"/>
          <p:nvPr/>
        </p:nvSpPr>
        <p:spPr>
          <a:xfrm>
            <a:off x="639165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Foundry project</a:t>
            </a:r>
          </a:p>
          <a:p>
            <a:pPr algn="ctr"/>
            <a:r>
              <a:rPr sz="1000" b="0" i="0">
                <a:solidFill>
                  <a:srgbClr val="53565A"/>
                </a:solidFill>
                <a:latin typeface="Arial"/>
              </a:rPr>
              <a:t>agents</a:t>
            </a:r>
          </a:p>
        </p:txBody>
      </p:sp>
      <p:cxnSp>
        <p:nvCxnSpPr>
          <p:cNvPr id="32" name="Connector (flow)"/>
          <p:cNvCxnSpPr/>
          <p:nvPr/>
        </p:nvCxnSpPr>
        <p:spPr>
          <a:xfrm>
            <a:off x="7379208" y="1938528"/>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Azure icon: Foundry Models" descr="Official Azure icon: Foundry Model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891271" y="1783080"/>
            <a:ext cx="420624" cy="420624"/>
          </a:xfrm>
          <a:prstGeom prst="rect">
            <a:avLst/>
          </a:prstGeom>
        </p:spPr>
      </p:pic>
      <p:sp>
        <p:nvSpPr>
          <p:cNvPr id="34" name="TextBox 33"/>
          <p:cNvSpPr txBox="1"/>
          <p:nvPr/>
        </p:nvSpPr>
        <p:spPr>
          <a:xfrm>
            <a:off x="758037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Model</a:t>
            </a:r>
          </a:p>
          <a:p>
            <a:pPr algn="ctr"/>
            <a:r>
              <a:rPr sz="1000" b="0" i="0">
                <a:solidFill>
                  <a:srgbClr val="53565A"/>
                </a:solidFill>
                <a:latin typeface="Arial"/>
              </a:rPr>
              <a:t>deployment</a:t>
            </a:r>
          </a:p>
        </p:txBody>
      </p:sp>
      <p:sp>
        <p:nvSpPr>
          <p:cNvPr id="35" name="Rounded Rectangle 34"/>
          <p:cNvSpPr/>
          <p:nvPr/>
        </p:nvSpPr>
        <p:spPr>
          <a:xfrm>
            <a:off x="8778240" y="1673352"/>
            <a:ext cx="2926080" cy="1371600"/>
          </a:xfrm>
          <a:prstGeom prst="roundRect">
            <a:avLst>
              <a:gd name="adj" fmla="val 66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51392" y="1691640"/>
            <a:ext cx="2743200" cy="228600"/>
          </a:xfrm>
          <a:prstGeom prst="rect">
            <a:avLst/>
          </a:prstGeom>
          <a:noFill/>
        </p:spPr>
        <p:txBody>
          <a:bodyPr wrap="square" lIns="0" rIns="0" tIns="0" bIns="0" anchor="t">
            <a:noAutofit/>
          </a:bodyPr>
          <a:lstStyle/>
          <a:p>
            <a:pPr algn="l"/>
            <a:r>
              <a:rPr sz="1000" b="1" i="0">
                <a:solidFill>
                  <a:srgbClr val="53565A"/>
                </a:solidFill>
                <a:latin typeface="Arial"/>
              </a:rPr>
              <a:t>DATA AND SECRETS</a:t>
            </a:r>
          </a:p>
        </p:txBody>
      </p:sp>
      <p:pic>
        <p:nvPicPr>
          <p:cNvPr id="37" name="Azure icon: AI Search (Cognitive Search icon)" descr="Official Azure icon: AI Search (Cognitive Search icon)"/>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84563" y="1947672"/>
            <a:ext cx="384048" cy="384048"/>
          </a:xfrm>
          <a:prstGeom prst="rect">
            <a:avLst/>
          </a:prstGeom>
        </p:spPr>
      </p:pic>
      <p:sp>
        <p:nvSpPr>
          <p:cNvPr id="38" name="TextBox 37"/>
          <p:cNvSpPr txBox="1"/>
          <p:nvPr/>
        </p:nvSpPr>
        <p:spPr>
          <a:xfrm>
            <a:off x="8833103" y="2368296"/>
            <a:ext cx="886968" cy="277133"/>
          </a:xfrm>
          <a:prstGeom prst="rect">
            <a:avLst/>
          </a:prstGeom>
          <a:noFill/>
        </p:spPr>
        <p:txBody>
          <a:bodyPr wrap="square" lIns="0" rIns="0" tIns="0" bIns="0" anchor="t">
            <a:noAutofit/>
          </a:bodyPr>
          <a:lstStyle/>
          <a:p>
            <a:pPr algn="ctr"/>
            <a:r>
              <a:rPr sz="1100" b="1" i="0">
                <a:solidFill>
                  <a:srgbClr val="000048"/>
                </a:solidFill>
                <a:latin typeface="Arial"/>
              </a:rPr>
              <a:t>AI Search</a:t>
            </a:r>
          </a:p>
        </p:txBody>
      </p:sp>
      <p:pic>
        <p:nvPicPr>
          <p:cNvPr id="39"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044684" y="1947672"/>
            <a:ext cx="384048" cy="384048"/>
          </a:xfrm>
          <a:prstGeom prst="rect">
            <a:avLst/>
          </a:prstGeom>
        </p:spPr>
      </p:pic>
      <p:sp>
        <p:nvSpPr>
          <p:cNvPr id="40" name="TextBox 39"/>
          <p:cNvSpPr txBox="1"/>
          <p:nvPr/>
        </p:nvSpPr>
        <p:spPr>
          <a:xfrm>
            <a:off x="9793224" y="2368296"/>
            <a:ext cx="886968" cy="277133"/>
          </a:xfrm>
          <a:prstGeom prst="rect">
            <a:avLst/>
          </a:prstGeom>
          <a:noFill/>
        </p:spPr>
        <p:txBody>
          <a:bodyPr wrap="square" lIns="0" rIns="0" tIns="0" bIns="0" anchor="t">
            <a:noAutofit/>
          </a:bodyPr>
          <a:lstStyle/>
          <a:p>
            <a:pPr algn="ctr"/>
            <a:r>
              <a:rPr sz="1100" b="1" i="0">
                <a:solidFill>
                  <a:srgbClr val="000048"/>
                </a:solidFill>
                <a:latin typeface="Arial"/>
              </a:rPr>
              <a:t>Storage account</a:t>
            </a:r>
          </a:p>
        </p:txBody>
      </p:sp>
      <p:pic>
        <p:nvPicPr>
          <p:cNvPr id="41" name="Azure icon: Key Vault" descr="Official Azure icon: Key Vault"/>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004803" y="1947672"/>
            <a:ext cx="384048" cy="384048"/>
          </a:xfrm>
          <a:prstGeom prst="rect">
            <a:avLst/>
          </a:prstGeom>
        </p:spPr>
      </p:pic>
      <p:sp>
        <p:nvSpPr>
          <p:cNvPr id="42" name="TextBox 41"/>
          <p:cNvSpPr txBox="1"/>
          <p:nvPr/>
        </p:nvSpPr>
        <p:spPr>
          <a:xfrm>
            <a:off x="10753343" y="2368296"/>
            <a:ext cx="886968" cy="277133"/>
          </a:xfrm>
          <a:prstGeom prst="rect">
            <a:avLst/>
          </a:prstGeom>
          <a:noFill/>
        </p:spPr>
        <p:txBody>
          <a:bodyPr wrap="square" lIns="0" rIns="0" tIns="0" bIns="0" anchor="t">
            <a:noAutofit/>
          </a:bodyPr>
          <a:lstStyle/>
          <a:p>
            <a:pPr algn="ctr"/>
            <a:r>
              <a:rPr sz="1100" b="1" i="0">
                <a:solidFill>
                  <a:srgbClr val="000048"/>
                </a:solidFill>
                <a:latin typeface="Arial"/>
              </a:rPr>
              <a:t>Key Vault</a:t>
            </a:r>
          </a:p>
        </p:txBody>
      </p:sp>
      <p:cxnSp>
        <p:nvCxnSpPr>
          <p:cNvPr id="43" name="Connector (data)"/>
          <p:cNvCxnSpPr/>
          <p:nvPr/>
        </p:nvCxnSpPr>
        <p:spPr>
          <a:xfrm>
            <a:off x="8321040" y="2258568"/>
            <a:ext cx="45720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023360" y="3136391"/>
            <a:ext cx="7635240" cy="438912"/>
          </a:xfrm>
          <a:prstGeom prst="roundRect">
            <a:avLst>
              <a:gd name="adj" fmla="val 1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000048"/>
                </a:solidFill>
                <a:latin typeface="Arial"/>
              </a:rPr>
              <a:t>Private endpoints for Foundry, AI Search, Storage and Key Vault  ·  managed identities, no shared keys</a:t>
            </a:r>
          </a:p>
        </p:txBody>
      </p:sp>
      <p:pic>
        <p:nvPicPr>
          <p:cNvPr id="45" name="Azure icon: Private Endpoints" descr="Official Azure icon: Private Endpoin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320272" y="3172968"/>
            <a:ext cx="347472" cy="347472"/>
          </a:xfrm>
          <a:prstGeom prst="rect">
            <a:avLst/>
          </a:prstGeom>
        </p:spPr>
      </p:pic>
      <p:sp>
        <p:nvSpPr>
          <p:cNvPr id="46" name="Rounded Rectangle 45"/>
          <p:cNvSpPr/>
          <p:nvPr/>
        </p:nvSpPr>
        <p:spPr>
          <a:xfrm>
            <a:off x="3886200" y="3931920"/>
            <a:ext cx="7909560" cy="914400"/>
          </a:xfrm>
          <a:prstGeom prst="roundRect">
            <a:avLst>
              <a:gd name="adj" fmla="val 10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995928" y="3986783"/>
            <a:ext cx="7690104" cy="237744"/>
          </a:xfrm>
          <a:prstGeom prst="rect">
            <a:avLst/>
          </a:prstGeom>
          <a:noFill/>
        </p:spPr>
        <p:txBody>
          <a:bodyPr wrap="square" lIns="0" rIns="0" tIns="0" bIns="0" anchor="t">
            <a:noAutofit/>
          </a:bodyPr>
          <a:lstStyle/>
          <a:p>
            <a:pPr algn="l"/>
            <a:r>
              <a:rPr sz="1100" b="1" i="0">
                <a:solidFill>
                  <a:srgbClr val="000048"/>
                </a:solidFill>
                <a:latin typeface="Arial"/>
              </a:rPr>
              <a:t>NON-PRODUCTION SUBSCRIPTION (DEV, TEST)</a:t>
            </a:r>
          </a:p>
        </p:txBody>
      </p:sp>
      <p:sp>
        <p:nvSpPr>
          <p:cNvPr id="48" name="TextBox 47"/>
          <p:cNvSpPr txBox="1"/>
          <p:nvPr/>
        </p:nvSpPr>
        <p:spPr>
          <a:xfrm>
            <a:off x="4023360" y="4279392"/>
            <a:ext cx="7680960" cy="502920"/>
          </a:xfrm>
          <a:prstGeom prst="rect">
            <a:avLst/>
          </a:prstGeom>
          <a:noFill/>
        </p:spPr>
        <p:txBody>
          <a:bodyPr wrap="square" lIns="0" rIns="0" tIns="0" bIns="0" anchor="t">
            <a:noAutofit/>
          </a:bodyPr>
          <a:lstStyle/>
          <a:p>
            <a:pPr algn="l"/>
            <a:r>
              <a:rPr sz="1300" b="0" i="0">
                <a:solidFill>
                  <a:srgbClr val="53565A"/>
                </a:solidFill>
                <a:latin typeface="Arial"/>
              </a:rPr>
              <a:t>Same pattern, separate subscription, policies and identities. Promotion only through the pipeline.</a:t>
            </a:r>
          </a:p>
        </p:txBody>
      </p:sp>
      <p:sp>
        <p:nvSpPr>
          <p:cNvPr id="49" name="Rounded Rectangle 48"/>
          <p:cNvSpPr/>
          <p:nvPr/>
        </p:nvSpPr>
        <p:spPr>
          <a:xfrm>
            <a:off x="3886200" y="4983480"/>
            <a:ext cx="7909560" cy="68580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Azure icon: Azure DevOps" descr="Official Azure icon: Azure DevOps"/>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050791" y="5138927"/>
            <a:ext cx="347472" cy="347472"/>
          </a:xfrm>
          <a:prstGeom prst="rect">
            <a:avLst/>
          </a:prstGeom>
        </p:spPr>
      </p:pic>
      <p:sp>
        <p:nvSpPr>
          <p:cNvPr id="51" name="TextBox 50"/>
          <p:cNvSpPr txBox="1"/>
          <p:nvPr/>
        </p:nvSpPr>
        <p:spPr>
          <a:xfrm>
            <a:off x="4471416" y="5065776"/>
            <a:ext cx="1389888" cy="493776"/>
          </a:xfrm>
          <a:prstGeom prst="rect">
            <a:avLst/>
          </a:prstGeom>
          <a:noFill/>
        </p:spPr>
        <p:txBody>
          <a:bodyPr wrap="square" lIns="0" rIns="0" tIns="0" bIns="0" anchor="ctr">
            <a:noAutofit/>
          </a:bodyPr>
          <a:lstStyle/>
          <a:p>
            <a:pPr algn="l"/>
            <a:r>
              <a:rPr sz="1100" b="1" i="0">
                <a:solidFill>
                  <a:srgbClr val="000048"/>
                </a:solidFill>
                <a:latin typeface="Arial"/>
              </a:rPr>
              <a:t>IaC pipelines</a:t>
            </a:r>
          </a:p>
          <a:p>
            <a:pPr algn="l"/>
            <a:r>
              <a:rPr sz="900" b="0" i="0">
                <a:solidFill>
                  <a:srgbClr val="53565A"/>
                </a:solidFill>
                <a:latin typeface="Arial"/>
              </a:rPr>
              <a:t>approvals, promotion</a:t>
            </a:r>
          </a:p>
        </p:txBody>
      </p:sp>
      <p:pic>
        <p:nvPicPr>
          <p:cNvPr id="52" name="Azure icon: Log Analytics workspace" descr="Official Azure icon: Log Analytics workspace"/>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016752" y="5138927"/>
            <a:ext cx="347472" cy="347472"/>
          </a:xfrm>
          <a:prstGeom prst="rect">
            <a:avLst/>
          </a:prstGeom>
        </p:spPr>
      </p:pic>
      <p:sp>
        <p:nvSpPr>
          <p:cNvPr id="53" name="TextBox 52"/>
          <p:cNvSpPr txBox="1"/>
          <p:nvPr/>
        </p:nvSpPr>
        <p:spPr>
          <a:xfrm>
            <a:off x="6437376" y="5065776"/>
            <a:ext cx="1298448" cy="493776"/>
          </a:xfrm>
          <a:prstGeom prst="rect">
            <a:avLst/>
          </a:prstGeom>
          <a:noFill/>
        </p:spPr>
        <p:txBody>
          <a:bodyPr wrap="square" lIns="0" rIns="0" tIns="0" bIns="0" anchor="ctr">
            <a:noAutofit/>
          </a:bodyPr>
          <a:lstStyle/>
          <a:p>
            <a:pPr algn="l"/>
            <a:r>
              <a:rPr sz="1100" b="1" i="0">
                <a:solidFill>
                  <a:srgbClr val="000048"/>
                </a:solidFill>
                <a:latin typeface="Arial"/>
              </a:rPr>
              <a:t>Log Analytics</a:t>
            </a:r>
          </a:p>
          <a:p>
            <a:pPr algn="l"/>
            <a:r>
              <a:rPr sz="900" b="0" i="0">
                <a:solidFill>
                  <a:srgbClr val="53565A"/>
                </a:solidFill>
                <a:latin typeface="Arial"/>
              </a:rPr>
              <a:t>platform logs</a:t>
            </a:r>
          </a:p>
        </p:txBody>
      </p:sp>
      <p:pic>
        <p:nvPicPr>
          <p:cNvPr id="54" name="Azure icon: Application Insights" descr="Official Azure icon: Application Insights"/>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891272" y="5138927"/>
            <a:ext cx="347472" cy="347472"/>
          </a:xfrm>
          <a:prstGeom prst="rect">
            <a:avLst/>
          </a:prstGeom>
        </p:spPr>
      </p:pic>
      <p:sp>
        <p:nvSpPr>
          <p:cNvPr id="55" name="TextBox 54"/>
          <p:cNvSpPr txBox="1"/>
          <p:nvPr/>
        </p:nvSpPr>
        <p:spPr>
          <a:xfrm>
            <a:off x="8311896" y="5065776"/>
            <a:ext cx="1298448" cy="493776"/>
          </a:xfrm>
          <a:prstGeom prst="rect">
            <a:avLst/>
          </a:prstGeom>
          <a:noFill/>
        </p:spPr>
        <p:txBody>
          <a:bodyPr wrap="square" lIns="0" rIns="0" tIns="0" bIns="0" anchor="ctr">
            <a:noAutofit/>
          </a:bodyPr>
          <a:lstStyle/>
          <a:p>
            <a:pPr algn="l"/>
            <a:r>
              <a:rPr sz="1100" b="1" i="0">
                <a:solidFill>
                  <a:srgbClr val="000048"/>
                </a:solidFill>
                <a:latin typeface="Arial"/>
              </a:rPr>
              <a:t>App Insights</a:t>
            </a:r>
          </a:p>
          <a:p>
            <a:pPr algn="l"/>
            <a:r>
              <a:rPr sz="900" b="0" i="0">
                <a:solidFill>
                  <a:srgbClr val="53565A"/>
                </a:solidFill>
                <a:latin typeface="Arial"/>
              </a:rPr>
              <a:t>agent traces</a:t>
            </a:r>
          </a:p>
        </p:txBody>
      </p:sp>
      <p:pic>
        <p:nvPicPr>
          <p:cNvPr id="56" name="Azure icon: Cost Budgets" descr="Official Azure icon: Cost Budgets"/>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9765792" y="5138927"/>
            <a:ext cx="347472" cy="347472"/>
          </a:xfrm>
          <a:prstGeom prst="rect">
            <a:avLst/>
          </a:prstGeom>
        </p:spPr>
      </p:pic>
      <p:sp>
        <p:nvSpPr>
          <p:cNvPr id="57" name="TextBox 56"/>
          <p:cNvSpPr txBox="1"/>
          <p:nvPr/>
        </p:nvSpPr>
        <p:spPr>
          <a:xfrm>
            <a:off x="10186416" y="5065776"/>
            <a:ext cx="1481328" cy="493776"/>
          </a:xfrm>
          <a:prstGeom prst="rect">
            <a:avLst/>
          </a:prstGeom>
          <a:noFill/>
        </p:spPr>
        <p:txBody>
          <a:bodyPr wrap="square" lIns="0" rIns="0" tIns="0" bIns="0" anchor="ctr">
            <a:noAutofit/>
          </a:bodyPr>
          <a:lstStyle/>
          <a:p>
            <a:pPr algn="l"/>
            <a:r>
              <a:rPr sz="1100" b="1" i="0">
                <a:solidFill>
                  <a:srgbClr val="000048"/>
                </a:solidFill>
                <a:latin typeface="Arial"/>
              </a:rPr>
              <a:t>Budgets</a:t>
            </a:r>
          </a:p>
          <a:p>
            <a:pPr algn="l"/>
            <a:r>
              <a:rPr sz="900" b="0" i="0">
                <a:solidFill>
                  <a:srgbClr val="53565A"/>
                </a:solidFill>
                <a:latin typeface="Arial"/>
              </a:rPr>
              <a:t>cost alerts</a:t>
            </a:r>
          </a:p>
        </p:txBody>
      </p:sp>
      <p:cxnSp>
        <p:nvCxnSpPr>
          <p:cNvPr id="58" name="Connector (flow)"/>
          <p:cNvCxnSpPr/>
          <p:nvPr/>
        </p:nvCxnSpPr>
        <p:spPr>
          <a:xfrm>
            <a:off x="3474720" y="2971800"/>
            <a:ext cx="411480"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data)"/>
          <p:cNvCxnSpPr/>
          <p:nvPr/>
        </p:nvCxnSpPr>
        <p:spPr>
          <a:xfrm flipH="1">
            <a:off x="3474720" y="3474720"/>
            <a:ext cx="411480" cy="2286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24128" y="5806440"/>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62" name="Connector (data)"/>
          <p:cNvCxnSpPr/>
          <p:nvPr/>
        </p:nvCxnSpPr>
        <p:spPr>
          <a:xfrm>
            <a:off x="2743200" y="592531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18688" y="5806440"/>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sp>
        <p:nvSpPr>
          <p:cNvPr id="64" name="TextBox 63"/>
          <p:cNvSpPr txBox="1"/>
          <p:nvPr/>
        </p:nvSpPr>
        <p:spPr>
          <a:xfrm>
            <a:off x="5120640" y="5806440"/>
            <a:ext cx="6492240" cy="274320"/>
          </a:xfrm>
          <a:prstGeom prst="rect">
            <a:avLst/>
          </a:prstGeom>
          <a:noFill/>
        </p:spPr>
        <p:txBody>
          <a:bodyPr wrap="square" lIns="0" rIns="0" tIns="0" bIns="0" anchor="t">
            <a:noAutofit/>
          </a:bodyPr>
          <a:lstStyle/>
          <a:p>
            <a:pPr algn="l"/>
            <a:r>
              <a:rPr sz="1100" b="0" i="0">
                <a:solidFill>
                  <a:srgbClr val="53565A"/>
                </a:solidFill>
                <a:latin typeface="Arial"/>
              </a:rPr>
              <a:t>Double arrow: hub peering. Blue arrow: egress to hub firewall. Detail: appendix A5, A6.</a:t>
            </a:r>
          </a:p>
        </p:txBody>
      </p:sp>
      <p:sp>
        <p:nvSpPr>
          <p:cNvPr id="65" name="TextBox 64"/>
          <p:cNvSpPr txBox="1"/>
          <p:nvPr/>
        </p:nvSpPr>
        <p:spPr>
          <a:xfrm>
            <a:off x="548640" y="6108192"/>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routes, each priced as a separate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PACKAGES"/>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PACKAGES</a:t>
            </a:r>
          </a:p>
        </p:txBody>
      </p:sp>
      <p:sp>
        <p:nvSpPr>
          <p:cNvPr id="6" name="Status chip: NO APPROVED RATES"/>
          <p:cNvSpPr/>
          <p:nvPr/>
        </p:nvSpPr>
        <p:spPr>
          <a:xfrm>
            <a:off x="54927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RATES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9" name="TextBox 8"/>
          <p:cNvSpPr txBox="1"/>
          <p:nvPr/>
        </p:nvSpPr>
        <p:spPr>
          <a:xfrm>
            <a:off x="548640" y="1325880"/>
            <a:ext cx="11064240" cy="685800"/>
          </a:xfrm>
          <a:prstGeom prst="rect">
            <a:avLst/>
          </a:prstGeom>
          <a:noFill/>
        </p:spPr>
        <p:txBody>
          <a:bodyPr wrap="square" lIns="0" rIns="0" tIns="0" bIns="0" anchor="t">
            <a:noAutofit/>
          </a:bodyPr>
          <a:lstStyle/>
          <a:p>
            <a:pPr algn="l"/>
            <a:r>
              <a:rPr sz="1900" b="1" i="0">
                <a:solidFill>
                  <a:srgbClr val="2F78C4"/>
                </a:solidFill>
                <a:latin typeface="Arial"/>
              </a:rPr>
              <a:t>Proposition: </a:t>
            </a:r>
            <a:r>
              <a:rPr sz="1900" b="0" i="0">
                <a:solidFill>
                  <a:srgbClr val="1E1E2E"/>
                </a:solidFill>
                <a:latin typeface="Arial"/>
              </a:rPr>
              <a:t>a fixed-fee assessment converts platform uncertainty into a bounded, accepted implementation.</a:t>
            </a:r>
          </a:p>
        </p:txBody>
      </p:sp>
      <p:graphicFrame>
        <p:nvGraphicFramePr>
          <p:cNvPr id="10" name="Table"/>
          <p:cNvGraphicFramePr>
            <a:graphicFrameLocks noGrp="1"/>
          </p:cNvGraphicFramePr>
          <p:nvPr/>
        </p:nvGraphicFramePr>
        <p:xfrm>
          <a:off x="548640" y="2103120"/>
          <a:ext cx="11091672" cy="2773680"/>
        </p:xfrm>
        <a:graphic>
          <a:graphicData uri="http://schemas.openxmlformats.org/drawingml/2006/table">
            <a:tbl>
              <a:tblPr firstRow="1" bandRow="0">
                <a:tableStyleId>{5C22544A-7EE6-4342-B048-85BDC9FD1C3A}</a:tableStyleId>
              </a:tblPr>
              <a:tblGrid>
                <a:gridCol w="1737360"/>
                <a:gridCol w="2926080"/>
                <a:gridCol w="3566160"/>
                <a:gridCol w="2862072"/>
              </a:tblGrid>
              <a:tr h="335280">
                <a:tc>
                  <a:txBody>
                    <a:bodyPr wrap="square" anchor="ctr">
                      <a:noAutofit/>
                    </a:bodyPr>
                    <a:lstStyle/>
                    <a:p>
                      <a:pPr algn="l"/>
                      <a:r>
                        <a:rPr sz="1600" b="1" i="0">
                          <a:solidFill>
                            <a:srgbClr val="FFFFFF"/>
                          </a:solidFill>
                          <a:latin typeface="Arial"/>
                        </a:rPr>
                        <a:t>Route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Starting point</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What the customer receives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Pricing unit</a:t>
                      </a:r>
                    </a:p>
                  </a:txBody>
                  <a:tcPr marL="73152" marR="73152" marT="36576" marB="36576" anchor="ctr">
                    <a:solidFill>
                      <a:srgbClr val="000048"/>
                    </a:solidFill>
                  </a:tcPr>
                </a:tc>
              </a:tr>
              <a:tr h="609600">
                <a:tc>
                  <a:txBody>
                    <a:bodyPr wrap="square" anchor="ctr">
                      <a:noAutofit/>
                    </a:bodyPr>
                    <a:lstStyle/>
                    <a:p>
                      <a:pPr algn="l"/>
                      <a:r>
                        <a:rPr sz="1700" b="1" i="0">
                          <a:solidFill>
                            <a:srgbClr val="1E1E2E"/>
                          </a:solidFill>
                          <a:latin typeface="Arial"/>
                        </a:rPr>
                        <a:t>Assess first</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Unknown access, connectivity, capacity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Gap register, decisions, priced resource list</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Fixed fee, bounded scope</a:t>
                      </a:r>
                    </a:p>
                  </a:txBody>
                  <a:tcPr marL="73152" marR="73152" marT="36576" marB="36576" anchor="ctr">
                    <a:solidFill>
                      <a:srgbClr val="FFFFFF"/>
                    </a:solidFill>
                  </a:tcPr>
                </a:tc>
              </a:tr>
              <a:tr h="609600">
                <a:tc>
                  <a:txBody>
                    <a:bodyPr wrap="square" anchor="ctr">
                      <a:noAutofit/>
                    </a:bodyPr>
                    <a:lstStyle/>
                    <a:p>
                      <a:pPr algn="l"/>
                      <a:r>
                        <a:rPr sz="1700" b="1" i="0">
                          <a:solidFill>
                            <a:srgbClr val="1E1E2E"/>
                          </a:solidFill>
                          <a:latin typeface="Arial"/>
                        </a:rPr>
                        <a:t>Extend</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Mature Azure landing zone in place</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AI workload environments and controls on it</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Role days x approved rate, per work package</a:t>
                      </a:r>
                    </a:p>
                  </a:txBody>
                  <a:tcPr marL="73152" marR="73152" marT="36576" marB="36576" anchor="ctr">
                    <a:solidFill>
                      <a:srgbClr val="F5F5F2"/>
                    </a:solidFill>
                  </a:tcPr>
                </a:tc>
              </a:tr>
              <a:tr h="609600">
                <a:tc>
                  <a:txBody>
                    <a:bodyPr wrap="square" anchor="ctr">
                      <a:noAutofit/>
                    </a:bodyPr>
                    <a:lstStyle/>
                    <a:p>
                      <a:pPr algn="l"/>
                      <a:r>
                        <a:rPr sz="1700" b="1" i="0">
                          <a:solidFill>
                            <a:srgbClr val="1E1E2E"/>
                          </a:solidFill>
                          <a:latin typeface="Arial"/>
                        </a:rPr>
                        <a:t>Establish</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Platform gaps or a new tenant scope</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Platform baseline plus AI environments</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Separate platform and AI work packages</a:t>
                      </a:r>
                    </a:p>
                  </a:txBody>
                  <a:tcPr marL="73152" marR="73152" marT="36576" marB="36576" anchor="ctr">
                    <a:solidFill>
                      <a:srgbClr val="FFFFFF"/>
                    </a:solidFill>
                  </a:tcPr>
                </a:tc>
              </a:tr>
              <a:tr h="609600">
                <a:tc>
                  <a:txBody>
                    <a:bodyPr wrap="square" anchor="ctr">
                      <a:noAutofit/>
                    </a:bodyPr>
                    <a:lstStyle/>
                    <a:p>
                      <a:pPr algn="l"/>
                      <a:r>
                        <a:rPr sz="1700" b="1" i="0">
                          <a:solidFill>
                            <a:srgbClr val="1E1E2E"/>
                          </a:solidFill>
                          <a:latin typeface="Arial"/>
                        </a:rPr>
                        <a:t>Transition</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Accepted build</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Runbooks, hypercare, operating handover</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Fixed fee with capped hypercare</a:t>
                      </a:r>
                    </a:p>
                  </a:txBody>
                  <a:tcPr marL="73152" marR="73152" marT="36576" marB="36576" anchor="ctr">
                    <a:solidFill>
                      <a:srgbClr val="F5F5F2"/>
                    </a:solidFill>
                  </a:tcPr>
                </a:tc>
              </a:tr>
            </a:tbl>
          </a:graphicData>
        </a:graphic>
      </p:graphicFrame>
      <p:sp>
        <p:nvSpPr>
          <p:cNvPr id="11" name="Rounded Rectangle 10"/>
          <p:cNvSpPr/>
          <p:nvPr/>
        </p:nvSpPr>
        <p:spPr>
          <a:xfrm>
            <a:off x="548640" y="562356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Azure consumption and model tokens are customer spend, not CIS Infra revenue. Recurring operations are priced in offering 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Dependencies and risks that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7" name="Table"/>
          <p:cNvGraphicFramePr>
            <a:graphicFrameLocks noGrp="1"/>
          </p:cNvGraphicFramePr>
          <p:nvPr/>
        </p:nvGraphicFramePr>
        <p:xfrm>
          <a:off x="548640" y="1371600"/>
          <a:ext cx="11091672" cy="3230880"/>
        </p:xfrm>
        <a:graphic>
          <a:graphicData uri="http://schemas.openxmlformats.org/drawingml/2006/table">
            <a:tbl>
              <a:tblPr firstRow="1" bandRow="0">
                <a:tableStyleId>{5C22544A-7EE6-4342-B048-85BDC9FD1C3A}</a:tableStyleId>
              </a:tblPr>
              <a:tblGrid>
                <a:gridCol w="3017520"/>
                <a:gridCol w="2377440"/>
                <a:gridCol w="3474720"/>
                <a:gridCol w="2221992"/>
              </a:tblGrid>
              <a:tr h="335280">
                <a:tc>
                  <a:txBody>
                    <a:bodyPr wrap="square" anchor="ctr">
                      <a:noAutofit/>
                    </a:bodyPr>
                    <a:lstStyle/>
                    <a:p>
                      <a:pPr algn="l"/>
                      <a:r>
                        <a:rPr sz="1600" b="1" i="0">
                          <a:solidFill>
                            <a:srgbClr val="FFFFFF"/>
                          </a:solidFill>
                          <a:latin typeface="Arial"/>
                        </a:rPr>
                        <a:t>Risk or dependency</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Effect if unmanaged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Owner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No funded workload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Empty platform, weak value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Qualify; sell assessment only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Account lead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Model, region or capacity unavailable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Redesign or delay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Verify deployment type and quota in assessment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AI with CIS Infra</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Tower capacity not committed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Critical path slips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Signed dependency register before quote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Hub, DNS or firewall gaps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Scope grows mid-build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Price the establish route explicitly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Slow customer access or approvals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Schedule slips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duties and dates in the SOW</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success will be measured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Status chip: TARGETS TO AGREE IN SOW"/>
          <p:cNvSpPr/>
          <p:nvPr/>
        </p:nvSpPr>
        <p:spPr>
          <a:xfrm>
            <a:off x="3658870" y="274320"/>
            <a:ext cx="22606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TO AGREE IN SOW</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graphicFrame>
        <p:nvGraphicFramePr>
          <p:cNvPr id="8" name="Table"/>
          <p:cNvGraphicFramePr>
            <a:graphicFrameLocks noGrp="1"/>
          </p:cNvGraphicFramePr>
          <p:nvPr/>
        </p:nvGraphicFramePr>
        <p:xfrm>
          <a:off x="548640" y="1371600"/>
          <a:ext cx="11091672" cy="3383280"/>
        </p:xfrm>
        <a:graphic>
          <a:graphicData uri="http://schemas.openxmlformats.org/drawingml/2006/table">
            <a:tbl>
              <a:tblPr firstRow="1" bandRow="0">
                <a:tableStyleId>{5C22544A-7EE6-4342-B048-85BDC9FD1C3A}</a:tableStyleId>
              </a:tblPr>
              <a:tblGrid>
                <a:gridCol w="2651760"/>
                <a:gridCol w="5577840"/>
                <a:gridCol w="2862072"/>
              </a:tblGrid>
              <a:tr h="335280">
                <a:tc>
                  <a:txBody>
                    <a:bodyPr wrap="square" anchor="ctr">
                      <a:noAutofit/>
                    </a:bodyPr>
                    <a:lstStyle/>
                    <a:p>
                      <a:pPr algn="l"/>
                      <a:r>
                        <a:rPr sz="1600" b="1" i="0">
                          <a:solidFill>
                            <a:srgbClr val="FFFFFF"/>
                          </a:solidFill>
                          <a:latin typeface="Arial"/>
                        </a:rPr>
                        <a:t>Measure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Definition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Owner</a:t>
                      </a:r>
                    </a:p>
                  </a:txBody>
                  <a:tcPr marL="73152" marR="73152" marT="36576" marB="36576" anchor="ctr">
                    <a:solidFill>
                      <a:srgbClr val="000048"/>
                    </a:solidFill>
                  </a:tcPr>
                </a:tc>
              </a:tr>
              <a:tr h="609600">
                <a:tc>
                  <a:txBody>
                    <a:bodyPr wrap="square" anchor="ctr">
                      <a:noAutofit/>
                    </a:bodyPr>
                    <a:lstStyle/>
                    <a:p>
                      <a:pPr algn="l"/>
                      <a:r>
                        <a:rPr sz="1700" b="1" i="0">
                          <a:solidFill>
                            <a:srgbClr val="1E1E2E"/>
                          </a:solidFill>
                          <a:latin typeface="Arial"/>
                        </a:rPr>
                        <a:t>Reproducible build</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Environment redeployed from versioned IaC; rollback test passes</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DevOps with CIS Infra</a:t>
                      </a:r>
                    </a:p>
                  </a:txBody>
                  <a:tcPr marL="73152" marR="73152" marT="36576" marB="36576" anchor="ctr">
                    <a:solidFill>
                      <a:srgbClr val="FFFFFF"/>
                    </a:solidFill>
                  </a:tcPr>
                </a:tc>
              </a:tr>
              <a:tr h="609600">
                <a:tc>
                  <a:txBody>
                    <a:bodyPr wrap="square" anchor="ctr">
                      <a:noAutofit/>
                    </a:bodyPr>
                    <a:lstStyle/>
                    <a:p>
                      <a:pPr algn="l"/>
                      <a:r>
                        <a:rPr sz="1700" b="1" i="0">
                          <a:solidFill>
                            <a:srgbClr val="1E1E2E"/>
                          </a:solidFill>
                          <a:latin typeface="Arial"/>
                        </a:rPr>
                        <a:t>Network controls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All agreed allowed paths pass and all denied paths fail</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CIS Infra, Security verifies</a:t>
                      </a:r>
                    </a:p>
                  </a:txBody>
                  <a:tcPr marL="73152" marR="73152" marT="36576" marB="36576" anchor="ctr">
                    <a:solidFill>
                      <a:srgbClr val="F5F5F2"/>
                    </a:solidFill>
                  </a:tcPr>
                </a:tc>
              </a:tr>
              <a:tr h="609600">
                <a:tc>
                  <a:txBody>
                    <a:bodyPr wrap="square" anchor="ctr">
                      <a:noAutofit/>
                    </a:bodyPr>
                    <a:lstStyle/>
                    <a:p>
                      <a:pPr algn="l"/>
                      <a:r>
                        <a:rPr sz="1700" b="1" i="0">
                          <a:solidFill>
                            <a:srgbClr val="1E1E2E"/>
                          </a:solidFill>
                          <a:latin typeface="Arial"/>
                        </a:rPr>
                        <a:t>Cost visibility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Share of in-scope resources with owner and cost-centre tags</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CIS Infra</a:t>
                      </a:r>
                    </a:p>
                  </a:txBody>
                  <a:tcPr marL="73152" marR="73152" marT="36576" marB="36576" anchor="ctr">
                    <a:solidFill>
                      <a:srgbClr val="FFFFFF"/>
                    </a:solidFill>
                  </a:tcPr>
                </a:tc>
              </a:tr>
              <a:tr h="609600">
                <a:tc>
                  <a:txBody>
                    <a:bodyPr wrap="square" anchor="ctr">
                      <a:noAutofit/>
                    </a:bodyPr>
                    <a:lstStyle/>
                    <a:p>
                      <a:pPr algn="l"/>
                      <a:r>
                        <a:rPr sz="1700" b="1" i="0">
                          <a:solidFill>
                            <a:srgbClr val="1E1E2E"/>
                          </a:solidFill>
                          <a:latin typeface="Arial"/>
                        </a:rPr>
                        <a:t>Operational readiness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Restore and containment drills recorded; runbooks accepted</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Integrated service owner</a:t>
                      </a:r>
                    </a:p>
                  </a:txBody>
                  <a:tcPr marL="73152" marR="73152" marT="36576" marB="36576" anchor="ctr">
                    <a:solidFill>
                      <a:srgbClr val="F5F5F2"/>
                    </a:solidFill>
                  </a:tcPr>
                </a:tc>
              </a:tr>
              <a:tr h="609600">
                <a:tc>
                  <a:txBody>
                    <a:bodyPr wrap="square" anchor="ctr">
                      <a:noAutofit/>
                    </a:bodyPr>
                    <a:lstStyle/>
                    <a:p>
                      <a:pPr algn="l"/>
                      <a:r>
                        <a:rPr sz="1700" b="1" i="0">
                          <a:solidFill>
                            <a:srgbClr val="1E1E2E"/>
                          </a:solidFill>
                          <a:latin typeface="Arial"/>
                        </a:rPr>
                        <a:t>Workload acceptance</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Business-approved evaluation set passes (separate milestone)</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Customer workload owner</a:t>
                      </a:r>
                    </a:p>
                  </a:txBody>
                  <a:tcPr marL="73152" marR="73152" marT="36576" marB="36576"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Decide now, and what waits for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7" name="Rounded Rectangle 6"/>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Leadership can decide now</a:t>
            </a:r>
          </a:p>
        </p:txBody>
      </p:sp>
      <p:sp>
        <p:nvSpPr>
          <p:cNvPr id="8" name="TextBox 7"/>
          <p:cNvSpPr txBox="1"/>
          <p:nvPr/>
        </p:nvSpPr>
        <p:spPr>
          <a:xfrm>
            <a:off x="548640" y="2057400"/>
            <a:ext cx="5394960" cy="3566160"/>
          </a:xfrm>
          <a:prstGeom prst="rect">
            <a:avLst/>
          </a:prstGeom>
          <a:noFill/>
        </p:spPr>
        <p:txBody>
          <a:bodyPr wrap="square" lIns="0" rIns="0" tIns="0" bIns="0" anchor="t">
            <a:noAutofit/>
          </a:bodyPr>
          <a:lstStyle/>
          <a:p>
            <a:pPr algn="l" marL="201168" indent="-201168">
              <a:spcAft>
                <a:spcPts val="1000"/>
              </a:spcAft>
              <a:buFont typeface="Arial"/>
              <a:buChar char="•"/>
            </a:pPr>
            <a:r>
              <a:rPr sz="1900" b="0" i="0">
                <a:solidFill>
                  <a:srgbClr val="1E1E2E"/>
                </a:solidFill>
                <a:latin typeface="Arial"/>
              </a:rPr>
              <a:t>Sponsor and named tower leads for a 30-day validation</a:t>
            </a:r>
          </a:p>
          <a:p>
            <a:pPr algn="l" marL="201168" indent="-201168">
              <a:spcAft>
                <a:spcPts val="1000"/>
              </a:spcAft>
              <a:buFont typeface="Arial"/>
              <a:buChar char="•"/>
            </a:pPr>
            <a:r>
              <a:rPr sz="1900" b="0" i="0">
                <a:solidFill>
                  <a:srgbClr val="1E1E2E"/>
                </a:solidFill>
                <a:latin typeface="Arial"/>
              </a:rPr>
              <a:t>Three routes and scope boundaries as the sales baseline</a:t>
            </a:r>
          </a:p>
          <a:p>
            <a:pPr algn="l" marL="201168" indent="-201168">
              <a:spcAft>
                <a:spcPts val="1000"/>
              </a:spcAft>
              <a:buFont typeface="Arial"/>
              <a:buChar char="•"/>
            </a:pPr>
            <a:r>
              <a:rPr sz="1900" b="0" i="0">
                <a:solidFill>
                  <a:srgbClr val="1E1E2E"/>
                </a:solidFill>
                <a:latin typeface="Arial"/>
              </a:rPr>
              <a:t>Assessment as the default entry offer</a:t>
            </a:r>
          </a:p>
          <a:p>
            <a:pPr algn="l" marL="201168" indent="-201168">
              <a:spcAft>
                <a:spcPts val="1000"/>
              </a:spcAft>
              <a:buFont typeface="Arial"/>
              <a:buChar char="•"/>
            </a:pPr>
            <a:r>
              <a:rPr sz="1900" b="0" i="0">
                <a:solidFill>
                  <a:srgbClr val="1E1E2E"/>
                </a:solidFill>
                <a:latin typeface="Arial"/>
              </a:rPr>
              <a:t>Who owns Terraform: DevOps unless Infra staffs it</a:t>
            </a:r>
          </a:p>
        </p:txBody>
      </p:sp>
      <p:sp>
        <p:nvSpPr>
          <p:cNvPr id="9" name="Rounded Rectangle 8"/>
          <p:cNvSpPr/>
          <p:nvPr/>
        </p:nvSpPr>
        <p:spPr>
          <a:xfrm>
            <a:off x="6245352" y="1371600"/>
            <a:ext cx="5394960" cy="548640"/>
          </a:xfrm>
          <a:prstGeom prst="roundRect">
            <a:avLst>
              <a:gd name="adj" fmla="val 1333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Depends on evidence or approval</a:t>
            </a:r>
          </a:p>
        </p:txBody>
      </p:sp>
      <p:sp>
        <p:nvSpPr>
          <p:cNvPr id="10" name="TextBox 9"/>
          <p:cNvSpPr txBox="1"/>
          <p:nvPr/>
        </p:nvSpPr>
        <p:spPr>
          <a:xfrm>
            <a:off x="6245352" y="2057400"/>
            <a:ext cx="5394960" cy="3566160"/>
          </a:xfrm>
          <a:prstGeom prst="rect">
            <a:avLst/>
          </a:prstGeom>
          <a:noFill/>
        </p:spPr>
        <p:txBody>
          <a:bodyPr wrap="square" lIns="0" rIns="0" tIns="0" bIns="0" anchor="t">
            <a:noAutofit/>
          </a:bodyPr>
          <a:lstStyle/>
          <a:p>
            <a:pPr algn="l" marL="201168" indent="-201168">
              <a:spcAft>
                <a:spcPts val="1000"/>
              </a:spcAft>
              <a:buFont typeface="Arial"/>
              <a:buChar char="•"/>
            </a:pPr>
            <a:r>
              <a:rPr sz="1900" b="0" i="0">
                <a:solidFill>
                  <a:srgbClr val="1E1E2E"/>
                </a:solidFill>
                <a:latin typeface="Arial"/>
              </a:rPr>
              <a:t>Sell rates and margin rules  </a:t>
            </a:r>
            <a:r>
              <a:rPr sz="1900" b="1" i="0">
                <a:solidFill>
                  <a:srgbClr val="7373D8"/>
                </a:solidFill>
                <a:latin typeface="Arial"/>
              </a:rPr>
              <a:t>Finance</a:t>
            </a:r>
          </a:p>
          <a:p>
            <a:pPr algn="l" marL="201168" indent="-201168">
              <a:spcAft>
                <a:spcPts val="1000"/>
              </a:spcAft>
              <a:buFont typeface="Arial"/>
              <a:buChar char="•"/>
            </a:pPr>
            <a:r>
              <a:rPr sz="1900" b="0" i="0">
                <a:solidFill>
                  <a:srgbClr val="1E1E2E"/>
                </a:solidFill>
                <a:latin typeface="Arial"/>
              </a:rPr>
              <a:t>Tower effort and availability  </a:t>
            </a:r>
            <a:r>
              <a:rPr sz="1900" b="1" i="0">
                <a:solidFill>
                  <a:srgbClr val="7373D8"/>
                </a:solidFill>
                <a:latin typeface="Arial"/>
              </a:rPr>
              <a:t>Tower leads</a:t>
            </a:r>
          </a:p>
          <a:p>
            <a:pPr algn="l" marL="201168" indent="-201168">
              <a:spcAft>
                <a:spcPts val="1000"/>
              </a:spcAft>
              <a:buFont typeface="Arial"/>
              <a:buChar char="•"/>
            </a:pPr>
            <a:r>
              <a:rPr sz="1900" b="0" i="0">
                <a:solidFill>
                  <a:srgbClr val="1E1E2E"/>
                </a:solidFill>
                <a:latin typeface="Arial"/>
              </a:rPr>
              <a:t>Reference estimate for extension  </a:t>
            </a:r>
            <a:r>
              <a:rPr sz="1900" b="1" i="0">
                <a:solidFill>
                  <a:srgbClr val="7373D8"/>
                </a:solidFill>
                <a:latin typeface="Arial"/>
              </a:rPr>
              <a:t>Pilot evidence</a:t>
            </a:r>
          </a:p>
          <a:p>
            <a:pPr algn="l" marL="201168" indent="-201168">
              <a:spcAft>
                <a:spcPts val="1000"/>
              </a:spcAft>
              <a:buFont typeface="Arial"/>
              <a:buChar char="•"/>
            </a:pPr>
            <a:r>
              <a:rPr sz="1900" b="0" i="0">
                <a:solidFill>
                  <a:srgbClr val="1E1E2E"/>
                </a:solidFill>
                <a:latin typeface="Arial"/>
              </a:rPr>
              <a:t>Approved demo environment and IaC assets  </a:t>
            </a:r>
            <a:r>
              <a:rPr sz="1900" b="1" i="0">
                <a:solidFill>
                  <a:srgbClr val="7373D8"/>
                </a:solidFill>
                <a:latin typeface="Arial"/>
              </a:rPr>
              <a:t>Pilot evidence</a:t>
            </a:r>
          </a:p>
          <a:p>
            <a:pPr algn="l" marL="201168" indent="-201168">
              <a:spcAft>
                <a:spcPts val="1000"/>
              </a:spcAft>
              <a:buFont typeface="Arial"/>
              <a:buChar char="•"/>
            </a:pPr>
            <a:r>
              <a:rPr sz="1900" b="0" i="0">
                <a:solidFill>
                  <a:srgbClr val="1E1E2E"/>
                </a:solidFill>
                <a:latin typeface="Arial"/>
              </a:rPr>
              <a:t>External launch and branding  </a:t>
            </a:r>
            <a:r>
              <a:rPr sz="1900" b="1" i="0">
                <a:solidFill>
                  <a:srgbClr val="7373D8"/>
                </a:solidFill>
                <a:latin typeface="Arial"/>
              </a:rPr>
              <a:t>Leadership after pilot</a:t>
            </a:r>
          </a:p>
        </p:txBody>
      </p:sp>
      <p:sp>
        <p:nvSpPr>
          <p:cNvPr id="11" name="Rounded Rectangle 10"/>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Next step: approve the validation, then review offer card, cost model and signed tower commitments.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Detailed architecture, networking, regional decisions, delivery readiness, RACI, revenue attribution, cost layers, original reference diagrams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97180"/>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Extend versus establish: what changes</a:t>
            </a:r>
          </a:p>
        </p:txBody>
      </p:sp>
      <p:sp>
        <p:nvSpPr>
          <p:cNvPr id="8" name="TextBox 7">
            <a:hlinkClick action="ppaction://hlinksldjump" r:id="rId5"/>
          </p:cNvPr>
          <p:cNvSpPr txBox="1"/>
          <p:nvPr/>
        </p:nvSpPr>
        <p:spPr>
          <a:xfrm>
            <a:off x="548640" y="1714500"/>
            <a:ext cx="5486400" cy="297180"/>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Proposed package structure</a:t>
            </a:r>
          </a:p>
        </p:txBody>
      </p:sp>
      <p:sp>
        <p:nvSpPr>
          <p:cNvPr id="9" name="TextBox 8">
            <a:hlinkClick action="ppaction://hlinksldjump" r:id="rId6"/>
          </p:cNvPr>
          <p:cNvSpPr txBox="1"/>
          <p:nvPr/>
        </p:nvSpPr>
        <p:spPr>
          <a:xfrm>
            <a:off x="548640" y="2011680"/>
            <a:ext cx="5486400" cy="297180"/>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Governance: management groups, policy, tags</a:t>
            </a:r>
          </a:p>
        </p:txBody>
      </p:sp>
      <p:sp>
        <p:nvSpPr>
          <p:cNvPr id="10" name="TextBox 9">
            <a:hlinkClick action="ppaction://hlinksldjump" r:id="rId7"/>
          </p:cNvPr>
          <p:cNvSpPr txBox="1"/>
          <p:nvPr/>
        </p:nvSpPr>
        <p:spPr>
          <a:xfrm>
            <a:off x="548640" y="2308860"/>
            <a:ext cx="5486400" cy="297180"/>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Identity, RBAC, managed identity, PIM</a:t>
            </a:r>
          </a:p>
        </p:txBody>
      </p:sp>
      <p:sp>
        <p:nvSpPr>
          <p:cNvPr id="11" name="TextBox 10">
            <a:hlinkClick action="ppaction://hlinksldjump" r:id="rId8"/>
          </p:cNvPr>
          <p:cNvSpPr txBox="1"/>
          <p:nvPr/>
        </p:nvSpPr>
        <p:spPr>
          <a:xfrm>
            <a:off x="548640" y="2606040"/>
            <a:ext cx="5486400" cy="297180"/>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Network: hub, spoke, private endpoints, DNS</a:t>
            </a:r>
          </a:p>
        </p:txBody>
      </p:sp>
      <p:sp>
        <p:nvSpPr>
          <p:cNvPr id="12" name="TextBox 11">
            <a:hlinkClick action="ppaction://hlinksldjump" r:id="rId9"/>
          </p:cNvPr>
          <p:cNvSpPr txBox="1"/>
          <p:nvPr/>
        </p:nvSpPr>
        <p:spPr>
          <a:xfrm>
            <a:off x="548640" y="2903220"/>
            <a:ext cx="5486400" cy="297180"/>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Controlled egress</a:t>
            </a:r>
          </a:p>
        </p:txBody>
      </p:sp>
      <p:sp>
        <p:nvSpPr>
          <p:cNvPr id="13" name="TextBox 12">
            <a:hlinkClick action="ppaction://hlinksldjump" r:id="rId10"/>
          </p:cNvPr>
          <p:cNvSpPr txBox="1"/>
          <p:nvPr/>
        </p:nvSpPr>
        <p:spPr>
          <a:xfrm>
            <a:off x="548640" y="3200400"/>
            <a:ext cx="5486400" cy="297180"/>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Inbound, runtime and outbound paths</a:t>
            </a:r>
          </a:p>
        </p:txBody>
      </p:sp>
      <p:sp>
        <p:nvSpPr>
          <p:cNvPr id="14" name="TextBox 13">
            <a:hlinkClick action="ppaction://hlinksldjump" r:id="rId11"/>
          </p:cNvPr>
          <p:cNvSpPr txBox="1"/>
          <p:nvPr/>
        </p:nvSpPr>
        <p:spPr>
          <a:xfrm>
            <a:off x="548640" y="3497580"/>
            <a:ext cx="5486400" cy="297180"/>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A8  </a:t>
            </a:r>
            <a:r>
              <a:rPr sz="1300" b="0" i="0">
                <a:solidFill>
                  <a:srgbClr val="1E1E2E"/>
                </a:solidFill>
                <a:latin typeface="Arial"/>
              </a:rPr>
              <a:t>Foundry workload baseline (simplified)</a:t>
            </a:r>
          </a:p>
        </p:txBody>
      </p:sp>
      <p:sp>
        <p:nvSpPr>
          <p:cNvPr id="15" name="TextBox 14">
            <a:hlinkClick action="ppaction://hlinksldjump" r:id="rId12"/>
          </p:cNvPr>
          <p:cNvSpPr txBox="1"/>
          <p:nvPr/>
        </p:nvSpPr>
        <p:spPr>
          <a:xfrm>
            <a:off x="548640" y="3794760"/>
            <a:ext cx="5486400" cy="297180"/>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A9  </a:t>
            </a:r>
            <a:r>
              <a:rPr sz="1300" b="0" i="0">
                <a:solidFill>
                  <a:srgbClr val="1E1E2E"/>
                </a:solidFill>
                <a:latin typeface="Arial"/>
              </a:rPr>
              <a:t>Foundry projects and agent hosting options</a:t>
            </a:r>
          </a:p>
        </p:txBody>
      </p:sp>
      <p:sp>
        <p:nvSpPr>
          <p:cNvPr id="16" name="TextBox 15">
            <a:hlinkClick action="ppaction://hlinksldjump" r:id="rId13"/>
          </p:cNvPr>
          <p:cNvSpPr txBox="1"/>
          <p:nvPr/>
        </p:nvSpPr>
        <p:spPr>
          <a:xfrm>
            <a:off x="548640" y="4091940"/>
            <a:ext cx="5486400" cy="297180"/>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A10  </a:t>
            </a:r>
            <a:r>
              <a:rPr sz="1300" b="0" i="0">
                <a:solidFill>
                  <a:srgbClr val="1E1E2E"/>
                </a:solidFill>
                <a:latin typeface="Arial"/>
              </a:rPr>
              <a:t>Search, storage and data dependencies</a:t>
            </a:r>
          </a:p>
        </p:txBody>
      </p:sp>
      <p:sp>
        <p:nvSpPr>
          <p:cNvPr id="17" name="TextBox 16">
            <a:hlinkClick action="ppaction://hlinksldjump" r:id="rId14"/>
          </p:cNvPr>
          <p:cNvSpPr txBox="1"/>
          <p:nvPr/>
        </p:nvSpPr>
        <p:spPr>
          <a:xfrm>
            <a:off x="548640" y="4389120"/>
            <a:ext cx="5486400" cy="297180"/>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IaC, CI/CD and promotion</a:t>
            </a:r>
          </a:p>
        </p:txBody>
      </p:sp>
      <p:sp>
        <p:nvSpPr>
          <p:cNvPr id="18" name="TextBox 17">
            <a:hlinkClick action="ppaction://hlinksldjump" r:id="rId15"/>
          </p:cNvPr>
          <p:cNvSpPr txBox="1"/>
          <p:nvPr/>
        </p:nvSpPr>
        <p:spPr>
          <a:xfrm>
            <a:off x="548640" y="4686300"/>
            <a:ext cx="5486400" cy="297180"/>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Environment separation</a:t>
            </a:r>
          </a:p>
        </p:txBody>
      </p:sp>
      <p:sp>
        <p:nvSpPr>
          <p:cNvPr id="19" name="TextBox 18">
            <a:hlinkClick action="ppaction://hlinksldjump" r:id="rId16"/>
          </p:cNvPr>
          <p:cNvSpPr txBox="1"/>
          <p:nvPr/>
        </p:nvSpPr>
        <p:spPr>
          <a:xfrm>
            <a:off x="548640" y="4983480"/>
            <a:ext cx="5486400" cy="297180"/>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Monitoring, budgets, containment, recovery</a:t>
            </a:r>
          </a:p>
        </p:txBody>
      </p:sp>
      <p:sp>
        <p:nvSpPr>
          <p:cNvPr id="20" name="TextBox 19">
            <a:hlinkClick action="ppaction://hlinksldjump" r:id="rId17"/>
          </p:cNvPr>
          <p:cNvSpPr txBox="1"/>
          <p:nvPr/>
        </p:nvSpPr>
        <p:spPr>
          <a:xfrm>
            <a:off x="548640" y="5280660"/>
            <a:ext cx="5486400" cy="297180"/>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A14  </a:t>
            </a:r>
            <a:r>
              <a:rPr sz="1300" b="0" i="0">
                <a:solidFill>
                  <a:srgbClr val="1E1E2E"/>
                </a:solidFill>
                <a:latin typeface="Arial"/>
              </a:rPr>
              <a:t>Deployment types and processing boundary</a:t>
            </a:r>
          </a:p>
        </p:txBody>
      </p:sp>
      <p:sp>
        <p:nvSpPr>
          <p:cNvPr id="21" name="TextBox 20">
            <a:hlinkClick action="ppaction://hlinksldjump" r:id="rId18"/>
          </p:cNvPr>
          <p:cNvSpPr txBox="1"/>
          <p:nvPr/>
        </p:nvSpPr>
        <p:spPr>
          <a:xfrm>
            <a:off x="548640" y="5577840"/>
            <a:ext cx="5486400" cy="297180"/>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A15  </a:t>
            </a:r>
            <a:r>
              <a:rPr sz="1300" b="0" i="0">
                <a:solidFill>
                  <a:srgbClr val="1E1E2E"/>
                </a:solidFill>
                <a:latin typeface="Arial"/>
              </a:rPr>
              <a:t>Model availability snapshot by region</a:t>
            </a:r>
          </a:p>
        </p:txBody>
      </p:sp>
      <p:sp>
        <p:nvSpPr>
          <p:cNvPr id="22" name="TextBox 21">
            <a:hlinkClick action="ppaction://hlinksldjump" r:id="rId19"/>
          </p:cNvPr>
          <p:cNvSpPr txBox="1"/>
          <p:nvPr/>
        </p:nvSpPr>
        <p:spPr>
          <a:xfrm>
            <a:off x="548640" y="5875020"/>
            <a:ext cx="5486400" cy="297180"/>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A16  </a:t>
            </a:r>
            <a:r>
              <a:rPr sz="1300" b="0" i="0">
                <a:solidFill>
                  <a:srgbClr val="1E1E2E"/>
                </a:solidFill>
                <a:latin typeface="Arial"/>
              </a:rPr>
              <a:t>Included baseline and separately scoped work</a:t>
            </a:r>
          </a:p>
        </p:txBody>
      </p:sp>
      <p:sp>
        <p:nvSpPr>
          <p:cNvPr id="23" name="TextBox 22">
            <a:hlinkClick action="ppaction://hlinksldjump" r:id="rId20"/>
          </p:cNvPr>
          <p:cNvSpPr txBox="1"/>
          <p:nvPr/>
        </p:nvSpPr>
        <p:spPr>
          <a:xfrm>
            <a:off x="6217920" y="1417320"/>
            <a:ext cx="5486400" cy="297180"/>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A17  </a:t>
            </a:r>
            <a:r>
              <a:rPr sz="1300" b="0" i="0">
                <a:solidFill>
                  <a:srgbClr val="1E1E2E"/>
                </a:solidFill>
                <a:latin typeface="Arial"/>
              </a:rPr>
              <a:t>Acceptance gates and evidence</a:t>
            </a:r>
          </a:p>
        </p:txBody>
      </p:sp>
      <p:sp>
        <p:nvSpPr>
          <p:cNvPr id="24" name="TextBox 23">
            <a:hlinkClick action="ppaction://hlinksldjump" r:id="rId21"/>
          </p:cNvPr>
          <p:cNvSpPr txBox="1"/>
          <p:nvPr/>
        </p:nvSpPr>
        <p:spPr>
          <a:xfrm>
            <a:off x="6217920" y="1714500"/>
            <a:ext cx="5486400" cy="297180"/>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A18  </a:t>
            </a:r>
            <a:r>
              <a:rPr sz="1300" b="0" i="0">
                <a:solidFill>
                  <a:srgbClr val="1E1E2E"/>
                </a:solidFill>
                <a:latin typeface="Arial"/>
              </a:rPr>
              <a:t>Effort drivers and change control</a:t>
            </a:r>
          </a:p>
        </p:txBody>
      </p:sp>
      <p:sp>
        <p:nvSpPr>
          <p:cNvPr id="25" name="TextBox 24">
            <a:hlinkClick action="ppaction://hlinksldjump" r:id="rId22"/>
          </p:cNvPr>
          <p:cNvSpPr txBox="1"/>
          <p:nvPr/>
        </p:nvSpPr>
        <p:spPr>
          <a:xfrm>
            <a:off x="6217920" y="2011680"/>
            <a:ext cx="5486400" cy="297180"/>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A19  </a:t>
            </a:r>
            <a:r>
              <a:rPr sz="1300" b="0" i="0">
                <a:solidFill>
                  <a:srgbClr val="1E1E2E"/>
                </a:solidFill>
                <a:latin typeface="Arial"/>
              </a:rPr>
              <a:t>BOM checklist</a:t>
            </a:r>
          </a:p>
        </p:txBody>
      </p:sp>
      <p:sp>
        <p:nvSpPr>
          <p:cNvPr id="26" name="TextBox 25">
            <a:hlinkClick action="ppaction://hlinksldjump" r:id="rId23"/>
          </p:cNvPr>
          <p:cNvSpPr txBox="1"/>
          <p:nvPr/>
        </p:nvSpPr>
        <p:spPr>
          <a:xfrm>
            <a:off x="6217920" y="2308860"/>
            <a:ext cx="5486400" cy="297180"/>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C1  </a:t>
            </a:r>
            <a:r>
              <a:rPr sz="1300" b="0" i="0">
                <a:solidFill>
                  <a:srgbClr val="1E1E2E"/>
                </a:solidFill>
                <a:latin typeface="Arial"/>
              </a:rPr>
              <a:t>Cost layers and pricing formula</a:t>
            </a:r>
          </a:p>
        </p:txBody>
      </p:sp>
      <p:sp>
        <p:nvSpPr>
          <p:cNvPr id="27" name="TextBox 26">
            <a:hlinkClick action="ppaction://hlinksldjump" r:id="rId24"/>
          </p:cNvPr>
          <p:cNvSpPr txBox="1"/>
          <p:nvPr/>
        </p:nvSpPr>
        <p:spPr>
          <a:xfrm>
            <a:off x="6217920" y="2606040"/>
            <a:ext cx="5486400" cy="297180"/>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K  </a:t>
            </a:r>
            <a:r>
              <a:rPr sz="1300" b="0" i="0">
                <a:solidFill>
                  <a:srgbClr val="1E1E2E"/>
                </a:solidFill>
                <a:latin typeface="Arial"/>
              </a:rPr>
              <a:t>Kill-switch cross-reference</a:t>
            </a:r>
          </a:p>
        </p:txBody>
      </p:sp>
      <p:sp>
        <p:nvSpPr>
          <p:cNvPr id="28" name="TextBox 27">
            <a:hlinkClick action="ppaction://hlinksldjump" r:id="rId25"/>
          </p:cNvPr>
          <p:cNvSpPr txBox="1"/>
          <p:nvPr/>
        </p:nvSpPr>
        <p:spPr>
          <a:xfrm>
            <a:off x="6217920" y="2903220"/>
            <a:ext cx="5486400" cy="297180"/>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R1  </a:t>
            </a:r>
            <a:r>
              <a:rPr sz="1300" b="0" i="0">
                <a:solidFill>
                  <a:srgbClr val="1E1E2E"/>
                </a:solidFill>
                <a:latin typeface="Arial"/>
              </a:rPr>
              <a:t>RACI matrix</a:t>
            </a:r>
          </a:p>
        </p:txBody>
      </p:sp>
      <p:sp>
        <p:nvSpPr>
          <p:cNvPr id="29" name="TextBox 28">
            <a:hlinkClick action="ppaction://hlinksldjump" r:id="rId26"/>
          </p:cNvPr>
          <p:cNvSpPr txBox="1"/>
          <p:nvPr/>
        </p:nvSpPr>
        <p:spPr>
          <a:xfrm>
            <a:off x="6217920" y="3200400"/>
            <a:ext cx="5486400" cy="297180"/>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R2  </a:t>
            </a:r>
            <a:r>
              <a:rPr sz="1300" b="0" i="0">
                <a:solidFill>
                  <a:srgbClr val="1E1E2E"/>
                </a:solidFill>
                <a:latin typeface="Arial"/>
              </a:rPr>
              <a:t>Revenue attribution framework</a:t>
            </a:r>
          </a:p>
        </p:txBody>
      </p:sp>
      <p:sp>
        <p:nvSpPr>
          <p:cNvPr id="30" name="TextBox 29">
            <a:hlinkClick action="ppaction://hlinksldjump" r:id="rId27"/>
          </p:cNvPr>
          <p:cNvSpPr txBox="1"/>
          <p:nvPr/>
        </p:nvSpPr>
        <p:spPr>
          <a:xfrm>
            <a:off x="6217920" y="3497580"/>
            <a:ext cx="5486400" cy="297180"/>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R3  </a:t>
            </a:r>
            <a:r>
              <a:rPr sz="1300" b="0" i="0">
                <a:solidFill>
                  <a:srgbClr val="1E1E2E"/>
                </a:solidFill>
                <a:latin typeface="Arial"/>
              </a:rPr>
              <a:t>Delivery and commercial readiness</a:t>
            </a:r>
          </a:p>
        </p:txBody>
      </p:sp>
      <p:sp>
        <p:nvSpPr>
          <p:cNvPr id="31" name="TextBox 30">
            <a:hlinkClick action="ppaction://hlinksldjump" r:id="rId28"/>
          </p:cNvPr>
          <p:cNvSpPr txBox="1"/>
          <p:nvPr/>
        </p:nvSpPr>
        <p:spPr>
          <a:xfrm>
            <a:off x="6217920" y="3794760"/>
            <a:ext cx="5486400" cy="297180"/>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D1  </a:t>
            </a:r>
            <a:r>
              <a:rPr sz="1300" b="0" i="0">
                <a:solidFill>
                  <a:srgbClr val="1E1E2E"/>
                </a:solidFill>
                <a:latin typeface="Arial"/>
              </a:rPr>
              <a:t>Decision and approval register</a:t>
            </a:r>
          </a:p>
        </p:txBody>
      </p:sp>
      <p:sp>
        <p:nvSpPr>
          <p:cNvPr id="32" name="TextBox 31">
            <a:hlinkClick action="ppaction://hlinksldjump" r:id="rId29"/>
          </p:cNvPr>
          <p:cNvSpPr txBox="1"/>
          <p:nvPr/>
        </p:nvSpPr>
        <p:spPr>
          <a:xfrm>
            <a:off x="6217920" y="4091940"/>
            <a:ext cx="5486400" cy="297180"/>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O1  </a:t>
            </a:r>
            <a:r>
              <a:rPr sz="1300" b="0" i="0">
                <a:solidFill>
                  <a:srgbClr val="1E1E2E"/>
                </a:solidFill>
                <a:latin typeface="Arial"/>
              </a:rPr>
              <a:t>Original: AI landing zone with platform</a:t>
            </a:r>
          </a:p>
        </p:txBody>
      </p:sp>
      <p:sp>
        <p:nvSpPr>
          <p:cNvPr id="33" name="TextBox 32">
            <a:hlinkClick action="ppaction://hlinksldjump" r:id="rId30"/>
          </p:cNvPr>
          <p:cNvSpPr txBox="1"/>
          <p:nvPr/>
        </p:nvSpPr>
        <p:spPr>
          <a:xfrm>
            <a:off x="6217920" y="4389120"/>
            <a:ext cx="5486400" cy="297180"/>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O2  </a:t>
            </a:r>
            <a:r>
              <a:rPr sz="1300" b="0" i="0">
                <a:solidFill>
                  <a:srgbClr val="1E1E2E"/>
                </a:solidFill>
                <a:latin typeface="Arial"/>
              </a:rPr>
              <a:t>Original: Foundry baseline</a:t>
            </a:r>
          </a:p>
        </p:txBody>
      </p:sp>
      <p:sp>
        <p:nvSpPr>
          <p:cNvPr id="34" name="TextBox 33">
            <a:hlinkClick action="ppaction://hlinksldjump" r:id="rId31"/>
          </p:cNvPr>
          <p:cNvSpPr txBox="1"/>
          <p:nvPr/>
        </p:nvSpPr>
        <p:spPr>
          <a:xfrm>
            <a:off x="6217920" y="4686300"/>
            <a:ext cx="5486400" cy="297180"/>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O3  </a:t>
            </a:r>
            <a:r>
              <a:rPr sz="1300" b="0" i="0">
                <a:solidFill>
                  <a:srgbClr val="1E1E2E"/>
                </a:solidFill>
                <a:latin typeface="Arial"/>
              </a:rPr>
              <a:t>Original: landing zone networking</a:t>
            </a:r>
          </a:p>
        </p:txBody>
      </p:sp>
      <p:sp>
        <p:nvSpPr>
          <p:cNvPr id="35" name="TextBox 34">
            <a:hlinkClick action="ppaction://hlinksldjump" r:id="rId32"/>
          </p:cNvPr>
          <p:cNvSpPr txBox="1"/>
          <p:nvPr/>
        </p:nvSpPr>
        <p:spPr>
          <a:xfrm>
            <a:off x="6217920" y="4983480"/>
            <a:ext cx="5486400" cy="297180"/>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O4  </a:t>
            </a:r>
            <a:r>
              <a:rPr sz="1300" b="0" i="0">
                <a:solidFill>
                  <a:srgbClr val="1E1E2E"/>
                </a:solidFill>
                <a:latin typeface="Arial"/>
              </a:rPr>
              <a:t>Original: landing zone egress</a:t>
            </a:r>
          </a:p>
        </p:txBody>
      </p:sp>
      <p:sp>
        <p:nvSpPr>
          <p:cNvPr id="36" name="TextBox 35">
            <a:hlinkClick action="ppaction://hlinksldjump" r:id="rId33"/>
          </p:cNvPr>
          <p:cNvSpPr txBox="1"/>
          <p:nvPr/>
        </p:nvSpPr>
        <p:spPr>
          <a:xfrm>
            <a:off x="6217920" y="5280660"/>
            <a:ext cx="5486400" cy="297180"/>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O5  </a:t>
            </a:r>
            <a:r>
              <a:rPr sz="1300" b="0" i="0">
                <a:solidFill>
                  <a:srgbClr val="1E1E2E"/>
                </a:solidFill>
                <a:latin typeface="Arial"/>
              </a:rPr>
              <a:t>Original: CAF landing zone conceptual</a:t>
            </a:r>
          </a:p>
        </p:txBody>
      </p:sp>
      <p:sp>
        <p:nvSpPr>
          <p:cNvPr id="37" name="TextBox 36">
            <a:hlinkClick action="ppaction://hlinksldjump" r:id="rId34"/>
          </p:cNvPr>
          <p:cNvSpPr txBox="1"/>
          <p:nvPr/>
        </p:nvSpPr>
        <p:spPr>
          <a:xfrm>
            <a:off x="6217920" y="5577840"/>
            <a:ext cx="5486400" cy="297180"/>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Extending a landing zone versus building a new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8" name="Table"/>
          <p:cNvGraphicFramePr>
            <a:graphicFrameLocks noGrp="1"/>
          </p:cNvGraphicFramePr>
          <p:nvPr/>
        </p:nvGraphicFramePr>
        <p:xfrm>
          <a:off x="548640" y="1325880"/>
          <a:ext cx="11091672" cy="2987039"/>
        </p:xfrm>
        <a:graphic>
          <a:graphicData uri="http://schemas.openxmlformats.org/drawingml/2006/table">
            <a:tbl>
              <a:tblPr firstRow="1" bandRow="0">
                <a:tableStyleId>{5C22544A-7EE6-4342-B048-85BDC9FD1C3A}</a:tableStyleId>
              </a:tblPr>
              <a:tblGrid>
                <a:gridCol w="2103120"/>
                <a:gridCol w="4480560"/>
                <a:gridCol w="4507992"/>
              </a:tblGrid>
              <a:tr h="304800">
                <a:tc>
                  <a:txBody>
                    <a:bodyPr wrap="square" anchor="ctr">
                      <a:noAutofit/>
                    </a:bodyPr>
                    <a:lstStyle/>
                    <a:p>
                      <a:pPr algn="l"/>
                      <a:r>
                        <a:rPr sz="14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Extend an existing landing zone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Establish a new foundation</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Starting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Accepted management groups,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Gaps, no platform, or a new tenant or region</a:t>
                      </a:r>
                    </a:p>
                  </a:txBody>
                  <a:tcPr marL="73152" marR="73152" marT="36576" marB="36576" anchor="ctr">
                    <a:solidFill>
                      <a:srgbClr val="FFFFFF"/>
                    </a:solidFill>
                  </a:tcPr>
                </a:tc>
              </a:tr>
              <a:tr h="731519">
                <a:tc>
                  <a:txBody>
                    <a:bodyPr wrap="square" anchor="ctr">
                      <a:noAutofit/>
                    </a:bodyPr>
                    <a:lstStyle/>
                    <a:p>
                      <a:pPr algn="l"/>
                      <a:r>
                        <a:rPr sz="1400" b="1" i="0">
                          <a:solidFill>
                            <a:srgbClr val="1E1E2E"/>
                          </a:solidFill>
                          <a:latin typeface="Arial"/>
                        </a:rPr>
                        <a:t>CIS Infra builds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Workload subscriptions, spoke, private endpoints, AI resources, AI-specific policy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All of extend plus management groups, subscription vending, hub, DNS, firewall, identity integration</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Main risk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Hidden gaps in the existing platform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Larger change surface and customer decisions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Customer decisions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 workload placement and AI policies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design authority, connectivity, naming, policy baseline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Commercial basis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work packages only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Separate platform and AI work packages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Entry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Validation checklist passes in assessment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Assessment gap register approved</a:t>
                      </a:r>
                    </a:p>
                  </a:txBody>
                  <a:tcPr marL="73152" marR="73152" marT="36576" marB="36576" anchor="ctr">
                    <a:solidFill>
                      <a:srgbClr val="F5F5F2"/>
                    </a:solidFill>
                  </a:tcPr>
                </a:tc>
              </a:tr>
            </a:tbl>
          </a:graphicData>
        </a:graphic>
      </p:graphicFrame>
      <p:sp>
        <p:nvSpPr>
          <p:cNvPr id="9" name="Rounded Rectangle 8"/>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New foundations are not included in an extension price. Existing shared hubs are reused only after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package structure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Status chip: ESTIMATES, NOT COMMITMENTS"/>
          <p:cNvSpPr/>
          <p:nvPr/>
        </p:nvSpPr>
        <p:spPr>
          <a:xfrm>
            <a:off x="2955290" y="274320"/>
            <a:ext cx="25196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ESTIMATES, NOT COMMITMENTS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10" name="Rounded Rectangle 9"/>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Assessment</a:t>
            </a:r>
          </a:p>
          <a:p>
            <a:pPr algn="l"/>
            <a:r>
              <a:rPr sz="1300" b="0" i="0">
                <a:solidFill>
                  <a:srgbClr val="26EFE9"/>
                </a:solidFill>
                <a:latin typeface="Arial"/>
              </a:rPr>
              <a:t>Fixed fee</a:t>
            </a:r>
          </a:p>
        </p:txBody>
      </p:sp>
      <p:cxnSp>
        <p:nvCxnSpPr>
          <p:cNvPr id="11" name="Connector (flow)"/>
          <p:cNvCxnSpPr/>
          <p:nvPr/>
        </p:nvCxnSpPr>
        <p:spPr>
          <a:xfrm>
            <a:off x="4142232" y="1801368"/>
            <a:ext cx="155447"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Access and estate review</a:t>
            </a:r>
          </a:p>
          <a:p>
            <a:pPr algn="l" marL="201168" indent="-201168">
              <a:spcAft>
                <a:spcPts val="600"/>
              </a:spcAft>
              <a:buFont typeface="Arial"/>
              <a:buChar char="•"/>
            </a:pPr>
            <a:r>
              <a:rPr sz="1600" b="0" i="0">
                <a:solidFill>
                  <a:srgbClr val="1E1E2E"/>
                </a:solidFill>
                <a:latin typeface="Arial"/>
              </a:rPr>
              <a:t>Workload, region and capacity check</a:t>
            </a:r>
          </a:p>
          <a:p>
            <a:pPr algn="l" marL="201168" indent="-201168">
              <a:spcAft>
                <a:spcPts val="600"/>
              </a:spcAft>
              <a:buFont typeface="Arial"/>
              <a:buChar char="•"/>
            </a:pPr>
            <a:r>
              <a:rPr sz="1600" b="0" i="0">
                <a:solidFill>
                  <a:srgbClr val="1E1E2E"/>
                </a:solidFill>
                <a:latin typeface="Arial"/>
              </a:rPr>
              <a:t>Gap register and decisions</a:t>
            </a:r>
          </a:p>
          <a:p>
            <a:pPr algn="l" marL="201168" indent="-201168">
              <a:spcAft>
                <a:spcPts val="600"/>
              </a:spcAft>
              <a:buFont typeface="Arial"/>
              <a:buChar char="•"/>
            </a:pPr>
            <a:r>
              <a:rPr sz="1600" b="0" i="0">
                <a:solidFill>
                  <a:srgbClr val="1E1E2E"/>
                </a:solidFill>
                <a:latin typeface="Arial"/>
              </a:rPr>
              <a:t>Priced resource list and route</a:t>
            </a:r>
          </a:p>
        </p:txBody>
      </p:sp>
      <p:sp>
        <p:nvSpPr>
          <p:cNvPr id="13" name="Rounded Rectangle 12"/>
          <p:cNvSpPr/>
          <p:nvPr/>
        </p:nvSpPr>
        <p:spPr>
          <a:xfrm>
            <a:off x="548640"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Gap register and estimate accepted</a:t>
            </a:r>
          </a:p>
        </p:txBody>
      </p:sp>
      <p:sp>
        <p:nvSpPr>
          <p:cNvPr id="14" name="Rounded Rectangle 13"/>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Implementation</a:t>
            </a:r>
          </a:p>
          <a:p>
            <a:pPr algn="l"/>
            <a:r>
              <a:rPr sz="1300" b="0" i="0">
                <a:solidFill>
                  <a:srgbClr val="26EFE9"/>
                </a:solidFill>
                <a:latin typeface="Arial"/>
              </a:rPr>
              <a:t>Extend or establish</a:t>
            </a:r>
          </a:p>
        </p:txBody>
      </p:sp>
      <p:cxnSp>
        <p:nvCxnSpPr>
          <p:cNvPr id="15" name="Connector (flow)"/>
          <p:cNvCxnSpPr/>
          <p:nvPr/>
        </p:nvCxnSpPr>
        <p:spPr>
          <a:xfrm>
            <a:off x="7891271" y="1801368"/>
            <a:ext cx="15544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7679"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Platform or AI work packages</a:t>
            </a:r>
          </a:p>
          <a:p>
            <a:pPr algn="l" marL="201168" indent="-201168">
              <a:spcAft>
                <a:spcPts val="600"/>
              </a:spcAft>
              <a:buFont typeface="Arial"/>
              <a:buChar char="•"/>
            </a:pPr>
            <a:r>
              <a:rPr sz="1600" b="0" i="0">
                <a:solidFill>
                  <a:srgbClr val="1E1E2E"/>
                </a:solidFill>
                <a:latin typeface="Arial"/>
              </a:rPr>
              <a:t>IaC, pipelines and promotion</a:t>
            </a:r>
          </a:p>
          <a:p>
            <a:pPr algn="l" marL="201168" indent="-201168">
              <a:spcAft>
                <a:spcPts val="600"/>
              </a:spcAft>
              <a:buFont typeface="Arial"/>
              <a:buChar char="•"/>
            </a:pPr>
            <a:r>
              <a:rPr sz="1600" b="0" i="0">
                <a:solidFill>
                  <a:srgbClr val="1E1E2E"/>
                </a:solidFill>
                <a:latin typeface="Arial"/>
              </a:rPr>
              <a:t>Network, DNS, identity, policy</a:t>
            </a:r>
          </a:p>
          <a:p>
            <a:pPr algn="l" marL="201168" indent="-201168">
              <a:spcAft>
                <a:spcPts val="600"/>
              </a:spcAft>
              <a:buFont typeface="Arial"/>
              <a:buChar char="•"/>
            </a:pPr>
            <a:r>
              <a:rPr sz="1600" b="0" i="0">
                <a:solidFill>
                  <a:srgbClr val="1E1E2E"/>
                </a:solidFill>
                <a:latin typeface="Arial"/>
              </a:rPr>
              <a:t>Test evidence per gate</a:t>
            </a:r>
          </a:p>
        </p:txBody>
      </p:sp>
      <p:sp>
        <p:nvSpPr>
          <p:cNvPr id="17" name="Rounded Rectangle 16"/>
          <p:cNvSpPr/>
          <p:nvPr/>
        </p:nvSpPr>
        <p:spPr>
          <a:xfrm>
            <a:off x="4297679"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Platform gates passed</a:t>
            </a:r>
          </a:p>
        </p:txBody>
      </p:sp>
      <p:sp>
        <p:nvSpPr>
          <p:cNvPr id="18" name="Rounded Rectangle 17"/>
          <p:cNvSpPr/>
          <p:nvPr/>
        </p:nvSpPr>
        <p:spPr>
          <a:xfrm>
            <a:off x="804671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Operational transition</a:t>
            </a:r>
          </a:p>
          <a:p>
            <a:pPr algn="l"/>
            <a:r>
              <a:rPr sz="1300" b="0" i="0">
                <a:solidFill>
                  <a:srgbClr val="26EFE9"/>
                </a:solidFill>
                <a:latin typeface="Arial"/>
              </a:rPr>
              <a:t>Fixed fee, capped</a:t>
            </a:r>
          </a:p>
        </p:txBody>
      </p:sp>
      <p:sp>
        <p:nvSpPr>
          <p:cNvPr id="19" name="TextBox 18"/>
          <p:cNvSpPr txBox="1"/>
          <p:nvPr/>
        </p:nvSpPr>
        <p:spPr>
          <a:xfrm>
            <a:off x="8046719"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Runbooks and alert routing</a:t>
            </a:r>
          </a:p>
          <a:p>
            <a:pPr algn="l" marL="201168" indent="-201168">
              <a:spcAft>
                <a:spcPts val="600"/>
              </a:spcAft>
              <a:buFont typeface="Arial"/>
              <a:buChar char="•"/>
            </a:pPr>
            <a:r>
              <a:rPr sz="1600" b="0" i="0">
                <a:solidFill>
                  <a:srgbClr val="1E1E2E"/>
                </a:solidFill>
                <a:latin typeface="Arial"/>
              </a:rPr>
              <a:t>Restore and containment drills</a:t>
            </a:r>
          </a:p>
          <a:p>
            <a:pPr algn="l" marL="201168" indent="-201168">
              <a:spcAft>
                <a:spcPts val="600"/>
              </a:spcAft>
              <a:buFont typeface="Arial"/>
              <a:buChar char="•"/>
            </a:pPr>
            <a:r>
              <a:rPr sz="1600" b="0" i="0">
                <a:solidFill>
                  <a:srgbClr val="1E1E2E"/>
                </a:solidFill>
                <a:latin typeface="Arial"/>
              </a:rPr>
              <a:t>Hypercare window</a:t>
            </a:r>
          </a:p>
          <a:p>
            <a:pPr algn="l" marL="201168" indent="-201168">
              <a:spcAft>
                <a:spcPts val="600"/>
              </a:spcAft>
              <a:buFont typeface="Arial"/>
              <a:buChar char="•"/>
            </a:pPr>
            <a:r>
              <a:rPr sz="1600" b="0" i="0">
                <a:solidFill>
                  <a:srgbClr val="1E1E2E"/>
                </a:solidFill>
                <a:latin typeface="Arial"/>
              </a:rPr>
              <a:t>Handover to operations</a:t>
            </a:r>
          </a:p>
        </p:txBody>
      </p:sp>
      <p:sp>
        <p:nvSpPr>
          <p:cNvPr id="20" name="Rounded Rectangle 19"/>
          <p:cNvSpPr/>
          <p:nvPr/>
        </p:nvSpPr>
        <p:spPr>
          <a:xfrm>
            <a:off x="8046719"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Named owners accept</a:t>
            </a:r>
          </a:p>
        </p:txBody>
      </p:sp>
      <p:sp>
        <p:nvSpPr>
          <p:cNvPr id="21" name="Rounded Rectangle 20"/>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Reference effort for a bounded extension: about 88 role days across six towers before contingency (V3 proposal, illustrative).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Management groups, subscriptions, policy and tags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2194560" y="1371600"/>
            <a:ext cx="201168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67712" y="1444752"/>
            <a:ext cx="329184" cy="329184"/>
          </a:xfrm>
          <a:prstGeom prst="rect">
            <a:avLst/>
          </a:prstGeom>
        </p:spPr>
      </p:pic>
      <p:sp>
        <p:nvSpPr>
          <p:cNvPr id="11" name="TextBox 10"/>
          <p:cNvSpPr txBox="1"/>
          <p:nvPr/>
        </p:nvSpPr>
        <p:spPr>
          <a:xfrm>
            <a:off x="2670048" y="1408176"/>
            <a:ext cx="1499616" cy="402336"/>
          </a:xfrm>
          <a:prstGeom prst="rect">
            <a:avLst/>
          </a:prstGeom>
          <a:noFill/>
        </p:spPr>
        <p:txBody>
          <a:bodyPr wrap="square" lIns="0" rIns="0" tIns="0" bIns="0" anchor="ctr">
            <a:noAutofit/>
          </a:bodyPr>
          <a:lstStyle/>
          <a:p>
            <a:pPr algn="l"/>
            <a:r>
              <a:rPr sz="1200" b="1" i="0">
                <a:solidFill>
                  <a:srgbClr val="000048"/>
                </a:solidFill>
                <a:latin typeface="Arial"/>
              </a:rPr>
              <a:t>Tenant root group</a:t>
            </a:r>
          </a:p>
        </p:txBody>
      </p:sp>
      <p:sp>
        <p:nvSpPr>
          <p:cNvPr id="12" name="Rounded Rectangle 11"/>
          <p:cNvSpPr/>
          <p:nvPr/>
        </p:nvSpPr>
        <p:spPr>
          <a:xfrm>
            <a:off x="548640" y="219456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2267712"/>
            <a:ext cx="329184" cy="329184"/>
          </a:xfrm>
          <a:prstGeom prst="rect">
            <a:avLst/>
          </a:prstGeom>
        </p:spPr>
      </p:pic>
      <p:sp>
        <p:nvSpPr>
          <p:cNvPr id="14" name="TextBox 13"/>
          <p:cNvSpPr txBox="1"/>
          <p:nvPr/>
        </p:nvSpPr>
        <p:spPr>
          <a:xfrm>
            <a:off x="1024127" y="2231136"/>
            <a:ext cx="1591056" cy="402336"/>
          </a:xfrm>
          <a:prstGeom prst="rect">
            <a:avLst/>
          </a:prstGeom>
          <a:noFill/>
        </p:spPr>
        <p:txBody>
          <a:bodyPr wrap="square" lIns="0" rIns="0" tIns="0" bIns="0" anchor="ctr">
            <a:noAutofit/>
          </a:bodyPr>
          <a:lstStyle/>
          <a:p>
            <a:pPr algn="l"/>
            <a:r>
              <a:rPr sz="1200" b="1" i="0">
                <a:solidFill>
                  <a:srgbClr val="000048"/>
                </a:solidFill>
                <a:latin typeface="Arial"/>
              </a:rPr>
              <a:t>Platform</a:t>
            </a:r>
          </a:p>
        </p:txBody>
      </p:sp>
      <p:sp>
        <p:nvSpPr>
          <p:cNvPr id="15" name="Rounded Rectangle 14"/>
          <p:cNvSpPr/>
          <p:nvPr/>
        </p:nvSpPr>
        <p:spPr>
          <a:xfrm>
            <a:off x="3749039" y="2194560"/>
            <a:ext cx="228600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2191" y="2267712"/>
            <a:ext cx="329184" cy="329184"/>
          </a:xfrm>
          <a:prstGeom prst="rect">
            <a:avLst/>
          </a:prstGeom>
        </p:spPr>
      </p:pic>
      <p:sp>
        <p:nvSpPr>
          <p:cNvPr id="17" name="TextBox 16"/>
          <p:cNvSpPr txBox="1"/>
          <p:nvPr/>
        </p:nvSpPr>
        <p:spPr>
          <a:xfrm>
            <a:off x="4224528" y="2231136"/>
            <a:ext cx="1773936" cy="402336"/>
          </a:xfrm>
          <a:prstGeom prst="rect">
            <a:avLst/>
          </a:prstGeom>
          <a:noFill/>
        </p:spPr>
        <p:txBody>
          <a:bodyPr wrap="square" lIns="0" rIns="0" tIns="0" bIns="0" anchor="ctr">
            <a:noAutofit/>
          </a:bodyPr>
          <a:lstStyle/>
          <a:p>
            <a:pPr algn="l"/>
            <a:r>
              <a:rPr sz="1200" b="1" i="0">
                <a:solidFill>
                  <a:srgbClr val="000048"/>
                </a:solidFill>
                <a:latin typeface="Arial"/>
              </a:rPr>
              <a:t>Landing zones</a:t>
            </a:r>
          </a:p>
        </p:txBody>
      </p:sp>
      <p:sp>
        <p:nvSpPr>
          <p:cNvPr id="18" name="Rounded Rectangle 17"/>
          <p:cNvSpPr/>
          <p:nvPr/>
        </p:nvSpPr>
        <p:spPr>
          <a:xfrm>
            <a:off x="548640" y="301752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090671"/>
            <a:ext cx="329184" cy="329184"/>
          </a:xfrm>
          <a:prstGeom prst="rect">
            <a:avLst/>
          </a:prstGeom>
        </p:spPr>
      </p:pic>
      <p:sp>
        <p:nvSpPr>
          <p:cNvPr id="20" name="TextBox 19"/>
          <p:cNvSpPr txBox="1"/>
          <p:nvPr/>
        </p:nvSpPr>
        <p:spPr>
          <a:xfrm>
            <a:off x="1024127" y="3054096"/>
            <a:ext cx="1591056" cy="402336"/>
          </a:xfrm>
          <a:prstGeom prst="rect">
            <a:avLst/>
          </a:prstGeom>
          <a:noFill/>
        </p:spPr>
        <p:txBody>
          <a:bodyPr wrap="square" lIns="0" rIns="0" tIns="0" bIns="0" anchor="ctr">
            <a:noAutofit/>
          </a:bodyPr>
          <a:lstStyle/>
          <a:p>
            <a:pPr algn="l"/>
            <a:r>
              <a:rPr sz="1200" b="1" i="0">
                <a:solidFill>
                  <a:srgbClr val="000048"/>
                </a:solidFill>
                <a:latin typeface="Arial"/>
              </a:rPr>
              <a:t>Connectivity</a:t>
            </a:r>
          </a:p>
        </p:txBody>
      </p:sp>
      <p:sp>
        <p:nvSpPr>
          <p:cNvPr id="21" name="Rounded Rectangle 20"/>
          <p:cNvSpPr/>
          <p:nvPr/>
        </p:nvSpPr>
        <p:spPr>
          <a:xfrm>
            <a:off x="548640" y="361188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685032"/>
            <a:ext cx="329184" cy="329184"/>
          </a:xfrm>
          <a:prstGeom prst="rect">
            <a:avLst/>
          </a:prstGeom>
        </p:spPr>
      </p:pic>
      <p:sp>
        <p:nvSpPr>
          <p:cNvPr id="23" name="TextBox 22"/>
          <p:cNvSpPr txBox="1"/>
          <p:nvPr/>
        </p:nvSpPr>
        <p:spPr>
          <a:xfrm>
            <a:off x="1024127" y="3648456"/>
            <a:ext cx="1591056" cy="402336"/>
          </a:xfrm>
          <a:prstGeom prst="rect">
            <a:avLst/>
          </a:prstGeom>
          <a:noFill/>
        </p:spPr>
        <p:txBody>
          <a:bodyPr wrap="square" lIns="0" rIns="0" tIns="0" bIns="0" anchor="ctr">
            <a:noAutofit/>
          </a:bodyPr>
          <a:lstStyle/>
          <a:p>
            <a:pPr algn="l"/>
            <a:r>
              <a:rPr sz="1200" b="1" i="0">
                <a:solidFill>
                  <a:srgbClr val="000048"/>
                </a:solidFill>
                <a:latin typeface="Arial"/>
              </a:rPr>
              <a:t>Identity, management</a:t>
            </a:r>
          </a:p>
        </p:txBody>
      </p:sp>
      <p:sp>
        <p:nvSpPr>
          <p:cNvPr id="24" name="Rounded Rectangle 23"/>
          <p:cNvSpPr/>
          <p:nvPr/>
        </p:nvSpPr>
        <p:spPr>
          <a:xfrm>
            <a:off x="32004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3552" y="3090671"/>
            <a:ext cx="329184" cy="329184"/>
          </a:xfrm>
          <a:prstGeom prst="rect">
            <a:avLst/>
          </a:prstGeom>
        </p:spPr>
      </p:pic>
      <p:sp>
        <p:nvSpPr>
          <p:cNvPr id="26" name="TextBox 25"/>
          <p:cNvSpPr txBox="1"/>
          <p:nvPr/>
        </p:nvSpPr>
        <p:spPr>
          <a:xfrm>
            <a:off x="3675887"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Corp</a:t>
            </a:r>
          </a:p>
        </p:txBody>
      </p:sp>
      <p:sp>
        <p:nvSpPr>
          <p:cNvPr id="27" name="Rounded Rectangle 26"/>
          <p:cNvSpPr/>
          <p:nvPr/>
        </p:nvSpPr>
        <p:spPr>
          <a:xfrm>
            <a:off x="48006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73752" y="3090671"/>
            <a:ext cx="329184" cy="329184"/>
          </a:xfrm>
          <a:prstGeom prst="rect">
            <a:avLst/>
          </a:prstGeom>
        </p:spPr>
      </p:pic>
      <p:sp>
        <p:nvSpPr>
          <p:cNvPr id="29" name="TextBox 28"/>
          <p:cNvSpPr txBox="1"/>
          <p:nvPr/>
        </p:nvSpPr>
        <p:spPr>
          <a:xfrm>
            <a:off x="5276088"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Online</a:t>
            </a:r>
          </a:p>
        </p:txBody>
      </p:sp>
      <p:sp>
        <p:nvSpPr>
          <p:cNvPr id="30" name="Rounded Rectangle 29"/>
          <p:cNvSpPr/>
          <p:nvPr/>
        </p:nvSpPr>
        <p:spPr>
          <a:xfrm>
            <a:off x="3200400" y="384048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3913632"/>
            <a:ext cx="329184" cy="329184"/>
          </a:xfrm>
          <a:prstGeom prst="rect">
            <a:avLst/>
          </a:prstGeom>
        </p:spPr>
      </p:pic>
      <p:sp>
        <p:nvSpPr>
          <p:cNvPr id="32" name="TextBox 31"/>
          <p:cNvSpPr txBox="1"/>
          <p:nvPr/>
        </p:nvSpPr>
        <p:spPr>
          <a:xfrm>
            <a:off x="3675887" y="3877056"/>
            <a:ext cx="950976" cy="402336"/>
          </a:xfrm>
          <a:prstGeom prst="rect">
            <a:avLst/>
          </a:prstGeom>
          <a:noFill/>
        </p:spPr>
        <p:txBody>
          <a:bodyPr wrap="square" lIns="0" rIns="0" tIns="0" bIns="0" anchor="ctr">
            <a:noAutofit/>
          </a:bodyPr>
          <a:lstStyle/>
          <a:p>
            <a:pPr algn="l"/>
            <a:r>
              <a:rPr sz="1200" b="1" i="0">
                <a:solidFill>
                  <a:srgbClr val="000048"/>
                </a:solidFill>
                <a:latin typeface="Arial"/>
              </a:rPr>
              <a:t>AI prod</a:t>
            </a:r>
          </a:p>
        </p:txBody>
      </p:sp>
      <p:sp>
        <p:nvSpPr>
          <p:cNvPr id="33" name="Rounded Rectangle 32"/>
          <p:cNvSpPr/>
          <p:nvPr/>
        </p:nvSpPr>
        <p:spPr>
          <a:xfrm>
            <a:off x="3200400" y="443484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4507992"/>
            <a:ext cx="329184" cy="329184"/>
          </a:xfrm>
          <a:prstGeom prst="rect">
            <a:avLst/>
          </a:prstGeom>
        </p:spPr>
      </p:pic>
      <p:sp>
        <p:nvSpPr>
          <p:cNvPr id="35" name="TextBox 34"/>
          <p:cNvSpPr txBox="1"/>
          <p:nvPr/>
        </p:nvSpPr>
        <p:spPr>
          <a:xfrm>
            <a:off x="3675887" y="4471416"/>
            <a:ext cx="950976" cy="402336"/>
          </a:xfrm>
          <a:prstGeom prst="rect">
            <a:avLst/>
          </a:prstGeom>
          <a:noFill/>
        </p:spPr>
        <p:txBody>
          <a:bodyPr wrap="square" lIns="0" rIns="0" tIns="0" bIns="0" anchor="ctr">
            <a:noAutofit/>
          </a:bodyPr>
          <a:lstStyle/>
          <a:p>
            <a:pPr algn="l"/>
            <a:r>
              <a:rPr sz="1200" b="1" i="0">
                <a:solidFill>
                  <a:srgbClr val="000048"/>
                </a:solidFill>
                <a:latin typeface="Arial"/>
              </a:rPr>
              <a:t>AI non-prod</a:t>
            </a:r>
          </a:p>
        </p:txBody>
      </p:sp>
      <p:cxnSp>
        <p:nvCxnSpPr>
          <p:cNvPr id="36"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7" name="Connector (plain)"/>
          <p:cNvCxnSpPr/>
          <p:nvPr/>
        </p:nvCxnSpPr>
        <p:spPr>
          <a:xfrm flipH="1">
            <a:off x="1600200" y="2011680"/>
            <a:ext cx="160020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8" name="Connector (plain)"/>
          <p:cNvCxnSpPr/>
          <p:nvPr/>
        </p:nvCxnSpPr>
        <p:spPr>
          <a:xfrm>
            <a:off x="160020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9"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0" name="Connector (plain)"/>
          <p:cNvCxnSpPr/>
          <p:nvPr/>
        </p:nvCxnSpPr>
        <p:spPr>
          <a:xfrm>
            <a:off x="3200400" y="2011680"/>
            <a:ext cx="169164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1" name="Connector (plain)"/>
          <p:cNvCxnSpPr/>
          <p:nvPr/>
        </p:nvCxnSpPr>
        <p:spPr>
          <a:xfrm>
            <a:off x="489204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2" name="Connector (plain)"/>
          <p:cNvCxnSpPr/>
          <p:nvPr/>
        </p:nvCxnSpPr>
        <p:spPr>
          <a:xfrm>
            <a:off x="1600200" y="267004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3" name="Connector (plain)"/>
          <p:cNvCxnSpPr/>
          <p:nvPr/>
        </p:nvCxnSpPr>
        <p:spPr>
          <a:xfrm>
            <a:off x="640080" y="3255264"/>
            <a:ext cx="0" cy="59436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4" name="Connector (plain)"/>
          <p:cNvCxnSpPr/>
          <p:nvPr/>
        </p:nvCxnSpPr>
        <p:spPr>
          <a:xfrm>
            <a:off x="4892040" y="267004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5" name="Connector (plain)"/>
          <p:cNvCxnSpPr/>
          <p:nvPr/>
        </p:nvCxnSpPr>
        <p:spPr>
          <a:xfrm flipH="1">
            <a:off x="3931920" y="2834640"/>
            <a:ext cx="96012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6" name="Connector (plain)"/>
          <p:cNvCxnSpPr/>
          <p:nvPr/>
        </p:nvCxnSpPr>
        <p:spPr>
          <a:xfrm>
            <a:off x="39319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7" name="Connector (plain)"/>
          <p:cNvCxnSpPr/>
          <p:nvPr/>
        </p:nvCxnSpPr>
        <p:spPr>
          <a:xfrm>
            <a:off x="4892040" y="2834640"/>
            <a:ext cx="64008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8" name="Connector (plain)"/>
          <p:cNvCxnSpPr/>
          <p:nvPr/>
        </p:nvCxnSpPr>
        <p:spPr>
          <a:xfrm>
            <a:off x="55321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9" name="Connector (plain)"/>
          <p:cNvCxnSpPr/>
          <p:nvPr/>
        </p:nvCxnSpPr>
        <p:spPr>
          <a:xfrm>
            <a:off x="3931920" y="349300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0" name="Connector (plain)"/>
          <p:cNvCxnSpPr/>
          <p:nvPr/>
        </p:nvCxnSpPr>
        <p:spPr>
          <a:xfrm flipH="1">
            <a:off x="3127248" y="3493008"/>
            <a:ext cx="11887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1" name="Connector (plain)"/>
          <p:cNvCxnSpPr/>
          <p:nvPr/>
        </p:nvCxnSpPr>
        <p:spPr>
          <a:xfrm>
            <a:off x="3127248" y="3493008"/>
            <a:ext cx="0" cy="1179576"/>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2" name="Connector (plain)"/>
          <p:cNvCxnSpPr/>
          <p:nvPr/>
        </p:nvCxnSpPr>
        <p:spPr>
          <a:xfrm>
            <a:off x="3127248" y="4672584"/>
            <a:ext cx="7315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74920"/>
            <a:ext cx="5760720" cy="685800"/>
          </a:xfrm>
          <a:prstGeom prst="rect">
            <a:avLst/>
          </a:prstGeom>
          <a:noFill/>
        </p:spPr>
        <p:txBody>
          <a:bodyPr wrap="square" lIns="0" rIns="0" tIns="0" bIns="0" anchor="t">
            <a:noAutofit/>
          </a:bodyPr>
          <a:lstStyle/>
          <a:p>
            <a:pPr algn="l"/>
            <a:r>
              <a:rPr sz="1300" b="0" i="0">
                <a:solidFill>
                  <a:srgbClr val="53565A"/>
                </a:solidFill>
                <a:latin typeface="Arial"/>
              </a:rPr>
              <a:t>AI production and non-production are separate subscriptions under the Corp (or Online) group, inheriting platform policy.</a:t>
            </a:r>
          </a:p>
        </p:txBody>
      </p:sp>
      <p:graphicFrame>
        <p:nvGraphicFramePr>
          <p:cNvPr id="54" name="Table"/>
          <p:cNvGraphicFramePr>
            <a:graphicFrameLocks noGrp="1"/>
          </p:cNvGraphicFramePr>
          <p:nvPr/>
        </p:nvGraphicFramePr>
        <p:xfrm>
          <a:off x="6583680" y="1371600"/>
          <a:ext cx="5056632" cy="2743200"/>
        </p:xfrm>
        <a:graphic>
          <a:graphicData uri="http://schemas.openxmlformats.org/drawingml/2006/table">
            <a:tbl>
              <a:tblPr firstRow="1" bandRow="0">
                <a:tableStyleId>{5C22544A-7EE6-4342-B048-85BDC9FD1C3A}</a:tableStyleId>
              </a:tblPr>
              <a:tblGrid>
                <a:gridCol w="1463040"/>
                <a:gridCol w="3593592"/>
              </a:tblGrid>
              <a:tr h="274320">
                <a:tc>
                  <a:txBody>
                    <a:bodyPr wrap="square" anchor="ctr">
                      <a:noAutofit/>
                    </a:bodyPr>
                    <a:lstStyle/>
                    <a:p>
                      <a:pPr algn="l"/>
                      <a:r>
                        <a:rPr sz="12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Minimum baseline (proposed)</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Azure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Allowed regions and deployment types; deny public network access for AI, Search, Storage, Key Vault; require diagnostics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Tags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owner, workload, environment, cost-centre, data-classification, agent-id (where applicable)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Subscription vending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approval, naming and budget set at creation</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Cost ownership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Budget and alert per subscription and workload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Time-bound, approved by customer risk owner</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Identity, RBAC and privileged access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PROPOSED BASELINE"/>
          <p:cNvSpPr/>
          <p:nvPr/>
        </p:nvSpPr>
        <p:spPr>
          <a:xfrm>
            <a:off x="189865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BASELINE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895600"/>
        </p:xfrm>
        <a:graphic>
          <a:graphicData uri="http://schemas.openxmlformats.org/drawingml/2006/table">
            <a:tbl>
              <a:tblPr firstRow="1" bandRow="0">
                <a:tableStyleId>{5C22544A-7EE6-4342-B048-85BDC9FD1C3A}</a:tableStyleId>
              </a:tblPr>
              <a:tblGrid>
                <a:gridCol w="2194560"/>
                <a:gridCol w="3017520"/>
                <a:gridCol w="3931920"/>
                <a:gridCol w="1947672"/>
              </a:tblGrid>
              <a:tr h="304800">
                <a:tc>
                  <a:txBody>
                    <a:bodyPr wrap="square" anchor="ctr">
                      <a:noAutofit/>
                    </a:bodyPr>
                    <a:lstStyle/>
                    <a:p>
                      <a:pPr algn="l"/>
                      <a:r>
                        <a:rPr sz="1400" b="1" i="0">
                          <a:solidFill>
                            <a:srgbClr val="FFFFFF"/>
                          </a:solidFill>
                          <a:latin typeface="Arial"/>
                        </a:rPr>
                        <a:t>Identity type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Implemented by</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Workload managed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 host to Foundry, Search, Storage, Key Vault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Least-privilege data-plane roles; local auth disabled where supported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Agent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Agent calls to models, tools and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Scoped per agent and version; mapped server-side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with Security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Deployment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Pipelines that create resources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Federated credentials; no long-lived secrets; scoped per environment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DevOps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Privileged operators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administration and containment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PIM, just-in-time, approval for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Security designs, CIS Infra operates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Break-glass accounts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Emergency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Monitored, tested, excluded from automation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with Security</a:t>
                      </a:r>
                    </a:p>
                  </a:txBody>
                  <a:tcPr marL="73152" marR="73152" marT="36576" marB="36576" anchor="ctr">
                    <a:solidFill>
                      <a:srgbClr val="FFFFFF"/>
                    </a:solidFill>
                  </a:tcPr>
                </a:tc>
              </a:tr>
            </a:tbl>
          </a:graphicData>
        </a:graphic>
      </p:graphicFrame>
      <p:pic>
        <p:nvPicPr>
          <p:cNvPr id="10" name="Azure icon: Managed Identities" descr="Official Azure icon: Managed Identiti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257800"/>
            <a:ext cx="457200" cy="457200"/>
          </a:xfrm>
          <a:prstGeom prst="rect">
            <a:avLst/>
          </a:prstGeom>
        </p:spPr>
      </p:pic>
      <p:pic>
        <p:nvPicPr>
          <p:cNvPr id="11" name="Azure icon: Entra Privileged Identity Management" descr="Official Azure icon: Entra Privileged Identity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8719" y="5257800"/>
            <a:ext cx="457200" cy="457200"/>
          </a:xfrm>
          <a:prstGeom prst="rect">
            <a:avLst/>
          </a:prstGeom>
        </p:spPr>
      </p:pic>
      <p:pic>
        <p:nvPicPr>
          <p:cNvPr id="12" name="Azure icon: Key Vault" descr="Official Azure icon: Key Vaul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5257800"/>
            <a:ext cx="457200" cy="457200"/>
          </a:xfrm>
          <a:prstGeom prst="rect">
            <a:avLst/>
          </a:prstGeom>
        </p:spPr>
      </p:pic>
      <p:sp>
        <p:nvSpPr>
          <p:cNvPr id="13" name="TextBox 12"/>
          <p:cNvSpPr txBox="1"/>
          <p:nvPr/>
        </p:nvSpPr>
        <p:spPr>
          <a:xfrm>
            <a:off x="2514600" y="5303520"/>
            <a:ext cx="9052560" cy="457200"/>
          </a:xfrm>
          <a:prstGeom prst="rect">
            <a:avLst/>
          </a:prstGeom>
          <a:noFill/>
        </p:spPr>
        <p:txBody>
          <a:bodyPr wrap="square" lIns="0" rIns="0" tIns="0" bIns="0" anchor="t">
            <a:noAutofit/>
          </a:bodyPr>
          <a:lstStyle/>
          <a:p>
            <a:pPr algn="l"/>
            <a:r>
              <a:rPr sz="1400" b="0" i="0">
                <a:solidFill>
                  <a:srgbClr val="53565A"/>
                </a:solidFill>
                <a:latin typeface="Arial"/>
              </a:rPr>
              <a:t>Managed Identities, Entra Privileged Identity Management and Key Vault are the core Azure services for this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Hub connectivity, private endpoints and DNS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2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Rounded Rectangle 8"/>
          <p:cNvSpPr/>
          <p:nvPr/>
        </p:nvSpPr>
        <p:spPr>
          <a:xfrm>
            <a:off x="1920240" y="1325880"/>
            <a:ext cx="9875520" cy="269748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29968" y="1380744"/>
            <a:ext cx="9656064" cy="237744"/>
          </a:xfrm>
          <a:prstGeom prst="rect">
            <a:avLst/>
          </a:prstGeom>
          <a:noFill/>
        </p:spPr>
        <p:txBody>
          <a:bodyPr wrap="square" lIns="0" rIns="0" tIns="0" bIns="0" anchor="t">
            <a:noAutofit/>
          </a:bodyPr>
          <a:lstStyle/>
          <a:p>
            <a:pPr algn="l"/>
            <a:r>
              <a:rPr sz="1100" b="1" i="0">
                <a:solidFill>
                  <a:srgbClr val="000048"/>
                </a:solidFill>
                <a:latin typeface="Arial"/>
              </a:rPr>
              <a:t>WORKLOAD LANDING ZONE SUBSCRIPTION: SPOKE VIRTUAL NETWORK</a:t>
            </a:r>
          </a:p>
        </p:txBody>
      </p:sp>
      <p:sp>
        <p:nvSpPr>
          <p:cNvPr id="11" name="Rounded Rectangle 10"/>
          <p:cNvSpPr/>
          <p:nvPr/>
        </p:nvSpPr>
        <p:spPr>
          <a:xfrm>
            <a:off x="205740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3055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snet-appGateway</a:t>
            </a:r>
          </a:p>
        </p:txBody>
      </p:sp>
      <p:pic>
        <p:nvPicPr>
          <p:cNvPr id="13"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94560" y="2057400"/>
            <a:ext cx="384048" cy="384048"/>
          </a:xfrm>
          <a:prstGeom prst="rect">
            <a:avLst/>
          </a:prstGeom>
        </p:spPr>
      </p:pic>
      <p:sp>
        <p:nvSpPr>
          <p:cNvPr id="14" name="TextBox 13"/>
          <p:cNvSpPr txBox="1"/>
          <p:nvPr/>
        </p:nvSpPr>
        <p:spPr>
          <a:xfrm>
            <a:off x="265176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App Gateway + WAF</a:t>
            </a:r>
          </a:p>
        </p:txBody>
      </p:sp>
      <p:sp>
        <p:nvSpPr>
          <p:cNvPr id="15" name="Rounded Rectangle 14"/>
          <p:cNvSpPr/>
          <p:nvPr/>
        </p:nvSpPr>
        <p:spPr>
          <a:xfrm>
            <a:off x="406908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4223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snet-appServicePlan</a:t>
            </a:r>
          </a:p>
        </p:txBody>
      </p:sp>
      <p:pic>
        <p:nvPicPr>
          <p:cNvPr id="17"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2057400"/>
            <a:ext cx="384048" cy="384048"/>
          </a:xfrm>
          <a:prstGeom prst="rect">
            <a:avLst/>
          </a:prstGeom>
        </p:spPr>
      </p:pic>
      <p:sp>
        <p:nvSpPr>
          <p:cNvPr id="18" name="TextBox 17"/>
          <p:cNvSpPr txBox="1"/>
          <p:nvPr/>
        </p:nvSpPr>
        <p:spPr>
          <a:xfrm>
            <a:off x="466344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App Service integration</a:t>
            </a:r>
          </a:p>
        </p:txBody>
      </p:sp>
      <p:sp>
        <p:nvSpPr>
          <p:cNvPr id="19" name="Rounded Rectangle 18"/>
          <p:cNvSpPr/>
          <p:nvPr/>
        </p:nvSpPr>
        <p:spPr>
          <a:xfrm>
            <a:off x="608076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5391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snet-agentsEgress</a:t>
            </a:r>
          </a:p>
        </p:txBody>
      </p:sp>
      <p:pic>
        <p:nvPicPr>
          <p:cNvPr id="21"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0" y="2057400"/>
            <a:ext cx="384048" cy="384048"/>
          </a:xfrm>
          <a:prstGeom prst="rect">
            <a:avLst/>
          </a:prstGeom>
        </p:spPr>
      </p:pic>
      <p:sp>
        <p:nvSpPr>
          <p:cNvPr id="22" name="TextBox 21"/>
          <p:cNvSpPr txBox="1"/>
          <p:nvPr/>
        </p:nvSpPr>
        <p:spPr>
          <a:xfrm>
            <a:off x="667512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Agent Service integration</a:t>
            </a:r>
          </a:p>
        </p:txBody>
      </p:sp>
      <p:sp>
        <p:nvSpPr>
          <p:cNvPr id="23" name="Rounded Rectangle 22"/>
          <p:cNvSpPr/>
          <p:nvPr/>
        </p:nvSpPr>
        <p:spPr>
          <a:xfrm>
            <a:off x="8092440" y="1691640"/>
            <a:ext cx="3566160" cy="2194560"/>
          </a:xfrm>
          <a:prstGeom prst="roundRect">
            <a:avLst>
              <a:gd name="adj" fmla="val 41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65592" y="1719072"/>
            <a:ext cx="3474720" cy="237744"/>
          </a:xfrm>
          <a:prstGeom prst="rect">
            <a:avLst/>
          </a:prstGeom>
          <a:noFill/>
        </p:spPr>
        <p:txBody>
          <a:bodyPr wrap="square" lIns="0" rIns="0" tIns="0" bIns="0" anchor="t">
            <a:noAutofit/>
          </a:bodyPr>
          <a:lstStyle/>
          <a:p>
            <a:pPr algn="l"/>
            <a:r>
              <a:rPr sz="1000" b="1" i="0">
                <a:solidFill>
                  <a:srgbClr val="53565A"/>
                </a:solidFill>
                <a:latin typeface="Arial"/>
              </a:rPr>
              <a:t>snet-privateEndpoints</a:t>
            </a:r>
          </a:p>
        </p:txBody>
      </p:sp>
      <p:pic>
        <p:nvPicPr>
          <p:cNvPr id="2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011680"/>
            <a:ext cx="347472" cy="347472"/>
          </a:xfrm>
          <a:prstGeom prst="rect">
            <a:avLst/>
          </a:prstGeom>
        </p:spPr>
      </p:pic>
      <p:sp>
        <p:nvSpPr>
          <p:cNvPr id="26" name="TextBox 25"/>
          <p:cNvSpPr txBox="1"/>
          <p:nvPr/>
        </p:nvSpPr>
        <p:spPr>
          <a:xfrm>
            <a:off x="8183879"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App Service</a:t>
            </a:r>
          </a:p>
        </p:txBody>
      </p:sp>
      <p:pic>
        <p:nvPicPr>
          <p:cNvPr id="27"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011680"/>
            <a:ext cx="347472" cy="347472"/>
          </a:xfrm>
          <a:prstGeom prst="rect">
            <a:avLst/>
          </a:prstGeom>
        </p:spPr>
      </p:pic>
      <p:sp>
        <p:nvSpPr>
          <p:cNvPr id="28" name="TextBox 27"/>
          <p:cNvSpPr txBox="1"/>
          <p:nvPr/>
        </p:nvSpPr>
        <p:spPr>
          <a:xfrm>
            <a:off x="9345167"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Storage account</a:t>
            </a:r>
          </a:p>
        </p:txBody>
      </p:sp>
      <p:pic>
        <p:nvPicPr>
          <p:cNvPr id="29"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011680"/>
            <a:ext cx="347472" cy="347472"/>
          </a:xfrm>
          <a:prstGeom prst="rect">
            <a:avLst/>
          </a:prstGeom>
        </p:spPr>
      </p:pic>
      <p:sp>
        <p:nvSpPr>
          <p:cNvPr id="30" name="TextBox 29"/>
          <p:cNvSpPr txBox="1"/>
          <p:nvPr/>
        </p:nvSpPr>
        <p:spPr>
          <a:xfrm>
            <a:off x="10506455"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Key Vault</a:t>
            </a:r>
          </a:p>
        </p:txBody>
      </p:sp>
      <p:pic>
        <p:nvPicPr>
          <p:cNvPr id="31"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926080"/>
            <a:ext cx="347472" cy="347472"/>
          </a:xfrm>
          <a:prstGeom prst="rect">
            <a:avLst/>
          </a:prstGeom>
        </p:spPr>
      </p:pic>
      <p:sp>
        <p:nvSpPr>
          <p:cNvPr id="32" name="TextBox 31"/>
          <p:cNvSpPr txBox="1"/>
          <p:nvPr/>
        </p:nvSpPr>
        <p:spPr>
          <a:xfrm>
            <a:off x="8183879"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Foundry</a:t>
            </a:r>
          </a:p>
        </p:txBody>
      </p:sp>
      <p:pic>
        <p:nvPicPr>
          <p:cNvPr id="33"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926080"/>
            <a:ext cx="347472" cy="347472"/>
          </a:xfrm>
          <a:prstGeom prst="rect">
            <a:avLst/>
          </a:prstGeom>
        </p:spPr>
      </p:pic>
      <p:sp>
        <p:nvSpPr>
          <p:cNvPr id="34" name="TextBox 33"/>
          <p:cNvSpPr txBox="1"/>
          <p:nvPr/>
        </p:nvSpPr>
        <p:spPr>
          <a:xfrm>
            <a:off x="9345167"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AI Search</a:t>
            </a:r>
          </a:p>
        </p:txBody>
      </p:sp>
      <p:pic>
        <p:nvPicPr>
          <p:cNvPr id="3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926080"/>
            <a:ext cx="347472" cy="347472"/>
          </a:xfrm>
          <a:prstGeom prst="rect">
            <a:avLst/>
          </a:prstGeom>
        </p:spPr>
      </p:pic>
      <p:sp>
        <p:nvSpPr>
          <p:cNvPr id="36" name="TextBox 35"/>
          <p:cNvSpPr txBox="1"/>
          <p:nvPr/>
        </p:nvSpPr>
        <p:spPr>
          <a:xfrm>
            <a:off x="10506455"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Cosmos DB</a:t>
            </a:r>
          </a:p>
        </p:txBody>
      </p:sp>
      <p:sp>
        <p:nvSpPr>
          <p:cNvPr id="37" name="Rounded Rectangle 36"/>
          <p:cNvSpPr/>
          <p:nvPr/>
        </p:nvSpPr>
        <p:spPr>
          <a:xfrm>
            <a:off x="2057400" y="2926080"/>
            <a:ext cx="3931920" cy="960120"/>
          </a:xfrm>
          <a:prstGeom prst="roundRect">
            <a:avLst>
              <a:gd name="adj" fmla="val 9523"/>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30552" y="2953512"/>
            <a:ext cx="3840480" cy="237744"/>
          </a:xfrm>
          <a:prstGeom prst="rect">
            <a:avLst/>
          </a:prstGeom>
          <a:noFill/>
        </p:spPr>
        <p:txBody>
          <a:bodyPr wrap="square" lIns="0" rIns="0" tIns="0" bIns="0" anchor="t">
            <a:noAutofit/>
          </a:bodyPr>
          <a:lstStyle/>
          <a:p>
            <a:pPr algn="l"/>
            <a:r>
              <a:rPr sz="1000" b="1" i="0">
                <a:solidFill>
                  <a:srgbClr val="53565A"/>
                </a:solidFill>
                <a:latin typeface="Arial"/>
              </a:rPr>
              <a:t>snet-buildAgents, snet-jumpBoxes</a:t>
            </a:r>
          </a:p>
        </p:txBody>
      </p:sp>
      <p:pic>
        <p:nvPicPr>
          <p:cNvPr id="39" name="Azure icon: Virtual Machine" descr="Official Azure icon: Virtual Machin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40280" y="3246120"/>
            <a:ext cx="347472" cy="347472"/>
          </a:xfrm>
          <a:prstGeom prst="rect">
            <a:avLst/>
          </a:prstGeom>
        </p:spPr>
      </p:pic>
      <p:sp>
        <p:nvSpPr>
          <p:cNvPr id="40" name="TextBox 39"/>
          <p:cNvSpPr txBox="1"/>
          <p:nvPr/>
        </p:nvSpPr>
        <p:spPr>
          <a:xfrm>
            <a:off x="2651760" y="3273552"/>
            <a:ext cx="3291840" cy="457200"/>
          </a:xfrm>
          <a:prstGeom prst="rect">
            <a:avLst/>
          </a:prstGeom>
          <a:noFill/>
        </p:spPr>
        <p:txBody>
          <a:bodyPr wrap="square" lIns="0" rIns="0" tIns="0" bIns="0" anchor="t">
            <a:noAutofit/>
          </a:bodyPr>
          <a:lstStyle/>
          <a:p>
            <a:pPr algn="l"/>
            <a:r>
              <a:rPr sz="1100" b="0" i="0">
                <a:solidFill>
                  <a:srgbClr val="000048"/>
                </a:solidFill>
                <a:latin typeface="Arial"/>
              </a:rPr>
              <a:t>Build agents and jump boxes (via Bastion)</a:t>
            </a:r>
          </a:p>
        </p:txBody>
      </p:sp>
      <p:sp>
        <p:nvSpPr>
          <p:cNvPr id="41" name="TextBox 40"/>
          <p:cNvSpPr txBox="1"/>
          <p:nvPr/>
        </p:nvSpPr>
        <p:spPr>
          <a:xfrm>
            <a:off x="6126480" y="3017520"/>
            <a:ext cx="1920240" cy="868680"/>
          </a:xfrm>
          <a:prstGeom prst="rect">
            <a:avLst/>
          </a:prstGeom>
          <a:noFill/>
        </p:spPr>
        <p:txBody>
          <a:bodyPr wrap="square" lIns="0" rIns="0" tIns="0" bIns="0" anchor="t">
            <a:noAutofit/>
          </a:bodyPr>
          <a:lstStyle/>
          <a:p>
            <a:pPr algn="l"/>
            <a:r>
              <a:rPr sz="1000" b="0" i="0">
                <a:solidFill>
                  <a:srgbClr val="53565A"/>
                </a:solidFill>
                <a:latin typeface="Arial"/>
              </a:rPr>
              <a:t>All subnets: NSG and UDR 0.0.0.0/0 to hub firewall</a:t>
            </a:r>
          </a:p>
        </p:txBody>
      </p:sp>
      <p:sp>
        <p:nvSpPr>
          <p:cNvPr id="42" name="Rounded Rectangle 41"/>
          <p:cNvSpPr/>
          <p:nvPr/>
        </p:nvSpPr>
        <p:spPr>
          <a:xfrm>
            <a:off x="1920240" y="4343400"/>
            <a:ext cx="9875520" cy="1417320"/>
          </a:xfrm>
          <a:prstGeom prst="roundRect">
            <a:avLst>
              <a:gd name="adj" fmla="val 645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029968" y="4398264"/>
            <a:ext cx="9656064" cy="237744"/>
          </a:xfrm>
          <a:prstGeom prst="rect">
            <a:avLst/>
          </a:prstGeom>
          <a:noFill/>
        </p:spPr>
        <p:txBody>
          <a:bodyPr wrap="square" lIns="0" rIns="0" tIns="0" bIns="0" anchor="t">
            <a:noAutofit/>
          </a:bodyPr>
          <a:lstStyle/>
          <a:p>
            <a:pPr algn="l"/>
            <a:r>
              <a:rPr sz="1100" b="1" i="0">
                <a:solidFill>
                  <a:srgbClr val="000048"/>
                </a:solidFill>
                <a:latin typeface="Arial"/>
              </a:rPr>
              <a:t>PLATFORM LANDING ZONE: CONNECTIVITY SUBSCRIPTION</a:t>
            </a:r>
          </a:p>
        </p:txBody>
      </p:sp>
      <p:pic>
        <p:nvPicPr>
          <p:cNvPr id="44" name="Azure icon: Virtual Networks" descr="Official Azure icon: Virtual Network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30552" y="4782312"/>
            <a:ext cx="384048" cy="384048"/>
          </a:xfrm>
          <a:prstGeom prst="rect">
            <a:avLst/>
          </a:prstGeom>
        </p:spPr>
      </p:pic>
      <p:sp>
        <p:nvSpPr>
          <p:cNvPr id="45" name="TextBox 44"/>
          <p:cNvSpPr txBox="1"/>
          <p:nvPr/>
        </p:nvSpPr>
        <p:spPr>
          <a:xfrm>
            <a:off x="258775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Hub virtual network</a:t>
            </a:r>
          </a:p>
          <a:p>
            <a:pPr algn="l"/>
            <a:r>
              <a:rPr sz="1000" b="0" i="0">
                <a:solidFill>
                  <a:srgbClr val="53565A"/>
                </a:solidFill>
                <a:latin typeface="Arial"/>
              </a:rPr>
              <a:t>per region</a:t>
            </a:r>
          </a:p>
        </p:txBody>
      </p:sp>
      <p:pic>
        <p:nvPicPr>
          <p:cNvPr id="46" name="Azure icon: Firewalls" descr="Official Azure icon: Firewall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507992" y="4782312"/>
            <a:ext cx="384048" cy="384048"/>
          </a:xfrm>
          <a:prstGeom prst="rect">
            <a:avLst/>
          </a:prstGeom>
        </p:spPr>
      </p:pic>
      <p:sp>
        <p:nvSpPr>
          <p:cNvPr id="47" name="TextBox 46"/>
          <p:cNvSpPr txBox="1"/>
          <p:nvPr/>
        </p:nvSpPr>
        <p:spPr>
          <a:xfrm>
            <a:off x="496519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000" b="0" i="0">
                <a:solidFill>
                  <a:srgbClr val="53565A"/>
                </a:solidFill>
                <a:latin typeface="Arial"/>
              </a:rPr>
              <a:t>egress inspection</a:t>
            </a:r>
          </a:p>
        </p:txBody>
      </p:sp>
      <p:pic>
        <p:nvPicPr>
          <p:cNvPr id="48" name="Azure icon: DNS Private Resolver" descr="Official Azure icon: DNS Private Resolve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56832" y="4782312"/>
            <a:ext cx="384048" cy="384048"/>
          </a:xfrm>
          <a:prstGeom prst="rect">
            <a:avLst/>
          </a:prstGeom>
        </p:spPr>
      </p:pic>
      <p:sp>
        <p:nvSpPr>
          <p:cNvPr id="49" name="TextBox 48"/>
          <p:cNvSpPr txBox="1"/>
          <p:nvPr/>
        </p:nvSpPr>
        <p:spPr>
          <a:xfrm>
            <a:off x="711403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DNS Private Resolver</a:t>
            </a:r>
          </a:p>
          <a:p>
            <a:pPr algn="l"/>
            <a:r>
              <a:rPr sz="1000" b="0" i="0">
                <a:solidFill>
                  <a:srgbClr val="53565A"/>
                </a:solidFill>
                <a:latin typeface="Arial"/>
              </a:rPr>
              <a:t>linked rulesets</a:t>
            </a:r>
          </a:p>
        </p:txBody>
      </p:sp>
      <p:pic>
        <p:nvPicPr>
          <p:cNvPr id="50" name="Azure icon: DNS Zones" descr="Official Azure icon: DNS Zone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034272" y="4782312"/>
            <a:ext cx="384048" cy="384048"/>
          </a:xfrm>
          <a:prstGeom prst="rect">
            <a:avLst/>
          </a:prstGeom>
        </p:spPr>
      </p:pic>
      <p:sp>
        <p:nvSpPr>
          <p:cNvPr id="51" name="TextBox 50"/>
          <p:cNvSpPr txBox="1"/>
          <p:nvPr/>
        </p:nvSpPr>
        <p:spPr>
          <a:xfrm>
            <a:off x="949147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Private DNS zones</a:t>
            </a:r>
          </a:p>
          <a:p>
            <a:pPr algn="l"/>
            <a:r>
              <a:rPr sz="1000" b="0" i="0">
                <a:solidFill>
                  <a:srgbClr val="53565A"/>
                </a:solidFill>
                <a:latin typeface="Arial"/>
              </a:rPr>
              <a:t>for Private Link</a:t>
            </a:r>
          </a:p>
        </p:txBody>
      </p:sp>
      <p:pic>
        <p:nvPicPr>
          <p:cNvPr id="52" name="Azure icon: Users" descr="Official Azure icon: User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59536" y="1856231"/>
            <a:ext cx="384048" cy="384048"/>
          </a:xfrm>
          <a:prstGeom prst="rect">
            <a:avLst/>
          </a:prstGeom>
        </p:spPr>
      </p:pic>
      <p:sp>
        <p:nvSpPr>
          <p:cNvPr id="53" name="TextBox 52"/>
          <p:cNvSpPr txBox="1"/>
          <p:nvPr/>
        </p:nvSpPr>
        <p:spPr>
          <a:xfrm>
            <a:off x="448056" y="2276856"/>
            <a:ext cx="1207007" cy="310896"/>
          </a:xfrm>
          <a:prstGeom prst="rect">
            <a:avLst/>
          </a:prstGeom>
          <a:noFill/>
        </p:spPr>
        <p:txBody>
          <a:bodyPr wrap="square" lIns="0" rIns="0" tIns="0" bIns="0" anchor="t">
            <a:noAutofit/>
          </a:bodyPr>
          <a:lstStyle/>
          <a:p>
            <a:pPr algn="ctr"/>
            <a:r>
              <a:rPr sz="1300" b="1" i="0">
                <a:solidFill>
                  <a:srgbClr val="000048"/>
                </a:solidFill>
                <a:latin typeface="Arial"/>
              </a:rPr>
              <a:t>End users</a:t>
            </a:r>
          </a:p>
        </p:txBody>
      </p:sp>
      <p:pic>
        <p:nvPicPr>
          <p:cNvPr id="54" name="Azure icon: Virtual Network Gateways" descr="Official Azure icon: Virtual Network Gateway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5256" y="4507992"/>
            <a:ext cx="384048" cy="384048"/>
          </a:xfrm>
          <a:prstGeom prst="rect">
            <a:avLst/>
          </a:prstGeom>
        </p:spPr>
      </p:pic>
      <p:sp>
        <p:nvSpPr>
          <p:cNvPr id="55" name="TextBox 54"/>
          <p:cNvSpPr txBox="1"/>
          <p:nvPr/>
        </p:nvSpPr>
        <p:spPr>
          <a:xfrm>
            <a:off x="448056" y="4928616"/>
            <a:ext cx="1298448" cy="512064"/>
          </a:xfrm>
          <a:prstGeom prst="rect">
            <a:avLst/>
          </a:prstGeom>
          <a:noFill/>
        </p:spPr>
        <p:txBody>
          <a:bodyPr wrap="square" lIns="0" rIns="0" tIns="0" bIns="0" anchor="t">
            <a:noAutofit/>
          </a:bodyPr>
          <a:lstStyle/>
          <a:p>
            <a:pPr algn="ctr"/>
            <a:r>
              <a:rPr sz="1300" b="1" i="0">
                <a:solidFill>
                  <a:srgbClr val="000048"/>
                </a:solidFill>
                <a:latin typeface="Arial"/>
              </a:rPr>
              <a:t>On-premises</a:t>
            </a:r>
          </a:p>
          <a:p>
            <a:pPr algn="ctr"/>
            <a:r>
              <a:rPr sz="1100" b="0" i="0">
                <a:solidFill>
                  <a:srgbClr val="53565A"/>
                </a:solidFill>
                <a:latin typeface="Arial"/>
              </a:rPr>
              <a:t>VPN or ExpressRoute</a:t>
            </a:r>
          </a:p>
        </p:txBody>
      </p:sp>
      <p:cxnSp>
        <p:nvCxnSpPr>
          <p:cNvPr id="56" name="Connector (flow)"/>
          <p:cNvCxnSpPr/>
          <p:nvPr/>
        </p:nvCxnSpPr>
        <p:spPr>
          <a:xfrm>
            <a:off x="1463040" y="2011680"/>
            <a:ext cx="5943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554480" y="1600200"/>
            <a:ext cx="310896" cy="310896"/>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58" name="Connector (flow)"/>
          <p:cNvCxnSpPr/>
          <p:nvPr/>
        </p:nvCxnSpPr>
        <p:spPr>
          <a:xfrm>
            <a:off x="1783080" y="4754880"/>
            <a:ext cx="274320" cy="137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flow)"/>
          <p:cNvCxnSpPr/>
          <p:nvPr/>
        </p:nvCxnSpPr>
        <p:spPr>
          <a:xfrm>
            <a:off x="3017520" y="4023360"/>
            <a:ext cx="0" cy="32004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08960" y="4050791"/>
            <a:ext cx="1371600" cy="274320"/>
          </a:xfrm>
          <a:prstGeom prst="rect">
            <a:avLst/>
          </a:prstGeom>
          <a:noFill/>
        </p:spPr>
        <p:txBody>
          <a:bodyPr wrap="square" lIns="0" rIns="0" tIns="0" bIns="0" anchor="t">
            <a:noAutofit/>
          </a:bodyPr>
          <a:lstStyle/>
          <a:p>
            <a:pPr algn="l"/>
            <a:r>
              <a:rPr sz="1000" b="0" i="0">
                <a:solidFill>
                  <a:srgbClr val="000048"/>
                </a:solidFill>
                <a:latin typeface="Arial"/>
              </a:rPr>
              <a:t>VNet peering</a:t>
            </a:r>
          </a:p>
        </p:txBody>
      </p:sp>
      <p:cxnSp>
        <p:nvCxnSpPr>
          <p:cNvPr id="61" name="Connector (data)"/>
          <p:cNvCxnSpPr/>
          <p:nvPr/>
        </p:nvCxnSpPr>
        <p:spPr>
          <a:xfrm flipH="1">
            <a:off x="5486400" y="3886200"/>
            <a:ext cx="1463040" cy="8229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269480" y="4069080"/>
            <a:ext cx="1463040" cy="274320"/>
          </a:xfrm>
          <a:prstGeom prst="rect">
            <a:avLst/>
          </a:prstGeom>
          <a:noFill/>
        </p:spPr>
        <p:txBody>
          <a:bodyPr wrap="square" lIns="0" rIns="0" tIns="0" bIns="0" anchor="t">
            <a:noAutofit/>
          </a:bodyPr>
          <a:lstStyle/>
          <a:p>
            <a:pPr algn="l"/>
            <a:r>
              <a:rPr sz="1000" b="0" i="0">
                <a:solidFill>
                  <a:srgbClr val="2F78C4"/>
                </a:solidFill>
                <a:latin typeface="Arial"/>
              </a:rPr>
              <a:t>egress via UDR</a:t>
            </a:r>
          </a:p>
        </p:txBody>
      </p:sp>
      <p:sp>
        <p:nvSpPr>
          <p:cNvPr id="63" name="Oval 62"/>
          <p:cNvSpPr/>
          <p:nvPr/>
        </p:nvSpPr>
        <p:spPr>
          <a:xfrm>
            <a:off x="6967728" y="3950208"/>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5</a:t>
            </a:r>
          </a:p>
        </p:txBody>
      </p:sp>
      <p:cxnSp>
        <p:nvCxnSpPr>
          <p:cNvPr id="64" name="Connector (telemetry)"/>
          <p:cNvCxnSpPr/>
          <p:nvPr/>
        </p:nvCxnSpPr>
        <p:spPr>
          <a:xfrm flipH="1">
            <a:off x="10058400" y="3886200"/>
            <a:ext cx="118872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144000" y="4069080"/>
            <a:ext cx="1325880" cy="274320"/>
          </a:xfrm>
          <a:prstGeom prst="rect">
            <a:avLst/>
          </a:prstGeom>
          <a:noFill/>
        </p:spPr>
        <p:txBody>
          <a:bodyPr wrap="square" lIns="0" rIns="0" tIns="0" bIns="0" anchor="t">
            <a:noAutofit/>
          </a:bodyPr>
          <a:lstStyle/>
          <a:p>
            <a:pPr algn="r"/>
            <a:r>
              <a:rPr sz="1000" b="0" i="0">
                <a:solidFill>
                  <a:srgbClr val="53565A"/>
                </a:solidFill>
                <a:latin typeface="Arial"/>
              </a:rPr>
              <a:t>DNS from hub</a:t>
            </a:r>
          </a:p>
        </p:txBody>
      </p:sp>
      <p:sp>
        <p:nvSpPr>
          <p:cNvPr id="66" name="Oval 65"/>
          <p:cNvSpPr/>
          <p:nvPr/>
        </p:nvSpPr>
        <p:spPr>
          <a:xfrm>
            <a:off x="11292840" y="3950208"/>
            <a:ext cx="256032" cy="256032"/>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cxnSp>
        <p:nvCxnSpPr>
          <p:cNvPr id="67" name="Connector (flow)"/>
          <p:cNvCxnSpPr/>
          <p:nvPr/>
        </p:nvCxnSpPr>
        <p:spPr>
          <a:xfrm>
            <a:off x="4114800" y="2724912"/>
            <a:ext cx="3977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680960" y="2450592"/>
            <a:ext cx="256032" cy="256032"/>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2</a:t>
            </a:r>
          </a:p>
        </p:txBody>
      </p:sp>
      <p:cxnSp>
        <p:nvCxnSpPr>
          <p:cNvPr id="69" name="Connector (flow)"/>
          <p:cNvCxnSpPr/>
          <p:nvPr/>
        </p:nvCxnSpPr>
        <p:spPr>
          <a:xfrm>
            <a:off x="548640" y="59893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02412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71" name="Connector (data)"/>
          <p:cNvCxnSpPr/>
          <p:nvPr/>
        </p:nvCxnSpPr>
        <p:spPr>
          <a:xfrm>
            <a:off x="2743200" y="5989320"/>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1868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cxnSp>
        <p:nvCxnSpPr>
          <p:cNvPr id="73" name="Connector (telemetry)"/>
          <p:cNvCxnSpPr/>
          <p:nvPr/>
        </p:nvCxnSpPr>
        <p:spPr>
          <a:xfrm>
            <a:off x="4937759" y="5989320"/>
            <a:ext cx="411481"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1324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75" name="TextBox 74"/>
          <p:cNvSpPr txBox="1"/>
          <p:nvPr/>
        </p:nvSpPr>
        <p:spPr>
          <a:xfrm>
            <a:off x="7223760" y="5870448"/>
            <a:ext cx="4389120" cy="274320"/>
          </a:xfrm>
          <a:prstGeom prst="rect">
            <a:avLst/>
          </a:prstGeom>
          <a:noFill/>
        </p:spPr>
        <p:txBody>
          <a:bodyPr wrap="square" lIns="0" rIns="0" tIns="0" bIns="0" anchor="t">
            <a:noAutofit/>
          </a:bodyPr>
          <a:lstStyle/>
          <a:p>
            <a:pPr algn="r"/>
            <a:r>
              <a:rPr sz="1100" b="0" i="0">
                <a:solidFill>
                  <a:srgbClr val="53565A"/>
                </a:solidFill>
                <a:latin typeface="Arial"/>
              </a:rPr>
              <a:t>Adapted from 11_baseline-landing-zone-networking.png</a:t>
            </a:r>
          </a:p>
        </p:txBody>
      </p:sp>
      <p:sp>
        <p:nvSpPr>
          <p:cNvPr id="76" name="TextBox 75"/>
          <p:cNvSpPr txBox="1"/>
          <p:nvPr/>
        </p:nvSpPr>
        <p:spPr>
          <a:xfrm>
            <a:off x="548640" y="6144768"/>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 validate subnets, DNS and routes per customer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egress through the hub firewall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9" name="Rounded Rectangle 8"/>
          <p:cNvSpPr/>
          <p:nvPr/>
        </p:nvSpPr>
        <p:spPr>
          <a:xfrm>
            <a:off x="411480" y="1325880"/>
            <a:ext cx="3931920" cy="4023360"/>
          </a:xfrm>
          <a:prstGeom prst="roundRect">
            <a:avLst>
              <a:gd name="adj" fmla="val 232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380744"/>
            <a:ext cx="3712463" cy="237744"/>
          </a:xfrm>
          <a:prstGeom prst="rect">
            <a:avLst/>
          </a:prstGeom>
          <a:noFill/>
        </p:spPr>
        <p:txBody>
          <a:bodyPr wrap="square" lIns="0" rIns="0" tIns="0" bIns="0" anchor="t">
            <a:noAutofit/>
          </a:bodyPr>
          <a:lstStyle/>
          <a:p>
            <a:pPr algn="l"/>
            <a:r>
              <a:rPr sz="1100" b="1" i="0">
                <a:solidFill>
                  <a:srgbClr val="000048"/>
                </a:solidFill>
                <a:latin typeface="Arial"/>
              </a:rPr>
              <a:t>SPOKE SUBNETS WITH UDR TO HUB</a:t>
            </a:r>
          </a:p>
        </p:txBody>
      </p:sp>
      <p:sp>
        <p:nvSpPr>
          <p:cNvPr id="11" name="Rounded Rectangle 10"/>
          <p:cNvSpPr/>
          <p:nvPr/>
        </p:nvSpPr>
        <p:spPr>
          <a:xfrm>
            <a:off x="548640" y="16916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65376"/>
            <a:ext cx="384048" cy="384048"/>
          </a:xfrm>
          <a:prstGeom prst="rect">
            <a:avLst/>
          </a:prstGeom>
        </p:spPr>
      </p:pic>
      <p:sp>
        <p:nvSpPr>
          <p:cNvPr id="13" name="TextBox 12"/>
          <p:cNvSpPr txBox="1"/>
          <p:nvPr/>
        </p:nvSpPr>
        <p:spPr>
          <a:xfrm>
            <a:off x="1078992" y="1728216"/>
            <a:ext cx="3090672" cy="658368"/>
          </a:xfrm>
          <a:prstGeom prst="rect">
            <a:avLst/>
          </a:prstGeom>
          <a:noFill/>
        </p:spPr>
        <p:txBody>
          <a:bodyPr wrap="square" lIns="0" rIns="0" tIns="0" bIns="0" anchor="ctr">
            <a:noAutofit/>
          </a:bodyPr>
          <a:lstStyle/>
          <a:p>
            <a:pPr algn="l"/>
            <a:r>
              <a:rPr sz="1200" b="1" i="0">
                <a:solidFill>
                  <a:srgbClr val="000048"/>
                </a:solidFill>
                <a:latin typeface="Arial"/>
              </a:rPr>
              <a:t>App Service integration</a:t>
            </a:r>
          </a:p>
          <a:p>
            <a:pPr algn="l"/>
            <a:r>
              <a:rPr sz="1000" b="0" i="0">
                <a:solidFill>
                  <a:srgbClr val="53565A"/>
                </a:solidFill>
                <a:latin typeface="Arial"/>
              </a:rPr>
              <a:t>route 0.0.0.0/0 to firewall</a:t>
            </a:r>
          </a:p>
        </p:txBody>
      </p:sp>
      <p:cxnSp>
        <p:nvCxnSpPr>
          <p:cNvPr id="14" name="Connector (data)"/>
          <p:cNvCxnSpPr/>
          <p:nvPr/>
        </p:nvCxnSpPr>
        <p:spPr>
          <a:xfrm>
            <a:off x="4206240" y="2057400"/>
            <a:ext cx="914400" cy="12801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56032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Foundry Agent Service" descr="Official Azure icon: Foundry Agent Servic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734056"/>
            <a:ext cx="384048" cy="384048"/>
          </a:xfrm>
          <a:prstGeom prst="rect">
            <a:avLst/>
          </a:prstGeom>
        </p:spPr>
      </p:pic>
      <p:sp>
        <p:nvSpPr>
          <p:cNvPr id="17" name="TextBox 16"/>
          <p:cNvSpPr txBox="1"/>
          <p:nvPr/>
        </p:nvSpPr>
        <p:spPr>
          <a:xfrm>
            <a:off x="1078992" y="2596896"/>
            <a:ext cx="3090672" cy="658368"/>
          </a:xfrm>
          <a:prstGeom prst="rect">
            <a:avLst/>
          </a:prstGeom>
          <a:noFill/>
        </p:spPr>
        <p:txBody>
          <a:bodyPr wrap="square" lIns="0" rIns="0" tIns="0" bIns="0" anchor="ctr">
            <a:noAutofit/>
          </a:bodyPr>
          <a:lstStyle/>
          <a:p>
            <a:pPr algn="l"/>
            <a:r>
              <a:rPr sz="1200" b="1" i="0">
                <a:solidFill>
                  <a:srgbClr val="000048"/>
                </a:solidFill>
                <a:latin typeface="Arial"/>
              </a:rPr>
              <a:t>Agent Service integration</a:t>
            </a:r>
          </a:p>
          <a:p>
            <a:pPr algn="l"/>
            <a:r>
              <a:rPr sz="1000" b="0" i="0">
                <a:solidFill>
                  <a:srgbClr val="53565A"/>
                </a:solidFill>
                <a:latin typeface="Arial"/>
              </a:rPr>
              <a:t>route 0.0.0.0/0 to firewall</a:t>
            </a:r>
          </a:p>
        </p:txBody>
      </p:sp>
      <p:cxnSp>
        <p:nvCxnSpPr>
          <p:cNvPr id="18" name="Connector (data)"/>
          <p:cNvCxnSpPr/>
          <p:nvPr/>
        </p:nvCxnSpPr>
        <p:spPr>
          <a:xfrm>
            <a:off x="4206240" y="2926080"/>
            <a:ext cx="914400" cy="4114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42900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02736"/>
            <a:ext cx="384048" cy="384048"/>
          </a:xfrm>
          <a:prstGeom prst="rect">
            <a:avLst/>
          </a:prstGeom>
        </p:spPr>
      </p:pic>
      <p:sp>
        <p:nvSpPr>
          <p:cNvPr id="21" name="TextBox 20"/>
          <p:cNvSpPr txBox="1"/>
          <p:nvPr/>
        </p:nvSpPr>
        <p:spPr>
          <a:xfrm>
            <a:off x="1078992" y="3465576"/>
            <a:ext cx="3090672" cy="658368"/>
          </a:xfrm>
          <a:prstGeom prst="rect">
            <a:avLst/>
          </a:prstGeom>
          <a:noFill/>
        </p:spPr>
        <p:txBody>
          <a:bodyPr wrap="square" lIns="0" rIns="0" tIns="0" bIns="0" anchor="ctr">
            <a:noAutofit/>
          </a:bodyPr>
          <a:lstStyle/>
          <a:p>
            <a:pPr algn="l"/>
            <a:r>
              <a:rPr sz="1200" b="1" i="0">
                <a:solidFill>
                  <a:srgbClr val="000048"/>
                </a:solidFill>
                <a:latin typeface="Arial"/>
              </a:rPr>
              <a:t>Build agents</a:t>
            </a:r>
          </a:p>
          <a:p>
            <a:pPr algn="l"/>
            <a:r>
              <a:rPr sz="1000" b="0" i="0">
                <a:solidFill>
                  <a:srgbClr val="53565A"/>
                </a:solidFill>
                <a:latin typeface="Arial"/>
              </a:rPr>
              <a:t>route 0.0.0.0/0 to firewall</a:t>
            </a:r>
          </a:p>
        </p:txBody>
      </p:sp>
      <p:cxnSp>
        <p:nvCxnSpPr>
          <p:cNvPr id="22" name="Connector (data)"/>
          <p:cNvCxnSpPr/>
          <p:nvPr/>
        </p:nvCxnSpPr>
        <p:spPr>
          <a:xfrm flipV="1">
            <a:off x="4206240" y="3337560"/>
            <a:ext cx="914400" cy="4572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297679"/>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4471416"/>
            <a:ext cx="384048" cy="384048"/>
          </a:xfrm>
          <a:prstGeom prst="rect">
            <a:avLst/>
          </a:prstGeom>
        </p:spPr>
      </p:pic>
      <p:sp>
        <p:nvSpPr>
          <p:cNvPr id="25" name="TextBox 24"/>
          <p:cNvSpPr txBox="1"/>
          <p:nvPr/>
        </p:nvSpPr>
        <p:spPr>
          <a:xfrm>
            <a:off x="1078992" y="4334255"/>
            <a:ext cx="3090672" cy="658368"/>
          </a:xfrm>
          <a:prstGeom prst="rect">
            <a:avLst/>
          </a:prstGeom>
          <a:noFill/>
        </p:spPr>
        <p:txBody>
          <a:bodyPr wrap="square" lIns="0" rIns="0" tIns="0" bIns="0" anchor="ctr">
            <a:noAutofit/>
          </a:bodyPr>
          <a:lstStyle/>
          <a:p>
            <a:pPr algn="l"/>
            <a:r>
              <a:rPr sz="1200" b="1" i="0">
                <a:solidFill>
                  <a:srgbClr val="000048"/>
                </a:solidFill>
                <a:latin typeface="Arial"/>
              </a:rPr>
              <a:t>Jump boxes</a:t>
            </a:r>
          </a:p>
          <a:p>
            <a:pPr algn="l"/>
            <a:r>
              <a:rPr sz="1000" b="0" i="0">
                <a:solidFill>
                  <a:srgbClr val="53565A"/>
                </a:solidFill>
                <a:latin typeface="Arial"/>
              </a:rPr>
              <a:t>route 0.0.0.0/0 to firewall</a:t>
            </a:r>
          </a:p>
        </p:txBody>
      </p:sp>
      <p:cxnSp>
        <p:nvCxnSpPr>
          <p:cNvPr id="26" name="Connector (data)"/>
          <p:cNvCxnSpPr/>
          <p:nvPr/>
        </p:nvCxnSpPr>
        <p:spPr>
          <a:xfrm flipV="1">
            <a:off x="4206240" y="3337560"/>
            <a:ext cx="914400" cy="13258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20640" y="2103120"/>
            <a:ext cx="3017520" cy="2468880"/>
          </a:xfrm>
          <a:prstGeom prst="roundRect">
            <a:avLst>
              <a:gd name="adj" fmla="val 370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230368" y="2157984"/>
            <a:ext cx="2798063" cy="237744"/>
          </a:xfrm>
          <a:prstGeom prst="rect">
            <a:avLst/>
          </a:prstGeom>
          <a:noFill/>
        </p:spPr>
        <p:txBody>
          <a:bodyPr wrap="square" lIns="0" rIns="0" tIns="0" bIns="0" anchor="t">
            <a:noAutofit/>
          </a:bodyPr>
          <a:lstStyle/>
          <a:p>
            <a:pPr algn="l"/>
            <a:r>
              <a:rPr sz="1100" b="1" i="0">
                <a:solidFill>
                  <a:srgbClr val="000048"/>
                </a:solidFill>
                <a:latin typeface="Arial"/>
              </a:rPr>
              <a:t>HUB (CONNECTIVITY SUBSCRIPTION)</a:t>
            </a:r>
          </a:p>
        </p:txBody>
      </p:sp>
      <p:pic>
        <p:nvPicPr>
          <p:cNvPr id="29"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7940" y="2633472"/>
            <a:ext cx="502920" cy="502920"/>
          </a:xfrm>
          <a:prstGeom prst="rect">
            <a:avLst/>
          </a:prstGeom>
        </p:spPr>
      </p:pic>
      <p:sp>
        <p:nvSpPr>
          <p:cNvPr id="30" name="TextBox 29"/>
          <p:cNvSpPr txBox="1"/>
          <p:nvPr/>
        </p:nvSpPr>
        <p:spPr>
          <a:xfrm>
            <a:off x="5385816" y="3172968"/>
            <a:ext cx="2487168" cy="512063"/>
          </a:xfrm>
          <a:prstGeom prst="rect">
            <a:avLst/>
          </a:prstGeom>
          <a:noFill/>
        </p:spPr>
        <p:txBody>
          <a:bodyPr wrap="square" lIns="0" rIns="0" tIns="0" bIns="0" anchor="t">
            <a:noAutofit/>
          </a:bodyPr>
          <a:lstStyle/>
          <a:p>
            <a:pPr algn="ctr"/>
            <a:r>
              <a:rPr sz="1300" b="1" i="0">
                <a:solidFill>
                  <a:srgbClr val="000048"/>
                </a:solidFill>
                <a:latin typeface="Arial"/>
              </a:rPr>
              <a:t>Azure Firewall</a:t>
            </a:r>
          </a:p>
          <a:p>
            <a:pPr algn="ctr"/>
            <a:r>
              <a:rPr sz="1100" b="0" i="0">
                <a:solidFill>
                  <a:srgbClr val="53565A"/>
                </a:solidFill>
                <a:latin typeface="Arial"/>
              </a:rPr>
              <a:t>application and network rules, logging</a:t>
            </a:r>
          </a:p>
        </p:txBody>
      </p:sp>
      <p:sp>
        <p:nvSpPr>
          <p:cNvPr id="31" name="Rounded Rectangle 30"/>
          <p:cNvSpPr/>
          <p:nvPr/>
        </p:nvSpPr>
        <p:spPr>
          <a:xfrm>
            <a:off x="8778240" y="2651760"/>
            <a:ext cx="1828800" cy="1097280"/>
          </a:xfrm>
          <a:prstGeom prst="roundRect">
            <a:avLst>
              <a:gd name="adj" fmla="val 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Internet and partner endpoints</a:t>
            </a:r>
          </a:p>
          <a:p>
            <a:pPr algn="ctr"/>
            <a:r>
              <a:rPr sz="1100" b="0" i="0">
                <a:solidFill>
                  <a:srgbClr val="53565A"/>
                </a:solidFill>
                <a:latin typeface="Arial"/>
              </a:rPr>
              <a:t>allow-listed FQDNs</a:t>
            </a:r>
          </a:p>
        </p:txBody>
      </p:sp>
      <p:cxnSp>
        <p:nvCxnSpPr>
          <p:cNvPr id="32" name="Connector (data)"/>
          <p:cNvCxnSpPr/>
          <p:nvPr/>
        </p:nvCxnSpPr>
        <p:spPr>
          <a:xfrm>
            <a:off x="8138160" y="3200400"/>
            <a:ext cx="6400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83879" y="3291840"/>
            <a:ext cx="640080" cy="411480"/>
          </a:xfrm>
          <a:prstGeom prst="rect">
            <a:avLst/>
          </a:prstGeom>
          <a:noFill/>
        </p:spPr>
        <p:txBody>
          <a:bodyPr wrap="square" lIns="0" rIns="0" tIns="0" bIns="0" anchor="t">
            <a:noAutofit/>
          </a:bodyPr>
          <a:lstStyle/>
          <a:p>
            <a:pPr algn="ctr"/>
            <a:r>
              <a:rPr sz="1000" b="0" i="0">
                <a:solidFill>
                  <a:srgbClr val="2F78C4"/>
                </a:solidFill>
                <a:latin typeface="Arial"/>
              </a:rPr>
              <a:t>allowed only</a:t>
            </a:r>
          </a:p>
        </p:txBody>
      </p:sp>
      <p:sp>
        <p:nvSpPr>
          <p:cNvPr id="34" name="TextBox 33"/>
          <p:cNvSpPr txBox="1"/>
          <p:nvPr/>
        </p:nvSpPr>
        <p:spPr>
          <a:xfrm>
            <a:off x="8595360" y="1463040"/>
            <a:ext cx="3108960" cy="1005840"/>
          </a:xfrm>
          <a:prstGeom prst="rect">
            <a:avLst/>
          </a:prstGeom>
          <a:noFill/>
        </p:spPr>
        <p:txBody>
          <a:bodyPr wrap="square" lIns="0" rIns="0" tIns="0" bIns="0" anchor="t">
            <a:noAutofit/>
          </a:bodyPr>
          <a:lstStyle/>
          <a:p>
            <a:pPr algn="l"/>
            <a:r>
              <a:rPr sz="1300" b="0" i="0">
                <a:solidFill>
                  <a:srgbClr val="53565A"/>
                </a:solidFill>
                <a:latin typeface="Arial"/>
              </a:rPr>
              <a:t>Private endpoints keep Azure PaaS traffic off the internet path; firewall handles the rest.</a:t>
            </a:r>
          </a:p>
        </p:txBody>
      </p:sp>
      <p:sp>
        <p:nvSpPr>
          <p:cNvPr id="35" name="Rounded Rectangle 34"/>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Validate effective routes and each managed service’s egress support before enforcing forced tunnelling.</a:t>
            </a:r>
          </a:p>
        </p:txBody>
      </p:sp>
      <p:sp>
        <p:nvSpPr>
          <p:cNvPr id="36" name="TextBox 35"/>
          <p:cNvSpPr txBox="1"/>
          <p:nvPr/>
        </p:nvSpPr>
        <p:spPr>
          <a:xfrm>
            <a:off x="548640" y="617220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ingress is distinct from outbound connectivity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45920"/>
            <a:ext cx="548640" cy="548640"/>
          </a:xfrm>
          <a:prstGeom prst="rect">
            <a:avLst/>
          </a:prstGeom>
        </p:spPr>
      </p:pic>
      <p:sp>
        <p:nvSpPr>
          <p:cNvPr id="10" name="TextBox 9"/>
          <p:cNvSpPr txBox="1"/>
          <p:nvPr/>
        </p:nvSpPr>
        <p:spPr>
          <a:xfrm>
            <a:off x="141731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Inbound</a:t>
            </a:r>
          </a:p>
        </p:txBody>
      </p:sp>
      <p:sp>
        <p:nvSpPr>
          <p:cNvPr id="11" name="TextBox 10"/>
          <p:cNvSpPr txBox="1"/>
          <p:nvPr/>
        </p:nvSpPr>
        <p:spPr>
          <a:xfrm>
            <a:off x="731520"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Approved client to App Gateway WAF, then to the app’s private endpoint</a:t>
            </a:r>
          </a:p>
        </p:txBody>
      </p:sp>
      <p:cxnSp>
        <p:nvCxnSpPr>
          <p:cNvPr id="12" name="Connector (flow)"/>
          <p:cNvCxnSpPr/>
          <p:nvPr/>
        </p:nvCxnSpPr>
        <p:spPr>
          <a:xfrm>
            <a:off x="4114800" y="306324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97679"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45920"/>
            <a:ext cx="548640" cy="548640"/>
          </a:xfrm>
          <a:prstGeom prst="rect">
            <a:avLst/>
          </a:prstGeom>
        </p:spPr>
      </p:pic>
      <p:sp>
        <p:nvSpPr>
          <p:cNvPr id="15" name="TextBox 14"/>
          <p:cNvSpPr txBox="1"/>
          <p:nvPr/>
        </p:nvSpPr>
        <p:spPr>
          <a:xfrm>
            <a:off x="516635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Runtime</a:t>
            </a:r>
          </a:p>
        </p:txBody>
      </p:sp>
      <p:sp>
        <p:nvSpPr>
          <p:cNvPr id="16" name="TextBox 15"/>
          <p:cNvSpPr txBox="1"/>
          <p:nvPr/>
        </p:nvSpPr>
        <p:spPr>
          <a:xfrm>
            <a:off x="4480559"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App host runs with a workload managed identity</a:t>
            </a:r>
          </a:p>
        </p:txBody>
      </p:sp>
      <p:cxnSp>
        <p:nvCxnSpPr>
          <p:cNvPr id="17" name="Connector (flow)"/>
          <p:cNvCxnSpPr/>
          <p:nvPr/>
        </p:nvCxnSpPr>
        <p:spPr>
          <a:xfrm>
            <a:off x="7863840" y="306324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46719"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Private Endpoints" descr="Official Azure icon: Private Endpoin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45920"/>
            <a:ext cx="548640" cy="548640"/>
          </a:xfrm>
          <a:prstGeom prst="rect">
            <a:avLst/>
          </a:prstGeom>
        </p:spPr>
      </p:pic>
      <p:sp>
        <p:nvSpPr>
          <p:cNvPr id="20" name="TextBox 19"/>
          <p:cNvSpPr txBox="1"/>
          <p:nvPr/>
        </p:nvSpPr>
        <p:spPr>
          <a:xfrm>
            <a:off x="891539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Outbound</a:t>
            </a:r>
          </a:p>
        </p:txBody>
      </p:sp>
      <p:sp>
        <p:nvSpPr>
          <p:cNvPr id="21" name="TextBox 20"/>
          <p:cNvSpPr txBox="1"/>
          <p:nvPr/>
        </p:nvSpPr>
        <p:spPr>
          <a:xfrm>
            <a:off x="8229599"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VNet integration to private endpoints for Foundry, Search, Storage, Key Vault</a:t>
            </a:r>
          </a:p>
        </p:txBody>
      </p:sp>
      <p:sp>
        <p:nvSpPr>
          <p:cNvPr id="22" name="Rounded Rectangle 21"/>
          <p:cNvSpPr/>
          <p:nvPr/>
        </p:nvSpPr>
        <p:spPr>
          <a:xfrm>
            <a:off x="548640" y="44348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private-network guarantee. Validate each selected service and API, including deployment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workload baseline: request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 y="2084832"/>
            <a:ext cx="411480" cy="411480"/>
          </a:xfrm>
          <a:prstGeom prst="rect">
            <a:avLst/>
          </a:prstGeom>
        </p:spPr>
      </p:pic>
      <p:sp>
        <p:nvSpPr>
          <p:cNvPr id="10" name="TextBox 9"/>
          <p:cNvSpPr txBox="1"/>
          <p:nvPr/>
        </p:nvSpPr>
        <p:spPr>
          <a:xfrm>
            <a:off x="493776" y="2532888"/>
            <a:ext cx="841248" cy="310896"/>
          </a:xfrm>
          <a:prstGeom prst="rect">
            <a:avLst/>
          </a:prstGeom>
          <a:noFill/>
        </p:spPr>
        <p:txBody>
          <a:bodyPr wrap="square" lIns="0" rIns="0" tIns="0" bIns="0" anchor="t">
            <a:noAutofit/>
          </a:bodyPr>
          <a:lstStyle/>
          <a:p>
            <a:pPr algn="ctr"/>
            <a:r>
              <a:rPr sz="1300" b="1" i="0">
                <a:solidFill>
                  <a:srgbClr val="000048"/>
                </a:solidFill>
                <a:latin typeface="Arial"/>
              </a:rPr>
              <a:t>User</a:t>
            </a:r>
          </a:p>
        </p:txBody>
      </p:sp>
      <p:sp>
        <p:nvSpPr>
          <p:cNvPr id="11" name="Rounded Rectangle 10"/>
          <p:cNvSpPr/>
          <p:nvPr/>
        </p:nvSpPr>
        <p:spPr>
          <a:xfrm>
            <a:off x="155448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lication Gateways" descr="Official Azure icon: Application Gateway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57400" y="1901952"/>
            <a:ext cx="457200" cy="457200"/>
          </a:xfrm>
          <a:prstGeom prst="rect">
            <a:avLst/>
          </a:prstGeom>
        </p:spPr>
      </p:pic>
      <p:sp>
        <p:nvSpPr>
          <p:cNvPr id="13" name="TextBox 12"/>
          <p:cNvSpPr txBox="1"/>
          <p:nvPr/>
        </p:nvSpPr>
        <p:spPr>
          <a:xfrm>
            <a:off x="159105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Gateway</a:t>
            </a:r>
          </a:p>
          <a:p>
            <a:pPr algn="ctr"/>
            <a:r>
              <a:rPr sz="1100" b="0" i="0">
                <a:solidFill>
                  <a:srgbClr val="53565A"/>
                </a:solidFill>
                <a:latin typeface="Arial"/>
              </a:rPr>
              <a:t>WAF</a:t>
            </a:r>
          </a:p>
        </p:txBody>
      </p:sp>
      <p:sp>
        <p:nvSpPr>
          <p:cNvPr id="14" name="Rounded Rectangle 13"/>
          <p:cNvSpPr/>
          <p:nvPr/>
        </p:nvSpPr>
        <p:spPr>
          <a:xfrm>
            <a:off x="342900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5"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1920" y="1901952"/>
            <a:ext cx="457200" cy="457200"/>
          </a:xfrm>
          <a:prstGeom prst="rect">
            <a:avLst/>
          </a:prstGeom>
        </p:spPr>
      </p:pic>
      <p:sp>
        <p:nvSpPr>
          <p:cNvPr id="16" name="TextBox 15"/>
          <p:cNvSpPr txBox="1"/>
          <p:nvPr/>
        </p:nvSpPr>
        <p:spPr>
          <a:xfrm>
            <a:off x="346557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Service</a:t>
            </a:r>
          </a:p>
          <a:p>
            <a:pPr algn="ctr"/>
            <a:r>
              <a:rPr sz="1100" b="0" i="0">
                <a:solidFill>
                  <a:srgbClr val="53565A"/>
                </a:solidFill>
                <a:latin typeface="Arial"/>
              </a:rPr>
              <a:t>zone-redundant</a:t>
            </a:r>
          </a:p>
        </p:txBody>
      </p:sp>
      <p:sp>
        <p:nvSpPr>
          <p:cNvPr id="17" name="Rounded Rectangle 16"/>
          <p:cNvSpPr/>
          <p:nvPr/>
        </p:nvSpPr>
        <p:spPr>
          <a:xfrm>
            <a:off x="5257800" y="1325880"/>
            <a:ext cx="3703320" cy="2148840"/>
          </a:xfrm>
          <a:prstGeom prst="roundRect">
            <a:avLst>
              <a:gd name="adj" fmla="val 425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67528" y="1380744"/>
            <a:ext cx="3483863" cy="237744"/>
          </a:xfrm>
          <a:prstGeom prst="rect">
            <a:avLst/>
          </a:prstGeom>
          <a:noFill/>
        </p:spPr>
        <p:txBody>
          <a:bodyPr wrap="square" lIns="0" rIns="0" tIns="0" bIns="0" anchor="t">
            <a:noAutofit/>
          </a:bodyPr>
          <a:lstStyle/>
          <a:p>
            <a:pPr algn="l"/>
            <a:r>
              <a:rPr sz="1100" b="1" i="0">
                <a:solidFill>
                  <a:srgbClr val="000048"/>
                </a:solidFill>
                <a:latin typeface="Arial"/>
              </a:rPr>
              <a:t>MICROSOFT FOUNDRY</a:t>
            </a:r>
          </a:p>
        </p:txBody>
      </p:sp>
      <p:pic>
        <p:nvPicPr>
          <p:cNvPr id="19"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83580" y="1856231"/>
            <a:ext cx="411480" cy="411480"/>
          </a:xfrm>
          <a:prstGeom prst="rect">
            <a:avLst/>
          </a:prstGeom>
        </p:spPr>
      </p:pic>
      <p:sp>
        <p:nvSpPr>
          <p:cNvPr id="20" name="TextBox 19"/>
          <p:cNvSpPr txBox="1"/>
          <p:nvPr/>
        </p:nvSpPr>
        <p:spPr>
          <a:xfrm>
            <a:off x="543153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Foundry project</a:t>
            </a:r>
          </a:p>
        </p:txBody>
      </p:sp>
      <p:pic>
        <p:nvPicPr>
          <p:cNvPr id="21" name="Azure icon: Foundry Agent Service" descr="Official Azure icon: Foundry Agent Servi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72300" y="1856231"/>
            <a:ext cx="411480" cy="411480"/>
          </a:xfrm>
          <a:prstGeom prst="rect">
            <a:avLst/>
          </a:prstGeom>
        </p:spPr>
      </p:pic>
      <p:sp>
        <p:nvSpPr>
          <p:cNvPr id="22" name="TextBox 21"/>
          <p:cNvSpPr txBox="1"/>
          <p:nvPr/>
        </p:nvSpPr>
        <p:spPr>
          <a:xfrm>
            <a:off x="662025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Agent Service</a:t>
            </a:r>
          </a:p>
        </p:txBody>
      </p:sp>
      <p:pic>
        <p:nvPicPr>
          <p:cNvPr id="23" name="Azure icon: Foundry Models" descr="Official Azure icon: Foundry Model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15300" y="1856231"/>
            <a:ext cx="411480" cy="411480"/>
          </a:xfrm>
          <a:prstGeom prst="rect">
            <a:avLst/>
          </a:prstGeom>
        </p:spPr>
      </p:pic>
      <p:sp>
        <p:nvSpPr>
          <p:cNvPr id="24" name="TextBox 23"/>
          <p:cNvSpPr txBox="1"/>
          <p:nvPr/>
        </p:nvSpPr>
        <p:spPr>
          <a:xfrm>
            <a:off x="7763255"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Model deployment</a:t>
            </a:r>
          </a:p>
        </p:txBody>
      </p:sp>
      <p:sp>
        <p:nvSpPr>
          <p:cNvPr id="25" name="Rounded Rectangle 24"/>
          <p:cNvSpPr/>
          <p:nvPr/>
        </p:nvSpPr>
        <p:spPr>
          <a:xfrm>
            <a:off x="9235440" y="1325880"/>
            <a:ext cx="2560320" cy="2148840"/>
          </a:xfrm>
          <a:prstGeom prst="roundRect">
            <a:avLst>
              <a:gd name="adj" fmla="val 4255"/>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45167" y="1380744"/>
            <a:ext cx="2340863" cy="237744"/>
          </a:xfrm>
          <a:prstGeom prst="rect">
            <a:avLst/>
          </a:prstGeom>
          <a:noFill/>
        </p:spPr>
        <p:txBody>
          <a:bodyPr wrap="square" lIns="0" rIns="0" tIns="0" bIns="0" anchor="t">
            <a:noAutofit/>
          </a:bodyPr>
          <a:lstStyle/>
          <a:p>
            <a:pPr algn="l"/>
            <a:r>
              <a:rPr sz="1100" b="1" i="0">
                <a:solidFill>
                  <a:srgbClr val="000048"/>
                </a:solidFill>
                <a:latin typeface="Arial"/>
              </a:rPr>
              <a:t>AGENT DEPENDENCIES</a:t>
            </a:r>
          </a:p>
        </p:txBody>
      </p:sp>
      <p:pic>
        <p:nvPicPr>
          <p:cNvPr id="27"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47504" y="1764792"/>
            <a:ext cx="347472" cy="347472"/>
          </a:xfrm>
          <a:prstGeom prst="rect">
            <a:avLst/>
          </a:prstGeom>
        </p:spPr>
      </p:pic>
      <p:sp>
        <p:nvSpPr>
          <p:cNvPr id="28" name="TextBox 27"/>
          <p:cNvSpPr txBox="1"/>
          <p:nvPr/>
        </p:nvSpPr>
        <p:spPr>
          <a:xfrm>
            <a:off x="9363455" y="2148840"/>
            <a:ext cx="1115568" cy="277133"/>
          </a:xfrm>
          <a:prstGeom prst="rect">
            <a:avLst/>
          </a:prstGeom>
          <a:noFill/>
        </p:spPr>
        <p:txBody>
          <a:bodyPr wrap="square" lIns="0" rIns="0" tIns="0" bIns="0" anchor="t">
            <a:noAutofit/>
          </a:bodyPr>
          <a:lstStyle/>
          <a:p>
            <a:pPr algn="ctr"/>
            <a:r>
              <a:rPr sz="1100" b="1" i="0">
                <a:solidFill>
                  <a:srgbClr val="000048"/>
                </a:solidFill>
                <a:latin typeface="Arial"/>
              </a:rPr>
              <a:t>AI Search</a:t>
            </a:r>
          </a:p>
        </p:txBody>
      </p:sp>
      <p:pic>
        <p:nvPicPr>
          <p:cNvPr id="29" name="Azure icon: Azure Cosmos DB" descr="Official Azure icon: Azure Cosmos DB"/>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936224" y="1764792"/>
            <a:ext cx="347472" cy="347472"/>
          </a:xfrm>
          <a:prstGeom prst="rect">
            <a:avLst/>
          </a:prstGeom>
        </p:spPr>
      </p:pic>
      <p:sp>
        <p:nvSpPr>
          <p:cNvPr id="30" name="TextBox 29"/>
          <p:cNvSpPr txBox="1"/>
          <p:nvPr/>
        </p:nvSpPr>
        <p:spPr>
          <a:xfrm>
            <a:off x="10552176" y="2148840"/>
            <a:ext cx="1115568" cy="277133"/>
          </a:xfrm>
          <a:prstGeom prst="rect">
            <a:avLst/>
          </a:prstGeom>
          <a:noFill/>
        </p:spPr>
        <p:txBody>
          <a:bodyPr wrap="square" lIns="0" rIns="0" tIns="0" bIns="0" anchor="t">
            <a:noAutofit/>
          </a:bodyPr>
          <a:lstStyle/>
          <a:p>
            <a:pPr algn="ctr"/>
            <a:r>
              <a:rPr sz="1100" b="1" i="0">
                <a:solidFill>
                  <a:srgbClr val="000048"/>
                </a:solidFill>
                <a:latin typeface="Arial"/>
              </a:rPr>
              <a:t>Cosmos DB</a:t>
            </a:r>
          </a:p>
        </p:txBody>
      </p:sp>
      <p:pic>
        <p:nvPicPr>
          <p:cNvPr id="31" name="Azure icon: Storage account" descr="Official Azure icon: Storage accou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387584" y="2633472"/>
            <a:ext cx="347472" cy="347472"/>
          </a:xfrm>
          <a:prstGeom prst="rect">
            <a:avLst/>
          </a:prstGeom>
        </p:spPr>
      </p:pic>
      <p:sp>
        <p:nvSpPr>
          <p:cNvPr id="32" name="TextBox 31"/>
          <p:cNvSpPr txBox="1"/>
          <p:nvPr/>
        </p:nvSpPr>
        <p:spPr>
          <a:xfrm>
            <a:off x="9957815" y="3017520"/>
            <a:ext cx="1207007" cy="277133"/>
          </a:xfrm>
          <a:prstGeom prst="rect">
            <a:avLst/>
          </a:prstGeom>
          <a:noFill/>
        </p:spPr>
        <p:txBody>
          <a:bodyPr wrap="square" lIns="0" rIns="0" tIns="0" bIns="0" anchor="t">
            <a:noAutofit/>
          </a:bodyPr>
          <a:lstStyle/>
          <a:p>
            <a:pPr algn="ctr"/>
            <a:r>
              <a:rPr sz="1100" b="1" i="0">
                <a:solidFill>
                  <a:srgbClr val="000048"/>
                </a:solidFill>
                <a:latin typeface="Arial"/>
              </a:rPr>
              <a:t>Storage account</a:t>
            </a:r>
          </a:p>
        </p:txBody>
      </p:sp>
      <p:cxnSp>
        <p:nvCxnSpPr>
          <p:cNvPr id="33" name="Connector (flow)"/>
          <p:cNvCxnSpPr/>
          <p:nvPr/>
        </p:nvCxnSpPr>
        <p:spPr>
          <a:xfrm>
            <a:off x="1280160" y="22402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61872"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35" name="Connector (flow)"/>
          <p:cNvCxnSpPr/>
          <p:nvPr/>
        </p:nvCxnSpPr>
        <p:spPr>
          <a:xfrm>
            <a:off x="30175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489204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937760" y="187451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38" name="Connector (flow)"/>
          <p:cNvCxnSpPr/>
          <p:nvPr/>
        </p:nvCxnSpPr>
        <p:spPr>
          <a:xfrm>
            <a:off x="6446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0" name="Connector (flow)"/>
          <p:cNvCxnSpPr/>
          <p:nvPr/>
        </p:nvCxnSpPr>
        <p:spPr>
          <a:xfrm>
            <a:off x="7589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6352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42" name="Connector (flow)"/>
          <p:cNvCxnSpPr/>
          <p:nvPr/>
        </p:nvCxnSpPr>
        <p:spPr>
          <a:xfrm>
            <a:off x="8961120" y="237744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96112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7</a:t>
            </a:r>
          </a:p>
        </p:txBody>
      </p:sp>
      <p:sp>
        <p:nvSpPr>
          <p:cNvPr id="44" name="Rounded Rectangle 43"/>
          <p:cNvSpPr/>
          <p:nvPr/>
        </p:nvSpPr>
        <p:spPr>
          <a:xfrm>
            <a:off x="1463040" y="3794760"/>
            <a:ext cx="10332720" cy="1417320"/>
          </a:xfrm>
          <a:prstGeom prst="roundRect">
            <a:avLst>
              <a:gd name="adj" fmla="val 64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72768" y="3849624"/>
            <a:ext cx="10113264" cy="237744"/>
          </a:xfrm>
          <a:prstGeom prst="rect">
            <a:avLst/>
          </a:prstGeom>
          <a:noFill/>
        </p:spPr>
        <p:txBody>
          <a:bodyPr wrap="square" lIns="0" rIns="0" tIns="0" bIns="0" anchor="t">
            <a:noAutofit/>
          </a:bodyPr>
          <a:lstStyle/>
          <a:p>
            <a:pPr algn="l"/>
            <a:r>
              <a:rPr sz="1100" b="1" i="0">
                <a:solidFill>
                  <a:srgbClr val="000048"/>
                </a:solidFill>
                <a:latin typeface="Arial"/>
              </a:rPr>
              <a:t>SPOKE VIRTUAL NETWORK</a:t>
            </a:r>
          </a:p>
        </p:txBody>
      </p:sp>
      <p:pic>
        <p:nvPicPr>
          <p:cNvPr id="46" name="Azure icon: Private Endpoints" descr="Official Azure icon: Private Endpoint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673352" y="4233672"/>
            <a:ext cx="384048" cy="384048"/>
          </a:xfrm>
          <a:prstGeom prst="rect">
            <a:avLst/>
          </a:prstGeom>
        </p:spPr>
      </p:pic>
      <p:sp>
        <p:nvSpPr>
          <p:cNvPr id="47" name="TextBox 46"/>
          <p:cNvSpPr txBox="1"/>
          <p:nvPr/>
        </p:nvSpPr>
        <p:spPr>
          <a:xfrm>
            <a:off x="2130552" y="4197096"/>
            <a:ext cx="2724912" cy="457199"/>
          </a:xfrm>
          <a:prstGeom prst="rect">
            <a:avLst/>
          </a:prstGeom>
          <a:noFill/>
        </p:spPr>
        <p:txBody>
          <a:bodyPr wrap="square" lIns="0" rIns="0" tIns="0" bIns="0" anchor="ctr">
            <a:noAutofit/>
          </a:bodyPr>
          <a:lstStyle/>
          <a:p>
            <a:pPr algn="l"/>
            <a:r>
              <a:rPr sz="1200" b="1" i="0">
                <a:solidFill>
                  <a:srgbClr val="000048"/>
                </a:solidFill>
                <a:latin typeface="Arial"/>
              </a:rPr>
              <a:t>Private endpoints</a:t>
            </a:r>
          </a:p>
          <a:p>
            <a:pPr algn="l"/>
            <a:r>
              <a:rPr sz="1000" b="0" i="0">
                <a:solidFill>
                  <a:srgbClr val="53565A"/>
                </a:solidFill>
                <a:latin typeface="Arial"/>
              </a:rPr>
              <a:t>Foundry, Search, Storage, Key Vault, Cosmos DB</a:t>
            </a:r>
          </a:p>
        </p:txBody>
      </p:sp>
      <p:pic>
        <p:nvPicPr>
          <p:cNvPr id="48"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93792" y="4233672"/>
            <a:ext cx="384048" cy="384048"/>
          </a:xfrm>
          <a:prstGeom prst="rect">
            <a:avLst/>
          </a:prstGeom>
        </p:spPr>
      </p:pic>
      <p:sp>
        <p:nvSpPr>
          <p:cNvPr id="49" name="TextBox 48"/>
          <p:cNvSpPr txBox="1"/>
          <p:nvPr/>
        </p:nvSpPr>
        <p:spPr>
          <a:xfrm>
            <a:off x="5650992" y="4197096"/>
            <a:ext cx="171907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000" b="0" i="0">
                <a:solidFill>
                  <a:srgbClr val="53565A"/>
                </a:solidFill>
                <a:latin typeface="Arial"/>
              </a:rPr>
              <a:t>outbound internet (5)</a:t>
            </a:r>
          </a:p>
        </p:txBody>
      </p:sp>
      <p:pic>
        <p:nvPicPr>
          <p:cNvPr id="50" name="Azure icon: Key Vault" descr="Official Azure icon: Key Vaul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662672" y="4233672"/>
            <a:ext cx="384048" cy="384048"/>
          </a:xfrm>
          <a:prstGeom prst="rect">
            <a:avLst/>
          </a:prstGeom>
        </p:spPr>
      </p:pic>
      <p:sp>
        <p:nvSpPr>
          <p:cNvPr id="51" name="TextBox 50"/>
          <p:cNvSpPr txBox="1"/>
          <p:nvPr/>
        </p:nvSpPr>
        <p:spPr>
          <a:xfrm>
            <a:off x="8119872" y="4197096"/>
            <a:ext cx="1353312" cy="457199"/>
          </a:xfrm>
          <a:prstGeom prst="rect">
            <a:avLst/>
          </a:prstGeom>
          <a:noFill/>
        </p:spPr>
        <p:txBody>
          <a:bodyPr wrap="square" lIns="0" rIns="0" tIns="0" bIns="0" anchor="ctr">
            <a:noAutofit/>
          </a:bodyPr>
          <a:lstStyle/>
          <a:p>
            <a:pPr algn="l"/>
            <a:r>
              <a:rPr sz="1200" b="1" i="0">
                <a:solidFill>
                  <a:srgbClr val="000048"/>
                </a:solidFill>
                <a:latin typeface="Arial"/>
              </a:rPr>
              <a:t>Key Vault</a:t>
            </a:r>
          </a:p>
          <a:p>
            <a:pPr algn="l"/>
            <a:r>
              <a:rPr sz="1000" b="0" i="0">
                <a:solidFill>
                  <a:srgbClr val="53565A"/>
                </a:solidFill>
                <a:latin typeface="Arial"/>
              </a:rPr>
              <a:t>certificates, secrets</a:t>
            </a:r>
          </a:p>
        </p:txBody>
      </p:sp>
      <p:pic>
        <p:nvPicPr>
          <p:cNvPr id="52"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674352" y="4233672"/>
            <a:ext cx="384048" cy="384048"/>
          </a:xfrm>
          <a:prstGeom prst="rect">
            <a:avLst/>
          </a:prstGeom>
        </p:spPr>
      </p:pic>
      <p:sp>
        <p:nvSpPr>
          <p:cNvPr id="53" name="TextBox 52"/>
          <p:cNvSpPr txBox="1"/>
          <p:nvPr/>
        </p:nvSpPr>
        <p:spPr>
          <a:xfrm>
            <a:off x="10131552" y="4197096"/>
            <a:ext cx="1536192" cy="457199"/>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000" b="0" i="0">
                <a:solidFill>
                  <a:srgbClr val="53565A"/>
                </a:solidFill>
                <a:latin typeface="Arial"/>
              </a:rPr>
              <a:t>monitoring</a:t>
            </a:r>
          </a:p>
        </p:txBody>
      </p:sp>
      <p:cxnSp>
        <p:nvCxnSpPr>
          <p:cNvPr id="54" name="Connector (data)"/>
          <p:cNvCxnSpPr/>
          <p:nvPr/>
        </p:nvCxnSpPr>
        <p:spPr>
          <a:xfrm flipH="1">
            <a:off x="6400800" y="3474720"/>
            <a:ext cx="777240" cy="6858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7269480" y="3520440"/>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cxnSp>
        <p:nvCxnSpPr>
          <p:cNvPr id="56"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24128" y="5486400"/>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8" name="Connector (data)"/>
          <p:cNvCxnSpPr/>
          <p:nvPr/>
        </p:nvCxnSpPr>
        <p:spPr>
          <a:xfrm>
            <a:off x="2743200" y="560527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18688" y="5486400"/>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sp>
        <p:nvSpPr>
          <p:cNvPr id="60" name="TextBox 59"/>
          <p:cNvSpPr txBox="1"/>
          <p:nvPr/>
        </p:nvSpPr>
        <p:spPr>
          <a:xfrm>
            <a:off x="5120640" y="5486400"/>
            <a:ext cx="6492240" cy="274320"/>
          </a:xfrm>
          <a:prstGeom prst="rect">
            <a:avLst/>
          </a:prstGeom>
          <a:noFill/>
        </p:spPr>
        <p:txBody>
          <a:bodyPr wrap="square" lIns="0" rIns="0" tIns="0" bIns="0" anchor="t">
            <a:noAutofit/>
          </a:bodyPr>
          <a:lstStyle/>
          <a:p>
            <a:pPr algn="r"/>
            <a:r>
              <a:rPr sz="1100" b="0" i="0">
                <a:solidFill>
                  <a:srgbClr val="53565A"/>
                </a:solidFill>
                <a:latin typeface="Arial"/>
              </a:rPr>
              <a:t>Numbers follow the source diagram. Original: appendix O2.</a:t>
            </a:r>
          </a:p>
        </p:txBody>
      </p:sp>
      <p:sp>
        <p:nvSpPr>
          <p:cNvPr id="61" name="TextBox 60"/>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 not a validated customer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projects, model endpoints and agent hosting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VERIFY PER ENGAGEMENT"/>
          <p:cNvSpPr/>
          <p:nvPr/>
        </p:nvSpPr>
        <p:spPr>
          <a:xfrm>
            <a:off x="1898650" y="274320"/>
            <a:ext cx="20878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VERIFY PER ENGAGEMENT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2468880"/>
                <a:gridCol w="3108960"/>
                <a:gridCol w="3017520"/>
                <a:gridCol w="2496312"/>
              </a:tblGrid>
              <a:tr h="289560">
                <a:tc>
                  <a:txBody>
                    <a:bodyPr wrap="square" anchor="ctr">
                      <a:noAutofit/>
                    </a:bodyPr>
                    <a:lstStyle/>
                    <a:p>
                      <a:pPr algn="l"/>
                      <a:r>
                        <a:rPr sz="1300" b="1" i="0">
                          <a:solidFill>
                            <a:srgbClr val="FFFFFF"/>
                          </a:solidFill>
                          <a:latin typeface="Arial"/>
                        </a:rPr>
                        <a:t>Hosting route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Platform pattern 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Lifecycle control (verified)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Watch-outs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agents and workflows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project, private endpoints, agent subnet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when published; unpublished must be deleted to stop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does not end existing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 hosted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As above, plus compute quota</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Start and stop; stop deallocates compute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Check region support</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Customer-hosted (Container Apps, AKS)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Spoke subnet, identity, registry, ingress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Register as custom agent: Block or Unblock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Block covers proxy path, not host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Logic Apps with VNet integration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 the Logic Apps resource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Stops every workflow in it; no traces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4892040"/>
          <a:ext cx="11091672" cy="777240"/>
        </p:xfrm>
        <a:graphic>
          <a:graphicData uri="http://schemas.openxmlformats.org/drawingml/2006/table">
            <a:tbl>
              <a:tblPr firstRow="1" bandRow="0">
                <a:tableStyleId>{5C22544A-7EE6-4342-B048-85BDC9FD1C3A}</a:tableStyleId>
              </a:tblPr>
              <a:tblGrid>
                <a:gridCol w="2468880"/>
                <a:gridCol w="8622792"/>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Model endpoint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deployment type and model version per environment; quota checked; processing boundary approved (appendix A14)</a:t>
                      </a:r>
                    </a:p>
                  </a:txBody>
                  <a:tcPr marL="73152" marR="73152" marT="36576" marB="36576"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Search, storage and workload data dependencies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8" name="Table"/>
          <p:cNvGraphicFramePr>
            <a:graphicFrameLocks noGrp="1"/>
          </p:cNvGraphicFramePr>
          <p:nvPr/>
        </p:nvGraphicFramePr>
        <p:xfrm>
          <a:off x="548640" y="1371600"/>
          <a:ext cx="11091672" cy="2727960"/>
        </p:xfrm>
        <a:graphic>
          <a:graphicData uri="http://schemas.openxmlformats.org/drawingml/2006/table">
            <a:tbl>
              <a:tblPr firstRow="1" bandRow="0">
                <a:tableStyleId>{5C22544A-7EE6-4342-B048-85BDC9FD1C3A}</a:tableStyleId>
              </a:tblPr>
              <a:tblGrid>
                <a:gridCol w="2011680"/>
                <a:gridCol w="2377440"/>
                <a:gridCol w="3566160"/>
                <a:gridCol w="3136392"/>
              </a:tblGrid>
              <a:tr h="289560">
                <a:tc>
                  <a:txBody>
                    <a:bodyPr wrap="square" anchor="ctr">
                      <a:noAutofit/>
                    </a:bodyPr>
                    <a:lstStyle/>
                    <a:p>
                      <a:pPr algn="l"/>
                      <a:r>
                        <a:rPr sz="1300" b="1" i="0">
                          <a:solidFill>
                            <a:srgbClr val="FFFFFF"/>
                          </a:solidFill>
                          <a:latin typeface="Arial"/>
                        </a:rPr>
                        <a:t>Dependency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Azure service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Owned elsewhere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Retrieval index</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AI Search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Service, private endpoint, identity, diagnostics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Index design (Data); indexing pipelines (Data Eng.)</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Documents and files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Storage account (blob containers)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Account, private endpoint, network rules, lifecycle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Classification and retention (Data); loads (Data Eng.)</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Agent threads and 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Cosmos DB</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Account for Agent Service standard setup, backup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model (AI)</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Secrets and certificates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Vault, RBAC, rotation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Secret content (workload team)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Source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Network path and DNS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rights and access (customer source owner)</a:t>
                      </a:r>
                    </a:p>
                  </a:txBody>
                  <a:tcPr marL="73152" marR="73152" marT="36576" marB="36576" anchor="ctr">
                    <a:solidFill>
                      <a:srgbClr val="FFFFFF"/>
                    </a:solidFill>
                  </a:tcPr>
                </a:tc>
              </a:tr>
            </a:tbl>
          </a:graphicData>
        </a:graphic>
      </p:graphicFrame>
      <p:pic>
        <p:nvPicPr>
          <p:cNvPr id="9" name="Azure icon: AI Search (Cognitive Search icon)" descr="Official Azure icon: AI Search (Cognitive Search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303520"/>
            <a:ext cx="411480" cy="411480"/>
          </a:xfrm>
          <a:prstGeom prst="rect">
            <a:avLst/>
          </a:prstGeom>
        </p:spPr>
      </p:pic>
      <p:pic>
        <p:nvPicPr>
          <p:cNvPr id="10" name="Azure icon: Storage account" descr="Official Azure icon: Storage accou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3000" y="5303520"/>
            <a:ext cx="411480" cy="411480"/>
          </a:xfrm>
          <a:prstGeom prst="rect">
            <a:avLst/>
          </a:prstGeom>
        </p:spPr>
      </p:pic>
      <p:pic>
        <p:nvPicPr>
          <p:cNvPr id="11" name="Azure icon: Azure Cosmos DB" descr="Official Azure icon: Azure Cosmos DB"/>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37360" y="5303520"/>
            <a:ext cx="411480" cy="411480"/>
          </a:xfrm>
          <a:prstGeom prst="rect">
            <a:avLst/>
          </a:prstGeom>
        </p:spPr>
      </p:pic>
      <p:pic>
        <p:nvPicPr>
          <p:cNvPr id="12" name="Azure icon: Key Vault" descr="Official Azure icon: Key Vault"/>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31720" y="5303520"/>
            <a:ext cx="411480" cy="411480"/>
          </a:xfrm>
          <a:prstGeom prst="rect">
            <a:avLst/>
          </a:prstGeom>
        </p:spPr>
      </p:pic>
      <p:sp>
        <p:nvSpPr>
          <p:cNvPr id="13" name="TextBox 12"/>
          <p:cNvSpPr txBox="1"/>
          <p:nvPr/>
        </p:nvSpPr>
        <p:spPr>
          <a:xfrm>
            <a:off x="3017520" y="5321808"/>
            <a:ext cx="8595360" cy="457200"/>
          </a:xfrm>
          <a:prstGeom prst="rect">
            <a:avLst/>
          </a:prstGeom>
          <a:noFill/>
        </p:spPr>
        <p:txBody>
          <a:bodyPr wrap="square" lIns="0" rIns="0" tIns="0" bIns="0" anchor="t">
            <a:noAutofit/>
          </a:bodyPr>
          <a:lstStyle/>
          <a:p>
            <a:pPr algn="l"/>
            <a:r>
              <a:rPr sz="1400" b="0" i="0">
                <a:solidFill>
                  <a:srgbClr val="53565A"/>
                </a:solidFill>
                <a:latin typeface="Arial"/>
              </a:rPr>
              <a:t>Platform readiness does not imply data quality or permission propagation; those are separate acceptance gates.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Terraform, CI/CD, approvals and environment promotion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9" name="Rounded Rectangle 8"/>
          <p:cNvSpPr/>
          <p:nvPr/>
        </p:nvSpPr>
        <p:spPr>
          <a:xfrm>
            <a:off x="548640"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3020" y="1627632"/>
            <a:ext cx="502920" cy="502920"/>
          </a:xfrm>
          <a:prstGeom prst="rect">
            <a:avLst/>
          </a:prstGeom>
        </p:spPr>
      </p:pic>
      <p:sp>
        <p:nvSpPr>
          <p:cNvPr id="11" name="TextBox 10"/>
          <p:cNvSpPr txBox="1"/>
          <p:nvPr/>
        </p:nvSpPr>
        <p:spPr>
          <a:xfrm>
            <a:off x="585216"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Pull request</a:t>
            </a:r>
          </a:p>
          <a:p>
            <a:pPr algn="ctr"/>
            <a:r>
              <a:rPr sz="1200" b="0" i="0">
                <a:solidFill>
                  <a:srgbClr val="53565A"/>
                </a:solidFill>
                <a:latin typeface="Arial"/>
              </a:rPr>
              <a:t>plan, policy and security scans</a:t>
            </a:r>
          </a:p>
        </p:txBody>
      </p:sp>
      <p:cxnSp>
        <p:nvCxnSpPr>
          <p:cNvPr id="12" name="Connector (flow)"/>
          <p:cNvCxnSpPr/>
          <p:nvPr/>
        </p:nvCxnSpPr>
        <p:spPr>
          <a:xfrm>
            <a:off x="2560320"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70732" y="1627632"/>
            <a:ext cx="502920" cy="502920"/>
          </a:xfrm>
          <a:prstGeom prst="rect">
            <a:avLst/>
          </a:prstGeom>
        </p:spPr>
      </p:pic>
      <p:sp>
        <p:nvSpPr>
          <p:cNvPr id="15" name="TextBox 14"/>
          <p:cNvSpPr txBox="1"/>
          <p:nvPr/>
        </p:nvSpPr>
        <p:spPr>
          <a:xfrm>
            <a:off x="2852928"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Dev</a:t>
            </a:r>
          </a:p>
          <a:p>
            <a:pPr algn="ctr"/>
            <a:r>
              <a:rPr sz="1200" b="0" i="0">
                <a:solidFill>
                  <a:srgbClr val="53565A"/>
                </a:solidFill>
                <a:latin typeface="Arial"/>
              </a:rPr>
              <a:t>auto-apply after review</a:t>
            </a:r>
          </a:p>
        </p:txBody>
      </p:sp>
      <p:cxnSp>
        <p:nvCxnSpPr>
          <p:cNvPr id="16" name="Connector (flow)"/>
          <p:cNvCxnSpPr/>
          <p:nvPr/>
        </p:nvCxnSpPr>
        <p:spPr>
          <a:xfrm>
            <a:off x="4828032"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44" y="1627632"/>
            <a:ext cx="502920" cy="502920"/>
          </a:xfrm>
          <a:prstGeom prst="rect">
            <a:avLst/>
          </a:prstGeom>
        </p:spPr>
      </p:pic>
      <p:sp>
        <p:nvSpPr>
          <p:cNvPr id="19" name="TextBox 18"/>
          <p:cNvSpPr txBox="1"/>
          <p:nvPr/>
        </p:nvSpPr>
        <p:spPr>
          <a:xfrm>
            <a:off x="5120640"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Test</a:t>
            </a:r>
          </a:p>
          <a:p>
            <a:pPr algn="ctr"/>
            <a:r>
              <a:rPr sz="1200" b="0" i="0">
                <a:solidFill>
                  <a:srgbClr val="53565A"/>
                </a:solidFill>
                <a:latin typeface="Arial"/>
              </a:rPr>
              <a:t>integration and network tests</a:t>
            </a:r>
          </a:p>
        </p:txBody>
      </p:sp>
      <p:cxnSp>
        <p:nvCxnSpPr>
          <p:cNvPr id="20" name="Connector (flow)"/>
          <p:cNvCxnSpPr/>
          <p:nvPr/>
        </p:nvCxnSpPr>
        <p:spPr>
          <a:xfrm>
            <a:off x="7095744" y="2331720"/>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51775" y="1554480"/>
            <a:ext cx="2011680" cy="1600200"/>
          </a:xfrm>
          <a:prstGeom prst="roundRect">
            <a:avLst>
              <a:gd name="adj" fmla="val 4571"/>
            </a:avLst>
          </a:prstGeom>
          <a:solidFill>
            <a:srgbClr val="EFEFFC"/>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6155" y="1627632"/>
            <a:ext cx="502920" cy="502920"/>
          </a:xfrm>
          <a:prstGeom prst="rect">
            <a:avLst/>
          </a:prstGeom>
        </p:spPr>
      </p:pic>
      <p:sp>
        <p:nvSpPr>
          <p:cNvPr id="23" name="TextBox 22"/>
          <p:cNvSpPr txBox="1"/>
          <p:nvPr/>
        </p:nvSpPr>
        <p:spPr>
          <a:xfrm>
            <a:off x="7388351"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Approval</a:t>
            </a:r>
          </a:p>
          <a:p>
            <a:pPr algn="ctr"/>
            <a:r>
              <a:rPr sz="1200" b="0" i="0">
                <a:solidFill>
                  <a:srgbClr val="53565A"/>
                </a:solidFill>
                <a:latin typeface="Arial"/>
              </a:rPr>
              <a:t>customer change authority</a:t>
            </a:r>
          </a:p>
        </p:txBody>
      </p:sp>
      <p:cxnSp>
        <p:nvCxnSpPr>
          <p:cNvPr id="24" name="Connector (flow)"/>
          <p:cNvCxnSpPr/>
          <p:nvPr/>
        </p:nvCxnSpPr>
        <p:spPr>
          <a:xfrm>
            <a:off x="9363455" y="233172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19488"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73867" y="1627632"/>
            <a:ext cx="502920" cy="502920"/>
          </a:xfrm>
          <a:prstGeom prst="rect">
            <a:avLst/>
          </a:prstGeom>
        </p:spPr>
      </p:pic>
      <p:sp>
        <p:nvSpPr>
          <p:cNvPr id="27" name="TextBox 26"/>
          <p:cNvSpPr txBox="1"/>
          <p:nvPr/>
        </p:nvSpPr>
        <p:spPr>
          <a:xfrm>
            <a:off x="9656063"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Production</a:t>
            </a:r>
          </a:p>
          <a:p>
            <a:pPr algn="ctr"/>
            <a:r>
              <a:rPr sz="1200" b="0" i="0">
                <a:solidFill>
                  <a:srgbClr val="53565A"/>
                </a:solidFill>
                <a:latin typeface="Arial"/>
              </a:rPr>
              <a:t>apply; drift check; rollback ready</a:t>
            </a:r>
          </a:p>
        </p:txBody>
      </p:sp>
      <p:graphicFrame>
        <p:nvGraphicFramePr>
          <p:cNvPr id="28" name="Table"/>
          <p:cNvGraphicFramePr>
            <a:graphicFrameLocks noGrp="1"/>
          </p:cNvGraphicFramePr>
          <p:nvPr/>
        </p:nvGraphicFramePr>
        <p:xfrm>
          <a:off x="548640" y="3520440"/>
          <a:ext cx="11091672" cy="1524000"/>
        </p:xfrm>
        <a:graphic>
          <a:graphicData uri="http://schemas.openxmlformats.org/drawingml/2006/table">
            <a:tbl>
              <a:tblPr firstRow="1" bandRow="0">
                <a:tableStyleId>{5C22544A-7EE6-4342-B048-85BDC9FD1C3A}</a:tableStyleId>
              </a:tblPr>
              <a:tblGrid>
                <a:gridCol w="1828800"/>
                <a:gridCol w="9262872"/>
              </a:tblGrid>
              <a:tr h="304800">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Rule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Remote state per environment; locked; access by deployment identity only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Federated pipeline identity per environment; no stored secrets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Plan output, test results and approval stored with each release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Rollback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Previous version redeployable; tested before acceptance</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Development, test and production separation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8"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94560"/>
                <a:gridCol w="2834640"/>
                <a:gridCol w="2834640"/>
                <a:gridCol w="3227832"/>
              </a:tblGrid>
              <a:tr h="304800">
                <a:tc>
                  <a:txBody>
                    <a:bodyPr wrap="square" anchor="ctr">
                      <a:noAutofit/>
                    </a:bodyPr>
                    <a:lstStyle/>
                    <a:p>
                      <a:pPr algn="l"/>
                      <a:r>
                        <a:rPr sz="14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Development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Test (optional)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Production</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separate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Synthetic or masked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Approved test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Live, per data owner approval</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Standard, low quota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Same type as 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Approved type and processing boundary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Access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PIM optional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via pipeline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Pipeline only; PIM for operators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Network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WAF, egress firewall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Telemetry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Short retention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Agreed retention; alerts routed</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Monitoring, budgets, containment and recovery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8" name="Rounded Rectangle 7"/>
          <p:cNvSpPr/>
          <p:nvPr/>
        </p:nvSpPr>
        <p:spPr>
          <a:xfrm>
            <a:off x="54864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417319"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Monitoring</a:t>
            </a:r>
          </a:p>
        </p:txBody>
      </p:sp>
      <p:sp>
        <p:nvSpPr>
          <p:cNvPr id="11" name="TextBox 10"/>
          <p:cNvSpPr txBox="1"/>
          <p:nvPr/>
        </p:nvSpPr>
        <p:spPr>
          <a:xfrm>
            <a:off x="1417319"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Diagnostics to Log Analytics; Application Insights per Foundry project; alert rules with named owners</a:t>
            </a:r>
          </a:p>
        </p:txBody>
      </p:sp>
      <p:sp>
        <p:nvSpPr>
          <p:cNvPr id="12" name="Rounded Rectangle 11"/>
          <p:cNvSpPr/>
          <p:nvPr/>
        </p:nvSpPr>
        <p:spPr>
          <a:xfrm>
            <a:off x="617220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st Budgets" descr="Official Azure icon: Cost Budge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554480"/>
            <a:ext cx="502920" cy="502920"/>
          </a:xfrm>
          <a:prstGeom prst="rect">
            <a:avLst/>
          </a:prstGeom>
        </p:spPr>
      </p:pic>
      <p:sp>
        <p:nvSpPr>
          <p:cNvPr id="14" name="TextBox 13"/>
          <p:cNvSpPr txBox="1"/>
          <p:nvPr/>
        </p:nvSpPr>
        <p:spPr>
          <a:xfrm>
            <a:off x="7040880"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Budgets</a:t>
            </a:r>
          </a:p>
        </p:txBody>
      </p:sp>
      <p:sp>
        <p:nvSpPr>
          <p:cNvPr id="15" name="TextBox 14"/>
          <p:cNvSpPr txBox="1"/>
          <p:nvPr/>
        </p:nvSpPr>
        <p:spPr>
          <a:xfrm>
            <a:off x="7040880"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Budget and alert per subscription and workload; model usage reported separately from platform cost</a:t>
            </a:r>
          </a:p>
        </p:txBody>
      </p:sp>
      <p:sp>
        <p:nvSpPr>
          <p:cNvPr id="16" name="Rounded Rectangle 15"/>
          <p:cNvSpPr/>
          <p:nvPr/>
        </p:nvSpPr>
        <p:spPr>
          <a:xfrm>
            <a:off x="54864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unction App" descr="Official Azure icon: Function App"/>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657600"/>
            <a:ext cx="502920" cy="502920"/>
          </a:xfrm>
          <a:prstGeom prst="rect">
            <a:avLst/>
          </a:prstGeom>
        </p:spPr>
      </p:pic>
      <p:sp>
        <p:nvSpPr>
          <p:cNvPr id="18" name="TextBox 17"/>
          <p:cNvSpPr txBox="1"/>
          <p:nvPr/>
        </p:nvSpPr>
        <p:spPr>
          <a:xfrm>
            <a:off x="1417319"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Containment hooks</a:t>
            </a:r>
          </a:p>
        </p:txBody>
      </p:sp>
      <p:sp>
        <p:nvSpPr>
          <p:cNvPr id="19" name="TextBox 18"/>
          <p:cNvSpPr txBox="1"/>
          <p:nvPr/>
        </p:nvSpPr>
        <p:spPr>
          <a:xfrm>
            <a:off x="1417319"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Network and identity design that lets offering 02 block, cancel and deny (see appendix K)</a:t>
            </a:r>
          </a:p>
        </p:txBody>
      </p:sp>
      <p:sp>
        <p:nvSpPr>
          <p:cNvPr id="20" name="Rounded Rectangle 19"/>
          <p:cNvSpPr/>
          <p:nvPr/>
        </p:nvSpPr>
        <p:spPr>
          <a:xfrm>
            <a:off x="617220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Recovery Services Vaults" descr="Official Azure icon: Recovery Services Vaul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657600"/>
            <a:ext cx="502920" cy="502920"/>
          </a:xfrm>
          <a:prstGeom prst="rect">
            <a:avLst/>
          </a:prstGeom>
        </p:spPr>
      </p:pic>
      <p:sp>
        <p:nvSpPr>
          <p:cNvPr id="22" name="TextBox 21"/>
          <p:cNvSpPr txBox="1"/>
          <p:nvPr/>
        </p:nvSpPr>
        <p:spPr>
          <a:xfrm>
            <a:off x="7040880"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Recovery</a:t>
            </a:r>
          </a:p>
        </p:txBody>
      </p:sp>
      <p:sp>
        <p:nvSpPr>
          <p:cNvPr id="23" name="TextBox 22"/>
          <p:cNvSpPr txBox="1"/>
          <p:nvPr/>
        </p:nvSpPr>
        <p:spPr>
          <a:xfrm>
            <a:off x="7040880"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IaC redeploy, backups for stateful stores, restore drill recorded; RTO and RPO agreed per dependency</a:t>
            </a:r>
          </a:p>
        </p:txBody>
      </p:sp>
      <p:sp>
        <p:nvSpPr>
          <p:cNvPr id="24" name="Rounded Rectangle 23"/>
          <p:cNvSpPr/>
          <p:nvPr/>
        </p:nvSpPr>
        <p:spPr>
          <a:xfrm>
            <a:off x="548640" y="5715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Log Analytics ingestion is a material consumption cost (East US 2 list: $2.76 per GB after the free allowance). Agree retention.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Processing location and residency are customer decisions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3291840"/>
                <a:gridCol w="5120640"/>
                <a:gridCol w="2679192"/>
              </a:tblGrid>
              <a:tr h="3200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Where prompts and responses are processed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Billing</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Global Standard / Global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 where the model is deployed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 Standard / Provisioned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the Microsoft data zone: US, EU or APAC</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Standard (regional) / Regional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Within the customer-selected Azure geography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Global or Data Zone Batch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As Global or Data Zone; 24-hour target, no real-time SLA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50% discount on tokens</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UK or Middle East data zone is published. Those pursuits need regional deployments or an approved Global boundary.</a:t>
            </a:r>
          </a:p>
        </p:txBody>
      </p:sp>
      <p:sp>
        <p:nvSpPr>
          <p:cNvPr id="11" name="TextBox 10"/>
          <p:cNvSpPr txBox="1"/>
          <p:nvPr/>
        </p:nvSpPr>
        <p:spPr>
          <a:xfrm>
            <a:off x="548640" y="4983480"/>
            <a:ext cx="11064240" cy="822960"/>
          </a:xfrm>
          <a:prstGeom prst="rect">
            <a:avLst/>
          </a:prstGeom>
          <a:noFill/>
        </p:spPr>
        <p:txBody>
          <a:bodyPr wrap="square" lIns="0" rIns="0" tIns="0" bIns="0" anchor="t">
            <a:noAutofit/>
          </a:bodyPr>
          <a:lstStyle/>
          <a:p>
            <a:pPr algn="l"/>
            <a:r>
              <a:rPr sz="1600" b="0" i="0">
                <a:solidFill>
                  <a:srgbClr val="1E1E2E"/>
                </a:solidFill>
                <a:latin typeface="Arial"/>
              </a:rPr>
              <a:t>Approve both the resource region and the model processing boundary. Then verify model support, subscription quota and deployable capacity, which are three different things.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availability snapshot: gpt-4.1, selected regions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NOT EXHAUSTIVE"/>
          <p:cNvSpPr/>
          <p:nvPr/>
        </p:nvSpPr>
        <p:spPr>
          <a:xfrm>
            <a:off x="408940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EXHAUSTIVE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10" name="Table"/>
          <p:cNvGraphicFramePr>
            <a:graphicFrameLocks noGrp="1"/>
          </p:cNvGraphicFramePr>
          <p:nvPr/>
        </p:nvGraphicFramePr>
        <p:xfrm>
          <a:off x="548640" y="1371600"/>
          <a:ext cx="11091671" cy="2194560"/>
        </p:xfrm>
        <a:graphic>
          <a:graphicData uri="http://schemas.openxmlformats.org/drawingml/2006/table">
            <a:tbl>
              <a:tblPr firstRow="1" bandRow="0">
                <a:tableStyleId>{5C22544A-7EE6-4342-B048-85BDC9FD1C3A}</a:tableStyleId>
              </a:tblPr>
              <a:tblGrid>
                <a:gridCol w="2379401"/>
                <a:gridCol w="1244610"/>
                <a:gridCol w="1244610"/>
                <a:gridCol w="1244610"/>
                <a:gridCol w="1244610"/>
                <a:gridCol w="1244610"/>
                <a:gridCol w="1244610"/>
                <a:gridCol w="1244610"/>
              </a:tblGrid>
              <a:tr h="457200">
                <a:tc>
                  <a:txBody>
                    <a:bodyPr wrap="square" anchor="ctr">
                      <a:noAutofit/>
                    </a:bodyPr>
                    <a:lstStyle/>
                    <a:p>
                      <a:pPr algn="l"/>
                      <a:r>
                        <a:rPr sz="12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East US 2</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Sweden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West Europe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Germany W.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France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UK South</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UAE North</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Global Standard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Standard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Standard (regional)</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Global Provisioned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Provisioned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Regional Provisioned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bl>
          </a:graphicData>
        </a:graphic>
      </p:graphicFrame>
      <p:sp>
        <p:nvSpPr>
          <p:cNvPr id="11" name="Rounded Rectangle 10"/>
          <p:cNvSpPr/>
          <p:nvPr/>
        </p:nvSpPr>
        <p:spPr>
          <a:xfrm>
            <a:off x="548640" y="48463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Published support is not quota or capacity. gpt-4.1 retires 2027-04-14; repeat this check for the model actually selected.</a:t>
            </a:r>
          </a:p>
        </p:txBody>
      </p:sp>
      <p:sp>
        <p:nvSpPr>
          <p:cNvPr id="12" name="TextBox 11"/>
          <p:cNvSpPr txBox="1"/>
          <p:nvPr/>
        </p:nvSpPr>
        <p:spPr>
          <a:xfrm>
            <a:off x="548640" y="5532120"/>
            <a:ext cx="11064240" cy="548640"/>
          </a:xfrm>
          <a:prstGeom prst="rect">
            <a:avLst/>
          </a:prstGeom>
          <a:noFill/>
        </p:spPr>
        <p:txBody>
          <a:bodyPr wrap="square" lIns="0" rIns="0" tIns="0" bIns="0" anchor="t">
            <a:noAutofit/>
          </a:bodyPr>
          <a:lstStyle/>
          <a:p>
            <a:pPr algn="l"/>
            <a:r>
              <a:rPr sz="1300" b="0" i="0">
                <a:solidFill>
                  <a:srgbClr val="53565A"/>
                </a:solidFill>
                <a:latin typeface="Arial"/>
              </a:rPr>
              <a:t>Region selection: East US 2 for US; Sweden Central, West Europe, Germany West Central and France Central for EU; UK South for UK; UAE North for Middle East (Qatar Central not listed).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Define scope before selecting the resource 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8" name="Table"/>
          <p:cNvGraphicFramePr>
            <a:graphicFrameLocks noGrp="1"/>
          </p:cNvGraphicFramePr>
          <p:nvPr/>
        </p:nvGraphicFramePr>
        <p:xfrm>
          <a:off x="548640" y="1371600"/>
          <a:ext cx="11091672" cy="2346960"/>
        </p:xfrm>
        <a:graphic>
          <a:graphicData uri="http://schemas.openxmlformats.org/drawingml/2006/table">
            <a:tbl>
              <a:tblPr firstRow="1" bandRow="0">
                <a:tableStyleId>{5C22544A-7EE6-4342-B048-85BDC9FD1C3A}</a:tableStyleId>
              </a:tblPr>
              <a:tblGrid>
                <a:gridCol w="5541264"/>
                <a:gridCol w="5550408"/>
              </a:tblGrid>
              <a:tr h="335280">
                <a:tc>
                  <a:txBody>
                    <a:bodyPr wrap="square" anchor="ctr">
                      <a:noAutofit/>
                    </a:bodyPr>
                    <a:lstStyle/>
                    <a:p>
                      <a:pPr algn="l"/>
                      <a:r>
                        <a:rPr sz="1600" b="1" i="0">
                          <a:solidFill>
                            <a:srgbClr val="FFFFFF"/>
                          </a:solidFill>
                          <a:latin typeface="Arial"/>
                        </a:rPr>
                        <a:t>Included reference baseline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Separately scoped</a:t>
                      </a:r>
                    </a:p>
                  </a:txBody>
                  <a:tcPr marL="73152" marR="73152" marT="36576" marB="36576" anchor="ctr">
                    <a:solidFill>
                      <a:srgbClr val="000048"/>
                    </a:solidFill>
                  </a:tcPr>
                </a:tc>
              </a:tr>
              <a:tr h="335280">
                <a:tc>
                  <a:txBody>
                    <a:bodyPr wrap="square" anchor="ctr">
                      <a:noAutofit/>
                    </a:bodyPr>
                    <a:lstStyle/>
                    <a:p>
                      <a:pPr algn="l"/>
                      <a:r>
                        <a:rPr sz="1600" b="0" i="0">
                          <a:solidFill>
                            <a:srgbClr val="1E1E2E"/>
                          </a:solidFill>
                          <a:latin typeface="Arial"/>
                        </a:rPr>
                        <a:t>One workload; development and production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Extra workloads and environments</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One region and approved processing boundary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Regional disaster recovery and extra geographies</a:t>
                      </a:r>
                    </a:p>
                  </a:txBody>
                  <a:tcPr marL="73152" marR="73152" marT="36576" marB="36576" anchor="ctr">
                    <a:solidFill>
                      <a:srgbClr val="F5F5F2"/>
                    </a:solidFill>
                  </a:tcPr>
                </a:tc>
              </a:tr>
              <a:tr h="335280">
                <a:tc>
                  <a:txBody>
                    <a:bodyPr wrap="square" anchor="ctr">
                      <a:noAutofit/>
                    </a:bodyPr>
                    <a:lstStyle/>
                    <a:p>
                      <a:pPr algn="l"/>
                      <a:r>
                        <a:rPr sz="1600" b="0" i="0">
                          <a:solidFill>
                            <a:srgbClr val="1E1E2E"/>
                          </a:solidFill>
                          <a:latin typeface="Arial"/>
                        </a:rPr>
                        <a:t>Agreed platform controls and IaC</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Enterprise-wide security remediation</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One onboarding and data integration pattern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Broad data clean-up or application redevelopment</a:t>
                      </a:r>
                    </a:p>
                  </a:txBody>
                  <a:tcPr marL="73152" marR="73152" marT="36576" marB="36576" anchor="ctr">
                    <a:solidFill>
                      <a:srgbClr val="F5F5F2"/>
                    </a:solidFill>
                  </a:tcPr>
                </a:tc>
              </a:tr>
              <a:tr h="335280">
                <a:tc>
                  <a:txBody>
                    <a:bodyPr wrap="square" anchor="ctr">
                      <a:noAutofit/>
                    </a:bodyPr>
                    <a:lstStyle/>
                    <a:p>
                      <a:pPr algn="l"/>
                      <a:r>
                        <a:rPr sz="1600" b="0" i="0">
                          <a:solidFill>
                            <a:srgbClr val="1E1E2E"/>
                          </a:solidFill>
                          <a:latin typeface="Arial"/>
                        </a:rPr>
                        <a:t>Existing hybrid 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WAN or DNS remediation</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Business-hours project support and stabilisation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SOC services, Copilot Studio or M365 administration</a:t>
                      </a:r>
                    </a:p>
                  </a:txBody>
                  <a:tcPr marL="73152" marR="73152" marT="36576" marB="36576" anchor="ctr">
                    <a:solidFill>
                      <a:srgbClr val="F5F5F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2468880"/>
                <a:gridCol w="5943599"/>
                <a:gridCol w="267919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Reproducible build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Deployed from versioned IaC; drift explained; rollback passes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platform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Approved paths pass; prohibited paths fail; DNS and egress recorded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with CIS Infra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Access controls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Agreed positive and negative permission tests pass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Scoped restore demonstrated; limitations documented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Integrated service owner</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Costs and handover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Allocation and budget alerts tested; runbooks accepted by named owners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service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Workload quality (separate)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Business-approved evaluation set meets thresholds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workload owner</a:t>
                      </a:r>
                    </a:p>
                  </a:txBody>
                  <a:tcPr marL="73152" marR="73152" marT="36576" marB="36576" anchor="ctr">
                    <a:solidFill>
                      <a:srgbClr val="F5F5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Effort drivers and change-control triggers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286000"/>
                <a:gridCol w="4754880"/>
                <a:gridCol w="4050792"/>
              </a:tblGrid>
              <a:tr h="320040">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changes effort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Change-control trigger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Environment count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Each adds policy, release, test and support 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environment beyond dev and prod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New WAN or DNS remediation changes the critical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Hub, DNS or firewall not validated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Extra regions add capacity, replication and recovery tests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 or a second region requested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integrations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Each source adds access, network and test work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Sources beyond the agreed pattern</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Region or model change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policy and residency rework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Processing boundary or model change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Customer availability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Approvals and access gate each phase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Agreed review dates missed</a:t>
                      </a:r>
                    </a:p>
                  </a:txBody>
                  <a:tcPr marL="73152" marR="73152" marT="36576" marB="36576" anchor="ctr">
                    <a:solidFill>
                      <a:srgbClr val="F5F5F2"/>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Bill of materials checklist for a defensible quote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8"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377440"/>
                <a:gridCol w="8714232"/>
              </a:tblGrid>
              <a:tr h="335280">
                <a:tc>
                  <a:txBody>
                    <a:bodyPr wrap="square" anchor="ctr">
                      <a:noAutofit/>
                    </a:bodyPr>
                    <a:lstStyle/>
                    <a:p>
                      <a:pPr algn="l"/>
                      <a:r>
                        <a:rPr sz="1600" b="1" i="0">
                          <a:solidFill>
                            <a:srgbClr val="FFFFFF"/>
                          </a:solidFill>
                          <a:latin typeface="Arial"/>
                        </a:rPr>
                        <a:t>Resource group</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pricing fields</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Firewall and gateway SKU, data processed, DNS resolver, private endpoints, egress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Model, version, deployment type, token volumes or PTU; AI Search tier and replicas; storage and retention</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Hosting and release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App or container compute SKU, replicas, registry, build agents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Log ingestion and retention, alerts, backup, Defender plans in scope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Every 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Region, quantity, environment, USD unit rate, meter, pricing date, monthly total</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11091672" cy="283464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implementation, transition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DevOps, AI, Data, Data Eng. work packages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Optional,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assets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Network, hosting, Search, Storage, logs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meters x quantity, dated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 for the workload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tower); PTU rates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in baseline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 inference is chosen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Private endpoints and disabled local auth so agents cannot bypass the gateway</a:t>
            </a:r>
          </a:p>
          <a:p>
            <a:pPr algn="l" marL="201168" indent="-201168">
              <a:spcAft>
                <a:spcPts val="600"/>
              </a:spcAft>
              <a:buFont typeface="Arial"/>
              <a:buChar char="•"/>
            </a:pPr>
            <a:r>
              <a:rPr sz="1800" b="0" i="0">
                <a:solidFill>
                  <a:srgbClr val="1E1E2E"/>
                </a:solidFill>
                <a:latin typeface="Arial"/>
              </a:rPr>
              <a:t>Separate subnets and identities so a runtime can be isolated without affecting the hub</a:t>
            </a:r>
          </a:p>
          <a:p>
            <a:pPr algn="l" marL="201168" indent="-201168">
              <a:spcAft>
                <a:spcPts val="600"/>
              </a:spcAft>
              <a:buFont typeface="Arial"/>
              <a:buChar char="•"/>
            </a:pPr>
            <a:r>
              <a:rPr sz="1800" b="0" i="0">
                <a:solidFill>
                  <a:srgbClr val="1E1E2E"/>
                </a:solidFill>
                <a:latin typeface="Arial"/>
              </a:rPr>
              <a:t>Telemetry plumbing (Log Analytics, Application Insights) that containment verification depends on</a:t>
            </a:r>
          </a:p>
          <a:p>
            <a:pPr algn="l" marL="201168" indent="-201168">
              <a:spcAft>
                <a:spcPts val="600"/>
              </a:spcAft>
              <a:buFont typeface="Arial"/>
              <a:buChar char="•"/>
            </a:pPr>
            <a:r>
              <a:rPr sz="1800" b="0" i="0">
                <a:solidFill>
                  <a:srgbClr val="1E1E2E"/>
                </a:solidFill>
                <a:latin typeface="Arial"/>
              </a:rPr>
              <a:t>A restricted management boundary for the containment control plane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Platform design and integrated plan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Subscriptions, network, DNS, egress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Security control design and verification</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Terraform modules and pipelines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Foundry project, model endpoint hosting</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Data architecture and ingestion</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testing (build, network, access)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Workload acceptance (quality)</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Operational handover and runbooks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hooks and recovery drill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92608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Platform foundation and integration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$180,000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Security design and verification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$40,000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and pipelines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$50,000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Data architecture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Ingestion and indexing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 Eng.</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Workload onboarding and evaluation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$50,000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$400,000</a:t>
                      </a:r>
                    </a:p>
                  </a:txBody>
                  <a:tcPr marL="73152" marR="73152" marT="36576" marB="36576" anchor="ctr">
                    <a:solidFill>
                      <a:srgbClr val="FFFFFF"/>
                    </a:solidFill>
                  </a:tcPr>
                </a:tc>
              </a:tr>
            </a:tbl>
          </a:graphicData>
        </a:graphic>
      </p:graphicFrame>
      <p:sp>
        <p:nvSpPr>
          <p:cNvPr id="16" name="TextBox 15"/>
          <p:cNvSpPr txBox="1"/>
          <p:nvPr/>
        </p:nvSpPr>
        <p:spPr>
          <a:xfrm>
            <a:off x="6629400" y="470916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Funded workload, platform sponsor, data owner, deployment authority, tower commitments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Landing zone design, subscriptions, hub, DNS, identity, policy, region and model needs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Design, IaC, configured environments, test evidence, runbooks, handover pack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One workload, dev and prod, one region, one data pattern (reference)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Security, DevOps, AI, Data, Data Eng. work packages; customer approvals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Assess, design, build, prove, transition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Gates in appendix A17, agreed in the SOW</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Access, approvals, data rights, risk acceptance, named owners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assessment fee; role days per work package; capped transition fee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Environments, regions, connectivity, data sources, model or boundary change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operations; runbooks and alert routing accepted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Gates passed first time; time to accepted environment; tag coverage</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2" cy="219456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Nominate Infra sponsor and tower leads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Named people and effort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Adopt three routes and scope boundaries</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ownership: DevOps or CIS Infra</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and DevOps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Who staffs and maintains modules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margin and attribution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Reference estimate for extension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effort from validation</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Approved demo environment and IaC assets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Working deployment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External launch and Microsoft alliance positioning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 card, evidence pack</a:t>
                      </a:r>
                    </a:p>
                  </a:txBody>
                  <a:tcPr marL="73152" marR="73152" marT="36576" marB="36576" anchor="ctr">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AI landing zone with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pic>
        <p:nvPicPr>
          <p:cNvPr id="9" name="Original reference image: 04_AI-Landing-Zone-with-platform.png" descr="04_AI-Landing-Zone-with-platform.png"/>
          <p:cNvPicPr>
            <a:picLocks noChangeAspect="1"/>
          </p:cNvPicPr>
          <p:nvPr/>
        </p:nvPicPr>
        <p:blipFill>
          <a:blip r:embed="rId4"/>
          <a:stretch>
            <a:fillRect/>
          </a:stretch>
        </p:blipFill>
        <p:spPr>
          <a:xfrm>
            <a:off x="2384212" y="1280160"/>
            <a:ext cx="7420526"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04_AI-Landing-Zone-with-platform.png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use the earlier "AI Foundry" naming; the simplified executive view uses current Foundry names.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Microsoft Foundry baseline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07_baseline-microsoft-foundry.png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shows "Azure OpenAI model"; adapted view (A8) uses Foundry model deployment.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networking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pic>
        <p:nvPicPr>
          <p:cNvPr id="9" name="Original reference image: 11_baseline-landing-zone-networking.png" descr="11_baseline-landing-zone-networking.png"/>
          <p:cNvPicPr>
            <a:picLocks noChangeAspect="1"/>
          </p:cNvPicPr>
          <p:nvPr/>
        </p:nvPicPr>
        <p:blipFill>
          <a:blip r:embed="rId4"/>
          <a:stretch>
            <a:fillRect/>
          </a:stretch>
        </p:blipFill>
        <p:spPr>
          <a:xfrm>
            <a:off x="3622063" y="1280160"/>
            <a:ext cx="494482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11_baseline-landing-zone-networking.png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The source PNG clips some labels in its own render; the editable reconstruction is appendix A5.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egress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O4</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pic>
        <p:nvPicPr>
          <p:cNvPr id="9" name="Original reference image: 12_baseline-landing-zone-networking-egress.png" descr="12_baseline-landing-zone-networking-egress.png"/>
          <p:cNvPicPr>
            <a:picLocks noChangeAspect="1"/>
          </p:cNvPicPr>
          <p:nvPr/>
        </p:nvPicPr>
        <p:blipFill>
          <a:blip r:embed="rId4"/>
          <a:stretch>
            <a:fillRect/>
          </a:stretch>
        </p:blipFill>
        <p:spPr>
          <a:xfrm>
            <a:off x="3819963" y="1280160"/>
            <a:ext cx="4549025"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12_baseline-landing-zone-networking-egress.png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The source PNG clips some labels in its own render; the editable reconstruction is appendix A6.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Azure landing zone conceptual 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O5</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pic>
        <p:nvPicPr>
          <p:cNvPr id="9" name="Original reference image: 35_azure-landing-zone-conceptual-architecture.png" descr="35_azure-landing-zone-conceptual-architecture.png"/>
          <p:cNvPicPr>
            <a:picLocks noChangeAspect="1"/>
          </p:cNvPicPr>
          <p:nvPr/>
        </p:nvPicPr>
        <p:blipFill>
          <a:blip r:embed="rId4"/>
          <a:stretch>
            <a:fillRect/>
          </a:stretch>
        </p:blipFill>
        <p:spPr>
          <a:xfrm>
            <a:off x="2363814" y="1280160"/>
            <a:ext cx="746132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35_azure-landing-zone-conceptual-architecture.png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Microsoft CAF conceptual view showing Foundry added to workload landing zones that need 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Cloud Adoption Framework: AI Ready:  </a:t>
            </a:r>
            <a:r>
              <a:rPr sz="1300" b="0" i="0">
                <a:solidFill>
                  <a:srgbClr val="2F78C4"/>
                </a:solidFill>
                <a:latin typeface="Arial"/>
                <a:hlinkClick r:id="rId4"/>
              </a:rPr>
              <a:t>https://learn.microsoft.com/en-us/azure/cloud-adoption-framework/ai/ready</a:t>
            </a:r>
          </a:p>
          <a:p>
            <a:pPr algn="l">
              <a:spcAft>
                <a:spcPts val="300"/>
              </a:spcAft>
            </a:pPr>
            <a:r>
              <a:rPr sz="1300" b="1" i="0">
                <a:solidFill>
                  <a:srgbClr val="000048"/>
                </a:solidFill>
                <a:latin typeface="Arial"/>
              </a:rPr>
              <a:t>Foundry Models deployment types:  </a:t>
            </a:r>
            <a:r>
              <a:rPr sz="1300" b="0" i="0">
                <a:solidFill>
                  <a:srgbClr val="2F78C4"/>
                </a:solidFill>
                <a:latin typeface="Arial"/>
                <a:hlinkClick r:id="rId5"/>
              </a:rPr>
              <a:t>https://learn.microsoft.com/en-us/azure/foundry/foundry-models/concepts/deployment-types</a:t>
            </a:r>
          </a:p>
          <a:p>
            <a:pPr algn="l">
              <a:spcAft>
                <a:spcPts val="300"/>
              </a:spcAft>
            </a:pPr>
            <a:r>
              <a:rPr sz="1300" b="1" i="0">
                <a:solidFill>
                  <a:srgbClr val="000048"/>
                </a:solidFill>
                <a:latin typeface="Arial"/>
              </a:rPr>
              <a:t>Foundry Models region availability (Europe and MEA tabs read in browser):  </a:t>
            </a:r>
            <a:r>
              <a:rPr sz="1300" b="0" i="0">
                <a:solidFill>
                  <a:srgbClr val="2F78C4"/>
                </a:solidFill>
                <a:latin typeface="Arial"/>
                <a:hlinkClick r:id="rId6"/>
              </a:rPr>
              <a:t>https://learn.microsoft.com/en-us/azure/foundry/foundry-models/concepts/models-sold-directly-by-azure-region-availability</a:t>
            </a:r>
          </a:p>
          <a:p>
            <a:pPr algn="l">
              <a:spcAft>
                <a:spcPts val="300"/>
              </a:spcAft>
            </a:pPr>
            <a:r>
              <a:rPr sz="1300" b="1" i="0">
                <a:solidFill>
                  <a:srgbClr val="000048"/>
                </a:solidFill>
                <a:latin typeface="Arial"/>
              </a:rPr>
              <a:t>Foundry Models retirement schedule:  </a:t>
            </a:r>
            <a:r>
              <a:rPr sz="1300" b="0" i="0">
                <a:solidFill>
                  <a:srgbClr val="2F78C4"/>
                </a:solidFill>
                <a:latin typeface="Arial"/>
                <a:hlinkClick r:id="rId7"/>
              </a:rPr>
              <a:t>https://learn.microsoft.com/en-us/azure/foundry/openai/concepts/model-retirement-schedule</a:t>
            </a:r>
          </a:p>
          <a:p>
            <a:pPr algn="l">
              <a:spcAft>
                <a:spcPts val="300"/>
              </a:spcAft>
            </a:pPr>
            <a:r>
              <a:rPr sz="1300" b="1" i="0">
                <a:solidFill>
                  <a:srgbClr val="000048"/>
                </a:solidFill>
                <a:latin typeface="Arial"/>
              </a:rPr>
              <a:t>Foundry Control Plane: manage agents:  </a:t>
            </a:r>
            <a:r>
              <a:rPr sz="1300" b="0" i="0">
                <a:solidFill>
                  <a:srgbClr val="2F78C4"/>
                </a:solidFill>
                <a:latin typeface="Arial"/>
                <a:hlinkClick r:id="rId8"/>
              </a:rPr>
              <a:t>https://learn.microsoft.com/en-us/azure/foundry/control-plane/how-to-manage-agents</a:t>
            </a:r>
          </a:p>
          <a:p>
            <a:pPr algn="l">
              <a:spcAft>
                <a:spcPts val="300"/>
              </a:spcAft>
            </a:pPr>
            <a:r>
              <a:rPr sz="1300" b="1" i="0">
                <a:solidFill>
                  <a:srgbClr val="000048"/>
                </a:solidFill>
                <a:latin typeface="Arial"/>
              </a:rPr>
              <a:t>Azure Retail Prices API: Log Analytics, East US 2:  </a:t>
            </a:r>
            <a:r>
              <a:rPr sz="1300" b="0" i="0">
                <a:solidFill>
                  <a:srgbClr val="2F78C4"/>
                </a:solidFill>
                <a:latin typeface="Arial"/>
                <a:hlinkClick r:id="rId9"/>
              </a:rPr>
              <a:t>https://prices.azure.com/api/retail/prices?$filter=serviceName eq 'Log Analytics' and armRegionName eq 'eastus2'</a:t>
            </a:r>
          </a:p>
          <a:p>
            <a:pPr algn="l">
              <a:spcAft>
                <a:spcPts val="300"/>
              </a:spcAft>
            </a:pPr>
            <a:r>
              <a:rPr sz="1300" b="1" i="0">
                <a:solidFill>
                  <a:srgbClr val="000048"/>
                </a:solidFill>
                <a:latin typeface="Arial"/>
              </a:rPr>
              <a:t>Azure Architecture Icons (V24):  </a:t>
            </a:r>
            <a:r>
              <a:rPr sz="1300" b="0" i="0">
                <a:solidFill>
                  <a:srgbClr val="2F78C4"/>
                </a:solidFill>
                <a:latin typeface="Arial"/>
                <a:hlinkClick r:id="rId10"/>
              </a:rPr>
              <a:t>https://learn.microsoft.com/en-us/azure/architecture/icons/</a:t>
            </a:r>
          </a:p>
          <a:p>
            <a:pPr algn="l">
              <a:spcAft>
                <a:spcPts val="300"/>
              </a:spcAft>
            </a:pPr>
            <a:r>
              <a:rPr sz="1300" b="1" i="0">
                <a:solidFill>
                  <a:srgbClr val="000048"/>
                </a:solidFill>
                <a:latin typeface="Arial"/>
              </a:rPr>
              <a:t>az-icons.com catalogue of official Azure icons (July 2026 set):  </a:t>
            </a:r>
            <a:r>
              <a:rPr sz="1300" b="0" i="0">
                <a:solidFill>
                  <a:srgbClr val="2F78C4"/>
                </a:solidFill>
                <a:latin typeface="Arial"/>
                <a:hlinkClick r:id="rId11"/>
              </a:rPr>
              <a:t>https://az-icons.com/</a:t>
            </a:r>
          </a:p>
          <a:p>
            <a:pPr algn="l">
              <a:spcAft>
                <a:spcPts val="300"/>
              </a:spcAft>
            </a:pPr>
            <a:r>
              <a:rPr sz="1300" b="1" i="0">
                <a:solidFill>
                  <a:srgbClr val="000048"/>
                </a:solidFill>
                <a:latin typeface="Arial"/>
              </a:rPr>
              <a:t>Azure Architecture Center browse:  </a:t>
            </a:r>
            <a:r>
              <a:rPr sz="1300" b="0" i="0">
                <a:solidFill>
                  <a:srgbClr val="2F78C4"/>
                </a:solidFill>
                <a:latin typeface="Arial"/>
                <a:hlinkClick r:id="rId12"/>
              </a:rPr>
              <a:t>https://learn.microsoft.com/en-us/azure/architecture/browse/</a:t>
            </a:r>
          </a:p>
          <a:p>
            <a:pPr algn="l">
              <a:spcAft>
                <a:spcPts val="300"/>
              </a:spcAft>
            </a:pPr>
            <a:r>
              <a:rPr sz="1300" b="1" i="0">
                <a:solidFill>
                  <a:srgbClr val="000048"/>
                </a:solidFill>
                <a:latin typeface="Arial"/>
              </a:rPr>
              <a:t>GTM proposal V3:  </a:t>
            </a:r>
            <a:r>
              <a:rPr sz="1300" b="0" i="0">
                <a:solidFill>
                  <a:srgbClr val="2F78C4"/>
                </a:solidFill>
                <a:latin typeface="Arial"/>
                <a:hlinkClick r:id="rId13"/>
              </a:rPr>
              <a:t>https://github.com/upendra25312/AI-Foundry-GTM-offering-/blob/main/CIS_Infra_Azure_AI_Platform_GTM_Proposal_V3.docx</a:t>
            </a:r>
          </a:p>
          <a:p>
            <a:pPr algn="l">
              <a:spcAft>
                <a:spcPts val="300"/>
              </a:spcAft>
            </a:pPr>
            <a:r>
              <a:rPr sz="1300" b="1" i="0">
                <a:solidFill>
                  <a:srgbClr val="000048"/>
                </a:solidFill>
                <a:latin typeface="Arial"/>
              </a:rPr>
              <a:t>Azure AI Landing Zones:  </a:t>
            </a:r>
            <a:r>
              <a:rPr sz="1300" b="0" i="0">
                <a:solidFill>
                  <a:srgbClr val="2F78C4"/>
                </a:solidFill>
                <a:latin typeface="Arial"/>
                <a:hlinkClick r:id="rId14"/>
              </a:rPr>
              <a:t>https://github.com/Azure/AI-Landing-Zones</a:t>
            </a:r>
          </a:p>
          <a:p>
            <a:pPr algn="l">
              <a:spcAft>
                <a:spcPts val="300"/>
              </a:spcAft>
            </a:pPr>
            <a:r>
              <a:rPr sz="1300" b="1" i="0">
                <a:solidFill>
                  <a:srgbClr val="000048"/>
                </a:solidFill>
                <a:latin typeface="Arial"/>
              </a:rPr>
              <a:t>Foundry baseline in a landing zone:  </a:t>
            </a:r>
            <a:r>
              <a:rPr sz="1300" b="0" i="0">
                <a:solidFill>
                  <a:srgbClr val="2F78C4"/>
                </a:solidFill>
                <a:latin typeface="Arial"/>
                <a:hlinkClick r:id="rId15"/>
              </a:rPr>
              <a:t>https://learn.microsoft.com/en-us/azure/architecture/ai-ml/architecture/baseline-microsoft-foundry-landing-zone</a:t>
            </a:r>
          </a:p>
          <a:p>
            <a:pPr algn="l">
              <a:spcAft>
                <a:spcPts val="300"/>
              </a:spcAft>
            </a:pPr>
            <a:r>
              <a:rPr sz="1300" b="1" i="0">
                <a:solidFill>
                  <a:srgbClr val="000048"/>
                </a:solidFill>
                <a:latin typeface="Arial"/>
              </a:rPr>
              <a:t>App Service private endpoint:  </a:t>
            </a:r>
            <a:r>
              <a:rPr sz="1300" b="0" i="0">
                <a:solidFill>
                  <a:srgbClr val="2F78C4"/>
                </a:solidFill>
                <a:latin typeface="Arial"/>
                <a:hlinkClick r:id="rId16"/>
              </a:rPr>
              <a:t>https://learn.microsoft.com/en-us/azure/app-service/overview-private-endpoint</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Platform / Landing Zone</dc:title>
  <dcterms:created xsi:type="dcterms:W3CDTF">2026-10-10T13:56:28.3080000Z</dcterms:created>
  <dcterms:modified xsi:type="dcterms:W3CDTF">2026-10-10T13:56:28.3090000Z</dcterms:modified>
  <dc:subject>Proposed CIS Infra GTM offering for internal leadership review</dc:subject>
</coreProperties>
</file>