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 xmlns:ns0="http://schemas.openxmlformats.org/officeDocument/2006/relationships" id="295" ns0:id="rId48"/>
    <p:sldId xmlns:ns0="http://schemas.openxmlformats.org/officeDocument/2006/relationships" id="296" ns0:id="rId49"/>
    <p:sldId xmlns:ns0="http://schemas.openxmlformats.org/officeDocument/2006/relationships" id="297" ns0:id="rId50"/>
    <p:sldId xmlns:ns0="http://schemas.openxmlformats.org/officeDocument/2006/relationships" id="298" ns0:id="rId51"/>
    <p:sldId xmlns:ns0="http://schemas.openxmlformats.org/officeDocument/2006/relationships" id="299" ns0:id="rId52"/>
    <p:sldId xmlns:ns0="http://schemas.openxmlformats.org/officeDocument/2006/relationships" id="300" ns0:id="rId53"/>
    <p:sldId xmlns:ns0="http://schemas.openxmlformats.org/officeDocument/2006/relationships" id="301" ns0:id="rId54"/>
    <p:sldId xmlns:ns0="http://schemas.openxmlformats.org/officeDocument/2006/relationships" id="302" ns0:id="rId55"/>
    <p:sldId xmlns:ns0="http://schemas.openxmlformats.org/officeDocument/2006/relationships" id="303" ns0:id="rId56"/>
    <p:sldId xmlns:ns0="http://schemas.openxmlformats.org/officeDocument/2006/relationships" id="304" ns0:id="rId57"/>
    <p:sldId xmlns:ns0="http://schemas.openxmlformats.org/officeDocument/2006/relationships" id="305" ns0:id="rId58"/>
    <p:sldId xmlns:ns0="http://schemas.openxmlformats.org/officeDocument/2006/relationships" id="306" ns0:id="rId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offering answers three questions every CIO now asks: what agents do we have, are they actually used, and can we stop one that misbehaves. Microsoft now sells Agent 365 as the control plane, so we configure that first and build only what it does not cover.</a:t>
            </a:r>
          </a:p>
          <a:p/>
          <a:p>
            <a:r>
              <a:t>Likely question: Did Agent 365 make this offering redundant?</a:t>
            </a:r>
          </a:p>
          <a:p>
            <a:r>
              <a:t>Answer: No. It gives the registry and policy layer. Customers still need it configured, joined to runtime evidence, operated, and backed by a tested containment path across several layers.</a:t>
            </a:r>
          </a:p>
          <a:p/>
          <a:p>
            <a:r>
              <a:t>DETAIL AND CAVEATS</a:t>
            </a:r>
          </a:p>
          <a:p>
            <a:r>
              <a:t>Opening slide. Version 4.0 rebuilds this offering on a configure-before-build principle after Microsoft Agent 365 became generally available on 1 May 2026.</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Earlier versions proposed building our own agent registry. Microsoft has since shipped Agent 365, so the honest position is: configure Microsoft’s control plane first, then add what it lacks, mainly usage evidence and a cross-layer stop path that we prove before we sell it.</a:t>
            </a:r>
          </a:p>
          <a:p/>
          <a:p>
            <a:r>
              <a:t>Likely question: What do customers need to buy from Microsoft?</a:t>
            </a:r>
          </a:p>
          <a:p>
            <a:r>
              <a:t>Answer: Agent 365 at 15 dollars per user per month, or Microsoft 365 E7 which includes it. We check this in the assessment.</a:t>
            </a:r>
          </a:p>
          <a:p/>
          <a:p>
            <a:r>
              <a:t>DETAIL AND CAVEATS</a:t>
            </a:r>
          </a:p>
          <a:p>
            <a:r>
              <a:t>Answers demand, outcome and decision questions. Agent 365 facts: Microsoft Security blog, 1 May 2026.</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Two things changed this year. Microsoft shipped a real agent control plane, and its own documentation confirms stopping an agent does not end work already running. That combination creates demand for configuration plus a tested stop path.</a:t>
            </a:r>
          </a:p>
          <a:p/>
          <a:p>
            <a:r>
              <a:t>Likely question: Is there market evidence?</a:t>
            </a:r>
          </a:p>
          <a:p>
            <a:r>
              <a:t>Answer: These are sourced product and regulatory facts, not demand statistics. The validation asks account teams for three qualified candidates.</a:t>
            </a:r>
          </a:p>
          <a:p/>
          <a:p>
            <a:r>
              <a:t>DETAIL AND CAVEATS</a:t>
            </a:r>
          </a:p>
          <a:p>
            <a:r>
              <a:t>Drivers are sourced facts. No customer or pipeline is claimed.</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EU AI Act Update: Digital Omnibus finalises compliance changes (Orrick, third-party law-firm summary, 29 Jul 2026; EUR-Lex text not verified): https://www.orrick.com/en/Insights/2026/07/EU-AI-Act-Update-Digital-Omnibus-Finalizes-8-Compliance-Changes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 governance sits between the gateway and managed operations. Copilot Studio agents are now in scope as a covered runtime, governed through Agent 365; Microsoft 365 Copilot itself stays with our M365 and D365 teams.</a:t>
            </a:r>
          </a:p>
          <a:p/>
          <a:p>
            <a:r>
              <a:t>Likely question: Who administers Copilot Studio?</a:t>
            </a:r>
          </a:p>
          <a:p>
            <a:r>
              <a:t>Answer: The Power Platform team keeps environment administration. We bring its agents into the catalogue, containment and cost views.</a:t>
            </a:r>
          </a:p>
          <a:p/>
          <a:p>
            <a:r>
              <a:t>DETAIL AND CAVEATS</a:t>
            </a:r>
          </a:p>
          <a:p>
            <a:r>
              <a:t>Portfolio of five CIS Infra offerings plus the Microsoft ecosystem around them. Microsoft 365 Copilot is owned by the Cognizant M365 and D365 teams; the split between them and joint-deal leadership are open decisions. Copilot Studio agents are a covered runtime. Agent 365 is configured before any custom build. API Center is the tool registry CIS Infra builds alongside API Management. Master view: deck 00.</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configure and integrate; we do not own agent behaviour or security operations. Note the Power Platform team keeps Copilot Studio administration.</a:t>
            </a:r>
          </a:p>
          <a:p/>
          <a:p>
            <a:r>
              <a:t>Likely question: What if the customer has no Agent 365 licence?</a:t>
            </a:r>
          </a:p>
          <a:p>
            <a:r>
              <a:t>Answer: Then the custom gap layer carries more of the catalogue, and the assessment shows the cost trade-off of licensing versus building.</a:t>
            </a:r>
          </a:p>
          <a:p/>
          <a:p>
            <a:r>
              <a:t>DETAIL AND CAVEATS</a:t>
            </a:r>
          </a:p>
          <a:p>
            <a:r>
              <a:t>Coverage depends on Agent 365 licensing, supported runtimes and telemetry.</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Read it bottom-up. The runtimes are where agents live, including Copilot Studio. Layer one is Microsoft’s control plane: Agent 365, the Foundry Control Plane, Entra agent identities, Defender and Purview. Layer two is the runtime evidence. Only layer three, in purple, is what we build: reconciliation, the usage catalogue and the containment orchestrator.</a:t>
            </a:r>
          </a:p>
          <a:p/>
          <a:p>
            <a:r>
              <a:t>Likely question: Why still build layer three?</a:t>
            </a:r>
          </a:p>
          <a:p>
            <a:r>
              <a:t>Answer: Because the native tools do not join deployment records to usage evidence across all runtimes, and none claims a cross-layer stop with verification. We prove that in the proof of concept.</a:t>
            </a:r>
          </a:p>
          <a:p/>
          <a:p>
            <a:r>
              <a:t>DETAIL AND CAVEATS</a:t>
            </a:r>
          </a:p>
          <a:p>
            <a:r>
              <a:t>Layered architecture. Runtimes: Copilot Studio agents, Foundry agents, customer-hosted agents (Container Apps or AKS), Logic Apps agent loops, and AWS Bedrock or Google agents through Agent 365 registry sync (preview). Layer 1, native Microsoft control plane: Agent 365 (registry, policies; lifecycle actions announced), Foundry Control Plane (supported agents, runs, errors, tokens), Entra Agent ID and Conditional Access for agents, Defender and Purview. Layer 2, evidence: Application Insights, Log Analytics, Resource Graph and deployment pipelines. Layer 3, CIS Infra custom gap layer: reconciliation job, registry, catalogue workbook and the containment orchestrator. Agent 365 and Entra Agent ID licensing per Microsoft and third-party sources; verify per customer.</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Conditional Access for agents (Microsoft Learn, updated 30 Sep 2026): https://learn.microsoft.com/en-us/entra/identity/conditional-access/agent-id</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Left is what Microsoft provides once licensed and configured. Right is what we still add. The rule for every customer: if a native feature covers it, we configure it; we only build the right-hand column.</a:t>
            </a:r>
          </a:p>
          <a:p/>
          <a:p>
            <a:r>
              <a:t>Likely question: Will the right-hand column shrink over time?</a:t>
            </a:r>
          </a:p>
          <a:p>
            <a:r>
              <a:t>Answer: Yes, as Microsoft adds lifecycle actions. That is why we keep the custom layer thin and replaceable.</a:t>
            </a:r>
          </a:p>
          <a:p/>
          <a:p>
            <a:r>
              <a:t>DETAIL AND CAVEATS</a:t>
            </a:r>
          </a:p>
          <a:p>
            <a:r>
              <a:t>Build-versus-buy summary. Agent 365: GA 1 May 2026; registry covers Microsoft, Copilot Studio, Foundry and partner agents; AWS and Google registry sync preview; lifecycle start, stop and delete announced as coming. Foundry Control Plane: inventory of supported agents with last-month runs, errors and tokens; Stop does not terminate existing runs. Entra Conditional Access for agents: needs Microsoft 365 E7, or Agent 365 plus Entra P1 or Microsoft 365 E3 (Microsoft Learn). Custom gap layer exists only where these do not reach.</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Conditional Access for agents (Microsoft Learn, updated 30 Sep 2026): https://learn.microsoft.com/en-us/entra/identity/conditional-access/agent-id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Five packages, sold in sequence. Most customers start with the assessment and the configuration package. The proof of concept is a gate: we do not sell the containment build until it passes.</a:t>
            </a:r>
          </a:p>
          <a:p/>
          <a:p>
            <a:r>
              <a:t>Likely question: Why so wide?</a:t>
            </a:r>
          </a:p>
          <a:p>
            <a:r>
              <a:t>Answer: Number of runtimes and clouds, licence position and telemetry quality drive the range.</a:t>
            </a:r>
          </a:p>
          <a:p/>
          <a:p>
            <a:r>
              <a:t>DETAIL AND CAVEATS</a:t>
            </a:r>
          </a:p>
          <a:p>
            <a:r>
              <a:t>Ranges across CIS Infra, AI, Security and DevOps. Assumptions in appendix E1.</a:t>
            </a:r>
          </a:p>
          <a:p/>
          <a:p>
            <a:r>
              <a:t>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biggest risk is promising a stop we have not tested, which is why the proof of concept is a gate.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Top risks. Measured stop time, not assumed stop time, sets any target.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Success is measurable and witnessable. Today we need the design rule, funding for the proof of concept, and clarity on who may stop an agent.</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Full register in appendix D1.</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Likely question: Do we need to go through the appendix?</a:t>
            </a:r>
          </a:p>
          <a:p>
            <a:r>
              <a:t>Answer: No. Use it to answer questions; the executive section stands on its own.</a:t>
            </a:r>
          </a:p>
          <a:p/>
          <a:p>
            <a:r>
              <a:t>DETAIL AND CAVEATS</a:t>
            </a:r>
          </a:p>
          <a:p>
            <a:r>
              <a:t>Appendix divider. Use the index to navigate.</a:t>
            </a:r>
          </a:p>
          <a:p/>
          <a:p>
            <a:r>
              <a:t>Sources: see appendix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catalogue sorts every agent into one of six states. The key rule: missing telemetry is its own state and never counts as dormant, so we never delete a live agent by mistake.</a:t>
            </a:r>
          </a:p>
          <a:p/>
          <a:p>
            <a:r>
              <a:t>Likely question: Who decides to retire an agent?</a:t>
            </a:r>
          </a:p>
          <a:p>
            <a:r>
              <a:t>Answer: The business owner, after review. Never automatic.</a:t>
            </a:r>
          </a:p>
          <a:p/>
          <a:p>
            <a:r>
              <a:t>DETAIL AND CAVEATS</a:t>
            </a:r>
          </a:p>
          <a:p>
            <a:r>
              <a:t>Classification separates deployment inventory from runtime evidence. The 30-day threshold is a suggested policy, not a Microsoft default; seasonal and standby agents need exceptions. Health probes are excluded from business usage. Never auto-delete on zero sampled telemetry. Orphaned means the record has no valid owner or the hosting resource no longer maps to a record.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"Custom gap layer: detailed reference architecture". Steps: (1) deployment pipelines write agent ID, version, environment, owner and endpoint into the registry at release; (2) a scheduled Function App queries Foundry Control Plane for supported agents and Resource Graph for hosting resources and tags; (3) it queries Application Insights and Log Analytics for last run, run count, errors and tokens per agent ID; (4) it reconciles and writes status to Cosmos DB, flagging unmatched resources as orphaned and records without telemetry as telemetry unknown; (5) Workbooks presents the catalogue and review queues; (6) Azure Monitor alerts route telemetry-health and dormancy reviews to owners. Identity: the reconciliation job uses a managed identity with Reader on in-scope subscriptions and read access to the workspaces; it has no write access to agent runtimes.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Steps: (1) deployment pipelines write agent ID, version, environment, owner and endpoint into the registry at release; (2) a scheduled Function App queries Foundry Control Plane for supported agents and Resource Graph for hosting resources and tags; (3) it queries Application Insights and Log Analytics for last run, run count, errors and tokens per agent ID; (4) it reconciles and writes status to Cosmos DB, flagging unmatched resources as orphaned and records without telemetry as telemetry unknown; (5) Workbooks presents the catalogue and review queues; (6) Azure Monitor alerts route telemetry-health and dormancy reviews to owners. Identity: the reconciliation job uses a managed identity with Reader on in-scope subscriptions and read access to the workspaces; it has no write access to agent runtimes.</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Microsoft Agent 365 now generally available (Microsoft Security blog, 1 May 2026): https://www.microsoft.com/en-us/security/blog/2026/05/01/microsoft-agent-365-now-generally-available-expands-capabilities-and-integrations/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"Minimum catalogue record for each agent". Maintain this record at deployment. Extend native inventory with a controlled register only where fields or coverage are missing. An API or tool catalogue (for example Azure API Center) and the operational agent catalogue serve different purposes.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Maintain this record at deployment. Extend native inventory with a controlled register only where fields or coverage are missing. An API or tool catalogue (for example Azure API Center) and the operational agent catalogue serve different purposes.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"Usage classification rules". Thresholds are suggestions for customer policy, not Microsoft defaults. Exclude health probes and synthetic monitoring from business usage. Seasonal, standby and break-glass agents carry an exception with a review date.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Thresholds are suggestions for customer policy, not Microsoft defaults. Exclude health probes and synthetic monitoring from business usage. Seasonal, standby and break-glass agents carry an exception with a review date.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"Inventory coverage by agent type". Version 4.0: Copilot Studio agents are now covered through Agent 365 (GA 1 May 2026) and Purview DSPM; AWS and Google via registry sync (preview). Native coverage verified on Microsoft Learn and the Microsoft Security blog. Custom integration means the agent can be brought in through registration and instrumentation built in this offering.</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Version 4.0: Copilot Studio agents are now covered through Agent 365 (GA 1 May 2026) and Purview DSPM; AWS and Google via registry sync (preview). Native coverage verified on Microsoft Learn and the Microsoft Security blog. Custom integration means the agent can be brought in through registration and instrumentation built in this offering. Outside coverage means the offering cannot see the agent until it is onboarded; the catalogue reports it as a known gap only if someone declares it.</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"Agent estate view: what the workbook shows". ILLUSTRATIVE MOCK-UP with invented sample agents and counts. Not customer evidence. Deployed and observed counts are shown separately.</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ILLUSTRATIVE MOCK-UP with invented sample agents and counts. Not customer evidence. Deployed and observed counts are shown separately. Each row links to traces, owner, tools, access and containment record in the real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Read this left to right. Requests pass through four enforcement points: block new requests at the gateway, stop running work in the runtime, deny model and tool calls on the way out, and block the agent identity. The purple box underneath is a separate, locked-down control plane that an authorised person or an alert can trigger.</a:t>
            </a:r>
          </a:p>
          <a:p/>
          <a:p>
            <a:r>
              <a:t>Likely question: Is this a Microsoft product?</a:t>
            </a:r>
          </a:p>
          <a:p>
            <a:r>
              <a:t>Answer: No. It is our proposed design built from Azure services. Microsoft provides pieces such as Foundry Stop and Agent 365, but no single universal stop button.</a:t>
            </a:r>
          </a:p>
          <a:p/>
          <a:p>
            <a:r>
              <a:t>DETAIL AND CAVEATS</a:t>
            </a:r>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Enforcement point 4 is the identity layer. Entra Conditional Access for agents can block or limit agent access when tokens are issued or refreshed; it requires Microsoft 365 E7, or Agent 365 plus Entra P1 or Microsoft 365 E3 (Microsoft Learn, updated 30 Sep 2026), and live sessions are not cut immediately, so it is defence in depth. Agent 365 (GA 1 May 2026) registers agents and has announced start, stop and delete lifecycle actions; Defender can block some coding agents at runtime (preview from June 2026). None of these is a universal instant stop.</a:t>
            </a:r>
          </a:p>
          <a:p/>
          <a:p>
            <a:r>
              <a:t>Icons: official Azure icons. Container Apps is shown as one example of a customer-hosted runtime; AKS is equivalent. Function App represents an example tool host.</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AI gateway capabilities in API Management: https://learn.microsoft.com/en-us/azure/api-management/genai-gateway-capabilities</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Stopping an agent is three different jobs: stop new work, stop work in progress, and stop it from doing anything else. Each uses a different mechanism and each has a gap the others cover.</a:t>
            </a:r>
          </a:p>
          <a:p/>
          <a:p>
            <a:r>
              <a:t>Likely question: Why not just revoke its credentials?</a:t>
            </a:r>
          </a:p>
          <a:p>
            <a:r>
              <a:t>Answer: Revocation can take time to propagate and does not end work already running, so it is one layer, not the answer.</a:t>
            </a:r>
          </a:p>
          <a:p/>
          <a:p>
            <a:r>
              <a:t>DETAIL AND CAVEATS</a:t>
            </a:r>
          </a:p>
          <a:p>
            <a:r>
              <a:t>Blocking new requests, stopping work already running and preventing further actions are different controls with different Azure mechanisms and different limits. A runbook must exercise all three.</a:t>
            </a:r>
          </a:p>
          <a:p/>
          <a:p>
            <a:r>
              <a:t>Sources (checked 11 Oct 2026):</a:t>
            </a:r>
          </a:p>
          <a:p>
            <a:r>
              <a:t>Foundry Control Plane: manage agents: https://learn.microsoft.com/en-us/azure/foundry/control-plane/how-to-manage-agents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Be candid about these limits; it builds trust with security buyers. The first row is verified Microsoft behaviour: stopping a Foundry agent does not end runs already in progress.</a:t>
            </a:r>
          </a:p>
          <a:p/>
          <a:p>
            <a:r>
              <a:t>Likely question: So can we guarantee a stop within a time?</a:t>
            </a:r>
          </a:p>
          <a:p>
            <a:r>
              <a:t>Answer: Only after the proof of concept measures it, and only for the runtimes tested.</a:t>
            </a:r>
          </a:p>
          <a:p/>
          <a:p>
            <a:r>
              <a:t>DETAIL AND CAVEATS</a:t>
            </a:r>
          </a:p>
          <a:p>
            <a:r>
              <a:t>Platform behaviour verified against Microsoft Learn on 11 Oct 2026. Design limits are engineering constraints that apply to any custom implementation.</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are the tests that must pass before anyone calls this production ready, starting with the bypass test.</a:t>
            </a:r>
          </a:p>
          <a:p/>
          <a:p>
            <a:r>
              <a:t>Likely question: Who signs these off?</a:t>
            </a:r>
          </a:p>
          <a:p>
            <a:r>
              <a:t>Answer: The customer security owner, with evidence from CIS Infra, AI and Security.</a:t>
            </a:r>
          </a:p>
          <a:p/>
          <a:p>
            <a:r>
              <a:t>DETAIL AND CAVEATS</a:t>
            </a:r>
          </a:p>
          <a:p>
            <a:r>
              <a:t>Run with synthetic agents in a non-production environment first, then as a scheduled production drill with business approval. Record timestamps at each step to measure actual stop time; set any target only after measurement.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do not sell a kill switch on paper. A four to six week proof of concept with synthetic agents measures how fast each layer actually stops work, and that number becomes the target.</a:t>
            </a:r>
          </a:p>
          <a:p/>
          <a:p>
            <a:r>
              <a:t>Likely question: What if the stop time is slow?</a:t>
            </a:r>
          </a:p>
          <a:p>
            <a:r>
              <a:t>Answer: Then we tighten checkpoints, shorten cache times or narrow the fail-closed scope, and we tell the customer the real number.</a:t>
            </a:r>
          </a:p>
          <a:p/>
          <a:p>
            <a:r>
              <a:t>DETAIL AND CAVEATS</a:t>
            </a:r>
          </a:p>
          <a:p>
            <a:r>
              <a:t>The containment design is unproven until this proof of concept runs. Scope: two runtimes (Foundry Agent Service and one customer-hosted runtime on Container Apps), synthetic agents with a tool that writes to a test system, API Management ingress and outbound policies, the orchestrator and registry, Entra Conditional Access for agents where licensed. Effort estimate 25 to 45 role days across CIS Infra, AI and Security; elapsed 4 to 6 weeks. Evidence pack: timestamps per step, measured worst-case stop time per runtime, bypass test results, failure-mode results, restart approval record.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Before anyone presses stop, everyone must know who is allowed to, who can restart, and what happens if the stop does not work. This is that agreement.</a:t>
            </a:r>
          </a:p>
          <a:p/>
          <a:p>
            <a:r>
              <a:t>Likely question: Are we liable if the stop fails?</a:t>
            </a:r>
          </a:p>
          <a:p>
            <a:r>
              <a:t>Answer: Our proposed position is reasonable efforts on a tested runbook within agreed limits, never a guarantee of an instant stop. Legal sets the final terms.</a:t>
            </a:r>
          </a:p>
          <a:p/>
          <a:p>
            <a:r>
              <a:t>DETAIL AND CAVEATS</a:t>
            </a:r>
          </a:p>
          <a:p>
            <a:r>
              <a:t>Authority and liability for containment. Positions are proposals for the customer risk owner, Security and Cognizant Legal. The design is unproven until the PoC passes (K5), so containment is not in committed scope before then.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"Foundry lifecycle actions differ by agent type". Native behaviour as documented on Microsoft Learn, Foundry Control Plane manage agents (updated 2026-07-15). Custom agents do not gain infrastructure stop controls by registering. Prevent proxy bypass through network and identity design.</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Native behaviour as documented on Microsoft Learn, Foundry Control Plane manage agents (updated 2026-07-15). Custom agents do not gain infrastructure stop controls by registering. Prevent proxy bypass through network and identity design. Deletion is not a routine emergency strategy.</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"Bound the work before a runaway needs detecting". The AI team implements runtime loop budgets and tool validation. Security defines risk classes and permissions. CIS Infra provides isolation and monitoring.</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The AI team implements runtime loop budgets and tool validation. Security defines risk classes and permissions. CIS Infra provides isolation and monitoring. Validate cancellation semantics, retries, queue visibility and safe compensation for completed side effects.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"Where an agentic loop amplifies calls". Simplified editable adaptation of 14_agentic-rag.png (Microsoft agentic RAG guide). The source shows a reasoning loop with repeated tool calls and evaluation before a final model call. Control points added (proposed): iteration limit, elapsed-time limit, tool allow-list and checkpoint deny-state check.</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Simplified editable adaptation of 14_agentic-rag.png (Microsoft agentic RAG guide). The source shows a reasoning loop with repeated tool calls and evaluation before a final model call. Control points added (proposed): iteration limit, elapsed-time limit, tool allow-list and checkpoint deny-state check. This image does not show an implemented kill switch.</a:t>
            </a:r>
          </a:p>
          <a:p/>
          <a:p>
            <a:r>
              <a:t>Sources (checked 11 Oct 2026):</a:t>
            </a:r>
          </a:p>
          <a:p>
            <a:r>
              <a:t>https://github.com/upendra25312/AI-Foundry-GTM-offering-/blob/main/architectures/14_agentic-rag.png</a:t>
            </a:r>
          </a:p>
          <a:p>
            <a:r>
              <a:t>https://github.com/upendra25312/AI-Foundry-GTM-offering-/blob/main/architectures/07_agentic-rag.vsdx</a:t>
            </a:r>
          </a:p>
          <a:p>
            <a:r>
              <a:t>https://learn.microsoft.com/en-us/azure/architecture/ai-ml/guide/rag/rag-agentic</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"Multi-agent workload: owners and stop points". Simplified editable adaptation of 15_multiple-agent-workflow-automation.png (Microsoft multiple-agent workflow automation idea). The source labels the model "GPT-4.1"; shown here as a Foundry model deployment because model choice is per engagement and gpt-4.1 retires 2027-04-14. Each component gets an owner and a containment action (proposed).</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Simplified editable adaptation of 15_multiple-agent-workflow-automation.png (Microsoft multiple-agent workflow automation idea). The source labels the model "GPT-4.1"; shown here as a Foundry model deployment because model choice is per engagement and gpt-4.1 retires 2027-04-14. Each component gets an owner and a containment action (proposed). GitHub and Docker in the source are non-Azure tools and are shown as conceptual boxes without Azure icons.</a:t>
            </a:r>
          </a:p>
          <a:p/>
          <a:p>
            <a:r>
              <a:t>Sources (checked 11 Oct 2026):</a:t>
            </a:r>
          </a:p>
          <a:p>
            <a:r>
              <a:t>https://github.com/upendra25312/AI-Foundry-GTM-offering-/blob/main/architectures/15_multiple-agent-workflow-automation.png</a:t>
            </a:r>
          </a:p>
          <a:p>
            <a:r>
              <a:t>https://github.com/upendra25312/AI-Foundry-GTM-offering-/blob/main/architectures/08_multiple-agent-workflow-automation.vsdx</a:t>
            </a:r>
          </a:p>
          <a:p>
            <a:r>
              <a:t>https://learn.microsoft.com/en-us/azure/architecture/ai-ml/idea/multiple-agent-workflow-automation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"Monitor behaviour as well as technical success". Configure Application Insights per project and instrument custom code with OpenTelemetry conventions. Preview monitoring and evaluation features need explicit acceptance. Define business success separately from HTTP success.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Configure Application Insights per project and instrument custom code with OpenTelemetry conventions. Preview monitoring and evaluation features need explicit acceptance. Define business success separately from HTTP success. Redact sensitive payloads and control trace retention.</a:t>
            </a:r>
          </a:p>
          <a:p/>
          <a:p>
            <a:r>
              <a:t>Sources (checked 11 Oct 2026):</a:t>
            </a:r>
          </a:p>
          <a:p>
            <a:r>
              <a:t>https://learn.microsoft.com/en-us/azure/foundry/observability/how-to/how-to-monitor-agents-dashboard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"Containment runbook sequence". Runbook outline. Preserve audit evidence and isolate the affected agent before broader service impact. Never undo containment automatically when an alert clears.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Runbook outline. Preserve audit evidence and isolate the affected agent before broader service impact. Never undo containment automatically when an alert clears. Set detection and containment targets only after measuring propagation and runtime behaviour.</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"Delivery gates and acceptance evidence". Proposed acceptance criteria. Agree test cases, thresholds and exception authority in the SOW.</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Proposed acceptance criteria. Agree test cases, thresholds and exception authority in the SOW.</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"Dormant-agent review and retirement". Monthly review cadence (proposed). Retirement removes identities, secrets, endpoints, schedules and hosting resources, then confirms through Resource Graph that nothing remains. Owner approval is required; orphaned agents go to the service owner.</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Monthly review cadence (proposed). Retirement removes identities, secrets, endpoints, schedules and hosting resources, then confirms through Resource Graph that nothing remains. Owner approval is required; orphaned agents go to the service owner.</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Walk the customer through each capability and tick configure or build. The aim is the thinnest possible custom layer.</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Capability-by-capability decision. Re-check at each engagement because Microsoft is adding Agent 365 lifecycle actions.</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AI threat protection in Microsoft Defender for Cloud: https://learn.microsoft.com/en-us/azure/defender-for-cloud/ai-threat-protection</a:t>
            </a:r>
          </a:p>
          <a:p>
            <a:r>
              <a:t>Microsoft Purview data security and compliance for AI: https://learn.microsoft.com/en-us/purview/ai-microsoft-purview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Before we design anything, we check what the customer already licenses. Agent 365 is per user, not per agent, and it also unlocks Entra controls for agents.</a:t>
            </a:r>
          </a:p>
          <a:p/>
          <a:p>
            <a:r>
              <a:t>Likely question: Who gives licensing advice?</a:t>
            </a:r>
          </a:p>
          <a:p>
            <a:r>
              <a:t>Answer: We flag prerequisites; licensing decisions go through the customer’s Microsoft licensing partner and offering 04 for the cost view.</a:t>
            </a:r>
          </a:p>
          <a:p/>
          <a:p>
            <a:r>
              <a:t>DETAIL AND CAVEATS</a:t>
            </a:r>
          </a:p>
          <a:p>
            <a:r>
              <a:t>Licensing facts: Agent 365 $15 per user per month standalone or included in Microsoft 365 E7 (Microsoft Security blog). E7 includes Agent 365 and Entra Suite; Conditional Access for agents needs E7, or Agent 365 plus Entra P1 or Microsoft 365 E3 (Microsoft Learn, 30 Sep 2026). E7 at about $99 per user per month is from Directions on Microsoft (third party). Copilot credits per Microsoft licensing guidance. Conditional Access for agents needs E7, or Agent 365 plus Entra P1 or Microsoft 365 E3 (Microsoft Learn). Basic inventory included with Microsoft Cloud subscriptions (third-party report, unconfirmed on a Microsoft page). Verify with Microsoft licensing before advice; Cognizant does not resell licences under this offering.</a:t>
            </a:r>
          </a:p>
          <a:p/>
          <a:p>
            <a:r>
              <a:t>Sources (checked 11 Oct 2026):</a:t>
            </a:r>
          </a:p>
          <a:p>
            <a:r>
              <a:t>Microsoft Agent 365 now generally available (Microsoft Security blog, 1 May 2026): https://www.microsoft.com/en-us/security/blog/2026/05/01/microsoft-agent-365-now-generally-available-expands-capabilities-and-integrations/</a:t>
            </a:r>
          </a:p>
          <a:p>
            <a:r>
              <a:t>Conditional Access for agents (Microsoft Learn, updated 30 Sep 2026): https://learn.microsoft.com/en-us/entra/identity/conditional-access/agent-id</a:t>
            </a:r>
          </a:p>
          <a:p>
            <a:r>
              <a:t>Microsoft Copilot Studio licensing guidance (Microsoft Licensing): https://www.microsoft.com/licensing/guidance/Microsoft-Copilot-Studio</a:t>
            </a:r>
          </a:p>
          <a:p>
            <a:r>
              <a:t>Microsoft 365 E7 to launch 1 May for $99 per user per month (Directions on Microsoft, third party, 9 Mar 2026): https://www.directionsonmicrosoft.com/m365-e7-to-launch-may-1-for-99-per-user-per-month/</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Copilot Studio is where business users build most agents, so leaving it out would leave most of the estate ungoverned. The Power Platform team still owns its environments; we add catalogue, gateway routing, telemetry and containment.</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Copilot Studio is a covered runtime. Environment administration and data loss prevention policies stay with the Power Platform team. CIS Infra brings agents into the catalogue, routes custom connectors to Azure APIs through API Management, wires telemetry and executes containment on Azure-side components. Entra network controls now extend to Copilot Studio agents (Microsoft Security blog).</a:t>
            </a:r>
          </a:p>
          <a:p/>
          <a:p>
            <a:r>
              <a:t>Sources (checked 11 Oct 2026):</a:t>
            </a:r>
          </a:p>
          <a:p>
            <a:r>
              <a:t>Microsoft Agent 365 now generally available (Microsoft Security blog, 1 May 2026): https://www.microsoft.com/en-us/security/blog/2026/05/01/microsoft-agent-365-now-generally-available-expands-capabilities-and-integrations/</a:t>
            </a:r>
          </a:p>
          <a:p>
            <a:r>
              <a:t>Microsoft Purview data security and compliance for AI: https://learn.microsoft.com/en-us/purview/ai-microsoft-purview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Fixed price is where offerings lose money. Our rule: no fixed price without a short assessment first, named change triggers in the SOW, a contingency set by Finance and acceptance by evidence gates.</a:t>
            </a:r>
          </a:p>
          <a:p/>
          <a:p>
            <a:r>
              <a:t>Likely question: What contingency do we hold?</a:t>
            </a:r>
          </a:p>
          <a:p>
            <a:r>
              <a:t>Answer: Finance sets it. We show where the risk sits so they can size it.</a:t>
            </a:r>
          </a:p>
          <a:p/>
          <a:p>
            <a:r>
              <a:t>DETAIL AND CAVEATS</a:t>
            </a:r>
          </a:p>
          <a:p>
            <a:r>
              <a:t>Fixed-price risk controls for delivery. Assess before quoting; name the change triggers in the SOW; hold a contingency agreed with Finance (amount is an input required); accept by gates with evidence.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Internal audit is often who triggers the budget, so we give them something they can test. Each control has a test and an evidence source they can pull themselves.</a:t>
            </a:r>
          </a:p>
          <a:p/>
          <a:p>
            <a:r>
              <a:t>Likely question: Is this an audit opinion?</a:t>
            </a:r>
          </a:p>
          <a:p>
            <a:r>
              <a:t>Answer: No. It is evidence for the customer auditors to test. We do not give assurance opinions.</a:t>
            </a:r>
          </a:p>
          <a:p/>
          <a:p>
            <a:r>
              <a:t>DETAIL AND CAVEATS</a:t>
            </a:r>
          </a:p>
          <a:p>
            <a:r>
              <a:t>Named deliverable: AI agent control matrix and evidence pack. Each control has an objective, a test and the evidence source, so internal audit can test agent inventory, ownership and containment. It supports, but does not replace, the customer audit or any external assurance.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Some customers want ISO 42001. We can show how the platform and agent evidence maps to it and where the gaps are. We do not certify; an accredited body does.</a:t>
            </a:r>
          </a:p>
          <a:p/>
          <a:p>
            <a:r>
              <a:t>Likely question: Is this a big project?</a:t>
            </a:r>
          </a:p>
          <a:p>
            <a:r>
              <a:t>Answer: The readiness review is 15 to 30 role days. Building a full management system is the customer’s programme, with our evidence as input.</a:t>
            </a:r>
          </a:p>
          <a:p/>
          <a:p>
            <a:r>
              <a:t>DETAIL AND CAVEATS</a:t>
            </a:r>
          </a:p>
          <a:p>
            <a:r>
              <a:t>Optional add-on. ISO/IEC 42001:2023 specifies an AI management system. The add-on is a readiness gap review of AI platform and agent operations evidence against the standard; it is not certification, which only an accredited body can grant. Effort is a planning estimate at the illustrative $1,000 per role day. Depends on the customer having, or building, an AI management system with a named owner, scope and risk method.</a:t>
            </a:r>
          </a:p>
          <a:p/>
          <a:p>
            <a:r>
              <a:t>Sources (checked 11 Oct 2026):</a:t>
            </a:r>
          </a:p>
          <a:p>
            <a:r>
              <a:t>ISO/IEC 42001 AI management systems: https://www.iso.org/standard/81230.html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decide quickly whether to quote implementation or sell the assessment first. Any zero on funding, authority or sponsor means assessment first.</a:t>
            </a:r>
          </a:p>
          <a:p/>
          <a:p>
            <a:r>
              <a:t>Likely question: Why not quote straight away?</a:t>
            </a:r>
          </a:p>
          <a:p>
            <a:r>
              <a:t>Answer: Unknown access, capacity or ownership is where fixed-price AI platform work loses money.</a:t>
            </a:r>
          </a:p>
          <a:p/>
          <a:p>
            <a:r>
              <a:t>DETAIL AND CAVEATS</a:t>
            </a:r>
          </a:p>
          <a:p>
            <a:r>
              <a:t>Score each criterion 0 (absent), 1 (partial) or 2 (evidenced). Proceed to an implementation quote at 14 or more with no zero on funding, authority, sponsor or the data residency gate; otherwise sell the assessment. Thresholds are proposals to calibrate after the first pilots. The shortlist is an empty template: no customer demand is asserted.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ranges let leadership size the opportunity. The anchor is the 88 role-day example in the V3 proposal; everything else scales from it with stated drivers.</a:t>
            </a:r>
          </a:p>
          <a:p/>
          <a:p>
            <a:r>
              <a:t>Likely question: Can we quote these numbers?</a:t>
            </a:r>
          </a:p>
          <a:p>
            <a:r>
              <a:t>Answer: No. They are estimates for a go or no-go decision. A quote needs approved rates and a scoped assessment.</a:t>
            </a:r>
          </a:p>
          <a:p/>
          <a:p>
            <a:r>
              <a:t>DETAIL AND CAVEATS</a:t>
            </a:r>
          </a:p>
          <a:p>
            <a:r>
              <a:t>Ranges are planning estimates for leadership, built from the GTM proposal V3 worked example (88 role days for a bounded landing zone extension across six towers) and scaled by scope drivers. They are not staffing commitments. Replace with actual pilot effort.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security view a CISO will ask for. Each threat has a control and an owner, and CIS Infra only owns the platform controls.</a:t>
            </a:r>
          </a:p>
          <a:p/>
          <a:p>
            <a:r>
              <a:t>Likely question: Does CIS Infra run security operations?</a:t>
            </a:r>
          </a:p>
          <a:p>
            <a:r>
              <a:t>Answer: No. A contracted security service or the Security tower does. We provide the telemetry and execute containment on our components.</a:t>
            </a:r>
          </a:p>
          <a:p/>
          <a:p>
            <a:r>
              <a:t>DETAIL AND CAVEATS</a:t>
            </a:r>
          </a:p>
          <a:p>
            <a:r>
              <a:t>Threats mapped to controls and owning towers for this offering. Categories align with the OWASP Top 10 for LLM Applications 2026 (released 3 Aug 2026), plus the MCP tool trust boundary, supply chain and identity threats specific to this offering. CIS Infra implements platform controls; Security owns threat modelling, policy and security operations.</a:t>
            </a:r>
          </a:p>
          <a:p/>
          <a:p>
            <a:r>
              <a:t>Sources (checked 11 Oct 2026):</a:t>
            </a:r>
          </a:p>
          <a:p>
            <a:r>
              <a:t>OWASP Top 10 for LLM Applications 2026 (OWASP GenAI Security Project, released 3 Aug 2026): https://genai.owasp.org/resource/owasp-genai-llm-top-10-2026/</a:t>
            </a:r>
          </a:p>
          <a:p>
            <a:r>
              <a:t>AI threat protection in Microsoft Defender for Cloud: https://learn.microsoft.com/en-us/azure/defender-for-cloud/ai-threat-protection</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Two questions decide the compliance conversation: what role the customer holds under the EU AI Act, and which sector rules apply. We help with evidence and controls; the customer and its lawyers decide.</a:t>
            </a:r>
          </a:p>
          <a:p/>
          <a:p>
            <a:r>
              <a:t>Likely question: Does SR 11-7 still apply to our US bank clients?</a:t>
            </a:r>
          </a:p>
          <a:p>
            <a:r>
              <a:t>Answer: It was replaced in April 2026 by risk-based interagency guidance, and generative and agentic AI are out of its scope. Banks still expect governance, so we position audit evidence, not model validation.</a:t>
            </a:r>
          </a:p>
          <a:p/>
          <a:p>
            <a:r>
              <a:t>DETAIL AND CAVEATS</a:t>
            </a:r>
          </a:p>
          <a:p>
            <a:r>
              <a:t>EU AI Act roles are indicative: the customer is usually the deployer of an AI system and becomes a provider only if it develops a system and places it on the market or puts it into service under its own name. Cognizant, delivering infrastructure services, is normally neither, unless a contract says otherwise. Sector rows: DORA applies from 17 Jan 2025 (Regulation (EU) 2022/2554); NIS2 transposition deadline 17 Oct 2024 (Directive (EU) 2022/2555); Saudi PDPL effective 14 Sep 2023 and enforceable from Sep 2024 (Baker McKenzie summary, third party); US interagency model risk guidance issued 17 Apr 2026 replaced SR 11-7 and puts generative and agentic AI out of scope (JD Supra summary, third party). UK and UAE rows are not re-verified and are marked so. Cognizant does not give legal advice; customers take their own.</a:t>
            </a:r>
          </a:p>
          <a:p/>
          <a:p>
            <a:r>
              <a:t>Sources (checked 11 Oct 2026):</a:t>
            </a:r>
          </a:p>
          <a:p>
            <a:r>
              <a:t>EU AI Act Update: Digital Omnibus finalises compliance changes (Orrick, third-party law-firm summary, 29 Jul 2026; EUR-Lex text not verified): https://www.orrick.com/en/Insights/2026/07/EU-AI-Act-Update-Digital-Omnibus-Finalizes-8-Compliance-Changes</a:t>
            </a:r>
          </a:p>
          <a:p>
            <a:r>
              <a:t>Regulation (EU) 2022/2554 (DORA), EUR-Lex: https://eur-lex.europa.eu/eli/reg/2022/2554/oj</a:t>
            </a:r>
          </a:p>
          <a:p>
            <a:r>
              <a:t>Directive (EU) 2022/2555 (NIS2), EUR-Lex: https://eur-lex.europa.eu/eli/dir/2022/2555/oj</a:t>
            </a:r>
          </a:p>
          <a:p>
            <a:r>
              <a:t>Saudi Arabia key data and cybersecurity laws (Baker McKenzie, third party, reviewed 31 Dec 2024): https://resourcehub.bakermckenzie.com/en/resources/global-data-and-cyber-handbook/emea/saudi-arabia/topics/key-data-and-cybersecurity-laws</a:t>
            </a:r>
          </a:p>
          <a:p>
            <a:r>
              <a:t>Banking regulators replace SR 11-7 with revised model risk guidance (JD Supra law-firm summary, third party): https://www.jdsupra.com/legalnews/banking-regulators-replace-5649360/</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anyone in the room is unsure of a term, point here. The two that matter most for leaders are PTU (reserved model capacity) and PAYG (pay per use).</a:t>
            </a:r>
          </a:p>
          <a:p/>
          <a:p>
            <a:r>
              <a:t>Likely question: What is the difference between Agent 365 and API Center?</a:t>
            </a:r>
          </a:p>
          <a:p>
            <a:r>
              <a:t>Answer: Agent 365 governs agents; API Center registers the tools and APIs agents may call. They complement each other.</a:t>
            </a:r>
          </a:p>
          <a:p/>
          <a:p>
            <a:r>
              <a:t>DETAIL AND CAVEATS</a:t>
            </a:r>
          </a:p>
          <a:p>
            <a:r>
              <a:t>Plain-English definitions for every acronym used. Expand an acronym the first time you say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Delivery will ask who does the work, and sellers will ask what they can use. This slide answers both honestly: the roles and skills are defined, current bench numbers are an input we still need, and most of the sales kit is still to build.</a:t>
            </a:r>
          </a:p>
          <a:p/>
          <a:p>
            <a:r>
              <a:t>Likely question: How long to get ready?</a:t>
            </a:r>
          </a:p>
          <a:p>
            <a:r>
              <a:t>Answer: The ramp-up column gives our estimate per role. Leadership can shorten it by funding enablement in the validation.</a:t>
            </a:r>
          </a:p>
          <a:p/>
          <a:p>
            <a:r>
              <a:t>DETAIL AND CAVEATS</a:t>
            </a:r>
          </a:p>
          <a:p>
            <a:r>
              <a:t>Skills and bench plan (delivery) and presales kit (sellers). Bench numbers are an input required from the CIS Infra delivery lead; no staffing is asserted. Certifications listed are Microsoft role-based certifications or specializations to confirm with the Microsoft alliance team. Kit status reflects what exists today in this proposal: decks and talk tracks exist; everything else is to build.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Account teams want to know where this fits and how big it gets. The top row is the account play, including a story for a business buyer, not only IT. The table is what Legal and Finance will want settled before we sign.</a:t>
            </a:r>
          </a:p>
          <a:p/>
          <a:p>
            <a:r>
              <a:t>Likely question: Will this compete with our existing infrastructure contract?</a:t>
            </a:r>
          </a:p>
          <a:p>
            <a:r>
              <a:t>Answer: No. In existing accounts we add it through change control as an extension, and the account leader decides the route.</a:t>
            </a:r>
          </a:p>
          <a:p/>
          <a:p>
            <a:r>
              <a:t>DETAIL AND CAVEATS</a:t>
            </a:r>
          </a:p>
          <a:p>
            <a:r>
              <a:t>Account play (where the offering fits in an existing account plan, first deal, expansion path and a business-led entry story) and contract risk positions. Contract positions are proposals for Legal and Finance; Cognizant standard terms prevail. Deal sizes use the illustrative $1,000 per role day. In accounts where Cognizant already runs infrastructure or managed services, position this offering as an extension of the existing contract through change control, not a competing bid.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Six cost layers, priced and owned separately. Only the first three are Cognizant services revenue; the other three are the customer’s Azure, model and GPU spend.</a:t>
            </a:r>
          </a:p>
          <a:p/>
          <a:p>
            <a:r>
              <a:t>Likely question: Do we resell Azure?</a:t>
            </a:r>
          </a:p>
          <a:p>
            <a:r>
              <a:t>Answer: Only if a resale agreement says so. Otherwise Azure spend is the customer’s and is not CIS Infra revenue.</a:t>
            </a:r>
          </a:p>
          <a:p/>
          <a:p>
            <a:r>
              <a:t>DETAIL AND CAVEATS</a:t>
            </a:r>
          </a:p>
          <a:p>
            <a:r>
              <a:t>Separates Cognizant services revenue from customer-paid Azure consumption. Where internal sell rates or enterprise Azure rates are unavailable, the formula and the missing input owner are shown instead of a number. </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activity has exactly one accountable role, shown in dark blue. The integrated service owner is the named Cognizant lead for the end-to-end outcome; the customer is accountable for acceptance.</a:t>
            </a:r>
          </a:p>
          <a:p/>
          <a:p>
            <a:r>
              <a:t>Likely question: Is this agreed with the towers?</a:t>
            </a:r>
          </a:p>
          <a:p>
            <a:r>
              <a:t>Answer: Not yet. It is a proposal to validate in the 90-day validation.</a:t>
            </a:r>
          </a:p>
          <a:p/>
          <a:p>
            <a:r>
              <a:t>DETAIL AND CAVEATS</a:t>
            </a:r>
          </a:p>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Containment authority and restart approval are customer decisions; Cognizant roles execute and evidence them. If a contracted security service exists, live containment authority may move to that service.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qualification and statement-of-work checklist. If any of these twelve items is blank, the deal is not ready to price.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Readiness criteria for this offering. Timelines and staffing are estimates only and require named tower commitments. Use this as the qualification and SOW checklist.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Green rows can be decided today. The rest wait for pilot evidence, Finance approval or a tower agreement, and each has a proposed owner.</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Unresolved decisions for this offering. "Now" means leadership can decide at this review. Other items depend on pilot evidence, Finance approval or specialist tower agreement. The consolidated register is delivered as a separate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Third-party sources are labelled. Recheck prices and regions before any customer quote.</a:t>
            </a:r>
          </a:p>
          <a:p/>
          <a:p>
            <a:r>
              <a:t>Likely question: Which sources are third party?</a:t>
            </a:r>
          </a:p>
          <a:p>
            <a:r>
              <a:t>Answer: Those labelled third party, such as law-firm summaries and licensing analysts. Microsoft facts come from Microsoft Learn, Microsoft blogs or the Azure Retail Prices API.</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Third-party sources are labelled. Recheck prices and regions before any customer quote.</a:t>
            </a:r>
          </a:p>
          <a:p/>
          <a:p>
            <a:r>
              <a:t>Likely question: Which sources are third party?</a:t>
            </a:r>
          </a:p>
          <a:p>
            <a:r>
              <a:t>Answer: Those labelled third party, such as law-firm summaries and licensing analysts. Microsoft facts come from Microsoft Learn, Microsoft blogs or the Azure Retail Prices API.</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1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 Id="rId18" Type="http://schemas.openxmlformats.org/officeDocument/2006/relationships/image" Target="../media/image25.png"/><Relationship Id="rId19" Type="http://schemas.openxmlformats.org/officeDocument/2006/relationships/image" Target="../media/image28.svg"/><Relationship Id="rId20" Type="http://schemas.openxmlformats.org/officeDocument/2006/relationships/image" Target="../media/image27.png"/><Relationship Id="rId21" Type="http://schemas.openxmlformats.org/officeDocument/2006/relationships/image" Target="../media/image30.svg"/><Relationship Id="rId22" Type="http://schemas.openxmlformats.org/officeDocument/2006/relationships/image" Target="../media/image29.png"/><Relationship Id="rId23" Type="http://schemas.openxmlformats.org/officeDocument/2006/relationships/image" Target="../media/image32.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 Id="rId31" Type="http://schemas.openxmlformats.org/officeDocument/2006/relationships/slide" Target="slide40.xml"/><Relationship Id="rId32" Type="http://schemas.openxmlformats.org/officeDocument/2006/relationships/slide" Target="slide41.xml"/><Relationship Id="rId33" Type="http://schemas.openxmlformats.org/officeDocument/2006/relationships/slide" Target="slide42.xml"/><Relationship Id="rId34" Type="http://schemas.openxmlformats.org/officeDocument/2006/relationships/slide" Target="slide43.xml"/><Relationship Id="rId35" Type="http://schemas.openxmlformats.org/officeDocument/2006/relationships/slide" Target="slide44.xml"/><Relationship Id="rId36" Type="http://schemas.openxmlformats.org/officeDocument/2006/relationships/slide" Target="slide45.xml"/><Relationship Id="rId37" Type="http://schemas.openxmlformats.org/officeDocument/2006/relationships/slide" Target="slide46.xml"/><Relationship Id="rId38" Type="http://schemas.openxmlformats.org/officeDocument/2006/relationships/slide" Target="slide47.xml"/><Relationship Id="rId39" Type="http://schemas.openxmlformats.org/officeDocument/2006/relationships/slide" Target="slide48.xml"/><Relationship Id="rId40" Type="http://schemas.openxmlformats.org/officeDocument/2006/relationships/slide" Target="slide49.xml"/><Relationship Id="rId41" Type="http://schemas.openxmlformats.org/officeDocument/2006/relationships/slide" Target="slide50.xml"/><Relationship Id="rId42" Type="http://schemas.openxmlformats.org/officeDocument/2006/relationships/slide" Target="slide5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image" Target="../media/image23.png"/><Relationship Id="rId5" Type="http://schemas.openxmlformats.org/officeDocument/2006/relationships/image" Target="../media/image26.svg"/><Relationship Id="rId6" Type="http://schemas.openxmlformats.org/officeDocument/2006/relationships/image" Target="../media/image25.png"/><Relationship Id="rId7" Type="http://schemas.openxmlformats.org/officeDocument/2006/relationships/image" Target="../media/image28.svg"/><Relationship Id="rId8" Type="http://schemas.openxmlformats.org/officeDocument/2006/relationships/image" Target="../media/image21.png"/><Relationship Id="rId9" Type="http://schemas.openxmlformats.org/officeDocument/2006/relationships/image" Target="../media/image24.svg"/><Relationship Id="rId10" Type="http://schemas.openxmlformats.org/officeDocument/2006/relationships/image" Target="../media/image11.png"/><Relationship Id="rId11" Type="http://schemas.openxmlformats.org/officeDocument/2006/relationships/image" Target="../media/image14.svg"/><Relationship Id="rId12" Type="http://schemas.openxmlformats.org/officeDocument/2006/relationships/image" Target="../media/image13.png"/><Relationship Id="rId13" Type="http://schemas.openxmlformats.org/officeDocument/2006/relationships/image" Target="../media/image16.svg"/><Relationship Id="rId14" Type="http://schemas.openxmlformats.org/officeDocument/2006/relationships/image" Target="../media/image17.png"/><Relationship Id="rId15" Type="http://schemas.openxmlformats.org/officeDocument/2006/relationships/image" Target="../media/image20.svg"/><Relationship Id="rId16" Type="http://schemas.openxmlformats.org/officeDocument/2006/relationships/image" Target="../media/image19.png"/><Relationship Id="rId17" Type="http://schemas.openxmlformats.org/officeDocument/2006/relationships/image" Target="../media/image22.svg"/><Relationship Id="rId18" Type="http://schemas.openxmlformats.org/officeDocument/2006/relationships/image" Target="../media/image15.png"/><Relationship Id="rId19" Type="http://schemas.openxmlformats.org/officeDocument/2006/relationships/image" Target="../media/image18.svg"/><Relationship Id="rId20" Type="http://schemas.openxmlformats.org/officeDocument/2006/relationships/image" Target="../media/image31.png"/><Relationship Id="rId21" Type="http://schemas.openxmlformats.org/officeDocument/2006/relationships/image" Target="../media/image34.svg"/><Relationship Id="rId22"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image" Target="../media/image33.png"/><Relationship Id="rId5" Type="http://schemas.openxmlformats.org/officeDocument/2006/relationships/image" Target="../media/image36.svg"/><Relationship Id="rId6" Type="http://schemas.openxmlformats.org/officeDocument/2006/relationships/image" Target="../media/image35.png"/><Relationship Id="rId7" Type="http://schemas.openxmlformats.org/officeDocument/2006/relationships/image" Target="../media/image38.svg"/><Relationship Id="rId8" Type="http://schemas.openxmlformats.org/officeDocument/2006/relationships/image" Target="../media/image37.png"/><Relationship Id="rId9" Type="http://schemas.openxmlformats.org/officeDocument/2006/relationships/image" Target="../media/image40.svg"/><Relationship Id="rId10" Type="http://schemas.openxmlformats.org/officeDocument/2006/relationships/image" Target="../media/image39.png"/><Relationship Id="rId11" Type="http://schemas.openxmlformats.org/officeDocument/2006/relationships/image" Target="../media/image42.svg"/><Relationship Id="rId12" Type="http://schemas.openxmlformats.org/officeDocument/2006/relationships/image" Target="../media/image41.png"/><Relationship Id="rId13" Type="http://schemas.openxmlformats.org/officeDocument/2006/relationships/image" Target="../media/image44.svg"/><Relationship Id="rId14" Type="http://schemas.openxmlformats.org/officeDocument/2006/relationships/image" Target="../media/image11.png"/><Relationship Id="rId15" Type="http://schemas.openxmlformats.org/officeDocument/2006/relationships/image" Target="../media/image14.svg"/><Relationship Id="rId16" Type="http://schemas.openxmlformats.org/officeDocument/2006/relationships/image" Target="../media/image43.png"/><Relationship Id="rId17" Type="http://schemas.openxmlformats.org/officeDocument/2006/relationships/image" Target="../media/image46.svg"/><Relationship Id="rId18" Type="http://schemas.openxmlformats.org/officeDocument/2006/relationships/image" Target="../media/image27.png"/><Relationship Id="rId19" Type="http://schemas.openxmlformats.org/officeDocument/2006/relationships/image" Target="../media/image30.svg"/><Relationship Id="rId20" Type="http://schemas.openxmlformats.org/officeDocument/2006/relationships/image" Target="../media/image45.png"/><Relationship Id="rId21" Type="http://schemas.openxmlformats.org/officeDocument/2006/relationships/image" Target="../media/image48.svg"/><Relationship Id="rId22" Type="http://schemas.openxmlformats.org/officeDocument/2006/relationships/image" Target="../media/image47.png"/><Relationship Id="rId23" Type="http://schemas.openxmlformats.org/officeDocument/2006/relationships/image" Target="../media/image50.svg"/><Relationship Id="rId24" Type="http://schemas.openxmlformats.org/officeDocument/2006/relationships/image" Target="../media/image13.png"/><Relationship Id="rId25" Type="http://schemas.openxmlformats.org/officeDocument/2006/relationships/image" Target="../media/image16.svg"/><Relationship Id="rId26" Type="http://schemas.openxmlformats.org/officeDocument/2006/relationships/image" Target="../media/image49.png"/><Relationship Id="rId27" Type="http://schemas.openxmlformats.org/officeDocument/2006/relationships/image" Target="../media/image52.svg"/><Relationship Id="rId28" Type="http://schemas.openxmlformats.org/officeDocument/2006/relationships/image" Target="../media/image17.png"/><Relationship Id="rId29" Type="http://schemas.openxmlformats.org/officeDocument/2006/relationships/image" Target="../media/image20.svg"/><Relationship Id="rId30"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35.png"/><Relationship Id="rId7" Type="http://schemas.openxmlformats.org/officeDocument/2006/relationships/image" Target="../media/image38.svg"/><Relationship Id="rId8" Type="http://schemas.openxmlformats.org/officeDocument/2006/relationships/image" Target="../media/image45.png"/><Relationship Id="rId9" Type="http://schemas.openxmlformats.org/officeDocument/2006/relationships/image" Target="../media/image48.svg"/><Relationship Id="rId10"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image" Target="../media/image37.png"/><Relationship Id="rId5" Type="http://schemas.openxmlformats.org/officeDocument/2006/relationships/image" Target="../media/image40.svg"/><Relationship Id="rId6" Type="http://schemas.openxmlformats.org/officeDocument/2006/relationships/image" Target="../media/image43.png"/><Relationship Id="rId7" Type="http://schemas.openxmlformats.org/officeDocument/2006/relationships/image" Target="../media/image46.svg"/><Relationship Id="rId8" Type="http://schemas.openxmlformats.org/officeDocument/2006/relationships/image" Target="../media/image41.png"/><Relationship Id="rId9" Type="http://schemas.openxmlformats.org/officeDocument/2006/relationships/image" Target="../media/image44.svg"/><Relationship Id="rId10"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image" Target="../media/image51.png"/><Relationship Id="rId5" Type="http://schemas.openxmlformats.org/officeDocument/2006/relationships/image" Target="../media/image54.svg"/><Relationship Id="rId6" Type="http://schemas.openxmlformats.org/officeDocument/2006/relationships/image" Target="../media/image39.png"/><Relationship Id="rId7" Type="http://schemas.openxmlformats.org/officeDocument/2006/relationships/image" Target="../media/image42.svg"/><Relationship Id="rId8" Type="http://schemas.openxmlformats.org/officeDocument/2006/relationships/image" Target="../media/image41.png"/><Relationship Id="rId9" Type="http://schemas.openxmlformats.org/officeDocument/2006/relationships/image" Target="../media/image44.svg"/><Relationship Id="rId10" Type="http://schemas.openxmlformats.org/officeDocument/2006/relationships/image" Target="../media/image13.png"/><Relationship Id="rId11" Type="http://schemas.openxmlformats.org/officeDocument/2006/relationships/image" Target="../media/image16.svg"/><Relationship Id="rId12" Type="http://schemas.openxmlformats.org/officeDocument/2006/relationships/image" Target="../media/image53.png"/><Relationship Id="rId13" Type="http://schemas.openxmlformats.org/officeDocument/2006/relationships/image" Target="../media/image56.svg"/><Relationship Id="rId14"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image" Target="../media/image17.png"/><Relationship Id="rId5" Type="http://schemas.openxmlformats.org/officeDocument/2006/relationships/image" Target="../media/image20.svg"/><Relationship Id="rId6" Type="http://schemas.openxmlformats.org/officeDocument/2006/relationships/image" Target="../media/image25.png"/><Relationship Id="rId7" Type="http://schemas.openxmlformats.org/officeDocument/2006/relationships/image" Target="../media/image28.svg"/><Relationship Id="rId8" Type="http://schemas.openxmlformats.org/officeDocument/2006/relationships/image" Target="../media/image55.png"/><Relationship Id="rId9" Type="http://schemas.openxmlformats.org/officeDocument/2006/relationships/image" Target="../media/image58.svg"/><Relationship Id="rId10"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slide" Target="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0.xml"/><Relationship Id="rId4" Type="http://schemas.openxmlformats.org/officeDocument/2006/relationships/slide" Target="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1.xml"/><Relationship Id="rId4" Type="http://schemas.openxmlformats.org/officeDocument/2006/relationships/slide" Target="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2.xml"/><Relationship Id="rId4" Type="http://schemas.openxmlformats.org/officeDocument/2006/relationships/slide" Target="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3.xml"/><Relationship Id="rId4" Type="http://schemas.openxmlformats.org/officeDocument/2006/relationships/slide" Target="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4.xml"/><Relationship Id="rId4" Type="http://schemas.openxmlformats.org/officeDocument/2006/relationships/slide" Target="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5.xml"/><Relationship Id="rId4" Type="http://schemas.openxmlformats.org/officeDocument/2006/relationships/slide" Target="slide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6.xml"/><Relationship Id="rId4" Type="http://schemas.openxmlformats.org/officeDocument/2006/relationships/slide" Target="slide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7.xml"/><Relationship Id="rId4" Type="http://schemas.openxmlformats.org/officeDocument/2006/relationships/slide" Target="slide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8.xml"/><Relationship Id="rId4" Type="http://schemas.openxmlformats.org/officeDocument/2006/relationships/slide" Target="slide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9.xml"/><Relationship Id="rId4" Type="http://schemas.openxmlformats.org/officeDocument/2006/relationships/slide" Target="slide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0.xml"/><Relationship Id="rId4" Type="http://schemas.openxmlformats.org/officeDocument/2006/relationships/hyperlink" Target="https://www.microsoft.com/en-us/security/blog/2026/05/01/microsoft-agent-365-now-generally-available-expands-capabilities-and-integrations/" TargetMode="External"/><Relationship Id="rId5" Type="http://schemas.openxmlformats.org/officeDocument/2006/relationships/hyperlink" Target="https://www.microsoft.com/licensing/guidance/Microsoft-Copilot-Studio" TargetMode="External"/><Relationship Id="rId6" Type="http://schemas.openxmlformats.org/officeDocument/2006/relationships/hyperlink" Target="https://learn.microsoft.com/en-us/entra/identity/conditional-access/agent-id" TargetMode="External"/><Relationship Id="rId7" Type="http://schemas.openxmlformats.org/officeDocument/2006/relationships/hyperlink" Target="https://learn.microsoft.com/en-us/azure/foundry/control-plane/how-to-manage-agents" TargetMode="External"/><Relationship Id="rId8" Type="http://schemas.openxmlformats.org/officeDocument/2006/relationships/hyperlink" Target="https://learn.microsoft.com/en-us/azure/foundry/control-plane/register-custom-agent" TargetMode="External"/><Relationship Id="rId9" Type="http://schemas.openxmlformats.org/officeDocument/2006/relationships/hyperlink" Target="https://learn.microsoft.com/en-us/azure/defender-for-cloud/ai-threat-protection" TargetMode="External"/><Relationship Id="rId10" Type="http://schemas.openxmlformats.org/officeDocument/2006/relationships/hyperlink" Target="https://learn.microsoft.com/en-us/purview/ai-microsoft-purview" TargetMode="External"/><Relationship Id="rId11" Type="http://schemas.openxmlformats.org/officeDocument/2006/relationships/hyperlink" Target="https://www.orrick.com/en/Insights/2026/07/EU-AI-Act-Update-Digital-Omnibus-Finalizes-8-Compliance-Changes" TargetMode="External"/><Relationship Id="rId12" Type="http://schemas.openxmlformats.org/officeDocument/2006/relationships/hyperlink" Target="https://learn.microsoft.com/en-us/azure/architecture/icons/" TargetMode="External"/><Relationship Id="rId13" Type="http://schemas.openxmlformats.org/officeDocument/2006/relationships/hyperlink" Target="https://az-icons.com/" TargetMode="External"/><Relationship Id="rId14" Type="http://schemas.openxmlformats.org/officeDocument/2006/relationships/hyperlink" Target="https://learn.microsoft.com/en-us/azure/foundry/observability/how-to/how-to-monitor-agents-dashboard" TargetMode="External"/><Relationship Id="rId15" Type="http://schemas.openxmlformats.org/officeDocument/2006/relationships/hyperlink" Target="https://learn.microsoft.com/en-us/azure/api-management/send-request-policy" TargetMode="External"/><Relationship Id="rId16" Type="http://schemas.openxmlformats.org/officeDocument/2006/relationships/hyperlink" Target="https://learn.microsoft.com/en-us/azure/api-management/authentication-managed-identity-policy" TargetMode="External"/><Relationship Id="rId17" Type="http://schemas.openxmlformats.org/officeDocument/2006/relationships/slide" Target="slide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1.xml"/><Relationship Id="rId4" Type="http://schemas.openxmlformats.org/officeDocument/2006/relationships/hyperlink" Target="https://learn.microsoft.com/en-us/azure/architecture/ai-ml/guide/rag/rag-agentic" TargetMode="External"/><Relationship Id="rId5" Type="http://schemas.openxmlformats.org/officeDocument/2006/relationships/hyperlink" Target="https://learn.microsoft.com/en-us/azure/architecture/ai-ml/idea/multiple-agent-workflow-automation" TargetMode="External"/><Relationship Id="rId6" Type="http://schemas.openxmlformats.org/officeDocument/2006/relationships/hyperlink" Target="https://github.com/upendra25312/AI-Foundry-GTM-offering-/blob/main/CIS_Infra_Azure_AI_Platform_GTM_Proposal_V3.docx" TargetMode="External"/><Relationship Id="rId7"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Agent Governance and Operations</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Know every agent, prove how it is used, and prove the stop before relying on it</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Configure Agent 365 and the Foundry Control Plane first, then build only the gaps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4.0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Configure Agent 365 first, then build only the gaps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2 OF 10</a:t>
            </a:r>
          </a:p>
        </p:txBody>
      </p:sp>
      <p:sp>
        <p:nvSpPr>
          <p:cNvPr id="5" name="Status chip: PROPOSED OFFERING"/>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OFFERING</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02</a:t>
            </a:r>
          </a:p>
        </p:txBody>
      </p:sp>
      <p:sp>
        <p:nvSpPr>
          <p:cNvPr id="8" name="TextBox 7"/>
          <p:cNvSpPr txBox="1"/>
          <p:nvPr/>
        </p:nvSpPr>
        <p:spPr>
          <a:xfrm>
            <a:off x="548640" y="1371600"/>
            <a:ext cx="1600200" cy="457200"/>
          </a:xfrm>
          <a:prstGeom prst="rect">
            <a:avLst/>
          </a:prstGeom>
          <a:noFill/>
        </p:spPr>
        <p:txBody>
          <a:bodyPr wrap="square" lIns="0" rIns="0" tIns="0" bIns="0" anchor="t">
            <a:noAutofit/>
          </a:bodyPr>
          <a:lstStyle/>
          <a:p>
            <a:pPr algn="l"/>
            <a:r>
              <a:rPr sz="2200" b="1" i="0">
                <a:solidFill>
                  <a:srgbClr val="2F78C4"/>
                </a:solidFill>
                <a:latin typeface="Arial"/>
              </a:rPr>
              <a:t>Problem</a:t>
            </a:r>
          </a:p>
        </p:txBody>
      </p:sp>
      <p:sp>
        <p:nvSpPr>
          <p:cNvPr id="9" name="TextBox 8"/>
          <p:cNvSpPr txBox="1"/>
          <p:nvPr/>
        </p:nvSpPr>
        <p:spPr>
          <a:xfrm>
            <a:off x="2148840" y="1371600"/>
            <a:ext cx="5120640" cy="1024127"/>
          </a:xfrm>
          <a:prstGeom prst="rect">
            <a:avLst/>
          </a:prstGeom>
          <a:noFill/>
        </p:spPr>
        <p:txBody>
          <a:bodyPr wrap="square" lIns="0" rIns="0" tIns="0" bIns="0" anchor="t">
            <a:noAutofit/>
          </a:bodyPr>
          <a:lstStyle/>
          <a:p>
            <a:pPr algn="l"/>
            <a:r>
              <a:rPr sz="1800" b="0" i="0">
                <a:solidFill>
                  <a:srgbClr val="1E1E2E"/>
                </a:solidFill>
                <a:latin typeface="Arial"/>
              </a:rPr>
              <a:t>Agents spread across Copilot Studio, Foundry, custom hosts and other clouds. Few customers can list, own or stop them.</a:t>
            </a:r>
          </a:p>
        </p:txBody>
      </p:sp>
      <p:sp>
        <p:nvSpPr>
          <p:cNvPr id="10" name="TextBox 9"/>
          <p:cNvSpPr txBox="1"/>
          <p:nvPr/>
        </p:nvSpPr>
        <p:spPr>
          <a:xfrm>
            <a:off x="548640" y="2441448"/>
            <a:ext cx="1600200" cy="457200"/>
          </a:xfrm>
          <a:prstGeom prst="rect">
            <a:avLst/>
          </a:prstGeom>
          <a:noFill/>
        </p:spPr>
        <p:txBody>
          <a:bodyPr wrap="square" lIns="0" rIns="0" tIns="0" bIns="0" anchor="t">
            <a:noAutofit/>
          </a:bodyPr>
          <a:lstStyle/>
          <a:p>
            <a:pPr algn="l"/>
            <a:r>
              <a:rPr sz="2200" b="1" i="0">
                <a:solidFill>
                  <a:srgbClr val="2F78C4"/>
                </a:solidFill>
                <a:latin typeface="Arial"/>
              </a:rPr>
              <a:t>Offer</a:t>
            </a:r>
          </a:p>
        </p:txBody>
      </p:sp>
      <p:sp>
        <p:nvSpPr>
          <p:cNvPr id="11" name="TextBox 10"/>
          <p:cNvSpPr txBox="1"/>
          <p:nvPr/>
        </p:nvSpPr>
        <p:spPr>
          <a:xfrm>
            <a:off x="2148840" y="2441448"/>
            <a:ext cx="5120640" cy="1024127"/>
          </a:xfrm>
          <a:prstGeom prst="rect">
            <a:avLst/>
          </a:prstGeom>
          <a:noFill/>
        </p:spPr>
        <p:txBody>
          <a:bodyPr wrap="square" lIns="0" rIns="0" tIns="0" bIns="0" anchor="t">
            <a:noAutofit/>
          </a:bodyPr>
          <a:lstStyle/>
          <a:p>
            <a:pPr algn="l"/>
            <a:r>
              <a:rPr sz="1800" b="0" i="0">
                <a:solidFill>
                  <a:srgbClr val="1E1E2E"/>
                </a:solidFill>
                <a:latin typeface="Arial"/>
              </a:rPr>
              <a:t>Configure Agent 365, Foundry Control Plane and Entra agent identities; add usage evidence and a stop path proven in a pilot where they fall short.</a:t>
            </a:r>
          </a:p>
        </p:txBody>
      </p:sp>
      <p:sp>
        <p:nvSpPr>
          <p:cNvPr id="12" name="TextBox 11"/>
          <p:cNvSpPr txBox="1"/>
          <p:nvPr/>
        </p:nvSpPr>
        <p:spPr>
          <a:xfrm>
            <a:off x="548640" y="3511296"/>
            <a:ext cx="1600200" cy="457200"/>
          </a:xfrm>
          <a:prstGeom prst="rect">
            <a:avLst/>
          </a:prstGeom>
          <a:noFill/>
        </p:spPr>
        <p:txBody>
          <a:bodyPr wrap="square" lIns="0" rIns="0" tIns="0" bIns="0" anchor="t">
            <a:noAutofit/>
          </a:bodyPr>
          <a:lstStyle/>
          <a:p>
            <a:pPr algn="l"/>
            <a:r>
              <a:rPr sz="2200" b="1" i="0">
                <a:solidFill>
                  <a:srgbClr val="2F78C4"/>
                </a:solidFill>
                <a:latin typeface="Arial"/>
              </a:rPr>
              <a:t>Outcome</a:t>
            </a:r>
          </a:p>
        </p:txBody>
      </p:sp>
      <p:sp>
        <p:nvSpPr>
          <p:cNvPr id="13" name="TextBox 12"/>
          <p:cNvSpPr txBox="1"/>
          <p:nvPr/>
        </p:nvSpPr>
        <p:spPr>
          <a:xfrm>
            <a:off x="2148840" y="3511296"/>
            <a:ext cx="5120640" cy="1024127"/>
          </a:xfrm>
          <a:prstGeom prst="rect">
            <a:avLst/>
          </a:prstGeom>
          <a:noFill/>
        </p:spPr>
        <p:txBody>
          <a:bodyPr wrap="square" lIns="0" rIns="0" tIns="0" bIns="0" anchor="t">
            <a:noAutofit/>
          </a:bodyPr>
          <a:lstStyle/>
          <a:p>
            <a:pPr algn="l"/>
            <a:r>
              <a:rPr sz="1800" b="0" i="0">
                <a:solidFill>
                  <a:srgbClr val="1E1E2E"/>
                </a:solidFill>
                <a:latin typeface="Arial"/>
              </a:rPr>
              <a:t>Every in-scope agent has an owner, a usage status, a risk class and a rehearsed way to stop it.</a:t>
            </a:r>
          </a:p>
        </p:txBody>
      </p:sp>
      <p:sp>
        <p:nvSpPr>
          <p:cNvPr id="14" name="TextBox 13"/>
          <p:cNvSpPr txBox="1"/>
          <p:nvPr/>
        </p:nvSpPr>
        <p:spPr>
          <a:xfrm>
            <a:off x="548640" y="4581144"/>
            <a:ext cx="1600200" cy="457200"/>
          </a:xfrm>
          <a:prstGeom prst="rect">
            <a:avLst/>
          </a:prstGeom>
          <a:noFill/>
        </p:spPr>
        <p:txBody>
          <a:bodyPr wrap="square" lIns="0" rIns="0" tIns="0" bIns="0" anchor="t">
            <a:noAutofit/>
          </a:bodyPr>
          <a:lstStyle/>
          <a:p>
            <a:pPr algn="l"/>
            <a:r>
              <a:rPr sz="2200" b="1" i="0">
                <a:solidFill>
                  <a:srgbClr val="1D6B3A"/>
                </a:solidFill>
                <a:latin typeface="Arial"/>
              </a:rPr>
              <a:t>Value</a:t>
            </a:r>
          </a:p>
        </p:txBody>
      </p:sp>
      <p:sp>
        <p:nvSpPr>
          <p:cNvPr id="15" name="TextBox 14"/>
          <p:cNvSpPr txBox="1"/>
          <p:nvPr/>
        </p:nvSpPr>
        <p:spPr>
          <a:xfrm>
            <a:off x="2148840" y="4581144"/>
            <a:ext cx="5120640" cy="1024127"/>
          </a:xfrm>
          <a:prstGeom prst="rect">
            <a:avLst/>
          </a:prstGeom>
          <a:noFill/>
        </p:spPr>
        <p:txBody>
          <a:bodyPr wrap="square" lIns="0" rIns="0" tIns="0" bIns="0" anchor="t">
            <a:noAutofit/>
          </a:bodyPr>
          <a:lstStyle/>
          <a:p>
            <a:pPr algn="l"/>
            <a:r>
              <a:rPr sz="1800" b="0" i="0">
                <a:solidFill>
                  <a:srgbClr val="1E1E2E"/>
                </a:solidFill>
                <a:latin typeface="Arial"/>
              </a:rPr>
              <a:t>Agents with an owner and a tested stop; audit findings closed with evidence.</a:t>
            </a:r>
          </a:p>
        </p:txBody>
      </p:sp>
      <p:sp>
        <p:nvSpPr>
          <p:cNvPr id="16" name="Rounded Rectangle 15"/>
          <p:cNvSpPr/>
          <p:nvPr/>
        </p:nvSpPr>
        <p:spPr>
          <a:xfrm>
            <a:off x="7543800" y="1371600"/>
            <a:ext cx="4096512" cy="4206240"/>
          </a:xfrm>
          <a:prstGeom prst="roundRect">
            <a:avLst>
              <a:gd name="adj" fmla="val 178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1000"/>
              </a:spcAft>
            </a:pPr>
            <a:r>
              <a:rPr sz="2200" b="1" i="0">
                <a:solidFill>
                  <a:srgbClr val="FFFFFF"/>
                </a:solidFill>
                <a:latin typeface="Arial"/>
              </a:rPr>
              <a:t>Decision requested</a:t>
            </a:r>
          </a:p>
          <a:p>
            <a:pPr algn="l" marL="201168" indent="-201168">
              <a:spcAft>
                <a:spcPts val="1000"/>
              </a:spcAft>
              <a:buFont typeface="Arial"/>
              <a:buChar char="•"/>
            </a:pPr>
            <a:r>
              <a:rPr sz="2000" b="0" i="0">
                <a:solidFill>
                  <a:srgbClr val="FFFFFF"/>
                </a:solidFill>
                <a:latin typeface="Arial"/>
              </a:rPr>
              <a:t>Adopt configure-before-build as the design rule</a:t>
            </a:r>
          </a:p>
          <a:p>
            <a:pPr algn="l" marL="201168" indent="-201168">
              <a:spcAft>
                <a:spcPts val="1000"/>
              </a:spcAft>
              <a:buFont typeface="Arial"/>
              <a:buChar char="•"/>
            </a:pPr>
            <a:r>
              <a:rPr sz="2000" b="0" i="0">
                <a:solidFill>
                  <a:srgbClr val="FFFFFF"/>
                </a:solidFill>
                <a:latin typeface="Arial"/>
              </a:rPr>
              <a:t>Fund a 4 to 6 week kill-switch proof of concept</a:t>
            </a:r>
          </a:p>
          <a:p>
            <a:pPr algn="l" marL="201168" indent="-201168">
              <a:spcAft>
                <a:spcPts val="1000"/>
              </a:spcAft>
              <a:buFont typeface="Arial"/>
              <a:buChar char="•"/>
            </a:pPr>
            <a:r>
              <a:rPr sz="2000" b="0" i="0">
                <a:solidFill>
                  <a:srgbClr val="FFFFFF"/>
                </a:solidFill>
                <a:latin typeface="Arial"/>
              </a:rPr>
              <a:t>Name who may stop and who may restart an agent</a:t>
            </a:r>
          </a:p>
        </p:txBody>
      </p:sp>
      <p:sp>
        <p:nvSpPr>
          <p:cNvPr id="17" name="Rounded Rectangle 16"/>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No universal instant stop and no complete inventory are claimed. Coverage depends on licences, runtimes and telemetry.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365 is GA and stops are not instant: act now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3 OF 10</a:t>
            </a:r>
          </a:p>
        </p:txBody>
      </p:sp>
      <p:sp>
        <p:nvSpPr>
          <p:cNvPr id="5" name="Status chip: DRIVERS SOURCED, DEMAND TO VALIDATE"/>
          <p:cNvSpPr/>
          <p:nvPr/>
        </p:nvSpPr>
        <p:spPr>
          <a:xfrm>
            <a:off x="3658870" y="274320"/>
            <a:ext cx="32969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DRIVERS SOURCED, DEMAND TO VALIDATE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sp>
        <p:nvSpPr>
          <p:cNvPr id="8" name="Rounded Rectangle 7"/>
          <p:cNvSpPr/>
          <p:nvPr/>
        </p:nvSpPr>
        <p:spPr>
          <a:xfrm>
            <a:off x="548640"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Agent 365 is GA</a:t>
            </a:r>
          </a:p>
          <a:p>
            <a:pPr algn="l">
              <a:spcAft>
                <a:spcPts val="400"/>
              </a:spcAft>
            </a:pPr>
            <a:r>
              <a:rPr sz="1800" b="0" i="0">
                <a:solidFill>
                  <a:srgbClr val="1E1E2E"/>
                </a:solidFill>
                <a:latin typeface="Arial"/>
              </a:rPr>
              <a:t>Since 1 May 2026 Microsoft offers one registry for Copilot Studio, Foundry and partner agents.</a:t>
            </a:r>
          </a:p>
          <a:p>
            <a:pPr algn="l"/>
            <a:r>
              <a:rPr sz="1200" b="0" i="0">
                <a:solidFill>
                  <a:srgbClr val="53565A"/>
                </a:solidFill>
                <a:latin typeface="Arial"/>
              </a:rPr>
              <a:t>Source: Microsoft Security blog</a:t>
            </a:r>
          </a:p>
        </p:txBody>
      </p:sp>
      <p:sp>
        <p:nvSpPr>
          <p:cNvPr id="9" name="Rounded Rectangle 8"/>
          <p:cNvSpPr/>
          <p:nvPr/>
        </p:nvSpPr>
        <p:spPr>
          <a:xfrm>
            <a:off x="429767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Stop is not instant</a:t>
            </a:r>
          </a:p>
          <a:p>
            <a:pPr algn="l">
              <a:spcAft>
                <a:spcPts val="400"/>
              </a:spcAft>
            </a:pPr>
            <a:r>
              <a:rPr sz="1800" b="0" i="0">
                <a:solidFill>
                  <a:srgbClr val="1E1E2E"/>
                </a:solidFill>
                <a:latin typeface="Arial"/>
              </a:rPr>
              <a:t>Stopping a Foundry agent does not end runs already in progress.</a:t>
            </a:r>
          </a:p>
          <a:p>
            <a:pPr algn="l"/>
            <a:r>
              <a:rPr sz="1200" b="0" i="0">
                <a:solidFill>
                  <a:srgbClr val="53565A"/>
                </a:solidFill>
                <a:latin typeface="Arial"/>
              </a:rPr>
              <a:t>Source: Foundry Control Plane docs, updated 15 Jul 2026</a:t>
            </a:r>
          </a:p>
        </p:txBody>
      </p:sp>
      <p:sp>
        <p:nvSpPr>
          <p:cNvPr id="10" name="Rounded Rectangle 9"/>
          <p:cNvSpPr/>
          <p:nvPr/>
        </p:nvSpPr>
        <p:spPr>
          <a:xfrm>
            <a:off x="804671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Audit questions arrive</a:t>
            </a:r>
          </a:p>
          <a:p>
            <a:pPr algn="l">
              <a:spcAft>
                <a:spcPts val="400"/>
              </a:spcAft>
            </a:pPr>
            <a:r>
              <a:rPr sz="1800" b="0" i="0">
                <a:solidFill>
                  <a:srgbClr val="1E1E2E"/>
                </a:solidFill>
                <a:latin typeface="Arial"/>
              </a:rPr>
              <a:t>EU AI Act and internal audit ask for an AI system inventory with owners.</a:t>
            </a:r>
          </a:p>
          <a:p>
            <a:pPr algn="l"/>
            <a:r>
              <a:rPr sz="1200" b="0" i="0">
                <a:solidFill>
                  <a:srgbClr val="53565A"/>
                </a:solidFill>
                <a:latin typeface="Arial"/>
              </a:rPr>
              <a:t>Source: Orrick (third party); EUR-Lex not verified</a:t>
            </a:r>
          </a:p>
        </p:txBody>
      </p:sp>
      <p:sp>
        <p:nvSpPr>
          <p:cNvPr id="11" name="Rounded Rectangle 10"/>
          <p:cNvSpPr/>
          <p:nvPr/>
        </p:nvSpPr>
        <p:spPr>
          <a:xfrm>
            <a:off x="548640" y="4069080"/>
            <a:ext cx="5468112" cy="1691640"/>
          </a:xfrm>
          <a:prstGeom prst="roundRect">
            <a:avLst>
              <a:gd name="adj" fmla="val 432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26EFE9"/>
                </a:solidFill>
                <a:latin typeface="Arial"/>
              </a:rPr>
              <a:t>Who buys</a:t>
            </a:r>
          </a:p>
          <a:p>
            <a:pPr algn="l"/>
            <a:r>
              <a:rPr sz="1900" b="0" i="0">
                <a:solidFill>
                  <a:srgbClr val="FFFFFF"/>
                </a:solidFill>
                <a:latin typeface="Arial"/>
              </a:rPr>
              <a:t>AI platform leader with the CISO delegate and IT service owner; internal audit often triggers the budget.</a:t>
            </a:r>
          </a:p>
        </p:txBody>
      </p:sp>
      <p:sp>
        <p:nvSpPr>
          <p:cNvPr id="12" name="Rounded Rectangle 11"/>
          <p:cNvSpPr/>
          <p:nvPr/>
        </p:nvSpPr>
        <p:spPr>
          <a:xfrm>
            <a:off x="6172200" y="4069080"/>
            <a:ext cx="5468112" cy="1691640"/>
          </a:xfrm>
          <a:prstGeom prst="roundRect">
            <a:avLst>
              <a:gd name="adj" fmla="val 4324"/>
            </a:avLst>
          </a:prstGeom>
          <a:solidFill>
            <a:srgbClr val="DDFBFA"/>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000048"/>
                </a:solidFill>
                <a:latin typeface="Arial"/>
              </a:rPr>
              <a:t>What triggers the purchase</a:t>
            </a:r>
          </a:p>
          <a:p>
            <a:pPr algn="l"/>
            <a:r>
              <a:rPr sz="1900" b="0" i="0">
                <a:solidFill>
                  <a:srgbClr val="1E1E2E"/>
                </a:solidFill>
                <a:latin typeface="Arial"/>
              </a:rPr>
              <a:t>Agent count growing faster than review; an incident or near miss; an audit request for an AI inventory.</a:t>
            </a:r>
          </a:p>
        </p:txBody>
      </p:sp>
      <p:sp>
        <p:nvSpPr>
          <p:cNvPr id="13" name="TextBox 12"/>
          <p:cNvSpPr txBox="1"/>
          <p:nvPr/>
        </p:nvSpPr>
        <p:spPr>
          <a:xfrm>
            <a:off x="548640" y="5870448"/>
            <a:ext cx="11064240" cy="457200"/>
          </a:xfrm>
          <a:prstGeom prst="rect">
            <a:avLst/>
          </a:prstGeom>
          <a:noFill/>
        </p:spPr>
        <p:txBody>
          <a:bodyPr wrap="square" lIns="0" rIns="0" tIns="0" bIns="0" anchor="t">
            <a:noAutofit/>
          </a:bodyPr>
          <a:lstStyle/>
          <a:p>
            <a:pPr algn="l"/>
            <a:r>
              <a:rPr sz="1400" b="0" i="0">
                <a:solidFill>
                  <a:srgbClr val="53565A"/>
                </a:solidFill>
                <a:latin typeface="Arial"/>
              </a:rPr>
              <a:t>No pipeline or customer demand is claimed. Account shortlist and qualification scorecard: appendix Q1.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02 governs agents on the platform 01 builds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4 OF 10</a:t>
            </a:r>
          </a:p>
        </p:txBody>
      </p:sp>
      <p:sp>
        <p:nvSpPr>
          <p:cNvPr id="5" name="Status chip: PROPOSED PORTFOLIO"/>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PORTFOLIO</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sp>
        <p:nvSpPr>
          <p:cNvPr id="8" name="Rounded Rectangle 7"/>
          <p:cNvSpPr/>
          <p:nvPr/>
        </p:nvSpPr>
        <p:spPr>
          <a:xfrm>
            <a:off x="54864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04</a:t>
            </a:r>
          </a:p>
          <a:p>
            <a:pPr algn="l"/>
            <a:r>
              <a:rPr sz="1500" b="1" i="0">
                <a:solidFill>
                  <a:srgbClr val="000048"/>
                </a:solidFill>
                <a:latin typeface="Arial"/>
              </a:rPr>
              <a:t>AI Capacity and FinOps Assessment</a:t>
            </a:r>
          </a:p>
        </p:txBody>
      </p:sp>
      <p:cxnSp>
        <p:nvCxnSpPr>
          <p:cNvPr id="9" name="Connector (flow)"/>
          <p:cNvCxnSpPr/>
          <p:nvPr/>
        </p:nvCxnSpPr>
        <p:spPr>
          <a:xfrm>
            <a:off x="258775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19095"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01</a:t>
            </a:r>
          </a:p>
          <a:p>
            <a:pPr algn="l"/>
            <a:r>
              <a:rPr sz="1500" b="1" i="0">
                <a:solidFill>
                  <a:srgbClr val="000048"/>
                </a:solidFill>
                <a:latin typeface="Arial"/>
              </a:rPr>
              <a:t>AI Platform / Landing Zone</a:t>
            </a:r>
          </a:p>
        </p:txBody>
      </p:sp>
      <p:cxnSp>
        <p:nvCxnSpPr>
          <p:cNvPr id="11" name="Connector (flow)"/>
          <p:cNvCxnSpPr/>
          <p:nvPr/>
        </p:nvCxnSpPr>
        <p:spPr>
          <a:xfrm>
            <a:off x="485820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8955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03</a:t>
            </a:r>
          </a:p>
          <a:p>
            <a:pPr algn="l"/>
            <a:r>
              <a:rPr sz="1500" b="1" i="0">
                <a:solidFill>
                  <a:srgbClr val="000048"/>
                </a:solidFill>
                <a:latin typeface="Arial"/>
              </a:rPr>
              <a:t>AI Gateway Implementation</a:t>
            </a:r>
          </a:p>
        </p:txBody>
      </p:sp>
      <p:cxnSp>
        <p:nvCxnSpPr>
          <p:cNvPr id="13" name="Connector (flow)"/>
          <p:cNvCxnSpPr/>
          <p:nvPr/>
        </p:nvCxnSpPr>
        <p:spPr>
          <a:xfrm>
            <a:off x="712866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60005" y="1298448"/>
            <a:ext cx="2011680" cy="1188720"/>
          </a:xfrm>
          <a:prstGeom prst="roundRect">
            <a:avLst>
              <a:gd name="adj" fmla="val 6153"/>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26EFE9"/>
                </a:solidFill>
                <a:latin typeface="Arial"/>
              </a:rPr>
              <a:t>02  THIS OFFERING</a:t>
            </a:r>
          </a:p>
          <a:p>
            <a:pPr algn="l"/>
            <a:r>
              <a:rPr sz="1500" b="1" i="0">
                <a:solidFill>
                  <a:srgbClr val="FFFFFF"/>
                </a:solidFill>
                <a:latin typeface="Arial"/>
              </a:rPr>
              <a:t>Agent Governance and Operations</a:t>
            </a:r>
          </a:p>
        </p:txBody>
      </p:sp>
      <p:cxnSp>
        <p:nvCxnSpPr>
          <p:cNvPr id="15" name="Connector (flow)"/>
          <p:cNvCxnSpPr/>
          <p:nvPr/>
        </p:nvCxnSpPr>
        <p:spPr>
          <a:xfrm>
            <a:off x="939911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3046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05</a:t>
            </a:r>
          </a:p>
          <a:p>
            <a:pPr algn="l"/>
            <a:r>
              <a:rPr sz="1500" b="1" i="0">
                <a:solidFill>
                  <a:srgbClr val="000048"/>
                </a:solidFill>
                <a:latin typeface="Arial"/>
              </a:rPr>
              <a:t>Managed AI Platform Operations</a:t>
            </a:r>
          </a:p>
        </p:txBody>
      </p:sp>
      <p:cxnSp>
        <p:nvCxnSpPr>
          <p:cNvPr id="17" name="Connector (control)"/>
          <p:cNvCxnSpPr/>
          <p:nvPr/>
        </p:nvCxnSpPr>
        <p:spPr>
          <a:xfrm>
            <a:off x="10636300" y="2487168"/>
            <a:ext cx="0" cy="256032"/>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control)"/>
          <p:cNvCxnSpPr/>
          <p:nvPr/>
        </p:nvCxnSpPr>
        <p:spPr>
          <a:xfrm flipH="1">
            <a:off x="1554480" y="2743200"/>
            <a:ext cx="908182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control)"/>
          <p:cNvCxnSpPr/>
          <p:nvPr/>
        </p:nvCxnSpPr>
        <p:spPr>
          <a:xfrm flipV="1">
            <a:off x="1554480" y="2487168"/>
            <a:ext cx="0" cy="2560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926080" y="2761488"/>
            <a:ext cx="6400800" cy="256032"/>
          </a:xfrm>
          <a:prstGeom prst="rect">
            <a:avLst/>
          </a:prstGeom>
          <a:noFill/>
        </p:spPr>
        <p:txBody>
          <a:bodyPr wrap="square" lIns="0" rIns="0" tIns="0" bIns="0" anchor="t">
            <a:noAutofit/>
          </a:bodyPr>
          <a:lstStyle/>
          <a:p>
            <a:pPr algn="ctr"/>
            <a:r>
              <a:rPr sz="1200" b="0" i="0">
                <a:solidFill>
                  <a:srgbClr val="6363C9"/>
                </a:solidFill>
                <a:latin typeface="Arial"/>
              </a:rPr>
              <a:t>Monthly operations evidence feeds the next capacity and cost decision</a:t>
            </a:r>
          </a:p>
        </p:txBody>
      </p:sp>
      <p:sp>
        <p:nvSpPr>
          <p:cNvPr id="21" name="TextBox 20"/>
          <p:cNvSpPr txBox="1"/>
          <p:nvPr/>
        </p:nvSpPr>
        <p:spPr>
          <a:xfrm>
            <a:off x="548640" y="3090672"/>
            <a:ext cx="11064240" cy="292608"/>
          </a:xfrm>
          <a:prstGeom prst="rect">
            <a:avLst/>
          </a:prstGeom>
          <a:noFill/>
        </p:spPr>
        <p:txBody>
          <a:bodyPr wrap="square" lIns="0" rIns="0" tIns="0" bIns="0" anchor="t">
            <a:noAutofit/>
          </a:bodyPr>
          <a:lstStyle/>
          <a:p>
            <a:pPr algn="l"/>
            <a:r>
              <a:rPr sz="1500" b="1" i="0">
                <a:solidFill>
                  <a:srgbClr val="000048"/>
                </a:solidFill>
                <a:latin typeface="Arial"/>
              </a:rPr>
              <a:t>Microsoft ecosystem around the portfolio</a:t>
            </a:r>
          </a:p>
        </p:txBody>
      </p:sp>
      <p:sp>
        <p:nvSpPr>
          <p:cNvPr id="22" name="Rounded Rectangle 21"/>
          <p:cNvSpPr/>
          <p:nvPr/>
        </p:nvSpPr>
        <p:spPr>
          <a:xfrm>
            <a:off x="548640" y="3438144"/>
            <a:ext cx="2681478" cy="1051560"/>
          </a:xfrm>
          <a:prstGeom prst="roundRect">
            <a:avLst>
              <a:gd name="adj" fmla="val 6956"/>
            </a:avLst>
          </a:prstGeom>
          <a:solidFill>
            <a:srgbClr val="F1EFFA"/>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3" name="TextBox 22"/>
          <p:cNvSpPr txBox="1"/>
          <p:nvPr/>
        </p:nvSpPr>
        <p:spPr>
          <a:xfrm>
            <a:off x="704088"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M365 Copilot</a:t>
            </a:r>
          </a:p>
        </p:txBody>
      </p:sp>
      <p:sp>
        <p:nvSpPr>
          <p:cNvPr id="24" name="TextBox 23"/>
          <p:cNvSpPr txBox="1"/>
          <p:nvPr/>
        </p:nvSpPr>
        <p:spPr>
          <a:xfrm>
            <a:off x="704088"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Owned by Cognizant M365 and D365 teams; CIS Infra supplies readiness</a:t>
            </a:r>
          </a:p>
        </p:txBody>
      </p:sp>
      <p:sp>
        <p:nvSpPr>
          <p:cNvPr id="25" name="Status chip: HANDOFF"/>
          <p:cNvSpPr/>
          <p:nvPr/>
        </p:nvSpPr>
        <p:spPr>
          <a:xfrm>
            <a:off x="704088" y="4187952"/>
            <a:ext cx="818388" cy="237744"/>
          </a:xfrm>
          <a:prstGeom prst="roundRect">
            <a:avLst>
              <a:gd name="adj" fmla="val 30769"/>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53565A"/>
                </a:solidFill>
                <a:latin typeface="Arial"/>
              </a:rPr>
              <a:t>HANDOFF</a:t>
            </a:r>
          </a:p>
        </p:txBody>
      </p:sp>
      <p:sp>
        <p:nvSpPr>
          <p:cNvPr id="26" name="Rounded Rectangle 25"/>
          <p:cNvSpPr/>
          <p:nvPr/>
        </p:nvSpPr>
        <p:spPr>
          <a:xfrm>
            <a:off x="3367278"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7" name="TextBox 26"/>
          <p:cNvSpPr txBox="1"/>
          <p:nvPr/>
        </p:nvSpPr>
        <p:spPr>
          <a:xfrm>
            <a:off x="3477006"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Copilot Studio</a:t>
            </a:r>
          </a:p>
        </p:txBody>
      </p:sp>
      <p:sp>
        <p:nvSpPr>
          <p:cNvPr id="28" name="TextBox 27"/>
          <p:cNvSpPr txBox="1"/>
          <p:nvPr/>
        </p:nvSpPr>
        <p:spPr>
          <a:xfrm>
            <a:off x="3477006"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Agents covered as a runtime in offerings 02 to 05</a:t>
            </a:r>
          </a:p>
        </p:txBody>
      </p:sp>
      <p:sp>
        <p:nvSpPr>
          <p:cNvPr id="29" name="Status chip: COVERED RUNTIME"/>
          <p:cNvSpPr/>
          <p:nvPr/>
        </p:nvSpPr>
        <p:spPr>
          <a:xfrm>
            <a:off x="3477006"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COVERED RUNTIME</a:t>
            </a:r>
          </a:p>
        </p:txBody>
      </p:sp>
      <p:sp>
        <p:nvSpPr>
          <p:cNvPr id="30" name="Rounded Rectangle 29"/>
          <p:cNvSpPr/>
          <p:nvPr/>
        </p:nvSpPr>
        <p:spPr>
          <a:xfrm>
            <a:off x="6140196"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31" name="TextBox 30"/>
          <p:cNvSpPr txBox="1"/>
          <p:nvPr/>
        </p:nvSpPr>
        <p:spPr>
          <a:xfrm>
            <a:off x="6249924"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Agent 365</a:t>
            </a:r>
          </a:p>
        </p:txBody>
      </p:sp>
      <p:sp>
        <p:nvSpPr>
          <p:cNvPr id="32" name="TextBox 31"/>
          <p:cNvSpPr txBox="1"/>
          <p:nvPr/>
        </p:nvSpPr>
        <p:spPr>
          <a:xfrm>
            <a:off x="6249924"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Microsoft agent control plane; configure before any custom build</a:t>
            </a:r>
          </a:p>
        </p:txBody>
      </p:sp>
      <p:sp>
        <p:nvSpPr>
          <p:cNvPr id="33" name="Status chip: CONFIGURE FIRST"/>
          <p:cNvSpPr/>
          <p:nvPr/>
        </p:nvSpPr>
        <p:spPr>
          <a:xfrm>
            <a:off x="6249924"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CONFIGURE FIRST</a:t>
            </a:r>
          </a:p>
        </p:txBody>
      </p:sp>
      <p:sp>
        <p:nvSpPr>
          <p:cNvPr id="34" name="Rounded Rectangle 33"/>
          <p:cNvSpPr/>
          <p:nvPr/>
        </p:nvSpPr>
        <p:spPr>
          <a:xfrm>
            <a:off x="8913114"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5" name="Azure icon: API Center" descr="Official Azure icon: API Cente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22842" y="3520439"/>
            <a:ext cx="274320" cy="274320"/>
          </a:xfrm>
          <a:prstGeom prst="rect">
            <a:avLst/>
          </a:prstGeom>
        </p:spPr>
      </p:pic>
      <p:sp>
        <p:nvSpPr>
          <p:cNvPr id="36" name="TextBox 35"/>
          <p:cNvSpPr txBox="1"/>
          <p:nvPr/>
        </p:nvSpPr>
        <p:spPr>
          <a:xfrm>
            <a:off x="9352026" y="3502152"/>
            <a:ext cx="2013966" cy="274320"/>
          </a:xfrm>
          <a:prstGeom prst="rect">
            <a:avLst/>
          </a:prstGeom>
          <a:noFill/>
        </p:spPr>
        <p:txBody>
          <a:bodyPr wrap="square" lIns="0" rIns="0" tIns="0" bIns="0" anchor="t">
            <a:noAutofit/>
          </a:bodyPr>
          <a:lstStyle/>
          <a:p>
            <a:pPr algn="l"/>
            <a:r>
              <a:rPr sz="1400" b="1" i="0">
                <a:solidFill>
                  <a:srgbClr val="000048"/>
                </a:solidFill>
                <a:latin typeface="Arial"/>
              </a:rPr>
              <a:t>API Center</a:t>
            </a:r>
          </a:p>
        </p:txBody>
      </p:sp>
      <p:sp>
        <p:nvSpPr>
          <p:cNvPr id="37" name="TextBox 36"/>
          <p:cNvSpPr txBox="1"/>
          <p:nvPr/>
        </p:nvSpPr>
        <p:spPr>
          <a:xfrm>
            <a:off x="9022842"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Registry for APIs and MCP tools, beside API Management</a:t>
            </a:r>
          </a:p>
        </p:txBody>
      </p:sp>
      <p:sp>
        <p:nvSpPr>
          <p:cNvPr id="38" name="Status chip: CIS INFRA BUILDS"/>
          <p:cNvSpPr/>
          <p:nvPr/>
        </p:nvSpPr>
        <p:spPr>
          <a:xfrm>
            <a:off x="9022842" y="4187952"/>
            <a:ext cx="1517904"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CIS INFRA BUILDS</a:t>
            </a:r>
          </a:p>
        </p:txBody>
      </p:sp>
      <p:sp>
        <p:nvSpPr>
          <p:cNvPr id="39" name="Rounded Rectangle 38"/>
          <p:cNvSpPr/>
          <p:nvPr/>
        </p:nvSpPr>
        <p:spPr>
          <a:xfrm>
            <a:off x="5486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Receives from 01 Landing Zone</a:t>
            </a:r>
          </a:p>
          <a:p>
            <a:pPr algn="l"/>
            <a:r>
              <a:rPr sz="1600" b="0" i="0">
                <a:solidFill>
                  <a:srgbClr val="1E1E2E"/>
                </a:solidFill>
                <a:latin typeface="Arial"/>
              </a:rPr>
              <a:t>Identities, private network, telemetry</a:t>
            </a:r>
          </a:p>
        </p:txBody>
      </p:sp>
      <p:sp>
        <p:nvSpPr>
          <p:cNvPr id="40" name="Rounded Rectangle 39"/>
          <p:cNvSpPr/>
          <p:nvPr/>
        </p:nvSpPr>
        <p:spPr>
          <a:xfrm>
            <a:off x="4319016"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Receives from 03 Gateway</a:t>
            </a:r>
          </a:p>
          <a:p>
            <a:pPr algn="l"/>
            <a:r>
              <a:rPr sz="1600" b="0" i="0">
                <a:solidFill>
                  <a:srgbClr val="1E1E2E"/>
                </a:solidFill>
                <a:latin typeface="Arial"/>
              </a:rPr>
              <a:t>Enforcement points, per-agent token metrics</a:t>
            </a:r>
          </a:p>
        </p:txBody>
      </p:sp>
      <p:sp>
        <p:nvSpPr>
          <p:cNvPr id="41" name="Rounded Rectangle 40"/>
          <p:cNvSpPr/>
          <p:nvPr/>
        </p:nvSpPr>
        <p:spPr>
          <a:xfrm>
            <a:off x="80162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Hands to 05 Managed Operations</a:t>
            </a:r>
          </a:p>
          <a:p>
            <a:pPr algn="l"/>
            <a:r>
              <a:rPr sz="1600" b="0" i="0">
                <a:solidFill>
                  <a:srgbClr val="1E1E2E"/>
                </a:solidFill>
                <a:latin typeface="Arial"/>
              </a:rPr>
              <a:t>Catalogue, reviews, containment runbooks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We configure and integrate; Security owns the policy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5 OF 10</a:t>
            </a:r>
          </a:p>
        </p:txBody>
      </p:sp>
      <p:sp>
        <p:nvSpPr>
          <p:cNvPr id="5" name="Status chip: PROPOSED SCOPE"/>
          <p:cNvSpPr/>
          <p:nvPr/>
        </p:nvSpPr>
        <p:spPr>
          <a:xfrm>
            <a:off x="365887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SCOPE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8" name="Rounded Rectangle 7"/>
          <p:cNvSpPr/>
          <p:nvPr/>
        </p:nvSpPr>
        <p:spPr>
          <a:xfrm>
            <a:off x="548640" y="1371600"/>
            <a:ext cx="3593592" cy="566928"/>
          </a:xfrm>
          <a:prstGeom prst="roundRect">
            <a:avLst>
              <a:gd name="adj" fmla="val 1290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Included: CIS Infra delivers</a:t>
            </a:r>
          </a:p>
        </p:txBody>
      </p:sp>
      <p:sp>
        <p:nvSpPr>
          <p:cNvPr id="9" name="Rounded Rectangle 8"/>
          <p:cNvSpPr/>
          <p:nvPr/>
        </p:nvSpPr>
        <p:spPr>
          <a:xfrm>
            <a:off x="548640" y="1984248"/>
            <a:ext cx="3593592" cy="3611880"/>
          </a:xfrm>
          <a:prstGeom prst="roundRect">
            <a:avLst>
              <a:gd name="adj" fmla="val 203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Agent 365 and Foundry setup to Security design</a:t>
            </a:r>
          </a:p>
          <a:p>
            <a:pPr algn="l" marL="201168" indent="-201168">
              <a:spcAft>
                <a:spcPts val="800"/>
              </a:spcAft>
              <a:buFont typeface="Arial"/>
              <a:buChar char="•"/>
            </a:pPr>
            <a:r>
              <a:rPr sz="1800" b="0" i="0">
                <a:solidFill>
                  <a:srgbClr val="1E1E2E"/>
                </a:solidFill>
                <a:latin typeface="Arial"/>
              </a:rPr>
              <a:t>Entra agent identity plumbing</a:t>
            </a:r>
          </a:p>
          <a:p>
            <a:pPr algn="l" marL="201168" indent="-201168">
              <a:spcAft>
                <a:spcPts val="800"/>
              </a:spcAft>
              <a:buFont typeface="Arial"/>
              <a:buChar char="•"/>
            </a:pPr>
            <a:r>
              <a:rPr sz="1800" b="0" i="0">
                <a:solidFill>
                  <a:srgbClr val="1E1E2E"/>
                </a:solidFill>
                <a:latin typeface="Arial"/>
              </a:rPr>
              <a:t>Usage evidence and reconciliation</a:t>
            </a:r>
          </a:p>
          <a:p>
            <a:pPr algn="l" marL="201168" indent="-201168">
              <a:spcAft>
                <a:spcPts val="800"/>
              </a:spcAft>
              <a:buFont typeface="Arial"/>
              <a:buChar char="•"/>
            </a:pPr>
            <a:r>
              <a:rPr sz="1800" b="0" i="0">
                <a:solidFill>
                  <a:srgbClr val="1E1E2E"/>
                </a:solidFill>
                <a:latin typeface="Arial"/>
              </a:rPr>
              <a:t>Runbooks and review drills</a:t>
            </a:r>
          </a:p>
        </p:txBody>
      </p:sp>
      <p:sp>
        <p:nvSpPr>
          <p:cNvPr id="10" name="Rounded Rectangle 9"/>
          <p:cNvSpPr/>
          <p:nvPr/>
        </p:nvSpPr>
        <p:spPr>
          <a:xfrm>
            <a:off x="4297679" y="1371600"/>
            <a:ext cx="3593592" cy="566928"/>
          </a:xfrm>
          <a:prstGeom prst="roundRect">
            <a:avLst>
              <a:gd name="adj" fmla="val 12903"/>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Optional: priced separately</a:t>
            </a:r>
          </a:p>
        </p:txBody>
      </p:sp>
      <p:sp>
        <p:nvSpPr>
          <p:cNvPr id="11" name="Rounded Rectangle 10"/>
          <p:cNvSpPr/>
          <p:nvPr/>
        </p:nvSpPr>
        <p:spPr>
          <a:xfrm>
            <a:off x="4297679" y="1984248"/>
            <a:ext cx="3593592" cy="361188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Stop-path pilot, then containment build</a:t>
            </a:r>
          </a:p>
          <a:p>
            <a:pPr algn="l" marL="201168" indent="-201168">
              <a:spcAft>
                <a:spcPts val="800"/>
              </a:spcAft>
              <a:buFont typeface="Arial"/>
              <a:buChar char="•"/>
            </a:pPr>
            <a:r>
              <a:rPr sz="1800" b="0" i="0">
                <a:solidFill>
                  <a:srgbClr val="1E1E2E"/>
                </a:solidFill>
                <a:latin typeface="Arial"/>
              </a:rPr>
              <a:t>More runtimes or clouds</a:t>
            </a:r>
          </a:p>
          <a:p>
            <a:pPr algn="l" marL="201168" indent="-201168">
              <a:spcAft>
                <a:spcPts val="800"/>
              </a:spcAft>
              <a:buFont typeface="Arial"/>
              <a:buChar char="•"/>
            </a:pPr>
            <a:r>
              <a:rPr sz="1800" b="0" i="0">
                <a:solidFill>
                  <a:srgbClr val="1E1E2E"/>
                </a:solidFill>
                <a:latin typeface="Arial"/>
              </a:rPr>
              <a:t>Gateway enforcement (03)</a:t>
            </a:r>
          </a:p>
          <a:p>
            <a:pPr algn="l" marL="201168" indent="-201168">
              <a:spcAft>
                <a:spcPts val="800"/>
              </a:spcAft>
              <a:buFont typeface="Arial"/>
              <a:buChar char="•"/>
            </a:pPr>
            <a:r>
              <a:rPr sz="1800" b="0" i="0">
                <a:solidFill>
                  <a:srgbClr val="1E1E2E"/>
                </a:solidFill>
                <a:latin typeface="Arial"/>
              </a:rPr>
              <a:t>Operation (offering 05)</a:t>
            </a:r>
          </a:p>
          <a:p>
            <a:pPr algn="l" marL="201168" indent="-201168">
              <a:spcAft>
                <a:spcPts val="800"/>
              </a:spcAft>
              <a:buFont typeface="Arial"/>
              <a:buChar char="•"/>
            </a:pPr>
            <a:r>
              <a:rPr sz="1800" b="0" i="0">
                <a:solidFill>
                  <a:srgbClr val="1E1E2E"/>
                </a:solidFill>
                <a:latin typeface="Arial"/>
              </a:rPr>
              <a:t>Licence advisory (offering 04)</a:t>
            </a:r>
          </a:p>
        </p:txBody>
      </p:sp>
      <p:sp>
        <p:nvSpPr>
          <p:cNvPr id="12" name="Rounded Rectangle 11"/>
          <p:cNvSpPr/>
          <p:nvPr/>
        </p:nvSpPr>
        <p:spPr>
          <a:xfrm>
            <a:off x="8046719" y="1371600"/>
            <a:ext cx="3593592" cy="566928"/>
          </a:xfrm>
          <a:prstGeom prst="roundRect">
            <a:avLst>
              <a:gd name="adj" fmla="val 12903"/>
            </a:avLst>
          </a:prstGeom>
          <a:solidFill>
            <a:srgbClr val="53565A"/>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Other owners</a:t>
            </a:r>
          </a:p>
        </p:txBody>
      </p:sp>
      <p:sp>
        <p:nvSpPr>
          <p:cNvPr id="13" name="Rounded Rectangle 12"/>
          <p:cNvSpPr/>
          <p:nvPr/>
        </p:nvSpPr>
        <p:spPr>
          <a:xfrm>
            <a:off x="8046719" y="1984248"/>
            <a:ext cx="3593592" cy="361188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AI: runtime limits, evaluations</a:t>
            </a:r>
          </a:p>
          <a:p>
            <a:pPr algn="l" marL="201168" indent="-201168">
              <a:spcAft>
                <a:spcPts val="800"/>
              </a:spcAft>
              <a:buFont typeface="Arial"/>
              <a:buChar char="•"/>
            </a:pPr>
            <a:r>
              <a:rPr sz="1800" b="0" i="0">
                <a:solidFill>
                  <a:srgbClr val="1E1E2E"/>
                </a:solidFill>
                <a:latin typeface="Arial"/>
              </a:rPr>
              <a:t>Security: policy, authority</a:t>
            </a:r>
          </a:p>
          <a:p>
            <a:pPr algn="l" marL="201168" indent="-201168">
              <a:spcAft>
                <a:spcPts val="800"/>
              </a:spcAft>
              <a:buFont typeface="Arial"/>
              <a:buChar char="•"/>
            </a:pPr>
            <a:r>
              <a:rPr sz="1800" b="0" i="0">
                <a:solidFill>
                  <a:srgbClr val="1E1E2E"/>
                </a:solidFill>
                <a:latin typeface="Arial"/>
              </a:rPr>
              <a:t>Power Platform: Copilot Studio admin</a:t>
            </a:r>
          </a:p>
          <a:p>
            <a:pPr algn="l" marL="201168" indent="-201168">
              <a:spcAft>
                <a:spcPts val="800"/>
              </a:spcAft>
              <a:buFont typeface="Arial"/>
              <a:buChar char="•"/>
            </a:pPr>
            <a:r>
              <a:rPr sz="1800" b="0" i="0">
                <a:solidFill>
                  <a:srgbClr val="1E1E2E"/>
                </a:solidFill>
                <a:latin typeface="Arial"/>
              </a:rPr>
              <a:t>DevOps: deployment registration</a:t>
            </a:r>
          </a:p>
          <a:p>
            <a:pPr algn="l" marL="201168" indent="-201168">
              <a:spcAft>
                <a:spcPts val="800"/>
              </a:spcAft>
              <a:buFont typeface="Arial"/>
              <a:buChar char="•"/>
            </a:pPr>
            <a:r>
              <a:rPr sz="1800" b="0" i="0">
                <a:solidFill>
                  <a:srgbClr val="1E1E2E"/>
                </a:solidFill>
                <a:latin typeface="Arial"/>
              </a:rPr>
              <a:t>Customer: restart approval</a:t>
            </a:r>
          </a:p>
        </p:txBody>
      </p:sp>
      <p:sp>
        <p:nvSpPr>
          <p:cNvPr id="14" name="Rounded Rectangle 13"/>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Agents outside supported platforms and licences stay invisible until registered and instrumented.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Microsoft control plane first; we build only the gaps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sp>
        <p:nvSpPr>
          <p:cNvPr id="8" name="Rounded Rectangle 7"/>
          <p:cNvSpPr/>
          <p:nvPr/>
        </p:nvSpPr>
        <p:spPr>
          <a:xfrm>
            <a:off x="411480" y="1325880"/>
            <a:ext cx="11384280" cy="1325880"/>
          </a:xfrm>
          <a:prstGeom prst="roundRect">
            <a:avLst>
              <a:gd name="adj" fmla="val 6896"/>
            </a:avLst>
          </a:prstGeom>
          <a:solidFill>
            <a:srgbClr val="F6F5FD"/>
          </a:solidFill>
          <a:ln w="15875">
            <a:solidFill>
              <a:srgbClr val="7373D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21208" y="1380744"/>
            <a:ext cx="11164824" cy="237744"/>
          </a:xfrm>
          <a:prstGeom prst="rect">
            <a:avLst/>
          </a:prstGeom>
          <a:noFill/>
        </p:spPr>
        <p:txBody>
          <a:bodyPr wrap="square" lIns="0" rIns="0" tIns="0" bIns="0" anchor="t">
            <a:noAutofit/>
          </a:bodyPr>
          <a:lstStyle/>
          <a:p>
            <a:pPr algn="l"/>
            <a:r>
              <a:rPr sz="1200" b="1" i="0">
                <a:solidFill>
                  <a:srgbClr val="4B4BA8"/>
                </a:solidFill>
                <a:latin typeface="Arial"/>
              </a:rPr>
              <a:t>LAYER 3: CIS INFRA CUSTOM GAP LAYER</a:t>
            </a:r>
          </a:p>
        </p:txBody>
      </p:sp>
      <p:sp>
        <p:nvSpPr>
          <p:cNvPr id="10" name="Rounded Rectangle 9"/>
          <p:cNvSpPr/>
          <p:nvPr/>
        </p:nvSpPr>
        <p:spPr>
          <a:xfrm>
            <a:off x="548640" y="1691640"/>
            <a:ext cx="2651760" cy="777240"/>
          </a:xfrm>
          <a:prstGeom prst="roundRect">
            <a:avLst>
              <a:gd name="adj" fmla="val 9411"/>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1" name="Azure icon: Function App" descr="Official Azure icon: Function App"/>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888236"/>
            <a:ext cx="384048" cy="384048"/>
          </a:xfrm>
          <a:prstGeom prst="rect">
            <a:avLst/>
          </a:prstGeom>
        </p:spPr>
      </p:pic>
      <p:sp>
        <p:nvSpPr>
          <p:cNvPr id="12" name="TextBox 11"/>
          <p:cNvSpPr txBox="1"/>
          <p:nvPr/>
        </p:nvSpPr>
        <p:spPr>
          <a:xfrm>
            <a:off x="1078992" y="1728216"/>
            <a:ext cx="2084831" cy="704088"/>
          </a:xfrm>
          <a:prstGeom prst="rect">
            <a:avLst/>
          </a:prstGeom>
          <a:noFill/>
        </p:spPr>
        <p:txBody>
          <a:bodyPr wrap="square" lIns="0" rIns="0" tIns="0" bIns="0" anchor="ctr">
            <a:noAutofit/>
          </a:bodyPr>
          <a:lstStyle/>
          <a:p>
            <a:pPr algn="l"/>
            <a:r>
              <a:rPr sz="1400" b="1" i="0">
                <a:solidFill>
                  <a:srgbClr val="000048"/>
                </a:solidFill>
                <a:latin typeface="Arial"/>
              </a:rPr>
              <a:t>Reconciliation</a:t>
            </a:r>
          </a:p>
          <a:p>
            <a:pPr algn="l"/>
            <a:r>
              <a:rPr sz="1200" b="0" i="0">
                <a:solidFill>
                  <a:srgbClr val="53565A"/>
                </a:solidFill>
                <a:latin typeface="Arial"/>
              </a:rPr>
              <a:t>joins inventory to usage</a:t>
            </a:r>
          </a:p>
        </p:txBody>
      </p:sp>
      <p:sp>
        <p:nvSpPr>
          <p:cNvPr id="13" name="Rounded Rectangle 12"/>
          <p:cNvSpPr/>
          <p:nvPr/>
        </p:nvSpPr>
        <p:spPr>
          <a:xfrm>
            <a:off x="3355848" y="1691640"/>
            <a:ext cx="2651760" cy="777240"/>
          </a:xfrm>
          <a:prstGeom prst="roundRect">
            <a:avLst>
              <a:gd name="adj" fmla="val 9411"/>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zure Cosmos DB" descr="Official Azure icon: Azure Cosmos DB"/>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429000" y="1888236"/>
            <a:ext cx="384048" cy="384048"/>
          </a:xfrm>
          <a:prstGeom prst="rect">
            <a:avLst/>
          </a:prstGeom>
        </p:spPr>
      </p:pic>
      <p:sp>
        <p:nvSpPr>
          <p:cNvPr id="15" name="TextBox 14"/>
          <p:cNvSpPr txBox="1"/>
          <p:nvPr/>
        </p:nvSpPr>
        <p:spPr>
          <a:xfrm>
            <a:off x="3886200" y="1728216"/>
            <a:ext cx="2084831" cy="704088"/>
          </a:xfrm>
          <a:prstGeom prst="rect">
            <a:avLst/>
          </a:prstGeom>
          <a:noFill/>
        </p:spPr>
        <p:txBody>
          <a:bodyPr wrap="square" lIns="0" rIns="0" tIns="0" bIns="0" anchor="ctr">
            <a:noAutofit/>
          </a:bodyPr>
          <a:lstStyle/>
          <a:p>
            <a:pPr algn="l"/>
            <a:r>
              <a:rPr sz="1400" b="1" i="0">
                <a:solidFill>
                  <a:srgbClr val="000048"/>
                </a:solidFill>
                <a:latin typeface="Arial"/>
              </a:rPr>
              <a:t>Usage catalogue</a:t>
            </a:r>
          </a:p>
          <a:p>
            <a:pPr algn="l"/>
            <a:r>
              <a:rPr sz="1200" b="0" i="0">
                <a:solidFill>
                  <a:srgbClr val="53565A"/>
                </a:solidFill>
                <a:latin typeface="Arial"/>
              </a:rPr>
              <a:t>status, owner, risk</a:t>
            </a:r>
          </a:p>
        </p:txBody>
      </p:sp>
      <p:sp>
        <p:nvSpPr>
          <p:cNvPr id="16" name="Rounded Rectangle 15"/>
          <p:cNvSpPr/>
          <p:nvPr/>
        </p:nvSpPr>
        <p:spPr>
          <a:xfrm>
            <a:off x="6163055" y="1691640"/>
            <a:ext cx="2651760" cy="777240"/>
          </a:xfrm>
          <a:prstGeom prst="roundRect">
            <a:avLst>
              <a:gd name="adj" fmla="val 9411"/>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Azure Workbooks" descr="Official Azure icon: Azure Workbook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36207" y="1888236"/>
            <a:ext cx="384048" cy="384048"/>
          </a:xfrm>
          <a:prstGeom prst="rect">
            <a:avLst/>
          </a:prstGeom>
        </p:spPr>
      </p:pic>
      <p:sp>
        <p:nvSpPr>
          <p:cNvPr id="18" name="TextBox 17"/>
          <p:cNvSpPr txBox="1"/>
          <p:nvPr/>
        </p:nvSpPr>
        <p:spPr>
          <a:xfrm>
            <a:off x="6693407" y="1728216"/>
            <a:ext cx="2084831" cy="704088"/>
          </a:xfrm>
          <a:prstGeom prst="rect">
            <a:avLst/>
          </a:prstGeom>
          <a:noFill/>
        </p:spPr>
        <p:txBody>
          <a:bodyPr wrap="square" lIns="0" rIns="0" tIns="0" bIns="0" anchor="ctr">
            <a:noAutofit/>
          </a:bodyPr>
          <a:lstStyle/>
          <a:p>
            <a:pPr algn="l"/>
            <a:r>
              <a:rPr sz="1400" b="1" i="0">
                <a:solidFill>
                  <a:srgbClr val="000048"/>
                </a:solidFill>
                <a:latin typeface="Arial"/>
              </a:rPr>
              <a:t>Workbook views</a:t>
            </a:r>
          </a:p>
          <a:p>
            <a:pPr algn="l"/>
            <a:r>
              <a:rPr sz="1200" b="0" i="0">
                <a:solidFill>
                  <a:srgbClr val="53565A"/>
                </a:solidFill>
                <a:latin typeface="Arial"/>
              </a:rPr>
              <a:t>reviews and queues</a:t>
            </a:r>
          </a:p>
        </p:txBody>
      </p:sp>
      <p:sp>
        <p:nvSpPr>
          <p:cNvPr id="19" name="Rounded Rectangle 18"/>
          <p:cNvSpPr/>
          <p:nvPr/>
        </p:nvSpPr>
        <p:spPr>
          <a:xfrm>
            <a:off x="8970263" y="1691640"/>
            <a:ext cx="2651760" cy="777240"/>
          </a:xfrm>
          <a:prstGeom prst="roundRect">
            <a:avLst>
              <a:gd name="adj" fmla="val 9411"/>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0" name="Azure icon: Function App" descr="Official Azure icon: Function App"/>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43415" y="1888236"/>
            <a:ext cx="384048" cy="384048"/>
          </a:xfrm>
          <a:prstGeom prst="rect">
            <a:avLst/>
          </a:prstGeom>
        </p:spPr>
      </p:pic>
      <p:sp>
        <p:nvSpPr>
          <p:cNvPr id="21" name="TextBox 20"/>
          <p:cNvSpPr txBox="1"/>
          <p:nvPr/>
        </p:nvSpPr>
        <p:spPr>
          <a:xfrm>
            <a:off x="9500615" y="1728216"/>
            <a:ext cx="2084831" cy="704088"/>
          </a:xfrm>
          <a:prstGeom prst="rect">
            <a:avLst/>
          </a:prstGeom>
          <a:noFill/>
        </p:spPr>
        <p:txBody>
          <a:bodyPr wrap="square" lIns="0" rIns="0" tIns="0" bIns="0" anchor="ctr">
            <a:noAutofit/>
          </a:bodyPr>
          <a:lstStyle/>
          <a:p>
            <a:pPr algn="l"/>
            <a:r>
              <a:rPr sz="1400" b="1" i="0">
                <a:solidFill>
                  <a:srgbClr val="000048"/>
                </a:solidFill>
                <a:latin typeface="Arial"/>
              </a:rPr>
              <a:t>Containment orchestrator</a:t>
            </a:r>
          </a:p>
          <a:p>
            <a:pPr algn="l"/>
            <a:r>
              <a:rPr sz="1200" b="0" i="0">
                <a:solidFill>
                  <a:srgbClr val="53565A"/>
                </a:solidFill>
                <a:latin typeface="Arial"/>
              </a:rPr>
              <a:t>block, cancel, deny, verify</a:t>
            </a:r>
          </a:p>
        </p:txBody>
      </p:sp>
      <p:sp>
        <p:nvSpPr>
          <p:cNvPr id="22" name="Rounded Rectangle 21"/>
          <p:cNvSpPr/>
          <p:nvPr/>
        </p:nvSpPr>
        <p:spPr>
          <a:xfrm>
            <a:off x="411480" y="2788920"/>
            <a:ext cx="11384280" cy="1325880"/>
          </a:xfrm>
          <a:prstGeom prst="roundRect">
            <a:avLst>
              <a:gd name="adj" fmla="val 6896"/>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1208" y="2843784"/>
            <a:ext cx="11164824" cy="237744"/>
          </a:xfrm>
          <a:prstGeom prst="rect">
            <a:avLst/>
          </a:prstGeom>
          <a:noFill/>
        </p:spPr>
        <p:txBody>
          <a:bodyPr wrap="square" lIns="0" rIns="0" tIns="0" bIns="0" anchor="t">
            <a:noAutofit/>
          </a:bodyPr>
          <a:lstStyle/>
          <a:p>
            <a:pPr algn="l"/>
            <a:r>
              <a:rPr sz="1200" b="1" i="0">
                <a:solidFill>
                  <a:srgbClr val="000048"/>
                </a:solidFill>
                <a:latin typeface="Arial"/>
              </a:rPr>
              <a:t>LAYER 2: RUNTIME EVIDENCE (NATIVE SERVICES)</a:t>
            </a:r>
          </a:p>
        </p:txBody>
      </p:sp>
      <p:pic>
        <p:nvPicPr>
          <p:cNvPr id="24" name="Azure icon: Application Insights" descr="Official Azure icon: Application Insigh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 y="3351276"/>
            <a:ext cx="384048" cy="384048"/>
          </a:xfrm>
          <a:prstGeom prst="rect">
            <a:avLst/>
          </a:prstGeom>
        </p:spPr>
      </p:pic>
      <p:sp>
        <p:nvSpPr>
          <p:cNvPr id="25" name="TextBox 24"/>
          <p:cNvSpPr txBox="1"/>
          <p:nvPr/>
        </p:nvSpPr>
        <p:spPr>
          <a:xfrm>
            <a:off x="1078992" y="3191256"/>
            <a:ext cx="2084831" cy="704088"/>
          </a:xfrm>
          <a:prstGeom prst="rect">
            <a:avLst/>
          </a:prstGeom>
          <a:noFill/>
        </p:spPr>
        <p:txBody>
          <a:bodyPr wrap="square" lIns="0" rIns="0" tIns="0" bIns="0" anchor="ctr">
            <a:noAutofit/>
          </a:bodyPr>
          <a:lstStyle/>
          <a:p>
            <a:pPr algn="l"/>
            <a:r>
              <a:rPr sz="1400" b="1" i="0">
                <a:solidFill>
                  <a:srgbClr val="000048"/>
                </a:solidFill>
                <a:latin typeface="Arial"/>
              </a:rPr>
              <a:t>Application Insights</a:t>
            </a:r>
          </a:p>
          <a:p>
            <a:pPr algn="l"/>
            <a:r>
              <a:rPr sz="1200" b="0" i="0">
                <a:solidFill>
                  <a:srgbClr val="53565A"/>
                </a:solidFill>
                <a:latin typeface="Arial"/>
              </a:rPr>
              <a:t>runs, traces, tokens</a:t>
            </a:r>
          </a:p>
        </p:txBody>
      </p:sp>
      <p:pic>
        <p:nvPicPr>
          <p:cNvPr id="26" name="Azure icon: Log Analytics workspace" descr="Official Azure icon: Log Analytics workspace"/>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429000" y="3351276"/>
            <a:ext cx="384048" cy="384048"/>
          </a:xfrm>
          <a:prstGeom prst="rect">
            <a:avLst/>
          </a:prstGeom>
        </p:spPr>
      </p:pic>
      <p:sp>
        <p:nvSpPr>
          <p:cNvPr id="27" name="TextBox 26"/>
          <p:cNvSpPr txBox="1"/>
          <p:nvPr/>
        </p:nvSpPr>
        <p:spPr>
          <a:xfrm>
            <a:off x="3886200" y="3191256"/>
            <a:ext cx="2084831" cy="704088"/>
          </a:xfrm>
          <a:prstGeom prst="rect">
            <a:avLst/>
          </a:prstGeom>
          <a:noFill/>
        </p:spPr>
        <p:txBody>
          <a:bodyPr wrap="square" lIns="0" rIns="0" tIns="0" bIns="0" anchor="ctr">
            <a:noAutofit/>
          </a:bodyPr>
          <a:lstStyle/>
          <a:p>
            <a:pPr algn="l"/>
            <a:r>
              <a:rPr sz="1400" b="1" i="0">
                <a:solidFill>
                  <a:srgbClr val="000048"/>
                </a:solidFill>
                <a:latin typeface="Arial"/>
              </a:rPr>
              <a:t>Log Analytics</a:t>
            </a:r>
          </a:p>
          <a:p>
            <a:pPr algn="l"/>
            <a:r>
              <a:rPr sz="1200" b="0" i="0">
                <a:solidFill>
                  <a:srgbClr val="53565A"/>
                </a:solidFill>
                <a:latin typeface="Arial"/>
              </a:rPr>
              <a:t>gateway and platform logs</a:t>
            </a:r>
          </a:p>
        </p:txBody>
      </p:sp>
      <p:pic>
        <p:nvPicPr>
          <p:cNvPr id="28" name="Azure icon: Resource Graph Explorer" descr="Official Azure icon: Resource Graph Explore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236207" y="3351276"/>
            <a:ext cx="384048" cy="384048"/>
          </a:xfrm>
          <a:prstGeom prst="rect">
            <a:avLst/>
          </a:prstGeom>
        </p:spPr>
      </p:pic>
      <p:sp>
        <p:nvSpPr>
          <p:cNvPr id="29" name="TextBox 28"/>
          <p:cNvSpPr txBox="1"/>
          <p:nvPr/>
        </p:nvSpPr>
        <p:spPr>
          <a:xfrm>
            <a:off x="6693407" y="3191256"/>
            <a:ext cx="2084831" cy="704088"/>
          </a:xfrm>
          <a:prstGeom prst="rect">
            <a:avLst/>
          </a:prstGeom>
          <a:noFill/>
        </p:spPr>
        <p:txBody>
          <a:bodyPr wrap="square" lIns="0" rIns="0" tIns="0" bIns="0" anchor="ctr">
            <a:noAutofit/>
          </a:bodyPr>
          <a:lstStyle/>
          <a:p>
            <a:pPr algn="l"/>
            <a:r>
              <a:rPr sz="1400" b="1" i="0">
                <a:solidFill>
                  <a:srgbClr val="000048"/>
                </a:solidFill>
                <a:latin typeface="Arial"/>
              </a:rPr>
              <a:t>Resource Graph</a:t>
            </a:r>
          </a:p>
          <a:p>
            <a:pPr algn="l"/>
            <a:r>
              <a:rPr sz="1200" b="0" i="0">
                <a:solidFill>
                  <a:srgbClr val="53565A"/>
                </a:solidFill>
                <a:latin typeface="Arial"/>
              </a:rPr>
              <a:t>hosting resources, tags</a:t>
            </a:r>
          </a:p>
        </p:txBody>
      </p:sp>
      <p:pic>
        <p:nvPicPr>
          <p:cNvPr id="30" name="Azure icon: Azure DevOps" descr="Official Azure icon: Azure DevOp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043415" y="3351276"/>
            <a:ext cx="384048" cy="384048"/>
          </a:xfrm>
          <a:prstGeom prst="rect">
            <a:avLst/>
          </a:prstGeom>
        </p:spPr>
      </p:pic>
      <p:sp>
        <p:nvSpPr>
          <p:cNvPr id="31" name="TextBox 30"/>
          <p:cNvSpPr txBox="1"/>
          <p:nvPr/>
        </p:nvSpPr>
        <p:spPr>
          <a:xfrm>
            <a:off x="9500615" y="3191256"/>
            <a:ext cx="2084831" cy="704088"/>
          </a:xfrm>
          <a:prstGeom prst="rect">
            <a:avLst/>
          </a:prstGeom>
          <a:noFill/>
        </p:spPr>
        <p:txBody>
          <a:bodyPr wrap="square" lIns="0" rIns="0" tIns="0" bIns="0" anchor="ctr">
            <a:noAutofit/>
          </a:bodyPr>
          <a:lstStyle/>
          <a:p>
            <a:pPr algn="l"/>
            <a:r>
              <a:rPr sz="1400" b="1" i="0">
                <a:solidFill>
                  <a:srgbClr val="000048"/>
                </a:solidFill>
                <a:latin typeface="Arial"/>
              </a:rPr>
              <a:t>Deployment pipelines</a:t>
            </a:r>
          </a:p>
          <a:p>
            <a:pPr algn="l"/>
            <a:r>
              <a:rPr sz="1200" b="0" i="0">
                <a:solidFill>
                  <a:srgbClr val="53565A"/>
                </a:solidFill>
                <a:latin typeface="Arial"/>
              </a:rPr>
              <a:t>agent ID, version, owner</a:t>
            </a:r>
          </a:p>
        </p:txBody>
      </p:sp>
      <p:sp>
        <p:nvSpPr>
          <p:cNvPr id="32" name="Rounded Rectangle 31"/>
          <p:cNvSpPr/>
          <p:nvPr/>
        </p:nvSpPr>
        <p:spPr>
          <a:xfrm>
            <a:off x="411480" y="4251960"/>
            <a:ext cx="11384280" cy="1325880"/>
          </a:xfrm>
          <a:prstGeom prst="roundRect">
            <a:avLst>
              <a:gd name="adj" fmla="val 6896"/>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21208" y="4306824"/>
            <a:ext cx="11164824" cy="237744"/>
          </a:xfrm>
          <a:prstGeom prst="rect">
            <a:avLst/>
          </a:prstGeom>
          <a:noFill/>
        </p:spPr>
        <p:txBody>
          <a:bodyPr wrap="square" lIns="0" rIns="0" tIns="0" bIns="0" anchor="t">
            <a:noAutofit/>
          </a:bodyPr>
          <a:lstStyle/>
          <a:p>
            <a:pPr algn="l"/>
            <a:r>
              <a:rPr sz="1200" b="1" i="0">
                <a:solidFill>
                  <a:srgbClr val="000048"/>
                </a:solidFill>
                <a:latin typeface="Arial"/>
              </a:rPr>
              <a:t>LAYER 1: MICROSOFT CONTROL PLANE (CONFIGURE FIRST)</a:t>
            </a:r>
          </a:p>
        </p:txBody>
      </p:sp>
      <p:sp>
        <p:nvSpPr>
          <p:cNvPr id="34" name="Rounded Rectangle 33"/>
          <p:cNvSpPr/>
          <p:nvPr/>
        </p:nvSpPr>
        <p:spPr>
          <a:xfrm>
            <a:off x="548640" y="4617720"/>
            <a:ext cx="2194560" cy="822960"/>
          </a:xfrm>
          <a:prstGeom prst="roundRect">
            <a:avLst>
              <a:gd name="adj" fmla="val 8888"/>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400" b="1" i="0">
                <a:solidFill>
                  <a:srgbClr val="000048"/>
                </a:solidFill>
                <a:latin typeface="Arial"/>
              </a:rPr>
              <a:t>Agent 365</a:t>
            </a:r>
          </a:p>
          <a:p>
            <a:pPr algn="ctr"/>
            <a:r>
              <a:rPr sz="1200" b="0" i="0">
                <a:solidFill>
                  <a:srgbClr val="53565A"/>
                </a:solidFill>
                <a:latin typeface="Arial"/>
              </a:rPr>
              <a:t>registry and policy</a:t>
            </a:r>
          </a:p>
        </p:txBody>
      </p:sp>
      <p:pic>
        <p:nvPicPr>
          <p:cNvPr id="35" name="Azure icon: Foundry Control Plane" descr="Official Azure icon: Foundry Control Plane"/>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953512" y="4814316"/>
            <a:ext cx="384048" cy="384048"/>
          </a:xfrm>
          <a:prstGeom prst="rect">
            <a:avLst/>
          </a:prstGeom>
        </p:spPr>
      </p:pic>
      <p:sp>
        <p:nvSpPr>
          <p:cNvPr id="36" name="TextBox 35"/>
          <p:cNvSpPr txBox="1"/>
          <p:nvPr/>
        </p:nvSpPr>
        <p:spPr>
          <a:xfrm>
            <a:off x="3410712" y="4654296"/>
            <a:ext cx="2039112" cy="704088"/>
          </a:xfrm>
          <a:prstGeom prst="rect">
            <a:avLst/>
          </a:prstGeom>
          <a:noFill/>
        </p:spPr>
        <p:txBody>
          <a:bodyPr wrap="square" lIns="0" rIns="0" tIns="0" bIns="0" anchor="ctr">
            <a:noAutofit/>
          </a:bodyPr>
          <a:lstStyle/>
          <a:p>
            <a:pPr algn="l"/>
            <a:r>
              <a:rPr sz="1400" b="1" i="0">
                <a:solidFill>
                  <a:srgbClr val="000048"/>
                </a:solidFill>
                <a:latin typeface="Arial"/>
              </a:rPr>
              <a:t>Foundry Control Plane</a:t>
            </a:r>
          </a:p>
          <a:p>
            <a:pPr algn="l"/>
            <a:r>
              <a:rPr sz="1200" b="0" i="0">
                <a:solidFill>
                  <a:srgbClr val="53565A"/>
                </a:solidFill>
                <a:latin typeface="Arial"/>
              </a:rPr>
              <a:t>Foundry agents</a:t>
            </a:r>
          </a:p>
        </p:txBody>
      </p:sp>
      <p:pic>
        <p:nvPicPr>
          <p:cNvPr id="37" name="Azure icon: Conditional Access" descr="Official Azure icon: Conditional Acces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696712" y="4814316"/>
            <a:ext cx="384048" cy="384048"/>
          </a:xfrm>
          <a:prstGeom prst="rect">
            <a:avLst/>
          </a:prstGeom>
        </p:spPr>
      </p:pic>
      <p:sp>
        <p:nvSpPr>
          <p:cNvPr id="38" name="TextBox 37"/>
          <p:cNvSpPr txBox="1"/>
          <p:nvPr/>
        </p:nvSpPr>
        <p:spPr>
          <a:xfrm>
            <a:off x="6153912" y="4654296"/>
            <a:ext cx="2039112" cy="704088"/>
          </a:xfrm>
          <a:prstGeom prst="rect">
            <a:avLst/>
          </a:prstGeom>
          <a:noFill/>
        </p:spPr>
        <p:txBody>
          <a:bodyPr wrap="square" lIns="0" rIns="0" tIns="0" bIns="0" anchor="ctr">
            <a:noAutofit/>
          </a:bodyPr>
          <a:lstStyle/>
          <a:p>
            <a:pPr algn="l"/>
            <a:r>
              <a:rPr sz="1400" b="1" i="0">
                <a:solidFill>
                  <a:srgbClr val="000048"/>
                </a:solidFill>
                <a:latin typeface="Arial"/>
              </a:rPr>
              <a:t>Entra agent identity</a:t>
            </a:r>
          </a:p>
          <a:p>
            <a:pPr algn="l"/>
            <a:r>
              <a:rPr sz="1200" b="0" i="0">
                <a:solidFill>
                  <a:srgbClr val="53565A"/>
                </a:solidFill>
                <a:latin typeface="Arial"/>
              </a:rPr>
              <a:t>Conditional Access</a:t>
            </a:r>
          </a:p>
        </p:txBody>
      </p:sp>
      <p:pic>
        <p:nvPicPr>
          <p:cNvPr id="39" name="Azure icon: Microsoft Defender for Cloud" descr="Official Azure icon: Microsoft Defender for Cloud"/>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439912" y="4814316"/>
            <a:ext cx="384048" cy="384048"/>
          </a:xfrm>
          <a:prstGeom prst="rect">
            <a:avLst/>
          </a:prstGeom>
        </p:spPr>
      </p:pic>
      <p:sp>
        <p:nvSpPr>
          <p:cNvPr id="40" name="TextBox 39"/>
          <p:cNvSpPr txBox="1"/>
          <p:nvPr/>
        </p:nvSpPr>
        <p:spPr>
          <a:xfrm>
            <a:off x="8897112" y="4654296"/>
            <a:ext cx="2724912" cy="704088"/>
          </a:xfrm>
          <a:prstGeom prst="rect">
            <a:avLst/>
          </a:prstGeom>
          <a:noFill/>
        </p:spPr>
        <p:txBody>
          <a:bodyPr wrap="square" lIns="0" rIns="0" tIns="0" bIns="0" anchor="ctr">
            <a:noAutofit/>
          </a:bodyPr>
          <a:lstStyle/>
          <a:p>
            <a:pPr algn="l"/>
            <a:r>
              <a:rPr sz="1400" b="1" i="0">
                <a:solidFill>
                  <a:srgbClr val="000048"/>
                </a:solidFill>
                <a:latin typeface="Arial"/>
              </a:rPr>
              <a:t>Defender and Purview</a:t>
            </a:r>
          </a:p>
          <a:p>
            <a:pPr algn="l"/>
            <a:r>
              <a:rPr sz="1200" b="0" i="0">
                <a:solidFill>
                  <a:srgbClr val="53565A"/>
                </a:solidFill>
                <a:latin typeface="Arial"/>
              </a:rPr>
              <a:t>threats, data security</a:t>
            </a:r>
          </a:p>
        </p:txBody>
      </p:sp>
      <p:sp>
        <p:nvSpPr>
          <p:cNvPr id="41" name="Rounded Rectangle 40"/>
          <p:cNvSpPr/>
          <p:nvPr/>
        </p:nvSpPr>
        <p:spPr>
          <a:xfrm>
            <a:off x="411480" y="5669280"/>
            <a:ext cx="11384280" cy="411480"/>
          </a:xfrm>
          <a:prstGeom prst="roundRect">
            <a:avLst>
              <a:gd name="adj" fmla="val 1777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300" b="1" i="0">
                <a:solidFill>
                  <a:srgbClr val="000048"/>
                </a:solidFill>
                <a:latin typeface="Arial"/>
              </a:rPr>
              <a:t>Runtimes covered: Copilot Studio  ·  Foundry agents  ·  Container Apps or AKS hosts  ·  Logic Apps  ·  AWS and Google via registry sync (preview)</a:t>
            </a:r>
          </a:p>
        </p:txBody>
      </p:sp>
      <p:sp>
        <p:nvSpPr>
          <p:cNvPr id="42" name="TextBox 41"/>
          <p:cNvSpPr txBox="1"/>
          <p:nvPr/>
        </p:nvSpPr>
        <p:spPr>
          <a:xfrm>
            <a:off x="548640" y="6144768"/>
            <a:ext cx="11064240" cy="256032"/>
          </a:xfrm>
          <a:prstGeom prst="rect">
            <a:avLst/>
          </a:prstGeom>
          <a:noFill/>
        </p:spPr>
        <p:txBody>
          <a:bodyPr wrap="square" lIns="0" rIns="0" tIns="0" bIns="0" anchor="t">
            <a:noAutofit/>
          </a:bodyPr>
          <a:lstStyle/>
          <a:p>
            <a:pPr algn="l"/>
            <a:r>
              <a:rPr sz="1200" b="1" i="0">
                <a:solidFill>
                  <a:srgbClr val="7373D8"/>
                </a:solidFill>
                <a:latin typeface="Arial"/>
              </a:rPr>
              <a:t>Proposed reference architecture  ·  CIS Infra custom design  ·  Agent 365 shown as a concept box (Microsoft 365 product, no Azure icon)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Microsoft covers the registry; we add evidence and a stop</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CHECKED 11 OCT 2026"/>
          <p:cNvSpPr/>
          <p:nvPr/>
        </p:nvSpPr>
        <p:spPr>
          <a:xfrm>
            <a:off x="365887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sp>
        <p:nvSpPr>
          <p:cNvPr id="8" name="Rounded Rectangle 7"/>
          <p:cNvSpPr/>
          <p:nvPr/>
        </p:nvSpPr>
        <p:spPr>
          <a:xfrm>
            <a:off x="548640" y="1371600"/>
            <a:ext cx="5394960" cy="566928"/>
          </a:xfrm>
          <a:prstGeom prst="roundRect">
            <a:avLst>
              <a:gd name="adj" fmla="val 1290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Configure: Microsoft provides</a:t>
            </a:r>
          </a:p>
        </p:txBody>
      </p:sp>
      <p:sp>
        <p:nvSpPr>
          <p:cNvPr id="9" name="TextBox 8"/>
          <p:cNvSpPr txBox="1"/>
          <p:nvPr/>
        </p:nvSpPr>
        <p:spPr>
          <a:xfrm>
            <a:off x="548640" y="2057400"/>
            <a:ext cx="5394960" cy="3474720"/>
          </a:xfrm>
          <a:prstGeom prst="rect">
            <a:avLst/>
          </a:prstGeom>
          <a:noFill/>
        </p:spPr>
        <p:txBody>
          <a:bodyPr wrap="square" lIns="0" rIns="0" tIns="0" bIns="0" anchor="t">
            <a:noAutofit/>
          </a:bodyPr>
          <a:lstStyle/>
          <a:p>
            <a:pPr algn="l" marL="201168" indent="-201168">
              <a:spcAft>
                <a:spcPts val="800"/>
              </a:spcAft>
              <a:buFont typeface="Arial"/>
              <a:buChar char="•"/>
            </a:pPr>
            <a:r>
              <a:rPr sz="1900" b="0" i="0">
                <a:solidFill>
                  <a:srgbClr val="1E1E2E"/>
                </a:solidFill>
                <a:latin typeface="Arial"/>
              </a:rPr>
              <a:t>Agent registry across Microsoft, Copilot Studio, Foundry and partner agents</a:t>
            </a:r>
          </a:p>
          <a:p>
            <a:pPr algn="l" marL="201168" indent="-201168">
              <a:spcAft>
                <a:spcPts val="800"/>
              </a:spcAft>
              <a:buFont typeface="Arial"/>
              <a:buChar char="•"/>
            </a:pPr>
            <a:r>
              <a:rPr sz="1900" b="0" i="0">
                <a:solidFill>
                  <a:srgbClr val="1E1E2E"/>
                </a:solidFill>
                <a:latin typeface="Arial"/>
              </a:rPr>
              <a:t>Foundry runs, errors and token use per agent</a:t>
            </a:r>
          </a:p>
          <a:p>
            <a:pPr algn="l" marL="201168" indent="-201168">
              <a:spcAft>
                <a:spcPts val="800"/>
              </a:spcAft>
              <a:buFont typeface="Arial"/>
              <a:buChar char="•"/>
            </a:pPr>
            <a:r>
              <a:rPr sz="1900" b="0" i="0">
                <a:solidFill>
                  <a:srgbClr val="1E1E2E"/>
                </a:solidFill>
                <a:latin typeface="Arial"/>
              </a:rPr>
              <a:t>Agent identities and sign-in blocking (Entra)</a:t>
            </a:r>
          </a:p>
          <a:p>
            <a:pPr algn="l" marL="201168" indent="-201168">
              <a:spcAft>
                <a:spcPts val="800"/>
              </a:spcAft>
              <a:buFont typeface="Arial"/>
              <a:buChar char="•"/>
            </a:pPr>
            <a:r>
              <a:rPr sz="1900" b="0" i="0">
                <a:solidFill>
                  <a:srgbClr val="1E1E2E"/>
                </a:solidFill>
                <a:latin typeface="Arial"/>
              </a:rPr>
              <a:t>Threat alerts and data-security posture</a:t>
            </a:r>
          </a:p>
        </p:txBody>
      </p:sp>
      <p:sp>
        <p:nvSpPr>
          <p:cNvPr id="10" name="Rounded Rectangle 9"/>
          <p:cNvSpPr/>
          <p:nvPr/>
        </p:nvSpPr>
        <p:spPr>
          <a:xfrm>
            <a:off x="6245352" y="1371600"/>
            <a:ext cx="5394960" cy="566928"/>
          </a:xfrm>
          <a:prstGeom prst="roundRect">
            <a:avLst>
              <a:gd name="adj" fmla="val 12903"/>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Build: CIS Infra adds only where needed</a:t>
            </a:r>
          </a:p>
        </p:txBody>
      </p:sp>
      <p:sp>
        <p:nvSpPr>
          <p:cNvPr id="11" name="TextBox 10"/>
          <p:cNvSpPr txBox="1"/>
          <p:nvPr/>
        </p:nvSpPr>
        <p:spPr>
          <a:xfrm>
            <a:off x="6245352" y="2057400"/>
            <a:ext cx="5394960" cy="3474720"/>
          </a:xfrm>
          <a:prstGeom prst="rect">
            <a:avLst/>
          </a:prstGeom>
          <a:noFill/>
        </p:spPr>
        <p:txBody>
          <a:bodyPr wrap="square" lIns="0" rIns="0" tIns="0" bIns="0" anchor="t">
            <a:noAutofit/>
          </a:bodyPr>
          <a:lstStyle/>
          <a:p>
            <a:pPr algn="l" marL="201168" indent="-201168">
              <a:spcAft>
                <a:spcPts val="800"/>
              </a:spcAft>
              <a:buFont typeface="Arial"/>
              <a:buChar char="•"/>
            </a:pPr>
            <a:r>
              <a:rPr sz="1900" b="0" i="0">
                <a:solidFill>
                  <a:srgbClr val="1E1E2E"/>
                </a:solidFill>
                <a:latin typeface="Arial"/>
              </a:rPr>
              <a:t>Usage evidence joined to deployment records, all runtimes</a:t>
            </a:r>
          </a:p>
          <a:p>
            <a:pPr algn="l" marL="201168" indent="-201168">
              <a:spcAft>
                <a:spcPts val="800"/>
              </a:spcAft>
              <a:buFont typeface="Arial"/>
              <a:buChar char="•"/>
            </a:pPr>
            <a:r>
              <a:rPr sz="1900" b="0" i="0">
                <a:solidFill>
                  <a:srgbClr val="1E1E2E"/>
                </a:solidFill>
                <a:latin typeface="Arial"/>
              </a:rPr>
              <a:t>Dormant and orphaned agent reviews with owners</a:t>
            </a:r>
          </a:p>
          <a:p>
            <a:pPr algn="l" marL="201168" indent="-201168">
              <a:spcAft>
                <a:spcPts val="800"/>
              </a:spcAft>
              <a:buFont typeface="Arial"/>
              <a:buChar char="•"/>
            </a:pPr>
            <a:r>
              <a:rPr sz="1900" b="0" i="0">
                <a:solidFill>
                  <a:srgbClr val="1E1E2E"/>
                </a:solidFill>
                <a:latin typeface="Arial"/>
              </a:rPr>
              <a:t>Cross-layer stop: block, cancel, deny, verify</a:t>
            </a:r>
          </a:p>
          <a:p>
            <a:pPr algn="l" marL="201168" indent="-201168">
              <a:spcAft>
                <a:spcPts val="800"/>
              </a:spcAft>
              <a:buFont typeface="Arial"/>
              <a:buChar char="•"/>
            </a:pPr>
            <a:r>
              <a:rPr sz="1900" b="0" i="0">
                <a:solidFill>
                  <a:srgbClr val="1E1E2E"/>
                </a:solidFill>
                <a:latin typeface="Arial"/>
              </a:rPr>
              <a:t>Coverage where licences or runtimes fall short</a:t>
            </a:r>
          </a:p>
        </p:txBody>
      </p:sp>
      <p:sp>
        <p:nvSpPr>
          <p:cNvPr id="12" name="Rounded Rectangle 11"/>
          <p:cNvSpPr/>
          <p:nvPr/>
        </p:nvSpPr>
        <p:spPr>
          <a:xfrm>
            <a:off x="548640" y="566928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Decision:  </a:t>
            </a:r>
            <a:r>
              <a:rPr sz="1600" b="0" i="0">
                <a:solidFill>
                  <a:srgbClr val="1E1E2E"/>
                </a:solidFill>
                <a:latin typeface="Arial"/>
              </a:rPr>
              <a:t>Licence prerequisite: Agent 365 ($15 per user per month, or in Microsoft 365 E7). Checked in the assessment, not assumed.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Assess in 3 to 4 weeks; pilot the stop after our PoC</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8 OF 10</a:t>
            </a:r>
          </a:p>
        </p:txBody>
      </p:sp>
      <p:sp>
        <p:nvSpPr>
          <p:cNvPr id="5" name="Status chip: ESTIMATE, NOT APPROVED"/>
          <p:cNvSpPr/>
          <p:nvPr/>
        </p:nvSpPr>
        <p:spPr>
          <a:xfrm>
            <a:off x="365887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graphicFrame>
        <p:nvGraphicFramePr>
          <p:cNvPr id="8" name="Table"/>
          <p:cNvGraphicFramePr>
            <a:graphicFrameLocks noGrp="1"/>
          </p:cNvGraphicFramePr>
          <p:nvPr/>
        </p:nvGraphicFramePr>
        <p:xfrm>
          <a:off x="548640" y="1371600"/>
          <a:ext cx="11091672" cy="2712720"/>
        </p:xfrm>
        <a:graphic>
          <a:graphicData uri="http://schemas.openxmlformats.org/drawingml/2006/table">
            <a:tbl>
              <a:tblPr firstRow="1" bandRow="0">
                <a:tableStyleId>{5C22544A-7EE6-4342-B048-85BDC9FD1C3A}</a:tableStyleId>
              </a:tblPr>
              <a:tblGrid>
                <a:gridCol w="3291840"/>
                <a:gridCol w="2560320"/>
                <a:gridCol w="2194560"/>
                <a:gridCol w="3044952"/>
              </a:tblGrid>
              <a:tr h="335280">
                <a:tc>
                  <a:txBody>
                    <a:bodyPr wrap="square" anchor="ctr">
                      <a:noAutofit/>
                    </a:bodyPr>
                    <a:lstStyle/>
                    <a:p>
                      <a:pPr algn="l"/>
                      <a:r>
                        <a:rPr sz="16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Effort (role days)</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Elapsed time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Indicative fee band*</a:t>
                      </a:r>
                    </a:p>
                  </a:txBody>
                  <a:tcPr marL="73152" marR="73152" marT="36576" marB="36576" anchor="ctr">
                    <a:solidFill>
                      <a:srgbClr val="000048"/>
                    </a:solidFill>
                  </a:tcPr>
                </a:tc>
              </a:tr>
              <a:tr h="365760">
                <a:tc>
                  <a:txBody>
                    <a:bodyPr wrap="square" anchor="ctr">
                      <a:noAutofit/>
                    </a:bodyPr>
                    <a:lstStyle/>
                    <a:p>
                      <a:pPr algn="l"/>
                      <a:r>
                        <a:rPr sz="1800" b="1" i="0">
                          <a:solidFill>
                            <a:srgbClr val="1E1E2E"/>
                          </a:solidFill>
                          <a:latin typeface="Arial"/>
                        </a:rPr>
                        <a:t>Coverage assessment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 to 25</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3 to 4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$15k to $25k</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Configure control plane and evidence</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30 to 60</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6 to 10 weeks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$30k to $60k</a:t>
                      </a:r>
                    </a:p>
                  </a:txBody>
                  <a:tcPr marL="73152" marR="73152" marT="36576" marB="36576" anchor="ctr">
                    <a:solidFill>
                      <a:srgbClr val="F5F5F2"/>
                    </a:solidFill>
                  </a:tcPr>
                </a:tc>
              </a:tr>
              <a:tr h="365760">
                <a:tc>
                  <a:txBody>
                    <a:bodyPr wrap="square" anchor="ctr">
                      <a:noAutofit/>
                    </a:bodyPr>
                    <a:lstStyle/>
                    <a:p>
                      <a:pPr algn="l"/>
                      <a:r>
                        <a:rPr sz="1800" b="1" i="0">
                          <a:solidFill>
                            <a:srgbClr val="1E1E2E"/>
                          </a:solidFill>
                          <a:latin typeface="Arial"/>
                        </a:rPr>
                        <a:t>Custom gap layer</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30 to 60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6 to 10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$30k to $60k</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Stop-path pilot (after our PoC)</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15 to 30</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3 to 4 weeks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$15k to $30k</a:t>
                      </a:r>
                    </a:p>
                  </a:txBody>
                  <a:tcPr marL="73152" marR="73152" marT="36576" marB="36576" anchor="ctr">
                    <a:solidFill>
                      <a:srgbClr val="F5F5F2"/>
                    </a:solidFill>
                  </a:tcPr>
                </a:tc>
              </a:tr>
              <a:tr h="365760">
                <a:tc>
                  <a:txBody>
                    <a:bodyPr wrap="square" anchor="ctr">
                      <a:noAutofit/>
                    </a:bodyPr>
                    <a:lstStyle/>
                    <a:p>
                      <a:pPr algn="l"/>
                      <a:r>
                        <a:rPr sz="1800" b="1" i="0">
                          <a:solidFill>
                            <a:srgbClr val="1E1E2E"/>
                          </a:solidFill>
                          <a:latin typeface="Arial"/>
                        </a:rPr>
                        <a:t>Containment build after PoC</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40 to 80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8 to 12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$40k to $80k</a:t>
                      </a:r>
                    </a:p>
                  </a:txBody>
                  <a:tcPr marL="73152" marR="73152" marT="36576" marB="36576" anchor="ctr">
                    <a:solidFill>
                      <a:srgbClr val="FFFFFF"/>
                    </a:solidFill>
                  </a:tcPr>
                </a:tc>
              </a:tr>
            </a:tbl>
          </a:graphicData>
        </a:graphic>
      </p:graphicFrame>
      <p:sp>
        <p:nvSpPr>
          <p:cNvPr id="9" name="Rounded Rectangle 8"/>
          <p:cNvSpPr/>
          <p:nvPr/>
        </p:nvSpPr>
        <p:spPr>
          <a:xfrm>
            <a:off x="548640" y="4358640"/>
            <a:ext cx="11091672" cy="1082040"/>
          </a:xfrm>
          <a:prstGeom prst="roundRect">
            <a:avLst>
              <a:gd name="adj" fmla="val 676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800" b="1" i="0">
                <a:solidFill>
                  <a:srgbClr val="000048"/>
                </a:solidFill>
                <a:latin typeface="Arial"/>
              </a:rPr>
              <a:t>What moves an engagement to the high end: </a:t>
            </a:r>
            <a:r>
              <a:rPr sz="1800" b="0" i="0">
                <a:solidFill>
                  <a:srgbClr val="1E1E2E"/>
                </a:solidFill>
                <a:latin typeface="Arial"/>
              </a:rPr>
              <a:t>several runtimes or clouds, no Agent 365 licence, poor telemetry, many tool integrations.</a:t>
            </a:r>
          </a:p>
        </p:txBody>
      </p:sp>
      <p:sp>
        <p:nvSpPr>
          <p:cNvPr id="10" name="Rounded Rectangle 9"/>
          <p:cNvSpPr/>
          <p:nvPr/>
        </p:nvSpPr>
        <p:spPr>
          <a:xfrm>
            <a:off x="548640" y="5577840"/>
            <a:ext cx="11091672" cy="731520"/>
          </a:xfrm>
          <a:prstGeom prst="roundRect">
            <a:avLst>
              <a:gd name="adj" fmla="val 10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Note:  </a:t>
            </a:r>
            <a:r>
              <a:rPr sz="1600" b="0" i="0">
                <a:solidFill>
                  <a:srgbClr val="1E1E2E"/>
                </a:solidFill>
                <a:latin typeface="Arial"/>
              </a:rPr>
              <a:t>*Fee band = role days x illustrative $1,000 per day. Not a Cognizant rate or quote. Azure and licence spend are separate.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Unproven stops and missing licences are the main risks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9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sp>
        <p:nvSpPr>
          <p:cNvPr id="7" name="Rounded Rectangle 6"/>
          <p:cNvSpPr/>
          <p:nvPr/>
        </p:nvSpPr>
        <p:spPr>
          <a:xfrm>
            <a:off x="54864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Agents outside coverage</a:t>
            </a:r>
          </a:p>
          <a:p>
            <a:pPr algn="l">
              <a:spcAft>
                <a:spcPts val="400"/>
              </a:spcAft>
            </a:pPr>
            <a:r>
              <a:rPr sz="1800" b="1" i="0">
                <a:solidFill>
                  <a:srgbClr val="8A4B08"/>
                </a:solidFill>
                <a:latin typeface="Arial"/>
              </a:rPr>
              <a:t>Effect: </a:t>
            </a:r>
            <a:r>
              <a:rPr sz="1800" b="0" i="0">
                <a:solidFill>
                  <a:srgbClr val="1E1E2E"/>
                </a:solidFill>
                <a:latin typeface="Arial"/>
              </a:rPr>
              <a:t>Catalogue looks complete but is not</a:t>
            </a:r>
          </a:p>
          <a:p>
            <a:pPr algn="l">
              <a:spcAft>
                <a:spcPts val="400"/>
              </a:spcAft>
            </a:pPr>
            <a:r>
              <a:rPr sz="1800" b="1" i="0">
                <a:solidFill>
                  <a:srgbClr val="1D6B3A"/>
                </a:solidFill>
                <a:latin typeface="Arial"/>
              </a:rPr>
              <a:t>Handle: </a:t>
            </a:r>
            <a:r>
              <a:rPr sz="1800" b="0" i="0">
                <a:solidFill>
                  <a:srgbClr val="1E1E2E"/>
                </a:solidFill>
                <a:latin typeface="Arial"/>
              </a:rPr>
              <a:t>Coverage report with stated denominator</a:t>
            </a:r>
          </a:p>
          <a:p>
            <a:pPr algn="l"/>
            <a:r>
              <a:rPr sz="1800" b="1" i="0">
                <a:solidFill>
                  <a:srgbClr val="2F78C4"/>
                </a:solidFill>
                <a:latin typeface="Arial"/>
              </a:rPr>
              <a:t>Owner: </a:t>
            </a:r>
            <a:r>
              <a:rPr sz="1800" b="0" i="0">
                <a:solidFill>
                  <a:srgbClr val="1E1E2E"/>
                </a:solidFill>
                <a:latin typeface="Arial"/>
              </a:rPr>
              <a:t>CIS Infra with DevOps</a:t>
            </a:r>
          </a:p>
        </p:txBody>
      </p:sp>
      <p:sp>
        <p:nvSpPr>
          <p:cNvPr id="8" name="Rounded Rectangle 7"/>
          <p:cNvSpPr/>
          <p:nvPr/>
        </p:nvSpPr>
        <p:spPr>
          <a:xfrm>
            <a:off x="617220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Licence not in place</a:t>
            </a:r>
          </a:p>
          <a:p>
            <a:pPr algn="l">
              <a:spcAft>
                <a:spcPts val="400"/>
              </a:spcAft>
            </a:pPr>
            <a:r>
              <a:rPr sz="1800" b="1" i="0">
                <a:solidFill>
                  <a:srgbClr val="8A4B08"/>
                </a:solidFill>
                <a:latin typeface="Arial"/>
              </a:rPr>
              <a:t>Effect: </a:t>
            </a:r>
            <a:r>
              <a:rPr sz="1800" b="0" i="0">
                <a:solidFill>
                  <a:srgbClr val="1E1E2E"/>
                </a:solidFill>
                <a:latin typeface="Arial"/>
              </a:rPr>
              <a:t>Native features unavailable</a:t>
            </a:r>
          </a:p>
          <a:p>
            <a:pPr algn="l">
              <a:spcAft>
                <a:spcPts val="400"/>
              </a:spcAft>
            </a:pPr>
            <a:r>
              <a:rPr sz="1800" b="1" i="0">
                <a:solidFill>
                  <a:srgbClr val="1D6B3A"/>
                </a:solidFill>
                <a:latin typeface="Arial"/>
              </a:rPr>
              <a:t>Handle: </a:t>
            </a:r>
            <a:r>
              <a:rPr sz="1800" b="0" i="0">
                <a:solidFill>
                  <a:srgbClr val="1E1E2E"/>
                </a:solidFill>
                <a:latin typeface="Arial"/>
              </a:rPr>
              <a:t>Licence check in assessment; custom fallback priced</a:t>
            </a:r>
          </a:p>
          <a:p>
            <a:pPr algn="l"/>
            <a:r>
              <a:rPr sz="1800" b="1" i="0">
                <a:solidFill>
                  <a:srgbClr val="2F78C4"/>
                </a:solidFill>
                <a:latin typeface="Arial"/>
              </a:rPr>
              <a:t>Owner: </a:t>
            </a:r>
            <a:r>
              <a:rPr sz="1800" b="0" i="0">
                <a:solidFill>
                  <a:srgbClr val="1E1E2E"/>
                </a:solidFill>
                <a:latin typeface="Arial"/>
              </a:rPr>
              <a:t>Customer, advised by offering 04</a:t>
            </a:r>
          </a:p>
        </p:txBody>
      </p:sp>
      <p:sp>
        <p:nvSpPr>
          <p:cNvPr id="9" name="Rounded Rectangle 8"/>
          <p:cNvSpPr/>
          <p:nvPr/>
        </p:nvSpPr>
        <p:spPr>
          <a:xfrm>
            <a:off x="54864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Stop path unproven</a:t>
            </a:r>
          </a:p>
          <a:p>
            <a:pPr algn="l">
              <a:spcAft>
                <a:spcPts val="400"/>
              </a:spcAft>
            </a:pPr>
            <a:r>
              <a:rPr sz="1800" b="1" i="0">
                <a:solidFill>
                  <a:srgbClr val="8A4B08"/>
                </a:solidFill>
                <a:latin typeface="Arial"/>
              </a:rPr>
              <a:t>Effect: </a:t>
            </a:r>
            <a:r>
              <a:rPr sz="1800" b="0" i="0">
                <a:solidFill>
                  <a:srgbClr val="1E1E2E"/>
                </a:solidFill>
                <a:latin typeface="Arial"/>
              </a:rPr>
              <a:t>Agent keeps acting after a block</a:t>
            </a:r>
          </a:p>
          <a:p>
            <a:pPr algn="l">
              <a:spcAft>
                <a:spcPts val="400"/>
              </a:spcAft>
            </a:pPr>
            <a:r>
              <a:rPr sz="1800" b="1" i="0">
                <a:solidFill>
                  <a:srgbClr val="1D6B3A"/>
                </a:solidFill>
                <a:latin typeface="Arial"/>
              </a:rPr>
              <a:t>Handle: </a:t>
            </a:r>
            <a:r>
              <a:rPr sz="1800" b="0" i="0">
                <a:solidFill>
                  <a:srgbClr val="1E1E2E"/>
                </a:solidFill>
                <a:latin typeface="Arial"/>
              </a:rPr>
              <a:t>Proof of concept before selling containment</a:t>
            </a:r>
          </a:p>
          <a:p>
            <a:pPr algn="l"/>
            <a:r>
              <a:rPr sz="1800" b="1" i="0">
                <a:solidFill>
                  <a:srgbClr val="2F78C4"/>
                </a:solidFill>
                <a:latin typeface="Arial"/>
              </a:rPr>
              <a:t>Owner: </a:t>
            </a:r>
            <a:r>
              <a:rPr sz="1800" b="0" i="0">
                <a:solidFill>
                  <a:srgbClr val="1E1E2E"/>
                </a:solidFill>
                <a:latin typeface="Arial"/>
              </a:rPr>
              <a:t>CIS Infra, AI, Security</a:t>
            </a:r>
          </a:p>
        </p:txBody>
      </p:sp>
      <p:sp>
        <p:nvSpPr>
          <p:cNvPr id="10" name="Rounded Rectangle 9"/>
          <p:cNvSpPr/>
          <p:nvPr/>
        </p:nvSpPr>
        <p:spPr>
          <a:xfrm>
            <a:off x="617220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Containment authority unclear</a:t>
            </a:r>
          </a:p>
          <a:p>
            <a:pPr algn="l">
              <a:spcAft>
                <a:spcPts val="400"/>
              </a:spcAft>
            </a:pPr>
            <a:r>
              <a:rPr sz="1800" b="1" i="0">
                <a:solidFill>
                  <a:srgbClr val="8A4B08"/>
                </a:solidFill>
                <a:latin typeface="Arial"/>
              </a:rPr>
              <a:t>Effect: </a:t>
            </a:r>
            <a:r>
              <a:rPr sz="1800" b="0" i="0">
                <a:solidFill>
                  <a:srgbClr val="1E1E2E"/>
                </a:solidFill>
                <a:latin typeface="Arial"/>
              </a:rPr>
              <a:t>Slow or contested stop</a:t>
            </a:r>
          </a:p>
          <a:p>
            <a:pPr algn="l">
              <a:spcAft>
                <a:spcPts val="400"/>
              </a:spcAft>
            </a:pPr>
            <a:r>
              <a:rPr sz="1800" b="1" i="0">
                <a:solidFill>
                  <a:srgbClr val="1D6B3A"/>
                </a:solidFill>
                <a:latin typeface="Arial"/>
              </a:rPr>
              <a:t>Handle: </a:t>
            </a:r>
            <a:r>
              <a:rPr sz="1800" b="0" i="0">
                <a:solidFill>
                  <a:srgbClr val="1E1E2E"/>
                </a:solidFill>
                <a:latin typeface="Arial"/>
              </a:rPr>
              <a:t>Named authority and restart approver</a:t>
            </a:r>
          </a:p>
          <a:p>
            <a:pPr algn="l"/>
            <a:r>
              <a:rPr sz="1800" b="1" i="0">
                <a:solidFill>
                  <a:srgbClr val="2F78C4"/>
                </a:solidFill>
                <a:latin typeface="Arial"/>
              </a:rPr>
              <a:t>Owner: </a:t>
            </a:r>
            <a:r>
              <a:rPr sz="1800" b="0" i="0">
                <a:solidFill>
                  <a:srgbClr val="1E1E2E"/>
                </a:solidFill>
                <a:latin typeface="Arial"/>
              </a:rPr>
              <a:t>Customer risk owner</a:t>
            </a:r>
          </a:p>
        </p:txBody>
      </p:sp>
      <p:sp>
        <p:nvSpPr>
          <p:cNvPr id="11" name="TextBox 10"/>
          <p:cNvSpPr txBox="1"/>
          <p:nvPr/>
        </p:nvSpPr>
        <p:spPr>
          <a:xfrm>
            <a:off x="548640" y="5897880"/>
            <a:ext cx="11064240" cy="411480"/>
          </a:xfrm>
          <a:prstGeom prst="rect">
            <a:avLst/>
          </a:prstGeom>
          <a:noFill/>
        </p:spPr>
        <p:txBody>
          <a:bodyPr wrap="square" lIns="0" rIns="0" tIns="0" bIns="0" anchor="t">
            <a:noAutofit/>
          </a:bodyPr>
          <a:lstStyle/>
          <a:p>
            <a:pPr algn="l"/>
            <a:r>
              <a:rPr sz="1500" b="0" i="0">
                <a:solidFill>
                  <a:srgbClr val="53565A"/>
                </a:solidFill>
                <a:latin typeface="Arial"/>
              </a:rPr>
              <a:t>Security threat model and regulatory notes: appendix SEC1 and SEC2.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Measure coverage and stop time; fund the PoC today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3025140" cy="256032"/>
          </a:xfrm>
          <a:prstGeom prst="rect">
            <a:avLst/>
          </a:prstGeom>
          <a:noFill/>
        </p:spPr>
        <p:txBody>
          <a:bodyPr wrap="square" lIns="0" rIns="0" tIns="0" bIns="0" anchor="t">
            <a:noAutofit/>
          </a:bodyPr>
          <a:lstStyle/>
          <a:p>
            <a:pPr algn="l"/>
            <a:r>
              <a:rPr sz="1100" b="1" i="0">
                <a:solidFill>
                  <a:srgbClr val="2F78C4"/>
                </a:solidFill>
                <a:latin typeface="Arial"/>
              </a:rPr>
              <a:t>EXECUTIVE SUMMARY  ·  10 OF 10</a:t>
            </a:r>
          </a:p>
        </p:txBody>
      </p:sp>
      <p:sp>
        <p:nvSpPr>
          <p:cNvPr id="5" name="Status chip: TARGETS AFTER PILOT"/>
          <p:cNvSpPr/>
          <p:nvPr/>
        </p:nvSpPr>
        <p:spPr>
          <a:xfrm>
            <a:off x="3756660" y="274320"/>
            <a:ext cx="19151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TARGETS AFTER PILOT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sp>
        <p:nvSpPr>
          <p:cNvPr id="8" name="TextBox 7"/>
          <p:cNvSpPr txBox="1"/>
          <p:nvPr/>
        </p:nvSpPr>
        <p:spPr>
          <a:xfrm>
            <a:off x="548640" y="1325880"/>
            <a:ext cx="5852160" cy="365760"/>
          </a:xfrm>
          <a:prstGeom prst="rect">
            <a:avLst/>
          </a:prstGeom>
          <a:noFill/>
        </p:spPr>
        <p:txBody>
          <a:bodyPr wrap="square" lIns="0" rIns="0" tIns="0" bIns="0" anchor="t">
            <a:noAutofit/>
          </a:bodyPr>
          <a:lstStyle/>
          <a:p>
            <a:pPr algn="l"/>
            <a:r>
              <a:rPr sz="1900" b="1" i="0">
                <a:solidFill>
                  <a:srgbClr val="000048"/>
                </a:solidFill>
                <a:latin typeface="Arial"/>
              </a:rPr>
              <a:t>Success measures</a:t>
            </a:r>
          </a:p>
        </p:txBody>
      </p:sp>
      <p:sp>
        <p:nvSpPr>
          <p:cNvPr id="9" name="Rounded Rectangle 8"/>
          <p:cNvSpPr/>
          <p:nvPr/>
        </p:nvSpPr>
        <p:spPr>
          <a:xfrm>
            <a:off x="548640" y="178308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Coverage  </a:t>
            </a:r>
            <a:r>
              <a:rPr sz="1800" b="0" i="0">
                <a:solidFill>
                  <a:srgbClr val="1E1E2E"/>
                </a:solidFill>
                <a:latin typeface="Arial"/>
              </a:rPr>
              <a:t>agents reconciled; gaps listed by reason</a:t>
            </a:r>
          </a:p>
        </p:txBody>
      </p:sp>
      <p:sp>
        <p:nvSpPr>
          <p:cNvPr id="10" name="Rounded Rectangle 9"/>
          <p:cNvSpPr/>
          <p:nvPr/>
        </p:nvSpPr>
        <p:spPr>
          <a:xfrm>
            <a:off x="548640" y="256032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Ownership  </a:t>
            </a:r>
            <a:r>
              <a:rPr sz="1800" b="0" i="0">
                <a:solidFill>
                  <a:srgbClr val="1E1E2E"/>
                </a:solidFill>
                <a:latin typeface="Arial"/>
              </a:rPr>
              <a:t>agents with a valid business and technical owner</a:t>
            </a:r>
          </a:p>
        </p:txBody>
      </p:sp>
      <p:sp>
        <p:nvSpPr>
          <p:cNvPr id="11" name="Rounded Rectangle 10"/>
          <p:cNvSpPr/>
          <p:nvPr/>
        </p:nvSpPr>
        <p:spPr>
          <a:xfrm>
            <a:off x="548640" y="333756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Classification  </a:t>
            </a:r>
            <a:r>
              <a:rPr sz="1800" b="0" i="0">
                <a:solidFill>
                  <a:srgbClr val="1E1E2E"/>
                </a:solidFill>
                <a:latin typeface="Arial"/>
              </a:rPr>
              <a:t>test agents classified in every state</a:t>
            </a:r>
          </a:p>
        </p:txBody>
      </p:sp>
      <p:sp>
        <p:nvSpPr>
          <p:cNvPr id="12" name="Rounded Rectangle 11"/>
          <p:cNvSpPr/>
          <p:nvPr/>
        </p:nvSpPr>
        <p:spPr>
          <a:xfrm>
            <a:off x="548640" y="411480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Containment (after PoC)  </a:t>
            </a:r>
            <a:r>
              <a:rPr sz="1800" b="0" i="0">
                <a:solidFill>
                  <a:srgbClr val="1E1E2E"/>
                </a:solidFill>
                <a:latin typeface="Arial"/>
              </a:rPr>
              <a:t>block, cancel, deny, identity drills</a:t>
            </a:r>
          </a:p>
        </p:txBody>
      </p:sp>
      <p:sp>
        <p:nvSpPr>
          <p:cNvPr id="13" name="Rounded Rectangle 12"/>
          <p:cNvSpPr/>
          <p:nvPr/>
        </p:nvSpPr>
        <p:spPr>
          <a:xfrm>
            <a:off x="548640" y="489204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Stop time  </a:t>
            </a:r>
            <a:r>
              <a:rPr sz="1800" b="0" i="0">
                <a:solidFill>
                  <a:srgbClr val="1E1E2E"/>
                </a:solidFill>
                <a:latin typeface="Arial"/>
              </a:rPr>
              <a:t>measured worst case per runtime</a:t>
            </a:r>
          </a:p>
        </p:txBody>
      </p:sp>
      <p:sp>
        <p:nvSpPr>
          <p:cNvPr id="14" name="Rounded Rectangle 13"/>
          <p:cNvSpPr/>
          <p:nvPr/>
        </p:nvSpPr>
        <p:spPr>
          <a:xfrm>
            <a:off x="6675120" y="1325880"/>
            <a:ext cx="4965192" cy="530352"/>
          </a:xfrm>
          <a:prstGeom prst="roundRect">
            <a:avLst>
              <a:gd name="adj" fmla="val 1379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today</a:t>
            </a:r>
          </a:p>
        </p:txBody>
      </p:sp>
      <p:sp>
        <p:nvSpPr>
          <p:cNvPr id="15" name="TextBox 14"/>
          <p:cNvSpPr txBox="1"/>
          <p:nvPr/>
        </p:nvSpPr>
        <p:spPr>
          <a:xfrm>
            <a:off x="6675120" y="1920240"/>
            <a:ext cx="4965192" cy="164592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Configure-before-build rule</a:t>
            </a:r>
          </a:p>
          <a:p>
            <a:pPr algn="l" marL="201168" indent="-201168">
              <a:spcAft>
                <a:spcPts val="400"/>
              </a:spcAft>
              <a:buFont typeface="Arial"/>
              <a:buChar char="•"/>
            </a:pPr>
            <a:r>
              <a:rPr sz="1900" b="0" i="0">
                <a:solidFill>
                  <a:srgbClr val="1E1E2E"/>
                </a:solidFill>
                <a:latin typeface="Arial"/>
              </a:rPr>
              <a:t>Fund the kill-switch proof of concept</a:t>
            </a:r>
          </a:p>
          <a:p>
            <a:pPr algn="l" marL="201168" indent="-201168">
              <a:spcAft>
                <a:spcPts val="400"/>
              </a:spcAft>
              <a:buFont typeface="Arial"/>
              <a:buChar char="•"/>
            </a:pPr>
            <a:r>
              <a:rPr sz="1900" b="0" i="0">
                <a:solidFill>
                  <a:srgbClr val="1E1E2E"/>
                </a:solidFill>
                <a:latin typeface="Arial"/>
              </a:rPr>
              <a:t>Containment and restart authority</a:t>
            </a:r>
          </a:p>
        </p:txBody>
      </p:sp>
      <p:sp>
        <p:nvSpPr>
          <p:cNvPr id="16" name="Rounded Rectangle 15"/>
          <p:cNvSpPr/>
          <p:nvPr/>
        </p:nvSpPr>
        <p:spPr>
          <a:xfrm>
            <a:off x="6675120" y="3520440"/>
            <a:ext cx="4965192" cy="530352"/>
          </a:xfrm>
          <a:prstGeom prst="roundRect">
            <a:avLst>
              <a:gd name="adj" fmla="val 13793"/>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after evidence or approval</a:t>
            </a:r>
          </a:p>
        </p:txBody>
      </p:sp>
      <p:sp>
        <p:nvSpPr>
          <p:cNvPr id="17" name="TextBox 16"/>
          <p:cNvSpPr txBox="1"/>
          <p:nvPr/>
        </p:nvSpPr>
        <p:spPr>
          <a:xfrm>
            <a:off x="6675120" y="4114800"/>
            <a:ext cx="4965192" cy="137160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Stop-time targets (after PoC)</a:t>
            </a:r>
          </a:p>
          <a:p>
            <a:pPr algn="l" marL="201168" indent="-201168">
              <a:spcAft>
                <a:spcPts val="400"/>
              </a:spcAft>
              <a:buFont typeface="Arial"/>
              <a:buChar char="•"/>
            </a:pPr>
            <a:r>
              <a:rPr sz="1900" b="0" i="0">
                <a:solidFill>
                  <a:srgbClr val="1E1E2E"/>
                </a:solidFill>
                <a:latin typeface="Arial"/>
              </a:rPr>
              <a:t>Sell rates (Finance)</a:t>
            </a:r>
          </a:p>
          <a:p>
            <a:pPr algn="l" marL="201168" indent="-201168">
              <a:spcAft>
                <a:spcPts val="400"/>
              </a:spcAft>
              <a:buFont typeface="Arial"/>
              <a:buChar char="•"/>
            </a:pPr>
            <a:r>
              <a:rPr sz="1900" b="0" i="0">
                <a:solidFill>
                  <a:srgbClr val="1E1E2E"/>
                </a:solidFill>
                <a:latin typeface="Arial"/>
              </a:rPr>
              <a:t>AI tower commitment</a:t>
            </a:r>
          </a:p>
        </p:txBody>
      </p:sp>
      <p:sp>
        <p:nvSpPr>
          <p:cNvPr id="18" name="Rounded Rectangle 17"/>
          <p:cNvSpPr/>
          <p:nvPr/>
        </p:nvSpPr>
        <p:spPr>
          <a:xfrm>
            <a:off x="6675120" y="5532120"/>
            <a:ext cx="4965192" cy="777240"/>
          </a:xfrm>
          <a:prstGeom prst="roundRect">
            <a:avLst>
              <a:gd name="adj" fmla="val 941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90-day ask: </a:t>
            </a:r>
            <a:r>
              <a:rPr sz="1400" b="0" i="0">
                <a:solidFill>
                  <a:srgbClr val="1E1E2E"/>
                </a:solidFill>
                <a:latin typeface="Arial"/>
              </a:rPr>
              <a:t>budget and sponsor are inputs (deck 00 slide 10). Stop at day 45 if the PoC fails a K4 test.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Catalogue design, coverage, classification, kill-switch architecture, runtime controls, audit evidence, ISO/IEC 42001 readiness, delivery bench, account play, RACI, cost layers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2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237744"/>
          </a:xfrm>
          <a:prstGeom prst="rect">
            <a:avLst/>
          </a:prstGeom>
          <a:noFill/>
        </p:spPr>
        <p:txBody>
          <a:bodyPr wrap="square" lIns="0" rIns="0" tIns="0" bIns="0" anchor="t">
            <a:noAutofit/>
          </a:bodyPr>
          <a:lstStyle/>
          <a:p>
            <a:pPr algn="l"/>
            <a:r>
              <a:rPr sz="1200" b="1" i="0">
                <a:solidFill>
                  <a:srgbClr val="2F78C4"/>
                </a:solidFill>
                <a:latin typeface="Arial"/>
              </a:rPr>
              <a:t>13  </a:t>
            </a:r>
            <a:r>
              <a:rPr sz="1200" b="1" i="0">
                <a:solidFill>
                  <a:srgbClr val="000048"/>
                </a:solidFill>
                <a:latin typeface="Arial"/>
              </a:rPr>
              <a:t>A0  </a:t>
            </a:r>
            <a:r>
              <a:rPr sz="1200" b="0" i="0">
                <a:solidFill>
                  <a:srgbClr val="1E1E2E"/>
                </a:solidFill>
                <a:latin typeface="Arial"/>
              </a:rPr>
              <a:t>Usage states: no telemetry is not no usage</a:t>
            </a:r>
          </a:p>
        </p:txBody>
      </p:sp>
      <p:sp>
        <p:nvSpPr>
          <p:cNvPr id="8" name="TextBox 7">
            <a:hlinkClick action="ppaction://hlinksldjump" r:id="rId5"/>
          </p:cNvPr>
          <p:cNvSpPr txBox="1"/>
          <p:nvPr/>
        </p:nvSpPr>
        <p:spPr>
          <a:xfrm>
            <a:off x="548640" y="1655064"/>
            <a:ext cx="5486400" cy="237744"/>
          </a:xfrm>
          <a:prstGeom prst="rect">
            <a:avLst/>
          </a:prstGeom>
          <a:noFill/>
        </p:spPr>
        <p:txBody>
          <a:bodyPr wrap="square" lIns="0" rIns="0" tIns="0" bIns="0" anchor="t">
            <a:noAutofit/>
          </a:bodyPr>
          <a:lstStyle/>
          <a:p>
            <a:pPr algn="l"/>
            <a:r>
              <a:rPr sz="1200" b="1" i="0">
                <a:solidFill>
                  <a:srgbClr val="2F78C4"/>
                </a:solidFill>
                <a:latin typeface="Arial"/>
              </a:rPr>
              <a:t>14  </a:t>
            </a:r>
            <a:r>
              <a:rPr sz="1200" b="1" i="0">
                <a:solidFill>
                  <a:srgbClr val="000048"/>
                </a:solidFill>
                <a:latin typeface="Arial"/>
              </a:rPr>
              <a:t>A1  </a:t>
            </a:r>
            <a:r>
              <a:rPr sz="1200" b="0" i="0">
                <a:solidFill>
                  <a:srgbClr val="1E1E2E"/>
                </a:solidFill>
                <a:latin typeface="Arial"/>
              </a:rPr>
              <a:t>Catalogue architecture (detailed)</a:t>
            </a:r>
          </a:p>
        </p:txBody>
      </p:sp>
      <p:sp>
        <p:nvSpPr>
          <p:cNvPr id="9" name="TextBox 8">
            <a:hlinkClick action="ppaction://hlinksldjump" r:id="rId6"/>
          </p:cNvPr>
          <p:cNvSpPr txBox="1"/>
          <p:nvPr/>
        </p:nvSpPr>
        <p:spPr>
          <a:xfrm>
            <a:off x="548640" y="1892808"/>
            <a:ext cx="5486400" cy="237744"/>
          </a:xfrm>
          <a:prstGeom prst="rect">
            <a:avLst/>
          </a:prstGeom>
          <a:noFill/>
        </p:spPr>
        <p:txBody>
          <a:bodyPr wrap="square" lIns="0" rIns="0" tIns="0" bIns="0" anchor="t">
            <a:noAutofit/>
          </a:bodyPr>
          <a:lstStyle/>
          <a:p>
            <a:pPr algn="l"/>
            <a:r>
              <a:rPr sz="1200" b="1" i="0">
                <a:solidFill>
                  <a:srgbClr val="2F78C4"/>
                </a:solidFill>
                <a:latin typeface="Arial"/>
              </a:rPr>
              <a:t>15  </a:t>
            </a:r>
            <a:r>
              <a:rPr sz="1200" b="1" i="0">
                <a:solidFill>
                  <a:srgbClr val="000048"/>
                </a:solidFill>
                <a:latin typeface="Arial"/>
              </a:rPr>
              <a:t>A3  </a:t>
            </a:r>
            <a:r>
              <a:rPr sz="1200" b="0" i="0">
                <a:solidFill>
                  <a:srgbClr val="1E1E2E"/>
                </a:solidFill>
                <a:latin typeface="Arial"/>
              </a:rPr>
              <a:t>Minimum catalogue record</a:t>
            </a:r>
          </a:p>
        </p:txBody>
      </p:sp>
      <p:sp>
        <p:nvSpPr>
          <p:cNvPr id="10" name="TextBox 9">
            <a:hlinkClick action="ppaction://hlinksldjump" r:id="rId7"/>
          </p:cNvPr>
          <p:cNvSpPr txBox="1"/>
          <p:nvPr/>
        </p:nvSpPr>
        <p:spPr>
          <a:xfrm>
            <a:off x="548640" y="2130552"/>
            <a:ext cx="5486400" cy="237744"/>
          </a:xfrm>
          <a:prstGeom prst="rect">
            <a:avLst/>
          </a:prstGeom>
          <a:noFill/>
        </p:spPr>
        <p:txBody>
          <a:bodyPr wrap="square" lIns="0" rIns="0" tIns="0" bIns="0" anchor="t">
            <a:noAutofit/>
          </a:bodyPr>
          <a:lstStyle/>
          <a:p>
            <a:pPr algn="l"/>
            <a:r>
              <a:rPr sz="1200" b="1" i="0">
                <a:solidFill>
                  <a:srgbClr val="2F78C4"/>
                </a:solidFill>
                <a:latin typeface="Arial"/>
              </a:rPr>
              <a:t>16  </a:t>
            </a:r>
            <a:r>
              <a:rPr sz="1200" b="1" i="0">
                <a:solidFill>
                  <a:srgbClr val="000048"/>
                </a:solidFill>
                <a:latin typeface="Arial"/>
              </a:rPr>
              <a:t>A5  </a:t>
            </a:r>
            <a:r>
              <a:rPr sz="1200" b="0" i="0">
                <a:solidFill>
                  <a:srgbClr val="1E1E2E"/>
                </a:solidFill>
                <a:latin typeface="Arial"/>
              </a:rPr>
              <a:t>Usage classification rules</a:t>
            </a:r>
          </a:p>
        </p:txBody>
      </p:sp>
      <p:sp>
        <p:nvSpPr>
          <p:cNvPr id="11" name="TextBox 10">
            <a:hlinkClick action="ppaction://hlinksldjump" r:id="rId8"/>
          </p:cNvPr>
          <p:cNvSpPr txBox="1"/>
          <p:nvPr/>
        </p:nvSpPr>
        <p:spPr>
          <a:xfrm>
            <a:off x="548640" y="2368296"/>
            <a:ext cx="5486400" cy="237744"/>
          </a:xfrm>
          <a:prstGeom prst="rect">
            <a:avLst/>
          </a:prstGeom>
          <a:noFill/>
        </p:spPr>
        <p:txBody>
          <a:bodyPr wrap="square" lIns="0" rIns="0" tIns="0" bIns="0" anchor="t">
            <a:noAutofit/>
          </a:bodyPr>
          <a:lstStyle/>
          <a:p>
            <a:pPr algn="l"/>
            <a:r>
              <a:rPr sz="1200" b="1" i="0">
                <a:solidFill>
                  <a:srgbClr val="2F78C4"/>
                </a:solidFill>
                <a:latin typeface="Arial"/>
              </a:rPr>
              <a:t>17  </a:t>
            </a:r>
            <a:r>
              <a:rPr sz="1200" b="1" i="0">
                <a:solidFill>
                  <a:srgbClr val="000048"/>
                </a:solidFill>
                <a:latin typeface="Arial"/>
              </a:rPr>
              <a:t>A6  </a:t>
            </a:r>
            <a:r>
              <a:rPr sz="1200" b="0" i="0">
                <a:solidFill>
                  <a:srgbClr val="1E1E2E"/>
                </a:solidFill>
                <a:latin typeface="Arial"/>
              </a:rPr>
              <a:t>Coverage: native, custom, outside</a:t>
            </a:r>
          </a:p>
        </p:txBody>
      </p:sp>
      <p:sp>
        <p:nvSpPr>
          <p:cNvPr id="12" name="TextBox 11">
            <a:hlinkClick action="ppaction://hlinksldjump" r:id="rId9"/>
          </p:cNvPr>
          <p:cNvSpPr txBox="1"/>
          <p:nvPr/>
        </p:nvSpPr>
        <p:spPr>
          <a:xfrm>
            <a:off x="548640" y="2606040"/>
            <a:ext cx="5486400" cy="237744"/>
          </a:xfrm>
          <a:prstGeom prst="rect">
            <a:avLst/>
          </a:prstGeom>
          <a:noFill/>
        </p:spPr>
        <p:txBody>
          <a:bodyPr wrap="square" lIns="0" rIns="0" tIns="0" bIns="0" anchor="t">
            <a:noAutofit/>
          </a:bodyPr>
          <a:lstStyle/>
          <a:p>
            <a:pPr algn="l"/>
            <a:r>
              <a:rPr sz="1200" b="1" i="0">
                <a:solidFill>
                  <a:srgbClr val="2F78C4"/>
                </a:solidFill>
                <a:latin typeface="Arial"/>
              </a:rPr>
              <a:t>18  </a:t>
            </a:r>
            <a:r>
              <a:rPr sz="1200" b="1" i="0">
                <a:solidFill>
                  <a:srgbClr val="000048"/>
                </a:solidFill>
                <a:latin typeface="Arial"/>
              </a:rPr>
              <a:t>A7  </a:t>
            </a:r>
            <a:r>
              <a:rPr sz="1200" b="0" i="0">
                <a:solidFill>
                  <a:srgbClr val="1E1E2E"/>
                </a:solidFill>
                <a:latin typeface="Arial"/>
              </a:rPr>
              <a:t>Illustrative catalogue dashboard</a:t>
            </a:r>
          </a:p>
        </p:txBody>
      </p:sp>
      <p:sp>
        <p:nvSpPr>
          <p:cNvPr id="13" name="TextBox 12">
            <a:hlinkClick action="ppaction://hlinksldjump" r:id="rId10"/>
          </p:cNvPr>
          <p:cNvSpPr txBox="1"/>
          <p:nvPr/>
        </p:nvSpPr>
        <p:spPr>
          <a:xfrm>
            <a:off x="548640" y="2843784"/>
            <a:ext cx="5486400" cy="237744"/>
          </a:xfrm>
          <a:prstGeom prst="rect">
            <a:avLst/>
          </a:prstGeom>
          <a:noFill/>
        </p:spPr>
        <p:txBody>
          <a:bodyPr wrap="square" lIns="0" rIns="0" tIns="0" bIns="0" anchor="t">
            <a:noAutofit/>
          </a:bodyPr>
          <a:lstStyle/>
          <a:p>
            <a:pPr algn="l"/>
            <a:r>
              <a:rPr sz="1200" b="1" i="0">
                <a:solidFill>
                  <a:srgbClr val="2F78C4"/>
                </a:solidFill>
                <a:latin typeface="Arial"/>
              </a:rPr>
              <a:t>19  </a:t>
            </a:r>
            <a:r>
              <a:rPr sz="1200" b="1" i="0">
                <a:solidFill>
                  <a:srgbClr val="000048"/>
                </a:solidFill>
                <a:latin typeface="Arial"/>
              </a:rPr>
              <a:t>K1  </a:t>
            </a:r>
            <a:r>
              <a:rPr sz="1200" b="0" i="0">
                <a:solidFill>
                  <a:srgbClr val="1E1E2E"/>
                </a:solidFill>
                <a:latin typeface="Arial"/>
              </a:rPr>
              <a:t>Kill-switch reference architecture</a:t>
            </a:r>
          </a:p>
        </p:txBody>
      </p:sp>
      <p:sp>
        <p:nvSpPr>
          <p:cNvPr id="14" name="TextBox 13">
            <a:hlinkClick action="ppaction://hlinksldjump" r:id="rId11"/>
          </p:cNvPr>
          <p:cNvSpPr txBox="1"/>
          <p:nvPr/>
        </p:nvSpPr>
        <p:spPr>
          <a:xfrm>
            <a:off x="548640" y="3081528"/>
            <a:ext cx="5486400" cy="237744"/>
          </a:xfrm>
          <a:prstGeom prst="rect">
            <a:avLst/>
          </a:prstGeom>
          <a:noFill/>
        </p:spPr>
        <p:txBody>
          <a:bodyPr wrap="square" lIns="0" rIns="0" tIns="0" bIns="0" anchor="t">
            <a:noAutofit/>
          </a:bodyPr>
          <a:lstStyle/>
          <a:p>
            <a:pPr algn="l"/>
            <a:r>
              <a:rPr sz="1200" b="1" i="0">
                <a:solidFill>
                  <a:srgbClr val="2F78C4"/>
                </a:solidFill>
                <a:latin typeface="Arial"/>
              </a:rPr>
              <a:t>20  </a:t>
            </a:r>
            <a:r>
              <a:rPr sz="1200" b="1" i="0">
                <a:solidFill>
                  <a:srgbClr val="000048"/>
                </a:solidFill>
                <a:latin typeface="Arial"/>
              </a:rPr>
              <a:t>K2  </a:t>
            </a:r>
            <a:r>
              <a:rPr sz="1200" b="0" i="0">
                <a:solidFill>
                  <a:srgbClr val="1E1E2E"/>
                </a:solidFill>
                <a:latin typeface="Arial"/>
              </a:rPr>
              <a:t>Block, cancel, deny: what each layer does</a:t>
            </a:r>
          </a:p>
        </p:txBody>
      </p:sp>
      <p:sp>
        <p:nvSpPr>
          <p:cNvPr id="15" name="TextBox 14">
            <a:hlinkClick action="ppaction://hlinksldjump" r:id="rId12"/>
          </p:cNvPr>
          <p:cNvSpPr txBox="1"/>
          <p:nvPr/>
        </p:nvSpPr>
        <p:spPr>
          <a:xfrm>
            <a:off x="548640" y="3319272"/>
            <a:ext cx="5486400" cy="237744"/>
          </a:xfrm>
          <a:prstGeom prst="rect">
            <a:avLst/>
          </a:prstGeom>
          <a:noFill/>
        </p:spPr>
        <p:txBody>
          <a:bodyPr wrap="square" lIns="0" rIns="0" tIns="0" bIns="0" anchor="t">
            <a:noAutofit/>
          </a:bodyPr>
          <a:lstStyle/>
          <a:p>
            <a:pPr algn="l"/>
            <a:r>
              <a:rPr sz="1200" b="1" i="0">
                <a:solidFill>
                  <a:srgbClr val="2F78C4"/>
                </a:solidFill>
                <a:latin typeface="Arial"/>
              </a:rPr>
              <a:t>21  </a:t>
            </a:r>
            <a:r>
              <a:rPr sz="1200" b="1" i="0">
                <a:solidFill>
                  <a:srgbClr val="000048"/>
                </a:solidFill>
                <a:latin typeface="Arial"/>
              </a:rPr>
              <a:t>K3  </a:t>
            </a:r>
            <a:r>
              <a:rPr sz="1200" b="0" i="0">
                <a:solidFill>
                  <a:srgbClr val="1E1E2E"/>
                </a:solidFill>
                <a:latin typeface="Arial"/>
              </a:rPr>
              <a:t>Containment limits</a:t>
            </a:r>
          </a:p>
        </p:txBody>
      </p:sp>
      <p:sp>
        <p:nvSpPr>
          <p:cNvPr id="16" name="TextBox 15">
            <a:hlinkClick action="ppaction://hlinksldjump" r:id="rId13"/>
          </p:cNvPr>
          <p:cNvSpPr txBox="1"/>
          <p:nvPr/>
        </p:nvSpPr>
        <p:spPr>
          <a:xfrm>
            <a:off x="548640" y="3557015"/>
            <a:ext cx="5486400" cy="237744"/>
          </a:xfrm>
          <a:prstGeom prst="rect">
            <a:avLst/>
          </a:prstGeom>
          <a:noFill/>
        </p:spPr>
        <p:txBody>
          <a:bodyPr wrap="square" lIns="0" rIns="0" tIns="0" bIns="0" anchor="t">
            <a:noAutofit/>
          </a:bodyPr>
          <a:lstStyle/>
          <a:p>
            <a:pPr algn="l"/>
            <a:r>
              <a:rPr sz="1200" b="1" i="0">
                <a:solidFill>
                  <a:srgbClr val="2F78C4"/>
                </a:solidFill>
                <a:latin typeface="Arial"/>
              </a:rPr>
              <a:t>22  </a:t>
            </a:r>
            <a:r>
              <a:rPr sz="1200" b="1" i="0">
                <a:solidFill>
                  <a:srgbClr val="000048"/>
                </a:solidFill>
                <a:latin typeface="Arial"/>
              </a:rPr>
              <a:t>K4  </a:t>
            </a:r>
            <a:r>
              <a:rPr sz="1200" b="0" i="0">
                <a:solidFill>
                  <a:srgbClr val="1E1E2E"/>
                </a:solidFill>
                <a:latin typeface="Arial"/>
              </a:rPr>
              <a:t>Containment test scenarios</a:t>
            </a:r>
          </a:p>
        </p:txBody>
      </p:sp>
      <p:sp>
        <p:nvSpPr>
          <p:cNvPr id="17" name="TextBox 16">
            <a:hlinkClick action="ppaction://hlinksldjump" r:id="rId14"/>
          </p:cNvPr>
          <p:cNvSpPr txBox="1"/>
          <p:nvPr/>
        </p:nvSpPr>
        <p:spPr>
          <a:xfrm>
            <a:off x="548640" y="3794760"/>
            <a:ext cx="5486400" cy="237744"/>
          </a:xfrm>
          <a:prstGeom prst="rect">
            <a:avLst/>
          </a:prstGeom>
          <a:noFill/>
        </p:spPr>
        <p:txBody>
          <a:bodyPr wrap="square" lIns="0" rIns="0" tIns="0" bIns="0" anchor="t">
            <a:noAutofit/>
          </a:bodyPr>
          <a:lstStyle/>
          <a:p>
            <a:pPr algn="l"/>
            <a:r>
              <a:rPr sz="1200" b="1" i="0">
                <a:solidFill>
                  <a:srgbClr val="2F78C4"/>
                </a:solidFill>
                <a:latin typeface="Arial"/>
              </a:rPr>
              <a:t>23  </a:t>
            </a:r>
            <a:r>
              <a:rPr sz="1200" b="1" i="0">
                <a:solidFill>
                  <a:srgbClr val="000048"/>
                </a:solidFill>
                <a:latin typeface="Arial"/>
              </a:rPr>
              <a:t>K5  </a:t>
            </a:r>
            <a:r>
              <a:rPr sz="1200" b="0" i="0">
                <a:solidFill>
                  <a:srgbClr val="1E1E2E"/>
                </a:solidFill>
                <a:latin typeface="Arial"/>
              </a:rPr>
              <a:t>Kill-switch proof-of-concept plan</a:t>
            </a:r>
          </a:p>
        </p:txBody>
      </p:sp>
      <p:sp>
        <p:nvSpPr>
          <p:cNvPr id="18" name="TextBox 17">
            <a:hlinkClick action="ppaction://hlinksldjump" r:id="rId15"/>
          </p:cNvPr>
          <p:cNvSpPr txBox="1"/>
          <p:nvPr/>
        </p:nvSpPr>
        <p:spPr>
          <a:xfrm>
            <a:off x="548640" y="4032504"/>
            <a:ext cx="5486400" cy="237744"/>
          </a:xfrm>
          <a:prstGeom prst="rect">
            <a:avLst/>
          </a:prstGeom>
          <a:noFill/>
        </p:spPr>
        <p:txBody>
          <a:bodyPr wrap="square" lIns="0" rIns="0" tIns="0" bIns="0" anchor="t">
            <a:noAutofit/>
          </a:bodyPr>
          <a:lstStyle/>
          <a:p>
            <a:pPr algn="l"/>
            <a:r>
              <a:rPr sz="1200" b="1" i="0">
                <a:solidFill>
                  <a:srgbClr val="2F78C4"/>
                </a:solidFill>
                <a:latin typeface="Arial"/>
              </a:rPr>
              <a:t>24  </a:t>
            </a:r>
            <a:r>
              <a:rPr sz="1200" b="1" i="0">
                <a:solidFill>
                  <a:srgbClr val="000048"/>
                </a:solidFill>
                <a:latin typeface="Arial"/>
              </a:rPr>
              <a:t>K6  </a:t>
            </a:r>
            <a:r>
              <a:rPr sz="1200" b="0" i="0">
                <a:solidFill>
                  <a:srgbClr val="1E1E2E"/>
                </a:solidFill>
                <a:latin typeface="Arial"/>
              </a:rPr>
              <a:t>Kill-switch authority and liability</a:t>
            </a:r>
          </a:p>
        </p:txBody>
      </p:sp>
      <p:sp>
        <p:nvSpPr>
          <p:cNvPr id="19" name="TextBox 18">
            <a:hlinkClick action="ppaction://hlinksldjump" r:id="rId16"/>
          </p:cNvPr>
          <p:cNvSpPr txBox="1"/>
          <p:nvPr/>
        </p:nvSpPr>
        <p:spPr>
          <a:xfrm>
            <a:off x="548640" y="4270248"/>
            <a:ext cx="5486400" cy="237744"/>
          </a:xfrm>
          <a:prstGeom prst="rect">
            <a:avLst/>
          </a:prstGeom>
          <a:noFill/>
        </p:spPr>
        <p:txBody>
          <a:bodyPr wrap="square" lIns="0" rIns="0" tIns="0" bIns="0" anchor="t">
            <a:noAutofit/>
          </a:bodyPr>
          <a:lstStyle/>
          <a:p>
            <a:pPr algn="l"/>
            <a:r>
              <a:rPr sz="1200" b="1" i="0">
                <a:solidFill>
                  <a:srgbClr val="2F78C4"/>
                </a:solidFill>
                <a:latin typeface="Arial"/>
              </a:rPr>
              <a:t>25  </a:t>
            </a:r>
            <a:r>
              <a:rPr sz="1200" b="1" i="0">
                <a:solidFill>
                  <a:srgbClr val="000048"/>
                </a:solidFill>
                <a:latin typeface="Arial"/>
              </a:rPr>
              <a:t>A8  </a:t>
            </a:r>
            <a:r>
              <a:rPr sz="1200" b="0" i="0">
                <a:solidFill>
                  <a:srgbClr val="1E1E2E"/>
                </a:solidFill>
                <a:latin typeface="Arial"/>
              </a:rPr>
              <a:t>Foundry lifecycle actions by agent type</a:t>
            </a:r>
          </a:p>
        </p:txBody>
      </p:sp>
      <p:sp>
        <p:nvSpPr>
          <p:cNvPr id="20" name="TextBox 19">
            <a:hlinkClick action="ppaction://hlinksldjump" r:id="rId17"/>
          </p:cNvPr>
          <p:cNvSpPr txBox="1"/>
          <p:nvPr/>
        </p:nvSpPr>
        <p:spPr>
          <a:xfrm>
            <a:off x="548640" y="4507992"/>
            <a:ext cx="5486400" cy="237744"/>
          </a:xfrm>
          <a:prstGeom prst="rect">
            <a:avLst/>
          </a:prstGeom>
          <a:noFill/>
        </p:spPr>
        <p:txBody>
          <a:bodyPr wrap="square" lIns="0" rIns="0" tIns="0" bIns="0" anchor="t">
            <a:noAutofit/>
          </a:bodyPr>
          <a:lstStyle/>
          <a:p>
            <a:pPr algn="l"/>
            <a:r>
              <a:rPr sz="1200" b="1" i="0">
                <a:solidFill>
                  <a:srgbClr val="2F78C4"/>
                </a:solidFill>
                <a:latin typeface="Arial"/>
              </a:rPr>
              <a:t>26  </a:t>
            </a:r>
            <a:r>
              <a:rPr sz="1200" b="1" i="0">
                <a:solidFill>
                  <a:srgbClr val="000048"/>
                </a:solidFill>
                <a:latin typeface="Arial"/>
              </a:rPr>
              <a:t>A9  </a:t>
            </a:r>
            <a:r>
              <a:rPr sz="1200" b="0" i="0">
                <a:solidFill>
                  <a:srgbClr val="1E1E2E"/>
                </a:solidFill>
                <a:latin typeface="Arial"/>
              </a:rPr>
              <a:t>Runtime limits and approvals</a:t>
            </a:r>
          </a:p>
        </p:txBody>
      </p:sp>
      <p:sp>
        <p:nvSpPr>
          <p:cNvPr id="21" name="TextBox 20">
            <a:hlinkClick action="ppaction://hlinksldjump" r:id="rId18"/>
          </p:cNvPr>
          <p:cNvSpPr txBox="1"/>
          <p:nvPr/>
        </p:nvSpPr>
        <p:spPr>
          <a:xfrm>
            <a:off x="548640" y="4745736"/>
            <a:ext cx="5486400" cy="237744"/>
          </a:xfrm>
          <a:prstGeom prst="rect">
            <a:avLst/>
          </a:prstGeom>
          <a:noFill/>
        </p:spPr>
        <p:txBody>
          <a:bodyPr wrap="square" lIns="0" rIns="0" tIns="0" bIns="0" anchor="t">
            <a:noAutofit/>
          </a:bodyPr>
          <a:lstStyle/>
          <a:p>
            <a:pPr algn="l"/>
            <a:r>
              <a:rPr sz="1200" b="1" i="0">
                <a:solidFill>
                  <a:srgbClr val="2F78C4"/>
                </a:solidFill>
                <a:latin typeface="Arial"/>
              </a:rPr>
              <a:t>27  </a:t>
            </a:r>
            <a:r>
              <a:rPr sz="1200" b="1" i="0">
                <a:solidFill>
                  <a:srgbClr val="000048"/>
                </a:solidFill>
                <a:latin typeface="Arial"/>
              </a:rPr>
              <a:t>A10  </a:t>
            </a:r>
            <a:r>
              <a:rPr sz="1200" b="0" i="0">
                <a:solidFill>
                  <a:srgbClr val="1E1E2E"/>
                </a:solidFill>
                <a:latin typeface="Arial"/>
              </a:rPr>
              <a:t>Agentic retrieval loop (adapted)</a:t>
            </a:r>
          </a:p>
        </p:txBody>
      </p:sp>
      <p:sp>
        <p:nvSpPr>
          <p:cNvPr id="22" name="TextBox 21">
            <a:hlinkClick action="ppaction://hlinksldjump" r:id="rId19"/>
          </p:cNvPr>
          <p:cNvSpPr txBox="1"/>
          <p:nvPr/>
        </p:nvSpPr>
        <p:spPr>
          <a:xfrm>
            <a:off x="548640" y="4983480"/>
            <a:ext cx="5486400" cy="237744"/>
          </a:xfrm>
          <a:prstGeom prst="rect">
            <a:avLst/>
          </a:prstGeom>
          <a:noFill/>
        </p:spPr>
        <p:txBody>
          <a:bodyPr wrap="square" lIns="0" rIns="0" tIns="0" bIns="0" anchor="t">
            <a:noAutofit/>
          </a:bodyPr>
          <a:lstStyle/>
          <a:p>
            <a:pPr algn="l"/>
            <a:r>
              <a:rPr sz="1200" b="1" i="0">
                <a:solidFill>
                  <a:srgbClr val="2F78C4"/>
                </a:solidFill>
                <a:latin typeface="Arial"/>
              </a:rPr>
              <a:t>28  </a:t>
            </a:r>
            <a:r>
              <a:rPr sz="1200" b="1" i="0">
                <a:solidFill>
                  <a:srgbClr val="000048"/>
                </a:solidFill>
                <a:latin typeface="Arial"/>
              </a:rPr>
              <a:t>A11  </a:t>
            </a:r>
            <a:r>
              <a:rPr sz="1200" b="0" i="0">
                <a:solidFill>
                  <a:srgbClr val="1E1E2E"/>
                </a:solidFill>
                <a:latin typeface="Arial"/>
              </a:rPr>
              <a:t>Multi-agent workload (adapted)</a:t>
            </a:r>
          </a:p>
        </p:txBody>
      </p:sp>
      <p:sp>
        <p:nvSpPr>
          <p:cNvPr id="23" name="TextBox 22">
            <a:hlinkClick action="ppaction://hlinksldjump" r:id="rId20"/>
          </p:cNvPr>
          <p:cNvSpPr txBox="1"/>
          <p:nvPr/>
        </p:nvSpPr>
        <p:spPr>
          <a:xfrm>
            <a:off x="548640" y="5221224"/>
            <a:ext cx="5486400" cy="237744"/>
          </a:xfrm>
          <a:prstGeom prst="rect">
            <a:avLst/>
          </a:prstGeom>
          <a:noFill/>
        </p:spPr>
        <p:txBody>
          <a:bodyPr wrap="square" lIns="0" rIns="0" tIns="0" bIns="0" anchor="t">
            <a:noAutofit/>
          </a:bodyPr>
          <a:lstStyle/>
          <a:p>
            <a:pPr algn="l"/>
            <a:r>
              <a:rPr sz="1200" b="1" i="0">
                <a:solidFill>
                  <a:srgbClr val="2F78C4"/>
                </a:solidFill>
                <a:latin typeface="Arial"/>
              </a:rPr>
              <a:t>29  </a:t>
            </a:r>
            <a:r>
              <a:rPr sz="1200" b="1" i="0">
                <a:solidFill>
                  <a:srgbClr val="000048"/>
                </a:solidFill>
                <a:latin typeface="Arial"/>
              </a:rPr>
              <a:t>A12  </a:t>
            </a:r>
            <a:r>
              <a:rPr sz="1200" b="0" i="0">
                <a:solidFill>
                  <a:srgbClr val="1E1E2E"/>
                </a:solidFill>
                <a:latin typeface="Arial"/>
              </a:rPr>
              <a:t>Operations, quality and economics signals</a:t>
            </a:r>
          </a:p>
        </p:txBody>
      </p:sp>
      <p:sp>
        <p:nvSpPr>
          <p:cNvPr id="24" name="TextBox 23">
            <a:hlinkClick action="ppaction://hlinksldjump" r:id="rId21"/>
          </p:cNvPr>
          <p:cNvSpPr txBox="1"/>
          <p:nvPr/>
        </p:nvSpPr>
        <p:spPr>
          <a:xfrm>
            <a:off x="548640" y="5458968"/>
            <a:ext cx="5486400" cy="237744"/>
          </a:xfrm>
          <a:prstGeom prst="rect">
            <a:avLst/>
          </a:prstGeom>
          <a:noFill/>
        </p:spPr>
        <p:txBody>
          <a:bodyPr wrap="square" lIns="0" rIns="0" tIns="0" bIns="0" anchor="t">
            <a:noAutofit/>
          </a:bodyPr>
          <a:lstStyle/>
          <a:p>
            <a:pPr algn="l"/>
            <a:r>
              <a:rPr sz="1200" b="1" i="0">
                <a:solidFill>
                  <a:srgbClr val="2F78C4"/>
                </a:solidFill>
                <a:latin typeface="Arial"/>
              </a:rPr>
              <a:t>30  </a:t>
            </a:r>
            <a:r>
              <a:rPr sz="1200" b="1" i="0">
                <a:solidFill>
                  <a:srgbClr val="000048"/>
                </a:solidFill>
                <a:latin typeface="Arial"/>
              </a:rPr>
              <a:t>A13  </a:t>
            </a:r>
            <a:r>
              <a:rPr sz="1200" b="0" i="0">
                <a:solidFill>
                  <a:srgbClr val="1E1E2E"/>
                </a:solidFill>
                <a:latin typeface="Arial"/>
              </a:rPr>
              <a:t>Containment runbook</a:t>
            </a:r>
          </a:p>
        </p:txBody>
      </p:sp>
      <p:sp>
        <p:nvSpPr>
          <p:cNvPr id="25" name="TextBox 24">
            <a:hlinkClick action="ppaction://hlinksldjump" r:id="rId22"/>
          </p:cNvPr>
          <p:cNvSpPr txBox="1"/>
          <p:nvPr/>
        </p:nvSpPr>
        <p:spPr>
          <a:xfrm>
            <a:off x="548640" y="5696712"/>
            <a:ext cx="5486400" cy="237744"/>
          </a:xfrm>
          <a:prstGeom prst="rect">
            <a:avLst/>
          </a:prstGeom>
          <a:noFill/>
        </p:spPr>
        <p:txBody>
          <a:bodyPr wrap="square" lIns="0" rIns="0" tIns="0" bIns="0" anchor="t">
            <a:noAutofit/>
          </a:bodyPr>
          <a:lstStyle/>
          <a:p>
            <a:pPr algn="l"/>
            <a:r>
              <a:rPr sz="1200" b="1" i="0">
                <a:solidFill>
                  <a:srgbClr val="2F78C4"/>
                </a:solidFill>
                <a:latin typeface="Arial"/>
              </a:rPr>
              <a:t>31  </a:t>
            </a:r>
            <a:r>
              <a:rPr sz="1200" b="1" i="0">
                <a:solidFill>
                  <a:srgbClr val="000048"/>
                </a:solidFill>
                <a:latin typeface="Arial"/>
              </a:rPr>
              <a:t>A14  </a:t>
            </a:r>
            <a:r>
              <a:rPr sz="1200" b="0" i="0">
                <a:solidFill>
                  <a:srgbClr val="1E1E2E"/>
                </a:solidFill>
                <a:latin typeface="Arial"/>
              </a:rPr>
              <a:t>Delivery gates and acceptance</a:t>
            </a:r>
          </a:p>
        </p:txBody>
      </p:sp>
      <p:sp>
        <p:nvSpPr>
          <p:cNvPr id="26" name="TextBox 25">
            <a:hlinkClick action="ppaction://hlinksldjump" r:id="rId23"/>
          </p:cNvPr>
          <p:cNvSpPr txBox="1"/>
          <p:nvPr/>
        </p:nvSpPr>
        <p:spPr>
          <a:xfrm>
            <a:off x="548640" y="5934456"/>
            <a:ext cx="5486400" cy="237744"/>
          </a:xfrm>
          <a:prstGeom prst="rect">
            <a:avLst/>
          </a:prstGeom>
          <a:noFill/>
        </p:spPr>
        <p:txBody>
          <a:bodyPr wrap="square" lIns="0" rIns="0" tIns="0" bIns="0" anchor="t">
            <a:noAutofit/>
          </a:bodyPr>
          <a:lstStyle/>
          <a:p>
            <a:pPr algn="l"/>
            <a:r>
              <a:rPr sz="1200" b="1" i="0">
                <a:solidFill>
                  <a:srgbClr val="2F78C4"/>
                </a:solidFill>
                <a:latin typeface="Arial"/>
              </a:rPr>
              <a:t>32  </a:t>
            </a:r>
            <a:r>
              <a:rPr sz="1200" b="1" i="0">
                <a:solidFill>
                  <a:srgbClr val="000048"/>
                </a:solidFill>
                <a:latin typeface="Arial"/>
              </a:rPr>
              <a:t>A15  </a:t>
            </a:r>
            <a:r>
              <a:rPr sz="1200" b="0" i="0">
                <a:solidFill>
                  <a:srgbClr val="1E1E2E"/>
                </a:solidFill>
                <a:latin typeface="Arial"/>
              </a:rPr>
              <a:t>Dormant review and retirement</a:t>
            </a:r>
          </a:p>
        </p:txBody>
      </p:sp>
      <p:sp>
        <p:nvSpPr>
          <p:cNvPr id="27" name="TextBox 26">
            <a:hlinkClick action="ppaction://hlinksldjump" r:id="rId24"/>
          </p:cNvPr>
          <p:cNvSpPr txBox="1"/>
          <p:nvPr/>
        </p:nvSpPr>
        <p:spPr>
          <a:xfrm>
            <a:off x="6217920" y="1417320"/>
            <a:ext cx="5486400" cy="237744"/>
          </a:xfrm>
          <a:prstGeom prst="rect">
            <a:avLst/>
          </a:prstGeom>
          <a:noFill/>
        </p:spPr>
        <p:txBody>
          <a:bodyPr wrap="square" lIns="0" rIns="0" tIns="0" bIns="0" anchor="t">
            <a:noAutofit/>
          </a:bodyPr>
          <a:lstStyle/>
          <a:p>
            <a:pPr algn="l"/>
            <a:r>
              <a:rPr sz="1200" b="1" i="0">
                <a:solidFill>
                  <a:srgbClr val="2F78C4"/>
                </a:solidFill>
                <a:latin typeface="Arial"/>
              </a:rPr>
              <a:t>33  </a:t>
            </a:r>
            <a:r>
              <a:rPr sz="1200" b="1" i="0">
                <a:solidFill>
                  <a:srgbClr val="000048"/>
                </a:solidFill>
                <a:latin typeface="Arial"/>
              </a:rPr>
              <a:t>A16  </a:t>
            </a:r>
            <a:r>
              <a:rPr sz="1200" b="0" i="0">
                <a:solidFill>
                  <a:srgbClr val="1E1E2E"/>
                </a:solidFill>
                <a:latin typeface="Arial"/>
              </a:rPr>
              <a:t>Build versus buy detail</a:t>
            </a:r>
          </a:p>
        </p:txBody>
      </p:sp>
      <p:sp>
        <p:nvSpPr>
          <p:cNvPr id="28" name="TextBox 27">
            <a:hlinkClick action="ppaction://hlinksldjump" r:id="rId25"/>
          </p:cNvPr>
          <p:cNvSpPr txBox="1"/>
          <p:nvPr/>
        </p:nvSpPr>
        <p:spPr>
          <a:xfrm>
            <a:off x="6217920" y="1655064"/>
            <a:ext cx="5486400" cy="237744"/>
          </a:xfrm>
          <a:prstGeom prst="rect">
            <a:avLst/>
          </a:prstGeom>
          <a:noFill/>
        </p:spPr>
        <p:txBody>
          <a:bodyPr wrap="square" lIns="0" rIns="0" tIns="0" bIns="0" anchor="t">
            <a:noAutofit/>
          </a:bodyPr>
          <a:lstStyle/>
          <a:p>
            <a:pPr algn="l"/>
            <a:r>
              <a:rPr sz="1200" b="1" i="0">
                <a:solidFill>
                  <a:srgbClr val="2F78C4"/>
                </a:solidFill>
                <a:latin typeface="Arial"/>
              </a:rPr>
              <a:t>34  </a:t>
            </a:r>
            <a:r>
              <a:rPr sz="1200" b="1" i="0">
                <a:solidFill>
                  <a:srgbClr val="000048"/>
                </a:solidFill>
                <a:latin typeface="Arial"/>
              </a:rPr>
              <a:t>A17  </a:t>
            </a:r>
            <a:r>
              <a:rPr sz="1200" b="0" i="0">
                <a:solidFill>
                  <a:srgbClr val="1E1E2E"/>
                </a:solidFill>
                <a:latin typeface="Arial"/>
              </a:rPr>
              <a:t>Licence prerequisites</a:t>
            </a:r>
          </a:p>
        </p:txBody>
      </p:sp>
      <p:sp>
        <p:nvSpPr>
          <p:cNvPr id="29" name="TextBox 28">
            <a:hlinkClick action="ppaction://hlinksldjump" r:id="rId26"/>
          </p:cNvPr>
          <p:cNvSpPr txBox="1"/>
          <p:nvPr/>
        </p:nvSpPr>
        <p:spPr>
          <a:xfrm>
            <a:off x="6217920" y="1892808"/>
            <a:ext cx="5486400" cy="237744"/>
          </a:xfrm>
          <a:prstGeom prst="rect">
            <a:avLst/>
          </a:prstGeom>
          <a:noFill/>
        </p:spPr>
        <p:txBody>
          <a:bodyPr wrap="square" lIns="0" rIns="0" tIns="0" bIns="0" anchor="t">
            <a:noAutofit/>
          </a:bodyPr>
          <a:lstStyle/>
          <a:p>
            <a:pPr algn="l"/>
            <a:r>
              <a:rPr sz="1200" b="1" i="0">
                <a:solidFill>
                  <a:srgbClr val="2F78C4"/>
                </a:solidFill>
                <a:latin typeface="Arial"/>
              </a:rPr>
              <a:t>35  </a:t>
            </a:r>
            <a:r>
              <a:rPr sz="1200" b="1" i="0">
                <a:solidFill>
                  <a:srgbClr val="000048"/>
                </a:solidFill>
                <a:latin typeface="Arial"/>
              </a:rPr>
              <a:t>A18  </a:t>
            </a:r>
            <a:r>
              <a:rPr sz="1200" b="0" i="0">
                <a:solidFill>
                  <a:srgbClr val="1E1E2E"/>
                </a:solidFill>
                <a:latin typeface="Arial"/>
              </a:rPr>
              <a:t>Copilot Studio governance roles</a:t>
            </a:r>
          </a:p>
        </p:txBody>
      </p:sp>
      <p:sp>
        <p:nvSpPr>
          <p:cNvPr id="30" name="TextBox 29">
            <a:hlinkClick action="ppaction://hlinksldjump" r:id="rId27"/>
          </p:cNvPr>
          <p:cNvSpPr txBox="1"/>
          <p:nvPr/>
        </p:nvSpPr>
        <p:spPr>
          <a:xfrm>
            <a:off x="6217920" y="2130552"/>
            <a:ext cx="5486400" cy="237744"/>
          </a:xfrm>
          <a:prstGeom prst="rect">
            <a:avLst/>
          </a:prstGeom>
          <a:noFill/>
        </p:spPr>
        <p:txBody>
          <a:bodyPr wrap="square" lIns="0" rIns="0" tIns="0" bIns="0" anchor="t">
            <a:noAutofit/>
          </a:bodyPr>
          <a:lstStyle/>
          <a:p>
            <a:pPr algn="l"/>
            <a:r>
              <a:rPr sz="1200" b="1" i="0">
                <a:solidFill>
                  <a:srgbClr val="2F78C4"/>
                </a:solidFill>
                <a:latin typeface="Arial"/>
              </a:rPr>
              <a:t>36  </a:t>
            </a:r>
            <a:r>
              <a:rPr sz="1200" b="1" i="0">
                <a:solidFill>
                  <a:srgbClr val="000048"/>
                </a:solidFill>
                <a:latin typeface="Arial"/>
              </a:rPr>
              <a:t>FP1  </a:t>
            </a:r>
            <a:r>
              <a:rPr sz="1200" b="0" i="0">
                <a:solidFill>
                  <a:srgbClr val="1E1E2E"/>
                </a:solidFill>
                <a:latin typeface="Arial"/>
              </a:rPr>
              <a:t>Fixed-price risk controls</a:t>
            </a:r>
          </a:p>
        </p:txBody>
      </p:sp>
      <p:sp>
        <p:nvSpPr>
          <p:cNvPr id="31" name="TextBox 30">
            <a:hlinkClick action="ppaction://hlinksldjump" r:id="rId28"/>
          </p:cNvPr>
          <p:cNvSpPr txBox="1"/>
          <p:nvPr/>
        </p:nvSpPr>
        <p:spPr>
          <a:xfrm>
            <a:off x="6217920" y="2368296"/>
            <a:ext cx="5486400" cy="237744"/>
          </a:xfrm>
          <a:prstGeom prst="rect">
            <a:avLst/>
          </a:prstGeom>
          <a:noFill/>
        </p:spPr>
        <p:txBody>
          <a:bodyPr wrap="square" lIns="0" rIns="0" tIns="0" bIns="0" anchor="t">
            <a:noAutofit/>
          </a:bodyPr>
          <a:lstStyle/>
          <a:p>
            <a:pPr algn="l"/>
            <a:r>
              <a:rPr sz="1200" b="1" i="0">
                <a:solidFill>
                  <a:srgbClr val="2F78C4"/>
                </a:solidFill>
                <a:latin typeface="Arial"/>
              </a:rPr>
              <a:t>37  </a:t>
            </a:r>
            <a:r>
              <a:rPr sz="1200" b="1" i="0">
                <a:solidFill>
                  <a:srgbClr val="000048"/>
                </a:solidFill>
                <a:latin typeface="Arial"/>
              </a:rPr>
              <a:t>AU1  </a:t>
            </a:r>
            <a:r>
              <a:rPr sz="1200" b="0" i="0">
                <a:solidFill>
                  <a:srgbClr val="1E1E2E"/>
                </a:solidFill>
                <a:latin typeface="Arial"/>
              </a:rPr>
              <a:t>Audit-ready control matrix and evidence pack</a:t>
            </a:r>
          </a:p>
        </p:txBody>
      </p:sp>
      <p:sp>
        <p:nvSpPr>
          <p:cNvPr id="32" name="TextBox 31">
            <a:hlinkClick action="ppaction://hlinksldjump" r:id="rId29"/>
          </p:cNvPr>
          <p:cNvSpPr txBox="1"/>
          <p:nvPr/>
        </p:nvSpPr>
        <p:spPr>
          <a:xfrm>
            <a:off x="6217920" y="2606040"/>
            <a:ext cx="5486400" cy="237744"/>
          </a:xfrm>
          <a:prstGeom prst="rect">
            <a:avLst/>
          </a:prstGeom>
          <a:noFill/>
        </p:spPr>
        <p:txBody>
          <a:bodyPr wrap="square" lIns="0" rIns="0" tIns="0" bIns="0" anchor="t">
            <a:noAutofit/>
          </a:bodyPr>
          <a:lstStyle/>
          <a:p>
            <a:pPr algn="l"/>
            <a:r>
              <a:rPr sz="1200" b="1" i="0">
                <a:solidFill>
                  <a:srgbClr val="2F78C4"/>
                </a:solidFill>
                <a:latin typeface="Arial"/>
              </a:rPr>
              <a:t>38  </a:t>
            </a:r>
            <a:r>
              <a:rPr sz="1200" b="1" i="0">
                <a:solidFill>
                  <a:srgbClr val="000048"/>
                </a:solidFill>
                <a:latin typeface="Arial"/>
              </a:rPr>
              <a:t>ISO1  </a:t>
            </a:r>
            <a:r>
              <a:rPr sz="1200" b="0" i="0">
                <a:solidFill>
                  <a:srgbClr val="1E1E2E"/>
                </a:solidFill>
                <a:latin typeface="Arial"/>
              </a:rPr>
              <a:t>ISO/IEC 42001 readiness add-on</a:t>
            </a:r>
          </a:p>
        </p:txBody>
      </p:sp>
      <p:sp>
        <p:nvSpPr>
          <p:cNvPr id="33" name="TextBox 32">
            <a:hlinkClick action="ppaction://hlinksldjump" r:id="rId30"/>
          </p:cNvPr>
          <p:cNvSpPr txBox="1"/>
          <p:nvPr/>
        </p:nvSpPr>
        <p:spPr>
          <a:xfrm>
            <a:off x="6217920" y="2843784"/>
            <a:ext cx="5486400" cy="237744"/>
          </a:xfrm>
          <a:prstGeom prst="rect">
            <a:avLst/>
          </a:prstGeom>
          <a:noFill/>
        </p:spPr>
        <p:txBody>
          <a:bodyPr wrap="square" lIns="0" rIns="0" tIns="0" bIns="0" anchor="t">
            <a:noAutofit/>
          </a:bodyPr>
          <a:lstStyle/>
          <a:p>
            <a:pPr algn="l"/>
            <a:r>
              <a:rPr sz="1200" b="1" i="0">
                <a:solidFill>
                  <a:srgbClr val="2F78C4"/>
                </a:solidFill>
                <a:latin typeface="Arial"/>
              </a:rPr>
              <a:t>39  </a:t>
            </a:r>
            <a:r>
              <a:rPr sz="1200" b="1" i="0">
                <a:solidFill>
                  <a:srgbClr val="000048"/>
                </a:solidFill>
                <a:latin typeface="Arial"/>
              </a:rPr>
              <a:t>Q1  </a:t>
            </a:r>
            <a:r>
              <a:rPr sz="1200" b="0" i="0">
                <a:solidFill>
                  <a:srgbClr val="1E1E2E"/>
                </a:solidFill>
                <a:latin typeface="Arial"/>
              </a:rPr>
              <a:t>Qualification scorecard and account shortlist</a:t>
            </a:r>
          </a:p>
        </p:txBody>
      </p:sp>
      <p:sp>
        <p:nvSpPr>
          <p:cNvPr id="34" name="TextBox 33">
            <a:hlinkClick action="ppaction://hlinksldjump" r:id="rId31"/>
          </p:cNvPr>
          <p:cNvSpPr txBox="1"/>
          <p:nvPr/>
        </p:nvSpPr>
        <p:spPr>
          <a:xfrm>
            <a:off x="6217920" y="3081528"/>
            <a:ext cx="5486400" cy="237744"/>
          </a:xfrm>
          <a:prstGeom prst="rect">
            <a:avLst/>
          </a:prstGeom>
          <a:noFill/>
        </p:spPr>
        <p:txBody>
          <a:bodyPr wrap="square" lIns="0" rIns="0" tIns="0" bIns="0" anchor="t">
            <a:noAutofit/>
          </a:bodyPr>
          <a:lstStyle/>
          <a:p>
            <a:pPr algn="l"/>
            <a:r>
              <a:rPr sz="1200" b="1" i="0">
                <a:solidFill>
                  <a:srgbClr val="2F78C4"/>
                </a:solidFill>
                <a:latin typeface="Arial"/>
              </a:rPr>
              <a:t>40  </a:t>
            </a:r>
            <a:r>
              <a:rPr sz="1200" b="1" i="0">
                <a:solidFill>
                  <a:srgbClr val="000048"/>
                </a:solidFill>
                <a:latin typeface="Arial"/>
              </a:rPr>
              <a:t>E1  </a:t>
            </a:r>
            <a:r>
              <a:rPr sz="1200" b="0" i="0">
                <a:solidFill>
                  <a:srgbClr val="1E1E2E"/>
                </a:solidFill>
                <a:latin typeface="Arial"/>
              </a:rPr>
              <a:t>Estimate assumptions</a:t>
            </a:r>
          </a:p>
        </p:txBody>
      </p:sp>
      <p:sp>
        <p:nvSpPr>
          <p:cNvPr id="35" name="TextBox 34">
            <a:hlinkClick action="ppaction://hlinksldjump" r:id="rId32"/>
          </p:cNvPr>
          <p:cNvSpPr txBox="1"/>
          <p:nvPr/>
        </p:nvSpPr>
        <p:spPr>
          <a:xfrm>
            <a:off x="6217920" y="3319272"/>
            <a:ext cx="5486400" cy="237744"/>
          </a:xfrm>
          <a:prstGeom prst="rect">
            <a:avLst/>
          </a:prstGeom>
          <a:noFill/>
        </p:spPr>
        <p:txBody>
          <a:bodyPr wrap="square" lIns="0" rIns="0" tIns="0" bIns="0" anchor="t">
            <a:noAutofit/>
          </a:bodyPr>
          <a:lstStyle/>
          <a:p>
            <a:pPr algn="l"/>
            <a:r>
              <a:rPr sz="1200" b="1" i="0">
                <a:solidFill>
                  <a:srgbClr val="2F78C4"/>
                </a:solidFill>
                <a:latin typeface="Arial"/>
              </a:rPr>
              <a:t>41  </a:t>
            </a:r>
            <a:r>
              <a:rPr sz="1200" b="1" i="0">
                <a:solidFill>
                  <a:srgbClr val="000048"/>
                </a:solidFill>
                <a:latin typeface="Arial"/>
              </a:rPr>
              <a:t>SEC1  </a:t>
            </a:r>
            <a:r>
              <a:rPr sz="1200" b="0" i="0">
                <a:solidFill>
                  <a:srgbClr val="1E1E2E"/>
                </a:solidFill>
                <a:latin typeface="Arial"/>
              </a:rPr>
              <a:t>AI threat model and controls</a:t>
            </a:r>
          </a:p>
        </p:txBody>
      </p:sp>
      <p:sp>
        <p:nvSpPr>
          <p:cNvPr id="36" name="TextBox 35">
            <a:hlinkClick action="ppaction://hlinksldjump" r:id="rId33"/>
          </p:cNvPr>
          <p:cNvSpPr txBox="1"/>
          <p:nvPr/>
        </p:nvSpPr>
        <p:spPr>
          <a:xfrm>
            <a:off x="6217920" y="3557015"/>
            <a:ext cx="5486400" cy="237744"/>
          </a:xfrm>
          <a:prstGeom prst="rect">
            <a:avLst/>
          </a:prstGeom>
          <a:noFill/>
        </p:spPr>
        <p:txBody>
          <a:bodyPr wrap="square" lIns="0" rIns="0" tIns="0" bIns="0" anchor="t">
            <a:noAutofit/>
          </a:bodyPr>
          <a:lstStyle/>
          <a:p>
            <a:pPr algn="l"/>
            <a:r>
              <a:rPr sz="1200" b="1" i="0">
                <a:solidFill>
                  <a:srgbClr val="2F78C4"/>
                </a:solidFill>
                <a:latin typeface="Arial"/>
              </a:rPr>
              <a:t>42  </a:t>
            </a:r>
            <a:r>
              <a:rPr sz="1200" b="1" i="0">
                <a:solidFill>
                  <a:srgbClr val="000048"/>
                </a:solidFill>
                <a:latin typeface="Arial"/>
              </a:rPr>
              <a:t>SEC2  </a:t>
            </a:r>
            <a:r>
              <a:rPr sz="1200" b="0" i="0">
                <a:solidFill>
                  <a:srgbClr val="1E1E2E"/>
                </a:solidFill>
                <a:latin typeface="Arial"/>
              </a:rPr>
              <a:t>Regulation and EU AI Act roles</a:t>
            </a:r>
          </a:p>
        </p:txBody>
      </p:sp>
      <p:sp>
        <p:nvSpPr>
          <p:cNvPr id="37" name="TextBox 36">
            <a:hlinkClick action="ppaction://hlinksldjump" r:id="rId34"/>
          </p:cNvPr>
          <p:cNvSpPr txBox="1"/>
          <p:nvPr/>
        </p:nvSpPr>
        <p:spPr>
          <a:xfrm>
            <a:off x="6217920" y="3794760"/>
            <a:ext cx="5486400" cy="237744"/>
          </a:xfrm>
          <a:prstGeom prst="rect">
            <a:avLst/>
          </a:prstGeom>
          <a:noFill/>
        </p:spPr>
        <p:txBody>
          <a:bodyPr wrap="square" lIns="0" rIns="0" tIns="0" bIns="0" anchor="t">
            <a:noAutofit/>
          </a:bodyPr>
          <a:lstStyle/>
          <a:p>
            <a:pPr algn="l"/>
            <a:r>
              <a:rPr sz="1200" b="1" i="0">
                <a:solidFill>
                  <a:srgbClr val="2F78C4"/>
                </a:solidFill>
                <a:latin typeface="Arial"/>
              </a:rPr>
              <a:t>43  </a:t>
            </a:r>
            <a:r>
              <a:rPr sz="1200" b="1" i="0">
                <a:solidFill>
                  <a:srgbClr val="000048"/>
                </a:solidFill>
                <a:latin typeface="Arial"/>
              </a:rPr>
              <a:t>G1  </a:t>
            </a:r>
            <a:r>
              <a:rPr sz="1200" b="0" i="0">
                <a:solidFill>
                  <a:srgbClr val="1E1E2E"/>
                </a:solidFill>
                <a:latin typeface="Arial"/>
              </a:rPr>
              <a:t>Glossary</a:t>
            </a:r>
          </a:p>
        </p:txBody>
      </p:sp>
      <p:sp>
        <p:nvSpPr>
          <p:cNvPr id="38" name="TextBox 37">
            <a:hlinkClick action="ppaction://hlinksldjump" r:id="rId35"/>
          </p:cNvPr>
          <p:cNvSpPr txBox="1"/>
          <p:nvPr/>
        </p:nvSpPr>
        <p:spPr>
          <a:xfrm>
            <a:off x="6217920" y="4032504"/>
            <a:ext cx="5486400" cy="237744"/>
          </a:xfrm>
          <a:prstGeom prst="rect">
            <a:avLst/>
          </a:prstGeom>
          <a:noFill/>
        </p:spPr>
        <p:txBody>
          <a:bodyPr wrap="square" lIns="0" rIns="0" tIns="0" bIns="0" anchor="t">
            <a:noAutofit/>
          </a:bodyPr>
          <a:lstStyle/>
          <a:p>
            <a:pPr algn="l"/>
            <a:r>
              <a:rPr sz="1200" b="1" i="0">
                <a:solidFill>
                  <a:srgbClr val="2F78C4"/>
                </a:solidFill>
                <a:latin typeface="Arial"/>
              </a:rPr>
              <a:t>44  </a:t>
            </a:r>
            <a:r>
              <a:rPr sz="1200" b="1" i="0">
                <a:solidFill>
                  <a:srgbClr val="000048"/>
                </a:solidFill>
                <a:latin typeface="Arial"/>
              </a:rPr>
              <a:t>DP1  </a:t>
            </a:r>
            <a:r>
              <a:rPr sz="1200" b="0" i="0">
                <a:solidFill>
                  <a:srgbClr val="1E1E2E"/>
                </a:solidFill>
                <a:latin typeface="Arial"/>
              </a:rPr>
              <a:t>Delivery bench and presales kit</a:t>
            </a:r>
          </a:p>
        </p:txBody>
      </p:sp>
      <p:sp>
        <p:nvSpPr>
          <p:cNvPr id="39" name="TextBox 38">
            <a:hlinkClick action="ppaction://hlinksldjump" r:id="rId36"/>
          </p:cNvPr>
          <p:cNvSpPr txBox="1"/>
          <p:nvPr/>
        </p:nvSpPr>
        <p:spPr>
          <a:xfrm>
            <a:off x="6217920" y="4270248"/>
            <a:ext cx="5486400" cy="237744"/>
          </a:xfrm>
          <a:prstGeom prst="rect">
            <a:avLst/>
          </a:prstGeom>
          <a:noFill/>
        </p:spPr>
        <p:txBody>
          <a:bodyPr wrap="square" lIns="0" rIns="0" tIns="0" bIns="0" anchor="t">
            <a:noAutofit/>
          </a:bodyPr>
          <a:lstStyle/>
          <a:p>
            <a:pPr algn="l"/>
            <a:r>
              <a:rPr sz="1200" b="1" i="0">
                <a:solidFill>
                  <a:srgbClr val="2F78C4"/>
                </a:solidFill>
                <a:latin typeface="Arial"/>
              </a:rPr>
              <a:t>45  </a:t>
            </a:r>
            <a:r>
              <a:rPr sz="1200" b="1" i="0">
                <a:solidFill>
                  <a:srgbClr val="000048"/>
                </a:solidFill>
                <a:latin typeface="Arial"/>
              </a:rPr>
              <a:t>AC1  </a:t>
            </a:r>
            <a:r>
              <a:rPr sz="1200" b="0" i="0">
                <a:solidFill>
                  <a:srgbClr val="1E1E2E"/>
                </a:solidFill>
                <a:latin typeface="Arial"/>
              </a:rPr>
              <a:t>Account play and contract risk</a:t>
            </a:r>
          </a:p>
        </p:txBody>
      </p:sp>
      <p:sp>
        <p:nvSpPr>
          <p:cNvPr id="40" name="TextBox 39">
            <a:hlinkClick action="ppaction://hlinksldjump" r:id="rId37"/>
          </p:cNvPr>
          <p:cNvSpPr txBox="1"/>
          <p:nvPr/>
        </p:nvSpPr>
        <p:spPr>
          <a:xfrm>
            <a:off x="6217920" y="4507992"/>
            <a:ext cx="5486400" cy="237744"/>
          </a:xfrm>
          <a:prstGeom prst="rect">
            <a:avLst/>
          </a:prstGeom>
          <a:noFill/>
        </p:spPr>
        <p:txBody>
          <a:bodyPr wrap="square" lIns="0" rIns="0" tIns="0" bIns="0" anchor="t">
            <a:noAutofit/>
          </a:bodyPr>
          <a:lstStyle/>
          <a:p>
            <a:pPr algn="l"/>
            <a:r>
              <a:rPr sz="1200" b="1" i="0">
                <a:solidFill>
                  <a:srgbClr val="2F78C4"/>
                </a:solidFill>
                <a:latin typeface="Arial"/>
              </a:rPr>
              <a:t>46  </a:t>
            </a:r>
            <a:r>
              <a:rPr sz="1200" b="1" i="0">
                <a:solidFill>
                  <a:srgbClr val="000048"/>
                </a:solidFill>
                <a:latin typeface="Arial"/>
              </a:rPr>
              <a:t>C1  </a:t>
            </a:r>
            <a:r>
              <a:rPr sz="1200" b="0" i="0">
                <a:solidFill>
                  <a:srgbClr val="1E1E2E"/>
                </a:solidFill>
                <a:latin typeface="Arial"/>
              </a:rPr>
              <a:t>Cost layers and pricing formula</a:t>
            </a:r>
          </a:p>
        </p:txBody>
      </p:sp>
      <p:sp>
        <p:nvSpPr>
          <p:cNvPr id="41" name="TextBox 40">
            <a:hlinkClick action="ppaction://hlinksldjump" r:id="rId38"/>
          </p:cNvPr>
          <p:cNvSpPr txBox="1"/>
          <p:nvPr/>
        </p:nvSpPr>
        <p:spPr>
          <a:xfrm>
            <a:off x="6217920" y="4745736"/>
            <a:ext cx="5486400" cy="237744"/>
          </a:xfrm>
          <a:prstGeom prst="rect">
            <a:avLst/>
          </a:prstGeom>
          <a:noFill/>
        </p:spPr>
        <p:txBody>
          <a:bodyPr wrap="square" lIns="0" rIns="0" tIns="0" bIns="0" anchor="t">
            <a:noAutofit/>
          </a:bodyPr>
          <a:lstStyle/>
          <a:p>
            <a:pPr algn="l"/>
            <a:r>
              <a:rPr sz="1200" b="1" i="0">
                <a:solidFill>
                  <a:srgbClr val="2F78C4"/>
                </a:solidFill>
                <a:latin typeface="Arial"/>
              </a:rPr>
              <a:t>47  </a:t>
            </a:r>
            <a:r>
              <a:rPr sz="1200" b="1" i="0">
                <a:solidFill>
                  <a:srgbClr val="000048"/>
                </a:solidFill>
                <a:latin typeface="Arial"/>
              </a:rPr>
              <a:t>R1  </a:t>
            </a:r>
            <a:r>
              <a:rPr sz="1200" b="0" i="0">
                <a:solidFill>
                  <a:srgbClr val="1E1E2E"/>
                </a:solidFill>
                <a:latin typeface="Arial"/>
              </a:rPr>
              <a:t>RACI matrix</a:t>
            </a:r>
          </a:p>
        </p:txBody>
      </p:sp>
      <p:sp>
        <p:nvSpPr>
          <p:cNvPr id="42" name="TextBox 41">
            <a:hlinkClick action="ppaction://hlinksldjump" r:id="rId39"/>
          </p:cNvPr>
          <p:cNvSpPr txBox="1"/>
          <p:nvPr/>
        </p:nvSpPr>
        <p:spPr>
          <a:xfrm>
            <a:off x="6217920" y="4983480"/>
            <a:ext cx="5486400" cy="237744"/>
          </a:xfrm>
          <a:prstGeom prst="rect">
            <a:avLst/>
          </a:prstGeom>
          <a:noFill/>
        </p:spPr>
        <p:txBody>
          <a:bodyPr wrap="square" lIns="0" rIns="0" tIns="0" bIns="0" anchor="t">
            <a:noAutofit/>
          </a:bodyPr>
          <a:lstStyle/>
          <a:p>
            <a:pPr algn="l"/>
            <a:r>
              <a:rPr sz="1200" b="1" i="0">
                <a:solidFill>
                  <a:srgbClr val="2F78C4"/>
                </a:solidFill>
                <a:latin typeface="Arial"/>
              </a:rPr>
              <a:t>48  </a:t>
            </a:r>
            <a:r>
              <a:rPr sz="1200" b="1" i="0">
                <a:solidFill>
                  <a:srgbClr val="000048"/>
                </a:solidFill>
                <a:latin typeface="Arial"/>
              </a:rPr>
              <a:t>R3  </a:t>
            </a:r>
            <a:r>
              <a:rPr sz="1200" b="0" i="0">
                <a:solidFill>
                  <a:srgbClr val="1E1E2E"/>
                </a:solidFill>
                <a:latin typeface="Arial"/>
              </a:rPr>
              <a:t>Delivery and commercial readiness</a:t>
            </a:r>
          </a:p>
        </p:txBody>
      </p:sp>
      <p:sp>
        <p:nvSpPr>
          <p:cNvPr id="43" name="TextBox 42">
            <a:hlinkClick action="ppaction://hlinksldjump" r:id="rId40"/>
          </p:cNvPr>
          <p:cNvSpPr txBox="1"/>
          <p:nvPr/>
        </p:nvSpPr>
        <p:spPr>
          <a:xfrm>
            <a:off x="6217920" y="5221224"/>
            <a:ext cx="5486400" cy="237744"/>
          </a:xfrm>
          <a:prstGeom prst="rect">
            <a:avLst/>
          </a:prstGeom>
          <a:noFill/>
        </p:spPr>
        <p:txBody>
          <a:bodyPr wrap="square" lIns="0" rIns="0" tIns="0" bIns="0" anchor="t">
            <a:noAutofit/>
          </a:bodyPr>
          <a:lstStyle/>
          <a:p>
            <a:pPr algn="l"/>
            <a:r>
              <a:rPr sz="1200" b="1" i="0">
                <a:solidFill>
                  <a:srgbClr val="2F78C4"/>
                </a:solidFill>
                <a:latin typeface="Arial"/>
              </a:rPr>
              <a:t>49  </a:t>
            </a:r>
            <a:r>
              <a:rPr sz="1200" b="1" i="0">
                <a:solidFill>
                  <a:srgbClr val="000048"/>
                </a:solidFill>
                <a:latin typeface="Arial"/>
              </a:rPr>
              <a:t>D1  </a:t>
            </a:r>
            <a:r>
              <a:rPr sz="1200" b="0" i="0">
                <a:solidFill>
                  <a:srgbClr val="1E1E2E"/>
                </a:solidFill>
                <a:latin typeface="Arial"/>
              </a:rPr>
              <a:t>Decision and approval register</a:t>
            </a:r>
          </a:p>
        </p:txBody>
      </p:sp>
      <p:sp>
        <p:nvSpPr>
          <p:cNvPr id="44" name="TextBox 43">
            <a:hlinkClick action="ppaction://hlinksldjump" r:id="rId41"/>
          </p:cNvPr>
          <p:cNvSpPr txBox="1"/>
          <p:nvPr/>
        </p:nvSpPr>
        <p:spPr>
          <a:xfrm>
            <a:off x="6217920" y="5458968"/>
            <a:ext cx="5486400" cy="237744"/>
          </a:xfrm>
          <a:prstGeom prst="rect">
            <a:avLst/>
          </a:prstGeom>
          <a:noFill/>
        </p:spPr>
        <p:txBody>
          <a:bodyPr wrap="square" lIns="0" rIns="0" tIns="0" bIns="0" anchor="t">
            <a:noAutofit/>
          </a:bodyPr>
          <a:lstStyle/>
          <a:p>
            <a:pPr algn="l"/>
            <a:r>
              <a:rPr sz="1200" b="1" i="0">
                <a:solidFill>
                  <a:srgbClr val="2F78C4"/>
                </a:solidFill>
                <a:latin typeface="Arial"/>
              </a:rPr>
              <a:t>50  </a:t>
            </a:r>
            <a:r>
              <a:rPr sz="1200" b="1" i="0">
                <a:solidFill>
                  <a:srgbClr val="000048"/>
                </a:solidFill>
                <a:latin typeface="Arial"/>
              </a:rPr>
              <a:t>S1  </a:t>
            </a:r>
            <a:r>
              <a:rPr sz="1200" b="0" i="0">
                <a:solidFill>
                  <a:srgbClr val="1E1E2E"/>
                </a:solidFill>
                <a:latin typeface="Arial"/>
              </a:rPr>
              <a:t>Sources and verification dates</a:t>
            </a:r>
          </a:p>
        </p:txBody>
      </p:sp>
      <p:sp>
        <p:nvSpPr>
          <p:cNvPr id="45" name="TextBox 44">
            <a:hlinkClick action="ppaction://hlinksldjump" r:id="rId42"/>
          </p:cNvPr>
          <p:cNvSpPr txBox="1"/>
          <p:nvPr/>
        </p:nvSpPr>
        <p:spPr>
          <a:xfrm>
            <a:off x="6217920" y="5696712"/>
            <a:ext cx="5486400" cy="237744"/>
          </a:xfrm>
          <a:prstGeom prst="rect">
            <a:avLst/>
          </a:prstGeom>
          <a:noFill/>
        </p:spPr>
        <p:txBody>
          <a:bodyPr wrap="square" lIns="0" rIns="0" tIns="0" bIns="0" anchor="t">
            <a:noAutofit/>
          </a:bodyPr>
          <a:lstStyle/>
          <a:p>
            <a:pPr algn="l"/>
            <a:r>
              <a:rPr sz="1200" b="1" i="0">
                <a:solidFill>
                  <a:srgbClr val="2F78C4"/>
                </a:solidFill>
                <a:latin typeface="Arial"/>
              </a:rPr>
              <a:t>51  </a:t>
            </a:r>
            <a:r>
              <a:rPr sz="1200" b="1" i="0">
                <a:solidFill>
                  <a:srgbClr val="000048"/>
                </a:solidFill>
                <a:latin typeface="Arial"/>
              </a:rPr>
              <a:t>S1b  </a:t>
            </a:r>
            <a:r>
              <a:rPr sz="1200" b="0" i="0">
                <a:solidFill>
                  <a:srgbClr val="1E1E2E"/>
                </a:solidFill>
                <a:latin typeface="Arial"/>
              </a:rPr>
              <a:t>Sources and verification dates (continued)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No telemetry is not proof of no usage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A0</a:t>
            </a:r>
          </a:p>
        </p:txBody>
      </p:sp>
      <p:sp>
        <p:nvSpPr>
          <p:cNvPr id="5" name="Status chip: PROPOSED RULE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RULES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sp>
        <p:nvSpPr>
          <p:cNvPr id="9" name="Rounded Rectangle 8"/>
          <p:cNvSpPr/>
          <p:nvPr/>
        </p:nvSpPr>
        <p:spPr>
          <a:xfrm>
            <a:off x="548640" y="1371600"/>
            <a:ext cx="2743200" cy="603504"/>
          </a:xfrm>
          <a:prstGeom prst="roundRect">
            <a:avLst>
              <a:gd name="adj" fmla="val 12121"/>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1D6B3A"/>
                </a:solidFill>
                <a:latin typeface="Arial"/>
              </a:rPr>
              <a:t>Active</a:t>
            </a:r>
          </a:p>
        </p:txBody>
      </p:sp>
      <p:sp>
        <p:nvSpPr>
          <p:cNvPr id="10" name="TextBox 9"/>
          <p:cNvSpPr txBox="1"/>
          <p:nvPr/>
        </p:nvSpPr>
        <p:spPr>
          <a:xfrm>
            <a:off x="3520440" y="1481328"/>
            <a:ext cx="5120640" cy="457200"/>
          </a:xfrm>
          <a:prstGeom prst="rect">
            <a:avLst/>
          </a:prstGeom>
          <a:noFill/>
        </p:spPr>
        <p:txBody>
          <a:bodyPr wrap="square" lIns="0" rIns="0" tIns="0" bIns="0" anchor="t">
            <a:noAutofit/>
          </a:bodyPr>
          <a:lstStyle/>
          <a:p>
            <a:pPr algn="l"/>
            <a:r>
              <a:rPr sz="1700" b="0" i="0">
                <a:solidFill>
                  <a:srgbClr val="1E1E2E"/>
                </a:solidFill>
                <a:latin typeface="Arial"/>
              </a:rPr>
              <a:t>Qualifying runs in the last 30 days</a:t>
            </a:r>
          </a:p>
        </p:txBody>
      </p:sp>
      <p:sp>
        <p:nvSpPr>
          <p:cNvPr id="11" name="TextBox 10"/>
          <p:cNvSpPr txBox="1"/>
          <p:nvPr/>
        </p:nvSpPr>
        <p:spPr>
          <a:xfrm>
            <a:off x="8778240" y="1481328"/>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Monitor outcomes</a:t>
            </a:r>
          </a:p>
        </p:txBody>
      </p:sp>
      <p:sp>
        <p:nvSpPr>
          <p:cNvPr id="12" name="Rounded Rectangle 11"/>
          <p:cNvSpPr/>
          <p:nvPr/>
        </p:nvSpPr>
        <p:spPr>
          <a:xfrm>
            <a:off x="548640" y="2084832"/>
            <a:ext cx="2743200" cy="603504"/>
          </a:xfrm>
          <a:prstGeom prst="roundRect">
            <a:avLst>
              <a:gd name="adj" fmla="val 1212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Never observed</a:t>
            </a:r>
          </a:p>
        </p:txBody>
      </p:sp>
      <p:sp>
        <p:nvSpPr>
          <p:cNvPr id="13" name="TextBox 12"/>
          <p:cNvSpPr txBox="1"/>
          <p:nvPr/>
        </p:nvSpPr>
        <p:spPr>
          <a:xfrm>
            <a:off x="3520440" y="2194560"/>
            <a:ext cx="5120640" cy="457200"/>
          </a:xfrm>
          <a:prstGeom prst="rect">
            <a:avLst/>
          </a:prstGeom>
          <a:noFill/>
        </p:spPr>
        <p:txBody>
          <a:bodyPr wrap="square" lIns="0" rIns="0" tIns="0" bIns="0" anchor="t">
            <a:noAutofit/>
          </a:bodyPr>
          <a:lstStyle/>
          <a:p>
            <a:pPr algn="l"/>
            <a:r>
              <a:rPr sz="1700" b="0" i="0">
                <a:solidFill>
                  <a:srgbClr val="1E1E2E"/>
                </a:solidFill>
                <a:latin typeface="Arial"/>
              </a:rPr>
              <a:t>Deployed; no run recorded since onboarding</a:t>
            </a:r>
          </a:p>
        </p:txBody>
      </p:sp>
      <p:sp>
        <p:nvSpPr>
          <p:cNvPr id="14" name="TextBox 13"/>
          <p:cNvSpPr txBox="1"/>
          <p:nvPr/>
        </p:nvSpPr>
        <p:spPr>
          <a:xfrm>
            <a:off x="8778240" y="2194560"/>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Validate onboarding</a:t>
            </a:r>
          </a:p>
        </p:txBody>
      </p:sp>
      <p:sp>
        <p:nvSpPr>
          <p:cNvPr id="15" name="Rounded Rectangle 14"/>
          <p:cNvSpPr/>
          <p:nvPr/>
        </p:nvSpPr>
        <p:spPr>
          <a:xfrm>
            <a:off x="548640" y="2798064"/>
            <a:ext cx="2743200" cy="603504"/>
          </a:xfrm>
          <a:prstGeom prst="roundRect">
            <a:avLst>
              <a:gd name="adj" fmla="val 1212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8A4B08"/>
                </a:solidFill>
                <a:latin typeface="Arial"/>
              </a:rPr>
              <a:t>Dormant candidate</a:t>
            </a:r>
          </a:p>
        </p:txBody>
      </p:sp>
      <p:sp>
        <p:nvSpPr>
          <p:cNvPr id="16" name="TextBox 15"/>
          <p:cNvSpPr txBox="1"/>
          <p:nvPr/>
        </p:nvSpPr>
        <p:spPr>
          <a:xfrm>
            <a:off x="3520440" y="2907792"/>
            <a:ext cx="5120640" cy="457200"/>
          </a:xfrm>
          <a:prstGeom prst="rect">
            <a:avLst/>
          </a:prstGeom>
          <a:noFill/>
        </p:spPr>
        <p:txBody>
          <a:bodyPr wrap="square" lIns="0" rIns="0" tIns="0" bIns="0" anchor="t">
            <a:noAutofit/>
          </a:bodyPr>
          <a:lstStyle/>
          <a:p>
            <a:pPr algn="l"/>
            <a:r>
              <a:rPr sz="1700" b="0" i="0">
                <a:solidFill>
                  <a:srgbClr val="1E1E2E"/>
                </a:solidFill>
                <a:latin typeface="Arial"/>
              </a:rPr>
              <a:t>No runs for 30 days; telemetry healthy</a:t>
            </a:r>
          </a:p>
        </p:txBody>
      </p:sp>
      <p:sp>
        <p:nvSpPr>
          <p:cNvPr id="17" name="TextBox 16"/>
          <p:cNvSpPr txBox="1"/>
          <p:nvPr/>
        </p:nvSpPr>
        <p:spPr>
          <a:xfrm>
            <a:off x="8778240" y="2907792"/>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Owner review</a:t>
            </a:r>
          </a:p>
        </p:txBody>
      </p:sp>
      <p:sp>
        <p:nvSpPr>
          <p:cNvPr id="18" name="Rounded Rectangle 17"/>
          <p:cNvSpPr/>
          <p:nvPr/>
        </p:nvSpPr>
        <p:spPr>
          <a:xfrm>
            <a:off x="548640" y="3511296"/>
            <a:ext cx="2743200" cy="603504"/>
          </a:xfrm>
          <a:prstGeom prst="roundRect">
            <a:avLst>
              <a:gd name="adj" fmla="val 12121"/>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53565A"/>
                </a:solidFill>
                <a:latin typeface="Arial"/>
              </a:rPr>
              <a:t>Telemetry unknown</a:t>
            </a:r>
          </a:p>
        </p:txBody>
      </p:sp>
      <p:sp>
        <p:nvSpPr>
          <p:cNvPr id="19" name="TextBox 18"/>
          <p:cNvSpPr txBox="1"/>
          <p:nvPr/>
        </p:nvSpPr>
        <p:spPr>
          <a:xfrm>
            <a:off x="3520440" y="3621024"/>
            <a:ext cx="5120640" cy="457200"/>
          </a:xfrm>
          <a:prstGeom prst="rect">
            <a:avLst/>
          </a:prstGeom>
          <a:noFill/>
        </p:spPr>
        <p:txBody>
          <a:bodyPr wrap="square" lIns="0" rIns="0" tIns="0" bIns="0" anchor="t">
            <a:noAutofit/>
          </a:bodyPr>
          <a:lstStyle/>
          <a:p>
            <a:pPr algn="l"/>
            <a:r>
              <a:rPr sz="1700" b="0" i="0">
                <a:solidFill>
                  <a:srgbClr val="1E1E2E"/>
                </a:solidFill>
                <a:latin typeface="Arial"/>
              </a:rPr>
              <a:t>Telemetry missing, stale or unhealthy</a:t>
            </a:r>
          </a:p>
        </p:txBody>
      </p:sp>
      <p:sp>
        <p:nvSpPr>
          <p:cNvPr id="20" name="TextBox 19"/>
          <p:cNvSpPr txBox="1"/>
          <p:nvPr/>
        </p:nvSpPr>
        <p:spPr>
          <a:xfrm>
            <a:off x="8778240" y="3621024"/>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Repair monitoring</a:t>
            </a:r>
          </a:p>
        </p:txBody>
      </p:sp>
      <p:sp>
        <p:nvSpPr>
          <p:cNvPr id="21" name="Rounded Rectangle 20"/>
          <p:cNvSpPr/>
          <p:nvPr/>
        </p:nvSpPr>
        <p:spPr>
          <a:xfrm>
            <a:off x="548640" y="4224528"/>
            <a:ext cx="2743200" cy="603504"/>
          </a:xfrm>
          <a:prstGeom prst="roundRect">
            <a:avLst>
              <a:gd name="adj" fmla="val 12121"/>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A4262C"/>
                </a:solidFill>
                <a:latin typeface="Arial"/>
              </a:rPr>
              <a:t>Orphaned</a:t>
            </a:r>
          </a:p>
        </p:txBody>
      </p:sp>
      <p:sp>
        <p:nvSpPr>
          <p:cNvPr id="22" name="TextBox 21"/>
          <p:cNvSpPr txBox="1"/>
          <p:nvPr/>
        </p:nvSpPr>
        <p:spPr>
          <a:xfrm>
            <a:off x="3520440" y="4334256"/>
            <a:ext cx="5120640" cy="457200"/>
          </a:xfrm>
          <a:prstGeom prst="rect">
            <a:avLst/>
          </a:prstGeom>
          <a:noFill/>
        </p:spPr>
        <p:txBody>
          <a:bodyPr wrap="square" lIns="0" rIns="0" tIns="0" bIns="0" anchor="t">
            <a:noAutofit/>
          </a:bodyPr>
          <a:lstStyle/>
          <a:p>
            <a:pPr algn="l"/>
            <a:r>
              <a:rPr sz="1700" b="0" i="0">
                <a:solidFill>
                  <a:srgbClr val="1E1E2E"/>
                </a:solidFill>
                <a:latin typeface="Arial"/>
              </a:rPr>
              <a:t>No valid owner, or resource without record</a:t>
            </a:r>
          </a:p>
        </p:txBody>
      </p:sp>
      <p:sp>
        <p:nvSpPr>
          <p:cNvPr id="23" name="TextBox 22"/>
          <p:cNvSpPr txBox="1"/>
          <p:nvPr/>
        </p:nvSpPr>
        <p:spPr>
          <a:xfrm>
            <a:off x="8778240" y="4334256"/>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Assign or retire</a:t>
            </a:r>
          </a:p>
        </p:txBody>
      </p:sp>
      <p:sp>
        <p:nvSpPr>
          <p:cNvPr id="24" name="Rounded Rectangle 23"/>
          <p:cNvSpPr/>
          <p:nvPr/>
        </p:nvSpPr>
        <p:spPr>
          <a:xfrm>
            <a:off x="548640" y="4937760"/>
            <a:ext cx="2743200" cy="603504"/>
          </a:xfrm>
          <a:prstGeom prst="roundRect">
            <a:avLst>
              <a:gd name="adj" fmla="val 12121"/>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Blocked or retired</a:t>
            </a:r>
          </a:p>
        </p:txBody>
      </p:sp>
      <p:sp>
        <p:nvSpPr>
          <p:cNvPr id="25" name="TextBox 24"/>
          <p:cNvSpPr txBox="1"/>
          <p:nvPr/>
        </p:nvSpPr>
        <p:spPr>
          <a:xfrm>
            <a:off x="3520440" y="5047488"/>
            <a:ext cx="5120640" cy="457200"/>
          </a:xfrm>
          <a:prstGeom prst="rect">
            <a:avLst/>
          </a:prstGeom>
          <a:noFill/>
        </p:spPr>
        <p:txBody>
          <a:bodyPr wrap="square" lIns="0" rIns="0" tIns="0" bIns="0" anchor="t">
            <a:noAutofit/>
          </a:bodyPr>
          <a:lstStyle/>
          <a:p>
            <a:pPr algn="l"/>
            <a:r>
              <a:rPr sz="1700" b="0" i="0">
                <a:solidFill>
                  <a:srgbClr val="1E1E2E"/>
                </a:solidFill>
                <a:latin typeface="Arial"/>
              </a:rPr>
              <a:t>Recorded lifecycle decision</a:t>
            </a:r>
          </a:p>
        </p:txBody>
      </p:sp>
      <p:sp>
        <p:nvSpPr>
          <p:cNvPr id="26" name="TextBox 25"/>
          <p:cNvSpPr txBox="1"/>
          <p:nvPr/>
        </p:nvSpPr>
        <p:spPr>
          <a:xfrm>
            <a:off x="8778240" y="5047488"/>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Verify residual resources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Custom gap layer: detailed reference architecture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Status chip: PROPOSED REFERENCE ARCHITECTURE"/>
          <p:cNvSpPr/>
          <p:nvPr/>
        </p:nvSpPr>
        <p:spPr>
          <a:xfrm>
            <a:off x="189865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2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sp>
        <p:nvSpPr>
          <p:cNvPr id="9" name="Rounded Rectangle 8"/>
          <p:cNvSpPr/>
          <p:nvPr/>
        </p:nvSpPr>
        <p:spPr>
          <a:xfrm>
            <a:off x="548640" y="1600200"/>
            <a:ext cx="219456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zure DevOps" descr="Official Azure icon: Azure DevO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26463" y="1673352"/>
            <a:ext cx="438912" cy="438912"/>
          </a:xfrm>
          <a:prstGeom prst="rect">
            <a:avLst/>
          </a:prstGeom>
        </p:spPr>
      </p:pic>
      <p:sp>
        <p:nvSpPr>
          <p:cNvPr id="11" name="TextBox 10"/>
          <p:cNvSpPr txBox="1"/>
          <p:nvPr/>
        </p:nvSpPr>
        <p:spPr>
          <a:xfrm>
            <a:off x="585216" y="2148840"/>
            <a:ext cx="2121408" cy="512064"/>
          </a:xfrm>
          <a:prstGeom prst="rect">
            <a:avLst/>
          </a:prstGeom>
          <a:noFill/>
        </p:spPr>
        <p:txBody>
          <a:bodyPr wrap="square" lIns="0" rIns="0" tIns="0" bIns="0" anchor="t">
            <a:noAutofit/>
          </a:bodyPr>
          <a:lstStyle/>
          <a:p>
            <a:pPr algn="ctr"/>
            <a:r>
              <a:rPr sz="1300" b="1" i="0">
                <a:solidFill>
                  <a:srgbClr val="000048"/>
                </a:solidFill>
                <a:latin typeface="Arial"/>
              </a:rPr>
              <a:t>Pipelines and Agent 365</a:t>
            </a:r>
          </a:p>
          <a:p>
            <a:pPr algn="ctr"/>
            <a:r>
              <a:rPr sz="1200" b="0" i="0">
                <a:solidFill>
                  <a:srgbClr val="53565A"/>
                </a:solidFill>
                <a:latin typeface="Arial"/>
              </a:rPr>
              <a:t>release record, registry export*</a:t>
            </a:r>
          </a:p>
        </p:txBody>
      </p:sp>
      <p:sp>
        <p:nvSpPr>
          <p:cNvPr id="12" name="Rounded Rectangle 11"/>
          <p:cNvSpPr/>
          <p:nvPr/>
        </p:nvSpPr>
        <p:spPr>
          <a:xfrm>
            <a:off x="548640" y="2743200"/>
            <a:ext cx="219456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Foundry Control Plane" descr="Official Azure icon: Foundry Control Plane"/>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26463" y="2816352"/>
            <a:ext cx="438912" cy="438912"/>
          </a:xfrm>
          <a:prstGeom prst="rect">
            <a:avLst/>
          </a:prstGeom>
        </p:spPr>
      </p:pic>
      <p:sp>
        <p:nvSpPr>
          <p:cNvPr id="14" name="TextBox 13"/>
          <p:cNvSpPr txBox="1"/>
          <p:nvPr/>
        </p:nvSpPr>
        <p:spPr>
          <a:xfrm>
            <a:off x="585216" y="3291840"/>
            <a:ext cx="2121408" cy="512064"/>
          </a:xfrm>
          <a:prstGeom prst="rect">
            <a:avLst/>
          </a:prstGeom>
          <a:noFill/>
        </p:spPr>
        <p:txBody>
          <a:bodyPr wrap="square" lIns="0" rIns="0" tIns="0" bIns="0" anchor="t">
            <a:noAutofit/>
          </a:bodyPr>
          <a:lstStyle/>
          <a:p>
            <a:pPr algn="ctr"/>
            <a:r>
              <a:rPr sz="1300" b="1" i="0">
                <a:solidFill>
                  <a:srgbClr val="000048"/>
                </a:solidFill>
                <a:latin typeface="Arial"/>
              </a:rPr>
              <a:t>Foundry Control Plane</a:t>
            </a:r>
          </a:p>
          <a:p>
            <a:pPr algn="ctr"/>
            <a:r>
              <a:rPr sz="1200" b="0" i="0">
                <a:solidFill>
                  <a:srgbClr val="53565A"/>
                </a:solidFill>
                <a:latin typeface="Arial"/>
              </a:rPr>
              <a:t>Foundry, SRE Agent, Logic Apps, custom</a:t>
            </a:r>
          </a:p>
        </p:txBody>
      </p:sp>
      <p:sp>
        <p:nvSpPr>
          <p:cNvPr id="15" name="Rounded Rectangle 14"/>
          <p:cNvSpPr/>
          <p:nvPr/>
        </p:nvSpPr>
        <p:spPr>
          <a:xfrm>
            <a:off x="548640" y="4160520"/>
            <a:ext cx="219456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Resource Graph Explorer" descr="Official Azure icon: Resource Graph Explore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26463" y="4233672"/>
            <a:ext cx="438912" cy="438912"/>
          </a:xfrm>
          <a:prstGeom prst="rect">
            <a:avLst/>
          </a:prstGeom>
        </p:spPr>
      </p:pic>
      <p:sp>
        <p:nvSpPr>
          <p:cNvPr id="17" name="TextBox 16"/>
          <p:cNvSpPr txBox="1"/>
          <p:nvPr/>
        </p:nvSpPr>
        <p:spPr>
          <a:xfrm>
            <a:off x="585216" y="4709159"/>
            <a:ext cx="2121408" cy="512064"/>
          </a:xfrm>
          <a:prstGeom prst="rect">
            <a:avLst/>
          </a:prstGeom>
          <a:noFill/>
        </p:spPr>
        <p:txBody>
          <a:bodyPr wrap="square" lIns="0" rIns="0" tIns="0" bIns="0" anchor="t">
            <a:noAutofit/>
          </a:bodyPr>
          <a:lstStyle/>
          <a:p>
            <a:pPr algn="ctr"/>
            <a:r>
              <a:rPr sz="1300" b="1" i="0">
                <a:solidFill>
                  <a:srgbClr val="000048"/>
                </a:solidFill>
                <a:latin typeface="Arial"/>
              </a:rPr>
              <a:t>Resource Graph</a:t>
            </a:r>
          </a:p>
          <a:p>
            <a:pPr algn="ctr"/>
            <a:r>
              <a:rPr sz="1200" b="0" i="0">
                <a:solidFill>
                  <a:srgbClr val="53565A"/>
                </a:solidFill>
                <a:latin typeface="Arial"/>
              </a:rPr>
              <a:t>hosting resources, tags</a:t>
            </a:r>
          </a:p>
        </p:txBody>
      </p:sp>
      <p:sp>
        <p:nvSpPr>
          <p:cNvPr id="18" name="Rounded Rectangle 17"/>
          <p:cNvSpPr/>
          <p:nvPr/>
        </p:nvSpPr>
        <p:spPr>
          <a:xfrm>
            <a:off x="3657600" y="2743200"/>
            <a:ext cx="2377440" cy="1159881"/>
          </a:xfrm>
          <a:prstGeom prst="roundRect">
            <a:avLst>
              <a:gd name="adj" fmla="val 630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Function App" descr="Official Azure icon: Function App"/>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94859" y="2816352"/>
            <a:ext cx="502920" cy="502920"/>
          </a:xfrm>
          <a:prstGeom prst="rect">
            <a:avLst/>
          </a:prstGeom>
        </p:spPr>
      </p:pic>
      <p:sp>
        <p:nvSpPr>
          <p:cNvPr id="20" name="TextBox 19"/>
          <p:cNvSpPr txBox="1"/>
          <p:nvPr/>
        </p:nvSpPr>
        <p:spPr>
          <a:xfrm>
            <a:off x="3694176" y="3355848"/>
            <a:ext cx="2304288" cy="528945"/>
          </a:xfrm>
          <a:prstGeom prst="rect">
            <a:avLst/>
          </a:prstGeom>
          <a:noFill/>
        </p:spPr>
        <p:txBody>
          <a:bodyPr wrap="square" lIns="0" rIns="0" tIns="0" bIns="0" anchor="t">
            <a:noAutofit/>
          </a:bodyPr>
          <a:lstStyle/>
          <a:p>
            <a:pPr algn="ctr"/>
            <a:r>
              <a:rPr sz="1400" b="1" i="0">
                <a:solidFill>
                  <a:srgbClr val="000048"/>
                </a:solidFill>
                <a:latin typeface="Arial"/>
              </a:rPr>
              <a:t>Reconciliation job</a:t>
            </a:r>
          </a:p>
          <a:p>
            <a:pPr algn="ctr"/>
            <a:r>
              <a:rPr sz="1200" b="0" i="0">
                <a:solidFill>
                  <a:srgbClr val="53565A"/>
                </a:solidFill>
                <a:latin typeface="Arial"/>
              </a:rPr>
              <a:t>Function App, managed identity, read-only</a:t>
            </a:r>
          </a:p>
        </p:txBody>
      </p:sp>
      <p:sp>
        <p:nvSpPr>
          <p:cNvPr id="21" name="Rounded Rectangle 20"/>
          <p:cNvSpPr/>
          <p:nvPr/>
        </p:nvSpPr>
        <p:spPr>
          <a:xfrm>
            <a:off x="6675120" y="2743200"/>
            <a:ext cx="2011680" cy="1159881"/>
          </a:xfrm>
          <a:prstGeom prst="roundRect">
            <a:avLst>
              <a:gd name="adj" fmla="val 630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Azure Cosmos DB" descr="Official Azure icon: Azure Cosmos DB"/>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429500" y="2816352"/>
            <a:ext cx="502920" cy="502920"/>
          </a:xfrm>
          <a:prstGeom prst="rect">
            <a:avLst/>
          </a:prstGeom>
        </p:spPr>
      </p:pic>
      <p:sp>
        <p:nvSpPr>
          <p:cNvPr id="23" name="TextBox 22"/>
          <p:cNvSpPr txBox="1"/>
          <p:nvPr/>
        </p:nvSpPr>
        <p:spPr>
          <a:xfrm>
            <a:off x="6711696" y="3355848"/>
            <a:ext cx="1938528" cy="528945"/>
          </a:xfrm>
          <a:prstGeom prst="rect">
            <a:avLst/>
          </a:prstGeom>
          <a:noFill/>
        </p:spPr>
        <p:txBody>
          <a:bodyPr wrap="square" lIns="0" rIns="0" tIns="0" bIns="0" anchor="t">
            <a:noAutofit/>
          </a:bodyPr>
          <a:lstStyle/>
          <a:p>
            <a:pPr algn="ctr"/>
            <a:r>
              <a:rPr sz="1400" b="1" i="0">
                <a:solidFill>
                  <a:srgbClr val="000048"/>
                </a:solidFill>
                <a:latin typeface="Arial"/>
              </a:rPr>
              <a:t>Agent registry</a:t>
            </a:r>
          </a:p>
          <a:p>
            <a:pPr algn="ctr"/>
            <a:r>
              <a:rPr sz="1200" b="0" i="0">
                <a:solidFill>
                  <a:srgbClr val="53565A"/>
                </a:solidFill>
                <a:latin typeface="Arial"/>
              </a:rPr>
              <a:t>Cosmos DB</a:t>
            </a:r>
          </a:p>
        </p:txBody>
      </p:sp>
      <p:sp>
        <p:nvSpPr>
          <p:cNvPr id="24" name="Rounded Rectangle 23"/>
          <p:cNvSpPr/>
          <p:nvPr/>
        </p:nvSpPr>
        <p:spPr>
          <a:xfrm>
            <a:off x="3657600" y="1536192"/>
            <a:ext cx="23774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5" name="Azure icon: Application Insights" descr="Official Azure icon: Application Insight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730752" y="1687067"/>
            <a:ext cx="384048" cy="384048"/>
          </a:xfrm>
          <a:prstGeom prst="rect">
            <a:avLst/>
          </a:prstGeom>
        </p:spPr>
      </p:pic>
      <p:sp>
        <p:nvSpPr>
          <p:cNvPr id="26" name="TextBox 25"/>
          <p:cNvSpPr txBox="1"/>
          <p:nvPr/>
        </p:nvSpPr>
        <p:spPr>
          <a:xfrm>
            <a:off x="4187952" y="1572768"/>
            <a:ext cx="1810512" cy="612648"/>
          </a:xfrm>
          <a:prstGeom prst="rect">
            <a:avLst/>
          </a:prstGeom>
          <a:noFill/>
        </p:spPr>
        <p:txBody>
          <a:bodyPr wrap="square" lIns="0" rIns="0" tIns="0" bIns="0" anchor="ctr">
            <a:noAutofit/>
          </a:bodyPr>
          <a:lstStyle/>
          <a:p>
            <a:pPr algn="l"/>
            <a:r>
              <a:rPr sz="1200" b="1" i="0">
                <a:solidFill>
                  <a:srgbClr val="000048"/>
                </a:solidFill>
                <a:latin typeface="Arial"/>
              </a:rPr>
              <a:t>Application Insights</a:t>
            </a:r>
          </a:p>
          <a:p>
            <a:pPr algn="l"/>
            <a:r>
              <a:rPr sz="1200" b="0" i="0">
                <a:solidFill>
                  <a:srgbClr val="53565A"/>
                </a:solidFill>
                <a:latin typeface="Arial"/>
              </a:rPr>
              <a:t>per Foundry project or app</a:t>
            </a:r>
          </a:p>
        </p:txBody>
      </p:sp>
      <p:sp>
        <p:nvSpPr>
          <p:cNvPr id="27" name="Rounded Rectangle 26"/>
          <p:cNvSpPr/>
          <p:nvPr/>
        </p:nvSpPr>
        <p:spPr>
          <a:xfrm>
            <a:off x="3657600" y="4572000"/>
            <a:ext cx="23774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8" name="Azure icon: Log Analytics workspace" descr="Official Azure icon: Log Analytics workspace"/>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730752" y="4722876"/>
            <a:ext cx="384048" cy="384048"/>
          </a:xfrm>
          <a:prstGeom prst="rect">
            <a:avLst/>
          </a:prstGeom>
        </p:spPr>
      </p:pic>
      <p:sp>
        <p:nvSpPr>
          <p:cNvPr id="29" name="TextBox 28"/>
          <p:cNvSpPr txBox="1"/>
          <p:nvPr/>
        </p:nvSpPr>
        <p:spPr>
          <a:xfrm>
            <a:off x="4187952" y="4608576"/>
            <a:ext cx="1810512" cy="612648"/>
          </a:xfrm>
          <a:prstGeom prst="rect">
            <a:avLst/>
          </a:prstGeom>
          <a:noFill/>
        </p:spPr>
        <p:txBody>
          <a:bodyPr wrap="square" lIns="0" rIns="0" tIns="0" bIns="0" anchor="ctr">
            <a:noAutofit/>
          </a:bodyPr>
          <a:lstStyle/>
          <a:p>
            <a:pPr algn="l"/>
            <a:r>
              <a:rPr sz="1200" b="1" i="0">
                <a:solidFill>
                  <a:srgbClr val="000048"/>
                </a:solidFill>
                <a:latin typeface="Arial"/>
              </a:rPr>
              <a:t>Log Analytics</a:t>
            </a:r>
          </a:p>
          <a:p>
            <a:pPr algn="l"/>
            <a:r>
              <a:rPr sz="1200" b="0" i="0">
                <a:solidFill>
                  <a:srgbClr val="53565A"/>
                </a:solidFill>
                <a:latin typeface="Arial"/>
              </a:rPr>
              <a:t>gateway, platform logs</a:t>
            </a:r>
          </a:p>
        </p:txBody>
      </p:sp>
      <p:sp>
        <p:nvSpPr>
          <p:cNvPr id="30" name="Rounded Rectangle 29"/>
          <p:cNvSpPr/>
          <p:nvPr/>
        </p:nvSpPr>
        <p:spPr>
          <a:xfrm>
            <a:off x="9372600" y="1600200"/>
            <a:ext cx="228600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1" name="Azure icon: Azure Workbooks" descr="Official Azure icon: Azure Workbooks"/>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296144" y="1673352"/>
            <a:ext cx="438912" cy="438912"/>
          </a:xfrm>
          <a:prstGeom prst="rect">
            <a:avLst/>
          </a:prstGeom>
        </p:spPr>
      </p:pic>
      <p:sp>
        <p:nvSpPr>
          <p:cNvPr id="32" name="TextBox 31"/>
          <p:cNvSpPr txBox="1"/>
          <p:nvPr/>
        </p:nvSpPr>
        <p:spPr>
          <a:xfrm>
            <a:off x="9409176" y="2148840"/>
            <a:ext cx="2212848" cy="512064"/>
          </a:xfrm>
          <a:prstGeom prst="rect">
            <a:avLst/>
          </a:prstGeom>
          <a:noFill/>
        </p:spPr>
        <p:txBody>
          <a:bodyPr wrap="square" lIns="0" rIns="0" tIns="0" bIns="0" anchor="t">
            <a:noAutofit/>
          </a:bodyPr>
          <a:lstStyle/>
          <a:p>
            <a:pPr algn="ctr"/>
            <a:r>
              <a:rPr sz="1300" b="1" i="0">
                <a:solidFill>
                  <a:srgbClr val="000048"/>
                </a:solidFill>
                <a:latin typeface="Arial"/>
              </a:rPr>
              <a:t>Catalogue workbook</a:t>
            </a:r>
          </a:p>
          <a:p>
            <a:pPr algn="ctr"/>
            <a:r>
              <a:rPr sz="1200" b="0" i="0">
                <a:solidFill>
                  <a:srgbClr val="53565A"/>
                </a:solidFill>
                <a:latin typeface="Arial"/>
              </a:rPr>
              <a:t>status, owner, usage, risk</a:t>
            </a:r>
          </a:p>
        </p:txBody>
      </p:sp>
      <p:sp>
        <p:nvSpPr>
          <p:cNvPr id="33" name="Rounded Rectangle 32"/>
          <p:cNvSpPr/>
          <p:nvPr/>
        </p:nvSpPr>
        <p:spPr>
          <a:xfrm>
            <a:off x="9372600" y="4023360"/>
            <a:ext cx="228600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4" name="Azure icon: Alerts" descr="Official Azure icon: Alert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0296144" y="4096512"/>
            <a:ext cx="438912" cy="438912"/>
          </a:xfrm>
          <a:prstGeom prst="rect">
            <a:avLst/>
          </a:prstGeom>
        </p:spPr>
      </p:pic>
      <p:sp>
        <p:nvSpPr>
          <p:cNvPr id="35" name="TextBox 34"/>
          <p:cNvSpPr txBox="1"/>
          <p:nvPr/>
        </p:nvSpPr>
        <p:spPr>
          <a:xfrm>
            <a:off x="9409176" y="4572000"/>
            <a:ext cx="2212848" cy="512064"/>
          </a:xfrm>
          <a:prstGeom prst="rect">
            <a:avLst/>
          </a:prstGeom>
          <a:noFill/>
        </p:spPr>
        <p:txBody>
          <a:bodyPr wrap="square" lIns="0" rIns="0" tIns="0" bIns="0" anchor="t">
            <a:noAutofit/>
          </a:bodyPr>
          <a:lstStyle/>
          <a:p>
            <a:pPr algn="ctr"/>
            <a:r>
              <a:rPr sz="1300" b="1" i="0">
                <a:solidFill>
                  <a:srgbClr val="000048"/>
                </a:solidFill>
                <a:latin typeface="Arial"/>
              </a:rPr>
              <a:t>Review alerts</a:t>
            </a:r>
          </a:p>
          <a:p>
            <a:pPr algn="ctr"/>
            <a:r>
              <a:rPr sz="1200" b="0" i="0">
                <a:solidFill>
                  <a:srgbClr val="53565A"/>
                </a:solidFill>
                <a:latin typeface="Arial"/>
              </a:rPr>
              <a:t>dormancy, telemetry health, orphan</a:t>
            </a:r>
          </a:p>
        </p:txBody>
      </p:sp>
      <p:cxnSp>
        <p:nvCxnSpPr>
          <p:cNvPr id="36" name="Connector (flow)"/>
          <p:cNvCxnSpPr/>
          <p:nvPr/>
        </p:nvCxnSpPr>
        <p:spPr>
          <a:xfrm>
            <a:off x="2743200" y="2011680"/>
            <a:ext cx="3657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7" name="Connector (flow)"/>
          <p:cNvCxnSpPr/>
          <p:nvPr/>
        </p:nvCxnSpPr>
        <p:spPr>
          <a:xfrm flipV="1">
            <a:off x="3108960" y="1389888"/>
            <a:ext cx="0" cy="621792"/>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a:off x="3108960" y="1389888"/>
            <a:ext cx="457200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7680960" y="1389888"/>
            <a:ext cx="0" cy="1353312"/>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3182112" y="16002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41" name="Connector (telemetry)"/>
          <p:cNvCxnSpPr/>
          <p:nvPr/>
        </p:nvCxnSpPr>
        <p:spPr>
          <a:xfrm>
            <a:off x="2743200" y="3200400"/>
            <a:ext cx="91440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telemetry)"/>
          <p:cNvCxnSpPr/>
          <p:nvPr/>
        </p:nvCxnSpPr>
        <p:spPr>
          <a:xfrm flipV="1">
            <a:off x="2743200" y="3520440"/>
            <a:ext cx="914400" cy="96012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3063240" y="361188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44" name="Connector (telemetry)"/>
          <p:cNvCxnSpPr/>
          <p:nvPr/>
        </p:nvCxnSpPr>
        <p:spPr>
          <a:xfrm>
            <a:off x="4846320" y="2221992"/>
            <a:ext cx="0" cy="52120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telemetry)"/>
          <p:cNvCxnSpPr/>
          <p:nvPr/>
        </p:nvCxnSpPr>
        <p:spPr>
          <a:xfrm flipV="1">
            <a:off x="4846320" y="4114800"/>
            <a:ext cx="0" cy="45720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4983480" y="22860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cxnSp>
        <p:nvCxnSpPr>
          <p:cNvPr id="47" name="Connector (flow)"/>
          <p:cNvCxnSpPr/>
          <p:nvPr/>
        </p:nvCxnSpPr>
        <p:spPr>
          <a:xfrm>
            <a:off x="6035040" y="338328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6217920" y="29718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4</a:t>
            </a:r>
          </a:p>
        </p:txBody>
      </p:sp>
      <p:cxnSp>
        <p:nvCxnSpPr>
          <p:cNvPr id="49" name="Connector (flow)"/>
          <p:cNvCxnSpPr/>
          <p:nvPr/>
        </p:nvCxnSpPr>
        <p:spPr>
          <a:xfrm>
            <a:off x="8686800" y="3108960"/>
            <a:ext cx="3200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0" name="Connector (flow)"/>
          <p:cNvCxnSpPr/>
          <p:nvPr/>
        </p:nvCxnSpPr>
        <p:spPr>
          <a:xfrm flipV="1">
            <a:off x="9006840" y="1920240"/>
            <a:ext cx="0" cy="118872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1" name="Connector (flow)"/>
          <p:cNvCxnSpPr/>
          <p:nvPr/>
        </p:nvCxnSpPr>
        <p:spPr>
          <a:xfrm>
            <a:off x="9006840" y="192024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9098280" y="22860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5</a:t>
            </a:r>
          </a:p>
        </p:txBody>
      </p:sp>
      <p:cxnSp>
        <p:nvCxnSpPr>
          <p:cNvPr id="53" name="Connector (flow)"/>
          <p:cNvCxnSpPr/>
          <p:nvPr/>
        </p:nvCxnSpPr>
        <p:spPr>
          <a:xfrm>
            <a:off x="8686800" y="3657600"/>
            <a:ext cx="3200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4" name="Connector (flow)"/>
          <p:cNvCxnSpPr/>
          <p:nvPr/>
        </p:nvCxnSpPr>
        <p:spPr>
          <a:xfrm>
            <a:off x="9006840" y="3657600"/>
            <a:ext cx="0" cy="8686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5" name="Connector (flow)"/>
          <p:cNvCxnSpPr/>
          <p:nvPr/>
        </p:nvCxnSpPr>
        <p:spPr>
          <a:xfrm>
            <a:off x="9006840" y="452628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9098280" y="38862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6</a:t>
            </a:r>
          </a:p>
        </p:txBody>
      </p:sp>
      <p:cxnSp>
        <p:nvCxnSpPr>
          <p:cNvPr id="57" name="Connector (flow)"/>
          <p:cNvCxnSpPr/>
          <p:nvPr/>
        </p:nvCxnSpPr>
        <p:spPr>
          <a:xfrm>
            <a:off x="548640" y="571500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024128" y="5596128"/>
            <a:ext cx="1874519"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cxnSp>
        <p:nvCxnSpPr>
          <p:cNvPr id="59" name="Connector (telemetry)"/>
          <p:cNvCxnSpPr/>
          <p:nvPr/>
        </p:nvCxnSpPr>
        <p:spPr>
          <a:xfrm>
            <a:off x="2926080" y="5715000"/>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401568" y="5596128"/>
            <a:ext cx="1874519" cy="256032"/>
          </a:xfrm>
          <a:prstGeom prst="rect">
            <a:avLst/>
          </a:prstGeom>
          <a:noFill/>
        </p:spPr>
        <p:txBody>
          <a:bodyPr wrap="square" lIns="0" rIns="0" tIns="0" bIns="0" anchor="t">
            <a:noAutofit/>
          </a:bodyPr>
          <a:lstStyle/>
          <a:p>
            <a:pPr algn="l"/>
            <a:r>
              <a:rPr sz="1200" b="0" i="0">
                <a:solidFill>
                  <a:srgbClr val="53565A"/>
                </a:solidFill>
                <a:latin typeface="Arial"/>
              </a:rPr>
              <a:t>Telemetry or state read</a:t>
            </a:r>
          </a:p>
        </p:txBody>
      </p:sp>
      <p:sp>
        <p:nvSpPr>
          <p:cNvPr id="61" name="TextBox 60"/>
          <p:cNvSpPr txBox="1"/>
          <p:nvPr/>
        </p:nvSpPr>
        <p:spPr>
          <a:xfrm>
            <a:off x="5486400" y="5596128"/>
            <a:ext cx="6126480" cy="274320"/>
          </a:xfrm>
          <a:prstGeom prst="rect">
            <a:avLst/>
          </a:prstGeom>
          <a:noFill/>
        </p:spPr>
        <p:txBody>
          <a:bodyPr wrap="square" lIns="0" rIns="0" tIns="0" bIns="0" anchor="t">
            <a:noAutofit/>
          </a:bodyPr>
          <a:lstStyle/>
          <a:p>
            <a:pPr algn="r"/>
            <a:r>
              <a:rPr sz="1200" b="0" i="0">
                <a:solidFill>
                  <a:srgbClr val="7373D8"/>
                </a:solidFill>
                <a:latin typeface="Arial"/>
              </a:rPr>
              <a:t>Purple outline = custom build. Others are native Azure capabilities.</a:t>
            </a:r>
          </a:p>
        </p:txBody>
      </p:sp>
      <p:sp>
        <p:nvSpPr>
          <p:cNvPr id="62" name="TextBox 61"/>
          <p:cNvSpPr txBox="1"/>
          <p:nvPr/>
        </p:nvSpPr>
        <p:spPr>
          <a:xfrm>
            <a:off x="548640" y="5943600"/>
            <a:ext cx="11064240" cy="256032"/>
          </a:xfrm>
          <a:prstGeom prst="rect">
            <a:avLst/>
          </a:prstGeom>
          <a:noFill/>
        </p:spPr>
        <p:txBody>
          <a:bodyPr wrap="square" lIns="0" rIns="0" tIns="0" bIns="0" anchor="t">
            <a:noAutofit/>
          </a:bodyPr>
          <a:lstStyle/>
          <a:p>
            <a:pPr algn="l"/>
            <a:r>
              <a:rPr sz="12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Minimum catalogue record for each agent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PROPOSED SCHEMA"/>
          <p:cNvSpPr/>
          <p:nvPr/>
        </p:nvSpPr>
        <p:spPr>
          <a:xfrm>
            <a:off x="1898650" y="274320"/>
            <a:ext cx="15697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SCHEMA</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sp>
        <p:nvSpPr>
          <p:cNvPr id="9" name="Rounded Rectangle 8"/>
          <p:cNvSpPr/>
          <p:nvPr/>
        </p:nvSpPr>
        <p:spPr>
          <a:xfrm>
            <a:off x="54864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Identity</a:t>
            </a:r>
          </a:p>
        </p:txBody>
      </p:sp>
      <p:sp>
        <p:nvSpPr>
          <p:cNvPr id="10" name="Rounded Rectangle 9"/>
          <p:cNvSpPr/>
          <p:nvPr/>
        </p:nvSpPr>
        <p:spPr>
          <a:xfrm>
            <a:off x="54864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Agent ID and version</a:t>
            </a:r>
          </a:p>
          <a:p>
            <a:pPr algn="l" marL="201168" indent="-201168">
              <a:spcAft>
                <a:spcPts val="800"/>
              </a:spcAft>
              <a:buFont typeface="Arial"/>
              <a:buChar char="•"/>
            </a:pPr>
            <a:r>
              <a:rPr sz="1500" b="0" i="0">
                <a:solidFill>
                  <a:srgbClr val="1E1E2E"/>
                </a:solidFill>
                <a:latin typeface="Arial"/>
              </a:rPr>
              <a:t>Environment and hosting platform</a:t>
            </a:r>
          </a:p>
          <a:p>
            <a:pPr algn="l" marL="201168" indent="-201168">
              <a:spcAft>
                <a:spcPts val="800"/>
              </a:spcAft>
              <a:buFont typeface="Arial"/>
              <a:buChar char="•"/>
            </a:pPr>
            <a:r>
              <a:rPr sz="1500" b="0" i="0">
                <a:solidFill>
                  <a:srgbClr val="1E1E2E"/>
                </a:solidFill>
                <a:latin typeface="Arial"/>
              </a:rPr>
              <a:t>Deployment location and endpoint</a:t>
            </a:r>
          </a:p>
        </p:txBody>
      </p:sp>
      <p:sp>
        <p:nvSpPr>
          <p:cNvPr id="11" name="Rounded Rectangle 10"/>
          <p:cNvSpPr/>
          <p:nvPr/>
        </p:nvSpPr>
        <p:spPr>
          <a:xfrm>
            <a:off x="278892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Accountability</a:t>
            </a:r>
          </a:p>
        </p:txBody>
      </p:sp>
      <p:sp>
        <p:nvSpPr>
          <p:cNvPr id="12" name="Rounded Rectangle 11"/>
          <p:cNvSpPr/>
          <p:nvPr/>
        </p:nvSpPr>
        <p:spPr>
          <a:xfrm>
            <a:off x="278892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Business owner</a:t>
            </a:r>
          </a:p>
          <a:p>
            <a:pPr algn="l" marL="201168" indent="-201168">
              <a:spcAft>
                <a:spcPts val="800"/>
              </a:spcAft>
              <a:buFont typeface="Arial"/>
              <a:buChar char="•"/>
            </a:pPr>
            <a:r>
              <a:rPr sz="1500" b="0" i="0">
                <a:solidFill>
                  <a:srgbClr val="1E1E2E"/>
                </a:solidFill>
                <a:latin typeface="Arial"/>
              </a:rPr>
              <a:t>Technical owner and responder</a:t>
            </a:r>
          </a:p>
          <a:p>
            <a:pPr algn="l" marL="201168" indent="-201168">
              <a:spcAft>
                <a:spcPts val="800"/>
              </a:spcAft>
              <a:buFont typeface="Arial"/>
              <a:buChar char="•"/>
            </a:pPr>
            <a:r>
              <a:rPr sz="1500" b="0" i="0">
                <a:solidFill>
                  <a:srgbClr val="1E1E2E"/>
                </a:solidFill>
                <a:latin typeface="Arial"/>
              </a:rPr>
              <a:t>Review date</a:t>
            </a:r>
          </a:p>
        </p:txBody>
      </p:sp>
      <p:sp>
        <p:nvSpPr>
          <p:cNvPr id="13" name="Rounded Rectangle 12"/>
          <p:cNvSpPr/>
          <p:nvPr/>
        </p:nvSpPr>
        <p:spPr>
          <a:xfrm>
            <a:off x="502920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Exposure</a:t>
            </a:r>
          </a:p>
        </p:txBody>
      </p:sp>
      <p:sp>
        <p:nvSpPr>
          <p:cNvPr id="14" name="Rounded Rectangle 13"/>
          <p:cNvSpPr/>
          <p:nvPr/>
        </p:nvSpPr>
        <p:spPr>
          <a:xfrm>
            <a:off x="502920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Identity and permissions</a:t>
            </a:r>
          </a:p>
          <a:p>
            <a:pPr algn="l" marL="201168" indent="-201168">
              <a:spcAft>
                <a:spcPts val="800"/>
              </a:spcAft>
              <a:buFont typeface="Arial"/>
              <a:buChar char="•"/>
            </a:pPr>
            <a:r>
              <a:rPr sz="1500" b="0" i="0">
                <a:solidFill>
                  <a:srgbClr val="1E1E2E"/>
                </a:solidFill>
                <a:latin typeface="Arial"/>
              </a:rPr>
              <a:t>Models, tools and data dependencies</a:t>
            </a:r>
          </a:p>
          <a:p>
            <a:pPr algn="l" marL="201168" indent="-201168">
              <a:spcAft>
                <a:spcPts val="800"/>
              </a:spcAft>
              <a:buFont typeface="Arial"/>
              <a:buChar char="•"/>
            </a:pPr>
            <a:r>
              <a:rPr sz="1500" b="0" i="0">
                <a:solidFill>
                  <a:srgbClr val="1E1E2E"/>
                </a:solidFill>
                <a:latin typeface="Arial"/>
              </a:rPr>
              <a:t>Risk classification</a:t>
            </a:r>
          </a:p>
        </p:txBody>
      </p:sp>
      <p:sp>
        <p:nvSpPr>
          <p:cNvPr id="15" name="Rounded Rectangle 14"/>
          <p:cNvSpPr/>
          <p:nvPr/>
        </p:nvSpPr>
        <p:spPr>
          <a:xfrm>
            <a:off x="726948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Activity</a:t>
            </a:r>
          </a:p>
        </p:txBody>
      </p:sp>
      <p:sp>
        <p:nvSpPr>
          <p:cNvPr id="16" name="Rounded Rectangle 15"/>
          <p:cNvSpPr/>
          <p:nvPr/>
        </p:nvSpPr>
        <p:spPr>
          <a:xfrm>
            <a:off x="726948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Last observed run</a:t>
            </a:r>
          </a:p>
          <a:p>
            <a:pPr algn="l" marL="201168" indent="-201168">
              <a:spcAft>
                <a:spcPts val="800"/>
              </a:spcAft>
              <a:buFont typeface="Arial"/>
              <a:buChar char="•"/>
            </a:pPr>
            <a:r>
              <a:rPr sz="1500" b="0" i="0">
                <a:solidFill>
                  <a:srgbClr val="1E1E2E"/>
                </a:solidFill>
                <a:latin typeface="Arial"/>
              </a:rPr>
              <a:t>Usage, error and cost indicators</a:t>
            </a:r>
          </a:p>
          <a:p>
            <a:pPr algn="l" marL="201168" indent="-201168">
              <a:spcAft>
                <a:spcPts val="800"/>
              </a:spcAft>
              <a:buFont typeface="Arial"/>
              <a:buChar char="•"/>
            </a:pPr>
            <a:r>
              <a:rPr sz="1500" b="0" i="0">
                <a:solidFill>
                  <a:srgbClr val="1E1E2E"/>
                </a:solidFill>
                <a:latin typeface="Arial"/>
              </a:rPr>
              <a:t>Telemetry health</a:t>
            </a:r>
          </a:p>
        </p:txBody>
      </p:sp>
      <p:sp>
        <p:nvSpPr>
          <p:cNvPr id="17" name="Rounded Rectangle 16"/>
          <p:cNvSpPr/>
          <p:nvPr/>
        </p:nvSpPr>
        <p:spPr>
          <a:xfrm>
            <a:off x="950976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Control</a:t>
            </a:r>
          </a:p>
        </p:txBody>
      </p:sp>
      <p:sp>
        <p:nvSpPr>
          <p:cNvPr id="18" name="Rounded Rectangle 17"/>
          <p:cNvSpPr/>
          <p:nvPr/>
        </p:nvSpPr>
        <p:spPr>
          <a:xfrm>
            <a:off x="950976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Containment mechanism per layer</a:t>
            </a:r>
          </a:p>
          <a:p>
            <a:pPr algn="l" marL="201168" indent="-201168">
              <a:spcAft>
                <a:spcPts val="800"/>
              </a:spcAft>
              <a:buFont typeface="Arial"/>
              <a:buChar char="•"/>
            </a:pPr>
            <a:r>
              <a:rPr sz="1500" b="0" i="0">
                <a:solidFill>
                  <a:srgbClr val="1E1E2E"/>
                </a:solidFill>
                <a:latin typeface="Arial"/>
              </a:rPr>
              <a:t>Lifecycle status</a:t>
            </a:r>
          </a:p>
          <a:p>
            <a:pPr algn="l" marL="201168" indent="-201168">
              <a:spcAft>
                <a:spcPts val="800"/>
              </a:spcAft>
              <a:buFont typeface="Arial"/>
              <a:buChar char="•"/>
            </a:pPr>
            <a:r>
              <a:rPr sz="1500" b="0" i="0">
                <a:solidFill>
                  <a:srgbClr val="1E1E2E"/>
                </a:solidFill>
                <a:latin typeface="Arial"/>
              </a:rPr>
              <a:t>State version (quarantine)</a:t>
            </a:r>
          </a:p>
        </p:txBody>
      </p:sp>
      <p:sp>
        <p:nvSpPr>
          <p:cNvPr id="19" name="Rounded Rectangle 18"/>
          <p:cNvSpPr/>
          <p:nvPr/>
        </p:nvSpPr>
        <p:spPr>
          <a:xfrm>
            <a:off x="548640" y="539496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A record with no owner or no containment mechanism is a finding, not a pass.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Usage classification rules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PROPOSED POLICY"/>
          <p:cNvSpPr/>
          <p:nvPr/>
        </p:nvSpPr>
        <p:spPr>
          <a:xfrm>
            <a:off x="1898650" y="274320"/>
            <a:ext cx="15697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POLICY</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graphicFrame>
        <p:nvGraphicFramePr>
          <p:cNvPr id="9" name="Table"/>
          <p:cNvGraphicFramePr>
            <a:graphicFrameLocks noGrp="1"/>
          </p:cNvGraphicFramePr>
          <p:nvPr/>
        </p:nvGraphicFramePr>
        <p:xfrm>
          <a:off x="548640" y="1371600"/>
          <a:ext cx="11091672" cy="3307080"/>
        </p:xfrm>
        <a:graphic>
          <a:graphicData uri="http://schemas.openxmlformats.org/drawingml/2006/table">
            <a:tbl>
              <a:tblPr firstRow="1" bandRow="0">
                <a:tableStyleId>{5C22544A-7EE6-4342-B048-85BDC9FD1C3A}</a:tableStyleId>
              </a:tblPr>
              <a:tblGrid>
                <a:gridCol w="1828800"/>
                <a:gridCol w="3474720"/>
                <a:gridCol w="2834640"/>
                <a:gridCol w="2953512"/>
              </a:tblGrid>
              <a:tr h="289560">
                <a:tc>
                  <a:txBody>
                    <a:bodyPr wrap="square" anchor="ctr">
                      <a:noAutofit/>
                    </a:bodyPr>
                    <a:lstStyle/>
                    <a:p>
                      <a:pPr algn="l"/>
                      <a:r>
                        <a:rPr sz="1300" b="1" i="0">
                          <a:solidFill>
                            <a:srgbClr val="FFFFFF"/>
                          </a:solidFill>
                          <a:latin typeface="Arial"/>
                        </a:rPr>
                        <a:t>State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Rule (proposed)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 used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Action and 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Active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At least one qualifying production run in 30 days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App Insights or Control Plane runs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Monitor; agent owner</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Never observed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Deployed, no run since onboarding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Pipeline record, no runs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Validate onboarding; technical owner</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Dormant candidate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 runs for 30 days and telemetry healthy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Telemetry heartbeat present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Owner review in 14 days; business owner</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Telemetry unknown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Missing, stale or unhealthy telemetry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heartbeat; config drift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Repair monitoring; CIS Infra</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Orphaned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Owner invalid, or resource without record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Directory lookup; Resource Graph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Assign or retire; service owner</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Blocked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Containment or policy decision recorded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Registry state version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Verify enforcement; Security</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Retired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Lifecycle decision; resources removed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Resource Graph shows none left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Verify residual resources; CIS Infra</a:t>
                      </a:r>
                    </a:p>
                  </a:txBody>
                  <a:tcPr marL="73152" marR="73152" marT="36576" marB="36576" anchor="ct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Inventory coverage by agent type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graphicFrame>
        <p:nvGraphicFramePr>
          <p:cNvPr id="9" name="Table"/>
          <p:cNvGraphicFramePr>
            <a:graphicFrameLocks noGrp="1"/>
          </p:cNvGraphicFramePr>
          <p:nvPr/>
        </p:nvGraphicFramePr>
        <p:xfrm>
          <a:off x="548640" y="1371600"/>
          <a:ext cx="11091672" cy="3002280"/>
        </p:xfrm>
        <a:graphic>
          <a:graphicData uri="http://schemas.openxmlformats.org/drawingml/2006/table">
            <a:tbl>
              <a:tblPr firstRow="1" bandRow="0">
                <a:tableStyleId>{5C22544A-7EE6-4342-B048-85BDC9FD1C3A}</a:tableStyleId>
              </a:tblPr>
              <a:tblGrid>
                <a:gridCol w="3291840"/>
                <a:gridCol w="2377440"/>
                <a:gridCol w="2651760"/>
                <a:gridCol w="2770632"/>
              </a:tblGrid>
              <a:tr h="289560">
                <a:tc>
                  <a:txBody>
                    <a:bodyPr wrap="square" anchor="ctr">
                      <a:noAutofit/>
                    </a:bodyPr>
                    <a:lstStyle/>
                    <a:p>
                      <a:pPr algn="l"/>
                      <a:r>
                        <a:rPr sz="1300" b="1" i="0">
                          <a:solidFill>
                            <a:srgbClr val="FFFFFF"/>
                          </a:solidFill>
                          <a:latin typeface="Arial"/>
                        </a:rPr>
                        <a:t>Agent type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Inventory</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Usage telemetry</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Containment</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Foundry prompt, workflow, hosted</a:t>
                      </a:r>
                    </a:p>
                  </a:txBody>
                  <a:tcPr marL="73152" marR="73152" marT="36576" marB="36576" anchor="ctr">
                    <a:solidFill>
                      <a:srgbClr val="FFFFFF"/>
                    </a:solidFill>
                  </a:tcPr>
                </a:tc>
                <a:tc>
                  <a:txBody>
                    <a:bodyPr wrap="square" anchor="ctr">
                      <a:noAutofit/>
                    </a:bodyPr>
                    <a:lstStyle/>
                    <a:p>
                      <a:pPr algn="l"/>
                      <a:r>
                        <a:rPr sz="1300" b="1" i="0">
                          <a:solidFill>
                            <a:srgbClr val="1D6B3A"/>
                          </a:solidFill>
                          <a:latin typeface="Arial"/>
                        </a:rPr>
                        <a:t>Native</a:t>
                      </a:r>
                    </a:p>
                  </a:txBody>
                  <a:tcPr marL="73152" marR="73152" marT="36576" marB="36576" anchor="ctr">
                    <a:solidFill>
                      <a:srgbClr val="FFFFFF"/>
                    </a:solidFill>
                  </a:tcPr>
                </a:tc>
                <a:tc>
                  <a:txBody>
                    <a:bodyPr wrap="square" anchor="ctr">
                      <a:noAutofit/>
                    </a:bodyPr>
                    <a:lstStyle/>
                    <a:p>
                      <a:pPr algn="l"/>
                      <a:r>
                        <a:rPr sz="1300" b="1" i="0">
                          <a:solidFill>
                            <a:srgbClr val="1D6B3A"/>
                          </a:solidFill>
                          <a:latin typeface="Arial"/>
                        </a:rPr>
                        <a:t>Native once configured</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Stop when published; custom for in-flight</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Azure SRE Agent</a:t>
                      </a:r>
                    </a:p>
                  </a:txBody>
                  <a:tcPr marL="73152" marR="73152" marT="36576" marB="36576" anchor="ctr">
                    <a:solidFill>
                      <a:srgbClr val="F5F5F2"/>
                    </a:solidFill>
                  </a:tcPr>
                </a:tc>
                <a:tc>
                  <a:txBody>
                    <a:bodyPr wrap="square" anchor="ctr">
                      <a:noAutofit/>
                    </a:bodyPr>
                    <a:lstStyle/>
                    <a:p>
                      <a:pPr algn="l"/>
                      <a:r>
                        <a:rPr sz="1300" b="1" i="0">
                          <a:solidFill>
                            <a:srgbClr val="1D6B3A"/>
                          </a:solidFill>
                          <a:latin typeface="Arial"/>
                        </a:rPr>
                        <a:t>Native</a:t>
                      </a:r>
                    </a:p>
                  </a:txBody>
                  <a:tcPr marL="73152" marR="73152" marT="36576" marB="36576" anchor="ctr">
                    <a:solidFill>
                      <a:srgbClr val="F5F5F2"/>
                    </a:solidFill>
                  </a:tcPr>
                </a:tc>
                <a:tc>
                  <a:txBody>
                    <a:bodyPr wrap="square" anchor="ctr">
                      <a:noAutofit/>
                    </a:bodyPr>
                    <a:lstStyle/>
                    <a:p>
                      <a:pPr algn="l"/>
                      <a:r>
                        <a:rPr sz="1300" b="1" i="0">
                          <a:solidFill>
                            <a:srgbClr val="1D6B3A"/>
                          </a:solidFill>
                          <a:latin typeface="Arial"/>
                        </a:rPr>
                        <a:t>Native runs count</a:t>
                      </a:r>
                    </a:p>
                  </a:txBody>
                  <a:tcPr marL="73152" marR="73152" marT="36576" marB="36576" anchor="ctr">
                    <a:solidFill>
                      <a:srgbClr val="F5F5F2"/>
                    </a:solidFill>
                  </a:tcPr>
                </a:tc>
                <a:tc>
                  <a:txBody>
                    <a:bodyPr wrap="square" anchor="ctr">
                      <a:noAutofit/>
                    </a:bodyPr>
                    <a:lstStyle/>
                    <a:p>
                      <a:pPr algn="l"/>
                      <a:r>
                        <a:rPr sz="1300" b="1" i="0">
                          <a:solidFill>
                            <a:srgbClr val="1D6B3A"/>
                          </a:solidFill>
                          <a:latin typeface="Arial"/>
                        </a:rPr>
                        <a:t>Start or stop</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Logic Apps agent loops</a:t>
                      </a:r>
                    </a:p>
                  </a:txBody>
                  <a:tcPr marL="73152" marR="73152" marT="36576" marB="36576" anchor="ctr">
                    <a:solidFill>
                      <a:srgbClr val="FFFFFF"/>
                    </a:solidFill>
                  </a:tcPr>
                </a:tc>
                <a:tc>
                  <a:txBody>
                    <a:bodyPr wrap="square" anchor="ctr">
                      <a:noAutofit/>
                    </a:bodyPr>
                    <a:lstStyle/>
                    <a:p>
                      <a:pPr algn="l"/>
                      <a:r>
                        <a:rPr sz="1300" b="1" i="0">
                          <a:solidFill>
                            <a:srgbClr val="1D6B3A"/>
                          </a:solidFill>
                          <a:latin typeface="Arial"/>
                        </a:rPr>
                        <a:t>Native</a:t>
                      </a:r>
                    </a:p>
                  </a:txBody>
                  <a:tcPr marL="73152" marR="73152" marT="36576" marB="36576" anchor="ctr">
                    <a:solidFill>
                      <a:srgbClr val="FFFFFF"/>
                    </a:solidFill>
                  </a:tcPr>
                </a:tc>
                <a:tc>
                  <a:txBody>
                    <a:bodyPr wrap="square" anchor="ctr">
                      <a:noAutofit/>
                    </a:bodyPr>
                    <a:lstStyle/>
                    <a:p>
                      <a:pPr algn="l"/>
                      <a:r>
                        <a:rPr sz="1300" b="1" i="0">
                          <a:solidFill>
                            <a:srgbClr val="A4262C"/>
                          </a:solidFill>
                          <a:latin typeface="Arial"/>
                        </a:rPr>
                        <a:t>No traces or metrics</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Stop resource: all workflows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Custom agents on Container Apps or AKS</a:t>
                      </a:r>
                    </a:p>
                  </a:txBody>
                  <a:tcPr marL="73152" marR="73152" marT="36576" marB="36576" anchor="ctr">
                    <a:solidFill>
                      <a:srgbClr val="F5F5F2"/>
                    </a:solidFill>
                  </a:tcPr>
                </a:tc>
                <a:tc>
                  <a:txBody>
                    <a:bodyPr wrap="square" anchor="ctr">
                      <a:noAutofit/>
                    </a:bodyPr>
                    <a:lstStyle/>
                    <a:p>
                      <a:pPr algn="l"/>
                      <a:r>
                        <a:rPr sz="1300" b="1" i="0">
                          <a:solidFill>
                            <a:srgbClr val="8A4B08"/>
                          </a:solidFill>
                          <a:latin typeface="Arial"/>
                        </a:rPr>
                        <a:t>Register manually</a:t>
                      </a:r>
                    </a:p>
                  </a:txBody>
                  <a:tcPr marL="73152" marR="73152" marT="36576" marB="36576" anchor="ctr">
                    <a:solidFill>
                      <a:srgbClr val="F5F5F2"/>
                    </a:solidFill>
                  </a:tcPr>
                </a:tc>
                <a:tc>
                  <a:txBody>
                    <a:bodyPr wrap="square" anchor="ctr">
                      <a:noAutofit/>
                    </a:bodyPr>
                    <a:lstStyle/>
                    <a:p>
                      <a:pPr algn="l"/>
                      <a:r>
                        <a:rPr sz="1300" b="1" i="0">
                          <a:solidFill>
                            <a:srgbClr val="8A4B08"/>
                          </a:solidFill>
                          <a:latin typeface="Arial"/>
                        </a:rPr>
                        <a:t>Custom instrumentation</a:t>
                      </a:r>
                    </a:p>
                  </a:txBody>
                  <a:tcPr marL="73152" marR="73152" marT="36576" marB="36576" anchor="ctr">
                    <a:solidFill>
                      <a:srgbClr val="F5F5F2"/>
                    </a:solidFill>
                  </a:tcPr>
                </a:tc>
                <a:tc>
                  <a:txBody>
                    <a:bodyPr wrap="square" anchor="ctr">
                      <a:noAutofit/>
                    </a:bodyPr>
                    <a:lstStyle/>
                    <a:p>
                      <a:pPr algn="l"/>
                      <a:r>
                        <a:rPr sz="1300" b="1" i="0">
                          <a:solidFill>
                            <a:srgbClr val="8A4B08"/>
                          </a:solidFill>
                          <a:latin typeface="Arial"/>
                        </a:rPr>
                        <a:t>Block proxy; custom adapter</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Classic agents, Azure OpenAI assistants</a:t>
                      </a:r>
                    </a:p>
                  </a:txBody>
                  <a:tcPr marL="73152" marR="73152" marT="36576" marB="36576" anchor="ctr">
                    <a:solidFill>
                      <a:srgbClr val="FFFFFF"/>
                    </a:solidFill>
                  </a:tcPr>
                </a:tc>
                <a:tc>
                  <a:txBody>
                    <a:bodyPr wrap="square" anchor="ctr">
                      <a:noAutofit/>
                    </a:bodyPr>
                    <a:lstStyle/>
                    <a:p>
                      <a:pPr algn="l"/>
                      <a:r>
                        <a:rPr sz="1300" b="1" i="0">
                          <a:solidFill>
                            <a:srgbClr val="A4262C"/>
                          </a:solidFill>
                          <a:latin typeface="Arial"/>
                        </a:rPr>
                        <a:t>Not supported</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Custom only</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Custom only</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Copilot Studio agents</a:t>
                      </a:r>
                    </a:p>
                  </a:txBody>
                  <a:tcPr marL="73152" marR="73152" marT="36576" marB="36576" anchor="ctr">
                    <a:solidFill>
                      <a:srgbClr val="F5F5F2"/>
                    </a:solidFill>
                  </a:tcPr>
                </a:tc>
                <a:tc>
                  <a:txBody>
                    <a:bodyPr wrap="square" anchor="ctr">
                      <a:noAutofit/>
                    </a:bodyPr>
                    <a:lstStyle/>
                    <a:p>
                      <a:pPr algn="l"/>
                      <a:r>
                        <a:rPr sz="1300" b="1" i="0">
                          <a:solidFill>
                            <a:srgbClr val="1D6B3A"/>
                          </a:solidFill>
                          <a:latin typeface="Arial"/>
                        </a:rPr>
                        <a:t>Agent 365</a:t>
                      </a:r>
                    </a:p>
                  </a:txBody>
                  <a:tcPr marL="73152" marR="73152" marT="36576" marB="36576" anchor="ctr">
                    <a:solidFill>
                      <a:srgbClr val="F5F5F2"/>
                    </a:solidFill>
                  </a:tcPr>
                </a:tc>
                <a:tc>
                  <a:txBody>
                    <a:bodyPr wrap="square" anchor="ctr">
                      <a:noAutofit/>
                    </a:bodyPr>
                    <a:lstStyle/>
                    <a:p>
                      <a:pPr algn="l"/>
                      <a:r>
                        <a:rPr sz="1300" b="1" i="0">
                          <a:solidFill>
                            <a:srgbClr val="8A4B08"/>
                          </a:solidFill>
                          <a:latin typeface="Arial"/>
                        </a:rPr>
                        <a:t>Agent 365 and Purview</a:t>
                      </a:r>
                    </a:p>
                  </a:txBody>
                  <a:tcPr marL="73152" marR="73152" marT="36576" marB="36576" anchor="ctr">
                    <a:solidFill>
                      <a:srgbClr val="F5F5F2"/>
                    </a:solidFill>
                  </a:tcPr>
                </a:tc>
                <a:tc>
                  <a:txBody>
                    <a:bodyPr wrap="square" anchor="ctr">
                      <a:noAutofit/>
                    </a:bodyPr>
                    <a:lstStyle/>
                    <a:p>
                      <a:pPr algn="l"/>
                      <a:r>
                        <a:rPr sz="1300" b="1" i="0">
                          <a:solidFill>
                            <a:srgbClr val="8A4B08"/>
                          </a:solidFill>
                          <a:latin typeface="Arial"/>
                        </a:rPr>
                        <a:t>Entra controls; custom</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AWS Bedrock, Google agents</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Agent 365 sync (preview)</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Custom only</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Custom only</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Unregistered SaaS or local agents</a:t>
                      </a:r>
                    </a:p>
                  </a:txBody>
                  <a:tcPr marL="73152" marR="73152" marT="36576" marB="36576" anchor="ctr">
                    <a:solidFill>
                      <a:srgbClr val="F5F5F2"/>
                    </a:solidFill>
                  </a:tcPr>
                </a:tc>
                <a:tc>
                  <a:txBody>
                    <a:bodyPr wrap="square" anchor="ctr">
                      <a:noAutofit/>
                    </a:bodyPr>
                    <a:lstStyle/>
                    <a:p>
                      <a:pPr algn="l"/>
                      <a:r>
                        <a:rPr sz="1300" b="1" i="0">
                          <a:solidFill>
                            <a:srgbClr val="A4262C"/>
                          </a:solidFill>
                          <a:latin typeface="Arial"/>
                        </a:rPr>
                        <a:t>Outside coverage</a:t>
                      </a:r>
                    </a:p>
                  </a:txBody>
                  <a:tcPr marL="73152" marR="73152" marT="36576" marB="36576" anchor="ctr">
                    <a:solidFill>
                      <a:srgbClr val="F5F5F2"/>
                    </a:solidFill>
                  </a:tcPr>
                </a:tc>
                <a:tc>
                  <a:txBody>
                    <a:bodyPr wrap="square" anchor="ctr">
                      <a:noAutofit/>
                    </a:bodyPr>
                    <a:lstStyle/>
                    <a:p>
                      <a:pPr algn="l"/>
                      <a:r>
                        <a:rPr sz="1300" b="1" i="0">
                          <a:solidFill>
                            <a:srgbClr val="A4262C"/>
                          </a:solidFill>
                          <a:latin typeface="Arial"/>
                        </a:rPr>
                        <a:t>Outside coverage</a:t>
                      </a:r>
                    </a:p>
                  </a:txBody>
                  <a:tcPr marL="73152" marR="73152" marT="36576" marB="36576" anchor="ctr">
                    <a:solidFill>
                      <a:srgbClr val="F5F5F2"/>
                    </a:solidFill>
                  </a:tcPr>
                </a:tc>
                <a:tc>
                  <a:txBody>
                    <a:bodyPr wrap="square" anchor="ctr">
                      <a:noAutofit/>
                    </a:bodyPr>
                    <a:lstStyle/>
                    <a:p>
                      <a:pPr algn="l"/>
                      <a:r>
                        <a:rPr sz="1300" b="1" i="0">
                          <a:solidFill>
                            <a:srgbClr val="A4262C"/>
                          </a:solidFill>
                          <a:latin typeface="Arial"/>
                        </a:rPr>
                        <a:t>Outside coverage</a:t>
                      </a:r>
                    </a:p>
                  </a:txBody>
                  <a:tcPr marL="73152" marR="73152" marT="36576" marB="36576" anchor="ctr">
                    <a:solidFill>
                      <a:srgbClr val="F5F5F2"/>
                    </a:solidFill>
                  </a:tcPr>
                </a:tc>
              </a:tr>
            </a:tbl>
          </a:graphicData>
        </a:graphic>
      </p:graphicFrame>
      <p:sp>
        <p:nvSpPr>
          <p:cNvPr id="10" name="Rounded Rectangle 9"/>
          <p:cNvSpPr/>
          <p:nvPr/>
        </p:nvSpPr>
        <p:spPr>
          <a:xfrm>
            <a:off x="548640" y="539496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Outside coverage means invisible until onboarded. Report coverage percentage with the denominator stated.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estate view: what the workbook shows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Status chip: ILLUSTRATIVE, NO CUSTOMER DATA"/>
          <p:cNvSpPr/>
          <p:nvPr/>
        </p:nvSpPr>
        <p:spPr>
          <a:xfrm>
            <a:off x="1898650" y="274320"/>
            <a:ext cx="286512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 NO CUSTOMER DATA</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sp>
        <p:nvSpPr>
          <p:cNvPr id="9" name="Rounded Rectangle 8"/>
          <p:cNvSpPr/>
          <p:nvPr/>
        </p:nvSpPr>
        <p:spPr>
          <a:xfrm>
            <a:off x="548640" y="1325880"/>
            <a:ext cx="11091672" cy="457200"/>
          </a:xfrm>
          <a:prstGeom prst="roundRect">
            <a:avLst>
              <a:gd name="adj" fmla="val 16000"/>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400" b="1" i="0">
                <a:solidFill>
                  <a:srgbClr val="8A4B08"/>
                </a:solidFill>
                <a:latin typeface="Arial"/>
              </a:rPr>
              <a:t>ILLUSTRATIVE MOCK-UP  ·  invented sample data  ·  not customer evidence</a:t>
            </a:r>
          </a:p>
        </p:txBody>
      </p:sp>
      <p:sp>
        <p:nvSpPr>
          <p:cNvPr id="10" name="Rounded Rectangle 9"/>
          <p:cNvSpPr/>
          <p:nvPr/>
        </p:nvSpPr>
        <p:spPr>
          <a:xfrm>
            <a:off x="54864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24</a:t>
            </a:r>
          </a:p>
          <a:p>
            <a:pPr algn="l"/>
            <a:r>
              <a:rPr sz="1300" b="0" i="0">
                <a:solidFill>
                  <a:srgbClr val="53565A"/>
                </a:solidFill>
                <a:latin typeface="Arial"/>
              </a:rPr>
              <a:t>Registered</a:t>
            </a:r>
          </a:p>
        </p:txBody>
      </p:sp>
      <p:sp>
        <p:nvSpPr>
          <p:cNvPr id="11" name="Rounded Rectangle 10"/>
          <p:cNvSpPr/>
          <p:nvPr/>
        </p:nvSpPr>
        <p:spPr>
          <a:xfrm>
            <a:off x="278892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17</a:t>
            </a:r>
          </a:p>
          <a:p>
            <a:pPr algn="l"/>
            <a:r>
              <a:rPr sz="1300" b="0" i="0">
                <a:solidFill>
                  <a:srgbClr val="53565A"/>
                </a:solidFill>
                <a:latin typeface="Arial"/>
              </a:rPr>
              <a:t>Active, 30 days</a:t>
            </a:r>
          </a:p>
        </p:txBody>
      </p:sp>
      <p:sp>
        <p:nvSpPr>
          <p:cNvPr id="12" name="Rounded Rectangle 11"/>
          <p:cNvSpPr/>
          <p:nvPr/>
        </p:nvSpPr>
        <p:spPr>
          <a:xfrm>
            <a:off x="502920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4</a:t>
            </a:r>
          </a:p>
          <a:p>
            <a:pPr algn="l"/>
            <a:r>
              <a:rPr sz="1300" b="0" i="0">
                <a:solidFill>
                  <a:srgbClr val="53565A"/>
                </a:solidFill>
                <a:latin typeface="Arial"/>
              </a:rPr>
              <a:t>Dormant review</a:t>
            </a:r>
          </a:p>
        </p:txBody>
      </p:sp>
      <p:sp>
        <p:nvSpPr>
          <p:cNvPr id="13" name="Rounded Rectangle 12"/>
          <p:cNvSpPr/>
          <p:nvPr/>
        </p:nvSpPr>
        <p:spPr>
          <a:xfrm>
            <a:off x="726948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3</a:t>
            </a:r>
          </a:p>
          <a:p>
            <a:pPr algn="l"/>
            <a:r>
              <a:rPr sz="1300" b="0" i="0">
                <a:solidFill>
                  <a:srgbClr val="53565A"/>
                </a:solidFill>
                <a:latin typeface="Arial"/>
              </a:rPr>
              <a:t>Telemetry unknown</a:t>
            </a:r>
          </a:p>
        </p:txBody>
      </p:sp>
      <p:sp>
        <p:nvSpPr>
          <p:cNvPr id="14" name="Rounded Rectangle 13"/>
          <p:cNvSpPr/>
          <p:nvPr/>
        </p:nvSpPr>
        <p:spPr>
          <a:xfrm>
            <a:off x="950976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1</a:t>
            </a:r>
          </a:p>
          <a:p>
            <a:pPr algn="l"/>
            <a:r>
              <a:rPr sz="1300" b="0" i="0">
                <a:solidFill>
                  <a:srgbClr val="53565A"/>
                </a:solidFill>
                <a:latin typeface="Arial"/>
              </a:rPr>
              <a:t>Orphaned</a:t>
            </a:r>
          </a:p>
        </p:txBody>
      </p:sp>
      <p:graphicFrame>
        <p:nvGraphicFramePr>
          <p:cNvPr id="15" name="Table"/>
          <p:cNvGraphicFramePr>
            <a:graphicFrameLocks noGrp="1"/>
          </p:cNvGraphicFramePr>
          <p:nvPr/>
        </p:nvGraphicFramePr>
        <p:xfrm>
          <a:off x="548640" y="3291840"/>
          <a:ext cx="11091672" cy="1524000"/>
        </p:xfrm>
        <a:graphic>
          <a:graphicData uri="http://schemas.openxmlformats.org/drawingml/2006/table">
            <a:tbl>
              <a:tblPr firstRow="1" bandRow="0">
                <a:tableStyleId>{5C22544A-7EE6-4342-B048-85BDC9FD1C3A}</a:tableStyleId>
              </a:tblPr>
              <a:tblGrid>
                <a:gridCol w="2926080"/>
                <a:gridCol w="1828800"/>
                <a:gridCol w="2194560"/>
                <a:gridCol w="1463040"/>
                <a:gridCol w="2679192"/>
              </a:tblGrid>
              <a:tr h="304800">
                <a:tc>
                  <a:txBody>
                    <a:bodyPr wrap="square" anchor="ctr">
                      <a:noAutofit/>
                    </a:bodyPr>
                    <a:lstStyle/>
                    <a:p>
                      <a:pPr algn="l"/>
                      <a:r>
                        <a:rPr sz="1400" b="1" i="0">
                          <a:solidFill>
                            <a:srgbClr val="FFFFFF"/>
                          </a:solidFill>
                          <a:latin typeface="Arial"/>
                        </a:rPr>
                        <a:t>Agent (sample)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State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Last run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Containment</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Knowledge assistant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Workplace</a:t>
                      </a:r>
                    </a:p>
                  </a:txBody>
                  <a:tcPr marL="73152" marR="73152" marT="36576" marB="36576" anchor="ctr">
                    <a:solidFill>
                      <a:srgbClr val="FFFFFF"/>
                    </a:solidFill>
                  </a:tcPr>
                </a:tc>
                <a:tc>
                  <a:txBody>
                    <a:bodyPr wrap="square" anchor="ctr">
                      <a:noAutofit/>
                    </a:bodyPr>
                    <a:lstStyle/>
                    <a:p>
                      <a:pPr algn="l"/>
                      <a:r>
                        <a:rPr sz="1400" b="1" i="0">
                          <a:solidFill>
                            <a:srgbClr val="1D6B3A"/>
                          </a:solidFill>
                          <a:latin typeface="Arial"/>
                        </a:rPr>
                        <a:t>Active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Today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Block, cancel, deny tested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Invoice triage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Finance</a:t>
                      </a:r>
                    </a:p>
                  </a:txBody>
                  <a:tcPr marL="73152" marR="73152" marT="36576" marB="36576" anchor="ctr">
                    <a:solidFill>
                      <a:srgbClr val="F5F5F2"/>
                    </a:solidFill>
                  </a:tcPr>
                </a:tc>
                <a:tc>
                  <a:txBody>
                    <a:bodyPr wrap="square" anchor="ctr">
                      <a:noAutofit/>
                    </a:bodyPr>
                    <a:lstStyle/>
                    <a:p>
                      <a:pPr algn="l"/>
                      <a:r>
                        <a:rPr sz="1400" b="1" i="0">
                          <a:solidFill>
                            <a:srgbClr val="8A4B08"/>
                          </a:solidFill>
                          <a:latin typeface="Arial"/>
                        </a:rPr>
                        <a:t>Dormant review</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42 days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Block tested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Ops helper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Platform</a:t>
                      </a:r>
                    </a:p>
                  </a:txBody>
                  <a:tcPr marL="73152" marR="73152" marT="36576" marB="36576" anchor="ctr">
                    <a:solidFill>
                      <a:srgbClr val="FFFFFF"/>
                    </a:solidFill>
                  </a:tcPr>
                </a:tc>
                <a:tc>
                  <a:txBody>
                    <a:bodyPr wrap="square" anchor="ctr">
                      <a:noAutofit/>
                    </a:bodyPr>
                    <a:lstStyle/>
                    <a:p>
                      <a:pPr algn="l"/>
                      <a:r>
                        <a:rPr sz="1400" b="1" i="0">
                          <a:solidFill>
                            <a:srgbClr val="53565A"/>
                          </a:solidFill>
                          <a:latin typeface="Arial"/>
                        </a:rPr>
                        <a:t>Telemetry unknown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Unknown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Not tested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Legacy summariser</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None</a:t>
                      </a:r>
                    </a:p>
                  </a:txBody>
                  <a:tcPr marL="73152" marR="73152" marT="36576" marB="36576" anchor="ctr">
                    <a:solidFill>
                      <a:srgbClr val="F5F5F2"/>
                    </a:solidFill>
                  </a:tcPr>
                </a:tc>
                <a:tc>
                  <a:txBody>
                    <a:bodyPr wrap="square" anchor="ctr">
                      <a:noAutofit/>
                    </a:bodyPr>
                    <a:lstStyle/>
                    <a:p>
                      <a:pPr algn="l"/>
                      <a:r>
                        <a:rPr sz="1400" b="1" i="0">
                          <a:solidFill>
                            <a:srgbClr val="A4262C"/>
                          </a:solidFill>
                          <a:latin typeface="Arial"/>
                        </a:rPr>
                        <a:t>Orphaned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96 days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None recorded</a:t>
                      </a:r>
                    </a:p>
                  </a:txBody>
                  <a:tcPr marL="73152" marR="73152" marT="36576" marB="36576" anchor="ctr">
                    <a:solidFill>
                      <a:srgbClr val="F5F5F2"/>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Rogue-agent containment on Azure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K1</a:t>
            </a:r>
          </a:p>
        </p:txBody>
      </p:sp>
      <p:sp>
        <p:nvSpPr>
          <p:cNvPr id="5" name="Status chip: PROPOSED REFERENCE ARCHITECTURE"/>
          <p:cNvSpPr/>
          <p:nvPr/>
        </p:nvSpPr>
        <p:spPr>
          <a:xfrm>
            <a:off x="189865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3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sp>
        <p:nvSpPr>
          <p:cNvPr id="9" name="Rounded Rectangle 8"/>
          <p:cNvSpPr/>
          <p:nvPr/>
        </p:nvSpPr>
        <p:spPr>
          <a:xfrm>
            <a:off x="411480" y="1243584"/>
            <a:ext cx="11384280" cy="2377440"/>
          </a:xfrm>
          <a:prstGeom prst="roundRect">
            <a:avLst>
              <a:gd name="adj" fmla="val 3846"/>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21208" y="1298448"/>
            <a:ext cx="11164824" cy="237744"/>
          </a:xfrm>
          <a:prstGeom prst="rect">
            <a:avLst/>
          </a:prstGeom>
          <a:noFill/>
        </p:spPr>
        <p:txBody>
          <a:bodyPr wrap="square" lIns="0" rIns="0" tIns="0" bIns="0" anchor="t">
            <a:noAutofit/>
          </a:bodyPr>
          <a:lstStyle/>
          <a:p>
            <a:pPr algn="l"/>
            <a:r>
              <a:rPr sz="1200" b="1" i="0">
                <a:solidFill>
                  <a:srgbClr val="000048"/>
                </a:solidFill>
                <a:latin typeface="Arial"/>
              </a:rPr>
              <a:t>GOVERNED EXECUTION PATH (WORKLOAD SUBSCRIPTION, PRIVATE NETWORK)</a:t>
            </a:r>
          </a:p>
        </p:txBody>
      </p:sp>
      <p:pic>
        <p:nvPicPr>
          <p:cNvPr id="11"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2124" y="1865376"/>
            <a:ext cx="438912" cy="438912"/>
          </a:xfrm>
          <a:prstGeom prst="rect">
            <a:avLst/>
          </a:prstGeom>
        </p:spPr>
      </p:pic>
      <p:sp>
        <p:nvSpPr>
          <p:cNvPr id="12" name="TextBox 11"/>
          <p:cNvSpPr txBox="1"/>
          <p:nvPr/>
        </p:nvSpPr>
        <p:spPr>
          <a:xfrm>
            <a:off x="539496" y="2340864"/>
            <a:ext cx="1344168" cy="512064"/>
          </a:xfrm>
          <a:prstGeom prst="rect">
            <a:avLst/>
          </a:prstGeom>
          <a:noFill/>
        </p:spPr>
        <p:txBody>
          <a:bodyPr wrap="square" lIns="0" rIns="0" tIns="0" bIns="0" anchor="t">
            <a:noAutofit/>
          </a:bodyPr>
          <a:lstStyle/>
          <a:p>
            <a:pPr algn="ctr"/>
            <a:r>
              <a:rPr sz="1300" b="1" i="0">
                <a:solidFill>
                  <a:srgbClr val="000048"/>
                </a:solidFill>
                <a:latin typeface="Arial"/>
              </a:rPr>
              <a:t>Users and apps</a:t>
            </a:r>
          </a:p>
          <a:p>
            <a:pPr algn="ctr"/>
            <a:r>
              <a:rPr sz="1200" b="0" i="0">
                <a:solidFill>
                  <a:srgbClr val="53565A"/>
                </a:solidFill>
                <a:latin typeface="Arial"/>
              </a:rPr>
              <a:t>Entra-authenticated callers</a:t>
            </a:r>
          </a:p>
        </p:txBody>
      </p:sp>
      <p:sp>
        <p:nvSpPr>
          <p:cNvPr id="13" name="Rounded Rectangle 12"/>
          <p:cNvSpPr/>
          <p:nvPr/>
        </p:nvSpPr>
        <p:spPr>
          <a:xfrm>
            <a:off x="2103120" y="1700784"/>
            <a:ext cx="182880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98064" y="1773936"/>
            <a:ext cx="438912" cy="438912"/>
          </a:xfrm>
          <a:prstGeom prst="rect">
            <a:avLst/>
          </a:prstGeom>
        </p:spPr>
      </p:pic>
      <p:sp>
        <p:nvSpPr>
          <p:cNvPr id="15" name="TextBox 14"/>
          <p:cNvSpPr txBox="1"/>
          <p:nvPr/>
        </p:nvSpPr>
        <p:spPr>
          <a:xfrm>
            <a:off x="2148840" y="2249424"/>
            <a:ext cx="1737360" cy="822960"/>
          </a:xfrm>
          <a:prstGeom prst="rect">
            <a:avLst/>
          </a:prstGeom>
          <a:noFill/>
        </p:spPr>
        <p:txBody>
          <a:bodyPr wrap="square" lIns="0" rIns="0" tIns="0" bIns="0" anchor="t">
            <a:noAutofit/>
          </a:bodyPr>
          <a:lstStyle/>
          <a:p>
            <a:pPr algn="ctr"/>
            <a:r>
              <a:rPr sz="1200" b="1" i="0">
                <a:solidFill>
                  <a:srgbClr val="000048"/>
                </a:solidFill>
                <a:latin typeface="Arial"/>
              </a:rPr>
              <a:t>API Management</a:t>
            </a:r>
          </a:p>
          <a:p>
            <a:pPr algn="ctr"/>
            <a:r>
              <a:rPr sz="1200" b="0" i="0">
                <a:solidFill>
                  <a:srgbClr val="53565A"/>
                </a:solidFill>
                <a:latin typeface="Arial"/>
              </a:rPr>
              <a:t>Ingress: caller identity, agent ID mapping, deny-state check</a:t>
            </a:r>
          </a:p>
        </p:txBody>
      </p:sp>
      <p:sp>
        <p:nvSpPr>
          <p:cNvPr id="16" name="Rounded Rectangle 15"/>
          <p:cNvSpPr/>
          <p:nvPr/>
        </p:nvSpPr>
        <p:spPr>
          <a:xfrm>
            <a:off x="4343400" y="1700784"/>
            <a:ext cx="205740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Foundry Agent Service" descr="Official Azure icon: Foundry Agent Servi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01184" y="1773936"/>
            <a:ext cx="438912" cy="438912"/>
          </a:xfrm>
          <a:prstGeom prst="rect">
            <a:avLst/>
          </a:prstGeom>
        </p:spPr>
      </p:pic>
      <p:pic>
        <p:nvPicPr>
          <p:cNvPr id="18" name="Azure icon: Container Apps Environments" descr="Official Azure icon: Container Apps Environme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413248" y="1773936"/>
            <a:ext cx="438912" cy="438912"/>
          </a:xfrm>
          <a:prstGeom prst="rect">
            <a:avLst/>
          </a:prstGeom>
        </p:spPr>
      </p:pic>
      <p:sp>
        <p:nvSpPr>
          <p:cNvPr id="19" name="TextBox 18"/>
          <p:cNvSpPr txBox="1"/>
          <p:nvPr/>
        </p:nvSpPr>
        <p:spPr>
          <a:xfrm>
            <a:off x="4389120" y="2249424"/>
            <a:ext cx="1965960" cy="822960"/>
          </a:xfrm>
          <a:prstGeom prst="rect">
            <a:avLst/>
          </a:prstGeom>
          <a:noFill/>
        </p:spPr>
        <p:txBody>
          <a:bodyPr wrap="square" lIns="0" rIns="0" tIns="0" bIns="0" anchor="t">
            <a:noAutofit/>
          </a:bodyPr>
          <a:lstStyle/>
          <a:p>
            <a:pPr algn="ctr"/>
            <a:r>
              <a:rPr sz="1200" b="1" i="0">
                <a:solidFill>
                  <a:srgbClr val="000048"/>
                </a:solidFill>
                <a:latin typeface="Arial"/>
              </a:rPr>
              <a:t>Agent runtime</a:t>
            </a:r>
          </a:p>
          <a:p>
            <a:pPr algn="ctr"/>
            <a:r>
              <a:rPr sz="1200" b="0" i="0">
                <a:solidFill>
                  <a:srgbClr val="53565A"/>
                </a:solidFill>
                <a:latin typeface="Arial"/>
              </a:rPr>
              <a:t>Foundry Agent Service, or a customer host (Container Apps shown). Guard at each loop checkpoint</a:t>
            </a:r>
          </a:p>
        </p:txBody>
      </p:sp>
      <p:sp>
        <p:nvSpPr>
          <p:cNvPr id="20" name="Rounded Rectangle 19"/>
          <p:cNvSpPr/>
          <p:nvPr/>
        </p:nvSpPr>
        <p:spPr>
          <a:xfrm>
            <a:off x="6812280" y="1700784"/>
            <a:ext cx="192024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52944" y="1773936"/>
            <a:ext cx="438912" cy="438912"/>
          </a:xfrm>
          <a:prstGeom prst="rect">
            <a:avLst/>
          </a:prstGeom>
        </p:spPr>
      </p:pic>
      <p:sp>
        <p:nvSpPr>
          <p:cNvPr id="22" name="TextBox 21"/>
          <p:cNvSpPr txBox="1"/>
          <p:nvPr/>
        </p:nvSpPr>
        <p:spPr>
          <a:xfrm>
            <a:off x="6858000" y="2249424"/>
            <a:ext cx="1828800" cy="822960"/>
          </a:xfrm>
          <a:prstGeom prst="rect">
            <a:avLst/>
          </a:prstGeom>
          <a:noFill/>
        </p:spPr>
        <p:txBody>
          <a:bodyPr wrap="square" lIns="0" rIns="0" tIns="0" bIns="0" anchor="t">
            <a:noAutofit/>
          </a:bodyPr>
          <a:lstStyle/>
          <a:p>
            <a:pPr algn="ctr"/>
            <a:r>
              <a:rPr sz="1200" b="1" i="0">
                <a:solidFill>
                  <a:srgbClr val="000048"/>
                </a:solidFill>
                <a:latin typeface="Arial"/>
              </a:rPr>
              <a:t>Model and tool gateway</a:t>
            </a:r>
          </a:p>
          <a:p>
            <a:pPr algn="ctr"/>
            <a:r>
              <a:rPr sz="1200" b="0" i="0">
                <a:solidFill>
                  <a:srgbClr val="53565A"/>
                </a:solidFill>
                <a:latin typeface="Arial"/>
              </a:rPr>
              <a:t>API Management outbound policies plus tool-side authorisation</a:t>
            </a:r>
          </a:p>
        </p:txBody>
      </p:sp>
      <p:sp>
        <p:nvSpPr>
          <p:cNvPr id="23" name="Rounded Rectangle 22"/>
          <p:cNvSpPr/>
          <p:nvPr/>
        </p:nvSpPr>
        <p:spPr>
          <a:xfrm>
            <a:off x="9144000" y="1591056"/>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217152" y="1682496"/>
            <a:ext cx="329184" cy="329184"/>
          </a:xfrm>
          <a:prstGeom prst="rect">
            <a:avLst/>
          </a:prstGeom>
        </p:spPr>
      </p:pic>
      <p:sp>
        <p:nvSpPr>
          <p:cNvPr id="25" name="TextBox 24"/>
          <p:cNvSpPr txBox="1"/>
          <p:nvPr/>
        </p:nvSpPr>
        <p:spPr>
          <a:xfrm>
            <a:off x="9619488" y="1627632"/>
            <a:ext cx="2002536" cy="438912"/>
          </a:xfrm>
          <a:prstGeom prst="rect">
            <a:avLst/>
          </a:prstGeom>
          <a:noFill/>
        </p:spPr>
        <p:txBody>
          <a:bodyPr wrap="square" lIns="0" rIns="0" tIns="0" bIns="0" anchor="ctr">
            <a:noAutofit/>
          </a:bodyPr>
          <a:lstStyle/>
          <a:p>
            <a:pPr algn="l"/>
            <a:r>
              <a:rPr sz="1200" b="1" i="0">
                <a:solidFill>
                  <a:srgbClr val="000048"/>
                </a:solidFill>
                <a:latin typeface="Arial"/>
              </a:rPr>
              <a:t>Foundry Models</a:t>
            </a:r>
          </a:p>
          <a:p>
            <a:pPr algn="l"/>
            <a:r>
              <a:rPr sz="1200" b="0" i="0">
                <a:solidFill>
                  <a:srgbClr val="53565A"/>
                </a:solidFill>
                <a:latin typeface="Arial"/>
              </a:rPr>
              <a:t>model deployments</a:t>
            </a:r>
          </a:p>
        </p:txBody>
      </p:sp>
      <p:sp>
        <p:nvSpPr>
          <p:cNvPr id="26" name="Rounded Rectangle 25"/>
          <p:cNvSpPr/>
          <p:nvPr/>
        </p:nvSpPr>
        <p:spPr>
          <a:xfrm>
            <a:off x="9144000" y="2157984"/>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7"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217152" y="2249424"/>
            <a:ext cx="329184" cy="329184"/>
          </a:xfrm>
          <a:prstGeom prst="rect">
            <a:avLst/>
          </a:prstGeom>
        </p:spPr>
      </p:pic>
      <p:sp>
        <p:nvSpPr>
          <p:cNvPr id="28" name="TextBox 27"/>
          <p:cNvSpPr txBox="1"/>
          <p:nvPr/>
        </p:nvSpPr>
        <p:spPr>
          <a:xfrm>
            <a:off x="9619488" y="2194560"/>
            <a:ext cx="2002536" cy="438912"/>
          </a:xfrm>
          <a:prstGeom prst="rect">
            <a:avLst/>
          </a:prstGeom>
          <a:noFill/>
        </p:spPr>
        <p:txBody>
          <a:bodyPr wrap="square" lIns="0" rIns="0" tIns="0" bIns="0" anchor="ctr">
            <a:noAutofit/>
          </a:bodyPr>
          <a:lstStyle/>
          <a:p>
            <a:pPr algn="l"/>
            <a:r>
              <a:rPr sz="1200" b="1" i="0">
                <a:solidFill>
                  <a:srgbClr val="000048"/>
                </a:solidFill>
                <a:latin typeface="Arial"/>
              </a:rPr>
              <a:t>Tool APIs (example host)</a:t>
            </a:r>
          </a:p>
          <a:p>
            <a:pPr algn="l"/>
            <a:r>
              <a:rPr sz="1200" b="0" i="0">
                <a:solidFill>
                  <a:srgbClr val="53565A"/>
                </a:solidFill>
                <a:latin typeface="Arial"/>
              </a:rPr>
              <a:t>MCP or REST tools</a:t>
            </a:r>
          </a:p>
        </p:txBody>
      </p:sp>
      <p:sp>
        <p:nvSpPr>
          <p:cNvPr id="29" name="Rounded Rectangle 28"/>
          <p:cNvSpPr/>
          <p:nvPr/>
        </p:nvSpPr>
        <p:spPr>
          <a:xfrm>
            <a:off x="9144000" y="2724912"/>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0" name="Azure icon: AI Search (Cognitive Search icon)" descr="Official Azure icon: AI Search (Cognitive Search icon)"/>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217152" y="2816352"/>
            <a:ext cx="329184" cy="329184"/>
          </a:xfrm>
          <a:prstGeom prst="rect">
            <a:avLst/>
          </a:prstGeom>
        </p:spPr>
      </p:pic>
      <p:sp>
        <p:nvSpPr>
          <p:cNvPr id="31" name="TextBox 30"/>
          <p:cNvSpPr txBox="1"/>
          <p:nvPr/>
        </p:nvSpPr>
        <p:spPr>
          <a:xfrm>
            <a:off x="9619488" y="2761488"/>
            <a:ext cx="2002536" cy="438912"/>
          </a:xfrm>
          <a:prstGeom prst="rect">
            <a:avLst/>
          </a:prstGeom>
          <a:noFill/>
        </p:spPr>
        <p:txBody>
          <a:bodyPr wrap="square" lIns="0" rIns="0" tIns="0" bIns="0" anchor="ctr">
            <a:noAutofit/>
          </a:bodyPr>
          <a:lstStyle/>
          <a:p>
            <a:pPr algn="l"/>
            <a:r>
              <a:rPr sz="1200" b="1" i="0">
                <a:solidFill>
                  <a:srgbClr val="000048"/>
                </a:solidFill>
                <a:latin typeface="Arial"/>
              </a:rPr>
              <a:t>Workload data</a:t>
            </a:r>
          </a:p>
          <a:p>
            <a:pPr algn="l"/>
            <a:r>
              <a:rPr sz="1200" b="0" i="0">
                <a:solidFill>
                  <a:srgbClr val="53565A"/>
                </a:solidFill>
                <a:latin typeface="Arial"/>
              </a:rPr>
              <a:t>AI Search, Storage account</a:t>
            </a:r>
          </a:p>
        </p:txBody>
      </p:sp>
      <p:cxnSp>
        <p:nvCxnSpPr>
          <p:cNvPr id="32" name="Connector (flow)"/>
          <p:cNvCxnSpPr/>
          <p:nvPr/>
        </p:nvCxnSpPr>
        <p:spPr>
          <a:xfrm>
            <a:off x="1920240" y="2414016"/>
            <a:ext cx="1828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flow)"/>
          <p:cNvCxnSpPr/>
          <p:nvPr/>
        </p:nvCxnSpPr>
        <p:spPr>
          <a:xfrm>
            <a:off x="3931920" y="2414016"/>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flow)"/>
          <p:cNvCxnSpPr/>
          <p:nvPr/>
        </p:nvCxnSpPr>
        <p:spPr>
          <a:xfrm>
            <a:off x="6400800" y="2414016"/>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6" name="Connector (flow)"/>
          <p:cNvCxnSpPr/>
          <p:nvPr/>
        </p:nvCxnSpPr>
        <p:spPr>
          <a:xfrm flipV="1">
            <a:off x="8942832" y="1847088"/>
            <a:ext cx="0" cy="566928"/>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7" name="Connector (flow)"/>
          <p:cNvCxnSpPr/>
          <p:nvPr/>
        </p:nvCxnSpPr>
        <p:spPr>
          <a:xfrm>
            <a:off x="8942832" y="1847088"/>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8942832" y="2414016"/>
            <a:ext cx="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0" name="Connector (flow)"/>
          <p:cNvCxnSpPr/>
          <p:nvPr/>
        </p:nvCxnSpPr>
        <p:spPr>
          <a:xfrm>
            <a:off x="8942832" y="2414016"/>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2" name="Connector (flow)"/>
          <p:cNvCxnSpPr/>
          <p:nvPr/>
        </p:nvCxnSpPr>
        <p:spPr>
          <a:xfrm>
            <a:off x="8942832" y="2414016"/>
            <a:ext cx="0" cy="566928"/>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3" name="Connector (flow)"/>
          <p:cNvCxnSpPr/>
          <p:nvPr/>
        </p:nvCxnSpPr>
        <p:spPr>
          <a:xfrm>
            <a:off x="8942832" y="2980944"/>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197510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sp>
        <p:nvSpPr>
          <p:cNvPr id="45" name="Oval 44"/>
          <p:cNvSpPr/>
          <p:nvPr/>
        </p:nvSpPr>
        <p:spPr>
          <a:xfrm>
            <a:off x="421538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sp>
        <p:nvSpPr>
          <p:cNvPr id="46" name="Oval 45"/>
          <p:cNvSpPr/>
          <p:nvPr/>
        </p:nvSpPr>
        <p:spPr>
          <a:xfrm>
            <a:off x="668426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47" name="TextBox 46"/>
          <p:cNvSpPr txBox="1"/>
          <p:nvPr/>
        </p:nvSpPr>
        <p:spPr>
          <a:xfrm>
            <a:off x="9144000" y="3273552"/>
            <a:ext cx="2560320" cy="329184"/>
          </a:xfrm>
          <a:prstGeom prst="rect">
            <a:avLst/>
          </a:prstGeom>
          <a:noFill/>
        </p:spPr>
        <p:txBody>
          <a:bodyPr wrap="square" lIns="0" rIns="0" tIns="0" bIns="0" anchor="t">
            <a:noAutofit/>
          </a:bodyPr>
          <a:lstStyle/>
          <a:p>
            <a:pPr algn="l"/>
            <a:r>
              <a:rPr sz="1200" b="0" i="0">
                <a:solidFill>
                  <a:srgbClr val="A4262C"/>
                </a:solidFill>
                <a:latin typeface="Arial"/>
              </a:rPr>
              <a:t>Direct calls that bypass the gateway are denied by network and identity design</a:t>
            </a:r>
          </a:p>
        </p:txBody>
      </p:sp>
      <p:sp>
        <p:nvSpPr>
          <p:cNvPr id="48" name="Rounded Rectangle 47"/>
          <p:cNvSpPr/>
          <p:nvPr/>
        </p:nvSpPr>
        <p:spPr>
          <a:xfrm>
            <a:off x="457200" y="2816352"/>
            <a:ext cx="1600200" cy="566928"/>
          </a:xfrm>
          <a:prstGeom prst="roundRect">
            <a:avLst>
              <a:gd name="adj" fmla="val 12903"/>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9" name="Azure icon: Conditional Access" descr="Official Azure icon: Conditional Access"/>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30352" y="2953512"/>
            <a:ext cx="292608" cy="292608"/>
          </a:xfrm>
          <a:prstGeom prst="rect">
            <a:avLst/>
          </a:prstGeom>
        </p:spPr>
      </p:pic>
      <p:sp>
        <p:nvSpPr>
          <p:cNvPr id="50" name="TextBox 49"/>
          <p:cNvSpPr txBox="1"/>
          <p:nvPr/>
        </p:nvSpPr>
        <p:spPr>
          <a:xfrm>
            <a:off x="896112" y="2852928"/>
            <a:ext cx="1124712" cy="493776"/>
          </a:xfrm>
          <a:prstGeom prst="rect">
            <a:avLst/>
          </a:prstGeom>
          <a:noFill/>
        </p:spPr>
        <p:txBody>
          <a:bodyPr wrap="square" lIns="0" rIns="0" tIns="0" bIns="0" anchor="ctr">
            <a:noAutofit/>
          </a:bodyPr>
          <a:lstStyle/>
          <a:p>
            <a:pPr algn="l"/>
            <a:r>
              <a:rPr sz="1200" b="1" i="0">
                <a:solidFill>
                  <a:srgbClr val="000048"/>
                </a:solidFill>
                <a:latin typeface="Arial"/>
              </a:rPr>
              <a:t>Entra CA for agents</a:t>
            </a:r>
          </a:p>
          <a:p>
            <a:pPr algn="l"/>
            <a:r>
              <a:rPr sz="1200" b="0" i="0">
                <a:solidFill>
                  <a:srgbClr val="53565A"/>
                </a:solidFill>
                <a:latin typeface="Arial"/>
              </a:rPr>
              <a:t>identity-layer block</a:t>
            </a:r>
          </a:p>
        </p:txBody>
      </p:sp>
      <p:sp>
        <p:nvSpPr>
          <p:cNvPr id="51" name="Oval 50"/>
          <p:cNvSpPr/>
          <p:nvPr/>
        </p:nvSpPr>
        <p:spPr>
          <a:xfrm>
            <a:off x="1920240" y="2724912"/>
            <a:ext cx="256032" cy="256032"/>
          </a:xfrm>
          <a:prstGeom prst="ellipse">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4</a:t>
            </a:r>
          </a:p>
        </p:txBody>
      </p:sp>
      <p:sp>
        <p:nvSpPr>
          <p:cNvPr id="52" name="Rounded Rectangle 51"/>
          <p:cNvSpPr/>
          <p:nvPr/>
        </p:nvSpPr>
        <p:spPr>
          <a:xfrm>
            <a:off x="411480" y="4032504"/>
            <a:ext cx="11384280" cy="2103120"/>
          </a:xfrm>
          <a:prstGeom prst="roundRect">
            <a:avLst>
              <a:gd name="adj" fmla="val 4347"/>
            </a:avLst>
          </a:prstGeom>
          <a:solidFill>
            <a:srgbClr val="F6F5FD"/>
          </a:solidFill>
          <a:ln w="15875">
            <a:solidFill>
              <a:srgbClr val="7373D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521207" y="5861304"/>
            <a:ext cx="8229600" cy="237744"/>
          </a:xfrm>
          <a:prstGeom prst="rect">
            <a:avLst/>
          </a:prstGeom>
          <a:noFill/>
        </p:spPr>
        <p:txBody>
          <a:bodyPr wrap="square" lIns="0" rIns="0" tIns="0" bIns="0" anchor="t">
            <a:noAutofit/>
          </a:bodyPr>
          <a:lstStyle/>
          <a:p>
            <a:pPr algn="l"/>
            <a:r>
              <a:rPr sz="1200" b="1" i="0">
                <a:solidFill>
                  <a:srgbClr val="4B4BA8"/>
                </a:solidFill>
                <a:latin typeface="Arial"/>
              </a:rPr>
              <a:t>RESTRICTED CONTAINMENT CONTROL PLANE (SEPARATE SUBSCRIPTION OR MANAGEMENT BOUNDARY)</a:t>
            </a:r>
          </a:p>
        </p:txBody>
      </p:sp>
      <p:sp>
        <p:nvSpPr>
          <p:cNvPr id="54" name="Rounded Rectangle 53"/>
          <p:cNvSpPr/>
          <p:nvPr/>
        </p:nvSpPr>
        <p:spPr>
          <a:xfrm>
            <a:off x="548640" y="4215384"/>
            <a:ext cx="1874519"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55" name="Azure icon: Entra Privileged Identity Management" descr="Official Azure icon: Entra Privileged Identity Management"/>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21792" y="4366260"/>
            <a:ext cx="384048" cy="384048"/>
          </a:xfrm>
          <a:prstGeom prst="rect">
            <a:avLst/>
          </a:prstGeom>
        </p:spPr>
      </p:pic>
      <p:sp>
        <p:nvSpPr>
          <p:cNvPr id="56" name="TextBox 55"/>
          <p:cNvSpPr txBox="1"/>
          <p:nvPr/>
        </p:nvSpPr>
        <p:spPr>
          <a:xfrm>
            <a:off x="1078992" y="4251960"/>
            <a:ext cx="1307592" cy="612648"/>
          </a:xfrm>
          <a:prstGeom prst="rect">
            <a:avLst/>
          </a:prstGeom>
          <a:noFill/>
        </p:spPr>
        <p:txBody>
          <a:bodyPr wrap="square" lIns="0" rIns="0" tIns="0" bIns="0" anchor="ctr">
            <a:noAutofit/>
          </a:bodyPr>
          <a:lstStyle/>
          <a:p>
            <a:pPr algn="l"/>
            <a:r>
              <a:rPr sz="1200" b="1" i="0">
                <a:solidFill>
                  <a:srgbClr val="000048"/>
                </a:solidFill>
                <a:latin typeface="Arial"/>
              </a:rPr>
              <a:t>Authorised operator</a:t>
            </a:r>
          </a:p>
          <a:p>
            <a:pPr algn="l"/>
            <a:r>
              <a:rPr sz="1200" b="0" i="0">
                <a:solidFill>
                  <a:srgbClr val="53565A"/>
                </a:solidFill>
                <a:latin typeface="Arial"/>
              </a:rPr>
              <a:t>Entra PIM, approval</a:t>
            </a:r>
          </a:p>
        </p:txBody>
      </p:sp>
      <p:sp>
        <p:nvSpPr>
          <p:cNvPr id="57" name="Rounded Rectangle 56"/>
          <p:cNvSpPr/>
          <p:nvPr/>
        </p:nvSpPr>
        <p:spPr>
          <a:xfrm>
            <a:off x="548640" y="5038344"/>
            <a:ext cx="1874519"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58" name="Azure icon: Azure Monitor" descr="Official Azure icon: Azure Monito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21792" y="5189220"/>
            <a:ext cx="384048" cy="384048"/>
          </a:xfrm>
          <a:prstGeom prst="rect">
            <a:avLst/>
          </a:prstGeom>
        </p:spPr>
      </p:pic>
      <p:sp>
        <p:nvSpPr>
          <p:cNvPr id="59" name="TextBox 58"/>
          <p:cNvSpPr txBox="1"/>
          <p:nvPr/>
        </p:nvSpPr>
        <p:spPr>
          <a:xfrm>
            <a:off x="1078992" y="5074920"/>
            <a:ext cx="1307592" cy="612648"/>
          </a:xfrm>
          <a:prstGeom prst="rect">
            <a:avLst/>
          </a:prstGeom>
          <a:noFill/>
        </p:spPr>
        <p:txBody>
          <a:bodyPr wrap="square" lIns="0" rIns="0" tIns="0" bIns="0" anchor="ctr">
            <a:noAutofit/>
          </a:bodyPr>
          <a:lstStyle/>
          <a:p>
            <a:pPr algn="l"/>
            <a:r>
              <a:rPr sz="1200" b="1" i="0">
                <a:solidFill>
                  <a:srgbClr val="000048"/>
                </a:solidFill>
                <a:latin typeface="Arial"/>
              </a:rPr>
              <a:t>Automated detection</a:t>
            </a:r>
          </a:p>
          <a:p>
            <a:pPr algn="l"/>
            <a:r>
              <a:rPr sz="1200" b="0" i="0">
                <a:solidFill>
                  <a:srgbClr val="53565A"/>
                </a:solidFill>
                <a:latin typeface="Arial"/>
              </a:rPr>
              <a:t>Monitor alert, action group</a:t>
            </a:r>
          </a:p>
        </p:txBody>
      </p:sp>
      <p:sp>
        <p:nvSpPr>
          <p:cNvPr id="60" name="Rounded Rectangle 59"/>
          <p:cNvSpPr/>
          <p:nvPr/>
        </p:nvSpPr>
        <p:spPr>
          <a:xfrm>
            <a:off x="2788920" y="4489704"/>
            <a:ext cx="2148840" cy="914400"/>
          </a:xfrm>
          <a:prstGeom prst="roundRect">
            <a:avLst>
              <a:gd name="adj" fmla="val 8000"/>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1"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862072" y="4754880"/>
            <a:ext cx="384048" cy="384048"/>
          </a:xfrm>
          <a:prstGeom prst="rect">
            <a:avLst/>
          </a:prstGeom>
        </p:spPr>
      </p:pic>
      <p:sp>
        <p:nvSpPr>
          <p:cNvPr id="62" name="TextBox 61"/>
          <p:cNvSpPr txBox="1"/>
          <p:nvPr/>
        </p:nvSpPr>
        <p:spPr>
          <a:xfrm>
            <a:off x="3319272" y="4526280"/>
            <a:ext cx="1581912" cy="841248"/>
          </a:xfrm>
          <a:prstGeom prst="rect">
            <a:avLst/>
          </a:prstGeom>
          <a:noFill/>
        </p:spPr>
        <p:txBody>
          <a:bodyPr wrap="square" lIns="0" rIns="0" tIns="0" bIns="0" anchor="ctr">
            <a:noAutofit/>
          </a:bodyPr>
          <a:lstStyle/>
          <a:p>
            <a:pPr algn="l"/>
            <a:r>
              <a:rPr sz="1200" b="1" i="0">
                <a:solidFill>
                  <a:srgbClr val="000048"/>
                </a:solidFill>
                <a:latin typeface="Arial"/>
              </a:rPr>
              <a:t>Containment orchestrator</a:t>
            </a:r>
          </a:p>
          <a:p>
            <a:pPr algn="l"/>
            <a:r>
              <a:rPr sz="1200" b="0" i="0">
                <a:solidFill>
                  <a:srgbClr val="53565A"/>
                </a:solidFill>
                <a:latin typeface="Arial"/>
              </a:rPr>
              <a:t>Durable Functions, custom code</a:t>
            </a:r>
          </a:p>
        </p:txBody>
      </p:sp>
      <p:sp>
        <p:nvSpPr>
          <p:cNvPr id="63" name="Rounded Rectangle 62"/>
          <p:cNvSpPr/>
          <p:nvPr/>
        </p:nvSpPr>
        <p:spPr>
          <a:xfrm>
            <a:off x="5440680" y="4197096"/>
            <a:ext cx="2148840" cy="685800"/>
          </a:xfrm>
          <a:prstGeom prst="roundRect">
            <a:avLst>
              <a:gd name="adj" fmla="val 1066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4" name="Azure icon: Azure Cosmos DB" descr="Official Azure icon: Azure Cosmos DB"/>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513832" y="4357116"/>
            <a:ext cx="365760" cy="365760"/>
          </a:xfrm>
          <a:prstGeom prst="rect">
            <a:avLst/>
          </a:prstGeom>
        </p:spPr>
      </p:pic>
      <p:sp>
        <p:nvSpPr>
          <p:cNvPr id="65" name="TextBox 64"/>
          <p:cNvSpPr txBox="1"/>
          <p:nvPr/>
        </p:nvSpPr>
        <p:spPr>
          <a:xfrm>
            <a:off x="5952744" y="4233672"/>
            <a:ext cx="1600200" cy="612648"/>
          </a:xfrm>
          <a:prstGeom prst="rect">
            <a:avLst/>
          </a:prstGeom>
          <a:noFill/>
        </p:spPr>
        <p:txBody>
          <a:bodyPr wrap="square" lIns="0" rIns="0" tIns="0" bIns="0" anchor="ctr">
            <a:noAutofit/>
          </a:bodyPr>
          <a:lstStyle/>
          <a:p>
            <a:pPr algn="l"/>
            <a:r>
              <a:rPr sz="1200" b="1" i="0">
                <a:solidFill>
                  <a:srgbClr val="000048"/>
                </a:solidFill>
                <a:latin typeface="Arial"/>
              </a:rPr>
              <a:t>Quarantine registry</a:t>
            </a:r>
          </a:p>
          <a:p>
            <a:pPr algn="l"/>
            <a:r>
              <a:rPr sz="1200" b="0" i="0">
                <a:solidFill>
                  <a:srgbClr val="53565A"/>
                </a:solidFill>
                <a:latin typeface="Arial"/>
              </a:rPr>
              <a:t>agent ID, version, state version</a:t>
            </a:r>
          </a:p>
        </p:txBody>
      </p:sp>
      <p:sp>
        <p:nvSpPr>
          <p:cNvPr id="66" name="Rounded Rectangle 65"/>
          <p:cNvSpPr/>
          <p:nvPr/>
        </p:nvSpPr>
        <p:spPr>
          <a:xfrm>
            <a:off x="5440680" y="5056632"/>
            <a:ext cx="21488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7" name="Azure icon: Storage account" descr="Official Azure icon: Storage account"/>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5513832" y="5216652"/>
            <a:ext cx="365760" cy="365760"/>
          </a:xfrm>
          <a:prstGeom prst="rect">
            <a:avLst/>
          </a:prstGeom>
        </p:spPr>
      </p:pic>
      <p:sp>
        <p:nvSpPr>
          <p:cNvPr id="68" name="TextBox 67"/>
          <p:cNvSpPr txBox="1"/>
          <p:nvPr/>
        </p:nvSpPr>
        <p:spPr>
          <a:xfrm>
            <a:off x="5952744" y="5093208"/>
            <a:ext cx="1600200" cy="612648"/>
          </a:xfrm>
          <a:prstGeom prst="rect">
            <a:avLst/>
          </a:prstGeom>
          <a:noFill/>
        </p:spPr>
        <p:txBody>
          <a:bodyPr wrap="square" lIns="0" rIns="0" tIns="0" bIns="0" anchor="ctr">
            <a:noAutofit/>
          </a:bodyPr>
          <a:lstStyle/>
          <a:p>
            <a:pPr algn="l"/>
            <a:r>
              <a:rPr sz="1200" b="1" i="0">
                <a:solidFill>
                  <a:srgbClr val="000048"/>
                </a:solidFill>
                <a:latin typeface="Arial"/>
              </a:rPr>
              <a:t>Incident evidence</a:t>
            </a:r>
          </a:p>
          <a:p>
            <a:pPr algn="l"/>
            <a:r>
              <a:rPr sz="1200" b="0" i="0">
                <a:solidFill>
                  <a:srgbClr val="53565A"/>
                </a:solidFill>
                <a:latin typeface="Arial"/>
              </a:rPr>
              <a:t>Storage account, immutability policy</a:t>
            </a:r>
          </a:p>
        </p:txBody>
      </p:sp>
      <p:sp>
        <p:nvSpPr>
          <p:cNvPr id="69" name="Rounded Rectangle 68"/>
          <p:cNvSpPr/>
          <p:nvPr/>
        </p:nvSpPr>
        <p:spPr>
          <a:xfrm>
            <a:off x="8001000" y="4489704"/>
            <a:ext cx="1828800" cy="914400"/>
          </a:xfrm>
          <a:prstGeom prst="roundRect">
            <a:avLst>
              <a:gd name="adj" fmla="val 8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70" name="Azure icon: Application Insights" descr="Official Azure icon: Application Insights"/>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8074152" y="4764024"/>
            <a:ext cx="365760" cy="365760"/>
          </a:xfrm>
          <a:prstGeom prst="rect">
            <a:avLst/>
          </a:prstGeom>
        </p:spPr>
      </p:pic>
      <p:sp>
        <p:nvSpPr>
          <p:cNvPr id="71" name="TextBox 70"/>
          <p:cNvSpPr txBox="1"/>
          <p:nvPr/>
        </p:nvSpPr>
        <p:spPr>
          <a:xfrm>
            <a:off x="8513064" y="4526280"/>
            <a:ext cx="1280160" cy="841248"/>
          </a:xfrm>
          <a:prstGeom prst="rect">
            <a:avLst/>
          </a:prstGeom>
          <a:noFill/>
        </p:spPr>
        <p:txBody>
          <a:bodyPr wrap="square" lIns="0" rIns="0" tIns="0" bIns="0" anchor="ctr">
            <a:noAutofit/>
          </a:bodyPr>
          <a:lstStyle/>
          <a:p>
            <a:pPr algn="l"/>
            <a:r>
              <a:rPr sz="1200" b="1" i="0">
                <a:solidFill>
                  <a:srgbClr val="000048"/>
                </a:solidFill>
                <a:latin typeface="Arial"/>
              </a:rPr>
              <a:t>Containment check</a:t>
            </a:r>
          </a:p>
          <a:p>
            <a:pPr algn="l"/>
            <a:r>
              <a:rPr sz="1200" b="0" i="0">
                <a:solidFill>
                  <a:srgbClr val="53565A"/>
                </a:solidFill>
                <a:latin typeface="Arial"/>
              </a:rPr>
              <a:t>traces confirm no new actions</a:t>
            </a:r>
          </a:p>
        </p:txBody>
      </p:sp>
      <p:sp>
        <p:nvSpPr>
          <p:cNvPr id="72" name="Rounded Rectangle 71"/>
          <p:cNvSpPr/>
          <p:nvPr/>
        </p:nvSpPr>
        <p:spPr>
          <a:xfrm>
            <a:off x="10104120" y="4306824"/>
            <a:ext cx="1554480" cy="1280160"/>
          </a:xfrm>
          <a:prstGeom prst="roundRect">
            <a:avLst>
              <a:gd name="adj" fmla="val 5714"/>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Human-approved restart</a:t>
            </a:r>
          </a:p>
          <a:p>
            <a:pPr algn="ctr"/>
            <a:r>
              <a:rPr sz="1200" b="0" i="0">
                <a:solidFill>
                  <a:srgbClr val="53565A"/>
                </a:solidFill>
                <a:latin typeface="Arial"/>
              </a:rPr>
              <a:t>root cause, canary, two-person approval</a:t>
            </a:r>
          </a:p>
        </p:txBody>
      </p:sp>
      <p:cxnSp>
        <p:nvCxnSpPr>
          <p:cNvPr id="73" name="Connector (control)"/>
          <p:cNvCxnSpPr/>
          <p:nvPr/>
        </p:nvCxnSpPr>
        <p:spPr>
          <a:xfrm>
            <a:off x="2423160" y="4562856"/>
            <a:ext cx="365760" cy="21945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control)"/>
          <p:cNvCxnSpPr/>
          <p:nvPr/>
        </p:nvCxnSpPr>
        <p:spPr>
          <a:xfrm flipV="1">
            <a:off x="2423160" y="5129784"/>
            <a:ext cx="365760" cy="246888"/>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control)"/>
          <p:cNvCxnSpPr/>
          <p:nvPr/>
        </p:nvCxnSpPr>
        <p:spPr>
          <a:xfrm flipV="1">
            <a:off x="4937760" y="4544568"/>
            <a:ext cx="502920" cy="17373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control)"/>
          <p:cNvCxnSpPr/>
          <p:nvPr/>
        </p:nvCxnSpPr>
        <p:spPr>
          <a:xfrm>
            <a:off x="4937760" y="5175504"/>
            <a:ext cx="502920" cy="21945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telemetry)"/>
          <p:cNvCxnSpPr/>
          <p:nvPr/>
        </p:nvCxnSpPr>
        <p:spPr>
          <a:xfrm flipH="1">
            <a:off x="4937760" y="4946904"/>
            <a:ext cx="306324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Connector (control)"/>
          <p:cNvCxnSpPr/>
          <p:nvPr/>
        </p:nvCxnSpPr>
        <p:spPr>
          <a:xfrm>
            <a:off x="9829800" y="4946904"/>
            <a:ext cx="274320" cy="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Connector (control)"/>
          <p:cNvCxnSpPr/>
          <p:nvPr/>
        </p:nvCxnSpPr>
        <p:spPr>
          <a:xfrm>
            <a:off x="3017520" y="3831336"/>
            <a:ext cx="475488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80" name="Connector (control)"/>
          <p:cNvCxnSpPr/>
          <p:nvPr/>
        </p:nvCxnSpPr>
        <p:spPr>
          <a:xfrm flipV="1">
            <a:off x="301752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1" name="Connector (control)"/>
          <p:cNvCxnSpPr/>
          <p:nvPr/>
        </p:nvCxnSpPr>
        <p:spPr>
          <a:xfrm flipV="1">
            <a:off x="537210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control)"/>
          <p:cNvCxnSpPr/>
          <p:nvPr/>
        </p:nvCxnSpPr>
        <p:spPr>
          <a:xfrm flipV="1">
            <a:off x="777240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control)"/>
          <p:cNvCxnSpPr/>
          <p:nvPr/>
        </p:nvCxnSpPr>
        <p:spPr>
          <a:xfrm flipV="1">
            <a:off x="3858768" y="3831336"/>
            <a:ext cx="0" cy="658368"/>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84" name="Connector (telemetry)"/>
          <p:cNvCxnSpPr/>
          <p:nvPr/>
        </p:nvCxnSpPr>
        <p:spPr>
          <a:xfrm flipV="1">
            <a:off x="6510528" y="3831336"/>
            <a:ext cx="0" cy="36576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telemetry)"/>
          <p:cNvCxnSpPr/>
          <p:nvPr/>
        </p:nvCxnSpPr>
        <p:spPr>
          <a:xfrm flipV="1">
            <a:off x="8915400" y="3621024"/>
            <a:ext cx="0" cy="86868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8979408" y="3639312"/>
            <a:ext cx="1097280" cy="237744"/>
          </a:xfrm>
          <a:prstGeom prst="rect">
            <a:avLst/>
          </a:prstGeom>
          <a:noFill/>
        </p:spPr>
        <p:txBody>
          <a:bodyPr wrap="square" lIns="0" rIns="0" tIns="0" bIns="0" anchor="t">
            <a:noAutofit/>
          </a:bodyPr>
          <a:lstStyle/>
          <a:p>
            <a:pPr algn="l"/>
            <a:r>
              <a:rPr sz="1200" b="0" i="0">
                <a:solidFill>
                  <a:srgbClr val="53565A"/>
                </a:solidFill>
                <a:latin typeface="Arial"/>
              </a:rPr>
              <a:t>traces</a:t>
            </a:r>
          </a:p>
        </p:txBody>
      </p:sp>
      <p:sp>
        <p:nvSpPr>
          <p:cNvPr id="87" name="TextBox 86"/>
          <p:cNvSpPr txBox="1"/>
          <p:nvPr/>
        </p:nvSpPr>
        <p:spPr>
          <a:xfrm>
            <a:off x="548640" y="3694176"/>
            <a:ext cx="2423160" cy="274320"/>
          </a:xfrm>
          <a:prstGeom prst="rect">
            <a:avLst/>
          </a:prstGeom>
          <a:noFill/>
        </p:spPr>
        <p:txBody>
          <a:bodyPr wrap="square" lIns="0" rIns="0" tIns="0" bIns="0" anchor="t">
            <a:noAutofit/>
          </a:bodyPr>
          <a:lstStyle/>
          <a:p>
            <a:pPr algn="r"/>
            <a:r>
              <a:rPr sz="1200" b="0" i="0">
                <a:solidFill>
                  <a:srgbClr val="6363C9"/>
                </a:solidFill>
                <a:latin typeface="Arial"/>
              </a:rPr>
              <a:t>deny-state checks and runtime adapters</a:t>
            </a:r>
          </a:p>
        </p:txBody>
      </p:sp>
      <p:cxnSp>
        <p:nvCxnSpPr>
          <p:cNvPr id="88" name="Connector (flow)"/>
          <p:cNvCxnSpPr/>
          <p:nvPr/>
        </p:nvCxnSpPr>
        <p:spPr>
          <a:xfrm>
            <a:off x="548640" y="6281928"/>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024128" y="6163056"/>
            <a:ext cx="1874519"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cxnSp>
        <p:nvCxnSpPr>
          <p:cNvPr id="90" name="Connector (control)"/>
          <p:cNvCxnSpPr/>
          <p:nvPr/>
        </p:nvCxnSpPr>
        <p:spPr>
          <a:xfrm>
            <a:off x="2926080" y="6281928"/>
            <a:ext cx="411480" cy="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3401568" y="6163056"/>
            <a:ext cx="1874519" cy="256032"/>
          </a:xfrm>
          <a:prstGeom prst="rect">
            <a:avLst/>
          </a:prstGeom>
          <a:noFill/>
        </p:spPr>
        <p:txBody>
          <a:bodyPr wrap="square" lIns="0" rIns="0" tIns="0" bIns="0" anchor="t">
            <a:noAutofit/>
          </a:bodyPr>
          <a:lstStyle/>
          <a:p>
            <a:pPr algn="l"/>
            <a:r>
              <a:rPr sz="1200" b="0" i="0">
                <a:solidFill>
                  <a:srgbClr val="53565A"/>
                </a:solidFill>
                <a:latin typeface="Arial"/>
              </a:rPr>
              <a:t>Control or containment path</a:t>
            </a:r>
          </a:p>
        </p:txBody>
      </p:sp>
      <p:cxnSp>
        <p:nvCxnSpPr>
          <p:cNvPr id="92" name="Connector (telemetry)"/>
          <p:cNvCxnSpPr/>
          <p:nvPr/>
        </p:nvCxnSpPr>
        <p:spPr>
          <a:xfrm>
            <a:off x="5303520" y="6281928"/>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779008" y="6163056"/>
            <a:ext cx="1874519" cy="256032"/>
          </a:xfrm>
          <a:prstGeom prst="rect">
            <a:avLst/>
          </a:prstGeom>
          <a:noFill/>
        </p:spPr>
        <p:txBody>
          <a:bodyPr wrap="square" lIns="0" rIns="0" tIns="0" bIns="0" anchor="t">
            <a:noAutofit/>
          </a:bodyPr>
          <a:lstStyle/>
          <a:p>
            <a:pPr algn="l"/>
            <a:r>
              <a:rPr sz="1200" b="0" i="0">
                <a:solidFill>
                  <a:srgbClr val="53565A"/>
                </a:solidFill>
                <a:latin typeface="Arial"/>
              </a:rPr>
              <a:t>Telemetry or state read</a:t>
            </a:r>
          </a:p>
        </p:txBody>
      </p:sp>
      <p:sp>
        <p:nvSpPr>
          <p:cNvPr id="94" name="TextBox 93"/>
          <p:cNvSpPr txBox="1"/>
          <p:nvPr/>
        </p:nvSpPr>
        <p:spPr>
          <a:xfrm>
            <a:off x="6766560" y="6163056"/>
            <a:ext cx="4937760" cy="274320"/>
          </a:xfrm>
          <a:prstGeom prst="rect">
            <a:avLst/>
          </a:prstGeom>
          <a:noFill/>
        </p:spPr>
        <p:txBody>
          <a:bodyPr wrap="square" lIns="0" rIns="0" tIns="0" bIns="0" anchor="t">
            <a:noAutofit/>
          </a:bodyPr>
          <a:lstStyle/>
          <a:p>
            <a:pPr algn="r"/>
            <a:r>
              <a:rPr sz="1200" b="1" i="0">
                <a:solidFill>
                  <a:srgbClr val="A4262C"/>
                </a:solidFill>
                <a:latin typeface="Arial"/>
              </a:rPr>
              <a:t>1</a:t>
            </a:r>
            <a:r>
              <a:rPr sz="1200" b="0" i="0">
                <a:solidFill>
                  <a:srgbClr val="53565A"/>
                </a:solidFill>
                <a:latin typeface="Arial"/>
              </a:rPr>
              <a:t> block new requests  </a:t>
            </a:r>
            <a:r>
              <a:rPr sz="1200" b="1" i="0">
                <a:solidFill>
                  <a:srgbClr val="A4262C"/>
                </a:solidFill>
                <a:latin typeface="Arial"/>
              </a:rPr>
              <a:t>2</a:t>
            </a:r>
            <a:r>
              <a:rPr sz="1200" b="0" i="0">
                <a:solidFill>
                  <a:srgbClr val="53565A"/>
                </a:solidFill>
                <a:latin typeface="Arial"/>
              </a:rPr>
              <a:t> cancel or isolate  </a:t>
            </a:r>
            <a:r>
              <a:rPr sz="1200" b="1" i="0">
                <a:solidFill>
                  <a:srgbClr val="A4262C"/>
                </a:solidFill>
                <a:latin typeface="Arial"/>
              </a:rPr>
              <a:t>3</a:t>
            </a:r>
            <a:r>
              <a:rPr sz="1200" b="0" i="0">
                <a:solidFill>
                  <a:srgbClr val="53565A"/>
                </a:solidFill>
                <a:latin typeface="Arial"/>
              </a:rPr>
              <a:t> deny actions  </a:t>
            </a:r>
            <a:r>
              <a:rPr sz="1200" b="1" i="0">
                <a:solidFill>
                  <a:srgbClr val="7373D8"/>
                </a:solidFill>
                <a:latin typeface="Arial"/>
              </a:rPr>
              <a:t>4</a:t>
            </a:r>
            <a:r>
              <a:rPr sz="1200" b="0" i="0">
                <a:solidFill>
                  <a:srgbClr val="53565A"/>
                </a:solidFill>
                <a:latin typeface="Arial"/>
              </a:rPr>
              <a:t> identity block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Three containment actions, three different mechanisms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K2</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sp>
        <p:nvSpPr>
          <p:cNvPr id="9" name="Rounded Rectangle 8"/>
          <p:cNvSpPr/>
          <p:nvPr/>
        </p:nvSpPr>
        <p:spPr>
          <a:xfrm>
            <a:off x="548640"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1  Block new requests</a:t>
            </a:r>
          </a:p>
        </p:txBody>
      </p:sp>
      <p:sp>
        <p:nvSpPr>
          <p:cNvPr id="10" name="TextBox 9"/>
          <p:cNvSpPr txBox="1"/>
          <p:nvPr/>
        </p:nvSpPr>
        <p:spPr>
          <a:xfrm>
            <a:off x="548640"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1" name="TextBox 10"/>
          <p:cNvSpPr txBox="1"/>
          <p:nvPr/>
        </p:nvSpPr>
        <p:spPr>
          <a:xfrm>
            <a:off x="548640"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API Management ingress rejects calls for the quarantined agent ID and version. Foundry Stop (published agents) or Block (custom agents) adds a platform-level control.</a:t>
            </a:r>
          </a:p>
        </p:txBody>
      </p:sp>
      <p:sp>
        <p:nvSpPr>
          <p:cNvPr id="12" name="Rounded Rectangle 11"/>
          <p:cNvSpPr/>
          <p:nvPr/>
        </p:nvSpPr>
        <p:spPr>
          <a:xfrm>
            <a:off x="548640"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Does not touch runs already executing. A caller holding a direct endpoint or key bypasses it.</a:t>
            </a:r>
          </a:p>
        </p:txBody>
      </p:sp>
      <p:sp>
        <p:nvSpPr>
          <p:cNvPr id="13" name="Rounded Rectangle 12"/>
          <p:cNvSpPr/>
          <p:nvPr/>
        </p:nvSpPr>
        <p:spPr>
          <a:xfrm>
            <a:off x="4297679"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2  Cancel or isolate running work</a:t>
            </a:r>
          </a:p>
        </p:txBody>
      </p:sp>
      <p:sp>
        <p:nvSpPr>
          <p:cNvPr id="14" name="TextBox 13"/>
          <p:cNvSpPr txBox="1"/>
          <p:nvPr/>
        </p:nvSpPr>
        <p:spPr>
          <a:xfrm>
            <a:off x="4297679"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5" name="TextBox 14"/>
          <p:cNvSpPr txBox="1"/>
          <p:nvPr/>
        </p:nvSpPr>
        <p:spPr>
          <a:xfrm>
            <a:off x="4297679"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Runtime adapter cancels supported runs, disables triggers and queue consumers, or isolates dedicated compute (Container Apps or AKS) where authorised.</a:t>
            </a:r>
          </a:p>
        </p:txBody>
      </p:sp>
      <p:sp>
        <p:nvSpPr>
          <p:cNvPr id="16" name="Rounded Rectangle 15"/>
          <p:cNvSpPr/>
          <p:nvPr/>
        </p:nvSpPr>
        <p:spPr>
          <a:xfrm>
            <a:off x="4297679"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Cancellation support differs by runtime. Managed Foundry runtimes may not allow process termination. Shared hosts widen the blast radius.</a:t>
            </a:r>
          </a:p>
        </p:txBody>
      </p:sp>
      <p:sp>
        <p:nvSpPr>
          <p:cNvPr id="17" name="Rounded Rectangle 16"/>
          <p:cNvSpPr/>
          <p:nvPr/>
        </p:nvSpPr>
        <p:spPr>
          <a:xfrm>
            <a:off x="8046719"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3  Deny further model and tool actions</a:t>
            </a:r>
          </a:p>
        </p:txBody>
      </p:sp>
      <p:sp>
        <p:nvSpPr>
          <p:cNvPr id="18" name="TextBox 17"/>
          <p:cNvSpPr txBox="1"/>
          <p:nvPr/>
        </p:nvSpPr>
        <p:spPr>
          <a:xfrm>
            <a:off x="8046719"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9" name="TextBox 18"/>
          <p:cNvSpPr txBox="1"/>
          <p:nvPr/>
        </p:nvSpPr>
        <p:spPr>
          <a:xfrm>
            <a:off x="8046719"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Outbound gateway and tool-side authorisation reject model, tool and data calls for the quarantined scope, checked before irreversible actions.</a:t>
            </a:r>
          </a:p>
        </p:txBody>
      </p:sp>
      <p:sp>
        <p:nvSpPr>
          <p:cNvPr id="20" name="Rounded Rectangle 19"/>
          <p:cNvSpPr/>
          <p:nvPr/>
        </p:nvSpPr>
        <p:spPr>
          <a:xfrm>
            <a:off x="8046719"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Cannot undo side effects already completed. Token and RBAC revocation can lag; use resource-side denial as well.</a:t>
            </a:r>
          </a:p>
        </p:txBody>
      </p:sp>
      <p:sp>
        <p:nvSpPr>
          <p:cNvPr id="21" name="Rounded Rectangle 20"/>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 universal instant stop. Worst-case stop time is measured in drills, not assumed.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Known limits of agent containment on Azure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K3</a:t>
            </a:r>
          </a:p>
        </p:txBody>
      </p:sp>
      <p:sp>
        <p:nvSpPr>
          <p:cNvPr id="5" name="Status chip: VERIFIED BEHAVIOUR + DESIGN LIMITS"/>
          <p:cNvSpPr/>
          <p:nvPr/>
        </p:nvSpPr>
        <p:spPr>
          <a:xfrm>
            <a:off x="1898650" y="274320"/>
            <a:ext cx="32105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BEHAVIOUR + DESIGN LIMITS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graphicFrame>
        <p:nvGraphicFramePr>
          <p:cNvPr id="9" name="Table"/>
          <p:cNvGraphicFramePr>
            <a:graphicFrameLocks noGrp="1"/>
          </p:cNvGraphicFramePr>
          <p:nvPr/>
        </p:nvGraphicFramePr>
        <p:xfrm>
          <a:off x="548640" y="1325880"/>
          <a:ext cx="11091672" cy="3931920"/>
        </p:xfrm>
        <a:graphic>
          <a:graphicData uri="http://schemas.openxmlformats.org/drawingml/2006/table">
            <a:tbl>
              <a:tblPr firstRow="1" bandRow="0">
                <a:tableStyleId>{5C22544A-7EE6-4342-B048-85BDC9FD1C3A}</a:tableStyleId>
              </a:tblPr>
              <a:tblGrid>
                <a:gridCol w="3291840"/>
                <a:gridCol w="4023360"/>
                <a:gridCol w="3776472"/>
              </a:tblGrid>
              <a:tr h="274320">
                <a:tc>
                  <a:txBody>
                    <a:bodyPr wrap="square" anchor="ctr">
                      <a:noAutofit/>
                    </a:bodyPr>
                    <a:lstStyle/>
                    <a:p>
                      <a:pPr algn="l"/>
                      <a:r>
                        <a:rPr sz="1200" b="1" i="0">
                          <a:solidFill>
                            <a:srgbClr val="FFFFFF"/>
                          </a:solidFill>
                          <a:latin typeface="Arial"/>
                        </a:rPr>
                        <a:t>Limit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Why it matters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Design response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Gateway block does not stop an existing run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Foundry Stop "doesn't terminate existing runs" (Microsoft Learn)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Runtime checkpoint guard plus outbound denial</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Token or RBAC revocation is not immediate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Cached tokens stay valid until expiry or propagation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Resource-side deny check; short token lifetimes</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Runtime cancellation support varies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Foundry, Container Apps, AKS and Logic Apps differ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Runtime-specific adapters, tested per platform</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Direct endpoint access bypasses a proxy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Agents holding keys or public endpoints skip API Management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Private endpoints, disable local auth, no shared keys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Circuit breaker is not a kill switch</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It protects a backend dependency, not the agent scope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Separate quarantine state keyed by agent ID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Distributed state and caches delay enforcement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Replication and cache TTL set worst-case stop time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Bounded freshness contract; no caching of allow on high-impact tools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Fail-closed reduces availability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Unknown state blocks legitimate work</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Agree fail-closed scope per risk class with the business owner</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Identity block depends on licence and propagation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Entra CA for agents needs Agent 365 or E7 licensing; blocks apply at token issue, not to live sessions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Use as layer 4, never the only stop</a:t>
                      </a:r>
                    </a:p>
                  </a:txBody>
                  <a:tcPr marL="73152" marR="73152" marT="36576" marB="36576" anchor="ctr">
                    <a:solidFill>
                      <a:srgbClr val="F5F5F2"/>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Containment test scenarios before production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K4</a:t>
            </a:r>
          </a:p>
        </p:txBody>
      </p:sp>
      <p:sp>
        <p:nvSpPr>
          <p:cNvPr id="5" name="Status chip: PROPOSED ACCEPTANCE TESTS"/>
          <p:cNvSpPr/>
          <p:nvPr/>
        </p:nvSpPr>
        <p:spPr>
          <a:xfrm>
            <a:off x="1898650" y="274320"/>
            <a:ext cx="24333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ACCEPTANCE TESTS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graphicFrame>
        <p:nvGraphicFramePr>
          <p:cNvPr id="9" name="Table"/>
          <p:cNvGraphicFramePr>
            <a:graphicFrameLocks noGrp="1"/>
          </p:cNvGraphicFramePr>
          <p:nvPr/>
        </p:nvGraphicFramePr>
        <p:xfrm>
          <a:off x="548640" y="1325880"/>
          <a:ext cx="11091672" cy="3596640"/>
        </p:xfrm>
        <a:graphic>
          <a:graphicData uri="http://schemas.openxmlformats.org/drawingml/2006/table">
            <a:tbl>
              <a:tblPr firstRow="1" bandRow="0">
                <a:tableStyleId>{5C22544A-7EE6-4342-B048-85BDC9FD1C3A}</a:tableStyleId>
              </a:tblPr>
              <a:tblGrid>
                <a:gridCol w="2194560"/>
                <a:gridCol w="4572000"/>
                <a:gridCol w="4325112"/>
              </a:tblGrid>
              <a:tr h="289560">
                <a:tc>
                  <a:txBody>
                    <a:bodyPr wrap="square" anchor="ctr">
                      <a:noAutofit/>
                    </a:bodyPr>
                    <a:lstStyle/>
                    <a:p>
                      <a:pPr algn="l"/>
                      <a:r>
                        <a:rPr sz="1300" b="1" i="0">
                          <a:solidFill>
                            <a:srgbClr val="FFFFFF"/>
                          </a:solidFill>
                          <a:latin typeface="Arial"/>
                        </a:rPr>
                        <a:t>Scenario</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Test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Pass 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Bypass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Call model and tool endpoints directly with the agent identity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Calls denied at network and resource level</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Retries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Client retries and APIM retry policy after quarantine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retried call reaches a backend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Queued work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Messages already queued for the agent when quarantined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Consumers disabled; messages held, not processed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Long-running run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Run in progress during quarantine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Next checkpoint halts; no new tool call recorded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Missing telemetry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Disable traces, then trigger containment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Manual path works; telemetry gap raised as incident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Partial failure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One enforcement point unavailable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Fail-closed where agreed; failure recorded in evidence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Control-plane outage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Orchestrator or registry unavailable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Documented break-glass path executes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Restart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Approved release after root cause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Two-person approval, canary, state version advanced</a:t>
                      </a:r>
                    </a:p>
                  </a:txBody>
                  <a:tcPr marL="73152" marR="73152" marT="36576" marB="36576" anchor="ctr">
                    <a:solidFill>
                      <a:srgbClr val="F5F5F2"/>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Kill-switch proof of concept: prove it, then sell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K5</a:t>
            </a:r>
          </a:p>
        </p:txBody>
      </p:sp>
      <p:sp>
        <p:nvSpPr>
          <p:cNvPr id="5" name="Status chip: UNPROVEN DESIGN"/>
          <p:cNvSpPr/>
          <p:nvPr/>
        </p:nvSpPr>
        <p:spPr>
          <a:xfrm>
            <a:off x="1898650" y="274320"/>
            <a:ext cx="156972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UNPROVEN DESIGN</a:t>
            </a:r>
          </a:p>
        </p:txBody>
      </p:sp>
      <p:sp>
        <p:nvSpPr>
          <p:cNvPr id="6" name="Status chip: PROPOSED PLAN"/>
          <p:cNvSpPr/>
          <p:nvPr/>
        </p:nvSpPr>
        <p:spPr>
          <a:xfrm>
            <a:off x="355981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PLAN</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sp>
        <p:nvSpPr>
          <p:cNvPr id="10" name="Rounded Rectangle 9"/>
          <p:cNvSpPr/>
          <p:nvPr/>
        </p:nvSpPr>
        <p:spPr>
          <a:xfrm>
            <a:off x="548640"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1  Set up</a:t>
            </a:r>
          </a:p>
          <a:p>
            <a:pPr algn="l"/>
            <a:r>
              <a:rPr sz="1500" b="0" i="0">
                <a:solidFill>
                  <a:srgbClr val="1E1E2E"/>
                </a:solidFill>
                <a:latin typeface="Arial"/>
              </a:rPr>
              <a:t>Two runtimes, synthetic agents, test tool, gateway policies</a:t>
            </a:r>
          </a:p>
        </p:txBody>
      </p:sp>
      <p:cxnSp>
        <p:nvCxnSpPr>
          <p:cNvPr id="11" name="Connector (flow)"/>
          <p:cNvCxnSpPr/>
          <p:nvPr/>
        </p:nvCxnSpPr>
        <p:spPr>
          <a:xfrm>
            <a:off x="2606040"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07208"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2  Instrument</a:t>
            </a:r>
          </a:p>
          <a:p>
            <a:pPr algn="l"/>
            <a:r>
              <a:rPr sz="1500" b="0" i="0">
                <a:solidFill>
                  <a:srgbClr val="1E1E2E"/>
                </a:solidFill>
                <a:latin typeface="Arial"/>
              </a:rPr>
              <a:t>Timestamps at alert, state write, each enforcement point</a:t>
            </a:r>
          </a:p>
        </p:txBody>
      </p:sp>
      <p:cxnSp>
        <p:nvCxnSpPr>
          <p:cNvPr id="13" name="Connector (flow)"/>
          <p:cNvCxnSpPr/>
          <p:nvPr/>
        </p:nvCxnSpPr>
        <p:spPr>
          <a:xfrm>
            <a:off x="4864608"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65776"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3  Exercise</a:t>
            </a:r>
          </a:p>
          <a:p>
            <a:pPr algn="l"/>
            <a:r>
              <a:rPr sz="1500" b="0" i="0">
                <a:solidFill>
                  <a:srgbClr val="1E1E2E"/>
                </a:solidFill>
                <a:latin typeface="Arial"/>
              </a:rPr>
              <a:t>All K4 scenarios, three runs each</a:t>
            </a:r>
          </a:p>
        </p:txBody>
      </p:sp>
      <p:cxnSp>
        <p:nvCxnSpPr>
          <p:cNvPr id="15" name="Connector (flow)"/>
          <p:cNvCxnSpPr/>
          <p:nvPr/>
        </p:nvCxnSpPr>
        <p:spPr>
          <a:xfrm>
            <a:off x="7123176"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24344"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4  Measure</a:t>
            </a:r>
          </a:p>
          <a:p>
            <a:pPr algn="l"/>
            <a:r>
              <a:rPr sz="1500" b="0" i="0">
                <a:solidFill>
                  <a:srgbClr val="1E1E2E"/>
                </a:solidFill>
                <a:latin typeface="Arial"/>
              </a:rPr>
              <a:t>Worst-case stop time per runtime and layer</a:t>
            </a:r>
          </a:p>
        </p:txBody>
      </p:sp>
      <p:cxnSp>
        <p:nvCxnSpPr>
          <p:cNvPr id="17" name="Connector (flow)"/>
          <p:cNvCxnSpPr/>
          <p:nvPr/>
        </p:nvCxnSpPr>
        <p:spPr>
          <a:xfrm>
            <a:off x="9381744"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582912"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5  Report</a:t>
            </a:r>
          </a:p>
          <a:p>
            <a:pPr algn="l"/>
            <a:r>
              <a:rPr sz="1500" b="0" i="0">
                <a:solidFill>
                  <a:srgbClr val="1E1E2E"/>
                </a:solidFill>
                <a:latin typeface="Arial"/>
              </a:rPr>
              <a:t>Evidence pack; targets proposed from data</a:t>
            </a:r>
          </a:p>
        </p:txBody>
      </p:sp>
      <p:graphicFrame>
        <p:nvGraphicFramePr>
          <p:cNvPr id="19" name="Table"/>
          <p:cNvGraphicFramePr>
            <a:graphicFrameLocks noGrp="1"/>
          </p:cNvGraphicFramePr>
          <p:nvPr/>
        </p:nvGraphicFramePr>
        <p:xfrm>
          <a:off x="548640" y="3977639"/>
          <a:ext cx="11091672" cy="1264920"/>
        </p:xfrm>
        <a:graphic>
          <a:graphicData uri="http://schemas.openxmlformats.org/drawingml/2006/table">
            <a:tbl>
              <a:tblPr firstRow="1" bandRow="0">
                <a:tableStyleId>{5C22544A-7EE6-4342-B048-85BDC9FD1C3A}</a:tableStyleId>
              </a:tblPr>
              <a:tblGrid>
                <a:gridCol w="2743200"/>
                <a:gridCol w="8348472"/>
              </a:tblGrid>
              <a:tr h="304800">
                <a:tc>
                  <a:txBody>
                    <a:bodyPr wrap="square" anchor="ctr">
                      <a:noAutofit/>
                    </a:bodyPr>
                    <a:lstStyle/>
                    <a:p>
                      <a:pPr algn="l"/>
                      <a:r>
                        <a:rPr sz="14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Estimate</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Effort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25 to 45 role days (CIS Infra, AI, Security)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Elapsed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4 to 6 weeks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Exit evidence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Measured stop time per runtime; all K4 tests recorded</a:t>
                      </a:r>
                    </a:p>
                  </a:txBody>
                  <a:tcPr marL="73152" marR="73152" marT="36576" marB="36576" anchor="ctr">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Who may stop an agent, who may restart it, and liability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K6</a:t>
            </a:r>
          </a:p>
        </p:txBody>
      </p:sp>
      <p:sp>
        <p:nvSpPr>
          <p:cNvPr id="5" name="Status chip: PROPOSED, LEGAL TO CONFIRM"/>
          <p:cNvSpPr/>
          <p:nvPr/>
        </p:nvSpPr>
        <p:spPr>
          <a:xfrm>
            <a:off x="1898650" y="274320"/>
            <a:ext cx="25196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LEGAL TO CONFIRM</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graphicFrame>
        <p:nvGraphicFramePr>
          <p:cNvPr id="9" name="Table"/>
          <p:cNvGraphicFramePr>
            <a:graphicFrameLocks noGrp="1"/>
          </p:cNvGraphicFramePr>
          <p:nvPr/>
        </p:nvGraphicFramePr>
        <p:xfrm>
          <a:off x="548640" y="1325880"/>
          <a:ext cx="11091672" cy="2987040"/>
        </p:xfrm>
        <a:graphic>
          <a:graphicData uri="http://schemas.openxmlformats.org/drawingml/2006/table">
            <a:tbl>
              <a:tblPr firstRow="1" bandRow="0">
                <a:tableStyleId>{5C22544A-7EE6-4342-B048-85BDC9FD1C3A}</a:tableStyleId>
              </a:tblPr>
              <a:tblGrid>
                <a:gridCol w="2560320"/>
                <a:gridCol w="6035040"/>
                <a:gridCol w="2496312"/>
              </a:tblGrid>
              <a:tr h="304800">
                <a:tc>
                  <a:txBody>
                    <a:bodyPr wrap="square" anchor="ctr">
                      <a:noAutofit/>
                    </a:bodyPr>
                    <a:lstStyle/>
                    <a:p>
                      <a:pPr algn="l"/>
                      <a:r>
                        <a:rPr sz="1400" b="1" i="0">
                          <a:solidFill>
                            <a:srgbClr val="FFFFFF"/>
                          </a:solidFill>
                          <a:latin typeface="Arial"/>
                        </a:rPr>
                        <a:t>Question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Proposed answer</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Owner</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Who may order a stop?</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Named customer risk owner or delegated Security on-call; listed in the runbook</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Customer risk owner</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Who executes it?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CIS Infra on platform layers; AI tower and tool owners on their layers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Integrated service owner</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Who may restart?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Two-person approval: customer business owner plus Security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Customer business owner</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If a stop fails or is late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Escalate to break-glass path; record as incident; no penalty beyond agreed service levels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Security with CIS Infra</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Liability position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Reasonable efforts on a tested runbook; no guarantee of instant stop; standard caps apply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Cognizant Legal</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When is it in scope?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Only after the PoC passes and the drills are accepted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Offering owner</a:t>
                      </a:r>
                    </a:p>
                  </a:txBody>
                  <a:tcPr marL="73152" marR="73152" marT="36576" marB="36576" anchor="ctr">
                    <a:solidFill>
                      <a:srgbClr val="F5F5F2"/>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Foundry lifecycle actions differ by agent type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graphicFrame>
        <p:nvGraphicFramePr>
          <p:cNvPr id="9" name="Table"/>
          <p:cNvGraphicFramePr>
            <a:graphicFrameLocks noGrp="1"/>
          </p:cNvGraphicFramePr>
          <p:nvPr/>
        </p:nvGraphicFramePr>
        <p:xfrm>
          <a:off x="548640" y="1371600"/>
          <a:ext cx="11091672" cy="3063240"/>
        </p:xfrm>
        <a:graphic>
          <a:graphicData uri="http://schemas.openxmlformats.org/drawingml/2006/table">
            <a:tbl>
              <a:tblPr firstRow="1" bandRow="0">
                <a:tableStyleId>{5C22544A-7EE6-4342-B048-85BDC9FD1C3A}</a:tableStyleId>
              </a:tblPr>
              <a:tblGrid>
                <a:gridCol w="2651760"/>
                <a:gridCol w="2011680"/>
                <a:gridCol w="3383280"/>
                <a:gridCol w="3044952"/>
              </a:tblGrid>
              <a:tr h="320040">
                <a:tc>
                  <a:txBody>
                    <a:bodyPr wrap="square" anchor="ctr">
                      <a:noAutofit/>
                    </a:bodyPr>
                    <a:lstStyle/>
                    <a:p>
                      <a:pPr algn="l"/>
                      <a:r>
                        <a:rPr sz="1500" b="1" i="0">
                          <a:solidFill>
                            <a:srgbClr val="FFFFFF"/>
                          </a:solidFill>
                          <a:latin typeface="Arial"/>
                        </a:rPr>
                        <a:t>Agent route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Native action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Effect (Microsoft Learn)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Residual risk</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Published Foundry agent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Start or stop</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Stops deployment, deallocates compute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Existing runs not terminated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Unpublished prompt or workflow</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None (delete to stop)</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Deletion is the only stop</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Needs a designed containment path</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Hosted agent (unpublished)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Start or stop</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Stops deployment, deallocates compute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Existing runs not terminated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Registered custom agent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Block or unblock</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Agent runs but cannot take requests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Host and direct endpoints remain</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Logic Apps agent loop</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Stop resource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Stops all workflows in the resource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Collateral impact; no traces</a:t>
                      </a:r>
                    </a:p>
                  </a:txBody>
                  <a:tcPr marL="73152" marR="73152" marT="36576" marB="36576"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Bound the work before a runaway needs detecting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6"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sp>
        <p:nvSpPr>
          <p:cNvPr id="8" name="Rounded Rectangle 7"/>
          <p:cNvSpPr/>
          <p:nvPr/>
        </p:nvSpPr>
        <p:spPr>
          <a:xfrm>
            <a:off x="548640" y="1463040"/>
            <a:ext cx="11091672"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9" name="Azure icon: Function App" descr="Official Azure icon: Function App"/>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7240" y="1755648"/>
            <a:ext cx="548640" cy="548640"/>
          </a:xfrm>
          <a:prstGeom prst="rect">
            <a:avLst/>
          </a:prstGeom>
        </p:spPr>
      </p:pic>
      <p:sp>
        <p:nvSpPr>
          <p:cNvPr id="10" name="TextBox 9"/>
          <p:cNvSpPr txBox="1"/>
          <p:nvPr/>
        </p:nvSpPr>
        <p:spPr>
          <a:xfrm>
            <a:off x="1554480" y="1627632"/>
            <a:ext cx="2194560" cy="457200"/>
          </a:xfrm>
          <a:prstGeom prst="rect">
            <a:avLst/>
          </a:prstGeom>
          <a:noFill/>
        </p:spPr>
        <p:txBody>
          <a:bodyPr wrap="square" lIns="0" rIns="0" tIns="0" bIns="0" anchor="t">
            <a:noAutofit/>
          </a:bodyPr>
          <a:lstStyle/>
          <a:p>
            <a:pPr algn="l"/>
            <a:r>
              <a:rPr sz="2200" b="1" i="0">
                <a:solidFill>
                  <a:srgbClr val="000048"/>
                </a:solidFill>
                <a:latin typeface="Arial"/>
              </a:rPr>
              <a:t>Execution</a:t>
            </a:r>
          </a:p>
        </p:txBody>
      </p:sp>
      <p:sp>
        <p:nvSpPr>
          <p:cNvPr id="11" name="TextBox 10"/>
          <p:cNvSpPr txBox="1"/>
          <p:nvPr/>
        </p:nvSpPr>
        <p:spPr>
          <a:xfrm>
            <a:off x="3749039" y="1737360"/>
            <a:ext cx="7680960" cy="731520"/>
          </a:xfrm>
          <a:prstGeom prst="rect">
            <a:avLst/>
          </a:prstGeom>
          <a:noFill/>
        </p:spPr>
        <p:txBody>
          <a:bodyPr wrap="square" lIns="0" rIns="0" tIns="0" bIns="0" anchor="t">
            <a:noAutofit/>
          </a:bodyPr>
          <a:lstStyle/>
          <a:p>
            <a:pPr algn="l"/>
            <a:r>
              <a:rPr sz="1900" b="0" i="0">
                <a:solidFill>
                  <a:srgbClr val="1E1E2E"/>
                </a:solidFill>
                <a:latin typeface="Arial"/>
              </a:rPr>
              <a:t>Maximum runtime, iterations, tokens and concurrent runs per agent version</a:t>
            </a:r>
          </a:p>
        </p:txBody>
      </p:sp>
      <p:sp>
        <p:nvSpPr>
          <p:cNvPr id="12" name="Rounded Rectangle 11"/>
          <p:cNvSpPr/>
          <p:nvPr/>
        </p:nvSpPr>
        <p:spPr>
          <a:xfrm>
            <a:off x="548640" y="2788920"/>
            <a:ext cx="11091672"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7240" y="3081527"/>
            <a:ext cx="548640" cy="548640"/>
          </a:xfrm>
          <a:prstGeom prst="rect">
            <a:avLst/>
          </a:prstGeom>
        </p:spPr>
      </p:pic>
      <p:sp>
        <p:nvSpPr>
          <p:cNvPr id="14" name="TextBox 13"/>
          <p:cNvSpPr txBox="1"/>
          <p:nvPr/>
        </p:nvSpPr>
        <p:spPr>
          <a:xfrm>
            <a:off x="1554480" y="2953512"/>
            <a:ext cx="2194560" cy="457200"/>
          </a:xfrm>
          <a:prstGeom prst="rect">
            <a:avLst/>
          </a:prstGeom>
          <a:noFill/>
        </p:spPr>
        <p:txBody>
          <a:bodyPr wrap="square" lIns="0" rIns="0" tIns="0" bIns="0" anchor="t">
            <a:noAutofit/>
          </a:bodyPr>
          <a:lstStyle/>
          <a:p>
            <a:pPr algn="l"/>
            <a:r>
              <a:rPr sz="2200" b="1" i="0">
                <a:solidFill>
                  <a:srgbClr val="000048"/>
                </a:solidFill>
                <a:latin typeface="Arial"/>
              </a:rPr>
              <a:t>Tools</a:t>
            </a:r>
          </a:p>
        </p:txBody>
      </p:sp>
      <p:sp>
        <p:nvSpPr>
          <p:cNvPr id="15" name="TextBox 14"/>
          <p:cNvSpPr txBox="1"/>
          <p:nvPr/>
        </p:nvSpPr>
        <p:spPr>
          <a:xfrm>
            <a:off x="3749039" y="3063239"/>
            <a:ext cx="7680960" cy="731520"/>
          </a:xfrm>
          <a:prstGeom prst="rect">
            <a:avLst/>
          </a:prstGeom>
          <a:noFill/>
        </p:spPr>
        <p:txBody>
          <a:bodyPr wrap="square" lIns="0" rIns="0" tIns="0" bIns="0" anchor="t">
            <a:noAutofit/>
          </a:bodyPr>
          <a:lstStyle/>
          <a:p>
            <a:pPr algn="l"/>
            <a:r>
              <a:rPr sz="1900" b="0" i="0">
                <a:solidFill>
                  <a:srgbClr val="1E1E2E"/>
                </a:solidFill>
                <a:latin typeface="Arial"/>
              </a:rPr>
              <a:t>Allow-list, scoped identity, transaction limits, idempotency keys</a:t>
            </a:r>
          </a:p>
        </p:txBody>
      </p:sp>
      <p:sp>
        <p:nvSpPr>
          <p:cNvPr id="16" name="Rounded Rectangle 15"/>
          <p:cNvSpPr/>
          <p:nvPr/>
        </p:nvSpPr>
        <p:spPr>
          <a:xfrm>
            <a:off x="548640" y="4114800"/>
            <a:ext cx="11091672"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Entra Privileged Identity Management" descr="Official Azure icon: Entra Privileged Identity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7240" y="4407408"/>
            <a:ext cx="548640" cy="548640"/>
          </a:xfrm>
          <a:prstGeom prst="rect">
            <a:avLst/>
          </a:prstGeom>
        </p:spPr>
      </p:pic>
      <p:sp>
        <p:nvSpPr>
          <p:cNvPr id="18" name="TextBox 17"/>
          <p:cNvSpPr txBox="1"/>
          <p:nvPr/>
        </p:nvSpPr>
        <p:spPr>
          <a:xfrm>
            <a:off x="1554480" y="4279392"/>
            <a:ext cx="2194560" cy="457200"/>
          </a:xfrm>
          <a:prstGeom prst="rect">
            <a:avLst/>
          </a:prstGeom>
          <a:noFill/>
        </p:spPr>
        <p:txBody>
          <a:bodyPr wrap="square" lIns="0" rIns="0" tIns="0" bIns="0" anchor="t">
            <a:noAutofit/>
          </a:bodyPr>
          <a:lstStyle/>
          <a:p>
            <a:pPr algn="l"/>
            <a:r>
              <a:rPr sz="2200" b="1" i="0">
                <a:solidFill>
                  <a:srgbClr val="000048"/>
                </a:solidFill>
                <a:latin typeface="Arial"/>
              </a:rPr>
              <a:t>Approval</a:t>
            </a:r>
          </a:p>
        </p:txBody>
      </p:sp>
      <p:sp>
        <p:nvSpPr>
          <p:cNvPr id="19" name="TextBox 18"/>
          <p:cNvSpPr txBox="1"/>
          <p:nvPr/>
        </p:nvSpPr>
        <p:spPr>
          <a:xfrm>
            <a:off x="3749039" y="4389120"/>
            <a:ext cx="7680960" cy="731520"/>
          </a:xfrm>
          <a:prstGeom prst="rect">
            <a:avLst/>
          </a:prstGeom>
          <a:noFill/>
        </p:spPr>
        <p:txBody>
          <a:bodyPr wrap="square" lIns="0" rIns="0" tIns="0" bIns="0" anchor="t">
            <a:noAutofit/>
          </a:bodyPr>
          <a:lstStyle/>
          <a:p>
            <a:pPr algn="l"/>
            <a:r>
              <a:rPr sz="1900" b="0" i="0">
                <a:solidFill>
                  <a:srgbClr val="1E1E2E"/>
                </a:solidFill>
                <a:latin typeface="Arial"/>
              </a:rPr>
              <a:t>Human approval before high-impact or irreversible actions</a:t>
            </a:r>
          </a:p>
        </p:txBody>
      </p:sp>
      <p:sp>
        <p:nvSpPr>
          <p:cNvPr id="20" name="Rounded Rectangle 19"/>
          <p:cNvSpPr/>
          <p:nvPr/>
        </p:nvSpPr>
        <p:spPr>
          <a:xfrm>
            <a:off x="548640" y="557784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Limits reduce blast radius; they do not replace containment. Owner: AI tower, with Security.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Where an agentic loop amplifies calls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Status chip: ADAPTED FROM SOURCE"/>
          <p:cNvSpPr/>
          <p:nvPr/>
        </p:nvSpPr>
        <p:spPr>
          <a:xfrm>
            <a:off x="199644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sp>
        <p:nvSpPr>
          <p:cNvPr id="9" name="Rounded Rectangle 8"/>
          <p:cNvSpPr/>
          <p:nvPr/>
        </p:nvSpPr>
        <p:spPr>
          <a:xfrm>
            <a:off x="502920"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User query</a:t>
            </a:r>
          </a:p>
        </p:txBody>
      </p:sp>
      <p:cxnSp>
        <p:nvCxnSpPr>
          <p:cNvPr id="10" name="Connector (flow)"/>
          <p:cNvCxnSpPr/>
          <p:nvPr/>
        </p:nvCxnSpPr>
        <p:spPr>
          <a:xfrm>
            <a:off x="1764792"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901952"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2" name="Azure icon: Foundry Agent Service" descr="Official Azure icon: Foundry Agent Servic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27148" y="1901952"/>
            <a:ext cx="411480" cy="411480"/>
          </a:xfrm>
          <a:prstGeom prst="rect">
            <a:avLst/>
          </a:prstGeom>
        </p:spPr>
      </p:pic>
      <p:sp>
        <p:nvSpPr>
          <p:cNvPr id="13" name="TextBox 12"/>
          <p:cNvSpPr txBox="1"/>
          <p:nvPr/>
        </p:nvSpPr>
        <p:spPr>
          <a:xfrm>
            <a:off x="1938528"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Agent reasoning loop</a:t>
            </a:r>
          </a:p>
        </p:txBody>
      </p:sp>
      <p:cxnSp>
        <p:nvCxnSpPr>
          <p:cNvPr id="14" name="Connector (flow)"/>
          <p:cNvCxnSpPr/>
          <p:nvPr/>
        </p:nvCxnSpPr>
        <p:spPr>
          <a:xfrm>
            <a:off x="3163824"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00984"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AI Search (Cognitive Search icon)" descr="Official Azure icon: AI Search (Cognitive Search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26180" y="1901952"/>
            <a:ext cx="411480" cy="411480"/>
          </a:xfrm>
          <a:prstGeom prst="rect">
            <a:avLst/>
          </a:prstGeom>
        </p:spPr>
      </p:pic>
      <p:sp>
        <p:nvSpPr>
          <p:cNvPr id="17" name="TextBox 16"/>
          <p:cNvSpPr txBox="1"/>
          <p:nvPr/>
        </p:nvSpPr>
        <p:spPr>
          <a:xfrm>
            <a:off x="3337560"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Tool call: search A</a:t>
            </a:r>
          </a:p>
        </p:txBody>
      </p:sp>
      <p:cxnSp>
        <p:nvCxnSpPr>
          <p:cNvPr id="18" name="Connector (flow)"/>
          <p:cNvCxnSpPr/>
          <p:nvPr/>
        </p:nvCxnSpPr>
        <p:spPr>
          <a:xfrm>
            <a:off x="4562856"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700016"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Evaluate results</a:t>
            </a:r>
          </a:p>
        </p:txBody>
      </p:sp>
      <p:cxnSp>
        <p:nvCxnSpPr>
          <p:cNvPr id="20" name="Connector (flow)"/>
          <p:cNvCxnSpPr/>
          <p:nvPr/>
        </p:nvCxnSpPr>
        <p:spPr>
          <a:xfrm>
            <a:off x="5961888"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099048"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AI Search (Cognitive Search icon)" descr="Official Azure icon: AI Search (Cognitive Search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24244" y="1901952"/>
            <a:ext cx="411480" cy="411480"/>
          </a:xfrm>
          <a:prstGeom prst="rect">
            <a:avLst/>
          </a:prstGeom>
        </p:spPr>
      </p:pic>
      <p:sp>
        <p:nvSpPr>
          <p:cNvPr id="23" name="TextBox 22"/>
          <p:cNvSpPr txBox="1"/>
          <p:nvPr/>
        </p:nvSpPr>
        <p:spPr>
          <a:xfrm>
            <a:off x="6135624"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Tool call: search B</a:t>
            </a:r>
          </a:p>
        </p:txBody>
      </p:sp>
      <p:cxnSp>
        <p:nvCxnSpPr>
          <p:cNvPr id="24" name="Connector (flow)"/>
          <p:cNvCxnSpPr/>
          <p:nvPr/>
        </p:nvCxnSpPr>
        <p:spPr>
          <a:xfrm>
            <a:off x="7360920" y="2423160"/>
            <a:ext cx="13715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498080"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Build prompt</a:t>
            </a:r>
          </a:p>
        </p:txBody>
      </p:sp>
      <p:cxnSp>
        <p:nvCxnSpPr>
          <p:cNvPr id="26" name="Connector (flow)"/>
          <p:cNvCxnSpPr/>
          <p:nvPr/>
        </p:nvCxnSpPr>
        <p:spPr>
          <a:xfrm>
            <a:off x="8759952"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897112"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8"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322308" y="1901952"/>
            <a:ext cx="411480" cy="411480"/>
          </a:xfrm>
          <a:prstGeom prst="rect">
            <a:avLst/>
          </a:prstGeom>
        </p:spPr>
      </p:pic>
      <p:sp>
        <p:nvSpPr>
          <p:cNvPr id="29" name="TextBox 28"/>
          <p:cNvSpPr txBox="1"/>
          <p:nvPr/>
        </p:nvSpPr>
        <p:spPr>
          <a:xfrm>
            <a:off x="8933688"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Model call</a:t>
            </a:r>
          </a:p>
        </p:txBody>
      </p:sp>
      <p:cxnSp>
        <p:nvCxnSpPr>
          <p:cNvPr id="30" name="Connector (flow)"/>
          <p:cNvCxnSpPr/>
          <p:nvPr/>
        </p:nvCxnSpPr>
        <p:spPr>
          <a:xfrm>
            <a:off x="10158984"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296144"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Response</a:t>
            </a:r>
          </a:p>
        </p:txBody>
      </p:sp>
      <p:cxnSp>
        <p:nvCxnSpPr>
          <p:cNvPr id="32" name="Connector (flow)"/>
          <p:cNvCxnSpPr/>
          <p:nvPr/>
        </p:nvCxnSpPr>
        <p:spPr>
          <a:xfrm>
            <a:off x="4059935" y="3017520"/>
            <a:ext cx="0" cy="4114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3" name="Connector (flow)"/>
          <p:cNvCxnSpPr/>
          <p:nvPr/>
        </p:nvCxnSpPr>
        <p:spPr>
          <a:xfrm flipH="1">
            <a:off x="2532888" y="3429000"/>
            <a:ext cx="1527047"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4" name="Connector (flow)"/>
          <p:cNvCxnSpPr/>
          <p:nvPr/>
        </p:nvCxnSpPr>
        <p:spPr>
          <a:xfrm flipV="1">
            <a:off x="2532888" y="3017520"/>
            <a:ext cx="0" cy="4114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377440" y="3474720"/>
            <a:ext cx="2194560" cy="274320"/>
          </a:xfrm>
          <a:prstGeom prst="rect">
            <a:avLst/>
          </a:prstGeom>
          <a:noFill/>
        </p:spPr>
        <p:txBody>
          <a:bodyPr wrap="square" lIns="0" rIns="0" tIns="0" bIns="0" anchor="t">
            <a:noAutofit/>
          </a:bodyPr>
          <a:lstStyle/>
          <a:p>
            <a:pPr algn="ctr"/>
            <a:r>
              <a:rPr sz="1200" b="0" i="0">
                <a:solidFill>
                  <a:srgbClr val="000048"/>
                </a:solidFill>
                <a:latin typeface="Arial"/>
              </a:rPr>
              <a:t>repeat until sufficient</a:t>
            </a:r>
          </a:p>
        </p:txBody>
      </p:sp>
      <p:sp>
        <p:nvSpPr>
          <p:cNvPr id="36" name="Rounded Rectangle 35"/>
          <p:cNvSpPr/>
          <p:nvPr/>
        </p:nvSpPr>
        <p:spPr>
          <a:xfrm>
            <a:off x="1856232"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200" b="1" i="0">
                <a:solidFill>
                  <a:srgbClr val="000048"/>
                </a:solidFill>
                <a:latin typeface="Arial"/>
              </a:rPr>
              <a:t>Iteration and time limit</a:t>
            </a:r>
          </a:p>
        </p:txBody>
      </p:sp>
      <p:cxnSp>
        <p:nvCxnSpPr>
          <p:cNvPr id="37" name="Connector (control)"/>
          <p:cNvCxnSpPr/>
          <p:nvPr/>
        </p:nvCxnSpPr>
        <p:spPr>
          <a:xfrm flipV="1">
            <a:off x="2542032"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3255264"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200" b="1" i="0">
                <a:solidFill>
                  <a:srgbClr val="000048"/>
                </a:solidFill>
                <a:latin typeface="Arial"/>
              </a:rPr>
              <a:t>Tool allow-list</a:t>
            </a:r>
          </a:p>
        </p:txBody>
      </p:sp>
      <p:cxnSp>
        <p:nvCxnSpPr>
          <p:cNvPr id="39" name="Connector (control)"/>
          <p:cNvCxnSpPr/>
          <p:nvPr/>
        </p:nvCxnSpPr>
        <p:spPr>
          <a:xfrm flipV="1">
            <a:off x="3941063"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053328"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200" b="1" i="0">
                <a:solidFill>
                  <a:srgbClr val="000048"/>
                </a:solidFill>
                <a:latin typeface="Arial"/>
              </a:rPr>
              <a:t>Checkpoint deny-state check</a:t>
            </a:r>
          </a:p>
        </p:txBody>
      </p:sp>
      <p:cxnSp>
        <p:nvCxnSpPr>
          <p:cNvPr id="41" name="Connector (control)"/>
          <p:cNvCxnSpPr/>
          <p:nvPr/>
        </p:nvCxnSpPr>
        <p:spPr>
          <a:xfrm flipV="1">
            <a:off x="6739128"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851392"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200" b="1" i="0">
                <a:solidFill>
                  <a:srgbClr val="000048"/>
                </a:solidFill>
                <a:latin typeface="Arial"/>
              </a:rPr>
              <a:t>Token budget</a:t>
            </a:r>
          </a:p>
        </p:txBody>
      </p:sp>
      <p:cxnSp>
        <p:nvCxnSpPr>
          <p:cNvPr id="43" name="Connector (control)"/>
          <p:cNvCxnSpPr/>
          <p:nvPr/>
        </p:nvCxnSpPr>
        <p:spPr>
          <a:xfrm flipV="1">
            <a:off x="9537192"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48640" y="4892040"/>
            <a:ext cx="11064240" cy="731520"/>
          </a:xfrm>
          <a:prstGeom prst="rect">
            <a:avLst/>
          </a:prstGeom>
          <a:noFill/>
        </p:spPr>
        <p:txBody>
          <a:bodyPr wrap="square" lIns="0" rIns="0" tIns="0" bIns="0" anchor="t">
            <a:noAutofit/>
          </a:bodyPr>
          <a:lstStyle/>
          <a:p>
            <a:pPr algn="l"/>
            <a:r>
              <a:rPr sz="1600" b="0" i="0">
                <a:solidFill>
                  <a:srgbClr val="1E1E2E"/>
                </a:solidFill>
                <a:latin typeface="Arial"/>
              </a:rPr>
              <a:t>Each loop multiplies model and tool calls. One user question can drive many backend calls, so budgets and stop checks belong at every checkpoint.</a:t>
            </a:r>
          </a:p>
        </p:txBody>
      </p:sp>
      <p:sp>
        <p:nvSpPr>
          <p:cNvPr id="45" name="TextBox 44"/>
          <p:cNvSpPr txBox="1"/>
          <p:nvPr/>
        </p:nvSpPr>
        <p:spPr>
          <a:xfrm>
            <a:off x="548640" y="5852160"/>
            <a:ext cx="11064240" cy="256032"/>
          </a:xfrm>
          <a:prstGeom prst="rect">
            <a:avLst/>
          </a:prstGeom>
          <a:noFill/>
        </p:spPr>
        <p:txBody>
          <a:bodyPr wrap="square" lIns="0" rIns="0" tIns="0" bIns="0" anchor="t">
            <a:noAutofit/>
          </a:bodyPr>
          <a:lstStyle/>
          <a:p>
            <a:pPr algn="l"/>
            <a:r>
              <a:rPr sz="1200" b="1" i="0">
                <a:solidFill>
                  <a:srgbClr val="7373D8"/>
                </a:solidFill>
                <a:latin typeface="Arial"/>
              </a:rPr>
              <a:t>Adapted from Microsoft source; control points are proposed additions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Multi-agent workload: owners and stop points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ADAPTED FROM SOURCE"/>
          <p:cNvSpPr/>
          <p:nvPr/>
        </p:nvSpPr>
        <p:spPr>
          <a:xfrm>
            <a:off x="199644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1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sp>
        <p:nvSpPr>
          <p:cNvPr id="9" name="Rounded Rectangle 8"/>
          <p:cNvSpPr/>
          <p:nvPr/>
        </p:nvSpPr>
        <p:spPr>
          <a:xfrm>
            <a:off x="548640" y="1554480"/>
            <a:ext cx="19202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pp Services" descr="Official Azure icon: App Servic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80160" y="1627632"/>
            <a:ext cx="457200" cy="457200"/>
          </a:xfrm>
          <a:prstGeom prst="rect">
            <a:avLst/>
          </a:prstGeom>
        </p:spPr>
      </p:pic>
      <p:sp>
        <p:nvSpPr>
          <p:cNvPr id="11" name="TextBox 10"/>
          <p:cNvSpPr txBox="1"/>
          <p:nvPr/>
        </p:nvSpPr>
        <p:spPr>
          <a:xfrm>
            <a:off x="585216" y="2121408"/>
            <a:ext cx="1847088" cy="512064"/>
          </a:xfrm>
          <a:prstGeom prst="rect">
            <a:avLst/>
          </a:prstGeom>
          <a:noFill/>
        </p:spPr>
        <p:txBody>
          <a:bodyPr wrap="square" lIns="0" rIns="0" tIns="0" bIns="0" anchor="t">
            <a:noAutofit/>
          </a:bodyPr>
          <a:lstStyle/>
          <a:p>
            <a:pPr algn="ctr"/>
            <a:r>
              <a:rPr sz="1300" b="1" i="0">
                <a:solidFill>
                  <a:srgbClr val="000048"/>
                </a:solidFill>
                <a:latin typeface="Arial"/>
              </a:rPr>
              <a:t>Web front end</a:t>
            </a:r>
          </a:p>
          <a:p>
            <a:pPr algn="ctr"/>
            <a:r>
              <a:rPr sz="1200" b="0" i="0">
                <a:solidFill>
                  <a:srgbClr val="53565A"/>
                </a:solidFill>
                <a:latin typeface="Arial"/>
              </a:rPr>
              <a:t>App Service</a:t>
            </a:r>
          </a:p>
        </p:txBody>
      </p:sp>
      <p:sp>
        <p:nvSpPr>
          <p:cNvPr id="12" name="Rounded Rectangle 11"/>
          <p:cNvSpPr/>
          <p:nvPr/>
        </p:nvSpPr>
        <p:spPr>
          <a:xfrm>
            <a:off x="3108960" y="1554480"/>
            <a:ext cx="2286000" cy="1097280"/>
          </a:xfrm>
          <a:prstGeom prst="roundRect">
            <a:avLst>
              <a:gd name="adj" fmla="val 6666"/>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Container Apps Environments" descr="Official Azure icon: Container Apps Environmen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23360" y="1627632"/>
            <a:ext cx="457200" cy="457200"/>
          </a:xfrm>
          <a:prstGeom prst="rect">
            <a:avLst/>
          </a:prstGeom>
        </p:spPr>
      </p:pic>
      <p:sp>
        <p:nvSpPr>
          <p:cNvPr id="14" name="TextBox 13"/>
          <p:cNvSpPr txBox="1"/>
          <p:nvPr/>
        </p:nvSpPr>
        <p:spPr>
          <a:xfrm>
            <a:off x="3145536" y="2121408"/>
            <a:ext cx="2212848" cy="512064"/>
          </a:xfrm>
          <a:prstGeom prst="rect">
            <a:avLst/>
          </a:prstGeom>
          <a:noFill/>
        </p:spPr>
        <p:txBody>
          <a:bodyPr wrap="square" lIns="0" rIns="0" tIns="0" bIns="0" anchor="t">
            <a:noAutofit/>
          </a:bodyPr>
          <a:lstStyle/>
          <a:p>
            <a:pPr algn="ctr"/>
            <a:r>
              <a:rPr sz="1300" b="1" i="0">
                <a:solidFill>
                  <a:srgbClr val="000048"/>
                </a:solidFill>
                <a:latin typeface="Arial"/>
              </a:rPr>
              <a:t>Agent orchestration API</a:t>
            </a:r>
          </a:p>
          <a:p>
            <a:pPr algn="ctr"/>
            <a:r>
              <a:rPr sz="1200" b="0" i="0">
                <a:solidFill>
                  <a:srgbClr val="53565A"/>
                </a:solidFill>
                <a:latin typeface="Arial"/>
              </a:rPr>
              <a:t>Container Apps</a:t>
            </a:r>
          </a:p>
        </p:txBody>
      </p:sp>
      <p:sp>
        <p:nvSpPr>
          <p:cNvPr id="15" name="Rounded Rectangle 14"/>
          <p:cNvSpPr/>
          <p:nvPr/>
        </p:nvSpPr>
        <p:spPr>
          <a:xfrm>
            <a:off x="6035040" y="1554480"/>
            <a:ext cx="2103120"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300" b="1" i="0">
                <a:solidFill>
                  <a:srgbClr val="000048"/>
                </a:solidFill>
                <a:latin typeface="Arial"/>
              </a:rPr>
              <a:t>Knowledge sources and tools</a:t>
            </a:r>
          </a:p>
          <a:p>
            <a:pPr algn="ctr"/>
            <a:r>
              <a:rPr sz="1200" b="0" i="0">
                <a:solidFill>
                  <a:srgbClr val="53565A"/>
                </a:solidFill>
                <a:latin typeface="Arial"/>
              </a:rPr>
              <a:t>per workload</a:t>
            </a:r>
          </a:p>
        </p:txBody>
      </p:sp>
      <p:sp>
        <p:nvSpPr>
          <p:cNvPr id="16" name="Rounded Rectangle 15"/>
          <p:cNvSpPr/>
          <p:nvPr/>
        </p:nvSpPr>
        <p:spPr>
          <a:xfrm>
            <a:off x="3108960" y="3337560"/>
            <a:ext cx="228600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023360" y="3410712"/>
            <a:ext cx="457200" cy="457200"/>
          </a:xfrm>
          <a:prstGeom prst="rect">
            <a:avLst/>
          </a:prstGeom>
        </p:spPr>
      </p:pic>
      <p:sp>
        <p:nvSpPr>
          <p:cNvPr id="18" name="TextBox 17"/>
          <p:cNvSpPr txBox="1"/>
          <p:nvPr/>
        </p:nvSpPr>
        <p:spPr>
          <a:xfrm>
            <a:off x="3145536" y="3904488"/>
            <a:ext cx="221284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200" b="0" i="0">
                <a:solidFill>
                  <a:srgbClr val="53565A"/>
                </a:solidFill>
                <a:latin typeface="Arial"/>
              </a:rPr>
              <a:t>Microsoft Foundry</a:t>
            </a:r>
          </a:p>
        </p:txBody>
      </p:sp>
      <p:sp>
        <p:nvSpPr>
          <p:cNvPr id="19" name="Rounded Rectangle 18"/>
          <p:cNvSpPr/>
          <p:nvPr/>
        </p:nvSpPr>
        <p:spPr>
          <a:xfrm>
            <a:off x="6035040" y="3337560"/>
            <a:ext cx="210312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0" name="Azure icon: Azure Cosmos DB" descr="Official Azure icon: Azure Cosmos DB"/>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858000" y="3410712"/>
            <a:ext cx="457200" cy="457200"/>
          </a:xfrm>
          <a:prstGeom prst="rect">
            <a:avLst/>
          </a:prstGeom>
        </p:spPr>
      </p:pic>
      <p:sp>
        <p:nvSpPr>
          <p:cNvPr id="21" name="TextBox 20"/>
          <p:cNvSpPr txBox="1"/>
          <p:nvPr/>
        </p:nvSpPr>
        <p:spPr>
          <a:xfrm>
            <a:off x="6071616" y="3904488"/>
            <a:ext cx="2029967" cy="512064"/>
          </a:xfrm>
          <a:prstGeom prst="rect">
            <a:avLst/>
          </a:prstGeom>
          <a:noFill/>
        </p:spPr>
        <p:txBody>
          <a:bodyPr wrap="square" lIns="0" rIns="0" tIns="0" bIns="0" anchor="t">
            <a:noAutofit/>
          </a:bodyPr>
          <a:lstStyle/>
          <a:p>
            <a:pPr algn="ctr"/>
            <a:r>
              <a:rPr sz="1300" b="1" i="0">
                <a:solidFill>
                  <a:srgbClr val="000048"/>
                </a:solidFill>
                <a:latin typeface="Arial"/>
              </a:rPr>
              <a:t>Plans and state</a:t>
            </a:r>
          </a:p>
          <a:p>
            <a:pPr algn="ctr"/>
            <a:r>
              <a:rPr sz="1200" b="0" i="0">
                <a:solidFill>
                  <a:srgbClr val="53565A"/>
                </a:solidFill>
                <a:latin typeface="Arial"/>
              </a:rPr>
              <a:t>Azure Cosmos DB</a:t>
            </a:r>
          </a:p>
        </p:txBody>
      </p:sp>
      <p:sp>
        <p:nvSpPr>
          <p:cNvPr id="22" name="Rounded Rectangle 21"/>
          <p:cNvSpPr/>
          <p:nvPr/>
        </p:nvSpPr>
        <p:spPr>
          <a:xfrm>
            <a:off x="548640" y="3337560"/>
            <a:ext cx="19202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3" name="Azure icon: Container Registries" descr="Official Azure icon: Container Registrie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280160" y="3410712"/>
            <a:ext cx="457200" cy="457200"/>
          </a:xfrm>
          <a:prstGeom prst="rect">
            <a:avLst/>
          </a:prstGeom>
        </p:spPr>
      </p:pic>
      <p:sp>
        <p:nvSpPr>
          <p:cNvPr id="24" name="TextBox 23"/>
          <p:cNvSpPr txBox="1"/>
          <p:nvPr/>
        </p:nvSpPr>
        <p:spPr>
          <a:xfrm>
            <a:off x="585216" y="3904488"/>
            <a:ext cx="1847088" cy="512064"/>
          </a:xfrm>
          <a:prstGeom prst="rect">
            <a:avLst/>
          </a:prstGeom>
          <a:noFill/>
        </p:spPr>
        <p:txBody>
          <a:bodyPr wrap="square" lIns="0" rIns="0" tIns="0" bIns="0" anchor="t">
            <a:noAutofit/>
          </a:bodyPr>
          <a:lstStyle/>
          <a:p>
            <a:pPr algn="ctr"/>
            <a:r>
              <a:rPr sz="1300" b="1" i="0">
                <a:solidFill>
                  <a:srgbClr val="000048"/>
                </a:solidFill>
                <a:latin typeface="Arial"/>
              </a:rPr>
              <a:t>Images</a:t>
            </a:r>
          </a:p>
          <a:p>
            <a:pPr algn="ctr"/>
            <a:r>
              <a:rPr sz="1200" b="0" i="0">
                <a:solidFill>
                  <a:srgbClr val="53565A"/>
                </a:solidFill>
                <a:latin typeface="Arial"/>
              </a:rPr>
              <a:t>Container Registry</a:t>
            </a:r>
          </a:p>
        </p:txBody>
      </p:sp>
      <p:cxnSp>
        <p:nvCxnSpPr>
          <p:cNvPr id="25" name="Connector (flow)"/>
          <p:cNvCxnSpPr/>
          <p:nvPr/>
        </p:nvCxnSpPr>
        <p:spPr>
          <a:xfrm>
            <a:off x="2468880" y="210312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flow)"/>
          <p:cNvCxnSpPr/>
          <p:nvPr/>
        </p:nvCxnSpPr>
        <p:spPr>
          <a:xfrm>
            <a:off x="5394960" y="210312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flow)"/>
          <p:cNvCxnSpPr/>
          <p:nvPr/>
        </p:nvCxnSpPr>
        <p:spPr>
          <a:xfrm>
            <a:off x="4251960" y="2743200"/>
            <a:ext cx="0" cy="59436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flow)"/>
          <p:cNvCxnSpPr/>
          <p:nvPr/>
        </p:nvCxnSpPr>
        <p:spPr>
          <a:xfrm>
            <a:off x="5394960" y="2514600"/>
            <a:ext cx="3657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9" name="Connector (flow)"/>
          <p:cNvCxnSpPr/>
          <p:nvPr/>
        </p:nvCxnSpPr>
        <p:spPr>
          <a:xfrm>
            <a:off x="5760720" y="2514600"/>
            <a:ext cx="0" cy="13258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0" name="Connector (flow)"/>
          <p:cNvCxnSpPr/>
          <p:nvPr/>
        </p:nvCxnSpPr>
        <p:spPr>
          <a:xfrm>
            <a:off x="5760720" y="3840480"/>
            <a:ext cx="2743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31" name="Table"/>
          <p:cNvGraphicFramePr>
            <a:graphicFrameLocks noGrp="1"/>
          </p:cNvGraphicFramePr>
          <p:nvPr/>
        </p:nvGraphicFramePr>
        <p:xfrm>
          <a:off x="8503920" y="1554480"/>
          <a:ext cx="3136392" cy="2392680"/>
        </p:xfrm>
        <a:graphic>
          <a:graphicData uri="http://schemas.openxmlformats.org/drawingml/2006/table">
            <a:tbl>
              <a:tblPr firstRow="1" bandRow="0">
                <a:tableStyleId>{5C22544A-7EE6-4342-B048-85BDC9FD1C3A}</a:tableStyleId>
              </a:tblPr>
              <a:tblGrid>
                <a:gridCol w="1143000"/>
                <a:gridCol w="914400"/>
                <a:gridCol w="1078992"/>
              </a:tblGrid>
              <a:tr h="259080">
                <a:tc>
                  <a:txBody>
                    <a:bodyPr wrap="square" anchor="ctr">
                      <a:noAutofit/>
                    </a:bodyPr>
                    <a:lstStyle/>
                    <a:p>
                      <a:pPr algn="l"/>
                      <a:r>
                        <a:rPr sz="1200" b="1" i="0">
                          <a:solidFill>
                            <a:srgbClr val="FFFFFF"/>
                          </a:solidFill>
                          <a:latin typeface="Arial"/>
                        </a:rPr>
                        <a:t>Component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Stop action</a:t>
                      </a:r>
                    </a:p>
                  </a:txBody>
                  <a:tcPr marL="73152" marR="73152" marT="36576" marB="36576" anchor="ctr">
                    <a:solidFill>
                      <a:srgbClr val="000048"/>
                    </a:solidFill>
                  </a:tcPr>
                </a:tc>
              </a:tr>
              <a:tr h="426720">
                <a:tc>
                  <a:txBody>
                    <a:bodyPr wrap="square" anchor="ctr">
                      <a:noAutofit/>
                    </a:bodyPr>
                    <a:lstStyle/>
                    <a:p>
                      <a:pPr algn="l"/>
                      <a:r>
                        <a:rPr sz="1200" b="1" i="0">
                          <a:solidFill>
                            <a:srgbClr val="1E1E2E"/>
                          </a:solidFill>
                          <a:latin typeface="Arial"/>
                        </a:rPr>
                        <a:t>Front end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 app team</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Block at ingress</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Orchestration API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Scale to zero or isolate</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Tools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Tool owners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Deny at tool side</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Model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Deny at gateway</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State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with Data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Freeze writes</a:t>
                      </a:r>
                    </a:p>
                  </a:txBody>
                  <a:tcPr marL="73152" marR="73152" marT="36576" marB="36576" anchor="ctr">
                    <a:solidFill>
                      <a:srgbClr val="FFFFFF"/>
                    </a:solidFill>
                  </a:tcPr>
                </a:tc>
              </a:tr>
            </a:tbl>
          </a:graphicData>
        </a:graphic>
      </p:graphicFrame>
      <p:sp>
        <p:nvSpPr>
          <p:cNvPr id="32" name="TextBox 31"/>
          <p:cNvSpPr txBox="1"/>
          <p:nvPr/>
        </p:nvSpPr>
        <p:spPr>
          <a:xfrm>
            <a:off x="548640" y="5852160"/>
            <a:ext cx="11064240" cy="256032"/>
          </a:xfrm>
          <a:prstGeom prst="rect">
            <a:avLst/>
          </a:prstGeom>
          <a:noFill/>
        </p:spPr>
        <p:txBody>
          <a:bodyPr wrap="square" lIns="0" rIns="0" tIns="0" bIns="0" anchor="t">
            <a:noAutofit/>
          </a:bodyPr>
          <a:lstStyle/>
          <a:p>
            <a:pPr algn="l"/>
            <a:r>
              <a:rPr sz="1200" b="1" i="0">
                <a:solidFill>
                  <a:srgbClr val="7373D8"/>
                </a:solidFill>
                <a:latin typeface="Arial"/>
              </a:rPr>
              <a:t>Adapted from Microsoft source; owners and stop actions are proposed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Monitor behaviour as well as technical success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6"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sp>
        <p:nvSpPr>
          <p:cNvPr id="8" name="Rounded Rectangle 7"/>
          <p:cNvSpPr/>
          <p:nvPr/>
        </p:nvSpPr>
        <p:spPr>
          <a:xfrm>
            <a:off x="548640" y="1371600"/>
            <a:ext cx="3593592" cy="402336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9" name="Azure icon: Application Insights" descr="Official Azure icon: Application Insight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 y="1554480"/>
            <a:ext cx="502920" cy="502920"/>
          </a:xfrm>
          <a:prstGeom prst="rect">
            <a:avLst/>
          </a:prstGeom>
        </p:spPr>
      </p:pic>
      <p:sp>
        <p:nvSpPr>
          <p:cNvPr id="10" name="TextBox 9"/>
          <p:cNvSpPr txBox="1"/>
          <p:nvPr/>
        </p:nvSpPr>
        <p:spPr>
          <a:xfrm>
            <a:off x="1371600" y="1627632"/>
            <a:ext cx="2651760" cy="411480"/>
          </a:xfrm>
          <a:prstGeom prst="rect">
            <a:avLst/>
          </a:prstGeom>
          <a:noFill/>
        </p:spPr>
        <p:txBody>
          <a:bodyPr wrap="square" lIns="0" rIns="0" tIns="0" bIns="0" anchor="t">
            <a:noAutofit/>
          </a:bodyPr>
          <a:lstStyle/>
          <a:p>
            <a:pPr algn="l"/>
            <a:r>
              <a:rPr sz="2100" b="1" i="0">
                <a:solidFill>
                  <a:srgbClr val="000048"/>
                </a:solidFill>
                <a:latin typeface="Arial"/>
              </a:rPr>
              <a:t>Operations</a:t>
            </a:r>
          </a:p>
        </p:txBody>
      </p:sp>
      <p:sp>
        <p:nvSpPr>
          <p:cNvPr id="11" name="TextBox 10"/>
          <p:cNvSpPr txBox="1"/>
          <p:nvPr/>
        </p:nvSpPr>
        <p:spPr>
          <a:xfrm>
            <a:off x="731520" y="2286000"/>
            <a:ext cx="3291840" cy="2194560"/>
          </a:xfrm>
          <a:prstGeom prst="rect">
            <a:avLst/>
          </a:prstGeom>
          <a:noFill/>
        </p:spPr>
        <p:txBody>
          <a:bodyPr wrap="square" lIns="0" rIns="0" tIns="0" bIns="0" anchor="t">
            <a:noAutofit/>
          </a:bodyPr>
          <a:lstStyle/>
          <a:p>
            <a:pPr algn="l" marL="201168" indent="-201168">
              <a:spcAft>
                <a:spcPts val="800"/>
              </a:spcAft>
              <a:buFont typeface="Arial"/>
              <a:buChar char="•"/>
            </a:pPr>
            <a:r>
              <a:rPr sz="1700" b="0" i="0">
                <a:solidFill>
                  <a:srgbClr val="1E1E2E"/>
                </a:solidFill>
                <a:latin typeface="Arial"/>
              </a:rPr>
              <a:t>Errors and latency</a:t>
            </a:r>
          </a:p>
          <a:p>
            <a:pPr algn="l" marL="201168" indent="-201168">
              <a:spcAft>
                <a:spcPts val="800"/>
              </a:spcAft>
              <a:buFont typeface="Arial"/>
              <a:buChar char="•"/>
            </a:pPr>
            <a:r>
              <a:rPr sz="1700" b="0" i="0">
                <a:solidFill>
                  <a:srgbClr val="1E1E2E"/>
                </a:solidFill>
                <a:latin typeface="Arial"/>
              </a:rPr>
              <a:t>Tool failures</a:t>
            </a:r>
          </a:p>
          <a:p>
            <a:pPr algn="l" marL="201168" indent="-201168">
              <a:spcAft>
                <a:spcPts val="800"/>
              </a:spcAft>
              <a:buFont typeface="Arial"/>
              <a:buChar char="•"/>
            </a:pPr>
            <a:r>
              <a:rPr sz="1700" b="0" i="0">
                <a:solidFill>
                  <a:srgbClr val="1E1E2E"/>
                </a:solidFill>
                <a:latin typeface="Arial"/>
              </a:rPr>
              <a:t>Telemetry health</a:t>
            </a:r>
          </a:p>
        </p:txBody>
      </p:sp>
      <p:sp>
        <p:nvSpPr>
          <p:cNvPr id="12" name="TextBox 11"/>
          <p:cNvSpPr txBox="1"/>
          <p:nvPr/>
        </p:nvSpPr>
        <p:spPr>
          <a:xfrm>
            <a:off x="731520" y="4846320"/>
            <a:ext cx="3291840" cy="365760"/>
          </a:xfrm>
          <a:prstGeom prst="rect">
            <a:avLst/>
          </a:prstGeom>
          <a:noFill/>
        </p:spPr>
        <p:txBody>
          <a:bodyPr wrap="square" lIns="0" rIns="0" tIns="0" bIns="0" anchor="t">
            <a:noAutofit/>
          </a:bodyPr>
          <a:lstStyle/>
          <a:p>
            <a:pPr algn="l"/>
            <a:r>
              <a:rPr sz="1500" b="1" i="0">
                <a:solidFill>
                  <a:srgbClr val="2F78C4"/>
                </a:solidFill>
                <a:latin typeface="Arial"/>
              </a:rPr>
              <a:t>Owner: </a:t>
            </a:r>
            <a:r>
              <a:rPr sz="1500" b="0" i="0">
                <a:solidFill>
                  <a:srgbClr val="1E1E2E"/>
                </a:solidFill>
                <a:latin typeface="Arial"/>
              </a:rPr>
              <a:t>CIS Infra</a:t>
            </a:r>
          </a:p>
        </p:txBody>
      </p:sp>
      <p:sp>
        <p:nvSpPr>
          <p:cNvPr id="13" name="Rounded Rectangle 12"/>
          <p:cNvSpPr/>
          <p:nvPr/>
        </p:nvSpPr>
        <p:spPr>
          <a:xfrm>
            <a:off x="4297679" y="1371600"/>
            <a:ext cx="3593592" cy="402336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Foundry Control Plane" descr="Official Azure icon: Foundry Control Plane"/>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80559" y="1554480"/>
            <a:ext cx="502920" cy="502920"/>
          </a:xfrm>
          <a:prstGeom prst="rect">
            <a:avLst/>
          </a:prstGeom>
        </p:spPr>
      </p:pic>
      <p:sp>
        <p:nvSpPr>
          <p:cNvPr id="15" name="TextBox 14"/>
          <p:cNvSpPr txBox="1"/>
          <p:nvPr/>
        </p:nvSpPr>
        <p:spPr>
          <a:xfrm>
            <a:off x="5120640" y="1627632"/>
            <a:ext cx="2651760" cy="411480"/>
          </a:xfrm>
          <a:prstGeom prst="rect">
            <a:avLst/>
          </a:prstGeom>
          <a:noFill/>
        </p:spPr>
        <p:txBody>
          <a:bodyPr wrap="square" lIns="0" rIns="0" tIns="0" bIns="0" anchor="t">
            <a:noAutofit/>
          </a:bodyPr>
          <a:lstStyle/>
          <a:p>
            <a:pPr algn="l"/>
            <a:r>
              <a:rPr sz="2100" b="1" i="0">
                <a:solidFill>
                  <a:srgbClr val="000048"/>
                </a:solidFill>
                <a:latin typeface="Arial"/>
              </a:rPr>
              <a:t>Quality</a:t>
            </a:r>
          </a:p>
        </p:txBody>
      </p:sp>
      <p:sp>
        <p:nvSpPr>
          <p:cNvPr id="16" name="TextBox 15"/>
          <p:cNvSpPr txBox="1"/>
          <p:nvPr/>
        </p:nvSpPr>
        <p:spPr>
          <a:xfrm>
            <a:off x="4480559" y="2286000"/>
            <a:ext cx="3291840" cy="2194560"/>
          </a:xfrm>
          <a:prstGeom prst="rect">
            <a:avLst/>
          </a:prstGeom>
          <a:noFill/>
        </p:spPr>
        <p:txBody>
          <a:bodyPr wrap="square" lIns="0" rIns="0" tIns="0" bIns="0" anchor="t">
            <a:noAutofit/>
          </a:bodyPr>
          <a:lstStyle/>
          <a:p>
            <a:pPr algn="l" marL="201168" indent="-201168">
              <a:spcAft>
                <a:spcPts val="800"/>
              </a:spcAft>
              <a:buFont typeface="Arial"/>
              <a:buChar char="•"/>
            </a:pPr>
            <a:r>
              <a:rPr sz="1700" b="0" i="0">
                <a:solidFill>
                  <a:srgbClr val="1E1E2E"/>
                </a:solidFill>
                <a:latin typeface="Arial"/>
              </a:rPr>
              <a:t>Task outcome</a:t>
            </a:r>
          </a:p>
          <a:p>
            <a:pPr algn="l" marL="201168" indent="-201168">
              <a:spcAft>
                <a:spcPts val="800"/>
              </a:spcAft>
              <a:buFont typeface="Arial"/>
              <a:buChar char="•"/>
            </a:pPr>
            <a:r>
              <a:rPr sz="1700" b="0" i="0">
                <a:solidFill>
                  <a:srgbClr val="1E1E2E"/>
                </a:solidFill>
                <a:latin typeface="Arial"/>
              </a:rPr>
              <a:t>Evaluation scores</a:t>
            </a:r>
          </a:p>
          <a:p>
            <a:pPr algn="l" marL="201168" indent="-201168">
              <a:spcAft>
                <a:spcPts val="800"/>
              </a:spcAft>
              <a:buFont typeface="Arial"/>
              <a:buChar char="•"/>
            </a:pPr>
            <a:r>
              <a:rPr sz="1700" b="0" i="0">
                <a:solidFill>
                  <a:srgbClr val="1E1E2E"/>
                </a:solidFill>
                <a:latin typeface="Arial"/>
              </a:rPr>
              <a:t>Escalation rate</a:t>
            </a:r>
          </a:p>
        </p:txBody>
      </p:sp>
      <p:sp>
        <p:nvSpPr>
          <p:cNvPr id="17" name="TextBox 16"/>
          <p:cNvSpPr txBox="1"/>
          <p:nvPr/>
        </p:nvSpPr>
        <p:spPr>
          <a:xfrm>
            <a:off x="4480559" y="4846320"/>
            <a:ext cx="3291840" cy="365760"/>
          </a:xfrm>
          <a:prstGeom prst="rect">
            <a:avLst/>
          </a:prstGeom>
          <a:noFill/>
        </p:spPr>
        <p:txBody>
          <a:bodyPr wrap="square" lIns="0" rIns="0" tIns="0" bIns="0" anchor="t">
            <a:noAutofit/>
          </a:bodyPr>
          <a:lstStyle/>
          <a:p>
            <a:pPr algn="l"/>
            <a:r>
              <a:rPr sz="1500" b="1" i="0">
                <a:solidFill>
                  <a:srgbClr val="2F78C4"/>
                </a:solidFill>
                <a:latin typeface="Arial"/>
              </a:rPr>
              <a:t>Owner: </a:t>
            </a:r>
            <a:r>
              <a:rPr sz="1500" b="0" i="0">
                <a:solidFill>
                  <a:srgbClr val="1E1E2E"/>
                </a:solidFill>
                <a:latin typeface="Arial"/>
              </a:rPr>
              <a:t>AI tower</a:t>
            </a:r>
          </a:p>
        </p:txBody>
      </p:sp>
      <p:sp>
        <p:nvSpPr>
          <p:cNvPr id="18" name="Rounded Rectangle 17"/>
          <p:cNvSpPr/>
          <p:nvPr/>
        </p:nvSpPr>
        <p:spPr>
          <a:xfrm>
            <a:off x="8046719" y="1371600"/>
            <a:ext cx="3593592" cy="402336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Cost Analysis" descr="Official Azure icon: Cost Analysi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29599" y="1554480"/>
            <a:ext cx="502920" cy="502920"/>
          </a:xfrm>
          <a:prstGeom prst="rect">
            <a:avLst/>
          </a:prstGeom>
        </p:spPr>
      </p:pic>
      <p:sp>
        <p:nvSpPr>
          <p:cNvPr id="20" name="TextBox 19"/>
          <p:cNvSpPr txBox="1"/>
          <p:nvPr/>
        </p:nvSpPr>
        <p:spPr>
          <a:xfrm>
            <a:off x="8869680" y="1627632"/>
            <a:ext cx="2651760" cy="411480"/>
          </a:xfrm>
          <a:prstGeom prst="rect">
            <a:avLst/>
          </a:prstGeom>
          <a:noFill/>
        </p:spPr>
        <p:txBody>
          <a:bodyPr wrap="square" lIns="0" rIns="0" tIns="0" bIns="0" anchor="t">
            <a:noAutofit/>
          </a:bodyPr>
          <a:lstStyle/>
          <a:p>
            <a:pPr algn="l"/>
            <a:r>
              <a:rPr sz="2100" b="1" i="0">
                <a:solidFill>
                  <a:srgbClr val="000048"/>
                </a:solidFill>
                <a:latin typeface="Arial"/>
              </a:rPr>
              <a:t>Economics</a:t>
            </a:r>
          </a:p>
        </p:txBody>
      </p:sp>
      <p:sp>
        <p:nvSpPr>
          <p:cNvPr id="21" name="TextBox 20"/>
          <p:cNvSpPr txBox="1"/>
          <p:nvPr/>
        </p:nvSpPr>
        <p:spPr>
          <a:xfrm>
            <a:off x="8229599" y="2286000"/>
            <a:ext cx="3291840" cy="2194560"/>
          </a:xfrm>
          <a:prstGeom prst="rect">
            <a:avLst/>
          </a:prstGeom>
          <a:noFill/>
        </p:spPr>
        <p:txBody>
          <a:bodyPr wrap="square" lIns="0" rIns="0" tIns="0" bIns="0" anchor="t">
            <a:noAutofit/>
          </a:bodyPr>
          <a:lstStyle/>
          <a:p>
            <a:pPr algn="l" marL="201168" indent="-201168">
              <a:spcAft>
                <a:spcPts val="800"/>
              </a:spcAft>
              <a:buFont typeface="Arial"/>
              <a:buChar char="•"/>
            </a:pPr>
            <a:r>
              <a:rPr sz="1700" b="0" i="0">
                <a:solidFill>
                  <a:srgbClr val="1E1E2E"/>
                </a:solidFill>
                <a:latin typeface="Arial"/>
              </a:rPr>
              <a:t>Tokens per task</a:t>
            </a:r>
          </a:p>
          <a:p>
            <a:pPr algn="l" marL="201168" indent="-201168">
              <a:spcAft>
                <a:spcPts val="800"/>
              </a:spcAft>
              <a:buFont typeface="Arial"/>
              <a:buChar char="•"/>
            </a:pPr>
            <a:r>
              <a:rPr sz="1700" b="0" i="0">
                <a:solidFill>
                  <a:srgbClr val="1E1E2E"/>
                </a:solidFill>
                <a:latin typeface="Arial"/>
              </a:rPr>
              <a:t>Cost per useful task</a:t>
            </a:r>
          </a:p>
          <a:p>
            <a:pPr algn="l" marL="201168" indent="-201168">
              <a:spcAft>
                <a:spcPts val="800"/>
              </a:spcAft>
              <a:buFont typeface="Arial"/>
              <a:buChar char="•"/>
            </a:pPr>
            <a:r>
              <a:rPr sz="1700" b="0" i="0">
                <a:solidFill>
                  <a:srgbClr val="1E1E2E"/>
                </a:solidFill>
                <a:latin typeface="Arial"/>
              </a:rPr>
              <a:t>Retry and loop amplification</a:t>
            </a:r>
          </a:p>
        </p:txBody>
      </p:sp>
      <p:sp>
        <p:nvSpPr>
          <p:cNvPr id="22" name="TextBox 21"/>
          <p:cNvSpPr txBox="1"/>
          <p:nvPr/>
        </p:nvSpPr>
        <p:spPr>
          <a:xfrm>
            <a:off x="8229599" y="4846320"/>
            <a:ext cx="3291840" cy="365760"/>
          </a:xfrm>
          <a:prstGeom prst="rect">
            <a:avLst/>
          </a:prstGeom>
          <a:noFill/>
        </p:spPr>
        <p:txBody>
          <a:bodyPr wrap="square" lIns="0" rIns="0" tIns="0" bIns="0" anchor="t">
            <a:noAutofit/>
          </a:bodyPr>
          <a:lstStyle/>
          <a:p>
            <a:pPr algn="l"/>
            <a:r>
              <a:rPr sz="1500" b="1" i="0">
                <a:solidFill>
                  <a:srgbClr val="2F78C4"/>
                </a:solidFill>
                <a:latin typeface="Arial"/>
              </a:rPr>
              <a:t>Owner: </a:t>
            </a:r>
            <a:r>
              <a:rPr sz="1500" b="0" i="0">
                <a:solidFill>
                  <a:srgbClr val="1E1E2E"/>
                </a:solidFill>
                <a:latin typeface="Arial"/>
              </a:rPr>
              <a:t>CIS Infra with AI</a:t>
            </a:r>
          </a:p>
        </p:txBody>
      </p:sp>
      <p:sp>
        <p:nvSpPr>
          <p:cNvPr id="23" name="Rounded Rectangle 22"/>
          <p:cNvSpPr/>
          <p:nvPr/>
        </p:nvSpPr>
        <p:spPr>
          <a:xfrm>
            <a:off x="548640" y="55778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Quality scoring needs approved test data and evaluators. It is not automatic proof of safety.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Containment runbook sequence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sp>
        <p:nvSpPr>
          <p:cNvPr id="9" name="Rounded Rectangle 8"/>
          <p:cNvSpPr/>
          <p:nvPr/>
        </p:nvSpPr>
        <p:spPr>
          <a:xfrm>
            <a:off x="548640"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1  Detect</a:t>
            </a:r>
          </a:p>
        </p:txBody>
      </p:sp>
      <p:sp>
        <p:nvSpPr>
          <p:cNvPr id="10" name="TextBox 9"/>
          <p:cNvSpPr txBox="1"/>
          <p:nvPr/>
        </p:nvSpPr>
        <p:spPr>
          <a:xfrm>
            <a:off x="548640"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Alert or report names agent ID and version</a:t>
            </a:r>
          </a:p>
        </p:txBody>
      </p:sp>
      <p:cxnSp>
        <p:nvCxnSpPr>
          <p:cNvPr id="11" name="Connector (flow)"/>
          <p:cNvCxnSpPr/>
          <p:nvPr/>
        </p:nvCxnSpPr>
        <p:spPr>
          <a:xfrm>
            <a:off x="2286000" y="178308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423160"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2  Triage</a:t>
            </a:r>
          </a:p>
        </p:txBody>
      </p:sp>
      <p:sp>
        <p:nvSpPr>
          <p:cNvPr id="13" name="TextBox 12"/>
          <p:cNvSpPr txBox="1"/>
          <p:nvPr/>
        </p:nvSpPr>
        <p:spPr>
          <a:xfrm>
            <a:off x="2423160"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Responder confirms scope and risk class</a:t>
            </a:r>
          </a:p>
        </p:txBody>
      </p:sp>
      <p:cxnSp>
        <p:nvCxnSpPr>
          <p:cNvPr id="14" name="Connector (flow)"/>
          <p:cNvCxnSpPr/>
          <p:nvPr/>
        </p:nvCxnSpPr>
        <p:spPr>
          <a:xfrm>
            <a:off x="4160520" y="1783080"/>
            <a:ext cx="13715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7679"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3  Quarantine</a:t>
            </a:r>
          </a:p>
        </p:txBody>
      </p:sp>
      <p:sp>
        <p:nvSpPr>
          <p:cNvPr id="16" name="TextBox 15"/>
          <p:cNvSpPr txBox="1"/>
          <p:nvPr/>
        </p:nvSpPr>
        <p:spPr>
          <a:xfrm>
            <a:off x="4297679"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Write state; block, cancel, deny</a:t>
            </a:r>
          </a:p>
        </p:txBody>
      </p:sp>
      <p:cxnSp>
        <p:nvCxnSpPr>
          <p:cNvPr id="17" name="Connector (flow)"/>
          <p:cNvCxnSpPr/>
          <p:nvPr/>
        </p:nvCxnSpPr>
        <p:spPr>
          <a:xfrm>
            <a:off x="6035040" y="1783080"/>
            <a:ext cx="13715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172199"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4  Verify</a:t>
            </a:r>
          </a:p>
        </p:txBody>
      </p:sp>
      <p:sp>
        <p:nvSpPr>
          <p:cNvPr id="19" name="TextBox 18"/>
          <p:cNvSpPr txBox="1"/>
          <p:nvPr/>
        </p:nvSpPr>
        <p:spPr>
          <a:xfrm>
            <a:off x="6172199"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Traces show no new actions</a:t>
            </a:r>
          </a:p>
        </p:txBody>
      </p:sp>
      <p:cxnSp>
        <p:nvCxnSpPr>
          <p:cNvPr id="20" name="Connector (flow)"/>
          <p:cNvCxnSpPr/>
          <p:nvPr/>
        </p:nvCxnSpPr>
        <p:spPr>
          <a:xfrm>
            <a:off x="7909559" y="178308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046719"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5  Preserve</a:t>
            </a:r>
          </a:p>
        </p:txBody>
      </p:sp>
      <p:sp>
        <p:nvSpPr>
          <p:cNvPr id="22" name="TextBox 21"/>
          <p:cNvSpPr txBox="1"/>
          <p:nvPr/>
        </p:nvSpPr>
        <p:spPr>
          <a:xfrm>
            <a:off x="8046719"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Evidence stored with retention</a:t>
            </a:r>
          </a:p>
        </p:txBody>
      </p:sp>
      <p:cxnSp>
        <p:nvCxnSpPr>
          <p:cNvPr id="23" name="Connector (flow)"/>
          <p:cNvCxnSpPr/>
          <p:nvPr/>
        </p:nvCxnSpPr>
        <p:spPr>
          <a:xfrm>
            <a:off x="9784080" y="1783080"/>
            <a:ext cx="13715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921240"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6  Recover</a:t>
            </a:r>
          </a:p>
        </p:txBody>
      </p:sp>
      <p:sp>
        <p:nvSpPr>
          <p:cNvPr id="25" name="TextBox 24"/>
          <p:cNvSpPr txBox="1"/>
          <p:nvPr/>
        </p:nvSpPr>
        <p:spPr>
          <a:xfrm>
            <a:off x="9921240"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Root cause, approval, canary</a:t>
            </a:r>
          </a:p>
        </p:txBody>
      </p:sp>
      <p:graphicFrame>
        <p:nvGraphicFramePr>
          <p:cNvPr id="26" name="Table"/>
          <p:cNvGraphicFramePr>
            <a:graphicFrameLocks noGrp="1"/>
          </p:cNvGraphicFramePr>
          <p:nvPr/>
        </p:nvGraphicFramePr>
        <p:xfrm>
          <a:off x="548640" y="3749039"/>
          <a:ext cx="11091672" cy="1828800"/>
        </p:xfrm>
        <a:graphic>
          <a:graphicData uri="http://schemas.openxmlformats.org/drawingml/2006/table">
            <a:tbl>
              <a:tblPr firstRow="1" bandRow="0">
                <a:tableStyleId>{5C22544A-7EE6-4342-B048-85BDC9FD1C3A}</a:tableStyleId>
              </a:tblPr>
              <a:tblGrid>
                <a:gridCol w="4572000"/>
                <a:gridCol w="6519672"/>
              </a:tblGrid>
              <a:tr h="304800">
                <a:tc>
                  <a:txBody>
                    <a:bodyPr wrap="square" anchor="ctr">
                      <a:noAutofit/>
                    </a:bodyPr>
                    <a:lstStyle/>
                    <a:p>
                      <a:pPr algn="l"/>
                      <a:r>
                        <a:rPr sz="1400" b="1" i="0">
                          <a:solidFill>
                            <a:srgbClr val="FFFFFF"/>
                          </a:solidFill>
                          <a:latin typeface="Arial"/>
                        </a:rPr>
                        <a:t>Partial failure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Required behaviour</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Proxy blocked, direct endpoint open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Bypass denied by network and identity</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Worker continues after stop</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Checkpoint guard and tool denial</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Token revocation delayed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Resource-side denial</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Monitoring unavailable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Manual containment path</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Restart triggers retries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Idempotency and queue handling</a:t>
                      </a:r>
                    </a:p>
                  </a:txBody>
                  <a:tcPr marL="73152" marR="73152" marT="36576" marB="36576" anchor="ctr">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gates and acceptance evidence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graphicFrame>
        <p:nvGraphicFramePr>
          <p:cNvPr id="9" name="Table"/>
          <p:cNvGraphicFramePr>
            <a:graphicFrameLocks noGrp="1"/>
          </p:cNvGraphicFramePr>
          <p:nvPr/>
        </p:nvGraphicFramePr>
        <p:xfrm>
          <a:off x="548640" y="1371600"/>
          <a:ext cx="11091672" cy="2011680"/>
        </p:xfrm>
        <a:graphic>
          <a:graphicData uri="http://schemas.openxmlformats.org/drawingml/2006/table">
            <a:tbl>
              <a:tblPr firstRow="1" bandRow="0">
                <a:tableStyleId>{5C22544A-7EE6-4342-B048-85BDC9FD1C3A}</a:tableStyleId>
              </a:tblPr>
              <a:tblGrid>
                <a:gridCol w="2194560"/>
                <a:gridCol w="5943600"/>
                <a:gridCol w="2953512"/>
              </a:tblGrid>
              <a:tr h="335280">
                <a:tc>
                  <a:txBody>
                    <a:bodyPr wrap="square" anchor="ctr">
                      <a:noAutofit/>
                    </a:bodyPr>
                    <a:lstStyle/>
                    <a:p>
                      <a:pPr algn="l"/>
                      <a:r>
                        <a:rPr sz="1600" b="1" i="0">
                          <a:solidFill>
                            <a:srgbClr val="FFFFFF"/>
                          </a:solidFill>
                          <a:latin typeface="Arial"/>
                        </a:rPr>
                        <a:t>Gate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Pass evidence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Approver</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Coverage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All in-scope agents reconciled; gaps listed by reason</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platform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Usage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Test agents correctly classified in every state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service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Containment</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New, in-flight and tool paths each tested separately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security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Recovery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Controlled restart with two-person approval and evidence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business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Operations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Runbooks, alert routing and review queues accepted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Integrated service owner</a:t>
                      </a:r>
                    </a:p>
                  </a:txBody>
                  <a:tcPr marL="73152" marR="73152" marT="36576" marB="36576" anchor="ct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Dormant-agent review and retirement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Status chip: PROPOSED PROCESS"/>
          <p:cNvSpPr/>
          <p:nvPr/>
        </p:nvSpPr>
        <p:spPr>
          <a:xfrm>
            <a:off x="1996440" y="274320"/>
            <a:ext cx="16560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PROCESS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sp>
        <p:nvSpPr>
          <p:cNvPr id="9" name="Rounded Rectangle 8"/>
          <p:cNvSpPr/>
          <p:nvPr/>
        </p:nvSpPr>
        <p:spPr>
          <a:xfrm>
            <a:off x="548640"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Flag</a:t>
            </a:r>
          </a:p>
          <a:p>
            <a:pPr algn="l"/>
            <a:r>
              <a:rPr sz="1600" b="0" i="0">
                <a:solidFill>
                  <a:srgbClr val="1E1E2E"/>
                </a:solidFill>
                <a:latin typeface="Arial"/>
              </a:rPr>
              <a:t>Dormant candidate or orphaned state</a:t>
            </a:r>
          </a:p>
        </p:txBody>
      </p:sp>
      <p:cxnSp>
        <p:nvCxnSpPr>
          <p:cNvPr id="10" name="Connector (flow)"/>
          <p:cNvCxnSpPr/>
          <p:nvPr/>
        </p:nvCxnSpPr>
        <p:spPr>
          <a:xfrm>
            <a:off x="2606040"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07208"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Notify</a:t>
            </a:r>
          </a:p>
          <a:p>
            <a:pPr algn="l"/>
            <a:r>
              <a:rPr sz="1600" b="0" i="0">
                <a:solidFill>
                  <a:srgbClr val="1E1E2E"/>
                </a:solidFill>
                <a:latin typeface="Arial"/>
              </a:rPr>
              <a:t>Owner asked to confirm need</a:t>
            </a:r>
          </a:p>
        </p:txBody>
      </p:sp>
      <p:cxnSp>
        <p:nvCxnSpPr>
          <p:cNvPr id="12" name="Connector (flow)"/>
          <p:cNvCxnSpPr/>
          <p:nvPr/>
        </p:nvCxnSpPr>
        <p:spPr>
          <a:xfrm>
            <a:off x="4864608"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65776"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Decide</a:t>
            </a:r>
          </a:p>
          <a:p>
            <a:pPr algn="l"/>
            <a:r>
              <a:rPr sz="1600" b="0" i="0">
                <a:solidFill>
                  <a:srgbClr val="1E1E2E"/>
                </a:solidFill>
                <a:latin typeface="Arial"/>
              </a:rPr>
              <a:t>Keep with reason, or retire</a:t>
            </a:r>
          </a:p>
        </p:txBody>
      </p:sp>
      <p:cxnSp>
        <p:nvCxnSpPr>
          <p:cNvPr id="14" name="Connector (flow)"/>
          <p:cNvCxnSpPr/>
          <p:nvPr/>
        </p:nvCxnSpPr>
        <p:spPr>
          <a:xfrm>
            <a:off x="7123176"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24344"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Retire</a:t>
            </a:r>
          </a:p>
          <a:p>
            <a:pPr algn="l"/>
            <a:r>
              <a:rPr sz="1600" b="0" i="0">
                <a:solidFill>
                  <a:srgbClr val="1E1E2E"/>
                </a:solidFill>
                <a:latin typeface="Arial"/>
              </a:rPr>
              <a:t>Remove identity, secrets, endpoints, compute</a:t>
            </a:r>
          </a:p>
        </p:txBody>
      </p:sp>
      <p:cxnSp>
        <p:nvCxnSpPr>
          <p:cNvPr id="16" name="Connector (flow)"/>
          <p:cNvCxnSpPr/>
          <p:nvPr/>
        </p:nvCxnSpPr>
        <p:spPr>
          <a:xfrm>
            <a:off x="9381744"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582912"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Confirm</a:t>
            </a:r>
          </a:p>
          <a:p>
            <a:pPr algn="l"/>
            <a:r>
              <a:rPr sz="1600" b="0" i="0">
                <a:solidFill>
                  <a:srgbClr val="1E1E2E"/>
                </a:solidFill>
                <a:latin typeface="Arial"/>
              </a:rPr>
              <a:t>Resource Graph shows nothing left</a:t>
            </a:r>
          </a:p>
        </p:txBody>
      </p:sp>
      <p:sp>
        <p:nvSpPr>
          <p:cNvPr id="18" name="Rounded Rectangle 17"/>
          <p:cNvSpPr/>
          <p:nvPr/>
        </p:nvSpPr>
        <p:spPr>
          <a:xfrm>
            <a:off x="548640" y="393192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automatic deletion. Seasonal and standby agents keep an exception with a review date.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Build versus buy, capability by capability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A16</a:t>
            </a:r>
          </a:p>
        </p:txBody>
      </p:sp>
      <p:sp>
        <p:nvSpPr>
          <p:cNvPr id="5" name="Status chip: CHECKED 11 OCT 2026"/>
          <p:cNvSpPr/>
          <p:nvPr/>
        </p:nvSpPr>
        <p:spPr>
          <a:xfrm>
            <a:off x="199644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graphicFrame>
        <p:nvGraphicFramePr>
          <p:cNvPr id="9" name="Table"/>
          <p:cNvGraphicFramePr>
            <a:graphicFrameLocks noGrp="1"/>
          </p:cNvGraphicFramePr>
          <p:nvPr/>
        </p:nvGraphicFramePr>
        <p:xfrm>
          <a:off x="548640" y="1325880"/>
          <a:ext cx="11091672" cy="2773680"/>
        </p:xfrm>
        <a:graphic>
          <a:graphicData uri="http://schemas.openxmlformats.org/drawingml/2006/table">
            <a:tbl>
              <a:tblPr firstRow="1" bandRow="0">
                <a:tableStyleId>{5C22544A-7EE6-4342-B048-85BDC9FD1C3A}</a:tableStyleId>
              </a:tblPr>
              <a:tblGrid>
                <a:gridCol w="2377440"/>
                <a:gridCol w="3291840"/>
                <a:gridCol w="2103120"/>
                <a:gridCol w="3319272"/>
              </a:tblGrid>
              <a:tr h="304800">
                <a:tc>
                  <a:txBody>
                    <a:bodyPr wrap="square" anchor="ctr">
                      <a:noAutofit/>
                    </a:bodyPr>
                    <a:lstStyle/>
                    <a:p>
                      <a:pPr algn="l"/>
                      <a:r>
                        <a:rPr sz="1400" b="1" i="0">
                          <a:solidFill>
                            <a:srgbClr val="FFFFFF"/>
                          </a:solidFill>
                          <a:latin typeface="Arial"/>
                        </a:rPr>
                        <a:t>Capability</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Native option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Decision rule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Build if</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Agent registry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Agent 365; Foundry Control Plane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Configure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 licence, or runtime not covered</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Usage evidence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Foundry runs (last month); App Insights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Configure plus join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Need cross-runtime join to deployment records</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Ownership and reviews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Agent 365 sponsor; Entra lifecycle (preview)</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Configure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Review queues across runtimes</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Identity block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Entra Conditional Access for agents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Configure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Never build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Threat detection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Defender AI threat protection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Configure (Security)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Never build</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Cross-layer stop and verify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None claims this end to end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Build after PoC</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Always, if containment is in scope</a:t>
                      </a:r>
                    </a:p>
                  </a:txBody>
                  <a:tcPr marL="73152" marR="73152" marT="36576" marB="36576" anchor="ctr">
                    <a:solidFill>
                      <a:srgbClr val="F5F5F2"/>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Licence prerequisites to check in the assessment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A17</a:t>
            </a:r>
          </a:p>
        </p:txBody>
      </p:sp>
      <p:sp>
        <p:nvSpPr>
          <p:cNvPr id="5" name="Status chip: CHECKED 11 OCT 2026"/>
          <p:cNvSpPr/>
          <p:nvPr/>
        </p:nvSpPr>
        <p:spPr>
          <a:xfrm>
            <a:off x="199644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graphicFrame>
        <p:nvGraphicFramePr>
          <p:cNvPr id="9" name="Table"/>
          <p:cNvGraphicFramePr>
            <a:graphicFrameLocks noGrp="1"/>
          </p:cNvGraphicFramePr>
          <p:nvPr/>
        </p:nvGraphicFramePr>
        <p:xfrm>
          <a:off x="548640" y="1325880"/>
          <a:ext cx="11091672" cy="2057400"/>
        </p:xfrm>
        <a:graphic>
          <a:graphicData uri="http://schemas.openxmlformats.org/drawingml/2006/table">
            <a:tbl>
              <a:tblPr firstRow="1" bandRow="0">
                <a:tableStyleId>{5C22544A-7EE6-4342-B048-85BDC9FD1C3A}</a:tableStyleId>
              </a:tblPr>
              <a:tblGrid>
                <a:gridCol w="2560320"/>
                <a:gridCol w="5486400"/>
                <a:gridCol w="3044952"/>
              </a:tblGrid>
              <a:tr h="320040">
                <a:tc>
                  <a:txBody>
                    <a:bodyPr wrap="square" anchor="ctr">
                      <a:noAutofit/>
                    </a:bodyPr>
                    <a:lstStyle/>
                    <a:p>
                      <a:pPr algn="l"/>
                      <a:r>
                        <a:rPr sz="15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What to check</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Source status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Agent 365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$15 per user per month, or included in Microsoft 365 E7</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Microsoft blog (verified)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Microsoft 365 E7</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Includes Agent 365 and Entra Suite; about $99 per user per month</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Microsoft Learn; price third party</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Entra agent controls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E7, or Agent 365 plus Entra P1 or Microsoft 365 E3</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Microsoft Learn (verified)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Copilot Studio usage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$0.01 per credit, or $200 per 25,000-credit pack a month</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Microsoft licensing guide (verified)</a:t>
                      </a:r>
                    </a:p>
                  </a:txBody>
                  <a:tcPr marL="73152" marR="73152" marT="36576" marB="36576" anchor="ctr">
                    <a:solidFill>
                      <a:srgbClr val="F5F5F2"/>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Copilot Studio agents: who does what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A18</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graphicFrame>
        <p:nvGraphicFramePr>
          <p:cNvPr id="9" name="Table"/>
          <p:cNvGraphicFramePr>
            <a:graphicFrameLocks noGrp="1"/>
          </p:cNvGraphicFramePr>
          <p:nvPr/>
        </p:nvGraphicFramePr>
        <p:xfrm>
          <a:off x="548640" y="1325880"/>
          <a:ext cx="11091672" cy="2042160"/>
        </p:xfrm>
        <a:graphic>
          <a:graphicData uri="http://schemas.openxmlformats.org/drawingml/2006/table">
            <a:tbl>
              <a:tblPr firstRow="1" bandRow="0">
                <a:tableStyleId>{5C22544A-7EE6-4342-B048-85BDC9FD1C3A}</a:tableStyleId>
              </a:tblPr>
              <a:tblGrid>
                <a:gridCol w="3200400"/>
                <a:gridCol w="2011680"/>
                <a:gridCol w="2103120"/>
                <a:gridCol w="1828800"/>
                <a:gridCol w="1947672"/>
              </a:tblGrid>
              <a:tr h="304800">
                <a:tc>
                  <a:txBody>
                    <a:bodyPr wrap="square" anchor="ctr">
                      <a:noAutofit/>
                    </a:bodyPr>
                    <a:lstStyle/>
                    <a:p>
                      <a:pPr algn="l"/>
                      <a:r>
                        <a:rPr sz="1400" b="1" i="0">
                          <a:solidFill>
                            <a:srgbClr val="FFFFFF"/>
                          </a:solidFill>
                          <a:latin typeface="Arial"/>
                        </a:rPr>
                        <a:t>Activity</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Power Platform team</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CIS Infra</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Security</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AI tower</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Environments and data policies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Accountable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Informed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Consulted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Informed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Agent inventory in Agent 365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Consulted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Accountable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Consulted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Informed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Custom connectors to Azure APIs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Responsible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Accountable (via APIM)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Consulted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Consulted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Data security posture (Purview)</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Informed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Informed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Accountable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Informed</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Containment of a Copilot Studio agent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Responsible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Responsible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Accountable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Consulted</a:t>
                      </a:r>
                    </a:p>
                  </a:txBody>
                  <a:tcPr marL="73152" marR="73152" marT="36576" marB="36576" anchor="ct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Fixed price only after an assessment, with change triggers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FP1</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sp>
        <p:nvSpPr>
          <p:cNvPr id="9" name="Rounded Rectangle 8"/>
          <p:cNvSpPr/>
          <p:nvPr/>
        </p:nvSpPr>
        <p:spPr>
          <a:xfrm>
            <a:off x="548640" y="1371600"/>
            <a:ext cx="2670048" cy="1234440"/>
          </a:xfrm>
          <a:prstGeom prst="roundRect">
            <a:avLst>
              <a:gd name="adj" fmla="val 592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300"/>
              </a:spcAft>
            </a:pPr>
            <a:r>
              <a:rPr sz="1700" b="1" i="0">
                <a:solidFill>
                  <a:srgbClr val="FFFFFF"/>
                </a:solidFill>
                <a:latin typeface="Arial"/>
              </a:rPr>
              <a:t>1  Assess first</a:t>
            </a:r>
          </a:p>
          <a:p>
            <a:pPr algn="l"/>
            <a:r>
              <a:rPr sz="1400" b="0" i="0">
                <a:solidFill>
                  <a:srgbClr val="FFFFFF"/>
                </a:solidFill>
                <a:latin typeface="Arial"/>
              </a:rPr>
              <a:t>Short paid assessment before any fixed price</a:t>
            </a:r>
          </a:p>
        </p:txBody>
      </p:sp>
      <p:sp>
        <p:nvSpPr>
          <p:cNvPr id="10" name="Rounded Rectangle 9"/>
          <p:cNvSpPr/>
          <p:nvPr/>
        </p:nvSpPr>
        <p:spPr>
          <a:xfrm>
            <a:off x="3355848" y="1371600"/>
            <a:ext cx="2670048" cy="1234440"/>
          </a:xfrm>
          <a:prstGeom prst="roundRect">
            <a:avLst>
              <a:gd name="adj" fmla="val 592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300"/>
              </a:spcAft>
            </a:pPr>
            <a:r>
              <a:rPr sz="1700" b="1" i="0">
                <a:solidFill>
                  <a:srgbClr val="FFFFFF"/>
                </a:solidFill>
                <a:latin typeface="Arial"/>
              </a:rPr>
              <a:t>2  Name the triggers</a:t>
            </a:r>
          </a:p>
          <a:p>
            <a:pPr algn="l"/>
            <a:r>
              <a:rPr sz="1400" b="0" i="0">
                <a:solidFill>
                  <a:srgbClr val="FFFFFF"/>
                </a:solidFill>
                <a:latin typeface="Arial"/>
              </a:rPr>
              <a:t>Change triggers written into the SOW</a:t>
            </a:r>
          </a:p>
        </p:txBody>
      </p:sp>
      <p:sp>
        <p:nvSpPr>
          <p:cNvPr id="11" name="Rounded Rectangle 10"/>
          <p:cNvSpPr/>
          <p:nvPr/>
        </p:nvSpPr>
        <p:spPr>
          <a:xfrm>
            <a:off x="6163055" y="1371600"/>
            <a:ext cx="2670048" cy="1234440"/>
          </a:xfrm>
          <a:prstGeom prst="roundRect">
            <a:avLst>
              <a:gd name="adj" fmla="val 592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300"/>
              </a:spcAft>
            </a:pPr>
            <a:r>
              <a:rPr sz="1700" b="1" i="0">
                <a:solidFill>
                  <a:srgbClr val="FFFFFF"/>
                </a:solidFill>
                <a:latin typeface="Arial"/>
              </a:rPr>
              <a:t>3  Hold contingency</a:t>
            </a:r>
          </a:p>
          <a:p>
            <a:pPr algn="l"/>
            <a:r>
              <a:rPr sz="1400" b="0" i="0">
                <a:solidFill>
                  <a:srgbClr val="FFFFFF"/>
                </a:solidFill>
                <a:latin typeface="Arial"/>
              </a:rPr>
              <a:t>Amount set by Finance (input required)</a:t>
            </a:r>
          </a:p>
        </p:txBody>
      </p:sp>
      <p:sp>
        <p:nvSpPr>
          <p:cNvPr id="12" name="Rounded Rectangle 11"/>
          <p:cNvSpPr/>
          <p:nvPr/>
        </p:nvSpPr>
        <p:spPr>
          <a:xfrm>
            <a:off x="8970263" y="1371600"/>
            <a:ext cx="2670048" cy="1234440"/>
          </a:xfrm>
          <a:prstGeom prst="roundRect">
            <a:avLst>
              <a:gd name="adj" fmla="val 592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300"/>
              </a:spcAft>
            </a:pPr>
            <a:r>
              <a:rPr sz="1700" b="1" i="0">
                <a:solidFill>
                  <a:srgbClr val="FFFFFF"/>
                </a:solidFill>
                <a:latin typeface="Arial"/>
              </a:rPr>
              <a:t>4  Accept by gates</a:t>
            </a:r>
          </a:p>
          <a:p>
            <a:pPr algn="l"/>
            <a:r>
              <a:rPr sz="1400" b="0" i="0">
                <a:solidFill>
                  <a:srgbClr val="FFFFFF"/>
                </a:solidFill>
                <a:latin typeface="Arial"/>
              </a:rPr>
              <a:t>Evidence-based acceptance at each gate</a:t>
            </a:r>
          </a:p>
        </p:txBody>
      </p:sp>
      <p:graphicFrame>
        <p:nvGraphicFramePr>
          <p:cNvPr id="13" name="Table"/>
          <p:cNvGraphicFramePr>
            <a:graphicFrameLocks noGrp="1"/>
          </p:cNvGraphicFramePr>
          <p:nvPr/>
        </p:nvGraphicFramePr>
        <p:xfrm>
          <a:off x="548640" y="2880360"/>
          <a:ext cx="11091672" cy="1447800"/>
        </p:xfrm>
        <a:graphic>
          <a:graphicData uri="http://schemas.openxmlformats.org/drawingml/2006/table">
            <a:tbl>
              <a:tblPr firstRow="1" bandRow="0">
                <a:tableStyleId>{5C22544A-7EE6-4342-B048-85BDC9FD1C3A}</a:tableStyleId>
              </a:tblPr>
              <a:tblGrid>
                <a:gridCol w="4572000"/>
                <a:gridCol w="6519672"/>
              </a:tblGrid>
              <a:tr h="289560">
                <a:tc>
                  <a:txBody>
                    <a:bodyPr wrap="square" anchor="ctr">
                      <a:noAutofit/>
                    </a:bodyPr>
                    <a:lstStyle/>
                    <a:p>
                      <a:pPr algn="l"/>
                      <a:r>
                        <a:rPr sz="1300" b="1" i="0">
                          <a:solidFill>
                            <a:srgbClr val="FFFFFF"/>
                          </a:solidFill>
                          <a:latin typeface="Arial"/>
                        </a:rPr>
                        <a:t>Change trigger for this offering</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Why it changes effort</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More runtimes or clouds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New adapters and evidence sources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No Agent 365 licence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Custom catalogue carries more of the work</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Poor telemetry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Instrumentation before classification</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Containment scope added before the PoC</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Not allowed: PoC first</a:t>
                      </a:r>
                    </a:p>
                  </a:txBody>
                  <a:tcPr marL="73152" marR="73152" marT="36576" marB="36576" anchor="ctr">
                    <a:solidFill>
                      <a:srgbClr val="F5F5F2"/>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Audit-ready evidence: what internal audit can test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AU1</a:t>
            </a:r>
          </a:p>
        </p:txBody>
      </p:sp>
      <p:sp>
        <p:nvSpPr>
          <p:cNvPr id="5" name="Status chip: PROPOSED DELIVERABLE"/>
          <p:cNvSpPr/>
          <p:nvPr/>
        </p:nvSpPr>
        <p:spPr>
          <a:xfrm>
            <a:off x="1996440" y="274320"/>
            <a:ext cx="2001519"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DELIVERABLE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graphicFrame>
        <p:nvGraphicFramePr>
          <p:cNvPr id="9" name="Table"/>
          <p:cNvGraphicFramePr>
            <a:graphicFrameLocks noGrp="1"/>
          </p:cNvGraphicFramePr>
          <p:nvPr/>
        </p:nvGraphicFramePr>
        <p:xfrm>
          <a:off x="548640" y="1325880"/>
          <a:ext cx="11091672" cy="2133600"/>
        </p:xfrm>
        <a:graphic>
          <a:graphicData uri="http://schemas.openxmlformats.org/drawingml/2006/table">
            <a:tbl>
              <a:tblPr firstRow="1" bandRow="0">
                <a:tableStyleId>{5C22544A-7EE6-4342-B048-85BDC9FD1C3A}</a:tableStyleId>
              </a:tblPr>
              <a:tblGrid>
                <a:gridCol w="3291840"/>
                <a:gridCol w="4023360"/>
                <a:gridCol w="3776472"/>
              </a:tblGrid>
              <a:tr h="289560">
                <a:tc>
                  <a:txBody>
                    <a:bodyPr wrap="square" anchor="ctr">
                      <a:noAutofit/>
                    </a:bodyPr>
                    <a:lstStyle/>
                    <a:p>
                      <a:pPr algn="l"/>
                      <a:r>
                        <a:rPr sz="1300" b="1" i="0">
                          <a:solidFill>
                            <a:srgbClr val="FFFFFF"/>
                          </a:solidFill>
                          <a:latin typeface="Arial"/>
                        </a:rPr>
                        <a:t>Control objective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Test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 source</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Every in-scope agent is registered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Compare registry with deployment records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365 registry, Resource Graph</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Every agent has a business and technical owner</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Sample agents; check owners are current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Catalogue record, Entra</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Dormant agents are reviewed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Check review queue closure within the agreed period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Workbook review queue</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Containment works as designed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Re-run drill evidence for a sampled agent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K4 drill evidence pack</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Agent access is least privilege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Review roles and Conditional Access policies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PIM reports</a:t>
                      </a:r>
                    </a:p>
                  </a:txBody>
                  <a:tcPr marL="73152" marR="73152" marT="36576" marB="36576" anchor="ctr">
                    <a:solidFill>
                      <a:srgbClr val="FFFFFF"/>
                    </a:solidFill>
                  </a:tcPr>
                </a:tc>
              </a:tr>
            </a:tbl>
          </a:graphicData>
        </a:graphic>
      </p:graphicFrame>
      <p:sp>
        <p:nvSpPr>
          <p:cNvPr id="10" name="Rounded Rectangle 9"/>
          <p:cNvSpPr/>
          <p:nvPr/>
        </p:nvSpPr>
        <p:spPr>
          <a:xfrm>
            <a:off x="548640" y="566928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Deliverable: control matrix plus evidence pack, refreshed monthly in managed operations. Not an assurance opinion.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ISO/IEC 42001 readiness: an optional add-on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ISO1</a:t>
            </a:r>
          </a:p>
        </p:txBody>
      </p:sp>
      <p:sp>
        <p:nvSpPr>
          <p:cNvPr id="5" name="Status chip: ESTIMATE, NOT APPROVED"/>
          <p:cNvSpPr/>
          <p:nvPr/>
        </p:nvSpPr>
        <p:spPr>
          <a:xfrm>
            <a:off x="209423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graphicFrame>
        <p:nvGraphicFramePr>
          <p:cNvPr id="9" name="Table"/>
          <p:cNvGraphicFramePr>
            <a:graphicFrameLocks noGrp="1"/>
          </p:cNvGraphicFramePr>
          <p:nvPr/>
        </p:nvGraphicFramePr>
        <p:xfrm>
          <a:off x="548640" y="1325880"/>
          <a:ext cx="11091672" cy="2011680"/>
        </p:xfrm>
        <a:graphic>
          <a:graphicData uri="http://schemas.openxmlformats.org/drawingml/2006/table">
            <a:tbl>
              <a:tblPr firstRow="1" bandRow="0">
                <a:tableStyleId>{5C22544A-7EE6-4342-B048-85BDC9FD1C3A}</a:tableStyleId>
              </a:tblPr>
              <a:tblGrid>
                <a:gridCol w="2926080"/>
                <a:gridCol w="8165592"/>
              </a:tblGrid>
              <a:tr h="335280">
                <a:tc>
                  <a:txBody>
                    <a:bodyPr wrap="square" anchor="ctr">
                      <a:noAutofit/>
                    </a:bodyPr>
                    <a:lstStyle/>
                    <a:p>
                      <a:pPr algn="l"/>
                      <a:r>
                        <a:rPr sz="16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Proposal</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Scope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Gap review of AI platform and agent operations evidence against ISO/IEC 42001</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Effort (estimate)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15 to 30 role days over 3 to 5 weeks ($15k to $30k illustrative)</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Customer dependency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AI management system owner, scope statement, risk assessment method</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Output</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Gap list, evidence map, remediation plan</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Not included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Certification (accredited bodies only); legal advice</a:t>
                      </a:r>
                    </a:p>
                  </a:txBody>
                  <a:tcPr marL="73152" marR="73152" marT="36576" marB="36576" anchor="ctr">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Qualification scorecard and account shortlist template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Q1</a:t>
            </a:r>
          </a:p>
        </p:txBody>
      </p:sp>
      <p:sp>
        <p:nvSpPr>
          <p:cNvPr id="5" name="Status chip: PROPOSED TOOL"/>
          <p:cNvSpPr/>
          <p:nvPr/>
        </p:nvSpPr>
        <p:spPr>
          <a:xfrm>
            <a:off x="189865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TOOL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graphicFrame>
        <p:nvGraphicFramePr>
          <p:cNvPr id="9" name="Table"/>
          <p:cNvGraphicFramePr>
            <a:graphicFrameLocks noGrp="1"/>
          </p:cNvGraphicFramePr>
          <p:nvPr/>
        </p:nvGraphicFramePr>
        <p:xfrm>
          <a:off x="548640" y="1325880"/>
          <a:ext cx="6035039" cy="3688080"/>
        </p:xfrm>
        <a:graphic>
          <a:graphicData uri="http://schemas.openxmlformats.org/drawingml/2006/table">
            <a:tbl>
              <a:tblPr firstRow="1" bandRow="0">
                <a:tableStyleId>{5C22544A-7EE6-4342-B048-85BDC9FD1C3A}</a:tableStyleId>
              </a:tblPr>
              <a:tblGrid>
                <a:gridCol w="2743199"/>
                <a:gridCol w="3291840"/>
              </a:tblGrid>
              <a:tr h="289560">
                <a:tc>
                  <a:txBody>
                    <a:bodyPr wrap="square" anchor="ctr">
                      <a:noAutofit/>
                    </a:bodyPr>
                    <a:lstStyle/>
                    <a:p>
                      <a:pPr algn="l"/>
                      <a:r>
                        <a:rPr sz="1300" b="1" i="0">
                          <a:solidFill>
                            <a:srgbClr val="FFFFFF"/>
                          </a:solidFill>
                          <a:latin typeface="Arial"/>
                        </a:rPr>
                        <a:t>Criterion (score 0, 1 or 2)</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Funded workload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owner, budget route, decision date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Platform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Who can approve tenant and network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Executive sponsor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and engaged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Source owner and rights confirmed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Region and capacity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deployment type and quota checked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Data residency gate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UK or Middle East in-country need checked (deck 01)</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Regulated bank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risk and DORA position known</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Agent estate size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Count and runtimes, even rough</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Licence position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365 or E7 owned or planned</a:t>
                      </a:r>
                    </a:p>
                  </a:txBody>
                  <a:tcPr marL="73152" marR="73152" marT="36576" marB="36576" anchor="ctr">
                    <a:solidFill>
                      <a:srgbClr val="FFFFFF"/>
                    </a:solidFill>
                  </a:tcPr>
                </a:tc>
              </a:tr>
            </a:tbl>
          </a:graphicData>
        </a:graphic>
      </p:graphicFrame>
      <p:sp>
        <p:nvSpPr>
          <p:cNvPr id="10" name="TextBox 9"/>
          <p:cNvSpPr txBox="1"/>
          <p:nvPr/>
        </p:nvSpPr>
        <p:spPr>
          <a:xfrm>
            <a:off x="6812280" y="1325880"/>
            <a:ext cx="4846320" cy="320040"/>
          </a:xfrm>
          <a:prstGeom prst="rect">
            <a:avLst/>
          </a:prstGeom>
          <a:noFill/>
        </p:spPr>
        <p:txBody>
          <a:bodyPr wrap="square" lIns="0" rIns="0" tIns="0" bIns="0" anchor="t">
            <a:noAutofit/>
          </a:bodyPr>
          <a:lstStyle/>
          <a:p>
            <a:pPr algn="l"/>
            <a:r>
              <a:rPr sz="1500" b="1" i="0">
                <a:solidFill>
                  <a:srgbClr val="000048"/>
                </a:solidFill>
                <a:latin typeface="Arial"/>
              </a:rPr>
              <a:t>Account shortlist (template, empty)</a:t>
            </a:r>
          </a:p>
        </p:txBody>
      </p:sp>
      <p:graphicFrame>
        <p:nvGraphicFramePr>
          <p:cNvPr id="11" name="Table"/>
          <p:cNvGraphicFramePr>
            <a:graphicFrameLocks noGrp="1"/>
          </p:cNvGraphicFramePr>
          <p:nvPr/>
        </p:nvGraphicFramePr>
        <p:xfrm>
          <a:off x="6812280" y="1691640"/>
          <a:ext cx="4828032" cy="2011680"/>
        </p:xfrm>
        <a:graphic>
          <a:graphicData uri="http://schemas.openxmlformats.org/drawingml/2006/table">
            <a:tbl>
              <a:tblPr firstRow="1" bandRow="0">
                <a:tableStyleId>{5C22544A-7EE6-4342-B048-85BDC9FD1C3A}</a:tableStyleId>
              </a:tblPr>
              <a:tblGrid>
                <a:gridCol w="914400"/>
                <a:gridCol w="777240"/>
                <a:gridCol w="868680"/>
                <a:gridCol w="777240"/>
                <a:gridCol w="594360"/>
                <a:gridCol w="896112"/>
              </a:tblGrid>
              <a:tr h="365760">
                <a:tc>
                  <a:txBody>
                    <a:bodyPr wrap="square" anchor="ctr">
                      <a:noAutofit/>
                    </a:bodyPr>
                    <a:lstStyle/>
                    <a:p>
                      <a:pPr algn="l"/>
                      <a:r>
                        <a:rPr sz="1200" b="1" i="0">
                          <a:solidFill>
                            <a:srgbClr val="FFFFFF"/>
                          </a:solidFill>
                          <a:latin typeface="Arial"/>
                        </a:rPr>
                        <a:t>Account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Sponsor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Workload</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Blocker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Score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Next action</a:t>
                      </a:r>
                    </a:p>
                  </a:txBody>
                  <a:tcPr marL="73152" marR="73152" marT="36576" marB="36576" anchor="ctr">
                    <a:solidFill>
                      <a:srgbClr val="000048"/>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r>
            </a:tbl>
          </a:graphicData>
        </a:graphic>
      </p:graphicFrame>
      <p:sp>
        <p:nvSpPr>
          <p:cNvPr id="12" name="Rounded Rectangle 11"/>
          <p:cNvSpPr/>
          <p:nvPr/>
        </p:nvSpPr>
        <p:spPr>
          <a:xfrm>
            <a:off x="548640" y="566928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Quote implementation at 14+ with no zero on funding, authority, sponsor or residency. Otherwise sell the assessment.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effort and duration ranges were built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E1</a:t>
            </a:r>
          </a:p>
        </p:txBody>
      </p:sp>
      <p:sp>
        <p:nvSpPr>
          <p:cNvPr id="5" name="Status chip: ESTIMATE, NOT APPROVED"/>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40</a:t>
            </a:r>
          </a:p>
        </p:txBody>
      </p:sp>
      <p:graphicFrame>
        <p:nvGraphicFramePr>
          <p:cNvPr id="9" name="Table"/>
          <p:cNvGraphicFramePr>
            <a:graphicFrameLocks noGrp="1"/>
          </p:cNvGraphicFramePr>
          <p:nvPr/>
        </p:nvGraphicFramePr>
        <p:xfrm>
          <a:off x="548640" y="1325880"/>
          <a:ext cx="11091672" cy="1737360"/>
        </p:xfrm>
        <a:graphic>
          <a:graphicData uri="http://schemas.openxmlformats.org/drawingml/2006/table">
            <a:tbl>
              <a:tblPr firstRow="1" bandRow="0">
                <a:tableStyleId>{5C22544A-7EE6-4342-B048-85BDC9FD1C3A}</a:tableStyleId>
              </a:tblPr>
              <a:tblGrid>
                <a:gridCol w="2560320"/>
                <a:gridCol w="4261104"/>
                <a:gridCol w="4270248"/>
              </a:tblGrid>
              <a:tr h="289560">
                <a:tc>
                  <a:txBody>
                    <a:bodyPr wrap="square" anchor="ctr">
                      <a:noAutofit/>
                    </a:bodyPr>
                    <a:lstStyle/>
                    <a:p>
                      <a:pPr algn="l"/>
                      <a:r>
                        <a:rPr sz="13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Low case assumes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High case assumes</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Coverage assessment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Two runtimes, licence in place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Four or more runtimes, no licence, poor telemetry</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Configure control plane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365 already licensed; one tenant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Several tenants; Entra controls new to customer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Custom gap layer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Two runtimes to join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Multi-cloud and many tools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Stop-path pilot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Reuses our PoC on two runtimes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Three runtimes, regulated test environment</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Containment build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PoC design carries over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PoC shows gaps needing redesign</a:t>
                      </a:r>
                    </a:p>
                  </a:txBody>
                  <a:tcPr marL="73152" marR="73152" marT="36576" marB="36576" anchor="ctr">
                    <a:solidFill>
                      <a:srgbClr val="FFFFFF"/>
                    </a:solidFill>
                  </a:tcPr>
                </a:tc>
              </a:tr>
            </a:tbl>
          </a:graphicData>
        </a:graphic>
      </p:graphicFrame>
      <p:sp>
        <p:nvSpPr>
          <p:cNvPr id="10" name="Rounded Rectangle 9"/>
          <p:cNvSpPr/>
          <p:nvPr/>
        </p:nvSpPr>
        <p:spPr>
          <a:xfrm>
            <a:off x="548640" y="3291839"/>
            <a:ext cx="11091672" cy="1097280"/>
          </a:xfrm>
          <a:prstGeom prst="roundRect">
            <a:avLst>
              <a:gd name="adj" fmla="val 6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300"/>
              </a:spcAft>
            </a:pPr>
            <a:r>
              <a:rPr sz="1400" b="1" i="0">
                <a:solidFill>
                  <a:srgbClr val="000048"/>
                </a:solidFill>
                <a:latin typeface="Arial"/>
              </a:rPr>
              <a:t>Basis and recalibration plan</a:t>
            </a:r>
          </a:p>
          <a:p>
            <a:pPr algn="l"/>
            <a:r>
              <a:rPr sz="1400" b="0" i="0">
                <a:solidFill>
                  <a:srgbClr val="1E1E2E"/>
                </a:solidFill>
                <a:latin typeface="Arial"/>
              </a:rPr>
              <a:t>Basis: bottom-up author estimate. Assessment = workshops, registry and telemetry review, coverage report. Configure = set-up per runtime plus tests. Pilot reuses PoC assets. Recalibrate after every pilot: record actual role days per package, compare with the band, and reset bands each quarter. Owner: integrated service owner with Finance.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threat model: what can go wrong, and who controls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SEC1</a:t>
            </a:r>
          </a:p>
        </p:txBody>
      </p:sp>
      <p:sp>
        <p:nvSpPr>
          <p:cNvPr id="5" name="Status chip: PROPOSED"/>
          <p:cNvSpPr/>
          <p:nvPr/>
        </p:nvSpPr>
        <p:spPr>
          <a:xfrm>
            <a:off x="209423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41</a:t>
            </a:r>
          </a:p>
        </p:txBody>
      </p:sp>
      <p:graphicFrame>
        <p:nvGraphicFramePr>
          <p:cNvPr id="9" name="Table"/>
          <p:cNvGraphicFramePr>
            <a:graphicFrameLocks noGrp="1"/>
          </p:cNvGraphicFramePr>
          <p:nvPr/>
        </p:nvGraphicFramePr>
        <p:xfrm>
          <a:off x="548640" y="1325880"/>
          <a:ext cx="11091672" cy="3794760"/>
        </p:xfrm>
        <a:graphic>
          <a:graphicData uri="http://schemas.openxmlformats.org/drawingml/2006/table">
            <a:tbl>
              <a:tblPr firstRow="1" bandRow="0">
                <a:tableStyleId>{5C22544A-7EE6-4342-B048-85BDC9FD1C3A}</a:tableStyleId>
              </a:tblPr>
              <a:tblGrid>
                <a:gridCol w="2377440"/>
                <a:gridCol w="3108960"/>
                <a:gridCol w="3566160"/>
                <a:gridCol w="2039112"/>
              </a:tblGrid>
              <a:tr h="289560">
                <a:tc>
                  <a:txBody>
                    <a:bodyPr wrap="square" anchor="ctr">
                      <a:noAutofit/>
                    </a:bodyPr>
                    <a:lstStyle/>
                    <a:p>
                      <a:pPr algn="l"/>
                      <a:r>
                        <a:rPr sz="1300" b="1" i="0">
                          <a:solidFill>
                            <a:srgbClr val="FFFFFF"/>
                          </a:solidFill>
                          <a:latin typeface="Arial"/>
                        </a:rPr>
                        <a:t>Threat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Agent sprawl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Unknown agents with live access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365 registry, coverage report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Excessive agency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acts beyond its purpose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Tool allow-lists, approvals, runtime limits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AI with Security</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Identity misuse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credentials reused or stolen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agent identity, Conditional Access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 designs, CIS Infra implements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Prompt injection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Instructions hidden in documents or tools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Prompt Shields, tool-side checks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AI with Security</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Orphaned agents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 owner after staff leave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Owner reviews, retirement process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Customer service owner</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Containment bypass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Direct calls avoid the gateway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Private endpoints, no shared keys, layer 4 identity block</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MCP tool trust boundary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registers or calls an unapproved MCP server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API Center allow-list (03), Agent 365 policies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 with CIS Infra</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Supply chain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Third-party agent with hidden capabilities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Registry review before approval; least-privilege identity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5F5F2"/>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Regulation: who holds which duty, and where we help</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SEC2</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NOT LEGAL ADVICE"/>
          <p:cNvSpPr/>
          <p:nvPr/>
        </p:nvSpPr>
        <p:spPr>
          <a:xfrm>
            <a:off x="4100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LEGAL ADVICE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42</a:t>
            </a:r>
          </a:p>
        </p:txBody>
      </p:sp>
      <p:graphicFrame>
        <p:nvGraphicFramePr>
          <p:cNvPr id="10" name="Table"/>
          <p:cNvGraphicFramePr>
            <a:graphicFrameLocks noGrp="1"/>
          </p:cNvGraphicFramePr>
          <p:nvPr/>
        </p:nvGraphicFramePr>
        <p:xfrm>
          <a:off x="548640" y="1325880"/>
          <a:ext cx="11091672" cy="1280160"/>
        </p:xfrm>
        <a:graphic>
          <a:graphicData uri="http://schemas.openxmlformats.org/drawingml/2006/table">
            <a:tbl>
              <a:tblPr firstRow="1" bandRow="0">
                <a:tableStyleId>{5C22544A-7EE6-4342-B048-85BDC9FD1C3A}</a:tableStyleId>
              </a:tblPr>
              <a:tblGrid>
                <a:gridCol w="2377440"/>
                <a:gridCol w="3840480"/>
                <a:gridCol w="4873752"/>
              </a:tblGrid>
              <a:tr h="274320">
                <a:tc>
                  <a:txBody>
                    <a:bodyPr wrap="square" anchor="ctr">
                      <a:noAutofit/>
                    </a:bodyPr>
                    <a:lstStyle/>
                    <a:p>
                      <a:pPr algn="l"/>
                      <a:r>
                        <a:rPr sz="1200" b="1" i="0">
                          <a:solidFill>
                            <a:srgbClr val="FFFFFF"/>
                          </a:solidFill>
                          <a:latin typeface="Arial"/>
                        </a:rPr>
                        <a:t>Party</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Likely EU AI Act role (indicative)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What this offering supports</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Customer deploying AI systems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Deployer (usually)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Inventory, ownership, human oversight and logging evidence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Customer building its own AI system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Provider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Registration and post-market monitoring inputs</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Cognizant CIS Infra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Usually neither: infrastructure service provider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Role stated in the contract; Legal confirms</a:t>
                      </a:r>
                    </a:p>
                  </a:txBody>
                  <a:tcPr marL="73152" marR="73152" marT="36576" marB="36576" anchor="ctr">
                    <a:solidFill>
                      <a:srgbClr val="FFFFFF"/>
                    </a:solidFill>
                  </a:tcPr>
                </a:tc>
              </a:tr>
            </a:tbl>
          </a:graphicData>
        </a:graphic>
      </p:graphicFrame>
      <p:graphicFrame>
        <p:nvGraphicFramePr>
          <p:cNvPr id="11" name="Table"/>
          <p:cNvGraphicFramePr>
            <a:graphicFrameLocks noGrp="1"/>
          </p:cNvGraphicFramePr>
          <p:nvPr/>
        </p:nvGraphicFramePr>
        <p:xfrm>
          <a:off x="548640" y="2788920"/>
          <a:ext cx="11091672" cy="2560320"/>
        </p:xfrm>
        <a:graphic>
          <a:graphicData uri="http://schemas.openxmlformats.org/drawingml/2006/table">
            <a:tbl>
              <a:tblPr firstRow="1" bandRow="0">
                <a:tableStyleId>{5C22544A-7EE6-4342-B048-85BDC9FD1C3A}</a:tableStyleId>
              </a:tblPr>
              <a:tblGrid>
                <a:gridCol w="1828800"/>
                <a:gridCol w="5486400"/>
                <a:gridCol w="3776472"/>
              </a:tblGrid>
              <a:tr h="274320">
                <a:tc>
                  <a:txBody>
                    <a:bodyPr wrap="square" anchor="ctr">
                      <a:noAutofit/>
                    </a:bodyPr>
                    <a:lstStyle/>
                    <a:p>
                      <a:pPr algn="l"/>
                      <a:r>
                        <a:rPr sz="1200" b="1" i="0">
                          <a:solidFill>
                            <a:srgbClr val="FFFFFF"/>
                          </a:solidFill>
                          <a:latin typeface="Arial"/>
                        </a:rPr>
                        <a:t>Area</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Checkpoint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(checked 11 Oct 2026)</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EU AI Act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Annex III high-risk duties from 2 Dec 2027; Annex I from 2 Aug 2028</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Third-party summary (Orrick); EUR-Lex not verified</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EU DORA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ICT risk and ICT third-party contract terms for financial entities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Applies from 17 Jan 2025 (EUR-Lex)</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EU NIS2</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Cyber risk management for essential and important entities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National laws; deadline 17 Oct 2024</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UK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Regulator-led AI principles; UK GDPR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Not re-verified: confirm current position</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UAE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Federal Decree-Law 45 of 2021 (personal data)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Executive regulations: verify status</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Saudi Arabia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PDPL (enforceable Sep 2024); NCA cloud controls CCC-1:2020</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Third-party summary; verify transfer rules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US banks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Interagency model risk guidance (17 Apr 2026) replaced SR 11-7</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Generative and agentic AI out of scope; governance still expected</a:t>
                      </a:r>
                    </a:p>
                  </a:txBody>
                  <a:tcPr marL="73152" marR="73152" marT="36576" marB="36576" anchor="ctr">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Glossary of terms used in this deck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G1</a:t>
            </a:r>
          </a:p>
        </p:txBody>
      </p:sp>
      <p:sp>
        <p:nvSpPr>
          <p:cNvPr id="5" name="Status chip: REFERENCE"/>
          <p:cNvSpPr/>
          <p:nvPr/>
        </p:nvSpPr>
        <p:spPr>
          <a:xfrm>
            <a:off x="1898650" y="274320"/>
            <a:ext cx="10515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43</a:t>
            </a:r>
          </a:p>
        </p:txBody>
      </p:sp>
      <p:graphicFrame>
        <p:nvGraphicFramePr>
          <p:cNvPr id="9" name="Table"/>
          <p:cNvGraphicFramePr>
            <a:graphicFrameLocks noGrp="1"/>
          </p:cNvGraphicFramePr>
          <p:nvPr/>
        </p:nvGraphicFramePr>
        <p:xfrm>
          <a:off x="548640" y="1325880"/>
          <a:ext cx="3593592" cy="4480560"/>
        </p:xfrm>
        <a:graphic>
          <a:graphicData uri="http://schemas.openxmlformats.org/drawingml/2006/table">
            <a:tbl>
              <a:tblPr firstRow="1" bandRow="0">
                <a:tableStyleId>{5C22544A-7EE6-4342-B048-85BDC9FD1C3A}</a:tableStyleId>
              </a:tblPr>
              <a:tblGrid>
                <a:gridCol w="960120"/>
                <a:gridCol w="2633472"/>
              </a:tblGrid>
              <a:tr h="274320">
                <a:tc>
                  <a:txBody>
                    <a:bodyPr wrap="square" anchor="ctr">
                      <a:noAutofit/>
                    </a:bodyPr>
                    <a:lstStyle/>
                    <a:p>
                      <a:pPr algn="l"/>
                      <a:r>
                        <a:rPr sz="12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Meaning</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A2A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Agent-to-agent protocol for agents calling other agents</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Agent 365</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Microsoft control plane to register, observe and govern agents (per-user licence)</a:t>
                      </a:r>
                    </a:p>
                  </a:txBody>
                  <a:tcPr marL="73152" marR="73152" marT="36576" marB="36576" anchor="ctr">
                    <a:solidFill>
                      <a:srgbClr val="F5F5F2"/>
                    </a:solidFill>
                  </a:tcPr>
                </a:tc>
              </a:tr>
              <a:tr h="640080">
                <a:tc>
                  <a:txBody>
                    <a:bodyPr wrap="square" anchor="ctr">
                      <a:noAutofit/>
                    </a:bodyPr>
                    <a:lstStyle/>
                    <a:p>
                      <a:pPr algn="l"/>
                      <a:r>
                        <a:rPr sz="1200" b="1" i="0">
                          <a:solidFill>
                            <a:srgbClr val="1E1E2E"/>
                          </a:solidFill>
                          <a:latin typeface="Arial"/>
                        </a:rPr>
                        <a:t>API Center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Azure registry for APIs and MCP servers; decides which tools exist</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APIM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Azure API Management; the gateway that controls traffic</a:t>
                      </a:r>
                    </a:p>
                  </a:txBody>
                  <a:tcPr marL="73152" marR="73152" marT="36576" marB="36576" anchor="ctr">
                    <a:solidFill>
                      <a:srgbClr val="F5F5F2"/>
                    </a:solidFill>
                  </a:tcPr>
                </a:tc>
              </a:tr>
              <a:tr h="640080">
                <a:tc>
                  <a:txBody>
                    <a:bodyPr wrap="square" anchor="ctr">
                      <a:noAutofit/>
                    </a:bodyPr>
                    <a:lstStyle/>
                    <a:p>
                      <a:pPr algn="l"/>
                      <a:r>
                        <a:rPr sz="1200" b="1" i="0">
                          <a:solidFill>
                            <a:srgbClr val="1E1E2E"/>
                          </a:solidFill>
                          <a:latin typeface="Arial"/>
                        </a:rPr>
                        <a:t>Copilot Studio</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Microsoft low-code tool to build agents; consumption in Copilot credits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Model processing inside a Microsoft data zone (US, EU or APAC)</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DORA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EU Digital Operational Resilience Act for financial entities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FOCUS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FinOps Open Cost and Usage Specification for cost data exports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4297679" y="1325880"/>
          <a:ext cx="3593592" cy="3749040"/>
        </p:xfrm>
        <a:graphic>
          <a:graphicData uri="http://schemas.openxmlformats.org/drawingml/2006/table">
            <a:tbl>
              <a:tblPr firstRow="1" bandRow="0">
                <a:tableStyleId>{5C22544A-7EE6-4342-B048-85BDC9FD1C3A}</a:tableStyleId>
              </a:tblPr>
              <a:tblGrid>
                <a:gridCol w="960120"/>
                <a:gridCol w="2633472"/>
              </a:tblGrid>
              <a:tr h="274320">
                <a:tc>
                  <a:txBody>
                    <a:bodyPr wrap="square" anchor="ctr">
                      <a:noAutofit/>
                    </a:bodyPr>
                    <a:lstStyle/>
                    <a:p>
                      <a:pPr algn="l"/>
                      <a:r>
                        <a:rPr sz="12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Meaning</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Foundry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Microsoft Foundry: Azure platform for models and agents</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FTE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Full-time equivalent person</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MCP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Model Context Protocol: standard way for agents to call tools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MRM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Model risk management (banking supervision)</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NIS2</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EU directive on cybersecurity for essential sectors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PAYG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Pay as you go: pay per token used</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PDPL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Personal Data Protection Law (Saudi Arabia, UAE)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PIM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Entra Privileged Identity Management: just-in-time admin access</a:t>
                      </a:r>
                    </a:p>
                  </a:txBody>
                  <a:tcPr marL="73152" marR="73152" marT="36576" marB="36576" anchor="ctr">
                    <a:solidFill>
                      <a:srgbClr val="F5F5F2"/>
                    </a:solidFill>
                  </a:tcPr>
                </a:tc>
              </a:tr>
            </a:tbl>
          </a:graphicData>
        </a:graphic>
      </p:graphicFrame>
      <p:graphicFrame>
        <p:nvGraphicFramePr>
          <p:cNvPr id="11" name="Table"/>
          <p:cNvGraphicFramePr>
            <a:graphicFrameLocks noGrp="1"/>
          </p:cNvGraphicFramePr>
          <p:nvPr/>
        </p:nvGraphicFramePr>
        <p:xfrm>
          <a:off x="8046719" y="1325880"/>
          <a:ext cx="3593592" cy="3108960"/>
        </p:xfrm>
        <a:graphic>
          <a:graphicData uri="http://schemas.openxmlformats.org/drawingml/2006/table">
            <a:tbl>
              <a:tblPr firstRow="1" bandRow="0">
                <a:tableStyleId>{5C22544A-7EE6-4342-B048-85BDC9FD1C3A}</a:tableStyleId>
              </a:tblPr>
              <a:tblGrid>
                <a:gridCol w="960120"/>
                <a:gridCol w="2633472"/>
              </a:tblGrid>
              <a:tr h="274320">
                <a:tc>
                  <a:txBody>
                    <a:bodyPr wrap="square" anchor="ctr">
                      <a:noAutofit/>
                    </a:bodyPr>
                    <a:lstStyle/>
                    <a:p>
                      <a:pPr algn="l"/>
                      <a:r>
                        <a:rPr sz="12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Meaning</a:t>
                      </a:r>
                    </a:p>
                  </a:txBody>
                  <a:tcPr marL="73152" marR="73152" marT="36576" marB="36576" anchor="ctr">
                    <a:solidFill>
                      <a:srgbClr val="000048"/>
                    </a:solidFill>
                  </a:tcPr>
                </a:tc>
              </a:tr>
              <a:tr h="640080">
                <a:tc>
                  <a:txBody>
                    <a:bodyPr wrap="square" anchor="ctr">
                      <a:noAutofit/>
                    </a:bodyPr>
                    <a:lstStyle/>
                    <a:p>
                      <a:pPr algn="l"/>
                      <a:r>
                        <a:rPr sz="1200" b="1" i="0">
                          <a:solidFill>
                            <a:srgbClr val="1E1E2E"/>
                          </a:solidFill>
                          <a:latin typeface="Arial"/>
                        </a:rPr>
                        <a:t>PTU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Provisioned throughput unit: reserved model capacity, billed per hour</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RACI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Responsible, Accountable, Consulted, Informed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RFP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Request for proposal</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RTO / RPO</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Recovery time objective / recovery point objective</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SOW</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Statement of work</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Token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Unit of text a model reads or writes; the main pricing unit</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TPM</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per minute</a:t>
                      </a:r>
                    </a:p>
                  </a:txBody>
                  <a:tcPr marL="73152" marR="73152" marT="36576" marB="36576" anchor="ctr">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Who delivers it, and what sellers need before day one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DP1</a:t>
            </a:r>
          </a:p>
        </p:txBody>
      </p:sp>
      <p:sp>
        <p:nvSpPr>
          <p:cNvPr id="5" name="Status chip: INPUT REQUIRED"/>
          <p:cNvSpPr/>
          <p:nvPr/>
        </p:nvSpPr>
        <p:spPr>
          <a:xfrm>
            <a:off x="1996440" y="274320"/>
            <a:ext cx="14833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INPUT REQUIRED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44</a:t>
            </a:r>
          </a:p>
        </p:txBody>
      </p:sp>
      <p:graphicFrame>
        <p:nvGraphicFramePr>
          <p:cNvPr id="9" name="Table"/>
          <p:cNvGraphicFramePr>
            <a:graphicFrameLocks noGrp="1"/>
          </p:cNvGraphicFramePr>
          <p:nvPr/>
        </p:nvGraphicFramePr>
        <p:xfrm>
          <a:off x="548640" y="1325880"/>
          <a:ext cx="11091672" cy="2286000"/>
        </p:xfrm>
        <a:graphic>
          <a:graphicData uri="http://schemas.openxmlformats.org/drawingml/2006/table">
            <a:tbl>
              <a:tblPr firstRow="1" bandRow="0">
                <a:tableStyleId>{5C22544A-7EE6-4342-B048-85BDC9FD1C3A}</a:tableStyleId>
              </a:tblPr>
              <a:tblGrid>
                <a:gridCol w="2011680"/>
                <a:gridCol w="3657600"/>
                <a:gridCol w="2468880"/>
                <a:gridCol w="1188720"/>
                <a:gridCol w="1764792"/>
              </a:tblGrid>
              <a:tr h="457200">
                <a:tc>
                  <a:txBody>
                    <a:bodyPr wrap="square" anchor="ctr">
                      <a:noAutofit/>
                    </a:bodyPr>
                    <a:lstStyle/>
                    <a:p>
                      <a:pPr algn="l"/>
                      <a:r>
                        <a:rPr sz="1200" b="1" i="0">
                          <a:solidFill>
                            <a:srgbClr val="FFFFFF"/>
                          </a:solidFill>
                          <a:latin typeface="Arial"/>
                        </a:rPr>
                        <a:t>Role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Skills needed</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Certification (verify current)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Ramp-up (estimate)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Bench now</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AI platform engineer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Foundry, Agent 365, Entra Agent ID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Azure AI Engineer Associate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3 weeks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Security engineer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Conditional Access, Defender, Purview</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Identity and Access Administrator Associate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2 weeks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Integration developer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Functions, durable orchestration, APIM policies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Azure Developer Associate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2 weeks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Service designer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Runbooks, drills, review queues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None required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1 week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548640" y="3794760"/>
          <a:ext cx="11091672" cy="1920240"/>
        </p:xfrm>
        <a:graphic>
          <a:graphicData uri="http://schemas.openxmlformats.org/drawingml/2006/table">
            <a:tbl>
              <a:tblPr firstRow="1" bandRow="0">
                <a:tableStyleId>{5C22544A-7EE6-4342-B048-85BDC9FD1C3A}</a:tableStyleId>
              </a:tblPr>
              <a:tblGrid>
                <a:gridCol w="5120640"/>
                <a:gridCol w="2377440"/>
                <a:gridCol w="3593592"/>
              </a:tblGrid>
              <a:tr h="274320">
                <a:tc>
                  <a:txBody>
                    <a:bodyPr wrap="square" anchor="ctr">
                      <a:noAutofit/>
                    </a:bodyPr>
                    <a:lstStyle/>
                    <a:p>
                      <a:pPr algn="l"/>
                      <a:r>
                        <a:rPr sz="1200" b="1" i="0">
                          <a:solidFill>
                            <a:srgbClr val="FFFFFF"/>
                          </a:solidFill>
                          <a:latin typeface="Arial"/>
                        </a:rPr>
                        <a:t>Presales kit 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Executive deck, talk tracks, customer pitch</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Exists (v4.0 draft)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Offering owner</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Demo environment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 build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CIS Infra lab owner (input required)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SOW template and estimator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 build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Presales lead with Finance</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RFP answer bank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Draft exists (register)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Presales lead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Case study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first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Account team</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Kill-switch PoC evidence pack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After the PoC</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Offering owner 02</a:t>
                      </a:r>
                    </a:p>
                  </a:txBody>
                  <a:tcPr marL="73152" marR="73152" marT="36576" marB="36576" anchor="ctr">
                    <a:solidFill>
                      <a:srgbClr val="F5F5F2"/>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account teams use it, and the contract risks to manage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AC1</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45</a:t>
            </a:r>
          </a:p>
        </p:txBody>
      </p:sp>
      <p:sp>
        <p:nvSpPr>
          <p:cNvPr id="9" name="Rounded Rectangle 8"/>
          <p:cNvSpPr/>
          <p:nvPr/>
        </p:nvSpPr>
        <p:spPr>
          <a:xfrm>
            <a:off x="548640"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Fits in the account plan</a:t>
            </a:r>
          </a:p>
          <a:p>
            <a:pPr algn="l"/>
            <a:r>
              <a:rPr sz="1400" b="0" i="0">
                <a:solidFill>
                  <a:srgbClr val="1E1E2E"/>
                </a:solidFill>
                <a:latin typeface="Arial"/>
              </a:rPr>
              <a:t>Security, risk or audit programme with growing agent counts.</a:t>
            </a:r>
          </a:p>
        </p:txBody>
      </p:sp>
      <p:sp>
        <p:nvSpPr>
          <p:cNvPr id="10" name="Rounded Rectangle 9"/>
          <p:cNvSpPr/>
          <p:nvPr/>
        </p:nvSpPr>
        <p:spPr>
          <a:xfrm>
            <a:off x="3355848"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First deal (illustrative)</a:t>
            </a:r>
          </a:p>
          <a:p>
            <a:pPr algn="l"/>
            <a:r>
              <a:rPr sz="1400" b="0" i="0">
                <a:solidFill>
                  <a:srgbClr val="1E1E2E"/>
                </a:solidFill>
                <a:latin typeface="Arial"/>
              </a:rPr>
              <a:t>Assess $15k to $25k; stop-path pilot $15k to $30k after our PoC.</a:t>
            </a:r>
          </a:p>
        </p:txBody>
      </p:sp>
      <p:sp>
        <p:nvSpPr>
          <p:cNvPr id="11" name="Rounded Rectangle 10"/>
          <p:cNvSpPr/>
          <p:nvPr/>
        </p:nvSpPr>
        <p:spPr>
          <a:xfrm>
            <a:off x="6163055"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Expansion path</a:t>
            </a:r>
          </a:p>
          <a:p>
            <a:pPr algn="l"/>
            <a:r>
              <a:rPr sz="1400" b="0" i="0">
                <a:solidFill>
                  <a:srgbClr val="1E1E2E"/>
                </a:solidFill>
                <a:latin typeface="Arial"/>
              </a:rPr>
              <a:t>Containment build after the PoC, then managed operations (05).</a:t>
            </a:r>
          </a:p>
        </p:txBody>
      </p:sp>
      <p:sp>
        <p:nvSpPr>
          <p:cNvPr id="12" name="Rounded Rectangle 11"/>
          <p:cNvSpPr/>
          <p:nvPr/>
        </p:nvSpPr>
        <p:spPr>
          <a:xfrm>
            <a:off x="8970263"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Business-led entry</a:t>
            </a:r>
          </a:p>
          <a:p>
            <a:pPr algn="l"/>
            <a:r>
              <a:rPr sz="1400" b="0" i="0">
                <a:solidFill>
                  <a:srgbClr val="1E1E2E"/>
                </a:solidFill>
                <a:latin typeface="Arial"/>
              </a:rPr>
              <a:t>Chief risk officer: every agent has an owner, and the stop path is proven before it is relied on.</a:t>
            </a:r>
          </a:p>
        </p:txBody>
      </p:sp>
      <p:graphicFrame>
        <p:nvGraphicFramePr>
          <p:cNvPr id="13" name="Table"/>
          <p:cNvGraphicFramePr>
            <a:graphicFrameLocks noGrp="1"/>
          </p:cNvGraphicFramePr>
          <p:nvPr/>
        </p:nvGraphicFramePr>
        <p:xfrm>
          <a:off x="548640" y="3383280"/>
          <a:ext cx="11091672" cy="1828800"/>
        </p:xfrm>
        <a:graphic>
          <a:graphicData uri="http://schemas.openxmlformats.org/drawingml/2006/table">
            <a:tbl>
              <a:tblPr firstRow="1" bandRow="0">
                <a:tableStyleId>{5C22544A-7EE6-4342-B048-85BDC9FD1C3A}</a:tableStyleId>
              </a:tblPr>
              <a:tblGrid>
                <a:gridCol w="2377440"/>
                <a:gridCol w="6400800"/>
                <a:gridCol w="2313432"/>
              </a:tblGrid>
              <a:tr h="274320">
                <a:tc>
                  <a:txBody>
                    <a:bodyPr wrap="square" anchor="ctr">
                      <a:noAutofit/>
                    </a:bodyPr>
                    <a:lstStyle/>
                    <a:p>
                      <a:pPr algn="l"/>
                      <a:r>
                        <a:rPr sz="1200" b="1" i="0">
                          <a:solidFill>
                            <a:srgbClr val="FFFFFF"/>
                          </a:solidFill>
                          <a:latin typeface="Arial"/>
                        </a:rPr>
                        <a:t>Contract topic</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position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Liability cap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Cognizant standard terms; no uncapped liability for agent behaviour or customer data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Legal</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Service-level penalties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on response targets inside coverage hours; none on Azure availability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Legal with delivery</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IP of accelerators and code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Cognizant keeps reusable accelerators; customer owns its configuration and code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Legal</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Change control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New scope, regions or runtimes priced by change request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Delivery with Finance</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Containment liability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Reasonable efforts on a tested runbook; no instant-stop guarantee (K6)</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Legal</a:t>
                      </a:r>
                    </a:p>
                  </a:txBody>
                  <a:tcPr marL="73152" marR="73152" marT="36576" marB="36576" anchor="ctr">
                    <a:solidFill>
                      <a:srgbClr val="FFFFFF"/>
                    </a:solidFill>
                  </a:tcPr>
                </a:tc>
              </a:tr>
            </a:tbl>
          </a:graphicData>
        </a:graphic>
      </p:graphicFrame>
      <p:sp>
        <p:nvSpPr>
          <p:cNvPr id="14" name="Rounded Rectangle 13"/>
          <p:cNvSpPr/>
          <p:nvPr/>
        </p:nvSpPr>
        <p:spPr>
          <a:xfrm>
            <a:off x="548640" y="534924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300" b="1" i="0">
                <a:solidFill>
                  <a:srgbClr val="000048"/>
                </a:solidFill>
                <a:latin typeface="Arial"/>
              </a:rPr>
              <a:t>Microsoft motion:  </a:t>
            </a:r>
            <a:r>
              <a:rPr sz="1300" b="0" i="0">
                <a:solidFill>
                  <a:srgbClr val="1E1E2E"/>
                </a:solidFill>
                <a:latin typeface="Arial"/>
              </a:rPr>
              <a:t>engage the Security and AI specialists (Security; Cloud and AI Platforms); drives Agent 365, Defender, Purview and Foundry use.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46</a:t>
            </a:r>
          </a:p>
        </p:txBody>
      </p:sp>
      <p:graphicFrame>
        <p:nvGraphicFramePr>
          <p:cNvPr id="9" name="Table"/>
          <p:cNvGraphicFramePr>
            <a:graphicFrameLocks noGrp="1"/>
          </p:cNvGraphicFramePr>
          <p:nvPr/>
        </p:nvGraphicFramePr>
        <p:xfrm>
          <a:off x="548640" y="1325880"/>
          <a:ext cx="11091672" cy="265176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Assessment, catalogue build, containment plumbing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fee; role days x approved sell rate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Sell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runtime limits; Security policy; DevOps registration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role days x tower rate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estimates (tower leads)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Catalogue operation and drills (offering 05)</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Base + agents x rate + coverage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Service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Functions, Cosmos DB, Log Analytics, App Insights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Meters x quantity; log GB is the main driver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Volumes (CIS Infra); prices (customer)</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Not changed by this offering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Not applicable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a:t>
                      </a:r>
                    </a:p>
                  </a:txBody>
                  <a:tcPr marL="73152" marR="73152" marT="36576" marB="36576" anchor="ctr">
                    <a:solidFill>
                      <a:srgbClr val="F5F5F2"/>
                    </a:solidFill>
                  </a:tcPr>
                </a:tc>
              </a:tr>
            </a:tbl>
          </a:graphicData>
        </a:graphic>
      </p:graphicFrame>
      <p:sp>
        <p:nvSpPr>
          <p:cNvPr id="10" name="Rounded Rectangle 9"/>
          <p:cNvSpPr/>
          <p:nvPr/>
        </p:nvSpPr>
        <p:spPr>
          <a:xfrm>
            <a:off x="548640" y="4160520"/>
            <a:ext cx="11091672"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Revenue recognition (Finance owns):  </a:t>
            </a:r>
            <a:r>
              <a:rPr sz="1400" b="0" i="0">
                <a:solidFill>
                  <a:srgbClr val="1E1E2E"/>
                </a:solidFill>
                <a:latin typeface="Arial"/>
              </a:rPr>
              <a:t>Milestones per gate; the customer stop-path pilot is a separate fixed fee. Owner: Finance.</a:t>
            </a:r>
          </a:p>
        </p:txBody>
      </p:sp>
      <p:sp>
        <p:nvSpPr>
          <p:cNvPr id="11" name="Rounded Rectangle 10"/>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47</a:t>
            </a:r>
          </a:p>
        </p:txBody>
      </p:sp>
      <p:graphicFrame>
        <p:nvGraphicFramePr>
          <p:cNvPr id="9" name="Table"/>
          <p:cNvGraphicFramePr>
            <a:graphicFrameLocks noGrp="1"/>
          </p:cNvGraphicFramePr>
          <p:nvPr/>
        </p:nvGraphicFramePr>
        <p:xfrm>
          <a:off x="548640" y="1325880"/>
          <a:ext cx="11091671" cy="423672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2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CIS</a:t>
                      </a:r>
                    </a:p>
                    <a:p>
                      <a:pPr algn="ctr"/>
                      <a:r>
                        <a:rPr sz="12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Secu-</a:t>
                      </a:r>
                    </a:p>
                    <a:p>
                      <a:pPr algn="ctr"/>
                      <a:r>
                        <a:rPr sz="12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Dev-</a:t>
                      </a:r>
                    </a:p>
                    <a:p>
                      <a:pPr algn="ctr"/>
                      <a:r>
                        <a:rPr sz="12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Data</a:t>
                      </a:r>
                    </a:p>
                    <a:p>
                      <a:pPr algn="ctr"/>
                      <a:r>
                        <a:rPr sz="12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Integr.</a:t>
                      </a:r>
                    </a:p>
                    <a:p>
                      <a:pPr algn="ctr"/>
                      <a:r>
                        <a:rPr sz="1200" b="1" i="0">
                          <a:solidFill>
                            <a:srgbClr val="FFFFFF"/>
                          </a:solidFill>
                          <a:latin typeface="Arial"/>
                        </a:rPr>
                        <a:t>service</a:t>
                      </a:r>
                    </a:p>
                    <a:p>
                      <a:pPr algn="ctr"/>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Cust.</a:t>
                      </a:r>
                    </a:p>
                    <a:p>
                      <a:pPr algn="ctr"/>
                      <a:r>
                        <a:rPr sz="1200" b="1" i="0">
                          <a:solidFill>
                            <a:srgbClr val="FFFFFF"/>
                          </a:solidFill>
                          <a:latin typeface="Arial"/>
                        </a:rPr>
                        <a:t>work-</a:t>
                      </a:r>
                    </a:p>
                    <a:p>
                      <a:pPr algn="ctr"/>
                      <a:r>
                        <a:rPr sz="1200" b="1" i="0">
                          <a:solidFill>
                            <a:srgbClr val="FFFFFF"/>
                          </a:solidFill>
                          <a:latin typeface="Arial"/>
                        </a:rPr>
                        <a:t>load</a:t>
                      </a:r>
                    </a:p>
                    <a:p>
                      <a:pPr algn="ctr"/>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Comm.</a:t>
                      </a:r>
                    </a:p>
                    <a:p>
                      <a:pPr algn="ctr"/>
                      <a:r>
                        <a:rPr sz="1200" b="1" i="0">
                          <a:solidFill>
                            <a:srgbClr val="FFFFFF"/>
                          </a:solidFill>
                          <a:latin typeface="Arial"/>
                        </a:rPr>
                        <a:t>/ fin.</a:t>
                      </a:r>
                    </a:p>
                  </a:txBody>
                  <a:tcPr marL="73152" marR="73152" marT="36576" marB="36576" anchor="ctr">
                    <a:solidFill>
                      <a:srgbClr val="000048"/>
                    </a:solidFill>
                  </a:tcPr>
                </a:tc>
              </a:tr>
              <a:tr h="426720">
                <a:tc>
                  <a:txBody>
                    <a:bodyPr wrap="square" anchor="ctr">
                      <a:noAutofit/>
                    </a:bodyPr>
                    <a:lstStyle/>
                    <a:p>
                      <a:pPr algn="l"/>
                      <a:r>
                        <a:rPr sz="1200" b="0" i="0">
                          <a:solidFill>
                            <a:srgbClr val="1E1E2E"/>
                          </a:solidFill>
                          <a:latin typeface="Arial"/>
                        </a:rPr>
                        <a:t>Agent 365, Entra CA, Purview and Defender policy</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Catalogue and registry design</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Reconciliation and workbook build</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Deployment registration in pipelines</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Agent instrumentation (traces)</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Risk classes and containment authority</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Containment control plane build</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Runtime limits and tool guards</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Containment drills (testing)</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Service acceptance</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Live containment (operations)</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Restart and recovery approval</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Pricing, attribution and quote</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567232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48</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2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Named agent cohort, runtimes, containment authority, access to subscriptions and workspaces</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Agent list (any form), runtimes, identities, tools, telemetry setup, incident process</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Registry, reconciliation, workbook, classification rules, containment plane, runbooks, drill records</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Agreed runtimes and subscriptions; outside-coverage agents listed, not managed</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instrumentation, DevOps registration, Security policy, offering 01 network design</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Inventory, instrument, control, exercise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2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Appendix A14 gates and K4 tests</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Owners per agent, authority decisions, approvals for drills and restarts</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assessment; role days per work package; recurring via offering 05</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New runtime family, subscriptions, agents above cohort, new tool classes</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Offering 05 or customer operations; review queues and drills scheduled</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Coverage with stated denominator; owners; measured stop time once the pilot runs</a:t>
                      </a:r>
                    </a:p>
                  </a:txBody>
                  <a:tcPr marL="73152" marR="73152" marT="36576" marB="36576" anchor="ctr">
                    <a:solidFill>
                      <a:srgbClr val="F5F5F2"/>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49</a:t>
            </a:r>
          </a:p>
        </p:txBody>
      </p:sp>
      <p:graphicFrame>
        <p:nvGraphicFramePr>
          <p:cNvPr id="9" name="Table"/>
          <p:cNvGraphicFramePr>
            <a:graphicFrameLocks noGrp="1"/>
          </p:cNvGraphicFramePr>
          <p:nvPr/>
        </p:nvGraphicFramePr>
        <p:xfrm>
          <a:off x="548640" y="1325880"/>
          <a:ext cx="11091672" cy="192024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Pilot agent cohort and runtimes</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AI platform leader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Agent list and runtimes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Containment and restart authority</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Customer risk owner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Named roles</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Dormancy threshold and exceptions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Customer service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Usage patterns from pilot</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Stop-time targets per runtime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After drills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Integrated service owner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Measured drill timings</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Sell rates and attribution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Costing model</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AI tower commitment for runtime limits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agreement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tower lead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Effort and owner</a:t>
                      </a:r>
                    </a:p>
                  </a:txBody>
                  <a:tcPr marL="73152" marR="73152" marT="36576" marB="36576" anchor="ctr">
                    <a:solidFill>
                      <a:srgbClr val="F5F5F2"/>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1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50</a:t>
            </a:r>
          </a:p>
        </p:txBody>
      </p:sp>
      <p:sp>
        <p:nvSpPr>
          <p:cNvPr id="9" name="TextBox 8"/>
          <p:cNvSpPr txBox="1"/>
          <p:nvPr/>
        </p:nvSpPr>
        <p:spPr>
          <a:xfrm>
            <a:off x="548640" y="1325880"/>
            <a:ext cx="11091672" cy="4983480"/>
          </a:xfrm>
          <a:prstGeom prst="rect">
            <a:avLst/>
          </a:prstGeom>
          <a:noFill/>
        </p:spPr>
        <p:txBody>
          <a:bodyPr wrap="square" lIns="0" rIns="0" tIns="0" bIns="0" anchor="t">
            <a:noAutofit/>
          </a:bodyPr>
          <a:lstStyle/>
          <a:p>
            <a:pPr algn="l">
              <a:spcAft>
                <a:spcPts val="400"/>
              </a:spcAft>
            </a:pPr>
            <a:r>
              <a:rPr sz="1200" b="1" i="0">
                <a:solidFill>
                  <a:srgbClr val="000048"/>
                </a:solidFill>
                <a:latin typeface="Arial"/>
              </a:rPr>
              <a:t>Microsoft Agent 365 now generally available (Microsoft Security blog, 1 May 2026):  </a:t>
            </a:r>
            <a:r>
              <a:rPr sz="1200" b="0" i="0">
                <a:solidFill>
                  <a:srgbClr val="2F78C4"/>
                </a:solidFill>
                <a:latin typeface="Arial"/>
                <a:hlinkClick r:id="rId4"/>
              </a:rPr>
              <a:t>https://www.microsoft.com/en-us/security/blog/2026/05/01/microsoft-agent-365-now-generally-available-expands-capabilities-and-integrations/</a:t>
            </a:r>
          </a:p>
          <a:p>
            <a:pPr algn="l">
              <a:spcAft>
                <a:spcPts val="400"/>
              </a:spcAft>
            </a:pPr>
            <a:r>
              <a:rPr sz="1200" b="1" i="0">
                <a:solidFill>
                  <a:srgbClr val="000048"/>
                </a:solidFill>
                <a:latin typeface="Arial"/>
              </a:rPr>
              <a:t>Microsoft Copilot Studio licensing guidance (Microsoft Licensing):  </a:t>
            </a:r>
            <a:r>
              <a:rPr sz="1200" b="0" i="0">
                <a:solidFill>
                  <a:srgbClr val="2F78C4"/>
                </a:solidFill>
                <a:latin typeface="Arial"/>
                <a:hlinkClick r:id="rId5"/>
              </a:rPr>
              <a:t>https://www.microsoft.com/licensing/guidance/Microsoft-Copilot-Studio</a:t>
            </a:r>
          </a:p>
          <a:p>
            <a:pPr algn="l">
              <a:spcAft>
                <a:spcPts val="400"/>
              </a:spcAft>
            </a:pPr>
            <a:r>
              <a:rPr sz="1200" b="1" i="0">
                <a:solidFill>
                  <a:srgbClr val="000048"/>
                </a:solidFill>
                <a:latin typeface="Arial"/>
              </a:rPr>
              <a:t>Conditional Access for agents (Microsoft Learn, updated 30 Sep 2026):  </a:t>
            </a:r>
            <a:r>
              <a:rPr sz="1200" b="0" i="0">
                <a:solidFill>
                  <a:srgbClr val="2F78C4"/>
                </a:solidFill>
                <a:latin typeface="Arial"/>
                <a:hlinkClick r:id="rId6"/>
              </a:rPr>
              <a:t>https://learn.microsoft.com/en-us/entra/identity/conditional-access/agent-id</a:t>
            </a:r>
          </a:p>
          <a:p>
            <a:pPr algn="l">
              <a:spcAft>
                <a:spcPts val="400"/>
              </a:spcAft>
            </a:pPr>
            <a:r>
              <a:rPr sz="1200" b="1" i="0">
                <a:solidFill>
                  <a:srgbClr val="000048"/>
                </a:solidFill>
                <a:latin typeface="Arial"/>
              </a:rPr>
              <a:t>Foundry Control Plane: manage agents:  </a:t>
            </a:r>
            <a:r>
              <a:rPr sz="1200" b="0" i="0">
                <a:solidFill>
                  <a:srgbClr val="2F78C4"/>
                </a:solidFill>
                <a:latin typeface="Arial"/>
                <a:hlinkClick r:id="rId7"/>
              </a:rPr>
              <a:t>https://learn.microsoft.com/en-us/azure/foundry/control-plane/how-to-manage-agents</a:t>
            </a:r>
          </a:p>
          <a:p>
            <a:pPr algn="l">
              <a:spcAft>
                <a:spcPts val="400"/>
              </a:spcAft>
            </a:pPr>
            <a:r>
              <a:rPr sz="1200" b="1" i="0">
                <a:solidFill>
                  <a:srgbClr val="000048"/>
                </a:solidFill>
                <a:latin typeface="Arial"/>
              </a:rPr>
              <a:t>Foundry Control Plane: register custom agent:  </a:t>
            </a:r>
            <a:r>
              <a:rPr sz="1200" b="0" i="0">
                <a:solidFill>
                  <a:srgbClr val="2F78C4"/>
                </a:solidFill>
                <a:latin typeface="Arial"/>
                <a:hlinkClick r:id="rId8"/>
              </a:rPr>
              <a:t>https://learn.microsoft.com/en-us/azure/foundry/control-plane/register-custom-agent</a:t>
            </a:r>
          </a:p>
          <a:p>
            <a:pPr algn="l">
              <a:spcAft>
                <a:spcPts val="400"/>
              </a:spcAft>
            </a:pPr>
            <a:r>
              <a:rPr sz="1200" b="1" i="0">
                <a:solidFill>
                  <a:srgbClr val="000048"/>
                </a:solidFill>
                <a:latin typeface="Arial"/>
              </a:rPr>
              <a:t>AI threat protection in Microsoft Defender for Cloud:  </a:t>
            </a:r>
            <a:r>
              <a:rPr sz="1200" b="0" i="0">
                <a:solidFill>
                  <a:srgbClr val="2F78C4"/>
                </a:solidFill>
                <a:latin typeface="Arial"/>
                <a:hlinkClick r:id="rId9"/>
              </a:rPr>
              <a:t>https://learn.microsoft.com/en-us/azure/defender-for-cloud/ai-threat-protection</a:t>
            </a:r>
          </a:p>
          <a:p>
            <a:pPr algn="l">
              <a:spcAft>
                <a:spcPts val="400"/>
              </a:spcAft>
            </a:pPr>
            <a:r>
              <a:rPr sz="1200" b="1" i="0">
                <a:solidFill>
                  <a:srgbClr val="000048"/>
                </a:solidFill>
                <a:latin typeface="Arial"/>
              </a:rPr>
              <a:t>Microsoft Purview data security and compliance for AI:  </a:t>
            </a:r>
            <a:r>
              <a:rPr sz="1200" b="0" i="0">
                <a:solidFill>
                  <a:srgbClr val="2F78C4"/>
                </a:solidFill>
                <a:latin typeface="Arial"/>
                <a:hlinkClick r:id="rId10"/>
              </a:rPr>
              <a:t>https://learn.microsoft.com/en-us/purview/ai-microsoft-purview</a:t>
            </a:r>
          </a:p>
          <a:p>
            <a:pPr algn="l">
              <a:spcAft>
                <a:spcPts val="400"/>
              </a:spcAft>
            </a:pPr>
            <a:r>
              <a:rPr sz="1200" b="1" i="0">
                <a:solidFill>
                  <a:srgbClr val="000048"/>
                </a:solidFill>
                <a:latin typeface="Arial"/>
              </a:rPr>
              <a:t>EU AI Act Update: Digital Omnibus finalises compliance changes (Orrick, third-party law-firm summary, 29 Jul 2026; EUR-Lex text not verified):  </a:t>
            </a:r>
            <a:r>
              <a:rPr sz="1200" b="0" i="0">
                <a:solidFill>
                  <a:srgbClr val="2F78C4"/>
                </a:solidFill>
                <a:latin typeface="Arial"/>
                <a:hlinkClick r:id="rId11"/>
              </a:rPr>
              <a:t>https://www.orrick.com/en/Insights/2026/07/EU-AI-Act-Update-Digital-Omnibus-Finalizes-8-Compliance-Changes</a:t>
            </a:r>
          </a:p>
          <a:p>
            <a:pPr algn="l">
              <a:spcAft>
                <a:spcPts val="400"/>
              </a:spcAft>
            </a:pPr>
            <a:r>
              <a:rPr sz="1200" b="1" i="0">
                <a:solidFill>
                  <a:srgbClr val="000048"/>
                </a:solidFill>
                <a:latin typeface="Arial"/>
              </a:rPr>
              <a:t>Azure Architecture Icons (V24):  </a:t>
            </a:r>
            <a:r>
              <a:rPr sz="1200" b="0" i="0">
                <a:solidFill>
                  <a:srgbClr val="2F78C4"/>
                </a:solidFill>
                <a:latin typeface="Arial"/>
                <a:hlinkClick r:id="rId12"/>
              </a:rPr>
              <a:t>https://learn.microsoft.com/en-us/azure/architecture/icons/</a:t>
            </a:r>
          </a:p>
          <a:p>
            <a:pPr algn="l">
              <a:spcAft>
                <a:spcPts val="400"/>
              </a:spcAft>
            </a:pPr>
            <a:r>
              <a:rPr sz="1200" b="1" i="0">
                <a:solidFill>
                  <a:srgbClr val="000048"/>
                </a:solidFill>
                <a:latin typeface="Arial"/>
              </a:rPr>
              <a:t>az-icons.com catalogue of official Azure icons (July 2026 set):  </a:t>
            </a:r>
            <a:r>
              <a:rPr sz="1200" b="0" i="0">
                <a:solidFill>
                  <a:srgbClr val="2F78C4"/>
                </a:solidFill>
                <a:latin typeface="Arial"/>
                <a:hlinkClick r:id="rId13"/>
              </a:rPr>
              <a:t>https://az-icons.com/</a:t>
            </a:r>
          </a:p>
          <a:p>
            <a:pPr algn="l">
              <a:spcAft>
                <a:spcPts val="400"/>
              </a:spcAft>
            </a:pPr>
            <a:r>
              <a:rPr sz="1200" b="1" i="0">
                <a:solidFill>
                  <a:srgbClr val="000048"/>
                </a:solidFill>
                <a:latin typeface="Arial"/>
              </a:rPr>
              <a:t>Foundry agent monitoring dashboard:  </a:t>
            </a:r>
            <a:r>
              <a:rPr sz="1200" b="0" i="0">
                <a:solidFill>
                  <a:srgbClr val="2F78C4"/>
                </a:solidFill>
                <a:latin typeface="Arial"/>
                <a:hlinkClick r:id="rId14"/>
              </a:rPr>
              <a:t>https://learn.microsoft.com/en-us/azure/foundry/observability/how-to/how-to-monitor-agents-dashboard</a:t>
            </a:r>
          </a:p>
          <a:p>
            <a:pPr algn="l">
              <a:spcAft>
                <a:spcPts val="400"/>
              </a:spcAft>
            </a:pPr>
            <a:r>
              <a:rPr sz="1200" b="1" i="0">
                <a:solidFill>
                  <a:srgbClr val="000048"/>
                </a:solidFill>
                <a:latin typeface="Arial"/>
              </a:rPr>
              <a:t>APIM send-request policy:  </a:t>
            </a:r>
            <a:r>
              <a:rPr sz="1200" b="0" i="0">
                <a:solidFill>
                  <a:srgbClr val="2F78C4"/>
                </a:solidFill>
                <a:latin typeface="Arial"/>
                <a:hlinkClick r:id="rId15"/>
              </a:rPr>
              <a:t>https://learn.microsoft.com/en-us/azure/api-management/send-request-policy</a:t>
            </a:r>
          </a:p>
          <a:p>
            <a:pPr algn="l">
              <a:spcAft>
                <a:spcPts val="400"/>
              </a:spcAft>
            </a:pPr>
            <a:r>
              <a:rPr sz="1200" b="1" i="0">
                <a:solidFill>
                  <a:srgbClr val="000048"/>
                </a:solidFill>
                <a:latin typeface="Arial"/>
              </a:rPr>
              <a:t>APIM managed identity authentication:  </a:t>
            </a:r>
            <a:r>
              <a:rPr sz="1200" b="0" i="0">
                <a:solidFill>
                  <a:srgbClr val="2F78C4"/>
                </a:solidFill>
                <a:latin typeface="Arial"/>
                <a:hlinkClick r:id="rId16"/>
              </a:rPr>
              <a:t>https://learn.microsoft.com/en-us/azure/api-management/authentication-managed-identity-policy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 (continued)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S1B</a:t>
            </a:r>
          </a:p>
        </p:txBody>
      </p:sp>
      <p:sp>
        <p:nvSpPr>
          <p:cNvPr id="5" name="Status chip: CHECKED 11 OCT 2026"/>
          <p:cNvSpPr/>
          <p:nvPr/>
        </p:nvSpPr>
        <p:spPr>
          <a:xfrm>
            <a:off x="199644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v4.0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51</a:t>
            </a:r>
          </a:p>
        </p:txBody>
      </p:sp>
      <p:sp>
        <p:nvSpPr>
          <p:cNvPr id="9" name="TextBox 8"/>
          <p:cNvSpPr txBox="1"/>
          <p:nvPr/>
        </p:nvSpPr>
        <p:spPr>
          <a:xfrm>
            <a:off x="548640" y="1325880"/>
            <a:ext cx="11091672" cy="4983480"/>
          </a:xfrm>
          <a:prstGeom prst="rect">
            <a:avLst/>
          </a:prstGeom>
          <a:noFill/>
        </p:spPr>
        <p:txBody>
          <a:bodyPr wrap="square" lIns="0" rIns="0" tIns="0" bIns="0" anchor="t">
            <a:noAutofit/>
          </a:bodyPr>
          <a:lstStyle/>
          <a:p>
            <a:pPr algn="l">
              <a:spcAft>
                <a:spcPts val="400"/>
              </a:spcAft>
            </a:pPr>
            <a:r>
              <a:rPr sz="1200" b="1" i="0">
                <a:solidFill>
                  <a:srgbClr val="000048"/>
                </a:solidFill>
                <a:latin typeface="Arial"/>
              </a:rPr>
              <a:t>Agentic RAG guide:  </a:t>
            </a:r>
            <a:r>
              <a:rPr sz="1200" b="0" i="0">
                <a:solidFill>
                  <a:srgbClr val="2F78C4"/>
                </a:solidFill>
                <a:latin typeface="Arial"/>
                <a:hlinkClick r:id="rId4"/>
              </a:rPr>
              <a:t>https://learn.microsoft.com/en-us/azure/architecture/ai-ml/guide/rag/rag-agentic</a:t>
            </a:r>
          </a:p>
          <a:p>
            <a:pPr algn="l">
              <a:spcAft>
                <a:spcPts val="400"/>
              </a:spcAft>
            </a:pPr>
            <a:r>
              <a:rPr sz="1200" b="1" i="0">
                <a:solidFill>
                  <a:srgbClr val="000048"/>
                </a:solidFill>
                <a:latin typeface="Arial"/>
              </a:rPr>
              <a:t>Multiple-agent workflow automation:  </a:t>
            </a:r>
            <a:r>
              <a:rPr sz="1200" b="0" i="0">
                <a:solidFill>
                  <a:srgbClr val="2F78C4"/>
                </a:solidFill>
                <a:latin typeface="Arial"/>
                <a:hlinkClick r:id="rId5"/>
              </a:rPr>
              <a:t>https://learn.microsoft.com/en-us/azure/architecture/ai-ml/idea/multiple-agent-workflow-automation</a:t>
            </a:r>
          </a:p>
          <a:p>
            <a:pPr algn="l">
              <a:spcAft>
                <a:spcPts val="400"/>
              </a:spcAft>
            </a:pPr>
            <a:r>
              <a:rPr sz="1200" b="1" i="0">
                <a:solidFill>
                  <a:srgbClr val="000048"/>
                </a:solidFill>
                <a:latin typeface="Arial"/>
              </a:rPr>
              <a:t>GTM proposal V3:  </a:t>
            </a:r>
            <a:r>
              <a:rPr sz="1200" b="0" i="0">
                <a:solidFill>
                  <a:srgbClr val="2F78C4"/>
                </a:solidFill>
                <a:latin typeface="Arial"/>
                <a:hlinkClick r:id="rId6"/>
              </a:rPr>
              <a:t>https://github.com/upendra25312/AI-Foundry-GTM-offering-/blob/main/CIS_Infra_Azure_AI_Platform_GTM_Proposal_V3.docx</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Upendra Kumar</dc:creator>
  <lastModifiedBy>Upendra Kumar</lastModifiedBy>
  <dc:title>Agent Governance and Operations v4.0</dc:title>
  <dcterms:created xsi:type="dcterms:W3CDTF">2026-10-10T13:56:28.3080000Z</dcterms:created>
  <dcterms:modified xsi:type="dcterms:W3CDTF">2026-10-10T13:56:28.3090000Z</dcterms:modified>
  <dc:subject>Proposed CIS Infra GTM offering for internal leadership review</dc:subject>
</coreProperties>
</file>