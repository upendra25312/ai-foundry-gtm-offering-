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Masters/theme/theme4.xml" ContentType="application/vnd.openxmlformats-officedocument.theme+xml"/>
  <Override PartName="/ppt/slideMasters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f9a23884c44625" Type="http://schemas.openxmlformats.org/officeDocument/2006/relationships/officeDocument" Target="ppt/presentation.xml"/><Relationship Id="R84e71566a1d647f7" Type="http://schemas.openxmlformats.org/officeDocument/2006/relationships/extended-properties" Target="docProps/app.xml"/><Relationship Id="Rc4e4969fe66e4f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ns0="http://schemas.openxmlformats.org/officeDocument/2006/relationships" id="256" ns0:id="rId9"/>
    <p:sldId xmlns:ns0="http://schemas.openxmlformats.org/officeDocument/2006/relationships" id="257" ns0:id="rId10"/>
    <p:sldId xmlns:ns0="http://schemas.openxmlformats.org/officeDocument/2006/relationships" id="258" ns0:id="rId11"/>
    <p:sldId xmlns:ns0="http://schemas.openxmlformats.org/officeDocument/2006/relationships" id="259" ns0:id="rId12"/>
    <p:sldId xmlns:ns0="http://schemas.openxmlformats.org/officeDocument/2006/relationships" id="260" ns0:id="rId13"/>
    <p:sldId xmlns:ns0="http://schemas.openxmlformats.org/officeDocument/2006/relationships" id="261" ns0:id="rId14"/>
    <p:sldId xmlns:ns0="http://schemas.openxmlformats.org/officeDocument/2006/relationships" id="262" ns0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0443a3f9f4403" Type="http://schemas.openxmlformats.org/officeDocument/2006/relationships/tableStyles" Target="tableStyles.xml"/><Relationship Id="R3569cfc98731471b" Type="http://schemas.openxmlformats.org/officeDocument/2006/relationships/theme" Target="theme/theme1.xml"/><Relationship Id="R50e5873738a341b1" Type="http://schemas.openxmlformats.org/officeDocument/2006/relationships/slideMaster" Target="slideMasters/slideMaster4.xml"/><Relationship Id="R54772863d9b446e6" Type="http://schemas.openxmlformats.org/officeDocument/2006/relationships/presProps" Target="presProps.xml"/><Relationship Id="Ra3f0ebc3c09b4434" Type="http://schemas.openxmlformats.org/officeDocument/2006/relationships/notesMaster" Target="notesMasters/notesMaster1.xml"/><Relationship Id="Rac94335601d14db8" Type="http://schemas.openxmlformats.org/officeDocument/2006/relationships/slideMaster" Target="slideMasters/slideMaster1.xml"/><Relationship Id="Rb87cb585fe274448" Type="http://schemas.openxmlformats.org/officeDocument/2006/relationships/slideMaster" Target="slideMasters/slideMaster3.xml"/><Relationship Id="Re562c2e4671348aa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14af957cecc4cfc" Type="http://schemas.openxmlformats.org/officeDocument/2006/relationships/theme" Target="theme/theme6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Thank you for your time. Today we want to understand where you are with AI on Azure and show how we help with ai gateway implementation.</a:t>
            </a:r>
          </a:p>
          <a:p/>
          <a:p>
            <a:r>
              <a:t>Likely question: How long does this take?</a:t>
            </a:r>
          </a:p>
          <a:p>
            <a:r>
              <a:t>Answer: We will cover it in about 20 minutes and leave time for your questions.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three issues we hear most often. Which of them sounds like you?</a:t>
            </a:r>
          </a:p>
          <a:p/>
          <a:p>
            <a:r>
              <a:t>Likely question: Is this common?</a:t>
            </a:r>
          </a:p>
          <a:p>
            <a:r>
              <a:t>Answer: Yes, especially once AI moves from pilot to production.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We build an Azure API Management AI gateway with identity, limits, safety checks and routing, and an Azure API Center registry so only approved tools are reachable.</a:t>
            </a:r>
          </a:p>
          <a:p/>
          <a:p>
            <a:r>
              <a:t>Likely question: Do you replace Microsoft tools?</a:t>
            </a:r>
          </a:p>
          <a:p>
            <a:r>
              <a:t>Answer: No. We configure Microsoft tools first and only add what they do not cover.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outcomes you can test at the end, not just documents.</a:t>
            </a:r>
          </a:p>
          <a:p/>
          <a:p>
            <a:r>
              <a:t>Likely question: How do we know it worked?</a:t>
            </a:r>
          </a:p>
          <a:p>
            <a:r>
              <a:t>Answer: Each outcome has an acceptance test we agree with you at the start.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Most clients start small with an assessment, then decide on the next step with evidence.</a:t>
            </a:r>
          </a:p>
          <a:p/>
          <a:p>
            <a:r>
              <a:t>Likely question: What does it cost?</a:t>
            </a:r>
          </a:p>
          <a:p>
            <a:r>
              <a:t>Answer: We agree a fixed price for the assessment, and price later phases from what the assessment finds.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 Durations are typical ranges; pricing is agreed after the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Uses Azure API Management (generally available tiers for production) and Azure API Center for the tool and MCP server registry.</a:t>
            </a:r>
          </a:p>
          <a:p/>
          <a:p>
            <a:r>
              <a:t>Likely question: Why does that matter?</a:t>
            </a:r>
          </a:p>
          <a:p>
            <a:r>
              <a:t>Answer: Using Microsoft’s own services means your team can maintain it and it keeps pace with Microsoft’s roadmap.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Here is how we suggest moving forward. The first step is small and gives us both evidence.</a:t>
            </a:r>
          </a:p>
          <a:p/>
          <a:p>
            <a:r>
              <a:t>Likely question: Who do you need from our side?</a:t>
            </a:r>
          </a:p>
          <a:p>
            <a:r>
              <a:t>Answer: A sponsor, a platform contact and access to the relevant subscriptions.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AI gateway capabilities in API Management https://learn.microsoft.com/en-us/azure/api-management/genai-gateway-capabilities; Register and discover MCP servers in Azure API Center https://learn.microsoft.com/en-us/azure/api-center/register-discover-mcp-server; API Management feature comparison by tier https://learn.microsoft.com/en-us/azure/api-management/api-management-features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239e75cfd1cc4ab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bd07ab5f78149a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302c84203c48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34241bc85ae4c7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61045e69b14e7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7b814c8ca3840f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98d15c1849d417c" Type="http://schemas.openxmlformats.org/officeDocument/2006/relationships/image" Target="../media/image.png"/><Relationship Id="Rf2add38ed2ce453b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2158411d075f466d" Type="http://schemas.openxmlformats.org/officeDocument/2006/relationships/image" Target="../media/image2.png"/><Relationship Id="R2c766725c11e4ac9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46f2492711884366" Type="http://schemas.openxmlformats.org/officeDocument/2006/relationships/slideMaster" Target="../slideMasters/slideMaster4.xml"/><Relationship Id="Rf12105039f804078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82f16bd3225744a2" Type="http://schemas.openxmlformats.org/officeDocument/2006/relationships/image" Target="../media/image4.png"/><Relationship Id="Rf8347490cbfa44f8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88d60132230f4421" Type="http://schemas.openxmlformats.org/officeDocument/2006/relationships/slideMaster" Target="../slideMasters/slideMaster2.xml"/><Relationship Id="Rf1de68665da2460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33882fa3e3694f86" Type="http://schemas.openxmlformats.org/officeDocument/2006/relationships/slideMaster" Target="../slideMasters/slideMaster2.xml"/><Relationship Id="R681a98542d40472f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53c158dd22bd4552" Type="http://schemas.openxmlformats.org/officeDocument/2006/relationships/image" Target="../media/image7.png"/><Relationship Id="Radb767df053a44b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3f1fb268c94e499b" Type="http://schemas.openxmlformats.org/officeDocument/2006/relationships/slideMaster" Target="../slideMasters/slideMaster2.xml"/><Relationship Id="Rbc17ee00ae7c425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2a4dc73f52214ef5" Type="http://schemas.openxmlformats.org/officeDocument/2006/relationships/slideMaster" Target="../slideMasters/slideMaster2.xml"/><Relationship Id="Rfd22619079854251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96ee4aaf91124207" Type="http://schemas.openxmlformats.org/officeDocument/2006/relationships/image" Target="../media/image10.png"/><Relationship Id="Ra2224d11fb44409e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5648cb6e9984541" Type="http://schemas.openxmlformats.org/officeDocument/2006/relationships/slideLayout" Target="../slideLayouts/slideLayout3.xml"/><Relationship Id="R8f1bf2f0f8464e84" Type="http://schemas.openxmlformats.org/officeDocument/2006/relationships/slideLayout" Target="../slideLayouts/slideLayout1.xml"/><Relationship Id="Ra52babe339764543" Type="http://schemas.openxmlformats.org/officeDocument/2006/relationships/slideLayout" Target="../slideLayouts/slideLayout5.xml"/><Relationship Id="Rc147ea9fb0f543b1" Type="http://schemas.openxmlformats.org/officeDocument/2006/relationships/slideLayout" Target="../slideLayouts/slideLayout4.xml"/><Relationship Id="Re465f5df15ad44f5" Type="http://schemas.openxmlformats.org/officeDocument/2006/relationships/slideLayout" Target="../slideLayouts/slideLayout6.xml"/><Relationship Id="Re9fc826fb18a4f15" Type="http://schemas.openxmlformats.org/officeDocument/2006/relationships/slideLayout" Target="../slideLayouts/slideLayout2.xml"/><Relationship Id="Rf416159d631a469e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2a5f1ca95513402a" Type="http://schemas.openxmlformats.org/officeDocument/2006/relationships/slideLayout" Target="../slideLayouts/slideLayout14.xml"/><Relationship Id="R2eeacb68d2144397" Type="http://schemas.openxmlformats.org/officeDocument/2006/relationships/slideLayout" Target="../slideLayouts/slideLayout15.xml"/><Relationship Id="R49bfac7664ba44c0" Type="http://schemas.openxmlformats.org/officeDocument/2006/relationships/theme" Target="theme/theme3.xml"/><Relationship Id="R8f2c27fe36c147d3" Type="http://schemas.openxmlformats.org/officeDocument/2006/relationships/slideLayout" Target="../slideLayouts/slideLayout12.xml"/><Relationship Id="R94a7b8a46c4f4bde" Type="http://schemas.openxmlformats.org/officeDocument/2006/relationships/slideLayout" Target="../slideLayouts/slideLayout10.xml"/><Relationship Id="Ra82fbf657a2f48ee" Type="http://schemas.openxmlformats.org/officeDocument/2006/relationships/slideLayout" Target="../slideLayouts/slideLayout11.xml"/><Relationship Id="Rde438d9eb6954fbf" Type="http://schemas.openxmlformats.org/officeDocument/2006/relationships/slideLayout" Target="../slideLayouts/slideLayout13.xml"/><Relationship Id="Ref66cbd7649342a4" Type="http://schemas.openxmlformats.org/officeDocument/2006/relationships/slideLayout" Target="../slideLayouts/slideLayout8.xml"/></Relationships>
</file>

<file path=ppt/slideMasters/_rels/slideMaster3.xml.rels><?xml version='1.0' encoding='UTF-8' standalone='yes'?>
<Relationships xmlns="http://schemas.openxmlformats.org/package/2006/relationships"><Relationship Id="R79ea0f8627af41f6" Type="http://schemas.openxmlformats.org/officeDocument/2006/relationships/slideLayout" Target="../slideLayouts/slideLayout7.xml"/><Relationship Id="R7eb32b989c4847f8" Type="http://schemas.openxmlformats.org/officeDocument/2006/relationships/theme" Target="theme/theme4.xml"/><Relationship Id="Rda88ffd24a5f43ce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2578da971f074f4d" Type="http://schemas.openxmlformats.org/officeDocument/2006/relationships/theme" Target="theme/theme5.xml"/><Relationship Id="Rdb68f69021dd4ee5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393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6EFE9"/>
                </a:solidFill>
                <a:latin typeface="Arial"/>
              </a:rPr>
              <a:t>COGNIZANT  ·  AZURE AI PLATFORM SERVICES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10789920" cy="1737360"/>
          </a:xfrm>
          <a:prstGeom prst="rect">
            <a:avLst/>
          </a:prstGeom>
          <a:noFill/>
        </p:spPr>
        <p:txBody>
          <a:bodyPr wrap="square" lIns="0" rIns="0" anchor="b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AI Gateway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26EFE9"/>
                </a:solidFill>
                <a:latin typeface="Arial"/>
              </a:rPr>
              <a:t>One governed path for every model and tool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Built on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C9C9E0"/>
                </a:solidFill>
                <a:latin typeface="Arial"/>
              </a:rPr>
              <a:t>11 Oct 2026  ·  Version 4.0  ·  Draft for account lead review before customer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C9C9E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The challenges we hear most often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4605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Gateway Implementation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Direct calls with keys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Apps and agents call models and tools directly, often with shared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No cost split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Model spend cannot be traced to teams or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Tool sprawl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Agents reach tools through MCP servers nobody approved.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Our approach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1671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HOW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Gateway Implementation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We build an Azure API Management AI gateway with identity, limits, safety checks and routing, and an Azure API Center registry so only approved tools are reachable.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1  Readiness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Consumers, models, tools, network</a:t>
            </a:r>
          </a:p>
        </p:txBody>
      </p:sp>
      <p:cxnSp>
        <p:nvCxnSpPr>
          <p:cNvPr id="9" name="Connector (flow)"/>
          <p:cNvCxnSpPr/>
          <p:nvPr/>
        </p:nvCxnSpPr>
        <p:spPr>
          <a:xfrm>
            <a:off x="2651760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2  Design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Policies, identity, routing</a:t>
            </a:r>
          </a:p>
        </p:txBody>
      </p:sp>
      <p:cxnSp>
        <p:nvCxnSpPr>
          <p:cNvPr id="11" name="Connector (flow)"/>
          <p:cNvCxnSpPr/>
          <p:nvPr/>
        </p:nvCxnSpPr>
        <p:spPr>
          <a:xfrm>
            <a:off x="4910328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6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3  Build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Gateway, private network, registry</a:t>
            </a:r>
          </a:p>
        </p:txBody>
      </p:sp>
      <p:cxnSp>
        <p:nvCxnSpPr>
          <p:cNvPr id="13" name="Connector (flow)"/>
          <p:cNvCxnSpPr/>
          <p:nvPr/>
        </p:nvCxnSpPr>
        <p:spPr>
          <a:xfrm>
            <a:off x="7168896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4  Test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Load, bypass and failover tests</a:t>
            </a:r>
          </a:p>
        </p:txBody>
      </p:sp>
      <p:cxnSp>
        <p:nvCxnSpPr>
          <p:cNvPr id="15" name="Connector (flow)"/>
          <p:cNvCxnSpPr/>
          <p:nvPr/>
        </p:nvCxnSpPr>
        <p:spPr>
          <a:xfrm>
            <a:off x="9427463" y="4297680"/>
            <a:ext cx="155449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5  Report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Token metrics and showback by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What you 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73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Gateway Implementation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Authenticated, metered calls for every governed app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Routing across reserved and pay-as-you-go capacity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An approved list of tools and MCP servers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Direct endpoints closed and tested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Cost reports by team and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How we engage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ENGAGEMENT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Gateway Implementation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463040"/>
          <a:ext cx="11091672" cy="15697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120640"/>
                <a:gridCol w="2679192"/>
              </a:tblGrid>
              <a:tr h="38099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Typical duration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Readiness 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Scope and plan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2 to 4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Build, one region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Gateway, policies, network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8 to 14 weeks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Add-ons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Tools, multi-region, chargeback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3 to 8 weeks each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Typical durations. Scope and price are agreed after a short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Built on Microsoft Azure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MICROSOFT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Gateway Implementation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2743200"/>
          </a:xfrm>
          <a:prstGeom prst="roundRect">
            <a:avLst>
              <a:gd name="adj" fmla="val 266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73152" bIns="73152" wrap="square">
            <a:no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  <a:latin typeface="Arial"/>
              </a:rPr>
              <a:t>Uses Azure API Management (generally available tiers for production) and Azure API Center for the tool and MCP server registry.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Preview features are used only in pilots. Production uses generally available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Suggested next steps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693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Gateway Implementation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1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List the apps and agents calling models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2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Share the target region and network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3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Agree the readiness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Upendra Kumar</dc:creator>
  <lastModifiedBy>Upendra Kumar</lastModifiedBy>
  <dc:title>AI Gateway Implementation v4.0</dc:title>
  <dcterms:created xsi:type="dcterms:W3CDTF">2026-10-10T13:56:28.3080000Z</dcterms:created>
  <dcterms:modified xsi:type="dcterms:W3CDTF">2026-10-10T13:56:28.3090000Z</dcterms:modified>
  <dc:subject>Proposed CIS Infra GTM offering for internal leadership review</dc:subject>
</coreProperties>
</file>