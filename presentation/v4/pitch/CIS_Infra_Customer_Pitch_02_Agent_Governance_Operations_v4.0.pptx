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Masters/theme/theme4.xml" ContentType="application/vnd.openxmlformats-officedocument.theme+xml"/>
  <Override PartName="/ppt/slideMasters/theme/theme5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4f9a23884c44625" Type="http://schemas.openxmlformats.org/officeDocument/2006/relationships/officeDocument" Target="ppt/presentation.xml"/><Relationship Id="R84e71566a1d647f7" Type="http://schemas.openxmlformats.org/officeDocument/2006/relationships/extended-properties" Target="docProps/app.xml"/><Relationship Id="Rc4e4969fe66e4f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94335601d14db8"/>
    <p:sldMasterId xmlns:r="http://schemas.openxmlformats.org/officeDocument/2006/relationships" id="2147483655" r:id="Re562c2e4671348aa"/>
    <p:sldMasterId xmlns:r="http://schemas.openxmlformats.org/officeDocument/2006/relationships" id="2147483663" r:id="Rb87cb585fe274448"/>
    <p:sldMasterId xmlns:r="http://schemas.openxmlformats.org/officeDocument/2006/relationships" id="2147483666" r:id="R50e5873738a341b1"/>
  </p:sldMasterIdLst>
  <p:notesMasterIdLst>
    <p:notesMasterId xmlns:r="http://schemas.openxmlformats.org/officeDocument/2006/relationships" r:id="Ra3f0ebc3c09b4434"/>
  </p:notesMasterIdLst>
  <p:sldIdLst>
    <p:sldId xmlns:ns0="http://schemas.openxmlformats.org/officeDocument/2006/relationships" id="256" ns0:id="rId9"/>
    <p:sldId xmlns:ns0="http://schemas.openxmlformats.org/officeDocument/2006/relationships" id="257" ns0:id="rId10"/>
    <p:sldId xmlns:ns0="http://schemas.openxmlformats.org/officeDocument/2006/relationships" id="258" ns0:id="rId11"/>
    <p:sldId xmlns:ns0="http://schemas.openxmlformats.org/officeDocument/2006/relationships" id="259" ns0:id="rId12"/>
    <p:sldId xmlns:ns0="http://schemas.openxmlformats.org/officeDocument/2006/relationships" id="260" ns0:id="rId13"/>
    <p:sldId xmlns:ns0="http://schemas.openxmlformats.org/officeDocument/2006/relationships" id="261" ns0:id="rId14"/>
    <p:sldId xmlns:ns0="http://schemas.openxmlformats.org/officeDocument/2006/relationships" id="262" ns0:id="rId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10443a3f9f4403" Type="http://schemas.openxmlformats.org/officeDocument/2006/relationships/tableStyles" Target="tableStyles.xml"/><Relationship Id="R3569cfc98731471b" Type="http://schemas.openxmlformats.org/officeDocument/2006/relationships/theme" Target="theme/theme1.xml"/><Relationship Id="R50e5873738a341b1" Type="http://schemas.openxmlformats.org/officeDocument/2006/relationships/slideMaster" Target="slideMasters/slideMaster4.xml"/><Relationship Id="R54772863d9b446e6" Type="http://schemas.openxmlformats.org/officeDocument/2006/relationships/presProps" Target="presProps.xml"/><Relationship Id="Ra3f0ebc3c09b4434" Type="http://schemas.openxmlformats.org/officeDocument/2006/relationships/notesMaster" Target="notesMasters/notesMaster1.xml"/><Relationship Id="Rac94335601d14db8" Type="http://schemas.openxmlformats.org/officeDocument/2006/relationships/slideMaster" Target="slideMasters/slideMaster1.xml"/><Relationship Id="Rb87cb585fe274448" Type="http://schemas.openxmlformats.org/officeDocument/2006/relationships/slideMaster" Target="slideMasters/slideMaster3.xml"/><Relationship Id="Re562c2e4671348aa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214af957cecc4cfc" Type="http://schemas.openxmlformats.org/officeDocument/2006/relationships/theme" Target="theme/theme6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Thank you for your time. Today we want to understand where you are with AI on Azure and show how we help with agent governance and operations.</a:t>
            </a:r>
          </a:p>
          <a:p/>
          <a:p>
            <a:r>
              <a:t>Likely question: How long does this take?</a:t>
            </a:r>
          </a:p>
          <a:p>
            <a:r>
              <a:t>Answer: We will cover it in about 20 minutes and leave time for your questions.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three issues we hear most often. Which of them sounds like you?</a:t>
            </a:r>
          </a:p>
          <a:p/>
          <a:p>
            <a:r>
              <a:t>Likely question: Is this common?</a:t>
            </a:r>
          </a:p>
          <a:p>
            <a:r>
              <a:t>Answer: Yes, especially once AI moves from pilot to production.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We configure Microsoft Agent 365, the Foundry Control Plane and Entra agent identities first, then add usage evidence and a stop path proven in a measured pilot, only where they fall short.</a:t>
            </a:r>
          </a:p>
          <a:p/>
          <a:p>
            <a:r>
              <a:t>Likely question: Do you replace Microsoft tools?</a:t>
            </a:r>
          </a:p>
          <a:p>
            <a:r>
              <a:t>Answer: No. We configure Microsoft tools first and only add what they do not cover.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These are the outcomes you can test at the end, not just documents.</a:t>
            </a:r>
          </a:p>
          <a:p/>
          <a:p>
            <a:r>
              <a:t>Likely question: How do we know it worked?</a:t>
            </a:r>
          </a:p>
          <a:p>
            <a:r>
              <a:t>Answer: Each outcome has an acceptance test we agree with you at the start.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Most clients start small with an assessment, then decide on the next step with evidence.</a:t>
            </a:r>
          </a:p>
          <a:p/>
          <a:p>
            <a:r>
              <a:t>Likely question: What does it cost?</a:t>
            </a:r>
          </a:p>
          <a:p>
            <a:r>
              <a:t>Answer: We agree a fixed price for the assessment, and price later phases from what the assessment finds.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 Durations are typical ranges; pricing is agreed after the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Configures Microsoft Agent 365, Foundry Control Plane, Entra Agent ID and Conditional Access for agents, Defender and Purview before any custom build.</a:t>
            </a:r>
          </a:p>
          <a:p/>
          <a:p>
            <a:r>
              <a:t>Likely question: Why does that matter?</a:t>
            </a:r>
          </a:p>
          <a:p>
            <a:r>
              <a:t>Answer: Using Microsoft’s own services means your team can maintain it and it keeps pace with Microsoft’s roadmap.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</a:t>
            </a:r>
          </a:p>
          <a:p>
            <a:r>
              <a:t>Say: Here is how we suggest moving forward. The first step is small and gives us both evidence.</a:t>
            </a:r>
          </a:p>
          <a:p/>
          <a:p>
            <a:r>
              <a:t>Likely question: Who do you need from our side?</a:t>
            </a:r>
          </a:p>
          <a:p>
            <a:r>
              <a:t>Answer: A sponsor, a platform contact and access to the relevant subscriptions.</a:t>
            </a:r>
          </a:p>
          <a:p/>
          <a:p>
            <a:r>
              <a:t>DETAIL AND CAVEATS</a:t>
            </a:r>
          </a:p>
          <a:p>
            <a:r>
              <a:t>Draft for customer discussion. Durations are typical ranges; scope and price are agreed after an assessment.</a:t>
            </a:r>
          </a:p>
          <a:p/>
          <a:p>
            <a:r>
              <a:t>Sources: Microsoft Agent 365 now generally available (Microsoft Security blog, 1 May 2026) https://www.microsoft.com/en-us/security/blog/2026/05/01/microsoft-agent-365-now-generally-available-expands-capabilities-and-integrations/; Foundry Control Plane: manage agents https://learn.microsoft.com/en-us/azure/foundry/control-plane/how-to-manage-agents; Conditional Access for agents (Microsoft Learn, updated 30 Sep 2026) https://learn.microsoft.com/en-us/entra/identity/conditional-access/agent-id; EU AI Act Update: Digital Omnibus finalises compliance changes (Orrick, third-party law-firm summary, 29 Jul 2026; EUR-Lex text not verified) https://www.orrick.com/en/Insights/2026/07/EU-AI-Act-Update-Digital-Omnibus-Finalizes-8-Compliance-Changes</a:t>
            </a:r>
          </a:p>
          <a:p/>
          <a:p>
            <a:r>
              <a:t>Status: draft for customer discussion. Remove speaker notes before sending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239e75cfd1cc4ab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bd07ab5f78149a7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9302c84203c48a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34241bc85ae4c7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861045e69b14e7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7b814c8ca3840f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298d15c1849d417c" Type="http://schemas.openxmlformats.org/officeDocument/2006/relationships/image" Target="../media/image.png"/><Relationship Id="Rf2add38ed2ce453b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2158411d075f466d" Type="http://schemas.openxmlformats.org/officeDocument/2006/relationships/image" Target="../media/image2.png"/><Relationship Id="R2c766725c11e4ac9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46f2492711884366" Type="http://schemas.openxmlformats.org/officeDocument/2006/relationships/slideMaster" Target="../slideMasters/slideMaster4.xml"/><Relationship Id="Rf12105039f804078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82f16bd3225744a2" Type="http://schemas.openxmlformats.org/officeDocument/2006/relationships/image" Target="../media/image4.png"/><Relationship Id="Rf8347490cbfa44f8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88d60132230f4421" Type="http://schemas.openxmlformats.org/officeDocument/2006/relationships/slideMaster" Target="../slideMasters/slideMaster2.xml"/><Relationship Id="Rf1de68665da2460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33882fa3e3694f86" Type="http://schemas.openxmlformats.org/officeDocument/2006/relationships/slideMaster" Target="../slideMasters/slideMaster2.xml"/><Relationship Id="R681a98542d40472f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53c158dd22bd4552" Type="http://schemas.openxmlformats.org/officeDocument/2006/relationships/image" Target="../media/image7.png"/><Relationship Id="Radb767df053a44b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3f1fb268c94e499b" Type="http://schemas.openxmlformats.org/officeDocument/2006/relationships/slideMaster" Target="../slideMasters/slideMaster2.xml"/><Relationship Id="Rbc17ee00ae7c4253" Type="http://schemas.openxmlformats.org/officeDocument/2006/relationships/image" Target="../media/image8.png"/></Relationships>
</file>

<file path=ppt/slideLayouts/_rels/slideLayout15.xml.rels><?xml version='1.0' encoding='UTF-8' standalone='yes'?>
<Relationships xmlns="http://schemas.openxmlformats.org/package/2006/relationships"><Relationship Id="R2a4dc73f52214ef5" Type="http://schemas.openxmlformats.org/officeDocument/2006/relationships/slideMaster" Target="../slideMasters/slideMaster2.xml"/><Relationship Id="Rfd22619079854251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96ee4aaf91124207" Type="http://schemas.openxmlformats.org/officeDocument/2006/relationships/image" Target="../media/image10.png"/><Relationship Id="Ra2224d11fb44409e" Type="http://schemas.openxmlformats.org/officeDocument/2006/relationships/slideMaster" Target="../slideMasters/slideMaster3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3C62BE-6266-4FD7-A134-B94FB4390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FB86A6-41C3-4C5B-A646-A13982E6EB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C775D-47F2-48A9-8A22-0C2377E85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C8EC57-8628-4F66-8C10-9FBC9A74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3CC55F-B37A-4AA3-86A4-40BE777C9F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FE6414-6D1A-4BA5-A89E-40924220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021ED1-1B7C-41CB-9EA7-75E534190F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6D015F-3F62-4C89-AE20-108E397F67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A3482-BC64-4792-A439-94F33F450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4684B-9BE8-449B-99FE-62DBE5080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01 Cov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AC20D-6B8E-4E11-84C7-B8C6C8C1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15c1849d417c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C9D4263-9EE3-4FAD-8E35-B98A0454E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143125"/>
            <a:ext cx="10572750" cy="1571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115CABD-2ED3-4D69-8532-C5C8419DE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85800" y="4000500"/>
            <a:ext cx="10477500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EAB9A1B-F3BD-4075-A0CF-2C38B41B85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619750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650">
                <a:solidFill>
                  <a:schemeClr val="lt1"/>
                </a:solidFill>
              </a:defRPr>
            </a:pPr>
            <a:r>
              <a:rPr sz="165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2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555F-6ABF-4DE0-8B76-AD58059B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411d075f466d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2780-5767-4422-A542-3310DC82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4AA11AF-3988-4E59-B3EC-36105FD3A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0F4AE85-0251-4AA0-B4DE-399139D72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820400" cy="3571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3 Section Divid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9DC5D-4FF1-4D21-9CE6-A33830CEDB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05039f804078"/>
          <a:stretch xmlns:a="http://schemas.openxmlformats.org/drawingml/2006/main"/>
        </p:blipFill>
        <p:spPr>
          <a:xfrm xmlns:a="http://schemas.openxmlformats.org/drawingml/2006/main">
            <a:off x="686062" y="552450"/>
            <a:ext cx="2571227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BBB9219-B0FC-427D-90E8-1F67F5B5C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762250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tx1"/>
                </a:solidFill>
              </a:defRPr>
            </a:pPr>
            <a:r>
              <a:rPr sz="48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6194A791-D7D0-46D9-B4BD-E57324440C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191000"/>
            <a:ext cx="952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tx1"/>
                </a:solidFill>
              </a:defRPr>
            </a:pPr>
            <a:r>
              <a:rPr sz="22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4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57043-2B4E-4380-8B24-BADBD1C95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6bd3225744a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3C092-75B5-48CC-A68D-B133B32D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43F1ED2-FF18-4A8B-9671-FC9A1875C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7448854-A198-49EC-AEF3-2CB49FFA21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9550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625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625">
                <a:solidFill>
                  <a:schemeClr val="accent2"/>
                </a:solidFill>
              </a:defRPr>
            </a:pPr>
            <a:r>
              <a:rPr sz="2625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FC5D61-FDBE-4993-890E-B5779AB85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3714750"/>
            <a:ext cx="10477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chemeClr val="tx1"/>
                </a:solidFill>
              </a:defRPr>
            </a:pPr>
            <a:r>
              <a:rPr sz="2025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05 Two Column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1B49B-903B-4763-A3F8-6316D9376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e68665da2460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D1C1C-5B3E-4259-A507-FECD1859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4997F6-7BDC-4B75-A696-863F16765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E972CE9-7232-4DFC-9BEF-C755827B3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29F83F-72FA-48E8-BC8E-75C189A05B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38900" y="2047875"/>
            <a:ext cx="50673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06 Offer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C124D-6B65-4C2D-8A37-252B07A30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98542d40472f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2F35-9AEC-43A2-BE69-C18C8CE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F0AEFED-FFDD-47A7-AEA7-26363156A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D0AC503-9F9D-4ED3-B877-E6363B792B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47875"/>
            <a:ext cx="52387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AACCEF8-AFA9-4736-B70E-4537D3E3CB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62750" y="2047875"/>
            <a:ext cx="4743450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chemeClr val="tx1"/>
                </a:solidFill>
              </a:defRPr>
            </a:pPr>
            <a:r>
              <a:rPr sz="195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07 Architectu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9C74-9630-4765-8276-43DA682C4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158dd22bd4552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B7F6B-71B3-44A7-9E33-5E9A576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8E1A4E-26A5-4B3C-8BC2-019693C1A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46CD490-AA7C-4C2B-9541-660D19851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000250"/>
            <a:ext cx="74295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400">
                <a:solidFill>
                  <a:schemeClr val="accent2"/>
                </a:solidFill>
              </a:defRPr>
            </a:defPPr>
          </a:lstStyle>
          <a:p xmlns:a="http://schemas.openxmlformats.org/drawingml/2006/main">
            <a:pPr>
              <a:defRPr sz="2400">
                <a:solidFill>
                  <a:schemeClr val="accent2"/>
                </a:solidFill>
              </a:defRPr>
            </a:pPr>
            <a:r>
              <a:rPr sz="2400">
                <a:solidFill>
                  <a:schemeClr val="accent2"/>
                </a:solidFill>
              </a:rPr>
              <a:t>[Replace with content]</a:t>
            </a:r>
          </a:p>
        </p:txBody>
      </p:sp>
      <p:sp>
        <p:nvSpPr>
          <p:cNvPr id="5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5F0A514-67DC-4714-94F9-E5A638797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801100" y="2000250"/>
            <a:ext cx="270510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tx1"/>
                </a:solidFill>
              </a:defRPr>
            </a:pPr>
            <a:r>
              <a:rPr sz="1800">
                <a:solidFill>
                  <a:schemeClr val="tx1"/>
                </a:solidFill>
              </a:rPr>
              <a:t>[Replace with content]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08 Tab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616A-2AFD-4DC5-B643-38947C989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e00ae7c4253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03B6-CCD9-4B49-8195-384AD298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B252EB8-8E76-44FB-811B-454EB0BCF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65C2D53-E410-43F9-9B8B-322B84CB4F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48325"/>
            <a:ext cx="108204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09 Delivery Pla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D151-E620-4600-8202-38F279D77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2619079854251"/>
          <a:stretch xmlns:a="http://schemas.openxmlformats.org/drawingml/2006/main"/>
        </p:blipFill>
        <p:spPr>
          <a:xfrm xmlns:a="http://schemas.openxmlformats.org/drawingml/2006/main">
            <a:off x="9658538" y="400050"/>
            <a:ext cx="1847474" cy="33077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2C82A-37E1-4805-9D1D-8731180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chemeClr val="tx2"/>
                </a:solidFill>
              </a:defRPr>
            </a:pPr>
            <a:r>
              <a:rPr sz="1200" b="0">
                <a:solidFill>
                  <a:schemeClr val="tx2"/>
                </a:solidFill>
              </a:rPr>
              <a:t>[Client / project]   ·   [Date]</a:t>
            </a:r>
          </a:p>
        </p:txBody>
      </p:sp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9D558D-C901-4558-84B8-EA6D0316C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000125"/>
            <a:ext cx="10820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chemeClr val="tx1"/>
                </a:solidFill>
              </a:defRPr>
            </a:defPPr>
          </a:lstStyle>
          <a:p xmlns:a="http://schemas.openxmlformats.org/drawingml/2006/main">
            <a:pPr>
              <a:defRPr sz="3300">
                <a:solidFill>
                  <a:schemeClr val="tx1"/>
                </a:solidFill>
              </a:defRPr>
            </a:pPr>
            <a:r>
              <a:rPr sz="3300">
                <a:solidFill>
                  <a:schemeClr val="tx1"/>
                </a:solidFill>
              </a:rPr>
              <a:t>[Slide title]</a:t>
            </a:r>
          </a:p>
        </p:txBody>
      </p:sp>
      <p:sp>
        <p:nvSpPr>
          <p:cNvPr id="4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6972C0-DCFE-429F-AF12-8A55DB71DA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5676900"/>
            <a:ext cx="10820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chemeClr val="tx2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chemeClr val="tx2"/>
                </a:solidFill>
              </a:defRPr>
            </a:pPr>
            <a:r>
              <a:rPr sz="1500">
                <a:solidFill>
                  <a:schemeClr val="tx2"/>
                </a:solidFill>
              </a:rPr>
              <a:t>[Replace with content]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0 Closing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816C-04DC-4E5C-838B-663FCE8F6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e4aaf91124207"/>
          <a:stretch xmlns:a="http://schemas.openxmlformats.org/drawingml/2006/main"/>
        </p:blipFill>
        <p:spPr>
          <a:xfrm xmlns:a="http://schemas.openxmlformats.org/drawingml/2006/main">
            <a:off x="687813" y="552450"/>
            <a:ext cx="2567724" cy="460362"/>
          </a:xfrm>
          <a:prstGeom xmlns:a="http://schemas.openxmlformats.org/drawingml/2006/main" prst="rect">
            <a:avLst/>
          </a:prstGeom>
        </p:spPr>
      </p:pic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C4BFDA8-6E4E-40CE-AA3A-4D2DD54169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238375"/>
            <a:ext cx="10477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4800">
                <a:solidFill>
                  <a:schemeClr val="lt1"/>
                </a:solidFill>
              </a:defRPr>
            </a:pPr>
            <a:r>
              <a:rPr sz="4800">
                <a:solidFill>
                  <a:schemeClr val="lt1"/>
                </a:solidFill>
              </a:rPr>
              <a:t>[Slide title]</a:t>
            </a:r>
          </a:p>
        </p:txBody>
      </p:sp>
      <p:sp>
        <p:nvSpPr>
          <p:cNvPr id="3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4389B62-D467-4DBA-92F0-2B6671280F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3876675"/>
            <a:ext cx="1047750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chemeClr val="accent3"/>
                </a:solidFill>
              </a:defRPr>
            </a:defPPr>
          </a:lstStyle>
          <a:p xmlns:a="http://schemas.openxmlformats.org/drawingml/2006/main">
            <a:pPr>
              <a:defRPr sz="2250">
                <a:solidFill>
                  <a:schemeClr val="accent3"/>
                </a:solidFill>
              </a:defRPr>
            </a:pPr>
            <a:r>
              <a:rPr sz="2250">
                <a:solidFill>
                  <a:schemeClr val="accent3"/>
                </a:solidFill>
              </a:rPr>
              <a:t>[Replace with content]</a:t>
            </a:r>
          </a:p>
        </p:txBody>
      </p:sp>
      <p:sp>
        <p:nvSpPr>
          <p:cNvPr id="4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A2EFECE1-97EE-4C2A-8563-A64ECD2E3E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5524500"/>
            <a:ext cx="1047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chemeClr val="lt1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chemeClr val="lt1"/>
                </a:solidFill>
              </a:defRPr>
            </a:pPr>
            <a:r>
              <a:rPr sz="1800">
                <a:solidFill>
                  <a:schemeClr val="lt1"/>
                </a:solidFill>
              </a:rPr>
              <a:t>[Replace with content]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35648cb6e9984541" Type="http://schemas.openxmlformats.org/officeDocument/2006/relationships/slideLayout" Target="../slideLayouts/slideLayout3.xml"/><Relationship Id="R8f1bf2f0f8464e84" Type="http://schemas.openxmlformats.org/officeDocument/2006/relationships/slideLayout" Target="../slideLayouts/slideLayout1.xml"/><Relationship Id="Ra52babe339764543" Type="http://schemas.openxmlformats.org/officeDocument/2006/relationships/slideLayout" Target="../slideLayouts/slideLayout5.xml"/><Relationship Id="Rc147ea9fb0f543b1" Type="http://schemas.openxmlformats.org/officeDocument/2006/relationships/slideLayout" Target="../slideLayouts/slideLayout4.xml"/><Relationship Id="Re465f5df15ad44f5" Type="http://schemas.openxmlformats.org/officeDocument/2006/relationships/slideLayout" Target="../slideLayouts/slideLayout6.xml"/><Relationship Id="Re9fc826fb18a4f15" Type="http://schemas.openxmlformats.org/officeDocument/2006/relationships/slideLayout" Target="../slideLayouts/slideLayout2.xml"/><Relationship Id="Rf416159d631a469e" Type="http://schemas.openxmlformats.org/officeDocument/2006/relationships/theme" Target="theme/theme2.xml"/></Relationships>
</file>

<file path=ppt/slideMasters/_rels/slideMaster2.xml.rels><?xml version='1.0' encoding='UTF-8' standalone='yes'?>
<Relationships xmlns="http://schemas.openxmlformats.org/package/2006/relationships"><Relationship Id="R2a5f1ca95513402a" Type="http://schemas.openxmlformats.org/officeDocument/2006/relationships/slideLayout" Target="../slideLayouts/slideLayout14.xml"/><Relationship Id="R2eeacb68d2144397" Type="http://schemas.openxmlformats.org/officeDocument/2006/relationships/slideLayout" Target="../slideLayouts/slideLayout15.xml"/><Relationship Id="R49bfac7664ba44c0" Type="http://schemas.openxmlformats.org/officeDocument/2006/relationships/theme" Target="theme/theme3.xml"/><Relationship Id="R8f2c27fe36c147d3" Type="http://schemas.openxmlformats.org/officeDocument/2006/relationships/slideLayout" Target="../slideLayouts/slideLayout12.xml"/><Relationship Id="R94a7b8a46c4f4bde" Type="http://schemas.openxmlformats.org/officeDocument/2006/relationships/slideLayout" Target="../slideLayouts/slideLayout10.xml"/><Relationship Id="Ra82fbf657a2f48ee" Type="http://schemas.openxmlformats.org/officeDocument/2006/relationships/slideLayout" Target="../slideLayouts/slideLayout11.xml"/><Relationship Id="Rde438d9eb6954fbf" Type="http://schemas.openxmlformats.org/officeDocument/2006/relationships/slideLayout" Target="../slideLayouts/slideLayout13.xml"/><Relationship Id="Ref66cbd7649342a4" Type="http://schemas.openxmlformats.org/officeDocument/2006/relationships/slideLayout" Target="../slideLayouts/slideLayout8.xml"/></Relationships>
</file>

<file path=ppt/slideMasters/_rels/slideMaster3.xml.rels><?xml version='1.0' encoding='UTF-8' standalone='yes'?>
<Relationships xmlns="http://schemas.openxmlformats.org/package/2006/relationships"><Relationship Id="R79ea0f8627af41f6" Type="http://schemas.openxmlformats.org/officeDocument/2006/relationships/slideLayout" Target="../slideLayouts/slideLayout7.xml"/><Relationship Id="R7eb32b989c4847f8" Type="http://schemas.openxmlformats.org/officeDocument/2006/relationships/theme" Target="theme/theme4.xml"/><Relationship Id="Rda88ffd24a5f43ce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2578da971f074f4d" Type="http://schemas.openxmlformats.org/officeDocument/2006/relationships/theme" Target="theme/theme5.xml"/><Relationship Id="Rdb68f69021dd4ee5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1bf2f0f8464e84"/>
    <p:sldLayoutId xmlns:r="http://schemas.openxmlformats.org/officeDocument/2006/relationships" id="2147483650" r:id="Re9fc826fb18a4f15"/>
    <p:sldLayoutId xmlns:r="http://schemas.openxmlformats.org/officeDocument/2006/relationships" id="2147483651" r:id="R35648cb6e9984541"/>
    <p:sldLayoutId xmlns:r="http://schemas.openxmlformats.org/officeDocument/2006/relationships" id="2147483652" r:id="Rc147ea9fb0f543b1"/>
    <p:sldLayoutId xmlns:r="http://schemas.openxmlformats.org/officeDocument/2006/relationships" id="2147483653" r:id="Ra52babe339764543"/>
    <p:sldLayoutId xmlns:r="http://schemas.openxmlformats.org/officeDocument/2006/relationships" id="2147483654" r:id="Re465f5df15ad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gnizant Ligh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f66cbd7649342a4"/>
    <p:sldLayoutId xmlns:r="http://schemas.openxmlformats.org/officeDocument/2006/relationships" id="2147483657" r:id="R94a7b8a46c4f4bde"/>
    <p:sldLayoutId xmlns:r="http://schemas.openxmlformats.org/officeDocument/2006/relationships" id="2147483658" r:id="Ra82fbf657a2f48ee"/>
    <p:sldLayoutId xmlns:r="http://schemas.openxmlformats.org/officeDocument/2006/relationships" id="2147483659" r:id="R8f2c27fe36c147d3"/>
    <p:sldLayoutId xmlns:r="http://schemas.openxmlformats.org/officeDocument/2006/relationships" id="2147483660" r:id="Rde438d9eb6954fbf"/>
    <p:sldLayoutId xmlns:r="http://schemas.openxmlformats.org/officeDocument/2006/relationships" id="2147483661" r:id="R2a5f1ca95513402a"/>
    <p:sldLayoutId xmlns:r="http://schemas.openxmlformats.org/officeDocument/2006/relationships" id="2147483662" r:id="R2eeacb68d2144397"/>
  </p:sldLayoutIdLst>
</p:sldMaster>
</file>

<file path=ppt/slideMasters/slideMaster3.xml><?xml version="1.0" encoding="utf-8"?>
<p:sldMaster xmlns:p="http://schemas.openxmlformats.org/presentationml/2006/main">
  <p:cSld name="Cognizant Navy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9ea0f8627af41f6"/>
    <p:sldLayoutId xmlns:r="http://schemas.openxmlformats.org/officeDocument/2006/relationships" id="2147483665" r:id="Rda88ffd24a5f43ce"/>
  </p:sldLayoutIdLst>
</p:sldMaster>
</file>

<file path=ppt/slideMasters/slideMaster4.xml><?xml version="1.0" encoding="utf-8"?>
<p:sldMaster xmlns:p="http://schemas.openxmlformats.org/presentationml/2006/main">
  <p:cSld name="Cognizant Cyan">
    <p:bg>
      <p:bgPr>
        <a:solidFill xmlns:a="http://schemas.openxmlformats.org/drawingml/2006/main">
          <a:schemeClr val="accent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db68f69021dd4ee5"/>
  </p:sldLayoutIdLst>
</p:sldMaster>
</file>

<file path=ppt/slideMasters/theme/theme2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194560" cy="3934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i="0">
                <a:solidFill>
                  <a:srgbClr val="26EFE9"/>
                </a:solidFill>
                <a:latin typeface="Arial"/>
              </a:rPr>
              <a:t>COGNIZANT  ·  AZURE AI PLATFORM SERVICES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10789920" cy="1737360"/>
          </a:xfrm>
          <a:prstGeom prst="rect">
            <a:avLst/>
          </a:prstGeom>
          <a:noFill/>
        </p:spPr>
        <p:txBody>
          <a:bodyPr wrap="square" lIns="0" rIns="0" anchor="b">
            <a:no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Agent Governance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0" i="0">
                <a:solidFill>
                  <a:srgbClr val="26EFE9"/>
                </a:solidFill>
                <a:latin typeface="Arial"/>
              </a:rPr>
              <a:t>Know every agent, see how it is used, and prove a safe stop before relying on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Built on Microsoft Azure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 i="0">
                <a:solidFill>
                  <a:srgbClr val="C9C9E0"/>
                </a:solidFill>
                <a:latin typeface="Arial"/>
              </a:rPr>
              <a:t>11 Oct 2026  ·  Version 4.0  ·  Draft for account lead review before customer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5989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0" i="0">
                <a:solidFill>
                  <a:srgbClr val="C9C9E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The challenges we hear most often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4605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YOUR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Agents everywhere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Copilot Studio, Foundry, custom hosts and other clouds each hold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Usage is unclear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An inventory does not show which agents are active, dormant or orphaned.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593592" cy="3840480"/>
          </a:xfrm>
          <a:prstGeom prst="roundRect">
            <a:avLst>
              <a:gd name="adj" fmla="val 2035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73152" bIns="73152" wrap="square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00048"/>
                </a:solidFill>
                <a:latin typeface="Arial"/>
              </a:rPr>
              <a:t>Stopping is not instant</a:t>
            </a:r>
          </a:p>
          <a:p>
            <a:pPr algn="l"/>
            <a:r>
              <a:rPr sz="2000" b="0" i="0">
                <a:solidFill>
                  <a:srgbClr val="1E1E2E"/>
                </a:solidFill>
                <a:latin typeface="Arial"/>
              </a:rPr>
              <a:t>Stopping a Foundry agent does not end runs already in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Our approach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16713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HOW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Arial"/>
              </a:rPr>
              <a:t>We configure Microsoft Agent 365, the Foundry Control Plane and Entra agent identities first, then add usage evidence and a stop path proven in a measured pilot, only where they fall short.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1  Assess coverage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Runtimes, licences, telemetry</a:t>
            </a:r>
          </a:p>
        </p:txBody>
      </p:sp>
      <p:cxnSp>
        <p:nvCxnSpPr>
          <p:cNvPr id="9" name="Connector (flow)"/>
          <p:cNvCxnSpPr/>
          <p:nvPr/>
        </p:nvCxnSpPr>
        <p:spPr>
          <a:xfrm>
            <a:off x="2651760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2  Configure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Agent 365, Foundry Control Plane, Entra</a:t>
            </a:r>
          </a:p>
        </p:txBody>
      </p:sp>
      <p:cxnSp>
        <p:nvCxnSpPr>
          <p:cNvPr id="11" name="Connector (flow)"/>
          <p:cNvCxnSpPr/>
          <p:nvPr/>
        </p:nvCxnSpPr>
        <p:spPr>
          <a:xfrm>
            <a:off x="4910328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65776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3  Evidence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Join usage to deployment records</a:t>
            </a:r>
          </a:p>
        </p:txBody>
      </p:sp>
      <p:cxnSp>
        <p:nvCxnSpPr>
          <p:cNvPr id="13" name="Connector (flow)"/>
          <p:cNvCxnSpPr/>
          <p:nvPr/>
        </p:nvCxnSpPr>
        <p:spPr>
          <a:xfrm>
            <a:off x="7168896" y="4297680"/>
            <a:ext cx="155448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24344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4  Prove the stop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Pilot with measured stop time</a:t>
            </a:r>
          </a:p>
        </p:txBody>
      </p:sp>
      <p:cxnSp>
        <p:nvCxnSpPr>
          <p:cNvPr id="15" name="Connector (flow)"/>
          <p:cNvCxnSpPr/>
          <p:nvPr/>
        </p:nvCxnSpPr>
        <p:spPr>
          <a:xfrm>
            <a:off x="9427463" y="4297680"/>
            <a:ext cx="155449" cy="0"/>
          </a:xfrm>
          <a:prstGeom prst="line">
            <a:avLst/>
          </a:prstGeom>
          <a:ln w="22225">
            <a:solidFill>
              <a:srgbClr val="000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315468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F5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73152" bIns="73152"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48"/>
                </a:solidFill>
                <a:latin typeface="Arial"/>
              </a:rPr>
              <a:t>5  Operate</a:t>
            </a:r>
          </a:p>
          <a:p>
            <a:pPr algn="l"/>
            <a:r>
              <a:rPr sz="1700" b="0" i="0">
                <a:solidFill>
                  <a:srgbClr val="1E1E2E"/>
                </a:solidFill>
                <a:latin typeface="Arial"/>
              </a:rPr>
              <a:t>Reviews, drills, audit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What you get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873759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Agent inventory with business and technical owners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Usage status for every in-scope agent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 stop-path pilot with measured stop time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Audit-ready control matrix and evidence pack</a:t>
            </a:r>
          </a:p>
          <a:p>
            <a:pPr algn="l" marL="201168" indent="-201168">
              <a:spcAft>
                <a:spcPts val="1400"/>
              </a:spcAft>
              <a:buFont typeface="Arial"/>
              <a:buChar char="•"/>
            </a:pPr>
            <a:r>
              <a:rPr sz="2400" b="0" i="0">
                <a:solidFill>
                  <a:srgbClr val="1E1E2E"/>
                </a:solidFill>
                <a:latin typeface="Arial"/>
              </a:rPr>
              <a:t>Dormant-agent review and retirement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How we engage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ENGAGEMENT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548640" y="1463040"/>
          <a:ext cx="11091672" cy="156971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5120640"/>
                <a:gridCol w="2679192"/>
              </a:tblGrid>
              <a:tr h="380999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What it covers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Arial"/>
                        </a:rPr>
                        <a:t>Typical duration</a:t>
                      </a:r>
                    </a:p>
                  </a:txBody>
                  <a:tcPr marL="73152" marR="73152" marT="36576" marB="36576" anchor="ctr">
                    <a:solidFill>
                      <a:srgbClr val="000048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Coverage 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Inventory and licence check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3 to 4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Configure and evidence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Native control plane set up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6 to 10 weeks</a:t>
                      </a:r>
                    </a:p>
                  </a:txBody>
                  <a:tcPr marL="73152" marR="73152" marT="36576" marB="36576" anchor="ctr">
                    <a:solidFill>
                      <a:srgbClr val="F5F5F2"/>
                    </a:solidFill>
                  </a:tcPr>
                </a:tc>
              </a:tr>
              <a:tr h="396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1" i="0">
                          <a:solidFill>
                            <a:srgbClr val="1E1E2E"/>
                          </a:solidFill>
                          <a:latin typeface="Arial"/>
                        </a:rPr>
                        <a:t>Stop-path pilot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Measured stop time per runtime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/>
                      <a:r>
                        <a:rPr sz="2000" b="0" i="0">
                          <a:solidFill>
                            <a:srgbClr val="1E1E2E"/>
                          </a:solidFill>
                          <a:latin typeface="Arial"/>
                        </a:rPr>
                        <a:t>3 to 4 weeks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94960"/>
            <a:ext cx="11091672" cy="594360"/>
          </a:xfrm>
          <a:prstGeom prst="roundRect">
            <a:avLst>
              <a:gd name="adj" fmla="val 1230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Typical durations. Scope and price are agreed after a short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Built on Microsoft Azure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8516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MICROSOFT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1672" cy="2743200"/>
          </a:xfrm>
          <a:prstGeom prst="roundRect">
            <a:avLst>
              <a:gd name="adj" fmla="val 2666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73152" bIns="73152" wrap="square">
            <a:noAutofit/>
          </a:bodyPr>
          <a:lstStyle/>
          <a:p>
            <a:pPr algn="l"/>
            <a:r>
              <a:rPr sz="2400" b="0" i="0">
                <a:solidFill>
                  <a:srgbClr val="1E1E2E"/>
                </a:solidFill>
                <a:latin typeface="Arial"/>
              </a:rPr>
              <a:t>Configures Microsoft Agent 365, Foundry Control Plane, Entra Agent ID and Conditional Access for agents, Defender and Purview before any custom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>
            <a:noAutofit/>
          </a:bodyPr>
          <a:lstStyle/>
          <a:p>
            <a:pPr algn="l"/>
            <a:r>
              <a:rPr sz="1700" b="1" i="0">
                <a:solidFill>
                  <a:srgbClr val="000048"/>
                </a:solidFill>
                <a:latin typeface="Arial"/>
              </a:rPr>
              <a:t>Note:  </a:t>
            </a:r>
            <a:r>
              <a:rPr sz="1700" b="0" i="0">
                <a:solidFill>
                  <a:srgbClr val="1E1E2E"/>
                </a:solidFill>
                <a:latin typeface="Arial"/>
              </a:rPr>
              <a:t>Preview features are used only in pilots. Production uses generally available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1672" cy="640080"/>
          </a:xfrm>
        </p:spPr>
        <p:txBody>
          <a:bodyPr wrap="square" anchor="t">
            <a:noAutofit/>
          </a:bodyPr>
          <a:lstStyle/>
          <a:p>
            <a:pPr algn="l"/>
            <a:r>
              <a:rPr sz="2800" b="1">
                <a:solidFill>
                  <a:srgbClr val="000048"/>
                </a:solidFill>
                <a:latin typeface="Arial"/>
              </a:rPr>
              <a:t>Suggested next steps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274320"/>
            <a:ext cx="1536192" cy="2750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74320"/>
            <a:ext cx="10693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2F78C4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53565A"/>
                </a:solidFill>
                <a:latin typeface="Arial"/>
              </a:rPr>
              <a:t>Cognizant  ·  Agent Governance and Operations  ·  v4.0  ·  11 Oct 2026  ·  Draft for customer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b="0" i="0">
                <a:solidFill>
                  <a:srgbClr val="53565A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1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List your agent platforms, even roughly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2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Confirm Agent 365 or Microsoft 365 E7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1091672" cy="1051560"/>
          </a:xfrm>
          <a:prstGeom prst="roundRect">
            <a:avLst>
              <a:gd name="adj" fmla="val 6956"/>
            </a:avLst>
          </a:prstGeom>
          <a:solidFill>
            <a:srgbClr val="000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73152" bIns="73152" wrap="square">
            <a:noAutofit/>
          </a:bodyPr>
          <a:lstStyle/>
          <a:p>
            <a:pPr algn="l"/>
            <a:r>
              <a:rPr sz="2600" b="1" i="0">
                <a:solidFill>
                  <a:srgbClr val="26EFE9"/>
                </a:solidFill>
                <a:latin typeface="Arial"/>
              </a:rPr>
              <a:t>3   </a:t>
            </a:r>
            <a:r>
              <a:rPr sz="2400" b="0" i="0">
                <a:solidFill>
                  <a:srgbClr val="FFFFFF"/>
                </a:solidFill>
                <a:latin typeface="Arial"/>
              </a:rPr>
              <a:t>Name who may stop and restart an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gnizant website palette">
      <a:dk1>
        <a:srgbClr val="000048"/>
      </a:dk1>
      <a:lt1>
        <a:srgbClr val="FFFFFF"/>
      </a:lt1>
      <a:dk2>
        <a:srgbClr val="53565A"/>
      </a:dk2>
      <a:lt2>
        <a:srgbClr val="F5F5F2"/>
      </a:lt2>
      <a:accent1>
        <a:srgbClr val="000048"/>
      </a:accent1>
      <a:accent2>
        <a:srgbClr val="2F78C4"/>
      </a:accent2>
      <a:accent3>
        <a:srgbClr val="26EFE9"/>
      </a:accent3>
      <a:accent4>
        <a:srgbClr val="7373D8"/>
      </a:accent4>
      <a:accent5>
        <a:srgbClr val="53565A"/>
      </a:accent5>
      <a:accent6>
        <a:srgbClr val="D0D0CE"/>
      </a:accent6>
      <a:hlink>
        <a:srgbClr val="2F78C4"/>
      </a:hlink>
      <a:folHlink>
        <a:srgbClr val="7373D8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gnizant website palet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Upendra Kumar</dc:creator>
  <lastModifiedBy>Upendra Kumar</lastModifiedBy>
  <dc:title>Agent Governance and Operations v4.0</dc:title>
  <dcterms:created xsi:type="dcterms:W3CDTF">2026-10-10T13:56:28.3080000Z</dcterms:created>
  <dcterms:modified xsi:type="dcterms:W3CDTF">2026-10-10T13:56:28.3090000Z</dcterms:modified>
  <dc:subject>Proposed CIS Infra GTM offering for internal leadership review</dc:subject>
</coreProperties>
</file>