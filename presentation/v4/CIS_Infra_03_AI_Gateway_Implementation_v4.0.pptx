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56" ns0:id="rId9"/>
    <p:sldId xmlns:ns0="http://schemas.openxmlformats.org/officeDocument/2006/relationships" id="257" ns0:id="rId10"/>
    <p:sldId xmlns:ns0="http://schemas.openxmlformats.org/officeDocument/2006/relationships" id="258" ns0:id="rId11"/>
    <p:sldId xmlns:ns0="http://schemas.openxmlformats.org/officeDocument/2006/relationships" id="259" ns0:id="rId12"/>
    <p:sldId xmlns:ns0="http://schemas.openxmlformats.org/officeDocument/2006/relationships" id="260" ns0:id="rId13"/>
    <p:sldId xmlns:ns0="http://schemas.openxmlformats.org/officeDocument/2006/relationships" id="261" ns0:id="rId14"/>
    <p:sldId xmlns:ns0="http://schemas.openxmlformats.org/officeDocument/2006/relationships" id="262" ns0:id="rId15"/>
    <p:sldId xmlns:ns0="http://schemas.openxmlformats.org/officeDocument/2006/relationships" id="263" ns0:id="rId16"/>
    <p:sldId xmlns:ns0="http://schemas.openxmlformats.org/officeDocument/2006/relationships" id="264" ns0:id="rId17"/>
    <p:sldId xmlns:ns0="http://schemas.openxmlformats.org/officeDocument/2006/relationships" id="265" ns0:id="rId18"/>
    <p:sldId xmlns:ns0="http://schemas.openxmlformats.org/officeDocument/2006/relationships" id="266" ns0:id="rId19"/>
    <p:sldId xmlns:ns0="http://schemas.openxmlformats.org/officeDocument/2006/relationships" id="267" ns0:id="rId20"/>
    <p:sldId xmlns:ns0="http://schemas.openxmlformats.org/officeDocument/2006/relationships" id="268" ns0:id="rId21"/>
    <p:sldId xmlns:ns0="http://schemas.openxmlformats.org/officeDocument/2006/relationships" id="269" ns0:id="rId22"/>
    <p:sldId xmlns:ns0="http://schemas.openxmlformats.org/officeDocument/2006/relationships" id="270" ns0:id="rId23"/>
    <p:sldId xmlns:ns0="http://schemas.openxmlformats.org/officeDocument/2006/relationships" id="271" ns0:id="rId24"/>
    <p:sldId xmlns:ns0="http://schemas.openxmlformats.org/officeDocument/2006/relationships" id="272" ns0:id="rId25"/>
    <p:sldId xmlns:ns0="http://schemas.openxmlformats.org/officeDocument/2006/relationships" id="273" ns0:id="rId26"/>
    <p:sldId xmlns:ns0="http://schemas.openxmlformats.org/officeDocument/2006/relationships" id="274" ns0:id="rId27"/>
    <p:sldId xmlns:ns0="http://schemas.openxmlformats.org/officeDocument/2006/relationships" id="275" ns0:id="rId28"/>
    <p:sldId xmlns:ns0="http://schemas.openxmlformats.org/officeDocument/2006/relationships" id="276" ns0:id="rId29"/>
    <p:sldId xmlns:ns0="http://schemas.openxmlformats.org/officeDocument/2006/relationships" id="277" ns0:id="rId30"/>
    <p:sldId xmlns:ns0="http://schemas.openxmlformats.org/officeDocument/2006/relationships" id="278" ns0:id="rId31"/>
    <p:sldId xmlns:ns0="http://schemas.openxmlformats.org/officeDocument/2006/relationships" id="279" ns0:id="rId32"/>
    <p:sldId xmlns:ns0="http://schemas.openxmlformats.org/officeDocument/2006/relationships" id="280" ns0:id="rId33"/>
    <p:sldId xmlns:ns0="http://schemas.openxmlformats.org/officeDocument/2006/relationships" id="281" ns0:id="rId34"/>
    <p:sldId xmlns:ns0="http://schemas.openxmlformats.org/officeDocument/2006/relationships" id="282" ns0:id="rId35"/>
    <p:sldId xmlns:ns0="http://schemas.openxmlformats.org/officeDocument/2006/relationships" id="283" ns0:id="rId36"/>
    <p:sldId xmlns:ns0="http://schemas.openxmlformats.org/officeDocument/2006/relationships" id="284" ns0:id="rId37"/>
    <p:sldId xmlns:ns0="http://schemas.openxmlformats.org/officeDocument/2006/relationships" id="285" ns0:id="rId38"/>
    <p:sldId xmlns:ns0="http://schemas.openxmlformats.org/officeDocument/2006/relationships" id="286" ns0:id="rId39"/>
    <p:sldId xmlns:ns0="http://schemas.openxmlformats.org/officeDocument/2006/relationships" id="287" ns0:id="rId40"/>
    <p:sldId xmlns:ns0="http://schemas.openxmlformats.org/officeDocument/2006/relationships" id="288" ns0:id="rId41"/>
    <p:sldId xmlns:ns0="http://schemas.openxmlformats.org/officeDocument/2006/relationships" id="289" ns0:id="rId42"/>
    <p:sldId xmlns:ns0="http://schemas.openxmlformats.org/officeDocument/2006/relationships" id="290" ns0:id="rId43"/>
    <p:sldId xmlns:ns0="http://schemas.openxmlformats.org/officeDocument/2006/relationships" id="291" ns0:id="rId44"/>
    <p:sldId xmlns:ns0="http://schemas.openxmlformats.org/officeDocument/2006/relationships" id="292" ns0:id="rId45"/>
    <p:sldId xmlns:ns0="http://schemas.openxmlformats.org/officeDocument/2006/relationships" id="293" ns0:id="rId46"/>
    <p:sldId xmlns:ns0="http://schemas.openxmlformats.org/officeDocument/2006/relationships" id="294" ns0:id="rId47"/>
    <p:sldId xmlns:ns0="http://schemas.openxmlformats.org/officeDocument/2006/relationships" id="295" ns0:id="rId48"/>
    <p:sldId xmlns:ns0="http://schemas.openxmlformats.org/officeDocument/2006/relationships" id="296" ns0:id="rId49"/>
    <p:sldId xmlns:ns0="http://schemas.openxmlformats.org/officeDocument/2006/relationships" id="297" ns0:id="rId50"/>
    <p:sldId xmlns:ns0="http://schemas.openxmlformats.org/officeDocument/2006/relationships" id="298" ns0:id="rId51"/>
    <p:sldId xmlns:ns0="http://schemas.openxmlformats.org/officeDocument/2006/relationships" id="299" ns0:id="rId52"/>
    <p:sldId xmlns:ns0="http://schemas.openxmlformats.org/officeDocument/2006/relationships" id="300" ns0:id="rId53"/>
    <p:sldId xmlns:ns0="http://schemas.openxmlformats.org/officeDocument/2006/relationships" id="301" ns0:id="rId54"/>
    <p:sldId xmlns:ns0="http://schemas.openxmlformats.org/officeDocument/2006/relationships" id="302" ns0:id="rId55"/>
    <p:sldId xmlns:ns0="http://schemas.openxmlformats.org/officeDocument/2006/relationships" id="303" ns0:id="rId56"/>
    <p:sldId xmlns:ns0="http://schemas.openxmlformats.org/officeDocument/2006/relationships" id="304" ns0:id="rId57"/>
    <p:sldId xmlns:ns0="http://schemas.openxmlformats.org/officeDocument/2006/relationships" id="305" ns0:id="rId58"/>
    <p:sldId xmlns:ns0="http://schemas.openxmlformats.org/officeDocument/2006/relationships" id="306" ns0:id="rId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Net saving, synthetic USD per month</c:v>
                </c:pt>
              </c:strCache>
            </c:strRef>
          </c:tx>
          <c:spPr>
            <a:solidFill>
              <a:srgbClr val="7373D8"/>
            </a:solidFill>
          </c:spPr>
          <c:cat>
            <c:strRef>
              <c:f>Sheet1!$A$2:$A$6</c:f>
              <c:strCache>
                <c:ptCount val="5"/>
                <c:pt idx="0">
                  <c:v>5% hits</c:v>
                </c:pt>
                <c:pt idx="1">
                  <c:v>10% hits</c:v>
                </c:pt>
                <c:pt idx="2">
                  <c:v>20% hits</c:v>
                </c:pt>
                <c:pt idx="3">
                  <c:v>30% hits</c:v>
                </c:pt>
                <c:pt idx="4">
                  <c:v>40% hits</c:v>
                </c:pt>
              </c:strCache>
            </c:strRef>
          </c:cat>
          <c:val>
            <c:numRef>
              <c:f>Sheet1!$B$2:$B$6</c:f>
              <c:numCache>
                <c:formatCode>General</c:formatCode>
                <c:ptCount val="5"/>
                <c:pt idx="0">
                  <c:v>62</c:v>
                </c:pt>
                <c:pt idx="1">
                  <c:v>625</c:v>
                </c:pt>
                <c:pt idx="2">
                  <c:v>1750</c:v>
                </c:pt>
                <c:pt idx="3">
                  <c:v>2875</c:v>
                </c:pt>
                <c:pt idx="4">
                  <c:v>4000</c:v>
                </c:pt>
              </c:numCache>
            </c:numRef>
          </c:val>
        </c:ser>
        <c:dLbls>
          <c:numFmt formatCode="$#,##0" sourceLinked="0"/>
          <c:txPr>
            <a:bodyPr/>
            <a:lstStyle/>
            <a:p>
              <a:pPr>
                <a:defRPr sz="12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D0D0CE"/>
            </a:solidFill>
          </a:ln>
        </c:spPr>
        <c:txPr>
          <a:bodyPr/>
          <a:lstStyle/>
          <a:p>
            <a:pPr>
              <a:defRPr sz="1200"/>
            </a:pPr>
          </a:p>
        </c:txPr>
        <c:crossAx val="-2113994440"/>
        <c:crosses val="autoZero"/>
        <c:auto val="1"/>
        <c:lblAlgn val="ctr"/>
        <c:lblOffset val="100"/>
        <c:noMultiLvlLbl val="0"/>
      </c:catAx>
      <c:valAx>
        <c:axId val="-2113994440"/>
        <c:scaling/>
        <c:delete val="0"/>
        <c:axPos val="b"/>
        <c:majorGridlines>
          <c:spPr>
            <a:ln>
              <a:solidFill>
                <a:srgbClr val="E3E3E3"/>
              </a:solidFill>
            </a:ln>
          </c:spPr>
        </c:majorGridlines>
        <c:numFmt formatCode="$#,##0" sourceLinked="0"/>
        <c:majorTickMark val="out"/>
        <c:minorTickMark val="none"/>
        <c:tickLblPos val="nextTo"/>
        <c:spPr>
          <a:ln>
            <a:noFill/>
          </a:ln>
        </c:spPr>
        <c:txPr>
          <a:bodyPr/>
          <a:lstStyle/>
          <a:p>
            <a:pPr>
              <a:defRPr sz="1200"/>
            </a:pPr>
          </a:p>
        </c:txPr>
        <c:crossAx val="-2068027336"/>
        <c:crosses val="autoZero"/>
      </c:valAx>
    </c:plotArea>
    <c:dispBlanksAs val="gap"/>
  </c:chart>
  <c:txPr>
    <a:bodyPr/>
    <a:lstStyle/>
    <a:p>
      <a:pPr>
        <a:defRPr sz="1300">
          <a:solidFill>
            <a:srgbClr val="1E1E2E"/>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AI application and agent calls models and tools. Today most do it directly, with keys, and nobody can see or limit it. This offering puts one governed path in front of that traffic, and it also decides which tools are allowed to exist.</a:t>
            </a:r>
          </a:p>
          <a:p/>
          <a:p>
            <a:r>
              <a:t>Likely question: Is this just API Management?</a:t>
            </a:r>
          </a:p>
          <a:p>
            <a:r>
              <a:t>Answer: API Management is the engine. The offering is the policies, the private network, closing bypass routes, the tool registry and the reporting that make it useful.</a:t>
            </a:r>
          </a:p>
          <a:p/>
          <a:p>
            <a:r>
              <a:t>DETAIL AND CAVEATS</a:t>
            </a:r>
          </a:p>
          <a:p>
            <a:r>
              <a:t>Opening slide. Version 4.0 adds Azure API Center as the tool and MCP server registry, a gateway choice guide, latency testing, semantic caching economics and chargeback.</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summary in one line: one front door for AI traffic, and one list of approved tools behind it. The decisions are about using generally available tiers for production and making API Center the allow-list.</a:t>
            </a:r>
          </a:p>
          <a:p/>
          <a:p>
            <a:r>
              <a:t>Likely question: Why would a customer with one app buy this?</a:t>
            </a:r>
          </a:p>
          <a:p>
            <a:r>
              <a:t>Answer: They probably should not. We qualify on several consumers, cost allocation, identity controls or routing need.</a:t>
            </a:r>
          </a:p>
          <a:p/>
          <a:p>
            <a:r>
              <a:t>DETAIL AND CAVEATS</a:t>
            </a:r>
          </a:p>
          <a:p>
            <a:r>
              <a:t>Sell when several consumers, identity controls, cost allocation or routing justify a shared gateway. A single low-risk application may not justify a new service.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Three things push this now: agents use many tools through MCP, model versions change every few months, and security teams can now see AI attacks. A gateway plus a registry answers all three.</a:t>
            </a:r>
          </a:p>
          <a:p/>
          <a:p>
            <a:r>
              <a:t>Likely question: Is there market evidence?</a:t>
            </a:r>
          </a:p>
          <a:p>
            <a:r>
              <a:t>Answer: These are sourced product facts, not demand data. The validation asks for three qualified accounts.</a:t>
            </a:r>
          </a:p>
          <a:p/>
          <a:p>
            <a:r>
              <a:t>DETAIL AND CAVEATS</a:t>
            </a:r>
          </a:p>
          <a:p>
            <a:r>
              <a:t>Drivers are sourced facts. No customer or pipeline is claimed.</a:t>
            </a:r>
          </a:p>
          <a:p/>
          <a:p>
            <a:r>
              <a:t>Sources (checked 11 Oct 2026):</a:t>
            </a:r>
          </a:p>
          <a:p>
            <a:r>
              <a:t>Register and discover MCP servers in Azure API Center: https://learn.microsoft.com/en-us/azure/api-center/register-discover-mcp-server</a:t>
            </a:r>
          </a:p>
          <a:p>
            <a:r>
              <a:t>Foundry Models retirement schedule: https://learn.microsoft.com/en-us/azure/foundry/openai/concepts/model-retirement-schedule</a:t>
            </a:r>
          </a:p>
          <a:p>
            <a:r>
              <a:t>AI threat protection in Microsoft Defender for Cloud: https://learn.microsoft.com/en-us/azure/defender-for-cloud/ai-threat-protection</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gateway is the enforcement point for the whole portfolio. It uses the landing zone network, the capacity plan from offering 04, and gives offering 02 a place to deny an agent. API Center is new and we build it here.</a:t>
            </a:r>
          </a:p>
          <a:p/>
          <a:p>
            <a:r>
              <a:t>Likely question: Does M365 Copilot traffic pass through it?</a:t>
            </a:r>
          </a:p>
          <a:p>
            <a:r>
              <a:t>Answer: No. Microsoft 365 Copilot is Microsoft-managed and owned by our M365 and D365 teams. Copilot Studio connector and tool calls can be routed through it.</a:t>
            </a:r>
          </a:p>
          <a:p/>
          <a:p>
            <a:r>
              <a:t>DETAIL AND CAVEATS</a:t>
            </a:r>
          </a:p>
          <a:p>
            <a:r>
              <a:t>Portfolio of five CIS Infra offerings plus the Microsoft ecosystem around them. Microsoft 365 Copilot is owned by the Cognizant M365 and D365 teams; the split between them and joint-deal leadership are open decisions. Copilot Studio agents are a covered runtime. Agent 365 is configured before any custom build. API Center is the tool registry CIS Infra builds alongside API Management. Master view: deck 00.</a:t>
            </a:r>
          </a:p>
          <a:p/>
          <a:p>
            <a:r>
              <a:t>Sources (checked 11 Oct 2026):</a:t>
            </a:r>
          </a:p>
          <a:p>
            <a:r>
              <a:t>Microsoft Agent 365 now generally available (Microsoft Security blog, 1 May 2026): https://www.microsoft.com/en-us/security/blog/2026/05/01/microsoft-agent-365-now-generally-available-expands-capabilities-and-integrations/</a:t>
            </a:r>
          </a:p>
          <a:p>
            <a:r>
              <a:t>Register and discover MCP servers in Azure API Center: https://learn.microsoft.com/en-us/azure/api-center/register-discover-mcp-server</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build and run the gateway platform and the tool registry. Policy content belongs to Security, routing choices to the AI tower, and allocation rules to Finance.</a:t>
            </a:r>
          </a:p>
          <a:p/>
          <a:p>
            <a:r>
              <a:t>Likely question: Who approves a new tool?</a:t>
            </a:r>
          </a:p>
          <a:p>
            <a:r>
              <a:t>Answer: The tool owner and Security. We register and route it once approved.</a:t>
            </a:r>
          </a:p>
          <a:p/>
          <a:p>
            <a:r>
              <a:t>DETAIL AND CAVEATS</a:t>
            </a:r>
          </a:p>
          <a:p>
            <a:r>
              <a:t>CIS Infra owns the gateway platform, network and service health. Security owns identity and safety policy. AI owns API contracts and routing choices. DevOps owns policy pipelines. Finance owns allocation.</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Follow the numbers. An app or agent gets an Entra token, the gateway checks it, applies limits and safety checks, routes to reserved capacity first and overflow second, and records token use. The red line is the important part: direct calls to the model are blocked, so the gateway cannot be bypassed.</a:t>
            </a:r>
          </a:p>
          <a:p/>
          <a:p>
            <a:r>
              <a:t>Likely question: What happens if the reserved capacity is full?</a:t>
            </a:r>
          </a:p>
          <a:p>
            <a:r>
              <a:t>Answer: The gateway retries on the approved pay-as-you-go deployment, inside the same data boundary. Overflow is budgeted and alerted.</a:t>
            </a:r>
          </a:p>
          <a:p/>
          <a:p>
            <a:r>
              <a:t>DETAIL AND CAVEATS</a:t>
            </a:r>
          </a:p>
          <a:p>
            <a:r>
              <a:t>Executive view replacing the legacy identity diagram (old slide 8). No legacy model labels are used; backends are shown as deployment types, not model names.</a:t>
            </a:r>
          </a:p>
          <a:p/>
          <a:p>
            <a:r>
              <a:t>Steps: (1) app or agent obtains an Entra token; (2) API Management validates the token and maps the caller to a counter key; (3) inbound policies apply token and request limits and the content-safety check; (4) the backend policy routes to the PTU deployment first and to an approved PAYG deployment on 429, using managed identity; (5) tool calls go to tool APIs under their own policies and tool-side authorisation; (6) outbound policies check completions and emit token metrics to Application Insights. Direct calls from apps to model endpoints are blocked by private endpoints and disabled local auth.</a:t>
            </a:r>
          </a:p>
          <a:p/>
          <a:p>
            <a:r>
              <a:t>Sources (checked 11 Oct 2026):</a:t>
            </a:r>
          </a:p>
          <a:p>
            <a:r>
              <a:t>AI gateway capabilities in API Management: https://learn.microsoft.com/en-us/azure/api-management/genai-gateway-capabilities</a:t>
            </a:r>
          </a:p>
          <a:p>
            <a:r>
              <a:t>APIM llm-token-limit policy: https://learn.microsoft.com/en-us/azure/api-management/llm-token-limit-policy</a:t>
            </a:r>
          </a:p>
          <a:p>
            <a:r>
              <a:t>APIM llm-content-safety policy: https://learn.microsoft.com/en-us/azure/api-management/llm-content-safety-policy</a:t>
            </a:r>
          </a:p>
          <a:p>
            <a:r>
              <a:t>Provisioned throughput concepts: https://learn.microsoft.com/en-us/azure/foundry/openai/concepts/provisioned-throughput</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API Management controls how traffic flows; API Center decides which tools are allowed at all. Tool owners register their API or MCP server, Security approves it, and only then is it published through the gateway and discoverable by agents.</a:t>
            </a:r>
          </a:p>
          <a:p/>
          <a:p>
            <a:r>
              <a:t>Likely question: Can an agent still call an unregistered tool?</a:t>
            </a:r>
          </a:p>
          <a:p>
            <a:r>
              <a:t>Answer: If the tool is reachable on the network, yes. That is why we pair the registry with network rules and gateway-only routing. We state that limit openly.</a:t>
            </a:r>
          </a:p>
          <a:p/>
          <a:p>
            <a:r>
              <a:t>DETAIL AND CAVEATS</a:t>
            </a:r>
          </a:p>
          <a:p>
            <a:r>
              <a:t>API Center registers APIs and MCP servers with owner, lifecycle and approval metadata. Microsoft documents MCP server registration and discovery in API Center, synchronisation with API Management, and use of an API Center registry as the private MCP registry enforced in GitHub Copilot and VS Code. Foundry tool catalogue integration per Microsoft Learn (verify feature status per region). The rule proposed here: a tool is allowed only when it is registered and approved in API Center and its traffic is routed through API Management. Customer-side enforcement in each agent runtime still needs configuration.</a:t>
            </a:r>
          </a:p>
          <a:p/>
          <a:p>
            <a:r>
              <a:t>Sources (checked 11 Oct 2026):</a:t>
            </a:r>
          </a:p>
          <a:p>
            <a:r>
              <a:t>Register and discover MCP servers in Azure API Center: https://learn.microsoft.com/en-us/azure/api-center/register-discover-mcp-server</a:t>
            </a:r>
          </a:p>
          <a:p>
            <a:r>
              <a:t>Private MCP registry on API Center enforced in GitHub Copilot and VS Code (Microsoft DevBlogs): https://devblogs.microsoft.com/all-things-azure/locking-down-mcp-create-a-private-registry-on-azure-api-center-and-enforce-it-in-github-copilot-and-vs-code/</a:t>
            </a:r>
          </a:p>
          <a:p>
            <a:r>
              <a:t>AI gateway capabilities in API Management: https://learn.microsoft.com/en-us/azure/api-management/genai-gateway-capabilities</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Most customers start with the readiness assessment and the single-region build. The add-ons are sold when the customer has the need: several regions, many tools, or a chargeback requirement.</a:t>
            </a:r>
          </a:p>
          <a:p/>
          <a:p>
            <a:r>
              <a:t>Likely question: What makes it expensive?</a:t>
            </a:r>
          </a:p>
          <a:p>
            <a:r>
              <a:t>Answer: Many consumers to migrate, private networking in a complex hub, and multi-region routing.</a:t>
            </a:r>
          </a:p>
          <a:p/>
          <a:p>
            <a:r>
              <a:t>DETAIL AND CAVEATS</a:t>
            </a:r>
          </a:p>
          <a:p>
            <a:r>
              <a:t>Ranges across CIS Infra, Security, AI and DevOps. Assumptions in appendix E1.</a:t>
            </a:r>
          </a:p>
          <a:p/>
          <a:p>
            <a:r>
              <a:t>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Most gateway failures are bypass failures: traffic simply goes around it. We test bypass explicitly and report coverage.</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Top risks. Full threat model in SEC1.</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Each measure is something we can test and show. Thresholds come after the load test, not before.</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Measures are definitions; thresholds agreed in the SOW after load tests. Full register in appendix D1.</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now move into the appendix. Everything from here supports the executive section and is for architecture, presales and commercial workshops. Use the index on the next slide to jump to a topic when a question comes up.</a:t>
            </a:r>
          </a:p>
          <a:p/>
          <a:p>
            <a:r>
              <a:t>Likely question: Do we need to go through the appendix?</a:t>
            </a:r>
          </a:p>
          <a:p>
            <a:r>
              <a:t>Answer: No. Use it to answer questions; the executive section stands on its own.</a:t>
            </a:r>
          </a:p>
          <a:p/>
          <a:p>
            <a:r>
              <a:t>DETAIL AND CAVEATS</a:t>
            </a:r>
          </a:p>
          <a:p>
            <a:r>
              <a:t>Appendix divider. Use the index to navigate.</a:t>
            </a:r>
          </a:p>
          <a:p/>
          <a:p>
            <a:r>
              <a:t>Sources: see appendix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index lists every appendix topic. Click a line to jump to it, and use the Appendix index link in the footer to come back.</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Navigation slide. Each entry links to the appendix slide. Use the Index link in the footer of any appendix slide to return here.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Left is what the gateway controls for traffic it sees. Right is what leaders must accept: counters are per gateway, concurrent calls can overshoot, streaming is estimated.</a:t>
            </a:r>
          </a:p>
          <a:p/>
          <a:p>
            <a:r>
              <a:t>Likely question: Can we promise a hard spend cap?</a:t>
            </a:r>
          </a:p>
          <a:p>
            <a:r>
              <a:t>Answer: Not with token limits alone. A hard cap needs a budget service designed for bounded overshoot.</a:t>
            </a:r>
          </a:p>
          <a:p/>
          <a:p>
            <a:r>
              <a:t>DETAIL AND CAVEATS</a:t>
            </a:r>
          </a:p>
          <a:p>
            <a:r>
              <a:t>Verified against Microsoft Learn on 11 Oct 2026. llm-token-limit "tracks token usage independently at each gateway ... It doesn't aggregate token counts across the entire instance." Concurrent requests "can temporarily exceed the configured token limit". With streaming, prompt and completion tokens are estimated. The policy counts prompt and completion tokens only. Content safety returns 403; with streaming it stops forwarding without a 403.</a:t>
            </a:r>
          </a:p>
          <a:p/>
          <a:p>
            <a:r>
              <a:t>Sources (checked 11 Oct 2026):</a:t>
            </a:r>
          </a:p>
          <a:p>
            <a:r>
              <a:t>APIM llm-token-limit policy: https://learn.microsoft.com/en-us/azure/api-management/llm-token-limit-policy</a:t>
            </a:r>
          </a:p>
          <a:p>
            <a:r>
              <a:t>APIM llm-content-safety policy: https://learn.microsoft.com/en-us/azure/api-management/llm-content-safety-policy</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"Model APIs and tool APIs need separate governance". API Management can expose REST APIs as MCP servers, pass through to existing MCP servers, and import A2A agent APIs. Tool calls change systems, so they need authorisation on the tool side as well as at the gateway.</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API Management can expose REST APIs as MCP servers, pass through to existing MCP servers, and import A2A agent APIs. Tool calls change systems, so they need authorisation on the tool side as well as at the gateway.</a:t>
            </a:r>
          </a:p>
          <a:p/>
          <a:p>
            <a:r>
              <a:t>Sources (checked 11 Oct 2026):</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"Gateway identity pattern with current labels". Editable reconstruction of 44_azure-openai-gateway-identity-solution-combined.png (Microsoft Azure OpenAI gateway custom authentication guide). The source labels two backends "gpt-35-turbo (1106 | 30K TPM)" and "Azure OpenAI"; those legacy labels are replaced with "model deployment" and "Microsoft Foundry", and the TPM example is removed. The original is kept only as a historical reference (the original references pack).</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Editable reconstruction of 44_azure-openai-gateway-identity-solution-combined.png (Microsoft Azure OpenAI gateway custom authentication guide). The source labels two backends "gpt-35-turbo (1106 | 30K TPM)" and "Azure OpenAI"; those legacy labels are replaced with "model deployment" and "Microsoft Foundry", and the TPM example is removed. The original is kept only as a historical reference (the original references pack).</a:t>
            </a:r>
          </a:p>
          <a:p/>
          <a:p>
            <a:r>
              <a:t>Pattern: the client obtains a JWT from the identity provider and calls the gateway with the JWT and, optionally, a subscription key for product mapping. The gateway validates the JWT, then calls regional Foundry resources with its managed identity. Subscription keys alone are not user identity.</a:t>
            </a:r>
          </a:p>
          <a:p/>
          <a:p>
            <a:r>
              <a:t>Sources (checked 11 Oct 2026):</a:t>
            </a:r>
          </a:p>
          <a:p>
            <a:r>
              <a:t>https://github.com/upendra25312/AI-Foundry-GTM-offering-/blob/main/architectures/44_azure-openai-gateway-identity-solution-combined.png</a:t>
            </a:r>
          </a:p>
          <a:p>
            <a:r>
              <a:t>https://github.com/upendra25312/AI-Foundry-GTM-offering-/blob/main/architectures/14_azure-openai-authentication.vsdx</a:t>
            </a:r>
          </a:p>
          <a:p>
            <a:r>
              <a:t>https://learn.microsoft.com/en-us/azure/architecture/ai-ml/guide/azure-openai-gateway-custom-authentication</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"Token rate limits and quotas need a trusted counter key". Verified: llm-token-limit supports tokens-per-minute and token-quota with Hourly, Daily, Weekly, Monthly or Yearly periods; exceeding a rate limit returns 429, exceeding a quota returns 403. The counter key accepts policy expressions; use a claim from the validated token, not a caller-supplied header. Example values are illustrative: 20,000 TPM and 2M daily tokens per application.</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Verified: llm-token-limit supports tokens-per-minute and token-quota with Hourly, Daily, Weekly, Monthly or Yearly periods; exceeding a rate limit returns 429, exceeding a quota returns 403. The counter key accepts policy expressions; use a claim from the validated token, not a caller-supplied header. Example values are illustrative: 20,000 TPM and 2M daily tokens per application.</a:t>
            </a:r>
          </a:p>
          <a:p/>
          <a:p>
            <a:r>
              <a:t>Sources (checked 11 Oct 2026):</a:t>
            </a:r>
          </a:p>
          <a:p>
            <a:r>
              <a:t>APIM llm-token-limit policy: https://learn.microsoft.com/en-us/azure/api-management/llm-token-limit-policy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"Token-limit policy flow". Editable reconstruction of 29_token-rate-limiting.png (609 x 297 px, dark background, OpenAI logo). The source shows requests funnelling through API Management rate-limiting policies to a model backend. Rebuilt with the official API Management and Foundry Models icons and the verified response codes.</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Editable reconstruction of 29_token-rate-limiting.png (609 x 297 px, dark background, OpenAI logo). The source shows requests funnelling through API Management rate-limiting policies to a model backend. Rebuilt with the official API Management and Foundry Models icons and the verified response codes. Original kept in the original references pack for traceability.</a:t>
            </a:r>
          </a:p>
          <a:p/>
          <a:p>
            <a:r>
              <a:t>Sources (checked 11 Oct 2026):</a:t>
            </a:r>
          </a:p>
          <a:p>
            <a:r>
              <a:t>https://github.com/upendra25312/AI-Foundry-GTM-offering-/blob/main/architectures/29_token-rate-limiting.png</a:t>
            </a:r>
          </a:p>
          <a:p>
            <a:r>
              <a:t>APIM llm-token-limit policy: https://learn.microsoft.com/en-us/azure/api-management/llm-token-limit-policy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"Request limits, concurrency and budget controls". Request and concurrency policies complement token limits. A budget control in currency needs price per model and token type and a service designed for bounded overshoot; API Management token limits alone are not a currency cap.</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Request and concurrency policies complement token limits. A budget control in currency needs price per model and token type and a service designed for bounded overshoot; API Management token limits alone are not a currency cap.</a:t>
            </a:r>
          </a:p>
          <a:p/>
          <a:p>
            <a:r>
              <a:t>Sources (checked 11 Oct 2026):</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"Backend pools and routing". Editable reconstruction of 32_backend-load-balancing.png (708 x 422 px). The source shows a backend pool with one unavailable backend and requests flowing to another region or instance. API Management load-balancer modes (verified): round-robin, weighted, priority-based and session-aware.</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Editable reconstruction of 32_backend-load-balancing.png (708 x 422 px). The source shows a backend pool with one unavailable backend and requests flowing to another region or instance. API Management load-balancer modes (verified): round-robin, weighted, priority-based and session-aware. Priorities can favour PTU endpoints. Route only to approved models, regions and deployments with available capacity; retries, failover and PTU overflow can increase PAYG spend.</a:t>
            </a:r>
          </a:p>
          <a:p/>
          <a:p>
            <a:r>
              <a:t>Sources (checked 11 Oct 2026):</a:t>
            </a:r>
          </a:p>
          <a:p>
            <a:r>
              <a:t>https://github.com/upendra25312/AI-Foundry-GTM-offering-/blob/main/architectures/32_backend-load-balancing.png</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"Backend circuit breaker protects a dependency". Editable reconstruction of 33_backend-circuit-breaker.png (715 x 253 px). Verified: the circuit breaker features dynamic trip duration using the backend Retry-After header. Configure trip conditions (for example 429 and 5xx counts in an interval) and recovery.</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Editable reconstruction of 33_backend-circuit-breaker.png (715 x 253 px). Verified: the circuit breaker features dynamic trip duration using the backend Retry-After header. Configure trip conditions (for example 429 and 5xx counts in an interval) and recovery. A circuit breaker does not cancel work already running or revoke an agent tool permission; it is not an agent kill switch.</a:t>
            </a:r>
          </a:p>
          <a:p/>
          <a:p>
            <a:r>
              <a:t>Sources (checked 11 Oct 2026):</a:t>
            </a:r>
          </a:p>
          <a:p>
            <a:r>
              <a:t>https://github.com/upendra25312/AI-Foundry-GTM-offering-/blob/main/architectures/33_backend-circuit-breaker.png</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"PTU primary with approved PAYG overflow: two ways". Foundry spillover (verified): optional configuration that routes overflow requests from a fully utilised provisioned deployment (non-200 such as 429) to a corresponding standard deployment in the same Foundry resource; set per deployment or per request with the x-ms-spillover-deployment header; Azure OpenAI models support it, Azure DeepSeek and Meta Llama do not currently. API Management priority routing works across resources and regions but must be kept within the approved processing boundary.</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Foundry spillover (verified): optional configuration that routes overflow requests from a fully utilised provisioned deployment (non-200 such as 429) to a corresponding standard deployment in the same Foundry resource; set per deployment or per request with the x-ms-spillover-deployment header; Azure OpenAI models support it, Azure DeepSeek and Meta Llama do not currently. API Management priority routing works across resources and regions but must be kept within the approved processing boundary.</a:t>
            </a:r>
          </a:p>
          <a:p/>
          <a:p>
            <a:r>
              <a:t>Sources (checked 11 Oct 2026):</a:t>
            </a:r>
          </a:p>
          <a:p>
            <a:r>
              <a:t>Provisioned throughput concepts: https://learn.microsoft.com/en-us/azure/foundry/openai/concepts/provisioned-throughput</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"Content safety in the gateway flow". Editable reconstruction of 31_content-safety.png (622 x 332 px). The source labels the safety service "Content Safety in Foundry Control Plane"; the verified implementation is the API Management llm-content-safety policy calling a configured Azure AI Content Safety resource through a backend with managed identity (Cognitive Services User role). Verified behaviour: categories Hate, SelfHarm, Sexual, Violence with thresholds; shield-prompt checks user attacks; blocklists supported; inbound checks requests, outbound checks responses; violation returns 403; with streaming, forwarding stops without a 403.</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Editable reconstruction of 31_content-safety.png (622 x 332 px). The source labels the safety service "Content Safety in Foundry Control Plane"; the verified implementation is the API Management llm-content-safety policy calling a configured Azure AI Content Safety resource through a backend with managed identity (Cognitive Services User role). Verified behaviour: categories Hate, SelfHarm, Sexual, Violence with thresholds; shield-prompt checks user attacks; blocklists supported; inbound checks requests, outbound checks responses; violation returns 403; with streaming, forwarding stops without a 403. Not a universal DLP, transaction approval or agent authorisation engine.</a:t>
            </a:r>
          </a:p>
          <a:p/>
          <a:p>
            <a:r>
              <a:t>Sources (checked 11 Oct 2026):</a:t>
            </a:r>
          </a:p>
          <a:p>
            <a:r>
              <a:t>https://github.com/upendra25312/AI-Foundry-GTM-offering-/blob/main/architectures/31_content-safety.png</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"Tool authorisation and human approval". Content safety moderates content; it does not authorise actions. Tool authorisation decides whether this caller may do this operation on this target. Human approval gates high-impact or irreversible actions.</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Content safety moderates content; it does not authorise actions. Tool authorisation decides whether this caller may do this operation on this target. Human approval gates high-impact or irreversible actions. API Management can front MCP servers and use the credential manager for OAuth to downstream tools.</a:t>
            </a:r>
          </a:p>
          <a:p/>
          <a:p>
            <a:r>
              <a:t>Sources (checked 11 Oct 2026):</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"Token metrics, logs and cost allocation". Editable reconstruction of 34_emit-token-metrics.png (709 x 318 px). Verified: llm-emit-token-metric emits token counts with custom dimensions (for example client IP, API ID, user ID) to Application Insights; prompts, completions and token usage can be logged to Azure Monitor and Application Insights. Use identity-derived dimensions (app, agent, team) for allocation; avoid sensitive payloads in logs and agree retention.</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Editable reconstruction of 34_emit-token-metrics.png (709 x 318 px). Verified: llm-emit-token-metric emits token counts with custom dimensions (for example client IP, API ID, user ID) to Application Insights; prompts, completions and token usage can be logged to Azure Monitor and Application Insights. Use identity-derived dimensions (app, agent, team) for allocation; avoid sensitive payloads in logs and agree retention.</a:t>
            </a:r>
          </a:p>
          <a:p/>
          <a:p>
            <a:r>
              <a:t>Sources (checked 11 Oct 2026):</a:t>
            </a:r>
          </a:p>
          <a:p>
            <a:r>
              <a:t>https://github.com/upendra25312/AI-Foundry-GTM-offering-/blob/main/architectures/34_emit-token-metrics.png</a:t>
            </a:r>
          </a:p>
          <a:p>
            <a:r>
              <a:t>AI gateway capabilities in API Management: https://learn.microsoft.com/en-us/azure/api-management/genai-gateway-capabilities</a:t>
            </a:r>
          </a:p>
          <a:p>
            <a:r>
              <a:t>Azure Retail Prices API: Log Analytics, East US 2: https://prices.azure.com/api/retail/prices?$filter=serviceName eq 'Log Analytics' and armRegionName eq 'eastus2'</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"Private connectivity and regional resilience options". Multi-region deployment is available only in Premium (classic) per the feature comparison (updated 2026-06-18). Standard v2 supports inbound private endpoint and outbound VNet integration; Premium v2 adds VNet injection and availability zones. Original references 20 and 21 show one gateway with regional backends and a multi-region gateway (the original references pack, O4).</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Multi-region deployment is available only in Premium (classic) per the feature comparison (updated 2026-06-18). Standard v2 supports inbound private endpoint and outbound VNet integration; Premium v2 adds VNet injection and availability zones. Original references 20 and 21 show one gateway with regional backends and a multi-region gateway (the original references pack, O4).</a:t>
            </a:r>
          </a:p>
          <a:p/>
          <a:p>
            <a:r>
              <a:t>Sources (checked 11 Oct 2026):</a:t>
            </a:r>
          </a:p>
          <a:p>
            <a:r>
              <a:t>API Management feature comparison by tier: https://learn.microsoft.com/en-us/azure/api-management/api-management-features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"Bypass prevention checklist". The gateway controls only traffic routed through it. These controls close or detect ungoverned direct paths. Each must be tested with a negative test.</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The gateway controls only traffic routed through it. These controls close or detect ungoverned direct paths. Each must be tested with a negative test.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"API Management tier capabilities that drive SKU choice". Selected capabilities from the API Management feature comparison (updated 2026-06-18), not a complete comparison. Developer tier has no SLA. SKU selection is not a capacity guarantee; see the region snapshot.</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Selected capabilities from the API Management feature comparison (updated 2026-06-18), not a complete comparison. Developer tier has no SLA. SKU selection is not a capacity guarantee; see the region snapshot.</a:t>
            </a:r>
          </a:p>
          <a:p/>
          <a:p>
            <a:r>
              <a:t>Sources (checked 11 Oct 2026):</a:t>
            </a:r>
          </a:p>
          <a:p>
            <a:r>
              <a:t>API Management feature comparison by tier: https://learn.microsoft.com/en-us/azure/api-management/api-management-features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"Regional availability snapshot for v2 tiers". Snapshot from the API Management v2 region availability page (updated 2026-09-28). Creation blocked = Microsoft notice that new instance creation is temporarily unavailable; existing instances are not affected. Not listed = not shown as supported on that date; it is not a prediction.</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Snapshot from the API Management v2 region availability page (updated 2026-09-28). Creation blocked = Microsoft notice that new instance creation is temporarily unavailable; existing instances are not affected. Not listed = not shown as supported on that date; it is not a prediction. This is a selected-region view for US, EU, UK and Middle East pursuits, not a global list. Qatar Central and Saudi Arabia regions are not in the table. AI Gateway tier (preview) regions: East US 2 and Sweden Central only. Published availability is not subscription quota or deployable capacity.</a:t>
            </a:r>
          </a:p>
          <a:p/>
          <a:p>
            <a:r>
              <a:t>Sources (checked 11 Oct 2026):</a:t>
            </a:r>
          </a:p>
          <a:p>
            <a:r>
              <a:t>API Management v2 tier region availability: https://learn.microsoft.com/en-us/azure/api-management/api-management-region-availability</a:t>
            </a:r>
          </a:p>
          <a:p>
            <a:r>
              <a:t>AI Gateway tier (preview) overview: https://learn.microsoft.com/en-us/azure/api-management/ai-gateway-overview</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"API Management list prices used in estimates". Azure Retail Prices API, region eastus2, USD, consumption list prices, retrieved 11 Oct 2026. Monthly = hourly x 730. Call meters show $0 up to the included tier, then the listed price per 10,000 calls.</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Azure Retail Prices API, region eastus2, USD, consumption list prices, retrieved 11 Oct 2026. Monthly = hourly x 730. Call meters show $0 up to the included tier, then the listed price per 10,000 calls. AI Gateway tier meter shows $0.00 per 10K requests effective 2026-09-01, while Microsoft states pricing will be announced; treat as unknown. Enterprise agreement prices differ.</a:t>
            </a:r>
          </a:p>
          <a:p/>
          <a:p>
            <a:r>
              <a:t>Sources (checked 11 Oct 2026):</a:t>
            </a:r>
          </a:p>
          <a:p>
            <a:r>
              <a:t>Azure Retail Prices API: API Management, East US 2: https://prices.azure.com/api/retail/prices?$filter=serviceName eq 'API Management' and armRegionName eq 'eastus2'</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"Acceptance requires demonstrable evidence". Proposed acceptance criteria. Agree test cases, thresholds and exception authority in the SOW.</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Proposed acceptance criteria. Agree test cases, thresholds and exception authority in the SOW.</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Agent containment spans several offerings. Deck 02 builds the containment design and deck 05 operates it. This slide shows the part this offering provides.</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Concise cross-reference. The full rogue-agent kill-switch reference architecture, limits and test scenarios are in the Agent Governance and Operations deck (02) and the Managed AI Platform Operations deck (05).</a:t>
            </a:r>
          </a:p>
          <a:p/>
          <a:p>
            <a:r>
              <a:t>Proposed reference architecture, custom CIS Infra design built from Azure services; not a Microsoft-published reference or a built-in Azure kill-switch service.</a:t>
            </a:r>
          </a:p>
          <a:p/>
          <a:p>
            <a:r>
              <a:t>Execution path: the caller identity is validated and mapped server-side to tenant, agent ID and version (never trust a caller-supplied agent header). Enforcement point 1 (API Management ingress) rejects new requests for quarantined scopes. Enforcement point 2 (runtime guard or adapter) checks state at each loop checkpoint and cancels or isolates running work where the runtime supports it. Enforcement point 3 (outbound gateway and tool-side authorisation) denies further model, tool and data actions. Model, tool and data endpoints are drawn separately because each needs its own authorisation and network control.</a:t>
            </a:r>
          </a:p>
          <a:p/>
          <a:p>
            <a:r>
              <a:t>Control plane: an authorised operator (Entra PIM, approval) or an approved Azure Monitor alert rule starts the Durable Functions orchestrator. It writes quarantine state with a monotonic state version to Cosmos DB, signals enforcement points, records evidence in a Storage account (immutability is a configured policy, not a default), and verifies containment through Application Insights traces. Restart is human-approved, after root-cause review and a bounded canary. Containment is never undone automatically when an alert clears.</a:t>
            </a:r>
          </a:p>
          <a:p/>
          <a:p>
            <a:r>
              <a:t>Limits: Foundry Stop prevents new runs but does not terminate existing runs (Microsoft Learn, Foundry Control Plane manage agents, updated 2026-07-15). Custom-agent Block stops proxy requests, not the underlying host. Token or RBAC revocation can propagate asynchronously. Direct endpoint access bypasses a proxy-only control. A backend circuit breaker protects a dependency; it is not an agent kill switch. Cosmos DB consistency, caches and polling intervals set the worst-case enforcement time. Fail-closed behaviour trades availability for safety. No numeric stop-time SLA is promised.</a:t>
            </a:r>
          </a:p>
          <a:p/>
          <a:p>
            <a:r>
              <a:t>Enforcement point 4 is the identity layer. Entra Conditional Access for agents can block or limit agent access when tokens are issued or refreshed; it requires Microsoft 365 E7, or Agent 365 plus Entra P1 or Microsoft 365 E3 (Microsoft Learn, updated 30 Sep 2026), and live sessions are not cut immediately, so it is defence in depth. Agent 365 (GA 1 May 2026) registers agents and has announced start, stop and delete lifecycle actions; Defender can block some coding agents at runtime (preview from June 2026). None of these is a universal instant stop.</a:t>
            </a:r>
          </a:p>
          <a:p/>
          <a:p>
            <a:r>
              <a:t>Icons: official Azure icons. Container Apps is shown as one example of a customer-hosted runtime; AKS is equivalent. Function App represents an example tool host.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Customers ask which gateway to use. For production, a generally available API Management tier. The new AI Gateway tier and the Foundry-linked gateway are good pilots, but carry no production SLA yet.</a:t>
            </a:r>
          </a:p>
          <a:p/>
          <a:p>
            <a:r>
              <a:t>Likely question: What if the customer already has Kong or another gateway?</a:t>
            </a:r>
          </a:p>
          <a:p>
            <a:r>
              <a:t>Answer: Then we assess whether to front AI traffic there or add API Management. We do not claim accelerators for third-party gateways.</a:t>
            </a:r>
          </a:p>
          <a:p/>
          <a:p>
            <a:r>
              <a:t>DETAIL AND CAVEATS</a:t>
            </a:r>
          </a:p>
          <a:p>
            <a:r>
              <a:t>Options checked on Microsoft Learn on 11 Oct 2026. API Management classic and v2 tiers are GA; built-in multi-region deployment needs Premium (classic). The AI Gateway tier is public preview with no SLA, available in East US 2 and Sweden Central, pricing to be announced (page updated 2026-07-23). The Foundry AI gateway (API Management linked from the Foundry portal) is marked preview on the AI gateway capabilities page. Third-party gateways are a customer choice; this offering does not include accelerators for them and would be scoped separately.</a:t>
            </a:r>
          </a:p>
          <a:p/>
          <a:p>
            <a:r>
              <a:t>Sources (checked 11 Oct 2026):</a:t>
            </a:r>
          </a:p>
          <a:p>
            <a:r>
              <a:t>API Management feature comparison by tier: https://learn.microsoft.com/en-us/azure/api-management/api-management-features</a:t>
            </a:r>
          </a:p>
          <a:p>
            <a:r>
              <a:t>AI Gateway tier (preview) overview: https://learn.microsoft.com/en-us/azure/api-management/ai-gateway-overview</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customer asks how much slower the gateway makes things. We do not quote a number; we measure it with a repeatable test and show which policy adds what.</a:t>
            </a:r>
          </a:p>
          <a:p/>
          <a:p>
            <a:r>
              <a:t>Likely question: Which policy costs the most?</a:t>
            </a:r>
          </a:p>
          <a:p>
            <a:r>
              <a:t>Answer: Usually the content safety call, because it is an extra network call. The test shows the real figure for that customer.</a:t>
            </a:r>
          </a:p>
          <a:p/>
          <a:p>
            <a:r>
              <a:t>DETAIL AND CAVEATS</a:t>
            </a:r>
          </a:p>
          <a:p>
            <a:r>
              <a:t>No latency figure is claimed. Added delay depends on tier, region, network path, policy count, content safety calls and streaming. The method measures it per customer with Azure Load Testing or an equivalent tool. Report p50 and p95 added delay and time to first token for streaming, with each policy group switched on in turn. Targets are agreed only after the baseline run.</a:t>
            </a:r>
          </a:p>
          <a:p/>
          <a:p>
            <a:r>
              <a:t>Sources (checked 11 Oct 2026):</a:t>
            </a:r>
          </a:p>
          <a:p>
            <a:r>
              <a:t>APIM llm-content-safety policy: https://learn.microsoft.com/en-us/azure/api-management/llm-content-safety-policy</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Caching only pays if many questions repeat. In this synthetic example, the cache pays for itself above about a 4.4 percent hit rate. Below that it costs money.</a:t>
            </a:r>
          </a:p>
          <a:p/>
          <a:p>
            <a:r>
              <a:t>Likely question: What hit rate should we expect?</a:t>
            </a:r>
          </a:p>
          <a:p>
            <a:r>
              <a:t>Answer: Unknown until measured. FAQ-style assistants can be high; personalised agents are near zero. We measure on logged traffic before recommending it.</a:t>
            </a:r>
          </a:p>
          <a:p/>
          <a:p>
            <a:r>
              <a:t>DETAIL AND CAVEATS</a:t>
            </a:r>
          </a:p>
          <a:p>
            <a:r>
              <a:t>SYNTHETIC example. Model price: gpt-5.4 Global list, $2.50 input and $15.00 output per 1M tokens (Azure Retail Prices API, East US 2, checked 11 Oct 2026). Synthetic workload: 1,000,000 calls a month, 1,500 input and 500 output tokens each, so $0.01125 per call and $11,250 a month. Cache cost is a synthetic $500 a month placeholder for a Redis-compatible cache plus embedding calls; it is not a price. Saving = hit rate x model spend. Break-even hit rate = cache cost / model spend = 4.4%. Semantic caching needs an external RediSearch-compatible cache and an embeddings deployment, and only suits repeated, non-personal questions. Answers can go stale; set a time-to-live.</a:t>
            </a:r>
          </a:p>
          <a:p/>
          <a:p>
            <a:r>
              <a:t>Sources (checked 11 Oct 2026):</a:t>
            </a:r>
          </a:p>
          <a:p>
            <a:r>
              <a:t>Azure Retail Prices API: gpt-5.4, East US 2: https://prices.azure.com/api/retail/prices?$filter=armRegionName eq 'eastus2' and contains(meterName,'5.4')</a:t>
            </a:r>
          </a:p>
          <a:p>
            <a:r>
              <a:t>AI gateway capabilities in API Management: https://learn.microsoft.com/en-us/azure/api-management/genai-gateway-capabilities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how the finance team gets a per-team bill. The gateway counts tokens per caller, we price them, and shared platform cost is split by an agreed rule. Start with showback, a report without money moving, before any internal charging.</a:t>
            </a:r>
          </a:p>
          <a:p/>
          <a:p>
            <a:r>
              <a:t>Likely question: Is the token count exact?</a:t>
            </a:r>
          </a:p>
          <a:p>
            <a:r>
              <a:t>Answer: Close but not exact under streaming, where tokens are estimated. We reconcile monthly against the Azure invoice.</a:t>
            </a:r>
          </a:p>
          <a:p/>
          <a:p>
            <a:r>
              <a:t>DETAIL AND CAVEATS</a:t>
            </a:r>
          </a:p>
          <a:p>
            <a:r>
              <a:t>The llm-emit-token-metric policy emits prompt, completion and total tokens with custom dimensions (for example subscription, product, caller application and agent ID) to Application Insights. A scheduled query in Log Analytics joins token counts with the price table agreed by Finance (list or contract price). Shared platform cost (API Management units, logs, network) comes from Cost Management exports in FOCUS format and is split by token share or an agreed key. Showback first; chargeback only once allocation rules are approved by Finance. Allocation rules are a customer finance decision.</a:t>
            </a:r>
          </a:p>
          <a:p/>
          <a:p>
            <a:r>
              <a:t>Sources (checked 11 Oct 2026):</a:t>
            </a:r>
          </a:p>
          <a:p>
            <a:r>
              <a:t>AI gateway capabilities in API Management: https://learn.microsoft.com/en-us/azure/api-management/genai-gateway-capabilities</a:t>
            </a:r>
          </a:p>
          <a:p>
            <a:r>
              <a:t>Cost Management exports, including FOCUS format: https://learn.microsoft.com/en-us/azure/cost-management-billing/costs/tutorial-improved-exports</a:t>
            </a:r>
          </a:p>
          <a:p>
            <a:r>
              <a:t>APIM llm-token-limit policy: https://learn.microsoft.com/en-us/azure/api-management/llm-token-limit-policy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Copilot Studio agents often call business systems. If those calls go through the gateway, they get the same identity, limits and logging as every other agent. The Power Platform team still owns Copilot Studio itself.</a:t>
            </a:r>
          </a:p>
          <a:p/>
          <a:p>
            <a:r>
              <a:t>Likely question: Does this cover Copilot Studio model usage?</a:t>
            </a:r>
          </a:p>
          <a:p>
            <a:r>
              <a:t>Answer: No. Its model calls are Microsoft-managed and billed in Copilot credits. We only govern the connector and tool calls.</a:t>
            </a:r>
          </a:p>
          <a:p/>
          <a:p>
            <a:r>
              <a:t>DETAIL AND CAVEATS</a:t>
            </a:r>
          </a:p>
          <a:p>
            <a:r>
              <a:t>API Management APIs can be exported to Power Platform as custom connectors, so Copilot Studio agents call back-end tools through the gateway with its identity, limits and logging. Copilot Studio's own model calls are Microsoft-managed and do not pass through the customer gateway; only connector and tool calls do. Bring-your-own-model options through Foundry should be checked per tenant. Power Platform administration (environments, DLP policies) stays with the Power Platform team. Microsoft 365 Copilot is owned by the Cognizant M365 and D365 teams.</a:t>
            </a:r>
          </a:p>
          <a:p/>
          <a:p>
            <a:r>
              <a:t>Sources (checked 11 Oct 2026):</a:t>
            </a:r>
          </a:p>
          <a:p>
            <a:r>
              <a:t>AI gateway capabilities in API Management: https://learn.microsoft.com/en-us/azure/api-management/genai-gateway-capabilities</a:t>
            </a:r>
          </a:p>
          <a:p>
            <a:r>
              <a:t>Microsoft Copilot Studio licensing guidance (Microsoft Licensing): https://www.microsoft.com/licensing/guidance/Microsoft-Copilot-Studio</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Fixed price is where offerings lose money. Our rule: no fixed price without a short assessment first, named change triggers in the SOW, a contingency set by Finance and acceptance by evidence gates.</a:t>
            </a:r>
          </a:p>
          <a:p/>
          <a:p>
            <a:r>
              <a:t>Likely question: What contingency do we hold?</a:t>
            </a:r>
          </a:p>
          <a:p>
            <a:r>
              <a:t>Answer: Finance sets it. We show where the risk sits so they can size it.</a:t>
            </a:r>
          </a:p>
          <a:p/>
          <a:p>
            <a:r>
              <a:t>DETAIL AND CAVEATS</a:t>
            </a:r>
          </a:p>
          <a:p>
            <a:r>
              <a:t>Fixed-price risk controls for delivery. Assess before quoting; name the change triggers in the SOW; hold a contingency agreed with Finance (amount is an input required); accept by gates with evidence.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Security will ask what we log. By default we log numbers and IDs, not prompts or answers. Content logging is opt-in, redacted, short-lived and approved by Security and the data owner.</a:t>
            </a:r>
          </a:p>
          <a:p/>
          <a:p>
            <a:r>
              <a:t>Likely question: Can we debug without prompts?</a:t>
            </a:r>
          </a:p>
          <a:p>
            <a:r>
              <a:t>Answer: Mostly yes. For deep debugging we use a time-boxed, approved capture in a restricted workspace.</a:t>
            </a:r>
          </a:p>
          <a:p/>
          <a:p>
            <a:r>
              <a:t>DETAIL AND CAVEATS</a:t>
            </a:r>
          </a:p>
          <a:p>
            <a:r>
              <a:t>Prompt and telemetry data handling for chargeback and observability. Default: token counts, caller, agent and model IDs, latency and status codes only. Prompt or completion logging is opt-in, approved by Security and the data owner, with redaction and short retention. Retention values are proposals for the customer to set.</a:t>
            </a:r>
          </a:p>
          <a:p/>
          <a:p>
            <a:r>
              <a:t>Sources (checked 11 Oct 2026):</a:t>
            </a:r>
          </a:p>
          <a:p>
            <a:r>
              <a:t>AI gateway capabilities in API Management: https://learn.microsoft.com/en-us/azure/api-management/genai-gateway-capabilities</a:t>
            </a:r>
          </a:p>
          <a:p>
            <a:r>
              <a:t>Microsoft Purview data security and compliance for AI: https://learn.microsoft.com/en-us/purview/ai-microsoft-purview</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to decide quickly whether to quote implementation or sell the assessment first. Any zero on funding, authority or sponsor means assessment first.</a:t>
            </a:r>
          </a:p>
          <a:p/>
          <a:p>
            <a:r>
              <a:t>Likely question: Why not quote straight away?</a:t>
            </a:r>
          </a:p>
          <a:p>
            <a:r>
              <a:t>Answer: Unknown access, capacity or ownership is where fixed-price AI platform work loses money.</a:t>
            </a:r>
          </a:p>
          <a:p/>
          <a:p>
            <a:r>
              <a:t>DETAIL AND CAVEATS</a:t>
            </a:r>
          </a:p>
          <a:p>
            <a:r>
              <a:t>Score each criterion 0 (absent), 1 (partial) or 2 (evidenced). Proceed to an implementation quote at 14 or more with no zero on funding, authority, sponsor or the data residency gate; otherwise sell the assessment. Thresholds are proposals to calibrate after the first pilots. The shortlist is an empty template: no customer demand is asserted.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ranges let leadership size the opportunity. The anchor is the 88 role-day example in the V3 proposal; everything else scales from it with stated drivers.</a:t>
            </a:r>
          </a:p>
          <a:p/>
          <a:p>
            <a:r>
              <a:t>Likely question: Can we quote these numbers?</a:t>
            </a:r>
          </a:p>
          <a:p>
            <a:r>
              <a:t>Answer: No. They are estimates for a go or no-go decision. A quote needs approved rates and a scoped assessment.</a:t>
            </a:r>
          </a:p>
          <a:p/>
          <a:p>
            <a:r>
              <a:t>DETAIL AND CAVEATS</a:t>
            </a:r>
          </a:p>
          <a:p>
            <a:r>
              <a:t>Ranges are planning estimates for leadership, built from the GTM proposal V3 worked example (88 role days for a bounded landing zone extension across six towers) and scaled by scope drivers. They are not staffing commitments. Replace with actual pilot effort.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security view a CISO will ask for. Each threat has a control and an owner, and CIS Infra only owns the platform controls.</a:t>
            </a:r>
          </a:p>
          <a:p/>
          <a:p>
            <a:r>
              <a:t>Likely question: Does CIS Infra run security operations?</a:t>
            </a:r>
          </a:p>
          <a:p>
            <a:r>
              <a:t>Answer: No. A contracted security service or the Security tower does. We provide the telemetry and execute containment on our components.</a:t>
            </a:r>
          </a:p>
          <a:p/>
          <a:p>
            <a:r>
              <a:t>DETAIL AND CAVEATS</a:t>
            </a:r>
          </a:p>
          <a:p>
            <a:r>
              <a:t>Threats mapped to controls and owning towers for this offering. Categories align with the OWASP Top 10 for LLM Applications 2026 (released 3 Aug 2026), plus the MCP tool trust boundary, supply chain and identity threats specific to this offering. CIS Infra implements platform controls; Security owns threat modelling, policy and security operations.</a:t>
            </a:r>
          </a:p>
          <a:p/>
          <a:p>
            <a:r>
              <a:t>Sources (checked 11 Oct 2026):</a:t>
            </a:r>
          </a:p>
          <a:p>
            <a:r>
              <a:t>OWASP Top 10 for LLM Applications 2026 (OWASP GenAI Security Project, released 3 Aug 2026): https://genai.owasp.org/resource/owasp-genai-llm-top-10-2026/</a:t>
            </a:r>
          </a:p>
          <a:p>
            <a:r>
              <a:t>AI threat protection in Microsoft Defender for Cloud: https://learn.microsoft.com/en-us/azure/defender-for-cloud/ai-threat-protection</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Two questions decide the compliance conversation: what role the customer holds under the EU AI Act, and which sector rules apply. We help with evidence and controls; the customer and its lawyers decide.</a:t>
            </a:r>
          </a:p>
          <a:p/>
          <a:p>
            <a:r>
              <a:t>Likely question: Does SR 11-7 still apply to our US bank clients?</a:t>
            </a:r>
          </a:p>
          <a:p>
            <a:r>
              <a:t>Answer: It was replaced in April 2026 by risk-based interagency guidance, and generative and agentic AI are out of its scope. Banks still expect governance, so we position audit evidence, not model validation.</a:t>
            </a:r>
          </a:p>
          <a:p/>
          <a:p>
            <a:r>
              <a:t>DETAIL AND CAVEATS</a:t>
            </a:r>
          </a:p>
          <a:p>
            <a:r>
              <a:t>EU AI Act roles are indicative: the customer is usually the deployer of an AI system and becomes a provider only if it develops a system and places it on the market or puts it into service under its own name. Cognizant, delivering infrastructure services, is normally neither, unless a contract says otherwise. Sector rows: DORA applies from 17 Jan 2025 (Regulation (EU) 2022/2554); NIS2 transposition deadline 17 Oct 2024 (Directive (EU) 2022/2555); Saudi PDPL effective 14 Sep 2023 and enforceable from Sep 2024 (Baker McKenzie summary, third party); US interagency model risk guidance issued 17 Apr 2026 replaced SR 11-7 and puts generative and agentic AI out of scope (JD Supra summary, third party). UK and UAE rows are not re-verified and are marked so. Cognizant does not give legal advice; customers take their own.</a:t>
            </a:r>
          </a:p>
          <a:p/>
          <a:p>
            <a:r>
              <a:t>Sources (checked 11 Oct 2026):</a:t>
            </a:r>
          </a:p>
          <a:p>
            <a:r>
              <a:t>EU AI Act Update: Digital Omnibus finalises compliance changes (Orrick, third-party law-firm summary, 29 Jul 2026; EUR-Lex text not verified): https://www.orrick.com/en/Insights/2026/07/EU-AI-Act-Update-Digital-Omnibus-Finalizes-8-Compliance-Changes</a:t>
            </a:r>
          </a:p>
          <a:p>
            <a:r>
              <a:t>Regulation (EU) 2022/2554 (DORA), EUR-Lex: https://eur-lex.europa.eu/eli/reg/2022/2554/oj</a:t>
            </a:r>
          </a:p>
          <a:p>
            <a:r>
              <a:t>Directive (EU) 2022/2555 (NIS2), EUR-Lex: https://eur-lex.europa.eu/eli/dir/2022/2555/oj</a:t>
            </a:r>
          </a:p>
          <a:p>
            <a:r>
              <a:t>Saudi Arabia key data and cybersecurity laws (Baker McKenzie, third party, reviewed 31 Dec 2024): https://resourcehub.bakermckenzie.com/en/resources/global-data-and-cyber-handbook/emea/saudi-arabia/topics/key-data-and-cybersecurity-laws</a:t>
            </a:r>
          </a:p>
          <a:p>
            <a:r>
              <a:t>Banking regulators replace SR 11-7 with revised model risk guidance (JD Supra law-firm summary, third party): https://www.jdsupra.com/legalnews/banking-regulators-replace-5649360/</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If anyone in the room is unsure of a term, point here. The two that matter most for leaders are PTU (reserved model capacity) and PAYG (pay per use).</a:t>
            </a:r>
          </a:p>
          <a:p/>
          <a:p>
            <a:r>
              <a:t>Likely question: What is the difference between Agent 365 and API Center?</a:t>
            </a:r>
          </a:p>
          <a:p>
            <a:r>
              <a:t>Answer: Agent 365 governs agents; API Center registers the tools and APIs agents may call. They complement each other.</a:t>
            </a:r>
          </a:p>
          <a:p/>
          <a:p>
            <a:r>
              <a:t>DETAIL AND CAVEATS</a:t>
            </a:r>
          </a:p>
          <a:p>
            <a:r>
              <a:t>Plain-English definitions for every acronym used. Expand an acronym the first time you say 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Delivery will ask who does the work, and sellers will ask what they can use. This slide answers both honestly: the roles and skills are defined, current bench numbers are an input we still need, and most of the sales kit is still to build.</a:t>
            </a:r>
          </a:p>
          <a:p/>
          <a:p>
            <a:r>
              <a:t>Likely question: How long to get ready?</a:t>
            </a:r>
          </a:p>
          <a:p>
            <a:r>
              <a:t>Answer: The ramp-up column gives our estimate per role. Leadership can shorten it by funding enablement in the validation.</a:t>
            </a:r>
          </a:p>
          <a:p/>
          <a:p>
            <a:r>
              <a:t>DETAIL AND CAVEATS</a:t>
            </a:r>
          </a:p>
          <a:p>
            <a:r>
              <a:t>Skills and bench plan (delivery) and presales kit (sellers). Bench numbers are an input required from the CIS Infra delivery lead; no staffing is asserted. Certifications listed are Microsoft role-based certifications or specializations to confirm with the Microsoft alliance team. Kit status reflects what exists today in this proposal: decks and talk tracks exist; everything else is to build.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Account teams want to know where this fits and how big it gets. The top row is the account play, including a story for a business buyer, not only IT. The table is what Legal and Finance will want settled before we sign.</a:t>
            </a:r>
          </a:p>
          <a:p/>
          <a:p>
            <a:r>
              <a:t>Likely question: Will this compete with our existing infrastructure contract?</a:t>
            </a:r>
          </a:p>
          <a:p>
            <a:r>
              <a:t>Answer: No. In existing accounts we add it through change control as an extension, and the account leader decides the route.</a:t>
            </a:r>
          </a:p>
          <a:p/>
          <a:p>
            <a:r>
              <a:t>DETAIL AND CAVEATS</a:t>
            </a:r>
          </a:p>
          <a:p>
            <a:r>
              <a:t>Account play (where the offering fits in an existing account plan, first deal, expansion path and a business-led entry story) and contract risk positions. Contract positions are proposals for Legal and Finance; Cognizant standard terms prevail. Deal sizes use the illustrative $1,000 per role day. In accounts where Cognizant already runs infrastructure or managed services, position this offering as an extension of the existing contract through change control, not a competing bid.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Six cost layers, priced and owned separately. Only the first three are Cognizant services revenue; the other three are the customer’s Azure, model and GPU spend.</a:t>
            </a:r>
          </a:p>
          <a:p/>
          <a:p>
            <a:r>
              <a:t>Likely question: Do we resell Azure?</a:t>
            </a:r>
          </a:p>
          <a:p>
            <a:r>
              <a:t>Answer: Only if a resale agreement says so. Otherwise Azure spend is the customer’s and is not CIS Infra revenue.</a:t>
            </a:r>
          </a:p>
          <a:p/>
          <a:p>
            <a:r>
              <a:t>DETAIL AND CAVEATS</a:t>
            </a:r>
          </a:p>
          <a:p>
            <a:r>
              <a:t>Separates Cognizant services revenue from customer-paid Azure consumption. Where internal sell rates or enterprise Azure rates are unavailable, the formula and the missing input owner are shown instead of a number. </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activity has exactly one accountable role, shown in dark blue. The integrated service owner is the named Cognizant lead for the end-to-end outcome; the customer is accountable for acceptance.</a:t>
            </a:r>
          </a:p>
          <a:p/>
          <a:p>
            <a:r>
              <a:t>Likely question: Is this agreed with the towers?</a:t>
            </a:r>
          </a:p>
          <a:p>
            <a:r>
              <a:t>Answer: Not yet. It is a proposal to validate in the 90-day validation.</a:t>
            </a:r>
          </a:p>
          <a:p/>
          <a:p>
            <a:r>
              <a:t>DETAIL AND CAVEATS</a:t>
            </a:r>
          </a:p>
          <a:p>
            <a:r>
              <a:t>Proposed RACI for validation with tower leads, the integrated service owner and Finance. Exactly one A per row (A/R = accountable and responsible). Roles: CIS Infra; Security; DevOps; AI; Data (architecture and governance); Data Engineering (pipelines); Integrated service owner (named Cognizant delivery lead accountable for the integrated outcome); Customer workload owner; Commercial or finance owner (account commercial lead with Finance).</a:t>
            </a:r>
          </a:p>
          <a:p/>
          <a:p>
            <a:r>
              <a:t>Budget and allocation rules: the commercial or finance owner is accountable, with the customer budget owner consulted through the customer workload owner column.</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qualification and statement-of-work checklist. If any of these twelve items is blank, the deal is not ready to price.</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Readiness criteria for this offering. Timelines and staffing are estimates only and require named tower commitments. Use this as the qualification and SOW checklist.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Green rows can be decided today. The rest wait for pilot evidence, Finance approval or a tower agreement, and each has a proposed owner.</a:t>
            </a:r>
          </a:p>
          <a:p/>
          <a:p>
            <a:r>
              <a:t>Likely question: How firm is this, and who has agreed it?</a:t>
            </a:r>
          </a:p>
          <a:p>
            <a:r>
              <a:t>Answer: It is a proposal for leadership review. The detail and sources below show what is verified, what is an estimate and who still needs to agree it.</a:t>
            </a:r>
          </a:p>
          <a:p/>
          <a:p>
            <a:r>
              <a:t>DETAIL AND CAVEATS</a:t>
            </a:r>
          </a:p>
          <a:p>
            <a:r>
              <a:t>Unresolved decisions for this offering. "Now" means leadership can decide at this review. Other items depend on pilot evidence, Finance approval or specialist tower agreement. The consolidated register is delivered as a separate workbook.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product, price and availability claim was checked on this date against the sources listed. Third-party sources are labelled. Recheck prices and regions before any customer quote.</a:t>
            </a:r>
          </a:p>
          <a:p/>
          <a:p>
            <a:r>
              <a:t>Likely question: Which sources are third party?</a:t>
            </a:r>
          </a:p>
          <a:p>
            <a:r>
              <a:t>Answer: Those labelled third party, such as law-firm summaries and licensing analysts. Microsoft facts come from Microsoft Learn, Microsoft blogs or the Azure Retail Prices API.</a:t>
            </a:r>
          </a:p>
          <a:p/>
          <a:p>
            <a:r>
              <a:t>DETAIL AND CAVEATS</a:t>
            </a:r>
          </a:p>
          <a:p>
            <a:r>
              <a:t>Full source register (URL, date checked, product, deployment type, region, SKU, GA or preview status, limitations) is provided as a separate workbook. Links below are clickable in slideshow mode.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product, price and availability claim was checked on this date against the sources listed. Third-party sources are labelled. Recheck prices and regions before any customer quote.</a:t>
            </a:r>
          </a:p>
          <a:p/>
          <a:p>
            <a:r>
              <a:t>Likely question: Which sources are third party?</a:t>
            </a:r>
          </a:p>
          <a:p>
            <a:r>
              <a:t>Answer: Those labelled third party, such as law-firm summaries and licensing analysts. Microsoft facts come from Microsoft Learn, Microsoft blogs or the Azure Retail Prices API.</a:t>
            </a:r>
          </a:p>
          <a:p/>
          <a:p>
            <a:r>
              <a:t>DETAIL AND CAVEATS</a:t>
            </a:r>
          </a:p>
          <a:p>
            <a:r>
              <a:t>Full source register (URL, date checked, product, deployment type, region, SKU, GA or preview status, limitations) is provided as a separate workbook. Links below are clickable in slideshow mode.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4.0 produced through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image" Target="../media/image1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image" Target="../media/image17.png"/><Relationship Id="rId11" Type="http://schemas.openxmlformats.org/officeDocument/2006/relationships/image" Target="../media/image20.svg"/><Relationship Id="rId12" Type="http://schemas.openxmlformats.org/officeDocument/2006/relationships/image" Target="../media/image19.png"/><Relationship Id="rId13" Type="http://schemas.openxmlformats.org/officeDocument/2006/relationships/image" Target="../media/image22.svg"/><Relationship Id="rId14" Type="http://schemas.openxmlformats.org/officeDocument/2006/relationships/image" Target="../media/image21.png"/><Relationship Id="rId15" Type="http://schemas.openxmlformats.org/officeDocument/2006/relationships/image" Target="../media/image24.svg"/><Relationship Id="rId16" Type="http://schemas.openxmlformats.org/officeDocument/2006/relationships/image" Target="../media/image23.png"/><Relationship Id="rId17" Type="http://schemas.openxmlformats.org/officeDocument/2006/relationships/image" Target="../media/image2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7.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png"/><Relationship Id="rId7" Type="http://schemas.openxmlformats.org/officeDocument/2006/relationships/image" Target="../media/image12.svg"/><Relationship Id="rId8" Type="http://schemas.openxmlformats.org/officeDocument/2006/relationships/image" Target="../media/image13.png"/><Relationship Id="rId9" Type="http://schemas.openxmlformats.org/officeDocument/2006/relationships/image" Target="../media/image16.svg"/><Relationship Id="rId10" Type="http://schemas.openxmlformats.org/officeDocument/2006/relationships/image" Target="../media/image25.png"/><Relationship Id="rId11" Type="http://schemas.openxmlformats.org/officeDocument/2006/relationships/image" Target="../media/image28.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slide" Target="slide13.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17.xml"/><Relationship Id="rId9" Type="http://schemas.openxmlformats.org/officeDocument/2006/relationships/slide" Target="slide18.xml"/><Relationship Id="rId10" Type="http://schemas.openxmlformats.org/officeDocument/2006/relationships/slide" Target="slide19.xml"/><Relationship Id="rId11" Type="http://schemas.openxmlformats.org/officeDocument/2006/relationships/slide" Target="slide20.xml"/><Relationship Id="rId12" Type="http://schemas.openxmlformats.org/officeDocument/2006/relationships/slide" Target="slide21.xml"/><Relationship Id="rId13" Type="http://schemas.openxmlformats.org/officeDocument/2006/relationships/slide" Target="slide22.xml"/><Relationship Id="rId14" Type="http://schemas.openxmlformats.org/officeDocument/2006/relationships/slide" Target="slide23.xml"/><Relationship Id="rId15" Type="http://schemas.openxmlformats.org/officeDocument/2006/relationships/slide" Target="slide24.xml"/><Relationship Id="rId16" Type="http://schemas.openxmlformats.org/officeDocument/2006/relationships/slide" Target="slide25.xml"/><Relationship Id="rId17" Type="http://schemas.openxmlformats.org/officeDocument/2006/relationships/slide" Target="slide26.xml"/><Relationship Id="rId18" Type="http://schemas.openxmlformats.org/officeDocument/2006/relationships/slide" Target="slide27.xml"/><Relationship Id="rId19" Type="http://schemas.openxmlformats.org/officeDocument/2006/relationships/slide" Target="slide28.xml"/><Relationship Id="rId20" Type="http://schemas.openxmlformats.org/officeDocument/2006/relationships/slide" Target="slide29.xml"/><Relationship Id="rId21" Type="http://schemas.openxmlformats.org/officeDocument/2006/relationships/slide" Target="slide30.xml"/><Relationship Id="rId22" Type="http://schemas.openxmlformats.org/officeDocument/2006/relationships/slide" Target="slide31.xml"/><Relationship Id="rId23" Type="http://schemas.openxmlformats.org/officeDocument/2006/relationships/slide" Target="slide32.xml"/><Relationship Id="rId24" Type="http://schemas.openxmlformats.org/officeDocument/2006/relationships/slide" Target="slide33.xml"/><Relationship Id="rId25" Type="http://schemas.openxmlformats.org/officeDocument/2006/relationships/slide" Target="slide34.xml"/><Relationship Id="rId26" Type="http://schemas.openxmlformats.org/officeDocument/2006/relationships/slide" Target="slide35.xml"/><Relationship Id="rId27" Type="http://schemas.openxmlformats.org/officeDocument/2006/relationships/slide" Target="slide36.xml"/><Relationship Id="rId28" Type="http://schemas.openxmlformats.org/officeDocument/2006/relationships/slide" Target="slide37.xml"/><Relationship Id="rId29" Type="http://schemas.openxmlformats.org/officeDocument/2006/relationships/slide" Target="slide38.xml"/><Relationship Id="rId30" Type="http://schemas.openxmlformats.org/officeDocument/2006/relationships/slide" Target="slide39.xml"/><Relationship Id="rId31" Type="http://schemas.openxmlformats.org/officeDocument/2006/relationships/slide" Target="slide40.xml"/><Relationship Id="rId32" Type="http://schemas.openxmlformats.org/officeDocument/2006/relationships/slide" Target="slide41.xml"/><Relationship Id="rId33" Type="http://schemas.openxmlformats.org/officeDocument/2006/relationships/slide" Target="slide42.xml"/><Relationship Id="rId34" Type="http://schemas.openxmlformats.org/officeDocument/2006/relationships/slide" Target="slide43.xml"/><Relationship Id="rId35" Type="http://schemas.openxmlformats.org/officeDocument/2006/relationships/slide" Target="slide44.xml"/><Relationship Id="rId36" Type="http://schemas.openxmlformats.org/officeDocument/2006/relationships/slide" Target="slide45.xml"/><Relationship Id="rId37" Type="http://schemas.openxmlformats.org/officeDocument/2006/relationships/slide" Target="slide46.xml"/><Relationship Id="rId38" Type="http://schemas.openxmlformats.org/officeDocument/2006/relationships/slide" Target="slide47.xml"/><Relationship Id="rId39" Type="http://schemas.openxmlformats.org/officeDocument/2006/relationships/slide" Target="slide48.xml"/><Relationship Id="rId40" Type="http://schemas.openxmlformats.org/officeDocument/2006/relationships/slide" Target="slide49.xml"/><Relationship Id="rId41" Type="http://schemas.openxmlformats.org/officeDocument/2006/relationships/slide" Target="slide50.xml"/><Relationship Id="rId42" Type="http://schemas.openxmlformats.org/officeDocument/2006/relationships/slide" Target="slide5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image" Target="../media/image27.png"/><Relationship Id="rId5" Type="http://schemas.openxmlformats.org/officeDocument/2006/relationships/image" Target="../media/image30.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29.png"/><Relationship Id="rId9" Type="http://schemas.openxmlformats.org/officeDocument/2006/relationships/image" Target="../media/image32.svg"/><Relationship Id="rId10" Type="http://schemas.openxmlformats.org/officeDocument/2006/relationships/image" Target="../media/image31.png"/><Relationship Id="rId11" Type="http://schemas.openxmlformats.org/officeDocument/2006/relationships/image" Target="../media/image34.svg"/><Relationship Id="rId12" Type="http://schemas.openxmlformats.org/officeDocument/2006/relationships/image" Target="../media/image15.png"/><Relationship Id="rId13" Type="http://schemas.openxmlformats.org/officeDocument/2006/relationships/image" Target="../media/image18.svg"/><Relationship Id="rId14"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slide" Target="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0.xml"/><Relationship Id="rId4" Type="http://schemas.openxmlformats.org/officeDocument/2006/relationships/image" Target="../media/image13.png"/><Relationship Id="rId5" Type="http://schemas.openxmlformats.org/officeDocument/2006/relationships/image" Target="../media/image16.svg"/><Relationship Id="rId6" Type="http://schemas.openxmlformats.org/officeDocument/2006/relationships/slide" Target="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slide" Target="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2.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7.png"/><Relationship Id="rId9" Type="http://schemas.openxmlformats.org/officeDocument/2006/relationships/image" Target="../media/image20.svg"/><Relationship Id="rId10" Type="http://schemas.openxmlformats.org/officeDocument/2006/relationships/image" Target="../media/image15.png"/><Relationship Id="rId11" Type="http://schemas.openxmlformats.org/officeDocument/2006/relationships/image" Target="../media/image18.svg"/><Relationship Id="rId12" Type="http://schemas.openxmlformats.org/officeDocument/2006/relationships/image" Target="../media/image33.png"/><Relationship Id="rId13" Type="http://schemas.openxmlformats.org/officeDocument/2006/relationships/image" Target="../media/image36.svg"/><Relationship Id="rId14" Type="http://schemas.openxmlformats.org/officeDocument/2006/relationships/slide" Target="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3.xml"/><Relationship Id="rId4" Type="http://schemas.openxmlformats.org/officeDocument/2006/relationships/image" Target="../media/image17.png"/><Relationship Id="rId5" Type="http://schemas.openxmlformats.org/officeDocument/2006/relationships/image" Target="../media/image20.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35.png"/><Relationship Id="rId9" Type="http://schemas.openxmlformats.org/officeDocument/2006/relationships/image" Target="../media/image38.svg"/><Relationship Id="rId10" Type="http://schemas.openxmlformats.org/officeDocument/2006/relationships/slide" Target="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4.xml"/><Relationship Id="rId4" Type="http://schemas.openxmlformats.org/officeDocument/2006/relationships/image" Target="../media/image13.png"/><Relationship Id="rId5" Type="http://schemas.openxmlformats.org/officeDocument/2006/relationships/image" Target="../media/image16.svg"/><Relationship Id="rId6" Type="http://schemas.openxmlformats.org/officeDocument/2006/relationships/image" Target="../media/image23.png"/><Relationship Id="rId7" Type="http://schemas.openxmlformats.org/officeDocument/2006/relationships/image" Target="../media/image26.svg"/><Relationship Id="rId8" Type="http://schemas.openxmlformats.org/officeDocument/2006/relationships/image" Target="../media/image37.png"/><Relationship Id="rId9" Type="http://schemas.openxmlformats.org/officeDocument/2006/relationships/image" Target="../media/image40.svg"/><Relationship Id="rId10" Type="http://schemas.openxmlformats.org/officeDocument/2006/relationships/image" Target="../media/image39.png"/><Relationship Id="rId11" Type="http://schemas.openxmlformats.org/officeDocument/2006/relationships/image" Target="../media/image42.svg"/><Relationship Id="rId12" Type="http://schemas.openxmlformats.org/officeDocument/2006/relationships/slide" Target="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5.xml"/><Relationship Id="rId4" Type="http://schemas.openxmlformats.org/officeDocument/2006/relationships/slide" Target="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6.xml"/><Relationship Id="rId4" Type="http://schemas.openxmlformats.org/officeDocument/2006/relationships/slide" Target="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7.xml"/><Relationship Id="rId4" Type="http://schemas.openxmlformats.org/officeDocument/2006/relationships/slide" Target="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8.xml"/><Relationship Id="rId4" Type="http://schemas.openxmlformats.org/officeDocument/2006/relationships/slide" Target="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9.xml"/><Relationship Id="rId4" Type="http://schemas.openxmlformats.org/officeDocument/2006/relationships/slide" Target="slide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0.xml"/><Relationship Id="rId4" Type="http://schemas.openxmlformats.org/officeDocument/2006/relationships/slide" Target="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1.xml"/><Relationship Id="rId4" Type="http://schemas.openxmlformats.org/officeDocument/2006/relationships/slide" Target="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2.xml"/><Relationship Id="rId4" Type="http://schemas.openxmlformats.org/officeDocument/2006/relationships/slide" Target="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3.xml"/><Relationship Id="rId4" Type="http://schemas.openxmlformats.org/officeDocument/2006/relationships/image" Target="../media/image41.png"/><Relationship Id="rId5" Type="http://schemas.openxmlformats.org/officeDocument/2006/relationships/image" Target="../media/image44.svg"/><Relationship Id="rId6" Type="http://schemas.openxmlformats.org/officeDocument/2006/relationships/slide" Target="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4.xml"/><Relationship Id="rId4" Type="http://schemas.openxmlformats.org/officeDocument/2006/relationships/chart" Target="../charts/chart1.xml"/><Relationship Id="rId5" Type="http://schemas.openxmlformats.org/officeDocument/2006/relationships/slide" Target="slide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5.xml"/><Relationship Id="rId4" Type="http://schemas.openxmlformats.org/officeDocument/2006/relationships/image" Target="../media/image13.png"/><Relationship Id="rId5" Type="http://schemas.openxmlformats.org/officeDocument/2006/relationships/image" Target="../media/image16.svg"/><Relationship Id="rId6" Type="http://schemas.openxmlformats.org/officeDocument/2006/relationships/image" Target="../media/image23.png"/><Relationship Id="rId7" Type="http://schemas.openxmlformats.org/officeDocument/2006/relationships/image" Target="../media/image26.svg"/><Relationship Id="rId8" Type="http://schemas.openxmlformats.org/officeDocument/2006/relationships/image" Target="../media/image37.png"/><Relationship Id="rId9" Type="http://schemas.openxmlformats.org/officeDocument/2006/relationships/image" Target="../media/image40.svg"/><Relationship Id="rId10" Type="http://schemas.openxmlformats.org/officeDocument/2006/relationships/image" Target="../media/image39.png"/><Relationship Id="rId11" Type="http://schemas.openxmlformats.org/officeDocument/2006/relationships/image" Target="../media/image42.svg"/><Relationship Id="rId12" Type="http://schemas.openxmlformats.org/officeDocument/2006/relationships/image" Target="../media/image43.png"/><Relationship Id="rId13" Type="http://schemas.openxmlformats.org/officeDocument/2006/relationships/image" Target="../media/image46.svg"/><Relationship Id="rId14" Type="http://schemas.openxmlformats.org/officeDocument/2006/relationships/slide" Target="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6.xml"/><Relationship Id="rId4" Type="http://schemas.openxmlformats.org/officeDocument/2006/relationships/image" Target="../media/image13.png"/><Relationship Id="rId5" Type="http://schemas.openxmlformats.org/officeDocument/2006/relationships/image" Target="../media/image16.svg"/><Relationship Id="rId6" Type="http://schemas.openxmlformats.org/officeDocument/2006/relationships/image" Target="../media/image21.png"/><Relationship Id="rId7" Type="http://schemas.openxmlformats.org/officeDocument/2006/relationships/image" Target="../media/image24.svg"/><Relationship Id="rId8" Type="http://schemas.openxmlformats.org/officeDocument/2006/relationships/slide" Target="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7.xml"/><Relationship Id="rId4" Type="http://schemas.openxmlformats.org/officeDocument/2006/relationships/slide" Target="slide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8.xml"/><Relationship Id="rId4" Type="http://schemas.openxmlformats.org/officeDocument/2006/relationships/slide" Target="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9.xml"/><Relationship Id="rId4" Type="http://schemas.openxmlformats.org/officeDocument/2006/relationships/slide" Target="slide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0.xml"/><Relationship Id="rId4" Type="http://schemas.openxmlformats.org/officeDocument/2006/relationships/slide" Target="slide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1.xml"/><Relationship Id="rId4" Type="http://schemas.openxmlformats.org/officeDocument/2006/relationships/slide" Target="slide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2.xml"/><Relationship Id="rId4" Type="http://schemas.openxmlformats.org/officeDocument/2006/relationships/slide" Target="slide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3.xml"/><Relationship Id="rId4" Type="http://schemas.openxmlformats.org/officeDocument/2006/relationships/slide" Target="slide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4.xml"/><Relationship Id="rId4" Type="http://schemas.openxmlformats.org/officeDocument/2006/relationships/slide" Target="slide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5.xml"/><Relationship Id="rId4" Type="http://schemas.openxmlformats.org/officeDocument/2006/relationships/slide" Target="slide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6.xml"/><Relationship Id="rId4" Type="http://schemas.openxmlformats.org/officeDocument/2006/relationships/slide" Target="slide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7.xml"/><Relationship Id="rId4" Type="http://schemas.openxmlformats.org/officeDocument/2006/relationships/slide" Target="slide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8.xml"/><Relationship Id="rId4" Type="http://schemas.openxmlformats.org/officeDocument/2006/relationships/slide" Target="slide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9.xml"/><Relationship Id="rId4" Type="http://schemas.openxmlformats.org/officeDocument/2006/relationships/slide" Target="slide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0.xml"/><Relationship Id="rId4" Type="http://schemas.openxmlformats.org/officeDocument/2006/relationships/hyperlink" Target="https://learn.microsoft.com/en-us/azure/api-management/genai-gateway-capabilities" TargetMode="External"/><Relationship Id="rId5" Type="http://schemas.openxmlformats.org/officeDocument/2006/relationships/hyperlink" Target="https://learn.microsoft.com/en-us/azure/api-management/llm-token-limit-policy" TargetMode="External"/><Relationship Id="rId6" Type="http://schemas.openxmlformats.org/officeDocument/2006/relationships/hyperlink" Target="https://learn.microsoft.com/en-us/azure/api-management/llm-content-safety-policy" TargetMode="External"/><Relationship Id="rId7" Type="http://schemas.openxmlformats.org/officeDocument/2006/relationships/hyperlink" Target="https://learn.microsoft.com/en-us/azure/api-management/ai-gateway-overview" TargetMode="External"/><Relationship Id="rId8" Type="http://schemas.openxmlformats.org/officeDocument/2006/relationships/hyperlink" Target="https://learn.microsoft.com/en-us/azure/api-management/api-management-features" TargetMode="External"/><Relationship Id="rId9" Type="http://schemas.openxmlformats.org/officeDocument/2006/relationships/hyperlink" Target="https://learn.microsoft.com/en-us/azure/api-management/api-management-region-availability" TargetMode="External"/><Relationship Id="rId10" Type="http://schemas.openxmlformats.org/officeDocument/2006/relationships/hyperlink" Target="https://prices.azure.com/api/retail/prices?$filter=serviceName eq 'API Management' and armRegionName eq 'eastus2'" TargetMode="External"/><Relationship Id="rId11" Type="http://schemas.openxmlformats.org/officeDocument/2006/relationships/hyperlink" Target="https://prices.azure.com/api/retail/prices?$filter=armRegionName eq 'eastus2' and contains(meterName,'5.4')" TargetMode="External"/><Relationship Id="rId12" Type="http://schemas.openxmlformats.org/officeDocument/2006/relationships/hyperlink" Target="https://learn.microsoft.com/en-us/azure/foundry/openai/concepts/provisioned-throughput" TargetMode="External"/><Relationship Id="rId13" Type="http://schemas.openxmlformats.org/officeDocument/2006/relationships/hyperlink" Target="https://prices.azure.com/api/retail/prices?$filter=serviceName eq 'Log Analytics' and armRegionName eq 'eastus2'" TargetMode="External"/><Relationship Id="rId14" Type="http://schemas.openxmlformats.org/officeDocument/2006/relationships/hyperlink" Target="https://learn.microsoft.com/en-us/azure/foundry/openai/concepts/model-retirement-schedule" TargetMode="External"/><Relationship Id="rId15" Type="http://schemas.openxmlformats.org/officeDocument/2006/relationships/hyperlink" Target="https://learn.microsoft.com/en-us/azure/api-center/register-discover-mcp-server" TargetMode="External"/><Relationship Id="rId16" Type="http://schemas.openxmlformats.org/officeDocument/2006/relationships/hyperlink" Target="https://devblogs.microsoft.com/all-things-azure/locking-down-mcp-create-a-private-registry-on-azure-api-center-and-enforce-it-in-github-copilot-and-vs-code/" TargetMode="External"/><Relationship Id="rId17" Type="http://schemas.openxmlformats.org/officeDocument/2006/relationships/slide" Target="slide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1.xml"/><Relationship Id="rId4" Type="http://schemas.openxmlformats.org/officeDocument/2006/relationships/hyperlink" Target="https://learn.microsoft.com/en-us/azure/defender-for-cloud/ai-threat-protection" TargetMode="External"/><Relationship Id="rId5" Type="http://schemas.openxmlformats.org/officeDocument/2006/relationships/hyperlink" Target="https://learn.microsoft.com/en-us/purview/ai-microsoft-purview" TargetMode="External"/><Relationship Id="rId6" Type="http://schemas.openxmlformats.org/officeDocument/2006/relationships/hyperlink" Target="https://learn.microsoft.com/en-us/azure/cost-management-billing/costs/tutorial-improved-exports" TargetMode="External"/><Relationship Id="rId7" Type="http://schemas.openxmlformats.org/officeDocument/2006/relationships/hyperlink" Target="https://genai.owasp.org/resource/owasp-genai-llm-top-10-2026/" TargetMode="External"/><Relationship Id="rId8" Type="http://schemas.openxmlformats.org/officeDocument/2006/relationships/hyperlink" Target="https://www.orrick.com/en/Insights/2026/07/EU-AI-Act-Update-Digital-Omnibus-Finalizes-8-Compliance-Changes" TargetMode="External"/><Relationship Id="rId9" Type="http://schemas.openxmlformats.org/officeDocument/2006/relationships/hyperlink" Target="https://learn.microsoft.com/en-us/azure/architecture/icons/" TargetMode="External"/><Relationship Id="rId10" Type="http://schemas.openxmlformats.org/officeDocument/2006/relationships/hyperlink" Target="https://az-icons.com/" TargetMode="External"/><Relationship Id="rId11" Type="http://schemas.openxmlformats.org/officeDocument/2006/relationships/hyperlink" Target="https://learn.microsoft.com/en-us/azure/architecture/ai-ml/guide/azure-openai-gateway-guide" TargetMode="External"/><Relationship Id="rId12" Type="http://schemas.openxmlformats.org/officeDocument/2006/relationships/hyperlink" Target="https://learn.microsoft.com/en-us/azure/architecture/ai-ml/guide/azure-openai-gateway-custom-authentication" TargetMode="External"/><Relationship Id="rId13" Type="http://schemas.openxmlformats.org/officeDocument/2006/relationships/slide" Target="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2194560" cy="393458"/>
          </a:xfrm>
          <a:prstGeom prst="rect">
            <a:avLst/>
          </a:prstGeom>
        </p:spPr>
      </p:pic>
      <p:sp>
        <p:nvSpPr>
          <p:cNvPr id="4" name="TextBox 3"/>
          <p:cNvSpPr txBox="1"/>
          <p:nvPr/>
        </p:nvSpPr>
        <p:spPr>
          <a:xfrm>
            <a:off x="548640" y="1417320"/>
            <a:ext cx="10515600" cy="320040"/>
          </a:xfrm>
          <a:prstGeom prst="rect">
            <a:avLst/>
          </a:prstGeom>
          <a:noFill/>
        </p:spPr>
        <p:txBody>
          <a:bodyPr wrap="square" lIns="0" rIns="0" tIns="0" bIns="0" anchor="t">
            <a:noAutofit/>
          </a:bodyPr>
          <a:lstStyle/>
          <a:p>
            <a:pPr algn="l"/>
            <a:r>
              <a:rPr sz="1200" b="1" i="0">
                <a:solidFill>
                  <a:srgbClr val="26EFE9"/>
                </a:solidFill>
                <a:latin typeface="Arial"/>
              </a:rPr>
              <a:t>CIS INFRA  ·  INTERNAL OFFERING PROPOSAL  ·  FOR SENIOR LEADERSHIP REVIEW</a:t>
            </a:r>
          </a:p>
        </p:txBody>
      </p:sp>
      <p:sp>
        <p:nvSpPr>
          <p:cNvPr id="5" name="Title"/>
          <p:cNvSpPr txBox="1"/>
          <p:nvPr/>
        </p:nvSpPr>
        <p:spPr>
          <a:xfrm>
            <a:off x="548640" y="2011680"/>
            <a:ext cx="10789920" cy="1737360"/>
          </a:xfrm>
          <a:prstGeom prst="rect">
            <a:avLst/>
          </a:prstGeom>
          <a:noFill/>
        </p:spPr>
        <p:txBody>
          <a:bodyPr wrap="square" lIns="0" rIns="0" anchor="b">
            <a:noAutofit/>
          </a:bodyPr>
          <a:lstStyle/>
          <a:p>
            <a:pPr algn="l"/>
            <a:r>
              <a:rPr sz="4400" b="1" i="0">
                <a:solidFill>
                  <a:srgbClr val="FFFFFF"/>
                </a:solidFill>
                <a:latin typeface="Arial"/>
              </a:rPr>
              <a:t>AI Gateway Implementation</a:t>
            </a:r>
          </a:p>
        </p:txBody>
      </p:sp>
      <p:sp>
        <p:nvSpPr>
          <p:cNvPr id="6" name="TextBox 5"/>
          <p:cNvSpPr txBox="1"/>
          <p:nvPr/>
        </p:nvSpPr>
        <p:spPr>
          <a:xfrm>
            <a:off x="548640" y="3886200"/>
            <a:ext cx="10789920" cy="822960"/>
          </a:xfrm>
          <a:prstGeom prst="rect">
            <a:avLst/>
          </a:prstGeom>
          <a:noFill/>
        </p:spPr>
        <p:txBody>
          <a:bodyPr wrap="square" lIns="0" rIns="0" tIns="0" bIns="0" anchor="t">
            <a:noAutofit/>
          </a:bodyPr>
          <a:lstStyle/>
          <a:p>
            <a:pPr algn="l"/>
            <a:r>
              <a:rPr sz="2400" b="0" i="0">
                <a:solidFill>
                  <a:srgbClr val="26EFE9"/>
                </a:solidFill>
                <a:latin typeface="Arial"/>
              </a:rPr>
              <a:t>Govern model and tool traffic through one controlled, observable path</a:t>
            </a:r>
          </a:p>
        </p:txBody>
      </p:sp>
      <p:sp>
        <p:nvSpPr>
          <p:cNvPr id="7" name="TextBox 6"/>
          <p:cNvSpPr txBox="1"/>
          <p:nvPr/>
        </p:nvSpPr>
        <p:spPr>
          <a:xfrm>
            <a:off x="548640" y="4892040"/>
            <a:ext cx="10789920" cy="411480"/>
          </a:xfrm>
          <a:prstGeom prst="rect">
            <a:avLst/>
          </a:prstGeom>
          <a:noFill/>
        </p:spPr>
        <p:txBody>
          <a:bodyPr wrap="square" lIns="0" rIns="0" tIns="0" bIns="0" anchor="t">
            <a:noAutofit/>
          </a:bodyPr>
          <a:lstStyle/>
          <a:p>
            <a:pPr algn="l"/>
            <a:r>
              <a:rPr sz="1600" b="0" i="0">
                <a:solidFill>
                  <a:srgbClr val="FFFFFF"/>
                </a:solidFill>
                <a:latin typeface="Arial"/>
              </a:rPr>
              <a:t>API Management for traffic, API Center for which tools exist  ·  US, Europe, UK and Middle East pursuits</a:t>
            </a:r>
          </a:p>
        </p:txBody>
      </p:sp>
      <p:sp>
        <p:nvSpPr>
          <p:cNvPr id="8" name="TextBox 7"/>
          <p:cNvSpPr txBox="1"/>
          <p:nvPr/>
        </p:nvSpPr>
        <p:spPr>
          <a:xfrm>
            <a:off x="548640" y="5989320"/>
            <a:ext cx="7772400" cy="320040"/>
          </a:xfrm>
          <a:prstGeom prst="rect">
            <a:avLst/>
          </a:prstGeom>
          <a:noFill/>
        </p:spPr>
        <p:txBody>
          <a:bodyPr wrap="square" lIns="0" rIns="0" tIns="0" bIns="0" anchor="t">
            <a:noAutofit/>
          </a:bodyPr>
          <a:lstStyle/>
          <a:p>
            <a:pPr algn="l"/>
            <a:r>
              <a:rPr sz="1200" b="0" i="0">
                <a:solidFill>
                  <a:srgbClr val="C9C9E0"/>
                </a:solidFill>
                <a:latin typeface="Arial"/>
              </a:rPr>
              <a:t>11 Oct 2026  ·  Version 4.0  ·  Working proposal for leadership review</a:t>
            </a:r>
          </a:p>
        </p:txBody>
      </p:sp>
      <p:sp>
        <p:nvSpPr>
          <p:cNvPr id="9" name="TextBox 8"/>
          <p:cNvSpPr txBox="1"/>
          <p:nvPr/>
        </p:nvSpPr>
        <p:spPr>
          <a:xfrm>
            <a:off x="10881360" y="5989320"/>
            <a:ext cx="731520" cy="320040"/>
          </a:xfrm>
          <a:prstGeom prst="rect">
            <a:avLst/>
          </a:prstGeom>
          <a:noFill/>
        </p:spPr>
        <p:txBody>
          <a:bodyPr wrap="square" lIns="0" rIns="0" tIns="0" bIns="0" anchor="t">
            <a:noAutofit/>
          </a:bodyPr>
          <a:lstStyle/>
          <a:p>
            <a:pPr algn="r"/>
            <a:r>
              <a:rPr sz="1200" b="0" i="0">
                <a:solidFill>
                  <a:srgbClr val="C9C9E0"/>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One governed path for every model and tool call</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2 OF 10</a:t>
            </a:r>
          </a:p>
        </p:txBody>
      </p:sp>
      <p:sp>
        <p:nvSpPr>
          <p:cNvPr id="5" name="Status chip: PROPOSED OFFERING"/>
          <p:cNvSpPr/>
          <p:nvPr/>
        </p:nvSpPr>
        <p:spPr>
          <a:xfrm>
            <a:off x="365887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OFFERING</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02</a:t>
            </a:r>
          </a:p>
        </p:txBody>
      </p:sp>
      <p:sp>
        <p:nvSpPr>
          <p:cNvPr id="8" name="TextBox 7"/>
          <p:cNvSpPr txBox="1"/>
          <p:nvPr/>
        </p:nvSpPr>
        <p:spPr>
          <a:xfrm>
            <a:off x="548640" y="1371600"/>
            <a:ext cx="1600200" cy="457200"/>
          </a:xfrm>
          <a:prstGeom prst="rect">
            <a:avLst/>
          </a:prstGeom>
          <a:noFill/>
        </p:spPr>
        <p:txBody>
          <a:bodyPr wrap="square" lIns="0" rIns="0" tIns="0" bIns="0" anchor="t">
            <a:noAutofit/>
          </a:bodyPr>
          <a:lstStyle/>
          <a:p>
            <a:pPr algn="l"/>
            <a:r>
              <a:rPr sz="2200" b="1" i="0">
                <a:solidFill>
                  <a:srgbClr val="2F78C4"/>
                </a:solidFill>
                <a:latin typeface="Arial"/>
              </a:rPr>
              <a:t>Problem</a:t>
            </a:r>
          </a:p>
        </p:txBody>
      </p:sp>
      <p:sp>
        <p:nvSpPr>
          <p:cNvPr id="9" name="TextBox 8"/>
          <p:cNvSpPr txBox="1"/>
          <p:nvPr/>
        </p:nvSpPr>
        <p:spPr>
          <a:xfrm>
            <a:off x="2148840" y="1371600"/>
            <a:ext cx="5120640" cy="1024127"/>
          </a:xfrm>
          <a:prstGeom prst="rect">
            <a:avLst/>
          </a:prstGeom>
          <a:noFill/>
        </p:spPr>
        <p:txBody>
          <a:bodyPr wrap="square" lIns="0" rIns="0" tIns="0" bIns="0" anchor="t">
            <a:noAutofit/>
          </a:bodyPr>
          <a:lstStyle/>
          <a:p>
            <a:pPr algn="l"/>
            <a:r>
              <a:rPr sz="1800" b="0" i="0">
                <a:solidFill>
                  <a:srgbClr val="1E1E2E"/>
                </a:solidFill>
                <a:latin typeface="Arial"/>
              </a:rPr>
              <a:t>Apps and agents call models and tools directly, often with keys. No shared limits, routing, cost split or tool allow-list.</a:t>
            </a:r>
          </a:p>
        </p:txBody>
      </p:sp>
      <p:sp>
        <p:nvSpPr>
          <p:cNvPr id="10" name="TextBox 9"/>
          <p:cNvSpPr txBox="1"/>
          <p:nvPr/>
        </p:nvSpPr>
        <p:spPr>
          <a:xfrm>
            <a:off x="548640" y="2441448"/>
            <a:ext cx="1600200" cy="457200"/>
          </a:xfrm>
          <a:prstGeom prst="rect">
            <a:avLst/>
          </a:prstGeom>
          <a:noFill/>
        </p:spPr>
        <p:txBody>
          <a:bodyPr wrap="square" lIns="0" rIns="0" tIns="0" bIns="0" anchor="t">
            <a:noAutofit/>
          </a:bodyPr>
          <a:lstStyle/>
          <a:p>
            <a:pPr algn="l"/>
            <a:r>
              <a:rPr sz="2200" b="1" i="0">
                <a:solidFill>
                  <a:srgbClr val="2F78C4"/>
                </a:solidFill>
                <a:latin typeface="Arial"/>
              </a:rPr>
              <a:t>Offer</a:t>
            </a:r>
          </a:p>
        </p:txBody>
      </p:sp>
      <p:sp>
        <p:nvSpPr>
          <p:cNvPr id="11" name="TextBox 10"/>
          <p:cNvSpPr txBox="1"/>
          <p:nvPr/>
        </p:nvSpPr>
        <p:spPr>
          <a:xfrm>
            <a:off x="2148840" y="2441448"/>
            <a:ext cx="5120640" cy="1024127"/>
          </a:xfrm>
          <a:prstGeom prst="rect">
            <a:avLst/>
          </a:prstGeom>
          <a:noFill/>
        </p:spPr>
        <p:txBody>
          <a:bodyPr wrap="square" lIns="0" rIns="0" tIns="0" bIns="0" anchor="t">
            <a:noAutofit/>
          </a:bodyPr>
          <a:lstStyle/>
          <a:p>
            <a:pPr algn="l"/>
            <a:r>
              <a:rPr sz="1800" b="0" i="0">
                <a:solidFill>
                  <a:srgbClr val="1E1E2E"/>
                </a:solidFill>
                <a:latin typeface="Arial"/>
              </a:rPr>
              <a:t>Build an API Management AI gateway with its policies and private network, plus an API Center registry of approved tools.</a:t>
            </a:r>
          </a:p>
        </p:txBody>
      </p:sp>
      <p:sp>
        <p:nvSpPr>
          <p:cNvPr id="12" name="TextBox 11"/>
          <p:cNvSpPr txBox="1"/>
          <p:nvPr/>
        </p:nvSpPr>
        <p:spPr>
          <a:xfrm>
            <a:off x="548640" y="3511296"/>
            <a:ext cx="1600200" cy="457200"/>
          </a:xfrm>
          <a:prstGeom prst="rect">
            <a:avLst/>
          </a:prstGeom>
          <a:noFill/>
        </p:spPr>
        <p:txBody>
          <a:bodyPr wrap="square" lIns="0" rIns="0" tIns="0" bIns="0" anchor="t">
            <a:noAutofit/>
          </a:bodyPr>
          <a:lstStyle/>
          <a:p>
            <a:pPr algn="l"/>
            <a:r>
              <a:rPr sz="2200" b="1" i="0">
                <a:solidFill>
                  <a:srgbClr val="2F78C4"/>
                </a:solidFill>
                <a:latin typeface="Arial"/>
              </a:rPr>
              <a:t>Outcome</a:t>
            </a:r>
          </a:p>
        </p:txBody>
      </p:sp>
      <p:sp>
        <p:nvSpPr>
          <p:cNvPr id="13" name="TextBox 12"/>
          <p:cNvSpPr txBox="1"/>
          <p:nvPr/>
        </p:nvSpPr>
        <p:spPr>
          <a:xfrm>
            <a:off x="2148840" y="3511296"/>
            <a:ext cx="5120640" cy="1024127"/>
          </a:xfrm>
          <a:prstGeom prst="rect">
            <a:avLst/>
          </a:prstGeom>
          <a:noFill/>
        </p:spPr>
        <p:txBody>
          <a:bodyPr wrap="square" lIns="0" rIns="0" tIns="0" bIns="0" anchor="t">
            <a:noAutofit/>
          </a:bodyPr>
          <a:lstStyle/>
          <a:p>
            <a:pPr algn="l"/>
            <a:r>
              <a:rPr sz="1800" b="0" i="0">
                <a:solidFill>
                  <a:srgbClr val="1E1E2E"/>
                </a:solidFill>
                <a:latin typeface="Arial"/>
              </a:rPr>
              <a:t>Every governed call is authenticated, metered, attributable and routable; only registered tools are reachable.</a:t>
            </a:r>
          </a:p>
        </p:txBody>
      </p:sp>
      <p:sp>
        <p:nvSpPr>
          <p:cNvPr id="14" name="TextBox 13"/>
          <p:cNvSpPr txBox="1"/>
          <p:nvPr/>
        </p:nvSpPr>
        <p:spPr>
          <a:xfrm>
            <a:off x="548640" y="4581144"/>
            <a:ext cx="1600200" cy="457200"/>
          </a:xfrm>
          <a:prstGeom prst="rect">
            <a:avLst/>
          </a:prstGeom>
          <a:noFill/>
        </p:spPr>
        <p:txBody>
          <a:bodyPr wrap="square" lIns="0" rIns="0" tIns="0" bIns="0" anchor="t">
            <a:noAutofit/>
          </a:bodyPr>
          <a:lstStyle/>
          <a:p>
            <a:pPr algn="l"/>
            <a:r>
              <a:rPr sz="2200" b="1" i="0">
                <a:solidFill>
                  <a:srgbClr val="1D6B3A"/>
                </a:solidFill>
                <a:latin typeface="Arial"/>
              </a:rPr>
              <a:t>Value</a:t>
            </a:r>
          </a:p>
        </p:txBody>
      </p:sp>
      <p:sp>
        <p:nvSpPr>
          <p:cNvPr id="15" name="TextBox 14"/>
          <p:cNvSpPr txBox="1"/>
          <p:nvPr/>
        </p:nvSpPr>
        <p:spPr>
          <a:xfrm>
            <a:off x="2148840" y="4581144"/>
            <a:ext cx="5120640" cy="1024127"/>
          </a:xfrm>
          <a:prstGeom prst="rect">
            <a:avLst/>
          </a:prstGeom>
          <a:noFill/>
        </p:spPr>
        <p:txBody>
          <a:bodyPr wrap="square" lIns="0" rIns="0" tIns="0" bIns="0" anchor="t">
            <a:noAutofit/>
          </a:bodyPr>
          <a:lstStyle/>
          <a:p>
            <a:pPr algn="l"/>
            <a:r>
              <a:rPr sz="1800" b="0" i="0">
                <a:solidFill>
                  <a:srgbClr val="1E1E2E"/>
                </a:solidFill>
                <a:latin typeface="Arial"/>
              </a:rPr>
              <a:t>Share of AI calls governed and attributed; production AI traffic that grows Azure consumption.</a:t>
            </a:r>
          </a:p>
        </p:txBody>
      </p:sp>
      <p:sp>
        <p:nvSpPr>
          <p:cNvPr id="16" name="Rounded Rectangle 15"/>
          <p:cNvSpPr/>
          <p:nvPr/>
        </p:nvSpPr>
        <p:spPr>
          <a:xfrm>
            <a:off x="7543800" y="1371600"/>
            <a:ext cx="4096512" cy="4206240"/>
          </a:xfrm>
          <a:prstGeom prst="roundRect">
            <a:avLst>
              <a:gd name="adj" fmla="val 178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73152" bIns="73152" wrap="square">
            <a:noAutofit/>
          </a:bodyPr>
          <a:lstStyle/>
          <a:p>
            <a:pPr algn="l">
              <a:spcAft>
                <a:spcPts val="1000"/>
              </a:spcAft>
            </a:pPr>
            <a:r>
              <a:rPr sz="2200" b="1" i="0">
                <a:solidFill>
                  <a:srgbClr val="FFFFFF"/>
                </a:solidFill>
                <a:latin typeface="Arial"/>
              </a:rPr>
              <a:t>Decision requested</a:t>
            </a:r>
          </a:p>
          <a:p>
            <a:pPr algn="l" marL="201168" indent="-201168">
              <a:spcAft>
                <a:spcPts val="1000"/>
              </a:spcAft>
              <a:buFont typeface="Arial"/>
              <a:buChar char="•"/>
            </a:pPr>
            <a:r>
              <a:rPr sz="2000" b="0" i="0">
                <a:solidFill>
                  <a:srgbClr val="FFFFFF"/>
                </a:solidFill>
                <a:latin typeface="Arial"/>
              </a:rPr>
              <a:t>Production on GA API Management tiers; preview tiers only as pilots</a:t>
            </a:r>
          </a:p>
          <a:p>
            <a:pPr algn="l" marL="201168" indent="-201168">
              <a:spcAft>
                <a:spcPts val="1000"/>
              </a:spcAft>
              <a:buFont typeface="Arial"/>
              <a:buChar char="•"/>
            </a:pPr>
            <a:r>
              <a:rPr sz="2000" b="0" i="0">
                <a:solidFill>
                  <a:srgbClr val="FFFFFF"/>
                </a:solidFill>
                <a:latin typeface="Arial"/>
              </a:rPr>
              <a:t>Adopt API Center as the tool and MCP allow-list</a:t>
            </a:r>
          </a:p>
          <a:p>
            <a:pPr algn="l" marL="201168" indent="-201168">
              <a:spcAft>
                <a:spcPts val="1000"/>
              </a:spcAft>
              <a:buFont typeface="Arial"/>
              <a:buChar char="•"/>
            </a:pPr>
            <a:r>
              <a:rPr sz="2000" b="0" i="0">
                <a:solidFill>
                  <a:srgbClr val="FFFFFF"/>
                </a:solidFill>
                <a:latin typeface="Arial"/>
              </a:rPr>
              <a:t>Accept token caps are not exact currency caps</a:t>
            </a:r>
          </a:p>
        </p:txBody>
      </p:sp>
      <p:sp>
        <p:nvSpPr>
          <p:cNvPr id="17" name="Rounded Rectangle 16"/>
          <p:cNvSpPr/>
          <p:nvPr/>
        </p:nvSpPr>
        <p:spPr>
          <a:xfrm>
            <a:off x="548640" y="5760720"/>
            <a:ext cx="11091672" cy="566928"/>
          </a:xfrm>
          <a:prstGeom prst="roundRect">
            <a:avLst>
              <a:gd name="adj" fmla="val 1290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A gateway cannot govern calls it never receives. Closing bypass routes is part of the scope.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MCP tool sprawl and model churn make a gateway urgent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3 OF 10</a:t>
            </a:r>
          </a:p>
        </p:txBody>
      </p:sp>
      <p:sp>
        <p:nvSpPr>
          <p:cNvPr id="5" name="Status chip: DRIVERS SOURCED, DEMAND TO VALIDATE"/>
          <p:cNvSpPr/>
          <p:nvPr/>
        </p:nvSpPr>
        <p:spPr>
          <a:xfrm>
            <a:off x="3658870" y="274320"/>
            <a:ext cx="329692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DRIVERS SOURCED, DEMAND TO VALIDATE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03</a:t>
            </a:r>
          </a:p>
        </p:txBody>
      </p:sp>
      <p:sp>
        <p:nvSpPr>
          <p:cNvPr id="8" name="Rounded Rectangle 7"/>
          <p:cNvSpPr/>
          <p:nvPr/>
        </p:nvSpPr>
        <p:spPr>
          <a:xfrm>
            <a:off x="548640"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Tool sprawl via MCP</a:t>
            </a:r>
          </a:p>
          <a:p>
            <a:pPr algn="l">
              <a:spcAft>
                <a:spcPts val="400"/>
              </a:spcAft>
            </a:pPr>
            <a:r>
              <a:rPr sz="1800" b="0" i="0">
                <a:solidFill>
                  <a:srgbClr val="1E1E2E"/>
                </a:solidFill>
                <a:latin typeface="Arial"/>
              </a:rPr>
              <a:t>Agents now call tools through MCP servers. API Center can register them and sync with API Management.</a:t>
            </a:r>
          </a:p>
          <a:p>
            <a:pPr algn="l"/>
            <a:r>
              <a:rPr sz="1200" b="0" i="0">
                <a:solidFill>
                  <a:srgbClr val="53565A"/>
                </a:solidFill>
                <a:latin typeface="Arial"/>
              </a:rPr>
              <a:t>Source: Microsoft Learn, API Center MCP registry</a:t>
            </a:r>
          </a:p>
        </p:txBody>
      </p:sp>
      <p:sp>
        <p:nvSpPr>
          <p:cNvPr id="9" name="Rounded Rectangle 8"/>
          <p:cNvSpPr/>
          <p:nvPr/>
        </p:nvSpPr>
        <p:spPr>
          <a:xfrm>
            <a:off x="4297679"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Several model generations</a:t>
            </a:r>
          </a:p>
          <a:p>
            <a:pPr algn="l">
              <a:spcAft>
                <a:spcPts val="400"/>
              </a:spcAft>
            </a:pPr>
            <a:r>
              <a:rPr sz="1800" b="0" i="0">
                <a:solidFill>
                  <a:srgbClr val="1E1E2E"/>
                </a:solidFill>
                <a:latin typeface="Arial"/>
              </a:rPr>
              <a:t>gpt-5.4 is GA and gpt-4.1 retires 14 Apr 2027. Routing must move traffic without app changes.</a:t>
            </a:r>
          </a:p>
          <a:p>
            <a:pPr algn="l"/>
            <a:r>
              <a:rPr sz="1200" b="0" i="0">
                <a:solidFill>
                  <a:srgbClr val="53565A"/>
                </a:solidFill>
                <a:latin typeface="Arial"/>
              </a:rPr>
              <a:t>Source: Foundry retirement schedule</a:t>
            </a:r>
          </a:p>
        </p:txBody>
      </p:sp>
      <p:sp>
        <p:nvSpPr>
          <p:cNvPr id="10" name="Rounded Rectangle 9"/>
          <p:cNvSpPr/>
          <p:nvPr/>
        </p:nvSpPr>
        <p:spPr>
          <a:xfrm>
            <a:off x="8046719"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AI threats are real</a:t>
            </a:r>
          </a:p>
          <a:p>
            <a:pPr algn="l">
              <a:spcAft>
                <a:spcPts val="400"/>
              </a:spcAft>
            </a:pPr>
            <a:r>
              <a:rPr sz="1800" b="0" i="0">
                <a:solidFill>
                  <a:srgbClr val="1E1E2E"/>
                </a:solidFill>
                <a:latin typeface="Arial"/>
              </a:rPr>
              <a:t>Defender for Cloud now alerts on jailbreak and data leakage for model traffic.</a:t>
            </a:r>
          </a:p>
          <a:p>
            <a:pPr algn="l"/>
            <a:r>
              <a:rPr sz="1200" b="0" i="0">
                <a:solidFill>
                  <a:srgbClr val="53565A"/>
                </a:solidFill>
                <a:latin typeface="Arial"/>
              </a:rPr>
              <a:t>Source: Defender for Cloud AI threat protection</a:t>
            </a:r>
          </a:p>
        </p:txBody>
      </p:sp>
      <p:sp>
        <p:nvSpPr>
          <p:cNvPr id="11" name="Rounded Rectangle 10"/>
          <p:cNvSpPr/>
          <p:nvPr/>
        </p:nvSpPr>
        <p:spPr>
          <a:xfrm>
            <a:off x="548640" y="4069080"/>
            <a:ext cx="5468112" cy="1691640"/>
          </a:xfrm>
          <a:prstGeom prst="roundRect">
            <a:avLst>
              <a:gd name="adj" fmla="val 432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1600" b="1" i="0">
                <a:solidFill>
                  <a:srgbClr val="26EFE9"/>
                </a:solidFill>
                <a:latin typeface="Arial"/>
              </a:rPr>
              <a:t>Who buys</a:t>
            </a:r>
          </a:p>
          <a:p>
            <a:pPr algn="l"/>
            <a:r>
              <a:rPr sz="1900" b="0" i="0">
                <a:solidFill>
                  <a:srgbClr val="FFFFFF"/>
                </a:solidFill>
                <a:latin typeface="Arial"/>
              </a:rPr>
              <a:t>Platform or API owner with the FinOps lead and the CISO delegate; AI platform leader for routing.</a:t>
            </a:r>
          </a:p>
        </p:txBody>
      </p:sp>
      <p:sp>
        <p:nvSpPr>
          <p:cNvPr id="12" name="Rounded Rectangle 11"/>
          <p:cNvSpPr/>
          <p:nvPr/>
        </p:nvSpPr>
        <p:spPr>
          <a:xfrm>
            <a:off x="6172200" y="4069080"/>
            <a:ext cx="5468112" cy="1691640"/>
          </a:xfrm>
          <a:prstGeom prst="roundRect">
            <a:avLst>
              <a:gd name="adj" fmla="val 4324"/>
            </a:avLst>
          </a:prstGeom>
          <a:solidFill>
            <a:srgbClr val="DDFBFA"/>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1600" b="1" i="0">
                <a:solidFill>
                  <a:srgbClr val="000048"/>
                </a:solidFill>
                <a:latin typeface="Arial"/>
              </a:rPr>
              <a:t>What triggers the purchase</a:t>
            </a:r>
          </a:p>
          <a:p>
            <a:pPr algn="l"/>
            <a:r>
              <a:rPr sz="1900" b="0" i="0">
                <a:solidFill>
                  <a:srgbClr val="1E1E2E"/>
                </a:solidFill>
                <a:latin typeface="Arial"/>
              </a:rPr>
              <a:t>Several teams calling models directly; unexplained model spend; keys found in apps; throttling events.</a:t>
            </a:r>
          </a:p>
        </p:txBody>
      </p:sp>
      <p:sp>
        <p:nvSpPr>
          <p:cNvPr id="13" name="TextBox 12"/>
          <p:cNvSpPr txBox="1"/>
          <p:nvPr/>
        </p:nvSpPr>
        <p:spPr>
          <a:xfrm>
            <a:off x="548640" y="5870448"/>
            <a:ext cx="11064240" cy="457200"/>
          </a:xfrm>
          <a:prstGeom prst="rect">
            <a:avLst/>
          </a:prstGeom>
          <a:noFill/>
        </p:spPr>
        <p:txBody>
          <a:bodyPr wrap="square" lIns="0" rIns="0" tIns="0" bIns="0" anchor="t">
            <a:noAutofit/>
          </a:bodyPr>
          <a:lstStyle/>
          <a:p>
            <a:pPr algn="l"/>
            <a:r>
              <a:rPr sz="1400" b="0" i="0">
                <a:solidFill>
                  <a:srgbClr val="53565A"/>
                </a:solidFill>
                <a:latin typeface="Arial"/>
              </a:rPr>
              <a:t>No pipeline or customer demand is claimed. Account shortlist and qualification scorecard: appendix Q1.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03 is the enforcement point for the whole portfolio</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4 OF 10</a:t>
            </a:r>
          </a:p>
        </p:txBody>
      </p:sp>
      <p:sp>
        <p:nvSpPr>
          <p:cNvPr id="5" name="Status chip: PROPOSED PORTFOLIO"/>
          <p:cNvSpPr/>
          <p:nvPr/>
        </p:nvSpPr>
        <p:spPr>
          <a:xfrm>
            <a:off x="365887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PORTFOLIO</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04</a:t>
            </a:r>
          </a:p>
        </p:txBody>
      </p:sp>
      <p:sp>
        <p:nvSpPr>
          <p:cNvPr id="8" name="Rounded Rectangle 7"/>
          <p:cNvSpPr/>
          <p:nvPr/>
        </p:nvSpPr>
        <p:spPr>
          <a:xfrm>
            <a:off x="548640"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04</a:t>
            </a:r>
          </a:p>
          <a:p>
            <a:pPr algn="l"/>
            <a:r>
              <a:rPr sz="1500" b="1" i="0">
                <a:solidFill>
                  <a:srgbClr val="000048"/>
                </a:solidFill>
                <a:latin typeface="Arial"/>
              </a:rPr>
              <a:t>AI Capacity and FinOps Assessment</a:t>
            </a:r>
          </a:p>
        </p:txBody>
      </p:sp>
      <p:cxnSp>
        <p:nvCxnSpPr>
          <p:cNvPr id="9" name="Connector (flow)"/>
          <p:cNvCxnSpPr/>
          <p:nvPr/>
        </p:nvCxnSpPr>
        <p:spPr>
          <a:xfrm>
            <a:off x="2587752"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19095"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01</a:t>
            </a:r>
          </a:p>
          <a:p>
            <a:pPr algn="l"/>
            <a:r>
              <a:rPr sz="1500" b="1" i="0">
                <a:solidFill>
                  <a:srgbClr val="000048"/>
                </a:solidFill>
                <a:latin typeface="Arial"/>
              </a:rPr>
              <a:t>AI Platform / Landing Zone</a:t>
            </a:r>
          </a:p>
        </p:txBody>
      </p:sp>
      <p:cxnSp>
        <p:nvCxnSpPr>
          <p:cNvPr id="11" name="Connector (flow)"/>
          <p:cNvCxnSpPr/>
          <p:nvPr/>
        </p:nvCxnSpPr>
        <p:spPr>
          <a:xfrm>
            <a:off x="4858207"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89550" y="1298448"/>
            <a:ext cx="2011680" cy="1188720"/>
          </a:xfrm>
          <a:prstGeom prst="roundRect">
            <a:avLst>
              <a:gd name="adj" fmla="val 6153"/>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26EFE9"/>
                </a:solidFill>
                <a:latin typeface="Arial"/>
              </a:rPr>
              <a:t>03  THIS OFFERING</a:t>
            </a:r>
          </a:p>
          <a:p>
            <a:pPr algn="l"/>
            <a:r>
              <a:rPr sz="1500" b="1" i="0">
                <a:solidFill>
                  <a:srgbClr val="FFFFFF"/>
                </a:solidFill>
                <a:latin typeface="Arial"/>
              </a:rPr>
              <a:t>AI Gateway Implementation</a:t>
            </a:r>
          </a:p>
        </p:txBody>
      </p:sp>
      <p:cxnSp>
        <p:nvCxnSpPr>
          <p:cNvPr id="13" name="Connector (flow)"/>
          <p:cNvCxnSpPr/>
          <p:nvPr/>
        </p:nvCxnSpPr>
        <p:spPr>
          <a:xfrm>
            <a:off x="7128662"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360005"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02</a:t>
            </a:r>
          </a:p>
          <a:p>
            <a:pPr algn="l"/>
            <a:r>
              <a:rPr sz="1500" b="1" i="0">
                <a:solidFill>
                  <a:srgbClr val="000048"/>
                </a:solidFill>
                <a:latin typeface="Arial"/>
              </a:rPr>
              <a:t>Agent Governance and Operations</a:t>
            </a:r>
          </a:p>
        </p:txBody>
      </p:sp>
      <p:cxnSp>
        <p:nvCxnSpPr>
          <p:cNvPr id="15" name="Connector (flow)"/>
          <p:cNvCxnSpPr/>
          <p:nvPr/>
        </p:nvCxnSpPr>
        <p:spPr>
          <a:xfrm>
            <a:off x="9399117"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630460"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05</a:t>
            </a:r>
          </a:p>
          <a:p>
            <a:pPr algn="l"/>
            <a:r>
              <a:rPr sz="1500" b="1" i="0">
                <a:solidFill>
                  <a:srgbClr val="000048"/>
                </a:solidFill>
                <a:latin typeface="Arial"/>
              </a:rPr>
              <a:t>Managed AI Platform Operations</a:t>
            </a:r>
          </a:p>
        </p:txBody>
      </p:sp>
      <p:cxnSp>
        <p:nvCxnSpPr>
          <p:cNvPr id="17" name="Connector (control)"/>
          <p:cNvCxnSpPr/>
          <p:nvPr/>
        </p:nvCxnSpPr>
        <p:spPr>
          <a:xfrm>
            <a:off x="10636300" y="2487168"/>
            <a:ext cx="0" cy="256032"/>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control)"/>
          <p:cNvCxnSpPr/>
          <p:nvPr/>
        </p:nvCxnSpPr>
        <p:spPr>
          <a:xfrm flipH="1">
            <a:off x="1554480" y="2743200"/>
            <a:ext cx="9081820" cy="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control)"/>
          <p:cNvCxnSpPr/>
          <p:nvPr/>
        </p:nvCxnSpPr>
        <p:spPr>
          <a:xfrm flipV="1">
            <a:off x="1554480" y="2487168"/>
            <a:ext cx="0" cy="2560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926080" y="2761488"/>
            <a:ext cx="6400800" cy="256032"/>
          </a:xfrm>
          <a:prstGeom prst="rect">
            <a:avLst/>
          </a:prstGeom>
          <a:noFill/>
        </p:spPr>
        <p:txBody>
          <a:bodyPr wrap="square" lIns="0" rIns="0" tIns="0" bIns="0" anchor="t">
            <a:noAutofit/>
          </a:bodyPr>
          <a:lstStyle/>
          <a:p>
            <a:pPr algn="ctr"/>
            <a:r>
              <a:rPr sz="1200" b="0" i="0">
                <a:solidFill>
                  <a:srgbClr val="6363C9"/>
                </a:solidFill>
                <a:latin typeface="Arial"/>
              </a:rPr>
              <a:t>Monthly operations evidence feeds the next capacity and cost decision</a:t>
            </a:r>
          </a:p>
        </p:txBody>
      </p:sp>
      <p:sp>
        <p:nvSpPr>
          <p:cNvPr id="21" name="TextBox 20"/>
          <p:cNvSpPr txBox="1"/>
          <p:nvPr/>
        </p:nvSpPr>
        <p:spPr>
          <a:xfrm>
            <a:off x="548640" y="3090672"/>
            <a:ext cx="11064240" cy="292608"/>
          </a:xfrm>
          <a:prstGeom prst="rect">
            <a:avLst/>
          </a:prstGeom>
          <a:noFill/>
        </p:spPr>
        <p:txBody>
          <a:bodyPr wrap="square" lIns="0" rIns="0" tIns="0" bIns="0" anchor="t">
            <a:noAutofit/>
          </a:bodyPr>
          <a:lstStyle/>
          <a:p>
            <a:pPr algn="l"/>
            <a:r>
              <a:rPr sz="1500" b="1" i="0">
                <a:solidFill>
                  <a:srgbClr val="000048"/>
                </a:solidFill>
                <a:latin typeface="Arial"/>
              </a:rPr>
              <a:t>Microsoft ecosystem around the portfolio</a:t>
            </a:r>
          </a:p>
        </p:txBody>
      </p:sp>
      <p:sp>
        <p:nvSpPr>
          <p:cNvPr id="22" name="Rounded Rectangle 21"/>
          <p:cNvSpPr/>
          <p:nvPr/>
        </p:nvSpPr>
        <p:spPr>
          <a:xfrm>
            <a:off x="548640" y="3438144"/>
            <a:ext cx="2681478" cy="1051560"/>
          </a:xfrm>
          <a:prstGeom prst="roundRect">
            <a:avLst>
              <a:gd name="adj" fmla="val 6956"/>
            </a:avLst>
          </a:prstGeom>
          <a:solidFill>
            <a:srgbClr val="F1EFFA"/>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23" name="TextBox 22"/>
          <p:cNvSpPr txBox="1"/>
          <p:nvPr/>
        </p:nvSpPr>
        <p:spPr>
          <a:xfrm>
            <a:off x="704088"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M365 Copilot</a:t>
            </a:r>
          </a:p>
        </p:txBody>
      </p:sp>
      <p:sp>
        <p:nvSpPr>
          <p:cNvPr id="24" name="TextBox 23"/>
          <p:cNvSpPr txBox="1"/>
          <p:nvPr/>
        </p:nvSpPr>
        <p:spPr>
          <a:xfrm>
            <a:off x="704088" y="3785615"/>
            <a:ext cx="2452878" cy="457200"/>
          </a:xfrm>
          <a:prstGeom prst="rect">
            <a:avLst/>
          </a:prstGeom>
          <a:noFill/>
        </p:spPr>
        <p:txBody>
          <a:bodyPr wrap="square" lIns="0" rIns="0" tIns="0" bIns="0" anchor="t">
            <a:noAutofit/>
          </a:bodyPr>
          <a:lstStyle/>
          <a:p>
            <a:pPr algn="l"/>
            <a:r>
              <a:rPr sz="1200" b="0" i="0">
                <a:solidFill>
                  <a:srgbClr val="1E1E2E"/>
                </a:solidFill>
                <a:latin typeface="Arial"/>
              </a:rPr>
              <a:t>Owned by Cognizant M365 and D365 teams; CIS Infra supplies readiness</a:t>
            </a:r>
          </a:p>
        </p:txBody>
      </p:sp>
      <p:sp>
        <p:nvSpPr>
          <p:cNvPr id="25" name="Status chip: HANDOFF"/>
          <p:cNvSpPr/>
          <p:nvPr/>
        </p:nvSpPr>
        <p:spPr>
          <a:xfrm>
            <a:off x="704088" y="4187952"/>
            <a:ext cx="818388" cy="237744"/>
          </a:xfrm>
          <a:prstGeom prst="roundRect">
            <a:avLst>
              <a:gd name="adj" fmla="val 30769"/>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53565A"/>
                </a:solidFill>
                <a:latin typeface="Arial"/>
              </a:rPr>
              <a:t>HANDOFF</a:t>
            </a:r>
          </a:p>
        </p:txBody>
      </p:sp>
      <p:sp>
        <p:nvSpPr>
          <p:cNvPr id="26" name="Rounded Rectangle 25"/>
          <p:cNvSpPr/>
          <p:nvPr/>
        </p:nvSpPr>
        <p:spPr>
          <a:xfrm>
            <a:off x="3367278"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27" name="TextBox 26"/>
          <p:cNvSpPr txBox="1"/>
          <p:nvPr/>
        </p:nvSpPr>
        <p:spPr>
          <a:xfrm>
            <a:off x="3477006"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Copilot Studio</a:t>
            </a:r>
          </a:p>
        </p:txBody>
      </p:sp>
      <p:sp>
        <p:nvSpPr>
          <p:cNvPr id="28" name="TextBox 27"/>
          <p:cNvSpPr txBox="1"/>
          <p:nvPr/>
        </p:nvSpPr>
        <p:spPr>
          <a:xfrm>
            <a:off x="3477006" y="3785615"/>
            <a:ext cx="2452878" cy="457200"/>
          </a:xfrm>
          <a:prstGeom prst="rect">
            <a:avLst/>
          </a:prstGeom>
          <a:noFill/>
        </p:spPr>
        <p:txBody>
          <a:bodyPr wrap="square" lIns="0" rIns="0" tIns="0" bIns="0" anchor="t">
            <a:noAutofit/>
          </a:bodyPr>
          <a:lstStyle/>
          <a:p>
            <a:pPr algn="l"/>
            <a:r>
              <a:rPr sz="1200" b="0" i="0">
                <a:solidFill>
                  <a:srgbClr val="1E1E2E"/>
                </a:solidFill>
                <a:latin typeface="Arial"/>
              </a:rPr>
              <a:t>Agents covered as a runtime in offerings 02 to 05</a:t>
            </a:r>
          </a:p>
        </p:txBody>
      </p:sp>
      <p:sp>
        <p:nvSpPr>
          <p:cNvPr id="29" name="Status chip: COVERED RUNTIME"/>
          <p:cNvSpPr/>
          <p:nvPr/>
        </p:nvSpPr>
        <p:spPr>
          <a:xfrm>
            <a:off x="3477006" y="4187952"/>
            <a:ext cx="14401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COVERED RUNTIME</a:t>
            </a:r>
          </a:p>
        </p:txBody>
      </p:sp>
      <p:sp>
        <p:nvSpPr>
          <p:cNvPr id="30" name="Rounded Rectangle 29"/>
          <p:cNvSpPr/>
          <p:nvPr/>
        </p:nvSpPr>
        <p:spPr>
          <a:xfrm>
            <a:off x="6140196"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31" name="TextBox 30"/>
          <p:cNvSpPr txBox="1"/>
          <p:nvPr/>
        </p:nvSpPr>
        <p:spPr>
          <a:xfrm>
            <a:off x="6249924"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Agent 365</a:t>
            </a:r>
          </a:p>
        </p:txBody>
      </p:sp>
      <p:sp>
        <p:nvSpPr>
          <p:cNvPr id="32" name="TextBox 31"/>
          <p:cNvSpPr txBox="1"/>
          <p:nvPr/>
        </p:nvSpPr>
        <p:spPr>
          <a:xfrm>
            <a:off x="6249924" y="3785615"/>
            <a:ext cx="2452878" cy="457200"/>
          </a:xfrm>
          <a:prstGeom prst="rect">
            <a:avLst/>
          </a:prstGeom>
          <a:noFill/>
        </p:spPr>
        <p:txBody>
          <a:bodyPr wrap="square" lIns="0" rIns="0" tIns="0" bIns="0" anchor="t">
            <a:noAutofit/>
          </a:bodyPr>
          <a:lstStyle/>
          <a:p>
            <a:pPr algn="l"/>
            <a:r>
              <a:rPr sz="1200" b="0" i="0">
                <a:solidFill>
                  <a:srgbClr val="1E1E2E"/>
                </a:solidFill>
                <a:latin typeface="Arial"/>
              </a:rPr>
              <a:t>Microsoft agent control plane; configure before any custom build</a:t>
            </a:r>
          </a:p>
        </p:txBody>
      </p:sp>
      <p:sp>
        <p:nvSpPr>
          <p:cNvPr id="33" name="Status chip: CONFIGURE FIRST"/>
          <p:cNvSpPr/>
          <p:nvPr/>
        </p:nvSpPr>
        <p:spPr>
          <a:xfrm>
            <a:off x="6249924" y="4187952"/>
            <a:ext cx="14401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CONFIGURE FIRST</a:t>
            </a:r>
          </a:p>
        </p:txBody>
      </p:sp>
      <p:sp>
        <p:nvSpPr>
          <p:cNvPr id="34" name="Rounded Rectangle 33"/>
          <p:cNvSpPr/>
          <p:nvPr/>
        </p:nvSpPr>
        <p:spPr>
          <a:xfrm>
            <a:off x="8913114"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5" name="Azure icon: API Center" descr="Official Azure icon: API Cente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22842" y="3520439"/>
            <a:ext cx="274320" cy="274320"/>
          </a:xfrm>
          <a:prstGeom prst="rect">
            <a:avLst/>
          </a:prstGeom>
        </p:spPr>
      </p:pic>
      <p:sp>
        <p:nvSpPr>
          <p:cNvPr id="36" name="TextBox 35"/>
          <p:cNvSpPr txBox="1"/>
          <p:nvPr/>
        </p:nvSpPr>
        <p:spPr>
          <a:xfrm>
            <a:off x="9352026" y="3502152"/>
            <a:ext cx="2013966" cy="274320"/>
          </a:xfrm>
          <a:prstGeom prst="rect">
            <a:avLst/>
          </a:prstGeom>
          <a:noFill/>
        </p:spPr>
        <p:txBody>
          <a:bodyPr wrap="square" lIns="0" rIns="0" tIns="0" bIns="0" anchor="t">
            <a:noAutofit/>
          </a:bodyPr>
          <a:lstStyle/>
          <a:p>
            <a:pPr algn="l"/>
            <a:r>
              <a:rPr sz="1400" b="1" i="0">
                <a:solidFill>
                  <a:srgbClr val="000048"/>
                </a:solidFill>
                <a:latin typeface="Arial"/>
              </a:rPr>
              <a:t>API Center</a:t>
            </a:r>
          </a:p>
        </p:txBody>
      </p:sp>
      <p:sp>
        <p:nvSpPr>
          <p:cNvPr id="37" name="TextBox 36"/>
          <p:cNvSpPr txBox="1"/>
          <p:nvPr/>
        </p:nvSpPr>
        <p:spPr>
          <a:xfrm>
            <a:off x="9022842" y="3785615"/>
            <a:ext cx="2452878" cy="457200"/>
          </a:xfrm>
          <a:prstGeom prst="rect">
            <a:avLst/>
          </a:prstGeom>
          <a:noFill/>
        </p:spPr>
        <p:txBody>
          <a:bodyPr wrap="square" lIns="0" rIns="0" tIns="0" bIns="0" anchor="t">
            <a:noAutofit/>
          </a:bodyPr>
          <a:lstStyle/>
          <a:p>
            <a:pPr algn="l"/>
            <a:r>
              <a:rPr sz="1200" b="0" i="0">
                <a:solidFill>
                  <a:srgbClr val="1E1E2E"/>
                </a:solidFill>
                <a:latin typeface="Arial"/>
              </a:rPr>
              <a:t>Registry for APIs and MCP tools, beside API Management</a:t>
            </a:r>
          </a:p>
        </p:txBody>
      </p:sp>
      <p:sp>
        <p:nvSpPr>
          <p:cNvPr id="38" name="Status chip: CIS INFRA BUILDS"/>
          <p:cNvSpPr/>
          <p:nvPr/>
        </p:nvSpPr>
        <p:spPr>
          <a:xfrm>
            <a:off x="9022842" y="4187952"/>
            <a:ext cx="1517904"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CIS INFRA BUILDS</a:t>
            </a:r>
          </a:p>
        </p:txBody>
      </p:sp>
      <p:sp>
        <p:nvSpPr>
          <p:cNvPr id="39" name="Rounded Rectangle 38"/>
          <p:cNvSpPr/>
          <p:nvPr/>
        </p:nvSpPr>
        <p:spPr>
          <a:xfrm>
            <a:off x="548640"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Receives from 01 and 04</a:t>
            </a:r>
          </a:p>
          <a:p>
            <a:pPr algn="l"/>
            <a:r>
              <a:rPr sz="1600" b="0" i="0">
                <a:solidFill>
                  <a:srgbClr val="1E1E2E"/>
                </a:solidFill>
                <a:latin typeface="Arial"/>
              </a:rPr>
              <a:t>Private network and identities; capacity plan for routing</a:t>
            </a:r>
          </a:p>
        </p:txBody>
      </p:sp>
      <p:sp>
        <p:nvSpPr>
          <p:cNvPr id="40" name="Rounded Rectangle 39"/>
          <p:cNvSpPr/>
          <p:nvPr/>
        </p:nvSpPr>
        <p:spPr>
          <a:xfrm>
            <a:off x="4319016"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Hands to 02 Agent Governance</a:t>
            </a:r>
          </a:p>
          <a:p>
            <a:pPr algn="l"/>
            <a:r>
              <a:rPr sz="1600" b="0" i="0">
                <a:solidFill>
                  <a:srgbClr val="1E1E2E"/>
                </a:solidFill>
                <a:latin typeface="Arial"/>
              </a:rPr>
              <a:t>Enforcement points, per-agent token metrics</a:t>
            </a:r>
          </a:p>
        </p:txBody>
      </p:sp>
      <p:sp>
        <p:nvSpPr>
          <p:cNvPr id="41" name="Rounded Rectangle 40"/>
          <p:cNvSpPr/>
          <p:nvPr/>
        </p:nvSpPr>
        <p:spPr>
          <a:xfrm>
            <a:off x="8016240"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Hands to 05 Managed Operations</a:t>
            </a:r>
          </a:p>
          <a:p>
            <a:pPr algn="l"/>
            <a:r>
              <a:rPr sz="1600" b="0" i="0">
                <a:solidFill>
                  <a:srgbClr val="1E1E2E"/>
                </a:solidFill>
                <a:latin typeface="Arial"/>
              </a:rPr>
              <a:t>Policy register, dashboards, runbooks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We build the gateway and registry; others own policy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5 OF 10</a:t>
            </a:r>
          </a:p>
        </p:txBody>
      </p:sp>
      <p:sp>
        <p:nvSpPr>
          <p:cNvPr id="5" name="Status chip: PROPOSED SCOPE"/>
          <p:cNvSpPr/>
          <p:nvPr/>
        </p:nvSpPr>
        <p:spPr>
          <a:xfrm>
            <a:off x="365887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SCOPE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05</a:t>
            </a:r>
          </a:p>
        </p:txBody>
      </p:sp>
      <p:sp>
        <p:nvSpPr>
          <p:cNvPr id="8" name="Rounded Rectangle 7"/>
          <p:cNvSpPr/>
          <p:nvPr/>
        </p:nvSpPr>
        <p:spPr>
          <a:xfrm>
            <a:off x="548640" y="1371600"/>
            <a:ext cx="3593592" cy="566928"/>
          </a:xfrm>
          <a:prstGeom prst="roundRect">
            <a:avLst>
              <a:gd name="adj" fmla="val 1290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Included: CIS Infra delivers</a:t>
            </a:r>
          </a:p>
        </p:txBody>
      </p:sp>
      <p:sp>
        <p:nvSpPr>
          <p:cNvPr id="9" name="Rounded Rectangle 8"/>
          <p:cNvSpPr/>
          <p:nvPr/>
        </p:nvSpPr>
        <p:spPr>
          <a:xfrm>
            <a:off x="548640" y="1984248"/>
            <a:ext cx="3593592" cy="3611880"/>
          </a:xfrm>
          <a:prstGeom prst="roundRect">
            <a:avLst>
              <a:gd name="adj" fmla="val 203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800" b="0" i="0">
                <a:solidFill>
                  <a:srgbClr val="1E1E2E"/>
                </a:solidFill>
                <a:latin typeface="Arial"/>
              </a:rPr>
              <a:t>APIM instance, network, DNS</a:t>
            </a:r>
          </a:p>
          <a:p>
            <a:pPr algn="l" marL="201168" indent="-201168">
              <a:spcAft>
                <a:spcPts val="800"/>
              </a:spcAft>
              <a:buFont typeface="Arial"/>
              <a:buChar char="•"/>
            </a:pPr>
            <a:r>
              <a:rPr sz="1800" b="0" i="0">
                <a:solidFill>
                  <a:srgbClr val="1E1E2E"/>
                </a:solidFill>
                <a:latin typeface="Arial"/>
              </a:rPr>
              <a:t>Identity and managed identity</a:t>
            </a:r>
          </a:p>
          <a:p>
            <a:pPr algn="l" marL="201168" indent="-201168">
              <a:spcAft>
                <a:spcPts val="800"/>
              </a:spcAft>
              <a:buFont typeface="Arial"/>
              <a:buChar char="•"/>
            </a:pPr>
            <a:r>
              <a:rPr sz="1800" b="0" i="0">
                <a:solidFill>
                  <a:srgbClr val="1E1E2E"/>
                </a:solidFill>
                <a:latin typeface="Arial"/>
              </a:rPr>
              <a:t>Token, request, concurrency policies</a:t>
            </a:r>
          </a:p>
          <a:p>
            <a:pPr algn="l" marL="201168" indent="-201168">
              <a:spcAft>
                <a:spcPts val="800"/>
              </a:spcAft>
              <a:buFont typeface="Arial"/>
              <a:buChar char="•"/>
            </a:pPr>
            <a:r>
              <a:rPr sz="1800" b="0" i="0">
                <a:solidFill>
                  <a:srgbClr val="1E1E2E"/>
                </a:solidFill>
                <a:latin typeface="Arial"/>
              </a:rPr>
              <a:t>Routing, retries, circuit breakers</a:t>
            </a:r>
          </a:p>
          <a:p>
            <a:pPr algn="l" marL="201168" indent="-201168">
              <a:spcAft>
                <a:spcPts val="800"/>
              </a:spcAft>
              <a:buFont typeface="Arial"/>
              <a:buChar char="•"/>
            </a:pPr>
            <a:r>
              <a:rPr sz="1800" b="0" i="0">
                <a:solidFill>
                  <a:srgbClr val="1E1E2E"/>
                </a:solidFill>
                <a:latin typeface="Arial"/>
              </a:rPr>
              <a:t>API Center tool registry</a:t>
            </a:r>
          </a:p>
        </p:txBody>
      </p:sp>
      <p:sp>
        <p:nvSpPr>
          <p:cNvPr id="10" name="Rounded Rectangle 9"/>
          <p:cNvSpPr/>
          <p:nvPr/>
        </p:nvSpPr>
        <p:spPr>
          <a:xfrm>
            <a:off x="4297679" y="1371600"/>
            <a:ext cx="3593592" cy="566928"/>
          </a:xfrm>
          <a:prstGeom prst="roundRect">
            <a:avLst>
              <a:gd name="adj" fmla="val 12903"/>
            </a:avLst>
          </a:prstGeom>
          <a:solidFill>
            <a:srgbClr val="2F78C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Optional: priced separately</a:t>
            </a:r>
          </a:p>
        </p:txBody>
      </p:sp>
      <p:sp>
        <p:nvSpPr>
          <p:cNvPr id="11" name="Rounded Rectangle 10"/>
          <p:cNvSpPr/>
          <p:nvPr/>
        </p:nvSpPr>
        <p:spPr>
          <a:xfrm>
            <a:off x="4297679" y="1984248"/>
            <a:ext cx="3593592" cy="361188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800" b="0" i="0">
                <a:solidFill>
                  <a:srgbClr val="1E1E2E"/>
                </a:solidFill>
                <a:latin typeface="Arial"/>
              </a:rPr>
              <a:t>Multi-region resilience</a:t>
            </a:r>
          </a:p>
          <a:p>
            <a:pPr algn="l" marL="201168" indent="-201168">
              <a:spcAft>
                <a:spcPts val="800"/>
              </a:spcAft>
              <a:buFont typeface="Arial"/>
              <a:buChar char="•"/>
            </a:pPr>
            <a:r>
              <a:rPr sz="1800" b="0" i="0">
                <a:solidFill>
                  <a:srgbClr val="1E1E2E"/>
                </a:solidFill>
                <a:latin typeface="Arial"/>
              </a:rPr>
              <a:t>Semantic caching (Redis)</a:t>
            </a:r>
          </a:p>
          <a:p>
            <a:pPr algn="l" marL="201168" indent="-201168">
              <a:spcAft>
                <a:spcPts val="800"/>
              </a:spcAft>
              <a:buFont typeface="Arial"/>
              <a:buChar char="•"/>
            </a:pPr>
            <a:r>
              <a:rPr sz="1800" b="0" i="0">
                <a:solidFill>
                  <a:srgbClr val="1E1E2E"/>
                </a:solidFill>
                <a:latin typeface="Arial"/>
              </a:rPr>
              <a:t>Chargeback reporting</a:t>
            </a:r>
          </a:p>
          <a:p>
            <a:pPr algn="l" marL="201168" indent="-201168">
              <a:spcAft>
                <a:spcPts val="800"/>
              </a:spcAft>
              <a:buFont typeface="Arial"/>
              <a:buChar char="•"/>
            </a:pPr>
            <a:r>
              <a:rPr sz="1800" b="0" i="0">
                <a:solidFill>
                  <a:srgbClr val="1E1E2E"/>
                </a:solidFill>
                <a:latin typeface="Arial"/>
              </a:rPr>
              <a:t>Copilot Studio connectors</a:t>
            </a:r>
          </a:p>
          <a:p>
            <a:pPr algn="l" marL="201168" indent="-201168">
              <a:spcAft>
                <a:spcPts val="800"/>
              </a:spcAft>
              <a:buFont typeface="Arial"/>
              <a:buChar char="•"/>
            </a:pPr>
            <a:r>
              <a:rPr sz="1800" b="0" i="0">
                <a:solidFill>
                  <a:srgbClr val="1E1E2E"/>
                </a:solidFill>
                <a:latin typeface="Arial"/>
              </a:rPr>
              <a:t>AI Gateway tier pilot</a:t>
            </a:r>
          </a:p>
        </p:txBody>
      </p:sp>
      <p:sp>
        <p:nvSpPr>
          <p:cNvPr id="12" name="Rounded Rectangle 11"/>
          <p:cNvSpPr/>
          <p:nvPr/>
        </p:nvSpPr>
        <p:spPr>
          <a:xfrm>
            <a:off x="8046719" y="1371600"/>
            <a:ext cx="3593592" cy="566928"/>
          </a:xfrm>
          <a:prstGeom prst="roundRect">
            <a:avLst>
              <a:gd name="adj" fmla="val 12903"/>
            </a:avLst>
          </a:prstGeom>
          <a:solidFill>
            <a:srgbClr val="53565A"/>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Other owners</a:t>
            </a:r>
          </a:p>
        </p:txBody>
      </p:sp>
      <p:sp>
        <p:nvSpPr>
          <p:cNvPr id="13" name="Rounded Rectangle 12"/>
          <p:cNvSpPr/>
          <p:nvPr/>
        </p:nvSpPr>
        <p:spPr>
          <a:xfrm>
            <a:off x="8046719" y="1984248"/>
            <a:ext cx="3593592" cy="361188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800" b="0" i="0">
                <a:solidFill>
                  <a:srgbClr val="1E1E2E"/>
                </a:solidFill>
                <a:latin typeface="Arial"/>
              </a:rPr>
              <a:t>Security: identity, safety policy</a:t>
            </a:r>
          </a:p>
          <a:p>
            <a:pPr algn="l" marL="201168" indent="-201168">
              <a:spcAft>
                <a:spcPts val="800"/>
              </a:spcAft>
              <a:buFont typeface="Arial"/>
              <a:buChar char="•"/>
            </a:pPr>
            <a:r>
              <a:rPr sz="1800" b="0" i="0">
                <a:solidFill>
                  <a:srgbClr val="1E1E2E"/>
                </a:solidFill>
                <a:latin typeface="Arial"/>
              </a:rPr>
              <a:t>AI: API contracts, routing choice</a:t>
            </a:r>
          </a:p>
          <a:p>
            <a:pPr algn="l" marL="201168" indent="-201168">
              <a:spcAft>
                <a:spcPts val="800"/>
              </a:spcAft>
              <a:buFont typeface="Arial"/>
              <a:buChar char="•"/>
            </a:pPr>
            <a:r>
              <a:rPr sz="1800" b="0" i="0">
                <a:solidFill>
                  <a:srgbClr val="1E1E2E"/>
                </a:solidFill>
                <a:latin typeface="Arial"/>
              </a:rPr>
              <a:t>DevOps: policy CI/CD</a:t>
            </a:r>
          </a:p>
          <a:p>
            <a:pPr algn="l" marL="201168" indent="-201168">
              <a:spcAft>
                <a:spcPts val="800"/>
              </a:spcAft>
              <a:buFont typeface="Arial"/>
              <a:buChar char="•"/>
            </a:pPr>
            <a:r>
              <a:rPr sz="1800" b="0" i="0">
                <a:solidFill>
                  <a:srgbClr val="1E1E2E"/>
                </a:solidFill>
                <a:latin typeface="Arial"/>
              </a:rPr>
              <a:t>Finance: allocation rules</a:t>
            </a:r>
          </a:p>
          <a:p>
            <a:pPr algn="l" marL="201168" indent="-201168">
              <a:spcAft>
                <a:spcPts val="800"/>
              </a:spcAft>
              <a:buFont typeface="Arial"/>
              <a:buChar char="•"/>
            </a:pPr>
            <a:r>
              <a:rPr sz="1800" b="0" i="0">
                <a:solidFill>
                  <a:srgbClr val="1E1E2E"/>
                </a:solidFill>
                <a:latin typeface="Arial"/>
              </a:rPr>
              <a:t>Tool owners: tool authorisation</a:t>
            </a:r>
          </a:p>
        </p:txBody>
      </p:sp>
      <p:sp>
        <p:nvSpPr>
          <p:cNvPr id="14" name="Rounded Rectangle 13"/>
          <p:cNvSpPr/>
          <p:nvPr/>
        </p:nvSpPr>
        <p:spPr>
          <a:xfrm>
            <a:off x="548640" y="5760720"/>
            <a:ext cx="11091672" cy="566928"/>
          </a:xfrm>
          <a:prstGeom prst="roundRect">
            <a:avLst>
              <a:gd name="adj" fmla="val 1290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CIS Infra does not own model quality, application behaviour or security operations.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The gateway sits in every call and blocks the bypass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6 OF 10</a:t>
            </a:r>
          </a:p>
        </p:txBody>
      </p:sp>
      <p:sp>
        <p:nvSpPr>
          <p:cNvPr id="5" name="Status chip: PROPOSED REFERENCE ARCHITECTURE"/>
          <p:cNvSpPr/>
          <p:nvPr/>
        </p:nvSpPr>
        <p:spPr>
          <a:xfrm>
            <a:off x="365887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06</a:t>
            </a:r>
          </a:p>
        </p:txBody>
      </p:sp>
      <p:pic>
        <p:nvPicPr>
          <p:cNvPr id="8"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60120" y="2176272"/>
            <a:ext cx="457200" cy="457200"/>
          </a:xfrm>
          <a:prstGeom prst="rect">
            <a:avLst/>
          </a:prstGeom>
        </p:spPr>
      </p:pic>
      <p:sp>
        <p:nvSpPr>
          <p:cNvPr id="9" name="TextBox 8"/>
          <p:cNvSpPr txBox="1"/>
          <p:nvPr/>
        </p:nvSpPr>
        <p:spPr>
          <a:xfrm>
            <a:off x="493776" y="2670048"/>
            <a:ext cx="1389888" cy="512064"/>
          </a:xfrm>
          <a:prstGeom prst="rect">
            <a:avLst/>
          </a:prstGeom>
          <a:noFill/>
        </p:spPr>
        <p:txBody>
          <a:bodyPr wrap="square" lIns="0" rIns="0" tIns="0" bIns="0" anchor="t">
            <a:noAutofit/>
          </a:bodyPr>
          <a:lstStyle/>
          <a:p>
            <a:pPr algn="ctr"/>
            <a:r>
              <a:rPr sz="1300" b="1" i="0">
                <a:solidFill>
                  <a:srgbClr val="000048"/>
                </a:solidFill>
                <a:latin typeface="Arial"/>
              </a:rPr>
              <a:t>Apps and agents</a:t>
            </a:r>
          </a:p>
          <a:p>
            <a:pPr algn="ctr"/>
            <a:r>
              <a:rPr sz="1200" b="0" i="0">
                <a:solidFill>
                  <a:srgbClr val="53565A"/>
                </a:solidFill>
                <a:latin typeface="Arial"/>
              </a:rPr>
              <a:t>Entra token</a:t>
            </a:r>
          </a:p>
        </p:txBody>
      </p:sp>
      <p:sp>
        <p:nvSpPr>
          <p:cNvPr id="10" name="Rounded Rectangle 9"/>
          <p:cNvSpPr/>
          <p:nvPr/>
        </p:nvSpPr>
        <p:spPr>
          <a:xfrm>
            <a:off x="2240280" y="1325880"/>
            <a:ext cx="4480560" cy="3931920"/>
          </a:xfrm>
          <a:prstGeom prst="roundRect">
            <a:avLst>
              <a:gd name="adj" fmla="val 2325"/>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350008" y="1380744"/>
            <a:ext cx="4261104" cy="237744"/>
          </a:xfrm>
          <a:prstGeom prst="rect">
            <a:avLst/>
          </a:prstGeom>
          <a:noFill/>
        </p:spPr>
        <p:txBody>
          <a:bodyPr wrap="square" lIns="0" rIns="0" tIns="0" bIns="0" anchor="t">
            <a:noAutofit/>
          </a:bodyPr>
          <a:lstStyle/>
          <a:p>
            <a:pPr algn="l"/>
            <a:r>
              <a:rPr sz="1200" b="1" i="0">
                <a:solidFill>
                  <a:srgbClr val="000048"/>
                </a:solidFill>
                <a:latin typeface="Arial"/>
              </a:rPr>
              <a:t>API MANAGEMENT (AI GATEWAY)</a:t>
            </a:r>
          </a:p>
        </p:txBody>
      </p:sp>
      <p:pic>
        <p:nvPicPr>
          <p:cNvPr id="12"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77440" y="1691640"/>
            <a:ext cx="457200" cy="457200"/>
          </a:xfrm>
          <a:prstGeom prst="rect">
            <a:avLst/>
          </a:prstGeom>
        </p:spPr>
      </p:pic>
      <p:sp>
        <p:nvSpPr>
          <p:cNvPr id="13" name="Rounded Rectangle 12"/>
          <p:cNvSpPr/>
          <p:nvPr/>
        </p:nvSpPr>
        <p:spPr>
          <a:xfrm>
            <a:off x="2971800" y="1691640"/>
            <a:ext cx="3611880" cy="566928"/>
          </a:xfrm>
          <a:prstGeom prst="roundRect">
            <a:avLst>
              <a:gd name="adj" fmla="val 1290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Authenticate  </a:t>
            </a:r>
            <a:r>
              <a:rPr sz="1200" b="0" i="0">
                <a:solidFill>
                  <a:srgbClr val="53565A"/>
                </a:solidFill>
                <a:latin typeface="Arial"/>
              </a:rPr>
              <a:t>validate token, map caller</a:t>
            </a:r>
          </a:p>
        </p:txBody>
      </p:sp>
      <p:sp>
        <p:nvSpPr>
          <p:cNvPr id="14" name="Rounded Rectangle 13"/>
          <p:cNvSpPr/>
          <p:nvPr/>
        </p:nvSpPr>
        <p:spPr>
          <a:xfrm>
            <a:off x="2971800" y="2377440"/>
            <a:ext cx="3611880" cy="566928"/>
          </a:xfrm>
          <a:prstGeom prst="roundRect">
            <a:avLst>
              <a:gd name="adj" fmla="val 1290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Limit  </a:t>
            </a:r>
            <a:r>
              <a:rPr sz="1200" b="0" i="0">
                <a:solidFill>
                  <a:srgbClr val="53565A"/>
                </a:solidFill>
                <a:latin typeface="Arial"/>
              </a:rPr>
              <a:t>tokens, requests, concurrency</a:t>
            </a:r>
          </a:p>
        </p:txBody>
      </p:sp>
      <p:sp>
        <p:nvSpPr>
          <p:cNvPr id="15" name="Rounded Rectangle 14"/>
          <p:cNvSpPr/>
          <p:nvPr/>
        </p:nvSpPr>
        <p:spPr>
          <a:xfrm>
            <a:off x="2971800" y="3063240"/>
            <a:ext cx="3611880" cy="566928"/>
          </a:xfrm>
          <a:prstGeom prst="roundRect">
            <a:avLst>
              <a:gd name="adj" fmla="val 1290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Protect  </a:t>
            </a:r>
            <a:r>
              <a:rPr sz="1200" b="0" i="0">
                <a:solidFill>
                  <a:srgbClr val="53565A"/>
                </a:solidFill>
                <a:latin typeface="Arial"/>
              </a:rPr>
              <a:t>content safety, prompt shield</a:t>
            </a:r>
          </a:p>
        </p:txBody>
      </p:sp>
      <p:sp>
        <p:nvSpPr>
          <p:cNvPr id="16" name="Rounded Rectangle 15"/>
          <p:cNvSpPr/>
          <p:nvPr/>
        </p:nvSpPr>
        <p:spPr>
          <a:xfrm>
            <a:off x="2971800" y="3749039"/>
            <a:ext cx="3611880" cy="566928"/>
          </a:xfrm>
          <a:prstGeom prst="roundRect">
            <a:avLst>
              <a:gd name="adj" fmla="val 1290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Route  </a:t>
            </a:r>
            <a:r>
              <a:rPr sz="1200" b="0" i="0">
                <a:solidFill>
                  <a:srgbClr val="53565A"/>
                </a:solidFill>
                <a:latin typeface="Arial"/>
              </a:rPr>
              <a:t>priority backends, retry, breaker</a:t>
            </a:r>
          </a:p>
        </p:txBody>
      </p:sp>
      <p:sp>
        <p:nvSpPr>
          <p:cNvPr id="17" name="Rounded Rectangle 16"/>
          <p:cNvSpPr/>
          <p:nvPr/>
        </p:nvSpPr>
        <p:spPr>
          <a:xfrm>
            <a:off x="2971800" y="4434840"/>
            <a:ext cx="3611880" cy="566928"/>
          </a:xfrm>
          <a:prstGeom prst="roundRect">
            <a:avLst>
              <a:gd name="adj" fmla="val 1290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Observe  </a:t>
            </a:r>
            <a:r>
              <a:rPr sz="1200" b="0" i="0">
                <a:solidFill>
                  <a:srgbClr val="53565A"/>
                </a:solidFill>
                <a:latin typeface="Arial"/>
              </a:rPr>
              <a:t>token metrics, logs</a:t>
            </a:r>
          </a:p>
        </p:txBody>
      </p:sp>
      <p:sp>
        <p:nvSpPr>
          <p:cNvPr id="18" name="Rounded Rectangle 17"/>
          <p:cNvSpPr/>
          <p:nvPr/>
        </p:nvSpPr>
        <p:spPr>
          <a:xfrm>
            <a:off x="7223760" y="1325880"/>
            <a:ext cx="4526280" cy="2514600"/>
          </a:xfrm>
          <a:prstGeom prst="roundRect">
            <a:avLst>
              <a:gd name="adj" fmla="val 3636"/>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33488" y="1380744"/>
            <a:ext cx="4306824" cy="237744"/>
          </a:xfrm>
          <a:prstGeom prst="rect">
            <a:avLst/>
          </a:prstGeom>
          <a:noFill/>
        </p:spPr>
        <p:txBody>
          <a:bodyPr wrap="square" lIns="0" rIns="0" tIns="0" bIns="0" anchor="t">
            <a:noAutofit/>
          </a:bodyPr>
          <a:lstStyle/>
          <a:p>
            <a:pPr algn="l"/>
            <a:r>
              <a:rPr sz="1200" b="1" i="0">
                <a:solidFill>
                  <a:srgbClr val="000048"/>
                </a:solidFill>
                <a:latin typeface="Arial"/>
              </a:rPr>
              <a:t>BACKENDS AND POLICY SERVICES (PRIVATE)</a:t>
            </a:r>
          </a:p>
        </p:txBody>
      </p:sp>
      <p:sp>
        <p:nvSpPr>
          <p:cNvPr id="20" name="Rounded Rectangle 19"/>
          <p:cNvSpPr/>
          <p:nvPr/>
        </p:nvSpPr>
        <p:spPr>
          <a:xfrm>
            <a:off x="7360920" y="1737360"/>
            <a:ext cx="210312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34072" y="1897379"/>
            <a:ext cx="411480" cy="411480"/>
          </a:xfrm>
          <a:prstGeom prst="rect">
            <a:avLst/>
          </a:prstGeom>
        </p:spPr>
      </p:pic>
      <p:sp>
        <p:nvSpPr>
          <p:cNvPr id="22" name="TextBox 21"/>
          <p:cNvSpPr txBox="1"/>
          <p:nvPr/>
        </p:nvSpPr>
        <p:spPr>
          <a:xfrm>
            <a:off x="7918704" y="1773936"/>
            <a:ext cx="1508760" cy="658368"/>
          </a:xfrm>
          <a:prstGeom prst="rect">
            <a:avLst/>
          </a:prstGeom>
          <a:noFill/>
        </p:spPr>
        <p:txBody>
          <a:bodyPr wrap="square" lIns="0" rIns="0" tIns="0" bIns="0" anchor="ctr">
            <a:noAutofit/>
          </a:bodyPr>
          <a:lstStyle/>
          <a:p>
            <a:pPr algn="l"/>
            <a:r>
              <a:rPr sz="1300" b="1" i="0">
                <a:solidFill>
                  <a:srgbClr val="000048"/>
                </a:solidFill>
                <a:latin typeface="Arial"/>
              </a:rPr>
              <a:t>PTU deployment</a:t>
            </a:r>
          </a:p>
          <a:p>
            <a:pPr algn="l"/>
            <a:r>
              <a:rPr sz="1200" b="0" i="0">
                <a:solidFill>
                  <a:srgbClr val="53565A"/>
                </a:solidFill>
                <a:latin typeface="Arial"/>
              </a:rPr>
              <a:t>primary, priority 1</a:t>
            </a:r>
          </a:p>
        </p:txBody>
      </p:sp>
      <p:sp>
        <p:nvSpPr>
          <p:cNvPr id="23" name="Rounded Rectangle 22"/>
          <p:cNvSpPr/>
          <p:nvPr/>
        </p:nvSpPr>
        <p:spPr>
          <a:xfrm>
            <a:off x="9555480" y="1737360"/>
            <a:ext cx="210312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4"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628632" y="1897379"/>
            <a:ext cx="411480" cy="411480"/>
          </a:xfrm>
          <a:prstGeom prst="rect">
            <a:avLst/>
          </a:prstGeom>
        </p:spPr>
      </p:pic>
      <p:sp>
        <p:nvSpPr>
          <p:cNvPr id="25" name="TextBox 24"/>
          <p:cNvSpPr txBox="1"/>
          <p:nvPr/>
        </p:nvSpPr>
        <p:spPr>
          <a:xfrm>
            <a:off x="10113263" y="1773936"/>
            <a:ext cx="1508760" cy="658368"/>
          </a:xfrm>
          <a:prstGeom prst="rect">
            <a:avLst/>
          </a:prstGeom>
          <a:noFill/>
        </p:spPr>
        <p:txBody>
          <a:bodyPr wrap="square" lIns="0" rIns="0" tIns="0" bIns="0" anchor="ctr">
            <a:noAutofit/>
          </a:bodyPr>
          <a:lstStyle/>
          <a:p>
            <a:pPr algn="l"/>
            <a:r>
              <a:rPr sz="1300" b="1" i="0">
                <a:solidFill>
                  <a:srgbClr val="000048"/>
                </a:solidFill>
                <a:latin typeface="Arial"/>
              </a:rPr>
              <a:t>PAYG deployment</a:t>
            </a:r>
          </a:p>
          <a:p>
            <a:pPr algn="l"/>
            <a:r>
              <a:rPr sz="1200" b="0" i="0">
                <a:solidFill>
                  <a:srgbClr val="53565A"/>
                </a:solidFill>
                <a:latin typeface="Arial"/>
              </a:rPr>
              <a:t>approved overflow</a:t>
            </a:r>
          </a:p>
        </p:txBody>
      </p:sp>
      <p:sp>
        <p:nvSpPr>
          <p:cNvPr id="26" name="Rounded Rectangle 25"/>
          <p:cNvSpPr/>
          <p:nvPr/>
        </p:nvSpPr>
        <p:spPr>
          <a:xfrm>
            <a:off x="7360920" y="2743200"/>
            <a:ext cx="210312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7" name="Azure icon: Content Safety" descr="Official Azure icon: Content Safety"/>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434072" y="2903220"/>
            <a:ext cx="411480" cy="411480"/>
          </a:xfrm>
          <a:prstGeom prst="rect">
            <a:avLst/>
          </a:prstGeom>
        </p:spPr>
      </p:pic>
      <p:sp>
        <p:nvSpPr>
          <p:cNvPr id="28" name="TextBox 27"/>
          <p:cNvSpPr txBox="1"/>
          <p:nvPr/>
        </p:nvSpPr>
        <p:spPr>
          <a:xfrm>
            <a:off x="7918704" y="2779776"/>
            <a:ext cx="1508760" cy="658368"/>
          </a:xfrm>
          <a:prstGeom prst="rect">
            <a:avLst/>
          </a:prstGeom>
          <a:noFill/>
        </p:spPr>
        <p:txBody>
          <a:bodyPr wrap="square" lIns="0" rIns="0" tIns="0" bIns="0" anchor="ctr">
            <a:noAutofit/>
          </a:bodyPr>
          <a:lstStyle/>
          <a:p>
            <a:pPr algn="l"/>
            <a:r>
              <a:rPr sz="1300" b="1" i="0">
                <a:solidFill>
                  <a:srgbClr val="000048"/>
                </a:solidFill>
                <a:latin typeface="Arial"/>
              </a:rPr>
              <a:t>Content Safety</a:t>
            </a:r>
          </a:p>
          <a:p>
            <a:pPr algn="l"/>
            <a:r>
              <a:rPr sz="1200" b="0" i="0">
                <a:solidFill>
                  <a:srgbClr val="53565A"/>
                </a:solidFill>
                <a:latin typeface="Arial"/>
              </a:rPr>
              <a:t>called by policy</a:t>
            </a:r>
          </a:p>
        </p:txBody>
      </p:sp>
      <p:sp>
        <p:nvSpPr>
          <p:cNvPr id="29" name="Rounded Rectangle 28"/>
          <p:cNvSpPr/>
          <p:nvPr/>
        </p:nvSpPr>
        <p:spPr>
          <a:xfrm>
            <a:off x="9555480" y="2743200"/>
            <a:ext cx="210312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0" name="Azure icon: Key Vault" descr="Official Azure icon: Key Vault"/>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628632" y="2903220"/>
            <a:ext cx="411480" cy="411480"/>
          </a:xfrm>
          <a:prstGeom prst="rect">
            <a:avLst/>
          </a:prstGeom>
        </p:spPr>
      </p:pic>
      <p:sp>
        <p:nvSpPr>
          <p:cNvPr id="31" name="TextBox 30"/>
          <p:cNvSpPr txBox="1"/>
          <p:nvPr/>
        </p:nvSpPr>
        <p:spPr>
          <a:xfrm>
            <a:off x="10113263" y="2779776"/>
            <a:ext cx="1508760" cy="658368"/>
          </a:xfrm>
          <a:prstGeom prst="rect">
            <a:avLst/>
          </a:prstGeom>
          <a:noFill/>
        </p:spPr>
        <p:txBody>
          <a:bodyPr wrap="square" lIns="0" rIns="0" tIns="0" bIns="0" anchor="ctr">
            <a:noAutofit/>
          </a:bodyPr>
          <a:lstStyle/>
          <a:p>
            <a:pPr algn="l"/>
            <a:r>
              <a:rPr sz="1300" b="1" i="0">
                <a:solidFill>
                  <a:srgbClr val="000048"/>
                </a:solidFill>
                <a:latin typeface="Arial"/>
              </a:rPr>
              <a:t>Key Vault</a:t>
            </a:r>
          </a:p>
          <a:p>
            <a:pPr algn="l"/>
            <a:r>
              <a:rPr sz="1200" b="0" i="0">
                <a:solidFill>
                  <a:srgbClr val="53565A"/>
                </a:solidFill>
                <a:latin typeface="Arial"/>
              </a:rPr>
              <a:t>certificates</a:t>
            </a:r>
          </a:p>
        </p:txBody>
      </p:sp>
      <p:sp>
        <p:nvSpPr>
          <p:cNvPr id="32" name="Rounded Rectangle 31"/>
          <p:cNvSpPr/>
          <p:nvPr/>
        </p:nvSpPr>
        <p:spPr>
          <a:xfrm>
            <a:off x="7223760" y="3977639"/>
            <a:ext cx="4526280" cy="1280160"/>
          </a:xfrm>
          <a:prstGeom prst="roundRect">
            <a:avLst>
              <a:gd name="adj" fmla="val 7142"/>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333488" y="4032503"/>
            <a:ext cx="4306824" cy="237744"/>
          </a:xfrm>
          <a:prstGeom prst="rect">
            <a:avLst/>
          </a:prstGeom>
          <a:noFill/>
        </p:spPr>
        <p:txBody>
          <a:bodyPr wrap="square" lIns="0" rIns="0" tIns="0" bIns="0" anchor="t">
            <a:noAutofit/>
          </a:bodyPr>
          <a:lstStyle/>
          <a:p>
            <a:pPr algn="l"/>
            <a:r>
              <a:rPr sz="1200" b="1" i="0">
                <a:solidFill>
                  <a:srgbClr val="000048"/>
                </a:solidFill>
                <a:latin typeface="Arial"/>
              </a:rPr>
              <a:t>TOOLS AND TELEMETRY</a:t>
            </a:r>
          </a:p>
        </p:txBody>
      </p:sp>
      <p:pic>
        <p:nvPicPr>
          <p:cNvPr id="34" name="Azure icon: Function App" descr="Official Azure icon: Function App"/>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434072" y="4517136"/>
            <a:ext cx="384048" cy="384048"/>
          </a:xfrm>
          <a:prstGeom prst="rect">
            <a:avLst/>
          </a:prstGeom>
        </p:spPr>
      </p:pic>
      <p:sp>
        <p:nvSpPr>
          <p:cNvPr id="35" name="TextBox 34"/>
          <p:cNvSpPr txBox="1"/>
          <p:nvPr/>
        </p:nvSpPr>
        <p:spPr>
          <a:xfrm>
            <a:off x="7891272" y="4379976"/>
            <a:ext cx="1536192" cy="658368"/>
          </a:xfrm>
          <a:prstGeom prst="rect">
            <a:avLst/>
          </a:prstGeom>
          <a:noFill/>
        </p:spPr>
        <p:txBody>
          <a:bodyPr wrap="square" lIns="0" rIns="0" tIns="0" bIns="0" anchor="ctr">
            <a:noAutofit/>
          </a:bodyPr>
          <a:lstStyle/>
          <a:p>
            <a:pPr algn="l"/>
            <a:r>
              <a:rPr sz="1300" b="1" i="0">
                <a:solidFill>
                  <a:srgbClr val="000048"/>
                </a:solidFill>
                <a:latin typeface="Arial"/>
              </a:rPr>
              <a:t>Tool APIs</a:t>
            </a:r>
          </a:p>
          <a:p>
            <a:pPr algn="l"/>
            <a:r>
              <a:rPr sz="1200" b="0" i="0">
                <a:solidFill>
                  <a:srgbClr val="53565A"/>
                </a:solidFill>
                <a:latin typeface="Arial"/>
              </a:rPr>
              <a:t>own policies</a:t>
            </a:r>
          </a:p>
        </p:txBody>
      </p:sp>
      <p:pic>
        <p:nvPicPr>
          <p:cNvPr id="36" name="Azure icon: Application Insights" descr="Official Azure icon: Application Insights"/>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628632" y="4517136"/>
            <a:ext cx="384048" cy="384048"/>
          </a:xfrm>
          <a:prstGeom prst="rect">
            <a:avLst/>
          </a:prstGeom>
        </p:spPr>
      </p:pic>
      <p:sp>
        <p:nvSpPr>
          <p:cNvPr id="37" name="TextBox 36"/>
          <p:cNvSpPr txBox="1"/>
          <p:nvPr/>
        </p:nvSpPr>
        <p:spPr>
          <a:xfrm>
            <a:off x="10085832" y="4379976"/>
            <a:ext cx="1536192" cy="658368"/>
          </a:xfrm>
          <a:prstGeom prst="rect">
            <a:avLst/>
          </a:prstGeom>
          <a:noFill/>
        </p:spPr>
        <p:txBody>
          <a:bodyPr wrap="square" lIns="0" rIns="0" tIns="0" bIns="0" anchor="ctr">
            <a:noAutofit/>
          </a:bodyPr>
          <a:lstStyle/>
          <a:p>
            <a:pPr algn="l"/>
            <a:r>
              <a:rPr sz="1300" b="1" i="0">
                <a:solidFill>
                  <a:srgbClr val="000048"/>
                </a:solidFill>
                <a:latin typeface="Arial"/>
              </a:rPr>
              <a:t>App Insights</a:t>
            </a:r>
          </a:p>
          <a:p>
            <a:pPr algn="l"/>
            <a:r>
              <a:rPr sz="1200" b="0" i="0">
                <a:solidFill>
                  <a:srgbClr val="53565A"/>
                </a:solidFill>
                <a:latin typeface="Arial"/>
              </a:rPr>
              <a:t>token metrics</a:t>
            </a:r>
          </a:p>
        </p:txBody>
      </p:sp>
      <p:cxnSp>
        <p:nvCxnSpPr>
          <p:cNvPr id="38" name="Connector (flow)"/>
          <p:cNvCxnSpPr/>
          <p:nvPr/>
        </p:nvCxnSpPr>
        <p:spPr>
          <a:xfrm>
            <a:off x="1920240" y="2377440"/>
            <a:ext cx="32004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1783080" y="18288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cxnSp>
        <p:nvCxnSpPr>
          <p:cNvPr id="40" name="Connector (flow)"/>
          <p:cNvCxnSpPr/>
          <p:nvPr/>
        </p:nvCxnSpPr>
        <p:spPr>
          <a:xfrm flipV="1">
            <a:off x="6720840" y="2148840"/>
            <a:ext cx="502920" cy="6400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6812280" y="214884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4</a:t>
            </a:r>
          </a:p>
        </p:txBody>
      </p:sp>
      <p:cxnSp>
        <p:nvCxnSpPr>
          <p:cNvPr id="42" name="Connector (flow)"/>
          <p:cNvCxnSpPr/>
          <p:nvPr/>
        </p:nvCxnSpPr>
        <p:spPr>
          <a:xfrm>
            <a:off x="6720840" y="3657600"/>
            <a:ext cx="502920" cy="100584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6812280" y="3977639"/>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5</a:t>
            </a:r>
          </a:p>
        </p:txBody>
      </p:sp>
      <p:cxnSp>
        <p:nvCxnSpPr>
          <p:cNvPr id="44" name="Connector (telemetry)"/>
          <p:cNvCxnSpPr/>
          <p:nvPr/>
        </p:nvCxnSpPr>
        <p:spPr>
          <a:xfrm>
            <a:off x="6720840" y="4754880"/>
            <a:ext cx="502920" cy="13716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6812280" y="4937760"/>
            <a:ext cx="274320" cy="274320"/>
          </a:xfrm>
          <a:prstGeom prst="ellipse">
            <a:avLst/>
          </a:prstGeom>
          <a:solidFill>
            <a:srgbClr val="5356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6</a:t>
            </a:r>
          </a:p>
        </p:txBody>
      </p:sp>
      <p:sp>
        <p:nvSpPr>
          <p:cNvPr id="46" name="Oval 45"/>
          <p:cNvSpPr/>
          <p:nvPr/>
        </p:nvSpPr>
        <p:spPr>
          <a:xfrm>
            <a:off x="2606040" y="23317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sp>
        <p:nvSpPr>
          <p:cNvPr id="47" name="Oval 46"/>
          <p:cNvSpPr/>
          <p:nvPr/>
        </p:nvSpPr>
        <p:spPr>
          <a:xfrm>
            <a:off x="2606040" y="30175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cxnSp>
        <p:nvCxnSpPr>
          <p:cNvPr id="48" name="Connector (blocked)"/>
          <p:cNvCxnSpPr/>
          <p:nvPr/>
        </p:nvCxnSpPr>
        <p:spPr>
          <a:xfrm>
            <a:off x="1188720" y="3017520"/>
            <a:ext cx="0" cy="2468880"/>
          </a:xfrm>
          <a:prstGeom prst="line">
            <a:avLst/>
          </a:prstGeom>
          <a:ln w="19050">
            <a:solidFill>
              <a:srgbClr val="A4262C"/>
            </a:solidFill>
            <a:prstDash val="dash"/>
          </a:ln>
        </p:spPr>
        <p:style>
          <a:lnRef idx="2">
            <a:schemeClr val="accent1"/>
          </a:lnRef>
          <a:fillRef idx="0">
            <a:schemeClr val="accent1"/>
          </a:fillRef>
          <a:effectRef idx="1">
            <a:schemeClr val="accent1"/>
          </a:effectRef>
          <a:fontRef idx="minor">
            <a:schemeClr val="tx1"/>
          </a:fontRef>
        </p:style>
      </p:cxnSp>
      <p:cxnSp>
        <p:nvCxnSpPr>
          <p:cNvPr id="49" name="Connector (blocked)"/>
          <p:cNvCxnSpPr/>
          <p:nvPr/>
        </p:nvCxnSpPr>
        <p:spPr>
          <a:xfrm>
            <a:off x="1188720" y="5486400"/>
            <a:ext cx="5806440" cy="0"/>
          </a:xfrm>
          <a:prstGeom prst="line">
            <a:avLst/>
          </a:prstGeom>
          <a:ln w="19050">
            <a:solidFill>
              <a:srgbClr val="A4262C"/>
            </a:solidFill>
            <a:prstDash val="dash"/>
          </a:ln>
        </p:spPr>
        <p:style>
          <a:lnRef idx="2">
            <a:schemeClr val="accent1"/>
          </a:lnRef>
          <a:fillRef idx="0">
            <a:schemeClr val="accent1"/>
          </a:fillRef>
          <a:effectRef idx="1">
            <a:schemeClr val="accent1"/>
          </a:effectRef>
          <a:fontRef idx="minor">
            <a:schemeClr val="tx1"/>
          </a:fontRef>
        </p:style>
      </p:cxnSp>
      <p:cxnSp>
        <p:nvCxnSpPr>
          <p:cNvPr id="50" name="Connector (blocked)"/>
          <p:cNvCxnSpPr/>
          <p:nvPr/>
        </p:nvCxnSpPr>
        <p:spPr>
          <a:xfrm flipV="1">
            <a:off x="6995160" y="2103120"/>
            <a:ext cx="0" cy="3383280"/>
          </a:xfrm>
          <a:prstGeom prst="line">
            <a:avLst/>
          </a:prstGeom>
          <a:ln w="19050">
            <a:solidFill>
              <a:srgbClr val="A4262C"/>
            </a:solidFill>
            <a:prstDash val="dash"/>
          </a:ln>
        </p:spPr>
        <p:style>
          <a:lnRef idx="2">
            <a:schemeClr val="accent1"/>
          </a:lnRef>
          <a:fillRef idx="0">
            <a:schemeClr val="accent1"/>
          </a:fillRef>
          <a:effectRef idx="1">
            <a:schemeClr val="accent1"/>
          </a:effectRef>
          <a:fontRef idx="minor">
            <a:schemeClr val="tx1"/>
          </a:fontRef>
        </p:style>
      </p:cxnSp>
      <p:cxnSp>
        <p:nvCxnSpPr>
          <p:cNvPr id="51" name="Connector (blocked)"/>
          <p:cNvCxnSpPr/>
          <p:nvPr/>
        </p:nvCxnSpPr>
        <p:spPr>
          <a:xfrm>
            <a:off x="6995160" y="2103120"/>
            <a:ext cx="365760" cy="0"/>
          </a:xfrm>
          <a:prstGeom prst="line">
            <a:avLst/>
          </a:prstGeom>
          <a:ln w="19050">
            <a:solidFill>
              <a:srgbClr val="A4262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2377440" y="5522976"/>
            <a:ext cx="4572000" cy="256032"/>
          </a:xfrm>
          <a:prstGeom prst="rect">
            <a:avLst/>
          </a:prstGeom>
          <a:noFill/>
        </p:spPr>
        <p:txBody>
          <a:bodyPr wrap="square" lIns="0" rIns="0" tIns="0" bIns="0" anchor="t">
            <a:noAutofit/>
          </a:bodyPr>
          <a:lstStyle/>
          <a:p>
            <a:pPr algn="l"/>
            <a:r>
              <a:rPr sz="1200" b="0" i="0">
                <a:solidFill>
                  <a:srgbClr val="A4262C"/>
                </a:solidFill>
                <a:latin typeface="Arial"/>
              </a:rPr>
              <a:t>Direct call to model endpoint: blocked by network and identity</a:t>
            </a:r>
          </a:p>
        </p:txBody>
      </p:sp>
      <p:cxnSp>
        <p:nvCxnSpPr>
          <p:cNvPr id="53" name="Connector (flow)"/>
          <p:cNvCxnSpPr/>
          <p:nvPr/>
        </p:nvCxnSpPr>
        <p:spPr>
          <a:xfrm>
            <a:off x="548640" y="592531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1024128" y="5806440"/>
            <a:ext cx="1874519" cy="256032"/>
          </a:xfrm>
          <a:prstGeom prst="rect">
            <a:avLst/>
          </a:prstGeom>
          <a:noFill/>
        </p:spPr>
        <p:txBody>
          <a:bodyPr wrap="square" lIns="0" rIns="0" tIns="0" bIns="0" anchor="t">
            <a:noAutofit/>
          </a:bodyPr>
          <a:lstStyle/>
          <a:p>
            <a:pPr algn="l"/>
            <a:r>
              <a:rPr sz="1200" b="0" i="0">
                <a:solidFill>
                  <a:srgbClr val="53565A"/>
                </a:solidFill>
                <a:latin typeface="Arial"/>
              </a:rPr>
              <a:t>Request / data flow</a:t>
            </a:r>
          </a:p>
        </p:txBody>
      </p:sp>
      <p:cxnSp>
        <p:nvCxnSpPr>
          <p:cNvPr id="55" name="Connector (telemetry)"/>
          <p:cNvCxnSpPr/>
          <p:nvPr/>
        </p:nvCxnSpPr>
        <p:spPr>
          <a:xfrm>
            <a:off x="2926080" y="5925312"/>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3401568" y="5806440"/>
            <a:ext cx="1874519" cy="256032"/>
          </a:xfrm>
          <a:prstGeom prst="rect">
            <a:avLst/>
          </a:prstGeom>
          <a:noFill/>
        </p:spPr>
        <p:txBody>
          <a:bodyPr wrap="square" lIns="0" rIns="0" tIns="0" bIns="0" anchor="t">
            <a:noAutofit/>
          </a:bodyPr>
          <a:lstStyle/>
          <a:p>
            <a:pPr algn="l"/>
            <a:r>
              <a:rPr sz="1200" b="0" i="0">
                <a:solidFill>
                  <a:srgbClr val="53565A"/>
                </a:solidFill>
                <a:latin typeface="Arial"/>
              </a:rPr>
              <a:t>Telemetry or state read</a:t>
            </a:r>
          </a:p>
        </p:txBody>
      </p:sp>
      <p:cxnSp>
        <p:nvCxnSpPr>
          <p:cNvPr id="57" name="Connector (blocked)"/>
          <p:cNvCxnSpPr/>
          <p:nvPr/>
        </p:nvCxnSpPr>
        <p:spPr>
          <a:xfrm>
            <a:off x="5303520" y="5925312"/>
            <a:ext cx="411480" cy="0"/>
          </a:xfrm>
          <a:prstGeom prst="line">
            <a:avLst/>
          </a:prstGeom>
          <a:ln w="19050">
            <a:solidFill>
              <a:srgbClr val="A4262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5779008" y="5806440"/>
            <a:ext cx="1874519" cy="256032"/>
          </a:xfrm>
          <a:prstGeom prst="rect">
            <a:avLst/>
          </a:prstGeom>
          <a:noFill/>
        </p:spPr>
        <p:txBody>
          <a:bodyPr wrap="square" lIns="0" rIns="0" tIns="0" bIns="0" anchor="t">
            <a:noAutofit/>
          </a:bodyPr>
          <a:lstStyle/>
          <a:p>
            <a:pPr algn="l"/>
            <a:r>
              <a:rPr sz="1200" b="0" i="0">
                <a:solidFill>
                  <a:srgbClr val="53565A"/>
                </a:solidFill>
                <a:latin typeface="Arial"/>
              </a:rPr>
              <a:t>Path that must be blocked</a:t>
            </a:r>
          </a:p>
        </p:txBody>
      </p:sp>
      <p:sp>
        <p:nvSpPr>
          <p:cNvPr id="59" name="TextBox 58"/>
          <p:cNvSpPr txBox="1"/>
          <p:nvPr/>
        </p:nvSpPr>
        <p:spPr>
          <a:xfrm>
            <a:off x="548640" y="6108192"/>
            <a:ext cx="11064240" cy="256032"/>
          </a:xfrm>
          <a:prstGeom prst="rect">
            <a:avLst/>
          </a:prstGeom>
          <a:noFill/>
        </p:spPr>
        <p:txBody>
          <a:bodyPr wrap="square" lIns="0" rIns="0" tIns="0" bIns="0" anchor="t">
            <a:noAutofit/>
          </a:bodyPr>
          <a:lstStyle/>
          <a:p>
            <a:pPr algn="l"/>
            <a:r>
              <a:rPr sz="12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API Center decides which tools exist; APIM routes them</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7 OF 10</a:t>
            </a:r>
          </a:p>
        </p:txBody>
      </p:sp>
      <p:sp>
        <p:nvSpPr>
          <p:cNvPr id="5" name="Status chip: PROPOSED REFERENCE ARCHITECTURE"/>
          <p:cNvSpPr/>
          <p:nvPr/>
        </p:nvSpPr>
        <p:spPr>
          <a:xfrm>
            <a:off x="365887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07</a:t>
            </a:r>
          </a:p>
        </p:txBody>
      </p:sp>
      <p:pic>
        <p:nvPicPr>
          <p:cNvPr id="8"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43000" y="1810512"/>
            <a:ext cx="457200" cy="457200"/>
          </a:xfrm>
          <a:prstGeom prst="rect">
            <a:avLst/>
          </a:prstGeom>
        </p:spPr>
      </p:pic>
      <p:sp>
        <p:nvSpPr>
          <p:cNvPr id="9" name="TextBox 8"/>
          <p:cNvSpPr txBox="1"/>
          <p:nvPr/>
        </p:nvSpPr>
        <p:spPr>
          <a:xfrm>
            <a:off x="539496" y="2304288"/>
            <a:ext cx="1664207" cy="512064"/>
          </a:xfrm>
          <a:prstGeom prst="rect">
            <a:avLst/>
          </a:prstGeom>
          <a:noFill/>
        </p:spPr>
        <p:txBody>
          <a:bodyPr wrap="square" lIns="0" rIns="0" tIns="0" bIns="0" anchor="t">
            <a:noAutofit/>
          </a:bodyPr>
          <a:lstStyle/>
          <a:p>
            <a:pPr algn="ctr"/>
            <a:r>
              <a:rPr sz="1300" b="1" i="0">
                <a:solidFill>
                  <a:srgbClr val="000048"/>
                </a:solidFill>
                <a:latin typeface="Arial"/>
              </a:rPr>
              <a:t>Tool owners</a:t>
            </a:r>
          </a:p>
          <a:p>
            <a:pPr algn="ctr"/>
            <a:r>
              <a:rPr sz="1200" b="0" i="0">
                <a:solidFill>
                  <a:srgbClr val="53565A"/>
                </a:solidFill>
                <a:latin typeface="Arial"/>
              </a:rPr>
              <a:t>register API or MCP</a:t>
            </a:r>
          </a:p>
        </p:txBody>
      </p:sp>
      <p:sp>
        <p:nvSpPr>
          <p:cNvPr id="10" name="Rounded Rectangle 9"/>
          <p:cNvSpPr/>
          <p:nvPr/>
        </p:nvSpPr>
        <p:spPr>
          <a:xfrm>
            <a:off x="2606040" y="1325880"/>
            <a:ext cx="3108960" cy="3108960"/>
          </a:xfrm>
          <a:prstGeom prst="roundRect">
            <a:avLst>
              <a:gd name="adj" fmla="val 2941"/>
            </a:avLst>
          </a:prstGeom>
          <a:solidFill>
            <a:srgbClr val="F6F5FD"/>
          </a:solidFill>
          <a:ln w="15875">
            <a:solidFill>
              <a:srgbClr val="7373D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715768" y="1380744"/>
            <a:ext cx="2889504" cy="237744"/>
          </a:xfrm>
          <a:prstGeom prst="rect">
            <a:avLst/>
          </a:prstGeom>
          <a:noFill/>
        </p:spPr>
        <p:txBody>
          <a:bodyPr wrap="square" lIns="0" rIns="0" tIns="0" bIns="0" anchor="t">
            <a:noAutofit/>
          </a:bodyPr>
          <a:lstStyle/>
          <a:p>
            <a:pPr algn="l"/>
            <a:r>
              <a:rPr sz="1200" b="1" i="0">
                <a:solidFill>
                  <a:srgbClr val="4B4BA8"/>
                </a:solidFill>
                <a:latin typeface="Arial"/>
              </a:rPr>
              <a:t>REGISTRY (DECIDES WHAT EXISTS)</a:t>
            </a:r>
          </a:p>
        </p:txBody>
      </p:sp>
      <p:sp>
        <p:nvSpPr>
          <p:cNvPr id="12" name="Rounded Rectangle 11"/>
          <p:cNvSpPr/>
          <p:nvPr/>
        </p:nvSpPr>
        <p:spPr>
          <a:xfrm>
            <a:off x="2788920" y="1691640"/>
            <a:ext cx="2743200" cy="822960"/>
          </a:xfrm>
          <a:prstGeom prst="roundRect">
            <a:avLst>
              <a:gd name="adj" fmla="val 8888"/>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API Center" descr="Official Azure icon: API Cente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862072" y="1874520"/>
            <a:ext cx="457200" cy="457200"/>
          </a:xfrm>
          <a:prstGeom prst="rect">
            <a:avLst/>
          </a:prstGeom>
        </p:spPr>
      </p:pic>
      <p:sp>
        <p:nvSpPr>
          <p:cNvPr id="14" name="TextBox 13"/>
          <p:cNvSpPr txBox="1"/>
          <p:nvPr/>
        </p:nvSpPr>
        <p:spPr>
          <a:xfrm>
            <a:off x="3392424" y="1728216"/>
            <a:ext cx="2103120" cy="749808"/>
          </a:xfrm>
          <a:prstGeom prst="rect">
            <a:avLst/>
          </a:prstGeom>
          <a:noFill/>
        </p:spPr>
        <p:txBody>
          <a:bodyPr wrap="square" lIns="0" rIns="0" tIns="0" bIns="0" anchor="ctr">
            <a:noAutofit/>
          </a:bodyPr>
          <a:lstStyle/>
          <a:p>
            <a:pPr algn="l"/>
            <a:r>
              <a:rPr sz="1500" b="1" i="0">
                <a:solidFill>
                  <a:srgbClr val="000048"/>
                </a:solidFill>
                <a:latin typeface="Arial"/>
              </a:rPr>
              <a:t>API Center</a:t>
            </a:r>
          </a:p>
          <a:p>
            <a:pPr algn="l"/>
            <a:r>
              <a:rPr sz="1200" b="0" i="0">
                <a:solidFill>
                  <a:srgbClr val="53565A"/>
                </a:solidFill>
                <a:latin typeface="Arial"/>
              </a:rPr>
              <a:t>APIs and MCP servers</a:t>
            </a:r>
          </a:p>
        </p:txBody>
      </p:sp>
      <p:sp>
        <p:nvSpPr>
          <p:cNvPr id="15" name="TextBox 14"/>
          <p:cNvSpPr txBox="1"/>
          <p:nvPr/>
        </p:nvSpPr>
        <p:spPr>
          <a:xfrm>
            <a:off x="2788920" y="2651760"/>
            <a:ext cx="2743200" cy="1737360"/>
          </a:xfrm>
          <a:prstGeom prst="rect">
            <a:avLst/>
          </a:prstGeom>
          <a:noFill/>
        </p:spPr>
        <p:txBody>
          <a:bodyPr wrap="square" lIns="0" rIns="0" tIns="0" bIns="0" anchor="t">
            <a:noAutofit/>
          </a:bodyPr>
          <a:lstStyle/>
          <a:p>
            <a:pPr algn="l" marL="201168" indent="-201168">
              <a:spcAft>
                <a:spcPts val="200"/>
              </a:spcAft>
              <a:buFont typeface="Arial"/>
              <a:buChar char="•"/>
            </a:pPr>
            <a:r>
              <a:rPr sz="1700" b="0" i="0">
                <a:solidFill>
                  <a:srgbClr val="1E1E2E"/>
                </a:solidFill>
                <a:latin typeface="Arial"/>
              </a:rPr>
              <a:t>Owner and lifecycle</a:t>
            </a:r>
          </a:p>
          <a:p>
            <a:pPr algn="l" marL="201168" indent="-201168">
              <a:spcAft>
                <a:spcPts val="200"/>
              </a:spcAft>
              <a:buFont typeface="Arial"/>
              <a:buChar char="•"/>
            </a:pPr>
            <a:r>
              <a:rPr sz="1700" b="0" i="0">
                <a:solidFill>
                  <a:srgbClr val="1E1E2E"/>
                </a:solidFill>
                <a:latin typeface="Arial"/>
              </a:rPr>
              <a:t>Security approval</a:t>
            </a:r>
          </a:p>
          <a:p>
            <a:pPr algn="l" marL="201168" indent="-201168">
              <a:spcAft>
                <a:spcPts val="200"/>
              </a:spcAft>
              <a:buFont typeface="Arial"/>
              <a:buChar char="•"/>
            </a:pPr>
            <a:r>
              <a:rPr sz="1700" b="0" i="0">
                <a:solidFill>
                  <a:srgbClr val="1E1E2E"/>
                </a:solidFill>
                <a:latin typeface="Arial"/>
              </a:rPr>
              <a:t>Version and endpoint</a:t>
            </a:r>
          </a:p>
          <a:p>
            <a:pPr algn="l" marL="201168" indent="-201168">
              <a:spcAft>
                <a:spcPts val="200"/>
              </a:spcAft>
              <a:buFont typeface="Arial"/>
              <a:buChar char="•"/>
            </a:pPr>
            <a:r>
              <a:rPr sz="1700" b="0" i="0">
                <a:solidFill>
                  <a:srgbClr val="1E1E2E"/>
                </a:solidFill>
                <a:latin typeface="Arial"/>
              </a:rPr>
              <a:t>Agent discovery</a:t>
            </a:r>
          </a:p>
        </p:txBody>
      </p:sp>
      <p:sp>
        <p:nvSpPr>
          <p:cNvPr id="16" name="Rounded Rectangle 15"/>
          <p:cNvSpPr/>
          <p:nvPr/>
        </p:nvSpPr>
        <p:spPr>
          <a:xfrm>
            <a:off x="6172200" y="1325880"/>
            <a:ext cx="2423160" cy="3108960"/>
          </a:xfrm>
          <a:prstGeom prst="roundRect">
            <a:avLst>
              <a:gd name="adj" fmla="val 3773"/>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281928" y="1380744"/>
            <a:ext cx="2203704" cy="237744"/>
          </a:xfrm>
          <a:prstGeom prst="rect">
            <a:avLst/>
          </a:prstGeom>
          <a:noFill/>
        </p:spPr>
        <p:txBody>
          <a:bodyPr wrap="square" lIns="0" rIns="0" tIns="0" bIns="0" anchor="t">
            <a:noAutofit/>
          </a:bodyPr>
          <a:lstStyle/>
          <a:p>
            <a:pPr algn="l"/>
            <a:r>
              <a:rPr sz="1200" b="1" i="0">
                <a:solidFill>
                  <a:srgbClr val="000048"/>
                </a:solidFill>
                <a:latin typeface="Arial"/>
              </a:rPr>
              <a:t>GATEWAY (CONTROLS TRAFFIC)</a:t>
            </a:r>
          </a:p>
        </p:txBody>
      </p:sp>
      <p:pic>
        <p:nvPicPr>
          <p:cNvPr id="18" name="Azure icon: API Management" descr="Official Azure icon: API Management"/>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55180" y="1764792"/>
            <a:ext cx="457200" cy="457200"/>
          </a:xfrm>
          <a:prstGeom prst="rect">
            <a:avLst/>
          </a:prstGeom>
        </p:spPr>
      </p:pic>
      <p:sp>
        <p:nvSpPr>
          <p:cNvPr id="19" name="TextBox 18"/>
          <p:cNvSpPr txBox="1"/>
          <p:nvPr/>
        </p:nvSpPr>
        <p:spPr>
          <a:xfrm>
            <a:off x="6345936" y="2258568"/>
            <a:ext cx="2075688" cy="877824"/>
          </a:xfrm>
          <a:prstGeom prst="rect">
            <a:avLst/>
          </a:prstGeom>
          <a:noFill/>
        </p:spPr>
        <p:txBody>
          <a:bodyPr wrap="square" lIns="0" rIns="0" tIns="0" bIns="0" anchor="t">
            <a:noAutofit/>
          </a:bodyPr>
          <a:lstStyle/>
          <a:p>
            <a:pPr algn="ctr"/>
            <a:r>
              <a:rPr sz="1500" b="1" i="0">
                <a:solidFill>
                  <a:srgbClr val="000048"/>
                </a:solidFill>
                <a:latin typeface="Arial"/>
              </a:rPr>
              <a:t>API Management</a:t>
            </a:r>
          </a:p>
          <a:p>
            <a:pPr algn="ctr"/>
            <a:r>
              <a:rPr sz="1200" b="0" i="0">
                <a:solidFill>
                  <a:srgbClr val="53565A"/>
                </a:solidFill>
                <a:latin typeface="Arial"/>
              </a:rPr>
              <a:t>routes only approved</a:t>
            </a:r>
          </a:p>
        </p:txBody>
      </p:sp>
      <p:sp>
        <p:nvSpPr>
          <p:cNvPr id="20" name="TextBox 19"/>
          <p:cNvSpPr txBox="1"/>
          <p:nvPr/>
        </p:nvSpPr>
        <p:spPr>
          <a:xfrm>
            <a:off x="6309360" y="3291840"/>
            <a:ext cx="2148840" cy="1097280"/>
          </a:xfrm>
          <a:prstGeom prst="rect">
            <a:avLst/>
          </a:prstGeom>
          <a:noFill/>
        </p:spPr>
        <p:txBody>
          <a:bodyPr wrap="square" lIns="0" rIns="0" tIns="0" bIns="0" anchor="t">
            <a:noAutofit/>
          </a:bodyPr>
          <a:lstStyle/>
          <a:p>
            <a:pPr algn="ctr"/>
            <a:r>
              <a:rPr sz="1600" b="0" i="0">
                <a:solidFill>
                  <a:srgbClr val="53565A"/>
                </a:solidFill>
                <a:latin typeface="Arial"/>
              </a:rPr>
              <a:t>identity, limits, logging per tool call</a:t>
            </a:r>
          </a:p>
        </p:txBody>
      </p:sp>
      <p:sp>
        <p:nvSpPr>
          <p:cNvPr id="21" name="Rounded Rectangle 20"/>
          <p:cNvSpPr/>
          <p:nvPr/>
        </p:nvSpPr>
        <p:spPr>
          <a:xfrm>
            <a:off x="9052560" y="1325880"/>
            <a:ext cx="2697480" cy="3108960"/>
          </a:xfrm>
          <a:prstGeom prst="roundRect">
            <a:avLst>
              <a:gd name="adj" fmla="val 3389"/>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62288" y="1380744"/>
            <a:ext cx="2478024" cy="237744"/>
          </a:xfrm>
          <a:prstGeom prst="rect">
            <a:avLst/>
          </a:prstGeom>
          <a:noFill/>
        </p:spPr>
        <p:txBody>
          <a:bodyPr wrap="square" lIns="0" rIns="0" tIns="0" bIns="0" anchor="t">
            <a:noAutofit/>
          </a:bodyPr>
          <a:lstStyle/>
          <a:p>
            <a:pPr algn="l"/>
            <a:r>
              <a:rPr sz="1200" b="1" i="0">
                <a:solidFill>
                  <a:srgbClr val="000048"/>
                </a:solidFill>
                <a:latin typeface="Arial"/>
              </a:rPr>
              <a:t>CONSUMERS</a:t>
            </a:r>
          </a:p>
        </p:txBody>
      </p:sp>
      <p:pic>
        <p:nvPicPr>
          <p:cNvPr id="23" name="Azure icon: Foundry Agent Service" descr="Official Azure icon: Foundry Agent Service"/>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262872" y="1819656"/>
            <a:ext cx="384048" cy="384048"/>
          </a:xfrm>
          <a:prstGeom prst="rect">
            <a:avLst/>
          </a:prstGeom>
        </p:spPr>
      </p:pic>
      <p:sp>
        <p:nvSpPr>
          <p:cNvPr id="24" name="TextBox 23"/>
          <p:cNvSpPr txBox="1"/>
          <p:nvPr/>
        </p:nvSpPr>
        <p:spPr>
          <a:xfrm>
            <a:off x="9720072" y="1682496"/>
            <a:ext cx="1856231" cy="658368"/>
          </a:xfrm>
          <a:prstGeom prst="rect">
            <a:avLst/>
          </a:prstGeom>
          <a:noFill/>
        </p:spPr>
        <p:txBody>
          <a:bodyPr wrap="square" lIns="0" rIns="0" tIns="0" bIns="0" anchor="ctr">
            <a:noAutofit/>
          </a:bodyPr>
          <a:lstStyle/>
          <a:p>
            <a:pPr algn="l"/>
            <a:r>
              <a:rPr sz="1400" b="1" i="0">
                <a:solidFill>
                  <a:srgbClr val="000048"/>
                </a:solidFill>
                <a:latin typeface="Arial"/>
              </a:rPr>
              <a:t>Foundry agents</a:t>
            </a:r>
          </a:p>
          <a:p>
            <a:pPr algn="l"/>
            <a:r>
              <a:rPr sz="1200" b="0" i="0">
                <a:solidFill>
                  <a:srgbClr val="53565A"/>
                </a:solidFill>
                <a:latin typeface="Arial"/>
              </a:rPr>
              <a:t>tool catalogue</a:t>
            </a:r>
          </a:p>
        </p:txBody>
      </p:sp>
      <p:sp>
        <p:nvSpPr>
          <p:cNvPr id="25" name="Rounded Rectangle 24"/>
          <p:cNvSpPr/>
          <p:nvPr/>
        </p:nvSpPr>
        <p:spPr>
          <a:xfrm>
            <a:off x="9189720" y="2514600"/>
            <a:ext cx="2423160" cy="731520"/>
          </a:xfrm>
          <a:prstGeom prst="roundRect">
            <a:avLst>
              <a:gd name="adj" fmla="val 10000"/>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400" b="1" i="0">
                <a:solidFill>
                  <a:srgbClr val="000048"/>
                </a:solidFill>
                <a:latin typeface="Arial"/>
              </a:rPr>
              <a:t>Copilot Studio</a:t>
            </a:r>
          </a:p>
          <a:p>
            <a:pPr algn="ctr"/>
            <a:r>
              <a:rPr sz="1200" b="0" i="0">
                <a:solidFill>
                  <a:srgbClr val="53565A"/>
                </a:solidFill>
                <a:latin typeface="Arial"/>
              </a:rPr>
              <a:t>connectors via APIM</a:t>
            </a:r>
          </a:p>
        </p:txBody>
      </p:sp>
      <p:sp>
        <p:nvSpPr>
          <p:cNvPr id="26" name="Rounded Rectangle 25"/>
          <p:cNvSpPr/>
          <p:nvPr/>
        </p:nvSpPr>
        <p:spPr>
          <a:xfrm>
            <a:off x="9189720" y="3383280"/>
            <a:ext cx="2423160" cy="731520"/>
          </a:xfrm>
          <a:prstGeom prst="roundRect">
            <a:avLst>
              <a:gd name="adj" fmla="val 10000"/>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400" b="1" i="0">
                <a:solidFill>
                  <a:srgbClr val="000048"/>
                </a:solidFill>
                <a:latin typeface="Arial"/>
              </a:rPr>
              <a:t>GitHub Copilot, VS Code</a:t>
            </a:r>
          </a:p>
          <a:p>
            <a:pPr algn="ctr"/>
            <a:r>
              <a:rPr sz="1200" b="0" i="0">
                <a:solidFill>
                  <a:srgbClr val="53565A"/>
                </a:solidFill>
                <a:latin typeface="Arial"/>
              </a:rPr>
              <a:t>private MCP registry</a:t>
            </a:r>
          </a:p>
        </p:txBody>
      </p:sp>
      <p:cxnSp>
        <p:nvCxnSpPr>
          <p:cNvPr id="27" name="Connector (flow)"/>
          <p:cNvCxnSpPr/>
          <p:nvPr/>
        </p:nvCxnSpPr>
        <p:spPr>
          <a:xfrm>
            <a:off x="2240280" y="2103120"/>
            <a:ext cx="3657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2286000" y="16002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cxnSp>
        <p:nvCxnSpPr>
          <p:cNvPr id="29" name="Connector (flow)"/>
          <p:cNvCxnSpPr/>
          <p:nvPr/>
        </p:nvCxnSpPr>
        <p:spPr>
          <a:xfrm>
            <a:off x="5715000" y="2103120"/>
            <a:ext cx="45720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212080" y="1783080"/>
            <a:ext cx="1463040" cy="256032"/>
          </a:xfrm>
          <a:prstGeom prst="rect">
            <a:avLst/>
          </a:prstGeom>
          <a:noFill/>
        </p:spPr>
        <p:txBody>
          <a:bodyPr wrap="square" lIns="0" rIns="0" tIns="0" bIns="0" anchor="t">
            <a:noAutofit/>
          </a:bodyPr>
          <a:lstStyle/>
          <a:p>
            <a:pPr algn="ctr"/>
            <a:r>
              <a:rPr sz="1200" b="0" i="0">
                <a:solidFill>
                  <a:srgbClr val="000048"/>
                </a:solidFill>
                <a:latin typeface="Arial"/>
              </a:rPr>
              <a:t>sync</a:t>
            </a:r>
          </a:p>
        </p:txBody>
      </p:sp>
      <p:sp>
        <p:nvSpPr>
          <p:cNvPr id="31" name="Oval 30"/>
          <p:cNvSpPr/>
          <p:nvPr/>
        </p:nvSpPr>
        <p:spPr>
          <a:xfrm>
            <a:off x="5806440" y="23317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cxnSp>
        <p:nvCxnSpPr>
          <p:cNvPr id="32" name="Connector (flow)"/>
          <p:cNvCxnSpPr/>
          <p:nvPr/>
        </p:nvCxnSpPr>
        <p:spPr>
          <a:xfrm>
            <a:off x="8595360" y="2103120"/>
            <a:ext cx="45720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8686800" y="23317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sp>
        <p:nvSpPr>
          <p:cNvPr id="34" name="Rounded Rectangle 33"/>
          <p:cNvSpPr/>
          <p:nvPr/>
        </p:nvSpPr>
        <p:spPr>
          <a:xfrm>
            <a:off x="548640" y="4617720"/>
            <a:ext cx="1109167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900" b="1" i="0">
                <a:solidFill>
                  <a:srgbClr val="FFFFFF"/>
                </a:solidFill>
                <a:latin typeface="Arial"/>
              </a:rPr>
              <a:t>Proposed rule:  </a:t>
            </a:r>
            <a:r>
              <a:rPr sz="1900" b="0" i="0">
                <a:solidFill>
                  <a:srgbClr val="FFFFFF"/>
                </a:solidFill>
                <a:latin typeface="Arial"/>
              </a:rPr>
              <a:t>a tool is allowed only if it is registered and approved in API Center, and its traffic goes through API Management.</a:t>
            </a:r>
          </a:p>
        </p:txBody>
      </p:sp>
      <p:cxnSp>
        <p:nvCxnSpPr>
          <p:cNvPr id="35" name="Connector (flow)"/>
          <p:cNvCxnSpPr/>
          <p:nvPr/>
        </p:nvCxnSpPr>
        <p:spPr>
          <a:xfrm>
            <a:off x="548640" y="574243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024128" y="5623560"/>
            <a:ext cx="1325880" cy="256032"/>
          </a:xfrm>
          <a:prstGeom prst="rect">
            <a:avLst/>
          </a:prstGeom>
          <a:noFill/>
        </p:spPr>
        <p:txBody>
          <a:bodyPr wrap="square" lIns="0" rIns="0" tIns="0" bIns="0" anchor="t">
            <a:noAutofit/>
          </a:bodyPr>
          <a:lstStyle/>
          <a:p>
            <a:pPr algn="l"/>
            <a:r>
              <a:rPr sz="1200" b="0" i="0">
                <a:solidFill>
                  <a:srgbClr val="53565A"/>
                </a:solidFill>
                <a:latin typeface="Arial"/>
              </a:rPr>
              <a:t>Request / data flow</a:t>
            </a:r>
          </a:p>
        </p:txBody>
      </p:sp>
      <p:sp>
        <p:nvSpPr>
          <p:cNvPr id="37" name="TextBox 36"/>
          <p:cNvSpPr txBox="1"/>
          <p:nvPr/>
        </p:nvSpPr>
        <p:spPr>
          <a:xfrm>
            <a:off x="548640" y="5943600"/>
            <a:ext cx="11064240" cy="256032"/>
          </a:xfrm>
          <a:prstGeom prst="rect">
            <a:avLst/>
          </a:prstGeom>
          <a:noFill/>
        </p:spPr>
        <p:txBody>
          <a:bodyPr wrap="square" lIns="0" rIns="0" tIns="0" bIns="0" anchor="t">
            <a:noAutofit/>
          </a:bodyPr>
          <a:lstStyle/>
          <a:p>
            <a:pPr algn="l"/>
            <a:r>
              <a:rPr sz="12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Readiness in 2 to 4 weeks; one-region build in 8 to 14</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8 OF 10</a:t>
            </a:r>
          </a:p>
        </p:txBody>
      </p:sp>
      <p:sp>
        <p:nvSpPr>
          <p:cNvPr id="5" name="Status chip: ESTIMATE, NOT APPROVED"/>
          <p:cNvSpPr/>
          <p:nvPr/>
        </p:nvSpPr>
        <p:spPr>
          <a:xfrm>
            <a:off x="365887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08</a:t>
            </a:r>
          </a:p>
        </p:txBody>
      </p:sp>
      <p:graphicFrame>
        <p:nvGraphicFramePr>
          <p:cNvPr id="8" name="Table"/>
          <p:cNvGraphicFramePr>
            <a:graphicFrameLocks noGrp="1"/>
          </p:cNvGraphicFramePr>
          <p:nvPr/>
        </p:nvGraphicFramePr>
        <p:xfrm>
          <a:off x="548640" y="1371600"/>
          <a:ext cx="11091672" cy="2164080"/>
        </p:xfrm>
        <a:graphic>
          <a:graphicData uri="http://schemas.openxmlformats.org/drawingml/2006/table">
            <a:tbl>
              <a:tblPr firstRow="1" bandRow="0">
                <a:tableStyleId>{5C22544A-7EE6-4342-B048-85BDC9FD1C3A}</a:tableStyleId>
              </a:tblPr>
              <a:tblGrid>
                <a:gridCol w="3291840"/>
                <a:gridCol w="2560320"/>
                <a:gridCol w="2194560"/>
                <a:gridCol w="3044952"/>
              </a:tblGrid>
              <a:tr h="335280">
                <a:tc>
                  <a:txBody>
                    <a:bodyPr wrap="square" anchor="ctr">
                      <a:noAutofit/>
                    </a:bodyPr>
                    <a:lstStyle/>
                    <a:p>
                      <a:pPr algn="l"/>
                      <a:r>
                        <a:rPr sz="16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Effort (role days)</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Elapsed time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Indicative fee band*</a:t>
                      </a:r>
                    </a:p>
                  </a:txBody>
                  <a:tcPr marL="73152" marR="73152" marT="36576" marB="36576" anchor="ctr">
                    <a:solidFill>
                      <a:srgbClr val="000048"/>
                    </a:solidFill>
                  </a:tcPr>
                </a:tc>
              </a:tr>
              <a:tr h="365760">
                <a:tc>
                  <a:txBody>
                    <a:bodyPr wrap="square" anchor="ctr">
                      <a:noAutofit/>
                    </a:bodyPr>
                    <a:lstStyle/>
                    <a:p>
                      <a:pPr algn="l"/>
                      <a:r>
                        <a:rPr sz="1800" b="1" i="0">
                          <a:solidFill>
                            <a:srgbClr val="1E1E2E"/>
                          </a:solidFill>
                          <a:latin typeface="Arial"/>
                        </a:rPr>
                        <a:t>Readiness assessment</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10 to 20</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2 to 4 weeks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$10k to $20k</a:t>
                      </a:r>
                    </a:p>
                  </a:txBody>
                  <a:tcPr marL="73152" marR="73152" marT="36576" marB="36576" anchor="ctr">
                    <a:solidFill>
                      <a:srgbClr val="FFFFFF"/>
                    </a:solidFill>
                  </a:tcPr>
                </a:tc>
              </a:tr>
              <a:tr h="365760">
                <a:tc>
                  <a:txBody>
                    <a:bodyPr wrap="square" anchor="ctr">
                      <a:noAutofit/>
                    </a:bodyPr>
                    <a:lstStyle/>
                    <a:p>
                      <a:pPr algn="l"/>
                      <a:r>
                        <a:rPr sz="1800" b="1" i="0">
                          <a:solidFill>
                            <a:srgbClr val="1E1E2E"/>
                          </a:solidFill>
                          <a:latin typeface="Arial"/>
                        </a:rPr>
                        <a:t>Build, one region</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45 to 90</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8 to 14 weeks</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$45k to $90k</a:t>
                      </a:r>
                    </a:p>
                  </a:txBody>
                  <a:tcPr marL="73152" marR="73152" marT="36576" marB="36576" anchor="ctr">
                    <a:solidFill>
                      <a:srgbClr val="F5F5F2"/>
                    </a:solidFill>
                  </a:tcPr>
                </a:tc>
              </a:tr>
              <a:tr h="365760">
                <a:tc>
                  <a:txBody>
                    <a:bodyPr wrap="square" anchor="ctr">
                      <a:noAutofit/>
                    </a:bodyPr>
                    <a:lstStyle/>
                    <a:p>
                      <a:pPr algn="l"/>
                      <a:r>
                        <a:rPr sz="1800" b="1" i="0">
                          <a:solidFill>
                            <a:srgbClr val="1E1E2E"/>
                          </a:solidFill>
                          <a:latin typeface="Arial"/>
                        </a:rPr>
                        <a:t>API Center and tools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15 to 30</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3 to 6 weeks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$15k to $30k</a:t>
                      </a:r>
                    </a:p>
                  </a:txBody>
                  <a:tcPr marL="73152" marR="73152" marT="36576" marB="36576" anchor="ctr">
                    <a:solidFill>
                      <a:srgbClr val="FFFFFF"/>
                    </a:solidFill>
                  </a:tcPr>
                </a:tc>
              </a:tr>
              <a:tr h="365760">
                <a:tc>
                  <a:txBody>
                    <a:bodyPr wrap="square" anchor="ctr">
                      <a:noAutofit/>
                    </a:bodyPr>
                    <a:lstStyle/>
                    <a:p>
                      <a:pPr algn="l"/>
                      <a:r>
                        <a:rPr sz="1800" b="1" i="0">
                          <a:solidFill>
                            <a:srgbClr val="1E1E2E"/>
                          </a:solidFill>
                          <a:latin typeface="Arial"/>
                        </a:rPr>
                        <a:t>Multi-region add-on</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20 to 40</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4 to 8 weeks</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$20k to $40k</a:t>
                      </a:r>
                    </a:p>
                  </a:txBody>
                  <a:tcPr marL="73152" marR="73152" marT="36576" marB="36576" anchor="ctr">
                    <a:solidFill>
                      <a:srgbClr val="F5F5F2"/>
                    </a:solidFill>
                  </a:tcPr>
                </a:tc>
              </a:tr>
              <a:tr h="365760">
                <a:tc>
                  <a:txBody>
                    <a:bodyPr wrap="square" anchor="ctr">
                      <a:noAutofit/>
                    </a:bodyPr>
                    <a:lstStyle/>
                    <a:p>
                      <a:pPr algn="l"/>
                      <a:r>
                        <a:rPr sz="1800" b="1" i="0">
                          <a:solidFill>
                            <a:srgbClr val="1E1E2E"/>
                          </a:solidFill>
                          <a:latin typeface="Arial"/>
                        </a:rPr>
                        <a:t>Chargeback add-on</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10 to 20</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3 to 4 weeks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$10k to $20k</a:t>
                      </a:r>
                    </a:p>
                  </a:txBody>
                  <a:tcPr marL="73152" marR="73152" marT="36576" marB="36576" anchor="ctr">
                    <a:solidFill>
                      <a:srgbClr val="FFFFFF"/>
                    </a:solidFill>
                  </a:tcPr>
                </a:tc>
              </a:tr>
            </a:tbl>
          </a:graphicData>
        </a:graphic>
      </p:graphicFrame>
      <p:sp>
        <p:nvSpPr>
          <p:cNvPr id="9" name="Rounded Rectangle 8"/>
          <p:cNvSpPr/>
          <p:nvPr/>
        </p:nvSpPr>
        <p:spPr>
          <a:xfrm>
            <a:off x="548640" y="3810000"/>
            <a:ext cx="11091672" cy="1630680"/>
          </a:xfrm>
          <a:prstGeom prst="roundRect">
            <a:avLst>
              <a:gd name="adj" fmla="val 448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800" b="1" i="0">
                <a:solidFill>
                  <a:srgbClr val="000048"/>
                </a:solidFill>
                <a:latin typeface="Arial"/>
              </a:rPr>
              <a:t>What moves an engagement to the high end: </a:t>
            </a:r>
            <a:r>
              <a:rPr sz="1800" b="0" i="0">
                <a:solidFill>
                  <a:srgbClr val="1E1E2E"/>
                </a:solidFill>
                <a:latin typeface="Arial"/>
              </a:rPr>
              <a:t>many consumers to move, complex private network, several regions, many tools or MCP servers.</a:t>
            </a:r>
          </a:p>
        </p:txBody>
      </p:sp>
      <p:sp>
        <p:nvSpPr>
          <p:cNvPr id="10" name="Rounded Rectangle 9"/>
          <p:cNvSpPr/>
          <p:nvPr/>
        </p:nvSpPr>
        <p:spPr>
          <a:xfrm>
            <a:off x="548640" y="5577840"/>
            <a:ext cx="11091672" cy="731520"/>
          </a:xfrm>
          <a:prstGeom prst="roundRect">
            <a:avLst>
              <a:gd name="adj" fmla="val 10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Note:  </a:t>
            </a:r>
            <a:r>
              <a:rPr sz="1600" b="0" i="0">
                <a:solidFill>
                  <a:srgbClr val="1E1E2E"/>
                </a:solidFill>
                <a:latin typeface="Arial"/>
              </a:rPr>
              <a:t>*Fee band = role days x illustrative $1,000 per day. Not a Cognizant rate or quote. Azure and licence spend are separate.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Most gateway failures are bypass failures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9 OF 10</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09</a:t>
            </a:r>
          </a:p>
        </p:txBody>
      </p:sp>
      <p:sp>
        <p:nvSpPr>
          <p:cNvPr id="7" name="Rounded Rectangle 6"/>
          <p:cNvSpPr/>
          <p:nvPr/>
        </p:nvSpPr>
        <p:spPr>
          <a:xfrm>
            <a:off x="548640" y="137160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Direct endpoints left open</a:t>
            </a:r>
          </a:p>
          <a:p>
            <a:pPr algn="l">
              <a:spcAft>
                <a:spcPts val="400"/>
              </a:spcAft>
            </a:pPr>
            <a:r>
              <a:rPr sz="1800" b="1" i="0">
                <a:solidFill>
                  <a:srgbClr val="8A4B08"/>
                </a:solidFill>
                <a:latin typeface="Arial"/>
              </a:rPr>
              <a:t>Effect: </a:t>
            </a:r>
            <a:r>
              <a:rPr sz="1800" b="0" i="0">
                <a:solidFill>
                  <a:srgbClr val="1E1E2E"/>
                </a:solidFill>
                <a:latin typeface="Arial"/>
              </a:rPr>
              <a:t>Controls bypassed</a:t>
            </a:r>
          </a:p>
          <a:p>
            <a:pPr algn="l">
              <a:spcAft>
                <a:spcPts val="400"/>
              </a:spcAft>
            </a:pPr>
            <a:r>
              <a:rPr sz="1800" b="1" i="0">
                <a:solidFill>
                  <a:srgbClr val="1D6B3A"/>
                </a:solidFill>
                <a:latin typeface="Arial"/>
              </a:rPr>
              <a:t>Handle: </a:t>
            </a:r>
            <a:r>
              <a:rPr sz="1800" b="0" i="0">
                <a:solidFill>
                  <a:srgbClr val="1E1E2E"/>
                </a:solidFill>
                <a:latin typeface="Arial"/>
              </a:rPr>
              <a:t>Private endpoints; local auth off; bypass tests</a:t>
            </a:r>
          </a:p>
          <a:p>
            <a:pPr algn="l"/>
            <a:r>
              <a:rPr sz="1800" b="1" i="0">
                <a:solidFill>
                  <a:srgbClr val="2F78C4"/>
                </a:solidFill>
                <a:latin typeface="Arial"/>
              </a:rPr>
              <a:t>Owner: </a:t>
            </a:r>
            <a:r>
              <a:rPr sz="1800" b="0" i="0">
                <a:solidFill>
                  <a:srgbClr val="1E1E2E"/>
                </a:solidFill>
                <a:latin typeface="Arial"/>
              </a:rPr>
              <a:t>CIS Infra with Security</a:t>
            </a:r>
          </a:p>
        </p:txBody>
      </p:sp>
      <p:sp>
        <p:nvSpPr>
          <p:cNvPr id="8" name="Rounded Rectangle 7"/>
          <p:cNvSpPr/>
          <p:nvPr/>
        </p:nvSpPr>
        <p:spPr>
          <a:xfrm>
            <a:off x="6172200" y="137160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Preview tier in production</a:t>
            </a:r>
          </a:p>
          <a:p>
            <a:pPr algn="l">
              <a:spcAft>
                <a:spcPts val="400"/>
              </a:spcAft>
            </a:pPr>
            <a:r>
              <a:rPr sz="1800" b="1" i="0">
                <a:solidFill>
                  <a:srgbClr val="8A4B08"/>
                </a:solidFill>
                <a:latin typeface="Arial"/>
              </a:rPr>
              <a:t>Effect: </a:t>
            </a:r>
            <a:r>
              <a:rPr sz="1800" b="0" i="0">
                <a:solidFill>
                  <a:srgbClr val="1E1E2E"/>
                </a:solidFill>
                <a:latin typeface="Arial"/>
              </a:rPr>
              <a:t>No SLA; limits change</a:t>
            </a:r>
          </a:p>
          <a:p>
            <a:pPr algn="l">
              <a:spcAft>
                <a:spcPts val="400"/>
              </a:spcAft>
            </a:pPr>
            <a:r>
              <a:rPr sz="1800" b="1" i="0">
                <a:solidFill>
                  <a:srgbClr val="1D6B3A"/>
                </a:solidFill>
                <a:latin typeface="Arial"/>
              </a:rPr>
              <a:t>Handle: </a:t>
            </a:r>
            <a:r>
              <a:rPr sz="1800" b="0" i="0">
                <a:solidFill>
                  <a:srgbClr val="1E1E2E"/>
                </a:solidFill>
                <a:latin typeface="Arial"/>
              </a:rPr>
              <a:t>GA tiers for production; preview only in pilot</a:t>
            </a:r>
          </a:p>
          <a:p>
            <a:pPr algn="l"/>
            <a:r>
              <a:rPr sz="1800" b="1" i="0">
                <a:solidFill>
                  <a:srgbClr val="2F78C4"/>
                </a:solidFill>
                <a:latin typeface="Arial"/>
              </a:rPr>
              <a:t>Owner: </a:t>
            </a:r>
            <a:r>
              <a:rPr sz="1800" b="0" i="0">
                <a:solidFill>
                  <a:srgbClr val="1E1E2E"/>
                </a:solidFill>
                <a:latin typeface="Arial"/>
              </a:rPr>
              <a:t>Architecture owner</a:t>
            </a:r>
          </a:p>
        </p:txBody>
      </p:sp>
      <p:sp>
        <p:nvSpPr>
          <p:cNvPr id="9" name="Rounded Rectangle 8"/>
          <p:cNvSpPr/>
          <p:nvPr/>
        </p:nvSpPr>
        <p:spPr>
          <a:xfrm>
            <a:off x="548640" y="361188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Unregistered tools reachable</a:t>
            </a:r>
          </a:p>
          <a:p>
            <a:pPr algn="l">
              <a:spcAft>
                <a:spcPts val="400"/>
              </a:spcAft>
            </a:pPr>
            <a:r>
              <a:rPr sz="1800" b="1" i="0">
                <a:solidFill>
                  <a:srgbClr val="8A4B08"/>
                </a:solidFill>
                <a:latin typeface="Arial"/>
              </a:rPr>
              <a:t>Effect: </a:t>
            </a:r>
            <a:r>
              <a:rPr sz="1800" b="0" i="0">
                <a:solidFill>
                  <a:srgbClr val="1E1E2E"/>
                </a:solidFill>
                <a:latin typeface="Arial"/>
              </a:rPr>
              <a:t>Agents call unapproved tools</a:t>
            </a:r>
          </a:p>
          <a:p>
            <a:pPr algn="l">
              <a:spcAft>
                <a:spcPts val="400"/>
              </a:spcAft>
            </a:pPr>
            <a:r>
              <a:rPr sz="1800" b="1" i="0">
                <a:solidFill>
                  <a:srgbClr val="1D6B3A"/>
                </a:solidFill>
                <a:latin typeface="Arial"/>
              </a:rPr>
              <a:t>Handle: </a:t>
            </a:r>
            <a:r>
              <a:rPr sz="1800" b="0" i="0">
                <a:solidFill>
                  <a:srgbClr val="1E1E2E"/>
                </a:solidFill>
                <a:latin typeface="Arial"/>
              </a:rPr>
              <a:t>API Center rule plus network rules</a:t>
            </a:r>
          </a:p>
          <a:p>
            <a:pPr algn="l"/>
            <a:r>
              <a:rPr sz="1800" b="1" i="0">
                <a:solidFill>
                  <a:srgbClr val="2F78C4"/>
                </a:solidFill>
                <a:latin typeface="Arial"/>
              </a:rPr>
              <a:t>Owner: </a:t>
            </a:r>
            <a:r>
              <a:rPr sz="1800" b="0" i="0">
                <a:solidFill>
                  <a:srgbClr val="1E1E2E"/>
                </a:solidFill>
                <a:latin typeface="Arial"/>
              </a:rPr>
              <a:t>Tool owners with Security</a:t>
            </a:r>
          </a:p>
        </p:txBody>
      </p:sp>
      <p:sp>
        <p:nvSpPr>
          <p:cNvPr id="10" name="Rounded Rectangle 9"/>
          <p:cNvSpPr/>
          <p:nvPr/>
        </p:nvSpPr>
        <p:spPr>
          <a:xfrm>
            <a:off x="6172200" y="361188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PAYG overflow unbudgeted</a:t>
            </a:r>
          </a:p>
          <a:p>
            <a:pPr algn="l">
              <a:spcAft>
                <a:spcPts val="400"/>
              </a:spcAft>
            </a:pPr>
            <a:r>
              <a:rPr sz="1800" b="1" i="0">
                <a:solidFill>
                  <a:srgbClr val="8A4B08"/>
                </a:solidFill>
                <a:latin typeface="Arial"/>
              </a:rPr>
              <a:t>Effect: </a:t>
            </a:r>
            <a:r>
              <a:rPr sz="1800" b="0" i="0">
                <a:solidFill>
                  <a:srgbClr val="1E1E2E"/>
                </a:solidFill>
                <a:latin typeface="Arial"/>
              </a:rPr>
              <a:t>Spend spikes</a:t>
            </a:r>
          </a:p>
          <a:p>
            <a:pPr algn="l">
              <a:spcAft>
                <a:spcPts val="400"/>
              </a:spcAft>
            </a:pPr>
            <a:r>
              <a:rPr sz="1800" b="1" i="0">
                <a:solidFill>
                  <a:srgbClr val="1D6B3A"/>
                </a:solidFill>
                <a:latin typeface="Arial"/>
              </a:rPr>
              <a:t>Handle: </a:t>
            </a:r>
            <a:r>
              <a:rPr sz="1800" b="0" i="0">
                <a:solidFill>
                  <a:srgbClr val="1E1E2E"/>
                </a:solidFill>
                <a:latin typeface="Arial"/>
              </a:rPr>
              <a:t>Approved overflow, alerts, quota</a:t>
            </a:r>
          </a:p>
          <a:p>
            <a:pPr algn="l"/>
            <a:r>
              <a:rPr sz="1800" b="1" i="0">
                <a:solidFill>
                  <a:srgbClr val="2F78C4"/>
                </a:solidFill>
                <a:latin typeface="Arial"/>
              </a:rPr>
              <a:t>Owner: </a:t>
            </a:r>
            <a:r>
              <a:rPr sz="1800" b="0" i="0">
                <a:solidFill>
                  <a:srgbClr val="1E1E2E"/>
                </a:solidFill>
                <a:latin typeface="Arial"/>
              </a:rPr>
              <a:t>Budget owner</a:t>
            </a:r>
          </a:p>
        </p:txBody>
      </p:sp>
      <p:sp>
        <p:nvSpPr>
          <p:cNvPr id="11" name="TextBox 10"/>
          <p:cNvSpPr txBox="1"/>
          <p:nvPr/>
        </p:nvSpPr>
        <p:spPr>
          <a:xfrm>
            <a:off x="548640" y="5897880"/>
            <a:ext cx="11064240" cy="411480"/>
          </a:xfrm>
          <a:prstGeom prst="rect">
            <a:avLst/>
          </a:prstGeom>
          <a:noFill/>
        </p:spPr>
        <p:txBody>
          <a:bodyPr wrap="square" lIns="0" rIns="0" tIns="0" bIns="0" anchor="t">
            <a:noAutofit/>
          </a:bodyPr>
          <a:lstStyle/>
          <a:p>
            <a:pPr algn="l"/>
            <a:r>
              <a:rPr sz="1500" b="0" i="0">
                <a:solidFill>
                  <a:srgbClr val="53565A"/>
                </a:solidFill>
                <a:latin typeface="Arial"/>
              </a:rPr>
              <a:t>Security threat model and regulatory notes: appendix SEC1 and SEC2.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Measure coverage and bypass; choose GA tiers today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3025140" cy="256032"/>
          </a:xfrm>
          <a:prstGeom prst="rect">
            <a:avLst/>
          </a:prstGeom>
          <a:noFill/>
        </p:spPr>
        <p:txBody>
          <a:bodyPr wrap="square" lIns="0" rIns="0" tIns="0" bIns="0" anchor="t">
            <a:noAutofit/>
          </a:bodyPr>
          <a:lstStyle/>
          <a:p>
            <a:pPr algn="l"/>
            <a:r>
              <a:rPr sz="1100" b="1" i="0">
                <a:solidFill>
                  <a:srgbClr val="2F78C4"/>
                </a:solidFill>
                <a:latin typeface="Arial"/>
              </a:rPr>
              <a:t>EXECUTIVE SUMMARY  ·  10 OF 10</a:t>
            </a:r>
          </a:p>
        </p:txBody>
      </p:sp>
      <p:sp>
        <p:nvSpPr>
          <p:cNvPr id="5" name="Status chip: TARGETS AFTER PILOT"/>
          <p:cNvSpPr/>
          <p:nvPr/>
        </p:nvSpPr>
        <p:spPr>
          <a:xfrm>
            <a:off x="3756660" y="274320"/>
            <a:ext cx="19151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TARGETS AFTER PILOT</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10</a:t>
            </a:r>
          </a:p>
        </p:txBody>
      </p:sp>
      <p:sp>
        <p:nvSpPr>
          <p:cNvPr id="8" name="TextBox 7"/>
          <p:cNvSpPr txBox="1"/>
          <p:nvPr/>
        </p:nvSpPr>
        <p:spPr>
          <a:xfrm>
            <a:off x="548640" y="1325880"/>
            <a:ext cx="5852160" cy="365760"/>
          </a:xfrm>
          <a:prstGeom prst="rect">
            <a:avLst/>
          </a:prstGeom>
          <a:noFill/>
        </p:spPr>
        <p:txBody>
          <a:bodyPr wrap="square" lIns="0" rIns="0" tIns="0" bIns="0" anchor="t">
            <a:noAutofit/>
          </a:bodyPr>
          <a:lstStyle/>
          <a:p>
            <a:pPr algn="l"/>
            <a:r>
              <a:rPr sz="1900" b="1" i="0">
                <a:solidFill>
                  <a:srgbClr val="000048"/>
                </a:solidFill>
                <a:latin typeface="Arial"/>
              </a:rPr>
              <a:t>Success measures</a:t>
            </a:r>
          </a:p>
        </p:txBody>
      </p:sp>
      <p:sp>
        <p:nvSpPr>
          <p:cNvPr id="9" name="Rounded Rectangle 8"/>
          <p:cNvSpPr/>
          <p:nvPr/>
        </p:nvSpPr>
        <p:spPr>
          <a:xfrm>
            <a:off x="548640" y="178308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Coverage  </a:t>
            </a:r>
            <a:r>
              <a:rPr sz="1800" b="0" i="0">
                <a:solidFill>
                  <a:srgbClr val="1E1E2E"/>
                </a:solidFill>
                <a:latin typeface="Arial"/>
              </a:rPr>
              <a:t>share of AI calls routed through the gateway</a:t>
            </a:r>
          </a:p>
        </p:txBody>
      </p:sp>
      <p:sp>
        <p:nvSpPr>
          <p:cNvPr id="10" name="Rounded Rectangle 9"/>
          <p:cNvSpPr/>
          <p:nvPr/>
        </p:nvSpPr>
        <p:spPr>
          <a:xfrm>
            <a:off x="548640" y="256032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Bypass  </a:t>
            </a:r>
            <a:r>
              <a:rPr sz="1800" b="0" i="0">
                <a:solidFill>
                  <a:srgbClr val="1E1E2E"/>
                </a:solidFill>
                <a:latin typeface="Arial"/>
              </a:rPr>
              <a:t>direct-call tests denied</a:t>
            </a:r>
          </a:p>
        </p:txBody>
      </p:sp>
      <p:sp>
        <p:nvSpPr>
          <p:cNvPr id="11" name="Rounded Rectangle 10"/>
          <p:cNvSpPr/>
          <p:nvPr/>
        </p:nvSpPr>
        <p:spPr>
          <a:xfrm>
            <a:off x="548640" y="333756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Tools  </a:t>
            </a:r>
            <a:r>
              <a:rPr sz="1800" b="0" i="0">
                <a:solidFill>
                  <a:srgbClr val="1E1E2E"/>
                </a:solidFill>
                <a:latin typeface="Arial"/>
              </a:rPr>
              <a:t>reachable tools that are registered and approved</a:t>
            </a:r>
          </a:p>
        </p:txBody>
      </p:sp>
      <p:sp>
        <p:nvSpPr>
          <p:cNvPr id="12" name="Rounded Rectangle 11"/>
          <p:cNvSpPr/>
          <p:nvPr/>
        </p:nvSpPr>
        <p:spPr>
          <a:xfrm>
            <a:off x="548640" y="411480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Budget accuracy  </a:t>
            </a:r>
            <a:r>
              <a:rPr sz="1800" b="0" i="0">
                <a:solidFill>
                  <a:srgbClr val="1E1E2E"/>
                </a:solidFill>
                <a:latin typeface="Arial"/>
              </a:rPr>
              <a:t>measured overshoot under load</a:t>
            </a:r>
          </a:p>
        </p:txBody>
      </p:sp>
      <p:sp>
        <p:nvSpPr>
          <p:cNvPr id="13" name="Rounded Rectangle 12"/>
          <p:cNvSpPr/>
          <p:nvPr/>
        </p:nvSpPr>
        <p:spPr>
          <a:xfrm>
            <a:off x="548640" y="489204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Latency  </a:t>
            </a:r>
            <a:r>
              <a:rPr sz="1800" b="0" i="0">
                <a:solidFill>
                  <a:srgbClr val="1E1E2E"/>
                </a:solidFill>
                <a:latin typeface="Arial"/>
              </a:rPr>
              <a:t>added p95 delay, measured per test plan</a:t>
            </a:r>
          </a:p>
        </p:txBody>
      </p:sp>
      <p:sp>
        <p:nvSpPr>
          <p:cNvPr id="14" name="Rounded Rectangle 13"/>
          <p:cNvSpPr/>
          <p:nvPr/>
        </p:nvSpPr>
        <p:spPr>
          <a:xfrm>
            <a:off x="6675120" y="1325880"/>
            <a:ext cx="4965192" cy="530352"/>
          </a:xfrm>
          <a:prstGeom prst="roundRect">
            <a:avLst>
              <a:gd name="adj" fmla="val 1379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Decide today</a:t>
            </a:r>
          </a:p>
        </p:txBody>
      </p:sp>
      <p:sp>
        <p:nvSpPr>
          <p:cNvPr id="15" name="TextBox 14"/>
          <p:cNvSpPr txBox="1"/>
          <p:nvPr/>
        </p:nvSpPr>
        <p:spPr>
          <a:xfrm>
            <a:off x="6675120" y="1920240"/>
            <a:ext cx="4965192" cy="1645920"/>
          </a:xfrm>
          <a:prstGeom prst="rect">
            <a:avLst/>
          </a:prstGeom>
          <a:noFill/>
        </p:spPr>
        <p:txBody>
          <a:bodyPr wrap="square" lIns="0" rIns="0" tIns="0" bIns="0" anchor="t">
            <a:noAutofit/>
          </a:bodyPr>
          <a:lstStyle/>
          <a:p>
            <a:pPr algn="l" marL="201168" indent="-201168">
              <a:spcAft>
                <a:spcPts val="400"/>
              </a:spcAft>
              <a:buFont typeface="Arial"/>
              <a:buChar char="•"/>
            </a:pPr>
            <a:r>
              <a:rPr sz="1900" b="0" i="0">
                <a:solidFill>
                  <a:srgbClr val="1E1E2E"/>
                </a:solidFill>
                <a:latin typeface="Arial"/>
              </a:rPr>
              <a:t>GA tier for production</a:t>
            </a:r>
          </a:p>
          <a:p>
            <a:pPr algn="l" marL="201168" indent="-201168">
              <a:spcAft>
                <a:spcPts val="400"/>
              </a:spcAft>
              <a:buFont typeface="Arial"/>
              <a:buChar char="•"/>
            </a:pPr>
            <a:r>
              <a:rPr sz="1900" b="0" i="0">
                <a:solidFill>
                  <a:srgbClr val="1E1E2E"/>
                </a:solidFill>
                <a:latin typeface="Arial"/>
              </a:rPr>
              <a:t>API Center as the tool allow-list</a:t>
            </a:r>
          </a:p>
          <a:p>
            <a:pPr algn="l" marL="201168" indent="-201168">
              <a:spcAft>
                <a:spcPts val="400"/>
              </a:spcAft>
              <a:buFont typeface="Arial"/>
              <a:buChar char="•"/>
            </a:pPr>
            <a:r>
              <a:rPr sz="1900" b="0" i="0">
                <a:solidFill>
                  <a:srgbClr val="1E1E2E"/>
                </a:solidFill>
                <a:latin typeface="Arial"/>
              </a:rPr>
              <a:t>Counter key from validated identity</a:t>
            </a:r>
          </a:p>
        </p:txBody>
      </p:sp>
      <p:sp>
        <p:nvSpPr>
          <p:cNvPr id="16" name="Rounded Rectangle 15"/>
          <p:cNvSpPr/>
          <p:nvPr/>
        </p:nvSpPr>
        <p:spPr>
          <a:xfrm>
            <a:off x="6675120" y="3520440"/>
            <a:ext cx="4965192" cy="530352"/>
          </a:xfrm>
          <a:prstGeom prst="roundRect">
            <a:avLst>
              <a:gd name="adj" fmla="val 13793"/>
            </a:avLst>
          </a:prstGeom>
          <a:solidFill>
            <a:srgbClr val="7373D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Decide after evidence or approval</a:t>
            </a:r>
          </a:p>
        </p:txBody>
      </p:sp>
      <p:sp>
        <p:nvSpPr>
          <p:cNvPr id="17" name="TextBox 16"/>
          <p:cNvSpPr txBox="1"/>
          <p:nvPr/>
        </p:nvSpPr>
        <p:spPr>
          <a:xfrm>
            <a:off x="6675120" y="4114800"/>
            <a:ext cx="4965192" cy="1371600"/>
          </a:xfrm>
          <a:prstGeom prst="rect">
            <a:avLst/>
          </a:prstGeom>
          <a:noFill/>
        </p:spPr>
        <p:txBody>
          <a:bodyPr wrap="square" lIns="0" rIns="0" tIns="0" bIns="0" anchor="t">
            <a:noAutofit/>
          </a:bodyPr>
          <a:lstStyle/>
          <a:p>
            <a:pPr algn="l" marL="201168" indent="-201168">
              <a:spcAft>
                <a:spcPts val="400"/>
              </a:spcAft>
              <a:buFont typeface="Arial"/>
              <a:buChar char="•"/>
            </a:pPr>
            <a:r>
              <a:rPr sz="1900" b="0" i="0">
                <a:solidFill>
                  <a:srgbClr val="1E1E2E"/>
                </a:solidFill>
                <a:latin typeface="Arial"/>
              </a:rPr>
              <a:t>Region and tier (capacity check)</a:t>
            </a:r>
          </a:p>
          <a:p>
            <a:pPr algn="l" marL="201168" indent="-201168">
              <a:spcAft>
                <a:spcPts val="400"/>
              </a:spcAft>
              <a:buFont typeface="Arial"/>
              <a:buChar char="•"/>
            </a:pPr>
            <a:r>
              <a:rPr sz="1900" b="0" i="0">
                <a:solidFill>
                  <a:srgbClr val="1E1E2E"/>
                </a:solidFill>
                <a:latin typeface="Arial"/>
              </a:rPr>
              <a:t>Overflow budget (budget owner)</a:t>
            </a:r>
          </a:p>
          <a:p>
            <a:pPr algn="l" marL="201168" indent="-201168">
              <a:spcAft>
                <a:spcPts val="400"/>
              </a:spcAft>
              <a:buFont typeface="Arial"/>
              <a:buChar char="•"/>
            </a:pPr>
            <a:r>
              <a:rPr sz="1900" b="0" i="0">
                <a:solidFill>
                  <a:srgbClr val="1E1E2E"/>
                </a:solidFill>
                <a:latin typeface="Arial"/>
              </a:rPr>
              <a:t>Sell rates (Finance)</a:t>
            </a:r>
          </a:p>
        </p:txBody>
      </p:sp>
      <p:sp>
        <p:nvSpPr>
          <p:cNvPr id="18" name="Rounded Rectangle 17"/>
          <p:cNvSpPr/>
          <p:nvPr/>
        </p:nvSpPr>
        <p:spPr>
          <a:xfrm>
            <a:off x="6675120" y="5532120"/>
            <a:ext cx="4965192" cy="777240"/>
          </a:xfrm>
          <a:prstGeom prst="roundRect">
            <a:avLst>
              <a:gd name="adj" fmla="val 941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90-day ask: </a:t>
            </a:r>
            <a:r>
              <a:rPr sz="1400" b="0" i="0">
                <a:solidFill>
                  <a:srgbClr val="1E1E2E"/>
                </a:solidFill>
                <a:latin typeface="Arial"/>
              </a:rPr>
              <a:t>budget and sponsor are inputs (deck 00 slide 10). Stop at day 45 if no qualified account.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1828800" cy="327435"/>
          </a:xfrm>
          <a:prstGeom prst="rect">
            <a:avLst/>
          </a:prstGeom>
        </p:spPr>
      </p:pic>
      <p:sp>
        <p:nvSpPr>
          <p:cNvPr id="4" name="TextBox 3"/>
          <p:cNvSpPr txBox="1"/>
          <p:nvPr/>
        </p:nvSpPr>
        <p:spPr>
          <a:xfrm>
            <a:off x="548640" y="2148840"/>
            <a:ext cx="10515600" cy="365760"/>
          </a:xfrm>
          <a:prstGeom prst="rect">
            <a:avLst/>
          </a:prstGeom>
          <a:noFill/>
        </p:spPr>
        <p:txBody>
          <a:bodyPr wrap="square" lIns="0" rIns="0" tIns="0" bIns="0" anchor="t">
            <a:noAutofit/>
          </a:bodyPr>
          <a:lstStyle/>
          <a:p>
            <a:pPr algn="l"/>
            <a:r>
              <a:rPr sz="1400" b="1" i="0">
                <a:solidFill>
                  <a:srgbClr val="000048"/>
                </a:solidFill>
                <a:latin typeface="Arial"/>
              </a:rPr>
              <a:t>APPENDIX</a:t>
            </a:r>
          </a:p>
        </p:txBody>
      </p:sp>
      <p:sp>
        <p:nvSpPr>
          <p:cNvPr id="5" name="Title"/>
          <p:cNvSpPr txBox="1"/>
          <p:nvPr/>
        </p:nvSpPr>
        <p:spPr>
          <a:xfrm>
            <a:off x="548640" y="2606040"/>
            <a:ext cx="10789920" cy="1005840"/>
          </a:xfrm>
          <a:prstGeom prst="rect">
            <a:avLst/>
          </a:prstGeom>
          <a:noFill/>
        </p:spPr>
        <p:txBody>
          <a:bodyPr wrap="square" lIns="0" rIns="0" tIns="0" bIns="0" anchor="t">
            <a:noAutofit/>
          </a:bodyPr>
          <a:lstStyle/>
          <a:p>
            <a:pPr algn="l"/>
            <a:r>
              <a:rPr sz="4000" b="1" i="0">
                <a:solidFill>
                  <a:srgbClr val="000048"/>
                </a:solidFill>
                <a:latin typeface="Arial"/>
              </a:rPr>
              <a:t>Technical and commercial appendix</a:t>
            </a:r>
          </a:p>
        </p:txBody>
      </p:sp>
      <p:sp>
        <p:nvSpPr>
          <p:cNvPr id="6" name="TextBox 5"/>
          <p:cNvSpPr txBox="1"/>
          <p:nvPr/>
        </p:nvSpPr>
        <p:spPr>
          <a:xfrm>
            <a:off x="548640" y="3749039"/>
            <a:ext cx="10058400" cy="1097280"/>
          </a:xfrm>
          <a:prstGeom prst="rect">
            <a:avLst/>
          </a:prstGeom>
          <a:noFill/>
        </p:spPr>
        <p:txBody>
          <a:bodyPr wrap="square" lIns="0" rIns="0" tIns="0" bIns="0" anchor="t">
            <a:noAutofit/>
          </a:bodyPr>
          <a:lstStyle/>
          <a:p>
            <a:pPr algn="l"/>
            <a:r>
              <a:rPr sz="2000" b="0" i="0">
                <a:solidFill>
                  <a:srgbClr val="000048"/>
                </a:solidFill>
                <a:latin typeface="Arial"/>
              </a:rPr>
              <a:t>Gateway choice, request flow, identity, token limits, routing, safety, tool registry, latency, caching, chargeback, resilience, SKU and regional detail, pricing, data handling, delivery bench, account play, RACI and sources.</a:t>
            </a:r>
          </a:p>
        </p:txBody>
      </p:sp>
      <p:sp>
        <p:nvSpPr>
          <p:cNvPr id="7" name="TextBox 6"/>
          <p:cNvSpPr txBox="1"/>
          <p:nvPr/>
        </p:nvSpPr>
        <p:spPr>
          <a:xfrm>
            <a:off x="10881360" y="6355080"/>
            <a:ext cx="731520" cy="274320"/>
          </a:xfrm>
          <a:prstGeom prst="rect">
            <a:avLst/>
          </a:prstGeom>
          <a:noFill/>
        </p:spPr>
        <p:txBody>
          <a:bodyPr wrap="square" lIns="0" rIns="0" tIns="0" bIns="0" anchor="t">
            <a:noAutofit/>
          </a:bodyPr>
          <a:lstStyle/>
          <a:p>
            <a:pPr algn="r"/>
            <a:r>
              <a:rPr sz="1200" b="0" i="0">
                <a:solidFill>
                  <a:srgbClr val="00004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Appendix index</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873759" cy="256032"/>
          </a:xfrm>
          <a:prstGeom prst="rect">
            <a:avLst/>
          </a:prstGeom>
          <a:noFill/>
        </p:spPr>
        <p:txBody>
          <a:bodyPr wrap="square" lIns="0" rIns="0" tIns="0" bIns="0" anchor="t">
            <a:noAutofit/>
          </a:bodyPr>
          <a:lstStyle/>
          <a:p>
            <a:pPr algn="l"/>
            <a:r>
              <a:rPr sz="1100" b="1" i="0">
                <a:solidFill>
                  <a:srgbClr val="2F78C4"/>
                </a:solidFill>
                <a:latin typeface="Arial"/>
              </a:rPr>
              <a:t>APPENDIX</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12</a:t>
            </a:r>
          </a:p>
        </p:txBody>
      </p:sp>
      <p:sp>
        <p:nvSpPr>
          <p:cNvPr id="7" name="TextBox 6">
            <a:hlinkClick action="ppaction://hlinksldjump" r:id="rId4"/>
          </p:cNvPr>
          <p:cNvSpPr txBox="1"/>
          <p:nvPr/>
        </p:nvSpPr>
        <p:spPr>
          <a:xfrm>
            <a:off x="548640" y="1417320"/>
            <a:ext cx="5486400" cy="237744"/>
          </a:xfrm>
          <a:prstGeom prst="rect">
            <a:avLst/>
          </a:prstGeom>
          <a:noFill/>
        </p:spPr>
        <p:txBody>
          <a:bodyPr wrap="square" lIns="0" rIns="0" tIns="0" bIns="0" anchor="t">
            <a:noAutofit/>
          </a:bodyPr>
          <a:lstStyle/>
          <a:p>
            <a:pPr algn="l"/>
            <a:r>
              <a:rPr sz="1200" b="1" i="0">
                <a:solidFill>
                  <a:srgbClr val="2F78C4"/>
                </a:solidFill>
                <a:latin typeface="Arial"/>
              </a:rPr>
              <a:t>13  </a:t>
            </a:r>
            <a:r>
              <a:rPr sz="1200" b="1" i="0">
                <a:solidFill>
                  <a:srgbClr val="000048"/>
                </a:solidFill>
                <a:latin typeface="Arial"/>
              </a:rPr>
              <a:t>A0  </a:t>
            </a:r>
            <a:r>
              <a:rPr sz="1200" b="0" i="0">
                <a:solidFill>
                  <a:srgbClr val="1E1E2E"/>
                </a:solidFill>
                <a:latin typeface="Arial"/>
              </a:rPr>
              <a:t>Gateway controls and limits</a:t>
            </a:r>
          </a:p>
        </p:txBody>
      </p:sp>
      <p:sp>
        <p:nvSpPr>
          <p:cNvPr id="8" name="TextBox 7">
            <a:hlinkClick action="ppaction://hlinksldjump" r:id="rId5"/>
          </p:cNvPr>
          <p:cNvSpPr txBox="1"/>
          <p:nvPr/>
        </p:nvSpPr>
        <p:spPr>
          <a:xfrm>
            <a:off x="548640" y="1655064"/>
            <a:ext cx="5486400" cy="237744"/>
          </a:xfrm>
          <a:prstGeom prst="rect">
            <a:avLst/>
          </a:prstGeom>
          <a:noFill/>
        </p:spPr>
        <p:txBody>
          <a:bodyPr wrap="square" lIns="0" rIns="0" tIns="0" bIns="0" anchor="t">
            <a:noAutofit/>
          </a:bodyPr>
          <a:lstStyle/>
          <a:p>
            <a:pPr algn="l"/>
            <a:r>
              <a:rPr sz="1200" b="1" i="0">
                <a:solidFill>
                  <a:srgbClr val="2F78C4"/>
                </a:solidFill>
                <a:latin typeface="Arial"/>
              </a:rPr>
              <a:t>14  </a:t>
            </a:r>
            <a:r>
              <a:rPr sz="1200" b="1" i="0">
                <a:solidFill>
                  <a:srgbClr val="000048"/>
                </a:solidFill>
                <a:latin typeface="Arial"/>
              </a:rPr>
              <a:t>A2  </a:t>
            </a:r>
            <a:r>
              <a:rPr sz="1200" b="0" i="0">
                <a:solidFill>
                  <a:srgbClr val="1E1E2E"/>
                </a:solidFill>
                <a:latin typeface="Arial"/>
              </a:rPr>
              <a:t>Model API and tool API governance</a:t>
            </a:r>
          </a:p>
        </p:txBody>
      </p:sp>
      <p:sp>
        <p:nvSpPr>
          <p:cNvPr id="9" name="TextBox 8">
            <a:hlinkClick action="ppaction://hlinksldjump" r:id="rId6"/>
          </p:cNvPr>
          <p:cNvSpPr txBox="1"/>
          <p:nvPr/>
        </p:nvSpPr>
        <p:spPr>
          <a:xfrm>
            <a:off x="548640" y="1892808"/>
            <a:ext cx="5486400" cy="237744"/>
          </a:xfrm>
          <a:prstGeom prst="rect">
            <a:avLst/>
          </a:prstGeom>
          <a:noFill/>
        </p:spPr>
        <p:txBody>
          <a:bodyPr wrap="square" lIns="0" rIns="0" tIns="0" bIns="0" anchor="t">
            <a:noAutofit/>
          </a:bodyPr>
          <a:lstStyle/>
          <a:p>
            <a:pPr algn="l"/>
            <a:r>
              <a:rPr sz="1200" b="1" i="0">
                <a:solidFill>
                  <a:srgbClr val="2F78C4"/>
                </a:solidFill>
                <a:latin typeface="Arial"/>
              </a:rPr>
              <a:t>15  </a:t>
            </a:r>
            <a:r>
              <a:rPr sz="1200" b="1" i="0">
                <a:solidFill>
                  <a:srgbClr val="000048"/>
                </a:solidFill>
                <a:latin typeface="Arial"/>
              </a:rPr>
              <a:t>A3  </a:t>
            </a:r>
            <a:r>
              <a:rPr sz="1200" b="0" i="0">
                <a:solidFill>
                  <a:srgbClr val="1E1E2E"/>
                </a:solidFill>
                <a:latin typeface="Arial"/>
              </a:rPr>
              <a:t>Identity pattern (rebuilt)</a:t>
            </a:r>
          </a:p>
        </p:txBody>
      </p:sp>
      <p:sp>
        <p:nvSpPr>
          <p:cNvPr id="10" name="TextBox 9">
            <a:hlinkClick action="ppaction://hlinksldjump" r:id="rId7"/>
          </p:cNvPr>
          <p:cNvSpPr txBox="1"/>
          <p:nvPr/>
        </p:nvSpPr>
        <p:spPr>
          <a:xfrm>
            <a:off x="548640" y="2130552"/>
            <a:ext cx="5486400" cy="237744"/>
          </a:xfrm>
          <a:prstGeom prst="rect">
            <a:avLst/>
          </a:prstGeom>
          <a:noFill/>
        </p:spPr>
        <p:txBody>
          <a:bodyPr wrap="square" lIns="0" rIns="0" tIns="0" bIns="0" anchor="t">
            <a:noAutofit/>
          </a:bodyPr>
          <a:lstStyle/>
          <a:p>
            <a:pPr algn="l"/>
            <a:r>
              <a:rPr sz="1200" b="1" i="0">
                <a:solidFill>
                  <a:srgbClr val="2F78C4"/>
                </a:solidFill>
                <a:latin typeface="Arial"/>
              </a:rPr>
              <a:t>16  </a:t>
            </a:r>
            <a:r>
              <a:rPr sz="1200" b="1" i="0">
                <a:solidFill>
                  <a:srgbClr val="000048"/>
                </a:solidFill>
                <a:latin typeface="Arial"/>
              </a:rPr>
              <a:t>A4  </a:t>
            </a:r>
            <a:r>
              <a:rPr sz="1200" b="0" i="0">
                <a:solidFill>
                  <a:srgbClr val="1E1E2E"/>
                </a:solidFill>
                <a:latin typeface="Arial"/>
              </a:rPr>
              <a:t>Token rate limits and quotas</a:t>
            </a:r>
          </a:p>
        </p:txBody>
      </p:sp>
      <p:sp>
        <p:nvSpPr>
          <p:cNvPr id="11" name="TextBox 10">
            <a:hlinkClick action="ppaction://hlinksldjump" r:id="rId8"/>
          </p:cNvPr>
          <p:cNvSpPr txBox="1"/>
          <p:nvPr/>
        </p:nvSpPr>
        <p:spPr>
          <a:xfrm>
            <a:off x="548640" y="2368296"/>
            <a:ext cx="5486400" cy="237744"/>
          </a:xfrm>
          <a:prstGeom prst="rect">
            <a:avLst/>
          </a:prstGeom>
          <a:noFill/>
        </p:spPr>
        <p:txBody>
          <a:bodyPr wrap="square" lIns="0" rIns="0" tIns="0" bIns="0" anchor="t">
            <a:noAutofit/>
          </a:bodyPr>
          <a:lstStyle/>
          <a:p>
            <a:pPr algn="l"/>
            <a:r>
              <a:rPr sz="1200" b="1" i="0">
                <a:solidFill>
                  <a:srgbClr val="2F78C4"/>
                </a:solidFill>
                <a:latin typeface="Arial"/>
              </a:rPr>
              <a:t>17  </a:t>
            </a:r>
            <a:r>
              <a:rPr sz="1200" b="1" i="0">
                <a:solidFill>
                  <a:srgbClr val="000048"/>
                </a:solidFill>
                <a:latin typeface="Arial"/>
              </a:rPr>
              <a:t>A5  </a:t>
            </a:r>
            <a:r>
              <a:rPr sz="1200" b="0" i="0">
                <a:solidFill>
                  <a:srgbClr val="1E1E2E"/>
                </a:solidFill>
                <a:latin typeface="Arial"/>
              </a:rPr>
              <a:t>Token-limit policy flow (rebuilt)</a:t>
            </a:r>
          </a:p>
        </p:txBody>
      </p:sp>
      <p:sp>
        <p:nvSpPr>
          <p:cNvPr id="12" name="TextBox 11">
            <a:hlinkClick action="ppaction://hlinksldjump" r:id="rId9"/>
          </p:cNvPr>
          <p:cNvSpPr txBox="1"/>
          <p:nvPr/>
        </p:nvSpPr>
        <p:spPr>
          <a:xfrm>
            <a:off x="548640" y="2606040"/>
            <a:ext cx="5486400" cy="237744"/>
          </a:xfrm>
          <a:prstGeom prst="rect">
            <a:avLst/>
          </a:prstGeom>
          <a:noFill/>
        </p:spPr>
        <p:txBody>
          <a:bodyPr wrap="square" lIns="0" rIns="0" tIns="0" bIns="0" anchor="t">
            <a:noAutofit/>
          </a:bodyPr>
          <a:lstStyle/>
          <a:p>
            <a:pPr algn="l"/>
            <a:r>
              <a:rPr sz="1200" b="1" i="0">
                <a:solidFill>
                  <a:srgbClr val="2F78C4"/>
                </a:solidFill>
                <a:latin typeface="Arial"/>
              </a:rPr>
              <a:t>18  </a:t>
            </a:r>
            <a:r>
              <a:rPr sz="1200" b="1" i="0">
                <a:solidFill>
                  <a:srgbClr val="000048"/>
                </a:solidFill>
                <a:latin typeface="Arial"/>
              </a:rPr>
              <a:t>A7  </a:t>
            </a:r>
            <a:r>
              <a:rPr sz="1200" b="0" i="0">
                <a:solidFill>
                  <a:srgbClr val="1E1E2E"/>
                </a:solidFill>
                <a:latin typeface="Arial"/>
              </a:rPr>
              <a:t>Request, concurrency and budget controls</a:t>
            </a:r>
          </a:p>
        </p:txBody>
      </p:sp>
      <p:sp>
        <p:nvSpPr>
          <p:cNvPr id="13" name="TextBox 12">
            <a:hlinkClick action="ppaction://hlinksldjump" r:id="rId10"/>
          </p:cNvPr>
          <p:cNvSpPr txBox="1"/>
          <p:nvPr/>
        </p:nvSpPr>
        <p:spPr>
          <a:xfrm>
            <a:off x="548640" y="2843784"/>
            <a:ext cx="5486400" cy="237744"/>
          </a:xfrm>
          <a:prstGeom prst="rect">
            <a:avLst/>
          </a:prstGeom>
          <a:noFill/>
        </p:spPr>
        <p:txBody>
          <a:bodyPr wrap="square" lIns="0" rIns="0" tIns="0" bIns="0" anchor="t">
            <a:noAutofit/>
          </a:bodyPr>
          <a:lstStyle/>
          <a:p>
            <a:pPr algn="l"/>
            <a:r>
              <a:rPr sz="1200" b="1" i="0">
                <a:solidFill>
                  <a:srgbClr val="2F78C4"/>
                </a:solidFill>
                <a:latin typeface="Arial"/>
              </a:rPr>
              <a:t>19  </a:t>
            </a:r>
            <a:r>
              <a:rPr sz="1200" b="1" i="0">
                <a:solidFill>
                  <a:srgbClr val="000048"/>
                </a:solidFill>
                <a:latin typeface="Arial"/>
              </a:rPr>
              <a:t>A8  </a:t>
            </a:r>
            <a:r>
              <a:rPr sz="1200" b="0" i="0">
                <a:solidFill>
                  <a:srgbClr val="1E1E2E"/>
                </a:solidFill>
                <a:latin typeface="Arial"/>
              </a:rPr>
              <a:t>Backend pools and routing (rebuilt)</a:t>
            </a:r>
          </a:p>
        </p:txBody>
      </p:sp>
      <p:sp>
        <p:nvSpPr>
          <p:cNvPr id="14" name="TextBox 13">
            <a:hlinkClick action="ppaction://hlinksldjump" r:id="rId11"/>
          </p:cNvPr>
          <p:cNvSpPr txBox="1"/>
          <p:nvPr/>
        </p:nvSpPr>
        <p:spPr>
          <a:xfrm>
            <a:off x="548640" y="3081528"/>
            <a:ext cx="5486400" cy="237744"/>
          </a:xfrm>
          <a:prstGeom prst="rect">
            <a:avLst/>
          </a:prstGeom>
          <a:noFill/>
        </p:spPr>
        <p:txBody>
          <a:bodyPr wrap="square" lIns="0" rIns="0" tIns="0" bIns="0" anchor="t">
            <a:noAutofit/>
          </a:bodyPr>
          <a:lstStyle/>
          <a:p>
            <a:pPr algn="l"/>
            <a:r>
              <a:rPr sz="1200" b="1" i="0">
                <a:solidFill>
                  <a:srgbClr val="2F78C4"/>
                </a:solidFill>
                <a:latin typeface="Arial"/>
              </a:rPr>
              <a:t>20  </a:t>
            </a:r>
            <a:r>
              <a:rPr sz="1200" b="1" i="0">
                <a:solidFill>
                  <a:srgbClr val="000048"/>
                </a:solidFill>
                <a:latin typeface="Arial"/>
              </a:rPr>
              <a:t>A9  </a:t>
            </a:r>
            <a:r>
              <a:rPr sz="1200" b="0" i="0">
                <a:solidFill>
                  <a:srgbClr val="1E1E2E"/>
                </a:solidFill>
                <a:latin typeface="Arial"/>
              </a:rPr>
              <a:t>Circuit breaker (rebuilt)</a:t>
            </a:r>
          </a:p>
        </p:txBody>
      </p:sp>
      <p:sp>
        <p:nvSpPr>
          <p:cNvPr id="15" name="TextBox 14">
            <a:hlinkClick action="ppaction://hlinksldjump" r:id="rId12"/>
          </p:cNvPr>
          <p:cNvSpPr txBox="1"/>
          <p:nvPr/>
        </p:nvSpPr>
        <p:spPr>
          <a:xfrm>
            <a:off x="548640" y="3319272"/>
            <a:ext cx="5486400" cy="237744"/>
          </a:xfrm>
          <a:prstGeom prst="rect">
            <a:avLst/>
          </a:prstGeom>
          <a:noFill/>
        </p:spPr>
        <p:txBody>
          <a:bodyPr wrap="square" lIns="0" rIns="0" tIns="0" bIns="0" anchor="t">
            <a:noAutofit/>
          </a:bodyPr>
          <a:lstStyle/>
          <a:p>
            <a:pPr algn="l"/>
            <a:r>
              <a:rPr sz="1200" b="1" i="0">
                <a:solidFill>
                  <a:srgbClr val="2F78C4"/>
                </a:solidFill>
                <a:latin typeface="Arial"/>
              </a:rPr>
              <a:t>21  </a:t>
            </a:r>
            <a:r>
              <a:rPr sz="1200" b="1" i="0">
                <a:solidFill>
                  <a:srgbClr val="000048"/>
                </a:solidFill>
                <a:latin typeface="Arial"/>
              </a:rPr>
              <a:t>A10  </a:t>
            </a:r>
            <a:r>
              <a:rPr sz="1200" b="0" i="0">
                <a:solidFill>
                  <a:srgbClr val="1E1E2E"/>
                </a:solidFill>
                <a:latin typeface="Arial"/>
              </a:rPr>
              <a:t>PTU primary, PAYG overflow options</a:t>
            </a:r>
          </a:p>
        </p:txBody>
      </p:sp>
      <p:sp>
        <p:nvSpPr>
          <p:cNvPr id="16" name="TextBox 15">
            <a:hlinkClick action="ppaction://hlinksldjump" r:id="rId13"/>
          </p:cNvPr>
          <p:cNvSpPr txBox="1"/>
          <p:nvPr/>
        </p:nvSpPr>
        <p:spPr>
          <a:xfrm>
            <a:off x="548640" y="3557015"/>
            <a:ext cx="5486400" cy="237744"/>
          </a:xfrm>
          <a:prstGeom prst="rect">
            <a:avLst/>
          </a:prstGeom>
          <a:noFill/>
        </p:spPr>
        <p:txBody>
          <a:bodyPr wrap="square" lIns="0" rIns="0" tIns="0" bIns="0" anchor="t">
            <a:noAutofit/>
          </a:bodyPr>
          <a:lstStyle/>
          <a:p>
            <a:pPr algn="l"/>
            <a:r>
              <a:rPr sz="1200" b="1" i="0">
                <a:solidFill>
                  <a:srgbClr val="2F78C4"/>
                </a:solidFill>
                <a:latin typeface="Arial"/>
              </a:rPr>
              <a:t>22  </a:t>
            </a:r>
            <a:r>
              <a:rPr sz="1200" b="1" i="0">
                <a:solidFill>
                  <a:srgbClr val="000048"/>
                </a:solidFill>
                <a:latin typeface="Arial"/>
              </a:rPr>
              <a:t>A11  </a:t>
            </a:r>
            <a:r>
              <a:rPr sz="1200" b="0" i="0">
                <a:solidFill>
                  <a:srgbClr val="1E1E2E"/>
                </a:solidFill>
                <a:latin typeface="Arial"/>
              </a:rPr>
              <a:t>Content safety (rebuilt)</a:t>
            </a:r>
          </a:p>
        </p:txBody>
      </p:sp>
      <p:sp>
        <p:nvSpPr>
          <p:cNvPr id="17" name="TextBox 16">
            <a:hlinkClick action="ppaction://hlinksldjump" r:id="rId14"/>
          </p:cNvPr>
          <p:cNvSpPr txBox="1"/>
          <p:nvPr/>
        </p:nvSpPr>
        <p:spPr>
          <a:xfrm>
            <a:off x="548640" y="3794760"/>
            <a:ext cx="5486400" cy="237744"/>
          </a:xfrm>
          <a:prstGeom prst="rect">
            <a:avLst/>
          </a:prstGeom>
          <a:noFill/>
        </p:spPr>
        <p:txBody>
          <a:bodyPr wrap="square" lIns="0" rIns="0" tIns="0" bIns="0" anchor="t">
            <a:noAutofit/>
          </a:bodyPr>
          <a:lstStyle/>
          <a:p>
            <a:pPr algn="l"/>
            <a:r>
              <a:rPr sz="1200" b="1" i="0">
                <a:solidFill>
                  <a:srgbClr val="2F78C4"/>
                </a:solidFill>
                <a:latin typeface="Arial"/>
              </a:rPr>
              <a:t>23  </a:t>
            </a:r>
            <a:r>
              <a:rPr sz="1200" b="1" i="0">
                <a:solidFill>
                  <a:srgbClr val="000048"/>
                </a:solidFill>
                <a:latin typeface="Arial"/>
              </a:rPr>
              <a:t>A12  </a:t>
            </a:r>
            <a:r>
              <a:rPr sz="1200" b="0" i="0">
                <a:solidFill>
                  <a:srgbClr val="1E1E2E"/>
                </a:solidFill>
                <a:latin typeface="Arial"/>
              </a:rPr>
              <a:t>Tool authorisation and approval</a:t>
            </a:r>
          </a:p>
        </p:txBody>
      </p:sp>
      <p:sp>
        <p:nvSpPr>
          <p:cNvPr id="18" name="TextBox 17">
            <a:hlinkClick action="ppaction://hlinksldjump" r:id="rId15"/>
          </p:cNvPr>
          <p:cNvSpPr txBox="1"/>
          <p:nvPr/>
        </p:nvSpPr>
        <p:spPr>
          <a:xfrm>
            <a:off x="548640" y="4032504"/>
            <a:ext cx="5486400" cy="237744"/>
          </a:xfrm>
          <a:prstGeom prst="rect">
            <a:avLst/>
          </a:prstGeom>
          <a:noFill/>
        </p:spPr>
        <p:txBody>
          <a:bodyPr wrap="square" lIns="0" rIns="0" tIns="0" bIns="0" anchor="t">
            <a:noAutofit/>
          </a:bodyPr>
          <a:lstStyle/>
          <a:p>
            <a:pPr algn="l"/>
            <a:r>
              <a:rPr sz="1200" b="1" i="0">
                <a:solidFill>
                  <a:srgbClr val="2F78C4"/>
                </a:solidFill>
                <a:latin typeface="Arial"/>
              </a:rPr>
              <a:t>24  </a:t>
            </a:r>
            <a:r>
              <a:rPr sz="1200" b="1" i="0">
                <a:solidFill>
                  <a:srgbClr val="000048"/>
                </a:solidFill>
                <a:latin typeface="Arial"/>
              </a:rPr>
              <a:t>A13  </a:t>
            </a:r>
            <a:r>
              <a:rPr sz="1200" b="0" i="0">
                <a:solidFill>
                  <a:srgbClr val="1E1E2E"/>
                </a:solidFill>
                <a:latin typeface="Arial"/>
              </a:rPr>
              <a:t>Token metrics and cost allocation (rebuilt)</a:t>
            </a:r>
          </a:p>
        </p:txBody>
      </p:sp>
      <p:sp>
        <p:nvSpPr>
          <p:cNvPr id="19" name="TextBox 18">
            <a:hlinkClick action="ppaction://hlinksldjump" r:id="rId16"/>
          </p:cNvPr>
          <p:cNvSpPr txBox="1"/>
          <p:nvPr/>
        </p:nvSpPr>
        <p:spPr>
          <a:xfrm>
            <a:off x="548640" y="4270248"/>
            <a:ext cx="5486400" cy="237744"/>
          </a:xfrm>
          <a:prstGeom prst="rect">
            <a:avLst/>
          </a:prstGeom>
          <a:noFill/>
        </p:spPr>
        <p:txBody>
          <a:bodyPr wrap="square" lIns="0" rIns="0" tIns="0" bIns="0" anchor="t">
            <a:noAutofit/>
          </a:bodyPr>
          <a:lstStyle/>
          <a:p>
            <a:pPr algn="l"/>
            <a:r>
              <a:rPr sz="1200" b="1" i="0">
                <a:solidFill>
                  <a:srgbClr val="2F78C4"/>
                </a:solidFill>
                <a:latin typeface="Arial"/>
              </a:rPr>
              <a:t>25  </a:t>
            </a:r>
            <a:r>
              <a:rPr sz="1200" b="1" i="0">
                <a:solidFill>
                  <a:srgbClr val="000048"/>
                </a:solidFill>
                <a:latin typeface="Arial"/>
              </a:rPr>
              <a:t>A14  </a:t>
            </a:r>
            <a:r>
              <a:rPr sz="1200" b="0" i="0">
                <a:solidFill>
                  <a:srgbClr val="1E1E2E"/>
                </a:solidFill>
                <a:latin typeface="Arial"/>
              </a:rPr>
              <a:t>Private connectivity and regional resilience</a:t>
            </a:r>
          </a:p>
        </p:txBody>
      </p:sp>
      <p:sp>
        <p:nvSpPr>
          <p:cNvPr id="20" name="TextBox 19">
            <a:hlinkClick action="ppaction://hlinksldjump" r:id="rId17"/>
          </p:cNvPr>
          <p:cNvSpPr txBox="1"/>
          <p:nvPr/>
        </p:nvSpPr>
        <p:spPr>
          <a:xfrm>
            <a:off x="548640" y="4507992"/>
            <a:ext cx="5486400" cy="237744"/>
          </a:xfrm>
          <a:prstGeom prst="rect">
            <a:avLst/>
          </a:prstGeom>
          <a:noFill/>
        </p:spPr>
        <p:txBody>
          <a:bodyPr wrap="square" lIns="0" rIns="0" tIns="0" bIns="0" anchor="t">
            <a:noAutofit/>
          </a:bodyPr>
          <a:lstStyle/>
          <a:p>
            <a:pPr algn="l"/>
            <a:r>
              <a:rPr sz="1200" b="1" i="0">
                <a:solidFill>
                  <a:srgbClr val="2F78C4"/>
                </a:solidFill>
                <a:latin typeface="Arial"/>
              </a:rPr>
              <a:t>26  </a:t>
            </a:r>
            <a:r>
              <a:rPr sz="1200" b="1" i="0">
                <a:solidFill>
                  <a:srgbClr val="000048"/>
                </a:solidFill>
                <a:latin typeface="Arial"/>
              </a:rPr>
              <a:t>A15  </a:t>
            </a:r>
            <a:r>
              <a:rPr sz="1200" b="0" i="0">
                <a:solidFill>
                  <a:srgbClr val="1E1E2E"/>
                </a:solidFill>
                <a:latin typeface="Arial"/>
              </a:rPr>
              <a:t>Bypass prevention</a:t>
            </a:r>
          </a:p>
        </p:txBody>
      </p:sp>
      <p:sp>
        <p:nvSpPr>
          <p:cNvPr id="21" name="TextBox 20">
            <a:hlinkClick action="ppaction://hlinksldjump" r:id="rId18"/>
          </p:cNvPr>
          <p:cNvSpPr txBox="1"/>
          <p:nvPr/>
        </p:nvSpPr>
        <p:spPr>
          <a:xfrm>
            <a:off x="548640" y="4745736"/>
            <a:ext cx="5486400" cy="237744"/>
          </a:xfrm>
          <a:prstGeom prst="rect">
            <a:avLst/>
          </a:prstGeom>
          <a:noFill/>
        </p:spPr>
        <p:txBody>
          <a:bodyPr wrap="square" lIns="0" rIns="0" tIns="0" bIns="0" anchor="t">
            <a:noAutofit/>
          </a:bodyPr>
          <a:lstStyle/>
          <a:p>
            <a:pPr algn="l"/>
            <a:r>
              <a:rPr sz="1200" b="1" i="0">
                <a:solidFill>
                  <a:srgbClr val="2F78C4"/>
                </a:solidFill>
                <a:latin typeface="Arial"/>
              </a:rPr>
              <a:t>27  </a:t>
            </a:r>
            <a:r>
              <a:rPr sz="1200" b="1" i="0">
                <a:solidFill>
                  <a:srgbClr val="000048"/>
                </a:solidFill>
                <a:latin typeface="Arial"/>
              </a:rPr>
              <a:t>A17  </a:t>
            </a:r>
            <a:r>
              <a:rPr sz="1200" b="0" i="0">
                <a:solidFill>
                  <a:srgbClr val="1E1E2E"/>
                </a:solidFill>
                <a:latin typeface="Arial"/>
              </a:rPr>
              <a:t>Tier feature matrix</a:t>
            </a:r>
          </a:p>
        </p:txBody>
      </p:sp>
      <p:sp>
        <p:nvSpPr>
          <p:cNvPr id="22" name="TextBox 21">
            <a:hlinkClick action="ppaction://hlinksldjump" r:id="rId19"/>
          </p:cNvPr>
          <p:cNvSpPr txBox="1"/>
          <p:nvPr/>
        </p:nvSpPr>
        <p:spPr>
          <a:xfrm>
            <a:off x="548640" y="4983480"/>
            <a:ext cx="5486400" cy="237744"/>
          </a:xfrm>
          <a:prstGeom prst="rect">
            <a:avLst/>
          </a:prstGeom>
          <a:noFill/>
        </p:spPr>
        <p:txBody>
          <a:bodyPr wrap="square" lIns="0" rIns="0" tIns="0" bIns="0" anchor="t">
            <a:noAutofit/>
          </a:bodyPr>
          <a:lstStyle/>
          <a:p>
            <a:pPr algn="l"/>
            <a:r>
              <a:rPr sz="1200" b="1" i="0">
                <a:solidFill>
                  <a:srgbClr val="2F78C4"/>
                </a:solidFill>
                <a:latin typeface="Arial"/>
              </a:rPr>
              <a:t>28  </a:t>
            </a:r>
            <a:r>
              <a:rPr sz="1200" b="1" i="0">
                <a:solidFill>
                  <a:srgbClr val="000048"/>
                </a:solidFill>
                <a:latin typeface="Arial"/>
              </a:rPr>
              <a:t>A18  </a:t>
            </a:r>
            <a:r>
              <a:rPr sz="1200" b="0" i="0">
                <a:solidFill>
                  <a:srgbClr val="1E1E2E"/>
                </a:solidFill>
                <a:latin typeface="Arial"/>
              </a:rPr>
              <a:t>Regional availability snapshot</a:t>
            </a:r>
          </a:p>
        </p:txBody>
      </p:sp>
      <p:sp>
        <p:nvSpPr>
          <p:cNvPr id="23" name="TextBox 22">
            <a:hlinkClick action="ppaction://hlinksldjump" r:id="rId20"/>
          </p:cNvPr>
          <p:cNvSpPr txBox="1"/>
          <p:nvPr/>
        </p:nvSpPr>
        <p:spPr>
          <a:xfrm>
            <a:off x="548640" y="5221224"/>
            <a:ext cx="5486400" cy="237744"/>
          </a:xfrm>
          <a:prstGeom prst="rect">
            <a:avLst/>
          </a:prstGeom>
          <a:noFill/>
        </p:spPr>
        <p:txBody>
          <a:bodyPr wrap="square" lIns="0" rIns="0" tIns="0" bIns="0" anchor="t">
            <a:noAutofit/>
          </a:bodyPr>
          <a:lstStyle/>
          <a:p>
            <a:pPr algn="l"/>
            <a:r>
              <a:rPr sz="1200" b="1" i="0">
                <a:solidFill>
                  <a:srgbClr val="2F78C4"/>
                </a:solidFill>
                <a:latin typeface="Arial"/>
              </a:rPr>
              <a:t>29  </a:t>
            </a:r>
            <a:r>
              <a:rPr sz="1200" b="1" i="0">
                <a:solidFill>
                  <a:srgbClr val="000048"/>
                </a:solidFill>
                <a:latin typeface="Arial"/>
              </a:rPr>
              <a:t>A19  </a:t>
            </a:r>
            <a:r>
              <a:rPr sz="1200" b="0" i="0">
                <a:solidFill>
                  <a:srgbClr val="1E1E2E"/>
                </a:solidFill>
                <a:latin typeface="Arial"/>
              </a:rPr>
              <a:t>Verified API Management list prices</a:t>
            </a:r>
          </a:p>
        </p:txBody>
      </p:sp>
      <p:sp>
        <p:nvSpPr>
          <p:cNvPr id="24" name="TextBox 23">
            <a:hlinkClick action="ppaction://hlinksldjump" r:id="rId21"/>
          </p:cNvPr>
          <p:cNvSpPr txBox="1"/>
          <p:nvPr/>
        </p:nvSpPr>
        <p:spPr>
          <a:xfrm>
            <a:off x="548640" y="5458968"/>
            <a:ext cx="5486400" cy="237744"/>
          </a:xfrm>
          <a:prstGeom prst="rect">
            <a:avLst/>
          </a:prstGeom>
          <a:noFill/>
        </p:spPr>
        <p:txBody>
          <a:bodyPr wrap="square" lIns="0" rIns="0" tIns="0" bIns="0" anchor="t">
            <a:noAutofit/>
          </a:bodyPr>
          <a:lstStyle/>
          <a:p>
            <a:pPr algn="l"/>
            <a:r>
              <a:rPr sz="1200" b="1" i="0">
                <a:solidFill>
                  <a:srgbClr val="2F78C4"/>
                </a:solidFill>
                <a:latin typeface="Arial"/>
              </a:rPr>
              <a:t>30  </a:t>
            </a:r>
            <a:r>
              <a:rPr sz="1200" b="1" i="0">
                <a:solidFill>
                  <a:srgbClr val="000048"/>
                </a:solidFill>
                <a:latin typeface="Arial"/>
              </a:rPr>
              <a:t>A22  </a:t>
            </a:r>
            <a:r>
              <a:rPr sz="1200" b="0" i="0">
                <a:solidFill>
                  <a:srgbClr val="1E1E2E"/>
                </a:solidFill>
                <a:latin typeface="Arial"/>
              </a:rPr>
              <a:t>Acceptance gates</a:t>
            </a:r>
          </a:p>
        </p:txBody>
      </p:sp>
      <p:sp>
        <p:nvSpPr>
          <p:cNvPr id="25" name="TextBox 24">
            <a:hlinkClick action="ppaction://hlinksldjump" r:id="rId22"/>
          </p:cNvPr>
          <p:cNvSpPr txBox="1"/>
          <p:nvPr/>
        </p:nvSpPr>
        <p:spPr>
          <a:xfrm>
            <a:off x="548640" y="5696712"/>
            <a:ext cx="5486400" cy="237744"/>
          </a:xfrm>
          <a:prstGeom prst="rect">
            <a:avLst/>
          </a:prstGeom>
          <a:noFill/>
        </p:spPr>
        <p:txBody>
          <a:bodyPr wrap="square" lIns="0" rIns="0" tIns="0" bIns="0" anchor="t">
            <a:noAutofit/>
          </a:bodyPr>
          <a:lstStyle/>
          <a:p>
            <a:pPr algn="l"/>
            <a:r>
              <a:rPr sz="1200" b="1" i="0">
                <a:solidFill>
                  <a:srgbClr val="2F78C4"/>
                </a:solidFill>
                <a:latin typeface="Arial"/>
              </a:rPr>
              <a:t>31  </a:t>
            </a:r>
            <a:r>
              <a:rPr sz="1200" b="1" i="0">
                <a:solidFill>
                  <a:srgbClr val="000048"/>
                </a:solidFill>
                <a:latin typeface="Arial"/>
              </a:rPr>
              <a:t>K  </a:t>
            </a:r>
            <a:r>
              <a:rPr sz="1200" b="0" i="0">
                <a:solidFill>
                  <a:srgbClr val="1E1E2E"/>
                </a:solidFill>
                <a:latin typeface="Arial"/>
              </a:rPr>
              <a:t>Kill-switch cross-reference</a:t>
            </a:r>
          </a:p>
        </p:txBody>
      </p:sp>
      <p:sp>
        <p:nvSpPr>
          <p:cNvPr id="26" name="TextBox 25">
            <a:hlinkClick action="ppaction://hlinksldjump" r:id="rId23"/>
          </p:cNvPr>
          <p:cNvSpPr txBox="1"/>
          <p:nvPr/>
        </p:nvSpPr>
        <p:spPr>
          <a:xfrm>
            <a:off x="548640" y="5934456"/>
            <a:ext cx="5486400" cy="237744"/>
          </a:xfrm>
          <a:prstGeom prst="rect">
            <a:avLst/>
          </a:prstGeom>
          <a:noFill/>
        </p:spPr>
        <p:txBody>
          <a:bodyPr wrap="square" lIns="0" rIns="0" tIns="0" bIns="0" anchor="t">
            <a:noAutofit/>
          </a:bodyPr>
          <a:lstStyle/>
          <a:p>
            <a:pPr algn="l"/>
            <a:r>
              <a:rPr sz="1200" b="1" i="0">
                <a:solidFill>
                  <a:srgbClr val="2F78C4"/>
                </a:solidFill>
                <a:latin typeface="Arial"/>
              </a:rPr>
              <a:t>32  </a:t>
            </a:r>
            <a:r>
              <a:rPr sz="1200" b="1" i="0">
                <a:solidFill>
                  <a:srgbClr val="000048"/>
                </a:solidFill>
                <a:latin typeface="Arial"/>
              </a:rPr>
              <a:t>A23  </a:t>
            </a:r>
            <a:r>
              <a:rPr sz="1200" b="0" i="0">
                <a:solidFill>
                  <a:srgbClr val="1E1E2E"/>
                </a:solidFill>
                <a:latin typeface="Arial"/>
              </a:rPr>
              <a:t>Gateway choice guide</a:t>
            </a:r>
          </a:p>
        </p:txBody>
      </p:sp>
      <p:sp>
        <p:nvSpPr>
          <p:cNvPr id="27" name="TextBox 26">
            <a:hlinkClick action="ppaction://hlinksldjump" r:id="rId24"/>
          </p:cNvPr>
          <p:cNvSpPr txBox="1"/>
          <p:nvPr/>
        </p:nvSpPr>
        <p:spPr>
          <a:xfrm>
            <a:off x="6217920" y="1417320"/>
            <a:ext cx="5486400" cy="237744"/>
          </a:xfrm>
          <a:prstGeom prst="rect">
            <a:avLst/>
          </a:prstGeom>
          <a:noFill/>
        </p:spPr>
        <p:txBody>
          <a:bodyPr wrap="square" lIns="0" rIns="0" tIns="0" bIns="0" anchor="t">
            <a:noAutofit/>
          </a:bodyPr>
          <a:lstStyle/>
          <a:p>
            <a:pPr algn="l"/>
            <a:r>
              <a:rPr sz="1200" b="1" i="0">
                <a:solidFill>
                  <a:srgbClr val="2F78C4"/>
                </a:solidFill>
                <a:latin typeface="Arial"/>
              </a:rPr>
              <a:t>33  </a:t>
            </a:r>
            <a:r>
              <a:rPr sz="1200" b="1" i="0">
                <a:solidFill>
                  <a:srgbClr val="000048"/>
                </a:solidFill>
                <a:latin typeface="Arial"/>
              </a:rPr>
              <a:t>A24  </a:t>
            </a:r>
            <a:r>
              <a:rPr sz="1200" b="0" i="0">
                <a:solidFill>
                  <a:srgbClr val="1E1E2E"/>
                </a:solidFill>
                <a:latin typeface="Arial"/>
              </a:rPr>
              <a:t>Latency test method</a:t>
            </a:r>
          </a:p>
        </p:txBody>
      </p:sp>
      <p:sp>
        <p:nvSpPr>
          <p:cNvPr id="28" name="TextBox 27">
            <a:hlinkClick action="ppaction://hlinksldjump" r:id="rId25"/>
          </p:cNvPr>
          <p:cNvSpPr txBox="1"/>
          <p:nvPr/>
        </p:nvSpPr>
        <p:spPr>
          <a:xfrm>
            <a:off x="6217920" y="1655064"/>
            <a:ext cx="5486400" cy="237744"/>
          </a:xfrm>
          <a:prstGeom prst="rect">
            <a:avLst/>
          </a:prstGeom>
          <a:noFill/>
        </p:spPr>
        <p:txBody>
          <a:bodyPr wrap="square" lIns="0" rIns="0" tIns="0" bIns="0" anchor="t">
            <a:noAutofit/>
          </a:bodyPr>
          <a:lstStyle/>
          <a:p>
            <a:pPr algn="l"/>
            <a:r>
              <a:rPr sz="1200" b="1" i="0">
                <a:solidFill>
                  <a:srgbClr val="2F78C4"/>
                </a:solidFill>
                <a:latin typeface="Arial"/>
              </a:rPr>
              <a:t>34  </a:t>
            </a:r>
            <a:r>
              <a:rPr sz="1200" b="1" i="0">
                <a:solidFill>
                  <a:srgbClr val="000048"/>
                </a:solidFill>
                <a:latin typeface="Arial"/>
              </a:rPr>
              <a:t>A25  </a:t>
            </a:r>
            <a:r>
              <a:rPr sz="1200" b="0" i="0">
                <a:solidFill>
                  <a:srgbClr val="1E1E2E"/>
                </a:solidFill>
                <a:latin typeface="Arial"/>
              </a:rPr>
              <a:t>Semantic caching economics</a:t>
            </a:r>
          </a:p>
        </p:txBody>
      </p:sp>
      <p:sp>
        <p:nvSpPr>
          <p:cNvPr id="29" name="TextBox 28">
            <a:hlinkClick action="ppaction://hlinksldjump" r:id="rId26"/>
          </p:cNvPr>
          <p:cNvSpPr txBox="1"/>
          <p:nvPr/>
        </p:nvSpPr>
        <p:spPr>
          <a:xfrm>
            <a:off x="6217920" y="1892808"/>
            <a:ext cx="5486400" cy="237744"/>
          </a:xfrm>
          <a:prstGeom prst="rect">
            <a:avLst/>
          </a:prstGeom>
          <a:noFill/>
        </p:spPr>
        <p:txBody>
          <a:bodyPr wrap="square" lIns="0" rIns="0" tIns="0" bIns="0" anchor="t">
            <a:noAutofit/>
          </a:bodyPr>
          <a:lstStyle/>
          <a:p>
            <a:pPr algn="l"/>
            <a:r>
              <a:rPr sz="1200" b="1" i="0">
                <a:solidFill>
                  <a:srgbClr val="2F78C4"/>
                </a:solidFill>
                <a:latin typeface="Arial"/>
              </a:rPr>
              <a:t>35  </a:t>
            </a:r>
            <a:r>
              <a:rPr sz="1200" b="1" i="0">
                <a:solidFill>
                  <a:srgbClr val="000048"/>
                </a:solidFill>
                <a:latin typeface="Arial"/>
              </a:rPr>
              <a:t>A26  </a:t>
            </a:r>
            <a:r>
              <a:rPr sz="1200" b="0" i="0">
                <a:solidFill>
                  <a:srgbClr val="1E1E2E"/>
                </a:solidFill>
                <a:latin typeface="Arial"/>
              </a:rPr>
              <a:t>Chargeback and showback flow</a:t>
            </a:r>
          </a:p>
        </p:txBody>
      </p:sp>
      <p:sp>
        <p:nvSpPr>
          <p:cNvPr id="30" name="TextBox 29">
            <a:hlinkClick action="ppaction://hlinksldjump" r:id="rId27"/>
          </p:cNvPr>
          <p:cNvSpPr txBox="1"/>
          <p:nvPr/>
        </p:nvSpPr>
        <p:spPr>
          <a:xfrm>
            <a:off x="6217920" y="2130552"/>
            <a:ext cx="5486400" cy="237744"/>
          </a:xfrm>
          <a:prstGeom prst="rect">
            <a:avLst/>
          </a:prstGeom>
          <a:noFill/>
        </p:spPr>
        <p:txBody>
          <a:bodyPr wrap="square" lIns="0" rIns="0" tIns="0" bIns="0" anchor="t">
            <a:noAutofit/>
          </a:bodyPr>
          <a:lstStyle/>
          <a:p>
            <a:pPr algn="l"/>
            <a:r>
              <a:rPr sz="1200" b="1" i="0">
                <a:solidFill>
                  <a:srgbClr val="2F78C4"/>
                </a:solidFill>
                <a:latin typeface="Arial"/>
              </a:rPr>
              <a:t>36  </a:t>
            </a:r>
            <a:r>
              <a:rPr sz="1200" b="1" i="0">
                <a:solidFill>
                  <a:srgbClr val="000048"/>
                </a:solidFill>
                <a:latin typeface="Arial"/>
              </a:rPr>
              <a:t>A27  </a:t>
            </a:r>
            <a:r>
              <a:rPr sz="1200" b="0" i="0">
                <a:solidFill>
                  <a:srgbClr val="1E1E2E"/>
                </a:solidFill>
                <a:latin typeface="Arial"/>
              </a:rPr>
              <a:t>Copilot Studio connectors via APIM</a:t>
            </a:r>
          </a:p>
        </p:txBody>
      </p:sp>
      <p:sp>
        <p:nvSpPr>
          <p:cNvPr id="31" name="TextBox 30">
            <a:hlinkClick action="ppaction://hlinksldjump" r:id="rId28"/>
          </p:cNvPr>
          <p:cNvSpPr txBox="1"/>
          <p:nvPr/>
        </p:nvSpPr>
        <p:spPr>
          <a:xfrm>
            <a:off x="6217920" y="2368296"/>
            <a:ext cx="5486400" cy="237744"/>
          </a:xfrm>
          <a:prstGeom prst="rect">
            <a:avLst/>
          </a:prstGeom>
          <a:noFill/>
        </p:spPr>
        <p:txBody>
          <a:bodyPr wrap="square" lIns="0" rIns="0" tIns="0" bIns="0" anchor="t">
            <a:noAutofit/>
          </a:bodyPr>
          <a:lstStyle/>
          <a:p>
            <a:pPr algn="l"/>
            <a:r>
              <a:rPr sz="1200" b="1" i="0">
                <a:solidFill>
                  <a:srgbClr val="2F78C4"/>
                </a:solidFill>
                <a:latin typeface="Arial"/>
              </a:rPr>
              <a:t>37  </a:t>
            </a:r>
            <a:r>
              <a:rPr sz="1200" b="1" i="0">
                <a:solidFill>
                  <a:srgbClr val="000048"/>
                </a:solidFill>
                <a:latin typeface="Arial"/>
              </a:rPr>
              <a:t>FP1  </a:t>
            </a:r>
            <a:r>
              <a:rPr sz="1200" b="0" i="0">
                <a:solidFill>
                  <a:srgbClr val="1E1E2E"/>
                </a:solidFill>
                <a:latin typeface="Arial"/>
              </a:rPr>
              <a:t>Fixed-price risk controls</a:t>
            </a:r>
          </a:p>
        </p:txBody>
      </p:sp>
      <p:sp>
        <p:nvSpPr>
          <p:cNvPr id="32" name="TextBox 31">
            <a:hlinkClick action="ppaction://hlinksldjump" r:id="rId29"/>
          </p:cNvPr>
          <p:cNvSpPr txBox="1"/>
          <p:nvPr/>
        </p:nvSpPr>
        <p:spPr>
          <a:xfrm>
            <a:off x="6217920" y="2606040"/>
            <a:ext cx="5486400" cy="237744"/>
          </a:xfrm>
          <a:prstGeom prst="rect">
            <a:avLst/>
          </a:prstGeom>
          <a:noFill/>
        </p:spPr>
        <p:txBody>
          <a:bodyPr wrap="square" lIns="0" rIns="0" tIns="0" bIns="0" anchor="t">
            <a:noAutofit/>
          </a:bodyPr>
          <a:lstStyle/>
          <a:p>
            <a:pPr algn="l"/>
            <a:r>
              <a:rPr sz="1200" b="1" i="0">
                <a:solidFill>
                  <a:srgbClr val="2F78C4"/>
                </a:solidFill>
                <a:latin typeface="Arial"/>
              </a:rPr>
              <a:t>38  </a:t>
            </a:r>
            <a:r>
              <a:rPr sz="1200" b="1" i="0">
                <a:solidFill>
                  <a:srgbClr val="000048"/>
                </a:solidFill>
                <a:latin typeface="Arial"/>
              </a:rPr>
              <a:t>DH1  </a:t>
            </a:r>
            <a:r>
              <a:rPr sz="1200" b="0" i="0">
                <a:solidFill>
                  <a:srgbClr val="1E1E2E"/>
                </a:solidFill>
                <a:latin typeface="Arial"/>
              </a:rPr>
              <a:t>Prompt and telemetry data handling</a:t>
            </a:r>
          </a:p>
        </p:txBody>
      </p:sp>
      <p:sp>
        <p:nvSpPr>
          <p:cNvPr id="33" name="TextBox 32">
            <a:hlinkClick action="ppaction://hlinksldjump" r:id="rId30"/>
          </p:cNvPr>
          <p:cNvSpPr txBox="1"/>
          <p:nvPr/>
        </p:nvSpPr>
        <p:spPr>
          <a:xfrm>
            <a:off x="6217920" y="2843784"/>
            <a:ext cx="5486400" cy="237744"/>
          </a:xfrm>
          <a:prstGeom prst="rect">
            <a:avLst/>
          </a:prstGeom>
          <a:noFill/>
        </p:spPr>
        <p:txBody>
          <a:bodyPr wrap="square" lIns="0" rIns="0" tIns="0" bIns="0" anchor="t">
            <a:noAutofit/>
          </a:bodyPr>
          <a:lstStyle/>
          <a:p>
            <a:pPr algn="l"/>
            <a:r>
              <a:rPr sz="1200" b="1" i="0">
                <a:solidFill>
                  <a:srgbClr val="2F78C4"/>
                </a:solidFill>
                <a:latin typeface="Arial"/>
              </a:rPr>
              <a:t>39  </a:t>
            </a:r>
            <a:r>
              <a:rPr sz="1200" b="1" i="0">
                <a:solidFill>
                  <a:srgbClr val="000048"/>
                </a:solidFill>
                <a:latin typeface="Arial"/>
              </a:rPr>
              <a:t>Q1  </a:t>
            </a:r>
            <a:r>
              <a:rPr sz="1200" b="0" i="0">
                <a:solidFill>
                  <a:srgbClr val="1E1E2E"/>
                </a:solidFill>
                <a:latin typeface="Arial"/>
              </a:rPr>
              <a:t>Qualification scorecard and account shortlist</a:t>
            </a:r>
          </a:p>
        </p:txBody>
      </p:sp>
      <p:sp>
        <p:nvSpPr>
          <p:cNvPr id="34" name="TextBox 33">
            <a:hlinkClick action="ppaction://hlinksldjump" r:id="rId31"/>
          </p:cNvPr>
          <p:cNvSpPr txBox="1"/>
          <p:nvPr/>
        </p:nvSpPr>
        <p:spPr>
          <a:xfrm>
            <a:off x="6217920" y="3081528"/>
            <a:ext cx="5486400" cy="237744"/>
          </a:xfrm>
          <a:prstGeom prst="rect">
            <a:avLst/>
          </a:prstGeom>
          <a:noFill/>
        </p:spPr>
        <p:txBody>
          <a:bodyPr wrap="square" lIns="0" rIns="0" tIns="0" bIns="0" anchor="t">
            <a:noAutofit/>
          </a:bodyPr>
          <a:lstStyle/>
          <a:p>
            <a:pPr algn="l"/>
            <a:r>
              <a:rPr sz="1200" b="1" i="0">
                <a:solidFill>
                  <a:srgbClr val="2F78C4"/>
                </a:solidFill>
                <a:latin typeface="Arial"/>
              </a:rPr>
              <a:t>40  </a:t>
            </a:r>
            <a:r>
              <a:rPr sz="1200" b="1" i="0">
                <a:solidFill>
                  <a:srgbClr val="000048"/>
                </a:solidFill>
                <a:latin typeface="Arial"/>
              </a:rPr>
              <a:t>E1  </a:t>
            </a:r>
            <a:r>
              <a:rPr sz="1200" b="0" i="0">
                <a:solidFill>
                  <a:srgbClr val="1E1E2E"/>
                </a:solidFill>
                <a:latin typeface="Arial"/>
              </a:rPr>
              <a:t>Estimate assumptions</a:t>
            </a:r>
          </a:p>
        </p:txBody>
      </p:sp>
      <p:sp>
        <p:nvSpPr>
          <p:cNvPr id="35" name="TextBox 34">
            <a:hlinkClick action="ppaction://hlinksldjump" r:id="rId32"/>
          </p:cNvPr>
          <p:cNvSpPr txBox="1"/>
          <p:nvPr/>
        </p:nvSpPr>
        <p:spPr>
          <a:xfrm>
            <a:off x="6217920" y="3319272"/>
            <a:ext cx="5486400" cy="237744"/>
          </a:xfrm>
          <a:prstGeom prst="rect">
            <a:avLst/>
          </a:prstGeom>
          <a:noFill/>
        </p:spPr>
        <p:txBody>
          <a:bodyPr wrap="square" lIns="0" rIns="0" tIns="0" bIns="0" anchor="t">
            <a:noAutofit/>
          </a:bodyPr>
          <a:lstStyle/>
          <a:p>
            <a:pPr algn="l"/>
            <a:r>
              <a:rPr sz="1200" b="1" i="0">
                <a:solidFill>
                  <a:srgbClr val="2F78C4"/>
                </a:solidFill>
                <a:latin typeface="Arial"/>
              </a:rPr>
              <a:t>41  </a:t>
            </a:r>
            <a:r>
              <a:rPr sz="1200" b="1" i="0">
                <a:solidFill>
                  <a:srgbClr val="000048"/>
                </a:solidFill>
                <a:latin typeface="Arial"/>
              </a:rPr>
              <a:t>SEC1  </a:t>
            </a:r>
            <a:r>
              <a:rPr sz="1200" b="0" i="0">
                <a:solidFill>
                  <a:srgbClr val="1E1E2E"/>
                </a:solidFill>
                <a:latin typeface="Arial"/>
              </a:rPr>
              <a:t>AI threat model and controls</a:t>
            </a:r>
          </a:p>
        </p:txBody>
      </p:sp>
      <p:sp>
        <p:nvSpPr>
          <p:cNvPr id="36" name="TextBox 35">
            <a:hlinkClick action="ppaction://hlinksldjump" r:id="rId33"/>
          </p:cNvPr>
          <p:cNvSpPr txBox="1"/>
          <p:nvPr/>
        </p:nvSpPr>
        <p:spPr>
          <a:xfrm>
            <a:off x="6217920" y="3557015"/>
            <a:ext cx="5486400" cy="237744"/>
          </a:xfrm>
          <a:prstGeom prst="rect">
            <a:avLst/>
          </a:prstGeom>
          <a:noFill/>
        </p:spPr>
        <p:txBody>
          <a:bodyPr wrap="square" lIns="0" rIns="0" tIns="0" bIns="0" anchor="t">
            <a:noAutofit/>
          </a:bodyPr>
          <a:lstStyle/>
          <a:p>
            <a:pPr algn="l"/>
            <a:r>
              <a:rPr sz="1200" b="1" i="0">
                <a:solidFill>
                  <a:srgbClr val="2F78C4"/>
                </a:solidFill>
                <a:latin typeface="Arial"/>
              </a:rPr>
              <a:t>42  </a:t>
            </a:r>
            <a:r>
              <a:rPr sz="1200" b="1" i="0">
                <a:solidFill>
                  <a:srgbClr val="000048"/>
                </a:solidFill>
                <a:latin typeface="Arial"/>
              </a:rPr>
              <a:t>SEC2  </a:t>
            </a:r>
            <a:r>
              <a:rPr sz="1200" b="0" i="0">
                <a:solidFill>
                  <a:srgbClr val="1E1E2E"/>
                </a:solidFill>
                <a:latin typeface="Arial"/>
              </a:rPr>
              <a:t>Regulation and EU AI Act roles</a:t>
            </a:r>
          </a:p>
        </p:txBody>
      </p:sp>
      <p:sp>
        <p:nvSpPr>
          <p:cNvPr id="37" name="TextBox 36">
            <a:hlinkClick action="ppaction://hlinksldjump" r:id="rId34"/>
          </p:cNvPr>
          <p:cNvSpPr txBox="1"/>
          <p:nvPr/>
        </p:nvSpPr>
        <p:spPr>
          <a:xfrm>
            <a:off x="6217920" y="3794760"/>
            <a:ext cx="5486400" cy="237744"/>
          </a:xfrm>
          <a:prstGeom prst="rect">
            <a:avLst/>
          </a:prstGeom>
          <a:noFill/>
        </p:spPr>
        <p:txBody>
          <a:bodyPr wrap="square" lIns="0" rIns="0" tIns="0" bIns="0" anchor="t">
            <a:noAutofit/>
          </a:bodyPr>
          <a:lstStyle/>
          <a:p>
            <a:pPr algn="l"/>
            <a:r>
              <a:rPr sz="1200" b="1" i="0">
                <a:solidFill>
                  <a:srgbClr val="2F78C4"/>
                </a:solidFill>
                <a:latin typeface="Arial"/>
              </a:rPr>
              <a:t>43  </a:t>
            </a:r>
            <a:r>
              <a:rPr sz="1200" b="1" i="0">
                <a:solidFill>
                  <a:srgbClr val="000048"/>
                </a:solidFill>
                <a:latin typeface="Arial"/>
              </a:rPr>
              <a:t>G1  </a:t>
            </a:r>
            <a:r>
              <a:rPr sz="1200" b="0" i="0">
                <a:solidFill>
                  <a:srgbClr val="1E1E2E"/>
                </a:solidFill>
                <a:latin typeface="Arial"/>
              </a:rPr>
              <a:t>Glossary</a:t>
            </a:r>
          </a:p>
        </p:txBody>
      </p:sp>
      <p:sp>
        <p:nvSpPr>
          <p:cNvPr id="38" name="TextBox 37">
            <a:hlinkClick action="ppaction://hlinksldjump" r:id="rId35"/>
          </p:cNvPr>
          <p:cNvSpPr txBox="1"/>
          <p:nvPr/>
        </p:nvSpPr>
        <p:spPr>
          <a:xfrm>
            <a:off x="6217920" y="4032504"/>
            <a:ext cx="5486400" cy="237744"/>
          </a:xfrm>
          <a:prstGeom prst="rect">
            <a:avLst/>
          </a:prstGeom>
          <a:noFill/>
        </p:spPr>
        <p:txBody>
          <a:bodyPr wrap="square" lIns="0" rIns="0" tIns="0" bIns="0" anchor="t">
            <a:noAutofit/>
          </a:bodyPr>
          <a:lstStyle/>
          <a:p>
            <a:pPr algn="l"/>
            <a:r>
              <a:rPr sz="1200" b="1" i="0">
                <a:solidFill>
                  <a:srgbClr val="2F78C4"/>
                </a:solidFill>
                <a:latin typeface="Arial"/>
              </a:rPr>
              <a:t>44  </a:t>
            </a:r>
            <a:r>
              <a:rPr sz="1200" b="1" i="0">
                <a:solidFill>
                  <a:srgbClr val="000048"/>
                </a:solidFill>
                <a:latin typeface="Arial"/>
              </a:rPr>
              <a:t>DP1  </a:t>
            </a:r>
            <a:r>
              <a:rPr sz="1200" b="0" i="0">
                <a:solidFill>
                  <a:srgbClr val="1E1E2E"/>
                </a:solidFill>
                <a:latin typeface="Arial"/>
              </a:rPr>
              <a:t>Delivery bench and presales kit</a:t>
            </a:r>
          </a:p>
        </p:txBody>
      </p:sp>
      <p:sp>
        <p:nvSpPr>
          <p:cNvPr id="39" name="TextBox 38">
            <a:hlinkClick action="ppaction://hlinksldjump" r:id="rId36"/>
          </p:cNvPr>
          <p:cNvSpPr txBox="1"/>
          <p:nvPr/>
        </p:nvSpPr>
        <p:spPr>
          <a:xfrm>
            <a:off x="6217920" y="4270248"/>
            <a:ext cx="5486400" cy="237744"/>
          </a:xfrm>
          <a:prstGeom prst="rect">
            <a:avLst/>
          </a:prstGeom>
          <a:noFill/>
        </p:spPr>
        <p:txBody>
          <a:bodyPr wrap="square" lIns="0" rIns="0" tIns="0" bIns="0" anchor="t">
            <a:noAutofit/>
          </a:bodyPr>
          <a:lstStyle/>
          <a:p>
            <a:pPr algn="l"/>
            <a:r>
              <a:rPr sz="1200" b="1" i="0">
                <a:solidFill>
                  <a:srgbClr val="2F78C4"/>
                </a:solidFill>
                <a:latin typeface="Arial"/>
              </a:rPr>
              <a:t>45  </a:t>
            </a:r>
            <a:r>
              <a:rPr sz="1200" b="1" i="0">
                <a:solidFill>
                  <a:srgbClr val="000048"/>
                </a:solidFill>
                <a:latin typeface="Arial"/>
              </a:rPr>
              <a:t>AC1  </a:t>
            </a:r>
            <a:r>
              <a:rPr sz="1200" b="0" i="0">
                <a:solidFill>
                  <a:srgbClr val="1E1E2E"/>
                </a:solidFill>
                <a:latin typeface="Arial"/>
              </a:rPr>
              <a:t>Account play and contract risk</a:t>
            </a:r>
          </a:p>
        </p:txBody>
      </p:sp>
      <p:sp>
        <p:nvSpPr>
          <p:cNvPr id="40" name="TextBox 39">
            <a:hlinkClick action="ppaction://hlinksldjump" r:id="rId37"/>
          </p:cNvPr>
          <p:cNvSpPr txBox="1"/>
          <p:nvPr/>
        </p:nvSpPr>
        <p:spPr>
          <a:xfrm>
            <a:off x="6217920" y="4507992"/>
            <a:ext cx="5486400" cy="237744"/>
          </a:xfrm>
          <a:prstGeom prst="rect">
            <a:avLst/>
          </a:prstGeom>
          <a:noFill/>
        </p:spPr>
        <p:txBody>
          <a:bodyPr wrap="square" lIns="0" rIns="0" tIns="0" bIns="0" anchor="t">
            <a:noAutofit/>
          </a:bodyPr>
          <a:lstStyle/>
          <a:p>
            <a:pPr algn="l"/>
            <a:r>
              <a:rPr sz="1200" b="1" i="0">
                <a:solidFill>
                  <a:srgbClr val="2F78C4"/>
                </a:solidFill>
                <a:latin typeface="Arial"/>
              </a:rPr>
              <a:t>46  </a:t>
            </a:r>
            <a:r>
              <a:rPr sz="1200" b="1" i="0">
                <a:solidFill>
                  <a:srgbClr val="000048"/>
                </a:solidFill>
                <a:latin typeface="Arial"/>
              </a:rPr>
              <a:t>C1  </a:t>
            </a:r>
            <a:r>
              <a:rPr sz="1200" b="0" i="0">
                <a:solidFill>
                  <a:srgbClr val="1E1E2E"/>
                </a:solidFill>
                <a:latin typeface="Arial"/>
              </a:rPr>
              <a:t>Cost layers and pricing formula</a:t>
            </a:r>
          </a:p>
        </p:txBody>
      </p:sp>
      <p:sp>
        <p:nvSpPr>
          <p:cNvPr id="41" name="TextBox 40">
            <a:hlinkClick action="ppaction://hlinksldjump" r:id="rId38"/>
          </p:cNvPr>
          <p:cNvSpPr txBox="1"/>
          <p:nvPr/>
        </p:nvSpPr>
        <p:spPr>
          <a:xfrm>
            <a:off x="6217920" y="4745736"/>
            <a:ext cx="5486400" cy="237744"/>
          </a:xfrm>
          <a:prstGeom prst="rect">
            <a:avLst/>
          </a:prstGeom>
          <a:noFill/>
        </p:spPr>
        <p:txBody>
          <a:bodyPr wrap="square" lIns="0" rIns="0" tIns="0" bIns="0" anchor="t">
            <a:noAutofit/>
          </a:bodyPr>
          <a:lstStyle/>
          <a:p>
            <a:pPr algn="l"/>
            <a:r>
              <a:rPr sz="1200" b="1" i="0">
                <a:solidFill>
                  <a:srgbClr val="2F78C4"/>
                </a:solidFill>
                <a:latin typeface="Arial"/>
              </a:rPr>
              <a:t>47  </a:t>
            </a:r>
            <a:r>
              <a:rPr sz="1200" b="1" i="0">
                <a:solidFill>
                  <a:srgbClr val="000048"/>
                </a:solidFill>
                <a:latin typeface="Arial"/>
              </a:rPr>
              <a:t>R1  </a:t>
            </a:r>
            <a:r>
              <a:rPr sz="1200" b="0" i="0">
                <a:solidFill>
                  <a:srgbClr val="1E1E2E"/>
                </a:solidFill>
                <a:latin typeface="Arial"/>
              </a:rPr>
              <a:t>RACI matrix</a:t>
            </a:r>
          </a:p>
        </p:txBody>
      </p:sp>
      <p:sp>
        <p:nvSpPr>
          <p:cNvPr id="42" name="TextBox 41">
            <a:hlinkClick action="ppaction://hlinksldjump" r:id="rId39"/>
          </p:cNvPr>
          <p:cNvSpPr txBox="1"/>
          <p:nvPr/>
        </p:nvSpPr>
        <p:spPr>
          <a:xfrm>
            <a:off x="6217920" y="4983480"/>
            <a:ext cx="5486400" cy="237744"/>
          </a:xfrm>
          <a:prstGeom prst="rect">
            <a:avLst/>
          </a:prstGeom>
          <a:noFill/>
        </p:spPr>
        <p:txBody>
          <a:bodyPr wrap="square" lIns="0" rIns="0" tIns="0" bIns="0" anchor="t">
            <a:noAutofit/>
          </a:bodyPr>
          <a:lstStyle/>
          <a:p>
            <a:pPr algn="l"/>
            <a:r>
              <a:rPr sz="1200" b="1" i="0">
                <a:solidFill>
                  <a:srgbClr val="2F78C4"/>
                </a:solidFill>
                <a:latin typeface="Arial"/>
              </a:rPr>
              <a:t>48  </a:t>
            </a:r>
            <a:r>
              <a:rPr sz="1200" b="1" i="0">
                <a:solidFill>
                  <a:srgbClr val="000048"/>
                </a:solidFill>
                <a:latin typeface="Arial"/>
              </a:rPr>
              <a:t>R3  </a:t>
            </a:r>
            <a:r>
              <a:rPr sz="1200" b="0" i="0">
                <a:solidFill>
                  <a:srgbClr val="1E1E2E"/>
                </a:solidFill>
                <a:latin typeface="Arial"/>
              </a:rPr>
              <a:t>Delivery and commercial readiness</a:t>
            </a:r>
          </a:p>
        </p:txBody>
      </p:sp>
      <p:sp>
        <p:nvSpPr>
          <p:cNvPr id="43" name="TextBox 42">
            <a:hlinkClick action="ppaction://hlinksldjump" r:id="rId40"/>
          </p:cNvPr>
          <p:cNvSpPr txBox="1"/>
          <p:nvPr/>
        </p:nvSpPr>
        <p:spPr>
          <a:xfrm>
            <a:off x="6217920" y="5221224"/>
            <a:ext cx="5486400" cy="237744"/>
          </a:xfrm>
          <a:prstGeom prst="rect">
            <a:avLst/>
          </a:prstGeom>
          <a:noFill/>
        </p:spPr>
        <p:txBody>
          <a:bodyPr wrap="square" lIns="0" rIns="0" tIns="0" bIns="0" anchor="t">
            <a:noAutofit/>
          </a:bodyPr>
          <a:lstStyle/>
          <a:p>
            <a:pPr algn="l"/>
            <a:r>
              <a:rPr sz="1200" b="1" i="0">
                <a:solidFill>
                  <a:srgbClr val="2F78C4"/>
                </a:solidFill>
                <a:latin typeface="Arial"/>
              </a:rPr>
              <a:t>49  </a:t>
            </a:r>
            <a:r>
              <a:rPr sz="1200" b="1" i="0">
                <a:solidFill>
                  <a:srgbClr val="000048"/>
                </a:solidFill>
                <a:latin typeface="Arial"/>
              </a:rPr>
              <a:t>D1  </a:t>
            </a:r>
            <a:r>
              <a:rPr sz="1200" b="0" i="0">
                <a:solidFill>
                  <a:srgbClr val="1E1E2E"/>
                </a:solidFill>
                <a:latin typeface="Arial"/>
              </a:rPr>
              <a:t>Decision and approval register</a:t>
            </a:r>
          </a:p>
        </p:txBody>
      </p:sp>
      <p:sp>
        <p:nvSpPr>
          <p:cNvPr id="44" name="TextBox 43">
            <a:hlinkClick action="ppaction://hlinksldjump" r:id="rId41"/>
          </p:cNvPr>
          <p:cNvSpPr txBox="1"/>
          <p:nvPr/>
        </p:nvSpPr>
        <p:spPr>
          <a:xfrm>
            <a:off x="6217920" y="5458968"/>
            <a:ext cx="5486400" cy="237744"/>
          </a:xfrm>
          <a:prstGeom prst="rect">
            <a:avLst/>
          </a:prstGeom>
          <a:noFill/>
        </p:spPr>
        <p:txBody>
          <a:bodyPr wrap="square" lIns="0" rIns="0" tIns="0" bIns="0" anchor="t">
            <a:noAutofit/>
          </a:bodyPr>
          <a:lstStyle/>
          <a:p>
            <a:pPr algn="l"/>
            <a:r>
              <a:rPr sz="1200" b="1" i="0">
                <a:solidFill>
                  <a:srgbClr val="2F78C4"/>
                </a:solidFill>
                <a:latin typeface="Arial"/>
              </a:rPr>
              <a:t>50  </a:t>
            </a:r>
            <a:r>
              <a:rPr sz="1200" b="1" i="0">
                <a:solidFill>
                  <a:srgbClr val="000048"/>
                </a:solidFill>
                <a:latin typeface="Arial"/>
              </a:rPr>
              <a:t>S1  </a:t>
            </a:r>
            <a:r>
              <a:rPr sz="1200" b="0" i="0">
                <a:solidFill>
                  <a:srgbClr val="1E1E2E"/>
                </a:solidFill>
                <a:latin typeface="Arial"/>
              </a:rPr>
              <a:t>Sources and verification dates</a:t>
            </a:r>
          </a:p>
        </p:txBody>
      </p:sp>
      <p:sp>
        <p:nvSpPr>
          <p:cNvPr id="45" name="TextBox 44">
            <a:hlinkClick action="ppaction://hlinksldjump" r:id="rId42"/>
          </p:cNvPr>
          <p:cNvSpPr txBox="1"/>
          <p:nvPr/>
        </p:nvSpPr>
        <p:spPr>
          <a:xfrm>
            <a:off x="6217920" y="5696712"/>
            <a:ext cx="5486400" cy="237744"/>
          </a:xfrm>
          <a:prstGeom prst="rect">
            <a:avLst/>
          </a:prstGeom>
          <a:noFill/>
        </p:spPr>
        <p:txBody>
          <a:bodyPr wrap="square" lIns="0" rIns="0" tIns="0" bIns="0" anchor="t">
            <a:noAutofit/>
          </a:bodyPr>
          <a:lstStyle/>
          <a:p>
            <a:pPr algn="l"/>
            <a:r>
              <a:rPr sz="1200" b="1" i="0">
                <a:solidFill>
                  <a:srgbClr val="2F78C4"/>
                </a:solidFill>
                <a:latin typeface="Arial"/>
              </a:rPr>
              <a:t>51  </a:t>
            </a:r>
            <a:r>
              <a:rPr sz="1200" b="1" i="0">
                <a:solidFill>
                  <a:srgbClr val="000048"/>
                </a:solidFill>
                <a:latin typeface="Arial"/>
              </a:rPr>
              <a:t>S1b  </a:t>
            </a:r>
            <a:r>
              <a:rPr sz="1200" b="0" i="0">
                <a:solidFill>
                  <a:srgbClr val="1E1E2E"/>
                </a:solidFill>
                <a:latin typeface="Arial"/>
              </a:rPr>
              <a:t>Sources and verification dates (continued)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What the gateway controls, and what it cannot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A0</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13</a:t>
            </a:r>
          </a:p>
        </p:txBody>
      </p:sp>
      <p:sp>
        <p:nvSpPr>
          <p:cNvPr id="9" name="Rounded Rectangle 8"/>
          <p:cNvSpPr/>
          <p:nvPr/>
        </p:nvSpPr>
        <p:spPr>
          <a:xfrm>
            <a:off x="548640" y="1371600"/>
            <a:ext cx="5394960" cy="548640"/>
          </a:xfrm>
          <a:prstGeom prst="roundRect">
            <a:avLst>
              <a:gd name="adj" fmla="val 1333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Controls for routed traffic</a:t>
            </a:r>
          </a:p>
        </p:txBody>
      </p:sp>
      <p:sp>
        <p:nvSpPr>
          <p:cNvPr id="10" name="TextBox 9"/>
          <p:cNvSpPr txBox="1"/>
          <p:nvPr/>
        </p:nvSpPr>
        <p:spPr>
          <a:xfrm>
            <a:off x="548640" y="2057400"/>
            <a:ext cx="5394960" cy="3566160"/>
          </a:xfrm>
          <a:prstGeom prst="rect">
            <a:avLst/>
          </a:prstGeom>
          <a:noFill/>
        </p:spPr>
        <p:txBody>
          <a:bodyPr wrap="square" lIns="0" rIns="0" tIns="0" bIns="0" anchor="t">
            <a:noAutofit/>
          </a:bodyPr>
          <a:lstStyle/>
          <a:p>
            <a:pPr algn="l" marL="201168" indent="-201168">
              <a:spcAft>
                <a:spcPts val="800"/>
              </a:spcAft>
              <a:buFont typeface="Arial"/>
              <a:buChar char="•"/>
            </a:pPr>
            <a:r>
              <a:rPr sz="1800" b="0" i="0">
                <a:solidFill>
                  <a:srgbClr val="1E1E2E"/>
                </a:solidFill>
                <a:latin typeface="Arial"/>
              </a:rPr>
              <a:t>Caller identity and managed identity to backends</a:t>
            </a:r>
          </a:p>
          <a:p>
            <a:pPr algn="l" marL="201168" indent="-201168">
              <a:spcAft>
                <a:spcPts val="800"/>
              </a:spcAft>
              <a:buFont typeface="Arial"/>
              <a:buChar char="•"/>
            </a:pPr>
            <a:r>
              <a:rPr sz="1800" b="0" i="0">
                <a:solidFill>
                  <a:srgbClr val="1E1E2E"/>
                </a:solidFill>
                <a:latin typeface="Arial"/>
              </a:rPr>
              <a:t>Token rate limits and quotas per caller</a:t>
            </a:r>
          </a:p>
          <a:p>
            <a:pPr algn="l" marL="201168" indent="-201168">
              <a:spcAft>
                <a:spcPts val="800"/>
              </a:spcAft>
              <a:buFont typeface="Arial"/>
              <a:buChar char="•"/>
            </a:pPr>
            <a:r>
              <a:rPr sz="1800" b="0" i="0">
                <a:solidFill>
                  <a:srgbClr val="1E1E2E"/>
                </a:solidFill>
                <a:latin typeface="Arial"/>
              </a:rPr>
              <a:t>Content safety and prompt-attack checks</a:t>
            </a:r>
          </a:p>
          <a:p>
            <a:pPr algn="l" marL="201168" indent="-201168">
              <a:spcAft>
                <a:spcPts val="800"/>
              </a:spcAft>
              <a:buFont typeface="Arial"/>
              <a:buChar char="•"/>
            </a:pPr>
            <a:r>
              <a:rPr sz="1800" b="0" i="0">
                <a:solidFill>
                  <a:srgbClr val="1E1E2E"/>
                </a:solidFill>
                <a:latin typeface="Arial"/>
              </a:rPr>
              <a:t>Priority routing, retries and circuit breakers</a:t>
            </a:r>
          </a:p>
          <a:p>
            <a:pPr algn="l" marL="201168" indent="-201168">
              <a:spcAft>
                <a:spcPts val="800"/>
              </a:spcAft>
              <a:buFont typeface="Arial"/>
              <a:buChar char="•"/>
            </a:pPr>
            <a:r>
              <a:rPr sz="1800" b="0" i="0">
                <a:solidFill>
                  <a:srgbClr val="1E1E2E"/>
                </a:solidFill>
                <a:latin typeface="Arial"/>
              </a:rPr>
              <a:t>Token metrics per caller, app or agent</a:t>
            </a:r>
          </a:p>
        </p:txBody>
      </p:sp>
      <p:sp>
        <p:nvSpPr>
          <p:cNvPr id="11" name="Rounded Rectangle 10"/>
          <p:cNvSpPr/>
          <p:nvPr/>
        </p:nvSpPr>
        <p:spPr>
          <a:xfrm>
            <a:off x="6245352" y="1371600"/>
            <a:ext cx="5394960" cy="548640"/>
          </a:xfrm>
          <a:prstGeom prst="roundRect">
            <a:avLst>
              <a:gd name="adj" fmla="val 13333"/>
            </a:avLst>
          </a:prstGeom>
          <a:solidFill>
            <a:srgbClr val="8A4B0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Limits leaders must accept</a:t>
            </a:r>
          </a:p>
        </p:txBody>
      </p:sp>
      <p:sp>
        <p:nvSpPr>
          <p:cNvPr id="12" name="TextBox 11"/>
          <p:cNvSpPr txBox="1"/>
          <p:nvPr/>
        </p:nvSpPr>
        <p:spPr>
          <a:xfrm>
            <a:off x="6245352" y="2057400"/>
            <a:ext cx="5394960" cy="3566160"/>
          </a:xfrm>
          <a:prstGeom prst="rect">
            <a:avLst/>
          </a:prstGeom>
          <a:noFill/>
        </p:spPr>
        <p:txBody>
          <a:bodyPr wrap="square" lIns="0" rIns="0" tIns="0" bIns="0" anchor="t">
            <a:noAutofit/>
          </a:bodyPr>
          <a:lstStyle/>
          <a:p>
            <a:pPr algn="l" marL="201168" indent="-201168">
              <a:spcAft>
                <a:spcPts val="800"/>
              </a:spcAft>
              <a:buFont typeface="Arial"/>
              <a:buChar char="•"/>
            </a:pPr>
            <a:r>
              <a:rPr sz="1800" b="0" i="0">
                <a:solidFill>
                  <a:srgbClr val="1E1E2E"/>
                </a:solidFill>
                <a:latin typeface="Arial"/>
              </a:rPr>
              <a:t>No control over calls that bypass it</a:t>
            </a:r>
          </a:p>
          <a:p>
            <a:pPr algn="l" marL="201168" indent="-201168">
              <a:spcAft>
                <a:spcPts val="800"/>
              </a:spcAft>
              <a:buFont typeface="Arial"/>
              <a:buChar char="•"/>
            </a:pPr>
            <a:r>
              <a:rPr sz="1800" b="0" i="0">
                <a:solidFill>
                  <a:srgbClr val="1E1E2E"/>
                </a:solidFill>
                <a:latin typeface="Arial"/>
              </a:rPr>
              <a:t>Counters are per gateway, not global</a:t>
            </a:r>
          </a:p>
          <a:p>
            <a:pPr algn="l" marL="201168" indent="-201168">
              <a:spcAft>
                <a:spcPts val="800"/>
              </a:spcAft>
              <a:buFont typeface="Arial"/>
              <a:buChar char="•"/>
            </a:pPr>
            <a:r>
              <a:rPr sz="1800" b="0" i="0">
                <a:solidFill>
                  <a:srgbClr val="1E1E2E"/>
                </a:solidFill>
                <a:latin typeface="Arial"/>
              </a:rPr>
              <a:t>Concurrent calls can overshoot a limit</a:t>
            </a:r>
          </a:p>
          <a:p>
            <a:pPr algn="l" marL="201168" indent="-201168">
              <a:spcAft>
                <a:spcPts val="800"/>
              </a:spcAft>
              <a:buFont typeface="Arial"/>
              <a:buChar char="•"/>
            </a:pPr>
            <a:r>
              <a:rPr sz="1800" b="0" i="0">
                <a:solidFill>
                  <a:srgbClr val="1E1E2E"/>
                </a:solidFill>
                <a:latin typeface="Arial"/>
              </a:rPr>
              <a:t>Streaming usage is estimated</a:t>
            </a:r>
          </a:p>
          <a:p>
            <a:pPr algn="l" marL="201168" indent="-201168">
              <a:spcAft>
                <a:spcPts val="800"/>
              </a:spcAft>
              <a:buFont typeface="Arial"/>
              <a:buChar char="•"/>
            </a:pPr>
            <a:r>
              <a:rPr sz="1800" b="0" i="0">
                <a:solidFill>
                  <a:srgbClr val="1E1E2E"/>
                </a:solidFill>
                <a:latin typeface="Arial"/>
              </a:rPr>
              <a:t>Token caps are not exact currency caps</a:t>
            </a:r>
          </a:p>
        </p:txBody>
      </p:sp>
      <p:sp>
        <p:nvSpPr>
          <p:cNvPr id="13" name="Rounded Rectangle 12"/>
          <p:cNvSpPr/>
          <p:nvPr/>
        </p:nvSpPr>
        <p:spPr>
          <a:xfrm>
            <a:off x="548640" y="5833872"/>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For a hard financial cap, add a budget service designed for bounded overshoot.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Model APIs and tool APIs need separate governance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A2</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graphicFrame>
        <p:nvGraphicFramePr>
          <p:cNvPr id="8" name="Table"/>
          <p:cNvGraphicFramePr>
            <a:graphicFrameLocks noGrp="1"/>
          </p:cNvGraphicFramePr>
          <p:nvPr/>
        </p:nvGraphicFramePr>
        <p:xfrm>
          <a:off x="548640" y="1371600"/>
          <a:ext cx="11091672" cy="2697480"/>
        </p:xfrm>
        <a:graphic>
          <a:graphicData uri="http://schemas.openxmlformats.org/drawingml/2006/table">
            <a:tbl>
              <a:tblPr firstRow="1" bandRow="0">
                <a:tableStyleId>{5C22544A-7EE6-4342-B048-85BDC9FD1C3A}</a:tableStyleId>
              </a:tblPr>
              <a:tblGrid>
                <a:gridCol w="2377440"/>
                <a:gridCol w="4206240"/>
                <a:gridCol w="4507992"/>
              </a:tblGrid>
              <a:tr h="320040">
                <a:tc>
                  <a:txBody>
                    <a:bodyPr wrap="square" anchor="ctr">
                      <a:noAutofit/>
                    </a:bodyPr>
                    <a:lstStyle/>
                    <a:p>
                      <a:pPr algn="l"/>
                      <a:r>
                        <a:rPr sz="1500" b="1" i="0">
                          <a:solidFill>
                            <a:srgbClr val="FFFFFF"/>
                          </a:solidFill>
                          <a:latin typeface="Arial"/>
                        </a:rPr>
                        <a:t>Concern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Model APIs</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Tool APIs (REST, MCP)</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What a call does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Generates text or embeddings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Reads or changes business systems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Main limit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Tokens per minute and quota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Requests, transaction value, allowed operations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Authorisation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Caller may use this model deployment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Caller may do this operation on this target</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Safety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Content safety, prompt shield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Input validation, approval for high-impact actions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Containment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Deny further model calls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Deny at gateway and at tool side</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Owner</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AI with CIS Infra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Tool owner with Security</a:t>
                      </a:r>
                    </a:p>
                  </a:txBody>
                  <a:tcPr marL="73152" marR="73152" marT="36576" marB="36576" anchor="ctr">
                    <a:solidFill>
                      <a:srgbClr val="F5F5F2"/>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Gateway identity pattern with current labels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A3</a:t>
            </a:r>
          </a:p>
        </p:txBody>
      </p:sp>
      <p:sp>
        <p:nvSpPr>
          <p:cNvPr id="5" name="Status chip: ADAPTED, LEGACY LABELS REPLACED"/>
          <p:cNvSpPr/>
          <p:nvPr/>
        </p:nvSpPr>
        <p:spPr>
          <a:xfrm>
            <a:off x="1898650" y="274320"/>
            <a:ext cx="295148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LEGACY LABELS REPLACED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1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15</a:t>
            </a:r>
          </a:p>
        </p:txBody>
      </p:sp>
      <p:pic>
        <p:nvPicPr>
          <p:cNvPr id="9" name="Azure icon: app-registrations" descr="Official Azure icon: app-registration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34440" y="2770632"/>
            <a:ext cx="457200" cy="457200"/>
          </a:xfrm>
          <a:prstGeom prst="rect">
            <a:avLst/>
          </a:prstGeom>
        </p:spPr>
      </p:pic>
      <p:sp>
        <p:nvSpPr>
          <p:cNvPr id="10" name="TextBox 9"/>
          <p:cNvSpPr txBox="1"/>
          <p:nvPr/>
        </p:nvSpPr>
        <p:spPr>
          <a:xfrm>
            <a:off x="585216" y="3264408"/>
            <a:ext cx="1755648" cy="512064"/>
          </a:xfrm>
          <a:prstGeom prst="rect">
            <a:avLst/>
          </a:prstGeom>
          <a:noFill/>
        </p:spPr>
        <p:txBody>
          <a:bodyPr wrap="square" lIns="0" rIns="0" tIns="0" bIns="0" anchor="t">
            <a:noAutofit/>
          </a:bodyPr>
          <a:lstStyle/>
          <a:p>
            <a:pPr algn="ctr"/>
            <a:r>
              <a:rPr sz="1300" b="1" i="0">
                <a:solidFill>
                  <a:srgbClr val="000048"/>
                </a:solidFill>
                <a:latin typeface="Arial"/>
              </a:rPr>
              <a:t>Intelligent application</a:t>
            </a:r>
          </a:p>
          <a:p>
            <a:pPr algn="ctr"/>
            <a:r>
              <a:rPr sz="1200" b="0" i="0">
                <a:solidFill>
                  <a:srgbClr val="53565A"/>
                </a:solidFill>
                <a:latin typeface="Arial"/>
              </a:rPr>
              <a:t>client</a:t>
            </a:r>
          </a:p>
        </p:txBody>
      </p:sp>
      <p:sp>
        <p:nvSpPr>
          <p:cNvPr id="11" name="Rounded Rectangle 10"/>
          <p:cNvSpPr/>
          <p:nvPr/>
        </p:nvSpPr>
        <p:spPr>
          <a:xfrm>
            <a:off x="3657600" y="1371600"/>
            <a:ext cx="2103120" cy="868680"/>
          </a:xfrm>
          <a:prstGeom prst="roundRect">
            <a:avLst>
              <a:gd name="adj" fmla="val 8421"/>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300" b="1" i="0">
                <a:solidFill>
                  <a:srgbClr val="000048"/>
                </a:solidFill>
                <a:latin typeface="Arial"/>
              </a:rPr>
              <a:t>Identity provider</a:t>
            </a:r>
          </a:p>
          <a:p>
            <a:pPr algn="ctr"/>
            <a:r>
              <a:rPr sz="1200" b="0" i="0">
                <a:solidFill>
                  <a:srgbClr val="53565A"/>
                </a:solidFill>
                <a:latin typeface="Arial"/>
              </a:rPr>
              <a:t>Microsoft Entra ID or external IdP</a:t>
            </a:r>
          </a:p>
        </p:txBody>
      </p:sp>
      <p:sp>
        <p:nvSpPr>
          <p:cNvPr id="12" name="Rounded Rectangle 11"/>
          <p:cNvSpPr/>
          <p:nvPr/>
        </p:nvSpPr>
        <p:spPr>
          <a:xfrm>
            <a:off x="3017520" y="2514600"/>
            <a:ext cx="3840480" cy="2011680"/>
          </a:xfrm>
          <a:prstGeom prst="roundRect">
            <a:avLst>
              <a:gd name="adj" fmla="val 4545"/>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127248" y="2569464"/>
            <a:ext cx="3621024" cy="237744"/>
          </a:xfrm>
          <a:prstGeom prst="rect">
            <a:avLst/>
          </a:prstGeom>
          <a:noFill/>
        </p:spPr>
        <p:txBody>
          <a:bodyPr wrap="square" lIns="0" rIns="0" tIns="0" bIns="0" anchor="t">
            <a:noAutofit/>
          </a:bodyPr>
          <a:lstStyle/>
          <a:p>
            <a:pPr algn="l"/>
            <a:r>
              <a:rPr sz="1200" b="1" i="0">
                <a:solidFill>
                  <a:srgbClr val="000048"/>
                </a:solidFill>
                <a:latin typeface="Arial"/>
              </a:rPr>
              <a:t>GATEWAY RESOURCE GROUP</a:t>
            </a:r>
          </a:p>
        </p:txBody>
      </p:sp>
      <p:pic>
        <p:nvPicPr>
          <p:cNvPr id="14"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94760" y="2953512"/>
            <a:ext cx="457200" cy="457200"/>
          </a:xfrm>
          <a:prstGeom prst="rect">
            <a:avLst/>
          </a:prstGeom>
        </p:spPr>
      </p:pic>
      <p:sp>
        <p:nvSpPr>
          <p:cNvPr id="15" name="TextBox 14"/>
          <p:cNvSpPr txBox="1"/>
          <p:nvPr/>
        </p:nvSpPr>
        <p:spPr>
          <a:xfrm>
            <a:off x="3236976" y="3447288"/>
            <a:ext cx="1572768" cy="512064"/>
          </a:xfrm>
          <a:prstGeom prst="rect">
            <a:avLst/>
          </a:prstGeom>
          <a:noFill/>
        </p:spPr>
        <p:txBody>
          <a:bodyPr wrap="square" lIns="0" rIns="0" tIns="0" bIns="0" anchor="t">
            <a:noAutofit/>
          </a:bodyPr>
          <a:lstStyle/>
          <a:p>
            <a:pPr algn="ctr"/>
            <a:r>
              <a:rPr sz="1300" b="1" i="0">
                <a:solidFill>
                  <a:srgbClr val="000048"/>
                </a:solidFill>
                <a:latin typeface="Arial"/>
              </a:rPr>
              <a:t>API Management</a:t>
            </a:r>
          </a:p>
          <a:p>
            <a:pPr algn="ctr"/>
            <a:r>
              <a:rPr sz="1200" b="0" i="0">
                <a:solidFill>
                  <a:srgbClr val="53565A"/>
                </a:solidFill>
                <a:latin typeface="Arial"/>
              </a:rPr>
              <a:t>validates JWT</a:t>
            </a:r>
          </a:p>
        </p:txBody>
      </p:sp>
      <p:pic>
        <p:nvPicPr>
          <p:cNvPr id="16" name="Azure icon: Managed Identities" descr="Official Azure icon: Managed Identitie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577840" y="2953512"/>
            <a:ext cx="457200" cy="457200"/>
          </a:xfrm>
          <a:prstGeom prst="rect">
            <a:avLst/>
          </a:prstGeom>
        </p:spPr>
      </p:pic>
      <p:sp>
        <p:nvSpPr>
          <p:cNvPr id="17" name="TextBox 16"/>
          <p:cNvSpPr txBox="1"/>
          <p:nvPr/>
        </p:nvSpPr>
        <p:spPr>
          <a:xfrm>
            <a:off x="5020056" y="3447288"/>
            <a:ext cx="1572768" cy="512064"/>
          </a:xfrm>
          <a:prstGeom prst="rect">
            <a:avLst/>
          </a:prstGeom>
          <a:noFill/>
        </p:spPr>
        <p:txBody>
          <a:bodyPr wrap="square" lIns="0" rIns="0" tIns="0" bIns="0" anchor="t">
            <a:noAutofit/>
          </a:bodyPr>
          <a:lstStyle/>
          <a:p>
            <a:pPr algn="ctr"/>
            <a:r>
              <a:rPr sz="1300" b="1" i="0">
                <a:solidFill>
                  <a:srgbClr val="000048"/>
                </a:solidFill>
                <a:latin typeface="Arial"/>
              </a:rPr>
              <a:t>Managed identity</a:t>
            </a:r>
          </a:p>
          <a:p>
            <a:pPr algn="ctr"/>
            <a:r>
              <a:rPr sz="1200" b="0" i="0">
                <a:solidFill>
                  <a:srgbClr val="53565A"/>
                </a:solidFill>
                <a:latin typeface="Arial"/>
              </a:rPr>
              <a:t>to backends</a:t>
            </a:r>
          </a:p>
        </p:txBody>
      </p:sp>
      <p:sp>
        <p:nvSpPr>
          <p:cNvPr id="18" name="Rounded Rectangle 17"/>
          <p:cNvSpPr/>
          <p:nvPr/>
        </p:nvSpPr>
        <p:spPr>
          <a:xfrm>
            <a:off x="7680960" y="1371600"/>
            <a:ext cx="4023360" cy="1920240"/>
          </a:xfrm>
          <a:prstGeom prst="roundRect">
            <a:avLst>
              <a:gd name="adj" fmla="val 476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790688" y="1426464"/>
            <a:ext cx="3803904" cy="237744"/>
          </a:xfrm>
          <a:prstGeom prst="rect">
            <a:avLst/>
          </a:prstGeom>
          <a:noFill/>
        </p:spPr>
        <p:txBody>
          <a:bodyPr wrap="square" lIns="0" rIns="0" tIns="0" bIns="0" anchor="t">
            <a:noAutofit/>
          </a:bodyPr>
          <a:lstStyle/>
          <a:p>
            <a:pPr algn="l"/>
            <a:r>
              <a:rPr sz="1200" b="1" i="0">
                <a:solidFill>
                  <a:srgbClr val="000048"/>
                </a:solidFill>
                <a:latin typeface="Arial"/>
              </a:rPr>
              <a:t>REGION A RESOURCE GROUP</a:t>
            </a:r>
          </a:p>
        </p:txBody>
      </p:sp>
      <p:pic>
        <p:nvPicPr>
          <p:cNvPr id="20" name="Azure icon: Microsoft Foundry" descr="Official Azure icon: Microsoft Foundry"/>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503919" y="1856231"/>
            <a:ext cx="457200" cy="457200"/>
          </a:xfrm>
          <a:prstGeom prst="rect">
            <a:avLst/>
          </a:prstGeom>
        </p:spPr>
      </p:pic>
      <p:sp>
        <p:nvSpPr>
          <p:cNvPr id="21" name="TextBox 20"/>
          <p:cNvSpPr txBox="1"/>
          <p:nvPr/>
        </p:nvSpPr>
        <p:spPr>
          <a:xfrm>
            <a:off x="7900415" y="2350008"/>
            <a:ext cx="1664207" cy="512064"/>
          </a:xfrm>
          <a:prstGeom prst="rect">
            <a:avLst/>
          </a:prstGeom>
          <a:noFill/>
        </p:spPr>
        <p:txBody>
          <a:bodyPr wrap="square" lIns="0" rIns="0" tIns="0" bIns="0" anchor="t">
            <a:noAutofit/>
          </a:bodyPr>
          <a:lstStyle/>
          <a:p>
            <a:pPr algn="ctr"/>
            <a:r>
              <a:rPr sz="1300" b="1" i="0">
                <a:solidFill>
                  <a:srgbClr val="000048"/>
                </a:solidFill>
                <a:latin typeface="Arial"/>
              </a:rPr>
              <a:t>Microsoft Foundry</a:t>
            </a:r>
          </a:p>
          <a:p>
            <a:pPr algn="ctr"/>
            <a:r>
              <a:rPr sz="1200" b="0" i="0">
                <a:solidFill>
                  <a:srgbClr val="53565A"/>
                </a:solidFill>
                <a:latin typeface="Arial"/>
              </a:rPr>
              <a:t>resource</a:t>
            </a:r>
          </a:p>
        </p:txBody>
      </p:sp>
      <p:pic>
        <p:nvPicPr>
          <p:cNvPr id="22" name="Azure icon: Foundry Models" descr="Official Azure icon: Foundry Model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378440" y="1856231"/>
            <a:ext cx="457200" cy="457200"/>
          </a:xfrm>
          <a:prstGeom prst="rect">
            <a:avLst/>
          </a:prstGeom>
        </p:spPr>
      </p:pic>
      <p:sp>
        <p:nvSpPr>
          <p:cNvPr id="23" name="TextBox 22"/>
          <p:cNvSpPr txBox="1"/>
          <p:nvPr/>
        </p:nvSpPr>
        <p:spPr>
          <a:xfrm>
            <a:off x="9729215" y="2350008"/>
            <a:ext cx="1755648" cy="512064"/>
          </a:xfrm>
          <a:prstGeom prst="rect">
            <a:avLst/>
          </a:prstGeom>
          <a:noFill/>
        </p:spPr>
        <p:txBody>
          <a:bodyPr wrap="square" lIns="0" rIns="0" tIns="0" bIns="0" anchor="t">
            <a:noAutofit/>
          </a:bodyPr>
          <a:lstStyle/>
          <a:p>
            <a:pPr algn="ctr"/>
            <a:r>
              <a:rPr sz="1300" b="1" i="0">
                <a:solidFill>
                  <a:srgbClr val="000048"/>
                </a:solidFill>
                <a:latin typeface="Arial"/>
              </a:rPr>
              <a:t>Model deployment</a:t>
            </a:r>
          </a:p>
          <a:p>
            <a:pPr algn="ctr"/>
            <a:r>
              <a:rPr sz="1200" b="0" i="0">
                <a:solidFill>
                  <a:srgbClr val="53565A"/>
                </a:solidFill>
                <a:latin typeface="Arial"/>
              </a:rPr>
              <a:t>customer-selected model</a:t>
            </a:r>
          </a:p>
        </p:txBody>
      </p:sp>
      <p:sp>
        <p:nvSpPr>
          <p:cNvPr id="24" name="Rounded Rectangle 23"/>
          <p:cNvSpPr/>
          <p:nvPr/>
        </p:nvSpPr>
        <p:spPr>
          <a:xfrm>
            <a:off x="7680960" y="3566160"/>
            <a:ext cx="4023360" cy="1920240"/>
          </a:xfrm>
          <a:prstGeom prst="roundRect">
            <a:avLst>
              <a:gd name="adj" fmla="val 476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790688" y="3621024"/>
            <a:ext cx="3803904" cy="237744"/>
          </a:xfrm>
          <a:prstGeom prst="rect">
            <a:avLst/>
          </a:prstGeom>
          <a:noFill/>
        </p:spPr>
        <p:txBody>
          <a:bodyPr wrap="square" lIns="0" rIns="0" tIns="0" bIns="0" anchor="t">
            <a:noAutofit/>
          </a:bodyPr>
          <a:lstStyle/>
          <a:p>
            <a:pPr algn="l"/>
            <a:r>
              <a:rPr sz="1200" b="1" i="0">
                <a:solidFill>
                  <a:srgbClr val="000048"/>
                </a:solidFill>
                <a:latin typeface="Arial"/>
              </a:rPr>
              <a:t>REGION B RESOURCE GROUP</a:t>
            </a:r>
          </a:p>
        </p:txBody>
      </p:sp>
      <p:pic>
        <p:nvPicPr>
          <p:cNvPr id="26" name="Azure icon: Microsoft Foundry" descr="Official Azure icon: Microsoft Foundry"/>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503919" y="4050791"/>
            <a:ext cx="457200" cy="457200"/>
          </a:xfrm>
          <a:prstGeom prst="rect">
            <a:avLst/>
          </a:prstGeom>
        </p:spPr>
      </p:pic>
      <p:sp>
        <p:nvSpPr>
          <p:cNvPr id="27" name="TextBox 26"/>
          <p:cNvSpPr txBox="1"/>
          <p:nvPr/>
        </p:nvSpPr>
        <p:spPr>
          <a:xfrm>
            <a:off x="7900415" y="4544568"/>
            <a:ext cx="1664207" cy="512064"/>
          </a:xfrm>
          <a:prstGeom prst="rect">
            <a:avLst/>
          </a:prstGeom>
          <a:noFill/>
        </p:spPr>
        <p:txBody>
          <a:bodyPr wrap="square" lIns="0" rIns="0" tIns="0" bIns="0" anchor="t">
            <a:noAutofit/>
          </a:bodyPr>
          <a:lstStyle/>
          <a:p>
            <a:pPr algn="ctr"/>
            <a:r>
              <a:rPr sz="1300" b="1" i="0">
                <a:solidFill>
                  <a:srgbClr val="000048"/>
                </a:solidFill>
                <a:latin typeface="Arial"/>
              </a:rPr>
              <a:t>Microsoft Foundry</a:t>
            </a:r>
          </a:p>
          <a:p>
            <a:pPr algn="ctr"/>
            <a:r>
              <a:rPr sz="1200" b="0" i="0">
                <a:solidFill>
                  <a:srgbClr val="53565A"/>
                </a:solidFill>
                <a:latin typeface="Arial"/>
              </a:rPr>
              <a:t>resource</a:t>
            </a:r>
          </a:p>
        </p:txBody>
      </p:sp>
      <p:pic>
        <p:nvPicPr>
          <p:cNvPr id="28" name="Azure icon: Foundry Models" descr="Official Azure icon: Foundry Model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378440" y="4050791"/>
            <a:ext cx="457200" cy="457200"/>
          </a:xfrm>
          <a:prstGeom prst="rect">
            <a:avLst/>
          </a:prstGeom>
        </p:spPr>
      </p:pic>
      <p:sp>
        <p:nvSpPr>
          <p:cNvPr id="29" name="TextBox 28"/>
          <p:cNvSpPr txBox="1"/>
          <p:nvPr/>
        </p:nvSpPr>
        <p:spPr>
          <a:xfrm>
            <a:off x="9729215" y="4544568"/>
            <a:ext cx="1755648" cy="512064"/>
          </a:xfrm>
          <a:prstGeom prst="rect">
            <a:avLst/>
          </a:prstGeom>
          <a:noFill/>
        </p:spPr>
        <p:txBody>
          <a:bodyPr wrap="square" lIns="0" rIns="0" tIns="0" bIns="0" anchor="t">
            <a:noAutofit/>
          </a:bodyPr>
          <a:lstStyle/>
          <a:p>
            <a:pPr algn="ctr"/>
            <a:r>
              <a:rPr sz="1300" b="1" i="0">
                <a:solidFill>
                  <a:srgbClr val="000048"/>
                </a:solidFill>
                <a:latin typeface="Arial"/>
              </a:rPr>
              <a:t>Model deployment</a:t>
            </a:r>
          </a:p>
          <a:p>
            <a:pPr algn="ctr"/>
            <a:r>
              <a:rPr sz="1200" b="0" i="0">
                <a:solidFill>
                  <a:srgbClr val="53565A"/>
                </a:solidFill>
                <a:latin typeface="Arial"/>
              </a:rPr>
              <a:t>customer-selected model</a:t>
            </a:r>
          </a:p>
        </p:txBody>
      </p:sp>
      <p:cxnSp>
        <p:nvCxnSpPr>
          <p:cNvPr id="30" name="Connector (telemetry)"/>
          <p:cNvCxnSpPr/>
          <p:nvPr/>
        </p:nvCxnSpPr>
        <p:spPr>
          <a:xfrm flipV="1">
            <a:off x="1463040" y="1801368"/>
            <a:ext cx="0" cy="896112"/>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telemetry)"/>
          <p:cNvCxnSpPr/>
          <p:nvPr/>
        </p:nvCxnSpPr>
        <p:spPr>
          <a:xfrm>
            <a:off x="1463040" y="1801368"/>
            <a:ext cx="219456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600200" y="1463040"/>
            <a:ext cx="2011680" cy="274320"/>
          </a:xfrm>
          <a:prstGeom prst="rect">
            <a:avLst/>
          </a:prstGeom>
          <a:noFill/>
        </p:spPr>
        <p:txBody>
          <a:bodyPr wrap="square" lIns="0" rIns="0" tIns="0" bIns="0" anchor="t">
            <a:noAutofit/>
          </a:bodyPr>
          <a:lstStyle/>
          <a:p>
            <a:pPr algn="l"/>
            <a:r>
              <a:rPr sz="1200" b="0" i="0">
                <a:solidFill>
                  <a:srgbClr val="53565A"/>
                </a:solidFill>
                <a:latin typeface="Arial"/>
              </a:rPr>
              <a:t>obtain token</a:t>
            </a:r>
          </a:p>
        </p:txBody>
      </p:sp>
      <p:cxnSp>
        <p:nvCxnSpPr>
          <p:cNvPr id="33" name="Connector (flow)"/>
          <p:cNvCxnSpPr/>
          <p:nvPr/>
        </p:nvCxnSpPr>
        <p:spPr>
          <a:xfrm>
            <a:off x="2377440" y="3154680"/>
            <a:ext cx="8229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240280" y="2697480"/>
            <a:ext cx="914400" cy="411480"/>
          </a:xfrm>
          <a:prstGeom prst="rect">
            <a:avLst/>
          </a:prstGeom>
          <a:noFill/>
        </p:spPr>
        <p:txBody>
          <a:bodyPr wrap="square" lIns="0" rIns="0" tIns="0" bIns="0" anchor="t">
            <a:noAutofit/>
          </a:bodyPr>
          <a:lstStyle/>
          <a:p>
            <a:pPr algn="ctr"/>
            <a:r>
              <a:rPr sz="1200" b="0" i="0">
                <a:solidFill>
                  <a:srgbClr val="000048"/>
                </a:solidFill>
                <a:latin typeface="Arial"/>
              </a:rPr>
              <a:t>JWT, optional key</a:t>
            </a:r>
          </a:p>
        </p:txBody>
      </p:sp>
      <p:cxnSp>
        <p:nvCxnSpPr>
          <p:cNvPr id="35" name="Connector (telemetry)"/>
          <p:cNvCxnSpPr/>
          <p:nvPr/>
        </p:nvCxnSpPr>
        <p:spPr>
          <a:xfrm flipV="1">
            <a:off x="4023360" y="2240280"/>
            <a:ext cx="457200" cy="64008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526280" y="2377440"/>
            <a:ext cx="914400" cy="274320"/>
          </a:xfrm>
          <a:prstGeom prst="rect">
            <a:avLst/>
          </a:prstGeom>
          <a:noFill/>
        </p:spPr>
        <p:txBody>
          <a:bodyPr wrap="square" lIns="0" rIns="0" tIns="0" bIns="0" anchor="t">
            <a:noAutofit/>
          </a:bodyPr>
          <a:lstStyle/>
          <a:p>
            <a:pPr algn="l"/>
            <a:r>
              <a:rPr sz="1200" b="0" i="0">
                <a:solidFill>
                  <a:srgbClr val="53565A"/>
                </a:solidFill>
                <a:latin typeface="Arial"/>
              </a:rPr>
              <a:t>validate</a:t>
            </a:r>
          </a:p>
        </p:txBody>
      </p:sp>
      <p:cxnSp>
        <p:nvCxnSpPr>
          <p:cNvPr id="37" name="Connector (flow)"/>
          <p:cNvCxnSpPr/>
          <p:nvPr/>
        </p:nvCxnSpPr>
        <p:spPr>
          <a:xfrm>
            <a:off x="6629400" y="3291840"/>
            <a:ext cx="64008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8" name="Connector (flow)"/>
          <p:cNvCxnSpPr/>
          <p:nvPr/>
        </p:nvCxnSpPr>
        <p:spPr>
          <a:xfrm flipV="1">
            <a:off x="7269480" y="2103120"/>
            <a:ext cx="0" cy="118872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9" name="Connector (flow)"/>
          <p:cNvCxnSpPr/>
          <p:nvPr/>
        </p:nvCxnSpPr>
        <p:spPr>
          <a:xfrm>
            <a:off x="7269480" y="210312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flow)"/>
          <p:cNvCxnSpPr/>
          <p:nvPr/>
        </p:nvCxnSpPr>
        <p:spPr>
          <a:xfrm>
            <a:off x="7269480" y="3291840"/>
            <a:ext cx="0" cy="100584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1" name="Connector (flow)"/>
          <p:cNvCxnSpPr/>
          <p:nvPr/>
        </p:nvCxnSpPr>
        <p:spPr>
          <a:xfrm>
            <a:off x="7269480" y="429768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flow)"/>
          <p:cNvCxnSpPr/>
          <p:nvPr/>
        </p:nvCxnSpPr>
        <p:spPr>
          <a:xfrm>
            <a:off x="548640" y="578815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24128" y="5669280"/>
            <a:ext cx="1874519" cy="256032"/>
          </a:xfrm>
          <a:prstGeom prst="rect">
            <a:avLst/>
          </a:prstGeom>
          <a:noFill/>
        </p:spPr>
        <p:txBody>
          <a:bodyPr wrap="square" lIns="0" rIns="0" tIns="0" bIns="0" anchor="t">
            <a:noAutofit/>
          </a:bodyPr>
          <a:lstStyle/>
          <a:p>
            <a:pPr algn="l"/>
            <a:r>
              <a:rPr sz="1200" b="0" i="0">
                <a:solidFill>
                  <a:srgbClr val="53565A"/>
                </a:solidFill>
                <a:latin typeface="Arial"/>
              </a:rPr>
              <a:t>Request / data flow</a:t>
            </a:r>
          </a:p>
        </p:txBody>
      </p:sp>
      <p:cxnSp>
        <p:nvCxnSpPr>
          <p:cNvPr id="44" name="Connector (telemetry)"/>
          <p:cNvCxnSpPr/>
          <p:nvPr/>
        </p:nvCxnSpPr>
        <p:spPr>
          <a:xfrm>
            <a:off x="2926080" y="5788152"/>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3401568" y="5669280"/>
            <a:ext cx="1874519" cy="256032"/>
          </a:xfrm>
          <a:prstGeom prst="rect">
            <a:avLst/>
          </a:prstGeom>
          <a:noFill/>
        </p:spPr>
        <p:txBody>
          <a:bodyPr wrap="square" lIns="0" rIns="0" tIns="0" bIns="0" anchor="t">
            <a:noAutofit/>
          </a:bodyPr>
          <a:lstStyle/>
          <a:p>
            <a:pPr algn="l"/>
            <a:r>
              <a:rPr sz="1200" b="0" i="0">
                <a:solidFill>
                  <a:srgbClr val="53565A"/>
                </a:solidFill>
                <a:latin typeface="Arial"/>
              </a:rPr>
              <a:t>Telemetry or state read</a:t>
            </a:r>
          </a:p>
        </p:txBody>
      </p:sp>
      <p:sp>
        <p:nvSpPr>
          <p:cNvPr id="46" name="TextBox 45"/>
          <p:cNvSpPr txBox="1"/>
          <p:nvPr/>
        </p:nvSpPr>
        <p:spPr>
          <a:xfrm>
            <a:off x="548640" y="5989320"/>
            <a:ext cx="11064240" cy="256032"/>
          </a:xfrm>
          <a:prstGeom prst="rect">
            <a:avLst/>
          </a:prstGeom>
          <a:noFill/>
        </p:spPr>
        <p:txBody>
          <a:bodyPr wrap="square" lIns="0" rIns="0" tIns="0" bIns="0" anchor="t">
            <a:noAutofit/>
          </a:bodyPr>
          <a:lstStyle/>
          <a:p>
            <a:pPr algn="l"/>
            <a:r>
              <a:rPr sz="1200" b="1" i="0">
                <a:solidFill>
                  <a:srgbClr val="7373D8"/>
                </a:solidFill>
                <a:latin typeface="Arial"/>
              </a:rPr>
              <a:t>Adapted reference architecture  ·  rebuilt from Microsoft source with current labels; original kept as historical reference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Token rate limits and quotas need a trusted counter key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A4</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16</a:t>
            </a:r>
          </a:p>
        </p:txBody>
      </p:sp>
      <p:graphicFrame>
        <p:nvGraphicFramePr>
          <p:cNvPr id="9" name="Table"/>
          <p:cNvGraphicFramePr>
            <a:graphicFrameLocks noGrp="1"/>
          </p:cNvGraphicFramePr>
          <p:nvPr/>
        </p:nvGraphicFramePr>
        <p:xfrm>
          <a:off x="548640" y="1371600"/>
          <a:ext cx="11091672" cy="2286000"/>
        </p:xfrm>
        <a:graphic>
          <a:graphicData uri="http://schemas.openxmlformats.org/drawingml/2006/table">
            <a:tbl>
              <a:tblPr firstRow="1" bandRow="0">
                <a:tableStyleId>{5C22544A-7EE6-4342-B048-85BDC9FD1C3A}</a:tableStyleId>
              </a:tblPr>
              <a:tblGrid>
                <a:gridCol w="2743200"/>
                <a:gridCol w="2834640"/>
                <a:gridCol w="2743200"/>
                <a:gridCol w="2770632"/>
              </a:tblGrid>
              <a:tr h="320040">
                <a:tc>
                  <a:txBody>
                    <a:bodyPr wrap="square" anchor="ctr">
                      <a:noAutofit/>
                    </a:bodyPr>
                    <a:lstStyle/>
                    <a:p>
                      <a:pPr algn="l"/>
                      <a:r>
                        <a:rPr sz="15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Scope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Response when exceeded</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Use for</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tokens-per-minute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 counter key, per gateway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429 with Retry-After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Smoothing bursts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token-quota (hourly to yearly)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Per counter key, per gateway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403</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Allowance per team or agent</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estimate-prompt-tokens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 policy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Rejects earlier using estimates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Reducing wasted backend calls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Counter key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Expression on validated identity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Who the limit applies to</a:t>
                      </a:r>
                    </a:p>
                  </a:txBody>
                  <a:tcPr marL="73152" marR="73152" marT="36576" marB="36576" anchor="ctr">
                    <a:solidFill>
                      <a:srgbClr val="F5F5F2"/>
                    </a:solidFill>
                  </a:tcPr>
                </a:tc>
              </a:tr>
            </a:tbl>
          </a:graphicData>
        </a:graphic>
      </p:graphicFrame>
      <p:sp>
        <p:nvSpPr>
          <p:cNvPr id="10" name="Rounded Rectangle 9"/>
          <p:cNvSpPr/>
          <p:nvPr/>
        </p:nvSpPr>
        <p:spPr>
          <a:xfrm>
            <a:off x="548640" y="402336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Token caps are not currency caps: price differs by model and by input, cached and output tokens.</a:t>
            </a:r>
          </a:p>
        </p:txBody>
      </p:sp>
      <p:sp>
        <p:nvSpPr>
          <p:cNvPr id="11" name="TextBox 10"/>
          <p:cNvSpPr txBox="1"/>
          <p:nvPr/>
        </p:nvSpPr>
        <p:spPr>
          <a:xfrm>
            <a:off x="548640" y="4754880"/>
            <a:ext cx="11064240" cy="822960"/>
          </a:xfrm>
          <a:prstGeom prst="rect">
            <a:avLst/>
          </a:prstGeom>
          <a:noFill/>
        </p:spPr>
        <p:txBody>
          <a:bodyPr wrap="square" lIns="0" rIns="0" tIns="0" bIns="0" anchor="t">
            <a:noAutofit/>
          </a:bodyPr>
          <a:lstStyle/>
          <a:p>
            <a:pPr algn="l"/>
            <a:r>
              <a:rPr sz="1500" b="0" i="0">
                <a:solidFill>
                  <a:srgbClr val="8A4B08"/>
                </a:solidFill>
                <a:latin typeface="Arial"/>
              </a:rPr>
              <a:t>Illustrative design only: 20,000 tokens per minute and 2 million tokens per day per application. Set real values from measured demand (offering 04).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Token-limit policy flow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A5</a:t>
            </a:r>
          </a:p>
        </p:txBody>
      </p:sp>
      <p:sp>
        <p:nvSpPr>
          <p:cNvPr id="5" name="Status chip: REBUILT FROM LOW-RES SOURCE"/>
          <p:cNvSpPr/>
          <p:nvPr/>
        </p:nvSpPr>
        <p:spPr>
          <a:xfrm>
            <a:off x="1898650" y="274320"/>
            <a:ext cx="260604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REBUILT FROM LOW-RES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17</a:t>
            </a:r>
          </a:p>
        </p:txBody>
      </p:sp>
      <p:pic>
        <p:nvPicPr>
          <p:cNvPr id="9"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1560" y="2267712"/>
            <a:ext cx="457200" cy="457200"/>
          </a:xfrm>
          <a:prstGeom prst="rect">
            <a:avLst/>
          </a:prstGeom>
        </p:spPr>
      </p:pic>
      <p:sp>
        <p:nvSpPr>
          <p:cNvPr id="10" name="TextBox 9"/>
          <p:cNvSpPr txBox="1"/>
          <p:nvPr/>
        </p:nvSpPr>
        <p:spPr>
          <a:xfrm>
            <a:off x="585216" y="2761488"/>
            <a:ext cx="1389888" cy="512064"/>
          </a:xfrm>
          <a:prstGeom prst="rect">
            <a:avLst/>
          </a:prstGeom>
          <a:noFill/>
        </p:spPr>
        <p:txBody>
          <a:bodyPr wrap="square" lIns="0" rIns="0" tIns="0" bIns="0" anchor="t">
            <a:noAutofit/>
          </a:bodyPr>
          <a:lstStyle/>
          <a:p>
            <a:pPr algn="ctr"/>
            <a:r>
              <a:rPr sz="1300" b="1" i="0">
                <a:solidFill>
                  <a:srgbClr val="000048"/>
                </a:solidFill>
                <a:latin typeface="Arial"/>
              </a:rPr>
              <a:t>Callers</a:t>
            </a:r>
          </a:p>
          <a:p>
            <a:pPr algn="ctr"/>
            <a:r>
              <a:rPr sz="1200" b="0" i="0">
                <a:solidFill>
                  <a:srgbClr val="53565A"/>
                </a:solidFill>
                <a:latin typeface="Arial"/>
              </a:rPr>
              <a:t>apps and agents</a:t>
            </a:r>
          </a:p>
        </p:txBody>
      </p:sp>
      <p:sp>
        <p:nvSpPr>
          <p:cNvPr id="11" name="Rounded Rectangle 10"/>
          <p:cNvSpPr/>
          <p:nvPr/>
        </p:nvSpPr>
        <p:spPr>
          <a:xfrm>
            <a:off x="2468880" y="1417320"/>
            <a:ext cx="5120640" cy="3291840"/>
          </a:xfrm>
          <a:prstGeom prst="roundRect">
            <a:avLst>
              <a:gd name="adj" fmla="val 2777"/>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578608" y="1472184"/>
            <a:ext cx="4901183" cy="237744"/>
          </a:xfrm>
          <a:prstGeom prst="rect">
            <a:avLst/>
          </a:prstGeom>
          <a:noFill/>
        </p:spPr>
        <p:txBody>
          <a:bodyPr wrap="square" lIns="0" rIns="0" tIns="0" bIns="0" anchor="t">
            <a:noAutofit/>
          </a:bodyPr>
          <a:lstStyle/>
          <a:p>
            <a:pPr algn="l"/>
            <a:r>
              <a:rPr sz="1200" b="1" i="0">
                <a:solidFill>
                  <a:srgbClr val="000048"/>
                </a:solidFill>
                <a:latin typeface="Arial"/>
              </a:rPr>
              <a:t>API MANAGEMENT</a:t>
            </a:r>
          </a:p>
        </p:txBody>
      </p:sp>
      <p:pic>
        <p:nvPicPr>
          <p:cNvPr id="13"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606040" y="1783080"/>
            <a:ext cx="457200" cy="457200"/>
          </a:xfrm>
          <a:prstGeom prst="rect">
            <a:avLst/>
          </a:prstGeom>
        </p:spPr>
      </p:pic>
      <p:sp>
        <p:nvSpPr>
          <p:cNvPr id="14" name="Rounded Rectangle 13"/>
          <p:cNvSpPr/>
          <p:nvPr/>
        </p:nvSpPr>
        <p:spPr>
          <a:xfrm>
            <a:off x="3246120" y="1783080"/>
            <a:ext cx="4114800" cy="685800"/>
          </a:xfrm>
          <a:prstGeom prst="roundRect">
            <a:avLst>
              <a:gd name="adj" fmla="val 1066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Identify caller</a:t>
            </a:r>
            <a:r>
              <a:rPr sz="1200" b="0" i="0">
                <a:solidFill>
                  <a:srgbClr val="53565A"/>
                </a:solidFill>
                <a:latin typeface="Arial"/>
              </a:rPr>
              <a:t>  counter key from token claim</a:t>
            </a:r>
          </a:p>
        </p:txBody>
      </p:sp>
      <p:sp>
        <p:nvSpPr>
          <p:cNvPr id="15" name="Rounded Rectangle 14"/>
          <p:cNvSpPr/>
          <p:nvPr/>
        </p:nvSpPr>
        <p:spPr>
          <a:xfrm>
            <a:off x="3246120" y="2651760"/>
            <a:ext cx="4114800" cy="685800"/>
          </a:xfrm>
          <a:prstGeom prst="roundRect">
            <a:avLst>
              <a:gd name="adj" fmla="val 1066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llm-token-limit</a:t>
            </a:r>
            <a:r>
              <a:rPr sz="1200" b="0" i="0">
                <a:solidFill>
                  <a:srgbClr val="53565A"/>
                </a:solidFill>
                <a:latin typeface="Arial"/>
              </a:rPr>
              <a:t>  TPM and quota per key</a:t>
            </a:r>
          </a:p>
        </p:txBody>
      </p:sp>
      <p:sp>
        <p:nvSpPr>
          <p:cNvPr id="16" name="Rounded Rectangle 15"/>
          <p:cNvSpPr/>
          <p:nvPr/>
        </p:nvSpPr>
        <p:spPr>
          <a:xfrm>
            <a:off x="3246120" y="3520440"/>
            <a:ext cx="4114800" cy="685800"/>
          </a:xfrm>
          <a:prstGeom prst="roundRect">
            <a:avLst>
              <a:gd name="adj" fmla="val 10666"/>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Within limit?</a:t>
            </a:r>
            <a:r>
              <a:rPr sz="1200" b="0" i="0">
                <a:solidFill>
                  <a:srgbClr val="53565A"/>
                </a:solidFill>
                <a:latin typeface="Arial"/>
              </a:rPr>
              <a:t>  yes: forward   no: reject</a:t>
            </a:r>
          </a:p>
        </p:txBody>
      </p:sp>
      <p:cxnSp>
        <p:nvCxnSpPr>
          <p:cNvPr id="17" name="Connector (flow)"/>
          <p:cNvCxnSpPr/>
          <p:nvPr/>
        </p:nvCxnSpPr>
        <p:spPr>
          <a:xfrm>
            <a:off x="5303520" y="2468880"/>
            <a:ext cx="0" cy="182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flow)"/>
          <p:cNvCxnSpPr/>
          <p:nvPr/>
        </p:nvCxnSpPr>
        <p:spPr>
          <a:xfrm>
            <a:off x="5303520" y="3337560"/>
            <a:ext cx="0" cy="182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321040" y="1783080"/>
            <a:ext cx="201168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0"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098280" y="1856231"/>
            <a:ext cx="457200" cy="457200"/>
          </a:xfrm>
          <a:prstGeom prst="rect">
            <a:avLst/>
          </a:prstGeom>
        </p:spPr>
      </p:pic>
      <p:sp>
        <p:nvSpPr>
          <p:cNvPr id="21" name="TextBox 20"/>
          <p:cNvSpPr txBox="1"/>
          <p:nvPr/>
        </p:nvSpPr>
        <p:spPr>
          <a:xfrm>
            <a:off x="8357615" y="2350008"/>
            <a:ext cx="1938528" cy="512064"/>
          </a:xfrm>
          <a:prstGeom prst="rect">
            <a:avLst/>
          </a:prstGeom>
          <a:noFill/>
        </p:spPr>
        <p:txBody>
          <a:bodyPr wrap="square" lIns="0" rIns="0" tIns="0" bIns="0" anchor="t">
            <a:noAutofit/>
          </a:bodyPr>
          <a:lstStyle/>
          <a:p>
            <a:pPr algn="ctr"/>
            <a:r>
              <a:rPr sz="1300" b="1" i="0">
                <a:solidFill>
                  <a:srgbClr val="000048"/>
                </a:solidFill>
                <a:latin typeface="Arial"/>
              </a:rPr>
              <a:t>Model deployment</a:t>
            </a:r>
          </a:p>
          <a:p>
            <a:pPr algn="ctr"/>
            <a:r>
              <a:rPr sz="1200" b="0" i="0">
                <a:solidFill>
                  <a:srgbClr val="53565A"/>
                </a:solidFill>
                <a:latin typeface="Arial"/>
              </a:rPr>
              <a:t>Foundry Models</a:t>
            </a:r>
          </a:p>
        </p:txBody>
      </p:sp>
      <p:sp>
        <p:nvSpPr>
          <p:cNvPr id="22" name="Rounded Rectangle 21"/>
          <p:cNvSpPr/>
          <p:nvPr/>
        </p:nvSpPr>
        <p:spPr>
          <a:xfrm>
            <a:off x="8321040" y="3429000"/>
            <a:ext cx="3291840" cy="914400"/>
          </a:xfrm>
          <a:prstGeom prst="roundRect">
            <a:avLst>
              <a:gd name="adj" fmla="val 8000"/>
            </a:avLst>
          </a:prstGeom>
          <a:solidFill>
            <a:srgbClr val="FBE9E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A4262C"/>
                </a:solidFill>
                <a:latin typeface="Arial"/>
              </a:rPr>
              <a:t>429</a:t>
            </a:r>
            <a:r>
              <a:rPr sz="1300" b="0" i="0">
                <a:solidFill>
                  <a:srgbClr val="1E1E2E"/>
                </a:solidFill>
                <a:latin typeface="Arial"/>
              </a:rPr>
              <a:t>  rate exceeded, Retry-After</a:t>
            </a:r>
          </a:p>
          <a:p>
            <a:pPr algn="l"/>
            <a:r>
              <a:rPr sz="1800" b="1" i="0">
                <a:solidFill>
                  <a:srgbClr val="A4262C"/>
                </a:solidFill>
                <a:latin typeface="Arial"/>
              </a:rPr>
              <a:t>403</a:t>
            </a:r>
            <a:r>
              <a:rPr sz="1300" b="0" i="0">
                <a:solidFill>
                  <a:srgbClr val="1E1E2E"/>
                </a:solidFill>
                <a:latin typeface="Arial"/>
              </a:rPr>
              <a:t>  quota exceeded</a:t>
            </a:r>
          </a:p>
        </p:txBody>
      </p:sp>
      <p:cxnSp>
        <p:nvCxnSpPr>
          <p:cNvPr id="23" name="Connector (flow)"/>
          <p:cNvCxnSpPr/>
          <p:nvPr/>
        </p:nvCxnSpPr>
        <p:spPr>
          <a:xfrm flipV="1">
            <a:off x="2011680" y="2121408"/>
            <a:ext cx="1234440" cy="393192"/>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flow)"/>
          <p:cNvCxnSpPr/>
          <p:nvPr/>
        </p:nvCxnSpPr>
        <p:spPr>
          <a:xfrm>
            <a:off x="7360920" y="3840480"/>
            <a:ext cx="45720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25" name="Connector (flow)"/>
          <p:cNvCxnSpPr/>
          <p:nvPr/>
        </p:nvCxnSpPr>
        <p:spPr>
          <a:xfrm flipV="1">
            <a:off x="7818120" y="2240280"/>
            <a:ext cx="0" cy="160020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26" name="Connector (flow)"/>
          <p:cNvCxnSpPr/>
          <p:nvPr/>
        </p:nvCxnSpPr>
        <p:spPr>
          <a:xfrm>
            <a:off x="7818120" y="2240280"/>
            <a:ext cx="5029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863840" y="2834640"/>
            <a:ext cx="457200" cy="274320"/>
          </a:xfrm>
          <a:prstGeom prst="rect">
            <a:avLst/>
          </a:prstGeom>
          <a:noFill/>
        </p:spPr>
        <p:txBody>
          <a:bodyPr wrap="square" lIns="0" rIns="0" tIns="0" bIns="0" anchor="t">
            <a:noAutofit/>
          </a:bodyPr>
          <a:lstStyle/>
          <a:p>
            <a:pPr algn="l"/>
            <a:r>
              <a:rPr sz="1200" b="0" i="0">
                <a:solidFill>
                  <a:srgbClr val="000048"/>
                </a:solidFill>
                <a:latin typeface="Arial"/>
              </a:rPr>
              <a:t>yes</a:t>
            </a:r>
          </a:p>
        </p:txBody>
      </p:sp>
      <p:cxnSp>
        <p:nvCxnSpPr>
          <p:cNvPr id="28" name="Connector (blocked)"/>
          <p:cNvCxnSpPr/>
          <p:nvPr/>
        </p:nvCxnSpPr>
        <p:spPr>
          <a:xfrm>
            <a:off x="7360920" y="3977639"/>
            <a:ext cx="960120" cy="0"/>
          </a:xfrm>
          <a:prstGeom prst="line">
            <a:avLst/>
          </a:prstGeom>
          <a:ln w="19050">
            <a:solidFill>
              <a:srgbClr val="A4262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498079" y="4023360"/>
            <a:ext cx="822960" cy="274320"/>
          </a:xfrm>
          <a:prstGeom prst="rect">
            <a:avLst/>
          </a:prstGeom>
          <a:noFill/>
        </p:spPr>
        <p:txBody>
          <a:bodyPr wrap="square" lIns="0" rIns="0" tIns="0" bIns="0" anchor="t">
            <a:noAutofit/>
          </a:bodyPr>
          <a:lstStyle/>
          <a:p>
            <a:pPr algn="l"/>
            <a:r>
              <a:rPr sz="1200" b="0" i="0">
                <a:solidFill>
                  <a:srgbClr val="A4262C"/>
                </a:solidFill>
                <a:latin typeface="Arial"/>
              </a:rPr>
              <a:t>no</a:t>
            </a:r>
          </a:p>
        </p:txBody>
      </p:sp>
      <p:sp>
        <p:nvSpPr>
          <p:cNvPr id="30" name="Rounded Rectangle 29"/>
          <p:cNvSpPr/>
          <p:nvPr/>
        </p:nvSpPr>
        <p:spPr>
          <a:xfrm>
            <a:off x="548640" y="50292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Counters are per gateway and in-flight requests can overshoot before the limit takes effect (appendix A0).</a:t>
            </a:r>
          </a:p>
        </p:txBody>
      </p:sp>
      <p:sp>
        <p:nvSpPr>
          <p:cNvPr id="31" name="TextBox 30"/>
          <p:cNvSpPr txBox="1"/>
          <p:nvPr/>
        </p:nvSpPr>
        <p:spPr>
          <a:xfrm>
            <a:off x="548640" y="5760720"/>
            <a:ext cx="11064240" cy="256032"/>
          </a:xfrm>
          <a:prstGeom prst="rect">
            <a:avLst/>
          </a:prstGeom>
          <a:noFill/>
        </p:spPr>
        <p:txBody>
          <a:bodyPr wrap="square" lIns="0" rIns="0" tIns="0" bIns="0" anchor="t">
            <a:noAutofit/>
          </a:bodyPr>
          <a:lstStyle/>
          <a:p>
            <a:pPr algn="l"/>
            <a:r>
              <a:rPr sz="1200" b="1" i="0">
                <a:solidFill>
                  <a:srgbClr val="7373D8"/>
                </a:solidFill>
                <a:latin typeface="Arial"/>
              </a:rPr>
              <a:t>Rebuilt reference flow  ·  official Azure icons; source image kept in the original references pack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Request limits, concurrency and budget controls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A7</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18</a:t>
            </a:r>
          </a:p>
        </p:txBody>
      </p:sp>
      <p:graphicFrame>
        <p:nvGraphicFramePr>
          <p:cNvPr id="8" name="Table"/>
          <p:cNvGraphicFramePr>
            <a:graphicFrameLocks noGrp="1"/>
          </p:cNvGraphicFramePr>
          <p:nvPr/>
        </p:nvGraphicFramePr>
        <p:xfrm>
          <a:off x="548640" y="1371600"/>
          <a:ext cx="11091672" cy="2468880"/>
        </p:xfrm>
        <a:graphic>
          <a:graphicData uri="http://schemas.openxmlformats.org/drawingml/2006/table">
            <a:tbl>
              <a:tblPr firstRow="1" bandRow="0">
                <a:tableStyleId>{5C22544A-7EE6-4342-B048-85BDC9FD1C3A}</a:tableStyleId>
              </a:tblPr>
              <a:tblGrid>
                <a:gridCol w="2194560"/>
                <a:gridCol w="5120640"/>
                <a:gridCol w="3776472"/>
              </a:tblGrid>
              <a:tr h="320040">
                <a:tc>
                  <a:txBody>
                    <a:bodyPr wrap="square" anchor="ctr">
                      <a:noAutofit/>
                    </a:bodyPr>
                    <a:lstStyle/>
                    <a:p>
                      <a:pPr algn="l"/>
                      <a:r>
                        <a:rPr sz="15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Mechanism</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Limit</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Request rate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rate-limit-by-key on validated identity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Counts calls, not cost</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Request quota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quota-by-key per period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Per gateway counters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Concurrency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limit-concurrency per key or backend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Queues or rejects; tune timeouts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Token allowance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llm-token-limit quota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Tokens, not currency</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Currency budget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Custom budget service: price table x metered tokens, reservation before call</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Custom build; bounded, not zero, overshoot</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Azure budgets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Cost Management budget alerts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Alerts after spend; not a gate</a:t>
                      </a:r>
                    </a:p>
                  </a:txBody>
                  <a:tcPr marL="73152" marR="73152" marT="36576" marB="36576" anchor="ctr">
                    <a:solidFill>
                      <a:srgbClr val="F5F5F2"/>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Backend pools and routing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A8</a:t>
            </a:r>
          </a:p>
        </p:txBody>
      </p:sp>
      <p:sp>
        <p:nvSpPr>
          <p:cNvPr id="5" name="Status chip: REBUILT FROM LOW-RES SOURCE"/>
          <p:cNvSpPr/>
          <p:nvPr/>
        </p:nvSpPr>
        <p:spPr>
          <a:xfrm>
            <a:off x="1898650" y="274320"/>
            <a:ext cx="260604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REBUILT FROM LOW-RES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19</a:t>
            </a:r>
          </a:p>
        </p:txBody>
      </p:sp>
      <p:pic>
        <p:nvPicPr>
          <p:cNvPr id="9"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60119" y="2450592"/>
            <a:ext cx="457200" cy="457200"/>
          </a:xfrm>
          <a:prstGeom prst="rect">
            <a:avLst/>
          </a:prstGeom>
        </p:spPr>
      </p:pic>
      <p:sp>
        <p:nvSpPr>
          <p:cNvPr id="10" name="TextBox 9"/>
          <p:cNvSpPr txBox="1"/>
          <p:nvPr/>
        </p:nvSpPr>
        <p:spPr>
          <a:xfrm>
            <a:off x="585216" y="2944368"/>
            <a:ext cx="1207007" cy="310896"/>
          </a:xfrm>
          <a:prstGeom prst="rect">
            <a:avLst/>
          </a:prstGeom>
          <a:noFill/>
        </p:spPr>
        <p:txBody>
          <a:bodyPr wrap="square" lIns="0" rIns="0" tIns="0" bIns="0" anchor="t">
            <a:noAutofit/>
          </a:bodyPr>
          <a:lstStyle/>
          <a:p>
            <a:pPr algn="ctr"/>
            <a:r>
              <a:rPr sz="1300" b="1" i="0">
                <a:solidFill>
                  <a:srgbClr val="000048"/>
                </a:solidFill>
                <a:latin typeface="Arial"/>
              </a:rPr>
              <a:t>Requests</a:t>
            </a:r>
          </a:p>
        </p:txBody>
      </p:sp>
      <p:sp>
        <p:nvSpPr>
          <p:cNvPr id="11" name="Rounded Rectangle 10"/>
          <p:cNvSpPr/>
          <p:nvPr/>
        </p:nvSpPr>
        <p:spPr>
          <a:xfrm>
            <a:off x="2194560" y="1417320"/>
            <a:ext cx="4023360" cy="3474720"/>
          </a:xfrm>
          <a:prstGeom prst="roundRect">
            <a:avLst>
              <a:gd name="adj" fmla="val 2631"/>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304288" y="1472184"/>
            <a:ext cx="3803904" cy="237744"/>
          </a:xfrm>
          <a:prstGeom prst="rect">
            <a:avLst/>
          </a:prstGeom>
          <a:noFill/>
        </p:spPr>
        <p:txBody>
          <a:bodyPr wrap="square" lIns="0" rIns="0" tIns="0" bIns="0" anchor="t">
            <a:noAutofit/>
          </a:bodyPr>
          <a:lstStyle/>
          <a:p>
            <a:pPr algn="l"/>
            <a:r>
              <a:rPr sz="1200" b="1" i="0">
                <a:solidFill>
                  <a:srgbClr val="000048"/>
                </a:solidFill>
                <a:latin typeface="Arial"/>
              </a:rPr>
              <a:t>API MANAGEMENT BACKEND POOL</a:t>
            </a:r>
          </a:p>
        </p:txBody>
      </p:sp>
      <p:pic>
        <p:nvPicPr>
          <p:cNvPr id="13"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331720" y="1783080"/>
            <a:ext cx="457200" cy="457200"/>
          </a:xfrm>
          <a:prstGeom prst="rect">
            <a:avLst/>
          </a:prstGeom>
        </p:spPr>
      </p:pic>
      <p:sp>
        <p:nvSpPr>
          <p:cNvPr id="14" name="Rounded Rectangle 13"/>
          <p:cNvSpPr/>
          <p:nvPr/>
        </p:nvSpPr>
        <p:spPr>
          <a:xfrm>
            <a:off x="2926080" y="1783080"/>
            <a:ext cx="3108960"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200" b="0" i="0">
                <a:solidFill>
                  <a:srgbClr val="1E1E2E"/>
                </a:solidFill>
                <a:latin typeface="Arial"/>
              </a:rPr>
              <a:t>Mode: priority, weighted, round-robin or session-aware</a:t>
            </a:r>
          </a:p>
        </p:txBody>
      </p:sp>
      <p:sp>
        <p:nvSpPr>
          <p:cNvPr id="15" name="Rounded Rectangle 14"/>
          <p:cNvSpPr/>
          <p:nvPr/>
        </p:nvSpPr>
        <p:spPr>
          <a:xfrm>
            <a:off x="2377440" y="2606040"/>
            <a:ext cx="3657600" cy="731520"/>
          </a:xfrm>
          <a:prstGeom prst="roundRect">
            <a:avLst>
              <a:gd name="adj" fmla="val 10000"/>
            </a:avLst>
          </a:prstGeom>
          <a:solidFill>
            <a:srgbClr val="FFFFFF"/>
          </a:solidFill>
          <a:ln w="25400">
            <a:solidFill>
              <a:srgbClr val="1D6B3A"/>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Backend 1</a:t>
            </a:r>
            <a:r>
              <a:rPr sz="1200" b="0" i="0">
                <a:solidFill>
                  <a:srgbClr val="53565A"/>
                </a:solidFill>
                <a:latin typeface="Arial"/>
              </a:rPr>
              <a:t>  priority 1, PTU, region A</a:t>
            </a:r>
          </a:p>
        </p:txBody>
      </p:sp>
      <p:sp>
        <p:nvSpPr>
          <p:cNvPr id="16" name="Rounded Rectangle 15"/>
          <p:cNvSpPr/>
          <p:nvPr/>
        </p:nvSpPr>
        <p:spPr>
          <a:xfrm>
            <a:off x="2377440" y="3520440"/>
            <a:ext cx="36576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400" b="1" i="0">
                <a:solidFill>
                  <a:srgbClr val="000048"/>
                </a:solidFill>
                <a:latin typeface="Arial"/>
              </a:rPr>
              <a:t>Backend 2</a:t>
            </a:r>
            <a:r>
              <a:rPr sz="1200" b="0" i="0">
                <a:solidFill>
                  <a:srgbClr val="53565A"/>
                </a:solidFill>
                <a:latin typeface="Arial"/>
              </a:rPr>
              <a:t>  priority 2, PAYG, region A or B</a:t>
            </a:r>
          </a:p>
        </p:txBody>
      </p:sp>
      <p:sp>
        <p:nvSpPr>
          <p:cNvPr id="17" name="Rounded Rectangle 16"/>
          <p:cNvSpPr/>
          <p:nvPr/>
        </p:nvSpPr>
        <p:spPr>
          <a:xfrm>
            <a:off x="7315200" y="2331720"/>
            <a:ext cx="201168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8"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92440" y="2404872"/>
            <a:ext cx="457200" cy="457200"/>
          </a:xfrm>
          <a:prstGeom prst="rect">
            <a:avLst/>
          </a:prstGeom>
        </p:spPr>
      </p:pic>
      <p:sp>
        <p:nvSpPr>
          <p:cNvPr id="19" name="TextBox 18"/>
          <p:cNvSpPr txBox="1"/>
          <p:nvPr/>
        </p:nvSpPr>
        <p:spPr>
          <a:xfrm>
            <a:off x="7351775" y="2898648"/>
            <a:ext cx="1938528" cy="512064"/>
          </a:xfrm>
          <a:prstGeom prst="rect">
            <a:avLst/>
          </a:prstGeom>
          <a:noFill/>
        </p:spPr>
        <p:txBody>
          <a:bodyPr wrap="square" lIns="0" rIns="0" tIns="0" bIns="0" anchor="t">
            <a:noAutofit/>
          </a:bodyPr>
          <a:lstStyle/>
          <a:p>
            <a:pPr algn="ctr"/>
            <a:r>
              <a:rPr sz="1300" b="1" i="0">
                <a:solidFill>
                  <a:srgbClr val="000048"/>
                </a:solidFill>
                <a:latin typeface="Arial"/>
              </a:rPr>
              <a:t>PTU deployment</a:t>
            </a:r>
          </a:p>
          <a:p>
            <a:pPr algn="ctr"/>
            <a:r>
              <a:rPr sz="1200" b="0" i="0">
                <a:solidFill>
                  <a:srgbClr val="53565A"/>
                </a:solidFill>
                <a:latin typeface="Arial"/>
              </a:rPr>
              <a:t>primary</a:t>
            </a:r>
          </a:p>
        </p:txBody>
      </p:sp>
      <p:sp>
        <p:nvSpPr>
          <p:cNvPr id="20" name="Rounded Rectangle 19"/>
          <p:cNvSpPr/>
          <p:nvPr/>
        </p:nvSpPr>
        <p:spPr>
          <a:xfrm>
            <a:off x="7315200" y="3657600"/>
            <a:ext cx="201168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092440" y="3730752"/>
            <a:ext cx="457200" cy="457200"/>
          </a:xfrm>
          <a:prstGeom prst="rect">
            <a:avLst/>
          </a:prstGeom>
        </p:spPr>
      </p:pic>
      <p:sp>
        <p:nvSpPr>
          <p:cNvPr id="22" name="TextBox 21"/>
          <p:cNvSpPr txBox="1"/>
          <p:nvPr/>
        </p:nvSpPr>
        <p:spPr>
          <a:xfrm>
            <a:off x="7351775" y="4224528"/>
            <a:ext cx="1938528" cy="512064"/>
          </a:xfrm>
          <a:prstGeom prst="rect">
            <a:avLst/>
          </a:prstGeom>
          <a:noFill/>
        </p:spPr>
        <p:txBody>
          <a:bodyPr wrap="square" lIns="0" rIns="0" tIns="0" bIns="0" anchor="t">
            <a:noAutofit/>
          </a:bodyPr>
          <a:lstStyle/>
          <a:p>
            <a:pPr algn="ctr"/>
            <a:r>
              <a:rPr sz="1300" b="1" i="0">
                <a:solidFill>
                  <a:srgbClr val="000048"/>
                </a:solidFill>
                <a:latin typeface="Arial"/>
              </a:rPr>
              <a:t>PAYG deployment</a:t>
            </a:r>
          </a:p>
          <a:p>
            <a:pPr algn="ctr"/>
            <a:r>
              <a:rPr sz="1200" b="0" i="0">
                <a:solidFill>
                  <a:srgbClr val="53565A"/>
                </a:solidFill>
                <a:latin typeface="Arial"/>
              </a:rPr>
              <a:t>approved overflow</a:t>
            </a:r>
          </a:p>
        </p:txBody>
      </p:sp>
      <p:cxnSp>
        <p:nvCxnSpPr>
          <p:cNvPr id="23" name="Connector (flow)"/>
          <p:cNvCxnSpPr/>
          <p:nvPr/>
        </p:nvCxnSpPr>
        <p:spPr>
          <a:xfrm>
            <a:off x="1828800" y="2651760"/>
            <a:ext cx="548640" cy="32004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flow)"/>
          <p:cNvCxnSpPr/>
          <p:nvPr/>
        </p:nvCxnSpPr>
        <p:spPr>
          <a:xfrm flipV="1">
            <a:off x="6035040" y="2743200"/>
            <a:ext cx="1280160" cy="22860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flow)"/>
          <p:cNvCxnSpPr/>
          <p:nvPr/>
        </p:nvCxnSpPr>
        <p:spPr>
          <a:xfrm>
            <a:off x="6035040" y="3886200"/>
            <a:ext cx="1280160" cy="182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509760" y="2331720"/>
            <a:ext cx="2194560" cy="2377440"/>
          </a:xfrm>
          <a:prstGeom prst="rect">
            <a:avLst/>
          </a:prstGeom>
          <a:noFill/>
        </p:spPr>
        <p:txBody>
          <a:bodyPr wrap="square" lIns="0" rIns="0" tIns="0" bIns="0" anchor="t">
            <a:noAutofit/>
          </a:bodyPr>
          <a:lstStyle/>
          <a:p>
            <a:pPr algn="l"/>
            <a:r>
              <a:rPr sz="1300" b="0" i="0">
                <a:solidFill>
                  <a:srgbClr val="1E1E2E"/>
                </a:solidFill>
                <a:latin typeface="Arial"/>
              </a:rPr>
              <a:t>Health and circuit breaker remove an unavailable backend; traffic moves to the next priority inside the approved boundary.</a:t>
            </a:r>
          </a:p>
        </p:txBody>
      </p:sp>
      <p:sp>
        <p:nvSpPr>
          <p:cNvPr id="27" name="Rounded Rectangle 26"/>
          <p:cNvSpPr/>
          <p:nvPr/>
        </p:nvSpPr>
        <p:spPr>
          <a:xfrm>
            <a:off x="548640" y="516636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Overflow and retries can raise PAYG spend. Fallback must stay inside the approved processing boundary.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Backend circuit breaker protects a dependency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A9</a:t>
            </a:r>
          </a:p>
        </p:txBody>
      </p:sp>
      <p:sp>
        <p:nvSpPr>
          <p:cNvPr id="5" name="Status chip: REBUILT FROM LOW-RES SOURCE"/>
          <p:cNvSpPr/>
          <p:nvPr/>
        </p:nvSpPr>
        <p:spPr>
          <a:xfrm>
            <a:off x="1898650" y="274320"/>
            <a:ext cx="260604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REBUILT FROM LOW-RES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6"/>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20</a:t>
            </a:r>
          </a:p>
        </p:txBody>
      </p:sp>
      <p:sp>
        <p:nvSpPr>
          <p:cNvPr id="9" name="Rounded Rectangle 8"/>
          <p:cNvSpPr/>
          <p:nvPr/>
        </p:nvSpPr>
        <p:spPr>
          <a:xfrm>
            <a:off x="548640" y="1463040"/>
            <a:ext cx="3566160" cy="640080"/>
          </a:xfrm>
          <a:prstGeom prst="roundRect">
            <a:avLst>
              <a:gd name="adj" fmla="val 11428"/>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000" b="1" i="0">
                <a:solidFill>
                  <a:srgbClr val="1D6B3A"/>
                </a:solidFill>
                <a:latin typeface="Arial"/>
              </a:rPr>
              <a:t>Closed</a:t>
            </a:r>
          </a:p>
        </p:txBody>
      </p:sp>
      <p:sp>
        <p:nvSpPr>
          <p:cNvPr id="10" name="TextBox 9"/>
          <p:cNvSpPr txBox="1"/>
          <p:nvPr/>
        </p:nvSpPr>
        <p:spPr>
          <a:xfrm>
            <a:off x="548640" y="2240280"/>
            <a:ext cx="3566160" cy="1097280"/>
          </a:xfrm>
          <a:prstGeom prst="rect">
            <a:avLst/>
          </a:prstGeom>
          <a:noFill/>
        </p:spPr>
        <p:txBody>
          <a:bodyPr wrap="square" lIns="0" rIns="0" tIns="0" bIns="0" anchor="t">
            <a:noAutofit/>
          </a:bodyPr>
          <a:lstStyle/>
          <a:p>
            <a:pPr algn="ctr"/>
            <a:r>
              <a:rPr sz="1600" b="0" i="0">
                <a:solidFill>
                  <a:srgbClr val="1E1E2E"/>
                </a:solidFill>
                <a:latin typeface="Arial"/>
              </a:rPr>
              <a:t>Calls flow to backend</a:t>
            </a:r>
          </a:p>
        </p:txBody>
      </p:sp>
      <p:cxnSp>
        <p:nvCxnSpPr>
          <p:cNvPr id="11" name="Connector (flow)"/>
          <p:cNvCxnSpPr/>
          <p:nvPr/>
        </p:nvCxnSpPr>
        <p:spPr>
          <a:xfrm>
            <a:off x="4114800" y="178308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97679" y="1463040"/>
            <a:ext cx="3566160" cy="640080"/>
          </a:xfrm>
          <a:prstGeom prst="roundRect">
            <a:avLst>
              <a:gd name="adj" fmla="val 11428"/>
            </a:avLst>
          </a:prstGeom>
          <a:solidFill>
            <a:srgbClr val="FBE9E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000" b="1" i="0">
                <a:solidFill>
                  <a:srgbClr val="A4262C"/>
                </a:solidFill>
                <a:latin typeface="Arial"/>
              </a:rPr>
              <a:t>Open</a:t>
            </a:r>
          </a:p>
        </p:txBody>
      </p:sp>
      <p:sp>
        <p:nvSpPr>
          <p:cNvPr id="13" name="TextBox 12"/>
          <p:cNvSpPr txBox="1"/>
          <p:nvPr/>
        </p:nvSpPr>
        <p:spPr>
          <a:xfrm>
            <a:off x="4297679" y="2240280"/>
            <a:ext cx="3566160" cy="1097280"/>
          </a:xfrm>
          <a:prstGeom prst="rect">
            <a:avLst/>
          </a:prstGeom>
          <a:noFill/>
        </p:spPr>
        <p:txBody>
          <a:bodyPr wrap="square" lIns="0" rIns="0" tIns="0" bIns="0" anchor="t">
            <a:noAutofit/>
          </a:bodyPr>
          <a:lstStyle/>
          <a:p>
            <a:pPr algn="ctr"/>
            <a:r>
              <a:rPr sz="1600" b="0" i="0">
                <a:solidFill>
                  <a:srgbClr val="1E1E2E"/>
                </a:solidFill>
                <a:latin typeface="Arial"/>
              </a:rPr>
              <a:t>Trip on 429 or 5xx rule; calls fail fast or go to next backend</a:t>
            </a:r>
          </a:p>
        </p:txBody>
      </p:sp>
      <p:cxnSp>
        <p:nvCxnSpPr>
          <p:cNvPr id="14" name="Connector (flow)"/>
          <p:cNvCxnSpPr/>
          <p:nvPr/>
        </p:nvCxnSpPr>
        <p:spPr>
          <a:xfrm>
            <a:off x="7863840" y="178308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46719" y="1463040"/>
            <a:ext cx="3566160" cy="640080"/>
          </a:xfrm>
          <a:prstGeom prst="roundRect">
            <a:avLst>
              <a:gd name="adj" fmla="val 11428"/>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2000" b="1" i="0">
                <a:solidFill>
                  <a:srgbClr val="8A4B08"/>
                </a:solidFill>
                <a:latin typeface="Arial"/>
              </a:rPr>
              <a:t>Half-open</a:t>
            </a:r>
          </a:p>
        </p:txBody>
      </p:sp>
      <p:sp>
        <p:nvSpPr>
          <p:cNvPr id="16" name="TextBox 15"/>
          <p:cNvSpPr txBox="1"/>
          <p:nvPr/>
        </p:nvSpPr>
        <p:spPr>
          <a:xfrm>
            <a:off x="8046719" y="2240280"/>
            <a:ext cx="3566160" cy="1097280"/>
          </a:xfrm>
          <a:prstGeom prst="rect">
            <a:avLst/>
          </a:prstGeom>
          <a:noFill/>
        </p:spPr>
        <p:txBody>
          <a:bodyPr wrap="square" lIns="0" rIns="0" tIns="0" bIns="0" anchor="t">
            <a:noAutofit/>
          </a:bodyPr>
          <a:lstStyle/>
          <a:p>
            <a:pPr algn="ctr"/>
            <a:r>
              <a:rPr sz="1600" b="0" i="0">
                <a:solidFill>
                  <a:srgbClr val="1E1E2E"/>
                </a:solidFill>
                <a:latin typeface="Arial"/>
              </a:rPr>
              <a:t>After trip duration (can follow Retry-After), test calls allowed</a:t>
            </a:r>
          </a:p>
        </p:txBody>
      </p:sp>
      <p:cxnSp>
        <p:nvCxnSpPr>
          <p:cNvPr id="17" name="Connector (flow)"/>
          <p:cNvCxnSpPr/>
          <p:nvPr/>
        </p:nvCxnSpPr>
        <p:spPr>
          <a:xfrm>
            <a:off x="11521440" y="2103120"/>
            <a:ext cx="0" cy="132588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18" name="Connector (flow)"/>
          <p:cNvCxnSpPr/>
          <p:nvPr/>
        </p:nvCxnSpPr>
        <p:spPr>
          <a:xfrm flipH="1">
            <a:off x="640080" y="3429000"/>
            <a:ext cx="1088136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19" name="Connector (flow)"/>
          <p:cNvCxnSpPr/>
          <p:nvPr/>
        </p:nvCxnSpPr>
        <p:spPr>
          <a:xfrm flipV="1">
            <a:off x="640080" y="2103120"/>
            <a:ext cx="0" cy="1325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206240" y="3474720"/>
            <a:ext cx="3657600" cy="274320"/>
          </a:xfrm>
          <a:prstGeom prst="rect">
            <a:avLst/>
          </a:prstGeom>
          <a:noFill/>
        </p:spPr>
        <p:txBody>
          <a:bodyPr wrap="square" lIns="0" rIns="0" tIns="0" bIns="0" anchor="t">
            <a:noAutofit/>
          </a:bodyPr>
          <a:lstStyle/>
          <a:p>
            <a:pPr algn="ctr"/>
            <a:r>
              <a:rPr sz="1200" b="0" i="0">
                <a:solidFill>
                  <a:srgbClr val="000048"/>
                </a:solidFill>
                <a:latin typeface="Arial"/>
              </a:rPr>
              <a:t>test calls succeed: close</a:t>
            </a:r>
          </a:p>
        </p:txBody>
      </p:sp>
      <p:pic>
        <p:nvPicPr>
          <p:cNvPr id="21" name="Azure icon: API Management" descr="Official Azure icon: API Managemen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8640" y="4160520"/>
            <a:ext cx="502920" cy="502920"/>
          </a:xfrm>
          <a:prstGeom prst="rect">
            <a:avLst/>
          </a:prstGeom>
        </p:spPr>
      </p:pic>
      <p:sp>
        <p:nvSpPr>
          <p:cNvPr id="22" name="TextBox 21"/>
          <p:cNvSpPr txBox="1"/>
          <p:nvPr/>
        </p:nvSpPr>
        <p:spPr>
          <a:xfrm>
            <a:off x="1188720" y="4206240"/>
            <a:ext cx="10424160" cy="548640"/>
          </a:xfrm>
          <a:prstGeom prst="rect">
            <a:avLst/>
          </a:prstGeom>
          <a:noFill/>
        </p:spPr>
        <p:txBody>
          <a:bodyPr wrap="square" lIns="0" rIns="0" tIns="0" bIns="0" anchor="t">
            <a:noAutofit/>
          </a:bodyPr>
          <a:lstStyle/>
          <a:p>
            <a:pPr algn="l"/>
            <a:r>
              <a:rPr sz="1600" b="0" i="0">
                <a:solidFill>
                  <a:srgbClr val="1E1E2E"/>
                </a:solidFill>
                <a:latin typeface="Arial"/>
              </a:rPr>
              <a:t>Configured on the API Management backend; pairs with the backend pool for fallback.</a:t>
            </a:r>
          </a:p>
        </p:txBody>
      </p:sp>
      <p:sp>
        <p:nvSpPr>
          <p:cNvPr id="23" name="Rounded Rectangle 22"/>
          <p:cNvSpPr/>
          <p:nvPr/>
        </p:nvSpPr>
        <p:spPr>
          <a:xfrm>
            <a:off x="548640" y="512064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Not an agent kill switch: it does not stop running work or revoke tool access. See appendix 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PTU primary with approved PAYG overflow: two ways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A10</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21</a:t>
            </a:r>
          </a:p>
        </p:txBody>
      </p:sp>
      <p:graphicFrame>
        <p:nvGraphicFramePr>
          <p:cNvPr id="9" name="Table"/>
          <p:cNvGraphicFramePr>
            <a:graphicFrameLocks noGrp="1"/>
          </p:cNvGraphicFramePr>
          <p:nvPr/>
        </p:nvGraphicFramePr>
        <p:xfrm>
          <a:off x="548640" y="1371600"/>
          <a:ext cx="11091672" cy="2926080"/>
        </p:xfrm>
        <a:graphic>
          <a:graphicData uri="http://schemas.openxmlformats.org/drawingml/2006/table">
            <a:tbl>
              <a:tblPr firstRow="1" bandRow="0">
                <a:tableStyleId>{5C22544A-7EE6-4342-B048-85BDC9FD1C3A}</a:tableStyleId>
              </a:tblPr>
              <a:tblGrid>
                <a:gridCol w="2377440"/>
                <a:gridCol w="4206240"/>
                <a:gridCol w="4507992"/>
              </a:tblGrid>
              <a:tr h="320040">
                <a:tc>
                  <a:txBody>
                    <a:bodyPr wrap="square" anchor="ctr">
                      <a:noAutofit/>
                    </a:bodyPr>
                    <a:lstStyle/>
                    <a:p>
                      <a:pPr algn="l"/>
                      <a:r>
                        <a:rPr sz="1500" b="1" i="0">
                          <a:solidFill>
                            <a:srgbClr val="FFFFFF"/>
                          </a:solidFill>
                          <a:latin typeface="Arial"/>
                        </a:rPr>
                        <a:t>Aspect</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Foundry spillover</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API Management priority backends</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Where it decides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Inside the Foundry resource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At the gateway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Scope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Same resource, standard deployment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Any approved backend, any region</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Trigger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Provisioned deployment returns non-200, such as 429</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Circuit breaker or health rule</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Model support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Azure OpenAI models; not DeepSeek or Llama today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Any backend the gateway can call</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Cost control</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Overflow billed at standard rates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Overflow billed at standard rates; per-key limits apply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Choose when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Single resource, simple overflow</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Several resources, regions or policies</a:t>
                      </a:r>
                    </a:p>
                  </a:txBody>
                  <a:tcPr marL="73152" marR="73152" marT="36576" marB="36576" anchor="ctr">
                    <a:solidFill>
                      <a:srgbClr val="F5F5F2"/>
                    </a:solidFill>
                  </a:tcPr>
                </a:tc>
              </a:tr>
            </a:tbl>
          </a:graphicData>
        </a:graphic>
      </p:graphicFrame>
      <p:sp>
        <p:nvSpPr>
          <p:cNvPr id="10" name="Rounded Rectangle 9"/>
          <p:cNvSpPr/>
          <p:nvPr/>
        </p:nvSpPr>
        <p:spPr>
          <a:xfrm>
            <a:off x="548640" y="52578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Overflow is conditional capacity, not unlimited. Budget the PAYG share and alert on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Content safety in the gateway flow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A11</a:t>
            </a:r>
          </a:p>
        </p:txBody>
      </p:sp>
      <p:sp>
        <p:nvSpPr>
          <p:cNvPr id="5" name="Status chip: REBUILT FROM LOW-RES SOURCE"/>
          <p:cNvSpPr/>
          <p:nvPr/>
        </p:nvSpPr>
        <p:spPr>
          <a:xfrm>
            <a:off x="1996440" y="274320"/>
            <a:ext cx="260604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REBUILT FROM LOW-RES SOURCE</a:t>
            </a:r>
          </a:p>
        </p:txBody>
      </p:sp>
      <p:sp>
        <p:nvSpPr>
          <p:cNvPr id="6" name="Status chip: VERIFIED 11 OCT 2026"/>
          <p:cNvSpPr/>
          <p:nvPr/>
        </p:nvSpPr>
        <p:spPr>
          <a:xfrm>
            <a:off x="469392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8" name="IndexLink">
            <a:hlinkClick action="ppaction://hlinksldjump" r:id="rId1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22</a:t>
            </a:r>
          </a:p>
        </p:txBody>
      </p:sp>
      <p:pic>
        <p:nvPicPr>
          <p:cNvPr id="10"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5840" y="2267712"/>
            <a:ext cx="457200" cy="457200"/>
          </a:xfrm>
          <a:prstGeom prst="rect">
            <a:avLst/>
          </a:prstGeom>
        </p:spPr>
      </p:pic>
      <p:sp>
        <p:nvSpPr>
          <p:cNvPr id="11" name="TextBox 10"/>
          <p:cNvSpPr txBox="1"/>
          <p:nvPr/>
        </p:nvSpPr>
        <p:spPr>
          <a:xfrm>
            <a:off x="585216" y="2761488"/>
            <a:ext cx="1298448" cy="512064"/>
          </a:xfrm>
          <a:prstGeom prst="rect">
            <a:avLst/>
          </a:prstGeom>
          <a:noFill/>
        </p:spPr>
        <p:txBody>
          <a:bodyPr wrap="square" lIns="0" rIns="0" tIns="0" bIns="0" anchor="t">
            <a:noAutofit/>
          </a:bodyPr>
          <a:lstStyle/>
          <a:p>
            <a:pPr algn="ctr"/>
            <a:r>
              <a:rPr sz="1300" b="1" i="0">
                <a:solidFill>
                  <a:srgbClr val="000048"/>
                </a:solidFill>
                <a:latin typeface="Arial"/>
              </a:rPr>
              <a:t>Prompt</a:t>
            </a:r>
          </a:p>
          <a:p>
            <a:pPr algn="ctr"/>
            <a:r>
              <a:rPr sz="1200" b="0" i="0">
                <a:solidFill>
                  <a:srgbClr val="53565A"/>
                </a:solidFill>
                <a:latin typeface="Arial"/>
              </a:rPr>
              <a:t>from app or agent</a:t>
            </a:r>
          </a:p>
        </p:txBody>
      </p:sp>
      <p:sp>
        <p:nvSpPr>
          <p:cNvPr id="12" name="Rounded Rectangle 11"/>
          <p:cNvSpPr/>
          <p:nvPr/>
        </p:nvSpPr>
        <p:spPr>
          <a:xfrm>
            <a:off x="2286000" y="1417320"/>
            <a:ext cx="3931920" cy="3108960"/>
          </a:xfrm>
          <a:prstGeom prst="roundRect">
            <a:avLst>
              <a:gd name="adj" fmla="val 2941"/>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395728" y="1472184"/>
            <a:ext cx="3712463" cy="237744"/>
          </a:xfrm>
          <a:prstGeom prst="rect">
            <a:avLst/>
          </a:prstGeom>
          <a:noFill/>
        </p:spPr>
        <p:txBody>
          <a:bodyPr wrap="square" lIns="0" rIns="0" tIns="0" bIns="0" anchor="t">
            <a:noAutofit/>
          </a:bodyPr>
          <a:lstStyle/>
          <a:p>
            <a:pPr algn="l"/>
            <a:r>
              <a:rPr sz="1200" b="1" i="0">
                <a:solidFill>
                  <a:srgbClr val="000048"/>
                </a:solidFill>
                <a:latin typeface="Arial"/>
              </a:rPr>
              <a:t>API MANAGEMENT POLICIES</a:t>
            </a:r>
          </a:p>
        </p:txBody>
      </p:sp>
      <p:pic>
        <p:nvPicPr>
          <p:cNvPr id="14"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23160" y="1783080"/>
            <a:ext cx="457200" cy="457200"/>
          </a:xfrm>
          <a:prstGeom prst="rect">
            <a:avLst/>
          </a:prstGeom>
        </p:spPr>
      </p:pic>
      <p:sp>
        <p:nvSpPr>
          <p:cNvPr id="15" name="Rounded Rectangle 14"/>
          <p:cNvSpPr/>
          <p:nvPr/>
        </p:nvSpPr>
        <p:spPr>
          <a:xfrm>
            <a:off x="3017520" y="1783080"/>
            <a:ext cx="3017520" cy="91440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400" b="1" i="0">
                <a:solidFill>
                  <a:srgbClr val="000048"/>
                </a:solidFill>
                <a:latin typeface="Arial"/>
              </a:rPr>
              <a:t>Inbound check</a:t>
            </a:r>
          </a:p>
          <a:p>
            <a:pPr algn="l"/>
            <a:r>
              <a:rPr sz="1200" b="0" i="0">
                <a:solidFill>
                  <a:srgbClr val="53565A"/>
                </a:solidFill>
                <a:latin typeface="Arial"/>
              </a:rPr>
              <a:t>categories, blocklists, prompt shield</a:t>
            </a:r>
          </a:p>
        </p:txBody>
      </p:sp>
      <p:sp>
        <p:nvSpPr>
          <p:cNvPr id="16" name="Rounded Rectangle 15"/>
          <p:cNvSpPr/>
          <p:nvPr/>
        </p:nvSpPr>
        <p:spPr>
          <a:xfrm>
            <a:off x="3017520" y="2926080"/>
            <a:ext cx="3017520" cy="914400"/>
          </a:xfrm>
          <a:prstGeom prst="roundRect">
            <a:avLst>
              <a:gd name="adj" fmla="val 8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400" b="1" i="0">
                <a:solidFill>
                  <a:srgbClr val="000048"/>
                </a:solidFill>
                <a:latin typeface="Arial"/>
              </a:rPr>
              <a:t>Outbound check</a:t>
            </a:r>
          </a:p>
          <a:p>
            <a:pPr algn="l"/>
            <a:r>
              <a:rPr sz="1200" b="0" i="0">
                <a:solidFill>
                  <a:srgbClr val="53565A"/>
                </a:solidFill>
                <a:latin typeface="Arial"/>
              </a:rPr>
              <a:t>completion validation</a:t>
            </a:r>
          </a:p>
        </p:txBody>
      </p:sp>
      <p:sp>
        <p:nvSpPr>
          <p:cNvPr id="17" name="Rounded Rectangle 16"/>
          <p:cNvSpPr/>
          <p:nvPr/>
        </p:nvSpPr>
        <p:spPr>
          <a:xfrm>
            <a:off x="6858000" y="1417320"/>
            <a:ext cx="228600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8" name="Azure icon: Content Safety" descr="Official Azure icon: Content Safety"/>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72400" y="1490472"/>
            <a:ext cx="457200" cy="457200"/>
          </a:xfrm>
          <a:prstGeom prst="rect">
            <a:avLst/>
          </a:prstGeom>
        </p:spPr>
      </p:pic>
      <p:sp>
        <p:nvSpPr>
          <p:cNvPr id="19" name="TextBox 18"/>
          <p:cNvSpPr txBox="1"/>
          <p:nvPr/>
        </p:nvSpPr>
        <p:spPr>
          <a:xfrm>
            <a:off x="6894576" y="1984248"/>
            <a:ext cx="2212848" cy="512064"/>
          </a:xfrm>
          <a:prstGeom prst="rect">
            <a:avLst/>
          </a:prstGeom>
          <a:noFill/>
        </p:spPr>
        <p:txBody>
          <a:bodyPr wrap="square" lIns="0" rIns="0" tIns="0" bIns="0" anchor="t">
            <a:noAutofit/>
          </a:bodyPr>
          <a:lstStyle/>
          <a:p>
            <a:pPr algn="ctr"/>
            <a:r>
              <a:rPr sz="1300" b="1" i="0">
                <a:solidFill>
                  <a:srgbClr val="000048"/>
                </a:solidFill>
                <a:latin typeface="Arial"/>
              </a:rPr>
              <a:t>Azure AI Content Safety</a:t>
            </a:r>
          </a:p>
          <a:p>
            <a:pPr algn="ctr"/>
            <a:r>
              <a:rPr sz="1200" b="0" i="0">
                <a:solidFill>
                  <a:srgbClr val="53565A"/>
                </a:solidFill>
                <a:latin typeface="Arial"/>
              </a:rPr>
              <a:t>managed identity</a:t>
            </a:r>
          </a:p>
        </p:txBody>
      </p:sp>
      <p:sp>
        <p:nvSpPr>
          <p:cNvPr id="20" name="Rounded Rectangle 19"/>
          <p:cNvSpPr/>
          <p:nvPr/>
        </p:nvSpPr>
        <p:spPr>
          <a:xfrm>
            <a:off x="9509760" y="1417320"/>
            <a:ext cx="210312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Foundry Models" descr="Official Azure icon: Foundry Model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332720" y="1490472"/>
            <a:ext cx="457200" cy="457200"/>
          </a:xfrm>
          <a:prstGeom prst="rect">
            <a:avLst/>
          </a:prstGeom>
        </p:spPr>
      </p:pic>
      <p:sp>
        <p:nvSpPr>
          <p:cNvPr id="22" name="TextBox 21"/>
          <p:cNvSpPr txBox="1"/>
          <p:nvPr/>
        </p:nvSpPr>
        <p:spPr>
          <a:xfrm>
            <a:off x="9546336" y="1984248"/>
            <a:ext cx="2029967" cy="512064"/>
          </a:xfrm>
          <a:prstGeom prst="rect">
            <a:avLst/>
          </a:prstGeom>
          <a:noFill/>
        </p:spPr>
        <p:txBody>
          <a:bodyPr wrap="square" lIns="0" rIns="0" tIns="0" bIns="0" anchor="t">
            <a:noAutofit/>
          </a:bodyPr>
          <a:lstStyle/>
          <a:p>
            <a:pPr algn="ctr"/>
            <a:r>
              <a:rPr sz="1300" b="1" i="0">
                <a:solidFill>
                  <a:srgbClr val="000048"/>
                </a:solidFill>
                <a:latin typeface="Arial"/>
              </a:rPr>
              <a:t>Model deployment</a:t>
            </a:r>
          </a:p>
          <a:p>
            <a:pPr algn="ctr"/>
            <a:r>
              <a:rPr sz="1200" b="0" i="0">
                <a:solidFill>
                  <a:srgbClr val="53565A"/>
                </a:solidFill>
                <a:latin typeface="Arial"/>
              </a:rPr>
              <a:t>Foundry Models</a:t>
            </a:r>
          </a:p>
        </p:txBody>
      </p:sp>
      <p:sp>
        <p:nvSpPr>
          <p:cNvPr id="23" name="Rounded Rectangle 22"/>
          <p:cNvSpPr/>
          <p:nvPr/>
        </p:nvSpPr>
        <p:spPr>
          <a:xfrm>
            <a:off x="6858000" y="3108960"/>
            <a:ext cx="228600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4" name="Azure icon: Azure Monitor" descr="Official Azure icon: Azure Monito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772400" y="3182112"/>
            <a:ext cx="457200" cy="457200"/>
          </a:xfrm>
          <a:prstGeom prst="rect">
            <a:avLst/>
          </a:prstGeom>
        </p:spPr>
      </p:pic>
      <p:sp>
        <p:nvSpPr>
          <p:cNvPr id="25" name="TextBox 24"/>
          <p:cNvSpPr txBox="1"/>
          <p:nvPr/>
        </p:nvSpPr>
        <p:spPr>
          <a:xfrm>
            <a:off x="6894576" y="3675887"/>
            <a:ext cx="2212848" cy="512064"/>
          </a:xfrm>
          <a:prstGeom prst="rect">
            <a:avLst/>
          </a:prstGeom>
          <a:noFill/>
        </p:spPr>
        <p:txBody>
          <a:bodyPr wrap="square" lIns="0" rIns="0" tIns="0" bIns="0" anchor="t">
            <a:noAutofit/>
          </a:bodyPr>
          <a:lstStyle/>
          <a:p>
            <a:pPr algn="ctr"/>
            <a:r>
              <a:rPr sz="1300" b="1" i="0">
                <a:solidFill>
                  <a:srgbClr val="000048"/>
                </a:solidFill>
                <a:latin typeface="Arial"/>
              </a:rPr>
              <a:t>Azure Monitor</a:t>
            </a:r>
          </a:p>
          <a:p>
            <a:pPr algn="ctr"/>
            <a:r>
              <a:rPr sz="1200" b="0" i="0">
                <a:solidFill>
                  <a:srgbClr val="53565A"/>
                </a:solidFill>
                <a:latin typeface="Arial"/>
              </a:rPr>
              <a:t>logs and metrics</a:t>
            </a:r>
          </a:p>
        </p:txBody>
      </p:sp>
      <p:cxnSp>
        <p:nvCxnSpPr>
          <p:cNvPr id="26" name="Connector (flow)"/>
          <p:cNvCxnSpPr/>
          <p:nvPr/>
        </p:nvCxnSpPr>
        <p:spPr>
          <a:xfrm flipV="1">
            <a:off x="1920240" y="2240280"/>
            <a:ext cx="1097280" cy="22860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flow)"/>
          <p:cNvCxnSpPr/>
          <p:nvPr/>
        </p:nvCxnSpPr>
        <p:spPr>
          <a:xfrm flipV="1">
            <a:off x="6035040" y="1920240"/>
            <a:ext cx="822960" cy="182880"/>
          </a:xfrm>
          <a:prstGeom prst="line">
            <a:avLst/>
          </a:prstGeom>
          <a:ln w="22225">
            <a:solidFill>
              <a:srgbClr val="000048"/>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flow)"/>
          <p:cNvCxnSpPr/>
          <p:nvPr/>
        </p:nvCxnSpPr>
        <p:spPr>
          <a:xfrm>
            <a:off x="6035040" y="2377440"/>
            <a:ext cx="54864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29" name="Connector (flow)"/>
          <p:cNvCxnSpPr/>
          <p:nvPr/>
        </p:nvCxnSpPr>
        <p:spPr>
          <a:xfrm>
            <a:off x="6583680" y="2377440"/>
            <a:ext cx="0" cy="41148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0" name="Connector (flow)"/>
          <p:cNvCxnSpPr/>
          <p:nvPr/>
        </p:nvCxnSpPr>
        <p:spPr>
          <a:xfrm>
            <a:off x="6583680" y="2788920"/>
            <a:ext cx="397764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1" name="Connector (flow)"/>
          <p:cNvCxnSpPr/>
          <p:nvPr/>
        </p:nvCxnSpPr>
        <p:spPr>
          <a:xfrm flipV="1">
            <a:off x="10561320" y="2468880"/>
            <a:ext cx="0" cy="32004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telemetry)"/>
          <p:cNvCxnSpPr/>
          <p:nvPr/>
        </p:nvCxnSpPr>
        <p:spPr>
          <a:xfrm>
            <a:off x="6035040" y="3566160"/>
            <a:ext cx="82296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548640" y="3291840"/>
            <a:ext cx="1554480" cy="777240"/>
          </a:xfrm>
          <a:prstGeom prst="roundRect">
            <a:avLst>
              <a:gd name="adj" fmla="val 9411"/>
            </a:avLst>
          </a:prstGeom>
          <a:solidFill>
            <a:srgbClr val="FBE9E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800" b="1" i="0">
                <a:solidFill>
                  <a:srgbClr val="A4262C"/>
                </a:solidFill>
                <a:latin typeface="Arial"/>
              </a:rPr>
              <a:t>403</a:t>
            </a:r>
          </a:p>
          <a:p>
            <a:pPr algn="ctr"/>
            <a:r>
              <a:rPr sz="1200" b="0" i="0">
                <a:solidFill>
                  <a:srgbClr val="1E1E2E"/>
                </a:solidFill>
                <a:latin typeface="Arial"/>
              </a:rPr>
              <a:t>on violation</a:t>
            </a:r>
          </a:p>
        </p:txBody>
      </p:sp>
      <p:cxnSp>
        <p:nvCxnSpPr>
          <p:cNvPr id="34" name="Connector (blocked)"/>
          <p:cNvCxnSpPr/>
          <p:nvPr/>
        </p:nvCxnSpPr>
        <p:spPr>
          <a:xfrm flipH="1">
            <a:off x="2103120" y="3611880"/>
            <a:ext cx="914400" cy="45720"/>
          </a:xfrm>
          <a:prstGeom prst="line">
            <a:avLst/>
          </a:prstGeom>
          <a:ln w="19050">
            <a:solidFill>
              <a:srgbClr val="A4262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548640" y="484632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Streaming: forwarding stops on violation without a 403. Test thresholds, false positives, latency and service failure.</a:t>
            </a:r>
          </a:p>
        </p:txBody>
      </p:sp>
      <p:sp>
        <p:nvSpPr>
          <p:cNvPr id="36" name="TextBox 35"/>
          <p:cNvSpPr txBox="1"/>
          <p:nvPr/>
        </p:nvSpPr>
        <p:spPr>
          <a:xfrm>
            <a:off x="548640" y="5577840"/>
            <a:ext cx="11064240" cy="256032"/>
          </a:xfrm>
          <a:prstGeom prst="rect">
            <a:avLst/>
          </a:prstGeom>
          <a:noFill/>
        </p:spPr>
        <p:txBody>
          <a:bodyPr wrap="square" lIns="0" rIns="0" tIns="0" bIns="0" anchor="t">
            <a:noAutofit/>
          </a:bodyPr>
          <a:lstStyle/>
          <a:p>
            <a:pPr algn="l"/>
            <a:r>
              <a:rPr sz="1200" b="1" i="0">
                <a:solidFill>
                  <a:srgbClr val="7373D8"/>
                </a:solidFill>
                <a:latin typeface="Arial"/>
              </a:rPr>
              <a:t>Rebuilt reference flow  ·  official Azure icons; source image kept in the original references pack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Tool authorisation and human approval</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A12</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23</a:t>
            </a:r>
          </a:p>
        </p:txBody>
      </p:sp>
      <p:sp>
        <p:nvSpPr>
          <p:cNvPr id="9" name="Rounded Rectangle 8"/>
          <p:cNvSpPr/>
          <p:nvPr/>
        </p:nvSpPr>
        <p:spPr>
          <a:xfrm>
            <a:off x="548640" y="1417320"/>
            <a:ext cx="3593592" cy="3017520"/>
          </a:xfrm>
          <a:prstGeom prst="roundRect">
            <a:avLst>
              <a:gd name="adj" fmla="val 24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Content Safety" descr="Official Azure icon: Content Safety"/>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1520" y="1600200"/>
            <a:ext cx="502920" cy="502920"/>
          </a:xfrm>
          <a:prstGeom prst="rect">
            <a:avLst/>
          </a:prstGeom>
        </p:spPr>
      </p:pic>
      <p:sp>
        <p:nvSpPr>
          <p:cNvPr id="11" name="TextBox 10"/>
          <p:cNvSpPr txBox="1"/>
          <p:nvPr/>
        </p:nvSpPr>
        <p:spPr>
          <a:xfrm>
            <a:off x="1371600" y="1664208"/>
            <a:ext cx="2651760" cy="411480"/>
          </a:xfrm>
          <a:prstGeom prst="rect">
            <a:avLst/>
          </a:prstGeom>
          <a:noFill/>
        </p:spPr>
        <p:txBody>
          <a:bodyPr wrap="square" lIns="0" rIns="0" tIns="0" bIns="0" anchor="t">
            <a:noAutofit/>
          </a:bodyPr>
          <a:lstStyle/>
          <a:p>
            <a:pPr algn="l"/>
            <a:r>
              <a:rPr sz="2100" b="1" i="0">
                <a:solidFill>
                  <a:srgbClr val="000048"/>
                </a:solidFill>
                <a:latin typeface="Arial"/>
              </a:rPr>
              <a:t>Moderate</a:t>
            </a:r>
          </a:p>
        </p:txBody>
      </p:sp>
      <p:sp>
        <p:nvSpPr>
          <p:cNvPr id="12" name="TextBox 11"/>
          <p:cNvSpPr txBox="1"/>
          <p:nvPr/>
        </p:nvSpPr>
        <p:spPr>
          <a:xfrm>
            <a:off x="731520" y="2286000"/>
            <a:ext cx="3246120" cy="2011680"/>
          </a:xfrm>
          <a:prstGeom prst="rect">
            <a:avLst/>
          </a:prstGeom>
          <a:noFill/>
        </p:spPr>
        <p:txBody>
          <a:bodyPr wrap="square" lIns="0" rIns="0" tIns="0" bIns="0" anchor="t">
            <a:noAutofit/>
          </a:bodyPr>
          <a:lstStyle/>
          <a:p>
            <a:pPr algn="l"/>
            <a:r>
              <a:rPr sz="1700" b="0" i="0">
                <a:solidFill>
                  <a:srgbClr val="1E1E2E"/>
                </a:solidFill>
                <a:latin typeface="Arial"/>
              </a:rPr>
              <a:t>Harm categories and prompt attacks on prompts and completions</a:t>
            </a:r>
          </a:p>
        </p:txBody>
      </p:sp>
      <p:sp>
        <p:nvSpPr>
          <p:cNvPr id="13" name="Rounded Rectangle 12"/>
          <p:cNvSpPr/>
          <p:nvPr/>
        </p:nvSpPr>
        <p:spPr>
          <a:xfrm>
            <a:off x="4297679" y="1417320"/>
            <a:ext cx="3593592" cy="3017520"/>
          </a:xfrm>
          <a:prstGeom prst="roundRect">
            <a:avLst>
              <a:gd name="adj" fmla="val 24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80559" y="1600200"/>
            <a:ext cx="502920" cy="502920"/>
          </a:xfrm>
          <a:prstGeom prst="rect">
            <a:avLst/>
          </a:prstGeom>
        </p:spPr>
      </p:pic>
      <p:sp>
        <p:nvSpPr>
          <p:cNvPr id="15" name="TextBox 14"/>
          <p:cNvSpPr txBox="1"/>
          <p:nvPr/>
        </p:nvSpPr>
        <p:spPr>
          <a:xfrm>
            <a:off x="5120640" y="1664208"/>
            <a:ext cx="2651760" cy="411480"/>
          </a:xfrm>
          <a:prstGeom prst="rect">
            <a:avLst/>
          </a:prstGeom>
          <a:noFill/>
        </p:spPr>
        <p:txBody>
          <a:bodyPr wrap="square" lIns="0" rIns="0" tIns="0" bIns="0" anchor="t">
            <a:noAutofit/>
          </a:bodyPr>
          <a:lstStyle/>
          <a:p>
            <a:pPr algn="l"/>
            <a:r>
              <a:rPr sz="2100" b="1" i="0">
                <a:solidFill>
                  <a:srgbClr val="000048"/>
                </a:solidFill>
                <a:latin typeface="Arial"/>
              </a:rPr>
              <a:t>Authorise</a:t>
            </a:r>
          </a:p>
        </p:txBody>
      </p:sp>
      <p:sp>
        <p:nvSpPr>
          <p:cNvPr id="16" name="TextBox 15"/>
          <p:cNvSpPr txBox="1"/>
          <p:nvPr/>
        </p:nvSpPr>
        <p:spPr>
          <a:xfrm>
            <a:off x="4480559" y="2286000"/>
            <a:ext cx="3246120" cy="2011680"/>
          </a:xfrm>
          <a:prstGeom prst="rect">
            <a:avLst/>
          </a:prstGeom>
          <a:noFill/>
        </p:spPr>
        <p:txBody>
          <a:bodyPr wrap="square" lIns="0" rIns="0" tIns="0" bIns="0" anchor="t">
            <a:noAutofit/>
          </a:bodyPr>
          <a:lstStyle/>
          <a:p>
            <a:pPr algn="l"/>
            <a:r>
              <a:rPr sz="1700" b="0" i="0">
                <a:solidFill>
                  <a:srgbClr val="1E1E2E"/>
                </a:solidFill>
                <a:latin typeface="Arial"/>
              </a:rPr>
              <a:t>Allowed tool, target and operation per agent identity, enforced at gateway and tool side</a:t>
            </a:r>
          </a:p>
        </p:txBody>
      </p:sp>
      <p:sp>
        <p:nvSpPr>
          <p:cNvPr id="17" name="Rounded Rectangle 16"/>
          <p:cNvSpPr/>
          <p:nvPr/>
        </p:nvSpPr>
        <p:spPr>
          <a:xfrm>
            <a:off x="8046719" y="1417320"/>
            <a:ext cx="3593592" cy="3017520"/>
          </a:xfrm>
          <a:prstGeom prst="roundRect">
            <a:avLst>
              <a:gd name="adj" fmla="val 2424"/>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8" name="Azure icon: Entra Privileged Identity Management" descr="Official Azure icon: Entra Privileged Identity Management"/>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229599" y="1600200"/>
            <a:ext cx="502920" cy="502920"/>
          </a:xfrm>
          <a:prstGeom prst="rect">
            <a:avLst/>
          </a:prstGeom>
        </p:spPr>
      </p:pic>
      <p:sp>
        <p:nvSpPr>
          <p:cNvPr id="19" name="TextBox 18"/>
          <p:cNvSpPr txBox="1"/>
          <p:nvPr/>
        </p:nvSpPr>
        <p:spPr>
          <a:xfrm>
            <a:off x="8869680" y="1664208"/>
            <a:ext cx="2651760" cy="411480"/>
          </a:xfrm>
          <a:prstGeom prst="rect">
            <a:avLst/>
          </a:prstGeom>
          <a:noFill/>
        </p:spPr>
        <p:txBody>
          <a:bodyPr wrap="square" lIns="0" rIns="0" tIns="0" bIns="0" anchor="t">
            <a:noAutofit/>
          </a:bodyPr>
          <a:lstStyle/>
          <a:p>
            <a:pPr algn="l"/>
            <a:r>
              <a:rPr sz="2100" b="1" i="0">
                <a:solidFill>
                  <a:srgbClr val="000048"/>
                </a:solidFill>
                <a:latin typeface="Arial"/>
              </a:rPr>
              <a:t>Approve</a:t>
            </a:r>
          </a:p>
        </p:txBody>
      </p:sp>
      <p:sp>
        <p:nvSpPr>
          <p:cNvPr id="20" name="TextBox 19"/>
          <p:cNvSpPr txBox="1"/>
          <p:nvPr/>
        </p:nvSpPr>
        <p:spPr>
          <a:xfrm>
            <a:off x="8229599" y="2286000"/>
            <a:ext cx="3246120" cy="2011680"/>
          </a:xfrm>
          <a:prstGeom prst="rect">
            <a:avLst/>
          </a:prstGeom>
          <a:noFill/>
        </p:spPr>
        <p:txBody>
          <a:bodyPr wrap="square" lIns="0" rIns="0" tIns="0" bIns="0" anchor="t">
            <a:noAutofit/>
          </a:bodyPr>
          <a:lstStyle/>
          <a:p>
            <a:pPr algn="l"/>
            <a:r>
              <a:rPr sz="1700" b="0" i="0">
                <a:solidFill>
                  <a:srgbClr val="1E1E2E"/>
                </a:solidFill>
                <a:latin typeface="Arial"/>
              </a:rPr>
              <a:t>Human approval before high-impact actions, recorded with the request</a:t>
            </a:r>
          </a:p>
        </p:txBody>
      </p:sp>
      <p:sp>
        <p:nvSpPr>
          <p:cNvPr id="21" name="Rounded Rectangle 20"/>
          <p:cNvSpPr/>
          <p:nvPr/>
        </p:nvSpPr>
        <p:spPr>
          <a:xfrm>
            <a:off x="548640" y="475488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Test fail-open versus fail-closed for each control. Approval services are custom and owned by the AI tower.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Token metrics, logs and cost allocation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A13</a:t>
            </a:r>
          </a:p>
        </p:txBody>
      </p:sp>
      <p:sp>
        <p:nvSpPr>
          <p:cNvPr id="5" name="Status chip: REBUILT FROM LOW-RES SOURCE"/>
          <p:cNvSpPr/>
          <p:nvPr/>
        </p:nvSpPr>
        <p:spPr>
          <a:xfrm>
            <a:off x="1996440" y="274320"/>
            <a:ext cx="260604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REBUILT FROM LOW-RES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1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24</a:t>
            </a:r>
          </a:p>
        </p:txBody>
      </p:sp>
      <p:sp>
        <p:nvSpPr>
          <p:cNvPr id="9" name="Rounded Rectangle 8"/>
          <p:cNvSpPr/>
          <p:nvPr/>
        </p:nvSpPr>
        <p:spPr>
          <a:xfrm>
            <a:off x="548640" y="1554480"/>
            <a:ext cx="2194560" cy="1143000"/>
          </a:xfrm>
          <a:prstGeom prst="roundRect">
            <a:avLst>
              <a:gd name="adj" fmla="val 6400"/>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API Management" descr="Official Azure icon: API Managemen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94460" y="1627632"/>
            <a:ext cx="502920" cy="502920"/>
          </a:xfrm>
          <a:prstGeom prst="rect">
            <a:avLst/>
          </a:prstGeom>
        </p:spPr>
      </p:pic>
      <p:sp>
        <p:nvSpPr>
          <p:cNvPr id="11" name="TextBox 10"/>
          <p:cNvSpPr txBox="1"/>
          <p:nvPr/>
        </p:nvSpPr>
        <p:spPr>
          <a:xfrm>
            <a:off x="585216" y="2167128"/>
            <a:ext cx="2121408" cy="512063"/>
          </a:xfrm>
          <a:prstGeom prst="rect">
            <a:avLst/>
          </a:prstGeom>
          <a:noFill/>
        </p:spPr>
        <p:txBody>
          <a:bodyPr wrap="square" lIns="0" rIns="0" tIns="0" bIns="0" anchor="t">
            <a:noAutofit/>
          </a:bodyPr>
          <a:lstStyle/>
          <a:p>
            <a:pPr algn="ctr"/>
            <a:r>
              <a:rPr sz="1300" b="1" i="0">
                <a:solidFill>
                  <a:srgbClr val="000048"/>
                </a:solidFill>
                <a:latin typeface="Arial"/>
              </a:rPr>
              <a:t>API Management</a:t>
            </a:r>
          </a:p>
          <a:p>
            <a:pPr algn="ctr"/>
            <a:r>
              <a:rPr sz="1200" b="0" i="0">
                <a:solidFill>
                  <a:srgbClr val="53565A"/>
                </a:solidFill>
                <a:latin typeface="Arial"/>
              </a:rPr>
              <a:t>llm-emit-token-metric</a:t>
            </a:r>
          </a:p>
        </p:txBody>
      </p:sp>
      <p:sp>
        <p:nvSpPr>
          <p:cNvPr id="12" name="Rounded Rectangle 11"/>
          <p:cNvSpPr/>
          <p:nvPr/>
        </p:nvSpPr>
        <p:spPr>
          <a:xfrm>
            <a:off x="3566160" y="1554480"/>
            <a:ext cx="2194560" cy="1143000"/>
          </a:xfrm>
          <a:prstGeom prst="roundRect">
            <a:avLst>
              <a:gd name="adj" fmla="val 64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Application Insights" descr="Official Azure icon: Application Insight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11979" y="1627632"/>
            <a:ext cx="502920" cy="502920"/>
          </a:xfrm>
          <a:prstGeom prst="rect">
            <a:avLst/>
          </a:prstGeom>
        </p:spPr>
      </p:pic>
      <p:sp>
        <p:nvSpPr>
          <p:cNvPr id="14" name="TextBox 13"/>
          <p:cNvSpPr txBox="1"/>
          <p:nvPr/>
        </p:nvSpPr>
        <p:spPr>
          <a:xfrm>
            <a:off x="3602736" y="2167128"/>
            <a:ext cx="2121408" cy="512063"/>
          </a:xfrm>
          <a:prstGeom prst="rect">
            <a:avLst/>
          </a:prstGeom>
          <a:noFill/>
        </p:spPr>
        <p:txBody>
          <a:bodyPr wrap="square" lIns="0" rIns="0" tIns="0" bIns="0" anchor="t">
            <a:noAutofit/>
          </a:bodyPr>
          <a:lstStyle/>
          <a:p>
            <a:pPr algn="ctr"/>
            <a:r>
              <a:rPr sz="1300" b="1" i="0">
                <a:solidFill>
                  <a:srgbClr val="000048"/>
                </a:solidFill>
                <a:latin typeface="Arial"/>
              </a:rPr>
              <a:t>Application Insights</a:t>
            </a:r>
          </a:p>
          <a:p>
            <a:pPr algn="ctr"/>
            <a:r>
              <a:rPr sz="1200" b="0" i="0">
                <a:solidFill>
                  <a:srgbClr val="53565A"/>
                </a:solidFill>
                <a:latin typeface="Arial"/>
              </a:rPr>
              <a:t>custom metrics</a:t>
            </a:r>
          </a:p>
        </p:txBody>
      </p:sp>
      <p:sp>
        <p:nvSpPr>
          <p:cNvPr id="15" name="Rounded Rectangle 14"/>
          <p:cNvSpPr/>
          <p:nvPr/>
        </p:nvSpPr>
        <p:spPr>
          <a:xfrm>
            <a:off x="6583680" y="1554480"/>
            <a:ext cx="2194560" cy="1143000"/>
          </a:xfrm>
          <a:prstGeom prst="roundRect">
            <a:avLst>
              <a:gd name="adj" fmla="val 64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6" name="Azure icon: Log Analytics workspace" descr="Official Azure icon: Log Analytics workspac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29500" y="1627632"/>
            <a:ext cx="502920" cy="502920"/>
          </a:xfrm>
          <a:prstGeom prst="rect">
            <a:avLst/>
          </a:prstGeom>
        </p:spPr>
      </p:pic>
      <p:sp>
        <p:nvSpPr>
          <p:cNvPr id="17" name="TextBox 16"/>
          <p:cNvSpPr txBox="1"/>
          <p:nvPr/>
        </p:nvSpPr>
        <p:spPr>
          <a:xfrm>
            <a:off x="6620256" y="2167128"/>
            <a:ext cx="2121408" cy="512063"/>
          </a:xfrm>
          <a:prstGeom prst="rect">
            <a:avLst/>
          </a:prstGeom>
          <a:noFill/>
        </p:spPr>
        <p:txBody>
          <a:bodyPr wrap="square" lIns="0" rIns="0" tIns="0" bIns="0" anchor="t">
            <a:noAutofit/>
          </a:bodyPr>
          <a:lstStyle/>
          <a:p>
            <a:pPr algn="ctr"/>
            <a:r>
              <a:rPr sz="1300" b="1" i="0">
                <a:solidFill>
                  <a:srgbClr val="000048"/>
                </a:solidFill>
                <a:latin typeface="Arial"/>
              </a:rPr>
              <a:t>Log Analytics</a:t>
            </a:r>
          </a:p>
          <a:p>
            <a:pPr algn="ctr"/>
            <a:r>
              <a:rPr sz="1200" b="0" i="0">
                <a:solidFill>
                  <a:srgbClr val="53565A"/>
                </a:solidFill>
                <a:latin typeface="Arial"/>
              </a:rPr>
              <a:t>gateway logs, retention</a:t>
            </a:r>
          </a:p>
        </p:txBody>
      </p:sp>
      <p:sp>
        <p:nvSpPr>
          <p:cNvPr id="18" name="Rounded Rectangle 17"/>
          <p:cNvSpPr/>
          <p:nvPr/>
        </p:nvSpPr>
        <p:spPr>
          <a:xfrm>
            <a:off x="9509760" y="1554480"/>
            <a:ext cx="2194560" cy="1143000"/>
          </a:xfrm>
          <a:prstGeom prst="roundRect">
            <a:avLst>
              <a:gd name="adj" fmla="val 64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9" name="Azure icon: Azure Workbooks" descr="Official Azure icon: Azure Workbook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355580" y="1627632"/>
            <a:ext cx="502920" cy="502920"/>
          </a:xfrm>
          <a:prstGeom prst="rect">
            <a:avLst/>
          </a:prstGeom>
        </p:spPr>
      </p:pic>
      <p:sp>
        <p:nvSpPr>
          <p:cNvPr id="20" name="TextBox 19"/>
          <p:cNvSpPr txBox="1"/>
          <p:nvPr/>
        </p:nvSpPr>
        <p:spPr>
          <a:xfrm>
            <a:off x="9546336" y="2167128"/>
            <a:ext cx="2121408" cy="512063"/>
          </a:xfrm>
          <a:prstGeom prst="rect">
            <a:avLst/>
          </a:prstGeom>
          <a:noFill/>
        </p:spPr>
        <p:txBody>
          <a:bodyPr wrap="square" lIns="0" rIns="0" tIns="0" bIns="0" anchor="t">
            <a:noAutofit/>
          </a:bodyPr>
          <a:lstStyle/>
          <a:p>
            <a:pPr algn="ctr"/>
            <a:r>
              <a:rPr sz="1300" b="1" i="0">
                <a:solidFill>
                  <a:srgbClr val="000048"/>
                </a:solidFill>
                <a:latin typeface="Arial"/>
              </a:rPr>
              <a:t>Allocation workbook</a:t>
            </a:r>
          </a:p>
          <a:p>
            <a:pPr algn="ctr"/>
            <a:r>
              <a:rPr sz="1200" b="0" i="0">
                <a:solidFill>
                  <a:srgbClr val="53565A"/>
                </a:solidFill>
                <a:latin typeface="Arial"/>
              </a:rPr>
              <a:t>tokens by team and agent</a:t>
            </a:r>
          </a:p>
        </p:txBody>
      </p:sp>
      <p:cxnSp>
        <p:nvCxnSpPr>
          <p:cNvPr id="21" name="Connector (telemetry)"/>
          <p:cNvCxnSpPr/>
          <p:nvPr/>
        </p:nvCxnSpPr>
        <p:spPr>
          <a:xfrm>
            <a:off x="2743200" y="2103120"/>
            <a:ext cx="82296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telemetry)"/>
          <p:cNvCxnSpPr/>
          <p:nvPr/>
        </p:nvCxnSpPr>
        <p:spPr>
          <a:xfrm>
            <a:off x="5760720" y="2103120"/>
            <a:ext cx="82296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telemetry)"/>
          <p:cNvCxnSpPr/>
          <p:nvPr/>
        </p:nvCxnSpPr>
        <p:spPr>
          <a:xfrm>
            <a:off x="8778240" y="2103120"/>
            <a:ext cx="73152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24" name="Table"/>
          <p:cNvGraphicFramePr>
            <a:graphicFrameLocks noGrp="1"/>
          </p:cNvGraphicFramePr>
          <p:nvPr/>
        </p:nvGraphicFramePr>
        <p:xfrm>
          <a:off x="548640" y="3246120"/>
          <a:ext cx="11091672" cy="1524000"/>
        </p:xfrm>
        <a:graphic>
          <a:graphicData uri="http://schemas.openxmlformats.org/drawingml/2006/table">
            <a:tbl>
              <a:tblPr firstRow="1" bandRow="0">
                <a:tableStyleId>{5C22544A-7EE6-4342-B048-85BDC9FD1C3A}</a:tableStyleId>
              </a:tblPr>
              <a:tblGrid>
                <a:gridCol w="3108960"/>
                <a:gridCol w="3657600"/>
                <a:gridCol w="4325112"/>
              </a:tblGrid>
              <a:tr h="304800">
                <a:tc>
                  <a:txBody>
                    <a:bodyPr wrap="square" anchor="ctr">
                      <a:noAutofit/>
                    </a:bodyPr>
                    <a:lstStyle/>
                    <a:p>
                      <a:pPr algn="l"/>
                      <a:r>
                        <a:rPr sz="1400" b="1" i="0">
                          <a:solidFill>
                            <a:srgbClr val="FFFFFF"/>
                          </a:solidFill>
                          <a:latin typeface="Arial"/>
                        </a:rPr>
                        <a:t>Dimension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Source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Used for</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Application or agent ID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Validated token claim</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Allocation and containment scope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Team or cost centre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Product or subscription mapping</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Showback</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Model and deployment type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Backend selected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Price per token type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Region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Gateway and backend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Residency evidence</a:t>
                      </a:r>
                    </a:p>
                  </a:txBody>
                  <a:tcPr marL="73152" marR="73152" marT="36576" marB="36576" anchor="ctr">
                    <a:solidFill>
                      <a:srgbClr val="F5F5F2"/>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Private connectivity and regional resilience options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A14</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25</a:t>
            </a:r>
          </a:p>
        </p:txBody>
      </p:sp>
      <p:graphicFrame>
        <p:nvGraphicFramePr>
          <p:cNvPr id="9" name="Table"/>
          <p:cNvGraphicFramePr>
            <a:graphicFrameLocks noGrp="1"/>
          </p:cNvGraphicFramePr>
          <p:nvPr/>
        </p:nvGraphicFramePr>
        <p:xfrm>
          <a:off x="548640" y="1371600"/>
          <a:ext cx="11091672" cy="2514600"/>
        </p:xfrm>
        <a:graphic>
          <a:graphicData uri="http://schemas.openxmlformats.org/drawingml/2006/table">
            <a:tbl>
              <a:tblPr firstRow="1" bandRow="0">
                <a:tableStyleId>{5C22544A-7EE6-4342-B048-85BDC9FD1C3A}</a:tableStyleId>
              </a:tblPr>
              <a:tblGrid>
                <a:gridCol w="3108960"/>
                <a:gridCol w="2926080"/>
                <a:gridCol w="2651760"/>
                <a:gridCol w="2404872"/>
              </a:tblGrid>
              <a:tr h="320040">
                <a:tc>
                  <a:txBody>
                    <a:bodyPr wrap="square" anchor="ctr">
                      <a:noAutofit/>
                    </a:bodyPr>
                    <a:lstStyle/>
                    <a:p>
                      <a:pPr algn="l"/>
                      <a:r>
                        <a:rPr sz="1500" b="1" i="0">
                          <a:solidFill>
                            <a:srgbClr val="FFFFFF"/>
                          </a:solidFill>
                          <a:latin typeface="Arial"/>
                        </a:rPr>
                        <a:t>Pattern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Gateway failure domain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Network</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Tier fit</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One gateway, regional backends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Single gateway region</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Private endpoints to each backend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Standard v2 or Premium v2</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Multi-region gateway (built in)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Regional gateways, one control plane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VNet injection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Premium (classic) only</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Two independent gateways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Separate instances, separate counters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Per-region private network</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Any production tier</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Zone-redundant gateway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Zones within one region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VNet injection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Premium v2 or Premium (classic)</a:t>
                      </a:r>
                    </a:p>
                  </a:txBody>
                  <a:tcPr marL="73152" marR="73152" marT="36576" marB="36576" anchor="ctr">
                    <a:solidFill>
                      <a:srgbClr val="F5F5F2"/>
                    </a:solidFill>
                  </a:tcPr>
                </a:tc>
              </a:tr>
            </a:tbl>
          </a:graphicData>
        </a:graphic>
      </p:graphicFrame>
      <p:sp>
        <p:nvSpPr>
          <p:cNvPr id="10" name="Rounded Rectangle 9"/>
          <p:cNvSpPr/>
          <p:nvPr/>
        </p:nvSpPr>
        <p:spPr>
          <a:xfrm>
            <a:off x="548640" y="420624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Backend failover across regions leaves a single-gateway failure domain in place. Counters do not aggregate across gateways.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Bypass prevention checklist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A15</a:t>
            </a:r>
          </a:p>
        </p:txBody>
      </p:sp>
      <p:sp>
        <p:nvSpPr>
          <p:cNvPr id="5" name="Status chip: PROPOSED CONTROLS"/>
          <p:cNvSpPr/>
          <p:nvPr/>
        </p:nvSpPr>
        <p:spPr>
          <a:xfrm>
            <a:off x="199644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CONTROLS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26</a:t>
            </a:r>
          </a:p>
        </p:txBody>
      </p:sp>
      <p:graphicFrame>
        <p:nvGraphicFramePr>
          <p:cNvPr id="9" name="Table"/>
          <p:cNvGraphicFramePr>
            <a:graphicFrameLocks noGrp="1"/>
          </p:cNvGraphicFramePr>
          <p:nvPr/>
        </p:nvGraphicFramePr>
        <p:xfrm>
          <a:off x="548640" y="1371600"/>
          <a:ext cx="11091672" cy="3063240"/>
        </p:xfrm>
        <a:graphic>
          <a:graphicData uri="http://schemas.openxmlformats.org/drawingml/2006/table">
            <a:tbl>
              <a:tblPr firstRow="1" bandRow="0">
                <a:tableStyleId>{5C22544A-7EE6-4342-B048-85BDC9FD1C3A}</a:tableStyleId>
              </a:tblPr>
              <a:tblGrid>
                <a:gridCol w="2743200"/>
                <a:gridCol w="5120640"/>
                <a:gridCol w="3227832"/>
              </a:tblGrid>
              <a:tr h="320040">
                <a:tc>
                  <a:txBody>
                    <a:bodyPr wrap="square" anchor="ctr">
                      <a:noAutofit/>
                    </a:bodyPr>
                    <a:lstStyle/>
                    <a:p>
                      <a:pPr algn="l"/>
                      <a:r>
                        <a:rPr sz="15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How</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Negative test</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No public model endpoints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Public network access disabled; private endpoints only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Call from internet fails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No keys in apps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Local auth disabled where supported; managed identity at gateway only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Key-based call fails</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Data-plane RBAC only for gateway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Apps have no role on the Foundry resource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App identity call fails</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Network path</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NSG and UDR allow model endpoints only from gateway subnet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Direct call from app subnet fails</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Detect drift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Azure Policy deny or audit; Resource Graph query for public endpoints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Policy flags a test resource</a:t>
                      </a:r>
                    </a:p>
                  </a:txBody>
                  <a:tcPr marL="73152" marR="73152" marT="36576" marB="36576" anchor="ctr">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API Management tier capabilities that drive SKU choice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A17</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Status chip: SELECTED FEATURES"/>
          <p:cNvSpPr/>
          <p:nvPr/>
        </p:nvSpPr>
        <p:spPr>
          <a:xfrm>
            <a:off x="408940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SELECTED FEATURES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27</a:t>
            </a:r>
          </a:p>
        </p:txBody>
      </p:sp>
      <p:graphicFrame>
        <p:nvGraphicFramePr>
          <p:cNvPr id="10" name="Table"/>
          <p:cNvGraphicFramePr>
            <a:graphicFrameLocks noGrp="1"/>
          </p:cNvGraphicFramePr>
          <p:nvPr/>
        </p:nvGraphicFramePr>
        <p:xfrm>
          <a:off x="548640" y="1371600"/>
          <a:ext cx="11091672" cy="2545080"/>
        </p:xfrm>
        <a:graphic>
          <a:graphicData uri="http://schemas.openxmlformats.org/drawingml/2006/table">
            <a:tbl>
              <a:tblPr firstRow="1" bandRow="0">
                <a:tableStyleId>{5C22544A-7EE6-4342-B048-85BDC9FD1C3A}</a:tableStyleId>
              </a:tblPr>
              <a:tblGrid>
                <a:gridCol w="3108960"/>
                <a:gridCol w="1554480"/>
                <a:gridCol w="1554480"/>
                <a:gridCol w="1600200"/>
                <a:gridCol w="1600200"/>
                <a:gridCol w="1673352"/>
              </a:tblGrid>
              <a:tr h="304800">
                <a:tc>
                  <a:txBody>
                    <a:bodyPr wrap="square" anchor="ctr">
                      <a:noAutofit/>
                    </a:bodyPr>
                    <a:lstStyle/>
                    <a:p>
                      <a:pPr algn="l"/>
                      <a:r>
                        <a:rPr sz="1400" b="1" i="0">
                          <a:solidFill>
                            <a:srgbClr val="FFFFFF"/>
                          </a:solidFill>
                          <a:latin typeface="Arial"/>
                        </a:rPr>
                        <a:t>Capability</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Developer</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Basic v2</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Standard v2</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Premium v2</a:t>
                      </a:r>
                    </a:p>
                  </a:txBody>
                  <a:tcPr marL="73152" marR="73152" marT="36576" marB="36576" anchor="ctr">
                    <a:solidFill>
                      <a:srgbClr val="000048"/>
                    </a:solidFill>
                  </a:tcPr>
                </a:tc>
                <a:tc>
                  <a:txBody>
                    <a:bodyPr wrap="square" anchor="ctr">
                      <a:noAutofit/>
                    </a:bodyPr>
                    <a:lstStyle/>
                    <a:p>
                      <a:pPr algn="ctr"/>
                      <a:r>
                        <a:rPr sz="1400" b="1" i="0">
                          <a:solidFill>
                            <a:srgbClr val="FFFFFF"/>
                          </a:solidFill>
                          <a:latin typeface="Arial"/>
                        </a:rPr>
                        <a:t>Premium (classic)</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Inbound private endpoint</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Outbound to VNet backends</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VNet injection</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Availability zones</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Built-in multi-region</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Self-hosted gateway</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5F5F2"/>
                    </a:solidFill>
                  </a:tcPr>
                </a:tc>
                <a:tc>
                  <a:txBody>
                    <a:bodyPr wrap="square" anchor="ctr">
                      <a:noAutofit/>
                    </a:bodyPr>
                    <a:lstStyle/>
                    <a:p>
                      <a:pPr algn="ctr"/>
                      <a:r>
                        <a:rPr sz="1500" b="1" i="0">
                          <a:solidFill>
                            <a:srgbClr val="1D6B3A"/>
                          </a:solidFill>
                          <a:latin typeface="Arial"/>
                        </a:rPr>
                        <a:t>Yes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Production SLA</a:t>
                      </a:r>
                    </a:p>
                  </a:txBody>
                  <a:tcPr marL="73152" marR="73152" marT="36576" marB="36576" anchor="ctr">
                    <a:solidFill>
                      <a:srgbClr val="FFFFFF"/>
                    </a:solidFill>
                  </a:tcPr>
                </a:tc>
                <a:tc>
                  <a:txBody>
                    <a:bodyPr wrap="square" anchor="ctr">
                      <a:noAutofit/>
                    </a:bodyPr>
                    <a:lstStyle/>
                    <a:p>
                      <a:pPr algn="ctr"/>
                      <a:r>
                        <a:rPr sz="1500" b="0" i="0">
                          <a:solidFill>
                            <a:srgbClr val="8A8A8A"/>
                          </a:solidFill>
                          <a:latin typeface="Arial"/>
                        </a:rPr>
                        <a:t>No</a:t>
                      </a:r>
                    </a:p>
                  </a:txBody>
                  <a:tcPr marL="73152" marR="73152" marT="36576" marB="36576" anchor="ctr">
                    <a:solidFill>
                      <a:srgbClr val="FFFFFF"/>
                    </a:solidFill>
                  </a:tcPr>
                </a:tc>
                <a:tc>
                  <a:txBody>
                    <a:bodyPr wrap="square" anchor="ctr">
                      <a:noAutofit/>
                    </a:bodyPr>
                    <a:lstStyle/>
                    <a:p>
                      <a:pPr algn="ctr"/>
                      <a:r>
                        <a:rPr sz="1500" b="0" i="0">
                          <a:solidFill>
                            <a:srgbClr val="53565A"/>
                          </a:solidFill>
                          <a:latin typeface="Arial"/>
                        </a:rPr>
                        <a:t>Check SLA</a:t>
                      </a:r>
                    </a:p>
                  </a:txBody>
                  <a:tcPr marL="73152" marR="73152" marT="36576" marB="36576" anchor="ctr">
                    <a:solidFill>
                      <a:srgbClr val="FFFFFF"/>
                    </a:solidFill>
                  </a:tcPr>
                </a:tc>
                <a:tc>
                  <a:txBody>
                    <a:bodyPr wrap="square" anchor="ctr">
                      <a:noAutofit/>
                    </a:bodyPr>
                    <a:lstStyle/>
                    <a:p>
                      <a:pPr algn="ctr"/>
                      <a:r>
                        <a:rPr sz="1500" b="0" i="0">
                          <a:solidFill>
                            <a:srgbClr val="53565A"/>
                          </a:solidFill>
                          <a:latin typeface="Arial"/>
                        </a:rPr>
                        <a:t>Check SLA</a:t>
                      </a:r>
                    </a:p>
                  </a:txBody>
                  <a:tcPr marL="73152" marR="73152" marT="36576" marB="36576" anchor="ctr">
                    <a:solidFill>
                      <a:srgbClr val="FFFFFF"/>
                    </a:solidFill>
                  </a:tcPr>
                </a:tc>
                <a:tc>
                  <a:txBody>
                    <a:bodyPr wrap="square" anchor="ctr">
                      <a:noAutofit/>
                    </a:bodyPr>
                    <a:lstStyle/>
                    <a:p>
                      <a:pPr algn="ctr"/>
                      <a:r>
                        <a:rPr sz="1500" b="0" i="0">
                          <a:solidFill>
                            <a:srgbClr val="53565A"/>
                          </a:solidFill>
                          <a:latin typeface="Arial"/>
                        </a:rPr>
                        <a:t>Check SLA</a:t>
                      </a:r>
                    </a:p>
                  </a:txBody>
                  <a:tcPr marL="73152" marR="73152" marT="36576" marB="36576" anchor="ctr">
                    <a:solidFill>
                      <a:srgbClr val="FFFFFF"/>
                    </a:solidFill>
                  </a:tcPr>
                </a:tc>
                <a:tc>
                  <a:txBody>
                    <a:bodyPr wrap="square" anchor="ctr">
                      <a:noAutofit/>
                    </a:bodyPr>
                    <a:lstStyle/>
                    <a:p>
                      <a:pPr algn="ctr"/>
                      <a:r>
                        <a:rPr sz="1500" b="0" i="0">
                          <a:solidFill>
                            <a:srgbClr val="53565A"/>
                          </a:solidFill>
                          <a:latin typeface="Arial"/>
                        </a:rPr>
                        <a:t>Check SLA</a:t>
                      </a:r>
                    </a:p>
                  </a:txBody>
                  <a:tcPr marL="73152" marR="73152" marT="36576" marB="36576" anchor="ctr">
                    <a:solidFill>
                      <a:srgbClr val="FFFFFF"/>
                    </a:solidFill>
                  </a:tcPr>
                </a:tc>
              </a:tr>
            </a:tbl>
          </a:graphicData>
        </a:graphic>
      </p:graphicFrame>
      <p:sp>
        <p:nvSpPr>
          <p:cNvPr id="11" name="Rounded Rectangle 10"/>
          <p:cNvSpPr/>
          <p:nvPr/>
        </p:nvSpPr>
        <p:spPr>
          <a:xfrm>
            <a:off x="548640" y="52578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SLA terms are tier-specific and not stated on the feature page. Confirm on the Azure SLA page before contract.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Regional availability snapshot for v2 tiers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A18</a:t>
            </a:r>
          </a:p>
        </p:txBody>
      </p:sp>
      <p:sp>
        <p:nvSpPr>
          <p:cNvPr id="5" name="Status chip: SNAPSHOT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SNAPSHOT 11 OCT 2026</a:t>
            </a:r>
          </a:p>
        </p:txBody>
      </p:sp>
      <p:sp>
        <p:nvSpPr>
          <p:cNvPr id="6" name="Status chip: SELECTED REGIONS"/>
          <p:cNvSpPr/>
          <p:nvPr/>
        </p:nvSpPr>
        <p:spPr>
          <a:xfrm>
            <a:off x="408940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SELECTED REGIONS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28</a:t>
            </a:r>
          </a:p>
        </p:txBody>
      </p:sp>
      <p:graphicFrame>
        <p:nvGraphicFramePr>
          <p:cNvPr id="10" name="Table"/>
          <p:cNvGraphicFramePr>
            <a:graphicFrameLocks noGrp="1"/>
          </p:cNvGraphicFramePr>
          <p:nvPr/>
        </p:nvGraphicFramePr>
        <p:xfrm>
          <a:off x="548640" y="1371600"/>
          <a:ext cx="11091671" cy="3185160"/>
        </p:xfrm>
        <a:graphic>
          <a:graphicData uri="http://schemas.openxmlformats.org/drawingml/2006/table">
            <a:tbl>
              <a:tblPr firstRow="1" bandRow="0">
                <a:tableStyleId>{5C22544A-7EE6-4342-B048-85BDC9FD1C3A}</a:tableStyleId>
              </a:tblPr>
              <a:tblGrid>
                <a:gridCol w="2743200"/>
                <a:gridCol w="1920240"/>
                <a:gridCol w="1920240"/>
                <a:gridCol w="1920240"/>
                <a:gridCol w="2587751"/>
              </a:tblGrid>
              <a:tr h="289560">
                <a:tc>
                  <a:txBody>
                    <a:bodyPr wrap="square" anchor="ctr">
                      <a:noAutofit/>
                    </a:bodyPr>
                    <a:lstStyle/>
                    <a:p>
                      <a:pPr algn="l"/>
                      <a:r>
                        <a:rPr sz="1300" b="1" i="0">
                          <a:solidFill>
                            <a:srgbClr val="FFFFFF"/>
                          </a:solidFill>
                          <a:latin typeface="Arial"/>
                        </a:rPr>
                        <a:t>Region</a:t>
                      </a:r>
                    </a:p>
                  </a:txBody>
                  <a:tcPr marL="73152" marR="73152" marT="36576" marB="36576" anchor="ctr">
                    <a:solidFill>
                      <a:srgbClr val="000048"/>
                    </a:solidFill>
                  </a:tcPr>
                </a:tc>
                <a:tc>
                  <a:txBody>
                    <a:bodyPr wrap="square" anchor="ctr">
                      <a:noAutofit/>
                    </a:bodyPr>
                    <a:lstStyle/>
                    <a:p>
                      <a:pPr algn="ctr"/>
                      <a:r>
                        <a:rPr sz="1300" b="1" i="0">
                          <a:solidFill>
                            <a:srgbClr val="FFFFFF"/>
                          </a:solidFill>
                          <a:latin typeface="Arial"/>
                        </a:rPr>
                        <a:t>Basic v2</a:t>
                      </a:r>
                    </a:p>
                  </a:txBody>
                  <a:tcPr marL="73152" marR="73152" marT="36576" marB="36576" anchor="ctr">
                    <a:solidFill>
                      <a:srgbClr val="000048"/>
                    </a:solidFill>
                  </a:tcPr>
                </a:tc>
                <a:tc>
                  <a:txBody>
                    <a:bodyPr wrap="square" anchor="ctr">
                      <a:noAutofit/>
                    </a:bodyPr>
                    <a:lstStyle/>
                    <a:p>
                      <a:pPr algn="ctr"/>
                      <a:r>
                        <a:rPr sz="1300" b="1" i="0">
                          <a:solidFill>
                            <a:srgbClr val="FFFFFF"/>
                          </a:solidFill>
                          <a:latin typeface="Arial"/>
                        </a:rPr>
                        <a:t>Standard v2</a:t>
                      </a:r>
                    </a:p>
                  </a:txBody>
                  <a:tcPr marL="73152" marR="73152" marT="36576" marB="36576" anchor="ctr">
                    <a:solidFill>
                      <a:srgbClr val="000048"/>
                    </a:solidFill>
                  </a:tcPr>
                </a:tc>
                <a:tc>
                  <a:txBody>
                    <a:bodyPr wrap="square" anchor="ctr">
                      <a:noAutofit/>
                    </a:bodyPr>
                    <a:lstStyle/>
                    <a:p>
                      <a:pPr algn="ctr"/>
                      <a:r>
                        <a:rPr sz="1300" b="1" i="0">
                          <a:solidFill>
                            <a:srgbClr val="FFFFFF"/>
                          </a:solidFill>
                          <a:latin typeface="Arial"/>
                        </a:rPr>
                        <a:t>Premium v2</a:t>
                      </a:r>
                    </a:p>
                  </a:txBody>
                  <a:tcPr marL="73152" marR="73152" marT="36576" marB="36576" anchor="ctr">
                    <a:solidFill>
                      <a:srgbClr val="000048"/>
                    </a:solidFill>
                  </a:tcPr>
                </a:tc>
                <a:tc>
                  <a:txBody>
                    <a:bodyPr wrap="square" anchor="ctr">
                      <a:noAutofit/>
                    </a:bodyPr>
                    <a:lstStyle/>
                    <a:p>
                      <a:pPr algn="ctr"/>
                      <a:r>
                        <a:rPr sz="1300" b="1" i="0">
                          <a:solidFill>
                            <a:srgbClr val="FFFFFF"/>
                          </a:solidFill>
                          <a:latin typeface="Arial"/>
                        </a:rPr>
                        <a:t>AI Gateway tier (preview)</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East US 2</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8A4B08"/>
                          </a:solidFill>
                          <a:latin typeface="Arial"/>
                        </a:rPr>
                        <a:t>Creation blocked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East US</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Sweden Central</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8A4B08"/>
                          </a:solidFill>
                          <a:latin typeface="Arial"/>
                        </a:rPr>
                        <a:t>Creation blocked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West Europe</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Germany West Central</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8A4B08"/>
                          </a:solidFill>
                          <a:latin typeface="Arial"/>
                        </a:rPr>
                        <a:t>Creation blocked</a:t>
                      </a:r>
                    </a:p>
                  </a:txBody>
                  <a:tcPr marL="73152" marR="73152" marT="36576" marB="36576" anchor="ctr">
                    <a:solidFill>
                      <a:srgbClr val="FFFFFF"/>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France Central</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Norway East</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UK South</a:t>
                      </a:r>
                    </a:p>
                  </a:txBody>
                  <a:tcPr marL="73152" marR="73152" marT="36576" marB="36576" anchor="ctr">
                    <a:solidFill>
                      <a:srgbClr val="F5F5F2"/>
                    </a:solidFill>
                  </a:tcPr>
                </a:tc>
                <a:tc>
                  <a:txBody>
                    <a:bodyPr wrap="square" anchor="ctr">
                      <a:noAutofit/>
                    </a:bodyPr>
                    <a:lstStyle/>
                    <a:p>
                      <a:pPr algn="ctr"/>
                      <a:r>
                        <a:rPr sz="1300" b="1" i="0">
                          <a:solidFill>
                            <a:srgbClr val="8A4B08"/>
                          </a:solidFill>
                          <a:latin typeface="Arial"/>
                        </a:rPr>
                        <a:t>Creation blocked</a:t>
                      </a:r>
                    </a:p>
                  </a:txBody>
                  <a:tcPr marL="73152" marR="73152" marT="36576" marB="36576" anchor="ctr">
                    <a:solidFill>
                      <a:srgbClr val="F5F5F2"/>
                    </a:solidFill>
                  </a:tcPr>
                </a:tc>
                <a:tc>
                  <a:txBody>
                    <a:bodyPr wrap="square" anchor="ctr">
                      <a:noAutofit/>
                    </a:bodyPr>
                    <a:lstStyle/>
                    <a:p>
                      <a:pPr algn="ctr"/>
                      <a:r>
                        <a:rPr sz="1300" b="1" i="0">
                          <a:solidFill>
                            <a:srgbClr val="8A4B08"/>
                          </a:solidFill>
                          <a:latin typeface="Arial"/>
                        </a:rPr>
                        <a:t>Creation blocked</a:t>
                      </a:r>
                    </a:p>
                  </a:txBody>
                  <a:tcPr marL="73152" marR="73152" marT="36576" marB="36576" anchor="ctr">
                    <a:solidFill>
                      <a:srgbClr val="F5F5F2"/>
                    </a:solidFill>
                  </a:tcPr>
                </a:tc>
                <a:tc>
                  <a:txBody>
                    <a:bodyPr wrap="square" anchor="ctr">
                      <a:noAutofit/>
                    </a:bodyPr>
                    <a:lstStyle/>
                    <a:p>
                      <a:pPr algn="ctr"/>
                      <a:r>
                        <a:rPr sz="1300" b="1" i="0">
                          <a:solidFill>
                            <a:srgbClr val="8A4B08"/>
                          </a:solidFill>
                          <a:latin typeface="Arial"/>
                        </a:rPr>
                        <a:t>Creation blocked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UK West</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FFFFF"/>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FFFFF"/>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UAE North</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1" i="0">
                          <a:solidFill>
                            <a:srgbClr val="1D6B3A"/>
                          </a:solidFill>
                          <a:latin typeface="Arial"/>
                        </a:rPr>
                        <a:t>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5F5F2"/>
                    </a:solidFill>
                  </a:tcPr>
                </a:tc>
              </a:tr>
            </a:tbl>
          </a:graphicData>
        </a:graphic>
      </p:graphicFrame>
      <p:sp>
        <p:nvSpPr>
          <p:cNvPr id="11" name="Rounded Rectangle 10"/>
          <p:cNvSpPr/>
          <p:nvPr/>
        </p:nvSpPr>
        <p:spPr>
          <a:xfrm>
            <a:off x="548640" y="562356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UK South has temporary creation blocks on all v2 tiers. Recheck before any quote or design commitment.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API Management list prices used in estimates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A19</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29</a:t>
            </a:r>
          </a:p>
        </p:txBody>
      </p:sp>
      <p:graphicFrame>
        <p:nvGraphicFramePr>
          <p:cNvPr id="9" name="Table"/>
          <p:cNvGraphicFramePr>
            <a:graphicFrameLocks noGrp="1"/>
          </p:cNvGraphicFramePr>
          <p:nvPr/>
        </p:nvGraphicFramePr>
        <p:xfrm>
          <a:off x="548640" y="1371600"/>
          <a:ext cx="11091672" cy="2468880"/>
        </p:xfrm>
        <a:graphic>
          <a:graphicData uri="http://schemas.openxmlformats.org/drawingml/2006/table">
            <a:tbl>
              <a:tblPr firstRow="1" bandRow="0">
                <a:tableStyleId>{5C22544A-7EE6-4342-B048-85BDC9FD1C3A}</a:tableStyleId>
              </a:tblPr>
              <a:tblGrid>
                <a:gridCol w="3291840"/>
                <a:gridCol w="2377440"/>
                <a:gridCol w="1828800"/>
                <a:gridCol w="3593592"/>
              </a:tblGrid>
              <a:tr h="320040">
                <a:tc>
                  <a:txBody>
                    <a:bodyPr wrap="square" anchor="ctr">
                      <a:noAutofit/>
                    </a:bodyPr>
                    <a:lstStyle/>
                    <a:p>
                      <a:pPr algn="l"/>
                      <a:r>
                        <a:rPr sz="1500" b="1" i="0">
                          <a:solidFill>
                            <a:srgbClr val="FFFFFF"/>
                          </a:solidFill>
                          <a:latin typeface="Arial"/>
                        </a:rPr>
                        <a:t>Meter (East US 2, USD list)</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Unit price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About per month</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Note</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Basic v2 unit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$0.20548 per hour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$150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No inbound private endpoint</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Standard v2 unit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$0.9589 per hour</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$700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Calls: $0.025 per 10K after included tier</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Standard v2 secondary unit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$0.68493 per hour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$500</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Scale-out unit</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Premium v2 unit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$3.83562 per hour</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$2,800</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VNet injection, zones</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Premium (classic) unit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$3.829 per hour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$2,795</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Built-in multi-region</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AI Gateway tier requests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$0.00 per 10K (listed)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Unknown</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Pricing to be announced; not free</a:t>
                      </a:r>
                    </a:p>
                  </a:txBody>
                  <a:tcPr marL="73152" marR="73152" marT="36576" marB="36576" anchor="ctr">
                    <a:solidFill>
                      <a:srgbClr val="F5F5F2"/>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Acceptance requires demonstrable evidence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A22</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30</a:t>
            </a:r>
          </a:p>
        </p:txBody>
      </p:sp>
      <p:graphicFrame>
        <p:nvGraphicFramePr>
          <p:cNvPr id="9" name="Table"/>
          <p:cNvGraphicFramePr>
            <a:graphicFrameLocks noGrp="1"/>
          </p:cNvGraphicFramePr>
          <p:nvPr/>
        </p:nvGraphicFramePr>
        <p:xfrm>
          <a:off x="548640" y="1371600"/>
          <a:ext cx="11091672" cy="2255520"/>
        </p:xfrm>
        <a:graphic>
          <a:graphicData uri="http://schemas.openxmlformats.org/drawingml/2006/table">
            <a:tbl>
              <a:tblPr firstRow="1" bandRow="0">
                <a:tableStyleId>{5C22544A-7EE6-4342-B048-85BDC9FD1C3A}</a:tableStyleId>
              </a:tblPr>
              <a:tblGrid>
                <a:gridCol w="2194560"/>
                <a:gridCol w="5852160"/>
                <a:gridCol w="3044952"/>
              </a:tblGrid>
              <a:tr h="335280">
                <a:tc>
                  <a:txBody>
                    <a:bodyPr wrap="square" anchor="ctr">
                      <a:noAutofit/>
                    </a:bodyPr>
                    <a:lstStyle/>
                    <a:p>
                      <a:pPr algn="l"/>
                      <a:r>
                        <a:rPr sz="1600" b="1" i="0">
                          <a:solidFill>
                            <a:srgbClr val="FFFFFF"/>
                          </a:solidFill>
                          <a:latin typeface="Arial"/>
                        </a:rPr>
                        <a:t>Gate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Pass evidence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Approver</a:t>
                      </a:r>
                    </a:p>
                  </a:txBody>
                  <a:tcPr marL="73152" marR="73152" marT="36576" marB="36576" anchor="ctr">
                    <a:solidFill>
                      <a:srgbClr val="000048"/>
                    </a:solidFill>
                  </a:tcPr>
                </a:tc>
              </a:tr>
              <a:tr h="335280">
                <a:tc>
                  <a:txBody>
                    <a:bodyPr wrap="square" anchor="ctr">
                      <a:noAutofit/>
                    </a:bodyPr>
                    <a:lstStyle/>
                    <a:p>
                      <a:pPr algn="l"/>
                      <a:r>
                        <a:rPr sz="1600" b="1" i="0">
                          <a:solidFill>
                            <a:srgbClr val="1E1E2E"/>
                          </a:solidFill>
                          <a:latin typeface="Arial"/>
                        </a:rPr>
                        <a:t>Access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Unauthorised and bypass calls denied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security owner</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Budgets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Rate and quota tests pass; overshoot measured and accepted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platform owner</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Resilience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Fallback stays inside approved boundary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architecture owner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Safety</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Thresholds tested; failure behaviour agreed</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security owner</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Operations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Telemetry, rollback and runbooks accepted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Integrated service owner</a:t>
                      </a:r>
                    </a:p>
                  </a:txBody>
                  <a:tcPr marL="73152" marR="73152" marT="36576" marB="36576" anchor="ctr">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 containment: how this offering contributes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069340" cy="256032"/>
          </a:xfrm>
          <a:prstGeom prst="rect">
            <a:avLst/>
          </a:prstGeom>
          <a:noFill/>
        </p:spPr>
        <p:txBody>
          <a:bodyPr wrap="square" lIns="0" rIns="0" tIns="0" bIns="0" anchor="t">
            <a:noAutofit/>
          </a:bodyPr>
          <a:lstStyle/>
          <a:p>
            <a:pPr algn="l"/>
            <a:r>
              <a:rPr sz="1100" b="1" i="0">
                <a:solidFill>
                  <a:srgbClr val="2F78C4"/>
                </a:solidFill>
                <a:latin typeface="Arial"/>
              </a:rPr>
              <a:t>APPENDIX K</a:t>
            </a:r>
          </a:p>
        </p:txBody>
      </p:sp>
      <p:sp>
        <p:nvSpPr>
          <p:cNvPr id="5" name="Status chip: CROSS-REFERENCE"/>
          <p:cNvSpPr/>
          <p:nvPr/>
        </p:nvSpPr>
        <p:spPr>
          <a:xfrm>
            <a:off x="1800860" y="274320"/>
            <a:ext cx="156972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CROSS-REFERENCE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31</a:t>
            </a:r>
          </a:p>
        </p:txBody>
      </p:sp>
      <p:sp>
        <p:nvSpPr>
          <p:cNvPr id="9" name="Rounded Rectangle 8"/>
          <p:cNvSpPr/>
          <p:nvPr/>
        </p:nvSpPr>
        <p:spPr>
          <a:xfrm>
            <a:off x="548640"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Block new requests</a:t>
            </a:r>
          </a:p>
          <a:p>
            <a:pPr algn="l"/>
            <a:r>
              <a:rPr sz="1300" b="0" i="0">
                <a:solidFill>
                  <a:srgbClr val="53565A"/>
                </a:solidFill>
                <a:latin typeface="Arial"/>
              </a:rPr>
              <a:t>API Management ingress</a:t>
            </a:r>
          </a:p>
        </p:txBody>
      </p:sp>
      <p:sp>
        <p:nvSpPr>
          <p:cNvPr id="10" name="Oval 9"/>
          <p:cNvSpPr/>
          <p:nvPr/>
        </p:nvSpPr>
        <p:spPr>
          <a:xfrm>
            <a:off x="658368"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cxnSp>
        <p:nvCxnSpPr>
          <p:cNvPr id="11" name="Connector (flow)"/>
          <p:cNvCxnSpPr/>
          <p:nvPr/>
        </p:nvCxnSpPr>
        <p:spPr>
          <a:xfrm>
            <a:off x="4114800" y="182880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97679"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Cancel or isolate</a:t>
            </a:r>
          </a:p>
          <a:p>
            <a:pPr algn="l"/>
            <a:r>
              <a:rPr sz="1300" b="0" i="0">
                <a:solidFill>
                  <a:srgbClr val="53565A"/>
                </a:solidFill>
                <a:latin typeface="Arial"/>
              </a:rPr>
              <a:t>runtime adapter</a:t>
            </a:r>
          </a:p>
        </p:txBody>
      </p:sp>
      <p:sp>
        <p:nvSpPr>
          <p:cNvPr id="13" name="Oval 12"/>
          <p:cNvSpPr/>
          <p:nvPr/>
        </p:nvSpPr>
        <p:spPr>
          <a:xfrm>
            <a:off x="4407407"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cxnSp>
        <p:nvCxnSpPr>
          <p:cNvPr id="14" name="Connector (flow)"/>
          <p:cNvCxnSpPr/>
          <p:nvPr/>
        </p:nvCxnSpPr>
        <p:spPr>
          <a:xfrm>
            <a:off x="7863840" y="182880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46719"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Deny actions</a:t>
            </a:r>
          </a:p>
          <a:p>
            <a:pPr algn="l"/>
            <a:r>
              <a:rPr sz="1300" b="0" i="0">
                <a:solidFill>
                  <a:srgbClr val="53565A"/>
                </a:solidFill>
                <a:latin typeface="Arial"/>
              </a:rPr>
              <a:t>outbound gateway, tool guard</a:t>
            </a:r>
          </a:p>
        </p:txBody>
      </p:sp>
      <p:sp>
        <p:nvSpPr>
          <p:cNvPr id="16" name="Oval 15"/>
          <p:cNvSpPr/>
          <p:nvPr/>
        </p:nvSpPr>
        <p:spPr>
          <a:xfrm>
            <a:off x="8156447"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sp>
        <p:nvSpPr>
          <p:cNvPr id="17" name="TextBox 16"/>
          <p:cNvSpPr txBox="1"/>
          <p:nvPr/>
        </p:nvSpPr>
        <p:spPr>
          <a:xfrm>
            <a:off x="548640" y="2560320"/>
            <a:ext cx="11064240" cy="320040"/>
          </a:xfrm>
          <a:prstGeom prst="rect">
            <a:avLst/>
          </a:prstGeom>
          <a:noFill/>
        </p:spPr>
        <p:txBody>
          <a:bodyPr wrap="square" lIns="0" rIns="0" tIns="0" bIns="0" anchor="t">
            <a:noAutofit/>
          </a:bodyPr>
          <a:lstStyle/>
          <a:p>
            <a:pPr algn="l"/>
            <a:r>
              <a:rPr sz="1700" b="1" i="0">
                <a:solidFill>
                  <a:srgbClr val="000048"/>
                </a:solidFill>
                <a:latin typeface="Arial"/>
              </a:rPr>
              <a:t>What this offering provides</a:t>
            </a:r>
          </a:p>
        </p:txBody>
      </p:sp>
      <p:sp>
        <p:nvSpPr>
          <p:cNvPr id="18" name="TextBox 17"/>
          <p:cNvSpPr txBox="1"/>
          <p:nvPr/>
        </p:nvSpPr>
        <p:spPr>
          <a:xfrm>
            <a:off x="548640" y="2926080"/>
            <a:ext cx="11064240" cy="2651760"/>
          </a:xfrm>
          <a:prstGeom prst="rect">
            <a:avLst/>
          </a:prstGeom>
          <a:noFill/>
        </p:spPr>
        <p:txBody>
          <a:bodyPr wrap="square" lIns="0" rIns="0" tIns="0" bIns="0" anchor="t">
            <a:noAutofit/>
          </a:bodyPr>
          <a:lstStyle/>
          <a:p>
            <a:pPr algn="l" marL="201168" indent="-201168">
              <a:spcAft>
                <a:spcPts val="600"/>
              </a:spcAft>
              <a:buFont typeface="Arial"/>
              <a:buChar char="•"/>
            </a:pPr>
            <a:r>
              <a:rPr sz="1800" b="0" i="0">
                <a:solidFill>
                  <a:srgbClr val="1E1E2E"/>
                </a:solidFill>
                <a:latin typeface="Arial"/>
              </a:rPr>
              <a:t>Ingress enforcement point: reject quarantined agent IDs before work starts</a:t>
            </a:r>
          </a:p>
          <a:p>
            <a:pPr algn="l" marL="201168" indent="-201168">
              <a:spcAft>
                <a:spcPts val="600"/>
              </a:spcAft>
              <a:buFont typeface="Arial"/>
              <a:buChar char="•"/>
            </a:pPr>
            <a:r>
              <a:rPr sz="1800" b="0" i="0">
                <a:solidFill>
                  <a:srgbClr val="1E1E2E"/>
                </a:solidFill>
                <a:latin typeface="Arial"/>
              </a:rPr>
              <a:t>Outbound enforcement point: deny model and tool calls for quarantined scopes</a:t>
            </a:r>
          </a:p>
          <a:p>
            <a:pPr algn="l" marL="201168" indent="-201168">
              <a:spcAft>
                <a:spcPts val="600"/>
              </a:spcAft>
              <a:buFont typeface="Arial"/>
              <a:buChar char="•"/>
            </a:pPr>
            <a:r>
              <a:rPr sz="1800" b="0" i="0">
                <a:solidFill>
                  <a:srgbClr val="1E1E2E"/>
                </a:solidFill>
                <a:latin typeface="Arial"/>
              </a:rPr>
              <a:t>Per-agent token metrics that show whether containment worked</a:t>
            </a:r>
          </a:p>
          <a:p>
            <a:pPr algn="l" marL="201168" indent="-201168">
              <a:spcAft>
                <a:spcPts val="600"/>
              </a:spcAft>
              <a:buFont typeface="Arial"/>
              <a:buChar char="•"/>
            </a:pPr>
            <a:r>
              <a:rPr sz="1800" b="0" i="0">
                <a:solidFill>
                  <a:srgbClr val="1E1E2E"/>
                </a:solidFill>
                <a:latin typeface="Arial"/>
              </a:rPr>
              <a:t>A circuit breaker is not a kill switch: it protects backends, not the agent scope</a:t>
            </a:r>
          </a:p>
        </p:txBody>
      </p:sp>
      <p:sp>
        <p:nvSpPr>
          <p:cNvPr id="19" name="Rounded Rectangle 18"/>
          <p:cNvSpPr/>
          <p:nvPr/>
        </p:nvSpPr>
        <p:spPr>
          <a:xfrm>
            <a:off x="548640" y="5833872"/>
            <a:ext cx="11091672" cy="502920"/>
          </a:xfrm>
          <a:prstGeom prst="roundRect">
            <a:avLst>
              <a:gd name="adj" fmla="val 1454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No universal instant stop, and the design is unproven until the PoC passes. Deck 02 builds it; deck 05 operates it.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Which gateway: choosing the right option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A23</a:t>
            </a:r>
          </a:p>
        </p:txBody>
      </p:sp>
      <p:sp>
        <p:nvSpPr>
          <p:cNvPr id="5" name="Status chip: CHECKED 11 OCT 2026"/>
          <p:cNvSpPr/>
          <p:nvPr/>
        </p:nvSpPr>
        <p:spPr>
          <a:xfrm>
            <a:off x="199644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32</a:t>
            </a:r>
          </a:p>
        </p:txBody>
      </p:sp>
      <p:graphicFrame>
        <p:nvGraphicFramePr>
          <p:cNvPr id="9" name="Table"/>
          <p:cNvGraphicFramePr>
            <a:graphicFrameLocks noGrp="1"/>
          </p:cNvGraphicFramePr>
          <p:nvPr/>
        </p:nvGraphicFramePr>
        <p:xfrm>
          <a:off x="548640" y="1371600"/>
          <a:ext cx="11091672" cy="3108959"/>
        </p:xfrm>
        <a:graphic>
          <a:graphicData uri="http://schemas.openxmlformats.org/drawingml/2006/table">
            <a:tbl>
              <a:tblPr firstRow="1" bandRow="0">
                <a:tableStyleId>{5C22544A-7EE6-4342-B048-85BDC9FD1C3A}</a:tableStyleId>
              </a:tblPr>
              <a:tblGrid>
                <a:gridCol w="2926080"/>
                <a:gridCol w="1554480"/>
                <a:gridCol w="3474720"/>
                <a:gridCol w="3136392"/>
              </a:tblGrid>
              <a:tr h="304800">
                <a:tc>
                  <a:txBody>
                    <a:bodyPr wrap="square" anchor="ctr">
                      <a:noAutofit/>
                    </a:bodyPr>
                    <a:lstStyle/>
                    <a:p>
                      <a:pPr algn="l"/>
                      <a:r>
                        <a:rPr sz="1400" b="1" i="0">
                          <a:solidFill>
                            <a:srgbClr val="FFFFFF"/>
                          </a:solidFill>
                          <a:latin typeface="Arial"/>
                        </a:rPr>
                        <a:t>Option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Status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Use when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Watch out for</a:t>
                      </a:r>
                    </a:p>
                  </a:txBody>
                  <a:tcPr marL="73152" marR="73152" marT="36576" marB="36576" anchor="ctr">
                    <a:solidFill>
                      <a:srgbClr val="000048"/>
                    </a:solidFill>
                  </a:tcPr>
                </a:tc>
              </a:tr>
              <a:tr h="731519">
                <a:tc>
                  <a:txBody>
                    <a:bodyPr wrap="square" anchor="ctr">
                      <a:noAutofit/>
                    </a:bodyPr>
                    <a:lstStyle/>
                    <a:p>
                      <a:pPr algn="l"/>
                      <a:r>
                        <a:rPr sz="1400" b="1" i="0">
                          <a:solidFill>
                            <a:srgbClr val="1E1E2E"/>
                          </a:solidFill>
                          <a:latin typeface="Arial"/>
                        </a:rPr>
                        <a:t>API Management Standard v2 or Premium v2</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GA</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Production gateway in one region; VNet integration (Premium v2 for injection)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Built-in multi-region needs Premium (classic)</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API Management Premium (classic)</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GA</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Multi-region gateway, availability zones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Higher fixed cost per unit</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API Management AI Gateway tier</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Public preview</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Pilot of AI-only gateway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 SLA; East US 2 and Sweden Central; pricing to be announced</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Foundry AI gateway (APIM linked in Foundry)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Preview</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Teams working inside the Foundry portal</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Preview features; governance still in APIM</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Existing third-party gateway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Customer choice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Strong existing investment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 CIS Infra accelerator; scope separately</a:t>
                      </a:r>
                    </a:p>
                  </a:txBody>
                  <a:tcPr marL="73152" marR="73152" marT="36576" marB="36576" anchor="ctr">
                    <a:solidFill>
                      <a:srgbClr val="FFFFFF"/>
                    </a:solidFill>
                  </a:tcPr>
                </a:tc>
              </a:tr>
            </a:tbl>
          </a:graphicData>
        </a:graphic>
      </p:graphicFrame>
      <p:sp>
        <p:nvSpPr>
          <p:cNvPr id="10" name="Rounded Rectangle 9"/>
          <p:cNvSpPr/>
          <p:nvPr/>
        </p:nvSpPr>
        <p:spPr>
          <a:xfrm>
            <a:off x="548640" y="5669280"/>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Recheck status and regions before every quote. Preview features are pilot only.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Latency: how the added delay is measured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A24</a:t>
            </a:r>
          </a:p>
        </p:txBody>
      </p:sp>
      <p:sp>
        <p:nvSpPr>
          <p:cNvPr id="5" name="Status chip: PROPOSED TEST METHOD"/>
          <p:cNvSpPr/>
          <p:nvPr/>
        </p:nvSpPr>
        <p:spPr>
          <a:xfrm>
            <a:off x="1996440" y="274320"/>
            <a:ext cx="2001519"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TEST METHOD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6"/>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33</a:t>
            </a:r>
          </a:p>
        </p:txBody>
      </p:sp>
      <p:sp>
        <p:nvSpPr>
          <p:cNvPr id="9" name="Rounded Rectangle 8"/>
          <p:cNvSpPr/>
          <p:nvPr/>
        </p:nvSpPr>
        <p:spPr>
          <a:xfrm>
            <a:off x="548640" y="1371600"/>
            <a:ext cx="2377440" cy="713232"/>
          </a:xfrm>
          <a:prstGeom prst="roundRect">
            <a:avLst>
              <a:gd name="adj" fmla="val 1025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1  Baseline</a:t>
            </a:r>
          </a:p>
        </p:txBody>
      </p:sp>
      <p:sp>
        <p:nvSpPr>
          <p:cNvPr id="10" name="Rounded Rectangle 9"/>
          <p:cNvSpPr/>
          <p:nvPr/>
        </p:nvSpPr>
        <p:spPr>
          <a:xfrm>
            <a:off x="3017520" y="1371600"/>
            <a:ext cx="5577840"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Call the model deployment directly from a test client in the same region</a:t>
            </a:r>
          </a:p>
        </p:txBody>
      </p:sp>
      <p:sp>
        <p:nvSpPr>
          <p:cNvPr id="11" name="Rounded Rectangle 10"/>
          <p:cNvSpPr/>
          <p:nvPr/>
        </p:nvSpPr>
        <p:spPr>
          <a:xfrm>
            <a:off x="548640" y="2194560"/>
            <a:ext cx="2377440" cy="713232"/>
          </a:xfrm>
          <a:prstGeom prst="roundRect">
            <a:avLst>
              <a:gd name="adj" fmla="val 1025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2  Gateway only</a:t>
            </a:r>
          </a:p>
        </p:txBody>
      </p:sp>
      <p:sp>
        <p:nvSpPr>
          <p:cNvPr id="12" name="Rounded Rectangle 11"/>
          <p:cNvSpPr/>
          <p:nvPr/>
        </p:nvSpPr>
        <p:spPr>
          <a:xfrm>
            <a:off x="3017520" y="2194560"/>
            <a:ext cx="5577840"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Same calls through API Management with authentication only</a:t>
            </a:r>
          </a:p>
        </p:txBody>
      </p:sp>
      <p:sp>
        <p:nvSpPr>
          <p:cNvPr id="13" name="Rounded Rectangle 12"/>
          <p:cNvSpPr/>
          <p:nvPr/>
        </p:nvSpPr>
        <p:spPr>
          <a:xfrm>
            <a:off x="548640" y="3017520"/>
            <a:ext cx="2377440" cy="713232"/>
          </a:xfrm>
          <a:prstGeom prst="roundRect">
            <a:avLst>
              <a:gd name="adj" fmla="val 1025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3  Add policies</a:t>
            </a:r>
          </a:p>
        </p:txBody>
      </p:sp>
      <p:sp>
        <p:nvSpPr>
          <p:cNvPr id="14" name="Rounded Rectangle 13"/>
          <p:cNvSpPr/>
          <p:nvPr/>
        </p:nvSpPr>
        <p:spPr>
          <a:xfrm>
            <a:off x="3017520" y="3017520"/>
            <a:ext cx="5577840"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Switch on limits, then content safety, then logging, one at a time</a:t>
            </a:r>
          </a:p>
        </p:txBody>
      </p:sp>
      <p:sp>
        <p:nvSpPr>
          <p:cNvPr id="15" name="Rounded Rectangle 14"/>
          <p:cNvSpPr/>
          <p:nvPr/>
        </p:nvSpPr>
        <p:spPr>
          <a:xfrm>
            <a:off x="548640" y="3840480"/>
            <a:ext cx="2377440" cy="713232"/>
          </a:xfrm>
          <a:prstGeom prst="roundRect">
            <a:avLst>
              <a:gd name="adj" fmla="val 1025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4  Streaming</a:t>
            </a:r>
          </a:p>
        </p:txBody>
      </p:sp>
      <p:sp>
        <p:nvSpPr>
          <p:cNvPr id="16" name="Rounded Rectangle 15"/>
          <p:cNvSpPr/>
          <p:nvPr/>
        </p:nvSpPr>
        <p:spPr>
          <a:xfrm>
            <a:off x="3017520" y="3840480"/>
            <a:ext cx="5577840"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Measure time to first token with and without the gateway</a:t>
            </a:r>
          </a:p>
        </p:txBody>
      </p:sp>
      <p:sp>
        <p:nvSpPr>
          <p:cNvPr id="17" name="Rounded Rectangle 16"/>
          <p:cNvSpPr/>
          <p:nvPr/>
        </p:nvSpPr>
        <p:spPr>
          <a:xfrm>
            <a:off x="548640" y="4663440"/>
            <a:ext cx="2377440" cy="713232"/>
          </a:xfrm>
          <a:prstGeom prst="roundRect">
            <a:avLst>
              <a:gd name="adj" fmla="val 10256"/>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5  Report</a:t>
            </a:r>
          </a:p>
        </p:txBody>
      </p:sp>
      <p:sp>
        <p:nvSpPr>
          <p:cNvPr id="18" name="Rounded Rectangle 17"/>
          <p:cNvSpPr/>
          <p:nvPr/>
        </p:nvSpPr>
        <p:spPr>
          <a:xfrm>
            <a:off x="3017520" y="4663440"/>
            <a:ext cx="5577840" cy="713232"/>
          </a:xfrm>
          <a:prstGeom prst="roundRect">
            <a:avLst>
              <a:gd name="adj" fmla="val 102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0" i="0">
                <a:solidFill>
                  <a:srgbClr val="1E1E2E"/>
                </a:solidFill>
                <a:latin typeface="Arial"/>
              </a:rPr>
              <a:t>Added p50 and p95 delay per policy group; agree targets after</a:t>
            </a:r>
          </a:p>
        </p:txBody>
      </p:sp>
      <p:pic>
        <p:nvPicPr>
          <p:cNvPr id="19" name="Azure icon: Azure Load Testing" descr="Official Azure icon: Azure Load Testi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012680" y="1444752"/>
            <a:ext cx="548640" cy="548640"/>
          </a:xfrm>
          <a:prstGeom prst="rect">
            <a:avLst/>
          </a:prstGeom>
        </p:spPr>
      </p:pic>
      <p:sp>
        <p:nvSpPr>
          <p:cNvPr id="20" name="TextBox 19"/>
          <p:cNvSpPr txBox="1"/>
          <p:nvPr/>
        </p:nvSpPr>
        <p:spPr>
          <a:xfrm>
            <a:off x="8951976" y="2029968"/>
            <a:ext cx="2670048" cy="786384"/>
          </a:xfrm>
          <a:prstGeom prst="rect">
            <a:avLst/>
          </a:prstGeom>
          <a:noFill/>
        </p:spPr>
        <p:txBody>
          <a:bodyPr wrap="square" lIns="0" rIns="0" tIns="0" bIns="0" anchor="t">
            <a:noAutofit/>
          </a:bodyPr>
          <a:lstStyle/>
          <a:p>
            <a:pPr algn="ctr"/>
            <a:r>
              <a:rPr sz="1500" b="1" i="0">
                <a:solidFill>
                  <a:srgbClr val="000048"/>
                </a:solidFill>
                <a:latin typeface="Arial"/>
              </a:rPr>
              <a:t>Azure Load Testing</a:t>
            </a:r>
          </a:p>
          <a:p>
            <a:pPr algn="ctr"/>
            <a:r>
              <a:rPr sz="1200" b="0" i="0">
                <a:solidFill>
                  <a:srgbClr val="53565A"/>
                </a:solidFill>
                <a:latin typeface="Arial"/>
              </a:rPr>
              <a:t>repeatable runs</a:t>
            </a:r>
          </a:p>
        </p:txBody>
      </p:sp>
      <p:sp>
        <p:nvSpPr>
          <p:cNvPr id="21" name="Rounded Rectangle 20"/>
          <p:cNvSpPr/>
          <p:nvPr/>
        </p:nvSpPr>
        <p:spPr>
          <a:xfrm>
            <a:off x="8915400" y="2971800"/>
            <a:ext cx="2743200" cy="2286000"/>
          </a:xfrm>
          <a:prstGeom prst="roundRect">
            <a:avLst>
              <a:gd name="adj" fmla="val 3200"/>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spcAft>
                <a:spcPts val="400"/>
              </a:spcAft>
            </a:pPr>
            <a:r>
              <a:rPr sz="1500" b="1" i="0">
                <a:solidFill>
                  <a:srgbClr val="8A4B08"/>
                </a:solidFill>
                <a:latin typeface="Arial"/>
              </a:rPr>
              <a:t>Not claimed</a:t>
            </a:r>
          </a:p>
          <a:p>
            <a:pPr algn="l"/>
            <a:r>
              <a:rPr sz="1500" b="0" i="0">
                <a:solidFill>
                  <a:srgbClr val="1E1E2E"/>
                </a:solidFill>
                <a:latin typeface="Arial"/>
              </a:rPr>
              <a:t>No latency number is promised before the customer baseline run.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Semantic caching: when it pays for itself</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A25</a:t>
            </a:r>
          </a:p>
        </p:txBody>
      </p:sp>
      <p:sp>
        <p:nvSpPr>
          <p:cNvPr id="5" name="Status chip: SYNTHETIC EXAMPLE"/>
          <p:cNvSpPr/>
          <p:nvPr/>
        </p:nvSpPr>
        <p:spPr>
          <a:xfrm>
            <a:off x="199644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SYNTHETIC EXAMPLE</a:t>
            </a:r>
          </a:p>
        </p:txBody>
      </p:sp>
      <p:sp>
        <p:nvSpPr>
          <p:cNvPr id="6" name="Status chip: LIST PRICES"/>
          <p:cNvSpPr/>
          <p:nvPr/>
        </p:nvSpPr>
        <p:spPr>
          <a:xfrm>
            <a:off x="3830320" y="274320"/>
            <a:ext cx="122428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LIST PRICES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8" name="IndexLink">
            <a:hlinkClick action="ppaction://hlinksldjump" r:id="rId5"/>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34</a:t>
            </a:r>
          </a:p>
        </p:txBody>
      </p:sp>
      <p:graphicFrame>
        <p:nvGraphicFramePr>
          <p:cNvPr id="10" name="Chart"/>
          <p:cNvGraphicFramePr>
            <a:graphicFrameLocks noGrp="1"/>
          </p:cNvGraphicFramePr>
          <p:nvPr/>
        </p:nvGraphicFramePr>
        <p:xfrm>
          <a:off x="548640" y="1371600"/>
          <a:ext cx="6675120" cy="4114800"/>
        </p:xfrm>
        <a:graphic>
          <a:graphicData uri="http://schemas.openxmlformats.org/drawingml/2006/chart">
            <c:chart xmlns:c="http://schemas.openxmlformats.org/drawingml/2006/chart" r:id="rId4"/>
          </a:graphicData>
        </a:graphic>
      </p:graphicFrame>
      <p:sp>
        <p:nvSpPr>
          <p:cNvPr id="11" name="Rounded Rectangle 10"/>
          <p:cNvSpPr/>
          <p:nvPr/>
        </p:nvSpPr>
        <p:spPr>
          <a:xfrm>
            <a:off x="7589520" y="1371600"/>
            <a:ext cx="4050791" cy="4114800"/>
          </a:xfrm>
          <a:prstGeom prst="roundRect">
            <a:avLst>
              <a:gd name="adj" fmla="val 180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73152" bIns="73152" wrap="square">
            <a:noAutofit/>
          </a:bodyPr>
          <a:lstStyle/>
          <a:p>
            <a:pPr algn="l">
              <a:spcAft>
                <a:spcPts val="200"/>
              </a:spcAft>
            </a:pPr>
            <a:r>
              <a:rPr sz="1800" b="1" i="0">
                <a:solidFill>
                  <a:srgbClr val="000048"/>
                </a:solidFill>
                <a:latin typeface="Arial"/>
              </a:rPr>
              <a:t>Break-even</a:t>
            </a:r>
          </a:p>
          <a:p>
            <a:pPr algn="l">
              <a:spcAft>
                <a:spcPts val="1000"/>
              </a:spcAft>
            </a:pPr>
            <a:r>
              <a:rPr sz="3200" b="1" i="0">
                <a:solidFill>
                  <a:srgbClr val="7373D8"/>
                </a:solidFill>
                <a:latin typeface="Arial"/>
              </a:rPr>
              <a:t>4.4% hit rate</a:t>
            </a:r>
          </a:p>
          <a:p>
            <a:pPr algn="l">
              <a:spcAft>
                <a:spcPts val="800"/>
              </a:spcAft>
            </a:pPr>
            <a:r>
              <a:rPr sz="1500" b="0" i="0">
                <a:solidFill>
                  <a:srgbClr val="1E1E2E"/>
                </a:solidFill>
                <a:latin typeface="Arial"/>
              </a:rPr>
              <a:t>Synthetic: 1M calls a month, $11,250 model spend, $500 cache cost.</a:t>
            </a:r>
          </a:p>
          <a:p>
            <a:pPr algn="l"/>
            <a:r>
              <a:rPr sz="1500" b="0" i="0">
                <a:solidFill>
                  <a:srgbClr val="53565A"/>
                </a:solidFill>
                <a:latin typeface="Arial"/>
              </a:rPr>
              <a:t>Use for repeated, non-personal questions only.</a:t>
            </a:r>
          </a:p>
        </p:txBody>
      </p:sp>
      <p:sp>
        <p:nvSpPr>
          <p:cNvPr id="12" name="Rounded Rectangle 11"/>
          <p:cNvSpPr/>
          <p:nvPr/>
        </p:nvSpPr>
        <p:spPr>
          <a:xfrm>
            <a:off x="548640" y="566928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Synthetic workload and cache cost. Model prices are gpt-5.4 Global list prices. Measure hit rate on real logs first.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Chargeback: from token metrics to a team bill</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A26</a:t>
            </a:r>
          </a:p>
        </p:txBody>
      </p:sp>
      <p:sp>
        <p:nvSpPr>
          <p:cNvPr id="5" name="Status chip: PROPOSED REFERENCE ARCHITECTURE"/>
          <p:cNvSpPr/>
          <p:nvPr/>
        </p:nvSpPr>
        <p:spPr>
          <a:xfrm>
            <a:off x="199644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1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35</a:t>
            </a:r>
          </a:p>
        </p:txBody>
      </p:sp>
      <p:pic>
        <p:nvPicPr>
          <p:cNvPr id="9" name="Azure icon: API Management" descr="Official Azure icon: API Managemen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31620" y="1627632"/>
            <a:ext cx="502920" cy="502920"/>
          </a:xfrm>
          <a:prstGeom prst="rect">
            <a:avLst/>
          </a:prstGeom>
        </p:spPr>
      </p:pic>
      <p:sp>
        <p:nvSpPr>
          <p:cNvPr id="10" name="TextBox 9"/>
          <p:cNvSpPr txBox="1"/>
          <p:nvPr/>
        </p:nvSpPr>
        <p:spPr>
          <a:xfrm>
            <a:off x="585216" y="2167128"/>
            <a:ext cx="2395728" cy="786384"/>
          </a:xfrm>
          <a:prstGeom prst="rect">
            <a:avLst/>
          </a:prstGeom>
          <a:noFill/>
        </p:spPr>
        <p:txBody>
          <a:bodyPr wrap="square" lIns="0" rIns="0" tIns="0" bIns="0" anchor="t">
            <a:noAutofit/>
          </a:bodyPr>
          <a:lstStyle/>
          <a:p>
            <a:pPr algn="ctr"/>
            <a:r>
              <a:rPr sz="1500" b="1" i="0">
                <a:solidFill>
                  <a:srgbClr val="000048"/>
                </a:solidFill>
                <a:latin typeface="Arial"/>
              </a:rPr>
              <a:t>API Management</a:t>
            </a:r>
          </a:p>
          <a:p>
            <a:pPr algn="ctr"/>
            <a:r>
              <a:rPr sz="1200" b="0" i="0">
                <a:solidFill>
                  <a:srgbClr val="53565A"/>
                </a:solidFill>
                <a:latin typeface="Arial"/>
              </a:rPr>
              <a:t>emit token metric</a:t>
            </a:r>
          </a:p>
        </p:txBody>
      </p:sp>
      <p:cxnSp>
        <p:nvCxnSpPr>
          <p:cNvPr id="11" name="Connector (flow)"/>
          <p:cNvCxnSpPr/>
          <p:nvPr/>
        </p:nvCxnSpPr>
        <p:spPr>
          <a:xfrm>
            <a:off x="3017520" y="2240280"/>
            <a:ext cx="3657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2" name="Azure icon: Application Insights" descr="Official Azure icon: Application Insight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366260" y="1627632"/>
            <a:ext cx="502920" cy="502920"/>
          </a:xfrm>
          <a:prstGeom prst="rect">
            <a:avLst/>
          </a:prstGeom>
        </p:spPr>
      </p:pic>
      <p:sp>
        <p:nvSpPr>
          <p:cNvPr id="13" name="TextBox 12"/>
          <p:cNvSpPr txBox="1"/>
          <p:nvPr/>
        </p:nvSpPr>
        <p:spPr>
          <a:xfrm>
            <a:off x="3419856" y="2167128"/>
            <a:ext cx="2395728" cy="786384"/>
          </a:xfrm>
          <a:prstGeom prst="rect">
            <a:avLst/>
          </a:prstGeom>
          <a:noFill/>
        </p:spPr>
        <p:txBody>
          <a:bodyPr wrap="square" lIns="0" rIns="0" tIns="0" bIns="0" anchor="t">
            <a:noAutofit/>
          </a:bodyPr>
          <a:lstStyle/>
          <a:p>
            <a:pPr algn="ctr"/>
            <a:r>
              <a:rPr sz="1500" b="1" i="0">
                <a:solidFill>
                  <a:srgbClr val="000048"/>
                </a:solidFill>
                <a:latin typeface="Arial"/>
              </a:rPr>
              <a:t>Application Insights</a:t>
            </a:r>
          </a:p>
          <a:p>
            <a:pPr algn="ctr"/>
            <a:r>
              <a:rPr sz="1200" b="0" i="0">
                <a:solidFill>
                  <a:srgbClr val="53565A"/>
                </a:solidFill>
                <a:latin typeface="Arial"/>
              </a:rPr>
              <a:t>tokens by caller</a:t>
            </a:r>
          </a:p>
        </p:txBody>
      </p:sp>
      <p:cxnSp>
        <p:nvCxnSpPr>
          <p:cNvPr id="14" name="Connector (flow)"/>
          <p:cNvCxnSpPr/>
          <p:nvPr/>
        </p:nvCxnSpPr>
        <p:spPr>
          <a:xfrm>
            <a:off x="5852160" y="2240280"/>
            <a:ext cx="3657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5" name="Azure icon: Log Analytics workspace" descr="Official Azure icon: Log Analytics workspac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200900" y="1627632"/>
            <a:ext cx="502920" cy="502920"/>
          </a:xfrm>
          <a:prstGeom prst="rect">
            <a:avLst/>
          </a:prstGeom>
        </p:spPr>
      </p:pic>
      <p:sp>
        <p:nvSpPr>
          <p:cNvPr id="16" name="TextBox 15"/>
          <p:cNvSpPr txBox="1"/>
          <p:nvPr/>
        </p:nvSpPr>
        <p:spPr>
          <a:xfrm>
            <a:off x="6254496" y="2167128"/>
            <a:ext cx="2395728" cy="786384"/>
          </a:xfrm>
          <a:prstGeom prst="rect">
            <a:avLst/>
          </a:prstGeom>
          <a:noFill/>
        </p:spPr>
        <p:txBody>
          <a:bodyPr wrap="square" lIns="0" rIns="0" tIns="0" bIns="0" anchor="t">
            <a:noAutofit/>
          </a:bodyPr>
          <a:lstStyle/>
          <a:p>
            <a:pPr algn="ctr"/>
            <a:r>
              <a:rPr sz="1500" b="1" i="0">
                <a:solidFill>
                  <a:srgbClr val="000048"/>
                </a:solidFill>
                <a:latin typeface="Arial"/>
              </a:rPr>
              <a:t>Log Analytics</a:t>
            </a:r>
          </a:p>
          <a:p>
            <a:pPr algn="ctr"/>
            <a:r>
              <a:rPr sz="1200" b="0" i="0">
                <a:solidFill>
                  <a:srgbClr val="53565A"/>
                </a:solidFill>
                <a:latin typeface="Arial"/>
              </a:rPr>
              <a:t>join price table</a:t>
            </a:r>
          </a:p>
        </p:txBody>
      </p:sp>
      <p:cxnSp>
        <p:nvCxnSpPr>
          <p:cNvPr id="17" name="Connector (flow)"/>
          <p:cNvCxnSpPr/>
          <p:nvPr/>
        </p:nvCxnSpPr>
        <p:spPr>
          <a:xfrm>
            <a:off x="8686800" y="2240280"/>
            <a:ext cx="3657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18" name="Azure icon: Azure Workbooks" descr="Official Azure icon: Azure Workbook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035540" y="1627632"/>
            <a:ext cx="502920" cy="502920"/>
          </a:xfrm>
          <a:prstGeom prst="rect">
            <a:avLst/>
          </a:prstGeom>
        </p:spPr>
      </p:pic>
      <p:sp>
        <p:nvSpPr>
          <p:cNvPr id="19" name="TextBox 18"/>
          <p:cNvSpPr txBox="1"/>
          <p:nvPr/>
        </p:nvSpPr>
        <p:spPr>
          <a:xfrm>
            <a:off x="9089136" y="2167128"/>
            <a:ext cx="2395728" cy="786384"/>
          </a:xfrm>
          <a:prstGeom prst="rect">
            <a:avLst/>
          </a:prstGeom>
          <a:noFill/>
        </p:spPr>
        <p:txBody>
          <a:bodyPr wrap="square" lIns="0" rIns="0" tIns="0" bIns="0" anchor="t">
            <a:noAutofit/>
          </a:bodyPr>
          <a:lstStyle/>
          <a:p>
            <a:pPr algn="ctr"/>
            <a:r>
              <a:rPr sz="1500" b="1" i="0">
                <a:solidFill>
                  <a:srgbClr val="000048"/>
                </a:solidFill>
                <a:latin typeface="Arial"/>
              </a:rPr>
              <a:t>Showback report</a:t>
            </a:r>
          </a:p>
          <a:p>
            <a:pPr algn="ctr"/>
            <a:r>
              <a:rPr sz="1200" b="0" i="0">
                <a:solidFill>
                  <a:srgbClr val="53565A"/>
                </a:solidFill>
                <a:latin typeface="Arial"/>
              </a:rPr>
              <a:t>per team, per agent</a:t>
            </a:r>
          </a:p>
        </p:txBody>
      </p:sp>
      <p:pic>
        <p:nvPicPr>
          <p:cNvPr id="20" name="Azure icon: Cost Management" descr="Official Azure icon: Cost Management"/>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366260" y="3822191"/>
            <a:ext cx="502920" cy="502920"/>
          </a:xfrm>
          <a:prstGeom prst="rect">
            <a:avLst/>
          </a:prstGeom>
        </p:spPr>
      </p:pic>
      <p:sp>
        <p:nvSpPr>
          <p:cNvPr id="21" name="TextBox 20"/>
          <p:cNvSpPr txBox="1"/>
          <p:nvPr/>
        </p:nvSpPr>
        <p:spPr>
          <a:xfrm>
            <a:off x="3419856" y="4361688"/>
            <a:ext cx="2395728" cy="786384"/>
          </a:xfrm>
          <a:prstGeom prst="rect">
            <a:avLst/>
          </a:prstGeom>
          <a:noFill/>
        </p:spPr>
        <p:txBody>
          <a:bodyPr wrap="square" lIns="0" rIns="0" tIns="0" bIns="0" anchor="t">
            <a:noAutofit/>
          </a:bodyPr>
          <a:lstStyle/>
          <a:p>
            <a:pPr algn="ctr"/>
            <a:r>
              <a:rPr sz="1500" b="1" i="0">
                <a:solidFill>
                  <a:srgbClr val="000048"/>
                </a:solidFill>
                <a:latin typeface="Arial"/>
              </a:rPr>
              <a:t>Cost Management export</a:t>
            </a:r>
          </a:p>
          <a:p>
            <a:pPr algn="ctr"/>
            <a:r>
              <a:rPr sz="1200" b="0" i="0">
                <a:solidFill>
                  <a:srgbClr val="53565A"/>
                </a:solidFill>
                <a:latin typeface="Arial"/>
              </a:rPr>
              <a:t>FOCUS format, shared costs</a:t>
            </a:r>
          </a:p>
        </p:txBody>
      </p:sp>
      <p:cxnSp>
        <p:nvCxnSpPr>
          <p:cNvPr id="22" name="Connector (flow)"/>
          <p:cNvCxnSpPr/>
          <p:nvPr/>
        </p:nvCxnSpPr>
        <p:spPr>
          <a:xfrm>
            <a:off x="5852160" y="4434840"/>
            <a:ext cx="105156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23" name="Connector (flow)"/>
          <p:cNvCxnSpPr/>
          <p:nvPr/>
        </p:nvCxnSpPr>
        <p:spPr>
          <a:xfrm flipV="1">
            <a:off x="6903720" y="2971800"/>
            <a:ext cx="0" cy="146304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492240" y="3749039"/>
            <a:ext cx="5120640" cy="1417320"/>
          </a:xfrm>
          <a:prstGeom prst="roundRect">
            <a:avLst>
              <a:gd name="adj" fmla="val 516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spcAft>
                <a:spcPts val="400"/>
              </a:spcAft>
            </a:pPr>
            <a:r>
              <a:rPr sz="1500" b="1" i="0">
                <a:solidFill>
                  <a:srgbClr val="000048"/>
                </a:solidFill>
                <a:latin typeface="Arial"/>
              </a:rPr>
              <a:t>Allocation rule (Finance decides)</a:t>
            </a:r>
          </a:p>
          <a:p>
            <a:pPr algn="l"/>
            <a:r>
              <a:rPr sz="1500" b="0" i="0">
                <a:solidFill>
                  <a:srgbClr val="1E1E2E"/>
                </a:solidFill>
                <a:latin typeface="Arial"/>
              </a:rPr>
              <a:t>Tokens priced per caller; shared platform cost split by token share or an agreed key.</a:t>
            </a:r>
          </a:p>
        </p:txBody>
      </p:sp>
      <p:sp>
        <p:nvSpPr>
          <p:cNvPr id="25" name="Rounded Rectangle 24"/>
          <p:cNvSpPr/>
          <p:nvPr/>
        </p:nvSpPr>
        <p:spPr>
          <a:xfrm>
            <a:off x="548640" y="553212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Showback first. Chargeback only after Finance approves the allocation rule. Streaming token counts are estimates.</a:t>
            </a:r>
          </a:p>
        </p:txBody>
      </p:sp>
      <p:sp>
        <p:nvSpPr>
          <p:cNvPr id="26" name="TextBox 25"/>
          <p:cNvSpPr txBox="1"/>
          <p:nvPr/>
        </p:nvSpPr>
        <p:spPr>
          <a:xfrm>
            <a:off x="548640" y="6144768"/>
            <a:ext cx="11064240" cy="256032"/>
          </a:xfrm>
          <a:prstGeom prst="rect">
            <a:avLst/>
          </a:prstGeom>
          <a:noFill/>
        </p:spPr>
        <p:txBody>
          <a:bodyPr wrap="square" lIns="0" rIns="0" tIns="0" bIns="0" anchor="t">
            <a:noAutofit/>
          </a:bodyPr>
          <a:lstStyle/>
          <a:p>
            <a:pPr algn="l"/>
            <a:r>
              <a:rPr sz="12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Copilot Studio tool calls through the gateway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A27</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8"/>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36</a:t>
            </a:r>
          </a:p>
        </p:txBody>
      </p:sp>
      <p:sp>
        <p:nvSpPr>
          <p:cNvPr id="9" name="Rounded Rectangle 8"/>
          <p:cNvSpPr/>
          <p:nvPr/>
        </p:nvSpPr>
        <p:spPr>
          <a:xfrm>
            <a:off x="548640" y="1737360"/>
            <a:ext cx="2377440" cy="1005840"/>
          </a:xfrm>
          <a:prstGeom prst="roundRect">
            <a:avLst>
              <a:gd name="adj" fmla="val 7272"/>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500" b="1" i="0">
                <a:solidFill>
                  <a:srgbClr val="000048"/>
                </a:solidFill>
                <a:latin typeface="Arial"/>
              </a:rPr>
              <a:t>Copilot Studio agent</a:t>
            </a:r>
          </a:p>
          <a:p>
            <a:pPr algn="ctr"/>
            <a:r>
              <a:rPr sz="1200" b="0" i="0">
                <a:solidFill>
                  <a:srgbClr val="53565A"/>
                </a:solidFill>
                <a:latin typeface="Arial"/>
              </a:rPr>
              <a:t>Power Platform team</a:t>
            </a:r>
          </a:p>
        </p:txBody>
      </p:sp>
      <p:sp>
        <p:nvSpPr>
          <p:cNvPr id="10" name="Rounded Rectangle 9"/>
          <p:cNvSpPr/>
          <p:nvPr/>
        </p:nvSpPr>
        <p:spPr>
          <a:xfrm>
            <a:off x="3337560" y="1737360"/>
            <a:ext cx="2377440" cy="1005840"/>
          </a:xfrm>
          <a:prstGeom prst="roundRect">
            <a:avLst>
              <a:gd name="adj" fmla="val 7272"/>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500" b="1" i="0">
                <a:solidFill>
                  <a:srgbClr val="000048"/>
                </a:solidFill>
                <a:latin typeface="Arial"/>
              </a:rPr>
              <a:t>Custom connector</a:t>
            </a:r>
          </a:p>
          <a:p>
            <a:pPr algn="ctr"/>
            <a:r>
              <a:rPr sz="1200" b="0" i="0">
                <a:solidFill>
                  <a:srgbClr val="53565A"/>
                </a:solidFill>
                <a:latin typeface="Arial"/>
              </a:rPr>
              <a:t>exported from APIM</a:t>
            </a:r>
          </a:p>
        </p:txBody>
      </p:sp>
      <p:pic>
        <p:nvPicPr>
          <p:cNvPr id="11" name="Azure icon: API Management" descr="Official Azure icon: API Managemen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86600" y="1673352"/>
            <a:ext cx="457200" cy="457200"/>
          </a:xfrm>
          <a:prstGeom prst="rect">
            <a:avLst/>
          </a:prstGeom>
        </p:spPr>
      </p:pic>
      <p:sp>
        <p:nvSpPr>
          <p:cNvPr id="12" name="TextBox 11"/>
          <p:cNvSpPr txBox="1"/>
          <p:nvPr/>
        </p:nvSpPr>
        <p:spPr>
          <a:xfrm>
            <a:off x="6163056" y="2167128"/>
            <a:ext cx="2304288" cy="694943"/>
          </a:xfrm>
          <a:prstGeom prst="rect">
            <a:avLst/>
          </a:prstGeom>
          <a:noFill/>
        </p:spPr>
        <p:txBody>
          <a:bodyPr wrap="square" lIns="0" rIns="0" tIns="0" bIns="0" anchor="t">
            <a:noAutofit/>
          </a:bodyPr>
          <a:lstStyle/>
          <a:p>
            <a:pPr algn="ctr"/>
            <a:r>
              <a:rPr sz="1500" b="1" i="0">
                <a:solidFill>
                  <a:srgbClr val="000048"/>
                </a:solidFill>
                <a:latin typeface="Arial"/>
              </a:rPr>
              <a:t>API Management</a:t>
            </a:r>
          </a:p>
          <a:p>
            <a:pPr algn="ctr"/>
            <a:r>
              <a:rPr sz="1200" b="0" i="0">
                <a:solidFill>
                  <a:srgbClr val="53565A"/>
                </a:solidFill>
                <a:latin typeface="Arial"/>
              </a:rPr>
              <a:t>identity, limits, logs</a:t>
            </a:r>
          </a:p>
        </p:txBody>
      </p:sp>
      <p:pic>
        <p:nvPicPr>
          <p:cNvPr id="13" name="Azure icon: Function App" descr="Official Azure icon: Function App"/>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35540" y="1673352"/>
            <a:ext cx="457200" cy="457200"/>
          </a:xfrm>
          <a:prstGeom prst="rect">
            <a:avLst/>
          </a:prstGeom>
        </p:spPr>
      </p:pic>
      <p:sp>
        <p:nvSpPr>
          <p:cNvPr id="14" name="TextBox 13"/>
          <p:cNvSpPr txBox="1"/>
          <p:nvPr/>
        </p:nvSpPr>
        <p:spPr>
          <a:xfrm>
            <a:off x="8951976" y="2167128"/>
            <a:ext cx="2624328" cy="694943"/>
          </a:xfrm>
          <a:prstGeom prst="rect">
            <a:avLst/>
          </a:prstGeom>
          <a:noFill/>
        </p:spPr>
        <p:txBody>
          <a:bodyPr wrap="square" lIns="0" rIns="0" tIns="0" bIns="0" anchor="t">
            <a:noAutofit/>
          </a:bodyPr>
          <a:lstStyle/>
          <a:p>
            <a:pPr algn="ctr"/>
            <a:r>
              <a:rPr sz="1500" b="1" i="0">
                <a:solidFill>
                  <a:srgbClr val="000048"/>
                </a:solidFill>
                <a:latin typeface="Arial"/>
              </a:rPr>
              <a:t>Tool APIs</a:t>
            </a:r>
          </a:p>
          <a:p>
            <a:pPr algn="ctr"/>
            <a:r>
              <a:rPr sz="1200" b="0" i="0">
                <a:solidFill>
                  <a:srgbClr val="53565A"/>
                </a:solidFill>
                <a:latin typeface="Arial"/>
              </a:rPr>
              <a:t>registered in API Center</a:t>
            </a:r>
          </a:p>
        </p:txBody>
      </p:sp>
      <p:cxnSp>
        <p:nvCxnSpPr>
          <p:cNvPr id="15" name="Connector (flow)"/>
          <p:cNvCxnSpPr/>
          <p:nvPr/>
        </p:nvCxnSpPr>
        <p:spPr>
          <a:xfrm>
            <a:off x="2926080" y="224028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flow)"/>
          <p:cNvCxnSpPr/>
          <p:nvPr/>
        </p:nvCxnSpPr>
        <p:spPr>
          <a:xfrm>
            <a:off x="5715000" y="224028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flow)"/>
          <p:cNvCxnSpPr/>
          <p:nvPr/>
        </p:nvCxnSpPr>
        <p:spPr>
          <a:xfrm>
            <a:off x="8503920" y="224028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18" name="Table"/>
          <p:cNvGraphicFramePr>
            <a:graphicFrameLocks noGrp="1"/>
          </p:cNvGraphicFramePr>
          <p:nvPr/>
        </p:nvGraphicFramePr>
        <p:xfrm>
          <a:off x="548640" y="3291840"/>
          <a:ext cx="11091672" cy="1600200"/>
        </p:xfrm>
        <a:graphic>
          <a:graphicData uri="http://schemas.openxmlformats.org/drawingml/2006/table">
            <a:tbl>
              <a:tblPr firstRow="1" bandRow="0">
                <a:tableStyleId>{5C22544A-7EE6-4342-B048-85BDC9FD1C3A}</a:tableStyleId>
              </a:tblPr>
              <a:tblGrid>
                <a:gridCol w="3291840"/>
                <a:gridCol w="7799832"/>
              </a:tblGrid>
              <a:tr h="320040">
                <a:tc>
                  <a:txBody>
                    <a:bodyPr wrap="square" anchor="ctr">
                      <a:noAutofit/>
                    </a:bodyPr>
                    <a:lstStyle/>
                    <a:p>
                      <a:pPr algn="l"/>
                      <a:r>
                        <a:rPr sz="1500" b="1" i="0">
                          <a:solidFill>
                            <a:srgbClr val="FFFFFF"/>
                          </a:solidFill>
                          <a:latin typeface="Arial"/>
                        </a:rPr>
                        <a:t>Who</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Does what</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Power Platform team</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Environments, DLP policies, connector approval</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CIS Infra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Gateway APIs, connector export, limits, logging</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Tool owners with Security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Tool authorisation and registration</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M365 and D365 teams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Microsoft 365 Copilot (outside this offering)</a:t>
                      </a:r>
                    </a:p>
                  </a:txBody>
                  <a:tcPr marL="73152" marR="73152" marT="36576" marB="36576" anchor="ctr">
                    <a:solidFill>
                      <a:srgbClr val="F5F5F2"/>
                    </a:solidFill>
                  </a:tcPr>
                </a:tc>
              </a:tr>
            </a:tbl>
          </a:graphicData>
        </a:graphic>
      </p:graphicFrame>
      <p:sp>
        <p:nvSpPr>
          <p:cNvPr id="19" name="Rounded Rectangle 18"/>
          <p:cNvSpPr/>
          <p:nvPr/>
        </p:nvSpPr>
        <p:spPr>
          <a:xfrm>
            <a:off x="548640" y="5715000"/>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Copilot Studio model calls are Microsoft-managed and do not pass through the customer gateway.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Fixed price only after an assessment, with change triggers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FP1</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37</a:t>
            </a:r>
          </a:p>
        </p:txBody>
      </p:sp>
      <p:sp>
        <p:nvSpPr>
          <p:cNvPr id="9" name="Rounded Rectangle 8"/>
          <p:cNvSpPr/>
          <p:nvPr/>
        </p:nvSpPr>
        <p:spPr>
          <a:xfrm>
            <a:off x="548640" y="1371600"/>
            <a:ext cx="2670048" cy="1234440"/>
          </a:xfrm>
          <a:prstGeom prst="roundRect">
            <a:avLst>
              <a:gd name="adj" fmla="val 592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300"/>
              </a:spcAft>
            </a:pPr>
            <a:r>
              <a:rPr sz="1700" b="1" i="0">
                <a:solidFill>
                  <a:srgbClr val="FFFFFF"/>
                </a:solidFill>
                <a:latin typeface="Arial"/>
              </a:rPr>
              <a:t>1  Assess first</a:t>
            </a:r>
          </a:p>
          <a:p>
            <a:pPr algn="l"/>
            <a:r>
              <a:rPr sz="1400" b="0" i="0">
                <a:solidFill>
                  <a:srgbClr val="FFFFFF"/>
                </a:solidFill>
                <a:latin typeface="Arial"/>
              </a:rPr>
              <a:t>Short paid assessment before any fixed price</a:t>
            </a:r>
          </a:p>
        </p:txBody>
      </p:sp>
      <p:sp>
        <p:nvSpPr>
          <p:cNvPr id="10" name="Rounded Rectangle 9"/>
          <p:cNvSpPr/>
          <p:nvPr/>
        </p:nvSpPr>
        <p:spPr>
          <a:xfrm>
            <a:off x="3355848" y="1371600"/>
            <a:ext cx="2670048" cy="1234440"/>
          </a:xfrm>
          <a:prstGeom prst="roundRect">
            <a:avLst>
              <a:gd name="adj" fmla="val 592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300"/>
              </a:spcAft>
            </a:pPr>
            <a:r>
              <a:rPr sz="1700" b="1" i="0">
                <a:solidFill>
                  <a:srgbClr val="FFFFFF"/>
                </a:solidFill>
                <a:latin typeface="Arial"/>
              </a:rPr>
              <a:t>2  Name the triggers</a:t>
            </a:r>
          </a:p>
          <a:p>
            <a:pPr algn="l"/>
            <a:r>
              <a:rPr sz="1400" b="0" i="0">
                <a:solidFill>
                  <a:srgbClr val="FFFFFF"/>
                </a:solidFill>
                <a:latin typeface="Arial"/>
              </a:rPr>
              <a:t>Change triggers written into the SOW</a:t>
            </a:r>
          </a:p>
        </p:txBody>
      </p:sp>
      <p:sp>
        <p:nvSpPr>
          <p:cNvPr id="11" name="Rounded Rectangle 10"/>
          <p:cNvSpPr/>
          <p:nvPr/>
        </p:nvSpPr>
        <p:spPr>
          <a:xfrm>
            <a:off x="6163055" y="1371600"/>
            <a:ext cx="2670048" cy="1234440"/>
          </a:xfrm>
          <a:prstGeom prst="roundRect">
            <a:avLst>
              <a:gd name="adj" fmla="val 592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300"/>
              </a:spcAft>
            </a:pPr>
            <a:r>
              <a:rPr sz="1700" b="1" i="0">
                <a:solidFill>
                  <a:srgbClr val="FFFFFF"/>
                </a:solidFill>
                <a:latin typeface="Arial"/>
              </a:rPr>
              <a:t>3  Hold contingency</a:t>
            </a:r>
          </a:p>
          <a:p>
            <a:pPr algn="l"/>
            <a:r>
              <a:rPr sz="1400" b="0" i="0">
                <a:solidFill>
                  <a:srgbClr val="FFFFFF"/>
                </a:solidFill>
                <a:latin typeface="Arial"/>
              </a:rPr>
              <a:t>Amount set by Finance (input required)</a:t>
            </a:r>
          </a:p>
        </p:txBody>
      </p:sp>
      <p:sp>
        <p:nvSpPr>
          <p:cNvPr id="12" name="Rounded Rectangle 11"/>
          <p:cNvSpPr/>
          <p:nvPr/>
        </p:nvSpPr>
        <p:spPr>
          <a:xfrm>
            <a:off x="8970263" y="1371600"/>
            <a:ext cx="2670048" cy="1234440"/>
          </a:xfrm>
          <a:prstGeom prst="roundRect">
            <a:avLst>
              <a:gd name="adj" fmla="val 592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spcAft>
                <a:spcPts val="300"/>
              </a:spcAft>
            </a:pPr>
            <a:r>
              <a:rPr sz="1700" b="1" i="0">
                <a:solidFill>
                  <a:srgbClr val="FFFFFF"/>
                </a:solidFill>
                <a:latin typeface="Arial"/>
              </a:rPr>
              <a:t>4  Accept by gates</a:t>
            </a:r>
          </a:p>
          <a:p>
            <a:pPr algn="l"/>
            <a:r>
              <a:rPr sz="1400" b="0" i="0">
                <a:solidFill>
                  <a:srgbClr val="FFFFFF"/>
                </a:solidFill>
                <a:latin typeface="Arial"/>
              </a:rPr>
              <a:t>Evidence-based acceptance at each gate</a:t>
            </a:r>
          </a:p>
        </p:txBody>
      </p:sp>
      <p:graphicFrame>
        <p:nvGraphicFramePr>
          <p:cNvPr id="13" name="Table"/>
          <p:cNvGraphicFramePr>
            <a:graphicFrameLocks noGrp="1"/>
          </p:cNvGraphicFramePr>
          <p:nvPr/>
        </p:nvGraphicFramePr>
        <p:xfrm>
          <a:off x="548640" y="2880360"/>
          <a:ext cx="11091672" cy="1447800"/>
        </p:xfrm>
        <a:graphic>
          <a:graphicData uri="http://schemas.openxmlformats.org/drawingml/2006/table">
            <a:tbl>
              <a:tblPr firstRow="1" bandRow="0">
                <a:tableStyleId>{5C22544A-7EE6-4342-B048-85BDC9FD1C3A}</a:tableStyleId>
              </a:tblPr>
              <a:tblGrid>
                <a:gridCol w="4572000"/>
                <a:gridCol w="6519672"/>
              </a:tblGrid>
              <a:tr h="289560">
                <a:tc>
                  <a:txBody>
                    <a:bodyPr wrap="square" anchor="ctr">
                      <a:noAutofit/>
                    </a:bodyPr>
                    <a:lstStyle/>
                    <a:p>
                      <a:pPr algn="l"/>
                      <a:r>
                        <a:rPr sz="1300" b="1" i="0">
                          <a:solidFill>
                            <a:srgbClr val="FFFFFF"/>
                          </a:solidFill>
                          <a:latin typeface="Arial"/>
                        </a:rPr>
                        <a:t>Change trigger for this offering</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Why it changes effort</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More consumers than scoped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Each consumer needs migration and testing</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Complex hub network</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Private routing, DNS and firewall changes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Multi-region gateway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Premium (classic) units, failover tests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Many MCP servers or tools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Registration, approval and policy per tool</a:t>
                      </a:r>
                    </a:p>
                  </a:txBody>
                  <a:tcPr marL="73152" marR="73152" marT="36576" marB="36576" anchor="ctr">
                    <a:solidFill>
                      <a:srgbClr val="F5F5F2"/>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Telemetry stores counts and IDs, not prompts, by default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DH1</a:t>
            </a:r>
          </a:p>
        </p:txBody>
      </p:sp>
      <p:sp>
        <p:nvSpPr>
          <p:cNvPr id="5" name="Status chip: PROPOSED CONTROLS"/>
          <p:cNvSpPr/>
          <p:nvPr/>
        </p:nvSpPr>
        <p:spPr>
          <a:xfrm>
            <a:off x="199644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CONTROLS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38</a:t>
            </a:r>
          </a:p>
        </p:txBody>
      </p:sp>
      <p:graphicFrame>
        <p:nvGraphicFramePr>
          <p:cNvPr id="9" name="Table"/>
          <p:cNvGraphicFramePr>
            <a:graphicFrameLocks noGrp="1"/>
          </p:cNvGraphicFramePr>
          <p:nvPr/>
        </p:nvGraphicFramePr>
        <p:xfrm>
          <a:off x="548640" y="1325880"/>
          <a:ext cx="11091672" cy="2331720"/>
        </p:xfrm>
        <a:graphic>
          <a:graphicData uri="http://schemas.openxmlformats.org/drawingml/2006/table">
            <a:tbl>
              <a:tblPr firstRow="1" bandRow="0">
                <a:tableStyleId>{5C22544A-7EE6-4342-B048-85BDC9FD1C3A}</a:tableStyleId>
              </a:tblPr>
              <a:tblGrid>
                <a:gridCol w="2377440"/>
                <a:gridCol w="1737360"/>
                <a:gridCol w="3108960"/>
                <a:gridCol w="1828800"/>
                <a:gridCol w="2039112"/>
              </a:tblGrid>
              <a:tr h="289560">
                <a:tc>
                  <a:txBody>
                    <a:bodyPr wrap="square" anchor="ctr">
                      <a:noAutofit/>
                    </a:bodyPr>
                    <a:lstStyle/>
                    <a:p>
                      <a:pPr algn="l"/>
                      <a:r>
                        <a:rPr sz="1300" b="1" i="0">
                          <a:solidFill>
                            <a:srgbClr val="FFFFFF"/>
                          </a:solidFill>
                          <a:latin typeface="Arial"/>
                        </a:rPr>
                        <a:t>Data</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Logged by default?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Protection</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Retention (proposed)</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Access</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Token counts by caller, agent, model</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Yes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Identity-derived dimensions only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13 months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Platform and FinOps roles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Request metadata (status, latency)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Yes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No content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90 days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Platform team</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Prompt and completion content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No (opt-in)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Redaction, restricted workspace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7 to 30 days if enabled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Approved named engineers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Safety filter results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Yes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Category and score only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90 days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Security</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Chargeback reports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Yes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Aggregated by team or agent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Per Finance policy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Finance, budget owners</a:t>
                      </a:r>
                    </a:p>
                  </a:txBody>
                  <a:tcPr marL="73152" marR="73152" marT="36576" marB="36576" anchor="ctr">
                    <a:solidFill>
                      <a:srgbClr val="FFFFFF"/>
                    </a:solidFill>
                  </a:tcPr>
                </a:tc>
              </a:tr>
            </a:tbl>
          </a:graphicData>
        </a:graphic>
      </p:graphicFrame>
      <p:sp>
        <p:nvSpPr>
          <p:cNvPr id="10" name="Rounded Rectangle 9"/>
          <p:cNvSpPr/>
          <p:nvPr/>
        </p:nvSpPr>
        <p:spPr>
          <a:xfrm>
            <a:off x="548640" y="566928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Content logging is opt-in only, approved by Security and the data owner. The customer sets final retention.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Qualification scorecard and account shortlist template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Q1</a:t>
            </a:r>
          </a:p>
        </p:txBody>
      </p:sp>
      <p:sp>
        <p:nvSpPr>
          <p:cNvPr id="5" name="Status chip: PROPOSED TOOL"/>
          <p:cNvSpPr/>
          <p:nvPr/>
        </p:nvSpPr>
        <p:spPr>
          <a:xfrm>
            <a:off x="1898650" y="2743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TOOL</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39</a:t>
            </a:r>
          </a:p>
        </p:txBody>
      </p:sp>
      <p:graphicFrame>
        <p:nvGraphicFramePr>
          <p:cNvPr id="9" name="Table"/>
          <p:cNvGraphicFramePr>
            <a:graphicFrameLocks noGrp="1"/>
          </p:cNvGraphicFramePr>
          <p:nvPr/>
        </p:nvGraphicFramePr>
        <p:xfrm>
          <a:off x="548640" y="1325880"/>
          <a:ext cx="6035039" cy="3886200"/>
        </p:xfrm>
        <a:graphic>
          <a:graphicData uri="http://schemas.openxmlformats.org/drawingml/2006/table">
            <a:tbl>
              <a:tblPr firstRow="1" bandRow="0">
                <a:tableStyleId>{5C22544A-7EE6-4342-B048-85BDC9FD1C3A}</a:tableStyleId>
              </a:tblPr>
              <a:tblGrid>
                <a:gridCol w="2743199"/>
                <a:gridCol w="3291840"/>
              </a:tblGrid>
              <a:tr h="289560">
                <a:tc>
                  <a:txBody>
                    <a:bodyPr wrap="square" anchor="ctr">
                      <a:noAutofit/>
                    </a:bodyPr>
                    <a:lstStyle/>
                    <a:p>
                      <a:pPr algn="l"/>
                      <a:r>
                        <a:rPr sz="1300" b="1" i="0">
                          <a:solidFill>
                            <a:srgbClr val="FFFFFF"/>
                          </a:solidFill>
                          <a:latin typeface="Arial"/>
                        </a:rPr>
                        <a:t>Criterion (score 0, 1 or 2)</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Evidence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Funded workload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owner, budget route, decision date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Platform authority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Who can approve tenant and network changes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Executive sponsor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and engaged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Data access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Source owner and rights confirmed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Region and capacity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deployment type and quota checked</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Data residency gate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UK or Middle East in-country need checked (deck 01)</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Regulated bank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risk and DORA position known</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Consumers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Several apps or agents calling models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Tool estate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Count of APIs and MCP servers to register</a:t>
                      </a:r>
                    </a:p>
                  </a:txBody>
                  <a:tcPr marL="73152" marR="73152" marT="36576" marB="36576" anchor="ctr">
                    <a:solidFill>
                      <a:srgbClr val="FFFFFF"/>
                    </a:solidFill>
                  </a:tcPr>
                </a:tc>
              </a:tr>
            </a:tbl>
          </a:graphicData>
        </a:graphic>
      </p:graphicFrame>
      <p:sp>
        <p:nvSpPr>
          <p:cNvPr id="10" name="TextBox 9"/>
          <p:cNvSpPr txBox="1"/>
          <p:nvPr/>
        </p:nvSpPr>
        <p:spPr>
          <a:xfrm>
            <a:off x="6812280" y="1325880"/>
            <a:ext cx="4846320" cy="320040"/>
          </a:xfrm>
          <a:prstGeom prst="rect">
            <a:avLst/>
          </a:prstGeom>
          <a:noFill/>
        </p:spPr>
        <p:txBody>
          <a:bodyPr wrap="square" lIns="0" rIns="0" tIns="0" bIns="0" anchor="t">
            <a:noAutofit/>
          </a:bodyPr>
          <a:lstStyle/>
          <a:p>
            <a:pPr algn="l"/>
            <a:r>
              <a:rPr sz="1500" b="1" i="0">
                <a:solidFill>
                  <a:srgbClr val="000048"/>
                </a:solidFill>
                <a:latin typeface="Arial"/>
              </a:rPr>
              <a:t>Account shortlist (template, empty)</a:t>
            </a:r>
          </a:p>
        </p:txBody>
      </p:sp>
      <p:graphicFrame>
        <p:nvGraphicFramePr>
          <p:cNvPr id="11" name="Table"/>
          <p:cNvGraphicFramePr>
            <a:graphicFrameLocks noGrp="1"/>
          </p:cNvGraphicFramePr>
          <p:nvPr/>
        </p:nvGraphicFramePr>
        <p:xfrm>
          <a:off x="6812280" y="1691640"/>
          <a:ext cx="4828032" cy="2011680"/>
        </p:xfrm>
        <a:graphic>
          <a:graphicData uri="http://schemas.openxmlformats.org/drawingml/2006/table">
            <a:tbl>
              <a:tblPr firstRow="1" bandRow="0">
                <a:tableStyleId>{5C22544A-7EE6-4342-B048-85BDC9FD1C3A}</a:tableStyleId>
              </a:tblPr>
              <a:tblGrid>
                <a:gridCol w="914400"/>
                <a:gridCol w="777240"/>
                <a:gridCol w="868680"/>
                <a:gridCol w="777240"/>
                <a:gridCol w="594360"/>
                <a:gridCol w="896112"/>
              </a:tblGrid>
              <a:tr h="365760">
                <a:tc>
                  <a:txBody>
                    <a:bodyPr wrap="square" anchor="ctr">
                      <a:noAutofit/>
                    </a:bodyPr>
                    <a:lstStyle/>
                    <a:p>
                      <a:pPr algn="l"/>
                      <a:r>
                        <a:rPr sz="1200" b="1" i="0">
                          <a:solidFill>
                            <a:srgbClr val="FFFFFF"/>
                          </a:solidFill>
                          <a:latin typeface="Arial"/>
                        </a:rPr>
                        <a:t>Account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Sponsor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Workload</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Blocker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Score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Next action</a:t>
                      </a:r>
                    </a:p>
                  </a:txBody>
                  <a:tcPr marL="73152" marR="73152" marT="36576" marB="36576" anchor="ctr">
                    <a:solidFill>
                      <a:srgbClr val="000048"/>
                    </a:solidFill>
                  </a:tcPr>
                </a:tc>
              </a:tr>
              <a:tr h="411480">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r>
              <a:tr h="411480">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r>
            </a:tbl>
          </a:graphicData>
        </a:graphic>
      </p:graphicFrame>
      <p:sp>
        <p:nvSpPr>
          <p:cNvPr id="12" name="Rounded Rectangle 11"/>
          <p:cNvSpPr/>
          <p:nvPr/>
        </p:nvSpPr>
        <p:spPr>
          <a:xfrm>
            <a:off x="548640" y="566928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Quote implementation at 14+ with no zero on funding, authority, sponsor or residency. Otherwise sell the assessment.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the effort and duration ranges were built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E1</a:t>
            </a:r>
          </a:p>
        </p:txBody>
      </p:sp>
      <p:sp>
        <p:nvSpPr>
          <p:cNvPr id="5" name="Status chip: ESTIMATE, NOT APPROVED"/>
          <p:cNvSpPr/>
          <p:nvPr/>
        </p:nvSpPr>
        <p:spPr>
          <a:xfrm>
            <a:off x="189865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40</a:t>
            </a:r>
          </a:p>
        </p:txBody>
      </p:sp>
      <p:graphicFrame>
        <p:nvGraphicFramePr>
          <p:cNvPr id="9" name="Table"/>
          <p:cNvGraphicFramePr>
            <a:graphicFrameLocks noGrp="1"/>
          </p:cNvGraphicFramePr>
          <p:nvPr/>
        </p:nvGraphicFramePr>
        <p:xfrm>
          <a:off x="548640" y="1325880"/>
          <a:ext cx="11091672" cy="2133600"/>
        </p:xfrm>
        <a:graphic>
          <a:graphicData uri="http://schemas.openxmlformats.org/drawingml/2006/table">
            <a:tbl>
              <a:tblPr firstRow="1" bandRow="0">
                <a:tableStyleId>{5C22544A-7EE6-4342-B048-85BDC9FD1C3A}</a:tableStyleId>
              </a:tblPr>
              <a:tblGrid>
                <a:gridCol w="2560320"/>
                <a:gridCol w="4261104"/>
                <a:gridCol w="4270248"/>
              </a:tblGrid>
              <a:tr h="289560">
                <a:tc>
                  <a:txBody>
                    <a:bodyPr wrap="square" anchor="ctr">
                      <a:noAutofit/>
                    </a:bodyPr>
                    <a:lstStyle/>
                    <a:p>
                      <a:pPr algn="l"/>
                      <a:r>
                        <a:rPr sz="13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Low case assumes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High case assumes</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Readiness assessment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One region, existing APIM, few consumers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Several regions, no APIM, many consumers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Build, one region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One region, five consumers, standard hub network</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Complex hub, twenty consumers, custom policies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API Center and tools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Up to ten tools, owners known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Fifty tools, owners unknown, MCP servers in several runtimes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Multi-region add-on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Two regions, backend failover only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Premium classic multi-region gateway, DR tests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Chargeback add-on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Showback by product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Chargeback by team and agent, FOCUS reconciliation</a:t>
                      </a:r>
                    </a:p>
                  </a:txBody>
                  <a:tcPr marL="73152" marR="73152" marT="36576" marB="36576" anchor="ctr">
                    <a:solidFill>
                      <a:srgbClr val="FFFFFF"/>
                    </a:solidFill>
                  </a:tcPr>
                </a:tc>
              </a:tr>
            </a:tbl>
          </a:graphicData>
        </a:graphic>
      </p:graphicFrame>
      <p:sp>
        <p:nvSpPr>
          <p:cNvPr id="10" name="Rounded Rectangle 9"/>
          <p:cNvSpPr/>
          <p:nvPr/>
        </p:nvSpPr>
        <p:spPr>
          <a:xfrm>
            <a:off x="548640" y="3688080"/>
            <a:ext cx="11091672" cy="1097280"/>
          </a:xfrm>
          <a:prstGeom prst="roundRect">
            <a:avLst>
              <a:gd name="adj" fmla="val 6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spcAft>
                <a:spcPts val="300"/>
              </a:spcAft>
            </a:pPr>
            <a:r>
              <a:rPr sz="1400" b="1" i="0">
                <a:solidFill>
                  <a:srgbClr val="000048"/>
                </a:solidFill>
                <a:latin typeface="Arial"/>
              </a:rPr>
              <a:t>Basis and recalibration plan</a:t>
            </a:r>
          </a:p>
          <a:p>
            <a:pPr algn="l"/>
            <a:r>
              <a:rPr sz="1400" b="0" i="0">
                <a:solidFill>
                  <a:srgbClr val="1E1E2E"/>
                </a:solidFill>
                <a:latin typeface="Arial"/>
              </a:rPr>
              <a:t>Basis: bottom-up author estimate. Readiness = consumer and network survey, design note. Build = APIM instance, about 10 policies, private networking, load and bypass tests, per consumer migration. Recalibrate after every pilot: record actual role days per package, compare with the band, and reset bands each quarter. Owner: integrated service owner with Finance.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AI threat model: what can go wrong, and who controls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SEC1</a:t>
            </a:r>
          </a:p>
        </p:txBody>
      </p:sp>
      <p:sp>
        <p:nvSpPr>
          <p:cNvPr id="5" name="Status chip: PROPOSED"/>
          <p:cNvSpPr/>
          <p:nvPr/>
        </p:nvSpPr>
        <p:spPr>
          <a:xfrm>
            <a:off x="209423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41</a:t>
            </a:r>
          </a:p>
        </p:txBody>
      </p:sp>
      <p:graphicFrame>
        <p:nvGraphicFramePr>
          <p:cNvPr id="9" name="Table"/>
          <p:cNvGraphicFramePr>
            <a:graphicFrameLocks noGrp="1"/>
          </p:cNvGraphicFramePr>
          <p:nvPr/>
        </p:nvGraphicFramePr>
        <p:xfrm>
          <a:off x="548640" y="1325880"/>
          <a:ext cx="11091672" cy="3596640"/>
        </p:xfrm>
        <a:graphic>
          <a:graphicData uri="http://schemas.openxmlformats.org/drawingml/2006/table">
            <a:tbl>
              <a:tblPr firstRow="1" bandRow="0">
                <a:tableStyleId>{5C22544A-7EE6-4342-B048-85BDC9FD1C3A}</a:tableStyleId>
              </a:tblPr>
              <a:tblGrid>
                <a:gridCol w="2377440"/>
                <a:gridCol w="3108960"/>
                <a:gridCol w="3566160"/>
                <a:gridCol w="2039112"/>
              </a:tblGrid>
              <a:tr h="289560">
                <a:tc>
                  <a:txBody>
                    <a:bodyPr wrap="square" anchor="ctr">
                      <a:noAutofit/>
                    </a:bodyPr>
                    <a:lstStyle/>
                    <a:p>
                      <a:pPr algn="l"/>
                      <a:r>
                        <a:rPr sz="1300" b="1" i="0">
                          <a:solidFill>
                            <a:srgbClr val="FFFFFF"/>
                          </a:solidFill>
                          <a:latin typeface="Arial"/>
                        </a:rPr>
                        <a:t>Threat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Example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Bypass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App calls model endpoint with a key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Private endpoints, local auth off, bypass tests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Prompt injection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Malicious text in a tool result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Prompt Shields, tool-side validation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Security, tool owner</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Unapproved tool</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 calls an unregistered MCP server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API Center allow-list, network rules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Spoofed caller</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Counter key set by the client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Key from validated token claims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Security</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Data leakage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Sensitive data in prompts or logs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Purview, log redaction, Defender alerts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Denial of wallet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Runaway agent burns tokens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Token quotas, concurrency, alerts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 budget owner</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Supply chain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Compromised MCP server or connector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Registration review in API Center; pinned versions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 tool owner</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Agent identity misuse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 token reused by another caller</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Validated token claims as counter key; Conditional Access for agents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Security</a:t>
                      </a:r>
                    </a:p>
                  </a:txBody>
                  <a:tcPr marL="73152" marR="73152" marT="36576" marB="36576" anchor="ctr">
                    <a:solidFill>
                      <a:srgbClr val="F5F5F2"/>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Regulation: who holds which duty, and where we help</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SEC2</a:t>
            </a:r>
          </a:p>
        </p:txBody>
      </p:sp>
      <p:sp>
        <p:nvSpPr>
          <p:cNvPr id="5" name="Status chip: CHECKED 11 OCT 2026"/>
          <p:cNvSpPr/>
          <p:nvPr/>
        </p:nvSpPr>
        <p:spPr>
          <a:xfrm>
            <a:off x="209423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Status chip: NOT LEGAL ADVICE"/>
          <p:cNvSpPr/>
          <p:nvPr/>
        </p:nvSpPr>
        <p:spPr>
          <a:xfrm>
            <a:off x="410083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NOT LEGAL ADVICE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42</a:t>
            </a:r>
          </a:p>
        </p:txBody>
      </p:sp>
      <p:graphicFrame>
        <p:nvGraphicFramePr>
          <p:cNvPr id="10" name="Table"/>
          <p:cNvGraphicFramePr>
            <a:graphicFrameLocks noGrp="1"/>
          </p:cNvGraphicFramePr>
          <p:nvPr/>
        </p:nvGraphicFramePr>
        <p:xfrm>
          <a:off x="548640" y="1325880"/>
          <a:ext cx="11091672" cy="1280160"/>
        </p:xfrm>
        <a:graphic>
          <a:graphicData uri="http://schemas.openxmlformats.org/drawingml/2006/table">
            <a:tbl>
              <a:tblPr firstRow="1" bandRow="0">
                <a:tableStyleId>{5C22544A-7EE6-4342-B048-85BDC9FD1C3A}</a:tableStyleId>
              </a:tblPr>
              <a:tblGrid>
                <a:gridCol w="2377440"/>
                <a:gridCol w="3840480"/>
                <a:gridCol w="4873752"/>
              </a:tblGrid>
              <a:tr h="274320">
                <a:tc>
                  <a:txBody>
                    <a:bodyPr wrap="square" anchor="ctr">
                      <a:noAutofit/>
                    </a:bodyPr>
                    <a:lstStyle/>
                    <a:p>
                      <a:pPr algn="l"/>
                      <a:r>
                        <a:rPr sz="1200" b="1" i="0">
                          <a:solidFill>
                            <a:srgbClr val="FFFFFF"/>
                          </a:solidFill>
                          <a:latin typeface="Arial"/>
                        </a:rPr>
                        <a:t>Party</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Likely EU AI Act role (indicative)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What this offering supports</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Customer deploying AI systems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Deployer (usually)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Logging of model and tool calls; safety filtering</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Customer building its own AI system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Provider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Records of model use and safety controls</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Cognizant CIS Infra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Usually neither: infrastructure service provider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Role stated in the contract; Legal confirms</a:t>
                      </a:r>
                    </a:p>
                  </a:txBody>
                  <a:tcPr marL="73152" marR="73152" marT="36576" marB="36576" anchor="ctr">
                    <a:solidFill>
                      <a:srgbClr val="FFFFFF"/>
                    </a:solidFill>
                  </a:tcPr>
                </a:tc>
              </a:tr>
            </a:tbl>
          </a:graphicData>
        </a:graphic>
      </p:graphicFrame>
      <p:graphicFrame>
        <p:nvGraphicFramePr>
          <p:cNvPr id="11" name="Table"/>
          <p:cNvGraphicFramePr>
            <a:graphicFrameLocks noGrp="1"/>
          </p:cNvGraphicFramePr>
          <p:nvPr/>
        </p:nvGraphicFramePr>
        <p:xfrm>
          <a:off x="548640" y="2788920"/>
          <a:ext cx="11091672" cy="2560320"/>
        </p:xfrm>
        <a:graphic>
          <a:graphicData uri="http://schemas.openxmlformats.org/drawingml/2006/table">
            <a:tbl>
              <a:tblPr firstRow="1" bandRow="0">
                <a:tableStyleId>{5C22544A-7EE6-4342-B048-85BDC9FD1C3A}</a:tableStyleId>
              </a:tblPr>
              <a:tblGrid>
                <a:gridCol w="1828800"/>
                <a:gridCol w="5486400"/>
                <a:gridCol w="3776472"/>
              </a:tblGrid>
              <a:tr h="274320">
                <a:tc>
                  <a:txBody>
                    <a:bodyPr wrap="square" anchor="ctr">
                      <a:noAutofit/>
                    </a:bodyPr>
                    <a:lstStyle/>
                    <a:p>
                      <a:pPr algn="l"/>
                      <a:r>
                        <a:rPr sz="1200" b="1" i="0">
                          <a:solidFill>
                            <a:srgbClr val="FFFFFF"/>
                          </a:solidFill>
                          <a:latin typeface="Arial"/>
                        </a:rPr>
                        <a:t>Area</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Checkpoint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(checked 11 Oct 2026)</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EU AI Act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Annex III high-risk duties from 2 Dec 2027; Annex I from 2 Aug 2028</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Third-party summary (Orrick); EUR-Lex not verified</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EU DORA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ICT risk and ICT third-party contract terms for financial entities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Applies from 17 Jan 2025 (EUR-Lex)</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EU NIS2</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Cyber risk management for essential and important entities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National laws; deadline 17 Oct 2024</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UK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Regulator-led AI principles; UK GDPR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Not re-verified: confirm current position</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UAE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Federal Decree-Law 45 of 2021 (personal data)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Executive regulations: verify status</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Saudi Arabia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PDPL (enforceable Sep 2024); NCA cloud controls CCC-1:2020</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Third-party summary; verify transfer rules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US banks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Interagency model risk guidance (17 Apr 2026) replaced SR 11-7</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Generative and agentic AI out of scope; governance still expected</a:t>
                      </a:r>
                    </a:p>
                  </a:txBody>
                  <a:tcPr marL="73152" marR="73152" marT="36576" marB="36576" anchor="ctr">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Glossary of terms used in this deck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G1</a:t>
            </a:r>
          </a:p>
        </p:txBody>
      </p:sp>
      <p:sp>
        <p:nvSpPr>
          <p:cNvPr id="5" name="Status chip: REFERENCE"/>
          <p:cNvSpPr/>
          <p:nvPr/>
        </p:nvSpPr>
        <p:spPr>
          <a:xfrm>
            <a:off x="1898650" y="274320"/>
            <a:ext cx="10515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43</a:t>
            </a:r>
          </a:p>
        </p:txBody>
      </p:sp>
      <p:graphicFrame>
        <p:nvGraphicFramePr>
          <p:cNvPr id="9" name="Table"/>
          <p:cNvGraphicFramePr>
            <a:graphicFrameLocks noGrp="1"/>
          </p:cNvGraphicFramePr>
          <p:nvPr/>
        </p:nvGraphicFramePr>
        <p:xfrm>
          <a:off x="548640" y="1325880"/>
          <a:ext cx="3593592" cy="4480560"/>
        </p:xfrm>
        <a:graphic>
          <a:graphicData uri="http://schemas.openxmlformats.org/drawingml/2006/table">
            <a:tbl>
              <a:tblPr firstRow="1" bandRow="0">
                <a:tableStyleId>{5C22544A-7EE6-4342-B048-85BDC9FD1C3A}</a:tableStyleId>
              </a:tblPr>
              <a:tblGrid>
                <a:gridCol w="960120"/>
                <a:gridCol w="2633472"/>
              </a:tblGrid>
              <a:tr h="274320">
                <a:tc>
                  <a:txBody>
                    <a:bodyPr wrap="square" anchor="ctr">
                      <a:noAutofit/>
                    </a:bodyPr>
                    <a:lstStyle/>
                    <a:p>
                      <a:pPr algn="l"/>
                      <a:r>
                        <a:rPr sz="12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Meaning</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A2A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Agent-to-agent protocol for agents calling other agents</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Agent 365</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Microsoft control plane to register, observe and govern agents (per-user licence)</a:t>
                      </a:r>
                    </a:p>
                  </a:txBody>
                  <a:tcPr marL="73152" marR="73152" marT="36576" marB="36576" anchor="ctr">
                    <a:solidFill>
                      <a:srgbClr val="F5F5F2"/>
                    </a:solidFill>
                  </a:tcPr>
                </a:tc>
              </a:tr>
              <a:tr h="640080">
                <a:tc>
                  <a:txBody>
                    <a:bodyPr wrap="square" anchor="ctr">
                      <a:noAutofit/>
                    </a:bodyPr>
                    <a:lstStyle/>
                    <a:p>
                      <a:pPr algn="l"/>
                      <a:r>
                        <a:rPr sz="1200" b="1" i="0">
                          <a:solidFill>
                            <a:srgbClr val="1E1E2E"/>
                          </a:solidFill>
                          <a:latin typeface="Arial"/>
                        </a:rPr>
                        <a:t>API Center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Azure registry for APIs and MCP servers; decides which tools exist</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APIM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Azure API Management; the gateway that controls traffic</a:t>
                      </a:r>
                    </a:p>
                  </a:txBody>
                  <a:tcPr marL="73152" marR="73152" marT="36576" marB="36576" anchor="ctr">
                    <a:solidFill>
                      <a:srgbClr val="F5F5F2"/>
                    </a:solidFill>
                  </a:tcPr>
                </a:tc>
              </a:tr>
              <a:tr h="640080">
                <a:tc>
                  <a:txBody>
                    <a:bodyPr wrap="square" anchor="ctr">
                      <a:noAutofit/>
                    </a:bodyPr>
                    <a:lstStyle/>
                    <a:p>
                      <a:pPr algn="l"/>
                      <a:r>
                        <a:rPr sz="1200" b="1" i="0">
                          <a:solidFill>
                            <a:srgbClr val="1E1E2E"/>
                          </a:solidFill>
                          <a:latin typeface="Arial"/>
                        </a:rPr>
                        <a:t>Copilot Studio</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Microsoft low-code tool to build agents; consumption in Copilot credits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Data Zone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Model processing inside a Microsoft data zone (US, EU or APAC)</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DORA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EU Digital Operational Resilience Act for financial entities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FOCUS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FinOps Open Cost and Usage Specification for cost data exports</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4297679" y="1325880"/>
          <a:ext cx="3593592" cy="3749040"/>
        </p:xfrm>
        <a:graphic>
          <a:graphicData uri="http://schemas.openxmlformats.org/drawingml/2006/table">
            <a:tbl>
              <a:tblPr firstRow="1" bandRow="0">
                <a:tableStyleId>{5C22544A-7EE6-4342-B048-85BDC9FD1C3A}</a:tableStyleId>
              </a:tblPr>
              <a:tblGrid>
                <a:gridCol w="960120"/>
                <a:gridCol w="2633472"/>
              </a:tblGrid>
              <a:tr h="274320">
                <a:tc>
                  <a:txBody>
                    <a:bodyPr wrap="square" anchor="ctr">
                      <a:noAutofit/>
                    </a:bodyPr>
                    <a:lstStyle/>
                    <a:p>
                      <a:pPr algn="l"/>
                      <a:r>
                        <a:rPr sz="12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Meaning</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Foundry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Microsoft Foundry: Azure platform for models and agents</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FTE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Full-time equivalent person</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MCP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Model Context Protocol: standard way for agents to call tools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MRM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Model risk management (banking supervision)</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NIS2</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EU directive on cybersecurity for essential sectors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PAYG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Pay as you go: pay per token used</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PDPL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Personal Data Protection Law (Saudi Arabia, UAE)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PIM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Entra Privileged Identity Management: just-in-time admin access</a:t>
                      </a:r>
                    </a:p>
                  </a:txBody>
                  <a:tcPr marL="73152" marR="73152" marT="36576" marB="36576" anchor="ctr">
                    <a:solidFill>
                      <a:srgbClr val="F5F5F2"/>
                    </a:solidFill>
                  </a:tcPr>
                </a:tc>
              </a:tr>
            </a:tbl>
          </a:graphicData>
        </a:graphic>
      </p:graphicFrame>
      <p:graphicFrame>
        <p:nvGraphicFramePr>
          <p:cNvPr id="11" name="Table"/>
          <p:cNvGraphicFramePr>
            <a:graphicFrameLocks noGrp="1"/>
          </p:cNvGraphicFramePr>
          <p:nvPr/>
        </p:nvGraphicFramePr>
        <p:xfrm>
          <a:off x="8046719" y="1325880"/>
          <a:ext cx="3593592" cy="3108960"/>
        </p:xfrm>
        <a:graphic>
          <a:graphicData uri="http://schemas.openxmlformats.org/drawingml/2006/table">
            <a:tbl>
              <a:tblPr firstRow="1" bandRow="0">
                <a:tableStyleId>{5C22544A-7EE6-4342-B048-85BDC9FD1C3A}</a:tableStyleId>
              </a:tblPr>
              <a:tblGrid>
                <a:gridCol w="960120"/>
                <a:gridCol w="2633472"/>
              </a:tblGrid>
              <a:tr h="274320">
                <a:tc>
                  <a:txBody>
                    <a:bodyPr wrap="square" anchor="ctr">
                      <a:noAutofit/>
                    </a:bodyPr>
                    <a:lstStyle/>
                    <a:p>
                      <a:pPr algn="l"/>
                      <a:r>
                        <a:rPr sz="12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Meaning</a:t>
                      </a:r>
                    </a:p>
                  </a:txBody>
                  <a:tcPr marL="73152" marR="73152" marT="36576" marB="36576" anchor="ctr">
                    <a:solidFill>
                      <a:srgbClr val="000048"/>
                    </a:solidFill>
                  </a:tcPr>
                </a:tc>
              </a:tr>
              <a:tr h="640080">
                <a:tc>
                  <a:txBody>
                    <a:bodyPr wrap="square" anchor="ctr">
                      <a:noAutofit/>
                    </a:bodyPr>
                    <a:lstStyle/>
                    <a:p>
                      <a:pPr algn="l"/>
                      <a:r>
                        <a:rPr sz="1200" b="1" i="0">
                          <a:solidFill>
                            <a:srgbClr val="1E1E2E"/>
                          </a:solidFill>
                          <a:latin typeface="Arial"/>
                        </a:rPr>
                        <a:t>PTU</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Provisioned throughput unit: reserved model capacity, billed per hour</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RACI</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Responsible, Accountable, Consulted, Informed</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RFP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Request for proposal</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RTO / RPO</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Recovery time objective / recovery point objective</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SOW</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Statement of work</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Token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Unit of text a model reads or writes; the main pricing unit</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TPM</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Tokens per minute</a:t>
                      </a:r>
                    </a:p>
                  </a:txBody>
                  <a:tcPr marL="73152" marR="73152" marT="36576" marB="36576" anchor="ctr">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Who delivers it, and what sellers need before day one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DP1</a:t>
            </a:r>
          </a:p>
        </p:txBody>
      </p:sp>
      <p:sp>
        <p:nvSpPr>
          <p:cNvPr id="5" name="Status chip: INPUT REQUIRED"/>
          <p:cNvSpPr/>
          <p:nvPr/>
        </p:nvSpPr>
        <p:spPr>
          <a:xfrm>
            <a:off x="1996440" y="274320"/>
            <a:ext cx="148336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INPUT REQUIRED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44</a:t>
            </a:r>
          </a:p>
        </p:txBody>
      </p:sp>
      <p:graphicFrame>
        <p:nvGraphicFramePr>
          <p:cNvPr id="9" name="Table"/>
          <p:cNvGraphicFramePr>
            <a:graphicFrameLocks noGrp="1"/>
          </p:cNvGraphicFramePr>
          <p:nvPr/>
        </p:nvGraphicFramePr>
        <p:xfrm>
          <a:off x="548640" y="1325880"/>
          <a:ext cx="11091672" cy="2286000"/>
        </p:xfrm>
        <a:graphic>
          <a:graphicData uri="http://schemas.openxmlformats.org/drawingml/2006/table">
            <a:tbl>
              <a:tblPr firstRow="1" bandRow="0">
                <a:tableStyleId>{5C22544A-7EE6-4342-B048-85BDC9FD1C3A}</a:tableStyleId>
              </a:tblPr>
              <a:tblGrid>
                <a:gridCol w="2011680"/>
                <a:gridCol w="3657600"/>
                <a:gridCol w="2468880"/>
                <a:gridCol w="1188720"/>
                <a:gridCol w="1764792"/>
              </a:tblGrid>
              <a:tr h="457200">
                <a:tc>
                  <a:txBody>
                    <a:bodyPr wrap="square" anchor="ctr">
                      <a:noAutofit/>
                    </a:bodyPr>
                    <a:lstStyle/>
                    <a:p>
                      <a:pPr algn="l"/>
                      <a:r>
                        <a:rPr sz="1200" b="1" i="0">
                          <a:solidFill>
                            <a:srgbClr val="FFFFFF"/>
                          </a:solidFill>
                          <a:latin typeface="Arial"/>
                        </a:rPr>
                        <a:t>Role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Skills needed</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Certification (verify current)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Ramp-up (estimate)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Bench now</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Gateway engineer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APIM policies, API Center, MCP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Azure Developer Associate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2 weeks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Input required: delivery lead</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Network engineer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Private endpoints, DNS, VNet integration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Azure Network Engineer Associate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1 week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Input required: delivery lead</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Security engineer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Entra identity, content safety, prompt shields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Identity and Access Administrator Associate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2 weeks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Input required: delivery lead</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Test engineer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Load and bypass testing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None required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1 week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Input required: delivery lead</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548640" y="3794760"/>
          <a:ext cx="11091672" cy="1920240"/>
        </p:xfrm>
        <a:graphic>
          <a:graphicData uri="http://schemas.openxmlformats.org/drawingml/2006/table">
            <a:tbl>
              <a:tblPr firstRow="1" bandRow="0">
                <a:tableStyleId>{5C22544A-7EE6-4342-B048-85BDC9FD1C3A}</a:tableStyleId>
              </a:tblPr>
              <a:tblGrid>
                <a:gridCol w="5120640"/>
                <a:gridCol w="2377440"/>
                <a:gridCol w="3593592"/>
              </a:tblGrid>
              <a:tr h="274320">
                <a:tc>
                  <a:txBody>
                    <a:bodyPr wrap="square" anchor="ctr">
                      <a:noAutofit/>
                    </a:bodyPr>
                    <a:lstStyle/>
                    <a:p>
                      <a:pPr algn="l"/>
                      <a:r>
                        <a:rPr sz="1200" b="1" i="0">
                          <a:solidFill>
                            <a:srgbClr val="FFFFFF"/>
                          </a:solidFill>
                          <a:latin typeface="Arial"/>
                        </a:rPr>
                        <a:t>Presales kit 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Executive deck, talk tracks, customer pitch</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Exists (v4.0 draft)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Offering owner</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Demo environment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 build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CIS Infra lab owner (input required)</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SOW template and estimator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 build</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Presales lead with Finance</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RFP answer bank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Draft exists (register)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Presales lead</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Case study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After first pilot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Account team</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Policy library and test harness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 build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CIS Infra gateway lead</a:t>
                      </a:r>
                    </a:p>
                  </a:txBody>
                  <a:tcPr marL="73152" marR="73152" marT="36576" marB="36576" anchor="ctr">
                    <a:solidFill>
                      <a:srgbClr val="F5F5F2"/>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account teams use it, and the contract risks to manage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AC1</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45</a:t>
            </a:r>
          </a:p>
        </p:txBody>
      </p:sp>
      <p:sp>
        <p:nvSpPr>
          <p:cNvPr id="9" name="Rounded Rectangle 8"/>
          <p:cNvSpPr/>
          <p:nvPr/>
        </p:nvSpPr>
        <p:spPr>
          <a:xfrm>
            <a:off x="548640" y="1325880"/>
            <a:ext cx="2670048" cy="1874519"/>
          </a:xfrm>
          <a:prstGeom prst="roundRect">
            <a:avLst>
              <a:gd name="adj" fmla="val 390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500" b="1" i="0">
                <a:solidFill>
                  <a:srgbClr val="000048"/>
                </a:solidFill>
                <a:latin typeface="Arial"/>
              </a:rPr>
              <a:t>Fits in the account plan</a:t>
            </a:r>
          </a:p>
          <a:p>
            <a:pPr algn="l"/>
            <a:r>
              <a:rPr sz="1400" b="0" i="0">
                <a:solidFill>
                  <a:srgbClr val="1E1E2E"/>
                </a:solidFill>
                <a:latin typeface="Arial"/>
              </a:rPr>
              <a:t>API or integration programme where many teams call models.</a:t>
            </a:r>
          </a:p>
        </p:txBody>
      </p:sp>
      <p:sp>
        <p:nvSpPr>
          <p:cNvPr id="10" name="Rounded Rectangle 9"/>
          <p:cNvSpPr/>
          <p:nvPr/>
        </p:nvSpPr>
        <p:spPr>
          <a:xfrm>
            <a:off x="3355848" y="1325880"/>
            <a:ext cx="2670048" cy="1874519"/>
          </a:xfrm>
          <a:prstGeom prst="roundRect">
            <a:avLst>
              <a:gd name="adj" fmla="val 390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500" b="1" i="0">
                <a:solidFill>
                  <a:srgbClr val="000048"/>
                </a:solidFill>
                <a:latin typeface="Arial"/>
              </a:rPr>
              <a:t>First deal (illustrative)</a:t>
            </a:r>
          </a:p>
          <a:p>
            <a:pPr algn="l"/>
            <a:r>
              <a:rPr sz="1400" b="0" i="0">
                <a:solidFill>
                  <a:srgbClr val="1E1E2E"/>
                </a:solidFill>
                <a:latin typeface="Arial"/>
              </a:rPr>
              <a:t>Readiness $10k to $20k; build $45k to $90k.</a:t>
            </a:r>
          </a:p>
        </p:txBody>
      </p:sp>
      <p:sp>
        <p:nvSpPr>
          <p:cNvPr id="11" name="Rounded Rectangle 10"/>
          <p:cNvSpPr/>
          <p:nvPr/>
        </p:nvSpPr>
        <p:spPr>
          <a:xfrm>
            <a:off x="6163055" y="1325880"/>
            <a:ext cx="2670048" cy="1874519"/>
          </a:xfrm>
          <a:prstGeom prst="roundRect">
            <a:avLst>
              <a:gd name="adj" fmla="val 390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500" b="1" i="0">
                <a:solidFill>
                  <a:srgbClr val="000048"/>
                </a:solidFill>
                <a:latin typeface="Arial"/>
              </a:rPr>
              <a:t>Expansion path</a:t>
            </a:r>
          </a:p>
          <a:p>
            <a:pPr algn="l"/>
            <a:r>
              <a:rPr sz="1400" b="0" i="0">
                <a:solidFill>
                  <a:srgbClr val="1E1E2E"/>
                </a:solidFill>
                <a:latin typeface="Arial"/>
              </a:rPr>
              <a:t>API Center tools, multi-region, chargeback, then managed operations (05).</a:t>
            </a:r>
          </a:p>
        </p:txBody>
      </p:sp>
      <p:sp>
        <p:nvSpPr>
          <p:cNvPr id="12" name="Rounded Rectangle 11"/>
          <p:cNvSpPr/>
          <p:nvPr/>
        </p:nvSpPr>
        <p:spPr>
          <a:xfrm>
            <a:off x="8970263" y="1325880"/>
            <a:ext cx="2670048" cy="1874519"/>
          </a:xfrm>
          <a:prstGeom prst="roundRect">
            <a:avLst>
              <a:gd name="adj" fmla="val 3902"/>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500" b="1" i="0">
                <a:solidFill>
                  <a:srgbClr val="000048"/>
                </a:solidFill>
                <a:latin typeface="Arial"/>
              </a:rPr>
              <a:t>Business-led entry</a:t>
            </a:r>
          </a:p>
          <a:p>
            <a:pPr algn="l"/>
            <a:r>
              <a:rPr sz="1400" b="0" i="0">
                <a:solidFill>
                  <a:srgbClr val="1E1E2E"/>
                </a:solidFill>
                <a:latin typeface="Arial"/>
              </a:rPr>
              <a:t>CFO: AI cost attributed to each team and agent.</a:t>
            </a:r>
          </a:p>
        </p:txBody>
      </p:sp>
      <p:graphicFrame>
        <p:nvGraphicFramePr>
          <p:cNvPr id="13" name="Table"/>
          <p:cNvGraphicFramePr>
            <a:graphicFrameLocks noGrp="1"/>
          </p:cNvGraphicFramePr>
          <p:nvPr/>
        </p:nvGraphicFramePr>
        <p:xfrm>
          <a:off x="548640" y="3383280"/>
          <a:ext cx="11091672" cy="1828800"/>
        </p:xfrm>
        <a:graphic>
          <a:graphicData uri="http://schemas.openxmlformats.org/drawingml/2006/table">
            <a:tbl>
              <a:tblPr firstRow="1" bandRow="0">
                <a:tableStyleId>{5C22544A-7EE6-4342-B048-85BDC9FD1C3A}</a:tableStyleId>
              </a:tblPr>
              <a:tblGrid>
                <a:gridCol w="2377440"/>
                <a:gridCol w="6400800"/>
                <a:gridCol w="2313432"/>
              </a:tblGrid>
              <a:tr h="274320">
                <a:tc>
                  <a:txBody>
                    <a:bodyPr wrap="square" anchor="ctr">
                      <a:noAutofit/>
                    </a:bodyPr>
                    <a:lstStyle/>
                    <a:p>
                      <a:pPr algn="l"/>
                      <a:r>
                        <a:rPr sz="1200" b="1" i="0">
                          <a:solidFill>
                            <a:srgbClr val="FFFFFF"/>
                          </a:solidFill>
                          <a:latin typeface="Arial"/>
                        </a:rPr>
                        <a:t>Contract topic</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position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Liability cap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 Cognizant standard terms; no uncapped liability for agent behaviour or customer data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Legal</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Service-level penalties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Only on response targets inside coverage hours; none on Azure availability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Legal with delivery</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IP of accelerators and code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Cognizant keeps reusable accelerators; customer owns its configuration and code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Legal</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Change control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New scope, regions or runtimes priced by change request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Delivery with Finance</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Bypass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Customer closes direct endpoints named in the SOW; coverage reported</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Delivery</a:t>
                      </a:r>
                    </a:p>
                  </a:txBody>
                  <a:tcPr marL="73152" marR="73152" marT="36576" marB="36576" anchor="ctr">
                    <a:solidFill>
                      <a:srgbClr val="FFFFFF"/>
                    </a:solidFill>
                  </a:tcPr>
                </a:tc>
              </a:tr>
            </a:tbl>
          </a:graphicData>
        </a:graphic>
      </p:graphicFrame>
      <p:sp>
        <p:nvSpPr>
          <p:cNvPr id="14" name="Rounded Rectangle 13"/>
          <p:cNvSpPr/>
          <p:nvPr/>
        </p:nvSpPr>
        <p:spPr>
          <a:xfrm>
            <a:off x="548640" y="534924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300" b="1" i="0">
                <a:solidFill>
                  <a:srgbClr val="000048"/>
                </a:solidFill>
                <a:latin typeface="Arial"/>
              </a:rPr>
              <a:t>Microsoft motion:  </a:t>
            </a:r>
            <a:r>
              <a:rPr sz="1300" b="0" i="0">
                <a:solidFill>
                  <a:srgbClr val="1E1E2E"/>
                </a:solidFill>
                <a:latin typeface="Arial"/>
              </a:rPr>
              <a:t>engage the Azure AI apps and agents specialist (Cloud and AI Platforms); drives API Management and model token consumption.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Six cost layers are priced and owned separately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C1</a:t>
            </a:r>
          </a:p>
        </p:txBody>
      </p:sp>
      <p:sp>
        <p:nvSpPr>
          <p:cNvPr id="5" name="Status chip: NO APPROVED QUOTE"/>
          <p:cNvSpPr/>
          <p:nvPr/>
        </p:nvSpPr>
        <p:spPr>
          <a:xfrm>
            <a:off x="189865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QUOTE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46</a:t>
            </a:r>
          </a:p>
        </p:txBody>
      </p:sp>
      <p:graphicFrame>
        <p:nvGraphicFramePr>
          <p:cNvPr id="9" name="Table"/>
          <p:cNvGraphicFramePr>
            <a:graphicFrameLocks noGrp="1"/>
          </p:cNvGraphicFramePr>
          <p:nvPr/>
        </p:nvGraphicFramePr>
        <p:xfrm>
          <a:off x="548640" y="1325880"/>
          <a:ext cx="11091672" cy="2651760"/>
        </p:xfrm>
        <a:graphic>
          <a:graphicData uri="http://schemas.openxmlformats.org/drawingml/2006/table">
            <a:tbl>
              <a:tblPr firstRow="1" bandRow="0">
                <a:tableStyleId>{5C22544A-7EE6-4342-B048-85BDC9FD1C3A}</a:tableStyleId>
              </a:tblPr>
              <a:tblGrid>
                <a:gridCol w="1965960"/>
                <a:gridCol w="3291840"/>
                <a:gridCol w="3291840"/>
                <a:gridCol w="2542032"/>
              </a:tblGrid>
              <a:tr h="274320">
                <a:tc>
                  <a:txBody>
                    <a:bodyPr wrap="square" anchor="ctr">
                      <a:noAutofit/>
                    </a:bodyPr>
                    <a:lstStyle/>
                    <a:p>
                      <a:pPr algn="l"/>
                      <a:r>
                        <a:rPr sz="1200" b="1" i="0">
                          <a:solidFill>
                            <a:srgbClr val="FFFFFF"/>
                          </a:solidFill>
                          <a:latin typeface="Arial"/>
                        </a:rPr>
                        <a:t>Layer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Applies to this offering</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Pricing formula or unit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Missing input (owner)</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1  CIS Infra services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Gateway design, build, policies, tests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Role days x approved sell rate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Sell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2  Specialist towers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identity and safety; AI routing; DevOps CI/CD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role days x tower rate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estimates (tower leads)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3  Recurring managed service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Gateway operation (offering 05)</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Base + APIs x rate + coverage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Service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4  Azure platform consumption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APIM units, logs, private endpoints, Content Safety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Units x hours; GB; calls (appendix A19)</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agreement prices (customer)</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5  Model consumption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Traffic routed through the gateway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Tokens x price or PTU x hours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Volumes (AI); PTU reservation price (Microsoft)</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6  GPU hosting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Only for self-hosted backends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See offering 04</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n/a unless selected</a:t>
                      </a:r>
                    </a:p>
                  </a:txBody>
                  <a:tcPr marL="73152" marR="73152" marT="36576" marB="36576" anchor="ctr">
                    <a:solidFill>
                      <a:srgbClr val="F5F5F2"/>
                    </a:solidFill>
                  </a:tcPr>
                </a:tc>
              </a:tr>
            </a:tbl>
          </a:graphicData>
        </a:graphic>
      </p:graphicFrame>
      <p:sp>
        <p:nvSpPr>
          <p:cNvPr id="10" name="Rounded Rectangle 9"/>
          <p:cNvSpPr/>
          <p:nvPr/>
        </p:nvSpPr>
        <p:spPr>
          <a:xfrm>
            <a:off x="548640" y="4160520"/>
            <a:ext cx="11091672"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Revenue recognition (Finance owns):  </a:t>
            </a:r>
            <a:r>
              <a:rPr sz="1400" b="0" i="0">
                <a:solidFill>
                  <a:srgbClr val="1E1E2E"/>
                </a:solidFill>
                <a:latin typeface="Arial"/>
              </a:rPr>
              <a:t>Fixed-price milestones per gate (readiness, design, build, acceptance). Owner: Finance.</a:t>
            </a:r>
          </a:p>
        </p:txBody>
      </p:sp>
      <p:sp>
        <p:nvSpPr>
          <p:cNvPr id="11" name="Rounded Rectangle 10"/>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Layers 4 to 6 are customer Azure spend unless a resale agreement says otherwise. They are not CIS Infra services revenue.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RACI: one accountable role per activity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R1</a:t>
            </a:r>
          </a:p>
        </p:txBody>
      </p:sp>
      <p:sp>
        <p:nvSpPr>
          <p:cNvPr id="5" name="Status chip: PROPOSED, VALIDATE WITH TOWERS"/>
          <p:cNvSpPr/>
          <p:nvPr/>
        </p:nvSpPr>
        <p:spPr>
          <a:xfrm>
            <a:off x="1898650" y="274320"/>
            <a:ext cx="28651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VALIDATE WITH TOWERS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47</a:t>
            </a:r>
          </a:p>
        </p:txBody>
      </p:sp>
      <p:graphicFrame>
        <p:nvGraphicFramePr>
          <p:cNvPr id="9" name="Table"/>
          <p:cNvGraphicFramePr>
            <a:graphicFrameLocks noGrp="1"/>
          </p:cNvGraphicFramePr>
          <p:nvPr/>
        </p:nvGraphicFramePr>
        <p:xfrm>
          <a:off x="548640" y="1325880"/>
          <a:ext cx="11091671" cy="4236720"/>
        </p:xfrm>
        <a:graphic>
          <a:graphicData uri="http://schemas.openxmlformats.org/drawingml/2006/table">
            <a:tbl>
              <a:tblPr firstRow="1" bandRow="0">
                <a:tableStyleId>{5C22544A-7EE6-4342-B048-85BDC9FD1C3A}</a:tableStyleId>
              </a:tblPr>
              <a:tblGrid>
                <a:gridCol w="3246119"/>
                <a:gridCol w="871728"/>
                <a:gridCol w="871728"/>
                <a:gridCol w="871728"/>
                <a:gridCol w="871728"/>
                <a:gridCol w="871728"/>
                <a:gridCol w="871728"/>
                <a:gridCol w="871728"/>
                <a:gridCol w="871728"/>
                <a:gridCol w="871728"/>
              </a:tblGrid>
              <a:tr h="701040">
                <a:tc>
                  <a:txBody>
                    <a:bodyPr wrap="square" anchor="ctr">
                      <a:noAutofit/>
                    </a:bodyPr>
                    <a:lstStyle/>
                    <a:p>
                      <a:pPr algn="l"/>
                      <a:r>
                        <a:rPr sz="1200" b="1" i="0">
                          <a:solidFill>
                            <a:srgbClr val="FFFFFF"/>
                          </a:solidFill>
                          <a:latin typeface="Arial"/>
                        </a:rPr>
                        <a:t>Activity (proposed, validate with towers)</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CIS</a:t>
                      </a:r>
                    </a:p>
                    <a:p>
                      <a:pPr algn="ctr"/>
                      <a:r>
                        <a:rPr sz="1200" b="1" i="0">
                          <a:solidFill>
                            <a:srgbClr val="FFFFFF"/>
                          </a:solidFill>
                          <a:latin typeface="Arial"/>
                        </a:rPr>
                        <a:t>Infra</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Secu-</a:t>
                      </a:r>
                    </a:p>
                    <a:p>
                      <a:pPr algn="ctr"/>
                      <a:r>
                        <a:rPr sz="1200" b="1" i="0">
                          <a:solidFill>
                            <a:srgbClr val="FFFFFF"/>
                          </a:solidFill>
                          <a:latin typeface="Arial"/>
                        </a:rPr>
                        <a:t>rity</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Dev-</a:t>
                      </a:r>
                    </a:p>
                    <a:p>
                      <a:pPr algn="ctr"/>
                      <a:r>
                        <a:rPr sz="1200" b="1" i="0">
                          <a:solidFill>
                            <a:srgbClr val="FFFFFF"/>
                          </a:solidFill>
                          <a:latin typeface="Arial"/>
                        </a:rPr>
                        <a:t>Ops</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AI</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Data</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Data</a:t>
                      </a:r>
                    </a:p>
                    <a:p>
                      <a:pPr algn="ctr"/>
                      <a:r>
                        <a:rPr sz="1200" b="1" i="0">
                          <a:solidFill>
                            <a:srgbClr val="FFFFFF"/>
                          </a:solidFill>
                          <a:latin typeface="Arial"/>
                        </a:rPr>
                        <a:t>Eng.</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Integr.</a:t>
                      </a:r>
                    </a:p>
                    <a:p>
                      <a:pPr algn="ctr"/>
                      <a:r>
                        <a:rPr sz="1200" b="1" i="0">
                          <a:solidFill>
                            <a:srgbClr val="FFFFFF"/>
                          </a:solidFill>
                          <a:latin typeface="Arial"/>
                        </a:rPr>
                        <a:t>service</a:t>
                      </a:r>
                    </a:p>
                    <a:p>
                      <a:pPr algn="ctr"/>
                      <a:r>
                        <a:rPr sz="12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Cust.</a:t>
                      </a:r>
                    </a:p>
                    <a:p>
                      <a:pPr algn="ctr"/>
                      <a:r>
                        <a:rPr sz="1200" b="1" i="0">
                          <a:solidFill>
                            <a:srgbClr val="FFFFFF"/>
                          </a:solidFill>
                          <a:latin typeface="Arial"/>
                        </a:rPr>
                        <a:t>work-</a:t>
                      </a:r>
                    </a:p>
                    <a:p>
                      <a:pPr algn="ctr"/>
                      <a:r>
                        <a:rPr sz="1200" b="1" i="0">
                          <a:solidFill>
                            <a:srgbClr val="FFFFFF"/>
                          </a:solidFill>
                          <a:latin typeface="Arial"/>
                        </a:rPr>
                        <a:t>load</a:t>
                      </a:r>
                    </a:p>
                    <a:p>
                      <a:pPr algn="ctr"/>
                      <a:r>
                        <a:rPr sz="12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Comm.</a:t>
                      </a:r>
                    </a:p>
                    <a:p>
                      <a:pPr algn="ctr"/>
                      <a:r>
                        <a:rPr sz="1200" b="1" i="0">
                          <a:solidFill>
                            <a:srgbClr val="FFFFFF"/>
                          </a:solidFill>
                          <a:latin typeface="Arial"/>
                        </a:rPr>
                        <a:t>/ fin.</a:t>
                      </a:r>
                    </a:p>
                  </a:txBody>
                  <a:tcPr marL="73152" marR="73152" marT="36576" marB="36576" anchor="ctr">
                    <a:solidFill>
                      <a:srgbClr val="000048"/>
                    </a:solidFill>
                  </a:tcPr>
                </a:tc>
              </a:tr>
              <a:tr h="426720">
                <a:tc>
                  <a:txBody>
                    <a:bodyPr wrap="square" anchor="ctr">
                      <a:noAutofit/>
                    </a:bodyPr>
                    <a:lstStyle/>
                    <a:p>
                      <a:pPr algn="l"/>
                      <a:r>
                        <a:rPr sz="1200" b="0" i="0">
                          <a:solidFill>
                            <a:srgbClr val="1E1E2E"/>
                          </a:solidFill>
                          <a:latin typeface="Arial"/>
                        </a:rPr>
                        <a:t>Agent 365, Entra CA, Purview and Defender policy</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Gateway design and integrated plan</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Identity and safety policy requirements</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API contracts and model routing choice</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APIM build, network, private endpoints</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Policy CI/CD and rollback</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Load, bypass and failover testing</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Service acceptance</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Gateway operations and health</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Agent containment via gateway</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Recovery of gateway service</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200" b="0" i="0">
                          <a:solidFill>
                            <a:srgbClr val="1E1E2E"/>
                          </a:solidFill>
                          <a:latin typeface="Arial"/>
                        </a:rPr>
                        <a:t>Budget and cost allocation rules</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r>
              <a:tr h="259080">
                <a:tc>
                  <a:txBody>
                    <a:bodyPr wrap="square" anchor="ctr">
                      <a:noAutofit/>
                    </a:bodyPr>
                    <a:lstStyle/>
                    <a:p>
                      <a:pPr algn="l"/>
                      <a:r>
                        <a:rPr sz="1200" b="0" i="0">
                          <a:solidFill>
                            <a:srgbClr val="1E1E2E"/>
                          </a:solidFill>
                          <a:latin typeface="Arial"/>
                        </a:rPr>
                        <a:t>Pricing, attribution and quote</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2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200" b="0" i="0">
                          <a:solidFill>
                            <a:srgbClr val="FFFFFF"/>
                          </a:solidFill>
                          <a:latin typeface="Arial"/>
                        </a:rPr>
                        <a:t>A</a:t>
                      </a:r>
                    </a:p>
                  </a:txBody>
                  <a:tcPr marL="73152" marR="73152" marT="36576" marB="36576" anchor="ctr">
                    <a:solidFill>
                      <a:srgbClr val="000048"/>
                    </a:solidFill>
                  </a:tcPr>
                </a:tc>
              </a:tr>
            </a:tbl>
          </a:graphicData>
        </a:graphic>
      </p:graphicFrame>
      <p:sp>
        <p:nvSpPr>
          <p:cNvPr id="10" name="TextBox 9"/>
          <p:cNvSpPr txBox="1"/>
          <p:nvPr/>
        </p:nvSpPr>
        <p:spPr>
          <a:xfrm>
            <a:off x="548640" y="5672328"/>
            <a:ext cx="11064240" cy="274320"/>
          </a:xfrm>
          <a:prstGeom prst="rect">
            <a:avLst/>
          </a:prstGeom>
          <a:noFill/>
        </p:spPr>
        <p:txBody>
          <a:bodyPr wrap="square" lIns="0" rIns="0" tIns="0" bIns="0" anchor="t">
            <a:noAutofit/>
          </a:bodyPr>
          <a:lstStyle/>
          <a:p>
            <a:pPr algn="l"/>
            <a:r>
              <a:rPr sz="1200" b="1" i="0">
                <a:solidFill>
                  <a:srgbClr val="000048"/>
                </a:solidFill>
                <a:latin typeface="Arial"/>
              </a:rPr>
              <a:t>A</a:t>
            </a:r>
            <a:r>
              <a:rPr sz="1200" b="0" i="0">
                <a:solidFill>
                  <a:srgbClr val="53565A"/>
                </a:solidFill>
                <a:latin typeface="Arial"/>
              </a:rPr>
              <a:t> accountable (one per row)   </a:t>
            </a:r>
            <a:r>
              <a:rPr sz="1200" b="1" i="0">
                <a:solidFill>
                  <a:srgbClr val="2F78C4"/>
                </a:solidFill>
                <a:latin typeface="Arial"/>
              </a:rPr>
              <a:t>R</a:t>
            </a:r>
            <a:r>
              <a:rPr sz="1200" b="0" i="0">
                <a:solidFill>
                  <a:srgbClr val="53565A"/>
                </a:solidFill>
                <a:latin typeface="Arial"/>
              </a:rPr>
              <a:t> responsible   C consulted   I informed.   </a:t>
            </a:r>
            <a:r>
              <a:rPr sz="1200" b="1" i="0">
                <a:solidFill>
                  <a:srgbClr val="53565A"/>
                </a:solidFill>
                <a:latin typeface="Arial"/>
              </a:rPr>
              <a:t>Integrated service owner</a:t>
            </a:r>
            <a:r>
              <a:rPr sz="1200" b="0" i="0">
                <a:solidFill>
                  <a:srgbClr val="53565A"/>
                </a:solidFill>
                <a:latin typeface="Arial"/>
              </a:rPr>
              <a:t> = named Cognizant delivery lead for the end-to-end outcome.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and commercial readiness checklist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R3</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48</a:t>
            </a:r>
          </a:p>
        </p:txBody>
      </p:sp>
      <p:graphicFrame>
        <p:nvGraphicFramePr>
          <p:cNvPr id="9" name="Table"/>
          <p:cNvGraphicFramePr>
            <a:graphicFrameLocks noGrp="1"/>
          </p:cNvGraphicFramePr>
          <p:nvPr/>
        </p:nvGraphicFramePr>
        <p:xfrm>
          <a:off x="54864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200" b="1" i="0">
                          <a:solidFill>
                            <a:srgbClr val="1E1E2E"/>
                          </a:solidFill>
                          <a:latin typeface="Arial"/>
                        </a:rPr>
                        <a:t>Entry criteria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Several consumers or agents, named API owner, approved models and regions, landing zone network</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Discovery inputs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Consumers, models, tools, identities, traffic shape, regions, existing APIM</a:t>
                      </a:r>
                    </a:p>
                  </a:txBody>
                  <a:tcPr marL="73152" marR="73152" marT="36576" marB="36576" anchor="ctr">
                    <a:solidFill>
                      <a:srgbClr val="F5F5F2"/>
                    </a:solidFill>
                  </a:tcPr>
                </a:tc>
              </a:tr>
              <a:tr h="426720">
                <a:tc>
                  <a:txBody>
                    <a:bodyPr wrap="square" anchor="ctr">
                      <a:noAutofit/>
                    </a:bodyPr>
                    <a:lstStyle/>
                    <a:p>
                      <a:pPr algn="l"/>
                      <a:r>
                        <a:rPr sz="1200" b="1" i="0">
                          <a:solidFill>
                            <a:srgbClr val="1E1E2E"/>
                          </a:solidFill>
                          <a:latin typeface="Arial"/>
                        </a:rPr>
                        <a:t>Deliverables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Gateway, network, policies, policy register, dashboards, tests, runbooks</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Scope boundaries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Agreed APIs, policies and regions; tool-side authorisation by tool owners</a:t>
                      </a:r>
                    </a:p>
                  </a:txBody>
                  <a:tcPr marL="73152" marR="73152" marT="36576" marB="36576" anchor="ctr">
                    <a:solidFill>
                      <a:srgbClr val="F5F5F2"/>
                    </a:solidFill>
                  </a:tcPr>
                </a:tc>
              </a:tr>
              <a:tr h="426720">
                <a:tc>
                  <a:txBody>
                    <a:bodyPr wrap="square" anchor="ctr">
                      <a:noAutofit/>
                    </a:bodyPr>
                    <a:lstStyle/>
                    <a:p>
                      <a:pPr algn="l"/>
                      <a:r>
                        <a:rPr sz="1200" b="1" i="0">
                          <a:solidFill>
                            <a:srgbClr val="1E1E2E"/>
                          </a:solidFill>
                          <a:latin typeface="Arial"/>
                        </a:rPr>
                        <a:t>Dependencies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Offering 01 network, Security identity design, AI routing, DevOps CI/CD</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Delivery phases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Discover, design, build, prove (estimate per engagement)</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1" cy="249936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200" b="1" i="0">
                          <a:solidFill>
                            <a:srgbClr val="1E1E2E"/>
                          </a:solidFill>
                          <a:latin typeface="Arial"/>
                        </a:rPr>
                        <a:t>Acceptance criteria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Appendix A22 gates</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Customer responsibilities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API ownership, budget rules, approval of overflow and regions</a:t>
                      </a:r>
                    </a:p>
                  </a:txBody>
                  <a:tcPr marL="73152" marR="73152" marT="36576" marB="36576" anchor="ctr">
                    <a:solidFill>
                      <a:srgbClr val="F5F5F2"/>
                    </a:solidFill>
                  </a:tcPr>
                </a:tc>
              </a:tr>
              <a:tr h="259080">
                <a:tc>
                  <a:txBody>
                    <a:bodyPr wrap="square" anchor="ctr">
                      <a:noAutofit/>
                    </a:bodyPr>
                    <a:lstStyle/>
                    <a:p>
                      <a:pPr algn="l"/>
                      <a:r>
                        <a:rPr sz="1200" b="1" i="0">
                          <a:solidFill>
                            <a:srgbClr val="1E1E2E"/>
                          </a:solidFill>
                          <a:latin typeface="Arial"/>
                        </a:rPr>
                        <a:t>Pricing units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Role days per work package; Azure meters separate</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Change-control triggers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New region, tier change, new API classes, caching, multi-region gateway</a:t>
                      </a:r>
                    </a:p>
                  </a:txBody>
                  <a:tcPr marL="73152" marR="73152" marT="36576" marB="36576" anchor="ctr">
                    <a:solidFill>
                      <a:srgbClr val="F5F5F2"/>
                    </a:solidFill>
                  </a:tcPr>
                </a:tc>
              </a:tr>
              <a:tr h="259080">
                <a:tc>
                  <a:txBody>
                    <a:bodyPr wrap="square" anchor="ctr">
                      <a:noAutofit/>
                    </a:bodyPr>
                    <a:lstStyle/>
                    <a:p>
                      <a:pPr algn="l"/>
                      <a:r>
                        <a:rPr sz="1200" b="1" i="0">
                          <a:solidFill>
                            <a:srgbClr val="1E1E2E"/>
                          </a:solidFill>
                          <a:latin typeface="Arial"/>
                        </a:rPr>
                        <a:t>Support handoff</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Offering 05 or customer API platform team</a:t>
                      </a:r>
                    </a:p>
                  </a:txBody>
                  <a:tcPr marL="73152" marR="73152" marT="36576" marB="36576" anchor="ctr">
                    <a:solidFill>
                      <a:srgbClr val="FFFFFF"/>
                    </a:solidFill>
                  </a:tcPr>
                </a:tc>
              </a:tr>
              <a:tr h="426720">
                <a:tc>
                  <a:txBody>
                    <a:bodyPr wrap="square" anchor="ctr">
                      <a:noAutofit/>
                    </a:bodyPr>
                    <a:lstStyle/>
                    <a:p>
                      <a:pPr algn="l"/>
                      <a:r>
                        <a:rPr sz="1200" b="1" i="0">
                          <a:solidFill>
                            <a:srgbClr val="1E1E2E"/>
                          </a:solidFill>
                          <a:latin typeface="Arial"/>
                        </a:rPr>
                        <a:t>Success indicators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Gateway coverage, bypass tests, measured overshoot, attribution</a:t>
                      </a:r>
                    </a:p>
                  </a:txBody>
                  <a:tcPr marL="73152" marR="73152" marT="36576" marB="36576" anchor="ctr">
                    <a:solidFill>
                      <a:srgbClr val="F5F5F2"/>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Decisions that need an owner and a date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D1</a:t>
            </a:r>
          </a:p>
        </p:txBody>
      </p:sp>
      <p:sp>
        <p:nvSpPr>
          <p:cNvPr id="5" name="Status chip: OPEN DECISIONS"/>
          <p:cNvSpPr/>
          <p:nvPr/>
        </p:nvSpPr>
        <p:spPr>
          <a:xfrm>
            <a:off x="189865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OPEN DECISIONS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49</a:t>
            </a:r>
          </a:p>
        </p:txBody>
      </p:sp>
      <p:graphicFrame>
        <p:nvGraphicFramePr>
          <p:cNvPr id="9" name="Table"/>
          <p:cNvGraphicFramePr>
            <a:graphicFrameLocks noGrp="1"/>
          </p:cNvGraphicFramePr>
          <p:nvPr/>
        </p:nvGraphicFramePr>
        <p:xfrm>
          <a:off x="548640" y="1325880"/>
          <a:ext cx="11091672" cy="2468880"/>
        </p:xfrm>
        <a:graphic>
          <a:graphicData uri="http://schemas.openxmlformats.org/drawingml/2006/table">
            <a:tbl>
              <a:tblPr firstRow="1" bandRow="0">
                <a:tableStyleId>{5C22544A-7EE6-4342-B048-85BDC9FD1C3A}</a:tableStyleId>
              </a:tblPr>
              <a:tblGrid>
                <a:gridCol w="4206240"/>
                <a:gridCol w="1828800"/>
                <a:gridCol w="2194560"/>
                <a:gridCol w="2862072"/>
              </a:tblGrid>
              <a:tr h="274320">
                <a:tc>
                  <a:txBody>
                    <a:bodyPr wrap="square" anchor="ctr">
                      <a:noAutofit/>
                    </a:bodyPr>
                    <a:lstStyle/>
                    <a:p>
                      <a:pPr algn="l"/>
                      <a:r>
                        <a:rPr sz="1200" b="1" i="0">
                          <a:solidFill>
                            <a:srgbClr val="FFFFFF"/>
                          </a:solidFill>
                          <a:latin typeface="Arial"/>
                        </a:rPr>
                        <a:t>Decision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Decide when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Evidence needed</a:t>
                      </a:r>
                    </a:p>
                  </a:txBody>
                  <a:tcPr marL="73152" marR="73152" marT="36576" marB="36576" anchor="ctr">
                    <a:solidFill>
                      <a:srgbClr val="000048"/>
                    </a:solidFill>
                  </a:tcPr>
                </a:tc>
              </a:tr>
              <a:tr h="274320">
                <a:tc>
                  <a:txBody>
                    <a:bodyPr wrap="square" anchor="ctr">
                      <a:noAutofit/>
                    </a:bodyPr>
                    <a:lstStyle/>
                    <a:p>
                      <a:pPr algn="l"/>
                      <a:r>
                        <a:rPr sz="1200" b="0" i="0">
                          <a:solidFill>
                            <a:srgbClr val="1E1E2E"/>
                          </a:solidFill>
                          <a:latin typeface="Arial"/>
                        </a:rPr>
                        <a:t>Production on GA tiers; AI Gateway tier as pilot only</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Architecture owner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Preview status (A23)</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Counter key derived from validated identity</a:t>
                      </a:r>
                    </a:p>
                  </a:txBody>
                  <a:tcPr marL="73152" marR="73152" marT="36576" marB="36576" anchor="ctr">
                    <a:solidFill>
                      <a:srgbClr val="F5F5F2"/>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Security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Identity design</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Tier and region per pursuit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Before quote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Region snapshot recheck</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Overflow budget and alerts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approval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budget owner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PAYG share forecast</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Hard currency cap needed or not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Customer approval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Customer budget owner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Overshoot test results</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API Center as tool and MCP allow-list</a:t>
                      </a:r>
                    </a:p>
                  </a:txBody>
                  <a:tcPr marL="73152" marR="73152" marT="36576" marB="36576" anchor="ctr">
                    <a:solidFill>
                      <a:srgbClr val="F5F5F2"/>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Security with CIS Infra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Tool estate count</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Copilot Studio connector routing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 pursuit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Power Platform team</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Connector inventory</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Sell rates and attribution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approval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Costing model</a:t>
                      </a:r>
                    </a:p>
                  </a:txBody>
                  <a:tcPr marL="73152" marR="73152" marT="36576" marB="36576" anchor="ctr">
                    <a:solidFill>
                      <a:srgbClr val="F5F5F2"/>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S1</a:t>
            </a:r>
          </a:p>
        </p:txBody>
      </p:sp>
      <p:sp>
        <p:nvSpPr>
          <p:cNvPr id="5" name="Status chip: CHECKED 11 OCT 2026"/>
          <p:cNvSpPr/>
          <p:nvPr/>
        </p:nvSpPr>
        <p:spPr>
          <a:xfrm>
            <a:off x="189865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1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50</a:t>
            </a:r>
          </a:p>
        </p:txBody>
      </p:sp>
      <p:sp>
        <p:nvSpPr>
          <p:cNvPr id="9" name="TextBox 8"/>
          <p:cNvSpPr txBox="1"/>
          <p:nvPr/>
        </p:nvSpPr>
        <p:spPr>
          <a:xfrm>
            <a:off x="548640" y="1325880"/>
            <a:ext cx="11091672" cy="4983480"/>
          </a:xfrm>
          <a:prstGeom prst="rect">
            <a:avLst/>
          </a:prstGeom>
          <a:noFill/>
        </p:spPr>
        <p:txBody>
          <a:bodyPr wrap="square" lIns="0" rIns="0" tIns="0" bIns="0" anchor="t">
            <a:noAutofit/>
          </a:bodyPr>
          <a:lstStyle/>
          <a:p>
            <a:pPr algn="l">
              <a:spcAft>
                <a:spcPts val="400"/>
              </a:spcAft>
            </a:pPr>
            <a:r>
              <a:rPr sz="1200" b="1" i="0">
                <a:solidFill>
                  <a:srgbClr val="000048"/>
                </a:solidFill>
                <a:latin typeface="Arial"/>
              </a:rPr>
              <a:t>AI gateway capabilities in API Management:  </a:t>
            </a:r>
            <a:r>
              <a:rPr sz="1200" b="0" i="0">
                <a:solidFill>
                  <a:srgbClr val="2F78C4"/>
                </a:solidFill>
                <a:latin typeface="Arial"/>
                <a:hlinkClick r:id="rId4"/>
              </a:rPr>
              <a:t>https://learn.microsoft.com/en-us/azure/api-management/genai-gateway-capabilities</a:t>
            </a:r>
          </a:p>
          <a:p>
            <a:pPr algn="l">
              <a:spcAft>
                <a:spcPts val="400"/>
              </a:spcAft>
            </a:pPr>
            <a:r>
              <a:rPr sz="1200" b="1" i="0">
                <a:solidFill>
                  <a:srgbClr val="000048"/>
                </a:solidFill>
                <a:latin typeface="Arial"/>
              </a:rPr>
              <a:t>APIM llm-token-limit policy:  </a:t>
            </a:r>
            <a:r>
              <a:rPr sz="1200" b="0" i="0">
                <a:solidFill>
                  <a:srgbClr val="2F78C4"/>
                </a:solidFill>
                <a:latin typeface="Arial"/>
                <a:hlinkClick r:id="rId5"/>
              </a:rPr>
              <a:t>https://learn.microsoft.com/en-us/azure/api-management/llm-token-limit-policy</a:t>
            </a:r>
          </a:p>
          <a:p>
            <a:pPr algn="l">
              <a:spcAft>
                <a:spcPts val="400"/>
              </a:spcAft>
            </a:pPr>
            <a:r>
              <a:rPr sz="1200" b="1" i="0">
                <a:solidFill>
                  <a:srgbClr val="000048"/>
                </a:solidFill>
                <a:latin typeface="Arial"/>
              </a:rPr>
              <a:t>APIM llm-content-safety policy:  </a:t>
            </a:r>
            <a:r>
              <a:rPr sz="1200" b="0" i="0">
                <a:solidFill>
                  <a:srgbClr val="2F78C4"/>
                </a:solidFill>
                <a:latin typeface="Arial"/>
                <a:hlinkClick r:id="rId6"/>
              </a:rPr>
              <a:t>https://learn.microsoft.com/en-us/azure/api-management/llm-content-safety-policy</a:t>
            </a:r>
          </a:p>
          <a:p>
            <a:pPr algn="l">
              <a:spcAft>
                <a:spcPts val="400"/>
              </a:spcAft>
            </a:pPr>
            <a:r>
              <a:rPr sz="1200" b="1" i="0">
                <a:solidFill>
                  <a:srgbClr val="000048"/>
                </a:solidFill>
                <a:latin typeface="Arial"/>
              </a:rPr>
              <a:t>AI Gateway tier (preview) overview:  </a:t>
            </a:r>
            <a:r>
              <a:rPr sz="1200" b="0" i="0">
                <a:solidFill>
                  <a:srgbClr val="2F78C4"/>
                </a:solidFill>
                <a:latin typeface="Arial"/>
                <a:hlinkClick r:id="rId7"/>
              </a:rPr>
              <a:t>https://learn.microsoft.com/en-us/azure/api-management/ai-gateway-overview</a:t>
            </a:r>
          </a:p>
          <a:p>
            <a:pPr algn="l">
              <a:spcAft>
                <a:spcPts val="400"/>
              </a:spcAft>
            </a:pPr>
            <a:r>
              <a:rPr sz="1200" b="1" i="0">
                <a:solidFill>
                  <a:srgbClr val="000048"/>
                </a:solidFill>
                <a:latin typeface="Arial"/>
              </a:rPr>
              <a:t>API Management feature comparison by tier:  </a:t>
            </a:r>
            <a:r>
              <a:rPr sz="1200" b="0" i="0">
                <a:solidFill>
                  <a:srgbClr val="2F78C4"/>
                </a:solidFill>
                <a:latin typeface="Arial"/>
                <a:hlinkClick r:id="rId8"/>
              </a:rPr>
              <a:t>https://learn.microsoft.com/en-us/azure/api-management/api-management-features</a:t>
            </a:r>
          </a:p>
          <a:p>
            <a:pPr algn="l">
              <a:spcAft>
                <a:spcPts val="400"/>
              </a:spcAft>
            </a:pPr>
            <a:r>
              <a:rPr sz="1200" b="1" i="0">
                <a:solidFill>
                  <a:srgbClr val="000048"/>
                </a:solidFill>
                <a:latin typeface="Arial"/>
              </a:rPr>
              <a:t>API Management v2 tier region availability:  </a:t>
            </a:r>
            <a:r>
              <a:rPr sz="1200" b="0" i="0">
                <a:solidFill>
                  <a:srgbClr val="2F78C4"/>
                </a:solidFill>
                <a:latin typeface="Arial"/>
                <a:hlinkClick r:id="rId9"/>
              </a:rPr>
              <a:t>https://learn.microsoft.com/en-us/azure/api-management/api-management-region-availability</a:t>
            </a:r>
          </a:p>
          <a:p>
            <a:pPr algn="l">
              <a:spcAft>
                <a:spcPts val="400"/>
              </a:spcAft>
            </a:pPr>
            <a:r>
              <a:rPr sz="1200" b="1" i="0">
                <a:solidFill>
                  <a:srgbClr val="000048"/>
                </a:solidFill>
                <a:latin typeface="Arial"/>
              </a:rPr>
              <a:t>Azure Retail Prices API: API Management, East US 2:  </a:t>
            </a:r>
            <a:r>
              <a:rPr sz="1200" b="0" i="0">
                <a:solidFill>
                  <a:srgbClr val="2F78C4"/>
                </a:solidFill>
                <a:latin typeface="Arial"/>
                <a:hlinkClick r:id="rId10"/>
              </a:rPr>
              <a:t>https://prices.azure.com/api/retail/prices?$filter=serviceName eq 'API Management' and armRegionName eq 'eastus2'</a:t>
            </a:r>
          </a:p>
          <a:p>
            <a:pPr algn="l">
              <a:spcAft>
                <a:spcPts val="400"/>
              </a:spcAft>
            </a:pPr>
            <a:r>
              <a:rPr sz="1200" b="1" i="0">
                <a:solidFill>
                  <a:srgbClr val="000048"/>
                </a:solidFill>
                <a:latin typeface="Arial"/>
              </a:rPr>
              <a:t>Azure Retail Prices API: gpt-5.4, East US 2:  </a:t>
            </a:r>
            <a:r>
              <a:rPr sz="1200" b="0" i="0">
                <a:solidFill>
                  <a:srgbClr val="2F78C4"/>
                </a:solidFill>
                <a:latin typeface="Arial"/>
                <a:hlinkClick r:id="rId11"/>
              </a:rPr>
              <a:t>https://prices.azure.com/api/retail/prices?$filter=armRegionName eq 'eastus2' and contains(meterName,'5.4')</a:t>
            </a:r>
          </a:p>
          <a:p>
            <a:pPr algn="l">
              <a:spcAft>
                <a:spcPts val="400"/>
              </a:spcAft>
            </a:pPr>
            <a:r>
              <a:rPr sz="1200" b="1" i="0">
                <a:solidFill>
                  <a:srgbClr val="000048"/>
                </a:solidFill>
                <a:latin typeface="Arial"/>
              </a:rPr>
              <a:t>Provisioned throughput concepts:  </a:t>
            </a:r>
            <a:r>
              <a:rPr sz="1200" b="0" i="0">
                <a:solidFill>
                  <a:srgbClr val="2F78C4"/>
                </a:solidFill>
                <a:latin typeface="Arial"/>
                <a:hlinkClick r:id="rId12"/>
              </a:rPr>
              <a:t>https://learn.microsoft.com/en-us/azure/foundry/openai/concepts/provisioned-throughput</a:t>
            </a:r>
          </a:p>
          <a:p>
            <a:pPr algn="l">
              <a:spcAft>
                <a:spcPts val="400"/>
              </a:spcAft>
            </a:pPr>
            <a:r>
              <a:rPr sz="1200" b="1" i="0">
                <a:solidFill>
                  <a:srgbClr val="000048"/>
                </a:solidFill>
                <a:latin typeface="Arial"/>
              </a:rPr>
              <a:t>Azure Retail Prices API: Log Analytics, East US 2:  </a:t>
            </a:r>
            <a:r>
              <a:rPr sz="1200" b="0" i="0">
                <a:solidFill>
                  <a:srgbClr val="2F78C4"/>
                </a:solidFill>
                <a:latin typeface="Arial"/>
                <a:hlinkClick r:id="rId13"/>
              </a:rPr>
              <a:t>https://prices.azure.com/api/retail/prices?$filter=serviceName eq 'Log Analytics' and armRegionName eq 'eastus2'</a:t>
            </a:r>
          </a:p>
          <a:p>
            <a:pPr algn="l">
              <a:spcAft>
                <a:spcPts val="400"/>
              </a:spcAft>
            </a:pPr>
            <a:r>
              <a:rPr sz="1200" b="1" i="0">
                <a:solidFill>
                  <a:srgbClr val="000048"/>
                </a:solidFill>
                <a:latin typeface="Arial"/>
              </a:rPr>
              <a:t>Foundry Models retirement schedule:  </a:t>
            </a:r>
            <a:r>
              <a:rPr sz="1200" b="0" i="0">
                <a:solidFill>
                  <a:srgbClr val="2F78C4"/>
                </a:solidFill>
                <a:latin typeface="Arial"/>
                <a:hlinkClick r:id="rId14"/>
              </a:rPr>
              <a:t>https://learn.microsoft.com/en-us/azure/foundry/openai/concepts/model-retirement-schedule</a:t>
            </a:r>
          </a:p>
          <a:p>
            <a:pPr algn="l">
              <a:spcAft>
                <a:spcPts val="400"/>
              </a:spcAft>
            </a:pPr>
            <a:r>
              <a:rPr sz="1200" b="1" i="0">
                <a:solidFill>
                  <a:srgbClr val="000048"/>
                </a:solidFill>
                <a:latin typeface="Arial"/>
              </a:rPr>
              <a:t>Register and discover MCP servers in Azure API Center:  </a:t>
            </a:r>
            <a:r>
              <a:rPr sz="1200" b="0" i="0">
                <a:solidFill>
                  <a:srgbClr val="2F78C4"/>
                </a:solidFill>
                <a:latin typeface="Arial"/>
                <a:hlinkClick r:id="rId15"/>
              </a:rPr>
              <a:t>https://learn.microsoft.com/en-us/azure/api-center/register-discover-mcp-server</a:t>
            </a:r>
          </a:p>
          <a:p>
            <a:pPr algn="l">
              <a:spcAft>
                <a:spcPts val="400"/>
              </a:spcAft>
            </a:pPr>
            <a:r>
              <a:rPr sz="1200" b="1" i="0">
                <a:solidFill>
                  <a:srgbClr val="000048"/>
                </a:solidFill>
                <a:latin typeface="Arial"/>
              </a:rPr>
              <a:t>Private MCP registry on API Center enforced in GitHub Copilot and VS Code (Microsoft DevBlogs):  </a:t>
            </a:r>
            <a:r>
              <a:rPr sz="1200" b="0" i="0">
                <a:solidFill>
                  <a:srgbClr val="2F78C4"/>
                </a:solidFill>
                <a:latin typeface="Arial"/>
                <a:hlinkClick r:id="rId16"/>
              </a:rPr>
              <a:t>https://devblogs.microsoft.com/all-things-azure/locking-down-mcp-create-a-private-registry-on-azure-api-center-and-enforce-it-in-github-copilot-and-vs-code/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 (continued)</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S1B</a:t>
            </a:r>
          </a:p>
        </p:txBody>
      </p:sp>
      <p:sp>
        <p:nvSpPr>
          <p:cNvPr id="5" name="Status chip: CHECKED 11 OCT 2026"/>
          <p:cNvSpPr/>
          <p:nvPr/>
        </p:nvSpPr>
        <p:spPr>
          <a:xfrm>
            <a:off x="199644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Gateway Implementation  ·  v4.0  ·  11 Oct 2026  ·  Working proposal, not approved terms</a:t>
            </a:r>
          </a:p>
        </p:txBody>
      </p:sp>
      <p:sp>
        <p:nvSpPr>
          <p:cNvPr id="7" name="IndexLink">
            <a:hlinkClick action="ppaction://hlinksldjump" r:id="rId13"/>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51</a:t>
            </a:r>
          </a:p>
        </p:txBody>
      </p:sp>
      <p:sp>
        <p:nvSpPr>
          <p:cNvPr id="9" name="TextBox 8"/>
          <p:cNvSpPr txBox="1"/>
          <p:nvPr/>
        </p:nvSpPr>
        <p:spPr>
          <a:xfrm>
            <a:off x="548640" y="1325880"/>
            <a:ext cx="11091672" cy="4983480"/>
          </a:xfrm>
          <a:prstGeom prst="rect">
            <a:avLst/>
          </a:prstGeom>
          <a:noFill/>
        </p:spPr>
        <p:txBody>
          <a:bodyPr wrap="square" lIns="0" rIns="0" tIns="0" bIns="0" anchor="t">
            <a:noAutofit/>
          </a:bodyPr>
          <a:lstStyle/>
          <a:p>
            <a:pPr algn="l">
              <a:spcAft>
                <a:spcPts val="400"/>
              </a:spcAft>
            </a:pPr>
            <a:r>
              <a:rPr sz="1200" b="1" i="0">
                <a:solidFill>
                  <a:srgbClr val="000048"/>
                </a:solidFill>
                <a:latin typeface="Arial"/>
              </a:rPr>
              <a:t>AI threat protection in Microsoft Defender for Cloud:  </a:t>
            </a:r>
            <a:r>
              <a:rPr sz="1200" b="0" i="0">
                <a:solidFill>
                  <a:srgbClr val="2F78C4"/>
                </a:solidFill>
                <a:latin typeface="Arial"/>
                <a:hlinkClick r:id="rId4"/>
              </a:rPr>
              <a:t>https://learn.microsoft.com/en-us/azure/defender-for-cloud/ai-threat-protection</a:t>
            </a:r>
          </a:p>
          <a:p>
            <a:pPr algn="l">
              <a:spcAft>
                <a:spcPts val="400"/>
              </a:spcAft>
            </a:pPr>
            <a:r>
              <a:rPr sz="1200" b="1" i="0">
                <a:solidFill>
                  <a:srgbClr val="000048"/>
                </a:solidFill>
                <a:latin typeface="Arial"/>
              </a:rPr>
              <a:t>Microsoft Purview data security and compliance for AI:  </a:t>
            </a:r>
            <a:r>
              <a:rPr sz="1200" b="0" i="0">
                <a:solidFill>
                  <a:srgbClr val="2F78C4"/>
                </a:solidFill>
                <a:latin typeface="Arial"/>
                <a:hlinkClick r:id="rId5"/>
              </a:rPr>
              <a:t>https://learn.microsoft.com/en-us/purview/ai-microsoft-purview</a:t>
            </a:r>
          </a:p>
          <a:p>
            <a:pPr algn="l">
              <a:spcAft>
                <a:spcPts val="400"/>
              </a:spcAft>
            </a:pPr>
            <a:r>
              <a:rPr sz="1200" b="1" i="0">
                <a:solidFill>
                  <a:srgbClr val="000048"/>
                </a:solidFill>
                <a:latin typeface="Arial"/>
              </a:rPr>
              <a:t>Cost Management exports, including FOCUS format:  </a:t>
            </a:r>
            <a:r>
              <a:rPr sz="1200" b="0" i="0">
                <a:solidFill>
                  <a:srgbClr val="2F78C4"/>
                </a:solidFill>
                <a:latin typeface="Arial"/>
                <a:hlinkClick r:id="rId6"/>
              </a:rPr>
              <a:t>https://learn.microsoft.com/en-us/azure/cost-management-billing/costs/tutorial-improved-exports</a:t>
            </a:r>
          </a:p>
          <a:p>
            <a:pPr algn="l">
              <a:spcAft>
                <a:spcPts val="400"/>
              </a:spcAft>
            </a:pPr>
            <a:r>
              <a:rPr sz="1200" b="1" i="0">
                <a:solidFill>
                  <a:srgbClr val="000048"/>
                </a:solidFill>
                <a:latin typeface="Arial"/>
              </a:rPr>
              <a:t>OWASP Top 10 for LLM Applications 2026 (OWASP GenAI Security Project, released 3 Aug 2026):  </a:t>
            </a:r>
            <a:r>
              <a:rPr sz="1200" b="0" i="0">
                <a:solidFill>
                  <a:srgbClr val="2F78C4"/>
                </a:solidFill>
                <a:latin typeface="Arial"/>
                <a:hlinkClick r:id="rId7"/>
              </a:rPr>
              <a:t>https://genai.owasp.org/resource/owasp-genai-llm-top-10-2026/</a:t>
            </a:r>
          </a:p>
          <a:p>
            <a:pPr algn="l">
              <a:spcAft>
                <a:spcPts val="400"/>
              </a:spcAft>
            </a:pPr>
            <a:r>
              <a:rPr sz="1200" b="1" i="0">
                <a:solidFill>
                  <a:srgbClr val="000048"/>
                </a:solidFill>
                <a:latin typeface="Arial"/>
              </a:rPr>
              <a:t>EU AI Act Update: Digital Omnibus finalises compliance changes (Orrick, third-party law-firm summary, 29 Jul 2026; EUR-Lex text not verified):  </a:t>
            </a:r>
            <a:r>
              <a:rPr sz="1200" b="0" i="0">
                <a:solidFill>
                  <a:srgbClr val="2F78C4"/>
                </a:solidFill>
                <a:latin typeface="Arial"/>
                <a:hlinkClick r:id="rId8"/>
              </a:rPr>
              <a:t>https://www.orrick.com/en/Insights/2026/07/EU-AI-Act-Update-Digital-Omnibus-Finalizes-8-Compliance-Changes</a:t>
            </a:r>
          </a:p>
          <a:p>
            <a:pPr algn="l">
              <a:spcAft>
                <a:spcPts val="400"/>
              </a:spcAft>
            </a:pPr>
            <a:r>
              <a:rPr sz="1200" b="1" i="0">
                <a:solidFill>
                  <a:srgbClr val="000048"/>
                </a:solidFill>
                <a:latin typeface="Arial"/>
              </a:rPr>
              <a:t>Azure Architecture Icons (V24):  </a:t>
            </a:r>
            <a:r>
              <a:rPr sz="1200" b="0" i="0">
                <a:solidFill>
                  <a:srgbClr val="2F78C4"/>
                </a:solidFill>
                <a:latin typeface="Arial"/>
                <a:hlinkClick r:id="rId9"/>
              </a:rPr>
              <a:t>https://learn.microsoft.com/en-us/azure/architecture/icons/</a:t>
            </a:r>
          </a:p>
          <a:p>
            <a:pPr algn="l">
              <a:spcAft>
                <a:spcPts val="400"/>
              </a:spcAft>
            </a:pPr>
            <a:r>
              <a:rPr sz="1200" b="1" i="0">
                <a:solidFill>
                  <a:srgbClr val="000048"/>
                </a:solidFill>
                <a:latin typeface="Arial"/>
              </a:rPr>
              <a:t>az-icons.com catalogue of official Azure icons (July 2026 set):  </a:t>
            </a:r>
            <a:r>
              <a:rPr sz="1200" b="0" i="0">
                <a:solidFill>
                  <a:srgbClr val="2F78C4"/>
                </a:solidFill>
                <a:latin typeface="Arial"/>
                <a:hlinkClick r:id="rId10"/>
              </a:rPr>
              <a:t>https://az-icons.com/</a:t>
            </a:r>
          </a:p>
          <a:p>
            <a:pPr algn="l">
              <a:spcAft>
                <a:spcPts val="400"/>
              </a:spcAft>
            </a:pPr>
            <a:r>
              <a:rPr sz="1200" b="1" i="0">
                <a:solidFill>
                  <a:srgbClr val="000048"/>
                </a:solidFill>
                <a:latin typeface="Arial"/>
              </a:rPr>
              <a:t>Azure OpenAI gateway guide:  </a:t>
            </a:r>
            <a:r>
              <a:rPr sz="1200" b="0" i="0">
                <a:solidFill>
                  <a:srgbClr val="2F78C4"/>
                </a:solidFill>
                <a:latin typeface="Arial"/>
                <a:hlinkClick r:id="rId11"/>
              </a:rPr>
              <a:t>https://learn.microsoft.com/en-us/azure/architecture/ai-ml/guide/azure-openai-gateway-guide</a:t>
            </a:r>
          </a:p>
          <a:p>
            <a:pPr algn="l">
              <a:spcAft>
                <a:spcPts val="400"/>
              </a:spcAft>
            </a:pPr>
            <a:r>
              <a:rPr sz="1200" b="1" i="0">
                <a:solidFill>
                  <a:srgbClr val="000048"/>
                </a:solidFill>
                <a:latin typeface="Arial"/>
              </a:rPr>
              <a:t>Gateway custom authentication:  </a:t>
            </a:r>
            <a:r>
              <a:rPr sz="1200" b="0" i="0">
                <a:solidFill>
                  <a:srgbClr val="2F78C4"/>
                </a:solidFill>
                <a:latin typeface="Arial"/>
                <a:hlinkClick r:id="rId12"/>
              </a:rPr>
              <a:t>https://learn.microsoft.com/en-us/azure/architecture/ai-ml/guide/azure-openai-gateway-custom-authentication</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Upendra Kumar</dc:creator>
  <lastModifiedBy>Upendra Kumar</lastModifiedBy>
  <dc:title>AI Gateway Implementation v4.0</dc:title>
  <dcterms:created xsi:type="dcterms:W3CDTF">2026-10-10T13:56:28.3080000Z</dcterms:created>
  <dcterms:modified xsi:type="dcterms:W3CDTF">2026-10-10T13:56:28.3090000Z</dcterms:modified>
  <dc:subject>Proposed CIS Infra GTM offering for internal leadership review</dc:subject>
</coreProperties>
</file>