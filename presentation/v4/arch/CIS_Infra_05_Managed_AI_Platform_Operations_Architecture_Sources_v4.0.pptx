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4.xml" ContentType="application/vnd.openxmlformats-officedocument.presentationml.notesSlide+xml"/>
  <Override PartName="/ppt/notesSlides/notesSlide29.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4.xml" ContentType="application/vnd.openxmlformats-officedocument.presentationml.slide+xml"/>
  <Override PartName="/ppt/slides/slide29.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61" ns0:id="rId14"/>
    <p:sldId xmlns:ns0="http://schemas.openxmlformats.org/officeDocument/2006/relationships" id="269" ns0:id="rId22"/>
    <p:sldId xmlns:ns0="http://schemas.openxmlformats.org/officeDocument/2006/relationships" id="284" ns0:id="rId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14" Type="http://schemas.openxmlformats.org/officeDocument/2006/relationships/slide" Target="slides/slide6.xml"/><Relationship Id="rId22" Type="http://schemas.openxmlformats.org/officeDocument/2006/relationships/slide" Target="slides/slide14.xml"/><Relationship Id="rId37"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are the signals: Azure Monitor, Service Health, Application Insights with agent traces, logs and budgets. Alert rules with named owners send them to one service desk, which routes to the right resolver lane. Containment is a separate plane, covered in the appendix.</a:t>
            </a:r>
          </a:p>
          <a:p/>
          <a:p>
            <a:r>
              <a:t>Likely question: Which service desk tools do we support?</a:t>
            </a:r>
          </a:p>
          <a:p>
            <a:r>
              <a:t>Answer: Azure Monitor sends alerts to ServiceNow ITOM and BMC Helix through a secure webhook. Others use generic webhooks or Logic Apps. We confirm per customer.</a:t>
            </a:r>
          </a:p>
          <a:p/>
          <a:p>
            <a:r>
              <a:t>DETAIL AND CAVEATS</a:t>
            </a:r>
          </a:p>
          <a:p>
            <a:r>
              <a:t>Improved executive operations architecture (replaces the original architecture slides 5, 7 and 13, which were not supplied). Signals: Azure Monitor and Service Health for platform health, Application Insights and Foundry traces for agents, Log Analytics for logs, cost budgets for spend. Alert rules and action groups route to the customer service desk (ITSM tool, conceptual, not an Azure service) which assigns the lane resolver. The containment control plane (appendix K1) is invoked by authorised operators. A workbook provides monthly reporting.</a:t>
            </a:r>
          </a:p>
          <a:p/>
          <a:p>
            <a:r>
              <a:t>Sources (checked 11 Oct 2026):</a:t>
            </a:r>
          </a:p>
          <a:p>
            <a:r>
              <a:t>Foundry Control Plane: manage agents: https://learn.microsoft.com/en-us/azure/foundry/control-plane/how-to-manage-agents</a:t>
            </a:r>
          </a:p>
          <a:p>
            <a:r>
              <a:t>IT Service Management integration (Azure Monitor): https://learn.microsoft.com/en-us/azure/azure-monitor/alerts/itsmc-overview</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"Platform health and dependency monitoring". Detailed monitoring architecture. Each monitored dependency maps to an alert rule with an owner. Dependency map derived from the Foundry baseline network flows (the original references pack).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Detailed monitoring architecture. Each monitored dependency maps to an alert rule with an owner. Dependency map derived from the Foundry baseline network flows (the original references pack). Service Health covers Azure-side incidents and planned maintenance. Application Insights availability tests check the user path end to end.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Procurement always asks how they leave. Everything we build lives in the customer tenant and repositories, and the exit package is priced up front.</a:t>
            </a:r>
          </a:p>
          <a:p/>
          <a:p>
            <a:r>
              <a:t>Likely question: Do we keep any IP?</a:t>
            </a:r>
          </a:p>
          <a:p>
            <a:r>
              <a:t>Answer: Our internal accelerators and methods, yes, as agreed in the contract. Customer configuration and data stay with the customer.</a:t>
            </a:r>
          </a:p>
          <a:p/>
          <a:p>
            <a:r>
              <a:t>DETAIL AND CAVEATS</a:t>
            </a:r>
          </a:p>
          <a:p>
            <a:r>
              <a:t>Exit plan agreed at contract start and refreshed yearly. One-time exit package of 15 to 30 role days over 4 to 6 weeks (estimate). All runbooks, infrastructure as code, alert rules, dashboards and catalogue data remain customer property in customer tenants and repositories.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25.png"/><Relationship Id="rId5" Type="http://schemas.openxmlformats.org/officeDocument/2006/relationships/image" Target="../media/image28.svg"/><Relationship Id="rId6" Type="http://schemas.openxmlformats.org/officeDocument/2006/relationships/image" Target="../media/image27.png"/><Relationship Id="rId7" Type="http://schemas.openxmlformats.org/officeDocument/2006/relationships/image" Target="../media/image30.svg"/><Relationship Id="rId8" Type="http://schemas.openxmlformats.org/officeDocument/2006/relationships/image" Target="../media/image29.png"/><Relationship Id="rId9" Type="http://schemas.openxmlformats.org/officeDocument/2006/relationships/image" Target="../media/image32.svg"/><Relationship Id="rId10" Type="http://schemas.openxmlformats.org/officeDocument/2006/relationships/image" Target="../media/image31.png"/><Relationship Id="rId11" Type="http://schemas.openxmlformats.org/officeDocument/2006/relationships/image" Target="../media/image34.svg"/><Relationship Id="rId12" Type="http://schemas.openxmlformats.org/officeDocument/2006/relationships/image" Target="../media/image33.png"/><Relationship Id="rId13" Type="http://schemas.openxmlformats.org/officeDocument/2006/relationships/image" Target="../media/image36.svg"/><Relationship Id="rId14" Type="http://schemas.openxmlformats.org/officeDocument/2006/relationships/image" Target="../media/image35.png"/><Relationship Id="rId15" Type="http://schemas.openxmlformats.org/officeDocument/2006/relationships/image" Target="../media/image38.svg"/><Relationship Id="rId16" Type="http://schemas.openxmlformats.org/officeDocument/2006/relationships/image" Target="../media/image37.png"/><Relationship Id="rId17" Type="http://schemas.openxmlformats.org/officeDocument/2006/relationships/image" Target="../media/image40.svg"/><Relationship Id="rId18" Type="http://schemas.openxmlformats.org/officeDocument/2006/relationships/image" Target="../media/image39.png"/><Relationship Id="rId19" Type="http://schemas.openxmlformats.org/officeDocument/2006/relationships/image" Target="../media/image42.svg"/><Relationship Id="rId20" Type="http://schemas.openxmlformats.org/officeDocument/2006/relationships/image" Target="../media/image41.png"/><Relationship Id="rId21" Type="http://schemas.openxmlformats.org/officeDocument/2006/relationships/image" Target="../media/image44.svg"/><Relationship Id="rId22" Type="http://schemas.openxmlformats.org/officeDocument/2006/relationships/image" Target="../media/image43.png"/><Relationship Id="rId23" Type="http://schemas.openxmlformats.org/officeDocument/2006/relationships/image" Target="../media/image46.svg"/><Relationship Id="rId24" Type="http://schemas.openxmlformats.org/officeDocument/2006/relationships/image" Target="../media/image45.png"/><Relationship Id="rId25" Type="http://schemas.openxmlformats.org/officeDocument/2006/relationships/image" Target="../media/image48.svg"/><Relationship Id="rId26" Type="http://schemas.openxmlformats.org/officeDocument/2006/relationships/image" Target="../media/image11.png"/><Relationship Id="rId27" Type="http://schemas.openxmlformats.org/officeDocument/2006/relationships/image" Target="../media/image14.svg"/><Relationship Id="rId28" Type="http://schemas.openxmlformats.org/officeDocument/2006/relationships/image" Target="../media/image13.png"/><Relationship Id="rId29" Type="http://schemas.openxmlformats.org/officeDocument/2006/relationships/image" Target="../media/image16.svg"/><Relationship Id="rId30" Type="http://schemas.openxmlformats.org/officeDocument/2006/relationships/image" Target="../media/image15.png"/><Relationship Id="rId31" Type="http://schemas.openxmlformats.org/officeDocument/2006/relationships/image" Target="../media/image18.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Every alert reaches one desk and the right resolver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3108960" cy="4389120"/>
          </a:xfrm>
          <a:prstGeom prst="roundRect">
            <a:avLst>
              <a:gd name="adj" fmla="val 294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2889504" cy="237744"/>
          </a:xfrm>
          <a:prstGeom prst="rect">
            <a:avLst/>
          </a:prstGeom>
          <a:noFill/>
        </p:spPr>
        <p:txBody>
          <a:bodyPr wrap="square" lIns="0" rIns="0" tIns="0" bIns="0" anchor="t">
            <a:noAutofit/>
          </a:bodyPr>
          <a:lstStyle/>
          <a:p>
            <a:pPr algn="l"/>
            <a:r>
              <a:rPr sz="1200" b="1" i="0">
                <a:solidFill>
                  <a:srgbClr val="000048"/>
                </a:solidFill>
                <a:latin typeface="Arial"/>
              </a:rPr>
              <a:t>SIGNALS</a:t>
            </a:r>
          </a:p>
        </p:txBody>
      </p:sp>
      <p:pic>
        <p:nvPicPr>
          <p:cNvPr id="10" name="Azure icon: Azure Monitor" descr="Official Azure icon: Azure Monito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42516"/>
            <a:ext cx="384048" cy="384048"/>
          </a:xfrm>
          <a:prstGeom prst="rect">
            <a:avLst/>
          </a:prstGeom>
        </p:spPr>
      </p:pic>
      <p:sp>
        <p:nvSpPr>
          <p:cNvPr id="11" name="TextBox 10"/>
          <p:cNvSpPr txBox="1"/>
          <p:nvPr/>
        </p:nvSpPr>
        <p:spPr>
          <a:xfrm>
            <a:off x="1078992" y="1728216"/>
            <a:ext cx="2267712" cy="612648"/>
          </a:xfrm>
          <a:prstGeom prst="rect">
            <a:avLst/>
          </a:prstGeom>
          <a:noFill/>
        </p:spPr>
        <p:txBody>
          <a:bodyPr wrap="square" lIns="0" rIns="0" tIns="0" bIns="0" anchor="ctr">
            <a:noAutofit/>
          </a:bodyPr>
          <a:lstStyle/>
          <a:p>
            <a:pPr algn="l"/>
            <a:r>
              <a:rPr sz="1300" b="1" i="0">
                <a:solidFill>
                  <a:srgbClr val="000048"/>
                </a:solidFill>
                <a:latin typeface="Arial"/>
              </a:rPr>
              <a:t>Azure Monitor</a:t>
            </a:r>
          </a:p>
          <a:p>
            <a:pPr algn="l"/>
            <a:r>
              <a:rPr sz="1200" b="0" i="0">
                <a:solidFill>
                  <a:srgbClr val="53565A"/>
                </a:solidFill>
                <a:latin typeface="Arial"/>
              </a:rPr>
              <a:t>metrics, alerts</a:t>
            </a:r>
          </a:p>
        </p:txBody>
      </p:sp>
      <p:pic>
        <p:nvPicPr>
          <p:cNvPr id="12" name="Azure icon: Service Health" descr="Official Azure icon: Service Health"/>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619756"/>
            <a:ext cx="384048" cy="384048"/>
          </a:xfrm>
          <a:prstGeom prst="rect">
            <a:avLst/>
          </a:prstGeom>
        </p:spPr>
      </p:pic>
      <p:sp>
        <p:nvSpPr>
          <p:cNvPr id="13" name="TextBox 12"/>
          <p:cNvSpPr txBox="1"/>
          <p:nvPr/>
        </p:nvSpPr>
        <p:spPr>
          <a:xfrm>
            <a:off x="1078992" y="2505456"/>
            <a:ext cx="2267712" cy="612648"/>
          </a:xfrm>
          <a:prstGeom prst="rect">
            <a:avLst/>
          </a:prstGeom>
          <a:noFill/>
        </p:spPr>
        <p:txBody>
          <a:bodyPr wrap="square" lIns="0" rIns="0" tIns="0" bIns="0" anchor="ctr">
            <a:noAutofit/>
          </a:bodyPr>
          <a:lstStyle/>
          <a:p>
            <a:pPr algn="l"/>
            <a:r>
              <a:rPr sz="1300" b="1" i="0">
                <a:solidFill>
                  <a:srgbClr val="000048"/>
                </a:solidFill>
                <a:latin typeface="Arial"/>
              </a:rPr>
              <a:t>Service Health</a:t>
            </a:r>
          </a:p>
          <a:p>
            <a:pPr algn="l"/>
            <a:r>
              <a:rPr sz="1200" b="0" i="0">
                <a:solidFill>
                  <a:srgbClr val="53565A"/>
                </a:solidFill>
                <a:latin typeface="Arial"/>
              </a:rPr>
              <a:t>Azure incidents</a:t>
            </a:r>
          </a:p>
        </p:txBody>
      </p:sp>
      <p:pic>
        <p:nvPicPr>
          <p:cNvPr id="14" name="Azure icon: Application Insights" descr="Official Azure icon: Application Insight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396996"/>
            <a:ext cx="384048" cy="384048"/>
          </a:xfrm>
          <a:prstGeom prst="rect">
            <a:avLst/>
          </a:prstGeom>
        </p:spPr>
      </p:pic>
      <p:sp>
        <p:nvSpPr>
          <p:cNvPr id="15" name="TextBox 14"/>
          <p:cNvSpPr txBox="1"/>
          <p:nvPr/>
        </p:nvSpPr>
        <p:spPr>
          <a:xfrm>
            <a:off x="1078992" y="3282696"/>
            <a:ext cx="2267712" cy="61264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200" b="0" i="0">
                <a:solidFill>
                  <a:srgbClr val="53565A"/>
                </a:solidFill>
                <a:latin typeface="Arial"/>
              </a:rPr>
              <a:t>agent traces, errors</a:t>
            </a:r>
          </a:p>
        </p:txBody>
      </p:sp>
      <p:pic>
        <p:nvPicPr>
          <p:cNvPr id="16" name="Azure icon: Log Analytics workspace" descr="Official Azure icon: Log Analytics workspace"/>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4174236"/>
            <a:ext cx="384048" cy="384048"/>
          </a:xfrm>
          <a:prstGeom prst="rect">
            <a:avLst/>
          </a:prstGeom>
        </p:spPr>
      </p:pic>
      <p:sp>
        <p:nvSpPr>
          <p:cNvPr id="17" name="TextBox 16"/>
          <p:cNvSpPr txBox="1"/>
          <p:nvPr/>
        </p:nvSpPr>
        <p:spPr>
          <a:xfrm>
            <a:off x="1078992" y="4059936"/>
            <a:ext cx="2267712" cy="612648"/>
          </a:xfrm>
          <a:prstGeom prst="rect">
            <a:avLst/>
          </a:prstGeom>
          <a:noFill/>
        </p:spPr>
        <p:txBody>
          <a:bodyPr wrap="square" lIns="0" rIns="0" tIns="0" bIns="0" anchor="ctr">
            <a:noAutofit/>
          </a:bodyPr>
          <a:lstStyle/>
          <a:p>
            <a:pPr algn="l"/>
            <a:r>
              <a:rPr sz="1300" b="1" i="0">
                <a:solidFill>
                  <a:srgbClr val="000048"/>
                </a:solidFill>
                <a:latin typeface="Arial"/>
              </a:rPr>
              <a:t>Log Analytics</a:t>
            </a:r>
          </a:p>
          <a:p>
            <a:pPr algn="l"/>
            <a:r>
              <a:rPr sz="1200" b="0" i="0">
                <a:solidFill>
                  <a:srgbClr val="53565A"/>
                </a:solidFill>
                <a:latin typeface="Arial"/>
              </a:rPr>
              <a:t>platform and gateway logs</a:t>
            </a:r>
          </a:p>
        </p:txBody>
      </p:sp>
      <p:pic>
        <p:nvPicPr>
          <p:cNvPr id="18" name="Azure icon: Cost Budgets" descr="Official Azure icon: Cost Budget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1792" y="4951476"/>
            <a:ext cx="384048" cy="384048"/>
          </a:xfrm>
          <a:prstGeom prst="rect">
            <a:avLst/>
          </a:prstGeom>
        </p:spPr>
      </p:pic>
      <p:sp>
        <p:nvSpPr>
          <p:cNvPr id="19" name="TextBox 18"/>
          <p:cNvSpPr txBox="1"/>
          <p:nvPr/>
        </p:nvSpPr>
        <p:spPr>
          <a:xfrm>
            <a:off x="1078992" y="4837176"/>
            <a:ext cx="2267712" cy="612648"/>
          </a:xfrm>
          <a:prstGeom prst="rect">
            <a:avLst/>
          </a:prstGeom>
          <a:noFill/>
        </p:spPr>
        <p:txBody>
          <a:bodyPr wrap="square" lIns="0" rIns="0" tIns="0" bIns="0" anchor="ctr">
            <a:noAutofit/>
          </a:bodyPr>
          <a:lstStyle/>
          <a:p>
            <a:pPr algn="l"/>
            <a:r>
              <a:rPr sz="1300" b="1" i="0">
                <a:solidFill>
                  <a:srgbClr val="000048"/>
                </a:solidFill>
                <a:latin typeface="Arial"/>
              </a:rPr>
              <a:t>Budgets</a:t>
            </a:r>
          </a:p>
          <a:p>
            <a:pPr algn="l"/>
            <a:r>
              <a:rPr sz="1200" b="0" i="0">
                <a:solidFill>
                  <a:srgbClr val="53565A"/>
                </a:solidFill>
                <a:latin typeface="Arial"/>
              </a:rPr>
              <a:t>spend alerts</a:t>
            </a:r>
          </a:p>
        </p:txBody>
      </p:sp>
      <p:sp>
        <p:nvSpPr>
          <p:cNvPr id="20" name="Rounded Rectangle 19"/>
          <p:cNvSpPr/>
          <p:nvPr/>
        </p:nvSpPr>
        <p:spPr>
          <a:xfrm>
            <a:off x="3977639" y="2697480"/>
            <a:ext cx="1920240" cy="1159881"/>
          </a:xfrm>
          <a:prstGeom prst="roundRect">
            <a:avLst>
              <a:gd name="adj" fmla="val 630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Alerts" descr="Official Azure icon: Alert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686299" y="2770632"/>
            <a:ext cx="502920" cy="502920"/>
          </a:xfrm>
          <a:prstGeom prst="rect">
            <a:avLst/>
          </a:prstGeom>
        </p:spPr>
      </p:pic>
      <p:sp>
        <p:nvSpPr>
          <p:cNvPr id="22" name="TextBox 21"/>
          <p:cNvSpPr txBox="1"/>
          <p:nvPr/>
        </p:nvSpPr>
        <p:spPr>
          <a:xfrm>
            <a:off x="4014215" y="3310128"/>
            <a:ext cx="1847088" cy="528945"/>
          </a:xfrm>
          <a:prstGeom prst="rect">
            <a:avLst/>
          </a:prstGeom>
          <a:noFill/>
        </p:spPr>
        <p:txBody>
          <a:bodyPr wrap="square" lIns="0" rIns="0" tIns="0" bIns="0" anchor="t">
            <a:noAutofit/>
          </a:bodyPr>
          <a:lstStyle/>
          <a:p>
            <a:pPr algn="ctr"/>
            <a:r>
              <a:rPr sz="1400" b="1" i="0">
                <a:solidFill>
                  <a:srgbClr val="000048"/>
                </a:solidFill>
                <a:latin typeface="Arial"/>
              </a:rPr>
              <a:t>Alert rules</a:t>
            </a:r>
          </a:p>
          <a:p>
            <a:pPr algn="ctr"/>
            <a:r>
              <a:rPr sz="1200" b="0" i="0">
                <a:solidFill>
                  <a:srgbClr val="53565A"/>
                </a:solidFill>
                <a:latin typeface="Arial"/>
              </a:rPr>
              <a:t>action groups, owners</a:t>
            </a:r>
          </a:p>
        </p:txBody>
      </p:sp>
      <p:sp>
        <p:nvSpPr>
          <p:cNvPr id="23" name="Rounded Rectangle 22"/>
          <p:cNvSpPr/>
          <p:nvPr/>
        </p:nvSpPr>
        <p:spPr>
          <a:xfrm>
            <a:off x="6355080" y="2697480"/>
            <a:ext cx="1920240" cy="1280160"/>
          </a:xfrm>
          <a:prstGeom prst="roundRect">
            <a:avLst>
              <a:gd name="adj" fmla="val 57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Service desk</a:t>
            </a:r>
          </a:p>
          <a:p>
            <a:pPr algn="ctr"/>
            <a:r>
              <a:rPr sz="1200" b="0" i="0">
                <a:solidFill>
                  <a:srgbClr val="53565A"/>
                </a:solidFill>
                <a:latin typeface="Arial"/>
              </a:rPr>
              <a:t>customer ITSM, e.g. ServiceNow</a:t>
            </a:r>
          </a:p>
        </p:txBody>
      </p:sp>
      <p:sp>
        <p:nvSpPr>
          <p:cNvPr id="24" name="Rounded Rectangle 23"/>
          <p:cNvSpPr/>
          <p:nvPr/>
        </p:nvSpPr>
        <p:spPr>
          <a:xfrm>
            <a:off x="8732520" y="1325880"/>
            <a:ext cx="3017520" cy="4389120"/>
          </a:xfrm>
          <a:prstGeom prst="roundRect">
            <a:avLst>
              <a:gd name="adj" fmla="val 3030"/>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842248" y="1380744"/>
            <a:ext cx="2798063" cy="237744"/>
          </a:xfrm>
          <a:prstGeom prst="rect">
            <a:avLst/>
          </a:prstGeom>
          <a:noFill/>
        </p:spPr>
        <p:txBody>
          <a:bodyPr wrap="square" lIns="0" rIns="0" tIns="0" bIns="0" anchor="t">
            <a:noAutofit/>
          </a:bodyPr>
          <a:lstStyle/>
          <a:p>
            <a:pPr algn="l"/>
            <a:r>
              <a:rPr sz="1200" b="1" i="0">
                <a:solidFill>
                  <a:srgbClr val="000048"/>
                </a:solidFill>
                <a:latin typeface="Arial"/>
              </a:rPr>
              <a:t>RESOLVER LANES</a:t>
            </a:r>
          </a:p>
        </p:txBody>
      </p:sp>
      <p:sp>
        <p:nvSpPr>
          <p:cNvPr id="26" name="Rounded Rectangle 25"/>
          <p:cNvSpPr/>
          <p:nvPr/>
        </p:nvSpPr>
        <p:spPr>
          <a:xfrm>
            <a:off x="8869680" y="169164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CIS Infra</a:t>
            </a:r>
          </a:p>
          <a:p>
            <a:pPr algn="l"/>
            <a:r>
              <a:rPr sz="1200" b="0" i="0">
                <a:solidFill>
                  <a:srgbClr val="53565A"/>
                </a:solidFill>
                <a:latin typeface="Arial"/>
              </a:rPr>
              <a:t>platform availability</a:t>
            </a:r>
          </a:p>
        </p:txBody>
      </p:sp>
      <p:sp>
        <p:nvSpPr>
          <p:cNvPr id="27" name="Rounded Rectangle 26"/>
          <p:cNvSpPr/>
          <p:nvPr/>
        </p:nvSpPr>
        <p:spPr>
          <a:xfrm>
            <a:off x="8869680" y="256032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AI tower</a:t>
            </a:r>
          </a:p>
          <a:p>
            <a:pPr algn="l"/>
            <a:r>
              <a:rPr sz="1200" b="0" i="0">
                <a:solidFill>
                  <a:srgbClr val="53565A"/>
                </a:solidFill>
                <a:latin typeface="Arial"/>
              </a:rPr>
              <a:t>agent task quality</a:t>
            </a:r>
          </a:p>
        </p:txBody>
      </p:sp>
      <p:sp>
        <p:nvSpPr>
          <p:cNvPr id="28" name="Rounded Rectangle 27"/>
          <p:cNvSpPr/>
          <p:nvPr/>
        </p:nvSpPr>
        <p:spPr>
          <a:xfrm>
            <a:off x="8869680" y="342900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Data Eng.</a:t>
            </a:r>
          </a:p>
          <a:p>
            <a:pPr algn="l"/>
            <a:r>
              <a:rPr sz="1200" b="0" i="0">
                <a:solidFill>
                  <a:srgbClr val="53565A"/>
                </a:solidFill>
                <a:latin typeface="Arial"/>
              </a:rPr>
              <a:t>pipelines, indexes</a:t>
            </a:r>
          </a:p>
        </p:txBody>
      </p:sp>
      <p:sp>
        <p:nvSpPr>
          <p:cNvPr id="29" name="Rounded Rectangle 28"/>
          <p:cNvSpPr/>
          <p:nvPr/>
        </p:nvSpPr>
        <p:spPr>
          <a:xfrm>
            <a:off x="8869680" y="4297679"/>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Security resolver</a:t>
            </a:r>
          </a:p>
          <a:p>
            <a:pPr algn="l"/>
            <a:r>
              <a:rPr sz="1200" b="0" i="0">
                <a:solidFill>
                  <a:srgbClr val="53565A"/>
                </a:solidFill>
                <a:latin typeface="Arial"/>
              </a:rPr>
              <a:t>security incidents</a:t>
            </a:r>
          </a:p>
        </p:txBody>
      </p:sp>
      <p:sp>
        <p:nvSpPr>
          <p:cNvPr id="30" name="Rounded Rectangle 29"/>
          <p:cNvSpPr/>
          <p:nvPr/>
        </p:nvSpPr>
        <p:spPr>
          <a:xfrm>
            <a:off x="8869680" y="5212080"/>
            <a:ext cx="2743200" cy="411480"/>
          </a:xfrm>
          <a:prstGeom prst="roundRect">
            <a:avLst>
              <a:gd name="adj" fmla="val 17777"/>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200" b="1" i="0">
                <a:solidFill>
                  <a:srgbClr val="000048"/>
                </a:solidFill>
                <a:latin typeface="Arial"/>
              </a:rPr>
              <a:t>Containment: appendix K; design deck 02 K1</a:t>
            </a:r>
          </a:p>
        </p:txBody>
      </p:sp>
      <p:cxnSp>
        <p:nvCxnSpPr>
          <p:cNvPr id="31" name="Connector (telemetry)"/>
          <p:cNvCxnSpPr/>
          <p:nvPr/>
        </p:nvCxnSpPr>
        <p:spPr>
          <a:xfrm>
            <a:off x="3383280" y="2029968"/>
            <a:ext cx="594359" cy="126187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telemetry)"/>
          <p:cNvCxnSpPr/>
          <p:nvPr/>
        </p:nvCxnSpPr>
        <p:spPr>
          <a:xfrm>
            <a:off x="3383280" y="2807208"/>
            <a:ext cx="594359" cy="48463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telemetry)"/>
          <p:cNvCxnSpPr/>
          <p:nvPr/>
        </p:nvCxnSpPr>
        <p:spPr>
          <a:xfrm flipV="1">
            <a:off x="3383280" y="3291840"/>
            <a:ext cx="594359" cy="29260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telemetry)"/>
          <p:cNvCxnSpPr/>
          <p:nvPr/>
        </p:nvCxnSpPr>
        <p:spPr>
          <a:xfrm flipV="1">
            <a:off x="3383280" y="3291840"/>
            <a:ext cx="594359" cy="106984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telemetry)"/>
          <p:cNvCxnSpPr/>
          <p:nvPr/>
        </p:nvCxnSpPr>
        <p:spPr>
          <a:xfrm flipV="1">
            <a:off x="3383280" y="3291840"/>
            <a:ext cx="594359" cy="184708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a:off x="5897880" y="3337560"/>
            <a:ext cx="4572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flipV="1">
            <a:off x="8275320" y="2057400"/>
            <a:ext cx="594360" cy="12801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flipV="1">
            <a:off x="8275320" y="2926080"/>
            <a:ext cx="594360" cy="4114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8275320" y="3337560"/>
            <a:ext cx="594360" cy="4572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8275320" y="3337560"/>
            <a:ext cx="594360" cy="1325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telemetry)"/>
          <p:cNvCxnSpPr/>
          <p:nvPr/>
        </p:nvCxnSpPr>
        <p:spPr>
          <a:xfrm>
            <a:off x="4937760" y="3749039"/>
            <a:ext cx="0" cy="685801"/>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3977639" y="4434840"/>
            <a:ext cx="19202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3" name="Azure icon: Azure Workbooks" descr="Official Azure icon: Azure Workbook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050791" y="4572000"/>
            <a:ext cx="411480" cy="411480"/>
          </a:xfrm>
          <a:prstGeom prst="rect">
            <a:avLst/>
          </a:prstGeom>
        </p:spPr>
      </p:pic>
      <p:sp>
        <p:nvSpPr>
          <p:cNvPr id="44" name="TextBox 43"/>
          <p:cNvSpPr txBox="1"/>
          <p:nvPr/>
        </p:nvSpPr>
        <p:spPr>
          <a:xfrm>
            <a:off x="4535424" y="4471416"/>
            <a:ext cx="1325880" cy="612648"/>
          </a:xfrm>
          <a:prstGeom prst="rect">
            <a:avLst/>
          </a:prstGeom>
          <a:noFill/>
        </p:spPr>
        <p:txBody>
          <a:bodyPr wrap="square" lIns="0" rIns="0" tIns="0" bIns="0" anchor="ctr">
            <a:noAutofit/>
          </a:bodyPr>
          <a:lstStyle/>
          <a:p>
            <a:pPr algn="l"/>
            <a:r>
              <a:rPr sz="1200" b="1" i="0">
                <a:solidFill>
                  <a:srgbClr val="000048"/>
                </a:solidFill>
                <a:latin typeface="Arial"/>
              </a:rPr>
              <a:t>Monthly report</a:t>
            </a:r>
          </a:p>
          <a:p>
            <a:pPr algn="l"/>
            <a:r>
              <a:rPr sz="1200" b="0" i="0">
                <a:solidFill>
                  <a:srgbClr val="53565A"/>
                </a:solidFill>
                <a:latin typeface="Arial"/>
              </a:rPr>
              <a:t>service objectives, cost</a:t>
            </a:r>
          </a:p>
        </p:txBody>
      </p:sp>
      <p:cxnSp>
        <p:nvCxnSpPr>
          <p:cNvPr id="45" name="Connector (flow)"/>
          <p:cNvCxnSpPr/>
          <p:nvPr/>
        </p:nvCxnSpPr>
        <p:spPr>
          <a:xfrm>
            <a:off x="548640" y="597103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24128" y="5852160"/>
            <a:ext cx="1783080"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47" name="Connector (telemetry)"/>
          <p:cNvCxnSpPr/>
          <p:nvPr/>
        </p:nvCxnSpPr>
        <p:spPr>
          <a:xfrm>
            <a:off x="2834640" y="597103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310128" y="5852160"/>
            <a:ext cx="1783080"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sp>
        <p:nvSpPr>
          <p:cNvPr id="49" name="TextBox 48"/>
          <p:cNvSpPr txBox="1"/>
          <p:nvPr/>
        </p:nvSpPr>
        <p:spPr>
          <a:xfrm>
            <a:off x="548640" y="6126480"/>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Platform health and dependency monitoring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9" name="Rounded Rectangle 8"/>
          <p:cNvSpPr/>
          <p:nvPr/>
        </p:nvSpPr>
        <p:spPr>
          <a:xfrm>
            <a:off x="502919"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2647" y="1380744"/>
            <a:ext cx="1746504" cy="237744"/>
          </a:xfrm>
          <a:prstGeom prst="rect">
            <a:avLst/>
          </a:prstGeom>
          <a:noFill/>
        </p:spPr>
        <p:txBody>
          <a:bodyPr wrap="square" lIns="0" rIns="0" tIns="0" bIns="0" anchor="t">
            <a:noAutofit/>
          </a:bodyPr>
          <a:lstStyle/>
          <a:p>
            <a:pPr algn="l"/>
            <a:r>
              <a:rPr sz="1200" b="1" i="0">
                <a:solidFill>
                  <a:srgbClr val="000048"/>
                </a:solidFill>
                <a:latin typeface="Arial"/>
              </a:rPr>
              <a:t>INGRESS</a:t>
            </a:r>
          </a:p>
        </p:txBody>
      </p:sp>
      <p:pic>
        <p:nvPicPr>
          <p:cNvPr id="11"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0080" y="1805940"/>
            <a:ext cx="365760" cy="365760"/>
          </a:xfrm>
          <a:prstGeom prst="rect">
            <a:avLst/>
          </a:prstGeom>
        </p:spPr>
      </p:pic>
      <p:sp>
        <p:nvSpPr>
          <p:cNvPr id="12" name="TextBox 11"/>
          <p:cNvSpPr txBox="1"/>
          <p:nvPr/>
        </p:nvSpPr>
        <p:spPr>
          <a:xfrm>
            <a:off x="10789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App Gateway WAF</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0080" y="2519172"/>
            <a:ext cx="365760" cy="365760"/>
          </a:xfrm>
          <a:prstGeom prst="rect">
            <a:avLst/>
          </a:prstGeom>
        </p:spPr>
      </p:pic>
      <p:sp>
        <p:nvSpPr>
          <p:cNvPr id="14" name="TextBox 13"/>
          <p:cNvSpPr txBox="1"/>
          <p:nvPr/>
        </p:nvSpPr>
        <p:spPr>
          <a:xfrm>
            <a:off x="10789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API Management</a:t>
            </a:r>
          </a:p>
        </p:txBody>
      </p:sp>
      <p:sp>
        <p:nvSpPr>
          <p:cNvPr id="15" name="Rounded Rectangle 14"/>
          <p:cNvSpPr/>
          <p:nvPr/>
        </p:nvSpPr>
        <p:spPr>
          <a:xfrm>
            <a:off x="25603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70048" y="1380744"/>
            <a:ext cx="1746504" cy="237744"/>
          </a:xfrm>
          <a:prstGeom prst="rect">
            <a:avLst/>
          </a:prstGeom>
          <a:noFill/>
        </p:spPr>
        <p:txBody>
          <a:bodyPr wrap="square" lIns="0" rIns="0" tIns="0" bIns="0" anchor="t">
            <a:noAutofit/>
          </a:bodyPr>
          <a:lstStyle/>
          <a:p>
            <a:pPr algn="l"/>
            <a:r>
              <a:rPr sz="1200" b="1" i="0">
                <a:solidFill>
                  <a:srgbClr val="000048"/>
                </a:solidFill>
                <a:latin typeface="Arial"/>
              </a:rPr>
              <a:t>RUNTIME</a:t>
            </a:r>
          </a:p>
        </p:txBody>
      </p:sp>
      <p:pic>
        <p:nvPicPr>
          <p:cNvPr id="17" name="Azure icon: App Services" descr="Official Azure icon: App Servic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97480" y="1805940"/>
            <a:ext cx="365760" cy="365760"/>
          </a:xfrm>
          <a:prstGeom prst="rect">
            <a:avLst/>
          </a:prstGeom>
        </p:spPr>
      </p:pic>
      <p:sp>
        <p:nvSpPr>
          <p:cNvPr id="18" name="TextBox 17"/>
          <p:cNvSpPr txBox="1"/>
          <p:nvPr/>
        </p:nvSpPr>
        <p:spPr>
          <a:xfrm>
            <a:off x="31363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App Service</a:t>
            </a:r>
          </a:p>
        </p:txBody>
      </p:sp>
      <p:pic>
        <p:nvPicPr>
          <p:cNvPr id="19" name="Azure icon: Foundry Agent Service" descr="Official Azure icon: Foundry Agent Service"/>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697480" y="2519172"/>
            <a:ext cx="365760" cy="365760"/>
          </a:xfrm>
          <a:prstGeom prst="rect">
            <a:avLst/>
          </a:prstGeom>
        </p:spPr>
      </p:pic>
      <p:sp>
        <p:nvSpPr>
          <p:cNvPr id="20" name="TextBox 19"/>
          <p:cNvSpPr txBox="1"/>
          <p:nvPr/>
        </p:nvSpPr>
        <p:spPr>
          <a:xfrm>
            <a:off x="31363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Agent Service</a:t>
            </a:r>
          </a:p>
        </p:txBody>
      </p:sp>
      <p:sp>
        <p:nvSpPr>
          <p:cNvPr id="21" name="Rounded Rectangle 20"/>
          <p:cNvSpPr/>
          <p:nvPr/>
        </p:nvSpPr>
        <p:spPr>
          <a:xfrm>
            <a:off x="46177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27448" y="1380744"/>
            <a:ext cx="1746504" cy="237744"/>
          </a:xfrm>
          <a:prstGeom prst="rect">
            <a:avLst/>
          </a:prstGeom>
          <a:noFill/>
        </p:spPr>
        <p:txBody>
          <a:bodyPr wrap="square" lIns="0" rIns="0" tIns="0" bIns="0" anchor="t">
            <a:noAutofit/>
          </a:bodyPr>
          <a:lstStyle/>
          <a:p>
            <a:pPr algn="l"/>
            <a:r>
              <a:rPr sz="1200" b="1" i="0">
                <a:solidFill>
                  <a:srgbClr val="000048"/>
                </a:solidFill>
                <a:latin typeface="Arial"/>
              </a:rPr>
              <a:t>MODELS AND DATA</a:t>
            </a:r>
          </a:p>
        </p:txBody>
      </p:sp>
      <p:pic>
        <p:nvPicPr>
          <p:cNvPr id="23"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54879" y="1805940"/>
            <a:ext cx="365760" cy="365760"/>
          </a:xfrm>
          <a:prstGeom prst="rect">
            <a:avLst/>
          </a:prstGeom>
        </p:spPr>
      </p:pic>
      <p:sp>
        <p:nvSpPr>
          <p:cNvPr id="24" name="TextBox 23"/>
          <p:cNvSpPr txBox="1"/>
          <p:nvPr/>
        </p:nvSpPr>
        <p:spPr>
          <a:xfrm>
            <a:off x="51937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Model deployments</a:t>
            </a:r>
          </a:p>
        </p:txBody>
      </p:sp>
      <p:pic>
        <p:nvPicPr>
          <p:cNvPr id="25" name="Azure icon: AI Search (Cognitive Search icon)" descr="Official Azure icon: AI Search (Cognitive Search icon)"/>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54879" y="2519172"/>
            <a:ext cx="365760" cy="365760"/>
          </a:xfrm>
          <a:prstGeom prst="rect">
            <a:avLst/>
          </a:prstGeom>
        </p:spPr>
      </p:pic>
      <p:sp>
        <p:nvSpPr>
          <p:cNvPr id="26" name="TextBox 25"/>
          <p:cNvSpPr txBox="1"/>
          <p:nvPr/>
        </p:nvSpPr>
        <p:spPr>
          <a:xfrm>
            <a:off x="51937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AI Search</a:t>
            </a:r>
          </a:p>
        </p:txBody>
      </p:sp>
      <p:pic>
        <p:nvPicPr>
          <p:cNvPr id="27" name="Azure icon: Azure Cosmos DB" descr="Official Azure icon: Azure Cosmos DB"/>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754879" y="3232404"/>
            <a:ext cx="365760" cy="365760"/>
          </a:xfrm>
          <a:prstGeom prst="rect">
            <a:avLst/>
          </a:prstGeom>
        </p:spPr>
      </p:pic>
      <p:sp>
        <p:nvSpPr>
          <p:cNvPr id="28" name="TextBox 27"/>
          <p:cNvSpPr txBox="1"/>
          <p:nvPr/>
        </p:nvSpPr>
        <p:spPr>
          <a:xfrm>
            <a:off x="5193792" y="3154680"/>
            <a:ext cx="1280160" cy="521208"/>
          </a:xfrm>
          <a:prstGeom prst="rect">
            <a:avLst/>
          </a:prstGeom>
          <a:noFill/>
        </p:spPr>
        <p:txBody>
          <a:bodyPr wrap="square" lIns="0" rIns="0" tIns="0" bIns="0" anchor="ctr">
            <a:noAutofit/>
          </a:bodyPr>
          <a:lstStyle/>
          <a:p>
            <a:pPr algn="l"/>
            <a:r>
              <a:rPr sz="1200" b="1" i="0">
                <a:solidFill>
                  <a:srgbClr val="000048"/>
                </a:solidFill>
                <a:latin typeface="Arial"/>
              </a:rPr>
              <a:t>Cosmos DB</a:t>
            </a:r>
          </a:p>
        </p:txBody>
      </p:sp>
      <p:pic>
        <p:nvPicPr>
          <p:cNvPr id="29" name="Azure icon: Storage account" descr="Official Azure icon: Storage account"/>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754879" y="3945635"/>
            <a:ext cx="365760" cy="365760"/>
          </a:xfrm>
          <a:prstGeom prst="rect">
            <a:avLst/>
          </a:prstGeom>
        </p:spPr>
      </p:pic>
      <p:sp>
        <p:nvSpPr>
          <p:cNvPr id="30" name="TextBox 29"/>
          <p:cNvSpPr txBox="1"/>
          <p:nvPr/>
        </p:nvSpPr>
        <p:spPr>
          <a:xfrm>
            <a:off x="5193792" y="3867911"/>
            <a:ext cx="1280160" cy="521208"/>
          </a:xfrm>
          <a:prstGeom prst="rect">
            <a:avLst/>
          </a:prstGeom>
          <a:noFill/>
        </p:spPr>
        <p:txBody>
          <a:bodyPr wrap="square" lIns="0" rIns="0" tIns="0" bIns="0" anchor="ctr">
            <a:noAutofit/>
          </a:bodyPr>
          <a:lstStyle/>
          <a:p>
            <a:pPr algn="l"/>
            <a:r>
              <a:rPr sz="1200" b="1" i="0">
                <a:solidFill>
                  <a:srgbClr val="000048"/>
                </a:solidFill>
                <a:latin typeface="Arial"/>
              </a:rPr>
              <a:t>Storage account</a:t>
            </a:r>
          </a:p>
        </p:txBody>
      </p:sp>
      <p:sp>
        <p:nvSpPr>
          <p:cNvPr id="31" name="Rounded Rectangle 30"/>
          <p:cNvSpPr/>
          <p:nvPr/>
        </p:nvSpPr>
        <p:spPr>
          <a:xfrm>
            <a:off x="66751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84848" y="1380744"/>
            <a:ext cx="1746504" cy="237744"/>
          </a:xfrm>
          <a:prstGeom prst="rect">
            <a:avLst/>
          </a:prstGeom>
          <a:noFill/>
        </p:spPr>
        <p:txBody>
          <a:bodyPr wrap="square" lIns="0" rIns="0" tIns="0" bIns="0" anchor="t">
            <a:noAutofit/>
          </a:bodyPr>
          <a:lstStyle/>
          <a:p>
            <a:pPr algn="l"/>
            <a:r>
              <a:rPr sz="1200" b="1" i="0">
                <a:solidFill>
                  <a:srgbClr val="000048"/>
                </a:solidFill>
                <a:latin typeface="Arial"/>
              </a:rPr>
              <a:t>NETWORK</a:t>
            </a:r>
          </a:p>
        </p:txBody>
      </p:sp>
      <p:pic>
        <p:nvPicPr>
          <p:cNvPr id="33" name="Azure icon: Private Endpoints" descr="Official Azure icon: Private Endpoint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812279" y="1805940"/>
            <a:ext cx="365760" cy="365760"/>
          </a:xfrm>
          <a:prstGeom prst="rect">
            <a:avLst/>
          </a:prstGeom>
        </p:spPr>
      </p:pic>
      <p:sp>
        <p:nvSpPr>
          <p:cNvPr id="34" name="TextBox 33"/>
          <p:cNvSpPr txBox="1"/>
          <p:nvPr/>
        </p:nvSpPr>
        <p:spPr>
          <a:xfrm>
            <a:off x="72511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Private endpoints</a:t>
            </a:r>
          </a:p>
        </p:txBody>
      </p:sp>
      <p:pic>
        <p:nvPicPr>
          <p:cNvPr id="35" name="Azure icon: DNS Private Resolver" descr="Official Azure icon: DNS Private Resolve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812279" y="2519172"/>
            <a:ext cx="365760" cy="365760"/>
          </a:xfrm>
          <a:prstGeom prst="rect">
            <a:avLst/>
          </a:prstGeom>
        </p:spPr>
      </p:pic>
      <p:sp>
        <p:nvSpPr>
          <p:cNvPr id="36" name="TextBox 35"/>
          <p:cNvSpPr txBox="1"/>
          <p:nvPr/>
        </p:nvSpPr>
        <p:spPr>
          <a:xfrm>
            <a:off x="72511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DNS resolver</a:t>
            </a:r>
          </a:p>
        </p:txBody>
      </p:sp>
      <p:pic>
        <p:nvPicPr>
          <p:cNvPr id="37" name="Azure icon: Firewalls" descr="Official Azure icon: Firewall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812279" y="3232404"/>
            <a:ext cx="365760" cy="365760"/>
          </a:xfrm>
          <a:prstGeom prst="rect">
            <a:avLst/>
          </a:prstGeom>
        </p:spPr>
      </p:pic>
      <p:sp>
        <p:nvSpPr>
          <p:cNvPr id="38" name="TextBox 37"/>
          <p:cNvSpPr txBox="1"/>
          <p:nvPr/>
        </p:nvSpPr>
        <p:spPr>
          <a:xfrm>
            <a:off x="7251192" y="3154680"/>
            <a:ext cx="1280160" cy="521208"/>
          </a:xfrm>
          <a:prstGeom prst="rect">
            <a:avLst/>
          </a:prstGeom>
          <a:noFill/>
        </p:spPr>
        <p:txBody>
          <a:bodyPr wrap="square" lIns="0" rIns="0" tIns="0" bIns="0" anchor="ctr">
            <a:noAutofit/>
          </a:bodyPr>
          <a:lstStyle/>
          <a:p>
            <a:pPr algn="l"/>
            <a:r>
              <a:rPr sz="1200" b="1" i="0">
                <a:solidFill>
                  <a:srgbClr val="000048"/>
                </a:solidFill>
                <a:latin typeface="Arial"/>
              </a:rPr>
              <a:t>Firewall</a:t>
            </a:r>
          </a:p>
        </p:txBody>
      </p:sp>
      <p:sp>
        <p:nvSpPr>
          <p:cNvPr id="39" name="Rounded Rectangle 38"/>
          <p:cNvSpPr/>
          <p:nvPr/>
        </p:nvSpPr>
        <p:spPr>
          <a:xfrm>
            <a:off x="8915400" y="146304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0" name="Azure icon: Azure Monitor" descr="Official Azure icon: Azure Monito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988552" y="1623060"/>
            <a:ext cx="411480" cy="411480"/>
          </a:xfrm>
          <a:prstGeom prst="rect">
            <a:avLst/>
          </a:prstGeom>
        </p:spPr>
      </p:pic>
      <p:sp>
        <p:nvSpPr>
          <p:cNvPr id="41" name="TextBox 40"/>
          <p:cNvSpPr txBox="1"/>
          <p:nvPr/>
        </p:nvSpPr>
        <p:spPr>
          <a:xfrm>
            <a:off x="9473184" y="1499616"/>
            <a:ext cx="2148839" cy="658368"/>
          </a:xfrm>
          <a:prstGeom prst="rect">
            <a:avLst/>
          </a:prstGeom>
          <a:noFill/>
        </p:spPr>
        <p:txBody>
          <a:bodyPr wrap="square" lIns="0" rIns="0" tIns="0" bIns="0" anchor="ctr">
            <a:noAutofit/>
          </a:bodyPr>
          <a:lstStyle/>
          <a:p>
            <a:pPr algn="l"/>
            <a:r>
              <a:rPr sz="1300" b="1" i="0">
                <a:solidFill>
                  <a:srgbClr val="000048"/>
                </a:solidFill>
                <a:latin typeface="Arial"/>
              </a:rPr>
              <a:t>Azure Monitor</a:t>
            </a:r>
          </a:p>
          <a:p>
            <a:pPr algn="l"/>
            <a:r>
              <a:rPr sz="1200" b="0" i="0">
                <a:solidFill>
                  <a:srgbClr val="53565A"/>
                </a:solidFill>
                <a:latin typeface="Arial"/>
              </a:rPr>
              <a:t>metrics, alert rules</a:t>
            </a:r>
          </a:p>
        </p:txBody>
      </p:sp>
      <p:sp>
        <p:nvSpPr>
          <p:cNvPr id="42" name="Rounded Rectangle 41"/>
          <p:cNvSpPr/>
          <p:nvPr/>
        </p:nvSpPr>
        <p:spPr>
          <a:xfrm>
            <a:off x="8915400" y="233172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3" name="Azure icon: Service Health" descr="Official Azure icon: Service Health"/>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988552" y="2491739"/>
            <a:ext cx="411480" cy="411480"/>
          </a:xfrm>
          <a:prstGeom prst="rect">
            <a:avLst/>
          </a:prstGeom>
        </p:spPr>
      </p:pic>
      <p:sp>
        <p:nvSpPr>
          <p:cNvPr id="44" name="TextBox 43"/>
          <p:cNvSpPr txBox="1"/>
          <p:nvPr/>
        </p:nvSpPr>
        <p:spPr>
          <a:xfrm>
            <a:off x="9473184" y="2368296"/>
            <a:ext cx="2148839" cy="658368"/>
          </a:xfrm>
          <a:prstGeom prst="rect">
            <a:avLst/>
          </a:prstGeom>
          <a:noFill/>
        </p:spPr>
        <p:txBody>
          <a:bodyPr wrap="square" lIns="0" rIns="0" tIns="0" bIns="0" anchor="ctr">
            <a:noAutofit/>
          </a:bodyPr>
          <a:lstStyle/>
          <a:p>
            <a:pPr algn="l"/>
            <a:r>
              <a:rPr sz="1300" b="1" i="0">
                <a:solidFill>
                  <a:srgbClr val="000048"/>
                </a:solidFill>
                <a:latin typeface="Arial"/>
              </a:rPr>
              <a:t>Service Health</a:t>
            </a:r>
          </a:p>
          <a:p>
            <a:pPr algn="l"/>
            <a:r>
              <a:rPr sz="1200" b="0" i="0">
                <a:solidFill>
                  <a:srgbClr val="53565A"/>
                </a:solidFill>
                <a:latin typeface="Arial"/>
              </a:rPr>
              <a:t>Azure incidents, maintenance</a:t>
            </a:r>
          </a:p>
        </p:txBody>
      </p:sp>
      <p:sp>
        <p:nvSpPr>
          <p:cNvPr id="45" name="Rounded Rectangle 44"/>
          <p:cNvSpPr/>
          <p:nvPr/>
        </p:nvSpPr>
        <p:spPr>
          <a:xfrm>
            <a:off x="8915400" y="320040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6" name="Azure icon: Application Insights" descr="Official Azure icon: Application Insights"/>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8988552" y="3360420"/>
            <a:ext cx="411480" cy="411480"/>
          </a:xfrm>
          <a:prstGeom prst="rect">
            <a:avLst/>
          </a:prstGeom>
        </p:spPr>
      </p:pic>
      <p:sp>
        <p:nvSpPr>
          <p:cNvPr id="47" name="TextBox 46"/>
          <p:cNvSpPr txBox="1"/>
          <p:nvPr/>
        </p:nvSpPr>
        <p:spPr>
          <a:xfrm>
            <a:off x="9473184" y="3236976"/>
            <a:ext cx="2148839" cy="658368"/>
          </a:xfrm>
          <a:prstGeom prst="rect">
            <a:avLst/>
          </a:prstGeom>
          <a:noFill/>
        </p:spPr>
        <p:txBody>
          <a:bodyPr wrap="square" lIns="0" rIns="0" tIns="0" bIns="0" anchor="ctr">
            <a:noAutofit/>
          </a:bodyPr>
          <a:lstStyle/>
          <a:p>
            <a:pPr algn="l"/>
            <a:r>
              <a:rPr sz="1300" b="1" i="0">
                <a:solidFill>
                  <a:srgbClr val="000048"/>
                </a:solidFill>
                <a:latin typeface="Arial"/>
              </a:rPr>
              <a:t>Availability tests</a:t>
            </a:r>
          </a:p>
          <a:p>
            <a:pPr algn="l"/>
            <a:r>
              <a:rPr sz="1200" b="0" i="0">
                <a:solidFill>
                  <a:srgbClr val="53565A"/>
                </a:solidFill>
                <a:latin typeface="Arial"/>
              </a:rPr>
              <a:t>App Insights, end-to-end path</a:t>
            </a:r>
          </a:p>
        </p:txBody>
      </p:sp>
      <p:cxnSp>
        <p:nvCxnSpPr>
          <p:cNvPr id="48" name="Connector (telemetry)"/>
          <p:cNvCxnSpPr/>
          <p:nvPr/>
        </p:nvCxnSpPr>
        <p:spPr>
          <a:xfrm flipV="1">
            <a:off x="8595360" y="1828800"/>
            <a:ext cx="320040" cy="9144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telemetry)"/>
          <p:cNvCxnSpPr/>
          <p:nvPr/>
        </p:nvCxnSpPr>
        <p:spPr>
          <a:xfrm>
            <a:off x="8595360" y="2743200"/>
            <a:ext cx="320040" cy="8229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50" name="Table"/>
          <p:cNvGraphicFramePr>
            <a:graphicFrameLocks noGrp="1"/>
          </p:cNvGraphicFramePr>
          <p:nvPr/>
        </p:nvGraphicFramePr>
        <p:xfrm>
          <a:off x="548640" y="4709160"/>
          <a:ext cx="11091672" cy="1158240"/>
        </p:xfrm>
        <a:graphic>
          <a:graphicData uri="http://schemas.openxmlformats.org/drawingml/2006/table">
            <a:tbl>
              <a:tblPr firstRow="1" bandRow="0">
                <a:tableStyleId>{5C22544A-7EE6-4342-B048-85BDC9FD1C3A}</a:tableStyleId>
              </a:tblPr>
              <a:tblGrid>
                <a:gridCol w="2377440"/>
                <a:gridCol w="5486400"/>
                <a:gridCol w="3227832"/>
              </a:tblGrid>
              <a:tr h="289560">
                <a:tc>
                  <a:txBody>
                    <a:bodyPr wrap="square" anchor="ctr">
                      <a:noAutofit/>
                    </a:bodyPr>
                    <a:lstStyle/>
                    <a:p>
                      <a:pPr algn="l"/>
                      <a:r>
                        <a:rPr sz="1300" b="1" i="0">
                          <a:solidFill>
                            <a:srgbClr val="FFFFFF"/>
                          </a:solidFill>
                          <a:latin typeface="Arial"/>
                        </a:rPr>
                        <a:t>Signal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 alert (proposed)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Model deployment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429 rate or latency above agreed level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AI informed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Private DNS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Resolution failures for private endpoints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Gateway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Backend circuit open; capacity units saturated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Exit and transition: the way out is planned on day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sp>
        <p:nvSpPr>
          <p:cNvPr id="9" name="Rounded Rectangle 8"/>
          <p:cNvSpPr/>
          <p:nvPr/>
        </p:nvSpPr>
        <p:spPr>
          <a:xfrm>
            <a:off x="54864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1  Notice</a:t>
            </a:r>
          </a:p>
        </p:txBody>
      </p:sp>
      <p:sp>
        <p:nvSpPr>
          <p:cNvPr id="10" name="Rounded Rectangle 9"/>
          <p:cNvSpPr/>
          <p:nvPr/>
        </p:nvSpPr>
        <p:spPr>
          <a:xfrm>
            <a:off x="54864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Exit plan activated; owners named</a:t>
            </a:r>
          </a:p>
        </p:txBody>
      </p:sp>
      <p:cxnSp>
        <p:nvCxnSpPr>
          <p:cNvPr id="11" name="Connector (flow)"/>
          <p:cNvCxnSpPr/>
          <p:nvPr/>
        </p:nvCxnSpPr>
        <p:spPr>
          <a:xfrm>
            <a:off x="265176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8892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2  Inventory</a:t>
            </a:r>
          </a:p>
        </p:txBody>
      </p:sp>
      <p:sp>
        <p:nvSpPr>
          <p:cNvPr id="13" name="Rounded Rectangle 12"/>
          <p:cNvSpPr/>
          <p:nvPr/>
        </p:nvSpPr>
        <p:spPr>
          <a:xfrm>
            <a:off x="278892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Assets, agents, alerts, runbooks confirmed</a:t>
            </a:r>
          </a:p>
        </p:txBody>
      </p:sp>
      <p:cxnSp>
        <p:nvCxnSpPr>
          <p:cNvPr id="14" name="Connector (flow)"/>
          <p:cNvCxnSpPr/>
          <p:nvPr/>
        </p:nvCxnSpPr>
        <p:spPr>
          <a:xfrm>
            <a:off x="489204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2920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3  Knowledge transfer</a:t>
            </a:r>
          </a:p>
        </p:txBody>
      </p:sp>
      <p:sp>
        <p:nvSpPr>
          <p:cNvPr id="16" name="Rounded Rectangle 15"/>
          <p:cNvSpPr/>
          <p:nvPr/>
        </p:nvSpPr>
        <p:spPr>
          <a:xfrm>
            <a:off x="502920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Shadow, then reverse shadow</a:t>
            </a:r>
          </a:p>
        </p:txBody>
      </p:sp>
      <p:cxnSp>
        <p:nvCxnSpPr>
          <p:cNvPr id="17" name="Connector (flow)"/>
          <p:cNvCxnSpPr/>
          <p:nvPr/>
        </p:nvCxnSpPr>
        <p:spPr>
          <a:xfrm>
            <a:off x="713232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26948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4  Access handover</a:t>
            </a:r>
          </a:p>
        </p:txBody>
      </p:sp>
      <p:sp>
        <p:nvSpPr>
          <p:cNvPr id="19" name="Rounded Rectangle 18"/>
          <p:cNvSpPr/>
          <p:nvPr/>
        </p:nvSpPr>
        <p:spPr>
          <a:xfrm>
            <a:off x="726948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Roles removed; break-glass rotated</a:t>
            </a:r>
          </a:p>
        </p:txBody>
      </p:sp>
      <p:cxnSp>
        <p:nvCxnSpPr>
          <p:cNvPr id="20" name="Connector (flow)"/>
          <p:cNvCxnSpPr/>
          <p:nvPr/>
        </p:nvCxnSpPr>
        <p:spPr>
          <a:xfrm>
            <a:off x="937260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0976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5  Closure</a:t>
            </a:r>
          </a:p>
        </p:txBody>
      </p:sp>
      <p:sp>
        <p:nvSpPr>
          <p:cNvPr id="22" name="Rounded Rectangle 21"/>
          <p:cNvSpPr/>
          <p:nvPr/>
        </p:nvSpPr>
        <p:spPr>
          <a:xfrm>
            <a:off x="950976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Final report; open items handed over</a:t>
            </a:r>
          </a:p>
        </p:txBody>
      </p:sp>
      <p:sp>
        <p:nvSpPr>
          <p:cNvPr id="23" name="Rounded Rectangle 22"/>
          <p:cNvSpPr/>
          <p:nvPr/>
        </p:nvSpPr>
        <p:spPr>
          <a:xfrm>
            <a:off x="548640" y="3886200"/>
            <a:ext cx="11091672" cy="1097280"/>
          </a:xfrm>
          <a:prstGeom prst="roundRect">
            <a:avLst>
              <a:gd name="adj" fmla="val 6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700" b="1" i="0">
                <a:solidFill>
                  <a:srgbClr val="000048"/>
                </a:solidFill>
                <a:latin typeface="Arial"/>
              </a:rPr>
              <a:t>Customer keeps: </a:t>
            </a:r>
            <a:r>
              <a:rPr sz="1700" b="0" i="0">
                <a:solidFill>
                  <a:srgbClr val="1E1E2E"/>
                </a:solidFill>
                <a:latin typeface="Arial"/>
              </a:rPr>
              <a:t>runbooks, infrastructure as code, alert rules, dashboards, catalogue data and reports, all in customer tenants and repositories.</a:t>
            </a:r>
          </a:p>
        </p:txBody>
      </p:sp>
      <p:sp>
        <p:nvSpPr>
          <p:cNvPr id="24" name="Rounded Rectangle 23"/>
          <p:cNvSpPr/>
          <p:nvPr/>
        </p:nvSpPr>
        <p:spPr>
          <a:xfrm>
            <a:off x="548640" y="525780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Exit package: 15 to 30 role days over 4 to 6 weeks (estimate). Refresh the plan every year.</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Managed AI Platform Operations v4.0</dc:title>
  <dcterms:created xsi:type="dcterms:W3CDTF">2026-10-10T13:56:28.3080000Z</dcterms:created>
  <dcterms:modified xsi:type="dcterms:W3CDTF">2026-10-10T13:56:28.3090000Z</dcterms:modified>
  <dc:subject>Proposed CIS Infra GTM offering for internal leadership review</dc:subject>
</coreProperties>
</file>