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60" ns0:id="rId13"/>
    <p:sldId xmlns:ns0="http://schemas.openxmlformats.org/officeDocument/2006/relationships" id="261" ns0:id="rId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13" Type="http://schemas.openxmlformats.org/officeDocument/2006/relationships/slide" Target="slides/slide5.xml"/><Relationship Id="rId14"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Think of the portfolio in three horizons. Earn now with the assessment and the gateway. Build the base with the landing zone and managed operations, which carry the recurring revenue. And prove the bet: agent governance, which could be our strongest differentiator once its kill switch is tested.</a:t>
            </a:r>
          </a:p>
          <a:p/>
          <a:p>
            <a:r>
              <a:t>Likely question: Can 02 move to horizon 1?</a:t>
            </a:r>
          </a:p>
          <a:p>
            <a:r>
              <a:t>Answer: Yes, if the proof of concept passes early and an account is ready.</a:t>
            </a:r>
          </a:p>
          <a:p/>
          <a:p>
            <a:r>
              <a:t>DETAIL AND CAVEATS</a:t>
            </a:r>
          </a:p>
          <a:p>
            <a:r>
              <a:t>Horizons view (L6). Horizon 1: offerings that can earn this financial year with little investment (04 assessment, 03 gateway). Horizon 2: offerings that build the platform and the recurring base (01 landing zone, 05 managed operations). Horizon 3: the emerging bet that depends on proof (02 agent governance and kill switch). Timing is indicative and depends on leadership choice.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settles internal ownership. Microsoft 365 Copilot belongs to our M365 and D365 teams. We own the Azure side: Foundry, the landing zone, the gateway, the tool registry, FinOps and operations. Copilot Studio and Agent 365 sit in the middle under joint rules, and Security owns their policies.</a:t>
            </a:r>
          </a:p>
          <a:p/>
          <a:p>
            <a:r>
              <a:t>Likely question: Who leads a deal that has both?</a:t>
            </a:r>
          </a:p>
          <a:p>
            <a:r>
              <a:t>Answer: Proposal: the team with the larger first work package leads, and the other is credited its packages. Practice leads decide.</a:t>
            </a:r>
          </a:p>
          <a:p/>
          <a:p>
            <a:r>
              <a:t>DETAIL AND CAVEATS</a:t>
            </a:r>
          </a:p>
          <a:p>
            <a:r>
              <a:t>Ownership map. Microsoft 365 Copilot is owned by the Cognizant M365 and D365 teams, not CIS Infra. The split between them (for example Copilot in Microsoft 365 apps for the M365 team and Copilot in Dynamics 365 for the D365 team) and who leads a joint deal are open decisions in the register. Copilot Studio administration stays with the customer Power Platform team; CIS Infra covers Copilot Studio agents as a runtime in the catalogue, gateway and containment. Security owns policy for Agent 365, Entra, Purview and Defender; CIS Infra implements. API Center is built by CIS Infra in offering 03.</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this year from 04 and 03; 02 is the bet to prove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VIEW"/>
          <p:cNvSpPr/>
          <p:nvPr/>
        </p:nvSpPr>
        <p:spPr>
          <a:xfrm>
            <a:off x="365887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VIEW</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324612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Horizon 1: earn now</a:t>
            </a:r>
          </a:p>
          <a:p>
            <a:pPr algn="l"/>
            <a:r>
              <a:rPr sz="1600" b="0" i="0">
                <a:solidFill>
                  <a:srgbClr val="26EFE9"/>
                </a:solidFill>
                <a:latin typeface="Arial"/>
              </a:rPr>
              <a:t>0 to 6 months</a:t>
            </a:r>
          </a:p>
        </p:txBody>
      </p:sp>
      <p:sp>
        <p:nvSpPr>
          <p:cNvPr id="9" name="Rounded Rectangle 8"/>
          <p:cNvSpPr/>
          <p:nvPr/>
        </p:nvSpPr>
        <p:spPr>
          <a:xfrm>
            <a:off x="548640" y="4206240"/>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04 FinOps Assessment  </a:t>
            </a:r>
            <a:r>
              <a:rPr sz="1500" b="0" i="0">
                <a:solidFill>
                  <a:srgbClr val="53565A"/>
                </a:solidFill>
                <a:latin typeface="Arial"/>
              </a:rPr>
              <a:t>short, fixed scope</a:t>
            </a:r>
          </a:p>
        </p:txBody>
      </p:sp>
      <p:sp>
        <p:nvSpPr>
          <p:cNvPr id="10" name="Rounded Rectangle 9"/>
          <p:cNvSpPr/>
          <p:nvPr/>
        </p:nvSpPr>
        <p:spPr>
          <a:xfrm>
            <a:off x="548640" y="4983479"/>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03 AI Gateway  </a:t>
            </a:r>
            <a:r>
              <a:rPr sz="1500" b="0" i="0">
                <a:solidFill>
                  <a:srgbClr val="53565A"/>
                </a:solidFill>
                <a:latin typeface="Arial"/>
              </a:rPr>
              <a:t>needs a landing zone</a:t>
            </a:r>
          </a:p>
        </p:txBody>
      </p:sp>
      <p:sp>
        <p:nvSpPr>
          <p:cNvPr id="11" name="Rounded Rectangle 10"/>
          <p:cNvSpPr/>
          <p:nvPr/>
        </p:nvSpPr>
        <p:spPr>
          <a:xfrm>
            <a:off x="4297679" y="2377439"/>
            <a:ext cx="3593592" cy="868680"/>
          </a:xfrm>
          <a:prstGeom prst="roundRect">
            <a:avLst>
              <a:gd name="adj" fmla="val 8421"/>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Horizon 2: build the base</a:t>
            </a:r>
          </a:p>
          <a:p>
            <a:pPr algn="l"/>
            <a:r>
              <a:rPr sz="1600" b="0" i="0">
                <a:solidFill>
                  <a:srgbClr val="26EFE9"/>
                </a:solidFill>
                <a:latin typeface="Arial"/>
              </a:rPr>
              <a:t>6 to 18 months</a:t>
            </a:r>
          </a:p>
        </p:txBody>
      </p:sp>
      <p:sp>
        <p:nvSpPr>
          <p:cNvPr id="12" name="Rounded Rectangle 11"/>
          <p:cNvSpPr/>
          <p:nvPr/>
        </p:nvSpPr>
        <p:spPr>
          <a:xfrm>
            <a:off x="4297679" y="3337559"/>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01 Landing Zone  </a:t>
            </a:r>
            <a:r>
              <a:rPr sz="1500" b="0" i="0">
                <a:solidFill>
                  <a:srgbClr val="53565A"/>
                </a:solidFill>
                <a:latin typeface="Arial"/>
              </a:rPr>
              <a:t>largest one-time deals</a:t>
            </a:r>
          </a:p>
        </p:txBody>
      </p:sp>
      <p:sp>
        <p:nvSpPr>
          <p:cNvPr id="13" name="Rounded Rectangle 12"/>
          <p:cNvSpPr/>
          <p:nvPr/>
        </p:nvSpPr>
        <p:spPr>
          <a:xfrm>
            <a:off x="4297679" y="4114799"/>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05 Managed Operations  </a:t>
            </a:r>
            <a:r>
              <a:rPr sz="1500" b="0" i="0">
                <a:solidFill>
                  <a:srgbClr val="53565A"/>
                </a:solidFill>
                <a:latin typeface="Arial"/>
              </a:rPr>
              <a:t>recurring revenue</a:t>
            </a:r>
          </a:p>
        </p:txBody>
      </p:sp>
      <p:sp>
        <p:nvSpPr>
          <p:cNvPr id="14" name="Rounded Rectangle 13"/>
          <p:cNvSpPr/>
          <p:nvPr/>
        </p:nvSpPr>
        <p:spPr>
          <a:xfrm>
            <a:off x="8046719" y="1508760"/>
            <a:ext cx="3593592" cy="868680"/>
          </a:xfrm>
          <a:prstGeom prst="roundRect">
            <a:avLst>
              <a:gd name="adj" fmla="val 8421"/>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73152" bIns="73152" wrap="square">
            <a:noAutofit/>
          </a:bodyPr>
          <a:lstStyle/>
          <a:p>
            <a:pPr algn="l"/>
            <a:r>
              <a:rPr sz="2000" b="1" i="0">
                <a:solidFill>
                  <a:srgbClr val="FFFFFF"/>
                </a:solidFill>
                <a:latin typeface="Arial"/>
              </a:rPr>
              <a:t>Horizon 3: prove the bet</a:t>
            </a:r>
          </a:p>
          <a:p>
            <a:pPr algn="l"/>
            <a:r>
              <a:rPr sz="1600" b="0" i="0">
                <a:solidFill>
                  <a:srgbClr val="26EFE9"/>
                </a:solidFill>
                <a:latin typeface="Arial"/>
              </a:rPr>
              <a:t>after the PoC</a:t>
            </a:r>
          </a:p>
        </p:txBody>
      </p:sp>
      <p:sp>
        <p:nvSpPr>
          <p:cNvPr id="15" name="Rounded Rectangle 14"/>
          <p:cNvSpPr/>
          <p:nvPr/>
        </p:nvSpPr>
        <p:spPr>
          <a:xfrm>
            <a:off x="8046719" y="2468880"/>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02 Agent Governance  </a:t>
            </a:r>
            <a:r>
              <a:rPr sz="1500" b="0" i="0">
                <a:solidFill>
                  <a:srgbClr val="53565A"/>
                </a:solidFill>
                <a:latin typeface="Arial"/>
              </a:rPr>
              <a:t>differentiator once proven</a:t>
            </a:r>
          </a:p>
        </p:txBody>
      </p:sp>
      <p:sp>
        <p:nvSpPr>
          <p:cNvPr id="16" name="Rounded Rectangle 15"/>
          <p:cNvSpPr/>
          <p:nvPr/>
        </p:nvSpPr>
        <p:spPr>
          <a:xfrm>
            <a:off x="8046719" y="3246120"/>
            <a:ext cx="3593592"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Kill-switch PoC  </a:t>
            </a:r>
            <a:r>
              <a:rPr sz="1500" b="0" i="0">
                <a:solidFill>
                  <a:srgbClr val="53565A"/>
                </a:solidFill>
                <a:latin typeface="Arial"/>
              </a:rPr>
              <a:t>internal, funding requested</a:t>
            </a:r>
          </a:p>
        </p:txBody>
      </p:sp>
      <p:cxnSp>
        <p:nvCxnSpPr>
          <p:cNvPr id="17" name="Connector (flow)"/>
          <p:cNvCxnSpPr/>
          <p:nvPr/>
        </p:nvCxnSpPr>
        <p:spPr>
          <a:xfrm>
            <a:off x="548640" y="5897880"/>
            <a:ext cx="109728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5961888"/>
            <a:ext cx="11064240" cy="365760"/>
          </a:xfrm>
          <a:prstGeom prst="rect">
            <a:avLst/>
          </a:prstGeom>
          <a:noFill/>
        </p:spPr>
        <p:txBody>
          <a:bodyPr wrap="square" lIns="0" rIns="0" tIns="0" bIns="0" anchor="t">
            <a:noAutofit/>
          </a:bodyPr>
          <a:lstStyle/>
          <a:p>
            <a:pPr algn="r"/>
            <a:r>
              <a:rPr sz="1400" b="0" i="0">
                <a:solidFill>
                  <a:srgbClr val="53565A"/>
                </a:solidFill>
                <a:latin typeface="Arial"/>
              </a:rPr>
              <a:t>Time and maturity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M365 Copilot stays with M365 and D365; we own the Azure side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548640" y="1371600"/>
            <a:ext cx="3593592" cy="640080"/>
          </a:xfrm>
          <a:prstGeom prst="roundRect">
            <a:avLst>
              <a:gd name="adj" fmla="val 11428"/>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Cognizant M365 and D365 teams</a:t>
            </a:r>
          </a:p>
        </p:txBody>
      </p:sp>
      <p:sp>
        <p:nvSpPr>
          <p:cNvPr id="9" name="Rounded Rectangle 8"/>
          <p:cNvSpPr/>
          <p:nvPr/>
        </p:nvSpPr>
        <p:spPr>
          <a:xfrm>
            <a:off x="548640" y="210312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Microsoft 365 Copilot</a:t>
            </a:r>
          </a:p>
          <a:p>
            <a:pPr algn="l"/>
            <a:r>
              <a:rPr sz="1600" b="0" i="0">
                <a:solidFill>
                  <a:srgbClr val="1E1E2E"/>
                </a:solidFill>
                <a:latin typeface="Arial"/>
              </a:rPr>
              <a:t>Microsoft 365 apps (M365 team, to confirm)</a:t>
            </a:r>
          </a:p>
        </p:txBody>
      </p:sp>
      <p:sp>
        <p:nvSpPr>
          <p:cNvPr id="10" name="Rounded Rectangle 9"/>
          <p:cNvSpPr/>
          <p:nvPr/>
        </p:nvSpPr>
        <p:spPr>
          <a:xfrm>
            <a:off x="548640" y="3154679"/>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in Dynamics 365</a:t>
            </a:r>
          </a:p>
          <a:p>
            <a:pPr algn="l"/>
            <a:r>
              <a:rPr sz="1600" b="0" i="0">
                <a:solidFill>
                  <a:srgbClr val="1E1E2E"/>
                </a:solidFill>
                <a:latin typeface="Arial"/>
              </a:rPr>
              <a:t>D365 team, to confirm</a:t>
            </a:r>
          </a:p>
        </p:txBody>
      </p:sp>
      <p:sp>
        <p:nvSpPr>
          <p:cNvPr id="11" name="Rounded Rectangle 10"/>
          <p:cNvSpPr/>
          <p:nvPr/>
        </p:nvSpPr>
        <p:spPr>
          <a:xfrm>
            <a:off x="548640" y="4206240"/>
            <a:ext cx="3593592" cy="960120"/>
          </a:xfrm>
          <a:prstGeom prst="roundRect">
            <a:avLst>
              <a:gd name="adj" fmla="val 7619"/>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Adoption and change</a:t>
            </a:r>
          </a:p>
          <a:p>
            <a:pPr algn="l"/>
            <a:r>
              <a:rPr sz="1600" b="0" i="0">
                <a:solidFill>
                  <a:srgbClr val="1E1E2E"/>
                </a:solidFill>
                <a:latin typeface="Arial"/>
              </a:rPr>
              <a:t>licences, rollout, training</a:t>
            </a:r>
          </a:p>
        </p:txBody>
      </p:sp>
      <p:sp>
        <p:nvSpPr>
          <p:cNvPr id="12" name="Rounded Rectangle 11"/>
          <p:cNvSpPr/>
          <p:nvPr/>
        </p:nvSpPr>
        <p:spPr>
          <a:xfrm>
            <a:off x="4297679" y="1371600"/>
            <a:ext cx="3593592" cy="640080"/>
          </a:xfrm>
          <a:prstGeom prst="roundRect">
            <a:avLst>
              <a:gd name="adj" fmla="val 11428"/>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Shared: joint rules apply</a:t>
            </a:r>
          </a:p>
        </p:txBody>
      </p:sp>
      <p:sp>
        <p:nvSpPr>
          <p:cNvPr id="13" name="Rounded Rectangle 12"/>
          <p:cNvSpPr/>
          <p:nvPr/>
        </p:nvSpPr>
        <p:spPr>
          <a:xfrm>
            <a:off x="4297679" y="210312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Copilot Studio</a:t>
            </a:r>
          </a:p>
          <a:p>
            <a:pPr algn="l"/>
            <a:r>
              <a:rPr sz="1600" b="0" i="0">
                <a:solidFill>
                  <a:srgbClr val="1E1E2E"/>
                </a:solidFill>
                <a:latin typeface="Arial"/>
              </a:rPr>
              <a:t>Power Platform admins it; we govern its agents</a:t>
            </a:r>
          </a:p>
        </p:txBody>
      </p:sp>
      <p:sp>
        <p:nvSpPr>
          <p:cNvPr id="14" name="Rounded Rectangle 13"/>
          <p:cNvSpPr/>
          <p:nvPr/>
        </p:nvSpPr>
        <p:spPr>
          <a:xfrm>
            <a:off x="4297679" y="3154679"/>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Agent 365 and Entra</a:t>
            </a:r>
          </a:p>
          <a:p>
            <a:pPr algn="l"/>
            <a:r>
              <a:rPr sz="1600" b="0" i="0">
                <a:solidFill>
                  <a:srgbClr val="1E1E2E"/>
                </a:solidFill>
                <a:latin typeface="Arial"/>
              </a:rPr>
              <a:t>Security owns policy; we implement</a:t>
            </a:r>
          </a:p>
        </p:txBody>
      </p:sp>
      <p:sp>
        <p:nvSpPr>
          <p:cNvPr id="15" name="Rounded Rectangle 14"/>
          <p:cNvSpPr/>
          <p:nvPr/>
        </p:nvSpPr>
        <p:spPr>
          <a:xfrm>
            <a:off x="4297679" y="4206240"/>
            <a:ext cx="3593592" cy="960120"/>
          </a:xfrm>
          <a:prstGeom prst="roundRect">
            <a:avLst>
              <a:gd name="adj" fmla="val 7619"/>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Purview readiness</a:t>
            </a:r>
          </a:p>
          <a:p>
            <a:pPr algn="l"/>
            <a:r>
              <a:rPr sz="1600" b="0" i="0">
                <a:solidFill>
                  <a:srgbClr val="1E1E2E"/>
                </a:solidFill>
                <a:latin typeface="Arial"/>
              </a:rPr>
              <a:t>Security leads; we supply inputs</a:t>
            </a:r>
          </a:p>
        </p:txBody>
      </p:sp>
      <p:sp>
        <p:nvSpPr>
          <p:cNvPr id="16" name="Rounded Rectangle 15"/>
          <p:cNvSpPr/>
          <p:nvPr/>
        </p:nvSpPr>
        <p:spPr>
          <a:xfrm>
            <a:off x="8046719" y="1371600"/>
            <a:ext cx="3593592"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FFFFFF"/>
                </a:solidFill>
                <a:latin typeface="Arial"/>
              </a:rPr>
              <a:t>CIS Infra offerings 01 to 05</a:t>
            </a:r>
          </a:p>
        </p:txBody>
      </p:sp>
      <p:sp>
        <p:nvSpPr>
          <p:cNvPr id="17" name="Rounded Rectangle 16"/>
          <p:cNvSpPr/>
          <p:nvPr/>
        </p:nvSpPr>
        <p:spPr>
          <a:xfrm>
            <a:off x="8046719" y="210312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Foundry and AI landing zone</a:t>
            </a:r>
          </a:p>
          <a:p>
            <a:pPr algn="l"/>
            <a:r>
              <a:rPr sz="1600" b="0" i="0">
                <a:solidFill>
                  <a:srgbClr val="1E1E2E"/>
                </a:solidFill>
                <a:latin typeface="Arial"/>
              </a:rPr>
              <a:t>offering 01</a:t>
            </a:r>
          </a:p>
        </p:txBody>
      </p:sp>
      <p:sp>
        <p:nvSpPr>
          <p:cNvPr id="18" name="Rounded Rectangle 17"/>
          <p:cNvSpPr/>
          <p:nvPr/>
        </p:nvSpPr>
        <p:spPr>
          <a:xfrm>
            <a:off x="8046719" y="3154679"/>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API Management and API Center</a:t>
            </a:r>
          </a:p>
          <a:p>
            <a:pPr algn="l"/>
            <a:r>
              <a:rPr sz="1600" b="0" i="0">
                <a:solidFill>
                  <a:srgbClr val="1E1E2E"/>
                </a:solidFill>
                <a:latin typeface="Arial"/>
              </a:rPr>
              <a:t>offering 03</a:t>
            </a:r>
          </a:p>
        </p:txBody>
      </p:sp>
      <p:sp>
        <p:nvSpPr>
          <p:cNvPr id="19" name="Rounded Rectangle 18"/>
          <p:cNvSpPr/>
          <p:nvPr/>
        </p:nvSpPr>
        <p:spPr>
          <a:xfrm>
            <a:off x="8046719" y="4206240"/>
            <a:ext cx="3593592" cy="960120"/>
          </a:xfrm>
          <a:prstGeom prst="roundRect">
            <a:avLst>
              <a:gd name="adj" fmla="val 761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46304" rIns="146304" tIns="73152" bIns="73152" wrap="square">
            <a:noAutofit/>
          </a:bodyPr>
          <a:lstStyle/>
          <a:p>
            <a:pPr algn="l"/>
            <a:r>
              <a:rPr sz="1800" b="1" i="0">
                <a:solidFill>
                  <a:srgbClr val="000048"/>
                </a:solidFill>
                <a:latin typeface="Arial"/>
              </a:rPr>
              <a:t>Governance, FinOps, operations</a:t>
            </a:r>
          </a:p>
          <a:p>
            <a:pPr algn="l"/>
            <a:r>
              <a:rPr sz="1600" b="0" i="0">
                <a:solidFill>
                  <a:srgbClr val="1E1E2E"/>
                </a:solidFill>
                <a:latin typeface="Arial"/>
              </a:rPr>
              <a:t>offerings 02, 04, 05</a:t>
            </a:r>
          </a:p>
        </p:txBody>
      </p:sp>
      <p:cxnSp>
        <p:nvCxnSpPr>
          <p:cNvPr id="20" name="Connector (flow)"/>
          <p:cNvCxnSpPr/>
          <p:nvPr/>
        </p:nvCxnSpPr>
        <p:spPr>
          <a:xfrm>
            <a:off x="414223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flow)"/>
          <p:cNvCxnSpPr/>
          <p:nvPr/>
        </p:nvCxnSpPr>
        <p:spPr>
          <a:xfrm>
            <a:off x="7891272" y="3108960"/>
            <a:ext cx="155448"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544068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Open: the M365 versus D365 Copilot split and the joint-deal lead (register D1, owners named).</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Azure AI Platform Portfolio v4.0</dc:title>
  <dcterms:created xsi:type="dcterms:W3CDTF">2026-10-10T13:56:28.3080000Z</dcterms:created>
  <dcterms:modified xsi:type="dcterms:W3CDTF">2026-10-10T13:56:28.3090000Z</dcterms:modified>
  <dc:subject>Proposed CIS Infra GTM offering for internal leadership review</dc:subject>
</coreProperties>
</file>