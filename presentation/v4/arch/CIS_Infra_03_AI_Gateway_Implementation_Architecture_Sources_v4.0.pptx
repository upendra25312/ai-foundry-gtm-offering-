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40.svg" ContentType="image/svg+xml"/>
  <Override PartName="/ppt/media/image42.svg" ContentType="image/svg+xml"/>
  <Override PartName="/ppt/media/image46.svg" ContentType="image/svg+xml"/>
  <Override PartName="/ppt/notesMasters/notesMaster1.xml" ContentType="application/vnd.openxmlformats-officedocument.presentationml.notesMaster+xml"/>
  <Override PartName="/ppt/notesMasters/theme/theme6.xml" ContentType="application/vnd.openxmlformats-officedocument.theme+xml"/>
  <Override PartName="/ppt/notesSlides/notesSlide15.xml" ContentType="application/vnd.openxmlformats-officedocument.presentationml.notesSlide+xml"/>
  <Override PartName="/ppt/notesSlides/notesSlide17.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2.xml" ContentType="application/vnd.openxmlformats-officedocument.presentationml.notesSlide+xml"/>
  <Override PartName="/ppt/notesSlides/notesSlide2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theme/theme2.xml" ContentType="application/vnd.openxmlformats-officedocument.theme+xml"/>
  <Override PartName="/ppt/slideMasters/theme/theme3.xml" ContentType="application/vnd.openxmlformats-officedocument.theme+xml"/>
  <Override PartName="/ppt/slideMasters/theme/theme4.xml" ContentType="application/vnd.openxmlformats-officedocument.theme+xml"/>
  <Override PartName="/ppt/slideMasters/theme/theme5.xml" ContentType="application/vnd.openxmlformats-officedocument.theme+xml"/>
  <Override PartName="/ppt/slides/slide15.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2.xml" ContentType="application/vnd.openxmlformats-officedocument.presentationml.slide+xml"/>
  <Override PartName="/ppt/slides/slide2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64f9a23884c44625" Type="http://schemas.openxmlformats.org/officeDocument/2006/relationships/officeDocument" Target="ppt/presentation.xml"/><Relationship Id="R84e71566a1d647f7" Type="http://schemas.openxmlformats.org/officeDocument/2006/relationships/extended-properties" Target="docProps/app.xml"/><Relationship Id="Rc4e4969fe66e4fc1"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ac94335601d14db8"/>
    <p:sldMasterId xmlns:r="http://schemas.openxmlformats.org/officeDocument/2006/relationships" id="2147483655" r:id="Re562c2e4671348aa"/>
    <p:sldMasterId xmlns:r="http://schemas.openxmlformats.org/officeDocument/2006/relationships" id="2147483663" r:id="Rb87cb585fe274448"/>
    <p:sldMasterId xmlns:r="http://schemas.openxmlformats.org/officeDocument/2006/relationships" id="2147483666" r:id="R50e5873738a341b1"/>
  </p:sldMasterIdLst>
  <p:notesMasterIdLst>
    <p:notesMasterId xmlns:r="http://schemas.openxmlformats.org/officeDocument/2006/relationships" r:id="Ra3f0ebc3c09b4434"/>
  </p:notesMasterIdLst>
  <p:sldIdLst>
    <p:sldId xmlns:ns0="http://schemas.openxmlformats.org/officeDocument/2006/relationships" id="261" ns0:id="rId14"/>
    <p:sldId xmlns:ns0="http://schemas.openxmlformats.org/officeDocument/2006/relationships" id="262" ns0:id="rId15"/>
    <p:sldId xmlns:ns0="http://schemas.openxmlformats.org/officeDocument/2006/relationships" id="270" ns0:id="rId23"/>
    <p:sldId xmlns:ns0="http://schemas.openxmlformats.org/officeDocument/2006/relationships" id="272" ns0:id="rId25"/>
    <p:sldId xmlns:ns0="http://schemas.openxmlformats.org/officeDocument/2006/relationships" id="274" ns0:id="rId27"/>
    <p:sldId xmlns:ns0="http://schemas.openxmlformats.org/officeDocument/2006/relationships" id="275" ns0:id="rId28"/>
    <p:sldId xmlns:ns0="http://schemas.openxmlformats.org/officeDocument/2006/relationships" id="277" ns0:id="rId30"/>
    <p:sldId xmlns:ns0="http://schemas.openxmlformats.org/officeDocument/2006/relationships" id="279" ns0:id="rId32"/>
    <p:sldId xmlns:ns0="http://schemas.openxmlformats.org/officeDocument/2006/relationships" id="290" ns0:id="rId43"/>
    <p:sldId xmlns:ns0="http://schemas.openxmlformats.org/officeDocument/2006/relationships" id="291" ns0:id="rId4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310443a3f9f4403" Type="http://schemas.openxmlformats.org/officeDocument/2006/relationships/tableStyles" Target="tableStyles.xml"/><Relationship Id="R3569cfc98731471b" Type="http://schemas.openxmlformats.org/officeDocument/2006/relationships/theme" Target="theme/theme1.xml"/><Relationship Id="R50e5873738a341b1" Type="http://schemas.openxmlformats.org/officeDocument/2006/relationships/slideMaster" Target="slideMasters/slideMaster4.xml"/><Relationship Id="R54772863d9b446e6" Type="http://schemas.openxmlformats.org/officeDocument/2006/relationships/presProps" Target="presProps.xml"/><Relationship Id="Ra3f0ebc3c09b4434" Type="http://schemas.openxmlformats.org/officeDocument/2006/relationships/notesMaster" Target="notesMasters/notesMaster1.xml"/><Relationship Id="Rac94335601d14db8" Type="http://schemas.openxmlformats.org/officeDocument/2006/relationships/slideMaster" Target="slideMasters/slideMaster1.xml"/><Relationship Id="Rb87cb585fe274448" Type="http://schemas.openxmlformats.org/officeDocument/2006/relationships/slideMaster" Target="slideMasters/slideMaster3.xml"/><Relationship Id="Re562c2e4671348aa" Type="http://schemas.openxmlformats.org/officeDocument/2006/relationships/slideMaster" Target="slideMasters/slideMaster2.xml"/><Relationship Id="rId14" Type="http://schemas.openxmlformats.org/officeDocument/2006/relationships/slide" Target="slides/slide6.xml"/><Relationship Id="rId15" Type="http://schemas.openxmlformats.org/officeDocument/2006/relationships/slide" Target="slides/slide7.xml"/><Relationship Id="rId23" Type="http://schemas.openxmlformats.org/officeDocument/2006/relationships/slide" Target="slides/slide15.xml"/><Relationship Id="rId25" Type="http://schemas.openxmlformats.org/officeDocument/2006/relationships/slide" Target="slides/slide17.xml"/><Relationship Id="rId27" Type="http://schemas.openxmlformats.org/officeDocument/2006/relationships/slide" Target="slides/slide19.xml"/><Relationship Id="rId28" Type="http://schemas.openxmlformats.org/officeDocument/2006/relationships/slide" Target="slides/slide20.xml"/><Relationship Id="rId30" Type="http://schemas.openxmlformats.org/officeDocument/2006/relationships/slide" Target="slides/slide22.xml"/><Relationship Id="rId32" Type="http://schemas.openxmlformats.org/officeDocument/2006/relationships/slide" Target="slides/slide24.xml"/><Relationship Id="rId43" Type="http://schemas.openxmlformats.org/officeDocument/2006/relationships/slide" Target="slides/slide35.xml"/><Relationship Id="rId44"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214af957cecc4cfc" Type="http://schemas.openxmlformats.org/officeDocument/2006/relationships/theme" Target="theme/theme6.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6.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Follow the numbers. An app or agent gets an Entra token, the gateway checks it, applies limits and safety checks, routes to reserved capacity first and overflow second, and records token use. The red line is the important part: direct calls to the model are blocked, so the gateway cannot be bypassed.</a:t>
            </a:r>
          </a:p>
          <a:p/>
          <a:p>
            <a:r>
              <a:t>Likely question: What happens if the reserved capacity is full?</a:t>
            </a:r>
          </a:p>
          <a:p>
            <a:r>
              <a:t>Answer: The gateway retries on the approved pay-as-you-go deployment, inside the same data boundary. Overflow is budgeted and alerted.</a:t>
            </a:r>
          </a:p>
          <a:p/>
          <a:p>
            <a:r>
              <a:t>DETAIL AND CAVEATS</a:t>
            </a:r>
          </a:p>
          <a:p>
            <a:r>
              <a:t>Executive view replacing the legacy identity diagram (old slide 8). No legacy model labels are used; backends are shown as deployment types, not model names.</a:t>
            </a:r>
          </a:p>
          <a:p/>
          <a:p>
            <a:r>
              <a:t>Steps: (1) app or agent obtains an Entra token; (2) API Management validates the token and maps the caller to a counter key; (3) inbound policies apply token and request limits and the content-safety check; (4) the backend policy routes to the PTU deployment first and to an approved PAYG deployment on 429, using managed identity; (5) tool calls go to tool APIs under their own policies and tool-side authorisation; (6) outbound policies check completions and emit token metrics to Application Insights. Direct calls from apps to model endpoints are blocked by private endpoints and disabled local auth.</a:t>
            </a:r>
          </a:p>
          <a:p/>
          <a:p>
            <a:r>
              <a:t>Sources (checked 11 Oct 2026):</a:t>
            </a:r>
          </a:p>
          <a:p>
            <a:r>
              <a:t>AI gateway capabilities in API Management: https://learn.microsoft.com/en-us/azure/api-management/genai-gateway-capabilities</a:t>
            </a:r>
          </a:p>
          <a:p>
            <a:r>
              <a:t>APIM llm-token-limit policy: https://learn.microsoft.com/en-us/azure/api-management/llm-token-limit-policy</a:t>
            </a:r>
          </a:p>
          <a:p>
            <a:r>
              <a:t>APIM llm-content-safety policy: https://learn.microsoft.com/en-us/azure/api-management/llm-content-safety-policy</a:t>
            </a:r>
          </a:p>
          <a:p>
            <a:r>
              <a:t>Provisioned throughput concepts: https://learn.microsoft.com/en-us/azure/foundry/openai/concepts/provisioned-throughput</a:t>
            </a:r>
          </a:p>
          <a:p>
            <a:r>
              <a:t>Azure Architecture Icons (V24): https://learn.microsoft.com/en-us/azure/architecture/icons/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API Management controls how traffic flows; API Center decides which tools are allowed at all. Tool owners register their API or MCP server, Security approves it, and only then is it published through the gateway and discoverable by agents.</a:t>
            </a:r>
          </a:p>
          <a:p/>
          <a:p>
            <a:r>
              <a:t>Likely question: Can an agent still call an unregistered tool?</a:t>
            </a:r>
          </a:p>
          <a:p>
            <a:r>
              <a:t>Answer: If the tool is reachable on the network, yes. That is why we pair the registry with network rules and gateway-only routing. We state that limit openly.</a:t>
            </a:r>
          </a:p>
          <a:p/>
          <a:p>
            <a:r>
              <a:t>DETAIL AND CAVEATS</a:t>
            </a:r>
          </a:p>
          <a:p>
            <a:r>
              <a:t>API Center registers APIs and MCP servers with owner, lifecycle and approval metadata. Microsoft documents MCP server registration and discovery in API Center, synchronisation with API Management, and use of an API Center registry as the private MCP registry enforced in GitHub Copilot and VS Code. Foundry tool catalogue integration per Microsoft Learn (verify feature status per region). The rule proposed here: a tool is allowed only when it is registered and approved in API Center and its traffic is routed through API Management. Customer-side enforcement in each agent runtime still needs configuration.</a:t>
            </a:r>
          </a:p>
          <a:p/>
          <a:p>
            <a:r>
              <a:t>Sources (checked 11 Oct 2026):</a:t>
            </a:r>
          </a:p>
          <a:p>
            <a:r>
              <a:t>Register and discover MCP servers in Azure API Center: https://learn.microsoft.com/en-us/azure/api-center/register-discover-mcp-server</a:t>
            </a:r>
          </a:p>
          <a:p>
            <a:r>
              <a:t>Private MCP registry on API Center enforced in GitHub Copilot and VS Code (Microsoft DevBlogs): https://devblogs.microsoft.com/all-things-azure/locking-down-mcp-create-a-private-registry-on-azure-api-center-and-enforce-it-in-github-copilot-and-vs-code/</a:t>
            </a:r>
          </a:p>
          <a:p>
            <a:r>
              <a:t>AI gateway capabilities in API Management: https://learn.microsoft.com/en-us/azure/api-management/genai-gateway-capabilities</a:t>
            </a:r>
          </a:p>
          <a:p>
            <a:r>
              <a:t>Azure Architecture Icons (V24): https://learn.microsoft.com/en-us/azure/architecture/icons/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"Gateway identity pattern with current labels". Editable reconstruction of 44_azure-openai-gateway-identity-solution-combined.png (Microsoft Azure OpenAI gateway custom authentication guide). The source labels two backends "gpt-35-turbo (1106 | 30K TPM)" and "Azure OpenAI"; those legacy labels are replaced with "model deployment" and "Microsoft Foundry", and the TPM example is removed. The original is kept only as a historical reference (the original references pack).</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Editable reconstruction of 44_azure-openai-gateway-identity-solution-combined.png (Microsoft Azure OpenAI gateway custom authentication guide). The source labels two backends "gpt-35-turbo (1106 | 30K TPM)" and "Azure OpenAI"; those legacy labels are replaced with "model deployment" and "Microsoft Foundry", and the TPM example is removed. The original is kept only as a historical reference (the original references pack).</a:t>
            </a:r>
          </a:p>
          <a:p/>
          <a:p>
            <a:r>
              <a:t>Pattern: the client obtains a JWT from the identity provider and calls the gateway with the JWT and, optionally, a subscription key for product mapping. The gateway validates the JWT, then calls regional Foundry resources with its managed identity. Subscription keys alone are not user identity.</a:t>
            </a:r>
          </a:p>
          <a:p/>
          <a:p>
            <a:r>
              <a:t>Sources (checked 11 Oct 2026):</a:t>
            </a:r>
          </a:p>
          <a:p>
            <a:r>
              <a:t>https://github.com/upendra25312/AI-Foundry-GTM-offering-/blob/main/architectures/44_azure-openai-gateway-identity-solution-combined.png</a:t>
            </a:r>
          </a:p>
          <a:p>
            <a:r>
              <a:t>https://github.com/upendra25312/AI-Foundry-GTM-offering-/blob/main/architectures/14_azure-openai-authentication.vsdx</a:t>
            </a:r>
          </a:p>
          <a:p>
            <a:r>
              <a:t>https://learn.microsoft.com/en-us/azure/architecture/ai-ml/guide/azure-openai-gateway-custom-authentication</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"Token-limit policy flow". Editable reconstruction of 29_token-rate-limiting.png (609 x 297 px, dark background, OpenAI logo). The source shows requests funnelling through API Management rate-limiting policies to a model backend. Rebuilt with the official API Management and Foundry Models icons and the verified response codes.</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Editable reconstruction of 29_token-rate-limiting.png (609 x 297 px, dark background, OpenAI logo). The source shows requests funnelling through API Management rate-limiting policies to a model backend. Rebuilt with the official API Management and Foundry Models icons and the verified response codes. Original kept in the original references pack for traceability.</a:t>
            </a:r>
          </a:p>
          <a:p/>
          <a:p>
            <a:r>
              <a:t>Sources (checked 11 Oct 2026):</a:t>
            </a:r>
          </a:p>
          <a:p>
            <a:r>
              <a:t>https://github.com/upendra25312/AI-Foundry-GTM-offering-/blob/main/architectures/29_token-rate-limiting.png</a:t>
            </a:r>
          </a:p>
          <a:p>
            <a:r>
              <a:t>APIM llm-token-limit policy: https://learn.microsoft.com/en-us/azure/api-management/llm-token-limit-policy</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"Backend pools and routing". Editable reconstruction of 32_backend-load-balancing.png (708 x 422 px). The source shows a backend pool with one unavailable backend and requests flowing to another region or instance. API Management load-balancer modes (verified): round-robin, weighted, priority-based and session-aware.</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Editable reconstruction of 32_backend-load-balancing.png (708 x 422 px). The source shows a backend pool with one unavailable backend and requests flowing to another region or instance. API Management load-balancer modes (verified): round-robin, weighted, priority-based and session-aware. Priorities can favour PTU endpoints. Route only to approved models, regions and deployments with available capacity; retries, failover and PTU overflow can increase PAYG spend.</a:t>
            </a:r>
          </a:p>
          <a:p/>
          <a:p>
            <a:r>
              <a:t>Sources (checked 11 Oct 2026):</a:t>
            </a:r>
          </a:p>
          <a:p>
            <a:r>
              <a:t>https://github.com/upendra25312/AI-Foundry-GTM-offering-/blob/main/architectures/32_backend-load-balancing.png</a:t>
            </a:r>
          </a:p>
          <a:p>
            <a:r>
              <a:t>AI gateway capabilities in API Management: https://learn.microsoft.com/en-us/azure/api-management/genai-gateway-capabilities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"Backend circuit breaker protects a dependency". Editable reconstruction of 33_backend-circuit-breaker.png (715 x 253 px). Verified: the circuit breaker features dynamic trip duration using the backend Retry-After header. Configure trip conditions (for example 429 and 5xx counts in an interval) and recovery.</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Editable reconstruction of 33_backend-circuit-breaker.png (715 x 253 px). Verified: the circuit breaker features dynamic trip duration using the backend Retry-After header. Configure trip conditions (for example 429 and 5xx counts in an interval) and recovery. A circuit breaker does not cancel work already running or revoke an agent tool permission; it is not an agent kill switch.</a:t>
            </a:r>
          </a:p>
          <a:p/>
          <a:p>
            <a:r>
              <a:t>Sources (checked 11 Oct 2026):</a:t>
            </a:r>
          </a:p>
          <a:p>
            <a:r>
              <a:t>https://github.com/upendra25312/AI-Foundry-GTM-offering-/blob/main/architectures/33_backend-circuit-breaker.png</a:t>
            </a:r>
          </a:p>
          <a:p>
            <a:r>
              <a:t>AI gateway capabilities in API Management: https://learn.microsoft.com/en-us/azure/api-management/genai-gateway-capabilities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"Content safety in the gateway flow". Editable reconstruction of 31_content-safety.png (622 x 332 px). The source labels the safety service "Content Safety in Foundry Control Plane"; the verified implementation is the API Management llm-content-safety policy calling a configured Azure AI Content Safety resource through a backend with managed identity (Cognitive Services User role). Verified behaviour: categories Hate, SelfHarm, Sexual, Violence with thresholds; shield-prompt checks user attacks; blocklists supported; inbound checks requests, outbound checks responses; violation returns 403; with streaming, forwarding stops without a 403.</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Editable reconstruction of 31_content-safety.png (622 x 332 px). The source labels the safety service "Content Safety in Foundry Control Plane"; the verified implementation is the API Management llm-content-safety policy calling a configured Azure AI Content Safety resource through a backend with managed identity (Cognitive Services User role). Verified behaviour: categories Hate, SelfHarm, Sexual, Violence with thresholds; shield-prompt checks user attacks; blocklists supported; inbound checks requests, outbound checks responses; violation returns 403; with streaming, forwarding stops without a 403. Not a universal DLP, transaction approval or agent authorisation engine.</a:t>
            </a:r>
          </a:p>
          <a:p/>
          <a:p>
            <a:r>
              <a:t>Sources (checked 11 Oct 2026):</a:t>
            </a:r>
          </a:p>
          <a:p>
            <a:r>
              <a:t>https://github.com/upendra25312/AI-Foundry-GTM-offering-/blob/main/architectures/31_content-safety.png</a:t>
            </a:r>
          </a:p>
          <a:p>
            <a:r>
              <a:t>APIM llm-content-safety policy: https://learn.microsoft.com/en-us/azure/api-management/llm-content-safety-policy</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"Token metrics, logs and cost allocation". Editable reconstruction of 34_emit-token-metrics.png (709 x 318 px). Verified: llm-emit-token-metric emits token counts with custom dimensions (for example client IP, API ID, user ID) to Application Insights; prompts, completions and token usage can be logged to Azure Monitor and Application Insights. Use identity-derived dimensions (app, agent, team) for allocation; avoid sensitive payloads in logs and agree retention.</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Editable reconstruction of 34_emit-token-metrics.png (709 x 318 px). Verified: llm-emit-token-metric emits token counts with custom dimensions (for example client IP, API ID, user ID) to Application Insights; prompts, completions and token usage can be logged to Azure Monitor and Application Insights. Use identity-derived dimensions (app, agent, team) for allocation; avoid sensitive payloads in logs and agree retention.</a:t>
            </a:r>
          </a:p>
          <a:p/>
          <a:p>
            <a:r>
              <a:t>Sources (checked 11 Oct 2026):</a:t>
            </a:r>
          </a:p>
          <a:p>
            <a:r>
              <a:t>https://github.com/upendra25312/AI-Foundry-GTM-offering-/blob/main/architectures/34_emit-token-metrics.png</a:t>
            </a:r>
          </a:p>
          <a:p>
            <a:r>
              <a:t>AI gateway capabilities in API Management: https://learn.microsoft.com/en-us/azure/api-management/genai-gateway-capabilities</a:t>
            </a:r>
          </a:p>
          <a:p>
            <a:r>
              <a:t>Azure Retail Prices API: Log Analytics, East US 2: https://prices.azure.com/api/retail/prices?$filter=serviceName eq 'Log Analytics' and armRegionName eq 'eastus2'</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how the finance team gets a per-team bill. The gateway counts tokens per caller, we price them, and shared platform cost is split by an agreed rule. Start with showback, a report without money moving, before any internal charging.</a:t>
            </a:r>
          </a:p>
          <a:p/>
          <a:p>
            <a:r>
              <a:t>Likely question: Is the token count exact?</a:t>
            </a:r>
          </a:p>
          <a:p>
            <a:r>
              <a:t>Answer: Close but not exact under streaming, where tokens are estimated. We reconcile monthly against the Azure invoice.</a:t>
            </a:r>
          </a:p>
          <a:p/>
          <a:p>
            <a:r>
              <a:t>DETAIL AND CAVEATS</a:t>
            </a:r>
          </a:p>
          <a:p>
            <a:r>
              <a:t>The llm-emit-token-metric policy emits prompt, completion and total tokens with custom dimensions (for example subscription, product, caller application and agent ID) to Application Insights. A scheduled query in Log Analytics joins token counts with the price table agreed by Finance (list or contract price). Shared platform cost (API Management units, logs, network) comes from Cost Management exports in FOCUS format and is split by token share or an agreed key. Showback first; chargeback only once allocation rules are approved by Finance. Allocation rules are a customer finance decision.</a:t>
            </a:r>
          </a:p>
          <a:p/>
          <a:p>
            <a:r>
              <a:t>Sources (checked 11 Oct 2026):</a:t>
            </a:r>
          </a:p>
          <a:p>
            <a:r>
              <a:t>AI gateway capabilities in API Management: https://learn.microsoft.com/en-us/azure/api-management/genai-gateway-capabilities</a:t>
            </a:r>
          </a:p>
          <a:p>
            <a:r>
              <a:t>Cost Management exports, including FOCUS format: https://learn.microsoft.com/en-us/azure/cost-management-billing/costs/tutorial-improved-exports</a:t>
            </a:r>
          </a:p>
          <a:p>
            <a:r>
              <a:t>APIM llm-token-limit policy: https://learn.microsoft.com/en-us/azure/api-management/llm-token-limit-policy</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Copilot Studio agents often call business systems. If those calls go through the gateway, they get the same identity, limits and logging as every other agent. The Power Platform team still owns Copilot Studio itself.</a:t>
            </a:r>
          </a:p>
          <a:p/>
          <a:p>
            <a:r>
              <a:t>Likely question: Does this cover Copilot Studio model usage?</a:t>
            </a:r>
          </a:p>
          <a:p>
            <a:r>
              <a:t>Answer: No. Its model calls are Microsoft-managed and billed in Copilot credits. We only govern the connector and tool calls.</a:t>
            </a:r>
          </a:p>
          <a:p/>
          <a:p>
            <a:r>
              <a:t>DETAIL AND CAVEATS</a:t>
            </a:r>
          </a:p>
          <a:p>
            <a:r>
              <a:t>API Management APIs can be exported to Power Platform as custom connectors, so Copilot Studio agents call back-end tools through the gateway with its identity, limits and logging. Copilot Studio's own model calls are Microsoft-managed and do not pass through the customer gateway; only connector and tool calls do. Bring-your-own-model options through Foundry should be checked per tenant. Power Platform administration (environments, DLP policies) stays with the Power Platform team. Microsoft 365 Copilot is owned by the Cognizant M365 and D365 teams.</a:t>
            </a:r>
          </a:p>
          <a:p/>
          <a:p>
            <a:r>
              <a:t>Sources (checked 11 Oct 2026):</a:t>
            </a:r>
          </a:p>
          <a:p>
            <a:r>
              <a:t>AI gateway capabilities in API Management: https://learn.microsoft.com/en-us/azure/api-management/genai-gateway-capabilities</a:t>
            </a:r>
          </a:p>
          <a:p>
            <a:r>
              <a:t>Microsoft Copilot Studio licensing guidance (Microsoft Licensing): https://www.microsoft.com/licensing/guidance/Microsoft-Copilot-Studio</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239e75cfd1cc4abc"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abd07ab5f78149a7"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d9302c84203c48ad"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634241bc85ae4c7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f861045e69b14e70"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a7b814c8ca3840f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298d15c1849d417c" Type="http://schemas.openxmlformats.org/officeDocument/2006/relationships/image" Target="../media/image.png"/><Relationship Id="Rf2add38ed2ce453b"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2158411d075f466d" Type="http://schemas.openxmlformats.org/officeDocument/2006/relationships/image" Target="../media/image2.png"/><Relationship Id="R2c766725c11e4ac9"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46f2492711884366" Type="http://schemas.openxmlformats.org/officeDocument/2006/relationships/slideMaster" Target="../slideMasters/slideMaster4.xml"/><Relationship Id="Rf12105039f804078"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82f16bd3225744a2" Type="http://schemas.openxmlformats.org/officeDocument/2006/relationships/image" Target="../media/image4.png"/><Relationship Id="Rf8347490cbfa44f8"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88d60132230f4421" Type="http://schemas.openxmlformats.org/officeDocument/2006/relationships/slideMaster" Target="../slideMasters/slideMaster2.xml"/><Relationship Id="Rf1de68665da24603"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33882fa3e3694f86" Type="http://schemas.openxmlformats.org/officeDocument/2006/relationships/slideMaster" Target="../slideMasters/slideMaster2.xml"/><Relationship Id="R681a98542d40472f"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53c158dd22bd4552" Type="http://schemas.openxmlformats.org/officeDocument/2006/relationships/image" Target="../media/image7.png"/><Relationship Id="Radb767df053a44bf"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3f1fb268c94e499b" Type="http://schemas.openxmlformats.org/officeDocument/2006/relationships/slideMaster" Target="../slideMasters/slideMaster2.xml"/><Relationship Id="Rbc17ee00ae7c4253" Type="http://schemas.openxmlformats.org/officeDocument/2006/relationships/image" Target="../media/image8.png"/></Relationships>
</file>

<file path=ppt/slideLayouts/_rels/slideLayout15.xml.rels><?xml version='1.0' encoding='UTF-8' standalone='yes'?>
<Relationships xmlns="http://schemas.openxmlformats.org/package/2006/relationships"><Relationship Id="R2a4dc73f52214ef5" Type="http://schemas.openxmlformats.org/officeDocument/2006/relationships/slideMaster" Target="../slideMasters/slideMaster2.xml"/><Relationship Id="Rfd22619079854251" Type="http://schemas.openxmlformats.org/officeDocument/2006/relationships/image" Target="../media/image9.png"/></Relationships>
</file>

<file path=ppt/slideLayouts/_rels/slideLayout16.xml.rels><?xml version='1.0' encoding='UTF-8' standalone='yes'?>
<Relationships xmlns="http://schemas.openxmlformats.org/package/2006/relationships"><Relationship Id="R96ee4aaf91124207" Type="http://schemas.openxmlformats.org/officeDocument/2006/relationships/image" Target="../media/image10.png"/><Relationship Id="Ra2224d11fb44409e" Type="http://schemas.openxmlformats.org/officeDocument/2006/relationships/slideMaster" Target="../slideMasters/slideMaster3.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B3C62BE-6266-4FD7-A134-B94FB4390B5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2FB86A6-41C3-4C5B-A646-A13982E6EB4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69C775D-47F2-48A9-8A22-0C2377E85A6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5C8EC57-8628-4F66-8C10-9FBC9A7441D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C3CC55F-B37A-4AA3-86A4-40BE777C9FB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DFE6414-6D1A-4BA5-A89E-40924220802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5021ED1-1B7C-41CB-9EA7-75E534190F4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56D015F-3F62-4C89-AE20-108E397F67F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6EA3482-BC64-4792-A439-94F33F45036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E84684B-9BE8-449B-99FE-62DBE50807D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7.xml><?xml version="1.0" encoding="utf-8"?>
<p:sldLayout xmlns:p="http://schemas.openxmlformats.org/presentationml/2006/main">
  <p:cSld name="01 Cover">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C3CAC20D-6B8E-4E11-84C7-B8C6C8C13467}"/>
              </a:ext>
            </a:extLst>
          </p:cNvPr>
          <p:cNvPicPr>
            <a:picLocks xmlns:a="http://schemas.openxmlformats.org/drawingml/2006/main" noChangeAspect="1"/>
          </p:cNvPicPr>
          <p:nvPr/>
        </p:nvPicPr>
        <p:blipFill>
          <a:blip xmlns:r="http://schemas.openxmlformats.org/officeDocument/2006/relationships" xmlns:a="http://schemas.openxmlformats.org/drawingml/2006/main" r:embed="R298d15c1849d417c"/>
          <a:stretch xmlns:a="http://schemas.openxmlformats.org/drawingml/2006/main"/>
        </p:blipFill>
        <p:spPr>
          <a:xfrm xmlns:a="http://schemas.openxmlformats.org/drawingml/2006/main">
            <a:off x="687813" y="552450"/>
            <a:ext cx="2567724"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AC9D4263-9EE3-4FAD-8E35-B98A0454EE69}"/>
              </a:ext>
            </a:extLst>
          </p:cNvPr>
          <p:cNvSpPr>
            <a:spLocks xmlns:a="http://schemas.openxmlformats.org/drawingml/2006/main" noGrp="1"/>
          </p:cNvSpPr>
          <p:nvPr>
            <p:ph type="title" idx="0"/>
          </p:nvPr>
        </p:nvSpPr>
        <p:spPr>
          <a:xfrm xmlns:a="http://schemas.openxmlformats.org/drawingml/2006/main">
            <a:off x="685800" y="2143125"/>
            <a:ext cx="10572750" cy="1571625"/>
          </a:xfrm>
          <a:prstGeom xmlns:a="http://schemas.openxmlformats.org/drawingml/2006/main" prst="rect">
            <a:avLst/>
          </a:prstGeom>
        </p:spPr>
        <p:txBody>
          <a:bodyPr xmlns:a="http://schemas.openxmlformats.org/drawingml/2006/main"/>
          <a:lstStyle xmlns:a="http://schemas.openxmlformats.org/drawingml/2006/main">
            <a:defPPr>
              <a:defRPr sz="4800">
                <a:solidFill>
                  <a:schemeClr val="lt1"/>
                </a:solidFill>
              </a:defRPr>
            </a:defPPr>
          </a:lstStyle>
          <a:p xmlns:a="http://schemas.openxmlformats.org/drawingml/2006/main">
            <a:pPr>
              <a:defRPr sz="4800">
                <a:solidFill>
                  <a:schemeClr val="lt1"/>
                </a:solidFill>
              </a:defRPr>
            </a:pPr>
            <a:r>
              <a:rPr sz="4800">
                <a:solidFill>
                  <a:schemeClr val="lt1"/>
                </a:solidFill>
              </a:rPr>
              <a:t>[Slide title]</a:t>
            </a:r>
          </a:p>
        </p:txBody>
      </p:sp>
      <p:sp>
        <p:nvSpPr>
          <p:cNvPr id="3" name="placeholder_2">
            <a:extLst xmlns:a="http://schemas.openxmlformats.org/drawingml/2006/main">
              <a:ext uri="{FF2B5EF4-FFF2-40B4-BE49-F238E27FC236}">
                <a16:creationId xmlns:a16="http://schemas.microsoft.com/office/drawing/2014/main" id="{1115CABD-2ED3-4D69-8532-C5C8419DEDC6}"/>
              </a:ext>
            </a:extLst>
          </p:cNvPr>
          <p:cNvSpPr>
            <a:spLocks xmlns:a="http://schemas.openxmlformats.org/drawingml/2006/main" noGrp="1"/>
          </p:cNvSpPr>
          <p:nvPr>
            <p:ph type="subTitle" idx="1"/>
          </p:nvPr>
        </p:nvSpPr>
        <p:spPr>
          <a:xfrm xmlns:a="http://schemas.openxmlformats.org/drawingml/2006/main">
            <a:off x="685800" y="4000500"/>
            <a:ext cx="10477500" cy="809625"/>
          </a:xfrm>
          <a:prstGeom xmlns:a="http://schemas.openxmlformats.org/drawingml/2006/main" prst="rect">
            <a:avLst/>
          </a:prstGeom>
        </p:spPr>
        <p:txBody>
          <a:bodyPr xmlns:a="http://schemas.openxmlformats.org/drawingml/2006/main"/>
          <a:lstStyle xmlns:a="http://schemas.openxmlformats.org/drawingml/2006/main">
            <a:defPPr>
              <a:defRPr sz="2250">
                <a:solidFill>
                  <a:schemeClr val="accent3"/>
                </a:solidFill>
              </a:defRPr>
            </a:defPPr>
          </a:lstStyle>
          <a:p xmlns:a="http://schemas.openxmlformats.org/drawingml/2006/main">
            <a:pPr>
              <a:defRPr sz="2250">
                <a:solidFill>
                  <a:schemeClr val="accent3"/>
                </a:solidFill>
              </a:defRPr>
            </a:pPr>
            <a:r>
              <a:rPr sz="2250">
                <a:solidFill>
                  <a:schemeClr val="accent3"/>
                </a:solidFill>
              </a:rPr>
              <a:t>[Replace with content]</a:t>
            </a:r>
          </a:p>
        </p:txBody>
      </p:sp>
      <p:sp>
        <p:nvSpPr>
          <p:cNvPr id="4" name="placeholder_3">
            <a:extLst xmlns:a="http://schemas.openxmlformats.org/drawingml/2006/main">
              <a:ext uri="{FF2B5EF4-FFF2-40B4-BE49-F238E27FC236}">
                <a16:creationId xmlns:a16="http://schemas.microsoft.com/office/drawing/2014/main" id="{6EAB9A1B-F3BD-4075-A0CF-2C38B41B854B}"/>
              </a:ext>
            </a:extLst>
          </p:cNvPr>
          <p:cNvSpPr>
            <a:spLocks xmlns:a="http://schemas.openxmlformats.org/drawingml/2006/main" noGrp="1"/>
          </p:cNvSpPr>
          <p:nvPr>
            <p:ph type="body" idx="2"/>
          </p:nvPr>
        </p:nvSpPr>
        <p:spPr>
          <a:xfrm xmlns:a="http://schemas.openxmlformats.org/drawingml/2006/main">
            <a:off x="685800" y="5619750"/>
            <a:ext cx="10477500" cy="428625"/>
          </a:xfrm>
          <a:prstGeom xmlns:a="http://schemas.openxmlformats.org/drawingml/2006/main" prst="rect">
            <a:avLst/>
          </a:prstGeom>
        </p:spPr>
        <p:txBody>
          <a:bodyPr xmlns:a="http://schemas.openxmlformats.org/drawingml/2006/main"/>
          <a:lstStyle xmlns:a="http://schemas.openxmlformats.org/drawingml/2006/main">
            <a:defPPr>
              <a:defRPr sz="1650">
                <a:solidFill>
                  <a:schemeClr val="lt1"/>
                </a:solidFill>
              </a:defRPr>
            </a:defPPr>
          </a:lstStyle>
          <a:p xmlns:a="http://schemas.openxmlformats.org/drawingml/2006/main">
            <a:pPr>
              <a:defRPr sz="1650">
                <a:solidFill>
                  <a:schemeClr val="lt1"/>
                </a:solidFill>
              </a:defRPr>
            </a:pPr>
            <a:r>
              <a:rPr sz="1650">
                <a:solidFill>
                  <a:schemeClr val="lt1"/>
                </a:solidFill>
              </a:rPr>
              <a:t>[Replace with content]</a:t>
            </a:r>
          </a:p>
        </p:txBody>
      </p:sp>
    </p:spTree>
  </p:cSld>
</p:sldLayout>
</file>

<file path=ppt/slideLayouts/slideLayout8.xml><?xml version="1.0" encoding="utf-8"?>
<p:sldLayout xmlns:p="http://schemas.openxmlformats.org/presentationml/2006/main">
  <p:cSld name="02 Title and Content">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7DB4555F-6ABF-4DE0-8B76-AD58059BD759}"/>
              </a:ext>
            </a:extLst>
          </p:cNvPr>
          <p:cNvPicPr>
            <a:picLocks xmlns:a="http://schemas.openxmlformats.org/drawingml/2006/main" noChangeAspect="1"/>
          </p:cNvPicPr>
          <p:nvPr/>
        </p:nvPicPr>
        <p:blipFill>
          <a:blip xmlns:r="http://schemas.openxmlformats.org/officeDocument/2006/relationships" xmlns:a="http://schemas.openxmlformats.org/drawingml/2006/main" r:embed="R2158411d075f466d"/>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F642780-5767-4422-A542-3310DC827E43}"/>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C4AA11AF-3988-4E59-B3EC-36105FD3A00E}"/>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50F4AE85-0251-4AA0-B4DE-399139D72B29}"/>
              </a:ext>
            </a:extLst>
          </p:cNvPr>
          <p:cNvSpPr>
            <a:spLocks xmlns:a="http://schemas.openxmlformats.org/drawingml/2006/main" noGrp="1"/>
          </p:cNvSpPr>
          <p:nvPr>
            <p:ph type="body" idx="1"/>
          </p:nvPr>
        </p:nvSpPr>
        <p:spPr>
          <a:xfrm xmlns:a="http://schemas.openxmlformats.org/drawingml/2006/main">
            <a:off x="685800" y="2095500"/>
            <a:ext cx="10820400" cy="3571875"/>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9.xml><?xml version="1.0" encoding="utf-8"?>
<p:sldLayout xmlns:p="http://schemas.openxmlformats.org/presentationml/2006/main">
  <p:cSld name="03 Section Divider">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68E9DC5D-4FF1-4D21-9CE6-A33830CEDB0C}"/>
              </a:ext>
            </a:extLst>
          </p:cNvPr>
          <p:cNvPicPr>
            <a:picLocks xmlns:a="http://schemas.openxmlformats.org/drawingml/2006/main" noChangeAspect="1"/>
          </p:cNvPicPr>
          <p:nvPr/>
        </p:nvPicPr>
        <p:blipFill>
          <a:blip xmlns:r="http://schemas.openxmlformats.org/officeDocument/2006/relationships" xmlns:a="http://schemas.openxmlformats.org/drawingml/2006/main" r:embed="Rf12105039f804078"/>
          <a:stretch xmlns:a="http://schemas.openxmlformats.org/drawingml/2006/main"/>
        </p:blipFill>
        <p:spPr>
          <a:xfrm xmlns:a="http://schemas.openxmlformats.org/drawingml/2006/main">
            <a:off x="686062" y="552450"/>
            <a:ext cx="2571227"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6BBB9219-B0FC-427D-90E8-1F67F5B5CDA3}"/>
              </a:ext>
            </a:extLst>
          </p:cNvPr>
          <p:cNvSpPr>
            <a:spLocks xmlns:a="http://schemas.openxmlformats.org/drawingml/2006/main" noGrp="1"/>
          </p:cNvSpPr>
          <p:nvPr>
            <p:ph type="title" idx="0"/>
          </p:nvPr>
        </p:nvSpPr>
        <p:spPr>
          <a:xfrm xmlns:a="http://schemas.openxmlformats.org/drawingml/2006/main">
            <a:off x="685800" y="2762250"/>
            <a:ext cx="10477500" cy="1143000"/>
          </a:xfrm>
          <a:prstGeom xmlns:a="http://schemas.openxmlformats.org/drawingml/2006/main" prst="rect">
            <a:avLst/>
          </a:prstGeom>
        </p:spPr>
        <p:txBody>
          <a:bodyPr xmlns:a="http://schemas.openxmlformats.org/drawingml/2006/main"/>
          <a:lstStyle xmlns:a="http://schemas.openxmlformats.org/drawingml/2006/main">
            <a:defPPr>
              <a:defRPr sz="4800">
                <a:solidFill>
                  <a:schemeClr val="tx1"/>
                </a:solidFill>
              </a:defRPr>
            </a:defPPr>
          </a:lstStyle>
          <a:p xmlns:a="http://schemas.openxmlformats.org/drawingml/2006/main">
            <a:pPr>
              <a:defRPr sz="4800">
                <a:solidFill>
                  <a:schemeClr val="tx1"/>
                </a:solidFill>
              </a:defRPr>
            </a:pPr>
            <a:r>
              <a:rPr sz="4800">
                <a:solidFill>
                  <a:schemeClr val="tx1"/>
                </a:solidFill>
              </a:rPr>
              <a:t>[Slide title]</a:t>
            </a:r>
          </a:p>
        </p:txBody>
      </p:sp>
      <p:sp>
        <p:nvSpPr>
          <p:cNvPr id="3" name="placeholder_2">
            <a:extLst xmlns:a="http://schemas.openxmlformats.org/drawingml/2006/main">
              <a:ext uri="{FF2B5EF4-FFF2-40B4-BE49-F238E27FC236}">
                <a16:creationId xmlns:a16="http://schemas.microsoft.com/office/drawing/2014/main" id="{6194A791-D7D0-46D9-B4BD-E57324440CA5}"/>
              </a:ext>
            </a:extLst>
          </p:cNvPr>
          <p:cNvSpPr>
            <a:spLocks xmlns:a="http://schemas.openxmlformats.org/drawingml/2006/main" noGrp="1"/>
          </p:cNvSpPr>
          <p:nvPr>
            <p:ph type="body" idx="1"/>
          </p:nvPr>
        </p:nvSpPr>
        <p:spPr>
          <a:xfrm xmlns:a="http://schemas.openxmlformats.org/drawingml/2006/main">
            <a:off x="685800" y="4191000"/>
            <a:ext cx="9525000" cy="685800"/>
          </a:xfrm>
          <a:prstGeom xmlns:a="http://schemas.openxmlformats.org/drawingml/2006/main" prst="rect">
            <a:avLst/>
          </a:prstGeom>
        </p:spPr>
        <p:txBody>
          <a:bodyPr xmlns:a="http://schemas.openxmlformats.org/drawingml/2006/main"/>
          <a:lstStyle xmlns:a="http://schemas.openxmlformats.org/drawingml/2006/main">
            <a:defPPr>
              <a:defRPr sz="2250">
                <a:solidFill>
                  <a:schemeClr val="tx1"/>
                </a:solidFill>
              </a:defRPr>
            </a:defPPr>
          </a:lstStyle>
          <a:p xmlns:a="http://schemas.openxmlformats.org/drawingml/2006/main">
            <a:pPr>
              <a:defRPr sz="2250">
                <a:solidFill>
                  <a:schemeClr val="tx1"/>
                </a:solidFill>
              </a:defRPr>
            </a:pPr>
            <a:r>
              <a:rPr sz="2250">
                <a:solidFill>
                  <a:schemeClr val="tx1"/>
                </a:solidFill>
              </a:rPr>
              <a:t>[Replace with content]</a:t>
            </a:r>
          </a:p>
        </p:txBody>
      </p:sp>
    </p:spTree>
  </p:cSld>
</p:sldLayout>
</file>

<file path=ppt/slideLayouts/slideLayout10.xml><?xml version="1.0" encoding="utf-8"?>
<p:sldLayout xmlns:p="http://schemas.openxmlformats.org/presentationml/2006/main">
  <p:cSld name="04 Executive Summary">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7C157043-2B4E-4380-8B24-BADBD1C95106}"/>
              </a:ext>
            </a:extLst>
          </p:cNvPr>
          <p:cNvPicPr>
            <a:picLocks xmlns:a="http://schemas.openxmlformats.org/drawingml/2006/main" noChangeAspect="1"/>
          </p:cNvPicPr>
          <p:nvPr/>
        </p:nvPicPr>
        <p:blipFill>
          <a:blip xmlns:r="http://schemas.openxmlformats.org/officeDocument/2006/relationships" xmlns:a="http://schemas.openxmlformats.org/drawingml/2006/main" r:embed="R82f16bd3225744a2"/>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1F3C092-75B5-48CC-A68D-B133B32D1FC6}"/>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D43F1ED2-FF18-4A8B-9671-FC9A1875CD44}"/>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87448854-A198-49EC-AEF3-2CB49FFA215B}"/>
              </a:ext>
            </a:extLst>
          </p:cNvPr>
          <p:cNvSpPr>
            <a:spLocks xmlns:a="http://schemas.openxmlformats.org/drawingml/2006/main" noGrp="1"/>
          </p:cNvSpPr>
          <p:nvPr>
            <p:ph type="body" idx="1"/>
          </p:nvPr>
        </p:nvSpPr>
        <p:spPr>
          <a:xfrm xmlns:a="http://schemas.openxmlformats.org/drawingml/2006/main">
            <a:off x="685800" y="2095500"/>
            <a:ext cx="10477500" cy="1238250"/>
          </a:xfrm>
          <a:prstGeom xmlns:a="http://schemas.openxmlformats.org/drawingml/2006/main" prst="rect">
            <a:avLst/>
          </a:prstGeom>
        </p:spPr>
        <p:txBody>
          <a:bodyPr xmlns:a="http://schemas.openxmlformats.org/drawingml/2006/main"/>
          <a:lstStyle xmlns:a="http://schemas.openxmlformats.org/drawingml/2006/main">
            <a:defPPr>
              <a:defRPr sz="2625">
                <a:solidFill>
                  <a:schemeClr val="accent2"/>
                </a:solidFill>
              </a:defRPr>
            </a:defPPr>
          </a:lstStyle>
          <a:p xmlns:a="http://schemas.openxmlformats.org/drawingml/2006/main">
            <a:pPr>
              <a:defRPr sz="2625">
                <a:solidFill>
                  <a:schemeClr val="accent2"/>
                </a:solidFill>
              </a:defRPr>
            </a:pPr>
            <a:r>
              <a:rPr sz="2625">
                <a:solidFill>
                  <a:schemeClr val="accent2"/>
                </a:solidFill>
              </a:rPr>
              <a:t>[Replace with content]</a:t>
            </a:r>
          </a:p>
        </p:txBody>
      </p:sp>
      <p:sp>
        <p:nvSpPr>
          <p:cNvPr id="5" name="placeholder_3">
            <a:extLst xmlns:a="http://schemas.openxmlformats.org/drawingml/2006/main">
              <a:ext uri="{FF2B5EF4-FFF2-40B4-BE49-F238E27FC236}">
                <a16:creationId xmlns:a16="http://schemas.microsoft.com/office/drawing/2014/main" id="{5AFC5D61-FDBE-4993-890E-B5779AB85DFA}"/>
              </a:ext>
            </a:extLst>
          </p:cNvPr>
          <p:cNvSpPr>
            <a:spLocks xmlns:a="http://schemas.openxmlformats.org/drawingml/2006/main" noGrp="1"/>
          </p:cNvSpPr>
          <p:nvPr>
            <p:ph type="body" idx="2"/>
          </p:nvPr>
        </p:nvSpPr>
        <p:spPr>
          <a:xfrm xmlns:a="http://schemas.openxmlformats.org/drawingml/2006/main">
            <a:off x="685800" y="3714750"/>
            <a:ext cx="10477500" cy="2047875"/>
          </a:xfrm>
          <a:prstGeom xmlns:a="http://schemas.openxmlformats.org/drawingml/2006/main" prst="rect">
            <a:avLst/>
          </a:prstGeom>
        </p:spPr>
        <p:txBody>
          <a:bodyPr xmlns:a="http://schemas.openxmlformats.org/drawingml/2006/main"/>
          <a:lstStyle xmlns:a="http://schemas.openxmlformats.org/drawingml/2006/main">
            <a:defPPr>
              <a:defRPr sz="2025">
                <a:solidFill>
                  <a:schemeClr val="tx1"/>
                </a:solidFill>
              </a:defRPr>
            </a:defPPr>
          </a:lstStyle>
          <a:p xmlns:a="http://schemas.openxmlformats.org/drawingml/2006/main">
            <a:pPr>
              <a:defRPr sz="2025">
                <a:solidFill>
                  <a:schemeClr val="tx1"/>
                </a:solidFill>
              </a:defRPr>
            </a:pPr>
            <a:r>
              <a:rPr sz="2025">
                <a:solidFill>
                  <a:schemeClr val="tx1"/>
                </a:solidFill>
              </a:rPr>
              <a:t>[Replace with content]</a:t>
            </a:r>
          </a:p>
        </p:txBody>
      </p:sp>
    </p:spTree>
  </p:cSld>
</p:sldLayout>
</file>

<file path=ppt/slideLayouts/slideLayout11.xml><?xml version="1.0" encoding="utf-8"?>
<p:sldLayout xmlns:p="http://schemas.openxmlformats.org/presentationml/2006/main">
  <p:cSld name="05 Two Columns">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2DB1B49B-903B-4763-A3F8-6316D93763B5}"/>
              </a:ext>
            </a:extLst>
          </p:cNvPr>
          <p:cNvPicPr>
            <a:picLocks xmlns:a="http://schemas.openxmlformats.org/drawingml/2006/main" noChangeAspect="1"/>
          </p:cNvPicPr>
          <p:nvPr/>
        </p:nvPicPr>
        <p:blipFill>
          <a:blip xmlns:r="http://schemas.openxmlformats.org/officeDocument/2006/relationships" xmlns:a="http://schemas.openxmlformats.org/drawingml/2006/main" r:embed="Rf1de68665da24603"/>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A2D1C1C-5B3E-4259-A507-FECD18598B2D}"/>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E94997F6-7BDC-4B75-A696-863F16765654}"/>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AE972CE9-7232-4DFC-9BEF-C755827B3904}"/>
              </a:ext>
            </a:extLst>
          </p:cNvPr>
          <p:cNvSpPr>
            <a:spLocks xmlns:a="http://schemas.openxmlformats.org/drawingml/2006/main" noGrp="1"/>
          </p:cNvSpPr>
          <p:nvPr>
            <p:ph type="body" idx="1"/>
          </p:nvPr>
        </p:nvSpPr>
        <p:spPr>
          <a:xfrm xmlns:a="http://schemas.openxmlformats.org/drawingml/2006/main">
            <a:off x="685800" y="2047875"/>
            <a:ext cx="5067300" cy="33337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
        <p:nvSpPr>
          <p:cNvPr id="5" name="placeholder_3">
            <a:extLst xmlns:a="http://schemas.openxmlformats.org/drawingml/2006/main">
              <a:ext uri="{FF2B5EF4-FFF2-40B4-BE49-F238E27FC236}">
                <a16:creationId xmlns:a16="http://schemas.microsoft.com/office/drawing/2014/main" id="{6629F83F-72FA-48E8-BC8E-75C189A05B13}"/>
              </a:ext>
            </a:extLst>
          </p:cNvPr>
          <p:cNvSpPr>
            <a:spLocks xmlns:a="http://schemas.openxmlformats.org/drawingml/2006/main" noGrp="1"/>
          </p:cNvSpPr>
          <p:nvPr>
            <p:ph type="body" idx="2"/>
          </p:nvPr>
        </p:nvSpPr>
        <p:spPr>
          <a:xfrm xmlns:a="http://schemas.openxmlformats.org/drawingml/2006/main">
            <a:off x="6438900" y="2047875"/>
            <a:ext cx="5067300" cy="33337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12.xml><?xml version="1.0" encoding="utf-8"?>
<p:sldLayout xmlns:p="http://schemas.openxmlformats.org/presentationml/2006/main">
  <p:cSld name="06 Offerin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504C124D-6B65-4C2D-8A37-252B07A30132}"/>
              </a:ext>
            </a:extLst>
          </p:cNvPr>
          <p:cNvPicPr>
            <a:picLocks xmlns:a="http://schemas.openxmlformats.org/drawingml/2006/main" noChangeAspect="1"/>
          </p:cNvPicPr>
          <p:nvPr/>
        </p:nvPicPr>
        <p:blipFill>
          <a:blip xmlns:r="http://schemas.openxmlformats.org/officeDocument/2006/relationships" xmlns:a="http://schemas.openxmlformats.org/drawingml/2006/main" r:embed="R681a98542d40472f"/>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40B2F35-9AEC-43A2-BE69-C18C8CEAA2D1}"/>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1F0AEFED-FFDD-47A7-AEA7-26363156A979}"/>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8D0AC503-9F9D-4ED3-B877-E6363B792BB5}"/>
              </a:ext>
            </a:extLst>
          </p:cNvPr>
          <p:cNvSpPr>
            <a:spLocks xmlns:a="http://schemas.openxmlformats.org/drawingml/2006/main" noGrp="1"/>
          </p:cNvSpPr>
          <p:nvPr>
            <p:ph type="body" idx="1"/>
          </p:nvPr>
        </p:nvSpPr>
        <p:spPr>
          <a:xfrm xmlns:a="http://schemas.openxmlformats.org/drawingml/2006/main">
            <a:off x="685800" y="2047875"/>
            <a:ext cx="5238750" cy="35242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
        <p:nvSpPr>
          <p:cNvPr id="5" name="placeholder_3">
            <a:extLst xmlns:a="http://schemas.openxmlformats.org/drawingml/2006/main">
              <a:ext uri="{FF2B5EF4-FFF2-40B4-BE49-F238E27FC236}">
                <a16:creationId xmlns:a16="http://schemas.microsoft.com/office/drawing/2014/main" id="{1AACCEF8-AFA9-4736-B70E-4537D3E3CB6C}"/>
              </a:ext>
            </a:extLst>
          </p:cNvPr>
          <p:cNvSpPr>
            <a:spLocks xmlns:a="http://schemas.openxmlformats.org/drawingml/2006/main" noGrp="1"/>
          </p:cNvSpPr>
          <p:nvPr>
            <p:ph type="body" idx="2"/>
          </p:nvPr>
        </p:nvSpPr>
        <p:spPr>
          <a:xfrm xmlns:a="http://schemas.openxmlformats.org/drawingml/2006/main">
            <a:off x="6762750" y="2047875"/>
            <a:ext cx="4743450" cy="35242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13.xml><?xml version="1.0" encoding="utf-8"?>
<p:sldLayout xmlns:p="http://schemas.openxmlformats.org/presentationml/2006/main">
  <p:cSld name="07 Architecture">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91669C74-9630-4765-8276-43DA682C4B6A}"/>
              </a:ext>
            </a:extLst>
          </p:cNvPr>
          <p:cNvPicPr>
            <a:picLocks xmlns:a="http://schemas.openxmlformats.org/drawingml/2006/main" noChangeAspect="1"/>
          </p:cNvPicPr>
          <p:nvPr/>
        </p:nvPicPr>
        <p:blipFill>
          <a:blip xmlns:r="http://schemas.openxmlformats.org/officeDocument/2006/relationships" xmlns:a="http://schemas.openxmlformats.org/drawingml/2006/main" r:embed="R53c158dd22bd4552"/>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00B7F6B-71B3-44A7-9E33-5E9A576EC207}"/>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EA8E1A4E-26A5-4B3C-8BC2-019693C1AE16}"/>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D46CD490-AA7C-4C2B-9541-660D1985190B}"/>
              </a:ext>
            </a:extLst>
          </p:cNvPr>
          <p:cNvSpPr>
            <a:spLocks xmlns:a="http://schemas.openxmlformats.org/drawingml/2006/main" noGrp="1"/>
          </p:cNvSpPr>
          <p:nvPr>
            <p:ph type="body" idx="1"/>
          </p:nvPr>
        </p:nvSpPr>
        <p:spPr>
          <a:xfrm xmlns:a="http://schemas.openxmlformats.org/drawingml/2006/main">
            <a:off x="685800" y="2000250"/>
            <a:ext cx="7429500" cy="3714750"/>
          </a:xfrm>
          <a:prstGeom xmlns:a="http://schemas.openxmlformats.org/drawingml/2006/main" prst="rect">
            <a:avLst/>
          </a:prstGeom>
        </p:spPr>
        <p:txBody>
          <a:bodyPr xmlns:a="http://schemas.openxmlformats.org/drawingml/2006/main"/>
          <a:lstStyle xmlns:a="http://schemas.openxmlformats.org/drawingml/2006/main">
            <a:defPPr>
              <a:defRPr sz="2400">
                <a:solidFill>
                  <a:schemeClr val="accent2"/>
                </a:solidFill>
              </a:defRPr>
            </a:defPPr>
          </a:lstStyle>
          <a:p xmlns:a="http://schemas.openxmlformats.org/drawingml/2006/main">
            <a:pPr>
              <a:defRPr sz="2400">
                <a:solidFill>
                  <a:schemeClr val="accent2"/>
                </a:solidFill>
              </a:defRPr>
            </a:pPr>
            <a:r>
              <a:rPr sz="2400">
                <a:solidFill>
                  <a:schemeClr val="accent2"/>
                </a:solidFill>
              </a:rPr>
              <a:t>[Replace with content]</a:t>
            </a:r>
          </a:p>
        </p:txBody>
      </p:sp>
      <p:sp>
        <p:nvSpPr>
          <p:cNvPr id="5" name="placeholder_3">
            <a:extLst xmlns:a="http://schemas.openxmlformats.org/drawingml/2006/main">
              <a:ext uri="{FF2B5EF4-FFF2-40B4-BE49-F238E27FC236}">
                <a16:creationId xmlns:a16="http://schemas.microsoft.com/office/drawing/2014/main" id="{35F0A514-67DC-4714-94F9-E5A638797CFB}"/>
              </a:ext>
            </a:extLst>
          </p:cNvPr>
          <p:cNvSpPr>
            <a:spLocks xmlns:a="http://schemas.openxmlformats.org/drawingml/2006/main" noGrp="1"/>
          </p:cNvSpPr>
          <p:nvPr>
            <p:ph type="body" idx="2"/>
          </p:nvPr>
        </p:nvSpPr>
        <p:spPr>
          <a:xfrm xmlns:a="http://schemas.openxmlformats.org/drawingml/2006/main">
            <a:off x="8801100" y="2000250"/>
            <a:ext cx="2705100" cy="3714750"/>
          </a:xfrm>
          <a:prstGeom xmlns:a="http://schemas.openxmlformats.org/drawingml/2006/main" prst="rect">
            <a:avLst/>
          </a:prstGeom>
        </p:spPr>
        <p:txBody>
          <a:bodyPr xmlns:a="http://schemas.openxmlformats.org/drawingml/2006/main"/>
          <a:lstStyle xmlns:a="http://schemas.openxmlformats.org/drawingml/2006/main">
            <a:defPPr>
              <a:defRPr sz="1800">
                <a:solidFill>
                  <a:schemeClr val="tx1"/>
                </a:solidFill>
              </a:defRPr>
            </a:defPPr>
          </a:lstStyle>
          <a:p xmlns:a="http://schemas.openxmlformats.org/drawingml/2006/main">
            <a:pPr>
              <a:defRPr sz="1800">
                <a:solidFill>
                  <a:schemeClr val="tx1"/>
                </a:solidFill>
              </a:defRPr>
            </a:pPr>
            <a:r>
              <a:rPr sz="1800">
                <a:solidFill>
                  <a:schemeClr val="tx1"/>
                </a:solidFill>
              </a:rPr>
              <a:t>[Replace with content]</a:t>
            </a:r>
          </a:p>
        </p:txBody>
      </p:sp>
    </p:spTree>
  </p:cSld>
</p:sldLayout>
</file>

<file path=ppt/slideLayouts/slideLayout14.xml><?xml version="1.0" encoding="utf-8"?>
<p:sldLayout xmlns:p="http://schemas.openxmlformats.org/presentationml/2006/main">
  <p:cSld name="08 Table">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6411616A-2AFD-4DC5-B643-38947C98981E}"/>
              </a:ext>
            </a:extLst>
          </p:cNvPr>
          <p:cNvPicPr>
            <a:picLocks xmlns:a="http://schemas.openxmlformats.org/drawingml/2006/main" noChangeAspect="1"/>
          </p:cNvPicPr>
          <p:nvPr/>
        </p:nvPicPr>
        <p:blipFill>
          <a:blip xmlns:r="http://schemas.openxmlformats.org/officeDocument/2006/relationships" xmlns:a="http://schemas.openxmlformats.org/drawingml/2006/main" r:embed="Rbc17ee00ae7c4253"/>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F9603B6-CCD9-4B49-8195-384AD2982ABA}"/>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1B252EB8-8E76-44FB-811B-454EB0BCFC20}"/>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E65C2D53-E410-43F9-9B8B-322B84CB4F17}"/>
              </a:ext>
            </a:extLst>
          </p:cNvPr>
          <p:cNvSpPr>
            <a:spLocks xmlns:a="http://schemas.openxmlformats.org/drawingml/2006/main" noGrp="1"/>
          </p:cNvSpPr>
          <p:nvPr>
            <p:ph type="body" idx="1"/>
          </p:nvPr>
        </p:nvSpPr>
        <p:spPr>
          <a:xfrm xmlns:a="http://schemas.openxmlformats.org/drawingml/2006/main">
            <a:off x="685800" y="5648325"/>
            <a:ext cx="10820400" cy="523875"/>
          </a:xfrm>
          <a:prstGeom xmlns:a="http://schemas.openxmlformats.org/drawingml/2006/main" prst="rect">
            <a:avLst/>
          </a:prstGeom>
        </p:spPr>
        <p:txBody>
          <a:bodyPr xmlns:a="http://schemas.openxmlformats.org/drawingml/2006/main"/>
          <a:lstStyle xmlns:a="http://schemas.openxmlformats.org/drawingml/2006/main">
            <a:defPPr>
              <a:defRPr sz="1500">
                <a:solidFill>
                  <a:schemeClr val="tx2"/>
                </a:solidFill>
              </a:defRPr>
            </a:defPPr>
          </a:lstStyle>
          <a:p xmlns:a="http://schemas.openxmlformats.org/drawingml/2006/main">
            <a:pPr>
              <a:defRPr sz="1500">
                <a:solidFill>
                  <a:schemeClr val="tx2"/>
                </a:solidFill>
              </a:defRPr>
            </a:pPr>
            <a:r>
              <a:rPr sz="1500">
                <a:solidFill>
                  <a:schemeClr val="tx2"/>
                </a:solidFill>
              </a:rPr>
              <a:t>[Replace with content]</a:t>
            </a:r>
          </a:p>
        </p:txBody>
      </p:sp>
    </p:spTree>
  </p:cSld>
</p:sldLayout>
</file>

<file path=ppt/slideLayouts/slideLayout15.xml><?xml version="1.0" encoding="utf-8"?>
<p:sldLayout xmlns:p="http://schemas.openxmlformats.org/presentationml/2006/main">
  <p:cSld name="09 Delivery Plan">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97E1D151-E620-4600-8202-38F279D77B52}"/>
              </a:ext>
            </a:extLst>
          </p:cNvPr>
          <p:cNvPicPr>
            <a:picLocks xmlns:a="http://schemas.openxmlformats.org/drawingml/2006/main" noChangeAspect="1"/>
          </p:cNvPicPr>
          <p:nvPr/>
        </p:nvPicPr>
        <p:blipFill>
          <a:blip xmlns:r="http://schemas.openxmlformats.org/officeDocument/2006/relationships" xmlns:a="http://schemas.openxmlformats.org/drawingml/2006/main" r:embed="Rfd22619079854251"/>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E12C82A-37E1-4805-9D1D-8731180022D5}"/>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CD9D558D-C901-4558-84B8-EA6D0316CA4A}"/>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726972C0-DCFE-429F-AF12-8A55DB71DA59}"/>
              </a:ext>
            </a:extLst>
          </p:cNvPr>
          <p:cNvSpPr>
            <a:spLocks xmlns:a="http://schemas.openxmlformats.org/drawingml/2006/main" noGrp="1"/>
          </p:cNvSpPr>
          <p:nvPr>
            <p:ph type="body" idx="1"/>
          </p:nvPr>
        </p:nvSpPr>
        <p:spPr>
          <a:xfrm xmlns:a="http://schemas.openxmlformats.org/drawingml/2006/main">
            <a:off x="685800" y="5676900"/>
            <a:ext cx="10820400" cy="457200"/>
          </a:xfrm>
          <a:prstGeom xmlns:a="http://schemas.openxmlformats.org/drawingml/2006/main" prst="rect">
            <a:avLst/>
          </a:prstGeom>
        </p:spPr>
        <p:txBody>
          <a:bodyPr xmlns:a="http://schemas.openxmlformats.org/drawingml/2006/main"/>
          <a:lstStyle xmlns:a="http://schemas.openxmlformats.org/drawingml/2006/main">
            <a:defPPr>
              <a:defRPr sz="1500">
                <a:solidFill>
                  <a:schemeClr val="tx2"/>
                </a:solidFill>
              </a:defRPr>
            </a:defPPr>
          </a:lstStyle>
          <a:p xmlns:a="http://schemas.openxmlformats.org/drawingml/2006/main">
            <a:pPr>
              <a:defRPr sz="1500">
                <a:solidFill>
                  <a:schemeClr val="tx2"/>
                </a:solidFill>
              </a:defRPr>
            </a:pPr>
            <a:r>
              <a:rPr sz="1500">
                <a:solidFill>
                  <a:schemeClr val="tx2"/>
                </a:solidFill>
              </a:rPr>
              <a:t>[Replace with content]</a:t>
            </a:r>
          </a:p>
        </p:txBody>
      </p:sp>
    </p:spTree>
  </p:cSld>
</p:sldLayout>
</file>

<file path=ppt/slideLayouts/slideLayout16.xml><?xml version="1.0" encoding="utf-8"?>
<p:sldLayout xmlns:p="http://schemas.openxmlformats.org/presentationml/2006/main">
  <p:cSld name="10 Closin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8481816C-04DC-4E5C-838B-663FCE8F6172}"/>
              </a:ext>
            </a:extLst>
          </p:cNvPr>
          <p:cNvPicPr>
            <a:picLocks xmlns:a="http://schemas.openxmlformats.org/drawingml/2006/main" noChangeAspect="1"/>
          </p:cNvPicPr>
          <p:nvPr/>
        </p:nvPicPr>
        <p:blipFill>
          <a:blip xmlns:r="http://schemas.openxmlformats.org/officeDocument/2006/relationships" xmlns:a="http://schemas.openxmlformats.org/drawingml/2006/main" r:embed="R96ee4aaf91124207"/>
          <a:stretch xmlns:a="http://schemas.openxmlformats.org/drawingml/2006/main"/>
        </p:blipFill>
        <p:spPr>
          <a:xfrm xmlns:a="http://schemas.openxmlformats.org/drawingml/2006/main">
            <a:off x="687813" y="552450"/>
            <a:ext cx="2567724"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4C4BFDA8-6E4E-40CE-AA3A-4D2DD5416920}"/>
              </a:ext>
            </a:extLst>
          </p:cNvPr>
          <p:cNvSpPr>
            <a:spLocks xmlns:a="http://schemas.openxmlformats.org/drawingml/2006/main" noGrp="1"/>
          </p:cNvSpPr>
          <p:nvPr>
            <p:ph type="title" idx="0"/>
          </p:nvPr>
        </p:nvSpPr>
        <p:spPr>
          <a:xfrm xmlns:a="http://schemas.openxmlformats.org/drawingml/2006/main">
            <a:off x="685800" y="2238375"/>
            <a:ext cx="10477500" cy="1143000"/>
          </a:xfrm>
          <a:prstGeom xmlns:a="http://schemas.openxmlformats.org/drawingml/2006/main" prst="rect">
            <a:avLst/>
          </a:prstGeom>
        </p:spPr>
        <p:txBody>
          <a:bodyPr xmlns:a="http://schemas.openxmlformats.org/drawingml/2006/main"/>
          <a:lstStyle xmlns:a="http://schemas.openxmlformats.org/drawingml/2006/main">
            <a:defPPr>
              <a:defRPr sz="4800">
                <a:solidFill>
                  <a:schemeClr val="lt1"/>
                </a:solidFill>
              </a:defRPr>
            </a:defPPr>
          </a:lstStyle>
          <a:p xmlns:a="http://schemas.openxmlformats.org/drawingml/2006/main">
            <a:pPr>
              <a:defRPr sz="4800">
                <a:solidFill>
                  <a:schemeClr val="lt1"/>
                </a:solidFill>
              </a:defRPr>
            </a:pPr>
            <a:r>
              <a:rPr sz="4800">
                <a:solidFill>
                  <a:schemeClr val="lt1"/>
                </a:solidFill>
              </a:rPr>
              <a:t>[Slide title]</a:t>
            </a:r>
          </a:p>
        </p:txBody>
      </p:sp>
      <p:sp>
        <p:nvSpPr>
          <p:cNvPr id="3" name="placeholder_2">
            <a:extLst xmlns:a="http://schemas.openxmlformats.org/drawingml/2006/main">
              <a:ext uri="{FF2B5EF4-FFF2-40B4-BE49-F238E27FC236}">
                <a16:creationId xmlns:a16="http://schemas.microsoft.com/office/drawing/2014/main" id="{A4389B62-D467-4DBA-92F0-2B6671280FBD}"/>
              </a:ext>
            </a:extLst>
          </p:cNvPr>
          <p:cNvSpPr>
            <a:spLocks xmlns:a="http://schemas.openxmlformats.org/drawingml/2006/main" noGrp="1"/>
          </p:cNvSpPr>
          <p:nvPr>
            <p:ph type="body" idx="1"/>
          </p:nvPr>
        </p:nvSpPr>
        <p:spPr>
          <a:xfrm xmlns:a="http://schemas.openxmlformats.org/drawingml/2006/main">
            <a:off x="685800" y="3876675"/>
            <a:ext cx="10477500" cy="1000125"/>
          </a:xfrm>
          <a:prstGeom xmlns:a="http://schemas.openxmlformats.org/drawingml/2006/main" prst="rect">
            <a:avLst/>
          </a:prstGeom>
        </p:spPr>
        <p:txBody>
          <a:bodyPr xmlns:a="http://schemas.openxmlformats.org/drawingml/2006/main"/>
          <a:lstStyle xmlns:a="http://schemas.openxmlformats.org/drawingml/2006/main">
            <a:defPPr>
              <a:defRPr sz="2250">
                <a:solidFill>
                  <a:schemeClr val="accent3"/>
                </a:solidFill>
              </a:defRPr>
            </a:defPPr>
          </a:lstStyle>
          <a:p xmlns:a="http://schemas.openxmlformats.org/drawingml/2006/main">
            <a:pPr>
              <a:defRPr sz="2250">
                <a:solidFill>
                  <a:schemeClr val="accent3"/>
                </a:solidFill>
              </a:defRPr>
            </a:pPr>
            <a:r>
              <a:rPr sz="2250">
                <a:solidFill>
                  <a:schemeClr val="accent3"/>
                </a:solidFill>
              </a:rPr>
              <a:t>[Replace with content]</a:t>
            </a:r>
          </a:p>
        </p:txBody>
      </p:sp>
      <p:sp>
        <p:nvSpPr>
          <p:cNvPr id="4" name="placeholder_3">
            <a:extLst xmlns:a="http://schemas.openxmlformats.org/drawingml/2006/main">
              <a:ext uri="{FF2B5EF4-FFF2-40B4-BE49-F238E27FC236}">
                <a16:creationId xmlns:a16="http://schemas.microsoft.com/office/drawing/2014/main" id="{A2EFECE1-97EE-4C2A-8563-A64ECD2E3E65}"/>
              </a:ext>
            </a:extLst>
          </p:cNvPr>
          <p:cNvSpPr>
            <a:spLocks xmlns:a="http://schemas.openxmlformats.org/drawingml/2006/main" noGrp="1"/>
          </p:cNvSpPr>
          <p:nvPr>
            <p:ph type="body" idx="2"/>
          </p:nvPr>
        </p:nvSpPr>
        <p:spPr>
          <a:xfrm xmlns:a="http://schemas.openxmlformats.org/drawingml/2006/main">
            <a:off x="685800" y="5524500"/>
            <a:ext cx="10477500" cy="571500"/>
          </a:xfrm>
          <a:prstGeom xmlns:a="http://schemas.openxmlformats.org/drawingml/2006/main" prst="rect">
            <a:avLst/>
          </a:prstGeom>
        </p:spPr>
        <p:txBody>
          <a:bodyPr xmlns:a="http://schemas.openxmlformats.org/drawingml/2006/main"/>
          <a:lstStyle xmlns:a="http://schemas.openxmlformats.org/drawingml/2006/main">
            <a:defPPr>
              <a:defRPr sz="1800">
                <a:solidFill>
                  <a:schemeClr val="lt1"/>
                </a:solidFill>
              </a:defRPr>
            </a:defPPr>
          </a:lstStyle>
          <a:p xmlns:a="http://schemas.openxmlformats.org/drawingml/2006/main">
            <a:pPr>
              <a:defRPr sz="1800">
                <a:solidFill>
                  <a:schemeClr val="lt1"/>
                </a:solidFill>
              </a:defRPr>
            </a:pPr>
            <a:r>
              <a:rPr sz="1800">
                <a:solidFill>
                  <a:schemeClr val="lt1"/>
                </a:solidFill>
              </a:rPr>
              <a:t>[Replace with content]</a:t>
            </a:r>
          </a:p>
        </p:txBody>
      </p:sp>
    </p:spTree>
  </p:cSld>
</p:sldLayout>
</file>

<file path=ppt/slideMasters/_rels/slideMaster1.xml.rels><?xml version='1.0' encoding='UTF-8' standalone='yes'?>
<Relationships xmlns="http://schemas.openxmlformats.org/package/2006/relationships"><Relationship Id="R35648cb6e9984541" Type="http://schemas.openxmlformats.org/officeDocument/2006/relationships/slideLayout" Target="../slideLayouts/slideLayout3.xml"/><Relationship Id="R8f1bf2f0f8464e84" Type="http://schemas.openxmlformats.org/officeDocument/2006/relationships/slideLayout" Target="../slideLayouts/slideLayout1.xml"/><Relationship Id="Ra52babe339764543" Type="http://schemas.openxmlformats.org/officeDocument/2006/relationships/slideLayout" Target="../slideLayouts/slideLayout5.xml"/><Relationship Id="Rc147ea9fb0f543b1" Type="http://schemas.openxmlformats.org/officeDocument/2006/relationships/slideLayout" Target="../slideLayouts/slideLayout4.xml"/><Relationship Id="Re465f5df15ad44f5" Type="http://schemas.openxmlformats.org/officeDocument/2006/relationships/slideLayout" Target="../slideLayouts/slideLayout6.xml"/><Relationship Id="Re9fc826fb18a4f15" Type="http://schemas.openxmlformats.org/officeDocument/2006/relationships/slideLayout" Target="../slideLayouts/slideLayout2.xml"/><Relationship Id="Rf416159d631a469e"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2a5f1ca95513402a" Type="http://schemas.openxmlformats.org/officeDocument/2006/relationships/slideLayout" Target="../slideLayouts/slideLayout14.xml"/><Relationship Id="R2eeacb68d2144397" Type="http://schemas.openxmlformats.org/officeDocument/2006/relationships/slideLayout" Target="../slideLayouts/slideLayout15.xml"/><Relationship Id="R49bfac7664ba44c0" Type="http://schemas.openxmlformats.org/officeDocument/2006/relationships/theme" Target="theme/theme3.xml"/><Relationship Id="R8f2c27fe36c147d3" Type="http://schemas.openxmlformats.org/officeDocument/2006/relationships/slideLayout" Target="../slideLayouts/slideLayout12.xml"/><Relationship Id="R94a7b8a46c4f4bde" Type="http://schemas.openxmlformats.org/officeDocument/2006/relationships/slideLayout" Target="../slideLayouts/slideLayout10.xml"/><Relationship Id="Ra82fbf657a2f48ee" Type="http://schemas.openxmlformats.org/officeDocument/2006/relationships/slideLayout" Target="../slideLayouts/slideLayout11.xml"/><Relationship Id="Rde438d9eb6954fbf" Type="http://schemas.openxmlformats.org/officeDocument/2006/relationships/slideLayout" Target="../slideLayouts/slideLayout13.xml"/><Relationship Id="Ref66cbd7649342a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79ea0f8627af41f6" Type="http://schemas.openxmlformats.org/officeDocument/2006/relationships/slideLayout" Target="../slideLayouts/slideLayout7.xml"/><Relationship Id="R7eb32b989c4847f8" Type="http://schemas.openxmlformats.org/officeDocument/2006/relationships/theme" Target="theme/theme4.xml"/><Relationship Id="Rda88ffd24a5f43ce" Type="http://schemas.openxmlformats.org/officeDocument/2006/relationships/slideLayout" Target="../slideLayouts/slideLayout16.xml"/></Relationships>
</file>

<file path=ppt/slideMasters/_rels/slideMaster4.xml.rels><?xml version='1.0' encoding='UTF-8' standalone='yes'?>
<Relationships xmlns="http://schemas.openxmlformats.org/package/2006/relationships"><Relationship Id="R2578da971f074f4d" Type="http://schemas.openxmlformats.org/officeDocument/2006/relationships/theme" Target="theme/theme5.xml"/><Relationship Id="Rdb68f69021dd4ee5" Type="http://schemas.openxmlformats.org/officeDocument/2006/relationships/slideLayout" Target="../slideLayouts/slideLayout9.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f1bf2f0f8464e84"/>
    <p:sldLayoutId xmlns:r="http://schemas.openxmlformats.org/officeDocument/2006/relationships" id="2147483650" r:id="Re9fc826fb18a4f15"/>
    <p:sldLayoutId xmlns:r="http://schemas.openxmlformats.org/officeDocument/2006/relationships" id="2147483651" r:id="R35648cb6e9984541"/>
    <p:sldLayoutId xmlns:r="http://schemas.openxmlformats.org/officeDocument/2006/relationships" id="2147483652" r:id="Rc147ea9fb0f543b1"/>
    <p:sldLayoutId xmlns:r="http://schemas.openxmlformats.org/officeDocument/2006/relationships" id="2147483653" r:id="Ra52babe339764543"/>
    <p:sldLayoutId xmlns:r="http://schemas.openxmlformats.org/officeDocument/2006/relationships" id="2147483654" r:id="Re465f5df15ad44f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Cognizant Light">
    <p:bg>
      <p:bgPr>
        <a:solidFill xmlns:a="http://schemas.openxmlformats.org/drawingml/2006/main">
          <a:schemeClr val="bg1"/>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6" r:id="Ref66cbd7649342a4"/>
    <p:sldLayoutId xmlns:r="http://schemas.openxmlformats.org/officeDocument/2006/relationships" id="2147483657" r:id="R94a7b8a46c4f4bde"/>
    <p:sldLayoutId xmlns:r="http://schemas.openxmlformats.org/officeDocument/2006/relationships" id="2147483658" r:id="Ra82fbf657a2f48ee"/>
    <p:sldLayoutId xmlns:r="http://schemas.openxmlformats.org/officeDocument/2006/relationships" id="2147483659" r:id="R8f2c27fe36c147d3"/>
    <p:sldLayoutId xmlns:r="http://schemas.openxmlformats.org/officeDocument/2006/relationships" id="2147483660" r:id="Rde438d9eb6954fbf"/>
    <p:sldLayoutId xmlns:r="http://schemas.openxmlformats.org/officeDocument/2006/relationships" id="2147483661" r:id="R2a5f1ca95513402a"/>
    <p:sldLayoutId xmlns:r="http://schemas.openxmlformats.org/officeDocument/2006/relationships" id="2147483662" r:id="R2eeacb68d2144397"/>
  </p:sldLayoutIdLst>
</p:sldMaster>
</file>

<file path=ppt/slideMasters/slideMaster3.xml><?xml version="1.0" encoding="utf-8"?>
<p:sldMaster xmlns:p="http://schemas.openxmlformats.org/presentationml/2006/main">
  <p:cSld name="Cognizant Navy">
    <p:bg>
      <p:bgPr>
        <a:solidFill xmlns:a="http://schemas.openxmlformats.org/drawingml/2006/main">
          <a:schemeClr val="accent1"/>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64" r:id="R79ea0f8627af41f6"/>
    <p:sldLayoutId xmlns:r="http://schemas.openxmlformats.org/officeDocument/2006/relationships" id="2147483665" r:id="Rda88ffd24a5f43ce"/>
  </p:sldLayoutIdLst>
</p:sldMaster>
</file>

<file path=ppt/slideMasters/slideMaster4.xml><?xml version="1.0" encoding="utf-8"?>
<p:sldMaster xmlns:p="http://schemas.openxmlformats.org/presentationml/2006/main">
  <p:cSld name="Cognizant Cyan">
    <p:bg>
      <p:bgPr>
        <a:solidFill xmlns:a="http://schemas.openxmlformats.org/drawingml/2006/main">
          <a:schemeClr val="accent3"/>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67" r:id="Rdb68f69021dd4ee5"/>
  </p:sldLayoutIdLst>
</p:sldMaster>
</file>

<file path=ppt/slideMasters/theme/theme2.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4.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5.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6.xml"/><Relationship Id="rId4" Type="http://schemas.openxmlformats.org/officeDocument/2006/relationships/image" Target="../media/image11.png"/><Relationship Id="rId5" Type="http://schemas.openxmlformats.org/officeDocument/2006/relationships/image" Target="../media/image14.svg"/><Relationship Id="rId6" Type="http://schemas.openxmlformats.org/officeDocument/2006/relationships/image" Target="../media/image13.png"/><Relationship Id="rId7" Type="http://schemas.openxmlformats.org/officeDocument/2006/relationships/image" Target="../media/image16.svg"/><Relationship Id="rId8" Type="http://schemas.openxmlformats.org/officeDocument/2006/relationships/image" Target="../media/image15.png"/><Relationship Id="rId9" Type="http://schemas.openxmlformats.org/officeDocument/2006/relationships/image" Target="../media/image18.svg"/><Relationship Id="rId10" Type="http://schemas.openxmlformats.org/officeDocument/2006/relationships/image" Target="../media/image17.png"/><Relationship Id="rId11" Type="http://schemas.openxmlformats.org/officeDocument/2006/relationships/image" Target="../media/image20.svg"/><Relationship Id="rId12" Type="http://schemas.openxmlformats.org/officeDocument/2006/relationships/image" Target="../media/image19.png"/><Relationship Id="rId13" Type="http://schemas.openxmlformats.org/officeDocument/2006/relationships/image" Target="../media/image22.svg"/><Relationship Id="rId14" Type="http://schemas.openxmlformats.org/officeDocument/2006/relationships/image" Target="../media/image21.png"/><Relationship Id="rId15" Type="http://schemas.openxmlformats.org/officeDocument/2006/relationships/image" Target="../media/image24.svg"/><Relationship Id="rId16" Type="http://schemas.openxmlformats.org/officeDocument/2006/relationships/image" Target="../media/image23.png"/><Relationship Id="rId17" Type="http://schemas.openxmlformats.org/officeDocument/2006/relationships/image" Target="../media/image26.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7.xml"/><Relationship Id="rId4" Type="http://schemas.openxmlformats.org/officeDocument/2006/relationships/image" Target="../media/image11.png"/><Relationship Id="rId5" Type="http://schemas.openxmlformats.org/officeDocument/2006/relationships/image" Target="../media/image14.svg"/><Relationship Id="rId6" Type="http://schemas.openxmlformats.org/officeDocument/2006/relationships/image" Target="../media/image1.png"/><Relationship Id="rId7" Type="http://schemas.openxmlformats.org/officeDocument/2006/relationships/image" Target="../media/image12.svg"/><Relationship Id="rId8" Type="http://schemas.openxmlformats.org/officeDocument/2006/relationships/image" Target="../media/image13.png"/><Relationship Id="rId9" Type="http://schemas.openxmlformats.org/officeDocument/2006/relationships/image" Target="../media/image16.svg"/><Relationship Id="rId10" Type="http://schemas.openxmlformats.org/officeDocument/2006/relationships/image" Target="../media/image25.png"/><Relationship Id="rId11" Type="http://schemas.openxmlformats.org/officeDocument/2006/relationships/image" Target="../media/image28.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5.xml"/><Relationship Id="rId4" Type="http://schemas.openxmlformats.org/officeDocument/2006/relationships/image" Target="../media/image27.png"/><Relationship Id="rId5" Type="http://schemas.openxmlformats.org/officeDocument/2006/relationships/image" Target="../media/image30.svg"/><Relationship Id="rId6" Type="http://schemas.openxmlformats.org/officeDocument/2006/relationships/image" Target="../media/image13.png"/><Relationship Id="rId7" Type="http://schemas.openxmlformats.org/officeDocument/2006/relationships/image" Target="../media/image16.svg"/><Relationship Id="rId8" Type="http://schemas.openxmlformats.org/officeDocument/2006/relationships/image" Target="../media/image29.png"/><Relationship Id="rId9" Type="http://schemas.openxmlformats.org/officeDocument/2006/relationships/image" Target="../media/image32.svg"/><Relationship Id="rId10" Type="http://schemas.openxmlformats.org/officeDocument/2006/relationships/image" Target="../media/image31.png"/><Relationship Id="rId11" Type="http://schemas.openxmlformats.org/officeDocument/2006/relationships/image" Target="../media/image34.svg"/><Relationship Id="rId12" Type="http://schemas.openxmlformats.org/officeDocument/2006/relationships/image" Target="../media/image15.png"/><Relationship Id="rId13" Type="http://schemas.openxmlformats.org/officeDocument/2006/relationships/image" Target="../media/image18.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7.xml"/><Relationship Id="rId4" Type="http://schemas.openxmlformats.org/officeDocument/2006/relationships/image" Target="../media/image11.png"/><Relationship Id="rId5" Type="http://schemas.openxmlformats.org/officeDocument/2006/relationships/image" Target="../media/image14.svg"/><Relationship Id="rId6" Type="http://schemas.openxmlformats.org/officeDocument/2006/relationships/image" Target="../media/image13.png"/><Relationship Id="rId7" Type="http://schemas.openxmlformats.org/officeDocument/2006/relationships/image" Target="../media/image16.svg"/><Relationship Id="rId8" Type="http://schemas.openxmlformats.org/officeDocument/2006/relationships/image" Target="../media/image15.png"/><Relationship Id="rId9" Type="http://schemas.openxmlformats.org/officeDocument/2006/relationships/image" Target="../media/image18.sv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9.xml"/><Relationship Id="rId4" Type="http://schemas.openxmlformats.org/officeDocument/2006/relationships/image" Target="../media/image11.png"/><Relationship Id="rId5" Type="http://schemas.openxmlformats.org/officeDocument/2006/relationships/image" Target="../media/image14.svg"/><Relationship Id="rId6" Type="http://schemas.openxmlformats.org/officeDocument/2006/relationships/image" Target="../media/image13.png"/><Relationship Id="rId7" Type="http://schemas.openxmlformats.org/officeDocument/2006/relationships/image" Target="../media/image16.svg"/><Relationship Id="rId8" Type="http://schemas.openxmlformats.org/officeDocument/2006/relationships/image" Target="../media/image15.png"/><Relationship Id="rId9" Type="http://schemas.openxmlformats.org/officeDocument/2006/relationships/image" Target="../media/image18.sv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0.xml"/><Relationship Id="rId4" Type="http://schemas.openxmlformats.org/officeDocument/2006/relationships/image" Target="../media/image13.png"/><Relationship Id="rId5" Type="http://schemas.openxmlformats.org/officeDocument/2006/relationships/image" Target="../media/image16.sv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2.xml"/><Relationship Id="rId4" Type="http://schemas.openxmlformats.org/officeDocument/2006/relationships/image" Target="../media/image11.png"/><Relationship Id="rId5" Type="http://schemas.openxmlformats.org/officeDocument/2006/relationships/image" Target="../media/image14.svg"/><Relationship Id="rId6" Type="http://schemas.openxmlformats.org/officeDocument/2006/relationships/image" Target="../media/image13.png"/><Relationship Id="rId7" Type="http://schemas.openxmlformats.org/officeDocument/2006/relationships/image" Target="../media/image16.svg"/><Relationship Id="rId8" Type="http://schemas.openxmlformats.org/officeDocument/2006/relationships/image" Target="../media/image17.png"/><Relationship Id="rId9" Type="http://schemas.openxmlformats.org/officeDocument/2006/relationships/image" Target="../media/image20.svg"/><Relationship Id="rId10" Type="http://schemas.openxmlformats.org/officeDocument/2006/relationships/image" Target="../media/image15.png"/><Relationship Id="rId11" Type="http://schemas.openxmlformats.org/officeDocument/2006/relationships/image" Target="../media/image18.svg"/><Relationship Id="rId12" Type="http://schemas.openxmlformats.org/officeDocument/2006/relationships/image" Target="../media/image33.png"/><Relationship Id="rId13" Type="http://schemas.openxmlformats.org/officeDocument/2006/relationships/image" Target="../media/image36.sv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4.xml"/><Relationship Id="rId4" Type="http://schemas.openxmlformats.org/officeDocument/2006/relationships/image" Target="../media/image13.png"/><Relationship Id="rId5" Type="http://schemas.openxmlformats.org/officeDocument/2006/relationships/image" Target="../media/image16.svg"/><Relationship Id="rId6" Type="http://schemas.openxmlformats.org/officeDocument/2006/relationships/image" Target="../media/image23.png"/><Relationship Id="rId7" Type="http://schemas.openxmlformats.org/officeDocument/2006/relationships/image" Target="../media/image26.svg"/><Relationship Id="rId8" Type="http://schemas.openxmlformats.org/officeDocument/2006/relationships/image" Target="../media/image37.png"/><Relationship Id="rId9" Type="http://schemas.openxmlformats.org/officeDocument/2006/relationships/image" Target="../media/image40.svg"/><Relationship Id="rId10" Type="http://schemas.openxmlformats.org/officeDocument/2006/relationships/image" Target="../media/image39.png"/><Relationship Id="rId11" Type="http://schemas.openxmlformats.org/officeDocument/2006/relationships/image" Target="../media/image42.sv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5.xml"/><Relationship Id="rId4" Type="http://schemas.openxmlformats.org/officeDocument/2006/relationships/image" Target="../media/image13.png"/><Relationship Id="rId5" Type="http://schemas.openxmlformats.org/officeDocument/2006/relationships/image" Target="../media/image16.svg"/><Relationship Id="rId6" Type="http://schemas.openxmlformats.org/officeDocument/2006/relationships/image" Target="../media/image23.png"/><Relationship Id="rId7" Type="http://schemas.openxmlformats.org/officeDocument/2006/relationships/image" Target="../media/image26.svg"/><Relationship Id="rId8" Type="http://schemas.openxmlformats.org/officeDocument/2006/relationships/image" Target="../media/image37.png"/><Relationship Id="rId9" Type="http://schemas.openxmlformats.org/officeDocument/2006/relationships/image" Target="../media/image40.svg"/><Relationship Id="rId10" Type="http://schemas.openxmlformats.org/officeDocument/2006/relationships/image" Target="../media/image39.png"/><Relationship Id="rId11" Type="http://schemas.openxmlformats.org/officeDocument/2006/relationships/image" Target="../media/image42.svg"/><Relationship Id="rId12" Type="http://schemas.openxmlformats.org/officeDocument/2006/relationships/image" Target="../media/image43.png"/><Relationship Id="rId13" Type="http://schemas.openxmlformats.org/officeDocument/2006/relationships/image" Target="../media/image46.sv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6.xml"/><Relationship Id="rId4" Type="http://schemas.openxmlformats.org/officeDocument/2006/relationships/image" Target="../media/image13.png"/><Relationship Id="rId5" Type="http://schemas.openxmlformats.org/officeDocument/2006/relationships/image" Target="../media/image16.svg"/><Relationship Id="rId6" Type="http://schemas.openxmlformats.org/officeDocument/2006/relationships/image" Target="../media/image21.png"/><Relationship Id="rId7" Type="http://schemas.openxmlformats.org/officeDocument/2006/relationships/image" Target="../media/image24.svg"/></Relationships>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The gateway sits in every call and blocks the bypass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6 OF 10</a:t>
            </a:r>
          </a:p>
        </p:txBody>
      </p:sp>
      <p:sp>
        <p:nvSpPr>
          <p:cNvPr id="5" name="Status chip: PROPOSED REFERENCE ARCHITECTURE"/>
          <p:cNvSpPr/>
          <p:nvPr/>
        </p:nvSpPr>
        <p:spPr>
          <a:xfrm>
            <a:off x="3658870" y="274320"/>
            <a:ext cx="29514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REFERENCE ARCHITECTURE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v4.0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06</a:t>
            </a:r>
          </a:p>
        </p:txBody>
      </p:sp>
      <p:pic>
        <p:nvPicPr>
          <p:cNvPr id="8" name="Azure icon: Users" descr="Official Azure icon: User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60120" y="2176272"/>
            <a:ext cx="457200" cy="457200"/>
          </a:xfrm>
          <a:prstGeom prst="rect">
            <a:avLst/>
          </a:prstGeom>
        </p:spPr>
      </p:pic>
      <p:sp>
        <p:nvSpPr>
          <p:cNvPr id="9" name="TextBox 8"/>
          <p:cNvSpPr txBox="1"/>
          <p:nvPr/>
        </p:nvSpPr>
        <p:spPr>
          <a:xfrm>
            <a:off x="493776" y="2670048"/>
            <a:ext cx="1389888" cy="512064"/>
          </a:xfrm>
          <a:prstGeom prst="rect">
            <a:avLst/>
          </a:prstGeom>
          <a:noFill/>
        </p:spPr>
        <p:txBody>
          <a:bodyPr wrap="square" lIns="0" rIns="0" tIns="0" bIns="0" anchor="t">
            <a:noAutofit/>
          </a:bodyPr>
          <a:lstStyle/>
          <a:p>
            <a:pPr algn="ctr"/>
            <a:r>
              <a:rPr sz="1300" b="1" i="0">
                <a:solidFill>
                  <a:srgbClr val="000048"/>
                </a:solidFill>
                <a:latin typeface="Arial"/>
              </a:rPr>
              <a:t>Apps and agents</a:t>
            </a:r>
          </a:p>
          <a:p>
            <a:pPr algn="ctr"/>
            <a:r>
              <a:rPr sz="1200" b="0" i="0">
                <a:solidFill>
                  <a:srgbClr val="53565A"/>
                </a:solidFill>
                <a:latin typeface="Arial"/>
              </a:rPr>
              <a:t>Entra token</a:t>
            </a:r>
          </a:p>
        </p:txBody>
      </p:sp>
      <p:sp>
        <p:nvSpPr>
          <p:cNvPr id="10" name="Rounded Rectangle 9"/>
          <p:cNvSpPr/>
          <p:nvPr/>
        </p:nvSpPr>
        <p:spPr>
          <a:xfrm>
            <a:off x="2240280" y="1325880"/>
            <a:ext cx="4480560" cy="3931920"/>
          </a:xfrm>
          <a:prstGeom prst="roundRect">
            <a:avLst>
              <a:gd name="adj" fmla="val 2325"/>
            </a:avLst>
          </a:prstGeom>
          <a:solidFill>
            <a:srgbClr val="FFFFFF"/>
          </a:solidFill>
          <a:ln w="15875">
            <a:solidFill>
              <a:srgbClr val="000048"/>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350008" y="1380744"/>
            <a:ext cx="4261104" cy="237744"/>
          </a:xfrm>
          <a:prstGeom prst="rect">
            <a:avLst/>
          </a:prstGeom>
          <a:noFill/>
        </p:spPr>
        <p:txBody>
          <a:bodyPr wrap="square" lIns="0" rIns="0" tIns="0" bIns="0" anchor="t">
            <a:noAutofit/>
          </a:bodyPr>
          <a:lstStyle/>
          <a:p>
            <a:pPr algn="l"/>
            <a:r>
              <a:rPr sz="1200" b="1" i="0">
                <a:solidFill>
                  <a:srgbClr val="000048"/>
                </a:solidFill>
                <a:latin typeface="Arial"/>
              </a:rPr>
              <a:t>API MANAGEMENT (AI GATEWAY)</a:t>
            </a:r>
          </a:p>
        </p:txBody>
      </p:sp>
      <p:pic>
        <p:nvPicPr>
          <p:cNvPr id="12" name="Azure icon: API Management" descr="Official Azure icon: API Management"/>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377440" y="1691640"/>
            <a:ext cx="457200" cy="457200"/>
          </a:xfrm>
          <a:prstGeom prst="rect">
            <a:avLst/>
          </a:prstGeom>
        </p:spPr>
      </p:pic>
      <p:sp>
        <p:nvSpPr>
          <p:cNvPr id="13" name="Rounded Rectangle 12"/>
          <p:cNvSpPr/>
          <p:nvPr/>
        </p:nvSpPr>
        <p:spPr>
          <a:xfrm>
            <a:off x="2971800" y="1691640"/>
            <a:ext cx="3611880" cy="566928"/>
          </a:xfrm>
          <a:prstGeom prst="roundRect">
            <a:avLst>
              <a:gd name="adj" fmla="val 12903"/>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400" b="1" i="0">
                <a:solidFill>
                  <a:srgbClr val="000048"/>
                </a:solidFill>
                <a:latin typeface="Arial"/>
              </a:rPr>
              <a:t>Authenticate  </a:t>
            </a:r>
            <a:r>
              <a:rPr sz="1200" b="0" i="0">
                <a:solidFill>
                  <a:srgbClr val="53565A"/>
                </a:solidFill>
                <a:latin typeface="Arial"/>
              </a:rPr>
              <a:t>validate token, map caller</a:t>
            </a:r>
          </a:p>
        </p:txBody>
      </p:sp>
      <p:sp>
        <p:nvSpPr>
          <p:cNvPr id="14" name="Rounded Rectangle 13"/>
          <p:cNvSpPr/>
          <p:nvPr/>
        </p:nvSpPr>
        <p:spPr>
          <a:xfrm>
            <a:off x="2971800" y="2377440"/>
            <a:ext cx="3611880" cy="566928"/>
          </a:xfrm>
          <a:prstGeom prst="roundRect">
            <a:avLst>
              <a:gd name="adj" fmla="val 12903"/>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400" b="1" i="0">
                <a:solidFill>
                  <a:srgbClr val="000048"/>
                </a:solidFill>
                <a:latin typeface="Arial"/>
              </a:rPr>
              <a:t>Limit  </a:t>
            </a:r>
            <a:r>
              <a:rPr sz="1200" b="0" i="0">
                <a:solidFill>
                  <a:srgbClr val="53565A"/>
                </a:solidFill>
                <a:latin typeface="Arial"/>
              </a:rPr>
              <a:t>tokens, requests, concurrency</a:t>
            </a:r>
          </a:p>
        </p:txBody>
      </p:sp>
      <p:sp>
        <p:nvSpPr>
          <p:cNvPr id="15" name="Rounded Rectangle 14"/>
          <p:cNvSpPr/>
          <p:nvPr/>
        </p:nvSpPr>
        <p:spPr>
          <a:xfrm>
            <a:off x="2971800" y="3063240"/>
            <a:ext cx="3611880" cy="566928"/>
          </a:xfrm>
          <a:prstGeom prst="roundRect">
            <a:avLst>
              <a:gd name="adj" fmla="val 12903"/>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400" b="1" i="0">
                <a:solidFill>
                  <a:srgbClr val="000048"/>
                </a:solidFill>
                <a:latin typeface="Arial"/>
              </a:rPr>
              <a:t>Protect  </a:t>
            </a:r>
            <a:r>
              <a:rPr sz="1200" b="0" i="0">
                <a:solidFill>
                  <a:srgbClr val="53565A"/>
                </a:solidFill>
                <a:latin typeface="Arial"/>
              </a:rPr>
              <a:t>content safety, prompt shield</a:t>
            </a:r>
          </a:p>
        </p:txBody>
      </p:sp>
      <p:sp>
        <p:nvSpPr>
          <p:cNvPr id="16" name="Rounded Rectangle 15"/>
          <p:cNvSpPr/>
          <p:nvPr/>
        </p:nvSpPr>
        <p:spPr>
          <a:xfrm>
            <a:off x="2971800" y="3749039"/>
            <a:ext cx="3611880" cy="566928"/>
          </a:xfrm>
          <a:prstGeom prst="roundRect">
            <a:avLst>
              <a:gd name="adj" fmla="val 12903"/>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400" b="1" i="0">
                <a:solidFill>
                  <a:srgbClr val="000048"/>
                </a:solidFill>
                <a:latin typeface="Arial"/>
              </a:rPr>
              <a:t>Route  </a:t>
            </a:r>
            <a:r>
              <a:rPr sz="1200" b="0" i="0">
                <a:solidFill>
                  <a:srgbClr val="53565A"/>
                </a:solidFill>
                <a:latin typeface="Arial"/>
              </a:rPr>
              <a:t>priority backends, retry, breaker</a:t>
            </a:r>
          </a:p>
        </p:txBody>
      </p:sp>
      <p:sp>
        <p:nvSpPr>
          <p:cNvPr id="17" name="Rounded Rectangle 16"/>
          <p:cNvSpPr/>
          <p:nvPr/>
        </p:nvSpPr>
        <p:spPr>
          <a:xfrm>
            <a:off x="2971800" y="4434840"/>
            <a:ext cx="3611880" cy="566928"/>
          </a:xfrm>
          <a:prstGeom prst="roundRect">
            <a:avLst>
              <a:gd name="adj" fmla="val 12903"/>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400" b="1" i="0">
                <a:solidFill>
                  <a:srgbClr val="000048"/>
                </a:solidFill>
                <a:latin typeface="Arial"/>
              </a:rPr>
              <a:t>Observe  </a:t>
            </a:r>
            <a:r>
              <a:rPr sz="1200" b="0" i="0">
                <a:solidFill>
                  <a:srgbClr val="53565A"/>
                </a:solidFill>
                <a:latin typeface="Arial"/>
              </a:rPr>
              <a:t>token metrics, logs</a:t>
            </a:r>
          </a:p>
        </p:txBody>
      </p:sp>
      <p:sp>
        <p:nvSpPr>
          <p:cNvPr id="18" name="Rounded Rectangle 17"/>
          <p:cNvSpPr/>
          <p:nvPr/>
        </p:nvSpPr>
        <p:spPr>
          <a:xfrm>
            <a:off x="7223760" y="1325880"/>
            <a:ext cx="4526280" cy="2514600"/>
          </a:xfrm>
          <a:prstGeom prst="roundRect">
            <a:avLst>
              <a:gd name="adj" fmla="val 3636"/>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333488" y="1380744"/>
            <a:ext cx="4306824" cy="237744"/>
          </a:xfrm>
          <a:prstGeom prst="rect">
            <a:avLst/>
          </a:prstGeom>
          <a:noFill/>
        </p:spPr>
        <p:txBody>
          <a:bodyPr wrap="square" lIns="0" rIns="0" tIns="0" bIns="0" anchor="t">
            <a:noAutofit/>
          </a:bodyPr>
          <a:lstStyle/>
          <a:p>
            <a:pPr algn="l"/>
            <a:r>
              <a:rPr sz="1200" b="1" i="0">
                <a:solidFill>
                  <a:srgbClr val="000048"/>
                </a:solidFill>
                <a:latin typeface="Arial"/>
              </a:rPr>
              <a:t>BACKENDS AND POLICY SERVICES (PRIVATE)</a:t>
            </a:r>
          </a:p>
        </p:txBody>
      </p:sp>
      <p:sp>
        <p:nvSpPr>
          <p:cNvPr id="20" name="Rounded Rectangle 19"/>
          <p:cNvSpPr/>
          <p:nvPr/>
        </p:nvSpPr>
        <p:spPr>
          <a:xfrm>
            <a:off x="7360920" y="1737360"/>
            <a:ext cx="2103120" cy="731520"/>
          </a:xfrm>
          <a:prstGeom prst="roundRect">
            <a:avLst>
              <a:gd name="adj" fmla="val 10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1" name="Azure icon: Foundry Models" descr="Official Azure icon: Foundry Models"/>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434072" y="1897379"/>
            <a:ext cx="411480" cy="411480"/>
          </a:xfrm>
          <a:prstGeom prst="rect">
            <a:avLst/>
          </a:prstGeom>
        </p:spPr>
      </p:pic>
      <p:sp>
        <p:nvSpPr>
          <p:cNvPr id="22" name="TextBox 21"/>
          <p:cNvSpPr txBox="1"/>
          <p:nvPr/>
        </p:nvSpPr>
        <p:spPr>
          <a:xfrm>
            <a:off x="7918704" y="1773936"/>
            <a:ext cx="1508760" cy="658368"/>
          </a:xfrm>
          <a:prstGeom prst="rect">
            <a:avLst/>
          </a:prstGeom>
          <a:noFill/>
        </p:spPr>
        <p:txBody>
          <a:bodyPr wrap="square" lIns="0" rIns="0" tIns="0" bIns="0" anchor="ctr">
            <a:noAutofit/>
          </a:bodyPr>
          <a:lstStyle/>
          <a:p>
            <a:pPr algn="l"/>
            <a:r>
              <a:rPr sz="1300" b="1" i="0">
                <a:solidFill>
                  <a:srgbClr val="000048"/>
                </a:solidFill>
                <a:latin typeface="Arial"/>
              </a:rPr>
              <a:t>PTU deployment</a:t>
            </a:r>
          </a:p>
          <a:p>
            <a:pPr algn="l"/>
            <a:r>
              <a:rPr sz="1200" b="0" i="0">
                <a:solidFill>
                  <a:srgbClr val="53565A"/>
                </a:solidFill>
                <a:latin typeface="Arial"/>
              </a:rPr>
              <a:t>primary, priority 1</a:t>
            </a:r>
          </a:p>
        </p:txBody>
      </p:sp>
      <p:sp>
        <p:nvSpPr>
          <p:cNvPr id="23" name="Rounded Rectangle 22"/>
          <p:cNvSpPr/>
          <p:nvPr/>
        </p:nvSpPr>
        <p:spPr>
          <a:xfrm>
            <a:off x="9555480" y="1737360"/>
            <a:ext cx="2103120" cy="731520"/>
          </a:xfrm>
          <a:prstGeom prst="roundRect">
            <a:avLst>
              <a:gd name="adj" fmla="val 10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4" name="Azure icon: Foundry Models" descr="Official Azure icon: Foundry Models"/>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628632" y="1897379"/>
            <a:ext cx="411480" cy="411480"/>
          </a:xfrm>
          <a:prstGeom prst="rect">
            <a:avLst/>
          </a:prstGeom>
        </p:spPr>
      </p:pic>
      <p:sp>
        <p:nvSpPr>
          <p:cNvPr id="25" name="TextBox 24"/>
          <p:cNvSpPr txBox="1"/>
          <p:nvPr/>
        </p:nvSpPr>
        <p:spPr>
          <a:xfrm>
            <a:off x="10113263" y="1773936"/>
            <a:ext cx="1508760" cy="658368"/>
          </a:xfrm>
          <a:prstGeom prst="rect">
            <a:avLst/>
          </a:prstGeom>
          <a:noFill/>
        </p:spPr>
        <p:txBody>
          <a:bodyPr wrap="square" lIns="0" rIns="0" tIns="0" bIns="0" anchor="ctr">
            <a:noAutofit/>
          </a:bodyPr>
          <a:lstStyle/>
          <a:p>
            <a:pPr algn="l"/>
            <a:r>
              <a:rPr sz="1300" b="1" i="0">
                <a:solidFill>
                  <a:srgbClr val="000048"/>
                </a:solidFill>
                <a:latin typeface="Arial"/>
              </a:rPr>
              <a:t>PAYG deployment</a:t>
            </a:r>
          </a:p>
          <a:p>
            <a:pPr algn="l"/>
            <a:r>
              <a:rPr sz="1200" b="0" i="0">
                <a:solidFill>
                  <a:srgbClr val="53565A"/>
                </a:solidFill>
                <a:latin typeface="Arial"/>
              </a:rPr>
              <a:t>approved overflow</a:t>
            </a:r>
          </a:p>
        </p:txBody>
      </p:sp>
      <p:sp>
        <p:nvSpPr>
          <p:cNvPr id="26" name="Rounded Rectangle 25"/>
          <p:cNvSpPr/>
          <p:nvPr/>
        </p:nvSpPr>
        <p:spPr>
          <a:xfrm>
            <a:off x="7360920" y="2743200"/>
            <a:ext cx="2103120" cy="731520"/>
          </a:xfrm>
          <a:prstGeom prst="roundRect">
            <a:avLst>
              <a:gd name="adj" fmla="val 10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7" name="Azure icon: Content Safety" descr="Official Azure icon: Content Safety"/>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434072" y="2903220"/>
            <a:ext cx="411480" cy="411480"/>
          </a:xfrm>
          <a:prstGeom prst="rect">
            <a:avLst/>
          </a:prstGeom>
        </p:spPr>
      </p:pic>
      <p:sp>
        <p:nvSpPr>
          <p:cNvPr id="28" name="TextBox 27"/>
          <p:cNvSpPr txBox="1"/>
          <p:nvPr/>
        </p:nvSpPr>
        <p:spPr>
          <a:xfrm>
            <a:off x="7918704" y="2779776"/>
            <a:ext cx="1508760" cy="658368"/>
          </a:xfrm>
          <a:prstGeom prst="rect">
            <a:avLst/>
          </a:prstGeom>
          <a:noFill/>
        </p:spPr>
        <p:txBody>
          <a:bodyPr wrap="square" lIns="0" rIns="0" tIns="0" bIns="0" anchor="ctr">
            <a:noAutofit/>
          </a:bodyPr>
          <a:lstStyle/>
          <a:p>
            <a:pPr algn="l"/>
            <a:r>
              <a:rPr sz="1300" b="1" i="0">
                <a:solidFill>
                  <a:srgbClr val="000048"/>
                </a:solidFill>
                <a:latin typeface="Arial"/>
              </a:rPr>
              <a:t>Content Safety</a:t>
            </a:r>
          </a:p>
          <a:p>
            <a:pPr algn="l"/>
            <a:r>
              <a:rPr sz="1200" b="0" i="0">
                <a:solidFill>
                  <a:srgbClr val="53565A"/>
                </a:solidFill>
                <a:latin typeface="Arial"/>
              </a:rPr>
              <a:t>called by policy</a:t>
            </a:r>
          </a:p>
        </p:txBody>
      </p:sp>
      <p:sp>
        <p:nvSpPr>
          <p:cNvPr id="29" name="Rounded Rectangle 28"/>
          <p:cNvSpPr/>
          <p:nvPr/>
        </p:nvSpPr>
        <p:spPr>
          <a:xfrm>
            <a:off x="9555480" y="2743200"/>
            <a:ext cx="2103120" cy="731520"/>
          </a:xfrm>
          <a:prstGeom prst="roundRect">
            <a:avLst>
              <a:gd name="adj" fmla="val 10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30" name="Azure icon: Key Vault" descr="Official Azure icon: Key Vault"/>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9628632" y="2903220"/>
            <a:ext cx="411480" cy="411480"/>
          </a:xfrm>
          <a:prstGeom prst="rect">
            <a:avLst/>
          </a:prstGeom>
        </p:spPr>
      </p:pic>
      <p:sp>
        <p:nvSpPr>
          <p:cNvPr id="31" name="TextBox 30"/>
          <p:cNvSpPr txBox="1"/>
          <p:nvPr/>
        </p:nvSpPr>
        <p:spPr>
          <a:xfrm>
            <a:off x="10113263" y="2779776"/>
            <a:ext cx="1508760" cy="658368"/>
          </a:xfrm>
          <a:prstGeom prst="rect">
            <a:avLst/>
          </a:prstGeom>
          <a:noFill/>
        </p:spPr>
        <p:txBody>
          <a:bodyPr wrap="square" lIns="0" rIns="0" tIns="0" bIns="0" anchor="ctr">
            <a:noAutofit/>
          </a:bodyPr>
          <a:lstStyle/>
          <a:p>
            <a:pPr algn="l"/>
            <a:r>
              <a:rPr sz="1300" b="1" i="0">
                <a:solidFill>
                  <a:srgbClr val="000048"/>
                </a:solidFill>
                <a:latin typeface="Arial"/>
              </a:rPr>
              <a:t>Key Vault</a:t>
            </a:r>
          </a:p>
          <a:p>
            <a:pPr algn="l"/>
            <a:r>
              <a:rPr sz="1200" b="0" i="0">
                <a:solidFill>
                  <a:srgbClr val="53565A"/>
                </a:solidFill>
                <a:latin typeface="Arial"/>
              </a:rPr>
              <a:t>certificates</a:t>
            </a:r>
          </a:p>
        </p:txBody>
      </p:sp>
      <p:sp>
        <p:nvSpPr>
          <p:cNvPr id="32" name="Rounded Rectangle 31"/>
          <p:cNvSpPr/>
          <p:nvPr/>
        </p:nvSpPr>
        <p:spPr>
          <a:xfrm>
            <a:off x="7223760" y="3977639"/>
            <a:ext cx="4526280" cy="1280160"/>
          </a:xfrm>
          <a:prstGeom prst="roundRect">
            <a:avLst>
              <a:gd name="adj" fmla="val 7142"/>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333488" y="4032503"/>
            <a:ext cx="4306824" cy="237744"/>
          </a:xfrm>
          <a:prstGeom prst="rect">
            <a:avLst/>
          </a:prstGeom>
          <a:noFill/>
        </p:spPr>
        <p:txBody>
          <a:bodyPr wrap="square" lIns="0" rIns="0" tIns="0" bIns="0" anchor="t">
            <a:noAutofit/>
          </a:bodyPr>
          <a:lstStyle/>
          <a:p>
            <a:pPr algn="l"/>
            <a:r>
              <a:rPr sz="1200" b="1" i="0">
                <a:solidFill>
                  <a:srgbClr val="000048"/>
                </a:solidFill>
                <a:latin typeface="Arial"/>
              </a:rPr>
              <a:t>TOOLS AND TELEMETRY</a:t>
            </a:r>
          </a:p>
        </p:txBody>
      </p:sp>
      <p:pic>
        <p:nvPicPr>
          <p:cNvPr id="34" name="Azure icon: Function App" descr="Official Azure icon: Function App"/>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7434072" y="4517136"/>
            <a:ext cx="384048" cy="384048"/>
          </a:xfrm>
          <a:prstGeom prst="rect">
            <a:avLst/>
          </a:prstGeom>
        </p:spPr>
      </p:pic>
      <p:sp>
        <p:nvSpPr>
          <p:cNvPr id="35" name="TextBox 34"/>
          <p:cNvSpPr txBox="1"/>
          <p:nvPr/>
        </p:nvSpPr>
        <p:spPr>
          <a:xfrm>
            <a:off x="7891272" y="4379976"/>
            <a:ext cx="1536192" cy="658368"/>
          </a:xfrm>
          <a:prstGeom prst="rect">
            <a:avLst/>
          </a:prstGeom>
          <a:noFill/>
        </p:spPr>
        <p:txBody>
          <a:bodyPr wrap="square" lIns="0" rIns="0" tIns="0" bIns="0" anchor="ctr">
            <a:noAutofit/>
          </a:bodyPr>
          <a:lstStyle/>
          <a:p>
            <a:pPr algn="l"/>
            <a:r>
              <a:rPr sz="1300" b="1" i="0">
                <a:solidFill>
                  <a:srgbClr val="000048"/>
                </a:solidFill>
                <a:latin typeface="Arial"/>
              </a:rPr>
              <a:t>Tool APIs</a:t>
            </a:r>
          </a:p>
          <a:p>
            <a:pPr algn="l"/>
            <a:r>
              <a:rPr sz="1200" b="0" i="0">
                <a:solidFill>
                  <a:srgbClr val="53565A"/>
                </a:solidFill>
                <a:latin typeface="Arial"/>
              </a:rPr>
              <a:t>own policies</a:t>
            </a:r>
          </a:p>
        </p:txBody>
      </p:sp>
      <p:pic>
        <p:nvPicPr>
          <p:cNvPr id="36" name="Azure icon: Application Insights" descr="Official Azure icon: Application Insights"/>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9628632" y="4517136"/>
            <a:ext cx="384048" cy="384048"/>
          </a:xfrm>
          <a:prstGeom prst="rect">
            <a:avLst/>
          </a:prstGeom>
        </p:spPr>
      </p:pic>
      <p:sp>
        <p:nvSpPr>
          <p:cNvPr id="37" name="TextBox 36"/>
          <p:cNvSpPr txBox="1"/>
          <p:nvPr/>
        </p:nvSpPr>
        <p:spPr>
          <a:xfrm>
            <a:off x="10085832" y="4379976"/>
            <a:ext cx="1536192" cy="658368"/>
          </a:xfrm>
          <a:prstGeom prst="rect">
            <a:avLst/>
          </a:prstGeom>
          <a:noFill/>
        </p:spPr>
        <p:txBody>
          <a:bodyPr wrap="square" lIns="0" rIns="0" tIns="0" bIns="0" anchor="ctr">
            <a:noAutofit/>
          </a:bodyPr>
          <a:lstStyle/>
          <a:p>
            <a:pPr algn="l"/>
            <a:r>
              <a:rPr sz="1300" b="1" i="0">
                <a:solidFill>
                  <a:srgbClr val="000048"/>
                </a:solidFill>
                <a:latin typeface="Arial"/>
              </a:rPr>
              <a:t>App Insights</a:t>
            </a:r>
          </a:p>
          <a:p>
            <a:pPr algn="l"/>
            <a:r>
              <a:rPr sz="1200" b="0" i="0">
                <a:solidFill>
                  <a:srgbClr val="53565A"/>
                </a:solidFill>
                <a:latin typeface="Arial"/>
              </a:rPr>
              <a:t>token metrics</a:t>
            </a:r>
          </a:p>
        </p:txBody>
      </p:sp>
      <p:cxnSp>
        <p:nvCxnSpPr>
          <p:cNvPr id="38" name="Connector (flow)"/>
          <p:cNvCxnSpPr/>
          <p:nvPr/>
        </p:nvCxnSpPr>
        <p:spPr>
          <a:xfrm>
            <a:off x="1920240" y="2377440"/>
            <a:ext cx="32004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Oval 38"/>
          <p:cNvSpPr/>
          <p:nvPr/>
        </p:nvSpPr>
        <p:spPr>
          <a:xfrm>
            <a:off x="1783080" y="182880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1</a:t>
            </a:r>
          </a:p>
        </p:txBody>
      </p:sp>
      <p:cxnSp>
        <p:nvCxnSpPr>
          <p:cNvPr id="40" name="Connector (flow)"/>
          <p:cNvCxnSpPr/>
          <p:nvPr/>
        </p:nvCxnSpPr>
        <p:spPr>
          <a:xfrm flipV="1">
            <a:off x="6720840" y="2148840"/>
            <a:ext cx="502920" cy="64008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Oval 40"/>
          <p:cNvSpPr/>
          <p:nvPr/>
        </p:nvSpPr>
        <p:spPr>
          <a:xfrm>
            <a:off x="6812280" y="214884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4</a:t>
            </a:r>
          </a:p>
        </p:txBody>
      </p:sp>
      <p:cxnSp>
        <p:nvCxnSpPr>
          <p:cNvPr id="42" name="Connector (flow)"/>
          <p:cNvCxnSpPr/>
          <p:nvPr/>
        </p:nvCxnSpPr>
        <p:spPr>
          <a:xfrm>
            <a:off x="6720840" y="3657600"/>
            <a:ext cx="502920" cy="100584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Oval 42"/>
          <p:cNvSpPr/>
          <p:nvPr/>
        </p:nvSpPr>
        <p:spPr>
          <a:xfrm>
            <a:off x="6812280" y="3977639"/>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5</a:t>
            </a:r>
          </a:p>
        </p:txBody>
      </p:sp>
      <p:cxnSp>
        <p:nvCxnSpPr>
          <p:cNvPr id="44" name="Connector (telemetry)"/>
          <p:cNvCxnSpPr/>
          <p:nvPr/>
        </p:nvCxnSpPr>
        <p:spPr>
          <a:xfrm>
            <a:off x="6720840" y="4754880"/>
            <a:ext cx="502920" cy="13716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sp>
        <p:nvSpPr>
          <p:cNvPr id="45" name="Oval 44"/>
          <p:cNvSpPr/>
          <p:nvPr/>
        </p:nvSpPr>
        <p:spPr>
          <a:xfrm>
            <a:off x="6812280" y="4937760"/>
            <a:ext cx="274320" cy="274320"/>
          </a:xfrm>
          <a:prstGeom prst="ellipse">
            <a:avLst/>
          </a:prstGeom>
          <a:solidFill>
            <a:srgbClr val="53565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6</a:t>
            </a:r>
          </a:p>
        </p:txBody>
      </p:sp>
      <p:sp>
        <p:nvSpPr>
          <p:cNvPr id="46" name="Oval 45"/>
          <p:cNvSpPr/>
          <p:nvPr/>
        </p:nvSpPr>
        <p:spPr>
          <a:xfrm>
            <a:off x="2606040" y="233172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2</a:t>
            </a:r>
          </a:p>
        </p:txBody>
      </p:sp>
      <p:sp>
        <p:nvSpPr>
          <p:cNvPr id="47" name="Oval 46"/>
          <p:cNvSpPr/>
          <p:nvPr/>
        </p:nvSpPr>
        <p:spPr>
          <a:xfrm>
            <a:off x="2606040" y="301752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3</a:t>
            </a:r>
          </a:p>
        </p:txBody>
      </p:sp>
      <p:cxnSp>
        <p:nvCxnSpPr>
          <p:cNvPr id="48" name="Connector (blocked)"/>
          <p:cNvCxnSpPr/>
          <p:nvPr/>
        </p:nvCxnSpPr>
        <p:spPr>
          <a:xfrm>
            <a:off x="1188720" y="3017520"/>
            <a:ext cx="0" cy="2468880"/>
          </a:xfrm>
          <a:prstGeom prst="line">
            <a:avLst/>
          </a:prstGeom>
          <a:ln w="19050">
            <a:solidFill>
              <a:srgbClr val="A4262C"/>
            </a:solidFill>
            <a:prstDash val="dash"/>
          </a:ln>
        </p:spPr>
        <p:style>
          <a:lnRef idx="2">
            <a:schemeClr val="accent1"/>
          </a:lnRef>
          <a:fillRef idx="0">
            <a:schemeClr val="accent1"/>
          </a:fillRef>
          <a:effectRef idx="1">
            <a:schemeClr val="accent1"/>
          </a:effectRef>
          <a:fontRef idx="minor">
            <a:schemeClr val="tx1"/>
          </a:fontRef>
        </p:style>
      </p:cxnSp>
      <p:cxnSp>
        <p:nvCxnSpPr>
          <p:cNvPr id="49" name="Connector (blocked)"/>
          <p:cNvCxnSpPr/>
          <p:nvPr/>
        </p:nvCxnSpPr>
        <p:spPr>
          <a:xfrm>
            <a:off x="1188720" y="5486400"/>
            <a:ext cx="5806440" cy="0"/>
          </a:xfrm>
          <a:prstGeom prst="line">
            <a:avLst/>
          </a:prstGeom>
          <a:ln w="19050">
            <a:solidFill>
              <a:srgbClr val="A4262C"/>
            </a:solidFill>
            <a:prstDash val="dash"/>
          </a:ln>
        </p:spPr>
        <p:style>
          <a:lnRef idx="2">
            <a:schemeClr val="accent1"/>
          </a:lnRef>
          <a:fillRef idx="0">
            <a:schemeClr val="accent1"/>
          </a:fillRef>
          <a:effectRef idx="1">
            <a:schemeClr val="accent1"/>
          </a:effectRef>
          <a:fontRef idx="minor">
            <a:schemeClr val="tx1"/>
          </a:fontRef>
        </p:style>
      </p:cxnSp>
      <p:cxnSp>
        <p:nvCxnSpPr>
          <p:cNvPr id="50" name="Connector (blocked)"/>
          <p:cNvCxnSpPr/>
          <p:nvPr/>
        </p:nvCxnSpPr>
        <p:spPr>
          <a:xfrm flipV="1">
            <a:off x="6995160" y="2103120"/>
            <a:ext cx="0" cy="3383280"/>
          </a:xfrm>
          <a:prstGeom prst="line">
            <a:avLst/>
          </a:prstGeom>
          <a:ln w="19050">
            <a:solidFill>
              <a:srgbClr val="A4262C"/>
            </a:solidFill>
            <a:prstDash val="dash"/>
          </a:ln>
        </p:spPr>
        <p:style>
          <a:lnRef idx="2">
            <a:schemeClr val="accent1"/>
          </a:lnRef>
          <a:fillRef idx="0">
            <a:schemeClr val="accent1"/>
          </a:fillRef>
          <a:effectRef idx="1">
            <a:schemeClr val="accent1"/>
          </a:effectRef>
          <a:fontRef idx="minor">
            <a:schemeClr val="tx1"/>
          </a:fontRef>
        </p:style>
      </p:cxnSp>
      <p:cxnSp>
        <p:nvCxnSpPr>
          <p:cNvPr id="51" name="Connector (blocked)"/>
          <p:cNvCxnSpPr/>
          <p:nvPr/>
        </p:nvCxnSpPr>
        <p:spPr>
          <a:xfrm>
            <a:off x="6995160" y="2103120"/>
            <a:ext cx="365760" cy="0"/>
          </a:xfrm>
          <a:prstGeom prst="line">
            <a:avLst/>
          </a:prstGeom>
          <a:ln w="19050">
            <a:solidFill>
              <a:srgbClr val="A4262C"/>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2377440" y="5522976"/>
            <a:ext cx="4572000" cy="256032"/>
          </a:xfrm>
          <a:prstGeom prst="rect">
            <a:avLst/>
          </a:prstGeom>
          <a:noFill/>
        </p:spPr>
        <p:txBody>
          <a:bodyPr wrap="square" lIns="0" rIns="0" tIns="0" bIns="0" anchor="t">
            <a:noAutofit/>
          </a:bodyPr>
          <a:lstStyle/>
          <a:p>
            <a:pPr algn="l"/>
            <a:r>
              <a:rPr sz="1200" b="0" i="0">
                <a:solidFill>
                  <a:srgbClr val="A4262C"/>
                </a:solidFill>
                <a:latin typeface="Arial"/>
              </a:rPr>
              <a:t>Direct call to model endpoint: blocked by network and identity</a:t>
            </a:r>
          </a:p>
        </p:txBody>
      </p:sp>
      <p:cxnSp>
        <p:nvCxnSpPr>
          <p:cNvPr id="53" name="Connector (flow)"/>
          <p:cNvCxnSpPr/>
          <p:nvPr/>
        </p:nvCxnSpPr>
        <p:spPr>
          <a:xfrm>
            <a:off x="548640" y="5925312"/>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1024128" y="5806440"/>
            <a:ext cx="1874519" cy="256032"/>
          </a:xfrm>
          <a:prstGeom prst="rect">
            <a:avLst/>
          </a:prstGeom>
          <a:noFill/>
        </p:spPr>
        <p:txBody>
          <a:bodyPr wrap="square" lIns="0" rIns="0" tIns="0" bIns="0" anchor="t">
            <a:noAutofit/>
          </a:bodyPr>
          <a:lstStyle/>
          <a:p>
            <a:pPr algn="l"/>
            <a:r>
              <a:rPr sz="1200" b="0" i="0">
                <a:solidFill>
                  <a:srgbClr val="53565A"/>
                </a:solidFill>
                <a:latin typeface="Arial"/>
              </a:rPr>
              <a:t>Request / data flow</a:t>
            </a:r>
          </a:p>
        </p:txBody>
      </p:sp>
      <p:cxnSp>
        <p:nvCxnSpPr>
          <p:cNvPr id="55" name="Connector (telemetry)"/>
          <p:cNvCxnSpPr/>
          <p:nvPr/>
        </p:nvCxnSpPr>
        <p:spPr>
          <a:xfrm>
            <a:off x="2926080" y="5925312"/>
            <a:ext cx="411480" cy="0"/>
          </a:xfrm>
          <a:prstGeom prst="line">
            <a:avLst/>
          </a:prstGeom>
          <a:ln w="15875">
            <a:solidFill>
              <a:srgbClr val="8A8A8A"/>
            </a:solidFill>
            <a:prstDash val="sysDot"/>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3401568" y="5806440"/>
            <a:ext cx="1874519" cy="256032"/>
          </a:xfrm>
          <a:prstGeom prst="rect">
            <a:avLst/>
          </a:prstGeom>
          <a:noFill/>
        </p:spPr>
        <p:txBody>
          <a:bodyPr wrap="square" lIns="0" rIns="0" tIns="0" bIns="0" anchor="t">
            <a:noAutofit/>
          </a:bodyPr>
          <a:lstStyle/>
          <a:p>
            <a:pPr algn="l"/>
            <a:r>
              <a:rPr sz="1200" b="0" i="0">
                <a:solidFill>
                  <a:srgbClr val="53565A"/>
                </a:solidFill>
                <a:latin typeface="Arial"/>
              </a:rPr>
              <a:t>Telemetry or state read</a:t>
            </a:r>
          </a:p>
        </p:txBody>
      </p:sp>
      <p:cxnSp>
        <p:nvCxnSpPr>
          <p:cNvPr id="57" name="Connector (blocked)"/>
          <p:cNvCxnSpPr/>
          <p:nvPr/>
        </p:nvCxnSpPr>
        <p:spPr>
          <a:xfrm>
            <a:off x="5303520" y="5925312"/>
            <a:ext cx="411480" cy="0"/>
          </a:xfrm>
          <a:prstGeom prst="line">
            <a:avLst/>
          </a:prstGeom>
          <a:ln w="19050">
            <a:solidFill>
              <a:srgbClr val="A4262C"/>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5779008" y="5806440"/>
            <a:ext cx="1874519" cy="256032"/>
          </a:xfrm>
          <a:prstGeom prst="rect">
            <a:avLst/>
          </a:prstGeom>
          <a:noFill/>
        </p:spPr>
        <p:txBody>
          <a:bodyPr wrap="square" lIns="0" rIns="0" tIns="0" bIns="0" anchor="t">
            <a:noAutofit/>
          </a:bodyPr>
          <a:lstStyle/>
          <a:p>
            <a:pPr algn="l"/>
            <a:r>
              <a:rPr sz="1200" b="0" i="0">
                <a:solidFill>
                  <a:srgbClr val="53565A"/>
                </a:solidFill>
                <a:latin typeface="Arial"/>
              </a:rPr>
              <a:t>Path that must be blocked</a:t>
            </a:r>
          </a:p>
        </p:txBody>
      </p:sp>
      <p:sp>
        <p:nvSpPr>
          <p:cNvPr id="59" name="TextBox 58"/>
          <p:cNvSpPr txBox="1"/>
          <p:nvPr/>
        </p:nvSpPr>
        <p:spPr>
          <a:xfrm>
            <a:off x="548640" y="6108192"/>
            <a:ext cx="11064240" cy="256032"/>
          </a:xfrm>
          <a:prstGeom prst="rect">
            <a:avLst/>
          </a:prstGeom>
          <a:noFill/>
        </p:spPr>
        <p:txBody>
          <a:bodyPr wrap="square" lIns="0" rIns="0" tIns="0" bIns="0" anchor="t">
            <a:noAutofit/>
          </a:bodyPr>
          <a:lstStyle/>
          <a:p>
            <a:pPr algn="l"/>
            <a:r>
              <a:rPr sz="1200" b="1" i="0">
                <a:solidFill>
                  <a:srgbClr val="7373D8"/>
                </a:solidFill>
                <a:latin typeface="Arial"/>
              </a:rPr>
              <a:t>Proposed reference architecture  ·  CIS Infra custom design  ·  not a Microsoft-published or Microsoft-endorsed architecture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API Center decides which tools exist; APIM routes them</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7 OF 10</a:t>
            </a:r>
          </a:p>
        </p:txBody>
      </p:sp>
      <p:sp>
        <p:nvSpPr>
          <p:cNvPr id="5" name="Status chip: PROPOSED REFERENCE ARCHITECTURE"/>
          <p:cNvSpPr/>
          <p:nvPr/>
        </p:nvSpPr>
        <p:spPr>
          <a:xfrm>
            <a:off x="3658870" y="274320"/>
            <a:ext cx="29514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REFERENCE ARCHITECTURE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v4.0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07</a:t>
            </a:r>
          </a:p>
        </p:txBody>
      </p:sp>
      <p:pic>
        <p:nvPicPr>
          <p:cNvPr id="8" name="Azure icon: Users" descr="Official Azure icon: User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43000" y="1810512"/>
            <a:ext cx="457200" cy="457200"/>
          </a:xfrm>
          <a:prstGeom prst="rect">
            <a:avLst/>
          </a:prstGeom>
        </p:spPr>
      </p:pic>
      <p:sp>
        <p:nvSpPr>
          <p:cNvPr id="9" name="TextBox 8"/>
          <p:cNvSpPr txBox="1"/>
          <p:nvPr/>
        </p:nvSpPr>
        <p:spPr>
          <a:xfrm>
            <a:off x="539496" y="2304288"/>
            <a:ext cx="1664207" cy="512064"/>
          </a:xfrm>
          <a:prstGeom prst="rect">
            <a:avLst/>
          </a:prstGeom>
          <a:noFill/>
        </p:spPr>
        <p:txBody>
          <a:bodyPr wrap="square" lIns="0" rIns="0" tIns="0" bIns="0" anchor="t">
            <a:noAutofit/>
          </a:bodyPr>
          <a:lstStyle/>
          <a:p>
            <a:pPr algn="ctr"/>
            <a:r>
              <a:rPr sz="1300" b="1" i="0">
                <a:solidFill>
                  <a:srgbClr val="000048"/>
                </a:solidFill>
                <a:latin typeface="Arial"/>
              </a:rPr>
              <a:t>Tool owners</a:t>
            </a:r>
          </a:p>
          <a:p>
            <a:pPr algn="ctr"/>
            <a:r>
              <a:rPr sz="1200" b="0" i="0">
                <a:solidFill>
                  <a:srgbClr val="53565A"/>
                </a:solidFill>
                <a:latin typeface="Arial"/>
              </a:rPr>
              <a:t>register API or MCP</a:t>
            </a:r>
          </a:p>
        </p:txBody>
      </p:sp>
      <p:sp>
        <p:nvSpPr>
          <p:cNvPr id="10" name="Rounded Rectangle 9"/>
          <p:cNvSpPr/>
          <p:nvPr/>
        </p:nvSpPr>
        <p:spPr>
          <a:xfrm>
            <a:off x="2606040" y="1325880"/>
            <a:ext cx="3108960" cy="3108960"/>
          </a:xfrm>
          <a:prstGeom prst="roundRect">
            <a:avLst>
              <a:gd name="adj" fmla="val 2941"/>
            </a:avLst>
          </a:prstGeom>
          <a:solidFill>
            <a:srgbClr val="F6F5FD"/>
          </a:solidFill>
          <a:ln w="15875">
            <a:solidFill>
              <a:srgbClr val="7373D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715768" y="1380744"/>
            <a:ext cx="2889504" cy="237744"/>
          </a:xfrm>
          <a:prstGeom prst="rect">
            <a:avLst/>
          </a:prstGeom>
          <a:noFill/>
        </p:spPr>
        <p:txBody>
          <a:bodyPr wrap="square" lIns="0" rIns="0" tIns="0" bIns="0" anchor="t">
            <a:noAutofit/>
          </a:bodyPr>
          <a:lstStyle/>
          <a:p>
            <a:pPr algn="l"/>
            <a:r>
              <a:rPr sz="1200" b="1" i="0">
                <a:solidFill>
                  <a:srgbClr val="4B4BA8"/>
                </a:solidFill>
                <a:latin typeface="Arial"/>
              </a:rPr>
              <a:t>REGISTRY (DECIDES WHAT EXISTS)</a:t>
            </a:r>
          </a:p>
        </p:txBody>
      </p:sp>
      <p:sp>
        <p:nvSpPr>
          <p:cNvPr id="12" name="Rounded Rectangle 11"/>
          <p:cNvSpPr/>
          <p:nvPr/>
        </p:nvSpPr>
        <p:spPr>
          <a:xfrm>
            <a:off x="2788920" y="1691640"/>
            <a:ext cx="2743200" cy="822960"/>
          </a:xfrm>
          <a:prstGeom prst="roundRect">
            <a:avLst>
              <a:gd name="adj" fmla="val 8888"/>
            </a:avLst>
          </a:prstGeom>
          <a:solidFill>
            <a:srgbClr val="FFFFFF"/>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3" name="Azure icon: API Center" descr="Official Azure icon: API Cente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862072" y="1874520"/>
            <a:ext cx="457200" cy="457200"/>
          </a:xfrm>
          <a:prstGeom prst="rect">
            <a:avLst/>
          </a:prstGeom>
        </p:spPr>
      </p:pic>
      <p:sp>
        <p:nvSpPr>
          <p:cNvPr id="14" name="TextBox 13"/>
          <p:cNvSpPr txBox="1"/>
          <p:nvPr/>
        </p:nvSpPr>
        <p:spPr>
          <a:xfrm>
            <a:off x="3392424" y="1728216"/>
            <a:ext cx="2103120" cy="749808"/>
          </a:xfrm>
          <a:prstGeom prst="rect">
            <a:avLst/>
          </a:prstGeom>
          <a:noFill/>
        </p:spPr>
        <p:txBody>
          <a:bodyPr wrap="square" lIns="0" rIns="0" tIns="0" bIns="0" anchor="ctr">
            <a:noAutofit/>
          </a:bodyPr>
          <a:lstStyle/>
          <a:p>
            <a:pPr algn="l"/>
            <a:r>
              <a:rPr sz="1500" b="1" i="0">
                <a:solidFill>
                  <a:srgbClr val="000048"/>
                </a:solidFill>
                <a:latin typeface="Arial"/>
              </a:rPr>
              <a:t>API Center</a:t>
            </a:r>
          </a:p>
          <a:p>
            <a:pPr algn="l"/>
            <a:r>
              <a:rPr sz="1200" b="0" i="0">
                <a:solidFill>
                  <a:srgbClr val="53565A"/>
                </a:solidFill>
                <a:latin typeface="Arial"/>
              </a:rPr>
              <a:t>APIs and MCP servers</a:t>
            </a:r>
          </a:p>
        </p:txBody>
      </p:sp>
      <p:sp>
        <p:nvSpPr>
          <p:cNvPr id="15" name="TextBox 14"/>
          <p:cNvSpPr txBox="1"/>
          <p:nvPr/>
        </p:nvSpPr>
        <p:spPr>
          <a:xfrm>
            <a:off x="2788920" y="2651760"/>
            <a:ext cx="2743200" cy="1737360"/>
          </a:xfrm>
          <a:prstGeom prst="rect">
            <a:avLst/>
          </a:prstGeom>
          <a:noFill/>
        </p:spPr>
        <p:txBody>
          <a:bodyPr wrap="square" lIns="0" rIns="0" tIns="0" bIns="0" anchor="t">
            <a:noAutofit/>
          </a:bodyPr>
          <a:lstStyle/>
          <a:p>
            <a:pPr algn="l" marL="201168" indent="-201168">
              <a:spcAft>
                <a:spcPts val="200"/>
              </a:spcAft>
              <a:buFont typeface="Arial"/>
              <a:buChar char="•"/>
            </a:pPr>
            <a:r>
              <a:rPr sz="1700" b="0" i="0">
                <a:solidFill>
                  <a:srgbClr val="1E1E2E"/>
                </a:solidFill>
                <a:latin typeface="Arial"/>
              </a:rPr>
              <a:t>Owner and lifecycle</a:t>
            </a:r>
          </a:p>
          <a:p>
            <a:pPr algn="l" marL="201168" indent="-201168">
              <a:spcAft>
                <a:spcPts val="200"/>
              </a:spcAft>
              <a:buFont typeface="Arial"/>
              <a:buChar char="•"/>
            </a:pPr>
            <a:r>
              <a:rPr sz="1700" b="0" i="0">
                <a:solidFill>
                  <a:srgbClr val="1E1E2E"/>
                </a:solidFill>
                <a:latin typeface="Arial"/>
              </a:rPr>
              <a:t>Security approval</a:t>
            </a:r>
          </a:p>
          <a:p>
            <a:pPr algn="l" marL="201168" indent="-201168">
              <a:spcAft>
                <a:spcPts val="200"/>
              </a:spcAft>
              <a:buFont typeface="Arial"/>
              <a:buChar char="•"/>
            </a:pPr>
            <a:r>
              <a:rPr sz="1700" b="0" i="0">
                <a:solidFill>
                  <a:srgbClr val="1E1E2E"/>
                </a:solidFill>
                <a:latin typeface="Arial"/>
              </a:rPr>
              <a:t>Version and endpoint</a:t>
            </a:r>
          </a:p>
          <a:p>
            <a:pPr algn="l" marL="201168" indent="-201168">
              <a:spcAft>
                <a:spcPts val="200"/>
              </a:spcAft>
              <a:buFont typeface="Arial"/>
              <a:buChar char="•"/>
            </a:pPr>
            <a:r>
              <a:rPr sz="1700" b="0" i="0">
                <a:solidFill>
                  <a:srgbClr val="1E1E2E"/>
                </a:solidFill>
                <a:latin typeface="Arial"/>
              </a:rPr>
              <a:t>Agent discovery</a:t>
            </a:r>
          </a:p>
        </p:txBody>
      </p:sp>
      <p:sp>
        <p:nvSpPr>
          <p:cNvPr id="16" name="Rounded Rectangle 15"/>
          <p:cNvSpPr/>
          <p:nvPr/>
        </p:nvSpPr>
        <p:spPr>
          <a:xfrm>
            <a:off x="6172200" y="1325880"/>
            <a:ext cx="2423160" cy="3108960"/>
          </a:xfrm>
          <a:prstGeom prst="roundRect">
            <a:avLst>
              <a:gd name="adj" fmla="val 3773"/>
            </a:avLst>
          </a:prstGeom>
          <a:solidFill>
            <a:srgbClr val="FFFFFF"/>
          </a:solidFill>
          <a:ln w="15875">
            <a:solidFill>
              <a:srgbClr val="000048"/>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281928" y="1380744"/>
            <a:ext cx="2203704" cy="237744"/>
          </a:xfrm>
          <a:prstGeom prst="rect">
            <a:avLst/>
          </a:prstGeom>
          <a:noFill/>
        </p:spPr>
        <p:txBody>
          <a:bodyPr wrap="square" lIns="0" rIns="0" tIns="0" bIns="0" anchor="t">
            <a:noAutofit/>
          </a:bodyPr>
          <a:lstStyle/>
          <a:p>
            <a:pPr algn="l"/>
            <a:r>
              <a:rPr sz="1200" b="1" i="0">
                <a:solidFill>
                  <a:srgbClr val="000048"/>
                </a:solidFill>
                <a:latin typeface="Arial"/>
              </a:rPr>
              <a:t>GATEWAY (CONTROLS TRAFFIC)</a:t>
            </a:r>
          </a:p>
        </p:txBody>
      </p:sp>
      <p:pic>
        <p:nvPicPr>
          <p:cNvPr id="18" name="Azure icon: API Management" descr="Official Azure icon: API Management"/>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155180" y="1764792"/>
            <a:ext cx="457200" cy="457200"/>
          </a:xfrm>
          <a:prstGeom prst="rect">
            <a:avLst/>
          </a:prstGeom>
        </p:spPr>
      </p:pic>
      <p:sp>
        <p:nvSpPr>
          <p:cNvPr id="19" name="TextBox 18"/>
          <p:cNvSpPr txBox="1"/>
          <p:nvPr/>
        </p:nvSpPr>
        <p:spPr>
          <a:xfrm>
            <a:off x="6345936" y="2258568"/>
            <a:ext cx="2075688" cy="877824"/>
          </a:xfrm>
          <a:prstGeom prst="rect">
            <a:avLst/>
          </a:prstGeom>
          <a:noFill/>
        </p:spPr>
        <p:txBody>
          <a:bodyPr wrap="square" lIns="0" rIns="0" tIns="0" bIns="0" anchor="t">
            <a:noAutofit/>
          </a:bodyPr>
          <a:lstStyle/>
          <a:p>
            <a:pPr algn="ctr"/>
            <a:r>
              <a:rPr sz="1500" b="1" i="0">
                <a:solidFill>
                  <a:srgbClr val="000048"/>
                </a:solidFill>
                <a:latin typeface="Arial"/>
              </a:rPr>
              <a:t>API Management</a:t>
            </a:r>
          </a:p>
          <a:p>
            <a:pPr algn="ctr"/>
            <a:r>
              <a:rPr sz="1200" b="0" i="0">
                <a:solidFill>
                  <a:srgbClr val="53565A"/>
                </a:solidFill>
                <a:latin typeface="Arial"/>
              </a:rPr>
              <a:t>routes only approved</a:t>
            </a:r>
          </a:p>
        </p:txBody>
      </p:sp>
      <p:sp>
        <p:nvSpPr>
          <p:cNvPr id="20" name="TextBox 19"/>
          <p:cNvSpPr txBox="1"/>
          <p:nvPr/>
        </p:nvSpPr>
        <p:spPr>
          <a:xfrm>
            <a:off x="6309360" y="3291840"/>
            <a:ext cx="2148840" cy="1097280"/>
          </a:xfrm>
          <a:prstGeom prst="rect">
            <a:avLst/>
          </a:prstGeom>
          <a:noFill/>
        </p:spPr>
        <p:txBody>
          <a:bodyPr wrap="square" lIns="0" rIns="0" tIns="0" bIns="0" anchor="t">
            <a:noAutofit/>
          </a:bodyPr>
          <a:lstStyle/>
          <a:p>
            <a:pPr algn="ctr"/>
            <a:r>
              <a:rPr sz="1600" b="0" i="0">
                <a:solidFill>
                  <a:srgbClr val="53565A"/>
                </a:solidFill>
                <a:latin typeface="Arial"/>
              </a:rPr>
              <a:t>identity, limits, logging per tool call</a:t>
            </a:r>
          </a:p>
        </p:txBody>
      </p:sp>
      <p:sp>
        <p:nvSpPr>
          <p:cNvPr id="21" name="Rounded Rectangle 20"/>
          <p:cNvSpPr/>
          <p:nvPr/>
        </p:nvSpPr>
        <p:spPr>
          <a:xfrm>
            <a:off x="9052560" y="1325880"/>
            <a:ext cx="2697480" cy="3108960"/>
          </a:xfrm>
          <a:prstGeom prst="roundRect">
            <a:avLst>
              <a:gd name="adj" fmla="val 3389"/>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162288" y="1380744"/>
            <a:ext cx="2478024" cy="237744"/>
          </a:xfrm>
          <a:prstGeom prst="rect">
            <a:avLst/>
          </a:prstGeom>
          <a:noFill/>
        </p:spPr>
        <p:txBody>
          <a:bodyPr wrap="square" lIns="0" rIns="0" tIns="0" bIns="0" anchor="t">
            <a:noAutofit/>
          </a:bodyPr>
          <a:lstStyle/>
          <a:p>
            <a:pPr algn="l"/>
            <a:r>
              <a:rPr sz="1200" b="1" i="0">
                <a:solidFill>
                  <a:srgbClr val="000048"/>
                </a:solidFill>
                <a:latin typeface="Arial"/>
              </a:rPr>
              <a:t>CONSUMERS</a:t>
            </a:r>
          </a:p>
        </p:txBody>
      </p:sp>
      <p:pic>
        <p:nvPicPr>
          <p:cNvPr id="23" name="Azure icon: Foundry Agent Service" descr="Official Azure icon: Foundry Agent Service"/>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262872" y="1819656"/>
            <a:ext cx="384048" cy="384048"/>
          </a:xfrm>
          <a:prstGeom prst="rect">
            <a:avLst/>
          </a:prstGeom>
        </p:spPr>
      </p:pic>
      <p:sp>
        <p:nvSpPr>
          <p:cNvPr id="24" name="TextBox 23"/>
          <p:cNvSpPr txBox="1"/>
          <p:nvPr/>
        </p:nvSpPr>
        <p:spPr>
          <a:xfrm>
            <a:off x="9720072" y="1682496"/>
            <a:ext cx="1856231" cy="658368"/>
          </a:xfrm>
          <a:prstGeom prst="rect">
            <a:avLst/>
          </a:prstGeom>
          <a:noFill/>
        </p:spPr>
        <p:txBody>
          <a:bodyPr wrap="square" lIns="0" rIns="0" tIns="0" bIns="0" anchor="ctr">
            <a:noAutofit/>
          </a:bodyPr>
          <a:lstStyle/>
          <a:p>
            <a:pPr algn="l"/>
            <a:r>
              <a:rPr sz="1400" b="1" i="0">
                <a:solidFill>
                  <a:srgbClr val="000048"/>
                </a:solidFill>
                <a:latin typeface="Arial"/>
              </a:rPr>
              <a:t>Foundry agents</a:t>
            </a:r>
          </a:p>
          <a:p>
            <a:pPr algn="l"/>
            <a:r>
              <a:rPr sz="1200" b="0" i="0">
                <a:solidFill>
                  <a:srgbClr val="53565A"/>
                </a:solidFill>
                <a:latin typeface="Arial"/>
              </a:rPr>
              <a:t>tool catalogue</a:t>
            </a:r>
          </a:p>
        </p:txBody>
      </p:sp>
      <p:sp>
        <p:nvSpPr>
          <p:cNvPr id="25" name="Rounded Rectangle 24"/>
          <p:cNvSpPr/>
          <p:nvPr/>
        </p:nvSpPr>
        <p:spPr>
          <a:xfrm>
            <a:off x="9189720" y="2514600"/>
            <a:ext cx="2423160" cy="731520"/>
          </a:xfrm>
          <a:prstGeom prst="roundRect">
            <a:avLst>
              <a:gd name="adj" fmla="val 10000"/>
            </a:avLst>
          </a:prstGeom>
          <a:solidFill>
            <a:srgbClr val="FFFFFF"/>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noAutofit/>
          </a:bodyPr>
          <a:lstStyle/>
          <a:p>
            <a:pPr algn="ctr"/>
            <a:r>
              <a:rPr sz="1400" b="1" i="0">
                <a:solidFill>
                  <a:srgbClr val="000048"/>
                </a:solidFill>
                <a:latin typeface="Arial"/>
              </a:rPr>
              <a:t>Copilot Studio</a:t>
            </a:r>
          </a:p>
          <a:p>
            <a:pPr algn="ctr"/>
            <a:r>
              <a:rPr sz="1200" b="0" i="0">
                <a:solidFill>
                  <a:srgbClr val="53565A"/>
                </a:solidFill>
                <a:latin typeface="Arial"/>
              </a:rPr>
              <a:t>connectors via APIM</a:t>
            </a:r>
          </a:p>
        </p:txBody>
      </p:sp>
      <p:sp>
        <p:nvSpPr>
          <p:cNvPr id="26" name="Rounded Rectangle 25"/>
          <p:cNvSpPr/>
          <p:nvPr/>
        </p:nvSpPr>
        <p:spPr>
          <a:xfrm>
            <a:off x="9189720" y="3383280"/>
            <a:ext cx="2423160" cy="731520"/>
          </a:xfrm>
          <a:prstGeom prst="roundRect">
            <a:avLst>
              <a:gd name="adj" fmla="val 10000"/>
            </a:avLst>
          </a:prstGeom>
          <a:solidFill>
            <a:srgbClr val="FFFFFF"/>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noAutofit/>
          </a:bodyPr>
          <a:lstStyle/>
          <a:p>
            <a:pPr algn="ctr"/>
            <a:r>
              <a:rPr sz="1400" b="1" i="0">
                <a:solidFill>
                  <a:srgbClr val="000048"/>
                </a:solidFill>
                <a:latin typeface="Arial"/>
              </a:rPr>
              <a:t>GitHub Copilot, VS Code</a:t>
            </a:r>
          </a:p>
          <a:p>
            <a:pPr algn="ctr"/>
            <a:r>
              <a:rPr sz="1200" b="0" i="0">
                <a:solidFill>
                  <a:srgbClr val="53565A"/>
                </a:solidFill>
                <a:latin typeface="Arial"/>
              </a:rPr>
              <a:t>private MCP registry</a:t>
            </a:r>
          </a:p>
        </p:txBody>
      </p:sp>
      <p:cxnSp>
        <p:nvCxnSpPr>
          <p:cNvPr id="27" name="Connector (flow)"/>
          <p:cNvCxnSpPr/>
          <p:nvPr/>
        </p:nvCxnSpPr>
        <p:spPr>
          <a:xfrm>
            <a:off x="2240280" y="2103120"/>
            <a:ext cx="3657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2286000" y="160020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1</a:t>
            </a:r>
          </a:p>
        </p:txBody>
      </p:sp>
      <p:cxnSp>
        <p:nvCxnSpPr>
          <p:cNvPr id="29" name="Connector (flow)"/>
          <p:cNvCxnSpPr/>
          <p:nvPr/>
        </p:nvCxnSpPr>
        <p:spPr>
          <a:xfrm>
            <a:off x="5715000" y="2103120"/>
            <a:ext cx="45720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212080" y="1783080"/>
            <a:ext cx="1463040" cy="256032"/>
          </a:xfrm>
          <a:prstGeom prst="rect">
            <a:avLst/>
          </a:prstGeom>
          <a:noFill/>
        </p:spPr>
        <p:txBody>
          <a:bodyPr wrap="square" lIns="0" rIns="0" tIns="0" bIns="0" anchor="t">
            <a:noAutofit/>
          </a:bodyPr>
          <a:lstStyle/>
          <a:p>
            <a:pPr algn="ctr"/>
            <a:r>
              <a:rPr sz="1200" b="0" i="0">
                <a:solidFill>
                  <a:srgbClr val="000048"/>
                </a:solidFill>
                <a:latin typeface="Arial"/>
              </a:rPr>
              <a:t>sync</a:t>
            </a:r>
          </a:p>
        </p:txBody>
      </p:sp>
      <p:sp>
        <p:nvSpPr>
          <p:cNvPr id="31" name="Oval 30"/>
          <p:cNvSpPr/>
          <p:nvPr/>
        </p:nvSpPr>
        <p:spPr>
          <a:xfrm>
            <a:off x="5806440" y="233172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2</a:t>
            </a:r>
          </a:p>
        </p:txBody>
      </p:sp>
      <p:cxnSp>
        <p:nvCxnSpPr>
          <p:cNvPr id="32" name="Connector (flow)"/>
          <p:cNvCxnSpPr/>
          <p:nvPr/>
        </p:nvCxnSpPr>
        <p:spPr>
          <a:xfrm>
            <a:off x="8595360" y="2103120"/>
            <a:ext cx="45720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8686800" y="233172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3</a:t>
            </a:r>
          </a:p>
        </p:txBody>
      </p:sp>
      <p:sp>
        <p:nvSpPr>
          <p:cNvPr id="34" name="Rounded Rectangle 33"/>
          <p:cNvSpPr/>
          <p:nvPr/>
        </p:nvSpPr>
        <p:spPr>
          <a:xfrm>
            <a:off x="548640" y="4617720"/>
            <a:ext cx="11091672" cy="868680"/>
          </a:xfrm>
          <a:prstGeom prst="roundRect">
            <a:avLst>
              <a:gd name="adj" fmla="val 8421"/>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73152" bIns="73152" wrap="square">
            <a:noAutofit/>
          </a:bodyPr>
          <a:lstStyle/>
          <a:p>
            <a:pPr algn="l"/>
            <a:r>
              <a:rPr sz="1900" b="1" i="0">
                <a:solidFill>
                  <a:srgbClr val="FFFFFF"/>
                </a:solidFill>
                <a:latin typeface="Arial"/>
              </a:rPr>
              <a:t>Proposed rule:  </a:t>
            </a:r>
            <a:r>
              <a:rPr sz="1900" b="0" i="0">
                <a:solidFill>
                  <a:srgbClr val="FFFFFF"/>
                </a:solidFill>
                <a:latin typeface="Arial"/>
              </a:rPr>
              <a:t>a tool is allowed only if it is registered and approved in API Center, and its traffic goes through API Management.</a:t>
            </a:r>
          </a:p>
        </p:txBody>
      </p:sp>
      <p:cxnSp>
        <p:nvCxnSpPr>
          <p:cNvPr id="35" name="Connector (flow)"/>
          <p:cNvCxnSpPr/>
          <p:nvPr/>
        </p:nvCxnSpPr>
        <p:spPr>
          <a:xfrm>
            <a:off x="548640" y="5742432"/>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1024128" y="5623560"/>
            <a:ext cx="1325880" cy="256032"/>
          </a:xfrm>
          <a:prstGeom prst="rect">
            <a:avLst/>
          </a:prstGeom>
          <a:noFill/>
        </p:spPr>
        <p:txBody>
          <a:bodyPr wrap="square" lIns="0" rIns="0" tIns="0" bIns="0" anchor="t">
            <a:noAutofit/>
          </a:bodyPr>
          <a:lstStyle/>
          <a:p>
            <a:pPr algn="l"/>
            <a:r>
              <a:rPr sz="1200" b="0" i="0">
                <a:solidFill>
                  <a:srgbClr val="53565A"/>
                </a:solidFill>
                <a:latin typeface="Arial"/>
              </a:rPr>
              <a:t>Request / data flow</a:t>
            </a:r>
          </a:p>
        </p:txBody>
      </p:sp>
      <p:sp>
        <p:nvSpPr>
          <p:cNvPr id="37" name="TextBox 36"/>
          <p:cNvSpPr txBox="1"/>
          <p:nvPr/>
        </p:nvSpPr>
        <p:spPr>
          <a:xfrm>
            <a:off x="548640" y="5943600"/>
            <a:ext cx="11064240" cy="256032"/>
          </a:xfrm>
          <a:prstGeom prst="rect">
            <a:avLst/>
          </a:prstGeom>
          <a:noFill/>
        </p:spPr>
        <p:txBody>
          <a:bodyPr wrap="square" lIns="0" rIns="0" tIns="0" bIns="0" anchor="t">
            <a:noAutofit/>
          </a:bodyPr>
          <a:lstStyle/>
          <a:p>
            <a:pPr algn="l"/>
            <a:r>
              <a:rPr sz="1200" b="1" i="0">
                <a:solidFill>
                  <a:srgbClr val="7373D8"/>
                </a:solidFill>
                <a:latin typeface="Arial"/>
              </a:rPr>
              <a:t>Proposed reference architecture  ·  CIS Infra custom design  ·  not a Microsoft-published or Microsoft-endorsed architecture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Gateway identity pattern with current labels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A3</a:t>
            </a:r>
          </a:p>
        </p:txBody>
      </p:sp>
      <p:sp>
        <p:nvSpPr>
          <p:cNvPr id="5" name="Status chip: ADAPTED, LEGACY LABELS REPLACED"/>
          <p:cNvSpPr/>
          <p:nvPr/>
        </p:nvSpPr>
        <p:spPr>
          <a:xfrm>
            <a:off x="1898650" y="274320"/>
            <a:ext cx="295148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ADAPTED, LEGACY LABELS REPLACED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v4.0  ·  11 Oct 2026  ·  Working proposal, not approved terms</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15</a:t>
            </a:r>
          </a:p>
        </p:txBody>
      </p:sp>
      <p:pic>
        <p:nvPicPr>
          <p:cNvPr id="9" name="Azure icon: app-registrations" descr="Official Azure icon: app-registration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234440" y="2770632"/>
            <a:ext cx="457200" cy="457200"/>
          </a:xfrm>
          <a:prstGeom prst="rect">
            <a:avLst/>
          </a:prstGeom>
        </p:spPr>
      </p:pic>
      <p:sp>
        <p:nvSpPr>
          <p:cNvPr id="10" name="TextBox 9"/>
          <p:cNvSpPr txBox="1"/>
          <p:nvPr/>
        </p:nvSpPr>
        <p:spPr>
          <a:xfrm>
            <a:off x="585216" y="3264408"/>
            <a:ext cx="1755648" cy="512064"/>
          </a:xfrm>
          <a:prstGeom prst="rect">
            <a:avLst/>
          </a:prstGeom>
          <a:noFill/>
        </p:spPr>
        <p:txBody>
          <a:bodyPr wrap="square" lIns="0" rIns="0" tIns="0" bIns="0" anchor="t">
            <a:noAutofit/>
          </a:bodyPr>
          <a:lstStyle/>
          <a:p>
            <a:pPr algn="ctr"/>
            <a:r>
              <a:rPr sz="1300" b="1" i="0">
                <a:solidFill>
                  <a:srgbClr val="000048"/>
                </a:solidFill>
                <a:latin typeface="Arial"/>
              </a:rPr>
              <a:t>Intelligent application</a:t>
            </a:r>
          </a:p>
          <a:p>
            <a:pPr algn="ctr"/>
            <a:r>
              <a:rPr sz="1200" b="0" i="0">
                <a:solidFill>
                  <a:srgbClr val="53565A"/>
                </a:solidFill>
                <a:latin typeface="Arial"/>
              </a:rPr>
              <a:t>client</a:t>
            </a:r>
          </a:p>
        </p:txBody>
      </p:sp>
      <p:sp>
        <p:nvSpPr>
          <p:cNvPr id="11" name="Rounded Rectangle 10"/>
          <p:cNvSpPr/>
          <p:nvPr/>
        </p:nvSpPr>
        <p:spPr>
          <a:xfrm>
            <a:off x="3657600" y="1371600"/>
            <a:ext cx="2103120" cy="868680"/>
          </a:xfrm>
          <a:prstGeom prst="roundRect">
            <a:avLst>
              <a:gd name="adj" fmla="val 8421"/>
            </a:avLst>
          </a:prstGeom>
          <a:solidFill>
            <a:srgbClr val="FFFFFF"/>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noAutofit/>
          </a:bodyPr>
          <a:lstStyle/>
          <a:p>
            <a:pPr algn="ctr"/>
            <a:r>
              <a:rPr sz="1300" b="1" i="0">
                <a:solidFill>
                  <a:srgbClr val="000048"/>
                </a:solidFill>
                <a:latin typeface="Arial"/>
              </a:rPr>
              <a:t>Identity provider</a:t>
            </a:r>
          </a:p>
          <a:p>
            <a:pPr algn="ctr"/>
            <a:r>
              <a:rPr sz="1200" b="0" i="0">
                <a:solidFill>
                  <a:srgbClr val="53565A"/>
                </a:solidFill>
                <a:latin typeface="Arial"/>
              </a:rPr>
              <a:t>Microsoft Entra ID or external IdP</a:t>
            </a:r>
          </a:p>
        </p:txBody>
      </p:sp>
      <p:sp>
        <p:nvSpPr>
          <p:cNvPr id="12" name="Rounded Rectangle 11"/>
          <p:cNvSpPr/>
          <p:nvPr/>
        </p:nvSpPr>
        <p:spPr>
          <a:xfrm>
            <a:off x="3017520" y="2514600"/>
            <a:ext cx="3840480" cy="2011680"/>
          </a:xfrm>
          <a:prstGeom prst="roundRect">
            <a:avLst>
              <a:gd name="adj" fmla="val 4545"/>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127248" y="2569464"/>
            <a:ext cx="3621024" cy="237744"/>
          </a:xfrm>
          <a:prstGeom prst="rect">
            <a:avLst/>
          </a:prstGeom>
          <a:noFill/>
        </p:spPr>
        <p:txBody>
          <a:bodyPr wrap="square" lIns="0" rIns="0" tIns="0" bIns="0" anchor="t">
            <a:noAutofit/>
          </a:bodyPr>
          <a:lstStyle/>
          <a:p>
            <a:pPr algn="l"/>
            <a:r>
              <a:rPr sz="1200" b="1" i="0">
                <a:solidFill>
                  <a:srgbClr val="000048"/>
                </a:solidFill>
                <a:latin typeface="Arial"/>
              </a:rPr>
              <a:t>GATEWAY RESOURCE GROUP</a:t>
            </a:r>
          </a:p>
        </p:txBody>
      </p:sp>
      <p:pic>
        <p:nvPicPr>
          <p:cNvPr id="14" name="Azure icon: API Management" descr="Official Azure icon: API Management"/>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794760" y="2953512"/>
            <a:ext cx="457200" cy="457200"/>
          </a:xfrm>
          <a:prstGeom prst="rect">
            <a:avLst/>
          </a:prstGeom>
        </p:spPr>
      </p:pic>
      <p:sp>
        <p:nvSpPr>
          <p:cNvPr id="15" name="TextBox 14"/>
          <p:cNvSpPr txBox="1"/>
          <p:nvPr/>
        </p:nvSpPr>
        <p:spPr>
          <a:xfrm>
            <a:off x="3236976" y="3447288"/>
            <a:ext cx="1572768" cy="512064"/>
          </a:xfrm>
          <a:prstGeom prst="rect">
            <a:avLst/>
          </a:prstGeom>
          <a:noFill/>
        </p:spPr>
        <p:txBody>
          <a:bodyPr wrap="square" lIns="0" rIns="0" tIns="0" bIns="0" anchor="t">
            <a:noAutofit/>
          </a:bodyPr>
          <a:lstStyle/>
          <a:p>
            <a:pPr algn="ctr"/>
            <a:r>
              <a:rPr sz="1300" b="1" i="0">
                <a:solidFill>
                  <a:srgbClr val="000048"/>
                </a:solidFill>
                <a:latin typeface="Arial"/>
              </a:rPr>
              <a:t>API Management</a:t>
            </a:r>
          </a:p>
          <a:p>
            <a:pPr algn="ctr"/>
            <a:r>
              <a:rPr sz="1200" b="0" i="0">
                <a:solidFill>
                  <a:srgbClr val="53565A"/>
                </a:solidFill>
                <a:latin typeface="Arial"/>
              </a:rPr>
              <a:t>validates JWT</a:t>
            </a:r>
          </a:p>
        </p:txBody>
      </p:sp>
      <p:pic>
        <p:nvPicPr>
          <p:cNvPr id="16" name="Azure icon: Managed Identities" descr="Official Azure icon: Managed Identities"/>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577840" y="2953512"/>
            <a:ext cx="457200" cy="457200"/>
          </a:xfrm>
          <a:prstGeom prst="rect">
            <a:avLst/>
          </a:prstGeom>
        </p:spPr>
      </p:pic>
      <p:sp>
        <p:nvSpPr>
          <p:cNvPr id="17" name="TextBox 16"/>
          <p:cNvSpPr txBox="1"/>
          <p:nvPr/>
        </p:nvSpPr>
        <p:spPr>
          <a:xfrm>
            <a:off x="5020056" y="3447288"/>
            <a:ext cx="1572768" cy="512064"/>
          </a:xfrm>
          <a:prstGeom prst="rect">
            <a:avLst/>
          </a:prstGeom>
          <a:noFill/>
        </p:spPr>
        <p:txBody>
          <a:bodyPr wrap="square" lIns="0" rIns="0" tIns="0" bIns="0" anchor="t">
            <a:noAutofit/>
          </a:bodyPr>
          <a:lstStyle/>
          <a:p>
            <a:pPr algn="ctr"/>
            <a:r>
              <a:rPr sz="1300" b="1" i="0">
                <a:solidFill>
                  <a:srgbClr val="000048"/>
                </a:solidFill>
                <a:latin typeface="Arial"/>
              </a:rPr>
              <a:t>Managed identity</a:t>
            </a:r>
          </a:p>
          <a:p>
            <a:pPr algn="ctr"/>
            <a:r>
              <a:rPr sz="1200" b="0" i="0">
                <a:solidFill>
                  <a:srgbClr val="53565A"/>
                </a:solidFill>
                <a:latin typeface="Arial"/>
              </a:rPr>
              <a:t>to backends</a:t>
            </a:r>
          </a:p>
        </p:txBody>
      </p:sp>
      <p:sp>
        <p:nvSpPr>
          <p:cNvPr id="18" name="Rounded Rectangle 17"/>
          <p:cNvSpPr/>
          <p:nvPr/>
        </p:nvSpPr>
        <p:spPr>
          <a:xfrm>
            <a:off x="7680960" y="1371600"/>
            <a:ext cx="4023360" cy="1920240"/>
          </a:xfrm>
          <a:prstGeom prst="roundRect">
            <a:avLst>
              <a:gd name="adj" fmla="val 4761"/>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790688" y="1426464"/>
            <a:ext cx="3803904" cy="237744"/>
          </a:xfrm>
          <a:prstGeom prst="rect">
            <a:avLst/>
          </a:prstGeom>
          <a:noFill/>
        </p:spPr>
        <p:txBody>
          <a:bodyPr wrap="square" lIns="0" rIns="0" tIns="0" bIns="0" anchor="t">
            <a:noAutofit/>
          </a:bodyPr>
          <a:lstStyle/>
          <a:p>
            <a:pPr algn="l"/>
            <a:r>
              <a:rPr sz="1200" b="1" i="0">
                <a:solidFill>
                  <a:srgbClr val="000048"/>
                </a:solidFill>
                <a:latin typeface="Arial"/>
              </a:rPr>
              <a:t>REGION A RESOURCE GROUP</a:t>
            </a:r>
          </a:p>
        </p:txBody>
      </p:sp>
      <p:pic>
        <p:nvPicPr>
          <p:cNvPr id="20" name="Azure icon: Microsoft Foundry" descr="Official Azure icon: Microsoft Foundry"/>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503919" y="1856231"/>
            <a:ext cx="457200" cy="457200"/>
          </a:xfrm>
          <a:prstGeom prst="rect">
            <a:avLst/>
          </a:prstGeom>
        </p:spPr>
      </p:pic>
      <p:sp>
        <p:nvSpPr>
          <p:cNvPr id="21" name="TextBox 20"/>
          <p:cNvSpPr txBox="1"/>
          <p:nvPr/>
        </p:nvSpPr>
        <p:spPr>
          <a:xfrm>
            <a:off x="7900415" y="2350008"/>
            <a:ext cx="1664207" cy="512064"/>
          </a:xfrm>
          <a:prstGeom prst="rect">
            <a:avLst/>
          </a:prstGeom>
          <a:noFill/>
        </p:spPr>
        <p:txBody>
          <a:bodyPr wrap="square" lIns="0" rIns="0" tIns="0" bIns="0" anchor="t">
            <a:noAutofit/>
          </a:bodyPr>
          <a:lstStyle/>
          <a:p>
            <a:pPr algn="ctr"/>
            <a:r>
              <a:rPr sz="1300" b="1" i="0">
                <a:solidFill>
                  <a:srgbClr val="000048"/>
                </a:solidFill>
                <a:latin typeface="Arial"/>
              </a:rPr>
              <a:t>Microsoft Foundry</a:t>
            </a:r>
          </a:p>
          <a:p>
            <a:pPr algn="ctr"/>
            <a:r>
              <a:rPr sz="1200" b="0" i="0">
                <a:solidFill>
                  <a:srgbClr val="53565A"/>
                </a:solidFill>
                <a:latin typeface="Arial"/>
              </a:rPr>
              <a:t>resource</a:t>
            </a:r>
          </a:p>
        </p:txBody>
      </p:sp>
      <p:pic>
        <p:nvPicPr>
          <p:cNvPr id="22" name="Azure icon: Foundry Models" descr="Official Azure icon: Foundry Models"/>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0378440" y="1856231"/>
            <a:ext cx="457200" cy="457200"/>
          </a:xfrm>
          <a:prstGeom prst="rect">
            <a:avLst/>
          </a:prstGeom>
        </p:spPr>
      </p:pic>
      <p:sp>
        <p:nvSpPr>
          <p:cNvPr id="23" name="TextBox 22"/>
          <p:cNvSpPr txBox="1"/>
          <p:nvPr/>
        </p:nvSpPr>
        <p:spPr>
          <a:xfrm>
            <a:off x="9729215" y="2350008"/>
            <a:ext cx="1755648" cy="512064"/>
          </a:xfrm>
          <a:prstGeom prst="rect">
            <a:avLst/>
          </a:prstGeom>
          <a:noFill/>
        </p:spPr>
        <p:txBody>
          <a:bodyPr wrap="square" lIns="0" rIns="0" tIns="0" bIns="0" anchor="t">
            <a:noAutofit/>
          </a:bodyPr>
          <a:lstStyle/>
          <a:p>
            <a:pPr algn="ctr"/>
            <a:r>
              <a:rPr sz="1300" b="1" i="0">
                <a:solidFill>
                  <a:srgbClr val="000048"/>
                </a:solidFill>
                <a:latin typeface="Arial"/>
              </a:rPr>
              <a:t>Model deployment</a:t>
            </a:r>
          </a:p>
          <a:p>
            <a:pPr algn="ctr"/>
            <a:r>
              <a:rPr sz="1200" b="0" i="0">
                <a:solidFill>
                  <a:srgbClr val="53565A"/>
                </a:solidFill>
                <a:latin typeface="Arial"/>
              </a:rPr>
              <a:t>customer-selected model</a:t>
            </a:r>
          </a:p>
        </p:txBody>
      </p:sp>
      <p:sp>
        <p:nvSpPr>
          <p:cNvPr id="24" name="Rounded Rectangle 23"/>
          <p:cNvSpPr/>
          <p:nvPr/>
        </p:nvSpPr>
        <p:spPr>
          <a:xfrm>
            <a:off x="7680960" y="3566160"/>
            <a:ext cx="4023360" cy="1920240"/>
          </a:xfrm>
          <a:prstGeom prst="roundRect">
            <a:avLst>
              <a:gd name="adj" fmla="val 4761"/>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790688" y="3621024"/>
            <a:ext cx="3803904" cy="237744"/>
          </a:xfrm>
          <a:prstGeom prst="rect">
            <a:avLst/>
          </a:prstGeom>
          <a:noFill/>
        </p:spPr>
        <p:txBody>
          <a:bodyPr wrap="square" lIns="0" rIns="0" tIns="0" bIns="0" anchor="t">
            <a:noAutofit/>
          </a:bodyPr>
          <a:lstStyle/>
          <a:p>
            <a:pPr algn="l"/>
            <a:r>
              <a:rPr sz="1200" b="1" i="0">
                <a:solidFill>
                  <a:srgbClr val="000048"/>
                </a:solidFill>
                <a:latin typeface="Arial"/>
              </a:rPr>
              <a:t>REGION B RESOURCE GROUP</a:t>
            </a:r>
          </a:p>
        </p:txBody>
      </p:sp>
      <p:pic>
        <p:nvPicPr>
          <p:cNvPr id="26" name="Azure icon: Microsoft Foundry" descr="Official Azure icon: Microsoft Foundry"/>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503919" y="4050791"/>
            <a:ext cx="457200" cy="457200"/>
          </a:xfrm>
          <a:prstGeom prst="rect">
            <a:avLst/>
          </a:prstGeom>
        </p:spPr>
      </p:pic>
      <p:sp>
        <p:nvSpPr>
          <p:cNvPr id="27" name="TextBox 26"/>
          <p:cNvSpPr txBox="1"/>
          <p:nvPr/>
        </p:nvSpPr>
        <p:spPr>
          <a:xfrm>
            <a:off x="7900415" y="4544568"/>
            <a:ext cx="1664207" cy="512064"/>
          </a:xfrm>
          <a:prstGeom prst="rect">
            <a:avLst/>
          </a:prstGeom>
          <a:noFill/>
        </p:spPr>
        <p:txBody>
          <a:bodyPr wrap="square" lIns="0" rIns="0" tIns="0" bIns="0" anchor="t">
            <a:noAutofit/>
          </a:bodyPr>
          <a:lstStyle/>
          <a:p>
            <a:pPr algn="ctr"/>
            <a:r>
              <a:rPr sz="1300" b="1" i="0">
                <a:solidFill>
                  <a:srgbClr val="000048"/>
                </a:solidFill>
                <a:latin typeface="Arial"/>
              </a:rPr>
              <a:t>Microsoft Foundry</a:t>
            </a:r>
          </a:p>
          <a:p>
            <a:pPr algn="ctr"/>
            <a:r>
              <a:rPr sz="1200" b="0" i="0">
                <a:solidFill>
                  <a:srgbClr val="53565A"/>
                </a:solidFill>
                <a:latin typeface="Arial"/>
              </a:rPr>
              <a:t>resource</a:t>
            </a:r>
          </a:p>
        </p:txBody>
      </p:sp>
      <p:pic>
        <p:nvPicPr>
          <p:cNvPr id="28" name="Azure icon: Foundry Models" descr="Official Azure icon: Foundry Models"/>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0378440" y="4050791"/>
            <a:ext cx="457200" cy="457200"/>
          </a:xfrm>
          <a:prstGeom prst="rect">
            <a:avLst/>
          </a:prstGeom>
        </p:spPr>
      </p:pic>
      <p:sp>
        <p:nvSpPr>
          <p:cNvPr id="29" name="TextBox 28"/>
          <p:cNvSpPr txBox="1"/>
          <p:nvPr/>
        </p:nvSpPr>
        <p:spPr>
          <a:xfrm>
            <a:off x="9729215" y="4544568"/>
            <a:ext cx="1755648" cy="512064"/>
          </a:xfrm>
          <a:prstGeom prst="rect">
            <a:avLst/>
          </a:prstGeom>
          <a:noFill/>
        </p:spPr>
        <p:txBody>
          <a:bodyPr wrap="square" lIns="0" rIns="0" tIns="0" bIns="0" anchor="t">
            <a:noAutofit/>
          </a:bodyPr>
          <a:lstStyle/>
          <a:p>
            <a:pPr algn="ctr"/>
            <a:r>
              <a:rPr sz="1300" b="1" i="0">
                <a:solidFill>
                  <a:srgbClr val="000048"/>
                </a:solidFill>
                <a:latin typeface="Arial"/>
              </a:rPr>
              <a:t>Model deployment</a:t>
            </a:r>
          </a:p>
          <a:p>
            <a:pPr algn="ctr"/>
            <a:r>
              <a:rPr sz="1200" b="0" i="0">
                <a:solidFill>
                  <a:srgbClr val="53565A"/>
                </a:solidFill>
                <a:latin typeface="Arial"/>
              </a:rPr>
              <a:t>customer-selected model</a:t>
            </a:r>
          </a:p>
        </p:txBody>
      </p:sp>
      <p:cxnSp>
        <p:nvCxnSpPr>
          <p:cNvPr id="30" name="Connector (telemetry)"/>
          <p:cNvCxnSpPr/>
          <p:nvPr/>
        </p:nvCxnSpPr>
        <p:spPr>
          <a:xfrm flipV="1">
            <a:off x="1463040" y="1801368"/>
            <a:ext cx="0" cy="896112"/>
          </a:xfrm>
          <a:prstGeom prst="line">
            <a:avLst/>
          </a:prstGeom>
          <a:ln w="15875">
            <a:solidFill>
              <a:srgbClr val="8A8A8A"/>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telemetry)"/>
          <p:cNvCxnSpPr/>
          <p:nvPr/>
        </p:nvCxnSpPr>
        <p:spPr>
          <a:xfrm>
            <a:off x="1463040" y="1801368"/>
            <a:ext cx="2194560" cy="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600200" y="1463040"/>
            <a:ext cx="2011680" cy="274320"/>
          </a:xfrm>
          <a:prstGeom prst="rect">
            <a:avLst/>
          </a:prstGeom>
          <a:noFill/>
        </p:spPr>
        <p:txBody>
          <a:bodyPr wrap="square" lIns="0" rIns="0" tIns="0" bIns="0" anchor="t">
            <a:noAutofit/>
          </a:bodyPr>
          <a:lstStyle/>
          <a:p>
            <a:pPr algn="l"/>
            <a:r>
              <a:rPr sz="1200" b="0" i="0">
                <a:solidFill>
                  <a:srgbClr val="53565A"/>
                </a:solidFill>
                <a:latin typeface="Arial"/>
              </a:rPr>
              <a:t>obtain token</a:t>
            </a:r>
          </a:p>
        </p:txBody>
      </p:sp>
      <p:cxnSp>
        <p:nvCxnSpPr>
          <p:cNvPr id="33" name="Connector (flow)"/>
          <p:cNvCxnSpPr/>
          <p:nvPr/>
        </p:nvCxnSpPr>
        <p:spPr>
          <a:xfrm>
            <a:off x="2377440" y="3154680"/>
            <a:ext cx="8229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2240280" y="2697480"/>
            <a:ext cx="914400" cy="411480"/>
          </a:xfrm>
          <a:prstGeom prst="rect">
            <a:avLst/>
          </a:prstGeom>
          <a:noFill/>
        </p:spPr>
        <p:txBody>
          <a:bodyPr wrap="square" lIns="0" rIns="0" tIns="0" bIns="0" anchor="t">
            <a:noAutofit/>
          </a:bodyPr>
          <a:lstStyle/>
          <a:p>
            <a:pPr algn="ctr"/>
            <a:r>
              <a:rPr sz="1200" b="0" i="0">
                <a:solidFill>
                  <a:srgbClr val="000048"/>
                </a:solidFill>
                <a:latin typeface="Arial"/>
              </a:rPr>
              <a:t>JWT, optional key</a:t>
            </a:r>
          </a:p>
        </p:txBody>
      </p:sp>
      <p:cxnSp>
        <p:nvCxnSpPr>
          <p:cNvPr id="35" name="Connector (telemetry)"/>
          <p:cNvCxnSpPr/>
          <p:nvPr/>
        </p:nvCxnSpPr>
        <p:spPr>
          <a:xfrm flipV="1">
            <a:off x="4023360" y="2240280"/>
            <a:ext cx="457200" cy="64008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4526280" y="2377440"/>
            <a:ext cx="914400" cy="274320"/>
          </a:xfrm>
          <a:prstGeom prst="rect">
            <a:avLst/>
          </a:prstGeom>
          <a:noFill/>
        </p:spPr>
        <p:txBody>
          <a:bodyPr wrap="square" lIns="0" rIns="0" tIns="0" bIns="0" anchor="t">
            <a:noAutofit/>
          </a:bodyPr>
          <a:lstStyle/>
          <a:p>
            <a:pPr algn="l"/>
            <a:r>
              <a:rPr sz="1200" b="0" i="0">
                <a:solidFill>
                  <a:srgbClr val="53565A"/>
                </a:solidFill>
                <a:latin typeface="Arial"/>
              </a:rPr>
              <a:t>validate</a:t>
            </a:r>
          </a:p>
        </p:txBody>
      </p:sp>
      <p:cxnSp>
        <p:nvCxnSpPr>
          <p:cNvPr id="37" name="Connector (flow)"/>
          <p:cNvCxnSpPr/>
          <p:nvPr/>
        </p:nvCxnSpPr>
        <p:spPr>
          <a:xfrm>
            <a:off x="6629400" y="3291840"/>
            <a:ext cx="640080"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38" name="Connector (flow)"/>
          <p:cNvCxnSpPr/>
          <p:nvPr/>
        </p:nvCxnSpPr>
        <p:spPr>
          <a:xfrm flipV="1">
            <a:off x="7269480" y="2103120"/>
            <a:ext cx="0" cy="118872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39" name="Connector (flow)"/>
          <p:cNvCxnSpPr/>
          <p:nvPr/>
        </p:nvCxnSpPr>
        <p:spPr>
          <a:xfrm>
            <a:off x="7269480" y="2103120"/>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0" name="Connector (flow)"/>
          <p:cNvCxnSpPr/>
          <p:nvPr/>
        </p:nvCxnSpPr>
        <p:spPr>
          <a:xfrm>
            <a:off x="7269480" y="3291840"/>
            <a:ext cx="0" cy="100584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41" name="Connector (flow)"/>
          <p:cNvCxnSpPr/>
          <p:nvPr/>
        </p:nvCxnSpPr>
        <p:spPr>
          <a:xfrm>
            <a:off x="7269480" y="4297680"/>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Connector (flow)"/>
          <p:cNvCxnSpPr/>
          <p:nvPr/>
        </p:nvCxnSpPr>
        <p:spPr>
          <a:xfrm>
            <a:off x="548640" y="5788152"/>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1024128" y="5669280"/>
            <a:ext cx="1874519" cy="256032"/>
          </a:xfrm>
          <a:prstGeom prst="rect">
            <a:avLst/>
          </a:prstGeom>
          <a:noFill/>
        </p:spPr>
        <p:txBody>
          <a:bodyPr wrap="square" lIns="0" rIns="0" tIns="0" bIns="0" anchor="t">
            <a:noAutofit/>
          </a:bodyPr>
          <a:lstStyle/>
          <a:p>
            <a:pPr algn="l"/>
            <a:r>
              <a:rPr sz="1200" b="0" i="0">
                <a:solidFill>
                  <a:srgbClr val="53565A"/>
                </a:solidFill>
                <a:latin typeface="Arial"/>
              </a:rPr>
              <a:t>Request / data flow</a:t>
            </a:r>
          </a:p>
        </p:txBody>
      </p:sp>
      <p:cxnSp>
        <p:nvCxnSpPr>
          <p:cNvPr id="44" name="Connector (telemetry)"/>
          <p:cNvCxnSpPr/>
          <p:nvPr/>
        </p:nvCxnSpPr>
        <p:spPr>
          <a:xfrm>
            <a:off x="2926080" y="5788152"/>
            <a:ext cx="411480" cy="0"/>
          </a:xfrm>
          <a:prstGeom prst="line">
            <a:avLst/>
          </a:prstGeom>
          <a:ln w="15875">
            <a:solidFill>
              <a:srgbClr val="8A8A8A"/>
            </a:solidFill>
            <a:prstDash val="sysDot"/>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3401568" y="5669280"/>
            <a:ext cx="1874519" cy="256032"/>
          </a:xfrm>
          <a:prstGeom prst="rect">
            <a:avLst/>
          </a:prstGeom>
          <a:noFill/>
        </p:spPr>
        <p:txBody>
          <a:bodyPr wrap="square" lIns="0" rIns="0" tIns="0" bIns="0" anchor="t">
            <a:noAutofit/>
          </a:bodyPr>
          <a:lstStyle/>
          <a:p>
            <a:pPr algn="l"/>
            <a:r>
              <a:rPr sz="1200" b="0" i="0">
                <a:solidFill>
                  <a:srgbClr val="53565A"/>
                </a:solidFill>
                <a:latin typeface="Arial"/>
              </a:rPr>
              <a:t>Telemetry or state read</a:t>
            </a:r>
          </a:p>
        </p:txBody>
      </p:sp>
      <p:sp>
        <p:nvSpPr>
          <p:cNvPr id="46" name="TextBox 45"/>
          <p:cNvSpPr txBox="1"/>
          <p:nvPr/>
        </p:nvSpPr>
        <p:spPr>
          <a:xfrm>
            <a:off x="548640" y="5989320"/>
            <a:ext cx="11064240" cy="256032"/>
          </a:xfrm>
          <a:prstGeom prst="rect">
            <a:avLst/>
          </a:prstGeom>
          <a:noFill/>
        </p:spPr>
        <p:txBody>
          <a:bodyPr wrap="square" lIns="0" rIns="0" tIns="0" bIns="0" anchor="t">
            <a:noAutofit/>
          </a:bodyPr>
          <a:lstStyle/>
          <a:p>
            <a:pPr algn="l"/>
            <a:r>
              <a:rPr sz="1200" b="1" i="0">
                <a:solidFill>
                  <a:srgbClr val="7373D8"/>
                </a:solidFill>
                <a:latin typeface="Arial"/>
              </a:rPr>
              <a:t>Adapted reference architecture  ·  rebuilt from Microsoft source with current labels; original kept as historical reference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Token-limit policy flow</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A5</a:t>
            </a:r>
          </a:p>
        </p:txBody>
      </p:sp>
      <p:sp>
        <p:nvSpPr>
          <p:cNvPr id="5" name="Status chip: REBUILT FROM LOW-RES SOURCE"/>
          <p:cNvSpPr/>
          <p:nvPr/>
        </p:nvSpPr>
        <p:spPr>
          <a:xfrm>
            <a:off x="1898650" y="274320"/>
            <a:ext cx="260604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REBUILT FROM LOW-RES SOURCE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v4.0  ·  11 Oct 2026  ·  Working proposal, not approved terms</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17</a:t>
            </a:r>
          </a:p>
        </p:txBody>
      </p:sp>
      <p:pic>
        <p:nvPicPr>
          <p:cNvPr id="9" name="Azure icon: Users" descr="Official Azure icon: User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51560" y="2267712"/>
            <a:ext cx="457200" cy="457200"/>
          </a:xfrm>
          <a:prstGeom prst="rect">
            <a:avLst/>
          </a:prstGeom>
        </p:spPr>
      </p:pic>
      <p:sp>
        <p:nvSpPr>
          <p:cNvPr id="10" name="TextBox 9"/>
          <p:cNvSpPr txBox="1"/>
          <p:nvPr/>
        </p:nvSpPr>
        <p:spPr>
          <a:xfrm>
            <a:off x="585216" y="2761488"/>
            <a:ext cx="1389888" cy="512064"/>
          </a:xfrm>
          <a:prstGeom prst="rect">
            <a:avLst/>
          </a:prstGeom>
          <a:noFill/>
        </p:spPr>
        <p:txBody>
          <a:bodyPr wrap="square" lIns="0" rIns="0" tIns="0" bIns="0" anchor="t">
            <a:noAutofit/>
          </a:bodyPr>
          <a:lstStyle/>
          <a:p>
            <a:pPr algn="ctr"/>
            <a:r>
              <a:rPr sz="1300" b="1" i="0">
                <a:solidFill>
                  <a:srgbClr val="000048"/>
                </a:solidFill>
                <a:latin typeface="Arial"/>
              </a:rPr>
              <a:t>Callers</a:t>
            </a:r>
          </a:p>
          <a:p>
            <a:pPr algn="ctr"/>
            <a:r>
              <a:rPr sz="1200" b="0" i="0">
                <a:solidFill>
                  <a:srgbClr val="53565A"/>
                </a:solidFill>
                <a:latin typeface="Arial"/>
              </a:rPr>
              <a:t>apps and agents</a:t>
            </a:r>
          </a:p>
        </p:txBody>
      </p:sp>
      <p:sp>
        <p:nvSpPr>
          <p:cNvPr id="11" name="Rounded Rectangle 10"/>
          <p:cNvSpPr/>
          <p:nvPr/>
        </p:nvSpPr>
        <p:spPr>
          <a:xfrm>
            <a:off x="2468880" y="1417320"/>
            <a:ext cx="5120640" cy="3291840"/>
          </a:xfrm>
          <a:prstGeom prst="roundRect">
            <a:avLst>
              <a:gd name="adj" fmla="val 2777"/>
            </a:avLst>
          </a:prstGeom>
          <a:solidFill>
            <a:srgbClr val="FFFFFF"/>
          </a:solidFill>
          <a:ln w="15875">
            <a:solidFill>
              <a:srgbClr val="000048"/>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578608" y="1472184"/>
            <a:ext cx="4901183" cy="237744"/>
          </a:xfrm>
          <a:prstGeom prst="rect">
            <a:avLst/>
          </a:prstGeom>
          <a:noFill/>
        </p:spPr>
        <p:txBody>
          <a:bodyPr wrap="square" lIns="0" rIns="0" tIns="0" bIns="0" anchor="t">
            <a:noAutofit/>
          </a:bodyPr>
          <a:lstStyle/>
          <a:p>
            <a:pPr algn="l"/>
            <a:r>
              <a:rPr sz="1200" b="1" i="0">
                <a:solidFill>
                  <a:srgbClr val="000048"/>
                </a:solidFill>
                <a:latin typeface="Arial"/>
              </a:rPr>
              <a:t>API MANAGEMENT</a:t>
            </a:r>
          </a:p>
        </p:txBody>
      </p:sp>
      <p:pic>
        <p:nvPicPr>
          <p:cNvPr id="13" name="Azure icon: API Management" descr="Official Azure icon: API Management"/>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606040" y="1783080"/>
            <a:ext cx="457200" cy="457200"/>
          </a:xfrm>
          <a:prstGeom prst="rect">
            <a:avLst/>
          </a:prstGeom>
        </p:spPr>
      </p:pic>
      <p:sp>
        <p:nvSpPr>
          <p:cNvPr id="14" name="Rounded Rectangle 13"/>
          <p:cNvSpPr/>
          <p:nvPr/>
        </p:nvSpPr>
        <p:spPr>
          <a:xfrm>
            <a:off x="3246120" y="1783080"/>
            <a:ext cx="4114800" cy="685800"/>
          </a:xfrm>
          <a:prstGeom prst="roundRect">
            <a:avLst>
              <a:gd name="adj" fmla="val 10666"/>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400" b="1" i="0">
                <a:solidFill>
                  <a:srgbClr val="000048"/>
                </a:solidFill>
                <a:latin typeface="Arial"/>
              </a:rPr>
              <a:t>Identify caller</a:t>
            </a:r>
            <a:r>
              <a:rPr sz="1200" b="0" i="0">
                <a:solidFill>
                  <a:srgbClr val="53565A"/>
                </a:solidFill>
                <a:latin typeface="Arial"/>
              </a:rPr>
              <a:t>  counter key from token claim</a:t>
            </a:r>
          </a:p>
        </p:txBody>
      </p:sp>
      <p:sp>
        <p:nvSpPr>
          <p:cNvPr id="15" name="Rounded Rectangle 14"/>
          <p:cNvSpPr/>
          <p:nvPr/>
        </p:nvSpPr>
        <p:spPr>
          <a:xfrm>
            <a:off x="3246120" y="2651760"/>
            <a:ext cx="4114800" cy="685800"/>
          </a:xfrm>
          <a:prstGeom prst="roundRect">
            <a:avLst>
              <a:gd name="adj" fmla="val 10666"/>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400" b="1" i="0">
                <a:solidFill>
                  <a:srgbClr val="000048"/>
                </a:solidFill>
                <a:latin typeface="Arial"/>
              </a:rPr>
              <a:t>llm-token-limit</a:t>
            </a:r>
            <a:r>
              <a:rPr sz="1200" b="0" i="0">
                <a:solidFill>
                  <a:srgbClr val="53565A"/>
                </a:solidFill>
                <a:latin typeface="Arial"/>
              </a:rPr>
              <a:t>  TPM and quota per key</a:t>
            </a:r>
          </a:p>
        </p:txBody>
      </p:sp>
      <p:sp>
        <p:nvSpPr>
          <p:cNvPr id="16" name="Rounded Rectangle 15"/>
          <p:cNvSpPr/>
          <p:nvPr/>
        </p:nvSpPr>
        <p:spPr>
          <a:xfrm>
            <a:off x="3246120" y="3520440"/>
            <a:ext cx="4114800" cy="685800"/>
          </a:xfrm>
          <a:prstGeom prst="roundRect">
            <a:avLst>
              <a:gd name="adj" fmla="val 10666"/>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400" b="1" i="0">
                <a:solidFill>
                  <a:srgbClr val="000048"/>
                </a:solidFill>
                <a:latin typeface="Arial"/>
              </a:rPr>
              <a:t>Within limit?</a:t>
            </a:r>
            <a:r>
              <a:rPr sz="1200" b="0" i="0">
                <a:solidFill>
                  <a:srgbClr val="53565A"/>
                </a:solidFill>
                <a:latin typeface="Arial"/>
              </a:rPr>
              <a:t>  yes: forward   no: reject</a:t>
            </a:r>
          </a:p>
        </p:txBody>
      </p:sp>
      <p:cxnSp>
        <p:nvCxnSpPr>
          <p:cNvPr id="17" name="Connector (flow)"/>
          <p:cNvCxnSpPr/>
          <p:nvPr/>
        </p:nvCxnSpPr>
        <p:spPr>
          <a:xfrm>
            <a:off x="5303520" y="2468880"/>
            <a:ext cx="0" cy="18288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flow)"/>
          <p:cNvCxnSpPr/>
          <p:nvPr/>
        </p:nvCxnSpPr>
        <p:spPr>
          <a:xfrm>
            <a:off x="5303520" y="3337560"/>
            <a:ext cx="0" cy="18288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8321040" y="1783080"/>
            <a:ext cx="2011680" cy="1097280"/>
          </a:xfrm>
          <a:prstGeom prst="roundRect">
            <a:avLst>
              <a:gd name="adj" fmla="val 6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0" name="Azure icon: Foundry Models" descr="Official Azure icon: Foundry Models"/>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098280" y="1856231"/>
            <a:ext cx="457200" cy="457200"/>
          </a:xfrm>
          <a:prstGeom prst="rect">
            <a:avLst/>
          </a:prstGeom>
        </p:spPr>
      </p:pic>
      <p:sp>
        <p:nvSpPr>
          <p:cNvPr id="21" name="TextBox 20"/>
          <p:cNvSpPr txBox="1"/>
          <p:nvPr/>
        </p:nvSpPr>
        <p:spPr>
          <a:xfrm>
            <a:off x="8357615" y="2350008"/>
            <a:ext cx="1938528" cy="512064"/>
          </a:xfrm>
          <a:prstGeom prst="rect">
            <a:avLst/>
          </a:prstGeom>
          <a:noFill/>
        </p:spPr>
        <p:txBody>
          <a:bodyPr wrap="square" lIns="0" rIns="0" tIns="0" bIns="0" anchor="t">
            <a:noAutofit/>
          </a:bodyPr>
          <a:lstStyle/>
          <a:p>
            <a:pPr algn="ctr"/>
            <a:r>
              <a:rPr sz="1300" b="1" i="0">
                <a:solidFill>
                  <a:srgbClr val="000048"/>
                </a:solidFill>
                <a:latin typeface="Arial"/>
              </a:rPr>
              <a:t>Model deployment</a:t>
            </a:r>
          </a:p>
          <a:p>
            <a:pPr algn="ctr"/>
            <a:r>
              <a:rPr sz="1200" b="0" i="0">
                <a:solidFill>
                  <a:srgbClr val="53565A"/>
                </a:solidFill>
                <a:latin typeface="Arial"/>
              </a:rPr>
              <a:t>Foundry Models</a:t>
            </a:r>
          </a:p>
        </p:txBody>
      </p:sp>
      <p:sp>
        <p:nvSpPr>
          <p:cNvPr id="22" name="Rounded Rectangle 21"/>
          <p:cNvSpPr/>
          <p:nvPr/>
        </p:nvSpPr>
        <p:spPr>
          <a:xfrm>
            <a:off x="8321040" y="3429000"/>
            <a:ext cx="3291840" cy="914400"/>
          </a:xfrm>
          <a:prstGeom prst="roundRect">
            <a:avLst>
              <a:gd name="adj" fmla="val 8000"/>
            </a:avLst>
          </a:prstGeom>
          <a:solidFill>
            <a:srgbClr val="FBE9EA"/>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A4262C"/>
                </a:solidFill>
                <a:latin typeface="Arial"/>
              </a:rPr>
              <a:t>429</a:t>
            </a:r>
            <a:r>
              <a:rPr sz="1300" b="0" i="0">
                <a:solidFill>
                  <a:srgbClr val="1E1E2E"/>
                </a:solidFill>
                <a:latin typeface="Arial"/>
              </a:rPr>
              <a:t>  rate exceeded, Retry-After</a:t>
            </a:r>
          </a:p>
          <a:p>
            <a:pPr algn="l"/>
            <a:r>
              <a:rPr sz="1800" b="1" i="0">
                <a:solidFill>
                  <a:srgbClr val="A4262C"/>
                </a:solidFill>
                <a:latin typeface="Arial"/>
              </a:rPr>
              <a:t>403</a:t>
            </a:r>
            <a:r>
              <a:rPr sz="1300" b="0" i="0">
                <a:solidFill>
                  <a:srgbClr val="1E1E2E"/>
                </a:solidFill>
                <a:latin typeface="Arial"/>
              </a:rPr>
              <a:t>  quota exceeded</a:t>
            </a:r>
          </a:p>
        </p:txBody>
      </p:sp>
      <p:cxnSp>
        <p:nvCxnSpPr>
          <p:cNvPr id="23" name="Connector (flow)"/>
          <p:cNvCxnSpPr/>
          <p:nvPr/>
        </p:nvCxnSpPr>
        <p:spPr>
          <a:xfrm flipV="1">
            <a:off x="2011680" y="2121408"/>
            <a:ext cx="1234440" cy="393192"/>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flow)"/>
          <p:cNvCxnSpPr/>
          <p:nvPr/>
        </p:nvCxnSpPr>
        <p:spPr>
          <a:xfrm>
            <a:off x="7360920" y="3840480"/>
            <a:ext cx="457200"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25" name="Connector (flow)"/>
          <p:cNvCxnSpPr/>
          <p:nvPr/>
        </p:nvCxnSpPr>
        <p:spPr>
          <a:xfrm flipV="1">
            <a:off x="7818120" y="2240280"/>
            <a:ext cx="0" cy="160020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26" name="Connector (flow)"/>
          <p:cNvCxnSpPr/>
          <p:nvPr/>
        </p:nvCxnSpPr>
        <p:spPr>
          <a:xfrm>
            <a:off x="7818120" y="2240280"/>
            <a:ext cx="50292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863840" y="2834640"/>
            <a:ext cx="457200" cy="274320"/>
          </a:xfrm>
          <a:prstGeom prst="rect">
            <a:avLst/>
          </a:prstGeom>
          <a:noFill/>
        </p:spPr>
        <p:txBody>
          <a:bodyPr wrap="square" lIns="0" rIns="0" tIns="0" bIns="0" anchor="t">
            <a:noAutofit/>
          </a:bodyPr>
          <a:lstStyle/>
          <a:p>
            <a:pPr algn="l"/>
            <a:r>
              <a:rPr sz="1200" b="0" i="0">
                <a:solidFill>
                  <a:srgbClr val="000048"/>
                </a:solidFill>
                <a:latin typeface="Arial"/>
              </a:rPr>
              <a:t>yes</a:t>
            </a:r>
          </a:p>
        </p:txBody>
      </p:sp>
      <p:cxnSp>
        <p:nvCxnSpPr>
          <p:cNvPr id="28" name="Connector (blocked)"/>
          <p:cNvCxnSpPr/>
          <p:nvPr/>
        </p:nvCxnSpPr>
        <p:spPr>
          <a:xfrm>
            <a:off x="7360920" y="3977639"/>
            <a:ext cx="960120" cy="0"/>
          </a:xfrm>
          <a:prstGeom prst="line">
            <a:avLst/>
          </a:prstGeom>
          <a:ln w="19050">
            <a:solidFill>
              <a:srgbClr val="A4262C"/>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7498079" y="4023360"/>
            <a:ext cx="822960" cy="274320"/>
          </a:xfrm>
          <a:prstGeom prst="rect">
            <a:avLst/>
          </a:prstGeom>
          <a:noFill/>
        </p:spPr>
        <p:txBody>
          <a:bodyPr wrap="square" lIns="0" rIns="0" tIns="0" bIns="0" anchor="t">
            <a:noAutofit/>
          </a:bodyPr>
          <a:lstStyle/>
          <a:p>
            <a:pPr algn="l"/>
            <a:r>
              <a:rPr sz="1200" b="0" i="0">
                <a:solidFill>
                  <a:srgbClr val="A4262C"/>
                </a:solidFill>
                <a:latin typeface="Arial"/>
              </a:rPr>
              <a:t>no</a:t>
            </a:r>
          </a:p>
        </p:txBody>
      </p:sp>
      <p:sp>
        <p:nvSpPr>
          <p:cNvPr id="30" name="Rounded Rectangle 29"/>
          <p:cNvSpPr/>
          <p:nvPr/>
        </p:nvSpPr>
        <p:spPr>
          <a:xfrm>
            <a:off x="548640" y="502920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Counters are per gateway and in-flight requests can overshoot before the limit takes effect (appendix A0).</a:t>
            </a:r>
          </a:p>
        </p:txBody>
      </p:sp>
      <p:sp>
        <p:nvSpPr>
          <p:cNvPr id="31" name="TextBox 30"/>
          <p:cNvSpPr txBox="1"/>
          <p:nvPr/>
        </p:nvSpPr>
        <p:spPr>
          <a:xfrm>
            <a:off x="548640" y="5760720"/>
            <a:ext cx="11064240" cy="256032"/>
          </a:xfrm>
          <a:prstGeom prst="rect">
            <a:avLst/>
          </a:prstGeom>
          <a:noFill/>
        </p:spPr>
        <p:txBody>
          <a:bodyPr wrap="square" lIns="0" rIns="0" tIns="0" bIns="0" anchor="t">
            <a:noAutofit/>
          </a:bodyPr>
          <a:lstStyle/>
          <a:p>
            <a:pPr algn="l"/>
            <a:r>
              <a:rPr sz="1200" b="1" i="0">
                <a:solidFill>
                  <a:srgbClr val="7373D8"/>
                </a:solidFill>
                <a:latin typeface="Arial"/>
              </a:rPr>
              <a:t>Rebuilt reference flow  ·  official Azure icons; source image kept in the original references pack</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Backend pools and routing</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A8</a:t>
            </a:r>
          </a:p>
        </p:txBody>
      </p:sp>
      <p:sp>
        <p:nvSpPr>
          <p:cNvPr id="5" name="Status chip: REBUILT FROM LOW-RES SOURCE"/>
          <p:cNvSpPr/>
          <p:nvPr/>
        </p:nvSpPr>
        <p:spPr>
          <a:xfrm>
            <a:off x="1898650" y="274320"/>
            <a:ext cx="260604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REBUILT FROM LOW-RES SOURCE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v4.0  ·  11 Oct 2026  ·  Working proposal, not approved terms</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19</a:t>
            </a:r>
          </a:p>
        </p:txBody>
      </p:sp>
      <p:pic>
        <p:nvPicPr>
          <p:cNvPr id="9" name="Azure icon: Users" descr="Official Azure icon: User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60119" y="2450592"/>
            <a:ext cx="457200" cy="457200"/>
          </a:xfrm>
          <a:prstGeom prst="rect">
            <a:avLst/>
          </a:prstGeom>
        </p:spPr>
      </p:pic>
      <p:sp>
        <p:nvSpPr>
          <p:cNvPr id="10" name="TextBox 9"/>
          <p:cNvSpPr txBox="1"/>
          <p:nvPr/>
        </p:nvSpPr>
        <p:spPr>
          <a:xfrm>
            <a:off x="585216" y="2944368"/>
            <a:ext cx="1207007" cy="310896"/>
          </a:xfrm>
          <a:prstGeom prst="rect">
            <a:avLst/>
          </a:prstGeom>
          <a:noFill/>
        </p:spPr>
        <p:txBody>
          <a:bodyPr wrap="square" lIns="0" rIns="0" tIns="0" bIns="0" anchor="t">
            <a:noAutofit/>
          </a:bodyPr>
          <a:lstStyle/>
          <a:p>
            <a:pPr algn="ctr"/>
            <a:r>
              <a:rPr sz="1300" b="1" i="0">
                <a:solidFill>
                  <a:srgbClr val="000048"/>
                </a:solidFill>
                <a:latin typeface="Arial"/>
              </a:rPr>
              <a:t>Requests</a:t>
            </a:r>
          </a:p>
        </p:txBody>
      </p:sp>
      <p:sp>
        <p:nvSpPr>
          <p:cNvPr id="11" name="Rounded Rectangle 10"/>
          <p:cNvSpPr/>
          <p:nvPr/>
        </p:nvSpPr>
        <p:spPr>
          <a:xfrm>
            <a:off x="2194560" y="1417320"/>
            <a:ext cx="4023360" cy="3474720"/>
          </a:xfrm>
          <a:prstGeom prst="roundRect">
            <a:avLst>
              <a:gd name="adj" fmla="val 2631"/>
            </a:avLst>
          </a:prstGeom>
          <a:solidFill>
            <a:srgbClr val="FFFFFF"/>
          </a:solidFill>
          <a:ln w="15875">
            <a:solidFill>
              <a:srgbClr val="000048"/>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304288" y="1472184"/>
            <a:ext cx="3803904" cy="237744"/>
          </a:xfrm>
          <a:prstGeom prst="rect">
            <a:avLst/>
          </a:prstGeom>
          <a:noFill/>
        </p:spPr>
        <p:txBody>
          <a:bodyPr wrap="square" lIns="0" rIns="0" tIns="0" bIns="0" anchor="t">
            <a:noAutofit/>
          </a:bodyPr>
          <a:lstStyle/>
          <a:p>
            <a:pPr algn="l"/>
            <a:r>
              <a:rPr sz="1200" b="1" i="0">
                <a:solidFill>
                  <a:srgbClr val="000048"/>
                </a:solidFill>
                <a:latin typeface="Arial"/>
              </a:rPr>
              <a:t>API MANAGEMENT BACKEND POOL</a:t>
            </a:r>
          </a:p>
        </p:txBody>
      </p:sp>
      <p:pic>
        <p:nvPicPr>
          <p:cNvPr id="13" name="Azure icon: API Management" descr="Official Azure icon: API Management"/>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331720" y="1783080"/>
            <a:ext cx="457200" cy="457200"/>
          </a:xfrm>
          <a:prstGeom prst="rect">
            <a:avLst/>
          </a:prstGeom>
        </p:spPr>
      </p:pic>
      <p:sp>
        <p:nvSpPr>
          <p:cNvPr id="14" name="Rounded Rectangle 13"/>
          <p:cNvSpPr/>
          <p:nvPr/>
        </p:nvSpPr>
        <p:spPr>
          <a:xfrm>
            <a:off x="2926080" y="1783080"/>
            <a:ext cx="3108960" cy="548640"/>
          </a:xfrm>
          <a:prstGeom prst="roundRect">
            <a:avLst>
              <a:gd name="adj" fmla="val 13333"/>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200" b="0" i="0">
                <a:solidFill>
                  <a:srgbClr val="1E1E2E"/>
                </a:solidFill>
                <a:latin typeface="Arial"/>
              </a:rPr>
              <a:t>Mode: priority, weighted, round-robin or session-aware</a:t>
            </a:r>
          </a:p>
        </p:txBody>
      </p:sp>
      <p:sp>
        <p:nvSpPr>
          <p:cNvPr id="15" name="Rounded Rectangle 14"/>
          <p:cNvSpPr/>
          <p:nvPr/>
        </p:nvSpPr>
        <p:spPr>
          <a:xfrm>
            <a:off x="2377440" y="2606040"/>
            <a:ext cx="3657600" cy="731520"/>
          </a:xfrm>
          <a:prstGeom prst="roundRect">
            <a:avLst>
              <a:gd name="adj" fmla="val 10000"/>
            </a:avLst>
          </a:prstGeom>
          <a:solidFill>
            <a:srgbClr val="FFFFFF"/>
          </a:solidFill>
          <a:ln w="25400">
            <a:solidFill>
              <a:srgbClr val="1D6B3A"/>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400" b="1" i="0">
                <a:solidFill>
                  <a:srgbClr val="000048"/>
                </a:solidFill>
                <a:latin typeface="Arial"/>
              </a:rPr>
              <a:t>Backend 1</a:t>
            </a:r>
            <a:r>
              <a:rPr sz="1200" b="0" i="0">
                <a:solidFill>
                  <a:srgbClr val="53565A"/>
                </a:solidFill>
                <a:latin typeface="Arial"/>
              </a:rPr>
              <a:t>  priority 1, PTU, region A</a:t>
            </a:r>
          </a:p>
        </p:txBody>
      </p:sp>
      <p:sp>
        <p:nvSpPr>
          <p:cNvPr id="16" name="Rounded Rectangle 15"/>
          <p:cNvSpPr/>
          <p:nvPr/>
        </p:nvSpPr>
        <p:spPr>
          <a:xfrm>
            <a:off x="2377440" y="3520440"/>
            <a:ext cx="3657600" cy="731520"/>
          </a:xfrm>
          <a:prstGeom prst="roundRect">
            <a:avLst>
              <a:gd name="adj" fmla="val 10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400" b="1" i="0">
                <a:solidFill>
                  <a:srgbClr val="000048"/>
                </a:solidFill>
                <a:latin typeface="Arial"/>
              </a:rPr>
              <a:t>Backend 2</a:t>
            </a:r>
            <a:r>
              <a:rPr sz="1200" b="0" i="0">
                <a:solidFill>
                  <a:srgbClr val="53565A"/>
                </a:solidFill>
                <a:latin typeface="Arial"/>
              </a:rPr>
              <a:t>  priority 2, PAYG, region A or B</a:t>
            </a:r>
          </a:p>
        </p:txBody>
      </p:sp>
      <p:sp>
        <p:nvSpPr>
          <p:cNvPr id="17" name="Rounded Rectangle 16"/>
          <p:cNvSpPr/>
          <p:nvPr/>
        </p:nvSpPr>
        <p:spPr>
          <a:xfrm>
            <a:off x="7315200" y="2331720"/>
            <a:ext cx="2011680" cy="1097280"/>
          </a:xfrm>
          <a:prstGeom prst="roundRect">
            <a:avLst>
              <a:gd name="adj" fmla="val 6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8" name="Azure icon: Foundry Models" descr="Official Azure icon: Foundry Models"/>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092440" y="2404872"/>
            <a:ext cx="457200" cy="457200"/>
          </a:xfrm>
          <a:prstGeom prst="rect">
            <a:avLst/>
          </a:prstGeom>
        </p:spPr>
      </p:pic>
      <p:sp>
        <p:nvSpPr>
          <p:cNvPr id="19" name="TextBox 18"/>
          <p:cNvSpPr txBox="1"/>
          <p:nvPr/>
        </p:nvSpPr>
        <p:spPr>
          <a:xfrm>
            <a:off x="7351775" y="2898648"/>
            <a:ext cx="1938528" cy="512064"/>
          </a:xfrm>
          <a:prstGeom prst="rect">
            <a:avLst/>
          </a:prstGeom>
          <a:noFill/>
        </p:spPr>
        <p:txBody>
          <a:bodyPr wrap="square" lIns="0" rIns="0" tIns="0" bIns="0" anchor="t">
            <a:noAutofit/>
          </a:bodyPr>
          <a:lstStyle/>
          <a:p>
            <a:pPr algn="ctr"/>
            <a:r>
              <a:rPr sz="1300" b="1" i="0">
                <a:solidFill>
                  <a:srgbClr val="000048"/>
                </a:solidFill>
                <a:latin typeface="Arial"/>
              </a:rPr>
              <a:t>PTU deployment</a:t>
            </a:r>
          </a:p>
          <a:p>
            <a:pPr algn="ctr"/>
            <a:r>
              <a:rPr sz="1200" b="0" i="0">
                <a:solidFill>
                  <a:srgbClr val="53565A"/>
                </a:solidFill>
                <a:latin typeface="Arial"/>
              </a:rPr>
              <a:t>primary</a:t>
            </a:r>
          </a:p>
        </p:txBody>
      </p:sp>
      <p:sp>
        <p:nvSpPr>
          <p:cNvPr id="20" name="Rounded Rectangle 19"/>
          <p:cNvSpPr/>
          <p:nvPr/>
        </p:nvSpPr>
        <p:spPr>
          <a:xfrm>
            <a:off x="7315200" y="3657600"/>
            <a:ext cx="2011680" cy="1097280"/>
          </a:xfrm>
          <a:prstGeom prst="roundRect">
            <a:avLst>
              <a:gd name="adj" fmla="val 6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1" name="Azure icon: Foundry Models" descr="Official Azure icon: Foundry Models"/>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092440" y="3730752"/>
            <a:ext cx="457200" cy="457200"/>
          </a:xfrm>
          <a:prstGeom prst="rect">
            <a:avLst/>
          </a:prstGeom>
        </p:spPr>
      </p:pic>
      <p:sp>
        <p:nvSpPr>
          <p:cNvPr id="22" name="TextBox 21"/>
          <p:cNvSpPr txBox="1"/>
          <p:nvPr/>
        </p:nvSpPr>
        <p:spPr>
          <a:xfrm>
            <a:off x="7351775" y="4224528"/>
            <a:ext cx="1938528" cy="512064"/>
          </a:xfrm>
          <a:prstGeom prst="rect">
            <a:avLst/>
          </a:prstGeom>
          <a:noFill/>
        </p:spPr>
        <p:txBody>
          <a:bodyPr wrap="square" lIns="0" rIns="0" tIns="0" bIns="0" anchor="t">
            <a:noAutofit/>
          </a:bodyPr>
          <a:lstStyle/>
          <a:p>
            <a:pPr algn="ctr"/>
            <a:r>
              <a:rPr sz="1300" b="1" i="0">
                <a:solidFill>
                  <a:srgbClr val="000048"/>
                </a:solidFill>
                <a:latin typeface="Arial"/>
              </a:rPr>
              <a:t>PAYG deployment</a:t>
            </a:r>
          </a:p>
          <a:p>
            <a:pPr algn="ctr"/>
            <a:r>
              <a:rPr sz="1200" b="0" i="0">
                <a:solidFill>
                  <a:srgbClr val="53565A"/>
                </a:solidFill>
                <a:latin typeface="Arial"/>
              </a:rPr>
              <a:t>approved overflow</a:t>
            </a:r>
          </a:p>
        </p:txBody>
      </p:sp>
      <p:cxnSp>
        <p:nvCxnSpPr>
          <p:cNvPr id="23" name="Connector (flow)"/>
          <p:cNvCxnSpPr/>
          <p:nvPr/>
        </p:nvCxnSpPr>
        <p:spPr>
          <a:xfrm>
            <a:off x="1828800" y="2651760"/>
            <a:ext cx="548640" cy="32004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flow)"/>
          <p:cNvCxnSpPr/>
          <p:nvPr/>
        </p:nvCxnSpPr>
        <p:spPr>
          <a:xfrm flipV="1">
            <a:off x="6035040" y="2743200"/>
            <a:ext cx="1280160" cy="22860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flow)"/>
          <p:cNvCxnSpPr/>
          <p:nvPr/>
        </p:nvCxnSpPr>
        <p:spPr>
          <a:xfrm>
            <a:off x="6035040" y="3886200"/>
            <a:ext cx="1280160" cy="18288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9509760" y="2331720"/>
            <a:ext cx="2194560" cy="2377440"/>
          </a:xfrm>
          <a:prstGeom prst="rect">
            <a:avLst/>
          </a:prstGeom>
          <a:noFill/>
        </p:spPr>
        <p:txBody>
          <a:bodyPr wrap="square" lIns="0" rIns="0" tIns="0" bIns="0" anchor="t">
            <a:noAutofit/>
          </a:bodyPr>
          <a:lstStyle/>
          <a:p>
            <a:pPr algn="l"/>
            <a:r>
              <a:rPr sz="1300" b="0" i="0">
                <a:solidFill>
                  <a:srgbClr val="1E1E2E"/>
                </a:solidFill>
                <a:latin typeface="Arial"/>
              </a:rPr>
              <a:t>Health and circuit breaker remove an unavailable backend; traffic moves to the next priority inside the approved boundary.</a:t>
            </a:r>
          </a:p>
        </p:txBody>
      </p:sp>
      <p:sp>
        <p:nvSpPr>
          <p:cNvPr id="27" name="Rounded Rectangle 26"/>
          <p:cNvSpPr/>
          <p:nvPr/>
        </p:nvSpPr>
        <p:spPr>
          <a:xfrm>
            <a:off x="548640" y="516636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Overflow and retries can raise PAYG spend. Fallback must stay inside the approved processing boundary.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Backend circuit breaker protects a dependency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A9</a:t>
            </a:r>
          </a:p>
        </p:txBody>
      </p:sp>
      <p:sp>
        <p:nvSpPr>
          <p:cNvPr id="5" name="Status chip: REBUILT FROM LOW-RES SOURCE"/>
          <p:cNvSpPr/>
          <p:nvPr/>
        </p:nvSpPr>
        <p:spPr>
          <a:xfrm>
            <a:off x="1898650" y="274320"/>
            <a:ext cx="260604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REBUILT FROM LOW-RES SOURCE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v4.0  ·  11 Oct 2026  ·  Working proposal, not approved terms</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20</a:t>
            </a:r>
          </a:p>
        </p:txBody>
      </p:sp>
      <p:sp>
        <p:nvSpPr>
          <p:cNvPr id="9" name="Rounded Rectangle 8"/>
          <p:cNvSpPr/>
          <p:nvPr/>
        </p:nvSpPr>
        <p:spPr>
          <a:xfrm>
            <a:off x="548640" y="1463040"/>
            <a:ext cx="3566160" cy="640080"/>
          </a:xfrm>
          <a:prstGeom prst="roundRect">
            <a:avLst>
              <a:gd name="adj" fmla="val 11428"/>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2000" b="1" i="0">
                <a:solidFill>
                  <a:srgbClr val="1D6B3A"/>
                </a:solidFill>
                <a:latin typeface="Arial"/>
              </a:rPr>
              <a:t>Closed</a:t>
            </a:r>
          </a:p>
        </p:txBody>
      </p:sp>
      <p:sp>
        <p:nvSpPr>
          <p:cNvPr id="10" name="TextBox 9"/>
          <p:cNvSpPr txBox="1"/>
          <p:nvPr/>
        </p:nvSpPr>
        <p:spPr>
          <a:xfrm>
            <a:off x="548640" y="2240280"/>
            <a:ext cx="3566160" cy="1097280"/>
          </a:xfrm>
          <a:prstGeom prst="rect">
            <a:avLst/>
          </a:prstGeom>
          <a:noFill/>
        </p:spPr>
        <p:txBody>
          <a:bodyPr wrap="square" lIns="0" rIns="0" tIns="0" bIns="0" anchor="t">
            <a:noAutofit/>
          </a:bodyPr>
          <a:lstStyle/>
          <a:p>
            <a:pPr algn="ctr"/>
            <a:r>
              <a:rPr sz="1600" b="0" i="0">
                <a:solidFill>
                  <a:srgbClr val="1E1E2E"/>
                </a:solidFill>
                <a:latin typeface="Arial"/>
              </a:rPr>
              <a:t>Calls flow to backend</a:t>
            </a:r>
          </a:p>
        </p:txBody>
      </p:sp>
      <p:cxnSp>
        <p:nvCxnSpPr>
          <p:cNvPr id="11" name="Connector (flow)"/>
          <p:cNvCxnSpPr/>
          <p:nvPr/>
        </p:nvCxnSpPr>
        <p:spPr>
          <a:xfrm>
            <a:off x="4114800" y="1783080"/>
            <a:ext cx="182879"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297679" y="1463040"/>
            <a:ext cx="3566160" cy="640080"/>
          </a:xfrm>
          <a:prstGeom prst="roundRect">
            <a:avLst>
              <a:gd name="adj" fmla="val 11428"/>
            </a:avLst>
          </a:prstGeom>
          <a:solidFill>
            <a:srgbClr val="FBE9EA"/>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2000" b="1" i="0">
                <a:solidFill>
                  <a:srgbClr val="A4262C"/>
                </a:solidFill>
                <a:latin typeface="Arial"/>
              </a:rPr>
              <a:t>Open</a:t>
            </a:r>
          </a:p>
        </p:txBody>
      </p:sp>
      <p:sp>
        <p:nvSpPr>
          <p:cNvPr id="13" name="TextBox 12"/>
          <p:cNvSpPr txBox="1"/>
          <p:nvPr/>
        </p:nvSpPr>
        <p:spPr>
          <a:xfrm>
            <a:off x="4297679" y="2240280"/>
            <a:ext cx="3566160" cy="1097280"/>
          </a:xfrm>
          <a:prstGeom prst="rect">
            <a:avLst/>
          </a:prstGeom>
          <a:noFill/>
        </p:spPr>
        <p:txBody>
          <a:bodyPr wrap="square" lIns="0" rIns="0" tIns="0" bIns="0" anchor="t">
            <a:noAutofit/>
          </a:bodyPr>
          <a:lstStyle/>
          <a:p>
            <a:pPr algn="ctr"/>
            <a:r>
              <a:rPr sz="1600" b="0" i="0">
                <a:solidFill>
                  <a:srgbClr val="1E1E2E"/>
                </a:solidFill>
                <a:latin typeface="Arial"/>
              </a:rPr>
              <a:t>Trip on 429 or 5xx rule; calls fail fast or go to next backend</a:t>
            </a:r>
          </a:p>
        </p:txBody>
      </p:sp>
      <p:cxnSp>
        <p:nvCxnSpPr>
          <p:cNvPr id="14" name="Connector (flow)"/>
          <p:cNvCxnSpPr/>
          <p:nvPr/>
        </p:nvCxnSpPr>
        <p:spPr>
          <a:xfrm>
            <a:off x="7863840" y="1783080"/>
            <a:ext cx="182879"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046719" y="1463040"/>
            <a:ext cx="3566160" cy="640080"/>
          </a:xfrm>
          <a:prstGeom prst="roundRect">
            <a:avLst>
              <a:gd name="adj" fmla="val 11428"/>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2000" b="1" i="0">
                <a:solidFill>
                  <a:srgbClr val="8A4B08"/>
                </a:solidFill>
                <a:latin typeface="Arial"/>
              </a:rPr>
              <a:t>Half-open</a:t>
            </a:r>
          </a:p>
        </p:txBody>
      </p:sp>
      <p:sp>
        <p:nvSpPr>
          <p:cNvPr id="16" name="TextBox 15"/>
          <p:cNvSpPr txBox="1"/>
          <p:nvPr/>
        </p:nvSpPr>
        <p:spPr>
          <a:xfrm>
            <a:off x="8046719" y="2240280"/>
            <a:ext cx="3566160" cy="1097280"/>
          </a:xfrm>
          <a:prstGeom prst="rect">
            <a:avLst/>
          </a:prstGeom>
          <a:noFill/>
        </p:spPr>
        <p:txBody>
          <a:bodyPr wrap="square" lIns="0" rIns="0" tIns="0" bIns="0" anchor="t">
            <a:noAutofit/>
          </a:bodyPr>
          <a:lstStyle/>
          <a:p>
            <a:pPr algn="ctr"/>
            <a:r>
              <a:rPr sz="1600" b="0" i="0">
                <a:solidFill>
                  <a:srgbClr val="1E1E2E"/>
                </a:solidFill>
                <a:latin typeface="Arial"/>
              </a:rPr>
              <a:t>After trip duration (can follow Retry-After), test calls allowed</a:t>
            </a:r>
          </a:p>
        </p:txBody>
      </p:sp>
      <p:cxnSp>
        <p:nvCxnSpPr>
          <p:cNvPr id="17" name="Connector (flow)"/>
          <p:cNvCxnSpPr/>
          <p:nvPr/>
        </p:nvCxnSpPr>
        <p:spPr>
          <a:xfrm>
            <a:off x="11521440" y="2103120"/>
            <a:ext cx="0" cy="132588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18" name="Connector (flow)"/>
          <p:cNvCxnSpPr/>
          <p:nvPr/>
        </p:nvCxnSpPr>
        <p:spPr>
          <a:xfrm flipH="1">
            <a:off x="640080" y="3429000"/>
            <a:ext cx="10881360"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19" name="Connector (flow)"/>
          <p:cNvCxnSpPr/>
          <p:nvPr/>
        </p:nvCxnSpPr>
        <p:spPr>
          <a:xfrm flipV="1">
            <a:off x="640080" y="2103120"/>
            <a:ext cx="0" cy="132588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206240" y="3474720"/>
            <a:ext cx="3657600" cy="274320"/>
          </a:xfrm>
          <a:prstGeom prst="rect">
            <a:avLst/>
          </a:prstGeom>
          <a:noFill/>
        </p:spPr>
        <p:txBody>
          <a:bodyPr wrap="square" lIns="0" rIns="0" tIns="0" bIns="0" anchor="t">
            <a:noAutofit/>
          </a:bodyPr>
          <a:lstStyle/>
          <a:p>
            <a:pPr algn="ctr"/>
            <a:r>
              <a:rPr sz="1200" b="0" i="0">
                <a:solidFill>
                  <a:srgbClr val="000048"/>
                </a:solidFill>
                <a:latin typeface="Arial"/>
              </a:rPr>
              <a:t>test calls succeed: close</a:t>
            </a:r>
          </a:p>
        </p:txBody>
      </p:sp>
      <p:pic>
        <p:nvPicPr>
          <p:cNvPr id="21" name="Azure icon: API Management" descr="Official Azure icon: API Management"/>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48640" y="4160520"/>
            <a:ext cx="502920" cy="502920"/>
          </a:xfrm>
          <a:prstGeom prst="rect">
            <a:avLst/>
          </a:prstGeom>
        </p:spPr>
      </p:pic>
      <p:sp>
        <p:nvSpPr>
          <p:cNvPr id="22" name="TextBox 21"/>
          <p:cNvSpPr txBox="1"/>
          <p:nvPr/>
        </p:nvSpPr>
        <p:spPr>
          <a:xfrm>
            <a:off x="1188720" y="4206240"/>
            <a:ext cx="10424160" cy="548640"/>
          </a:xfrm>
          <a:prstGeom prst="rect">
            <a:avLst/>
          </a:prstGeom>
          <a:noFill/>
        </p:spPr>
        <p:txBody>
          <a:bodyPr wrap="square" lIns="0" rIns="0" tIns="0" bIns="0" anchor="t">
            <a:noAutofit/>
          </a:bodyPr>
          <a:lstStyle/>
          <a:p>
            <a:pPr algn="l"/>
            <a:r>
              <a:rPr sz="1600" b="0" i="0">
                <a:solidFill>
                  <a:srgbClr val="1E1E2E"/>
                </a:solidFill>
                <a:latin typeface="Arial"/>
              </a:rPr>
              <a:t>Configured on the API Management backend; pairs with the backend pool for fallback.</a:t>
            </a:r>
          </a:p>
        </p:txBody>
      </p:sp>
      <p:sp>
        <p:nvSpPr>
          <p:cNvPr id="23" name="Rounded Rectangle 22"/>
          <p:cNvSpPr/>
          <p:nvPr/>
        </p:nvSpPr>
        <p:spPr>
          <a:xfrm>
            <a:off x="548640" y="512064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Not an agent kill switch: it does not stop running work or revoke tool access. See appendix K.</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Content safety in the gateway flow</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A11</a:t>
            </a:r>
          </a:p>
        </p:txBody>
      </p:sp>
      <p:sp>
        <p:nvSpPr>
          <p:cNvPr id="5" name="Status chip: REBUILT FROM LOW-RES SOURCE"/>
          <p:cNvSpPr/>
          <p:nvPr/>
        </p:nvSpPr>
        <p:spPr>
          <a:xfrm>
            <a:off x="1996440" y="274320"/>
            <a:ext cx="260604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REBUILT FROM LOW-RES SOURCE</a:t>
            </a:r>
          </a:p>
        </p:txBody>
      </p:sp>
      <p:sp>
        <p:nvSpPr>
          <p:cNvPr id="6" name="Status chip: VERIFIED 11 OCT 2026"/>
          <p:cNvSpPr/>
          <p:nvPr/>
        </p:nvSpPr>
        <p:spPr>
          <a:xfrm>
            <a:off x="469392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11 OCT 2026</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v4.0  ·  11 Oct 2026  ·  Working proposal, not approved terms</a:t>
            </a:r>
          </a:p>
        </p:txBody>
      </p:sp>
      <p:sp>
        <p:nvSpPr>
          <p:cNvPr id="9" name="TextBox 8"/>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22</a:t>
            </a:r>
          </a:p>
        </p:txBody>
      </p:sp>
      <p:pic>
        <p:nvPicPr>
          <p:cNvPr id="10" name="Azure icon: Users" descr="Official Azure icon: User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05840" y="2267712"/>
            <a:ext cx="457200" cy="457200"/>
          </a:xfrm>
          <a:prstGeom prst="rect">
            <a:avLst/>
          </a:prstGeom>
        </p:spPr>
      </p:pic>
      <p:sp>
        <p:nvSpPr>
          <p:cNvPr id="11" name="TextBox 10"/>
          <p:cNvSpPr txBox="1"/>
          <p:nvPr/>
        </p:nvSpPr>
        <p:spPr>
          <a:xfrm>
            <a:off x="585216" y="2761488"/>
            <a:ext cx="1298448" cy="512064"/>
          </a:xfrm>
          <a:prstGeom prst="rect">
            <a:avLst/>
          </a:prstGeom>
          <a:noFill/>
        </p:spPr>
        <p:txBody>
          <a:bodyPr wrap="square" lIns="0" rIns="0" tIns="0" bIns="0" anchor="t">
            <a:noAutofit/>
          </a:bodyPr>
          <a:lstStyle/>
          <a:p>
            <a:pPr algn="ctr"/>
            <a:r>
              <a:rPr sz="1300" b="1" i="0">
                <a:solidFill>
                  <a:srgbClr val="000048"/>
                </a:solidFill>
                <a:latin typeface="Arial"/>
              </a:rPr>
              <a:t>Prompt</a:t>
            </a:r>
          </a:p>
          <a:p>
            <a:pPr algn="ctr"/>
            <a:r>
              <a:rPr sz="1200" b="0" i="0">
                <a:solidFill>
                  <a:srgbClr val="53565A"/>
                </a:solidFill>
                <a:latin typeface="Arial"/>
              </a:rPr>
              <a:t>from app or agent</a:t>
            </a:r>
          </a:p>
        </p:txBody>
      </p:sp>
      <p:sp>
        <p:nvSpPr>
          <p:cNvPr id="12" name="Rounded Rectangle 11"/>
          <p:cNvSpPr/>
          <p:nvPr/>
        </p:nvSpPr>
        <p:spPr>
          <a:xfrm>
            <a:off x="2286000" y="1417320"/>
            <a:ext cx="3931920" cy="3108960"/>
          </a:xfrm>
          <a:prstGeom prst="roundRect">
            <a:avLst>
              <a:gd name="adj" fmla="val 2941"/>
            </a:avLst>
          </a:prstGeom>
          <a:solidFill>
            <a:srgbClr val="FFFFFF"/>
          </a:solidFill>
          <a:ln w="15875">
            <a:solidFill>
              <a:srgbClr val="000048"/>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395728" y="1472184"/>
            <a:ext cx="3712463" cy="237744"/>
          </a:xfrm>
          <a:prstGeom prst="rect">
            <a:avLst/>
          </a:prstGeom>
          <a:noFill/>
        </p:spPr>
        <p:txBody>
          <a:bodyPr wrap="square" lIns="0" rIns="0" tIns="0" bIns="0" anchor="t">
            <a:noAutofit/>
          </a:bodyPr>
          <a:lstStyle/>
          <a:p>
            <a:pPr algn="l"/>
            <a:r>
              <a:rPr sz="1200" b="1" i="0">
                <a:solidFill>
                  <a:srgbClr val="000048"/>
                </a:solidFill>
                <a:latin typeface="Arial"/>
              </a:rPr>
              <a:t>API MANAGEMENT POLICIES</a:t>
            </a:r>
          </a:p>
        </p:txBody>
      </p:sp>
      <p:pic>
        <p:nvPicPr>
          <p:cNvPr id="14" name="Azure icon: API Management" descr="Official Azure icon: API Management"/>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423160" y="1783080"/>
            <a:ext cx="457200" cy="457200"/>
          </a:xfrm>
          <a:prstGeom prst="rect">
            <a:avLst/>
          </a:prstGeom>
        </p:spPr>
      </p:pic>
      <p:sp>
        <p:nvSpPr>
          <p:cNvPr id="15" name="Rounded Rectangle 14"/>
          <p:cNvSpPr/>
          <p:nvPr/>
        </p:nvSpPr>
        <p:spPr>
          <a:xfrm>
            <a:off x="3017520" y="1783080"/>
            <a:ext cx="3017520" cy="914400"/>
          </a:xfrm>
          <a:prstGeom prst="roundRect">
            <a:avLst>
              <a:gd name="adj" fmla="val 8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400" b="1" i="0">
                <a:solidFill>
                  <a:srgbClr val="000048"/>
                </a:solidFill>
                <a:latin typeface="Arial"/>
              </a:rPr>
              <a:t>Inbound check</a:t>
            </a:r>
          </a:p>
          <a:p>
            <a:pPr algn="l"/>
            <a:r>
              <a:rPr sz="1200" b="0" i="0">
                <a:solidFill>
                  <a:srgbClr val="53565A"/>
                </a:solidFill>
                <a:latin typeface="Arial"/>
              </a:rPr>
              <a:t>categories, blocklists, prompt shield</a:t>
            </a:r>
          </a:p>
        </p:txBody>
      </p:sp>
      <p:sp>
        <p:nvSpPr>
          <p:cNvPr id="16" name="Rounded Rectangle 15"/>
          <p:cNvSpPr/>
          <p:nvPr/>
        </p:nvSpPr>
        <p:spPr>
          <a:xfrm>
            <a:off x="3017520" y="2926080"/>
            <a:ext cx="3017520" cy="914400"/>
          </a:xfrm>
          <a:prstGeom prst="roundRect">
            <a:avLst>
              <a:gd name="adj" fmla="val 8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400" b="1" i="0">
                <a:solidFill>
                  <a:srgbClr val="000048"/>
                </a:solidFill>
                <a:latin typeface="Arial"/>
              </a:rPr>
              <a:t>Outbound check</a:t>
            </a:r>
          </a:p>
          <a:p>
            <a:pPr algn="l"/>
            <a:r>
              <a:rPr sz="1200" b="0" i="0">
                <a:solidFill>
                  <a:srgbClr val="53565A"/>
                </a:solidFill>
                <a:latin typeface="Arial"/>
              </a:rPr>
              <a:t>completion validation</a:t>
            </a:r>
          </a:p>
        </p:txBody>
      </p:sp>
      <p:sp>
        <p:nvSpPr>
          <p:cNvPr id="17" name="Rounded Rectangle 16"/>
          <p:cNvSpPr/>
          <p:nvPr/>
        </p:nvSpPr>
        <p:spPr>
          <a:xfrm>
            <a:off x="6858000" y="1417320"/>
            <a:ext cx="2286000" cy="1097280"/>
          </a:xfrm>
          <a:prstGeom prst="roundRect">
            <a:avLst>
              <a:gd name="adj" fmla="val 6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8" name="Azure icon: Content Safety" descr="Official Azure icon: Content Safety"/>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772400" y="1490472"/>
            <a:ext cx="457200" cy="457200"/>
          </a:xfrm>
          <a:prstGeom prst="rect">
            <a:avLst/>
          </a:prstGeom>
        </p:spPr>
      </p:pic>
      <p:sp>
        <p:nvSpPr>
          <p:cNvPr id="19" name="TextBox 18"/>
          <p:cNvSpPr txBox="1"/>
          <p:nvPr/>
        </p:nvSpPr>
        <p:spPr>
          <a:xfrm>
            <a:off x="6894576" y="1984248"/>
            <a:ext cx="2212848" cy="512064"/>
          </a:xfrm>
          <a:prstGeom prst="rect">
            <a:avLst/>
          </a:prstGeom>
          <a:noFill/>
        </p:spPr>
        <p:txBody>
          <a:bodyPr wrap="square" lIns="0" rIns="0" tIns="0" bIns="0" anchor="t">
            <a:noAutofit/>
          </a:bodyPr>
          <a:lstStyle/>
          <a:p>
            <a:pPr algn="ctr"/>
            <a:r>
              <a:rPr sz="1300" b="1" i="0">
                <a:solidFill>
                  <a:srgbClr val="000048"/>
                </a:solidFill>
                <a:latin typeface="Arial"/>
              </a:rPr>
              <a:t>Azure AI Content Safety</a:t>
            </a:r>
          </a:p>
          <a:p>
            <a:pPr algn="ctr"/>
            <a:r>
              <a:rPr sz="1200" b="0" i="0">
                <a:solidFill>
                  <a:srgbClr val="53565A"/>
                </a:solidFill>
                <a:latin typeface="Arial"/>
              </a:rPr>
              <a:t>managed identity</a:t>
            </a:r>
          </a:p>
        </p:txBody>
      </p:sp>
      <p:sp>
        <p:nvSpPr>
          <p:cNvPr id="20" name="Rounded Rectangle 19"/>
          <p:cNvSpPr/>
          <p:nvPr/>
        </p:nvSpPr>
        <p:spPr>
          <a:xfrm>
            <a:off x="9509760" y="1417320"/>
            <a:ext cx="2103120" cy="1097280"/>
          </a:xfrm>
          <a:prstGeom prst="roundRect">
            <a:avLst>
              <a:gd name="adj" fmla="val 6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1" name="Azure icon: Foundry Models" descr="Official Azure icon: Foundry Models"/>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332720" y="1490472"/>
            <a:ext cx="457200" cy="457200"/>
          </a:xfrm>
          <a:prstGeom prst="rect">
            <a:avLst/>
          </a:prstGeom>
        </p:spPr>
      </p:pic>
      <p:sp>
        <p:nvSpPr>
          <p:cNvPr id="22" name="TextBox 21"/>
          <p:cNvSpPr txBox="1"/>
          <p:nvPr/>
        </p:nvSpPr>
        <p:spPr>
          <a:xfrm>
            <a:off x="9546336" y="1984248"/>
            <a:ext cx="2029967" cy="512064"/>
          </a:xfrm>
          <a:prstGeom prst="rect">
            <a:avLst/>
          </a:prstGeom>
          <a:noFill/>
        </p:spPr>
        <p:txBody>
          <a:bodyPr wrap="square" lIns="0" rIns="0" tIns="0" bIns="0" anchor="t">
            <a:noAutofit/>
          </a:bodyPr>
          <a:lstStyle/>
          <a:p>
            <a:pPr algn="ctr"/>
            <a:r>
              <a:rPr sz="1300" b="1" i="0">
                <a:solidFill>
                  <a:srgbClr val="000048"/>
                </a:solidFill>
                <a:latin typeface="Arial"/>
              </a:rPr>
              <a:t>Model deployment</a:t>
            </a:r>
          </a:p>
          <a:p>
            <a:pPr algn="ctr"/>
            <a:r>
              <a:rPr sz="1200" b="0" i="0">
                <a:solidFill>
                  <a:srgbClr val="53565A"/>
                </a:solidFill>
                <a:latin typeface="Arial"/>
              </a:rPr>
              <a:t>Foundry Models</a:t>
            </a:r>
          </a:p>
        </p:txBody>
      </p:sp>
      <p:sp>
        <p:nvSpPr>
          <p:cNvPr id="23" name="Rounded Rectangle 22"/>
          <p:cNvSpPr/>
          <p:nvPr/>
        </p:nvSpPr>
        <p:spPr>
          <a:xfrm>
            <a:off x="6858000" y="3108960"/>
            <a:ext cx="2286000" cy="1097280"/>
          </a:xfrm>
          <a:prstGeom prst="roundRect">
            <a:avLst>
              <a:gd name="adj" fmla="val 6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4" name="Azure icon: Azure Monitor" descr="Official Azure icon: Azure Monito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772400" y="3182112"/>
            <a:ext cx="457200" cy="457200"/>
          </a:xfrm>
          <a:prstGeom prst="rect">
            <a:avLst/>
          </a:prstGeom>
        </p:spPr>
      </p:pic>
      <p:sp>
        <p:nvSpPr>
          <p:cNvPr id="25" name="TextBox 24"/>
          <p:cNvSpPr txBox="1"/>
          <p:nvPr/>
        </p:nvSpPr>
        <p:spPr>
          <a:xfrm>
            <a:off x="6894576" y="3675887"/>
            <a:ext cx="2212848" cy="512064"/>
          </a:xfrm>
          <a:prstGeom prst="rect">
            <a:avLst/>
          </a:prstGeom>
          <a:noFill/>
        </p:spPr>
        <p:txBody>
          <a:bodyPr wrap="square" lIns="0" rIns="0" tIns="0" bIns="0" anchor="t">
            <a:noAutofit/>
          </a:bodyPr>
          <a:lstStyle/>
          <a:p>
            <a:pPr algn="ctr"/>
            <a:r>
              <a:rPr sz="1300" b="1" i="0">
                <a:solidFill>
                  <a:srgbClr val="000048"/>
                </a:solidFill>
                <a:latin typeface="Arial"/>
              </a:rPr>
              <a:t>Azure Monitor</a:t>
            </a:r>
          </a:p>
          <a:p>
            <a:pPr algn="ctr"/>
            <a:r>
              <a:rPr sz="1200" b="0" i="0">
                <a:solidFill>
                  <a:srgbClr val="53565A"/>
                </a:solidFill>
                <a:latin typeface="Arial"/>
              </a:rPr>
              <a:t>logs and metrics</a:t>
            </a:r>
          </a:p>
        </p:txBody>
      </p:sp>
      <p:cxnSp>
        <p:nvCxnSpPr>
          <p:cNvPr id="26" name="Connector (flow)"/>
          <p:cNvCxnSpPr/>
          <p:nvPr/>
        </p:nvCxnSpPr>
        <p:spPr>
          <a:xfrm flipV="1">
            <a:off x="1920240" y="2240280"/>
            <a:ext cx="1097280" cy="22860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flow)"/>
          <p:cNvCxnSpPr/>
          <p:nvPr/>
        </p:nvCxnSpPr>
        <p:spPr>
          <a:xfrm flipV="1">
            <a:off x="6035040" y="1920240"/>
            <a:ext cx="822960" cy="182880"/>
          </a:xfrm>
          <a:prstGeom prst="line">
            <a:avLst/>
          </a:prstGeom>
          <a:ln w="22225">
            <a:solidFill>
              <a:srgbClr val="000048"/>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flow)"/>
          <p:cNvCxnSpPr/>
          <p:nvPr/>
        </p:nvCxnSpPr>
        <p:spPr>
          <a:xfrm>
            <a:off x="6035040" y="2377440"/>
            <a:ext cx="548640"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29" name="Connector (flow)"/>
          <p:cNvCxnSpPr/>
          <p:nvPr/>
        </p:nvCxnSpPr>
        <p:spPr>
          <a:xfrm>
            <a:off x="6583680" y="2377440"/>
            <a:ext cx="0" cy="41148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30" name="Connector (flow)"/>
          <p:cNvCxnSpPr/>
          <p:nvPr/>
        </p:nvCxnSpPr>
        <p:spPr>
          <a:xfrm>
            <a:off x="6583680" y="2788920"/>
            <a:ext cx="3977640"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31" name="Connector (flow)"/>
          <p:cNvCxnSpPr/>
          <p:nvPr/>
        </p:nvCxnSpPr>
        <p:spPr>
          <a:xfrm flipV="1">
            <a:off x="10561320" y="2468880"/>
            <a:ext cx="0" cy="32004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telemetry)"/>
          <p:cNvCxnSpPr/>
          <p:nvPr/>
        </p:nvCxnSpPr>
        <p:spPr>
          <a:xfrm>
            <a:off x="6035040" y="3566160"/>
            <a:ext cx="822960" cy="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548640" y="3291840"/>
            <a:ext cx="1554480" cy="777240"/>
          </a:xfrm>
          <a:prstGeom prst="roundRect">
            <a:avLst>
              <a:gd name="adj" fmla="val 9411"/>
            </a:avLst>
          </a:prstGeom>
          <a:solidFill>
            <a:srgbClr val="FBE9EA"/>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1800" b="1" i="0">
                <a:solidFill>
                  <a:srgbClr val="A4262C"/>
                </a:solidFill>
                <a:latin typeface="Arial"/>
              </a:rPr>
              <a:t>403</a:t>
            </a:r>
          </a:p>
          <a:p>
            <a:pPr algn="ctr"/>
            <a:r>
              <a:rPr sz="1200" b="0" i="0">
                <a:solidFill>
                  <a:srgbClr val="1E1E2E"/>
                </a:solidFill>
                <a:latin typeface="Arial"/>
              </a:rPr>
              <a:t>on violation</a:t>
            </a:r>
          </a:p>
        </p:txBody>
      </p:sp>
      <p:cxnSp>
        <p:nvCxnSpPr>
          <p:cNvPr id="34" name="Connector (blocked)"/>
          <p:cNvCxnSpPr/>
          <p:nvPr/>
        </p:nvCxnSpPr>
        <p:spPr>
          <a:xfrm flipH="1">
            <a:off x="2103120" y="3611880"/>
            <a:ext cx="914400" cy="45720"/>
          </a:xfrm>
          <a:prstGeom prst="line">
            <a:avLst/>
          </a:prstGeom>
          <a:ln w="19050">
            <a:solidFill>
              <a:srgbClr val="A4262C"/>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548640" y="484632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Streaming: forwarding stops on violation without a 403. Test thresholds, false positives, latency and service failure.</a:t>
            </a:r>
          </a:p>
        </p:txBody>
      </p:sp>
      <p:sp>
        <p:nvSpPr>
          <p:cNvPr id="36" name="TextBox 35"/>
          <p:cNvSpPr txBox="1"/>
          <p:nvPr/>
        </p:nvSpPr>
        <p:spPr>
          <a:xfrm>
            <a:off x="548640" y="5577840"/>
            <a:ext cx="11064240" cy="256032"/>
          </a:xfrm>
          <a:prstGeom prst="rect">
            <a:avLst/>
          </a:prstGeom>
          <a:noFill/>
        </p:spPr>
        <p:txBody>
          <a:bodyPr wrap="square" lIns="0" rIns="0" tIns="0" bIns="0" anchor="t">
            <a:noAutofit/>
          </a:bodyPr>
          <a:lstStyle/>
          <a:p>
            <a:pPr algn="l"/>
            <a:r>
              <a:rPr sz="1200" b="1" i="0">
                <a:solidFill>
                  <a:srgbClr val="7373D8"/>
                </a:solidFill>
                <a:latin typeface="Arial"/>
              </a:rPr>
              <a:t>Rebuilt reference flow  ·  official Azure icons; source image kept in the original references pack</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Token metrics, logs and cost allocation</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A13</a:t>
            </a:r>
          </a:p>
        </p:txBody>
      </p:sp>
      <p:sp>
        <p:nvSpPr>
          <p:cNvPr id="5" name="Status chip: REBUILT FROM LOW-RES SOURCE"/>
          <p:cNvSpPr/>
          <p:nvPr/>
        </p:nvSpPr>
        <p:spPr>
          <a:xfrm>
            <a:off x="1996440" y="274320"/>
            <a:ext cx="260604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REBUILT FROM LOW-RES SOURCE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v4.0  ·  11 Oct 2026  ·  Working proposal, not approved terms</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24</a:t>
            </a:r>
          </a:p>
        </p:txBody>
      </p:sp>
      <p:sp>
        <p:nvSpPr>
          <p:cNvPr id="9" name="Rounded Rectangle 8"/>
          <p:cNvSpPr/>
          <p:nvPr/>
        </p:nvSpPr>
        <p:spPr>
          <a:xfrm>
            <a:off x="548640" y="1554480"/>
            <a:ext cx="2194560" cy="1143000"/>
          </a:xfrm>
          <a:prstGeom prst="roundRect">
            <a:avLst>
              <a:gd name="adj" fmla="val 6400"/>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0" name="Azure icon: API Management" descr="Official Azure icon: API Management"/>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94460" y="1627632"/>
            <a:ext cx="502920" cy="502920"/>
          </a:xfrm>
          <a:prstGeom prst="rect">
            <a:avLst/>
          </a:prstGeom>
        </p:spPr>
      </p:pic>
      <p:sp>
        <p:nvSpPr>
          <p:cNvPr id="11" name="TextBox 10"/>
          <p:cNvSpPr txBox="1"/>
          <p:nvPr/>
        </p:nvSpPr>
        <p:spPr>
          <a:xfrm>
            <a:off x="585216" y="2167128"/>
            <a:ext cx="2121408" cy="512063"/>
          </a:xfrm>
          <a:prstGeom prst="rect">
            <a:avLst/>
          </a:prstGeom>
          <a:noFill/>
        </p:spPr>
        <p:txBody>
          <a:bodyPr wrap="square" lIns="0" rIns="0" tIns="0" bIns="0" anchor="t">
            <a:noAutofit/>
          </a:bodyPr>
          <a:lstStyle/>
          <a:p>
            <a:pPr algn="ctr"/>
            <a:r>
              <a:rPr sz="1300" b="1" i="0">
                <a:solidFill>
                  <a:srgbClr val="000048"/>
                </a:solidFill>
                <a:latin typeface="Arial"/>
              </a:rPr>
              <a:t>API Management</a:t>
            </a:r>
          </a:p>
          <a:p>
            <a:pPr algn="ctr"/>
            <a:r>
              <a:rPr sz="1200" b="0" i="0">
                <a:solidFill>
                  <a:srgbClr val="53565A"/>
                </a:solidFill>
                <a:latin typeface="Arial"/>
              </a:rPr>
              <a:t>llm-emit-token-metric</a:t>
            </a:r>
          </a:p>
        </p:txBody>
      </p:sp>
      <p:sp>
        <p:nvSpPr>
          <p:cNvPr id="12" name="Rounded Rectangle 11"/>
          <p:cNvSpPr/>
          <p:nvPr/>
        </p:nvSpPr>
        <p:spPr>
          <a:xfrm>
            <a:off x="3566160" y="1554480"/>
            <a:ext cx="2194560" cy="1143000"/>
          </a:xfrm>
          <a:prstGeom prst="roundRect">
            <a:avLst>
              <a:gd name="adj" fmla="val 64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3" name="Azure icon: Application Insights" descr="Official Azure icon: Application Insights"/>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411979" y="1627632"/>
            <a:ext cx="502920" cy="502920"/>
          </a:xfrm>
          <a:prstGeom prst="rect">
            <a:avLst/>
          </a:prstGeom>
        </p:spPr>
      </p:pic>
      <p:sp>
        <p:nvSpPr>
          <p:cNvPr id="14" name="TextBox 13"/>
          <p:cNvSpPr txBox="1"/>
          <p:nvPr/>
        </p:nvSpPr>
        <p:spPr>
          <a:xfrm>
            <a:off x="3602736" y="2167128"/>
            <a:ext cx="2121408" cy="512063"/>
          </a:xfrm>
          <a:prstGeom prst="rect">
            <a:avLst/>
          </a:prstGeom>
          <a:noFill/>
        </p:spPr>
        <p:txBody>
          <a:bodyPr wrap="square" lIns="0" rIns="0" tIns="0" bIns="0" anchor="t">
            <a:noAutofit/>
          </a:bodyPr>
          <a:lstStyle/>
          <a:p>
            <a:pPr algn="ctr"/>
            <a:r>
              <a:rPr sz="1300" b="1" i="0">
                <a:solidFill>
                  <a:srgbClr val="000048"/>
                </a:solidFill>
                <a:latin typeface="Arial"/>
              </a:rPr>
              <a:t>Application Insights</a:t>
            </a:r>
          </a:p>
          <a:p>
            <a:pPr algn="ctr"/>
            <a:r>
              <a:rPr sz="1200" b="0" i="0">
                <a:solidFill>
                  <a:srgbClr val="53565A"/>
                </a:solidFill>
                <a:latin typeface="Arial"/>
              </a:rPr>
              <a:t>custom metrics</a:t>
            </a:r>
          </a:p>
        </p:txBody>
      </p:sp>
      <p:sp>
        <p:nvSpPr>
          <p:cNvPr id="15" name="Rounded Rectangle 14"/>
          <p:cNvSpPr/>
          <p:nvPr/>
        </p:nvSpPr>
        <p:spPr>
          <a:xfrm>
            <a:off x="6583680" y="1554480"/>
            <a:ext cx="2194560" cy="1143000"/>
          </a:xfrm>
          <a:prstGeom prst="roundRect">
            <a:avLst>
              <a:gd name="adj" fmla="val 64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6" name="Azure icon: Log Analytics workspace" descr="Official Azure icon: Log Analytics workspace"/>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429500" y="1627632"/>
            <a:ext cx="502920" cy="502920"/>
          </a:xfrm>
          <a:prstGeom prst="rect">
            <a:avLst/>
          </a:prstGeom>
        </p:spPr>
      </p:pic>
      <p:sp>
        <p:nvSpPr>
          <p:cNvPr id="17" name="TextBox 16"/>
          <p:cNvSpPr txBox="1"/>
          <p:nvPr/>
        </p:nvSpPr>
        <p:spPr>
          <a:xfrm>
            <a:off x="6620256" y="2167128"/>
            <a:ext cx="2121408" cy="512063"/>
          </a:xfrm>
          <a:prstGeom prst="rect">
            <a:avLst/>
          </a:prstGeom>
          <a:noFill/>
        </p:spPr>
        <p:txBody>
          <a:bodyPr wrap="square" lIns="0" rIns="0" tIns="0" bIns="0" anchor="t">
            <a:noAutofit/>
          </a:bodyPr>
          <a:lstStyle/>
          <a:p>
            <a:pPr algn="ctr"/>
            <a:r>
              <a:rPr sz="1300" b="1" i="0">
                <a:solidFill>
                  <a:srgbClr val="000048"/>
                </a:solidFill>
                <a:latin typeface="Arial"/>
              </a:rPr>
              <a:t>Log Analytics</a:t>
            </a:r>
          </a:p>
          <a:p>
            <a:pPr algn="ctr"/>
            <a:r>
              <a:rPr sz="1200" b="0" i="0">
                <a:solidFill>
                  <a:srgbClr val="53565A"/>
                </a:solidFill>
                <a:latin typeface="Arial"/>
              </a:rPr>
              <a:t>gateway logs, retention</a:t>
            </a:r>
          </a:p>
        </p:txBody>
      </p:sp>
      <p:sp>
        <p:nvSpPr>
          <p:cNvPr id="18" name="Rounded Rectangle 17"/>
          <p:cNvSpPr/>
          <p:nvPr/>
        </p:nvSpPr>
        <p:spPr>
          <a:xfrm>
            <a:off x="9509760" y="1554480"/>
            <a:ext cx="2194560" cy="1143000"/>
          </a:xfrm>
          <a:prstGeom prst="roundRect">
            <a:avLst>
              <a:gd name="adj" fmla="val 64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9" name="Azure icon: Azure Workbooks" descr="Official Azure icon: Azure Workbooks"/>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355580" y="1627632"/>
            <a:ext cx="502920" cy="502920"/>
          </a:xfrm>
          <a:prstGeom prst="rect">
            <a:avLst/>
          </a:prstGeom>
        </p:spPr>
      </p:pic>
      <p:sp>
        <p:nvSpPr>
          <p:cNvPr id="20" name="TextBox 19"/>
          <p:cNvSpPr txBox="1"/>
          <p:nvPr/>
        </p:nvSpPr>
        <p:spPr>
          <a:xfrm>
            <a:off x="9546336" y="2167128"/>
            <a:ext cx="2121408" cy="512063"/>
          </a:xfrm>
          <a:prstGeom prst="rect">
            <a:avLst/>
          </a:prstGeom>
          <a:noFill/>
        </p:spPr>
        <p:txBody>
          <a:bodyPr wrap="square" lIns="0" rIns="0" tIns="0" bIns="0" anchor="t">
            <a:noAutofit/>
          </a:bodyPr>
          <a:lstStyle/>
          <a:p>
            <a:pPr algn="ctr"/>
            <a:r>
              <a:rPr sz="1300" b="1" i="0">
                <a:solidFill>
                  <a:srgbClr val="000048"/>
                </a:solidFill>
                <a:latin typeface="Arial"/>
              </a:rPr>
              <a:t>Allocation workbook</a:t>
            </a:r>
          </a:p>
          <a:p>
            <a:pPr algn="ctr"/>
            <a:r>
              <a:rPr sz="1200" b="0" i="0">
                <a:solidFill>
                  <a:srgbClr val="53565A"/>
                </a:solidFill>
                <a:latin typeface="Arial"/>
              </a:rPr>
              <a:t>tokens by team and agent</a:t>
            </a:r>
          </a:p>
        </p:txBody>
      </p:sp>
      <p:cxnSp>
        <p:nvCxnSpPr>
          <p:cNvPr id="21" name="Connector (telemetry)"/>
          <p:cNvCxnSpPr/>
          <p:nvPr/>
        </p:nvCxnSpPr>
        <p:spPr>
          <a:xfrm>
            <a:off x="2743200" y="2103120"/>
            <a:ext cx="822960" cy="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telemetry)"/>
          <p:cNvCxnSpPr/>
          <p:nvPr/>
        </p:nvCxnSpPr>
        <p:spPr>
          <a:xfrm>
            <a:off x="5760720" y="2103120"/>
            <a:ext cx="822960" cy="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telemetry)"/>
          <p:cNvCxnSpPr/>
          <p:nvPr/>
        </p:nvCxnSpPr>
        <p:spPr>
          <a:xfrm>
            <a:off x="8778240" y="2103120"/>
            <a:ext cx="731520" cy="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graphicFrame>
        <p:nvGraphicFramePr>
          <p:cNvPr id="24" name="Table"/>
          <p:cNvGraphicFramePr>
            <a:graphicFrameLocks noGrp="1"/>
          </p:cNvGraphicFramePr>
          <p:nvPr/>
        </p:nvGraphicFramePr>
        <p:xfrm>
          <a:off x="548640" y="3246120"/>
          <a:ext cx="11091672" cy="1524000"/>
        </p:xfrm>
        <a:graphic>
          <a:graphicData uri="http://schemas.openxmlformats.org/drawingml/2006/table">
            <a:tbl>
              <a:tblPr firstRow="1" bandRow="0">
                <a:tableStyleId>{5C22544A-7EE6-4342-B048-85BDC9FD1C3A}</a:tableStyleId>
              </a:tblPr>
              <a:tblGrid>
                <a:gridCol w="3108960"/>
                <a:gridCol w="3657600"/>
                <a:gridCol w="4325112"/>
              </a:tblGrid>
              <a:tr h="304800">
                <a:tc>
                  <a:txBody>
                    <a:bodyPr wrap="square" anchor="ctr">
                      <a:noAutofit/>
                    </a:bodyPr>
                    <a:lstStyle/>
                    <a:p>
                      <a:pPr algn="l"/>
                      <a:r>
                        <a:rPr sz="1400" b="1" i="0">
                          <a:solidFill>
                            <a:srgbClr val="FFFFFF"/>
                          </a:solidFill>
                          <a:latin typeface="Arial"/>
                        </a:rPr>
                        <a:t>Dimension</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Source</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Used for</a:t>
                      </a:r>
                    </a:p>
                  </a:txBody>
                  <a:tcPr marL="73152" marR="73152" marT="36576" marB="36576" anchor="ctr">
                    <a:solidFill>
                      <a:srgbClr val="000048"/>
                    </a:solidFill>
                  </a:tcPr>
                </a:tc>
              </a:tr>
              <a:tr h="304800">
                <a:tc>
                  <a:txBody>
                    <a:bodyPr wrap="square" anchor="ctr">
                      <a:noAutofit/>
                    </a:bodyPr>
                    <a:lstStyle/>
                    <a:p>
                      <a:pPr algn="l"/>
                      <a:r>
                        <a:rPr sz="1400" b="1" i="0">
                          <a:solidFill>
                            <a:srgbClr val="1E1E2E"/>
                          </a:solidFill>
                          <a:latin typeface="Arial"/>
                        </a:rPr>
                        <a:t>Application or agent ID</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Validated token claim</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Allocation and containment scope</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Team or cost centre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Product or subscription mapping</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Showback</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Model and deployment type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Backend selected</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Price per token type</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Region</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Gateway and backend</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Residency evidence</a:t>
                      </a:r>
                    </a:p>
                  </a:txBody>
                  <a:tcPr marL="73152" marR="73152" marT="36576" marB="36576" anchor="ctr">
                    <a:solidFill>
                      <a:srgbClr val="F5F5F2"/>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Chargeback: from token metrics to a team bill</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A26</a:t>
            </a:r>
          </a:p>
        </p:txBody>
      </p:sp>
      <p:sp>
        <p:nvSpPr>
          <p:cNvPr id="5" name="Status chip: PROPOSED REFERENCE ARCHITECTURE"/>
          <p:cNvSpPr/>
          <p:nvPr/>
        </p:nvSpPr>
        <p:spPr>
          <a:xfrm>
            <a:off x="1996440" y="274320"/>
            <a:ext cx="29514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REFERENCE ARCHITECTURE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v4.0  ·  11 Oct 2026  ·  Working proposal, not approved terms</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35</a:t>
            </a:r>
          </a:p>
        </p:txBody>
      </p:sp>
      <p:pic>
        <p:nvPicPr>
          <p:cNvPr id="9" name="Azure icon: API Management" descr="Official Azure icon: API Management"/>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531620" y="1627632"/>
            <a:ext cx="502920" cy="502920"/>
          </a:xfrm>
          <a:prstGeom prst="rect">
            <a:avLst/>
          </a:prstGeom>
        </p:spPr>
      </p:pic>
      <p:sp>
        <p:nvSpPr>
          <p:cNvPr id="10" name="TextBox 9"/>
          <p:cNvSpPr txBox="1"/>
          <p:nvPr/>
        </p:nvSpPr>
        <p:spPr>
          <a:xfrm>
            <a:off x="585216" y="2167128"/>
            <a:ext cx="2395728" cy="786384"/>
          </a:xfrm>
          <a:prstGeom prst="rect">
            <a:avLst/>
          </a:prstGeom>
          <a:noFill/>
        </p:spPr>
        <p:txBody>
          <a:bodyPr wrap="square" lIns="0" rIns="0" tIns="0" bIns="0" anchor="t">
            <a:noAutofit/>
          </a:bodyPr>
          <a:lstStyle/>
          <a:p>
            <a:pPr algn="ctr"/>
            <a:r>
              <a:rPr sz="1500" b="1" i="0">
                <a:solidFill>
                  <a:srgbClr val="000048"/>
                </a:solidFill>
                <a:latin typeface="Arial"/>
              </a:rPr>
              <a:t>API Management</a:t>
            </a:r>
          </a:p>
          <a:p>
            <a:pPr algn="ctr"/>
            <a:r>
              <a:rPr sz="1200" b="0" i="0">
                <a:solidFill>
                  <a:srgbClr val="53565A"/>
                </a:solidFill>
                <a:latin typeface="Arial"/>
              </a:rPr>
              <a:t>emit token metric</a:t>
            </a:r>
          </a:p>
        </p:txBody>
      </p:sp>
      <p:cxnSp>
        <p:nvCxnSpPr>
          <p:cNvPr id="11" name="Connector (flow)"/>
          <p:cNvCxnSpPr/>
          <p:nvPr/>
        </p:nvCxnSpPr>
        <p:spPr>
          <a:xfrm>
            <a:off x="3017520" y="2240280"/>
            <a:ext cx="3657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12" name="Azure icon: Application Insights" descr="Official Azure icon: Application Insights"/>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366260" y="1627632"/>
            <a:ext cx="502920" cy="502920"/>
          </a:xfrm>
          <a:prstGeom prst="rect">
            <a:avLst/>
          </a:prstGeom>
        </p:spPr>
      </p:pic>
      <p:sp>
        <p:nvSpPr>
          <p:cNvPr id="13" name="TextBox 12"/>
          <p:cNvSpPr txBox="1"/>
          <p:nvPr/>
        </p:nvSpPr>
        <p:spPr>
          <a:xfrm>
            <a:off x="3419856" y="2167128"/>
            <a:ext cx="2395728" cy="786384"/>
          </a:xfrm>
          <a:prstGeom prst="rect">
            <a:avLst/>
          </a:prstGeom>
          <a:noFill/>
        </p:spPr>
        <p:txBody>
          <a:bodyPr wrap="square" lIns="0" rIns="0" tIns="0" bIns="0" anchor="t">
            <a:noAutofit/>
          </a:bodyPr>
          <a:lstStyle/>
          <a:p>
            <a:pPr algn="ctr"/>
            <a:r>
              <a:rPr sz="1500" b="1" i="0">
                <a:solidFill>
                  <a:srgbClr val="000048"/>
                </a:solidFill>
                <a:latin typeface="Arial"/>
              </a:rPr>
              <a:t>Application Insights</a:t>
            </a:r>
          </a:p>
          <a:p>
            <a:pPr algn="ctr"/>
            <a:r>
              <a:rPr sz="1200" b="0" i="0">
                <a:solidFill>
                  <a:srgbClr val="53565A"/>
                </a:solidFill>
                <a:latin typeface="Arial"/>
              </a:rPr>
              <a:t>tokens by caller</a:t>
            </a:r>
          </a:p>
        </p:txBody>
      </p:sp>
      <p:cxnSp>
        <p:nvCxnSpPr>
          <p:cNvPr id="14" name="Connector (flow)"/>
          <p:cNvCxnSpPr/>
          <p:nvPr/>
        </p:nvCxnSpPr>
        <p:spPr>
          <a:xfrm>
            <a:off x="5852160" y="2240280"/>
            <a:ext cx="3657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15" name="Azure icon: Log Analytics workspace" descr="Official Azure icon: Log Analytics workspace"/>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200900" y="1627632"/>
            <a:ext cx="502920" cy="502920"/>
          </a:xfrm>
          <a:prstGeom prst="rect">
            <a:avLst/>
          </a:prstGeom>
        </p:spPr>
      </p:pic>
      <p:sp>
        <p:nvSpPr>
          <p:cNvPr id="16" name="TextBox 15"/>
          <p:cNvSpPr txBox="1"/>
          <p:nvPr/>
        </p:nvSpPr>
        <p:spPr>
          <a:xfrm>
            <a:off x="6254496" y="2167128"/>
            <a:ext cx="2395728" cy="786384"/>
          </a:xfrm>
          <a:prstGeom prst="rect">
            <a:avLst/>
          </a:prstGeom>
          <a:noFill/>
        </p:spPr>
        <p:txBody>
          <a:bodyPr wrap="square" lIns="0" rIns="0" tIns="0" bIns="0" anchor="t">
            <a:noAutofit/>
          </a:bodyPr>
          <a:lstStyle/>
          <a:p>
            <a:pPr algn="ctr"/>
            <a:r>
              <a:rPr sz="1500" b="1" i="0">
                <a:solidFill>
                  <a:srgbClr val="000048"/>
                </a:solidFill>
                <a:latin typeface="Arial"/>
              </a:rPr>
              <a:t>Log Analytics</a:t>
            </a:r>
          </a:p>
          <a:p>
            <a:pPr algn="ctr"/>
            <a:r>
              <a:rPr sz="1200" b="0" i="0">
                <a:solidFill>
                  <a:srgbClr val="53565A"/>
                </a:solidFill>
                <a:latin typeface="Arial"/>
              </a:rPr>
              <a:t>join price table</a:t>
            </a:r>
          </a:p>
        </p:txBody>
      </p:sp>
      <p:cxnSp>
        <p:nvCxnSpPr>
          <p:cNvPr id="17" name="Connector (flow)"/>
          <p:cNvCxnSpPr/>
          <p:nvPr/>
        </p:nvCxnSpPr>
        <p:spPr>
          <a:xfrm>
            <a:off x="8686800" y="2240280"/>
            <a:ext cx="3657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18" name="Azure icon: Azure Workbooks" descr="Official Azure icon: Azure Workbooks"/>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035540" y="1627632"/>
            <a:ext cx="502920" cy="502920"/>
          </a:xfrm>
          <a:prstGeom prst="rect">
            <a:avLst/>
          </a:prstGeom>
        </p:spPr>
      </p:pic>
      <p:sp>
        <p:nvSpPr>
          <p:cNvPr id="19" name="TextBox 18"/>
          <p:cNvSpPr txBox="1"/>
          <p:nvPr/>
        </p:nvSpPr>
        <p:spPr>
          <a:xfrm>
            <a:off x="9089136" y="2167128"/>
            <a:ext cx="2395728" cy="786384"/>
          </a:xfrm>
          <a:prstGeom prst="rect">
            <a:avLst/>
          </a:prstGeom>
          <a:noFill/>
        </p:spPr>
        <p:txBody>
          <a:bodyPr wrap="square" lIns="0" rIns="0" tIns="0" bIns="0" anchor="t">
            <a:noAutofit/>
          </a:bodyPr>
          <a:lstStyle/>
          <a:p>
            <a:pPr algn="ctr"/>
            <a:r>
              <a:rPr sz="1500" b="1" i="0">
                <a:solidFill>
                  <a:srgbClr val="000048"/>
                </a:solidFill>
                <a:latin typeface="Arial"/>
              </a:rPr>
              <a:t>Showback report</a:t>
            </a:r>
          </a:p>
          <a:p>
            <a:pPr algn="ctr"/>
            <a:r>
              <a:rPr sz="1200" b="0" i="0">
                <a:solidFill>
                  <a:srgbClr val="53565A"/>
                </a:solidFill>
                <a:latin typeface="Arial"/>
              </a:rPr>
              <a:t>per team, per agent</a:t>
            </a:r>
          </a:p>
        </p:txBody>
      </p:sp>
      <p:pic>
        <p:nvPicPr>
          <p:cNvPr id="20" name="Azure icon: Cost Management" descr="Official Azure icon: Cost Management"/>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366260" y="3822191"/>
            <a:ext cx="502920" cy="502920"/>
          </a:xfrm>
          <a:prstGeom prst="rect">
            <a:avLst/>
          </a:prstGeom>
        </p:spPr>
      </p:pic>
      <p:sp>
        <p:nvSpPr>
          <p:cNvPr id="21" name="TextBox 20"/>
          <p:cNvSpPr txBox="1"/>
          <p:nvPr/>
        </p:nvSpPr>
        <p:spPr>
          <a:xfrm>
            <a:off x="3419856" y="4361688"/>
            <a:ext cx="2395728" cy="786384"/>
          </a:xfrm>
          <a:prstGeom prst="rect">
            <a:avLst/>
          </a:prstGeom>
          <a:noFill/>
        </p:spPr>
        <p:txBody>
          <a:bodyPr wrap="square" lIns="0" rIns="0" tIns="0" bIns="0" anchor="t">
            <a:noAutofit/>
          </a:bodyPr>
          <a:lstStyle/>
          <a:p>
            <a:pPr algn="ctr"/>
            <a:r>
              <a:rPr sz="1500" b="1" i="0">
                <a:solidFill>
                  <a:srgbClr val="000048"/>
                </a:solidFill>
                <a:latin typeface="Arial"/>
              </a:rPr>
              <a:t>Cost Management export</a:t>
            </a:r>
          </a:p>
          <a:p>
            <a:pPr algn="ctr"/>
            <a:r>
              <a:rPr sz="1200" b="0" i="0">
                <a:solidFill>
                  <a:srgbClr val="53565A"/>
                </a:solidFill>
                <a:latin typeface="Arial"/>
              </a:rPr>
              <a:t>FOCUS format, shared costs</a:t>
            </a:r>
          </a:p>
        </p:txBody>
      </p:sp>
      <p:cxnSp>
        <p:nvCxnSpPr>
          <p:cNvPr id="22" name="Connector (flow)"/>
          <p:cNvCxnSpPr/>
          <p:nvPr/>
        </p:nvCxnSpPr>
        <p:spPr>
          <a:xfrm>
            <a:off x="5852160" y="4434840"/>
            <a:ext cx="1051560"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23" name="Connector (flow)"/>
          <p:cNvCxnSpPr/>
          <p:nvPr/>
        </p:nvCxnSpPr>
        <p:spPr>
          <a:xfrm flipV="1">
            <a:off x="6903720" y="2971800"/>
            <a:ext cx="0" cy="146304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492240" y="3749039"/>
            <a:ext cx="5120640" cy="1417320"/>
          </a:xfrm>
          <a:prstGeom prst="roundRect">
            <a:avLst>
              <a:gd name="adj" fmla="val 5161"/>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a:spcAft>
                <a:spcPts val="400"/>
              </a:spcAft>
            </a:pPr>
            <a:r>
              <a:rPr sz="1500" b="1" i="0">
                <a:solidFill>
                  <a:srgbClr val="000048"/>
                </a:solidFill>
                <a:latin typeface="Arial"/>
              </a:rPr>
              <a:t>Allocation rule (Finance decides)</a:t>
            </a:r>
          </a:p>
          <a:p>
            <a:pPr algn="l"/>
            <a:r>
              <a:rPr sz="1500" b="0" i="0">
                <a:solidFill>
                  <a:srgbClr val="1E1E2E"/>
                </a:solidFill>
                <a:latin typeface="Arial"/>
              </a:rPr>
              <a:t>Tokens priced per caller; shared platform cost split by token share or an agreed key.</a:t>
            </a:r>
          </a:p>
        </p:txBody>
      </p:sp>
      <p:sp>
        <p:nvSpPr>
          <p:cNvPr id="25" name="Rounded Rectangle 24"/>
          <p:cNvSpPr/>
          <p:nvPr/>
        </p:nvSpPr>
        <p:spPr>
          <a:xfrm>
            <a:off x="548640" y="5532120"/>
            <a:ext cx="11091672" cy="548640"/>
          </a:xfrm>
          <a:prstGeom prst="roundRect">
            <a:avLst>
              <a:gd name="adj" fmla="val 13333"/>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Showback first. Chargeback only after Finance approves the allocation rule. Streaming token counts are estimates.</a:t>
            </a:r>
          </a:p>
        </p:txBody>
      </p:sp>
      <p:sp>
        <p:nvSpPr>
          <p:cNvPr id="26" name="TextBox 25"/>
          <p:cNvSpPr txBox="1"/>
          <p:nvPr/>
        </p:nvSpPr>
        <p:spPr>
          <a:xfrm>
            <a:off x="548640" y="6144768"/>
            <a:ext cx="11064240" cy="256032"/>
          </a:xfrm>
          <a:prstGeom prst="rect">
            <a:avLst/>
          </a:prstGeom>
          <a:noFill/>
        </p:spPr>
        <p:txBody>
          <a:bodyPr wrap="square" lIns="0" rIns="0" tIns="0" bIns="0" anchor="t">
            <a:noAutofit/>
          </a:bodyPr>
          <a:lstStyle/>
          <a:p>
            <a:pPr algn="l"/>
            <a:r>
              <a:rPr sz="1200" b="1" i="0">
                <a:solidFill>
                  <a:srgbClr val="7373D8"/>
                </a:solidFill>
                <a:latin typeface="Arial"/>
              </a:rPr>
              <a:t>Proposed reference architecture  ·  CIS Infra custom design  ·  not a Microsoft-published or Microsoft-endorsed architecture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Copilot Studio tool calls through the gateway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A27</a:t>
            </a:r>
          </a:p>
        </p:txBody>
      </p:sp>
      <p:sp>
        <p:nvSpPr>
          <p:cNvPr id="5" name="Status chip: PROPOSED"/>
          <p:cNvSpPr/>
          <p:nvPr/>
        </p:nvSpPr>
        <p:spPr>
          <a:xfrm>
            <a:off x="199644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v4.0  ·  11 Oct 2026  ·  Working proposal, not approved terms</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36</a:t>
            </a:r>
          </a:p>
        </p:txBody>
      </p:sp>
      <p:sp>
        <p:nvSpPr>
          <p:cNvPr id="9" name="Rounded Rectangle 8"/>
          <p:cNvSpPr/>
          <p:nvPr/>
        </p:nvSpPr>
        <p:spPr>
          <a:xfrm>
            <a:off x="548640" y="1737360"/>
            <a:ext cx="2377440" cy="1005840"/>
          </a:xfrm>
          <a:prstGeom prst="roundRect">
            <a:avLst>
              <a:gd name="adj" fmla="val 7272"/>
            </a:avLst>
          </a:prstGeom>
          <a:solidFill>
            <a:srgbClr val="FFFFFF"/>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noAutofit/>
          </a:bodyPr>
          <a:lstStyle/>
          <a:p>
            <a:pPr algn="ctr"/>
            <a:r>
              <a:rPr sz="1500" b="1" i="0">
                <a:solidFill>
                  <a:srgbClr val="000048"/>
                </a:solidFill>
                <a:latin typeface="Arial"/>
              </a:rPr>
              <a:t>Copilot Studio agent</a:t>
            </a:r>
          </a:p>
          <a:p>
            <a:pPr algn="ctr"/>
            <a:r>
              <a:rPr sz="1200" b="0" i="0">
                <a:solidFill>
                  <a:srgbClr val="53565A"/>
                </a:solidFill>
                <a:latin typeface="Arial"/>
              </a:rPr>
              <a:t>Power Platform team</a:t>
            </a:r>
          </a:p>
        </p:txBody>
      </p:sp>
      <p:sp>
        <p:nvSpPr>
          <p:cNvPr id="10" name="Rounded Rectangle 9"/>
          <p:cNvSpPr/>
          <p:nvPr/>
        </p:nvSpPr>
        <p:spPr>
          <a:xfrm>
            <a:off x="3337560" y="1737360"/>
            <a:ext cx="2377440" cy="1005840"/>
          </a:xfrm>
          <a:prstGeom prst="roundRect">
            <a:avLst>
              <a:gd name="adj" fmla="val 7272"/>
            </a:avLst>
          </a:prstGeom>
          <a:solidFill>
            <a:srgbClr val="FFFFFF"/>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noAutofit/>
          </a:bodyPr>
          <a:lstStyle/>
          <a:p>
            <a:pPr algn="ctr"/>
            <a:r>
              <a:rPr sz="1500" b="1" i="0">
                <a:solidFill>
                  <a:srgbClr val="000048"/>
                </a:solidFill>
                <a:latin typeface="Arial"/>
              </a:rPr>
              <a:t>Custom connector</a:t>
            </a:r>
          </a:p>
          <a:p>
            <a:pPr algn="ctr"/>
            <a:r>
              <a:rPr sz="1200" b="0" i="0">
                <a:solidFill>
                  <a:srgbClr val="53565A"/>
                </a:solidFill>
                <a:latin typeface="Arial"/>
              </a:rPr>
              <a:t>exported from APIM</a:t>
            </a:r>
          </a:p>
        </p:txBody>
      </p:sp>
      <p:pic>
        <p:nvPicPr>
          <p:cNvPr id="11" name="Azure icon: API Management" descr="Official Azure icon: API Management"/>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086600" y="1673352"/>
            <a:ext cx="457200" cy="457200"/>
          </a:xfrm>
          <a:prstGeom prst="rect">
            <a:avLst/>
          </a:prstGeom>
        </p:spPr>
      </p:pic>
      <p:sp>
        <p:nvSpPr>
          <p:cNvPr id="12" name="TextBox 11"/>
          <p:cNvSpPr txBox="1"/>
          <p:nvPr/>
        </p:nvSpPr>
        <p:spPr>
          <a:xfrm>
            <a:off x="6163056" y="2167128"/>
            <a:ext cx="2304288" cy="694943"/>
          </a:xfrm>
          <a:prstGeom prst="rect">
            <a:avLst/>
          </a:prstGeom>
          <a:noFill/>
        </p:spPr>
        <p:txBody>
          <a:bodyPr wrap="square" lIns="0" rIns="0" tIns="0" bIns="0" anchor="t">
            <a:noAutofit/>
          </a:bodyPr>
          <a:lstStyle/>
          <a:p>
            <a:pPr algn="ctr"/>
            <a:r>
              <a:rPr sz="1500" b="1" i="0">
                <a:solidFill>
                  <a:srgbClr val="000048"/>
                </a:solidFill>
                <a:latin typeface="Arial"/>
              </a:rPr>
              <a:t>API Management</a:t>
            </a:r>
          </a:p>
          <a:p>
            <a:pPr algn="ctr"/>
            <a:r>
              <a:rPr sz="1200" b="0" i="0">
                <a:solidFill>
                  <a:srgbClr val="53565A"/>
                </a:solidFill>
                <a:latin typeface="Arial"/>
              </a:rPr>
              <a:t>identity, limits, logs</a:t>
            </a:r>
          </a:p>
        </p:txBody>
      </p:sp>
      <p:pic>
        <p:nvPicPr>
          <p:cNvPr id="13" name="Azure icon: Function App" descr="Official Azure icon: Function App"/>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035540" y="1673352"/>
            <a:ext cx="457200" cy="457200"/>
          </a:xfrm>
          <a:prstGeom prst="rect">
            <a:avLst/>
          </a:prstGeom>
        </p:spPr>
      </p:pic>
      <p:sp>
        <p:nvSpPr>
          <p:cNvPr id="14" name="TextBox 13"/>
          <p:cNvSpPr txBox="1"/>
          <p:nvPr/>
        </p:nvSpPr>
        <p:spPr>
          <a:xfrm>
            <a:off x="8951976" y="2167128"/>
            <a:ext cx="2624328" cy="694943"/>
          </a:xfrm>
          <a:prstGeom prst="rect">
            <a:avLst/>
          </a:prstGeom>
          <a:noFill/>
        </p:spPr>
        <p:txBody>
          <a:bodyPr wrap="square" lIns="0" rIns="0" tIns="0" bIns="0" anchor="t">
            <a:noAutofit/>
          </a:bodyPr>
          <a:lstStyle/>
          <a:p>
            <a:pPr algn="ctr"/>
            <a:r>
              <a:rPr sz="1500" b="1" i="0">
                <a:solidFill>
                  <a:srgbClr val="000048"/>
                </a:solidFill>
                <a:latin typeface="Arial"/>
              </a:rPr>
              <a:t>Tool APIs</a:t>
            </a:r>
          </a:p>
          <a:p>
            <a:pPr algn="ctr"/>
            <a:r>
              <a:rPr sz="1200" b="0" i="0">
                <a:solidFill>
                  <a:srgbClr val="53565A"/>
                </a:solidFill>
                <a:latin typeface="Arial"/>
              </a:rPr>
              <a:t>registered in API Center</a:t>
            </a:r>
          </a:p>
        </p:txBody>
      </p:sp>
      <p:cxnSp>
        <p:nvCxnSpPr>
          <p:cNvPr id="15" name="Connector (flow)"/>
          <p:cNvCxnSpPr/>
          <p:nvPr/>
        </p:nvCxnSpPr>
        <p:spPr>
          <a:xfrm>
            <a:off x="2926080" y="2240280"/>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flow)"/>
          <p:cNvCxnSpPr/>
          <p:nvPr/>
        </p:nvCxnSpPr>
        <p:spPr>
          <a:xfrm>
            <a:off x="5715000" y="2240280"/>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flow)"/>
          <p:cNvCxnSpPr/>
          <p:nvPr/>
        </p:nvCxnSpPr>
        <p:spPr>
          <a:xfrm>
            <a:off x="8503920" y="2240280"/>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graphicFrame>
        <p:nvGraphicFramePr>
          <p:cNvPr id="18" name="Table"/>
          <p:cNvGraphicFramePr>
            <a:graphicFrameLocks noGrp="1"/>
          </p:cNvGraphicFramePr>
          <p:nvPr/>
        </p:nvGraphicFramePr>
        <p:xfrm>
          <a:off x="548640" y="3291840"/>
          <a:ext cx="11091672" cy="1600200"/>
        </p:xfrm>
        <a:graphic>
          <a:graphicData uri="http://schemas.openxmlformats.org/drawingml/2006/table">
            <a:tbl>
              <a:tblPr firstRow="1" bandRow="0">
                <a:tableStyleId>{5C22544A-7EE6-4342-B048-85BDC9FD1C3A}</a:tableStyleId>
              </a:tblPr>
              <a:tblGrid>
                <a:gridCol w="3291840"/>
                <a:gridCol w="7799832"/>
              </a:tblGrid>
              <a:tr h="320040">
                <a:tc>
                  <a:txBody>
                    <a:bodyPr wrap="square" anchor="ctr">
                      <a:noAutofit/>
                    </a:bodyPr>
                    <a:lstStyle/>
                    <a:p>
                      <a:pPr algn="l"/>
                      <a:r>
                        <a:rPr sz="1500" b="1" i="0">
                          <a:solidFill>
                            <a:srgbClr val="FFFFFF"/>
                          </a:solidFill>
                          <a:latin typeface="Arial"/>
                        </a:rPr>
                        <a:t>Who</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Does what</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Power Platform team</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Environments, DLP policies, connector approval</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CIS Infra</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Gateway APIs, connector export, limits, logging</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Tool owners with Security</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Tool authorisation and registration</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M365 and D365 teams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Microsoft 365 Copilot (outside this offering)</a:t>
                      </a:r>
                    </a:p>
                  </a:txBody>
                  <a:tcPr marL="73152" marR="73152" marT="36576" marB="36576" anchor="ctr">
                    <a:solidFill>
                      <a:srgbClr val="F5F5F2"/>
                    </a:solidFill>
                  </a:tcPr>
                </a:tc>
              </a:tr>
            </a:tbl>
          </a:graphicData>
        </a:graphic>
      </p:graphicFrame>
      <p:sp>
        <p:nvSpPr>
          <p:cNvPr id="19" name="Rounded Rectangle 18"/>
          <p:cNvSpPr/>
          <p:nvPr/>
        </p:nvSpPr>
        <p:spPr>
          <a:xfrm>
            <a:off x="548640" y="5715000"/>
            <a:ext cx="11091672" cy="502920"/>
          </a:xfrm>
          <a:prstGeom prst="roundRect">
            <a:avLst>
              <a:gd name="adj" fmla="val 14545"/>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Copilot Studio model calls are Microsoft-managed and do not pass through the customer gateway.</a:t>
            </a:r>
          </a:p>
        </p:txBody>
      </p:sp>
    </p:spTree>
  </p:cSld>
  <p:clrMapOvr>
    <a:masterClrMapping/>
  </p:clrMapOvr>
</p:sld>
</file>

<file path=ppt/theme/theme1.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Upendra Kumar</dc:creator>
  <lastModifiedBy>Upendra Kumar</lastModifiedBy>
  <dc:title>AI Gateway Implementation v4.0</dc:title>
  <dcterms:created xsi:type="dcterms:W3CDTF">2026-10-10T13:56:28.3080000Z</dcterms:created>
  <dcterms:modified xsi:type="dcterms:W3CDTF">2026-10-10T13:56:28.3090000Z</dcterms:modified>
  <dc:subject>Proposed CIS Infra GTM offering for internal leadership review</dc:subject>
</coreProperties>
</file>