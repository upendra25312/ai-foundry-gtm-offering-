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27.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2" ns0:id="rId15"/>
    <p:sldId xmlns:ns0="http://schemas.openxmlformats.org/officeDocument/2006/relationships" id="282" ns0:id="rId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5" Type="http://schemas.openxmlformats.org/officeDocument/2006/relationships/slide" Target="slides/slide7.xml"/><Relationship Id="rId35"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number decides this: the price per PTU-month. In this example, PTU only beats pay as you go if it costs less than about $210 a month in a hybrid design. The hourly list price is 730 dollars. So the question for procurement is whether their reservation price closes that gap, and whether latency needs justify paying more.</a:t>
            </a:r>
          </a:p>
          <a:p/>
          <a:p>
            <a:r>
              <a:t>Likely question: Is this example realistic?</a:t>
            </a:r>
          </a:p>
          <a:p>
            <a:r>
              <a:t>Answer: The prices are real list prices; the workload is assumed. The assessment replaces the assumptions with measured traffic.</a:t>
            </a:r>
          </a:p>
          <a:p/>
          <a:p>
            <a:r>
              <a:t>DETAIL AND CAVEATS</a:t>
            </a:r>
          </a:p>
          <a:p>
            <a:r>
              <a:t>Worked example (appendix A8 to A11). Assumed workload: 100 tasks per minute on average, 3 model calls per task, 5% retries, 2000 input tokens (25% cached) and 400 output tokens per call, daily profile peaking at 1.66x the mean. Model gpt-5.4 Global Standard at East US 2 list prices ($2.50 input, $0.25 cached, $15.00 output per 1M tokens). PTU parameters for gpt-5.4: 2,400 input TPM per PTU, 1 output token = 6 input, minimum 15, increment 5. PAYG cost $136,245 a month. PTU sized to peak = 850 PTU; hybrid baseline = 425 PTU with 34% of calls overflowing. Break-even effective PTU price: $160 per PTU-month (peak-sized) and $210 (hybrid). Hourly list price for Global provisioned is $1.00 per PTU-hour = $730 per PTU-month. Reservation prices are not in the retail price API; they come from the customer agreement. Not a recommendation.</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Data comes from four places: gateway token metrics, deployment metrics, cost exports and reservation data. We join them in Log Analytics and a cost model, and the output is the decision memo.</a:t>
            </a:r>
          </a:p>
          <a:p/>
          <a:p>
            <a:r>
              <a:t>Likely question: Do we install a tool?</a:t>
            </a:r>
          </a:p>
          <a:p>
            <a:r>
              <a:t>Answer: No. Native Azure services plus a transparent model the customer keeps.</a:t>
            </a:r>
          </a:p>
          <a:p/>
          <a:p>
            <a:r>
              <a:t>DETAIL AND CAVEATS</a:t>
            </a:r>
          </a:p>
          <a:p>
            <a:r>
              <a:t>Rebuilt editable telemetry architecture (audit finding: rebuild the low-resolution telemetry diagram). Steps: (1) API Management emits token metrics per caller, agent and model; (2) Foundry deployments expose token and utilisation metrics in Azure Monitor; (3) Cost Management exports actual and amortised cost daily to a Storage account; (4) reservation and quota data are pulled on schedule; (5) a cost model joins usage to price by model, deployment type and token type; (6) the workbook shows unit cost, utilisation, coverage and overflow. Identity: read-only managed identity. Note Log Analytics ingestion is itself a cost.</a:t>
            </a:r>
          </a:p>
          <a:p/>
          <a:p>
            <a:r>
              <a:t>Sources (checked 11 Oct 2026):</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s>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only pays below a price; list is far above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ILLUSTRATIVE WORKLOAD"/>
          <p:cNvSpPr/>
          <p:nvPr/>
        </p:nvSpPr>
        <p:spPr>
          <a:xfrm>
            <a:off x="3658870" y="274320"/>
            <a:ext cx="20878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WORKLOAD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TextBox 7"/>
          <p:cNvSpPr txBox="1"/>
          <p:nvPr/>
        </p:nvSpPr>
        <p:spPr>
          <a:xfrm>
            <a:off x="548640" y="1600200"/>
            <a:ext cx="2743200" cy="731520"/>
          </a:xfrm>
          <a:prstGeom prst="rect">
            <a:avLst/>
          </a:prstGeom>
          <a:noFill/>
        </p:spPr>
        <p:txBody>
          <a:bodyPr wrap="square" lIns="0" rIns="0" tIns="0" bIns="0" anchor="ctr">
            <a:noAutofit/>
          </a:bodyPr>
          <a:lstStyle/>
          <a:p>
            <a:pPr algn="l"/>
            <a:r>
              <a:rPr sz="1900" b="1" i="0">
                <a:solidFill>
                  <a:srgbClr val="000048"/>
                </a:solidFill>
                <a:latin typeface="Arial"/>
              </a:rPr>
              <a:t>Hourly list price</a:t>
            </a:r>
          </a:p>
        </p:txBody>
      </p:sp>
      <p:sp>
        <p:nvSpPr>
          <p:cNvPr id="9" name="Rectangle 8"/>
          <p:cNvSpPr/>
          <p:nvPr/>
        </p:nvSpPr>
        <p:spPr>
          <a:xfrm>
            <a:off x="3291840" y="1691640"/>
            <a:ext cx="3838194" cy="548640"/>
          </a:xfrm>
          <a:prstGeom prst="rect">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0" name="TextBox 9"/>
          <p:cNvSpPr txBox="1"/>
          <p:nvPr/>
        </p:nvSpPr>
        <p:spPr>
          <a:xfrm>
            <a:off x="7221474" y="1600200"/>
            <a:ext cx="1371600" cy="731520"/>
          </a:xfrm>
          <a:prstGeom prst="rect">
            <a:avLst/>
          </a:prstGeom>
          <a:noFill/>
        </p:spPr>
        <p:txBody>
          <a:bodyPr wrap="square" lIns="0" rIns="0" tIns="0" bIns="0" anchor="ctr">
            <a:noAutofit/>
          </a:bodyPr>
          <a:lstStyle/>
          <a:p>
            <a:pPr algn="l"/>
            <a:r>
              <a:rPr sz="2200" b="1" i="0">
                <a:solidFill>
                  <a:srgbClr val="53565A"/>
                </a:solidFill>
                <a:latin typeface="Arial"/>
              </a:rPr>
              <a:t>$730</a:t>
            </a:r>
          </a:p>
        </p:txBody>
      </p:sp>
      <p:sp>
        <p:nvSpPr>
          <p:cNvPr id="11" name="TextBox 10"/>
          <p:cNvSpPr txBox="1"/>
          <p:nvPr/>
        </p:nvSpPr>
        <p:spPr>
          <a:xfrm>
            <a:off x="548640" y="269748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hybrid</a:t>
            </a:r>
          </a:p>
        </p:txBody>
      </p:sp>
      <p:sp>
        <p:nvSpPr>
          <p:cNvPr id="12" name="Rectangle 11"/>
          <p:cNvSpPr/>
          <p:nvPr/>
        </p:nvSpPr>
        <p:spPr>
          <a:xfrm>
            <a:off x="3291840" y="2788920"/>
            <a:ext cx="1104137" cy="548640"/>
          </a:xfrm>
          <a:prstGeom prst="rect">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3" name="TextBox 12"/>
          <p:cNvSpPr txBox="1"/>
          <p:nvPr/>
        </p:nvSpPr>
        <p:spPr>
          <a:xfrm>
            <a:off x="4487418" y="2697480"/>
            <a:ext cx="1371600" cy="731520"/>
          </a:xfrm>
          <a:prstGeom prst="rect">
            <a:avLst/>
          </a:prstGeom>
          <a:noFill/>
        </p:spPr>
        <p:txBody>
          <a:bodyPr wrap="square" lIns="0" rIns="0" tIns="0" bIns="0" anchor="ctr">
            <a:noAutofit/>
          </a:bodyPr>
          <a:lstStyle/>
          <a:p>
            <a:pPr algn="l"/>
            <a:r>
              <a:rPr sz="2200" b="1" i="0">
                <a:solidFill>
                  <a:srgbClr val="7373D8"/>
                </a:solidFill>
                <a:latin typeface="Arial"/>
              </a:rPr>
              <a:t>$210</a:t>
            </a:r>
          </a:p>
        </p:txBody>
      </p:sp>
      <p:sp>
        <p:nvSpPr>
          <p:cNvPr id="14" name="TextBox 13"/>
          <p:cNvSpPr txBox="1"/>
          <p:nvPr/>
        </p:nvSpPr>
        <p:spPr>
          <a:xfrm>
            <a:off x="548640" y="379476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peak-sized</a:t>
            </a:r>
          </a:p>
        </p:txBody>
      </p:sp>
      <p:sp>
        <p:nvSpPr>
          <p:cNvPr id="15" name="Rectangle 14"/>
          <p:cNvSpPr/>
          <p:nvPr/>
        </p:nvSpPr>
        <p:spPr>
          <a:xfrm>
            <a:off x="3291840" y="3886200"/>
            <a:ext cx="841248" cy="54864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6" name="TextBox 15"/>
          <p:cNvSpPr txBox="1"/>
          <p:nvPr/>
        </p:nvSpPr>
        <p:spPr>
          <a:xfrm>
            <a:off x="4224528" y="3794760"/>
            <a:ext cx="1371600" cy="731520"/>
          </a:xfrm>
          <a:prstGeom prst="rect">
            <a:avLst/>
          </a:prstGeom>
          <a:noFill/>
        </p:spPr>
        <p:txBody>
          <a:bodyPr wrap="square" lIns="0" rIns="0" tIns="0" bIns="0" anchor="ctr">
            <a:noAutofit/>
          </a:bodyPr>
          <a:lstStyle/>
          <a:p>
            <a:pPr algn="l"/>
            <a:r>
              <a:rPr sz="2200" b="1" i="0">
                <a:solidFill>
                  <a:srgbClr val="000048"/>
                </a:solidFill>
                <a:latin typeface="Arial"/>
              </a:rPr>
              <a:t>$160</a:t>
            </a:r>
          </a:p>
        </p:txBody>
      </p:sp>
      <p:sp>
        <p:nvSpPr>
          <p:cNvPr id="17" name="TextBox 16"/>
          <p:cNvSpPr txBox="1"/>
          <p:nvPr/>
        </p:nvSpPr>
        <p:spPr>
          <a:xfrm>
            <a:off x="3291840" y="4892040"/>
            <a:ext cx="4389120" cy="365760"/>
          </a:xfrm>
          <a:prstGeom prst="rect">
            <a:avLst/>
          </a:prstGeom>
          <a:noFill/>
        </p:spPr>
        <p:txBody>
          <a:bodyPr wrap="square" lIns="0" rIns="0" tIns="0" bIns="0" anchor="t">
            <a:noAutofit/>
          </a:bodyPr>
          <a:lstStyle/>
          <a:p>
            <a:pPr algn="l"/>
            <a:r>
              <a:rPr sz="1400" b="0" i="0">
                <a:solidFill>
                  <a:srgbClr val="53565A"/>
                </a:solidFill>
                <a:latin typeface="Arial"/>
              </a:rPr>
              <a:t>USD per PTU-month</a:t>
            </a:r>
          </a:p>
        </p:txBody>
      </p:sp>
      <p:sp>
        <p:nvSpPr>
          <p:cNvPr id="18" name="Rounded Rectangle 17"/>
          <p:cNvSpPr/>
          <p:nvPr/>
        </p:nvSpPr>
        <p:spPr>
          <a:xfrm>
            <a:off x="8229600" y="1463040"/>
            <a:ext cx="3410712" cy="3108960"/>
          </a:xfrm>
          <a:prstGeom prst="roundRect">
            <a:avLst>
              <a:gd name="adj" fmla="val 2352"/>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600" b="1" i="0">
                <a:solidFill>
                  <a:srgbClr val="26EFE9"/>
                </a:solidFill>
                <a:latin typeface="Arial"/>
              </a:rPr>
              <a:t>Read in 10 seconds</a:t>
            </a:r>
          </a:p>
          <a:p>
            <a:pPr algn="l">
              <a:spcAft>
                <a:spcPts val="800"/>
              </a:spcAft>
            </a:pPr>
            <a:r>
              <a:rPr sz="2100" b="1" i="0">
                <a:solidFill>
                  <a:srgbClr val="FFFFFF"/>
                </a:solidFill>
                <a:latin typeface="Arial"/>
              </a:rPr>
              <a:t>PTU must cost under $210 a month to beat PAYG here.</a:t>
            </a:r>
          </a:p>
          <a:p>
            <a:pPr algn="l"/>
            <a:r>
              <a:rPr sz="1700" b="0" i="0">
                <a:solidFill>
                  <a:srgbClr val="FFFFFF"/>
                </a:solidFill>
                <a:latin typeface="Arial"/>
              </a:rPr>
              <a:t>Hourly list is $730. Only a reservation price or a latency need can justify PTU.</a:t>
            </a:r>
          </a:p>
        </p:txBody>
      </p:sp>
      <p:sp>
        <p:nvSpPr>
          <p:cNvPr id="19" name="Rounded Rectangle 18"/>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Assumed workload, gpt-5.4 list prices, PAYG $136,245 a month. Not a recommendation. Detail: appendix A8 to A11.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architecture for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371600"/>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577339"/>
            <a:ext cx="411480" cy="411480"/>
          </a:xfrm>
          <a:prstGeom prst="rect">
            <a:avLst/>
          </a:prstGeom>
        </p:spPr>
      </p:pic>
      <p:sp>
        <p:nvSpPr>
          <p:cNvPr id="11" name="TextBox 10"/>
          <p:cNvSpPr txBox="1"/>
          <p:nvPr/>
        </p:nvSpPr>
        <p:spPr>
          <a:xfrm>
            <a:off x="1106424" y="1408176"/>
            <a:ext cx="1783080" cy="749808"/>
          </a:xfrm>
          <a:prstGeom prst="rect">
            <a:avLst/>
          </a:prstGeom>
          <a:noFill/>
        </p:spPr>
        <p:txBody>
          <a:bodyPr wrap="square" lIns="0" rIns="0" tIns="0" bIns="0" anchor="ctr">
            <a:noAutofit/>
          </a:bodyPr>
          <a:lstStyle/>
          <a:p>
            <a:pPr algn="l"/>
            <a:r>
              <a:rPr sz="1300" b="1" i="0">
                <a:solidFill>
                  <a:srgbClr val="000048"/>
                </a:solidFill>
                <a:latin typeface="Arial"/>
              </a:rPr>
              <a:t>Gateway</a:t>
            </a:r>
          </a:p>
          <a:p>
            <a:pPr algn="l"/>
            <a:r>
              <a:rPr sz="1200" b="0" i="0">
                <a:solidFill>
                  <a:srgbClr val="53565A"/>
                </a:solidFill>
                <a:latin typeface="Arial"/>
              </a:rPr>
              <a:t>token metrics per caller</a:t>
            </a:r>
          </a:p>
        </p:txBody>
      </p:sp>
      <p:sp>
        <p:nvSpPr>
          <p:cNvPr id="12" name="Oval 11"/>
          <p:cNvSpPr/>
          <p:nvPr/>
        </p:nvSpPr>
        <p:spPr>
          <a:xfrm>
            <a:off x="3017520" y="16459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13" name="Rounded Rectangle 12"/>
          <p:cNvSpPr/>
          <p:nvPr/>
        </p:nvSpPr>
        <p:spPr>
          <a:xfrm>
            <a:off x="548640" y="2395728"/>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1468"/>
            <a:ext cx="411480" cy="411480"/>
          </a:xfrm>
          <a:prstGeom prst="rect">
            <a:avLst/>
          </a:prstGeom>
        </p:spPr>
      </p:pic>
      <p:sp>
        <p:nvSpPr>
          <p:cNvPr id="15" name="TextBox 14"/>
          <p:cNvSpPr txBox="1"/>
          <p:nvPr/>
        </p:nvSpPr>
        <p:spPr>
          <a:xfrm>
            <a:off x="1106424" y="2432304"/>
            <a:ext cx="1783080" cy="749808"/>
          </a:xfrm>
          <a:prstGeom prst="rect">
            <a:avLst/>
          </a:prstGeom>
          <a:noFill/>
        </p:spPr>
        <p:txBody>
          <a:bodyPr wrap="square" lIns="0" rIns="0" tIns="0" bIns="0" anchor="ctr">
            <a:noAutofit/>
          </a:bodyPr>
          <a:lstStyle/>
          <a:p>
            <a:pPr algn="l"/>
            <a:r>
              <a:rPr sz="1300" b="1" i="0">
                <a:solidFill>
                  <a:srgbClr val="000048"/>
                </a:solidFill>
                <a:latin typeface="Arial"/>
              </a:rPr>
              <a:t>Deployments</a:t>
            </a:r>
          </a:p>
          <a:p>
            <a:pPr algn="l"/>
            <a:r>
              <a:rPr sz="1200" b="0" i="0">
                <a:solidFill>
                  <a:srgbClr val="53565A"/>
                </a:solidFill>
                <a:latin typeface="Arial"/>
              </a:rPr>
              <a:t>tokens, utilisation, 429</a:t>
            </a:r>
          </a:p>
        </p:txBody>
      </p:sp>
      <p:sp>
        <p:nvSpPr>
          <p:cNvPr id="16" name="Oval 15"/>
          <p:cNvSpPr/>
          <p:nvPr/>
        </p:nvSpPr>
        <p:spPr>
          <a:xfrm>
            <a:off x="3017520" y="2670048"/>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17" name="Rounded Rectangle 16"/>
          <p:cNvSpPr/>
          <p:nvPr/>
        </p:nvSpPr>
        <p:spPr>
          <a:xfrm>
            <a:off x="548640" y="3419856"/>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25596"/>
            <a:ext cx="411480" cy="411480"/>
          </a:xfrm>
          <a:prstGeom prst="rect">
            <a:avLst/>
          </a:prstGeom>
        </p:spPr>
      </p:pic>
      <p:sp>
        <p:nvSpPr>
          <p:cNvPr id="19" name="TextBox 18"/>
          <p:cNvSpPr txBox="1"/>
          <p:nvPr/>
        </p:nvSpPr>
        <p:spPr>
          <a:xfrm>
            <a:off x="1106424" y="3456432"/>
            <a:ext cx="1783080" cy="74980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200" b="0" i="0">
                <a:solidFill>
                  <a:srgbClr val="53565A"/>
                </a:solidFill>
                <a:latin typeface="Arial"/>
              </a:rPr>
              <a:t>actual, amortised</a:t>
            </a:r>
          </a:p>
        </p:txBody>
      </p:sp>
      <p:sp>
        <p:nvSpPr>
          <p:cNvPr id="20" name="Oval 19"/>
          <p:cNvSpPr/>
          <p:nvPr/>
        </p:nvSpPr>
        <p:spPr>
          <a:xfrm>
            <a:off x="3017520" y="3694176"/>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21" name="Rounded Rectangle 20"/>
          <p:cNvSpPr/>
          <p:nvPr/>
        </p:nvSpPr>
        <p:spPr>
          <a:xfrm>
            <a:off x="548640" y="4443984"/>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649724"/>
            <a:ext cx="411480" cy="411480"/>
          </a:xfrm>
          <a:prstGeom prst="rect">
            <a:avLst/>
          </a:prstGeom>
        </p:spPr>
      </p:pic>
      <p:sp>
        <p:nvSpPr>
          <p:cNvPr id="23" name="TextBox 22"/>
          <p:cNvSpPr txBox="1"/>
          <p:nvPr/>
        </p:nvSpPr>
        <p:spPr>
          <a:xfrm>
            <a:off x="1106424" y="4480560"/>
            <a:ext cx="1783080" cy="74980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200" b="0" i="0">
                <a:solidFill>
                  <a:srgbClr val="53565A"/>
                </a:solidFill>
                <a:latin typeface="Arial"/>
              </a:rPr>
              <a:t>coverage, utilisation</a:t>
            </a:r>
          </a:p>
        </p:txBody>
      </p:sp>
      <p:sp>
        <p:nvSpPr>
          <p:cNvPr id="24" name="Oval 23"/>
          <p:cNvSpPr/>
          <p:nvPr/>
        </p:nvSpPr>
        <p:spPr>
          <a:xfrm>
            <a:off x="3017520" y="4718304"/>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sp>
        <p:nvSpPr>
          <p:cNvPr id="25" name="Rounded Rectangle 24"/>
          <p:cNvSpPr/>
          <p:nvPr/>
        </p:nvSpPr>
        <p:spPr>
          <a:xfrm>
            <a:off x="4023360" y="1371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pplication Insights" descr="Official Azure icon: Application Insigh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96512" y="1577339"/>
            <a:ext cx="411480" cy="411480"/>
          </a:xfrm>
          <a:prstGeom prst="rect">
            <a:avLst/>
          </a:prstGeom>
        </p:spPr>
      </p:pic>
      <p:sp>
        <p:nvSpPr>
          <p:cNvPr id="27" name="TextBox 26"/>
          <p:cNvSpPr txBox="1"/>
          <p:nvPr/>
        </p:nvSpPr>
        <p:spPr>
          <a:xfrm>
            <a:off x="4581144" y="1408176"/>
            <a:ext cx="1508760" cy="74980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custom metrics</a:t>
            </a:r>
          </a:p>
        </p:txBody>
      </p:sp>
      <p:sp>
        <p:nvSpPr>
          <p:cNvPr id="28" name="Rounded Rectangle 27"/>
          <p:cNvSpPr/>
          <p:nvPr/>
        </p:nvSpPr>
        <p:spPr>
          <a:xfrm>
            <a:off x="4023360" y="2514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6512" y="2720340"/>
            <a:ext cx="411480" cy="411480"/>
          </a:xfrm>
          <a:prstGeom prst="rect">
            <a:avLst/>
          </a:prstGeom>
        </p:spPr>
      </p:pic>
      <p:sp>
        <p:nvSpPr>
          <p:cNvPr id="30" name="TextBox 29"/>
          <p:cNvSpPr txBox="1"/>
          <p:nvPr/>
        </p:nvSpPr>
        <p:spPr>
          <a:xfrm>
            <a:off x="4581144" y="2551176"/>
            <a:ext cx="1508760" cy="74980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200" b="0" i="0">
                <a:solidFill>
                  <a:srgbClr val="53565A"/>
                </a:solidFill>
                <a:latin typeface="Arial"/>
              </a:rPr>
              <a:t>joined usage</a:t>
            </a:r>
          </a:p>
        </p:txBody>
      </p:sp>
      <p:sp>
        <p:nvSpPr>
          <p:cNvPr id="31" name="Rounded Rectangle 30"/>
          <p:cNvSpPr/>
          <p:nvPr/>
        </p:nvSpPr>
        <p:spPr>
          <a:xfrm>
            <a:off x="4023360" y="3657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2"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96512" y="3863340"/>
            <a:ext cx="411480" cy="411480"/>
          </a:xfrm>
          <a:prstGeom prst="rect">
            <a:avLst/>
          </a:prstGeom>
        </p:spPr>
      </p:pic>
      <p:sp>
        <p:nvSpPr>
          <p:cNvPr id="33" name="TextBox 32"/>
          <p:cNvSpPr txBox="1"/>
          <p:nvPr/>
        </p:nvSpPr>
        <p:spPr>
          <a:xfrm>
            <a:off x="4581144" y="3694176"/>
            <a:ext cx="1508760" cy="749808"/>
          </a:xfrm>
          <a:prstGeom prst="rect">
            <a:avLst/>
          </a:prstGeom>
          <a:noFill/>
        </p:spPr>
        <p:txBody>
          <a:bodyPr wrap="square" lIns="0" rIns="0" tIns="0" bIns="0" anchor="ctr">
            <a:noAutofit/>
          </a:bodyPr>
          <a:lstStyle/>
          <a:p>
            <a:pPr algn="l"/>
            <a:r>
              <a:rPr sz="1300" b="1" i="0">
                <a:solidFill>
                  <a:srgbClr val="000048"/>
                </a:solidFill>
                <a:latin typeface="Arial"/>
              </a:rPr>
              <a:t>Storage account</a:t>
            </a:r>
          </a:p>
          <a:p>
            <a:pPr algn="l"/>
            <a:r>
              <a:rPr sz="1200" b="0" i="0">
                <a:solidFill>
                  <a:srgbClr val="53565A"/>
                </a:solidFill>
                <a:latin typeface="Arial"/>
              </a:rPr>
              <a:t>cost files</a:t>
            </a:r>
          </a:p>
        </p:txBody>
      </p:sp>
      <p:sp>
        <p:nvSpPr>
          <p:cNvPr id="34" name="Rounded Rectangle 33"/>
          <p:cNvSpPr/>
          <p:nvPr/>
        </p:nvSpPr>
        <p:spPr>
          <a:xfrm>
            <a:off x="6766560" y="2514600"/>
            <a:ext cx="219456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Function App" descr="Official Azure icon: Function App"/>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9712" y="2720340"/>
            <a:ext cx="411480" cy="411480"/>
          </a:xfrm>
          <a:prstGeom prst="rect">
            <a:avLst/>
          </a:prstGeom>
        </p:spPr>
      </p:pic>
      <p:sp>
        <p:nvSpPr>
          <p:cNvPr id="36" name="TextBox 35"/>
          <p:cNvSpPr txBox="1"/>
          <p:nvPr/>
        </p:nvSpPr>
        <p:spPr>
          <a:xfrm>
            <a:off x="73243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Cost model job</a:t>
            </a:r>
          </a:p>
          <a:p>
            <a:pPr algn="l"/>
            <a:r>
              <a:rPr sz="1200" b="0" i="0">
                <a:solidFill>
                  <a:srgbClr val="53565A"/>
                </a:solidFill>
                <a:latin typeface="Arial"/>
              </a:rPr>
              <a:t>price table x usage</a:t>
            </a:r>
          </a:p>
        </p:txBody>
      </p:sp>
      <p:sp>
        <p:nvSpPr>
          <p:cNvPr id="37" name="Oval 36"/>
          <p:cNvSpPr/>
          <p:nvPr/>
        </p:nvSpPr>
        <p:spPr>
          <a:xfrm>
            <a:off x="66294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sp>
        <p:nvSpPr>
          <p:cNvPr id="38" name="Rounded Rectangle 37"/>
          <p:cNvSpPr/>
          <p:nvPr/>
        </p:nvSpPr>
        <p:spPr>
          <a:xfrm>
            <a:off x="9509760" y="2514600"/>
            <a:ext cx="219456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9" name="Azure icon: Azure Workbooks" descr="Official Azure icon: Azure Workbook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82912" y="2720340"/>
            <a:ext cx="411480" cy="411480"/>
          </a:xfrm>
          <a:prstGeom prst="rect">
            <a:avLst/>
          </a:prstGeom>
        </p:spPr>
      </p:pic>
      <p:sp>
        <p:nvSpPr>
          <p:cNvPr id="40" name="TextBox 39"/>
          <p:cNvSpPr txBox="1"/>
          <p:nvPr/>
        </p:nvSpPr>
        <p:spPr>
          <a:xfrm>
            <a:off x="100675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FinOps workbook</a:t>
            </a:r>
          </a:p>
          <a:p>
            <a:pPr algn="l"/>
            <a:r>
              <a:rPr sz="1200" b="0" i="0">
                <a:solidFill>
                  <a:srgbClr val="53565A"/>
                </a:solidFill>
                <a:latin typeface="Arial"/>
              </a:rPr>
              <a:t>unit cost, utilisation</a:t>
            </a:r>
          </a:p>
        </p:txBody>
      </p:sp>
      <p:sp>
        <p:nvSpPr>
          <p:cNvPr id="41" name="Oval 40"/>
          <p:cNvSpPr/>
          <p:nvPr/>
        </p:nvSpPr>
        <p:spPr>
          <a:xfrm>
            <a:off x="93726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42" name="Connector (telemetry)"/>
          <p:cNvCxnSpPr/>
          <p:nvPr/>
        </p:nvCxnSpPr>
        <p:spPr>
          <a:xfrm>
            <a:off x="2926080" y="1783080"/>
            <a:ext cx="109728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telemetry)"/>
          <p:cNvCxnSpPr/>
          <p:nvPr/>
        </p:nvCxnSpPr>
        <p:spPr>
          <a:xfrm>
            <a:off x="2926080" y="2807208"/>
            <a:ext cx="1097280" cy="731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telemetry)"/>
          <p:cNvCxnSpPr/>
          <p:nvPr/>
        </p:nvCxnSpPr>
        <p:spPr>
          <a:xfrm>
            <a:off x="2926080" y="3840480"/>
            <a:ext cx="1097280" cy="2286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2926080" y="4206240"/>
            <a:ext cx="109728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telemetry)"/>
          <p:cNvCxnSpPr/>
          <p:nvPr/>
        </p:nvCxnSpPr>
        <p:spPr>
          <a:xfrm>
            <a:off x="5074920" y="2194560"/>
            <a:ext cx="0" cy="32004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flow)"/>
          <p:cNvCxnSpPr/>
          <p:nvPr/>
        </p:nvCxnSpPr>
        <p:spPr>
          <a:xfrm>
            <a:off x="6126480" y="29260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flow)"/>
          <p:cNvCxnSpPr/>
          <p:nvPr/>
        </p:nvCxnSpPr>
        <p:spPr>
          <a:xfrm flipV="1">
            <a:off x="6126480" y="3154680"/>
            <a:ext cx="640080" cy="9144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flow)"/>
          <p:cNvCxnSpPr/>
          <p:nvPr/>
        </p:nvCxnSpPr>
        <p:spPr>
          <a:xfrm>
            <a:off x="8961120" y="2926080"/>
            <a:ext cx="548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4128" y="5486400"/>
            <a:ext cx="17830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2" name="Connector (telemetry)"/>
          <p:cNvCxnSpPr/>
          <p:nvPr/>
        </p:nvCxnSpPr>
        <p:spPr>
          <a:xfrm>
            <a:off x="2834640" y="560527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10128" y="5486400"/>
            <a:ext cx="1783080"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54" name="TextBox 53"/>
          <p:cNvSpPr txBox="1"/>
          <p:nvPr/>
        </p:nvSpPr>
        <p:spPr>
          <a:xfrm>
            <a:off x="5486400" y="5486400"/>
            <a:ext cx="6126480" cy="274320"/>
          </a:xfrm>
          <a:prstGeom prst="rect">
            <a:avLst/>
          </a:prstGeom>
          <a:noFill/>
        </p:spPr>
        <p:txBody>
          <a:bodyPr wrap="square" lIns="0" rIns="0" tIns="0" bIns="0" anchor="t">
            <a:noAutofit/>
          </a:bodyPr>
          <a:lstStyle/>
          <a:p>
            <a:pPr algn="r"/>
            <a:r>
              <a:rPr sz="1200" b="0" i="0">
                <a:solidFill>
                  <a:srgbClr val="7373D8"/>
                </a:solidFill>
                <a:latin typeface="Arial"/>
              </a:rPr>
              <a:t>Purple outline = custom build</a:t>
            </a:r>
          </a:p>
        </p:txBody>
      </p:sp>
      <p:sp>
        <p:nvSpPr>
          <p:cNvPr id="55" name="TextBox 54"/>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Capacity and FinOps Assessment v4.0</dc:title>
  <dcterms:created xsi:type="dcterms:W3CDTF">2026-10-10T13:56:28.3080000Z</dcterms:created>
  <dcterms:modified xsi:type="dcterms:W3CDTF">2026-10-10T13:56:28.3090000Z</dcterms:modified>
  <dc:subject>Proposed CIS Infra GTM offering for internal leadership review</dc:subject>
</coreProperties>
</file>