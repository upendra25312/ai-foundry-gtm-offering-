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4.xml" ContentType="application/vnd.openxmlformats-officedocument.presentationml.notesSlide+xml"/>
  <Override PartName="/ppt/notesSlides/notesSlide19.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4.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61" ns0:id="rId14"/>
    <p:sldId xmlns:ns0="http://schemas.openxmlformats.org/officeDocument/2006/relationships" id="269" ns0:id="rId22"/>
    <p:sldId xmlns:ns0="http://schemas.openxmlformats.org/officeDocument/2006/relationships" id="274" ns0:id="rId27"/>
    <p:sldId xmlns:ns0="http://schemas.openxmlformats.org/officeDocument/2006/relationships" id="282" ns0:id="rId35"/>
    <p:sldId xmlns:ns0="http://schemas.openxmlformats.org/officeDocument/2006/relationships" id="283" ns0:id="rId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5" Type="http://schemas.openxmlformats.org/officeDocument/2006/relationships/slide" Target="slides/slide27.xml"/><Relationship Id="rId36"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Read it bottom-up. The runtimes are where agents live, including Copilot Studio. Layer one is Microsoft’s control plane: Agent 365, the Foundry Control Plane, Entra agent identities, Defender and Purview. Layer two is the runtime evidence. Only layer three, in purple, is what we build: reconciliation, the usage catalogue and the containment orchestrator.</a:t>
            </a:r>
          </a:p>
          <a:p/>
          <a:p>
            <a:r>
              <a:t>Likely question: Why still build layer three?</a:t>
            </a:r>
          </a:p>
          <a:p>
            <a:r>
              <a:t>Answer: Because the native tools do not join deployment records to usage evidence across all runtimes, and none claims a cross-layer stop with verification. We prove that in the proof of concept.</a:t>
            </a:r>
          </a:p>
          <a:p/>
          <a:p>
            <a:r>
              <a:t>DETAIL AND CAVEATS</a:t>
            </a:r>
          </a:p>
          <a:p>
            <a:r>
              <a:t>Layered architecture. Runtimes: Copilot Studio agents, Foundry agents, customer-hosted agents (Container Apps or AKS), Logic Apps agent loops, and AWS Bedrock or Google agents through Agent 365 registry sync (preview). Layer 1, native Microsoft control plane: Agent 365 (registry, policies; lifecycle actions announced), Foundry Control Plane (supported agents, runs, errors, tokens), Entra Agent ID and Conditional Access for agents, Defender and Purview. Layer 2, evidence: Application Insights, Log Analytics, Resource Graph and deployment pipelines. Layer 3, CIS Infra custom gap layer: reconciliation job, registry, catalogue workbook and the containment orchestrator. Agent 365 and Entra Agent ID licensing per Microsoft and third-party sources; verify per customer.</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Conditional Access for agents (Microsoft Learn, updated 30 Sep 2026): https://learn.microsoft.com/en-us/entra/identity/conditional-access/agent-id</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"Custom gap layer: detailed reference architecture". Steps: (1) deployment pipelines write agent ID, version, environment, owner and endpoint into the registry at release; (2) a scheduled Function App queries Foundry Control Plane for supported agents and Resource Graph for hosting resources and tags; (3) it queries Application Insights and Log Analytics for last run, run count, errors and tokens per agent ID; (4) it reconciles and writes status to Cosmos DB, flagging unmatched resources as orphaned and records without telemetry as telemetry unknown; (5) Workbooks presents the catalogue and review queues; (6) Azure Monitor alerts route telemetry-health and dormancy reviews to owners. Identity: the reconciliation job uses a managed identity with Reader on in-scope subscriptions and read access to the workspaces; it has no write access to agent runtimes.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Steps: (1) deployment pipelines write agent ID, version, environment, owner and endpoint into the registry at release; (2) a scheduled Function App queries Foundry Control Plane for supported agents and Resource Graph for hosting resources and tags; (3) it queries Application Insights and Log Analytics for last run, run count, errors and tokens per agent ID; (4) it reconciles and writes status to Cosmos DB, flagging unmatched resources as orphaned and records without telemetry as telemetry unknown; (5) Workbooks presents the catalogue and review queues; (6) Azure Monitor alerts route telemetry-health and dormancy reviews to owners. Identity: the reconciliation job uses a managed identity with Reader on in-scope subscriptions and read access to the workspaces; it has no write access to agent runtimes.</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Microsoft Agent 365 now generally available (Microsoft Security blog, 1 May 2026): https://www.microsoft.com/en-us/security/blog/2026/05/01/microsoft-agent-365-now-generally-available-expands-capabilities-and-integrations/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Read this left to right. Requests pass through four enforcement points: block new requests at the gateway, stop running work in the runtime, deny model and tool calls on the way out, and block the agent identity. The purple box underneath is a separate, locked-down control plane that an authorised person or an alert can trigger.</a:t>
            </a:r>
          </a:p>
          <a:p/>
          <a:p>
            <a:r>
              <a:t>Likely question: Is this a Microsoft product?</a:t>
            </a:r>
          </a:p>
          <a:p>
            <a:r>
              <a:t>Answer: No. It is our proposed design built from Azure services. Microsoft provides pieces such as Foundry Stop and Agent 365, but no single universal stop button.</a:t>
            </a:r>
          </a:p>
          <a:p/>
          <a:p>
            <a:r>
              <a:t>DETAIL AND CAVEATS</a:t>
            </a:r>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Enforcement point 4 is the identity layer. Entra Conditional Access for agents can block or limit agent access when tokens are issued or refreshed; it requires Microsoft 365 E7, or Agent 365 plus Entra P1 or Microsoft 365 E3 (Microsoft Learn, updated 30 Sep 2026), and live sessions are not cut immediately, so it is defence in depth. Agent 365 (GA 1 May 2026) registers agents and has announced start, stop and delete lifecycle actions; Defender can block some coding agents at runtime (preview from June 2026). None of these is a universal instant stop.</a:t>
            </a:r>
          </a:p>
          <a:p/>
          <a:p>
            <a:r>
              <a:t>Icons: official Azure icons. Container Apps is shown as one example of a customer-hosted runtime; AKS is equivalent. Function App represents an example tool host.</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AI gateway capabilities in API Management: https://learn.microsoft.com/en-us/azure/api-management/genai-gateway-capabilities</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"Where an agentic loop amplifies calls". Simplified editable adaptation of 14_agentic-rag.png (Microsoft agentic RAG guide). The source shows a reasoning loop with repeated tool calls and evaluation before a final model call. Control points added (proposed): iteration limit, elapsed-time limit, tool allow-list and checkpoint deny-state check.</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Simplified editable adaptation of 14_agentic-rag.png (Microsoft agentic RAG guide). The source shows a reasoning loop with repeated tool calls and evaluation before a final model call. Control points added (proposed): iteration limit, elapsed-time limit, tool allow-list and checkpoint deny-state check. This image does not show an implemented kill switch.</a:t>
            </a:r>
          </a:p>
          <a:p/>
          <a:p>
            <a:r>
              <a:t>Sources (checked 11 Oct 2026):</a:t>
            </a:r>
          </a:p>
          <a:p>
            <a:r>
              <a:t>https://github.com/upendra25312/AI-Foundry-GTM-offering-/blob/main/architectures/14_agentic-rag.png</a:t>
            </a:r>
          </a:p>
          <a:p>
            <a:r>
              <a:t>https://github.com/upendra25312/AI-Foundry-GTM-offering-/blob/main/architectures/07_agentic-rag.vsdx</a:t>
            </a:r>
          </a:p>
          <a:p>
            <a:r>
              <a:t>https://learn.microsoft.com/en-us/azure/architecture/ai-ml/guide/rag/rag-agentic</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"Multi-agent workload: owners and stop points". Simplified editable adaptation of 15_multiple-agent-workflow-automation.png (Microsoft multiple-agent workflow automation idea). The source labels the model "GPT-4.1"; shown here as a Foundry model deployment because model choice is per engagement and gpt-4.1 retires 2027-04-14. Each component gets an owner and a containment action (proposed).</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Simplified editable adaptation of 15_multiple-agent-workflow-automation.png (Microsoft multiple-agent workflow automation idea). The source labels the model "GPT-4.1"; shown here as a Foundry model deployment because model choice is per engagement and gpt-4.1 retires 2027-04-14. Each component gets an owner and a containment action (proposed). GitHub and Docker in the source are non-Azure tools and are shown as conceptual boxes without Azure icons.</a:t>
            </a:r>
          </a:p>
          <a:p/>
          <a:p>
            <a:r>
              <a:t>Sources (checked 11 Oct 2026):</a:t>
            </a:r>
          </a:p>
          <a:p>
            <a:r>
              <a:t>https://github.com/upendra25312/AI-Foundry-GTM-offering-/blob/main/architectures/15_multiple-agent-workflow-automation.png</a:t>
            </a:r>
          </a:p>
          <a:p>
            <a:r>
              <a:t>https://github.com/upendra25312/AI-Foundry-GTM-offering-/blob/main/architectures/08_multiple-agent-workflow-automation.vsdx</a:t>
            </a:r>
          </a:p>
          <a:p>
            <a:r>
              <a:t>https://learn.microsoft.com/en-us/azure/architecture/ai-ml/idea/multiple-agent-workflow-automation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 Id="rId18" Type="http://schemas.openxmlformats.org/officeDocument/2006/relationships/image" Target="../media/image25.png"/><Relationship Id="rId19" Type="http://schemas.openxmlformats.org/officeDocument/2006/relationships/image" Target="../media/image28.svg"/><Relationship Id="rId20" Type="http://schemas.openxmlformats.org/officeDocument/2006/relationships/image" Target="../media/image27.png"/><Relationship Id="rId21" Type="http://schemas.openxmlformats.org/officeDocument/2006/relationships/image" Target="../media/image30.svg"/><Relationship Id="rId22" Type="http://schemas.openxmlformats.org/officeDocument/2006/relationships/image" Target="../media/image29.png"/><Relationship Id="rId23" Type="http://schemas.openxmlformats.org/officeDocument/2006/relationships/image" Target="../media/image32.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image" Target="../media/image23.png"/><Relationship Id="rId5" Type="http://schemas.openxmlformats.org/officeDocument/2006/relationships/image" Target="../media/image26.svg"/><Relationship Id="rId6" Type="http://schemas.openxmlformats.org/officeDocument/2006/relationships/image" Target="../media/image25.png"/><Relationship Id="rId7" Type="http://schemas.openxmlformats.org/officeDocument/2006/relationships/image" Target="../media/image28.svg"/><Relationship Id="rId8" Type="http://schemas.openxmlformats.org/officeDocument/2006/relationships/image" Target="../media/image21.png"/><Relationship Id="rId9" Type="http://schemas.openxmlformats.org/officeDocument/2006/relationships/image" Target="../media/image24.svg"/><Relationship Id="rId10" Type="http://schemas.openxmlformats.org/officeDocument/2006/relationships/image" Target="../media/image11.png"/><Relationship Id="rId11" Type="http://schemas.openxmlformats.org/officeDocument/2006/relationships/image" Target="../media/image14.svg"/><Relationship Id="rId12" Type="http://schemas.openxmlformats.org/officeDocument/2006/relationships/image" Target="../media/image13.png"/><Relationship Id="rId13" Type="http://schemas.openxmlformats.org/officeDocument/2006/relationships/image" Target="../media/image16.svg"/><Relationship Id="rId14" Type="http://schemas.openxmlformats.org/officeDocument/2006/relationships/image" Target="../media/image17.png"/><Relationship Id="rId15" Type="http://schemas.openxmlformats.org/officeDocument/2006/relationships/image" Target="../media/image20.svg"/><Relationship Id="rId16" Type="http://schemas.openxmlformats.org/officeDocument/2006/relationships/image" Target="../media/image19.png"/><Relationship Id="rId17" Type="http://schemas.openxmlformats.org/officeDocument/2006/relationships/image" Target="../media/image22.svg"/><Relationship Id="rId18" Type="http://schemas.openxmlformats.org/officeDocument/2006/relationships/image" Target="../media/image15.png"/><Relationship Id="rId19" Type="http://schemas.openxmlformats.org/officeDocument/2006/relationships/image" Target="../media/image18.svg"/><Relationship Id="rId20" Type="http://schemas.openxmlformats.org/officeDocument/2006/relationships/image" Target="../media/image31.png"/><Relationship Id="rId21" Type="http://schemas.openxmlformats.org/officeDocument/2006/relationships/image" Target="../media/image34.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image" Target="../media/image33.png"/><Relationship Id="rId5" Type="http://schemas.openxmlformats.org/officeDocument/2006/relationships/image" Target="../media/image36.svg"/><Relationship Id="rId6" Type="http://schemas.openxmlformats.org/officeDocument/2006/relationships/image" Target="../media/image35.png"/><Relationship Id="rId7" Type="http://schemas.openxmlformats.org/officeDocument/2006/relationships/image" Target="../media/image38.svg"/><Relationship Id="rId8" Type="http://schemas.openxmlformats.org/officeDocument/2006/relationships/image" Target="../media/image37.png"/><Relationship Id="rId9" Type="http://schemas.openxmlformats.org/officeDocument/2006/relationships/image" Target="../media/image40.svg"/><Relationship Id="rId10" Type="http://schemas.openxmlformats.org/officeDocument/2006/relationships/image" Target="../media/image39.png"/><Relationship Id="rId11" Type="http://schemas.openxmlformats.org/officeDocument/2006/relationships/image" Target="../media/image42.svg"/><Relationship Id="rId12" Type="http://schemas.openxmlformats.org/officeDocument/2006/relationships/image" Target="../media/image41.png"/><Relationship Id="rId13" Type="http://schemas.openxmlformats.org/officeDocument/2006/relationships/image" Target="../media/image44.svg"/><Relationship Id="rId14" Type="http://schemas.openxmlformats.org/officeDocument/2006/relationships/image" Target="../media/image11.png"/><Relationship Id="rId15" Type="http://schemas.openxmlformats.org/officeDocument/2006/relationships/image" Target="../media/image14.svg"/><Relationship Id="rId16" Type="http://schemas.openxmlformats.org/officeDocument/2006/relationships/image" Target="../media/image43.png"/><Relationship Id="rId17" Type="http://schemas.openxmlformats.org/officeDocument/2006/relationships/image" Target="../media/image46.svg"/><Relationship Id="rId18" Type="http://schemas.openxmlformats.org/officeDocument/2006/relationships/image" Target="../media/image27.png"/><Relationship Id="rId19" Type="http://schemas.openxmlformats.org/officeDocument/2006/relationships/image" Target="../media/image30.svg"/><Relationship Id="rId20" Type="http://schemas.openxmlformats.org/officeDocument/2006/relationships/image" Target="../media/image45.png"/><Relationship Id="rId21" Type="http://schemas.openxmlformats.org/officeDocument/2006/relationships/image" Target="../media/image48.svg"/><Relationship Id="rId22" Type="http://schemas.openxmlformats.org/officeDocument/2006/relationships/image" Target="../media/image47.png"/><Relationship Id="rId23" Type="http://schemas.openxmlformats.org/officeDocument/2006/relationships/image" Target="../media/image50.svg"/><Relationship Id="rId24" Type="http://schemas.openxmlformats.org/officeDocument/2006/relationships/image" Target="../media/image13.png"/><Relationship Id="rId25" Type="http://schemas.openxmlformats.org/officeDocument/2006/relationships/image" Target="../media/image16.svg"/><Relationship Id="rId26" Type="http://schemas.openxmlformats.org/officeDocument/2006/relationships/image" Target="../media/image49.png"/><Relationship Id="rId27" Type="http://schemas.openxmlformats.org/officeDocument/2006/relationships/image" Target="../media/image52.svg"/><Relationship Id="rId28" Type="http://schemas.openxmlformats.org/officeDocument/2006/relationships/image" Target="../media/image17.png"/><Relationship Id="rId29" Type="http://schemas.openxmlformats.org/officeDocument/2006/relationships/image" Target="../media/image20.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image" Target="../media/image37.png"/><Relationship Id="rId5" Type="http://schemas.openxmlformats.org/officeDocument/2006/relationships/image" Target="../media/image40.svg"/><Relationship Id="rId6" Type="http://schemas.openxmlformats.org/officeDocument/2006/relationships/image" Target="../media/image43.png"/><Relationship Id="rId7" Type="http://schemas.openxmlformats.org/officeDocument/2006/relationships/image" Target="../media/image46.svg"/><Relationship Id="rId8" Type="http://schemas.openxmlformats.org/officeDocument/2006/relationships/image" Target="../media/image41.png"/><Relationship Id="rId9" Type="http://schemas.openxmlformats.org/officeDocument/2006/relationships/image" Target="../media/image44.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image" Target="../media/image51.png"/><Relationship Id="rId5" Type="http://schemas.openxmlformats.org/officeDocument/2006/relationships/image" Target="../media/image54.svg"/><Relationship Id="rId6" Type="http://schemas.openxmlformats.org/officeDocument/2006/relationships/image" Target="../media/image39.png"/><Relationship Id="rId7" Type="http://schemas.openxmlformats.org/officeDocument/2006/relationships/image" Target="../media/image42.svg"/><Relationship Id="rId8" Type="http://schemas.openxmlformats.org/officeDocument/2006/relationships/image" Target="../media/image41.png"/><Relationship Id="rId9" Type="http://schemas.openxmlformats.org/officeDocument/2006/relationships/image" Target="../media/image44.svg"/><Relationship Id="rId10" Type="http://schemas.openxmlformats.org/officeDocument/2006/relationships/image" Target="../media/image13.png"/><Relationship Id="rId11" Type="http://schemas.openxmlformats.org/officeDocument/2006/relationships/image" Target="../media/image16.svg"/><Relationship Id="rId12" Type="http://schemas.openxmlformats.org/officeDocument/2006/relationships/image" Target="../media/image53.png"/><Relationship Id="rId13" Type="http://schemas.openxmlformats.org/officeDocument/2006/relationships/image" Target="../media/image56.svg"/></Relationships>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Microsoft control plane first; we build only the gaps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411480" y="1325880"/>
            <a:ext cx="11384280" cy="1325880"/>
          </a:xfrm>
          <a:prstGeom prst="roundRect">
            <a:avLst>
              <a:gd name="adj" fmla="val 6896"/>
            </a:avLst>
          </a:prstGeom>
          <a:solidFill>
            <a:srgbClr val="F6F5FD"/>
          </a:solidFill>
          <a:ln w="15875">
            <a:solidFill>
              <a:srgbClr val="7373D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21208" y="1380744"/>
            <a:ext cx="11164824" cy="237744"/>
          </a:xfrm>
          <a:prstGeom prst="rect">
            <a:avLst/>
          </a:prstGeom>
          <a:noFill/>
        </p:spPr>
        <p:txBody>
          <a:bodyPr wrap="square" lIns="0" rIns="0" tIns="0" bIns="0" anchor="t">
            <a:noAutofit/>
          </a:bodyPr>
          <a:lstStyle/>
          <a:p>
            <a:pPr algn="l"/>
            <a:r>
              <a:rPr sz="1200" b="1" i="0">
                <a:solidFill>
                  <a:srgbClr val="4B4BA8"/>
                </a:solidFill>
                <a:latin typeface="Arial"/>
              </a:rPr>
              <a:t>LAYER 3: CIS INFRA CUSTOM GAP LAYER</a:t>
            </a:r>
          </a:p>
        </p:txBody>
      </p:sp>
      <p:sp>
        <p:nvSpPr>
          <p:cNvPr id="10" name="Rounded Rectangle 9"/>
          <p:cNvSpPr/>
          <p:nvPr/>
        </p:nvSpPr>
        <p:spPr>
          <a:xfrm>
            <a:off x="548640" y="1691640"/>
            <a:ext cx="2651760" cy="777240"/>
          </a:xfrm>
          <a:prstGeom prst="roundRect">
            <a:avLst>
              <a:gd name="adj" fmla="val 9411"/>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1" name="Azure icon: Function App" descr="Official Azure icon: Function App"/>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888236"/>
            <a:ext cx="384048" cy="384048"/>
          </a:xfrm>
          <a:prstGeom prst="rect">
            <a:avLst/>
          </a:prstGeom>
        </p:spPr>
      </p:pic>
      <p:sp>
        <p:nvSpPr>
          <p:cNvPr id="12" name="TextBox 11"/>
          <p:cNvSpPr txBox="1"/>
          <p:nvPr/>
        </p:nvSpPr>
        <p:spPr>
          <a:xfrm>
            <a:off x="1078992" y="1728216"/>
            <a:ext cx="2084831" cy="704088"/>
          </a:xfrm>
          <a:prstGeom prst="rect">
            <a:avLst/>
          </a:prstGeom>
          <a:noFill/>
        </p:spPr>
        <p:txBody>
          <a:bodyPr wrap="square" lIns="0" rIns="0" tIns="0" bIns="0" anchor="ctr">
            <a:noAutofit/>
          </a:bodyPr>
          <a:lstStyle/>
          <a:p>
            <a:pPr algn="l"/>
            <a:r>
              <a:rPr sz="1400" b="1" i="0">
                <a:solidFill>
                  <a:srgbClr val="000048"/>
                </a:solidFill>
                <a:latin typeface="Arial"/>
              </a:rPr>
              <a:t>Reconciliation</a:t>
            </a:r>
          </a:p>
          <a:p>
            <a:pPr algn="l"/>
            <a:r>
              <a:rPr sz="1200" b="0" i="0">
                <a:solidFill>
                  <a:srgbClr val="53565A"/>
                </a:solidFill>
                <a:latin typeface="Arial"/>
              </a:rPr>
              <a:t>joins inventory to usage</a:t>
            </a:r>
          </a:p>
        </p:txBody>
      </p:sp>
      <p:sp>
        <p:nvSpPr>
          <p:cNvPr id="13" name="Rounded Rectangle 12"/>
          <p:cNvSpPr/>
          <p:nvPr/>
        </p:nvSpPr>
        <p:spPr>
          <a:xfrm>
            <a:off x="3355848" y="1691640"/>
            <a:ext cx="2651760" cy="777240"/>
          </a:xfrm>
          <a:prstGeom prst="roundRect">
            <a:avLst>
              <a:gd name="adj" fmla="val 9411"/>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zure Cosmos DB" descr="Official Azure icon: Azure Cosmos DB"/>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429000" y="1888236"/>
            <a:ext cx="384048" cy="384048"/>
          </a:xfrm>
          <a:prstGeom prst="rect">
            <a:avLst/>
          </a:prstGeom>
        </p:spPr>
      </p:pic>
      <p:sp>
        <p:nvSpPr>
          <p:cNvPr id="15" name="TextBox 14"/>
          <p:cNvSpPr txBox="1"/>
          <p:nvPr/>
        </p:nvSpPr>
        <p:spPr>
          <a:xfrm>
            <a:off x="3886200" y="1728216"/>
            <a:ext cx="2084831" cy="704088"/>
          </a:xfrm>
          <a:prstGeom prst="rect">
            <a:avLst/>
          </a:prstGeom>
          <a:noFill/>
        </p:spPr>
        <p:txBody>
          <a:bodyPr wrap="square" lIns="0" rIns="0" tIns="0" bIns="0" anchor="ctr">
            <a:noAutofit/>
          </a:bodyPr>
          <a:lstStyle/>
          <a:p>
            <a:pPr algn="l"/>
            <a:r>
              <a:rPr sz="1400" b="1" i="0">
                <a:solidFill>
                  <a:srgbClr val="000048"/>
                </a:solidFill>
                <a:latin typeface="Arial"/>
              </a:rPr>
              <a:t>Usage catalogue</a:t>
            </a:r>
          </a:p>
          <a:p>
            <a:pPr algn="l"/>
            <a:r>
              <a:rPr sz="1200" b="0" i="0">
                <a:solidFill>
                  <a:srgbClr val="53565A"/>
                </a:solidFill>
                <a:latin typeface="Arial"/>
              </a:rPr>
              <a:t>status, owner, risk</a:t>
            </a:r>
          </a:p>
        </p:txBody>
      </p:sp>
      <p:sp>
        <p:nvSpPr>
          <p:cNvPr id="16" name="Rounded Rectangle 15"/>
          <p:cNvSpPr/>
          <p:nvPr/>
        </p:nvSpPr>
        <p:spPr>
          <a:xfrm>
            <a:off x="6163055" y="1691640"/>
            <a:ext cx="2651760" cy="777240"/>
          </a:xfrm>
          <a:prstGeom prst="roundRect">
            <a:avLst>
              <a:gd name="adj" fmla="val 9411"/>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Azure Workbooks" descr="Official Azure icon: Azure Workbook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36207" y="1888236"/>
            <a:ext cx="384048" cy="384048"/>
          </a:xfrm>
          <a:prstGeom prst="rect">
            <a:avLst/>
          </a:prstGeom>
        </p:spPr>
      </p:pic>
      <p:sp>
        <p:nvSpPr>
          <p:cNvPr id="18" name="TextBox 17"/>
          <p:cNvSpPr txBox="1"/>
          <p:nvPr/>
        </p:nvSpPr>
        <p:spPr>
          <a:xfrm>
            <a:off x="6693407" y="1728216"/>
            <a:ext cx="2084831" cy="704088"/>
          </a:xfrm>
          <a:prstGeom prst="rect">
            <a:avLst/>
          </a:prstGeom>
          <a:noFill/>
        </p:spPr>
        <p:txBody>
          <a:bodyPr wrap="square" lIns="0" rIns="0" tIns="0" bIns="0" anchor="ctr">
            <a:noAutofit/>
          </a:bodyPr>
          <a:lstStyle/>
          <a:p>
            <a:pPr algn="l"/>
            <a:r>
              <a:rPr sz="1400" b="1" i="0">
                <a:solidFill>
                  <a:srgbClr val="000048"/>
                </a:solidFill>
                <a:latin typeface="Arial"/>
              </a:rPr>
              <a:t>Workbook views</a:t>
            </a:r>
          </a:p>
          <a:p>
            <a:pPr algn="l"/>
            <a:r>
              <a:rPr sz="1200" b="0" i="0">
                <a:solidFill>
                  <a:srgbClr val="53565A"/>
                </a:solidFill>
                <a:latin typeface="Arial"/>
              </a:rPr>
              <a:t>reviews and queues</a:t>
            </a:r>
          </a:p>
        </p:txBody>
      </p:sp>
      <p:sp>
        <p:nvSpPr>
          <p:cNvPr id="19" name="Rounded Rectangle 18"/>
          <p:cNvSpPr/>
          <p:nvPr/>
        </p:nvSpPr>
        <p:spPr>
          <a:xfrm>
            <a:off x="8970263" y="1691640"/>
            <a:ext cx="2651760" cy="777240"/>
          </a:xfrm>
          <a:prstGeom prst="roundRect">
            <a:avLst>
              <a:gd name="adj" fmla="val 9411"/>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Function App" descr="Official Azure icon: Function App"/>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43415" y="1888236"/>
            <a:ext cx="384048" cy="384048"/>
          </a:xfrm>
          <a:prstGeom prst="rect">
            <a:avLst/>
          </a:prstGeom>
        </p:spPr>
      </p:pic>
      <p:sp>
        <p:nvSpPr>
          <p:cNvPr id="21" name="TextBox 20"/>
          <p:cNvSpPr txBox="1"/>
          <p:nvPr/>
        </p:nvSpPr>
        <p:spPr>
          <a:xfrm>
            <a:off x="9500615" y="1728216"/>
            <a:ext cx="2084831" cy="704088"/>
          </a:xfrm>
          <a:prstGeom prst="rect">
            <a:avLst/>
          </a:prstGeom>
          <a:noFill/>
        </p:spPr>
        <p:txBody>
          <a:bodyPr wrap="square" lIns="0" rIns="0" tIns="0" bIns="0" anchor="ctr">
            <a:noAutofit/>
          </a:bodyPr>
          <a:lstStyle/>
          <a:p>
            <a:pPr algn="l"/>
            <a:r>
              <a:rPr sz="1400" b="1" i="0">
                <a:solidFill>
                  <a:srgbClr val="000048"/>
                </a:solidFill>
                <a:latin typeface="Arial"/>
              </a:rPr>
              <a:t>Containment orchestrator</a:t>
            </a:r>
          </a:p>
          <a:p>
            <a:pPr algn="l"/>
            <a:r>
              <a:rPr sz="1200" b="0" i="0">
                <a:solidFill>
                  <a:srgbClr val="53565A"/>
                </a:solidFill>
                <a:latin typeface="Arial"/>
              </a:rPr>
              <a:t>block, cancel, deny, verify</a:t>
            </a:r>
          </a:p>
        </p:txBody>
      </p:sp>
      <p:sp>
        <p:nvSpPr>
          <p:cNvPr id="22" name="Rounded Rectangle 21"/>
          <p:cNvSpPr/>
          <p:nvPr/>
        </p:nvSpPr>
        <p:spPr>
          <a:xfrm>
            <a:off x="411480" y="2788920"/>
            <a:ext cx="11384280" cy="1325880"/>
          </a:xfrm>
          <a:prstGeom prst="roundRect">
            <a:avLst>
              <a:gd name="adj" fmla="val 6896"/>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1208" y="2843784"/>
            <a:ext cx="11164824" cy="237744"/>
          </a:xfrm>
          <a:prstGeom prst="rect">
            <a:avLst/>
          </a:prstGeom>
          <a:noFill/>
        </p:spPr>
        <p:txBody>
          <a:bodyPr wrap="square" lIns="0" rIns="0" tIns="0" bIns="0" anchor="t">
            <a:noAutofit/>
          </a:bodyPr>
          <a:lstStyle/>
          <a:p>
            <a:pPr algn="l"/>
            <a:r>
              <a:rPr sz="1200" b="1" i="0">
                <a:solidFill>
                  <a:srgbClr val="000048"/>
                </a:solidFill>
                <a:latin typeface="Arial"/>
              </a:rPr>
              <a:t>LAYER 2: RUNTIME EVIDENCE (NATIVE SERVICES)</a:t>
            </a:r>
          </a:p>
        </p:txBody>
      </p:sp>
      <p:pic>
        <p:nvPicPr>
          <p:cNvPr id="24" name="Azure icon: Application Insights" descr="Official Azure icon: Application Insigh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3351276"/>
            <a:ext cx="384048" cy="384048"/>
          </a:xfrm>
          <a:prstGeom prst="rect">
            <a:avLst/>
          </a:prstGeom>
        </p:spPr>
      </p:pic>
      <p:sp>
        <p:nvSpPr>
          <p:cNvPr id="25" name="TextBox 24"/>
          <p:cNvSpPr txBox="1"/>
          <p:nvPr/>
        </p:nvSpPr>
        <p:spPr>
          <a:xfrm>
            <a:off x="1078992" y="3191256"/>
            <a:ext cx="2084831" cy="704088"/>
          </a:xfrm>
          <a:prstGeom prst="rect">
            <a:avLst/>
          </a:prstGeom>
          <a:noFill/>
        </p:spPr>
        <p:txBody>
          <a:bodyPr wrap="square" lIns="0" rIns="0" tIns="0" bIns="0" anchor="ctr">
            <a:noAutofit/>
          </a:bodyPr>
          <a:lstStyle/>
          <a:p>
            <a:pPr algn="l"/>
            <a:r>
              <a:rPr sz="1400" b="1" i="0">
                <a:solidFill>
                  <a:srgbClr val="000048"/>
                </a:solidFill>
                <a:latin typeface="Arial"/>
              </a:rPr>
              <a:t>Application Insights</a:t>
            </a:r>
          </a:p>
          <a:p>
            <a:pPr algn="l"/>
            <a:r>
              <a:rPr sz="1200" b="0" i="0">
                <a:solidFill>
                  <a:srgbClr val="53565A"/>
                </a:solidFill>
                <a:latin typeface="Arial"/>
              </a:rPr>
              <a:t>runs, traces, tokens</a:t>
            </a:r>
          </a:p>
        </p:txBody>
      </p:sp>
      <p:pic>
        <p:nvPicPr>
          <p:cNvPr id="26" name="Azure icon: Log Analytics workspace" descr="Official Azure icon: Log Analytics workspace"/>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429000" y="3351276"/>
            <a:ext cx="384048" cy="384048"/>
          </a:xfrm>
          <a:prstGeom prst="rect">
            <a:avLst/>
          </a:prstGeom>
        </p:spPr>
      </p:pic>
      <p:sp>
        <p:nvSpPr>
          <p:cNvPr id="27" name="TextBox 26"/>
          <p:cNvSpPr txBox="1"/>
          <p:nvPr/>
        </p:nvSpPr>
        <p:spPr>
          <a:xfrm>
            <a:off x="3886200" y="3191256"/>
            <a:ext cx="2084831" cy="704088"/>
          </a:xfrm>
          <a:prstGeom prst="rect">
            <a:avLst/>
          </a:prstGeom>
          <a:noFill/>
        </p:spPr>
        <p:txBody>
          <a:bodyPr wrap="square" lIns="0" rIns="0" tIns="0" bIns="0" anchor="ctr">
            <a:noAutofit/>
          </a:bodyPr>
          <a:lstStyle/>
          <a:p>
            <a:pPr algn="l"/>
            <a:r>
              <a:rPr sz="1400" b="1" i="0">
                <a:solidFill>
                  <a:srgbClr val="000048"/>
                </a:solidFill>
                <a:latin typeface="Arial"/>
              </a:rPr>
              <a:t>Log Analytics</a:t>
            </a:r>
          </a:p>
          <a:p>
            <a:pPr algn="l"/>
            <a:r>
              <a:rPr sz="1200" b="0" i="0">
                <a:solidFill>
                  <a:srgbClr val="53565A"/>
                </a:solidFill>
                <a:latin typeface="Arial"/>
              </a:rPr>
              <a:t>gateway and platform logs</a:t>
            </a:r>
          </a:p>
        </p:txBody>
      </p:sp>
      <p:pic>
        <p:nvPicPr>
          <p:cNvPr id="28" name="Azure icon: Resource Graph Explorer" descr="Official Azure icon: Resource Graph Explore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236207" y="3351276"/>
            <a:ext cx="384048" cy="384048"/>
          </a:xfrm>
          <a:prstGeom prst="rect">
            <a:avLst/>
          </a:prstGeom>
        </p:spPr>
      </p:pic>
      <p:sp>
        <p:nvSpPr>
          <p:cNvPr id="29" name="TextBox 28"/>
          <p:cNvSpPr txBox="1"/>
          <p:nvPr/>
        </p:nvSpPr>
        <p:spPr>
          <a:xfrm>
            <a:off x="6693407" y="3191256"/>
            <a:ext cx="2084831" cy="704088"/>
          </a:xfrm>
          <a:prstGeom prst="rect">
            <a:avLst/>
          </a:prstGeom>
          <a:noFill/>
        </p:spPr>
        <p:txBody>
          <a:bodyPr wrap="square" lIns="0" rIns="0" tIns="0" bIns="0" anchor="ctr">
            <a:noAutofit/>
          </a:bodyPr>
          <a:lstStyle/>
          <a:p>
            <a:pPr algn="l"/>
            <a:r>
              <a:rPr sz="1400" b="1" i="0">
                <a:solidFill>
                  <a:srgbClr val="000048"/>
                </a:solidFill>
                <a:latin typeface="Arial"/>
              </a:rPr>
              <a:t>Resource Graph</a:t>
            </a:r>
          </a:p>
          <a:p>
            <a:pPr algn="l"/>
            <a:r>
              <a:rPr sz="1200" b="0" i="0">
                <a:solidFill>
                  <a:srgbClr val="53565A"/>
                </a:solidFill>
                <a:latin typeface="Arial"/>
              </a:rPr>
              <a:t>hosting resources, tags</a:t>
            </a:r>
          </a:p>
        </p:txBody>
      </p:sp>
      <p:pic>
        <p:nvPicPr>
          <p:cNvPr id="30" name="Azure icon: Azure DevOps" descr="Official Azure icon: Azure DevOp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043415" y="3351276"/>
            <a:ext cx="384048" cy="384048"/>
          </a:xfrm>
          <a:prstGeom prst="rect">
            <a:avLst/>
          </a:prstGeom>
        </p:spPr>
      </p:pic>
      <p:sp>
        <p:nvSpPr>
          <p:cNvPr id="31" name="TextBox 30"/>
          <p:cNvSpPr txBox="1"/>
          <p:nvPr/>
        </p:nvSpPr>
        <p:spPr>
          <a:xfrm>
            <a:off x="9500615" y="3191256"/>
            <a:ext cx="2084831" cy="704088"/>
          </a:xfrm>
          <a:prstGeom prst="rect">
            <a:avLst/>
          </a:prstGeom>
          <a:noFill/>
        </p:spPr>
        <p:txBody>
          <a:bodyPr wrap="square" lIns="0" rIns="0" tIns="0" bIns="0" anchor="ctr">
            <a:noAutofit/>
          </a:bodyPr>
          <a:lstStyle/>
          <a:p>
            <a:pPr algn="l"/>
            <a:r>
              <a:rPr sz="1400" b="1" i="0">
                <a:solidFill>
                  <a:srgbClr val="000048"/>
                </a:solidFill>
                <a:latin typeface="Arial"/>
              </a:rPr>
              <a:t>Deployment pipelines</a:t>
            </a:r>
          </a:p>
          <a:p>
            <a:pPr algn="l"/>
            <a:r>
              <a:rPr sz="1200" b="0" i="0">
                <a:solidFill>
                  <a:srgbClr val="53565A"/>
                </a:solidFill>
                <a:latin typeface="Arial"/>
              </a:rPr>
              <a:t>agent ID, version, owner</a:t>
            </a:r>
          </a:p>
        </p:txBody>
      </p:sp>
      <p:sp>
        <p:nvSpPr>
          <p:cNvPr id="32" name="Rounded Rectangle 31"/>
          <p:cNvSpPr/>
          <p:nvPr/>
        </p:nvSpPr>
        <p:spPr>
          <a:xfrm>
            <a:off x="411480" y="4251960"/>
            <a:ext cx="11384280" cy="1325880"/>
          </a:xfrm>
          <a:prstGeom prst="roundRect">
            <a:avLst>
              <a:gd name="adj" fmla="val 6896"/>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21208" y="4306824"/>
            <a:ext cx="11164824" cy="237744"/>
          </a:xfrm>
          <a:prstGeom prst="rect">
            <a:avLst/>
          </a:prstGeom>
          <a:noFill/>
        </p:spPr>
        <p:txBody>
          <a:bodyPr wrap="square" lIns="0" rIns="0" tIns="0" bIns="0" anchor="t">
            <a:noAutofit/>
          </a:bodyPr>
          <a:lstStyle/>
          <a:p>
            <a:pPr algn="l"/>
            <a:r>
              <a:rPr sz="1200" b="1" i="0">
                <a:solidFill>
                  <a:srgbClr val="000048"/>
                </a:solidFill>
                <a:latin typeface="Arial"/>
              </a:rPr>
              <a:t>LAYER 1: MICROSOFT CONTROL PLANE (CONFIGURE FIRST)</a:t>
            </a:r>
          </a:p>
        </p:txBody>
      </p:sp>
      <p:sp>
        <p:nvSpPr>
          <p:cNvPr id="34" name="Rounded Rectangle 33"/>
          <p:cNvSpPr/>
          <p:nvPr/>
        </p:nvSpPr>
        <p:spPr>
          <a:xfrm>
            <a:off x="548640" y="4617720"/>
            <a:ext cx="2194560" cy="822960"/>
          </a:xfrm>
          <a:prstGeom prst="roundRect">
            <a:avLst>
              <a:gd name="adj" fmla="val 8888"/>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400" b="1" i="0">
                <a:solidFill>
                  <a:srgbClr val="000048"/>
                </a:solidFill>
                <a:latin typeface="Arial"/>
              </a:rPr>
              <a:t>Agent 365</a:t>
            </a:r>
          </a:p>
          <a:p>
            <a:pPr algn="ctr"/>
            <a:r>
              <a:rPr sz="1200" b="0" i="0">
                <a:solidFill>
                  <a:srgbClr val="53565A"/>
                </a:solidFill>
                <a:latin typeface="Arial"/>
              </a:rPr>
              <a:t>registry and policy</a:t>
            </a:r>
          </a:p>
        </p:txBody>
      </p:sp>
      <p:pic>
        <p:nvPicPr>
          <p:cNvPr id="35" name="Azure icon: Foundry Control Plane" descr="Official Azure icon: Foundry Control Plane"/>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953512" y="4814316"/>
            <a:ext cx="384048" cy="384048"/>
          </a:xfrm>
          <a:prstGeom prst="rect">
            <a:avLst/>
          </a:prstGeom>
        </p:spPr>
      </p:pic>
      <p:sp>
        <p:nvSpPr>
          <p:cNvPr id="36" name="TextBox 35"/>
          <p:cNvSpPr txBox="1"/>
          <p:nvPr/>
        </p:nvSpPr>
        <p:spPr>
          <a:xfrm>
            <a:off x="3410712" y="4654296"/>
            <a:ext cx="2039112" cy="704088"/>
          </a:xfrm>
          <a:prstGeom prst="rect">
            <a:avLst/>
          </a:prstGeom>
          <a:noFill/>
        </p:spPr>
        <p:txBody>
          <a:bodyPr wrap="square" lIns="0" rIns="0" tIns="0" bIns="0" anchor="ctr">
            <a:noAutofit/>
          </a:bodyPr>
          <a:lstStyle/>
          <a:p>
            <a:pPr algn="l"/>
            <a:r>
              <a:rPr sz="1400" b="1" i="0">
                <a:solidFill>
                  <a:srgbClr val="000048"/>
                </a:solidFill>
                <a:latin typeface="Arial"/>
              </a:rPr>
              <a:t>Foundry Control Plane</a:t>
            </a:r>
          </a:p>
          <a:p>
            <a:pPr algn="l"/>
            <a:r>
              <a:rPr sz="1200" b="0" i="0">
                <a:solidFill>
                  <a:srgbClr val="53565A"/>
                </a:solidFill>
                <a:latin typeface="Arial"/>
              </a:rPr>
              <a:t>Foundry agents</a:t>
            </a:r>
          </a:p>
        </p:txBody>
      </p:sp>
      <p:pic>
        <p:nvPicPr>
          <p:cNvPr id="37" name="Azure icon: Conditional Access" descr="Official Azure icon: Conditional Acces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696712" y="4814316"/>
            <a:ext cx="384048" cy="384048"/>
          </a:xfrm>
          <a:prstGeom prst="rect">
            <a:avLst/>
          </a:prstGeom>
        </p:spPr>
      </p:pic>
      <p:sp>
        <p:nvSpPr>
          <p:cNvPr id="38" name="TextBox 37"/>
          <p:cNvSpPr txBox="1"/>
          <p:nvPr/>
        </p:nvSpPr>
        <p:spPr>
          <a:xfrm>
            <a:off x="6153912" y="4654296"/>
            <a:ext cx="2039112" cy="704088"/>
          </a:xfrm>
          <a:prstGeom prst="rect">
            <a:avLst/>
          </a:prstGeom>
          <a:noFill/>
        </p:spPr>
        <p:txBody>
          <a:bodyPr wrap="square" lIns="0" rIns="0" tIns="0" bIns="0" anchor="ctr">
            <a:noAutofit/>
          </a:bodyPr>
          <a:lstStyle/>
          <a:p>
            <a:pPr algn="l"/>
            <a:r>
              <a:rPr sz="1400" b="1" i="0">
                <a:solidFill>
                  <a:srgbClr val="000048"/>
                </a:solidFill>
                <a:latin typeface="Arial"/>
              </a:rPr>
              <a:t>Entra agent identity</a:t>
            </a:r>
          </a:p>
          <a:p>
            <a:pPr algn="l"/>
            <a:r>
              <a:rPr sz="1200" b="0" i="0">
                <a:solidFill>
                  <a:srgbClr val="53565A"/>
                </a:solidFill>
                <a:latin typeface="Arial"/>
              </a:rPr>
              <a:t>Conditional Access</a:t>
            </a:r>
          </a:p>
        </p:txBody>
      </p:sp>
      <p:pic>
        <p:nvPicPr>
          <p:cNvPr id="39" name="Azure icon: Microsoft Defender for Cloud" descr="Official Azure icon: Microsoft Defender for Cloud"/>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439912" y="4814316"/>
            <a:ext cx="384048" cy="384048"/>
          </a:xfrm>
          <a:prstGeom prst="rect">
            <a:avLst/>
          </a:prstGeom>
        </p:spPr>
      </p:pic>
      <p:sp>
        <p:nvSpPr>
          <p:cNvPr id="40" name="TextBox 39"/>
          <p:cNvSpPr txBox="1"/>
          <p:nvPr/>
        </p:nvSpPr>
        <p:spPr>
          <a:xfrm>
            <a:off x="8897112" y="4654296"/>
            <a:ext cx="2724912" cy="704088"/>
          </a:xfrm>
          <a:prstGeom prst="rect">
            <a:avLst/>
          </a:prstGeom>
          <a:noFill/>
        </p:spPr>
        <p:txBody>
          <a:bodyPr wrap="square" lIns="0" rIns="0" tIns="0" bIns="0" anchor="ctr">
            <a:noAutofit/>
          </a:bodyPr>
          <a:lstStyle/>
          <a:p>
            <a:pPr algn="l"/>
            <a:r>
              <a:rPr sz="1400" b="1" i="0">
                <a:solidFill>
                  <a:srgbClr val="000048"/>
                </a:solidFill>
                <a:latin typeface="Arial"/>
              </a:rPr>
              <a:t>Defender and Purview</a:t>
            </a:r>
          </a:p>
          <a:p>
            <a:pPr algn="l"/>
            <a:r>
              <a:rPr sz="1200" b="0" i="0">
                <a:solidFill>
                  <a:srgbClr val="53565A"/>
                </a:solidFill>
                <a:latin typeface="Arial"/>
              </a:rPr>
              <a:t>threats, data security</a:t>
            </a:r>
          </a:p>
        </p:txBody>
      </p:sp>
      <p:sp>
        <p:nvSpPr>
          <p:cNvPr id="41" name="Rounded Rectangle 40"/>
          <p:cNvSpPr/>
          <p:nvPr/>
        </p:nvSpPr>
        <p:spPr>
          <a:xfrm>
            <a:off x="411480" y="5669280"/>
            <a:ext cx="11384280" cy="411480"/>
          </a:xfrm>
          <a:prstGeom prst="roundRect">
            <a:avLst>
              <a:gd name="adj" fmla="val 1777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300" b="1" i="0">
                <a:solidFill>
                  <a:srgbClr val="000048"/>
                </a:solidFill>
                <a:latin typeface="Arial"/>
              </a:rPr>
              <a:t>Runtimes covered: Copilot Studio  ·  Foundry agents  ·  Container Apps or AKS hosts  ·  Logic Apps  ·  AWS and Google via registry sync (preview)</a:t>
            </a:r>
          </a:p>
        </p:txBody>
      </p:sp>
      <p:sp>
        <p:nvSpPr>
          <p:cNvPr id="42" name="TextBox 41"/>
          <p:cNvSpPr txBox="1"/>
          <p:nvPr/>
        </p:nvSpPr>
        <p:spPr>
          <a:xfrm>
            <a:off x="548640" y="6144768"/>
            <a:ext cx="11064240" cy="256032"/>
          </a:xfrm>
          <a:prstGeom prst="rect">
            <a:avLst/>
          </a:prstGeom>
          <a:noFill/>
        </p:spPr>
        <p:txBody>
          <a:bodyPr wrap="square" lIns="0" rIns="0" tIns="0" bIns="0" anchor="t">
            <a:noAutofit/>
          </a:bodyPr>
          <a:lstStyle/>
          <a:p>
            <a:pPr algn="l"/>
            <a:r>
              <a:rPr sz="1200" b="1" i="0">
                <a:solidFill>
                  <a:srgbClr val="7373D8"/>
                </a:solidFill>
                <a:latin typeface="Arial"/>
              </a:rPr>
              <a:t>Proposed reference architecture  ·  CIS Infra custom design  ·  Agent 365 shown as a concept box (Microsoft 365 product, no Azure icon)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Custom gap layer: detailed reference architecture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sp>
        <p:nvSpPr>
          <p:cNvPr id="9" name="Rounded Rectangle 8"/>
          <p:cNvSpPr/>
          <p:nvPr/>
        </p:nvSpPr>
        <p:spPr>
          <a:xfrm>
            <a:off x="548640" y="1600200"/>
            <a:ext cx="219456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zure DevOps" descr="Official Azure icon: Azure DevO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26463" y="1673352"/>
            <a:ext cx="438912" cy="438912"/>
          </a:xfrm>
          <a:prstGeom prst="rect">
            <a:avLst/>
          </a:prstGeom>
        </p:spPr>
      </p:pic>
      <p:sp>
        <p:nvSpPr>
          <p:cNvPr id="11" name="TextBox 10"/>
          <p:cNvSpPr txBox="1"/>
          <p:nvPr/>
        </p:nvSpPr>
        <p:spPr>
          <a:xfrm>
            <a:off x="585216" y="2148840"/>
            <a:ext cx="2121408" cy="512064"/>
          </a:xfrm>
          <a:prstGeom prst="rect">
            <a:avLst/>
          </a:prstGeom>
          <a:noFill/>
        </p:spPr>
        <p:txBody>
          <a:bodyPr wrap="square" lIns="0" rIns="0" tIns="0" bIns="0" anchor="t">
            <a:noAutofit/>
          </a:bodyPr>
          <a:lstStyle/>
          <a:p>
            <a:pPr algn="ctr"/>
            <a:r>
              <a:rPr sz="1300" b="1" i="0">
                <a:solidFill>
                  <a:srgbClr val="000048"/>
                </a:solidFill>
                <a:latin typeface="Arial"/>
              </a:rPr>
              <a:t>Pipelines and Agent 365</a:t>
            </a:r>
          </a:p>
          <a:p>
            <a:pPr algn="ctr"/>
            <a:r>
              <a:rPr sz="1200" b="0" i="0">
                <a:solidFill>
                  <a:srgbClr val="53565A"/>
                </a:solidFill>
                <a:latin typeface="Arial"/>
              </a:rPr>
              <a:t>release record, registry export*</a:t>
            </a:r>
          </a:p>
        </p:txBody>
      </p:sp>
      <p:sp>
        <p:nvSpPr>
          <p:cNvPr id="12" name="Rounded Rectangle 11"/>
          <p:cNvSpPr/>
          <p:nvPr/>
        </p:nvSpPr>
        <p:spPr>
          <a:xfrm>
            <a:off x="548640" y="2743200"/>
            <a:ext cx="219456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Foundry Control Plane" descr="Official Azure icon: Foundry Control Plane"/>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26463" y="2816352"/>
            <a:ext cx="438912" cy="438912"/>
          </a:xfrm>
          <a:prstGeom prst="rect">
            <a:avLst/>
          </a:prstGeom>
        </p:spPr>
      </p:pic>
      <p:sp>
        <p:nvSpPr>
          <p:cNvPr id="14" name="TextBox 13"/>
          <p:cNvSpPr txBox="1"/>
          <p:nvPr/>
        </p:nvSpPr>
        <p:spPr>
          <a:xfrm>
            <a:off x="585216" y="3291840"/>
            <a:ext cx="2121408" cy="512064"/>
          </a:xfrm>
          <a:prstGeom prst="rect">
            <a:avLst/>
          </a:prstGeom>
          <a:noFill/>
        </p:spPr>
        <p:txBody>
          <a:bodyPr wrap="square" lIns="0" rIns="0" tIns="0" bIns="0" anchor="t">
            <a:noAutofit/>
          </a:bodyPr>
          <a:lstStyle/>
          <a:p>
            <a:pPr algn="ctr"/>
            <a:r>
              <a:rPr sz="1300" b="1" i="0">
                <a:solidFill>
                  <a:srgbClr val="000048"/>
                </a:solidFill>
                <a:latin typeface="Arial"/>
              </a:rPr>
              <a:t>Foundry Control Plane</a:t>
            </a:r>
          </a:p>
          <a:p>
            <a:pPr algn="ctr"/>
            <a:r>
              <a:rPr sz="1200" b="0" i="0">
                <a:solidFill>
                  <a:srgbClr val="53565A"/>
                </a:solidFill>
                <a:latin typeface="Arial"/>
              </a:rPr>
              <a:t>Foundry, SRE Agent, Logic Apps, custom</a:t>
            </a:r>
          </a:p>
        </p:txBody>
      </p:sp>
      <p:sp>
        <p:nvSpPr>
          <p:cNvPr id="15" name="Rounded Rectangle 14"/>
          <p:cNvSpPr/>
          <p:nvPr/>
        </p:nvSpPr>
        <p:spPr>
          <a:xfrm>
            <a:off x="548640" y="4160520"/>
            <a:ext cx="219456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Resource Graph Explorer" descr="Official Azure icon: Resource Graph Explore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26463" y="4233672"/>
            <a:ext cx="438912" cy="438912"/>
          </a:xfrm>
          <a:prstGeom prst="rect">
            <a:avLst/>
          </a:prstGeom>
        </p:spPr>
      </p:pic>
      <p:sp>
        <p:nvSpPr>
          <p:cNvPr id="17" name="TextBox 16"/>
          <p:cNvSpPr txBox="1"/>
          <p:nvPr/>
        </p:nvSpPr>
        <p:spPr>
          <a:xfrm>
            <a:off x="585216" y="4709159"/>
            <a:ext cx="2121408" cy="512064"/>
          </a:xfrm>
          <a:prstGeom prst="rect">
            <a:avLst/>
          </a:prstGeom>
          <a:noFill/>
        </p:spPr>
        <p:txBody>
          <a:bodyPr wrap="square" lIns="0" rIns="0" tIns="0" bIns="0" anchor="t">
            <a:noAutofit/>
          </a:bodyPr>
          <a:lstStyle/>
          <a:p>
            <a:pPr algn="ctr"/>
            <a:r>
              <a:rPr sz="1300" b="1" i="0">
                <a:solidFill>
                  <a:srgbClr val="000048"/>
                </a:solidFill>
                <a:latin typeface="Arial"/>
              </a:rPr>
              <a:t>Resource Graph</a:t>
            </a:r>
          </a:p>
          <a:p>
            <a:pPr algn="ctr"/>
            <a:r>
              <a:rPr sz="1200" b="0" i="0">
                <a:solidFill>
                  <a:srgbClr val="53565A"/>
                </a:solidFill>
                <a:latin typeface="Arial"/>
              </a:rPr>
              <a:t>hosting resources, tags</a:t>
            </a:r>
          </a:p>
        </p:txBody>
      </p:sp>
      <p:sp>
        <p:nvSpPr>
          <p:cNvPr id="18" name="Rounded Rectangle 17"/>
          <p:cNvSpPr/>
          <p:nvPr/>
        </p:nvSpPr>
        <p:spPr>
          <a:xfrm>
            <a:off x="3657600" y="2743200"/>
            <a:ext cx="2377440" cy="1159881"/>
          </a:xfrm>
          <a:prstGeom prst="roundRect">
            <a:avLst>
              <a:gd name="adj" fmla="val 630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Function App" descr="Official Azure icon: Function App"/>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94859" y="2816352"/>
            <a:ext cx="502920" cy="502920"/>
          </a:xfrm>
          <a:prstGeom prst="rect">
            <a:avLst/>
          </a:prstGeom>
        </p:spPr>
      </p:pic>
      <p:sp>
        <p:nvSpPr>
          <p:cNvPr id="20" name="TextBox 19"/>
          <p:cNvSpPr txBox="1"/>
          <p:nvPr/>
        </p:nvSpPr>
        <p:spPr>
          <a:xfrm>
            <a:off x="3694176" y="3355848"/>
            <a:ext cx="2304288" cy="528945"/>
          </a:xfrm>
          <a:prstGeom prst="rect">
            <a:avLst/>
          </a:prstGeom>
          <a:noFill/>
        </p:spPr>
        <p:txBody>
          <a:bodyPr wrap="square" lIns="0" rIns="0" tIns="0" bIns="0" anchor="t">
            <a:noAutofit/>
          </a:bodyPr>
          <a:lstStyle/>
          <a:p>
            <a:pPr algn="ctr"/>
            <a:r>
              <a:rPr sz="1400" b="1" i="0">
                <a:solidFill>
                  <a:srgbClr val="000048"/>
                </a:solidFill>
                <a:latin typeface="Arial"/>
              </a:rPr>
              <a:t>Reconciliation job</a:t>
            </a:r>
          </a:p>
          <a:p>
            <a:pPr algn="ctr"/>
            <a:r>
              <a:rPr sz="1200" b="0" i="0">
                <a:solidFill>
                  <a:srgbClr val="53565A"/>
                </a:solidFill>
                <a:latin typeface="Arial"/>
              </a:rPr>
              <a:t>Function App, managed identity, read-only</a:t>
            </a:r>
          </a:p>
        </p:txBody>
      </p:sp>
      <p:sp>
        <p:nvSpPr>
          <p:cNvPr id="21" name="Rounded Rectangle 20"/>
          <p:cNvSpPr/>
          <p:nvPr/>
        </p:nvSpPr>
        <p:spPr>
          <a:xfrm>
            <a:off x="6675120" y="2743200"/>
            <a:ext cx="2011680" cy="1159881"/>
          </a:xfrm>
          <a:prstGeom prst="roundRect">
            <a:avLst>
              <a:gd name="adj" fmla="val 630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Azure Cosmos DB" descr="Official Azure icon: Azure Cosmos DB"/>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429500" y="2816352"/>
            <a:ext cx="502920" cy="502920"/>
          </a:xfrm>
          <a:prstGeom prst="rect">
            <a:avLst/>
          </a:prstGeom>
        </p:spPr>
      </p:pic>
      <p:sp>
        <p:nvSpPr>
          <p:cNvPr id="23" name="TextBox 22"/>
          <p:cNvSpPr txBox="1"/>
          <p:nvPr/>
        </p:nvSpPr>
        <p:spPr>
          <a:xfrm>
            <a:off x="6711696" y="3355848"/>
            <a:ext cx="1938528" cy="528945"/>
          </a:xfrm>
          <a:prstGeom prst="rect">
            <a:avLst/>
          </a:prstGeom>
          <a:noFill/>
        </p:spPr>
        <p:txBody>
          <a:bodyPr wrap="square" lIns="0" rIns="0" tIns="0" bIns="0" anchor="t">
            <a:noAutofit/>
          </a:bodyPr>
          <a:lstStyle/>
          <a:p>
            <a:pPr algn="ctr"/>
            <a:r>
              <a:rPr sz="1400" b="1" i="0">
                <a:solidFill>
                  <a:srgbClr val="000048"/>
                </a:solidFill>
                <a:latin typeface="Arial"/>
              </a:rPr>
              <a:t>Agent registry</a:t>
            </a:r>
          </a:p>
          <a:p>
            <a:pPr algn="ctr"/>
            <a:r>
              <a:rPr sz="1200" b="0" i="0">
                <a:solidFill>
                  <a:srgbClr val="53565A"/>
                </a:solidFill>
                <a:latin typeface="Arial"/>
              </a:rPr>
              <a:t>Cosmos DB</a:t>
            </a:r>
          </a:p>
        </p:txBody>
      </p:sp>
      <p:sp>
        <p:nvSpPr>
          <p:cNvPr id="24" name="Rounded Rectangle 23"/>
          <p:cNvSpPr/>
          <p:nvPr/>
        </p:nvSpPr>
        <p:spPr>
          <a:xfrm>
            <a:off x="3657600" y="1536192"/>
            <a:ext cx="23774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5" name="Azure icon: Application Insights" descr="Official Azure icon: Application Insight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730752" y="1687067"/>
            <a:ext cx="384048" cy="384048"/>
          </a:xfrm>
          <a:prstGeom prst="rect">
            <a:avLst/>
          </a:prstGeom>
        </p:spPr>
      </p:pic>
      <p:sp>
        <p:nvSpPr>
          <p:cNvPr id="26" name="TextBox 25"/>
          <p:cNvSpPr txBox="1"/>
          <p:nvPr/>
        </p:nvSpPr>
        <p:spPr>
          <a:xfrm>
            <a:off x="4187952" y="1572768"/>
            <a:ext cx="1810512" cy="612648"/>
          </a:xfrm>
          <a:prstGeom prst="rect">
            <a:avLst/>
          </a:prstGeom>
          <a:noFill/>
        </p:spPr>
        <p:txBody>
          <a:bodyPr wrap="square" lIns="0" rIns="0" tIns="0" bIns="0" anchor="ctr">
            <a:noAutofit/>
          </a:bodyPr>
          <a:lstStyle/>
          <a:p>
            <a:pPr algn="l"/>
            <a:r>
              <a:rPr sz="1200" b="1" i="0">
                <a:solidFill>
                  <a:srgbClr val="000048"/>
                </a:solidFill>
                <a:latin typeface="Arial"/>
              </a:rPr>
              <a:t>Application Insights</a:t>
            </a:r>
          </a:p>
          <a:p>
            <a:pPr algn="l"/>
            <a:r>
              <a:rPr sz="1200" b="0" i="0">
                <a:solidFill>
                  <a:srgbClr val="53565A"/>
                </a:solidFill>
                <a:latin typeface="Arial"/>
              </a:rPr>
              <a:t>per Foundry project or app</a:t>
            </a:r>
          </a:p>
        </p:txBody>
      </p:sp>
      <p:sp>
        <p:nvSpPr>
          <p:cNvPr id="27" name="Rounded Rectangle 26"/>
          <p:cNvSpPr/>
          <p:nvPr/>
        </p:nvSpPr>
        <p:spPr>
          <a:xfrm>
            <a:off x="3657600" y="4572000"/>
            <a:ext cx="23774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8" name="Azure icon: Log Analytics workspace" descr="Official Azure icon: Log Analytics workspace"/>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730752" y="4722876"/>
            <a:ext cx="384048" cy="384048"/>
          </a:xfrm>
          <a:prstGeom prst="rect">
            <a:avLst/>
          </a:prstGeom>
        </p:spPr>
      </p:pic>
      <p:sp>
        <p:nvSpPr>
          <p:cNvPr id="29" name="TextBox 28"/>
          <p:cNvSpPr txBox="1"/>
          <p:nvPr/>
        </p:nvSpPr>
        <p:spPr>
          <a:xfrm>
            <a:off x="4187952" y="4608576"/>
            <a:ext cx="1810512" cy="612648"/>
          </a:xfrm>
          <a:prstGeom prst="rect">
            <a:avLst/>
          </a:prstGeom>
          <a:noFill/>
        </p:spPr>
        <p:txBody>
          <a:bodyPr wrap="square" lIns="0" rIns="0" tIns="0" bIns="0" anchor="ctr">
            <a:noAutofit/>
          </a:bodyPr>
          <a:lstStyle/>
          <a:p>
            <a:pPr algn="l"/>
            <a:r>
              <a:rPr sz="1200" b="1" i="0">
                <a:solidFill>
                  <a:srgbClr val="000048"/>
                </a:solidFill>
                <a:latin typeface="Arial"/>
              </a:rPr>
              <a:t>Log Analytics</a:t>
            </a:r>
          </a:p>
          <a:p>
            <a:pPr algn="l"/>
            <a:r>
              <a:rPr sz="1200" b="0" i="0">
                <a:solidFill>
                  <a:srgbClr val="53565A"/>
                </a:solidFill>
                <a:latin typeface="Arial"/>
              </a:rPr>
              <a:t>gateway, platform logs</a:t>
            </a:r>
          </a:p>
        </p:txBody>
      </p:sp>
      <p:sp>
        <p:nvSpPr>
          <p:cNvPr id="30" name="Rounded Rectangle 29"/>
          <p:cNvSpPr/>
          <p:nvPr/>
        </p:nvSpPr>
        <p:spPr>
          <a:xfrm>
            <a:off x="9372600" y="1600200"/>
            <a:ext cx="228600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1" name="Azure icon: Azure Workbooks" descr="Official Azure icon: Azure Workbooks"/>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296144" y="1673352"/>
            <a:ext cx="438912" cy="438912"/>
          </a:xfrm>
          <a:prstGeom prst="rect">
            <a:avLst/>
          </a:prstGeom>
        </p:spPr>
      </p:pic>
      <p:sp>
        <p:nvSpPr>
          <p:cNvPr id="32" name="TextBox 31"/>
          <p:cNvSpPr txBox="1"/>
          <p:nvPr/>
        </p:nvSpPr>
        <p:spPr>
          <a:xfrm>
            <a:off x="9409176" y="2148840"/>
            <a:ext cx="2212848" cy="512064"/>
          </a:xfrm>
          <a:prstGeom prst="rect">
            <a:avLst/>
          </a:prstGeom>
          <a:noFill/>
        </p:spPr>
        <p:txBody>
          <a:bodyPr wrap="square" lIns="0" rIns="0" tIns="0" bIns="0" anchor="t">
            <a:noAutofit/>
          </a:bodyPr>
          <a:lstStyle/>
          <a:p>
            <a:pPr algn="ctr"/>
            <a:r>
              <a:rPr sz="1300" b="1" i="0">
                <a:solidFill>
                  <a:srgbClr val="000048"/>
                </a:solidFill>
                <a:latin typeface="Arial"/>
              </a:rPr>
              <a:t>Catalogue workbook</a:t>
            </a:r>
          </a:p>
          <a:p>
            <a:pPr algn="ctr"/>
            <a:r>
              <a:rPr sz="1200" b="0" i="0">
                <a:solidFill>
                  <a:srgbClr val="53565A"/>
                </a:solidFill>
                <a:latin typeface="Arial"/>
              </a:rPr>
              <a:t>status, owner, usage, risk</a:t>
            </a:r>
          </a:p>
        </p:txBody>
      </p:sp>
      <p:sp>
        <p:nvSpPr>
          <p:cNvPr id="33" name="Rounded Rectangle 32"/>
          <p:cNvSpPr/>
          <p:nvPr/>
        </p:nvSpPr>
        <p:spPr>
          <a:xfrm>
            <a:off x="9372600" y="4023360"/>
            <a:ext cx="228600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4" name="Azure icon: Alerts" descr="Official Azure icon: Alert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296144" y="4096512"/>
            <a:ext cx="438912" cy="438912"/>
          </a:xfrm>
          <a:prstGeom prst="rect">
            <a:avLst/>
          </a:prstGeom>
        </p:spPr>
      </p:pic>
      <p:sp>
        <p:nvSpPr>
          <p:cNvPr id="35" name="TextBox 34"/>
          <p:cNvSpPr txBox="1"/>
          <p:nvPr/>
        </p:nvSpPr>
        <p:spPr>
          <a:xfrm>
            <a:off x="9409176" y="4572000"/>
            <a:ext cx="2212848" cy="512064"/>
          </a:xfrm>
          <a:prstGeom prst="rect">
            <a:avLst/>
          </a:prstGeom>
          <a:noFill/>
        </p:spPr>
        <p:txBody>
          <a:bodyPr wrap="square" lIns="0" rIns="0" tIns="0" bIns="0" anchor="t">
            <a:noAutofit/>
          </a:bodyPr>
          <a:lstStyle/>
          <a:p>
            <a:pPr algn="ctr"/>
            <a:r>
              <a:rPr sz="1300" b="1" i="0">
                <a:solidFill>
                  <a:srgbClr val="000048"/>
                </a:solidFill>
                <a:latin typeface="Arial"/>
              </a:rPr>
              <a:t>Review alerts</a:t>
            </a:r>
          </a:p>
          <a:p>
            <a:pPr algn="ctr"/>
            <a:r>
              <a:rPr sz="1200" b="0" i="0">
                <a:solidFill>
                  <a:srgbClr val="53565A"/>
                </a:solidFill>
                <a:latin typeface="Arial"/>
              </a:rPr>
              <a:t>dormancy, telemetry health, orphan</a:t>
            </a:r>
          </a:p>
        </p:txBody>
      </p:sp>
      <p:cxnSp>
        <p:nvCxnSpPr>
          <p:cNvPr id="36" name="Connector (flow)"/>
          <p:cNvCxnSpPr/>
          <p:nvPr/>
        </p:nvCxnSpPr>
        <p:spPr>
          <a:xfrm>
            <a:off x="2743200" y="2011680"/>
            <a:ext cx="3657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flipV="1">
            <a:off x="3108960" y="1389888"/>
            <a:ext cx="0" cy="621792"/>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a:off x="3108960" y="1389888"/>
            <a:ext cx="457200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7680960" y="1389888"/>
            <a:ext cx="0" cy="1353312"/>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3182112" y="16002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41" name="Connector (telemetry)"/>
          <p:cNvCxnSpPr/>
          <p:nvPr/>
        </p:nvCxnSpPr>
        <p:spPr>
          <a:xfrm>
            <a:off x="2743200" y="3200400"/>
            <a:ext cx="91440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telemetry)"/>
          <p:cNvCxnSpPr/>
          <p:nvPr/>
        </p:nvCxnSpPr>
        <p:spPr>
          <a:xfrm flipV="1">
            <a:off x="2743200" y="3520440"/>
            <a:ext cx="914400" cy="96012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3063240" y="361188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44" name="Connector (telemetry)"/>
          <p:cNvCxnSpPr/>
          <p:nvPr/>
        </p:nvCxnSpPr>
        <p:spPr>
          <a:xfrm>
            <a:off x="4846320" y="2221992"/>
            <a:ext cx="0" cy="52120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telemetry)"/>
          <p:cNvCxnSpPr/>
          <p:nvPr/>
        </p:nvCxnSpPr>
        <p:spPr>
          <a:xfrm flipV="1">
            <a:off x="4846320" y="4114800"/>
            <a:ext cx="0" cy="45720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4983480" y="22860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cxnSp>
        <p:nvCxnSpPr>
          <p:cNvPr id="47" name="Connector (flow)"/>
          <p:cNvCxnSpPr/>
          <p:nvPr/>
        </p:nvCxnSpPr>
        <p:spPr>
          <a:xfrm>
            <a:off x="6035040" y="338328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6217920" y="29718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4</a:t>
            </a:r>
          </a:p>
        </p:txBody>
      </p:sp>
      <p:cxnSp>
        <p:nvCxnSpPr>
          <p:cNvPr id="49" name="Connector (flow)"/>
          <p:cNvCxnSpPr/>
          <p:nvPr/>
        </p:nvCxnSpPr>
        <p:spPr>
          <a:xfrm>
            <a:off x="8686800" y="3108960"/>
            <a:ext cx="3200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0" name="Connector (flow)"/>
          <p:cNvCxnSpPr/>
          <p:nvPr/>
        </p:nvCxnSpPr>
        <p:spPr>
          <a:xfrm flipV="1">
            <a:off x="9006840" y="1920240"/>
            <a:ext cx="0" cy="118872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1" name="Connector (flow)"/>
          <p:cNvCxnSpPr/>
          <p:nvPr/>
        </p:nvCxnSpPr>
        <p:spPr>
          <a:xfrm>
            <a:off x="9006840" y="192024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9098280" y="22860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5</a:t>
            </a:r>
          </a:p>
        </p:txBody>
      </p:sp>
      <p:cxnSp>
        <p:nvCxnSpPr>
          <p:cNvPr id="53" name="Connector (flow)"/>
          <p:cNvCxnSpPr/>
          <p:nvPr/>
        </p:nvCxnSpPr>
        <p:spPr>
          <a:xfrm>
            <a:off x="8686800" y="3657600"/>
            <a:ext cx="3200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4" name="Connector (flow)"/>
          <p:cNvCxnSpPr/>
          <p:nvPr/>
        </p:nvCxnSpPr>
        <p:spPr>
          <a:xfrm>
            <a:off x="9006840" y="3657600"/>
            <a:ext cx="0" cy="8686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5" name="Connector (flow)"/>
          <p:cNvCxnSpPr/>
          <p:nvPr/>
        </p:nvCxnSpPr>
        <p:spPr>
          <a:xfrm>
            <a:off x="9006840" y="452628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9098280" y="38862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6</a:t>
            </a:r>
          </a:p>
        </p:txBody>
      </p:sp>
      <p:cxnSp>
        <p:nvCxnSpPr>
          <p:cNvPr id="57" name="Connector (flow)"/>
          <p:cNvCxnSpPr/>
          <p:nvPr/>
        </p:nvCxnSpPr>
        <p:spPr>
          <a:xfrm>
            <a:off x="548640" y="571500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024128" y="5596128"/>
            <a:ext cx="1874519"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59" name="Connector (telemetry)"/>
          <p:cNvCxnSpPr/>
          <p:nvPr/>
        </p:nvCxnSpPr>
        <p:spPr>
          <a:xfrm>
            <a:off x="2926080" y="5715000"/>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401568" y="5596128"/>
            <a:ext cx="1874519" cy="256032"/>
          </a:xfrm>
          <a:prstGeom prst="rect">
            <a:avLst/>
          </a:prstGeom>
          <a:noFill/>
        </p:spPr>
        <p:txBody>
          <a:bodyPr wrap="square" lIns="0" rIns="0" tIns="0" bIns="0" anchor="t">
            <a:noAutofit/>
          </a:bodyPr>
          <a:lstStyle/>
          <a:p>
            <a:pPr algn="l"/>
            <a:r>
              <a:rPr sz="1200" b="0" i="0">
                <a:solidFill>
                  <a:srgbClr val="53565A"/>
                </a:solidFill>
                <a:latin typeface="Arial"/>
              </a:rPr>
              <a:t>Telemetry or state read</a:t>
            </a:r>
          </a:p>
        </p:txBody>
      </p:sp>
      <p:sp>
        <p:nvSpPr>
          <p:cNvPr id="61" name="TextBox 60"/>
          <p:cNvSpPr txBox="1"/>
          <p:nvPr/>
        </p:nvSpPr>
        <p:spPr>
          <a:xfrm>
            <a:off x="5486400" y="5596128"/>
            <a:ext cx="6126480" cy="274320"/>
          </a:xfrm>
          <a:prstGeom prst="rect">
            <a:avLst/>
          </a:prstGeom>
          <a:noFill/>
        </p:spPr>
        <p:txBody>
          <a:bodyPr wrap="square" lIns="0" rIns="0" tIns="0" bIns="0" anchor="t">
            <a:noAutofit/>
          </a:bodyPr>
          <a:lstStyle/>
          <a:p>
            <a:pPr algn="r"/>
            <a:r>
              <a:rPr sz="1200" b="0" i="0">
                <a:solidFill>
                  <a:srgbClr val="7373D8"/>
                </a:solidFill>
                <a:latin typeface="Arial"/>
              </a:rPr>
              <a:t>Purple outline = custom build. Others are native Azure capabilities.</a:t>
            </a:r>
          </a:p>
        </p:txBody>
      </p:sp>
      <p:sp>
        <p:nvSpPr>
          <p:cNvPr id="62" name="TextBox 61"/>
          <p:cNvSpPr txBox="1"/>
          <p:nvPr/>
        </p:nvSpPr>
        <p:spPr>
          <a:xfrm>
            <a:off x="548640" y="5943600"/>
            <a:ext cx="11064240" cy="256032"/>
          </a:xfrm>
          <a:prstGeom prst="rect">
            <a:avLst/>
          </a:prstGeom>
          <a:noFill/>
        </p:spPr>
        <p:txBody>
          <a:bodyPr wrap="square" lIns="0" rIns="0" tIns="0" bIns="0" anchor="t">
            <a:noAutofit/>
          </a:bodyPr>
          <a:lstStyle/>
          <a:p>
            <a:pPr algn="l"/>
            <a:r>
              <a:rPr sz="12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Rogue-agent containment on Azure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K1</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sp>
        <p:nvSpPr>
          <p:cNvPr id="9" name="Rounded Rectangle 8"/>
          <p:cNvSpPr/>
          <p:nvPr/>
        </p:nvSpPr>
        <p:spPr>
          <a:xfrm>
            <a:off x="411480" y="1243584"/>
            <a:ext cx="11384280" cy="2377440"/>
          </a:xfrm>
          <a:prstGeom prst="roundRect">
            <a:avLst>
              <a:gd name="adj" fmla="val 3846"/>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21208" y="1298448"/>
            <a:ext cx="11164824" cy="237744"/>
          </a:xfrm>
          <a:prstGeom prst="rect">
            <a:avLst/>
          </a:prstGeom>
          <a:noFill/>
        </p:spPr>
        <p:txBody>
          <a:bodyPr wrap="square" lIns="0" rIns="0" tIns="0" bIns="0" anchor="t">
            <a:noAutofit/>
          </a:bodyPr>
          <a:lstStyle/>
          <a:p>
            <a:pPr algn="l"/>
            <a:r>
              <a:rPr sz="1200" b="1" i="0">
                <a:solidFill>
                  <a:srgbClr val="000048"/>
                </a:solidFill>
                <a:latin typeface="Arial"/>
              </a:rPr>
              <a:t>GOVERNED EXECUTION PATH (WORKLOAD SUBSCRIPTION, PRIVATE NETWORK)</a:t>
            </a:r>
          </a:p>
        </p:txBody>
      </p:sp>
      <p:pic>
        <p:nvPicPr>
          <p:cNvPr id="11"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2124" y="1865376"/>
            <a:ext cx="438912" cy="438912"/>
          </a:xfrm>
          <a:prstGeom prst="rect">
            <a:avLst/>
          </a:prstGeom>
        </p:spPr>
      </p:pic>
      <p:sp>
        <p:nvSpPr>
          <p:cNvPr id="12" name="TextBox 11"/>
          <p:cNvSpPr txBox="1"/>
          <p:nvPr/>
        </p:nvSpPr>
        <p:spPr>
          <a:xfrm>
            <a:off x="539496" y="2340864"/>
            <a:ext cx="1344168" cy="512064"/>
          </a:xfrm>
          <a:prstGeom prst="rect">
            <a:avLst/>
          </a:prstGeom>
          <a:noFill/>
        </p:spPr>
        <p:txBody>
          <a:bodyPr wrap="square" lIns="0" rIns="0" tIns="0" bIns="0" anchor="t">
            <a:noAutofit/>
          </a:bodyPr>
          <a:lstStyle/>
          <a:p>
            <a:pPr algn="ctr"/>
            <a:r>
              <a:rPr sz="1300" b="1" i="0">
                <a:solidFill>
                  <a:srgbClr val="000048"/>
                </a:solidFill>
                <a:latin typeface="Arial"/>
              </a:rPr>
              <a:t>Users and apps</a:t>
            </a:r>
          </a:p>
          <a:p>
            <a:pPr algn="ctr"/>
            <a:r>
              <a:rPr sz="1200" b="0" i="0">
                <a:solidFill>
                  <a:srgbClr val="53565A"/>
                </a:solidFill>
                <a:latin typeface="Arial"/>
              </a:rPr>
              <a:t>Entra-authenticated callers</a:t>
            </a:r>
          </a:p>
        </p:txBody>
      </p:sp>
      <p:sp>
        <p:nvSpPr>
          <p:cNvPr id="13" name="Rounded Rectangle 12"/>
          <p:cNvSpPr/>
          <p:nvPr/>
        </p:nvSpPr>
        <p:spPr>
          <a:xfrm>
            <a:off x="2103120" y="1700784"/>
            <a:ext cx="182880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98064" y="1773936"/>
            <a:ext cx="438912" cy="438912"/>
          </a:xfrm>
          <a:prstGeom prst="rect">
            <a:avLst/>
          </a:prstGeom>
        </p:spPr>
      </p:pic>
      <p:sp>
        <p:nvSpPr>
          <p:cNvPr id="15" name="TextBox 14"/>
          <p:cNvSpPr txBox="1"/>
          <p:nvPr/>
        </p:nvSpPr>
        <p:spPr>
          <a:xfrm>
            <a:off x="2148840" y="2249424"/>
            <a:ext cx="1737360" cy="822960"/>
          </a:xfrm>
          <a:prstGeom prst="rect">
            <a:avLst/>
          </a:prstGeom>
          <a:noFill/>
        </p:spPr>
        <p:txBody>
          <a:bodyPr wrap="square" lIns="0" rIns="0" tIns="0" bIns="0" anchor="t">
            <a:noAutofit/>
          </a:bodyPr>
          <a:lstStyle/>
          <a:p>
            <a:pPr algn="ctr"/>
            <a:r>
              <a:rPr sz="1200" b="1" i="0">
                <a:solidFill>
                  <a:srgbClr val="000048"/>
                </a:solidFill>
                <a:latin typeface="Arial"/>
              </a:rPr>
              <a:t>API Management</a:t>
            </a:r>
          </a:p>
          <a:p>
            <a:pPr algn="ctr"/>
            <a:r>
              <a:rPr sz="1200" b="0" i="0">
                <a:solidFill>
                  <a:srgbClr val="53565A"/>
                </a:solidFill>
                <a:latin typeface="Arial"/>
              </a:rPr>
              <a:t>Ingress: caller identity, agent ID mapping, deny-state check</a:t>
            </a:r>
          </a:p>
        </p:txBody>
      </p:sp>
      <p:sp>
        <p:nvSpPr>
          <p:cNvPr id="16" name="Rounded Rectangle 15"/>
          <p:cNvSpPr/>
          <p:nvPr/>
        </p:nvSpPr>
        <p:spPr>
          <a:xfrm>
            <a:off x="4343400" y="1700784"/>
            <a:ext cx="205740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Foundry Agent Service" descr="Official Azure icon: Foundry Agent Servi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01184" y="1773936"/>
            <a:ext cx="438912" cy="438912"/>
          </a:xfrm>
          <a:prstGeom prst="rect">
            <a:avLst/>
          </a:prstGeom>
        </p:spPr>
      </p:pic>
      <p:pic>
        <p:nvPicPr>
          <p:cNvPr id="18" name="Azure icon: Container Apps Environments" descr="Official Azure icon: Container Apps Environme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413248" y="1773936"/>
            <a:ext cx="438912" cy="438912"/>
          </a:xfrm>
          <a:prstGeom prst="rect">
            <a:avLst/>
          </a:prstGeom>
        </p:spPr>
      </p:pic>
      <p:sp>
        <p:nvSpPr>
          <p:cNvPr id="19" name="TextBox 18"/>
          <p:cNvSpPr txBox="1"/>
          <p:nvPr/>
        </p:nvSpPr>
        <p:spPr>
          <a:xfrm>
            <a:off x="4389120" y="2249424"/>
            <a:ext cx="1965960" cy="822960"/>
          </a:xfrm>
          <a:prstGeom prst="rect">
            <a:avLst/>
          </a:prstGeom>
          <a:noFill/>
        </p:spPr>
        <p:txBody>
          <a:bodyPr wrap="square" lIns="0" rIns="0" tIns="0" bIns="0" anchor="t">
            <a:noAutofit/>
          </a:bodyPr>
          <a:lstStyle/>
          <a:p>
            <a:pPr algn="ctr"/>
            <a:r>
              <a:rPr sz="1200" b="1" i="0">
                <a:solidFill>
                  <a:srgbClr val="000048"/>
                </a:solidFill>
                <a:latin typeface="Arial"/>
              </a:rPr>
              <a:t>Agent runtime</a:t>
            </a:r>
          </a:p>
          <a:p>
            <a:pPr algn="ctr"/>
            <a:r>
              <a:rPr sz="1200" b="0" i="0">
                <a:solidFill>
                  <a:srgbClr val="53565A"/>
                </a:solidFill>
                <a:latin typeface="Arial"/>
              </a:rPr>
              <a:t>Foundry Agent Service, or a customer host (Container Apps shown). Guard at each loop checkpoint</a:t>
            </a:r>
          </a:p>
        </p:txBody>
      </p:sp>
      <p:sp>
        <p:nvSpPr>
          <p:cNvPr id="20" name="Rounded Rectangle 19"/>
          <p:cNvSpPr/>
          <p:nvPr/>
        </p:nvSpPr>
        <p:spPr>
          <a:xfrm>
            <a:off x="6812280" y="1700784"/>
            <a:ext cx="192024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52944" y="1773936"/>
            <a:ext cx="438912" cy="438912"/>
          </a:xfrm>
          <a:prstGeom prst="rect">
            <a:avLst/>
          </a:prstGeom>
        </p:spPr>
      </p:pic>
      <p:sp>
        <p:nvSpPr>
          <p:cNvPr id="22" name="TextBox 21"/>
          <p:cNvSpPr txBox="1"/>
          <p:nvPr/>
        </p:nvSpPr>
        <p:spPr>
          <a:xfrm>
            <a:off x="6858000" y="2249424"/>
            <a:ext cx="1828800" cy="822960"/>
          </a:xfrm>
          <a:prstGeom prst="rect">
            <a:avLst/>
          </a:prstGeom>
          <a:noFill/>
        </p:spPr>
        <p:txBody>
          <a:bodyPr wrap="square" lIns="0" rIns="0" tIns="0" bIns="0" anchor="t">
            <a:noAutofit/>
          </a:bodyPr>
          <a:lstStyle/>
          <a:p>
            <a:pPr algn="ctr"/>
            <a:r>
              <a:rPr sz="1200" b="1" i="0">
                <a:solidFill>
                  <a:srgbClr val="000048"/>
                </a:solidFill>
                <a:latin typeface="Arial"/>
              </a:rPr>
              <a:t>Model and tool gateway</a:t>
            </a:r>
          </a:p>
          <a:p>
            <a:pPr algn="ctr"/>
            <a:r>
              <a:rPr sz="1200" b="0" i="0">
                <a:solidFill>
                  <a:srgbClr val="53565A"/>
                </a:solidFill>
                <a:latin typeface="Arial"/>
              </a:rPr>
              <a:t>API Management outbound policies plus tool-side authorisation</a:t>
            </a:r>
          </a:p>
        </p:txBody>
      </p:sp>
      <p:sp>
        <p:nvSpPr>
          <p:cNvPr id="23" name="Rounded Rectangle 22"/>
          <p:cNvSpPr/>
          <p:nvPr/>
        </p:nvSpPr>
        <p:spPr>
          <a:xfrm>
            <a:off x="9144000" y="1591056"/>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217152" y="1682496"/>
            <a:ext cx="329184" cy="329184"/>
          </a:xfrm>
          <a:prstGeom prst="rect">
            <a:avLst/>
          </a:prstGeom>
        </p:spPr>
      </p:pic>
      <p:sp>
        <p:nvSpPr>
          <p:cNvPr id="25" name="TextBox 24"/>
          <p:cNvSpPr txBox="1"/>
          <p:nvPr/>
        </p:nvSpPr>
        <p:spPr>
          <a:xfrm>
            <a:off x="9619488" y="1627632"/>
            <a:ext cx="2002536" cy="438912"/>
          </a:xfrm>
          <a:prstGeom prst="rect">
            <a:avLst/>
          </a:prstGeom>
          <a:noFill/>
        </p:spPr>
        <p:txBody>
          <a:bodyPr wrap="square" lIns="0" rIns="0" tIns="0" bIns="0" anchor="ctr">
            <a:noAutofit/>
          </a:bodyPr>
          <a:lstStyle/>
          <a:p>
            <a:pPr algn="l"/>
            <a:r>
              <a:rPr sz="1200" b="1" i="0">
                <a:solidFill>
                  <a:srgbClr val="000048"/>
                </a:solidFill>
                <a:latin typeface="Arial"/>
              </a:rPr>
              <a:t>Foundry Models</a:t>
            </a:r>
          </a:p>
          <a:p>
            <a:pPr algn="l"/>
            <a:r>
              <a:rPr sz="1200" b="0" i="0">
                <a:solidFill>
                  <a:srgbClr val="53565A"/>
                </a:solidFill>
                <a:latin typeface="Arial"/>
              </a:rPr>
              <a:t>model deployments</a:t>
            </a:r>
          </a:p>
        </p:txBody>
      </p:sp>
      <p:sp>
        <p:nvSpPr>
          <p:cNvPr id="26" name="Rounded Rectangle 25"/>
          <p:cNvSpPr/>
          <p:nvPr/>
        </p:nvSpPr>
        <p:spPr>
          <a:xfrm>
            <a:off x="9144000" y="2157984"/>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7"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217152" y="2249424"/>
            <a:ext cx="329184" cy="329184"/>
          </a:xfrm>
          <a:prstGeom prst="rect">
            <a:avLst/>
          </a:prstGeom>
        </p:spPr>
      </p:pic>
      <p:sp>
        <p:nvSpPr>
          <p:cNvPr id="28" name="TextBox 27"/>
          <p:cNvSpPr txBox="1"/>
          <p:nvPr/>
        </p:nvSpPr>
        <p:spPr>
          <a:xfrm>
            <a:off x="9619488" y="2194560"/>
            <a:ext cx="2002536" cy="438912"/>
          </a:xfrm>
          <a:prstGeom prst="rect">
            <a:avLst/>
          </a:prstGeom>
          <a:noFill/>
        </p:spPr>
        <p:txBody>
          <a:bodyPr wrap="square" lIns="0" rIns="0" tIns="0" bIns="0" anchor="ctr">
            <a:noAutofit/>
          </a:bodyPr>
          <a:lstStyle/>
          <a:p>
            <a:pPr algn="l"/>
            <a:r>
              <a:rPr sz="1200" b="1" i="0">
                <a:solidFill>
                  <a:srgbClr val="000048"/>
                </a:solidFill>
                <a:latin typeface="Arial"/>
              </a:rPr>
              <a:t>Tool APIs (example host)</a:t>
            </a:r>
          </a:p>
          <a:p>
            <a:pPr algn="l"/>
            <a:r>
              <a:rPr sz="1200" b="0" i="0">
                <a:solidFill>
                  <a:srgbClr val="53565A"/>
                </a:solidFill>
                <a:latin typeface="Arial"/>
              </a:rPr>
              <a:t>MCP or REST tools</a:t>
            </a:r>
          </a:p>
        </p:txBody>
      </p:sp>
      <p:sp>
        <p:nvSpPr>
          <p:cNvPr id="29" name="Rounded Rectangle 28"/>
          <p:cNvSpPr/>
          <p:nvPr/>
        </p:nvSpPr>
        <p:spPr>
          <a:xfrm>
            <a:off x="9144000" y="2724912"/>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0" name="Azure icon: AI Search (Cognitive Search icon)" descr="Official Azure icon: AI Search (Cognitive Search icon)"/>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217152" y="2816352"/>
            <a:ext cx="329184" cy="329184"/>
          </a:xfrm>
          <a:prstGeom prst="rect">
            <a:avLst/>
          </a:prstGeom>
        </p:spPr>
      </p:pic>
      <p:sp>
        <p:nvSpPr>
          <p:cNvPr id="31" name="TextBox 30"/>
          <p:cNvSpPr txBox="1"/>
          <p:nvPr/>
        </p:nvSpPr>
        <p:spPr>
          <a:xfrm>
            <a:off x="9619488" y="2761488"/>
            <a:ext cx="2002536" cy="438912"/>
          </a:xfrm>
          <a:prstGeom prst="rect">
            <a:avLst/>
          </a:prstGeom>
          <a:noFill/>
        </p:spPr>
        <p:txBody>
          <a:bodyPr wrap="square" lIns="0" rIns="0" tIns="0" bIns="0" anchor="ctr">
            <a:noAutofit/>
          </a:bodyPr>
          <a:lstStyle/>
          <a:p>
            <a:pPr algn="l"/>
            <a:r>
              <a:rPr sz="1200" b="1" i="0">
                <a:solidFill>
                  <a:srgbClr val="000048"/>
                </a:solidFill>
                <a:latin typeface="Arial"/>
              </a:rPr>
              <a:t>Workload data</a:t>
            </a:r>
          </a:p>
          <a:p>
            <a:pPr algn="l"/>
            <a:r>
              <a:rPr sz="1200" b="0" i="0">
                <a:solidFill>
                  <a:srgbClr val="53565A"/>
                </a:solidFill>
                <a:latin typeface="Arial"/>
              </a:rPr>
              <a:t>AI Search, Storage account</a:t>
            </a:r>
          </a:p>
        </p:txBody>
      </p:sp>
      <p:cxnSp>
        <p:nvCxnSpPr>
          <p:cNvPr id="32" name="Connector (flow)"/>
          <p:cNvCxnSpPr/>
          <p:nvPr/>
        </p:nvCxnSpPr>
        <p:spPr>
          <a:xfrm>
            <a:off x="1920240" y="2414016"/>
            <a:ext cx="1828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flow)"/>
          <p:cNvCxnSpPr/>
          <p:nvPr/>
        </p:nvCxnSpPr>
        <p:spPr>
          <a:xfrm>
            <a:off x="3931920" y="2414016"/>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flow)"/>
          <p:cNvCxnSpPr/>
          <p:nvPr/>
        </p:nvCxnSpPr>
        <p:spPr>
          <a:xfrm>
            <a:off x="6400800" y="2414016"/>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flipV="1">
            <a:off x="8942832" y="1847088"/>
            <a:ext cx="0" cy="566928"/>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a:off x="8942832" y="1847088"/>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8942832" y="2414016"/>
            <a:ext cx="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8942832" y="2414016"/>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2" name="Connector (flow)"/>
          <p:cNvCxnSpPr/>
          <p:nvPr/>
        </p:nvCxnSpPr>
        <p:spPr>
          <a:xfrm>
            <a:off x="8942832" y="2414016"/>
            <a:ext cx="0" cy="566928"/>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3" name="Connector (flow)"/>
          <p:cNvCxnSpPr/>
          <p:nvPr/>
        </p:nvCxnSpPr>
        <p:spPr>
          <a:xfrm>
            <a:off x="8942832" y="2980944"/>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197510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sp>
        <p:nvSpPr>
          <p:cNvPr id="45" name="Oval 44"/>
          <p:cNvSpPr/>
          <p:nvPr/>
        </p:nvSpPr>
        <p:spPr>
          <a:xfrm>
            <a:off x="421538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sp>
        <p:nvSpPr>
          <p:cNvPr id="46" name="Oval 45"/>
          <p:cNvSpPr/>
          <p:nvPr/>
        </p:nvSpPr>
        <p:spPr>
          <a:xfrm>
            <a:off x="668426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47" name="TextBox 46"/>
          <p:cNvSpPr txBox="1"/>
          <p:nvPr/>
        </p:nvSpPr>
        <p:spPr>
          <a:xfrm>
            <a:off x="9144000" y="3273552"/>
            <a:ext cx="2560320" cy="329184"/>
          </a:xfrm>
          <a:prstGeom prst="rect">
            <a:avLst/>
          </a:prstGeom>
          <a:noFill/>
        </p:spPr>
        <p:txBody>
          <a:bodyPr wrap="square" lIns="0" rIns="0" tIns="0" bIns="0" anchor="t">
            <a:noAutofit/>
          </a:bodyPr>
          <a:lstStyle/>
          <a:p>
            <a:pPr algn="l"/>
            <a:r>
              <a:rPr sz="1200" b="0" i="0">
                <a:solidFill>
                  <a:srgbClr val="A4262C"/>
                </a:solidFill>
                <a:latin typeface="Arial"/>
              </a:rPr>
              <a:t>Direct calls that bypass the gateway are denied by network and identity design</a:t>
            </a:r>
          </a:p>
        </p:txBody>
      </p:sp>
      <p:sp>
        <p:nvSpPr>
          <p:cNvPr id="48" name="Rounded Rectangle 47"/>
          <p:cNvSpPr/>
          <p:nvPr/>
        </p:nvSpPr>
        <p:spPr>
          <a:xfrm>
            <a:off x="457200" y="2816352"/>
            <a:ext cx="1600200" cy="566928"/>
          </a:xfrm>
          <a:prstGeom prst="roundRect">
            <a:avLst>
              <a:gd name="adj" fmla="val 12903"/>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9" name="Azure icon: Conditional Access" descr="Official Azure icon: Conditional Access"/>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30352" y="2953512"/>
            <a:ext cx="292608" cy="292608"/>
          </a:xfrm>
          <a:prstGeom prst="rect">
            <a:avLst/>
          </a:prstGeom>
        </p:spPr>
      </p:pic>
      <p:sp>
        <p:nvSpPr>
          <p:cNvPr id="50" name="TextBox 49"/>
          <p:cNvSpPr txBox="1"/>
          <p:nvPr/>
        </p:nvSpPr>
        <p:spPr>
          <a:xfrm>
            <a:off x="896112" y="2852928"/>
            <a:ext cx="1124712" cy="493776"/>
          </a:xfrm>
          <a:prstGeom prst="rect">
            <a:avLst/>
          </a:prstGeom>
          <a:noFill/>
        </p:spPr>
        <p:txBody>
          <a:bodyPr wrap="square" lIns="0" rIns="0" tIns="0" bIns="0" anchor="ctr">
            <a:noAutofit/>
          </a:bodyPr>
          <a:lstStyle/>
          <a:p>
            <a:pPr algn="l"/>
            <a:r>
              <a:rPr sz="1200" b="1" i="0">
                <a:solidFill>
                  <a:srgbClr val="000048"/>
                </a:solidFill>
                <a:latin typeface="Arial"/>
              </a:rPr>
              <a:t>Entra CA for agents</a:t>
            </a:r>
          </a:p>
          <a:p>
            <a:pPr algn="l"/>
            <a:r>
              <a:rPr sz="1200" b="0" i="0">
                <a:solidFill>
                  <a:srgbClr val="53565A"/>
                </a:solidFill>
                <a:latin typeface="Arial"/>
              </a:rPr>
              <a:t>identity-layer block</a:t>
            </a:r>
          </a:p>
        </p:txBody>
      </p:sp>
      <p:sp>
        <p:nvSpPr>
          <p:cNvPr id="51" name="Oval 50"/>
          <p:cNvSpPr/>
          <p:nvPr/>
        </p:nvSpPr>
        <p:spPr>
          <a:xfrm>
            <a:off x="1920240" y="2724912"/>
            <a:ext cx="256032" cy="256032"/>
          </a:xfrm>
          <a:prstGeom prst="ellipse">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4</a:t>
            </a:r>
          </a:p>
        </p:txBody>
      </p:sp>
      <p:sp>
        <p:nvSpPr>
          <p:cNvPr id="52" name="Rounded Rectangle 51"/>
          <p:cNvSpPr/>
          <p:nvPr/>
        </p:nvSpPr>
        <p:spPr>
          <a:xfrm>
            <a:off x="411480" y="4032504"/>
            <a:ext cx="11384280" cy="2103120"/>
          </a:xfrm>
          <a:prstGeom prst="roundRect">
            <a:avLst>
              <a:gd name="adj" fmla="val 4347"/>
            </a:avLst>
          </a:prstGeom>
          <a:solidFill>
            <a:srgbClr val="F6F5FD"/>
          </a:solidFill>
          <a:ln w="15875">
            <a:solidFill>
              <a:srgbClr val="7373D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521207" y="5861304"/>
            <a:ext cx="8229600" cy="237744"/>
          </a:xfrm>
          <a:prstGeom prst="rect">
            <a:avLst/>
          </a:prstGeom>
          <a:noFill/>
        </p:spPr>
        <p:txBody>
          <a:bodyPr wrap="square" lIns="0" rIns="0" tIns="0" bIns="0" anchor="t">
            <a:noAutofit/>
          </a:bodyPr>
          <a:lstStyle/>
          <a:p>
            <a:pPr algn="l"/>
            <a:r>
              <a:rPr sz="1200" b="1" i="0">
                <a:solidFill>
                  <a:srgbClr val="4B4BA8"/>
                </a:solidFill>
                <a:latin typeface="Arial"/>
              </a:rPr>
              <a:t>RESTRICTED CONTAINMENT CONTROL PLANE (SEPARATE SUBSCRIPTION OR MANAGEMENT BOUNDARY)</a:t>
            </a:r>
          </a:p>
        </p:txBody>
      </p:sp>
      <p:sp>
        <p:nvSpPr>
          <p:cNvPr id="54" name="Rounded Rectangle 53"/>
          <p:cNvSpPr/>
          <p:nvPr/>
        </p:nvSpPr>
        <p:spPr>
          <a:xfrm>
            <a:off x="548640" y="4215384"/>
            <a:ext cx="1874519"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5" name="Azure icon: Entra Privileged Identity Management" descr="Official Azure icon: Entra Privileged Identity Management"/>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21792" y="4366260"/>
            <a:ext cx="384048" cy="384048"/>
          </a:xfrm>
          <a:prstGeom prst="rect">
            <a:avLst/>
          </a:prstGeom>
        </p:spPr>
      </p:pic>
      <p:sp>
        <p:nvSpPr>
          <p:cNvPr id="56" name="TextBox 55"/>
          <p:cNvSpPr txBox="1"/>
          <p:nvPr/>
        </p:nvSpPr>
        <p:spPr>
          <a:xfrm>
            <a:off x="1078992" y="4251960"/>
            <a:ext cx="1307592" cy="612648"/>
          </a:xfrm>
          <a:prstGeom prst="rect">
            <a:avLst/>
          </a:prstGeom>
          <a:noFill/>
        </p:spPr>
        <p:txBody>
          <a:bodyPr wrap="square" lIns="0" rIns="0" tIns="0" bIns="0" anchor="ctr">
            <a:noAutofit/>
          </a:bodyPr>
          <a:lstStyle/>
          <a:p>
            <a:pPr algn="l"/>
            <a:r>
              <a:rPr sz="1200" b="1" i="0">
                <a:solidFill>
                  <a:srgbClr val="000048"/>
                </a:solidFill>
                <a:latin typeface="Arial"/>
              </a:rPr>
              <a:t>Authorised operator</a:t>
            </a:r>
          </a:p>
          <a:p>
            <a:pPr algn="l"/>
            <a:r>
              <a:rPr sz="1200" b="0" i="0">
                <a:solidFill>
                  <a:srgbClr val="53565A"/>
                </a:solidFill>
                <a:latin typeface="Arial"/>
              </a:rPr>
              <a:t>Entra PIM, approval</a:t>
            </a:r>
          </a:p>
        </p:txBody>
      </p:sp>
      <p:sp>
        <p:nvSpPr>
          <p:cNvPr id="57" name="Rounded Rectangle 56"/>
          <p:cNvSpPr/>
          <p:nvPr/>
        </p:nvSpPr>
        <p:spPr>
          <a:xfrm>
            <a:off x="548640" y="5038344"/>
            <a:ext cx="1874519"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8" name="Azure icon: Azure Monitor" descr="Official Azure icon: Azure Monito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21792" y="5189220"/>
            <a:ext cx="384048" cy="384048"/>
          </a:xfrm>
          <a:prstGeom prst="rect">
            <a:avLst/>
          </a:prstGeom>
        </p:spPr>
      </p:pic>
      <p:sp>
        <p:nvSpPr>
          <p:cNvPr id="59" name="TextBox 58"/>
          <p:cNvSpPr txBox="1"/>
          <p:nvPr/>
        </p:nvSpPr>
        <p:spPr>
          <a:xfrm>
            <a:off x="1078992" y="5074920"/>
            <a:ext cx="1307592" cy="612648"/>
          </a:xfrm>
          <a:prstGeom prst="rect">
            <a:avLst/>
          </a:prstGeom>
          <a:noFill/>
        </p:spPr>
        <p:txBody>
          <a:bodyPr wrap="square" lIns="0" rIns="0" tIns="0" bIns="0" anchor="ctr">
            <a:noAutofit/>
          </a:bodyPr>
          <a:lstStyle/>
          <a:p>
            <a:pPr algn="l"/>
            <a:r>
              <a:rPr sz="1200" b="1" i="0">
                <a:solidFill>
                  <a:srgbClr val="000048"/>
                </a:solidFill>
                <a:latin typeface="Arial"/>
              </a:rPr>
              <a:t>Automated detection</a:t>
            </a:r>
          </a:p>
          <a:p>
            <a:pPr algn="l"/>
            <a:r>
              <a:rPr sz="1200" b="0" i="0">
                <a:solidFill>
                  <a:srgbClr val="53565A"/>
                </a:solidFill>
                <a:latin typeface="Arial"/>
              </a:rPr>
              <a:t>Monitor alert, action group</a:t>
            </a:r>
          </a:p>
        </p:txBody>
      </p:sp>
      <p:sp>
        <p:nvSpPr>
          <p:cNvPr id="60" name="Rounded Rectangle 59"/>
          <p:cNvSpPr/>
          <p:nvPr/>
        </p:nvSpPr>
        <p:spPr>
          <a:xfrm>
            <a:off x="2788920" y="4489704"/>
            <a:ext cx="2148840" cy="914400"/>
          </a:xfrm>
          <a:prstGeom prst="roundRect">
            <a:avLst>
              <a:gd name="adj" fmla="val 8000"/>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1"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862072" y="4754880"/>
            <a:ext cx="384048" cy="384048"/>
          </a:xfrm>
          <a:prstGeom prst="rect">
            <a:avLst/>
          </a:prstGeom>
        </p:spPr>
      </p:pic>
      <p:sp>
        <p:nvSpPr>
          <p:cNvPr id="62" name="TextBox 61"/>
          <p:cNvSpPr txBox="1"/>
          <p:nvPr/>
        </p:nvSpPr>
        <p:spPr>
          <a:xfrm>
            <a:off x="3319272" y="4526280"/>
            <a:ext cx="1581912" cy="841248"/>
          </a:xfrm>
          <a:prstGeom prst="rect">
            <a:avLst/>
          </a:prstGeom>
          <a:noFill/>
        </p:spPr>
        <p:txBody>
          <a:bodyPr wrap="square" lIns="0" rIns="0" tIns="0" bIns="0" anchor="ctr">
            <a:noAutofit/>
          </a:bodyPr>
          <a:lstStyle/>
          <a:p>
            <a:pPr algn="l"/>
            <a:r>
              <a:rPr sz="1200" b="1" i="0">
                <a:solidFill>
                  <a:srgbClr val="000048"/>
                </a:solidFill>
                <a:latin typeface="Arial"/>
              </a:rPr>
              <a:t>Containment orchestrator</a:t>
            </a:r>
          </a:p>
          <a:p>
            <a:pPr algn="l"/>
            <a:r>
              <a:rPr sz="1200" b="0" i="0">
                <a:solidFill>
                  <a:srgbClr val="53565A"/>
                </a:solidFill>
                <a:latin typeface="Arial"/>
              </a:rPr>
              <a:t>Durable Functions, custom code</a:t>
            </a:r>
          </a:p>
        </p:txBody>
      </p:sp>
      <p:sp>
        <p:nvSpPr>
          <p:cNvPr id="63" name="Rounded Rectangle 62"/>
          <p:cNvSpPr/>
          <p:nvPr/>
        </p:nvSpPr>
        <p:spPr>
          <a:xfrm>
            <a:off x="5440680" y="4197096"/>
            <a:ext cx="2148840" cy="685800"/>
          </a:xfrm>
          <a:prstGeom prst="roundRect">
            <a:avLst>
              <a:gd name="adj" fmla="val 1066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4" name="Azure icon: Azure Cosmos DB" descr="Official Azure icon: Azure Cosmos DB"/>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513832" y="4357116"/>
            <a:ext cx="365760" cy="365760"/>
          </a:xfrm>
          <a:prstGeom prst="rect">
            <a:avLst/>
          </a:prstGeom>
        </p:spPr>
      </p:pic>
      <p:sp>
        <p:nvSpPr>
          <p:cNvPr id="65" name="TextBox 64"/>
          <p:cNvSpPr txBox="1"/>
          <p:nvPr/>
        </p:nvSpPr>
        <p:spPr>
          <a:xfrm>
            <a:off x="5952744" y="4233672"/>
            <a:ext cx="1600200" cy="612648"/>
          </a:xfrm>
          <a:prstGeom prst="rect">
            <a:avLst/>
          </a:prstGeom>
          <a:noFill/>
        </p:spPr>
        <p:txBody>
          <a:bodyPr wrap="square" lIns="0" rIns="0" tIns="0" bIns="0" anchor="ctr">
            <a:noAutofit/>
          </a:bodyPr>
          <a:lstStyle/>
          <a:p>
            <a:pPr algn="l"/>
            <a:r>
              <a:rPr sz="1200" b="1" i="0">
                <a:solidFill>
                  <a:srgbClr val="000048"/>
                </a:solidFill>
                <a:latin typeface="Arial"/>
              </a:rPr>
              <a:t>Quarantine registry</a:t>
            </a:r>
          </a:p>
          <a:p>
            <a:pPr algn="l"/>
            <a:r>
              <a:rPr sz="1200" b="0" i="0">
                <a:solidFill>
                  <a:srgbClr val="53565A"/>
                </a:solidFill>
                <a:latin typeface="Arial"/>
              </a:rPr>
              <a:t>agent ID, version, state version</a:t>
            </a:r>
          </a:p>
        </p:txBody>
      </p:sp>
      <p:sp>
        <p:nvSpPr>
          <p:cNvPr id="66" name="Rounded Rectangle 65"/>
          <p:cNvSpPr/>
          <p:nvPr/>
        </p:nvSpPr>
        <p:spPr>
          <a:xfrm>
            <a:off x="5440680" y="5056632"/>
            <a:ext cx="21488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7" name="Azure icon: Storage account" descr="Official Azure icon: Storage account"/>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5513832" y="5216652"/>
            <a:ext cx="365760" cy="365760"/>
          </a:xfrm>
          <a:prstGeom prst="rect">
            <a:avLst/>
          </a:prstGeom>
        </p:spPr>
      </p:pic>
      <p:sp>
        <p:nvSpPr>
          <p:cNvPr id="68" name="TextBox 67"/>
          <p:cNvSpPr txBox="1"/>
          <p:nvPr/>
        </p:nvSpPr>
        <p:spPr>
          <a:xfrm>
            <a:off x="5952744" y="5093208"/>
            <a:ext cx="1600200" cy="612648"/>
          </a:xfrm>
          <a:prstGeom prst="rect">
            <a:avLst/>
          </a:prstGeom>
          <a:noFill/>
        </p:spPr>
        <p:txBody>
          <a:bodyPr wrap="square" lIns="0" rIns="0" tIns="0" bIns="0" anchor="ctr">
            <a:noAutofit/>
          </a:bodyPr>
          <a:lstStyle/>
          <a:p>
            <a:pPr algn="l"/>
            <a:r>
              <a:rPr sz="1200" b="1" i="0">
                <a:solidFill>
                  <a:srgbClr val="000048"/>
                </a:solidFill>
                <a:latin typeface="Arial"/>
              </a:rPr>
              <a:t>Incident evidence</a:t>
            </a:r>
          </a:p>
          <a:p>
            <a:pPr algn="l"/>
            <a:r>
              <a:rPr sz="1200" b="0" i="0">
                <a:solidFill>
                  <a:srgbClr val="53565A"/>
                </a:solidFill>
                <a:latin typeface="Arial"/>
              </a:rPr>
              <a:t>Storage account, immutability policy</a:t>
            </a:r>
          </a:p>
        </p:txBody>
      </p:sp>
      <p:sp>
        <p:nvSpPr>
          <p:cNvPr id="69" name="Rounded Rectangle 68"/>
          <p:cNvSpPr/>
          <p:nvPr/>
        </p:nvSpPr>
        <p:spPr>
          <a:xfrm>
            <a:off x="8001000" y="4489704"/>
            <a:ext cx="1828800" cy="914400"/>
          </a:xfrm>
          <a:prstGeom prst="roundRect">
            <a:avLst>
              <a:gd name="adj" fmla="val 8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70" name="Azure icon: Application Insights" descr="Official Azure icon: Application Insights"/>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8074152" y="4764024"/>
            <a:ext cx="365760" cy="365760"/>
          </a:xfrm>
          <a:prstGeom prst="rect">
            <a:avLst/>
          </a:prstGeom>
        </p:spPr>
      </p:pic>
      <p:sp>
        <p:nvSpPr>
          <p:cNvPr id="71" name="TextBox 70"/>
          <p:cNvSpPr txBox="1"/>
          <p:nvPr/>
        </p:nvSpPr>
        <p:spPr>
          <a:xfrm>
            <a:off x="8513064" y="4526280"/>
            <a:ext cx="1280160" cy="841248"/>
          </a:xfrm>
          <a:prstGeom prst="rect">
            <a:avLst/>
          </a:prstGeom>
          <a:noFill/>
        </p:spPr>
        <p:txBody>
          <a:bodyPr wrap="square" lIns="0" rIns="0" tIns="0" bIns="0" anchor="ctr">
            <a:noAutofit/>
          </a:bodyPr>
          <a:lstStyle/>
          <a:p>
            <a:pPr algn="l"/>
            <a:r>
              <a:rPr sz="1200" b="1" i="0">
                <a:solidFill>
                  <a:srgbClr val="000048"/>
                </a:solidFill>
                <a:latin typeface="Arial"/>
              </a:rPr>
              <a:t>Containment check</a:t>
            </a:r>
          </a:p>
          <a:p>
            <a:pPr algn="l"/>
            <a:r>
              <a:rPr sz="1200" b="0" i="0">
                <a:solidFill>
                  <a:srgbClr val="53565A"/>
                </a:solidFill>
                <a:latin typeface="Arial"/>
              </a:rPr>
              <a:t>traces confirm no new actions</a:t>
            </a:r>
          </a:p>
        </p:txBody>
      </p:sp>
      <p:sp>
        <p:nvSpPr>
          <p:cNvPr id="72" name="Rounded Rectangle 71"/>
          <p:cNvSpPr/>
          <p:nvPr/>
        </p:nvSpPr>
        <p:spPr>
          <a:xfrm>
            <a:off x="10104120" y="4306824"/>
            <a:ext cx="1554480" cy="1280160"/>
          </a:xfrm>
          <a:prstGeom prst="roundRect">
            <a:avLst>
              <a:gd name="adj" fmla="val 5714"/>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Human-approved restart</a:t>
            </a:r>
          </a:p>
          <a:p>
            <a:pPr algn="ctr"/>
            <a:r>
              <a:rPr sz="1200" b="0" i="0">
                <a:solidFill>
                  <a:srgbClr val="53565A"/>
                </a:solidFill>
                <a:latin typeface="Arial"/>
              </a:rPr>
              <a:t>root cause, canary, two-person approval</a:t>
            </a:r>
          </a:p>
        </p:txBody>
      </p:sp>
      <p:cxnSp>
        <p:nvCxnSpPr>
          <p:cNvPr id="73" name="Connector (control)"/>
          <p:cNvCxnSpPr/>
          <p:nvPr/>
        </p:nvCxnSpPr>
        <p:spPr>
          <a:xfrm>
            <a:off x="2423160" y="4562856"/>
            <a:ext cx="365760" cy="21945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control)"/>
          <p:cNvCxnSpPr/>
          <p:nvPr/>
        </p:nvCxnSpPr>
        <p:spPr>
          <a:xfrm flipV="1">
            <a:off x="2423160" y="5129784"/>
            <a:ext cx="365760" cy="246888"/>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control)"/>
          <p:cNvCxnSpPr/>
          <p:nvPr/>
        </p:nvCxnSpPr>
        <p:spPr>
          <a:xfrm flipV="1">
            <a:off x="4937760" y="4544568"/>
            <a:ext cx="502920" cy="17373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control)"/>
          <p:cNvCxnSpPr/>
          <p:nvPr/>
        </p:nvCxnSpPr>
        <p:spPr>
          <a:xfrm>
            <a:off x="4937760" y="5175504"/>
            <a:ext cx="502920" cy="21945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telemetry)"/>
          <p:cNvCxnSpPr/>
          <p:nvPr/>
        </p:nvCxnSpPr>
        <p:spPr>
          <a:xfrm flipH="1">
            <a:off x="4937760" y="4946904"/>
            <a:ext cx="306324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Connector (control)"/>
          <p:cNvCxnSpPr/>
          <p:nvPr/>
        </p:nvCxnSpPr>
        <p:spPr>
          <a:xfrm>
            <a:off x="9829800" y="4946904"/>
            <a:ext cx="274320" cy="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Connector (control)"/>
          <p:cNvCxnSpPr/>
          <p:nvPr/>
        </p:nvCxnSpPr>
        <p:spPr>
          <a:xfrm>
            <a:off x="3017520" y="3831336"/>
            <a:ext cx="475488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80" name="Connector (control)"/>
          <p:cNvCxnSpPr/>
          <p:nvPr/>
        </p:nvCxnSpPr>
        <p:spPr>
          <a:xfrm flipV="1">
            <a:off x="301752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1" name="Connector (control)"/>
          <p:cNvCxnSpPr/>
          <p:nvPr/>
        </p:nvCxnSpPr>
        <p:spPr>
          <a:xfrm flipV="1">
            <a:off x="537210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control)"/>
          <p:cNvCxnSpPr/>
          <p:nvPr/>
        </p:nvCxnSpPr>
        <p:spPr>
          <a:xfrm flipV="1">
            <a:off x="777240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control)"/>
          <p:cNvCxnSpPr/>
          <p:nvPr/>
        </p:nvCxnSpPr>
        <p:spPr>
          <a:xfrm flipV="1">
            <a:off x="3858768" y="3831336"/>
            <a:ext cx="0" cy="658368"/>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84" name="Connector (telemetry)"/>
          <p:cNvCxnSpPr/>
          <p:nvPr/>
        </p:nvCxnSpPr>
        <p:spPr>
          <a:xfrm flipV="1">
            <a:off x="6510528" y="3831336"/>
            <a:ext cx="0" cy="36576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telemetry)"/>
          <p:cNvCxnSpPr/>
          <p:nvPr/>
        </p:nvCxnSpPr>
        <p:spPr>
          <a:xfrm flipV="1">
            <a:off x="8915400" y="3621024"/>
            <a:ext cx="0" cy="86868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8979408" y="3639312"/>
            <a:ext cx="1097280" cy="237744"/>
          </a:xfrm>
          <a:prstGeom prst="rect">
            <a:avLst/>
          </a:prstGeom>
          <a:noFill/>
        </p:spPr>
        <p:txBody>
          <a:bodyPr wrap="square" lIns="0" rIns="0" tIns="0" bIns="0" anchor="t">
            <a:noAutofit/>
          </a:bodyPr>
          <a:lstStyle/>
          <a:p>
            <a:pPr algn="l"/>
            <a:r>
              <a:rPr sz="1200" b="0" i="0">
                <a:solidFill>
                  <a:srgbClr val="53565A"/>
                </a:solidFill>
                <a:latin typeface="Arial"/>
              </a:rPr>
              <a:t>traces</a:t>
            </a:r>
          </a:p>
        </p:txBody>
      </p:sp>
      <p:sp>
        <p:nvSpPr>
          <p:cNvPr id="87" name="TextBox 86"/>
          <p:cNvSpPr txBox="1"/>
          <p:nvPr/>
        </p:nvSpPr>
        <p:spPr>
          <a:xfrm>
            <a:off x="548640" y="3694176"/>
            <a:ext cx="2423160" cy="274320"/>
          </a:xfrm>
          <a:prstGeom prst="rect">
            <a:avLst/>
          </a:prstGeom>
          <a:noFill/>
        </p:spPr>
        <p:txBody>
          <a:bodyPr wrap="square" lIns="0" rIns="0" tIns="0" bIns="0" anchor="t">
            <a:noAutofit/>
          </a:bodyPr>
          <a:lstStyle/>
          <a:p>
            <a:pPr algn="r"/>
            <a:r>
              <a:rPr sz="1200" b="0" i="0">
                <a:solidFill>
                  <a:srgbClr val="6363C9"/>
                </a:solidFill>
                <a:latin typeface="Arial"/>
              </a:rPr>
              <a:t>deny-state checks and runtime adapters</a:t>
            </a:r>
          </a:p>
        </p:txBody>
      </p:sp>
      <p:cxnSp>
        <p:nvCxnSpPr>
          <p:cNvPr id="88" name="Connector (flow)"/>
          <p:cNvCxnSpPr/>
          <p:nvPr/>
        </p:nvCxnSpPr>
        <p:spPr>
          <a:xfrm>
            <a:off x="548640" y="6281928"/>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024128" y="6163056"/>
            <a:ext cx="1874519"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90" name="Connector (control)"/>
          <p:cNvCxnSpPr/>
          <p:nvPr/>
        </p:nvCxnSpPr>
        <p:spPr>
          <a:xfrm>
            <a:off x="2926080" y="6281928"/>
            <a:ext cx="411480" cy="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3401568" y="6163056"/>
            <a:ext cx="1874519" cy="256032"/>
          </a:xfrm>
          <a:prstGeom prst="rect">
            <a:avLst/>
          </a:prstGeom>
          <a:noFill/>
        </p:spPr>
        <p:txBody>
          <a:bodyPr wrap="square" lIns="0" rIns="0" tIns="0" bIns="0" anchor="t">
            <a:noAutofit/>
          </a:bodyPr>
          <a:lstStyle/>
          <a:p>
            <a:pPr algn="l"/>
            <a:r>
              <a:rPr sz="1200" b="0" i="0">
                <a:solidFill>
                  <a:srgbClr val="53565A"/>
                </a:solidFill>
                <a:latin typeface="Arial"/>
              </a:rPr>
              <a:t>Control or containment path</a:t>
            </a:r>
          </a:p>
        </p:txBody>
      </p:sp>
      <p:cxnSp>
        <p:nvCxnSpPr>
          <p:cNvPr id="92" name="Connector (telemetry)"/>
          <p:cNvCxnSpPr/>
          <p:nvPr/>
        </p:nvCxnSpPr>
        <p:spPr>
          <a:xfrm>
            <a:off x="5303520" y="6281928"/>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779008" y="6163056"/>
            <a:ext cx="1874519" cy="256032"/>
          </a:xfrm>
          <a:prstGeom prst="rect">
            <a:avLst/>
          </a:prstGeom>
          <a:noFill/>
        </p:spPr>
        <p:txBody>
          <a:bodyPr wrap="square" lIns="0" rIns="0" tIns="0" bIns="0" anchor="t">
            <a:noAutofit/>
          </a:bodyPr>
          <a:lstStyle/>
          <a:p>
            <a:pPr algn="l"/>
            <a:r>
              <a:rPr sz="1200" b="0" i="0">
                <a:solidFill>
                  <a:srgbClr val="53565A"/>
                </a:solidFill>
                <a:latin typeface="Arial"/>
              </a:rPr>
              <a:t>Telemetry or state read</a:t>
            </a:r>
          </a:p>
        </p:txBody>
      </p:sp>
      <p:sp>
        <p:nvSpPr>
          <p:cNvPr id="94" name="TextBox 93"/>
          <p:cNvSpPr txBox="1"/>
          <p:nvPr/>
        </p:nvSpPr>
        <p:spPr>
          <a:xfrm>
            <a:off x="6766560" y="6163056"/>
            <a:ext cx="4937760" cy="274320"/>
          </a:xfrm>
          <a:prstGeom prst="rect">
            <a:avLst/>
          </a:prstGeom>
          <a:noFill/>
        </p:spPr>
        <p:txBody>
          <a:bodyPr wrap="square" lIns="0" rIns="0" tIns="0" bIns="0" anchor="t">
            <a:noAutofit/>
          </a:bodyPr>
          <a:lstStyle/>
          <a:p>
            <a:pPr algn="r"/>
            <a:r>
              <a:rPr sz="1200" b="1" i="0">
                <a:solidFill>
                  <a:srgbClr val="A4262C"/>
                </a:solidFill>
                <a:latin typeface="Arial"/>
              </a:rPr>
              <a:t>1</a:t>
            </a:r>
            <a:r>
              <a:rPr sz="1200" b="0" i="0">
                <a:solidFill>
                  <a:srgbClr val="53565A"/>
                </a:solidFill>
                <a:latin typeface="Arial"/>
              </a:rPr>
              <a:t> block new requests  </a:t>
            </a:r>
            <a:r>
              <a:rPr sz="1200" b="1" i="0">
                <a:solidFill>
                  <a:srgbClr val="A4262C"/>
                </a:solidFill>
                <a:latin typeface="Arial"/>
              </a:rPr>
              <a:t>2</a:t>
            </a:r>
            <a:r>
              <a:rPr sz="1200" b="0" i="0">
                <a:solidFill>
                  <a:srgbClr val="53565A"/>
                </a:solidFill>
                <a:latin typeface="Arial"/>
              </a:rPr>
              <a:t> cancel or isolate  </a:t>
            </a:r>
            <a:r>
              <a:rPr sz="1200" b="1" i="0">
                <a:solidFill>
                  <a:srgbClr val="A4262C"/>
                </a:solidFill>
                <a:latin typeface="Arial"/>
              </a:rPr>
              <a:t>3</a:t>
            </a:r>
            <a:r>
              <a:rPr sz="1200" b="0" i="0">
                <a:solidFill>
                  <a:srgbClr val="53565A"/>
                </a:solidFill>
                <a:latin typeface="Arial"/>
              </a:rPr>
              <a:t> deny actions  </a:t>
            </a:r>
            <a:r>
              <a:rPr sz="1200" b="1" i="0">
                <a:solidFill>
                  <a:srgbClr val="7373D8"/>
                </a:solidFill>
                <a:latin typeface="Arial"/>
              </a:rPr>
              <a:t>4</a:t>
            </a:r>
            <a:r>
              <a:rPr sz="1200" b="0" i="0">
                <a:solidFill>
                  <a:srgbClr val="53565A"/>
                </a:solidFill>
                <a:latin typeface="Arial"/>
              </a:rPr>
              <a:t> identity block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Where an agentic loop amplifies calls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Status chip: ADAPTED FROM SOURCE"/>
          <p:cNvSpPr/>
          <p:nvPr/>
        </p:nvSpPr>
        <p:spPr>
          <a:xfrm>
            <a:off x="199644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sp>
        <p:nvSpPr>
          <p:cNvPr id="9" name="Rounded Rectangle 8"/>
          <p:cNvSpPr/>
          <p:nvPr/>
        </p:nvSpPr>
        <p:spPr>
          <a:xfrm>
            <a:off x="502920"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User query</a:t>
            </a:r>
          </a:p>
        </p:txBody>
      </p:sp>
      <p:cxnSp>
        <p:nvCxnSpPr>
          <p:cNvPr id="10" name="Connector (flow)"/>
          <p:cNvCxnSpPr/>
          <p:nvPr/>
        </p:nvCxnSpPr>
        <p:spPr>
          <a:xfrm>
            <a:off x="1764792"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901952"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2" name="Azure icon: Foundry Agent Service" descr="Official Azure icon: Foundry Agent Servic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27148" y="1901952"/>
            <a:ext cx="411480" cy="411480"/>
          </a:xfrm>
          <a:prstGeom prst="rect">
            <a:avLst/>
          </a:prstGeom>
        </p:spPr>
      </p:pic>
      <p:sp>
        <p:nvSpPr>
          <p:cNvPr id="13" name="TextBox 12"/>
          <p:cNvSpPr txBox="1"/>
          <p:nvPr/>
        </p:nvSpPr>
        <p:spPr>
          <a:xfrm>
            <a:off x="1938528"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Agent reasoning loop</a:t>
            </a:r>
          </a:p>
        </p:txBody>
      </p:sp>
      <p:cxnSp>
        <p:nvCxnSpPr>
          <p:cNvPr id="14" name="Connector (flow)"/>
          <p:cNvCxnSpPr/>
          <p:nvPr/>
        </p:nvCxnSpPr>
        <p:spPr>
          <a:xfrm>
            <a:off x="3163824"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00984"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AI Search (Cognitive Search icon)" descr="Official Azure icon: AI Search (Cognitive Search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26180" y="1901952"/>
            <a:ext cx="411480" cy="411480"/>
          </a:xfrm>
          <a:prstGeom prst="rect">
            <a:avLst/>
          </a:prstGeom>
        </p:spPr>
      </p:pic>
      <p:sp>
        <p:nvSpPr>
          <p:cNvPr id="17" name="TextBox 16"/>
          <p:cNvSpPr txBox="1"/>
          <p:nvPr/>
        </p:nvSpPr>
        <p:spPr>
          <a:xfrm>
            <a:off x="3337560"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Tool call: search A</a:t>
            </a:r>
          </a:p>
        </p:txBody>
      </p:sp>
      <p:cxnSp>
        <p:nvCxnSpPr>
          <p:cNvPr id="18" name="Connector (flow)"/>
          <p:cNvCxnSpPr/>
          <p:nvPr/>
        </p:nvCxnSpPr>
        <p:spPr>
          <a:xfrm>
            <a:off x="4562856"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700016"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Evaluate results</a:t>
            </a:r>
          </a:p>
        </p:txBody>
      </p:sp>
      <p:cxnSp>
        <p:nvCxnSpPr>
          <p:cNvPr id="20" name="Connector (flow)"/>
          <p:cNvCxnSpPr/>
          <p:nvPr/>
        </p:nvCxnSpPr>
        <p:spPr>
          <a:xfrm>
            <a:off x="5961888"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099048"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AI Search (Cognitive Search icon)" descr="Official Azure icon: AI Search (Cognitive Search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24244" y="1901952"/>
            <a:ext cx="411480" cy="411480"/>
          </a:xfrm>
          <a:prstGeom prst="rect">
            <a:avLst/>
          </a:prstGeom>
        </p:spPr>
      </p:pic>
      <p:sp>
        <p:nvSpPr>
          <p:cNvPr id="23" name="TextBox 22"/>
          <p:cNvSpPr txBox="1"/>
          <p:nvPr/>
        </p:nvSpPr>
        <p:spPr>
          <a:xfrm>
            <a:off x="6135624"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Tool call: search B</a:t>
            </a:r>
          </a:p>
        </p:txBody>
      </p:sp>
      <p:cxnSp>
        <p:nvCxnSpPr>
          <p:cNvPr id="24" name="Connector (flow)"/>
          <p:cNvCxnSpPr/>
          <p:nvPr/>
        </p:nvCxnSpPr>
        <p:spPr>
          <a:xfrm>
            <a:off x="7360920" y="2423160"/>
            <a:ext cx="13715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498080"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Build prompt</a:t>
            </a:r>
          </a:p>
        </p:txBody>
      </p:sp>
      <p:cxnSp>
        <p:nvCxnSpPr>
          <p:cNvPr id="26" name="Connector (flow)"/>
          <p:cNvCxnSpPr/>
          <p:nvPr/>
        </p:nvCxnSpPr>
        <p:spPr>
          <a:xfrm>
            <a:off x="8759952"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897112"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8"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322308" y="1901952"/>
            <a:ext cx="411480" cy="411480"/>
          </a:xfrm>
          <a:prstGeom prst="rect">
            <a:avLst/>
          </a:prstGeom>
        </p:spPr>
      </p:pic>
      <p:sp>
        <p:nvSpPr>
          <p:cNvPr id="29" name="TextBox 28"/>
          <p:cNvSpPr txBox="1"/>
          <p:nvPr/>
        </p:nvSpPr>
        <p:spPr>
          <a:xfrm>
            <a:off x="8933688"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Model call</a:t>
            </a:r>
          </a:p>
        </p:txBody>
      </p:sp>
      <p:cxnSp>
        <p:nvCxnSpPr>
          <p:cNvPr id="30" name="Connector (flow)"/>
          <p:cNvCxnSpPr/>
          <p:nvPr/>
        </p:nvCxnSpPr>
        <p:spPr>
          <a:xfrm>
            <a:off x="10158984"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296144"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Response</a:t>
            </a:r>
          </a:p>
        </p:txBody>
      </p:sp>
      <p:cxnSp>
        <p:nvCxnSpPr>
          <p:cNvPr id="32" name="Connector (flow)"/>
          <p:cNvCxnSpPr/>
          <p:nvPr/>
        </p:nvCxnSpPr>
        <p:spPr>
          <a:xfrm>
            <a:off x="4059935" y="3017520"/>
            <a:ext cx="0" cy="4114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3" name="Connector (flow)"/>
          <p:cNvCxnSpPr/>
          <p:nvPr/>
        </p:nvCxnSpPr>
        <p:spPr>
          <a:xfrm flipH="1">
            <a:off x="2532888" y="3429000"/>
            <a:ext cx="1527047"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4" name="Connector (flow)"/>
          <p:cNvCxnSpPr/>
          <p:nvPr/>
        </p:nvCxnSpPr>
        <p:spPr>
          <a:xfrm flipV="1">
            <a:off x="2532888" y="3017520"/>
            <a:ext cx="0" cy="4114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377440" y="3474720"/>
            <a:ext cx="2194560" cy="274320"/>
          </a:xfrm>
          <a:prstGeom prst="rect">
            <a:avLst/>
          </a:prstGeom>
          <a:noFill/>
        </p:spPr>
        <p:txBody>
          <a:bodyPr wrap="square" lIns="0" rIns="0" tIns="0" bIns="0" anchor="t">
            <a:noAutofit/>
          </a:bodyPr>
          <a:lstStyle/>
          <a:p>
            <a:pPr algn="ctr"/>
            <a:r>
              <a:rPr sz="1200" b="0" i="0">
                <a:solidFill>
                  <a:srgbClr val="000048"/>
                </a:solidFill>
                <a:latin typeface="Arial"/>
              </a:rPr>
              <a:t>repeat until sufficient</a:t>
            </a:r>
          </a:p>
        </p:txBody>
      </p:sp>
      <p:sp>
        <p:nvSpPr>
          <p:cNvPr id="36" name="Rounded Rectangle 35"/>
          <p:cNvSpPr/>
          <p:nvPr/>
        </p:nvSpPr>
        <p:spPr>
          <a:xfrm>
            <a:off x="1856232"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200" b="1" i="0">
                <a:solidFill>
                  <a:srgbClr val="000048"/>
                </a:solidFill>
                <a:latin typeface="Arial"/>
              </a:rPr>
              <a:t>Iteration and time limit</a:t>
            </a:r>
          </a:p>
        </p:txBody>
      </p:sp>
      <p:cxnSp>
        <p:nvCxnSpPr>
          <p:cNvPr id="37" name="Connector (control)"/>
          <p:cNvCxnSpPr/>
          <p:nvPr/>
        </p:nvCxnSpPr>
        <p:spPr>
          <a:xfrm flipV="1">
            <a:off x="2542032"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3255264"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200" b="1" i="0">
                <a:solidFill>
                  <a:srgbClr val="000048"/>
                </a:solidFill>
                <a:latin typeface="Arial"/>
              </a:rPr>
              <a:t>Tool allow-list</a:t>
            </a:r>
          </a:p>
        </p:txBody>
      </p:sp>
      <p:cxnSp>
        <p:nvCxnSpPr>
          <p:cNvPr id="39" name="Connector (control)"/>
          <p:cNvCxnSpPr/>
          <p:nvPr/>
        </p:nvCxnSpPr>
        <p:spPr>
          <a:xfrm flipV="1">
            <a:off x="3941063"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053328"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200" b="1" i="0">
                <a:solidFill>
                  <a:srgbClr val="000048"/>
                </a:solidFill>
                <a:latin typeface="Arial"/>
              </a:rPr>
              <a:t>Checkpoint deny-state check</a:t>
            </a:r>
          </a:p>
        </p:txBody>
      </p:sp>
      <p:cxnSp>
        <p:nvCxnSpPr>
          <p:cNvPr id="41" name="Connector (control)"/>
          <p:cNvCxnSpPr/>
          <p:nvPr/>
        </p:nvCxnSpPr>
        <p:spPr>
          <a:xfrm flipV="1">
            <a:off x="6739128"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851392"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200" b="1" i="0">
                <a:solidFill>
                  <a:srgbClr val="000048"/>
                </a:solidFill>
                <a:latin typeface="Arial"/>
              </a:rPr>
              <a:t>Token budget</a:t>
            </a:r>
          </a:p>
        </p:txBody>
      </p:sp>
      <p:cxnSp>
        <p:nvCxnSpPr>
          <p:cNvPr id="43" name="Connector (control)"/>
          <p:cNvCxnSpPr/>
          <p:nvPr/>
        </p:nvCxnSpPr>
        <p:spPr>
          <a:xfrm flipV="1">
            <a:off x="9537192"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48640" y="4892040"/>
            <a:ext cx="11064240" cy="731520"/>
          </a:xfrm>
          <a:prstGeom prst="rect">
            <a:avLst/>
          </a:prstGeom>
          <a:noFill/>
        </p:spPr>
        <p:txBody>
          <a:bodyPr wrap="square" lIns="0" rIns="0" tIns="0" bIns="0" anchor="t">
            <a:noAutofit/>
          </a:bodyPr>
          <a:lstStyle/>
          <a:p>
            <a:pPr algn="l"/>
            <a:r>
              <a:rPr sz="1600" b="0" i="0">
                <a:solidFill>
                  <a:srgbClr val="1E1E2E"/>
                </a:solidFill>
                <a:latin typeface="Arial"/>
              </a:rPr>
              <a:t>Each loop multiplies model and tool calls. One user question can drive many backend calls, so budgets and stop checks belong at every checkpoint.</a:t>
            </a:r>
          </a:p>
        </p:txBody>
      </p:sp>
      <p:sp>
        <p:nvSpPr>
          <p:cNvPr id="45" name="TextBox 44"/>
          <p:cNvSpPr txBox="1"/>
          <p:nvPr/>
        </p:nvSpPr>
        <p:spPr>
          <a:xfrm>
            <a:off x="548640" y="5852160"/>
            <a:ext cx="11064240" cy="256032"/>
          </a:xfrm>
          <a:prstGeom prst="rect">
            <a:avLst/>
          </a:prstGeom>
          <a:noFill/>
        </p:spPr>
        <p:txBody>
          <a:bodyPr wrap="square" lIns="0" rIns="0" tIns="0" bIns="0" anchor="t">
            <a:noAutofit/>
          </a:bodyPr>
          <a:lstStyle/>
          <a:p>
            <a:pPr algn="l"/>
            <a:r>
              <a:rPr sz="1200" b="1" i="0">
                <a:solidFill>
                  <a:srgbClr val="7373D8"/>
                </a:solidFill>
                <a:latin typeface="Arial"/>
              </a:rPr>
              <a:t>Adapted from Microsoft source; control points are proposed additions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Multi-agent workload: owners and stop points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ADAPTED FROM SOURCE"/>
          <p:cNvSpPr/>
          <p:nvPr/>
        </p:nvSpPr>
        <p:spPr>
          <a:xfrm>
            <a:off x="199644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sp>
        <p:nvSpPr>
          <p:cNvPr id="9" name="Rounded Rectangle 8"/>
          <p:cNvSpPr/>
          <p:nvPr/>
        </p:nvSpPr>
        <p:spPr>
          <a:xfrm>
            <a:off x="548640" y="1554480"/>
            <a:ext cx="19202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pp Services" descr="Official Azure icon: App Servic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80160" y="1627632"/>
            <a:ext cx="457200" cy="457200"/>
          </a:xfrm>
          <a:prstGeom prst="rect">
            <a:avLst/>
          </a:prstGeom>
        </p:spPr>
      </p:pic>
      <p:sp>
        <p:nvSpPr>
          <p:cNvPr id="11" name="TextBox 10"/>
          <p:cNvSpPr txBox="1"/>
          <p:nvPr/>
        </p:nvSpPr>
        <p:spPr>
          <a:xfrm>
            <a:off x="585216" y="2121408"/>
            <a:ext cx="1847088" cy="512064"/>
          </a:xfrm>
          <a:prstGeom prst="rect">
            <a:avLst/>
          </a:prstGeom>
          <a:noFill/>
        </p:spPr>
        <p:txBody>
          <a:bodyPr wrap="square" lIns="0" rIns="0" tIns="0" bIns="0" anchor="t">
            <a:noAutofit/>
          </a:bodyPr>
          <a:lstStyle/>
          <a:p>
            <a:pPr algn="ctr"/>
            <a:r>
              <a:rPr sz="1300" b="1" i="0">
                <a:solidFill>
                  <a:srgbClr val="000048"/>
                </a:solidFill>
                <a:latin typeface="Arial"/>
              </a:rPr>
              <a:t>Web front end</a:t>
            </a:r>
          </a:p>
          <a:p>
            <a:pPr algn="ctr"/>
            <a:r>
              <a:rPr sz="1200" b="0" i="0">
                <a:solidFill>
                  <a:srgbClr val="53565A"/>
                </a:solidFill>
                <a:latin typeface="Arial"/>
              </a:rPr>
              <a:t>App Service</a:t>
            </a:r>
          </a:p>
        </p:txBody>
      </p:sp>
      <p:sp>
        <p:nvSpPr>
          <p:cNvPr id="12" name="Rounded Rectangle 11"/>
          <p:cNvSpPr/>
          <p:nvPr/>
        </p:nvSpPr>
        <p:spPr>
          <a:xfrm>
            <a:off x="3108960" y="1554480"/>
            <a:ext cx="2286000" cy="1097280"/>
          </a:xfrm>
          <a:prstGeom prst="roundRect">
            <a:avLst>
              <a:gd name="adj" fmla="val 6666"/>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Container Apps Environments" descr="Official Azure icon: Container Apps Environmen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23360" y="1627632"/>
            <a:ext cx="457200" cy="457200"/>
          </a:xfrm>
          <a:prstGeom prst="rect">
            <a:avLst/>
          </a:prstGeom>
        </p:spPr>
      </p:pic>
      <p:sp>
        <p:nvSpPr>
          <p:cNvPr id="14" name="TextBox 13"/>
          <p:cNvSpPr txBox="1"/>
          <p:nvPr/>
        </p:nvSpPr>
        <p:spPr>
          <a:xfrm>
            <a:off x="3145536" y="2121408"/>
            <a:ext cx="2212848" cy="512064"/>
          </a:xfrm>
          <a:prstGeom prst="rect">
            <a:avLst/>
          </a:prstGeom>
          <a:noFill/>
        </p:spPr>
        <p:txBody>
          <a:bodyPr wrap="square" lIns="0" rIns="0" tIns="0" bIns="0" anchor="t">
            <a:noAutofit/>
          </a:bodyPr>
          <a:lstStyle/>
          <a:p>
            <a:pPr algn="ctr"/>
            <a:r>
              <a:rPr sz="1300" b="1" i="0">
                <a:solidFill>
                  <a:srgbClr val="000048"/>
                </a:solidFill>
                <a:latin typeface="Arial"/>
              </a:rPr>
              <a:t>Agent orchestration API</a:t>
            </a:r>
          </a:p>
          <a:p>
            <a:pPr algn="ctr"/>
            <a:r>
              <a:rPr sz="1200" b="0" i="0">
                <a:solidFill>
                  <a:srgbClr val="53565A"/>
                </a:solidFill>
                <a:latin typeface="Arial"/>
              </a:rPr>
              <a:t>Container Apps</a:t>
            </a:r>
          </a:p>
        </p:txBody>
      </p:sp>
      <p:sp>
        <p:nvSpPr>
          <p:cNvPr id="15" name="Rounded Rectangle 14"/>
          <p:cNvSpPr/>
          <p:nvPr/>
        </p:nvSpPr>
        <p:spPr>
          <a:xfrm>
            <a:off x="6035040" y="1554480"/>
            <a:ext cx="2103120"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300" b="1" i="0">
                <a:solidFill>
                  <a:srgbClr val="000048"/>
                </a:solidFill>
                <a:latin typeface="Arial"/>
              </a:rPr>
              <a:t>Knowledge sources and tools</a:t>
            </a:r>
          </a:p>
          <a:p>
            <a:pPr algn="ctr"/>
            <a:r>
              <a:rPr sz="1200" b="0" i="0">
                <a:solidFill>
                  <a:srgbClr val="53565A"/>
                </a:solidFill>
                <a:latin typeface="Arial"/>
              </a:rPr>
              <a:t>per workload</a:t>
            </a:r>
          </a:p>
        </p:txBody>
      </p:sp>
      <p:sp>
        <p:nvSpPr>
          <p:cNvPr id="16" name="Rounded Rectangle 15"/>
          <p:cNvSpPr/>
          <p:nvPr/>
        </p:nvSpPr>
        <p:spPr>
          <a:xfrm>
            <a:off x="3108960" y="3337560"/>
            <a:ext cx="228600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23360" y="3410712"/>
            <a:ext cx="457200" cy="457200"/>
          </a:xfrm>
          <a:prstGeom prst="rect">
            <a:avLst/>
          </a:prstGeom>
        </p:spPr>
      </p:pic>
      <p:sp>
        <p:nvSpPr>
          <p:cNvPr id="18" name="TextBox 17"/>
          <p:cNvSpPr txBox="1"/>
          <p:nvPr/>
        </p:nvSpPr>
        <p:spPr>
          <a:xfrm>
            <a:off x="3145536" y="3904488"/>
            <a:ext cx="221284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200" b="0" i="0">
                <a:solidFill>
                  <a:srgbClr val="53565A"/>
                </a:solidFill>
                <a:latin typeface="Arial"/>
              </a:rPr>
              <a:t>Microsoft Foundry</a:t>
            </a:r>
          </a:p>
        </p:txBody>
      </p:sp>
      <p:sp>
        <p:nvSpPr>
          <p:cNvPr id="19" name="Rounded Rectangle 18"/>
          <p:cNvSpPr/>
          <p:nvPr/>
        </p:nvSpPr>
        <p:spPr>
          <a:xfrm>
            <a:off x="6035040" y="3337560"/>
            <a:ext cx="210312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Azure Cosmos DB" descr="Official Azure icon: Azure Cosmos DB"/>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858000" y="3410712"/>
            <a:ext cx="457200" cy="457200"/>
          </a:xfrm>
          <a:prstGeom prst="rect">
            <a:avLst/>
          </a:prstGeom>
        </p:spPr>
      </p:pic>
      <p:sp>
        <p:nvSpPr>
          <p:cNvPr id="21" name="TextBox 20"/>
          <p:cNvSpPr txBox="1"/>
          <p:nvPr/>
        </p:nvSpPr>
        <p:spPr>
          <a:xfrm>
            <a:off x="6071616" y="3904488"/>
            <a:ext cx="2029967" cy="512064"/>
          </a:xfrm>
          <a:prstGeom prst="rect">
            <a:avLst/>
          </a:prstGeom>
          <a:noFill/>
        </p:spPr>
        <p:txBody>
          <a:bodyPr wrap="square" lIns="0" rIns="0" tIns="0" bIns="0" anchor="t">
            <a:noAutofit/>
          </a:bodyPr>
          <a:lstStyle/>
          <a:p>
            <a:pPr algn="ctr"/>
            <a:r>
              <a:rPr sz="1300" b="1" i="0">
                <a:solidFill>
                  <a:srgbClr val="000048"/>
                </a:solidFill>
                <a:latin typeface="Arial"/>
              </a:rPr>
              <a:t>Plans and state</a:t>
            </a:r>
          </a:p>
          <a:p>
            <a:pPr algn="ctr"/>
            <a:r>
              <a:rPr sz="1200" b="0" i="0">
                <a:solidFill>
                  <a:srgbClr val="53565A"/>
                </a:solidFill>
                <a:latin typeface="Arial"/>
              </a:rPr>
              <a:t>Azure Cosmos DB</a:t>
            </a:r>
          </a:p>
        </p:txBody>
      </p:sp>
      <p:sp>
        <p:nvSpPr>
          <p:cNvPr id="22" name="Rounded Rectangle 21"/>
          <p:cNvSpPr/>
          <p:nvPr/>
        </p:nvSpPr>
        <p:spPr>
          <a:xfrm>
            <a:off x="548640" y="3337560"/>
            <a:ext cx="19202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3" name="Azure icon: Container Registries" descr="Official Azure icon: Container Registrie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280160" y="3410712"/>
            <a:ext cx="457200" cy="457200"/>
          </a:xfrm>
          <a:prstGeom prst="rect">
            <a:avLst/>
          </a:prstGeom>
        </p:spPr>
      </p:pic>
      <p:sp>
        <p:nvSpPr>
          <p:cNvPr id="24" name="TextBox 23"/>
          <p:cNvSpPr txBox="1"/>
          <p:nvPr/>
        </p:nvSpPr>
        <p:spPr>
          <a:xfrm>
            <a:off x="585216" y="3904488"/>
            <a:ext cx="1847088" cy="512064"/>
          </a:xfrm>
          <a:prstGeom prst="rect">
            <a:avLst/>
          </a:prstGeom>
          <a:noFill/>
        </p:spPr>
        <p:txBody>
          <a:bodyPr wrap="square" lIns="0" rIns="0" tIns="0" bIns="0" anchor="t">
            <a:noAutofit/>
          </a:bodyPr>
          <a:lstStyle/>
          <a:p>
            <a:pPr algn="ctr"/>
            <a:r>
              <a:rPr sz="1300" b="1" i="0">
                <a:solidFill>
                  <a:srgbClr val="000048"/>
                </a:solidFill>
                <a:latin typeface="Arial"/>
              </a:rPr>
              <a:t>Images</a:t>
            </a:r>
          </a:p>
          <a:p>
            <a:pPr algn="ctr"/>
            <a:r>
              <a:rPr sz="1200" b="0" i="0">
                <a:solidFill>
                  <a:srgbClr val="53565A"/>
                </a:solidFill>
                <a:latin typeface="Arial"/>
              </a:rPr>
              <a:t>Container Registry</a:t>
            </a:r>
          </a:p>
        </p:txBody>
      </p:sp>
      <p:cxnSp>
        <p:nvCxnSpPr>
          <p:cNvPr id="25" name="Connector (flow)"/>
          <p:cNvCxnSpPr/>
          <p:nvPr/>
        </p:nvCxnSpPr>
        <p:spPr>
          <a:xfrm>
            <a:off x="2468880" y="210312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flow)"/>
          <p:cNvCxnSpPr/>
          <p:nvPr/>
        </p:nvCxnSpPr>
        <p:spPr>
          <a:xfrm>
            <a:off x="5394960" y="210312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flow)"/>
          <p:cNvCxnSpPr/>
          <p:nvPr/>
        </p:nvCxnSpPr>
        <p:spPr>
          <a:xfrm>
            <a:off x="4251960" y="2743200"/>
            <a:ext cx="0" cy="59436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flow)"/>
          <p:cNvCxnSpPr/>
          <p:nvPr/>
        </p:nvCxnSpPr>
        <p:spPr>
          <a:xfrm>
            <a:off x="5394960" y="2514600"/>
            <a:ext cx="3657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9" name="Connector (flow)"/>
          <p:cNvCxnSpPr/>
          <p:nvPr/>
        </p:nvCxnSpPr>
        <p:spPr>
          <a:xfrm>
            <a:off x="5760720" y="2514600"/>
            <a:ext cx="0" cy="13258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0" name="Connector (flow)"/>
          <p:cNvCxnSpPr/>
          <p:nvPr/>
        </p:nvCxnSpPr>
        <p:spPr>
          <a:xfrm>
            <a:off x="5760720" y="3840480"/>
            <a:ext cx="2743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31" name="Table"/>
          <p:cNvGraphicFramePr>
            <a:graphicFrameLocks noGrp="1"/>
          </p:cNvGraphicFramePr>
          <p:nvPr/>
        </p:nvGraphicFramePr>
        <p:xfrm>
          <a:off x="8503920" y="1554480"/>
          <a:ext cx="3136392" cy="2392680"/>
        </p:xfrm>
        <a:graphic>
          <a:graphicData uri="http://schemas.openxmlformats.org/drawingml/2006/table">
            <a:tbl>
              <a:tblPr firstRow="1" bandRow="0">
                <a:tableStyleId>{5C22544A-7EE6-4342-B048-85BDC9FD1C3A}</a:tableStyleId>
              </a:tblPr>
              <a:tblGrid>
                <a:gridCol w="1143000"/>
                <a:gridCol w="914400"/>
                <a:gridCol w="1078992"/>
              </a:tblGrid>
              <a:tr h="259080">
                <a:tc>
                  <a:txBody>
                    <a:bodyPr wrap="square" anchor="ctr">
                      <a:noAutofit/>
                    </a:bodyPr>
                    <a:lstStyle/>
                    <a:p>
                      <a:pPr algn="l"/>
                      <a:r>
                        <a:rPr sz="1200" b="1" i="0">
                          <a:solidFill>
                            <a:srgbClr val="FFFFFF"/>
                          </a:solidFill>
                          <a:latin typeface="Arial"/>
                        </a:rPr>
                        <a:t>Component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Stop action</a:t>
                      </a:r>
                    </a:p>
                  </a:txBody>
                  <a:tcPr marL="73152" marR="73152" marT="36576" marB="36576" anchor="ctr">
                    <a:solidFill>
                      <a:srgbClr val="000048"/>
                    </a:solidFill>
                  </a:tcPr>
                </a:tc>
              </a:tr>
              <a:tr h="426720">
                <a:tc>
                  <a:txBody>
                    <a:bodyPr wrap="square" anchor="ctr">
                      <a:noAutofit/>
                    </a:bodyPr>
                    <a:lstStyle/>
                    <a:p>
                      <a:pPr algn="l"/>
                      <a:r>
                        <a:rPr sz="1200" b="1" i="0">
                          <a:solidFill>
                            <a:srgbClr val="1E1E2E"/>
                          </a:solidFill>
                          <a:latin typeface="Arial"/>
                        </a:rPr>
                        <a:t>Front end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 app team</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Block at ingress</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Orchestration API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Scale to zero or isolate</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Tools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Tool owners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Deny at tool side</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Model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Deny at gateway</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State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with Data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Freeze writes</a:t>
                      </a:r>
                    </a:p>
                  </a:txBody>
                  <a:tcPr marL="73152" marR="73152" marT="36576" marB="36576" anchor="ctr">
                    <a:solidFill>
                      <a:srgbClr val="FFFFFF"/>
                    </a:solidFill>
                  </a:tcPr>
                </a:tc>
              </a:tr>
            </a:tbl>
          </a:graphicData>
        </a:graphic>
      </p:graphicFrame>
      <p:sp>
        <p:nvSpPr>
          <p:cNvPr id="32" name="TextBox 31"/>
          <p:cNvSpPr txBox="1"/>
          <p:nvPr/>
        </p:nvSpPr>
        <p:spPr>
          <a:xfrm>
            <a:off x="548640" y="5852160"/>
            <a:ext cx="11064240" cy="256032"/>
          </a:xfrm>
          <a:prstGeom prst="rect">
            <a:avLst/>
          </a:prstGeom>
          <a:noFill/>
        </p:spPr>
        <p:txBody>
          <a:bodyPr wrap="square" lIns="0" rIns="0" tIns="0" bIns="0" anchor="t">
            <a:noAutofit/>
          </a:bodyPr>
          <a:lstStyle/>
          <a:p>
            <a:pPr algn="l"/>
            <a:r>
              <a:rPr sz="1200" b="1" i="0">
                <a:solidFill>
                  <a:srgbClr val="7373D8"/>
                </a:solidFill>
                <a:latin typeface="Arial"/>
              </a:rPr>
              <a:t>Adapted from Microsoft source; owners and stop actions are proposed</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Upendra Kumar</dc:creator>
  <lastModifiedBy>Upendra Kumar</lastModifiedBy>
  <dc:title>Agent Governance and Operations v4.0</dc:title>
  <dcterms:created xsi:type="dcterms:W3CDTF">2026-10-10T13:56:28.3080000Z</dcterms:created>
  <dcterms:modified xsi:type="dcterms:W3CDTF">2026-10-10T13:56:28.3090000Z</dcterms:modified>
  <dc:subject>Proposed CIS Infra GTM offering for internal leadership review</dc:subject>
</coreProperties>
</file>