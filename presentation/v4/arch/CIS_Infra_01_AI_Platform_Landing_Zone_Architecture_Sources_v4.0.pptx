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4.svg" ContentType="image/svg+xml"/>
  <Override PartName="/ppt/media/image16.svg" ContentType="image/svg+xml"/>
  <Override PartName="/ppt/media/image18.svg" ContentType="image/svg+xml"/>
  <Override PartName="/ppt/media/image20.svg" ContentType="image/svg+xml"/>
  <Override PartName="/ppt/media/image22.svg" ContentType="image/svg+xml"/>
  <Override PartName="/ppt/media/image24.svg" ContentType="image/svg+xml"/>
  <Override PartName="/ppt/media/image26.svg" ContentType="image/svg+xml"/>
  <Override PartName="/ppt/media/image28.svg" ContentType="image/svg+xml"/>
  <Override PartName="/ppt/media/image30.svg" ContentType="image/svg+xml"/>
  <Override PartName="/ppt/media/image32.svg" ContentType="image/svg+xml"/>
  <Override PartName="/ppt/media/image34.svg" ContentType="image/svg+xml"/>
  <Override PartName="/ppt/media/image36.svg" ContentType="image/svg+xml"/>
  <Override PartName="/ppt/media/image38.svg" ContentType="image/svg+xml"/>
  <Override PartName="/ppt/media/image40.svg" ContentType="image/svg+xml"/>
  <Override PartName="/ppt/media/image42.svg" ContentType="image/svg+xml"/>
  <Override PartName="/ppt/media/image44.svg" ContentType="image/svg+xml"/>
  <Override PartName="/ppt/media/image46.svg" ContentType="image/svg+xml"/>
  <Override PartName="/ppt/media/image48.svg" ContentType="image/svg+xml"/>
  <Override PartName="/ppt/media/image50.svg" ContentType="image/svg+xml"/>
  <Override PartName="/ppt/media/image54.svg" ContentType="image/svg+xml"/>
  <Override PartName="/ppt/media/image56.svg" ContentType="image/svg+xml"/>
  <Override PartName="/ppt/media/image58.svg" ContentType="image/svg+xml"/>
  <Override PartName="/ppt/media/image60.svg" ContentType="image/svg+xml"/>
  <Override PartName="/ppt/media/image62.svg" ContentType="image/svg+xml"/>
  <Override PartName="/ppt/media/image64.svg" ContentType="image/svg+xml"/>
  <Override PartName="/ppt/media/image66.svg" ContentType="image/svg+xml"/>
  <Override PartName="/ppt/notesMasters/notesMaster1.xml" ContentType="application/vnd.openxmlformats-officedocument.presentationml.notesMaster+xml"/>
  <Override PartName="/ppt/notesMasters/theme/theme6.xml" ContentType="application/vnd.openxmlformats-officedocument.theme+xml"/>
  <Override PartName="/ppt/notesSlides/notesSlide14.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9.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theme/theme2.xml" ContentType="application/vnd.openxmlformats-officedocument.theme+xml"/>
  <Override PartName="/ppt/slideMasters/theme/theme3.xml" ContentType="application/vnd.openxmlformats-officedocument.theme+xml"/>
  <Override PartName="/ppt/slideMasters/theme/theme4.xml" ContentType="application/vnd.openxmlformats-officedocument.theme+xml"/>
  <Override PartName="/ppt/slideMasters/theme/theme5.xml" ContentType="application/vnd.openxmlformats-officedocument.theme+xml"/>
  <Override PartName="/ppt/slides/slide14.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9.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64f9a23884c44625" Type="http://schemas.openxmlformats.org/officeDocument/2006/relationships/officeDocument" Target="ppt/presentation.xml"/><Relationship Id="R84e71566a1d647f7" Type="http://schemas.openxmlformats.org/officeDocument/2006/relationships/extended-properties" Target="docProps/app.xml"/><Relationship Id="Rc4e4969fe66e4fc1" Type="http://schemas.openxmlformats.org/package/2006/relationships/metadata/core-properties" Target="docProps/core.xml"/></Relationships>
</file>

<file path=ppt/presentation.xml><?xml version="1.0" encoding="utf-8"?>
<p:presentation xmlns:p="http://schemas.openxmlformats.org/presentationml/2006/main">
  <p:sldMasterIdLst>
    <p:sldMasterId xmlns:r="http://schemas.openxmlformats.org/officeDocument/2006/relationships" id="2147483648" r:id="Rac94335601d14db8"/>
    <p:sldMasterId xmlns:r="http://schemas.openxmlformats.org/officeDocument/2006/relationships" id="2147483655" r:id="Re562c2e4671348aa"/>
    <p:sldMasterId xmlns:r="http://schemas.openxmlformats.org/officeDocument/2006/relationships" id="2147483663" r:id="Rb87cb585fe274448"/>
    <p:sldMasterId xmlns:r="http://schemas.openxmlformats.org/officeDocument/2006/relationships" id="2147483666" r:id="R50e5873738a341b1"/>
  </p:sldMasterIdLst>
  <p:notesMasterIdLst>
    <p:notesMasterId xmlns:r="http://schemas.openxmlformats.org/officeDocument/2006/relationships" r:id="Ra3f0ebc3c09b4434"/>
  </p:notesMasterIdLst>
  <p:sldIdLst>
    <p:sldId xmlns:ns0="http://schemas.openxmlformats.org/officeDocument/2006/relationships" id="261" ns0:id="rId14"/>
    <p:sldId xmlns:ns0="http://schemas.openxmlformats.org/officeDocument/2006/relationships" id="269" ns0:id="rId22"/>
    <p:sldId xmlns:ns0="http://schemas.openxmlformats.org/officeDocument/2006/relationships" id="271" ns0:id="rId24"/>
    <p:sldId xmlns:ns0="http://schemas.openxmlformats.org/officeDocument/2006/relationships" id="272" ns0:id="rId25"/>
    <p:sldId xmlns:ns0="http://schemas.openxmlformats.org/officeDocument/2006/relationships" id="273" ns0:id="rId26"/>
    <p:sldId xmlns:ns0="http://schemas.openxmlformats.org/officeDocument/2006/relationships" id="284" ns0:id="rId3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0310443a3f9f4403" Type="http://schemas.openxmlformats.org/officeDocument/2006/relationships/tableStyles" Target="tableStyles.xml"/><Relationship Id="R3569cfc98731471b" Type="http://schemas.openxmlformats.org/officeDocument/2006/relationships/theme" Target="theme/theme1.xml"/><Relationship Id="R50e5873738a341b1" Type="http://schemas.openxmlformats.org/officeDocument/2006/relationships/slideMaster" Target="slideMasters/slideMaster4.xml"/><Relationship Id="R54772863d9b446e6" Type="http://schemas.openxmlformats.org/officeDocument/2006/relationships/presProps" Target="presProps.xml"/><Relationship Id="Ra3f0ebc3c09b4434" Type="http://schemas.openxmlformats.org/officeDocument/2006/relationships/notesMaster" Target="notesMasters/notesMaster1.xml"/><Relationship Id="Rac94335601d14db8" Type="http://schemas.openxmlformats.org/officeDocument/2006/relationships/slideMaster" Target="slideMasters/slideMaster1.xml"/><Relationship Id="Rb87cb585fe274448" Type="http://schemas.openxmlformats.org/officeDocument/2006/relationships/slideMaster" Target="slideMasters/slideMaster3.xml"/><Relationship Id="Re562c2e4671348aa" Type="http://schemas.openxmlformats.org/officeDocument/2006/relationships/slideMaster" Target="slideMasters/slideMaster2.xml"/><Relationship Id="rId14" Type="http://schemas.openxmlformats.org/officeDocument/2006/relationships/slide" Target="slides/slide6.xml"/><Relationship Id="rId22" Type="http://schemas.openxmlformats.org/officeDocument/2006/relationships/slide" Target="slides/slide14.xml"/><Relationship Id="rId24" Type="http://schemas.openxmlformats.org/officeDocument/2006/relationships/slide" Target="slides/slide16.xml"/><Relationship Id="rId25" Type="http://schemas.openxmlformats.org/officeDocument/2006/relationships/slide" Target="slides/slide17.xml"/><Relationship Id="rId26" Type="http://schemas.openxmlformats.org/officeDocument/2006/relationships/slide" Target="slides/slide18.xml"/><Relationship Id="rId37" Type="http://schemas.openxmlformats.org/officeDocument/2006/relationships/slide" Target="slides/slide29.xml"/></Relationships>
</file>

<file path=ppt/notesMasters/_rels/notesMaster1.xml.rels><?xml version='1.0' encoding='UTF-8' standalone='yes'?>
<Relationships xmlns="http://schemas.openxmlformats.org/package/2006/relationships"><Relationship Id="R214af957cecc4cfc" Type="http://schemas.openxmlformats.org/officeDocument/2006/relationships/theme" Target="theme/theme6.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6.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Read it in three steps. Users come in through a web firewall to the app. The app calls the Foundry project and model over private links, with data in AI Search and a Storage account. Everything outbound goes through the hub firewall, and every resource reports to shared monitoring and budgets. Shared platform on the left, separate production and non-production subscriptions on the right.</a:t>
            </a:r>
          </a:p>
          <a:p/>
          <a:p>
            <a:r>
              <a:t>Likely question: Is this the Microsoft design?</a:t>
            </a:r>
          </a:p>
          <a:p>
            <a:r>
              <a:t>Answer: It is our simplified adaptation of Microsoft’s AI Landing Zone reference, marked as proposed. Detailed network views are in the appendix.</a:t>
            </a:r>
          </a:p>
          <a:p/>
          <a:p>
            <a:r>
              <a:t>DETAIL AND CAVEATS</a:t>
            </a:r>
          </a:p>
          <a:p>
            <a:r>
              <a:t>Simplified, editable executive view. Adapted from the AI Landing Zone with platform landing zone diagram (04_AI-Landing-Zone-with-platform.png, source https://github.com/Azure/AI-Landing-Zones) and the Foundry baseline landing zone architecture. Not the original; detailed network and egress diagrams are in the appendix.</a:t>
            </a:r>
          </a:p>
          <a:p/>
          <a:p>
            <a:r>
              <a:t>Reading order: (1) users reach the workload through Application Gateway with WAF; (2) the app host calls the Foundry project and model deployment through private endpoints; (3) retrieval and state use AI Search and a Storage account; secrets in Key Vault; (4) outbound traffic routes through the hub firewall; (5) all resources send telemetry to Log Analytics and Application Insights and are governed by management-group policy and budgets. Identity: managed identities for workloads, Entra PIM for privileged operators.</a:t>
            </a:r>
          </a:p>
          <a:p/>
          <a:p>
            <a:r>
              <a:t>Storage label: the icon is the Azure Storage account; blob containers live inside it.</a:t>
            </a:r>
          </a:p>
          <a:p/>
          <a:p>
            <a:r>
              <a:t>Sources (checked 11 Oct 2026):</a:t>
            </a:r>
          </a:p>
          <a:p>
            <a:r>
              <a:t>Adapted from https://github.com/upendra25312/AI-Foundry-GTM-offering-/blob/main/architectures/04_AI-Landing-Zone-with-platform.png</a:t>
            </a:r>
          </a:p>
          <a:p>
            <a:r>
              <a:t>https://github.com/Azure/AI-Landing-Zones</a:t>
            </a:r>
          </a:p>
          <a:p>
            <a:r>
              <a:t>https://learn.microsoft.com/en-us/azure/architecture/ai-ml/architecture/baseline-microsoft-foundry-landing-zone</a:t>
            </a:r>
          </a:p>
          <a:p>
            <a:r>
              <a:t>Azure Architecture Icons (V24): https://learn.microsoft.com/en-us/azure/architecture/icons/</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"Management groups, subscriptions, policy and tags". Editable reconstruction of the management group and subscription layout from the AI Landing Zone diagram (04_AI-Landing-Zone-with-platform.png). AI resources sit in governed application landing-zone subscriptions, separate for production and non-production. Policy assignment at management group scope is inherited.</a:t>
            </a:r>
          </a:p>
          <a:p/>
          <a:p>
            <a:r>
              <a:t>Likely question: How firm is this, and who has agreed it?</a:t>
            </a:r>
          </a:p>
          <a:p>
            <a:r>
              <a:t>Answer: It is a proposal for leadership review. The detail and sources below show what is verified, what is an estimate and who still needs to agree it.</a:t>
            </a:r>
          </a:p>
          <a:p/>
          <a:p>
            <a:r>
              <a:t>DETAIL AND CAVEATS</a:t>
            </a:r>
          </a:p>
          <a:p>
            <a:r>
              <a:t>Editable reconstruction of the management group and subscription layout from the AI Landing Zone diagram (04_AI-Landing-Zone-with-platform.png). AI resources sit in governed application landing-zone subscriptions, separate for production and non-production. Policy assignment at management group scope is inherited.</a:t>
            </a:r>
          </a:p>
          <a:p/>
          <a:p>
            <a:r>
              <a:t>Sources (checked 11 Oct 2026):</a:t>
            </a:r>
          </a:p>
          <a:p>
            <a:r>
              <a:t>https://github.com/upendra25312/AI-Foundry-GTM-offering-/blob/main/architectures/04_AI-Landing-Zone-with-platform.png</a:t>
            </a:r>
          </a:p>
          <a:p>
            <a:r>
              <a:t>Cloud Adoption Framework: AI Ready: https://learn.microsoft.com/en-us/azure/cloud-adoption-framework/ai/ready</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"Hub connectivity, private endpoints and DNS". Editable reconstruction of 11_baseline-landing-zone-networking.png (Microsoft Foundry chat baseline in an Azure landing zone). The original PNG clips several labels ("Workload landing zo", "Azure Firewa") in its rendering, so it is kept only as a traceability reference in the original references pack. Subnet names follow the source.</a:t>
            </a:r>
          </a:p>
          <a:p/>
          <a:p>
            <a:r>
              <a:t>Likely question: How firm is this, and who has agreed it?</a:t>
            </a:r>
          </a:p>
          <a:p>
            <a:r>
              <a:t>Answer: It is a proposal for leadership review. The detail and sources below show what is verified, what is an estimate and who still needs to agree it.</a:t>
            </a:r>
          </a:p>
          <a:p/>
          <a:p>
            <a:r>
              <a:t>DETAIL AND CAVEATS</a:t>
            </a:r>
          </a:p>
          <a:p>
            <a:r>
              <a:t>Editable reconstruction of 11_baseline-landing-zone-networking.png (Microsoft Foundry chat baseline in an Azure landing zone). The original PNG clips several labels ("Workload landing zo", "Azure Firewa") in its rendering, so it is kept only as a traceability reference in the original references pack. Subnet names follow the source. Changes: simplified to one spoke, labels completed, flows numbered.</a:t>
            </a:r>
          </a:p>
          <a:p/>
          <a:p>
            <a:r>
              <a:t>Flows: (1) users reach Application Gateway with WAF in snet-appGateway; (2) App Service uses VNet integration (snet-appServicePlan) to reach private endpoints; (3) Foundry Agent Service egress uses snet-agentsEgress; (4) all private endpoints in snet-privateEndpoints resolve through hub-provided DNS (DNS Private Resolver and Private DNS zones for Private Link); (5) UDRs send workload egress to the hub firewall.</a:t>
            </a:r>
          </a:p>
          <a:p/>
          <a:p>
            <a:r>
              <a:t>Sources (checked 11 Oct 2026):</a:t>
            </a:r>
          </a:p>
          <a:p>
            <a:r>
              <a:t>https://github.com/upendra25312/AI-Foundry-GTM-offering-/blob/main/architectures/11_baseline-landing-zone-networking.png</a:t>
            </a:r>
          </a:p>
          <a:p>
            <a:r>
              <a:t>https://github.com/upendra25312/AI-Foundry-GTM-offering-/blob/main/architectures/05_baseline-landing-zone-networking.vsdx</a:t>
            </a:r>
          </a:p>
          <a:p>
            <a:r>
              <a:t>https://learn.microsoft.com/en-us/azure/architecture/ai-ml/architecture/baseline-microsoft-foundry-landing-zone</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"Controlled egress through the hub firewall". Editable reconstruction of 12_baseline-landing-zone-networking-egress.png. Where possible, all workload-originated internet-bound traffic flows through the hub firewall because of the 0.0.0.0/0 UDR. The source does not prove every managed service honours the same route; validate effective routes and supported egress per service before enforcing forced tunnelling.</a:t>
            </a:r>
          </a:p>
          <a:p/>
          <a:p>
            <a:r>
              <a:t>Likely question: How firm is this, and who has agreed it?</a:t>
            </a:r>
          </a:p>
          <a:p>
            <a:r>
              <a:t>Answer: It is a proposal for leadership review. The detail and sources below show what is verified, what is an estimate and who still needs to agree it.</a:t>
            </a:r>
          </a:p>
          <a:p/>
          <a:p>
            <a:r>
              <a:t>DETAIL AND CAVEATS</a:t>
            </a:r>
          </a:p>
          <a:p>
            <a:r>
              <a:t>Editable reconstruction of 12_baseline-landing-zone-networking-egress.png. Where possible, all workload-originated internet-bound traffic flows through the hub firewall because of the 0.0.0.0/0 UDR. The source does not prove every managed service honours the same route; validate effective routes and supported egress per service before enforcing forced tunnelling.</a:t>
            </a:r>
          </a:p>
          <a:p/>
          <a:p>
            <a:r>
              <a:t>Sources (checked 11 Oct 2026):</a:t>
            </a:r>
          </a:p>
          <a:p>
            <a:r>
              <a:t>https://github.com/upendra25312/AI-Foundry-GTM-offering-/blob/main/architectures/12_baseline-landing-zone-networking-egress.png</a:t>
            </a:r>
          </a:p>
          <a:p>
            <a:r>
              <a:t>https://github.com/upendra25312/AI-Foundry-GTM-offering-/blob/main/architectures/06_baseline-landing-zone-networking-egress.vsdx</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"Foundry workload baseline: request flow". Simplified, editable adaptation of 07_baseline-microsoft-foundry.png (Microsoft Foundry baseline chat architecture). Original preserved in the original references pack. The source labels the model as "Azure OpenAI model"; here it is shown as a Foundry model deployment, which is the current product framing.</a:t>
            </a:r>
          </a:p>
          <a:p/>
          <a:p>
            <a:r>
              <a:t>Likely question: How firm is this, and who has agreed it?</a:t>
            </a:r>
          </a:p>
          <a:p>
            <a:r>
              <a:t>Answer: It is a proposal for leadership review. The detail and sources below show what is verified, what is an estimate and who still needs to agree it.</a:t>
            </a:r>
          </a:p>
          <a:p/>
          <a:p>
            <a:r>
              <a:t>DETAIL AND CAVEATS</a:t>
            </a:r>
          </a:p>
          <a:p>
            <a:r>
              <a:t>Simplified, editable adaptation of 07_baseline-microsoft-foundry.png (Microsoft Foundry baseline chat architecture). Original preserved in the original references pack. The source labels the model as "Azure OpenAI model"; here it is shown as a Foundry model deployment, which is the current product framing.</a:t>
            </a:r>
          </a:p>
          <a:p/>
          <a:p>
            <a:r>
              <a:t>Steps: (1) user to Application Gateway with WAF; (2) App Service calls the Foundry agent through the Foundry private endpoint; (3) Foundry Agent Service runs in the Foundry project; (4) agent reaches dependencies through the agent integration subnet and private endpoints; (5) outbound internet calls go through Azure Firewall; (6) the agent calls the model deployment; (7) Foundry Agent Service dependencies (AI Search, Cosmos DB, Storage) hold threads and files.</a:t>
            </a:r>
          </a:p>
          <a:p/>
          <a:p>
            <a:r>
              <a:t>Sources (checked 11 Oct 2026):</a:t>
            </a:r>
          </a:p>
          <a:p>
            <a:r>
              <a:t>https://github.com/upendra25312/AI-Foundry-GTM-offering-/blob/main/architectures/07_baseline-microsoft-foundry.png</a:t>
            </a:r>
          </a:p>
          <a:p>
            <a:r>
              <a:t>https://github.com/upendra25312/AI-Foundry-GTM-offering-/blob/main/architectures/03_baseline-microsoft-foundry.vsdx</a:t>
            </a:r>
          </a:p>
          <a:p>
            <a:r>
              <a:t>https://learn.microsoft.com/en-us/azure/architecture/ai-ml/architecture/baseline-microsoft-foundry-chat</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Two questions customers always ask: where does the data come from, and what happens if a region fails. The data path is owned by the Data towers; we provide the private connectivity. For recovery there are three options, and the customer chooses based on cost and recovery time.</a:t>
            </a:r>
          </a:p>
          <a:p/>
          <a:p>
            <a:r>
              <a:t>Likely question: Can we promise a recovery time?</a:t>
            </a:r>
          </a:p>
          <a:p>
            <a:r>
              <a:t>Answer: Only after a tested failover. Model capacity in the second region is the usual constraint.</a:t>
            </a:r>
          </a:p>
          <a:p/>
          <a:p>
            <a:r>
              <a:t>DETAIL AND CAVEATS</a:t>
            </a:r>
          </a:p>
          <a:p>
            <a:r>
              <a:t>Data paths: documents in a Storage account, retrieval in AI Search, enterprise data through Microsoft Fabric and OneLake where the customer uses Fabric (Data tower owns design). DR options are customer choices with cost drivers; RTO and RPO must be tested per dependency. Model deployments may not have capacity in a second region on demand.</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239e75cfd1cc4abc"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abd07ab5f78149a7"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d9302c84203c48ad"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634241bc85ae4c7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f861045e69b14e70"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a7b814c8ca3840f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298d15c1849d417c" Type="http://schemas.openxmlformats.org/officeDocument/2006/relationships/image" Target="../media/image.png"/><Relationship Id="Rf2add38ed2ce453b"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2158411d075f466d" Type="http://schemas.openxmlformats.org/officeDocument/2006/relationships/image" Target="../media/image2.png"/><Relationship Id="R2c766725c11e4ac9"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46f2492711884366" Type="http://schemas.openxmlformats.org/officeDocument/2006/relationships/slideMaster" Target="../slideMasters/slideMaster4.xml"/><Relationship Id="Rf12105039f804078"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82f16bd3225744a2" Type="http://schemas.openxmlformats.org/officeDocument/2006/relationships/image" Target="../media/image4.png"/><Relationship Id="Rf8347490cbfa44f8"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88d60132230f4421" Type="http://schemas.openxmlformats.org/officeDocument/2006/relationships/slideMaster" Target="../slideMasters/slideMaster2.xml"/><Relationship Id="Rf1de68665da24603" Type="http://schemas.openxmlformats.org/officeDocument/2006/relationships/image" Target="../media/image5.png"/></Relationships>
</file>

<file path=ppt/slideLayouts/_rels/slideLayout12.xml.rels><?xml version='1.0' encoding='UTF-8' standalone='yes'?>
<Relationships xmlns="http://schemas.openxmlformats.org/package/2006/relationships"><Relationship Id="R33882fa3e3694f86" Type="http://schemas.openxmlformats.org/officeDocument/2006/relationships/slideMaster" Target="../slideMasters/slideMaster2.xml"/><Relationship Id="R681a98542d40472f" Type="http://schemas.openxmlformats.org/officeDocument/2006/relationships/image" Target="../media/image6.png"/></Relationships>
</file>

<file path=ppt/slideLayouts/_rels/slideLayout13.xml.rels><?xml version='1.0' encoding='UTF-8' standalone='yes'?>
<Relationships xmlns="http://schemas.openxmlformats.org/package/2006/relationships"><Relationship Id="R53c158dd22bd4552" Type="http://schemas.openxmlformats.org/officeDocument/2006/relationships/image" Target="../media/image7.png"/><Relationship Id="Radb767df053a44bf"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3f1fb268c94e499b" Type="http://schemas.openxmlformats.org/officeDocument/2006/relationships/slideMaster" Target="../slideMasters/slideMaster2.xml"/><Relationship Id="Rbc17ee00ae7c4253" Type="http://schemas.openxmlformats.org/officeDocument/2006/relationships/image" Target="../media/image8.png"/></Relationships>
</file>

<file path=ppt/slideLayouts/_rels/slideLayout15.xml.rels><?xml version='1.0' encoding='UTF-8' standalone='yes'?>
<Relationships xmlns="http://schemas.openxmlformats.org/package/2006/relationships"><Relationship Id="R2a4dc73f52214ef5" Type="http://schemas.openxmlformats.org/officeDocument/2006/relationships/slideMaster" Target="../slideMasters/slideMaster2.xml"/><Relationship Id="Rfd22619079854251" Type="http://schemas.openxmlformats.org/officeDocument/2006/relationships/image" Target="../media/image9.png"/></Relationships>
</file>

<file path=ppt/slideLayouts/_rels/slideLayout16.xml.rels><?xml version='1.0' encoding='UTF-8' standalone='yes'?>
<Relationships xmlns="http://schemas.openxmlformats.org/package/2006/relationships"><Relationship Id="R96ee4aaf91124207" Type="http://schemas.openxmlformats.org/officeDocument/2006/relationships/image" Target="../media/image10.png"/><Relationship Id="Ra2224d11fb44409e" Type="http://schemas.openxmlformats.org/officeDocument/2006/relationships/slideMaster" Target="../slideMasters/slideMaster3.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B3C62BE-6266-4FD7-A134-B94FB4390B5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2FB86A6-41C3-4C5B-A646-A13982E6EB4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69C775D-47F2-48A9-8A22-0C2377E85A6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5C8EC57-8628-4F66-8C10-9FBC9A7441D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C3CC55F-B37A-4AA3-86A4-40BE777C9FB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DFE6414-6D1A-4BA5-A89E-40924220802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5021ED1-1B7C-41CB-9EA7-75E534190F4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56D015F-3F62-4C89-AE20-108E397F67F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6EA3482-BC64-4792-A439-94F33F45036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E84684B-9BE8-449B-99FE-62DBE50807D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Layouts/slideLayout7.xml><?xml version="1.0" encoding="utf-8"?>
<p:sldLayout xmlns:p="http://schemas.openxmlformats.org/presentationml/2006/main">
  <p:cSld name="01 Cover">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C3CAC20D-6B8E-4E11-84C7-B8C6C8C13467}"/>
              </a:ext>
            </a:extLst>
          </p:cNvPr>
          <p:cNvPicPr>
            <a:picLocks xmlns:a="http://schemas.openxmlformats.org/drawingml/2006/main" noChangeAspect="1"/>
          </p:cNvPicPr>
          <p:nvPr/>
        </p:nvPicPr>
        <p:blipFill>
          <a:blip xmlns:r="http://schemas.openxmlformats.org/officeDocument/2006/relationships" xmlns:a="http://schemas.openxmlformats.org/drawingml/2006/main" r:embed="R298d15c1849d417c"/>
          <a:stretch xmlns:a="http://schemas.openxmlformats.org/drawingml/2006/main"/>
        </p:blipFill>
        <p:spPr>
          <a:xfrm xmlns:a="http://schemas.openxmlformats.org/drawingml/2006/main">
            <a:off x="687813" y="552450"/>
            <a:ext cx="2567724" cy="460362"/>
          </a:xfrm>
          <a:prstGeom xmlns:a="http://schemas.openxmlformats.org/drawingml/2006/main" prst="rect">
            <a:avLst/>
          </a:prstGeom>
        </p:spPr>
      </p:pic>
      <p:sp>
        <p:nvSpPr>
          <p:cNvPr id="2" name="placeholder_1">
            <a:extLst xmlns:a="http://schemas.openxmlformats.org/drawingml/2006/main">
              <a:ext uri="{FF2B5EF4-FFF2-40B4-BE49-F238E27FC236}">
                <a16:creationId xmlns:a16="http://schemas.microsoft.com/office/drawing/2014/main" id="{AC9D4263-9EE3-4FAD-8E35-B98A0454EE69}"/>
              </a:ext>
            </a:extLst>
          </p:cNvPr>
          <p:cNvSpPr>
            <a:spLocks xmlns:a="http://schemas.openxmlformats.org/drawingml/2006/main" noGrp="1"/>
          </p:cNvSpPr>
          <p:nvPr>
            <p:ph type="title" idx="0"/>
          </p:nvPr>
        </p:nvSpPr>
        <p:spPr>
          <a:xfrm xmlns:a="http://schemas.openxmlformats.org/drawingml/2006/main">
            <a:off x="685800" y="2143125"/>
            <a:ext cx="10572750" cy="1571625"/>
          </a:xfrm>
          <a:prstGeom xmlns:a="http://schemas.openxmlformats.org/drawingml/2006/main" prst="rect">
            <a:avLst/>
          </a:prstGeom>
        </p:spPr>
        <p:txBody>
          <a:bodyPr xmlns:a="http://schemas.openxmlformats.org/drawingml/2006/main"/>
          <a:lstStyle xmlns:a="http://schemas.openxmlformats.org/drawingml/2006/main">
            <a:defPPr>
              <a:defRPr sz="4800">
                <a:solidFill>
                  <a:schemeClr val="lt1"/>
                </a:solidFill>
              </a:defRPr>
            </a:defPPr>
          </a:lstStyle>
          <a:p xmlns:a="http://schemas.openxmlformats.org/drawingml/2006/main">
            <a:pPr>
              <a:defRPr sz="4800">
                <a:solidFill>
                  <a:schemeClr val="lt1"/>
                </a:solidFill>
              </a:defRPr>
            </a:pPr>
            <a:r>
              <a:rPr sz="4800">
                <a:solidFill>
                  <a:schemeClr val="lt1"/>
                </a:solidFill>
              </a:rPr>
              <a:t>[Slide title]</a:t>
            </a:r>
          </a:p>
        </p:txBody>
      </p:sp>
      <p:sp>
        <p:nvSpPr>
          <p:cNvPr id="3" name="placeholder_2">
            <a:extLst xmlns:a="http://schemas.openxmlformats.org/drawingml/2006/main">
              <a:ext uri="{FF2B5EF4-FFF2-40B4-BE49-F238E27FC236}">
                <a16:creationId xmlns:a16="http://schemas.microsoft.com/office/drawing/2014/main" id="{1115CABD-2ED3-4D69-8532-C5C8419DEDC6}"/>
              </a:ext>
            </a:extLst>
          </p:cNvPr>
          <p:cNvSpPr>
            <a:spLocks xmlns:a="http://schemas.openxmlformats.org/drawingml/2006/main" noGrp="1"/>
          </p:cNvSpPr>
          <p:nvPr>
            <p:ph type="subTitle" idx="1"/>
          </p:nvPr>
        </p:nvSpPr>
        <p:spPr>
          <a:xfrm xmlns:a="http://schemas.openxmlformats.org/drawingml/2006/main">
            <a:off x="685800" y="4000500"/>
            <a:ext cx="10477500" cy="809625"/>
          </a:xfrm>
          <a:prstGeom xmlns:a="http://schemas.openxmlformats.org/drawingml/2006/main" prst="rect">
            <a:avLst/>
          </a:prstGeom>
        </p:spPr>
        <p:txBody>
          <a:bodyPr xmlns:a="http://schemas.openxmlformats.org/drawingml/2006/main"/>
          <a:lstStyle xmlns:a="http://schemas.openxmlformats.org/drawingml/2006/main">
            <a:defPPr>
              <a:defRPr sz="2250">
                <a:solidFill>
                  <a:schemeClr val="accent3"/>
                </a:solidFill>
              </a:defRPr>
            </a:defPPr>
          </a:lstStyle>
          <a:p xmlns:a="http://schemas.openxmlformats.org/drawingml/2006/main">
            <a:pPr>
              <a:defRPr sz="2250">
                <a:solidFill>
                  <a:schemeClr val="accent3"/>
                </a:solidFill>
              </a:defRPr>
            </a:pPr>
            <a:r>
              <a:rPr sz="2250">
                <a:solidFill>
                  <a:schemeClr val="accent3"/>
                </a:solidFill>
              </a:rPr>
              <a:t>[Replace with content]</a:t>
            </a:r>
          </a:p>
        </p:txBody>
      </p:sp>
      <p:sp>
        <p:nvSpPr>
          <p:cNvPr id="4" name="placeholder_3">
            <a:extLst xmlns:a="http://schemas.openxmlformats.org/drawingml/2006/main">
              <a:ext uri="{FF2B5EF4-FFF2-40B4-BE49-F238E27FC236}">
                <a16:creationId xmlns:a16="http://schemas.microsoft.com/office/drawing/2014/main" id="{6EAB9A1B-F3BD-4075-A0CF-2C38B41B854B}"/>
              </a:ext>
            </a:extLst>
          </p:cNvPr>
          <p:cNvSpPr>
            <a:spLocks xmlns:a="http://schemas.openxmlformats.org/drawingml/2006/main" noGrp="1"/>
          </p:cNvSpPr>
          <p:nvPr>
            <p:ph type="body" idx="2"/>
          </p:nvPr>
        </p:nvSpPr>
        <p:spPr>
          <a:xfrm xmlns:a="http://schemas.openxmlformats.org/drawingml/2006/main">
            <a:off x="685800" y="5619750"/>
            <a:ext cx="10477500" cy="428625"/>
          </a:xfrm>
          <a:prstGeom xmlns:a="http://schemas.openxmlformats.org/drawingml/2006/main" prst="rect">
            <a:avLst/>
          </a:prstGeom>
        </p:spPr>
        <p:txBody>
          <a:bodyPr xmlns:a="http://schemas.openxmlformats.org/drawingml/2006/main"/>
          <a:lstStyle xmlns:a="http://schemas.openxmlformats.org/drawingml/2006/main">
            <a:defPPr>
              <a:defRPr sz="1650">
                <a:solidFill>
                  <a:schemeClr val="lt1"/>
                </a:solidFill>
              </a:defRPr>
            </a:defPPr>
          </a:lstStyle>
          <a:p xmlns:a="http://schemas.openxmlformats.org/drawingml/2006/main">
            <a:pPr>
              <a:defRPr sz="1650">
                <a:solidFill>
                  <a:schemeClr val="lt1"/>
                </a:solidFill>
              </a:defRPr>
            </a:pPr>
            <a:r>
              <a:rPr sz="1650">
                <a:solidFill>
                  <a:schemeClr val="lt1"/>
                </a:solidFill>
              </a:rPr>
              <a:t>[Replace with content]</a:t>
            </a:r>
          </a:p>
        </p:txBody>
      </p:sp>
    </p:spTree>
  </p:cSld>
</p:sldLayout>
</file>

<file path=ppt/slideLayouts/slideLayout8.xml><?xml version="1.0" encoding="utf-8"?>
<p:sldLayout xmlns:p="http://schemas.openxmlformats.org/presentationml/2006/main">
  <p:cSld name="02 Title and Content">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7DB4555F-6ABF-4DE0-8B76-AD58059BD759}"/>
              </a:ext>
            </a:extLst>
          </p:cNvPr>
          <p:cNvPicPr>
            <a:picLocks xmlns:a="http://schemas.openxmlformats.org/drawingml/2006/main" noChangeAspect="1"/>
          </p:cNvPicPr>
          <p:nvPr/>
        </p:nvPicPr>
        <p:blipFill>
          <a:blip xmlns:r="http://schemas.openxmlformats.org/officeDocument/2006/relationships" xmlns:a="http://schemas.openxmlformats.org/drawingml/2006/main" r:embed="R2158411d075f466d"/>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F642780-5767-4422-A542-3310DC827E43}"/>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C4AA11AF-3988-4E59-B3EC-36105FD3A00E}"/>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50F4AE85-0251-4AA0-B4DE-399139D72B29}"/>
              </a:ext>
            </a:extLst>
          </p:cNvPr>
          <p:cNvSpPr>
            <a:spLocks xmlns:a="http://schemas.openxmlformats.org/drawingml/2006/main" noGrp="1"/>
          </p:cNvSpPr>
          <p:nvPr>
            <p:ph type="body" idx="1"/>
          </p:nvPr>
        </p:nvSpPr>
        <p:spPr>
          <a:xfrm xmlns:a="http://schemas.openxmlformats.org/drawingml/2006/main">
            <a:off x="685800" y="2095500"/>
            <a:ext cx="10820400" cy="3571875"/>
          </a:xfrm>
          <a:prstGeom xmlns:a="http://schemas.openxmlformats.org/drawingml/2006/main" prst="rect">
            <a:avLst/>
          </a:prstGeom>
        </p:spPr>
        <p:txBody>
          <a:bodyPr xmlns:a="http://schemas.openxmlformats.org/drawingml/2006/main"/>
          <a:lstStyle xmlns:a="http://schemas.openxmlformats.org/drawingml/2006/main">
            <a:defPPr>
              <a:defRPr sz="1950">
                <a:solidFill>
                  <a:schemeClr val="tx1"/>
                </a:solidFill>
              </a:defRPr>
            </a:defPPr>
          </a:lstStyle>
          <a:p xmlns:a="http://schemas.openxmlformats.org/drawingml/2006/main">
            <a:pPr>
              <a:defRPr sz="1950">
                <a:solidFill>
                  <a:schemeClr val="tx1"/>
                </a:solidFill>
              </a:defRPr>
            </a:pPr>
            <a:r>
              <a:rPr sz="1950">
                <a:solidFill>
                  <a:schemeClr val="tx1"/>
                </a:solidFill>
              </a:rPr>
              <a:t>[Replace with content]</a:t>
            </a:r>
          </a:p>
        </p:txBody>
      </p:sp>
    </p:spTree>
  </p:cSld>
</p:sldLayout>
</file>

<file path=ppt/slideLayouts/slideLayout9.xml><?xml version="1.0" encoding="utf-8"?>
<p:sldLayout xmlns:p="http://schemas.openxmlformats.org/presentationml/2006/main">
  <p:cSld name="03 Section Divider">
    <p:spTree>
      <p:nvGrpSpPr>
        <p:cNvPr id="1" name=""/>
        <p:cNvGrpSpPr/>
        <p:nvPr/>
      </p:nvGrpSpPr>
      <p:grpSpPr>
        <a:xfrm xmlns:a="http://schemas.openxmlformats.org/drawingml/2006/main"/>
      </p:grpSpPr>
      <p:pic>
        <p:nvPicPr>
          <p:cNvPr id="4" name="">
            <a:extLst xmlns:a="http://schemas.openxmlformats.org/drawingml/2006/main">
              <a:ext uri="{FF2B5EF4-FFF2-40B4-BE49-F238E27FC236}">
                <a16:creationId xmlns:a16="http://schemas.microsoft.com/office/drawing/2014/main" id="{68E9DC5D-4FF1-4D21-9CE6-A33830CEDB0C}"/>
              </a:ext>
            </a:extLst>
          </p:cNvPr>
          <p:cNvPicPr>
            <a:picLocks xmlns:a="http://schemas.openxmlformats.org/drawingml/2006/main" noChangeAspect="1"/>
          </p:cNvPicPr>
          <p:nvPr/>
        </p:nvPicPr>
        <p:blipFill>
          <a:blip xmlns:r="http://schemas.openxmlformats.org/officeDocument/2006/relationships" xmlns:a="http://schemas.openxmlformats.org/drawingml/2006/main" r:embed="Rf12105039f804078"/>
          <a:stretch xmlns:a="http://schemas.openxmlformats.org/drawingml/2006/main"/>
        </p:blipFill>
        <p:spPr>
          <a:xfrm xmlns:a="http://schemas.openxmlformats.org/drawingml/2006/main">
            <a:off x="686062" y="552450"/>
            <a:ext cx="2571227" cy="460362"/>
          </a:xfrm>
          <a:prstGeom xmlns:a="http://schemas.openxmlformats.org/drawingml/2006/main" prst="rect">
            <a:avLst/>
          </a:prstGeom>
        </p:spPr>
      </p:pic>
      <p:sp>
        <p:nvSpPr>
          <p:cNvPr id="2" name="placeholder_1">
            <a:extLst xmlns:a="http://schemas.openxmlformats.org/drawingml/2006/main">
              <a:ext uri="{FF2B5EF4-FFF2-40B4-BE49-F238E27FC236}">
                <a16:creationId xmlns:a16="http://schemas.microsoft.com/office/drawing/2014/main" id="{6BBB9219-B0FC-427D-90E8-1F67F5B5CDA3}"/>
              </a:ext>
            </a:extLst>
          </p:cNvPr>
          <p:cNvSpPr>
            <a:spLocks xmlns:a="http://schemas.openxmlformats.org/drawingml/2006/main" noGrp="1"/>
          </p:cNvSpPr>
          <p:nvPr>
            <p:ph type="title" idx="0"/>
          </p:nvPr>
        </p:nvSpPr>
        <p:spPr>
          <a:xfrm xmlns:a="http://schemas.openxmlformats.org/drawingml/2006/main">
            <a:off x="685800" y="2762250"/>
            <a:ext cx="10477500" cy="1143000"/>
          </a:xfrm>
          <a:prstGeom xmlns:a="http://schemas.openxmlformats.org/drawingml/2006/main" prst="rect">
            <a:avLst/>
          </a:prstGeom>
        </p:spPr>
        <p:txBody>
          <a:bodyPr xmlns:a="http://schemas.openxmlformats.org/drawingml/2006/main"/>
          <a:lstStyle xmlns:a="http://schemas.openxmlformats.org/drawingml/2006/main">
            <a:defPPr>
              <a:defRPr sz="4800">
                <a:solidFill>
                  <a:schemeClr val="tx1"/>
                </a:solidFill>
              </a:defRPr>
            </a:defPPr>
          </a:lstStyle>
          <a:p xmlns:a="http://schemas.openxmlformats.org/drawingml/2006/main">
            <a:pPr>
              <a:defRPr sz="4800">
                <a:solidFill>
                  <a:schemeClr val="tx1"/>
                </a:solidFill>
              </a:defRPr>
            </a:pPr>
            <a:r>
              <a:rPr sz="4800">
                <a:solidFill>
                  <a:schemeClr val="tx1"/>
                </a:solidFill>
              </a:rPr>
              <a:t>[Slide title]</a:t>
            </a:r>
          </a:p>
        </p:txBody>
      </p:sp>
      <p:sp>
        <p:nvSpPr>
          <p:cNvPr id="3" name="placeholder_2">
            <a:extLst xmlns:a="http://schemas.openxmlformats.org/drawingml/2006/main">
              <a:ext uri="{FF2B5EF4-FFF2-40B4-BE49-F238E27FC236}">
                <a16:creationId xmlns:a16="http://schemas.microsoft.com/office/drawing/2014/main" id="{6194A791-D7D0-46D9-B4BD-E57324440CA5}"/>
              </a:ext>
            </a:extLst>
          </p:cNvPr>
          <p:cNvSpPr>
            <a:spLocks xmlns:a="http://schemas.openxmlformats.org/drawingml/2006/main" noGrp="1"/>
          </p:cNvSpPr>
          <p:nvPr>
            <p:ph type="body" idx="1"/>
          </p:nvPr>
        </p:nvSpPr>
        <p:spPr>
          <a:xfrm xmlns:a="http://schemas.openxmlformats.org/drawingml/2006/main">
            <a:off x="685800" y="4191000"/>
            <a:ext cx="9525000" cy="685800"/>
          </a:xfrm>
          <a:prstGeom xmlns:a="http://schemas.openxmlformats.org/drawingml/2006/main" prst="rect">
            <a:avLst/>
          </a:prstGeom>
        </p:spPr>
        <p:txBody>
          <a:bodyPr xmlns:a="http://schemas.openxmlformats.org/drawingml/2006/main"/>
          <a:lstStyle xmlns:a="http://schemas.openxmlformats.org/drawingml/2006/main">
            <a:defPPr>
              <a:defRPr sz="2250">
                <a:solidFill>
                  <a:schemeClr val="tx1"/>
                </a:solidFill>
              </a:defRPr>
            </a:defPPr>
          </a:lstStyle>
          <a:p xmlns:a="http://schemas.openxmlformats.org/drawingml/2006/main">
            <a:pPr>
              <a:defRPr sz="2250">
                <a:solidFill>
                  <a:schemeClr val="tx1"/>
                </a:solidFill>
              </a:defRPr>
            </a:pPr>
            <a:r>
              <a:rPr sz="2250">
                <a:solidFill>
                  <a:schemeClr val="tx1"/>
                </a:solidFill>
              </a:rPr>
              <a:t>[Replace with content]</a:t>
            </a:r>
          </a:p>
        </p:txBody>
      </p:sp>
    </p:spTree>
  </p:cSld>
</p:sldLayout>
</file>

<file path=ppt/slideLayouts/slideLayout10.xml><?xml version="1.0" encoding="utf-8"?>
<p:sldLayout xmlns:p="http://schemas.openxmlformats.org/presentationml/2006/main">
  <p:cSld name="04 Executive Summary">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7C157043-2B4E-4380-8B24-BADBD1C95106}"/>
              </a:ext>
            </a:extLst>
          </p:cNvPr>
          <p:cNvPicPr>
            <a:picLocks xmlns:a="http://schemas.openxmlformats.org/drawingml/2006/main" noChangeAspect="1"/>
          </p:cNvPicPr>
          <p:nvPr/>
        </p:nvPicPr>
        <p:blipFill>
          <a:blip xmlns:r="http://schemas.openxmlformats.org/officeDocument/2006/relationships" xmlns:a="http://schemas.openxmlformats.org/drawingml/2006/main" r:embed="R82f16bd3225744a2"/>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1F3C092-75B5-48CC-A68D-B133B32D1FC6}"/>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D43F1ED2-FF18-4A8B-9671-FC9A1875CD44}"/>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87448854-A198-49EC-AEF3-2CB49FFA215B}"/>
              </a:ext>
            </a:extLst>
          </p:cNvPr>
          <p:cNvSpPr>
            <a:spLocks xmlns:a="http://schemas.openxmlformats.org/drawingml/2006/main" noGrp="1"/>
          </p:cNvSpPr>
          <p:nvPr>
            <p:ph type="body" idx="1"/>
          </p:nvPr>
        </p:nvSpPr>
        <p:spPr>
          <a:xfrm xmlns:a="http://schemas.openxmlformats.org/drawingml/2006/main">
            <a:off x="685800" y="2095500"/>
            <a:ext cx="10477500" cy="1238250"/>
          </a:xfrm>
          <a:prstGeom xmlns:a="http://schemas.openxmlformats.org/drawingml/2006/main" prst="rect">
            <a:avLst/>
          </a:prstGeom>
        </p:spPr>
        <p:txBody>
          <a:bodyPr xmlns:a="http://schemas.openxmlformats.org/drawingml/2006/main"/>
          <a:lstStyle xmlns:a="http://schemas.openxmlformats.org/drawingml/2006/main">
            <a:defPPr>
              <a:defRPr sz="2625">
                <a:solidFill>
                  <a:schemeClr val="accent2"/>
                </a:solidFill>
              </a:defRPr>
            </a:defPPr>
          </a:lstStyle>
          <a:p xmlns:a="http://schemas.openxmlformats.org/drawingml/2006/main">
            <a:pPr>
              <a:defRPr sz="2625">
                <a:solidFill>
                  <a:schemeClr val="accent2"/>
                </a:solidFill>
              </a:defRPr>
            </a:pPr>
            <a:r>
              <a:rPr sz="2625">
                <a:solidFill>
                  <a:schemeClr val="accent2"/>
                </a:solidFill>
              </a:rPr>
              <a:t>[Replace with content]</a:t>
            </a:r>
          </a:p>
        </p:txBody>
      </p:sp>
      <p:sp>
        <p:nvSpPr>
          <p:cNvPr id="5" name="placeholder_3">
            <a:extLst xmlns:a="http://schemas.openxmlformats.org/drawingml/2006/main">
              <a:ext uri="{FF2B5EF4-FFF2-40B4-BE49-F238E27FC236}">
                <a16:creationId xmlns:a16="http://schemas.microsoft.com/office/drawing/2014/main" id="{5AFC5D61-FDBE-4993-890E-B5779AB85DFA}"/>
              </a:ext>
            </a:extLst>
          </p:cNvPr>
          <p:cNvSpPr>
            <a:spLocks xmlns:a="http://schemas.openxmlformats.org/drawingml/2006/main" noGrp="1"/>
          </p:cNvSpPr>
          <p:nvPr>
            <p:ph type="body" idx="2"/>
          </p:nvPr>
        </p:nvSpPr>
        <p:spPr>
          <a:xfrm xmlns:a="http://schemas.openxmlformats.org/drawingml/2006/main">
            <a:off x="685800" y="3714750"/>
            <a:ext cx="10477500" cy="2047875"/>
          </a:xfrm>
          <a:prstGeom xmlns:a="http://schemas.openxmlformats.org/drawingml/2006/main" prst="rect">
            <a:avLst/>
          </a:prstGeom>
        </p:spPr>
        <p:txBody>
          <a:bodyPr xmlns:a="http://schemas.openxmlformats.org/drawingml/2006/main"/>
          <a:lstStyle xmlns:a="http://schemas.openxmlformats.org/drawingml/2006/main">
            <a:defPPr>
              <a:defRPr sz="2025">
                <a:solidFill>
                  <a:schemeClr val="tx1"/>
                </a:solidFill>
              </a:defRPr>
            </a:defPPr>
          </a:lstStyle>
          <a:p xmlns:a="http://schemas.openxmlformats.org/drawingml/2006/main">
            <a:pPr>
              <a:defRPr sz="2025">
                <a:solidFill>
                  <a:schemeClr val="tx1"/>
                </a:solidFill>
              </a:defRPr>
            </a:pPr>
            <a:r>
              <a:rPr sz="2025">
                <a:solidFill>
                  <a:schemeClr val="tx1"/>
                </a:solidFill>
              </a:rPr>
              <a:t>[Replace with content]</a:t>
            </a:r>
          </a:p>
        </p:txBody>
      </p:sp>
    </p:spTree>
  </p:cSld>
</p:sldLayout>
</file>

<file path=ppt/slideLayouts/slideLayout11.xml><?xml version="1.0" encoding="utf-8"?>
<p:sldLayout xmlns:p="http://schemas.openxmlformats.org/presentationml/2006/main">
  <p:cSld name="05 Two Columns">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2DB1B49B-903B-4763-A3F8-6316D93763B5}"/>
              </a:ext>
            </a:extLst>
          </p:cNvPr>
          <p:cNvPicPr>
            <a:picLocks xmlns:a="http://schemas.openxmlformats.org/drawingml/2006/main" noChangeAspect="1"/>
          </p:cNvPicPr>
          <p:nvPr/>
        </p:nvPicPr>
        <p:blipFill>
          <a:blip xmlns:r="http://schemas.openxmlformats.org/officeDocument/2006/relationships" xmlns:a="http://schemas.openxmlformats.org/drawingml/2006/main" r:embed="Rf1de68665da24603"/>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A2D1C1C-5B3E-4259-A507-FECD18598B2D}"/>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E94997F6-7BDC-4B75-A696-863F16765654}"/>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AE972CE9-7232-4DFC-9BEF-C755827B3904}"/>
              </a:ext>
            </a:extLst>
          </p:cNvPr>
          <p:cNvSpPr>
            <a:spLocks xmlns:a="http://schemas.openxmlformats.org/drawingml/2006/main" noGrp="1"/>
          </p:cNvSpPr>
          <p:nvPr>
            <p:ph type="body" idx="1"/>
          </p:nvPr>
        </p:nvSpPr>
        <p:spPr>
          <a:xfrm xmlns:a="http://schemas.openxmlformats.org/drawingml/2006/main">
            <a:off x="685800" y="2047875"/>
            <a:ext cx="5067300" cy="3333750"/>
          </a:xfrm>
          <a:prstGeom xmlns:a="http://schemas.openxmlformats.org/drawingml/2006/main" prst="rect">
            <a:avLst/>
          </a:prstGeom>
        </p:spPr>
        <p:txBody>
          <a:bodyPr xmlns:a="http://schemas.openxmlformats.org/drawingml/2006/main"/>
          <a:lstStyle xmlns:a="http://schemas.openxmlformats.org/drawingml/2006/main">
            <a:defPPr>
              <a:defRPr sz="1950">
                <a:solidFill>
                  <a:schemeClr val="tx1"/>
                </a:solidFill>
              </a:defRPr>
            </a:defPPr>
          </a:lstStyle>
          <a:p xmlns:a="http://schemas.openxmlformats.org/drawingml/2006/main">
            <a:pPr>
              <a:defRPr sz="1950">
                <a:solidFill>
                  <a:schemeClr val="tx1"/>
                </a:solidFill>
              </a:defRPr>
            </a:pPr>
            <a:r>
              <a:rPr sz="1950">
                <a:solidFill>
                  <a:schemeClr val="tx1"/>
                </a:solidFill>
              </a:rPr>
              <a:t>[Replace with content]</a:t>
            </a:r>
          </a:p>
        </p:txBody>
      </p:sp>
      <p:sp>
        <p:nvSpPr>
          <p:cNvPr id="5" name="placeholder_3">
            <a:extLst xmlns:a="http://schemas.openxmlformats.org/drawingml/2006/main">
              <a:ext uri="{FF2B5EF4-FFF2-40B4-BE49-F238E27FC236}">
                <a16:creationId xmlns:a16="http://schemas.microsoft.com/office/drawing/2014/main" id="{6629F83F-72FA-48E8-BC8E-75C189A05B13}"/>
              </a:ext>
            </a:extLst>
          </p:cNvPr>
          <p:cNvSpPr>
            <a:spLocks xmlns:a="http://schemas.openxmlformats.org/drawingml/2006/main" noGrp="1"/>
          </p:cNvSpPr>
          <p:nvPr>
            <p:ph type="body" idx="2"/>
          </p:nvPr>
        </p:nvSpPr>
        <p:spPr>
          <a:xfrm xmlns:a="http://schemas.openxmlformats.org/drawingml/2006/main">
            <a:off x="6438900" y="2047875"/>
            <a:ext cx="5067300" cy="3333750"/>
          </a:xfrm>
          <a:prstGeom xmlns:a="http://schemas.openxmlformats.org/drawingml/2006/main" prst="rect">
            <a:avLst/>
          </a:prstGeom>
        </p:spPr>
        <p:txBody>
          <a:bodyPr xmlns:a="http://schemas.openxmlformats.org/drawingml/2006/main"/>
          <a:lstStyle xmlns:a="http://schemas.openxmlformats.org/drawingml/2006/main">
            <a:defPPr>
              <a:defRPr sz="1950">
                <a:solidFill>
                  <a:schemeClr val="tx1"/>
                </a:solidFill>
              </a:defRPr>
            </a:defPPr>
          </a:lstStyle>
          <a:p xmlns:a="http://schemas.openxmlformats.org/drawingml/2006/main">
            <a:pPr>
              <a:defRPr sz="1950">
                <a:solidFill>
                  <a:schemeClr val="tx1"/>
                </a:solidFill>
              </a:defRPr>
            </a:pPr>
            <a:r>
              <a:rPr sz="1950">
                <a:solidFill>
                  <a:schemeClr val="tx1"/>
                </a:solidFill>
              </a:rPr>
              <a:t>[Replace with content]</a:t>
            </a:r>
          </a:p>
        </p:txBody>
      </p:sp>
    </p:spTree>
  </p:cSld>
</p:sldLayout>
</file>

<file path=ppt/slideLayouts/slideLayout12.xml><?xml version="1.0" encoding="utf-8"?>
<p:sldLayout xmlns:p="http://schemas.openxmlformats.org/presentationml/2006/main">
  <p:cSld name="06 Offering">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504C124D-6B65-4C2D-8A37-252B07A30132}"/>
              </a:ext>
            </a:extLst>
          </p:cNvPr>
          <p:cNvPicPr>
            <a:picLocks xmlns:a="http://schemas.openxmlformats.org/drawingml/2006/main" noChangeAspect="1"/>
          </p:cNvPicPr>
          <p:nvPr/>
        </p:nvPicPr>
        <p:blipFill>
          <a:blip xmlns:r="http://schemas.openxmlformats.org/officeDocument/2006/relationships" xmlns:a="http://schemas.openxmlformats.org/drawingml/2006/main" r:embed="R681a98542d40472f"/>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40B2F35-9AEC-43A2-BE69-C18C8CEAA2D1}"/>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1F0AEFED-FFDD-47A7-AEA7-26363156A979}"/>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8D0AC503-9F9D-4ED3-B877-E6363B792BB5}"/>
              </a:ext>
            </a:extLst>
          </p:cNvPr>
          <p:cNvSpPr>
            <a:spLocks xmlns:a="http://schemas.openxmlformats.org/drawingml/2006/main" noGrp="1"/>
          </p:cNvSpPr>
          <p:nvPr>
            <p:ph type="body" idx="1"/>
          </p:nvPr>
        </p:nvSpPr>
        <p:spPr>
          <a:xfrm xmlns:a="http://schemas.openxmlformats.org/drawingml/2006/main">
            <a:off x="685800" y="2047875"/>
            <a:ext cx="5238750" cy="3524250"/>
          </a:xfrm>
          <a:prstGeom xmlns:a="http://schemas.openxmlformats.org/drawingml/2006/main" prst="rect">
            <a:avLst/>
          </a:prstGeom>
        </p:spPr>
        <p:txBody>
          <a:bodyPr xmlns:a="http://schemas.openxmlformats.org/drawingml/2006/main"/>
          <a:lstStyle xmlns:a="http://schemas.openxmlformats.org/drawingml/2006/main">
            <a:defPPr>
              <a:defRPr sz="1950">
                <a:solidFill>
                  <a:schemeClr val="tx1"/>
                </a:solidFill>
              </a:defRPr>
            </a:defPPr>
          </a:lstStyle>
          <a:p xmlns:a="http://schemas.openxmlformats.org/drawingml/2006/main">
            <a:pPr>
              <a:defRPr sz="1950">
                <a:solidFill>
                  <a:schemeClr val="tx1"/>
                </a:solidFill>
              </a:defRPr>
            </a:pPr>
            <a:r>
              <a:rPr sz="1950">
                <a:solidFill>
                  <a:schemeClr val="tx1"/>
                </a:solidFill>
              </a:rPr>
              <a:t>[Replace with content]</a:t>
            </a:r>
          </a:p>
        </p:txBody>
      </p:sp>
      <p:sp>
        <p:nvSpPr>
          <p:cNvPr id="5" name="placeholder_3">
            <a:extLst xmlns:a="http://schemas.openxmlformats.org/drawingml/2006/main">
              <a:ext uri="{FF2B5EF4-FFF2-40B4-BE49-F238E27FC236}">
                <a16:creationId xmlns:a16="http://schemas.microsoft.com/office/drawing/2014/main" id="{1AACCEF8-AFA9-4736-B70E-4537D3E3CB6C}"/>
              </a:ext>
            </a:extLst>
          </p:cNvPr>
          <p:cNvSpPr>
            <a:spLocks xmlns:a="http://schemas.openxmlformats.org/drawingml/2006/main" noGrp="1"/>
          </p:cNvSpPr>
          <p:nvPr>
            <p:ph type="body" idx="2"/>
          </p:nvPr>
        </p:nvSpPr>
        <p:spPr>
          <a:xfrm xmlns:a="http://schemas.openxmlformats.org/drawingml/2006/main">
            <a:off x="6762750" y="2047875"/>
            <a:ext cx="4743450" cy="3524250"/>
          </a:xfrm>
          <a:prstGeom xmlns:a="http://schemas.openxmlformats.org/drawingml/2006/main" prst="rect">
            <a:avLst/>
          </a:prstGeom>
        </p:spPr>
        <p:txBody>
          <a:bodyPr xmlns:a="http://schemas.openxmlformats.org/drawingml/2006/main"/>
          <a:lstStyle xmlns:a="http://schemas.openxmlformats.org/drawingml/2006/main">
            <a:defPPr>
              <a:defRPr sz="1950">
                <a:solidFill>
                  <a:schemeClr val="tx1"/>
                </a:solidFill>
              </a:defRPr>
            </a:defPPr>
          </a:lstStyle>
          <a:p xmlns:a="http://schemas.openxmlformats.org/drawingml/2006/main">
            <a:pPr>
              <a:defRPr sz="1950">
                <a:solidFill>
                  <a:schemeClr val="tx1"/>
                </a:solidFill>
              </a:defRPr>
            </a:pPr>
            <a:r>
              <a:rPr sz="1950">
                <a:solidFill>
                  <a:schemeClr val="tx1"/>
                </a:solidFill>
              </a:rPr>
              <a:t>[Replace with content]</a:t>
            </a:r>
          </a:p>
        </p:txBody>
      </p:sp>
    </p:spTree>
  </p:cSld>
</p:sldLayout>
</file>

<file path=ppt/slideLayouts/slideLayout13.xml><?xml version="1.0" encoding="utf-8"?>
<p:sldLayout xmlns:p="http://schemas.openxmlformats.org/presentationml/2006/main">
  <p:cSld name="07 Architecture">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91669C74-9630-4765-8276-43DA682C4B6A}"/>
              </a:ext>
            </a:extLst>
          </p:cNvPr>
          <p:cNvPicPr>
            <a:picLocks xmlns:a="http://schemas.openxmlformats.org/drawingml/2006/main" noChangeAspect="1"/>
          </p:cNvPicPr>
          <p:nvPr/>
        </p:nvPicPr>
        <p:blipFill>
          <a:blip xmlns:r="http://schemas.openxmlformats.org/officeDocument/2006/relationships" xmlns:a="http://schemas.openxmlformats.org/drawingml/2006/main" r:embed="R53c158dd22bd4552"/>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00B7F6B-71B3-44A7-9E33-5E9A576EC207}"/>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EA8E1A4E-26A5-4B3C-8BC2-019693C1AE16}"/>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D46CD490-AA7C-4C2B-9541-660D1985190B}"/>
              </a:ext>
            </a:extLst>
          </p:cNvPr>
          <p:cNvSpPr>
            <a:spLocks xmlns:a="http://schemas.openxmlformats.org/drawingml/2006/main" noGrp="1"/>
          </p:cNvSpPr>
          <p:nvPr>
            <p:ph type="body" idx="1"/>
          </p:nvPr>
        </p:nvSpPr>
        <p:spPr>
          <a:xfrm xmlns:a="http://schemas.openxmlformats.org/drawingml/2006/main">
            <a:off x="685800" y="2000250"/>
            <a:ext cx="7429500" cy="3714750"/>
          </a:xfrm>
          <a:prstGeom xmlns:a="http://schemas.openxmlformats.org/drawingml/2006/main" prst="rect">
            <a:avLst/>
          </a:prstGeom>
        </p:spPr>
        <p:txBody>
          <a:bodyPr xmlns:a="http://schemas.openxmlformats.org/drawingml/2006/main"/>
          <a:lstStyle xmlns:a="http://schemas.openxmlformats.org/drawingml/2006/main">
            <a:defPPr>
              <a:defRPr sz="2400">
                <a:solidFill>
                  <a:schemeClr val="accent2"/>
                </a:solidFill>
              </a:defRPr>
            </a:defPPr>
          </a:lstStyle>
          <a:p xmlns:a="http://schemas.openxmlformats.org/drawingml/2006/main">
            <a:pPr>
              <a:defRPr sz="2400">
                <a:solidFill>
                  <a:schemeClr val="accent2"/>
                </a:solidFill>
              </a:defRPr>
            </a:pPr>
            <a:r>
              <a:rPr sz="2400">
                <a:solidFill>
                  <a:schemeClr val="accent2"/>
                </a:solidFill>
              </a:rPr>
              <a:t>[Replace with content]</a:t>
            </a:r>
          </a:p>
        </p:txBody>
      </p:sp>
      <p:sp>
        <p:nvSpPr>
          <p:cNvPr id="5" name="placeholder_3">
            <a:extLst xmlns:a="http://schemas.openxmlformats.org/drawingml/2006/main">
              <a:ext uri="{FF2B5EF4-FFF2-40B4-BE49-F238E27FC236}">
                <a16:creationId xmlns:a16="http://schemas.microsoft.com/office/drawing/2014/main" id="{35F0A514-67DC-4714-94F9-E5A638797CFB}"/>
              </a:ext>
            </a:extLst>
          </p:cNvPr>
          <p:cNvSpPr>
            <a:spLocks xmlns:a="http://schemas.openxmlformats.org/drawingml/2006/main" noGrp="1"/>
          </p:cNvSpPr>
          <p:nvPr>
            <p:ph type="body" idx="2"/>
          </p:nvPr>
        </p:nvSpPr>
        <p:spPr>
          <a:xfrm xmlns:a="http://schemas.openxmlformats.org/drawingml/2006/main">
            <a:off x="8801100" y="2000250"/>
            <a:ext cx="2705100" cy="3714750"/>
          </a:xfrm>
          <a:prstGeom xmlns:a="http://schemas.openxmlformats.org/drawingml/2006/main" prst="rect">
            <a:avLst/>
          </a:prstGeom>
        </p:spPr>
        <p:txBody>
          <a:bodyPr xmlns:a="http://schemas.openxmlformats.org/drawingml/2006/main"/>
          <a:lstStyle xmlns:a="http://schemas.openxmlformats.org/drawingml/2006/main">
            <a:defPPr>
              <a:defRPr sz="1800">
                <a:solidFill>
                  <a:schemeClr val="tx1"/>
                </a:solidFill>
              </a:defRPr>
            </a:defPPr>
          </a:lstStyle>
          <a:p xmlns:a="http://schemas.openxmlformats.org/drawingml/2006/main">
            <a:pPr>
              <a:defRPr sz="1800">
                <a:solidFill>
                  <a:schemeClr val="tx1"/>
                </a:solidFill>
              </a:defRPr>
            </a:pPr>
            <a:r>
              <a:rPr sz="1800">
                <a:solidFill>
                  <a:schemeClr val="tx1"/>
                </a:solidFill>
              </a:rPr>
              <a:t>[Replace with content]</a:t>
            </a:r>
          </a:p>
        </p:txBody>
      </p:sp>
    </p:spTree>
  </p:cSld>
</p:sldLayout>
</file>

<file path=ppt/slideLayouts/slideLayout14.xml><?xml version="1.0" encoding="utf-8"?>
<p:sldLayout xmlns:p="http://schemas.openxmlformats.org/presentationml/2006/main">
  <p:cSld name="08 Table">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6411616A-2AFD-4DC5-B643-38947C98981E}"/>
              </a:ext>
            </a:extLst>
          </p:cNvPr>
          <p:cNvPicPr>
            <a:picLocks xmlns:a="http://schemas.openxmlformats.org/drawingml/2006/main" noChangeAspect="1"/>
          </p:cNvPicPr>
          <p:nvPr/>
        </p:nvPicPr>
        <p:blipFill>
          <a:blip xmlns:r="http://schemas.openxmlformats.org/officeDocument/2006/relationships" xmlns:a="http://schemas.openxmlformats.org/drawingml/2006/main" r:embed="Rbc17ee00ae7c4253"/>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F9603B6-CCD9-4B49-8195-384AD2982ABA}"/>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1B252EB8-8E76-44FB-811B-454EB0BCFC20}"/>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E65C2D53-E410-43F9-9B8B-322B84CB4F17}"/>
              </a:ext>
            </a:extLst>
          </p:cNvPr>
          <p:cNvSpPr>
            <a:spLocks xmlns:a="http://schemas.openxmlformats.org/drawingml/2006/main" noGrp="1"/>
          </p:cNvSpPr>
          <p:nvPr>
            <p:ph type="body" idx="1"/>
          </p:nvPr>
        </p:nvSpPr>
        <p:spPr>
          <a:xfrm xmlns:a="http://schemas.openxmlformats.org/drawingml/2006/main">
            <a:off x="685800" y="5648325"/>
            <a:ext cx="10820400" cy="523875"/>
          </a:xfrm>
          <a:prstGeom xmlns:a="http://schemas.openxmlformats.org/drawingml/2006/main" prst="rect">
            <a:avLst/>
          </a:prstGeom>
        </p:spPr>
        <p:txBody>
          <a:bodyPr xmlns:a="http://schemas.openxmlformats.org/drawingml/2006/main"/>
          <a:lstStyle xmlns:a="http://schemas.openxmlformats.org/drawingml/2006/main">
            <a:defPPr>
              <a:defRPr sz="1500">
                <a:solidFill>
                  <a:schemeClr val="tx2"/>
                </a:solidFill>
              </a:defRPr>
            </a:defPPr>
          </a:lstStyle>
          <a:p xmlns:a="http://schemas.openxmlformats.org/drawingml/2006/main">
            <a:pPr>
              <a:defRPr sz="1500">
                <a:solidFill>
                  <a:schemeClr val="tx2"/>
                </a:solidFill>
              </a:defRPr>
            </a:pPr>
            <a:r>
              <a:rPr sz="1500">
                <a:solidFill>
                  <a:schemeClr val="tx2"/>
                </a:solidFill>
              </a:rPr>
              <a:t>[Replace with content]</a:t>
            </a:r>
          </a:p>
        </p:txBody>
      </p:sp>
    </p:spTree>
  </p:cSld>
</p:sldLayout>
</file>

<file path=ppt/slideLayouts/slideLayout15.xml><?xml version="1.0" encoding="utf-8"?>
<p:sldLayout xmlns:p="http://schemas.openxmlformats.org/presentationml/2006/main">
  <p:cSld name="09 Delivery Plan">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97E1D151-E620-4600-8202-38F279D77B52}"/>
              </a:ext>
            </a:extLst>
          </p:cNvPr>
          <p:cNvPicPr>
            <a:picLocks xmlns:a="http://schemas.openxmlformats.org/drawingml/2006/main" noChangeAspect="1"/>
          </p:cNvPicPr>
          <p:nvPr/>
        </p:nvPicPr>
        <p:blipFill>
          <a:blip xmlns:r="http://schemas.openxmlformats.org/officeDocument/2006/relationships" xmlns:a="http://schemas.openxmlformats.org/drawingml/2006/main" r:embed="Rfd22619079854251"/>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E12C82A-37E1-4805-9D1D-8731180022D5}"/>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CD9D558D-C901-4558-84B8-EA6D0316CA4A}"/>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726972C0-DCFE-429F-AF12-8A55DB71DA59}"/>
              </a:ext>
            </a:extLst>
          </p:cNvPr>
          <p:cNvSpPr>
            <a:spLocks xmlns:a="http://schemas.openxmlformats.org/drawingml/2006/main" noGrp="1"/>
          </p:cNvSpPr>
          <p:nvPr>
            <p:ph type="body" idx="1"/>
          </p:nvPr>
        </p:nvSpPr>
        <p:spPr>
          <a:xfrm xmlns:a="http://schemas.openxmlformats.org/drawingml/2006/main">
            <a:off x="685800" y="5676900"/>
            <a:ext cx="10820400" cy="457200"/>
          </a:xfrm>
          <a:prstGeom xmlns:a="http://schemas.openxmlformats.org/drawingml/2006/main" prst="rect">
            <a:avLst/>
          </a:prstGeom>
        </p:spPr>
        <p:txBody>
          <a:bodyPr xmlns:a="http://schemas.openxmlformats.org/drawingml/2006/main"/>
          <a:lstStyle xmlns:a="http://schemas.openxmlformats.org/drawingml/2006/main">
            <a:defPPr>
              <a:defRPr sz="1500">
                <a:solidFill>
                  <a:schemeClr val="tx2"/>
                </a:solidFill>
              </a:defRPr>
            </a:defPPr>
          </a:lstStyle>
          <a:p xmlns:a="http://schemas.openxmlformats.org/drawingml/2006/main">
            <a:pPr>
              <a:defRPr sz="1500">
                <a:solidFill>
                  <a:schemeClr val="tx2"/>
                </a:solidFill>
              </a:defRPr>
            </a:pPr>
            <a:r>
              <a:rPr sz="1500">
                <a:solidFill>
                  <a:schemeClr val="tx2"/>
                </a:solidFill>
              </a:rPr>
              <a:t>[Replace with content]</a:t>
            </a:r>
          </a:p>
        </p:txBody>
      </p:sp>
    </p:spTree>
  </p:cSld>
</p:sldLayout>
</file>

<file path=ppt/slideLayouts/slideLayout16.xml><?xml version="1.0" encoding="utf-8"?>
<p:sldLayout xmlns:p="http://schemas.openxmlformats.org/presentationml/2006/main">
  <p:cSld name="10 Closing">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8481816C-04DC-4E5C-838B-663FCE8F6172}"/>
              </a:ext>
            </a:extLst>
          </p:cNvPr>
          <p:cNvPicPr>
            <a:picLocks xmlns:a="http://schemas.openxmlformats.org/drawingml/2006/main" noChangeAspect="1"/>
          </p:cNvPicPr>
          <p:nvPr/>
        </p:nvPicPr>
        <p:blipFill>
          <a:blip xmlns:r="http://schemas.openxmlformats.org/officeDocument/2006/relationships" xmlns:a="http://schemas.openxmlformats.org/drawingml/2006/main" r:embed="R96ee4aaf91124207"/>
          <a:stretch xmlns:a="http://schemas.openxmlformats.org/drawingml/2006/main"/>
        </p:blipFill>
        <p:spPr>
          <a:xfrm xmlns:a="http://schemas.openxmlformats.org/drawingml/2006/main">
            <a:off x="687813" y="552450"/>
            <a:ext cx="2567724" cy="460362"/>
          </a:xfrm>
          <a:prstGeom xmlns:a="http://schemas.openxmlformats.org/drawingml/2006/main" prst="rect">
            <a:avLst/>
          </a:prstGeom>
        </p:spPr>
      </p:pic>
      <p:sp>
        <p:nvSpPr>
          <p:cNvPr id="2" name="placeholder_1">
            <a:extLst xmlns:a="http://schemas.openxmlformats.org/drawingml/2006/main">
              <a:ext uri="{FF2B5EF4-FFF2-40B4-BE49-F238E27FC236}">
                <a16:creationId xmlns:a16="http://schemas.microsoft.com/office/drawing/2014/main" id="{4C4BFDA8-6E4E-40CE-AA3A-4D2DD5416920}"/>
              </a:ext>
            </a:extLst>
          </p:cNvPr>
          <p:cNvSpPr>
            <a:spLocks xmlns:a="http://schemas.openxmlformats.org/drawingml/2006/main" noGrp="1"/>
          </p:cNvSpPr>
          <p:nvPr>
            <p:ph type="title" idx="0"/>
          </p:nvPr>
        </p:nvSpPr>
        <p:spPr>
          <a:xfrm xmlns:a="http://schemas.openxmlformats.org/drawingml/2006/main">
            <a:off x="685800" y="2238375"/>
            <a:ext cx="10477500" cy="1143000"/>
          </a:xfrm>
          <a:prstGeom xmlns:a="http://schemas.openxmlformats.org/drawingml/2006/main" prst="rect">
            <a:avLst/>
          </a:prstGeom>
        </p:spPr>
        <p:txBody>
          <a:bodyPr xmlns:a="http://schemas.openxmlformats.org/drawingml/2006/main"/>
          <a:lstStyle xmlns:a="http://schemas.openxmlformats.org/drawingml/2006/main">
            <a:defPPr>
              <a:defRPr sz="4800">
                <a:solidFill>
                  <a:schemeClr val="lt1"/>
                </a:solidFill>
              </a:defRPr>
            </a:defPPr>
          </a:lstStyle>
          <a:p xmlns:a="http://schemas.openxmlformats.org/drawingml/2006/main">
            <a:pPr>
              <a:defRPr sz="4800">
                <a:solidFill>
                  <a:schemeClr val="lt1"/>
                </a:solidFill>
              </a:defRPr>
            </a:pPr>
            <a:r>
              <a:rPr sz="4800">
                <a:solidFill>
                  <a:schemeClr val="lt1"/>
                </a:solidFill>
              </a:rPr>
              <a:t>[Slide title]</a:t>
            </a:r>
          </a:p>
        </p:txBody>
      </p:sp>
      <p:sp>
        <p:nvSpPr>
          <p:cNvPr id="3" name="placeholder_2">
            <a:extLst xmlns:a="http://schemas.openxmlformats.org/drawingml/2006/main">
              <a:ext uri="{FF2B5EF4-FFF2-40B4-BE49-F238E27FC236}">
                <a16:creationId xmlns:a16="http://schemas.microsoft.com/office/drawing/2014/main" id="{A4389B62-D467-4DBA-92F0-2B6671280FBD}"/>
              </a:ext>
            </a:extLst>
          </p:cNvPr>
          <p:cNvSpPr>
            <a:spLocks xmlns:a="http://schemas.openxmlformats.org/drawingml/2006/main" noGrp="1"/>
          </p:cNvSpPr>
          <p:nvPr>
            <p:ph type="body" idx="1"/>
          </p:nvPr>
        </p:nvSpPr>
        <p:spPr>
          <a:xfrm xmlns:a="http://schemas.openxmlformats.org/drawingml/2006/main">
            <a:off x="685800" y="3876675"/>
            <a:ext cx="10477500" cy="1000125"/>
          </a:xfrm>
          <a:prstGeom xmlns:a="http://schemas.openxmlformats.org/drawingml/2006/main" prst="rect">
            <a:avLst/>
          </a:prstGeom>
        </p:spPr>
        <p:txBody>
          <a:bodyPr xmlns:a="http://schemas.openxmlformats.org/drawingml/2006/main"/>
          <a:lstStyle xmlns:a="http://schemas.openxmlformats.org/drawingml/2006/main">
            <a:defPPr>
              <a:defRPr sz="2250">
                <a:solidFill>
                  <a:schemeClr val="accent3"/>
                </a:solidFill>
              </a:defRPr>
            </a:defPPr>
          </a:lstStyle>
          <a:p xmlns:a="http://schemas.openxmlformats.org/drawingml/2006/main">
            <a:pPr>
              <a:defRPr sz="2250">
                <a:solidFill>
                  <a:schemeClr val="accent3"/>
                </a:solidFill>
              </a:defRPr>
            </a:pPr>
            <a:r>
              <a:rPr sz="2250">
                <a:solidFill>
                  <a:schemeClr val="accent3"/>
                </a:solidFill>
              </a:rPr>
              <a:t>[Replace with content]</a:t>
            </a:r>
          </a:p>
        </p:txBody>
      </p:sp>
      <p:sp>
        <p:nvSpPr>
          <p:cNvPr id="4" name="placeholder_3">
            <a:extLst xmlns:a="http://schemas.openxmlformats.org/drawingml/2006/main">
              <a:ext uri="{FF2B5EF4-FFF2-40B4-BE49-F238E27FC236}">
                <a16:creationId xmlns:a16="http://schemas.microsoft.com/office/drawing/2014/main" id="{A2EFECE1-97EE-4C2A-8563-A64ECD2E3E65}"/>
              </a:ext>
            </a:extLst>
          </p:cNvPr>
          <p:cNvSpPr>
            <a:spLocks xmlns:a="http://schemas.openxmlformats.org/drawingml/2006/main" noGrp="1"/>
          </p:cNvSpPr>
          <p:nvPr>
            <p:ph type="body" idx="2"/>
          </p:nvPr>
        </p:nvSpPr>
        <p:spPr>
          <a:xfrm xmlns:a="http://schemas.openxmlformats.org/drawingml/2006/main">
            <a:off x="685800" y="5524500"/>
            <a:ext cx="10477500" cy="571500"/>
          </a:xfrm>
          <a:prstGeom xmlns:a="http://schemas.openxmlformats.org/drawingml/2006/main" prst="rect">
            <a:avLst/>
          </a:prstGeom>
        </p:spPr>
        <p:txBody>
          <a:bodyPr xmlns:a="http://schemas.openxmlformats.org/drawingml/2006/main"/>
          <a:lstStyle xmlns:a="http://schemas.openxmlformats.org/drawingml/2006/main">
            <a:defPPr>
              <a:defRPr sz="1800">
                <a:solidFill>
                  <a:schemeClr val="lt1"/>
                </a:solidFill>
              </a:defRPr>
            </a:defPPr>
          </a:lstStyle>
          <a:p xmlns:a="http://schemas.openxmlformats.org/drawingml/2006/main">
            <a:pPr>
              <a:defRPr sz="1800">
                <a:solidFill>
                  <a:schemeClr val="lt1"/>
                </a:solidFill>
              </a:defRPr>
            </a:pPr>
            <a:r>
              <a:rPr sz="1800">
                <a:solidFill>
                  <a:schemeClr val="lt1"/>
                </a:solidFill>
              </a:rPr>
              <a:t>[Replace with content]</a:t>
            </a:r>
          </a:p>
        </p:txBody>
      </p:sp>
    </p:spTree>
  </p:cSld>
</p:sldLayout>
</file>

<file path=ppt/slideMasters/_rels/slideMaster1.xml.rels><?xml version='1.0' encoding='UTF-8' standalone='yes'?>
<Relationships xmlns="http://schemas.openxmlformats.org/package/2006/relationships"><Relationship Id="R35648cb6e9984541" Type="http://schemas.openxmlformats.org/officeDocument/2006/relationships/slideLayout" Target="../slideLayouts/slideLayout3.xml"/><Relationship Id="R8f1bf2f0f8464e84" Type="http://schemas.openxmlformats.org/officeDocument/2006/relationships/slideLayout" Target="../slideLayouts/slideLayout1.xml"/><Relationship Id="Ra52babe339764543" Type="http://schemas.openxmlformats.org/officeDocument/2006/relationships/slideLayout" Target="../slideLayouts/slideLayout5.xml"/><Relationship Id="Rc147ea9fb0f543b1" Type="http://schemas.openxmlformats.org/officeDocument/2006/relationships/slideLayout" Target="../slideLayouts/slideLayout4.xml"/><Relationship Id="Re465f5df15ad44f5" Type="http://schemas.openxmlformats.org/officeDocument/2006/relationships/slideLayout" Target="../slideLayouts/slideLayout6.xml"/><Relationship Id="Re9fc826fb18a4f15" Type="http://schemas.openxmlformats.org/officeDocument/2006/relationships/slideLayout" Target="../slideLayouts/slideLayout2.xml"/><Relationship Id="Rf416159d631a469e"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2a5f1ca95513402a" Type="http://schemas.openxmlformats.org/officeDocument/2006/relationships/slideLayout" Target="../slideLayouts/slideLayout14.xml"/><Relationship Id="R2eeacb68d2144397" Type="http://schemas.openxmlformats.org/officeDocument/2006/relationships/slideLayout" Target="../slideLayouts/slideLayout15.xml"/><Relationship Id="R49bfac7664ba44c0" Type="http://schemas.openxmlformats.org/officeDocument/2006/relationships/theme" Target="theme/theme3.xml"/><Relationship Id="R8f2c27fe36c147d3" Type="http://schemas.openxmlformats.org/officeDocument/2006/relationships/slideLayout" Target="../slideLayouts/slideLayout12.xml"/><Relationship Id="R94a7b8a46c4f4bde" Type="http://schemas.openxmlformats.org/officeDocument/2006/relationships/slideLayout" Target="../slideLayouts/slideLayout10.xml"/><Relationship Id="Ra82fbf657a2f48ee" Type="http://schemas.openxmlformats.org/officeDocument/2006/relationships/slideLayout" Target="../slideLayouts/slideLayout11.xml"/><Relationship Id="Rde438d9eb6954fbf" Type="http://schemas.openxmlformats.org/officeDocument/2006/relationships/slideLayout" Target="../slideLayouts/slideLayout13.xml"/><Relationship Id="Ref66cbd7649342a4" Type="http://schemas.openxmlformats.org/officeDocument/2006/relationships/slideLayout" Target="../slideLayouts/slideLayout8.xml"/></Relationships>
</file>

<file path=ppt/slideMasters/_rels/slideMaster3.xml.rels><?xml version='1.0' encoding='UTF-8' standalone='yes'?>
<Relationships xmlns="http://schemas.openxmlformats.org/package/2006/relationships"><Relationship Id="R79ea0f8627af41f6" Type="http://schemas.openxmlformats.org/officeDocument/2006/relationships/slideLayout" Target="../slideLayouts/slideLayout7.xml"/><Relationship Id="R7eb32b989c4847f8" Type="http://schemas.openxmlformats.org/officeDocument/2006/relationships/theme" Target="theme/theme4.xml"/><Relationship Id="Rda88ffd24a5f43ce" Type="http://schemas.openxmlformats.org/officeDocument/2006/relationships/slideLayout" Target="../slideLayouts/slideLayout16.xml"/></Relationships>
</file>

<file path=ppt/slideMasters/_rels/slideMaster4.xml.rels><?xml version='1.0' encoding='UTF-8' standalone='yes'?>
<Relationships xmlns="http://schemas.openxmlformats.org/package/2006/relationships"><Relationship Id="R2578da971f074f4d" Type="http://schemas.openxmlformats.org/officeDocument/2006/relationships/theme" Target="theme/theme5.xml"/><Relationship Id="Rdb68f69021dd4ee5" Type="http://schemas.openxmlformats.org/officeDocument/2006/relationships/slideLayout" Target="../slideLayouts/slideLayout9.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f1bf2f0f8464e84"/>
    <p:sldLayoutId xmlns:r="http://schemas.openxmlformats.org/officeDocument/2006/relationships" id="2147483650" r:id="Re9fc826fb18a4f15"/>
    <p:sldLayoutId xmlns:r="http://schemas.openxmlformats.org/officeDocument/2006/relationships" id="2147483651" r:id="R35648cb6e9984541"/>
    <p:sldLayoutId xmlns:r="http://schemas.openxmlformats.org/officeDocument/2006/relationships" id="2147483652" r:id="Rc147ea9fb0f543b1"/>
    <p:sldLayoutId xmlns:r="http://schemas.openxmlformats.org/officeDocument/2006/relationships" id="2147483653" r:id="Ra52babe339764543"/>
    <p:sldLayoutId xmlns:r="http://schemas.openxmlformats.org/officeDocument/2006/relationships" id="2147483654" r:id="Re465f5df15ad44f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slideMaster2.xml><?xml version="1.0" encoding="utf-8"?>
<p:sldMaster xmlns:p="http://schemas.openxmlformats.org/presentationml/2006/main">
  <p:cSld name="Cognizant Light">
    <p:bg>
      <p:bgPr>
        <a:solidFill xmlns:a="http://schemas.openxmlformats.org/drawingml/2006/main">
          <a:schemeClr val="bg1"/>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56" r:id="Ref66cbd7649342a4"/>
    <p:sldLayoutId xmlns:r="http://schemas.openxmlformats.org/officeDocument/2006/relationships" id="2147483657" r:id="R94a7b8a46c4f4bde"/>
    <p:sldLayoutId xmlns:r="http://schemas.openxmlformats.org/officeDocument/2006/relationships" id="2147483658" r:id="Ra82fbf657a2f48ee"/>
    <p:sldLayoutId xmlns:r="http://schemas.openxmlformats.org/officeDocument/2006/relationships" id="2147483659" r:id="R8f2c27fe36c147d3"/>
    <p:sldLayoutId xmlns:r="http://schemas.openxmlformats.org/officeDocument/2006/relationships" id="2147483660" r:id="Rde438d9eb6954fbf"/>
    <p:sldLayoutId xmlns:r="http://schemas.openxmlformats.org/officeDocument/2006/relationships" id="2147483661" r:id="R2a5f1ca95513402a"/>
    <p:sldLayoutId xmlns:r="http://schemas.openxmlformats.org/officeDocument/2006/relationships" id="2147483662" r:id="R2eeacb68d2144397"/>
  </p:sldLayoutIdLst>
</p:sldMaster>
</file>

<file path=ppt/slideMasters/slideMaster3.xml><?xml version="1.0" encoding="utf-8"?>
<p:sldMaster xmlns:p="http://schemas.openxmlformats.org/presentationml/2006/main">
  <p:cSld name="Cognizant Navy">
    <p:bg>
      <p:bgPr>
        <a:solidFill xmlns:a="http://schemas.openxmlformats.org/drawingml/2006/main">
          <a:schemeClr val="accent1"/>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64" r:id="R79ea0f8627af41f6"/>
    <p:sldLayoutId xmlns:r="http://schemas.openxmlformats.org/officeDocument/2006/relationships" id="2147483665" r:id="Rda88ffd24a5f43ce"/>
  </p:sldLayoutIdLst>
</p:sldMaster>
</file>

<file path=ppt/slideMasters/slideMaster4.xml><?xml version="1.0" encoding="utf-8"?>
<p:sldMaster xmlns:p="http://schemas.openxmlformats.org/presentationml/2006/main">
  <p:cSld name="Cognizant Cyan">
    <p:bg>
      <p:bgPr>
        <a:solidFill xmlns:a="http://schemas.openxmlformats.org/drawingml/2006/main">
          <a:schemeClr val="accent3"/>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67" r:id="Rdb68f69021dd4ee5"/>
  </p:sldLayoutIdLst>
</p:sldMaster>
</file>

<file path=ppt/slideMasters/theme/theme2.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4.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5.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6.xml"/><Relationship Id="rId4" Type="http://schemas.openxmlformats.org/officeDocument/2006/relationships/image" Target="../media/image11.png"/><Relationship Id="rId5" Type="http://schemas.openxmlformats.org/officeDocument/2006/relationships/image" Target="../media/image14.svg"/><Relationship Id="rId6" Type="http://schemas.openxmlformats.org/officeDocument/2006/relationships/image" Target="../media/image13.png"/><Relationship Id="rId7" Type="http://schemas.openxmlformats.org/officeDocument/2006/relationships/image" Target="../media/image16.svg"/><Relationship Id="rId8" Type="http://schemas.openxmlformats.org/officeDocument/2006/relationships/image" Target="../media/image15.png"/><Relationship Id="rId9" Type="http://schemas.openxmlformats.org/officeDocument/2006/relationships/image" Target="../media/image18.svg"/><Relationship Id="rId10" Type="http://schemas.openxmlformats.org/officeDocument/2006/relationships/image" Target="../media/image17.png"/><Relationship Id="rId11" Type="http://schemas.openxmlformats.org/officeDocument/2006/relationships/image" Target="../media/image20.svg"/><Relationship Id="rId12" Type="http://schemas.openxmlformats.org/officeDocument/2006/relationships/image" Target="../media/image19.png"/><Relationship Id="rId13" Type="http://schemas.openxmlformats.org/officeDocument/2006/relationships/image" Target="../media/image22.svg"/><Relationship Id="rId14" Type="http://schemas.openxmlformats.org/officeDocument/2006/relationships/image" Target="../media/image21.png"/><Relationship Id="rId15" Type="http://schemas.openxmlformats.org/officeDocument/2006/relationships/image" Target="../media/image24.svg"/><Relationship Id="rId16" Type="http://schemas.openxmlformats.org/officeDocument/2006/relationships/image" Target="../media/image23.png"/><Relationship Id="rId17" Type="http://schemas.openxmlformats.org/officeDocument/2006/relationships/image" Target="../media/image26.svg"/><Relationship Id="rId18" Type="http://schemas.openxmlformats.org/officeDocument/2006/relationships/image" Target="../media/image25.png"/><Relationship Id="rId19" Type="http://schemas.openxmlformats.org/officeDocument/2006/relationships/image" Target="../media/image28.svg"/><Relationship Id="rId20" Type="http://schemas.openxmlformats.org/officeDocument/2006/relationships/image" Target="../media/image27.png"/><Relationship Id="rId21" Type="http://schemas.openxmlformats.org/officeDocument/2006/relationships/image" Target="../media/image30.svg"/><Relationship Id="rId22" Type="http://schemas.openxmlformats.org/officeDocument/2006/relationships/image" Target="../media/image29.png"/><Relationship Id="rId23" Type="http://schemas.openxmlformats.org/officeDocument/2006/relationships/image" Target="../media/image32.svg"/><Relationship Id="rId24" Type="http://schemas.openxmlformats.org/officeDocument/2006/relationships/image" Target="../media/image31.png"/><Relationship Id="rId25" Type="http://schemas.openxmlformats.org/officeDocument/2006/relationships/image" Target="../media/image34.svg"/><Relationship Id="rId26" Type="http://schemas.openxmlformats.org/officeDocument/2006/relationships/image" Target="../media/image33.png"/><Relationship Id="rId27" Type="http://schemas.openxmlformats.org/officeDocument/2006/relationships/image" Target="../media/image36.svg"/><Relationship Id="rId28" Type="http://schemas.openxmlformats.org/officeDocument/2006/relationships/image" Target="../media/image35.png"/><Relationship Id="rId29" Type="http://schemas.openxmlformats.org/officeDocument/2006/relationships/image" Target="../media/image38.svg"/><Relationship Id="rId30" Type="http://schemas.openxmlformats.org/officeDocument/2006/relationships/image" Target="../media/image37.png"/><Relationship Id="rId31" Type="http://schemas.openxmlformats.org/officeDocument/2006/relationships/image" Target="../media/image40.svg"/><Relationship Id="rId32" Type="http://schemas.openxmlformats.org/officeDocument/2006/relationships/image" Target="../media/image39.png"/><Relationship Id="rId33" Type="http://schemas.openxmlformats.org/officeDocument/2006/relationships/image" Target="../media/image42.svg"/><Relationship Id="rId34" Type="http://schemas.openxmlformats.org/officeDocument/2006/relationships/image" Target="../media/image41.png"/><Relationship Id="rId35" Type="http://schemas.openxmlformats.org/officeDocument/2006/relationships/image" Target="../media/image44.svg"/><Relationship Id="rId36" Type="http://schemas.openxmlformats.org/officeDocument/2006/relationships/image" Target="../media/image43.png"/><Relationship Id="rId37" Type="http://schemas.openxmlformats.org/officeDocument/2006/relationships/image" Target="../media/image46.svg"/><Relationship Id="rId38" Type="http://schemas.openxmlformats.org/officeDocument/2006/relationships/image" Target="../media/image45.png"/><Relationship Id="rId39" Type="http://schemas.openxmlformats.org/officeDocument/2006/relationships/image" Target="../media/image48.sv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4.xml"/><Relationship Id="rId4" Type="http://schemas.openxmlformats.org/officeDocument/2006/relationships/image" Target="../media/image11.png"/><Relationship Id="rId5" Type="http://schemas.openxmlformats.org/officeDocument/2006/relationships/image" Target="../media/image14.svg"/><Relationship Id="rId6" Type="http://schemas.openxmlformats.org/officeDocument/2006/relationships/image" Target="../media/image47.png"/><Relationship Id="rId7" Type="http://schemas.openxmlformats.org/officeDocument/2006/relationships/image" Target="../media/image50.sv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6.xml"/><Relationship Id="rId4" Type="http://schemas.openxmlformats.org/officeDocument/2006/relationships/image" Target="../media/image23.png"/><Relationship Id="rId5" Type="http://schemas.openxmlformats.org/officeDocument/2006/relationships/image" Target="../media/image26.svg"/><Relationship Id="rId6" Type="http://schemas.openxmlformats.org/officeDocument/2006/relationships/image" Target="../media/image51.png"/><Relationship Id="rId7" Type="http://schemas.openxmlformats.org/officeDocument/2006/relationships/image" Target="../media/image54.svg"/><Relationship Id="rId8" Type="http://schemas.openxmlformats.org/officeDocument/2006/relationships/image" Target="../media/image53.png"/><Relationship Id="rId9" Type="http://schemas.openxmlformats.org/officeDocument/2006/relationships/image" Target="../media/image56.svg"/><Relationship Id="rId10" Type="http://schemas.openxmlformats.org/officeDocument/2006/relationships/image" Target="../media/image37.png"/><Relationship Id="rId11" Type="http://schemas.openxmlformats.org/officeDocument/2006/relationships/image" Target="../media/image40.svg"/><Relationship Id="rId12" Type="http://schemas.openxmlformats.org/officeDocument/2006/relationships/image" Target="../media/image55.png"/><Relationship Id="rId13" Type="http://schemas.openxmlformats.org/officeDocument/2006/relationships/image" Target="../media/image58.svg"/><Relationship Id="rId14" Type="http://schemas.openxmlformats.org/officeDocument/2006/relationships/image" Target="../media/image15.png"/><Relationship Id="rId15" Type="http://schemas.openxmlformats.org/officeDocument/2006/relationships/image" Target="../media/image18.svg"/><Relationship Id="rId16" Type="http://schemas.openxmlformats.org/officeDocument/2006/relationships/image" Target="../media/image17.png"/><Relationship Id="rId17" Type="http://schemas.openxmlformats.org/officeDocument/2006/relationships/image" Target="../media/image20.svg"/><Relationship Id="rId18" Type="http://schemas.openxmlformats.org/officeDocument/2006/relationships/image" Target="../media/image19.png"/><Relationship Id="rId19" Type="http://schemas.openxmlformats.org/officeDocument/2006/relationships/image" Target="../media/image22.svg"/><Relationship Id="rId20" Type="http://schemas.openxmlformats.org/officeDocument/2006/relationships/image" Target="../media/image57.png"/><Relationship Id="rId21" Type="http://schemas.openxmlformats.org/officeDocument/2006/relationships/image" Target="../media/image60.svg"/><Relationship Id="rId22" Type="http://schemas.openxmlformats.org/officeDocument/2006/relationships/image" Target="../media/image59.png"/><Relationship Id="rId23" Type="http://schemas.openxmlformats.org/officeDocument/2006/relationships/image" Target="../media/image62.svg"/><Relationship Id="rId24" Type="http://schemas.openxmlformats.org/officeDocument/2006/relationships/image" Target="../media/image61.png"/><Relationship Id="rId25" Type="http://schemas.openxmlformats.org/officeDocument/2006/relationships/image" Target="../media/image64.sv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7.xml"/><Relationship Id="rId4" Type="http://schemas.openxmlformats.org/officeDocument/2006/relationships/image" Target="../media/image51.png"/><Relationship Id="rId5" Type="http://schemas.openxmlformats.org/officeDocument/2006/relationships/image" Target="../media/image54.svg"/><Relationship Id="rId6" Type="http://schemas.openxmlformats.org/officeDocument/2006/relationships/image" Target="../media/image53.png"/><Relationship Id="rId7" Type="http://schemas.openxmlformats.org/officeDocument/2006/relationships/image" Target="../media/image56.svg"/><Relationship Id="rId8" Type="http://schemas.openxmlformats.org/officeDocument/2006/relationships/image" Target="../media/image55.png"/><Relationship Id="rId9" Type="http://schemas.openxmlformats.org/officeDocument/2006/relationships/image" Target="../media/image58.svg"/><Relationship Id="rId10" Type="http://schemas.openxmlformats.org/officeDocument/2006/relationships/image" Target="../media/image17.png"/><Relationship Id="rId11" Type="http://schemas.openxmlformats.org/officeDocument/2006/relationships/image" Target="../media/image20.sv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8.xml"/><Relationship Id="rId4" Type="http://schemas.openxmlformats.org/officeDocument/2006/relationships/image" Target="../media/image59.png"/><Relationship Id="rId5" Type="http://schemas.openxmlformats.org/officeDocument/2006/relationships/image" Target="../media/image62.svg"/><Relationship Id="rId6" Type="http://schemas.openxmlformats.org/officeDocument/2006/relationships/image" Target="../media/image23.png"/><Relationship Id="rId7" Type="http://schemas.openxmlformats.org/officeDocument/2006/relationships/image" Target="../media/image26.svg"/><Relationship Id="rId8" Type="http://schemas.openxmlformats.org/officeDocument/2006/relationships/image" Target="../media/image51.png"/><Relationship Id="rId9" Type="http://schemas.openxmlformats.org/officeDocument/2006/relationships/image" Target="../media/image54.svg"/><Relationship Id="rId10" Type="http://schemas.openxmlformats.org/officeDocument/2006/relationships/image" Target="../media/image27.png"/><Relationship Id="rId11" Type="http://schemas.openxmlformats.org/officeDocument/2006/relationships/image" Target="../media/image30.svg"/><Relationship Id="rId12" Type="http://schemas.openxmlformats.org/officeDocument/2006/relationships/image" Target="../media/image53.png"/><Relationship Id="rId13" Type="http://schemas.openxmlformats.org/officeDocument/2006/relationships/image" Target="../media/image56.svg"/><Relationship Id="rId14" Type="http://schemas.openxmlformats.org/officeDocument/2006/relationships/image" Target="../media/image29.png"/><Relationship Id="rId15" Type="http://schemas.openxmlformats.org/officeDocument/2006/relationships/image" Target="../media/image32.svg"/><Relationship Id="rId16" Type="http://schemas.openxmlformats.org/officeDocument/2006/relationships/image" Target="../media/image31.png"/><Relationship Id="rId17" Type="http://schemas.openxmlformats.org/officeDocument/2006/relationships/image" Target="../media/image34.svg"/><Relationship Id="rId18" Type="http://schemas.openxmlformats.org/officeDocument/2006/relationships/image" Target="../media/image63.png"/><Relationship Id="rId19" Type="http://schemas.openxmlformats.org/officeDocument/2006/relationships/image" Target="../media/image66.svg"/><Relationship Id="rId20" Type="http://schemas.openxmlformats.org/officeDocument/2006/relationships/image" Target="../media/image33.png"/><Relationship Id="rId21" Type="http://schemas.openxmlformats.org/officeDocument/2006/relationships/image" Target="../media/image36.svg"/><Relationship Id="rId22" Type="http://schemas.openxmlformats.org/officeDocument/2006/relationships/image" Target="../media/image37.png"/><Relationship Id="rId23" Type="http://schemas.openxmlformats.org/officeDocument/2006/relationships/image" Target="../media/image40.svg"/><Relationship Id="rId24" Type="http://schemas.openxmlformats.org/officeDocument/2006/relationships/image" Target="../media/image17.png"/><Relationship Id="rId25" Type="http://schemas.openxmlformats.org/officeDocument/2006/relationships/image" Target="../media/image20.svg"/><Relationship Id="rId26" Type="http://schemas.openxmlformats.org/officeDocument/2006/relationships/image" Target="../media/image35.png"/><Relationship Id="rId27" Type="http://schemas.openxmlformats.org/officeDocument/2006/relationships/image" Target="../media/image38.svg"/><Relationship Id="rId28" Type="http://schemas.openxmlformats.org/officeDocument/2006/relationships/image" Target="../media/image43.png"/><Relationship Id="rId29" Type="http://schemas.openxmlformats.org/officeDocument/2006/relationships/image" Target="../media/image46.sv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9.xml"/></Relationships>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A shared platform keeps each AI workload private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2927350" cy="256032"/>
          </a:xfrm>
          <a:prstGeom prst="rect">
            <a:avLst/>
          </a:prstGeom>
          <a:noFill/>
        </p:spPr>
        <p:txBody>
          <a:bodyPr wrap="square" lIns="0" rIns="0" tIns="0" bIns="0" anchor="t">
            <a:noAutofit/>
          </a:bodyPr>
          <a:lstStyle/>
          <a:p>
            <a:pPr algn="l"/>
            <a:r>
              <a:rPr sz="1100" b="1" i="0">
                <a:solidFill>
                  <a:srgbClr val="2F78C4"/>
                </a:solidFill>
                <a:latin typeface="Arial"/>
              </a:rPr>
              <a:t>EXECUTIVE SUMMARY  ·  6 OF 10</a:t>
            </a:r>
          </a:p>
        </p:txBody>
      </p:sp>
      <p:sp>
        <p:nvSpPr>
          <p:cNvPr id="5" name="Status chip: PROPOSED REFERENCE ARCHITECTURE"/>
          <p:cNvSpPr/>
          <p:nvPr/>
        </p:nvSpPr>
        <p:spPr>
          <a:xfrm>
            <a:off x="3658870" y="274320"/>
            <a:ext cx="295148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REFERENCE ARCHITECTURE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v4.0  ·  11 Oct 2026  ·  Working proposal, not approved terms</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06</a:t>
            </a:r>
          </a:p>
        </p:txBody>
      </p:sp>
      <p:sp>
        <p:nvSpPr>
          <p:cNvPr id="8" name="Rounded Rectangle 7"/>
          <p:cNvSpPr/>
          <p:nvPr/>
        </p:nvSpPr>
        <p:spPr>
          <a:xfrm>
            <a:off x="411480" y="1325880"/>
            <a:ext cx="3063240" cy="4343400"/>
          </a:xfrm>
          <a:prstGeom prst="roundRect">
            <a:avLst>
              <a:gd name="adj" fmla="val 2985"/>
            </a:avLst>
          </a:prstGeom>
          <a:solidFill>
            <a:srgbClr val="FFFFFF"/>
          </a:solidFill>
          <a:ln w="15875">
            <a:solidFill>
              <a:srgbClr val="000048"/>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21208" y="1380744"/>
            <a:ext cx="2843784" cy="237744"/>
          </a:xfrm>
          <a:prstGeom prst="rect">
            <a:avLst/>
          </a:prstGeom>
          <a:noFill/>
        </p:spPr>
        <p:txBody>
          <a:bodyPr wrap="square" lIns="0" rIns="0" tIns="0" bIns="0" anchor="t">
            <a:noAutofit/>
          </a:bodyPr>
          <a:lstStyle/>
          <a:p>
            <a:pPr algn="l"/>
            <a:r>
              <a:rPr sz="1200" b="1" i="0">
                <a:solidFill>
                  <a:srgbClr val="000048"/>
                </a:solidFill>
                <a:latin typeface="Arial"/>
              </a:rPr>
              <a:t>PLATFORM LANDING ZONE (SHARED)</a:t>
            </a:r>
          </a:p>
        </p:txBody>
      </p:sp>
      <p:pic>
        <p:nvPicPr>
          <p:cNvPr id="10" name="Azure icon: Management Groups" descr="Official Azure icon: Management Groups"/>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21792" y="1764792"/>
            <a:ext cx="384048" cy="384048"/>
          </a:xfrm>
          <a:prstGeom prst="rect">
            <a:avLst/>
          </a:prstGeom>
        </p:spPr>
      </p:pic>
      <p:sp>
        <p:nvSpPr>
          <p:cNvPr id="11" name="TextBox 10"/>
          <p:cNvSpPr txBox="1"/>
          <p:nvPr/>
        </p:nvSpPr>
        <p:spPr>
          <a:xfrm>
            <a:off x="1078992" y="1728216"/>
            <a:ext cx="2267712" cy="457199"/>
          </a:xfrm>
          <a:prstGeom prst="rect">
            <a:avLst/>
          </a:prstGeom>
          <a:noFill/>
        </p:spPr>
        <p:txBody>
          <a:bodyPr wrap="square" lIns="0" rIns="0" tIns="0" bIns="0" anchor="ctr">
            <a:noAutofit/>
          </a:bodyPr>
          <a:lstStyle/>
          <a:p>
            <a:pPr algn="l"/>
            <a:r>
              <a:rPr sz="1300" b="1" i="0">
                <a:solidFill>
                  <a:srgbClr val="000048"/>
                </a:solidFill>
                <a:latin typeface="Arial"/>
              </a:rPr>
              <a:t>Management groups</a:t>
            </a:r>
          </a:p>
          <a:p>
            <a:pPr algn="l"/>
            <a:r>
              <a:rPr sz="1200" b="0" i="0">
                <a:solidFill>
                  <a:srgbClr val="53565A"/>
                </a:solidFill>
                <a:latin typeface="Arial"/>
              </a:rPr>
              <a:t>policy and RBAC inheritance</a:t>
            </a:r>
          </a:p>
        </p:txBody>
      </p:sp>
      <p:pic>
        <p:nvPicPr>
          <p:cNvPr id="12" name="Azure icon: Azure Policy" descr="Official Azure icon: Azure Policy"/>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21792" y="2359152"/>
            <a:ext cx="384048" cy="384048"/>
          </a:xfrm>
          <a:prstGeom prst="rect">
            <a:avLst/>
          </a:prstGeom>
        </p:spPr>
      </p:pic>
      <p:sp>
        <p:nvSpPr>
          <p:cNvPr id="13" name="TextBox 12"/>
          <p:cNvSpPr txBox="1"/>
          <p:nvPr/>
        </p:nvSpPr>
        <p:spPr>
          <a:xfrm>
            <a:off x="1078992" y="2322576"/>
            <a:ext cx="2267712" cy="457199"/>
          </a:xfrm>
          <a:prstGeom prst="rect">
            <a:avLst/>
          </a:prstGeom>
          <a:noFill/>
        </p:spPr>
        <p:txBody>
          <a:bodyPr wrap="square" lIns="0" rIns="0" tIns="0" bIns="0" anchor="ctr">
            <a:noAutofit/>
          </a:bodyPr>
          <a:lstStyle/>
          <a:p>
            <a:pPr algn="l"/>
            <a:r>
              <a:rPr sz="1300" b="1" i="0">
                <a:solidFill>
                  <a:srgbClr val="000048"/>
                </a:solidFill>
                <a:latin typeface="Arial"/>
              </a:rPr>
              <a:t>Azure Policy</a:t>
            </a:r>
          </a:p>
          <a:p>
            <a:pPr algn="l"/>
            <a:r>
              <a:rPr sz="1200" b="0" i="0">
                <a:solidFill>
                  <a:srgbClr val="53565A"/>
                </a:solidFill>
                <a:latin typeface="Arial"/>
              </a:rPr>
              <a:t>guardrails and tags</a:t>
            </a:r>
          </a:p>
        </p:txBody>
      </p:sp>
      <p:pic>
        <p:nvPicPr>
          <p:cNvPr id="14" name="Azure icon: Virtual Networks" descr="Official Azure icon: Virtual Networks"/>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21792" y="2953512"/>
            <a:ext cx="384048" cy="384048"/>
          </a:xfrm>
          <a:prstGeom prst="rect">
            <a:avLst/>
          </a:prstGeom>
        </p:spPr>
      </p:pic>
      <p:sp>
        <p:nvSpPr>
          <p:cNvPr id="15" name="TextBox 14"/>
          <p:cNvSpPr txBox="1"/>
          <p:nvPr/>
        </p:nvSpPr>
        <p:spPr>
          <a:xfrm>
            <a:off x="1078992" y="2916936"/>
            <a:ext cx="2267712" cy="457199"/>
          </a:xfrm>
          <a:prstGeom prst="rect">
            <a:avLst/>
          </a:prstGeom>
          <a:noFill/>
        </p:spPr>
        <p:txBody>
          <a:bodyPr wrap="square" lIns="0" rIns="0" tIns="0" bIns="0" anchor="ctr">
            <a:noAutofit/>
          </a:bodyPr>
          <a:lstStyle/>
          <a:p>
            <a:pPr algn="l"/>
            <a:r>
              <a:rPr sz="1300" b="1" i="0">
                <a:solidFill>
                  <a:srgbClr val="000048"/>
                </a:solidFill>
                <a:latin typeface="Arial"/>
              </a:rPr>
              <a:t>Hub virtual network</a:t>
            </a:r>
          </a:p>
          <a:p>
            <a:pPr algn="l"/>
            <a:r>
              <a:rPr sz="1200" b="0" i="0">
                <a:solidFill>
                  <a:srgbClr val="53565A"/>
                </a:solidFill>
                <a:latin typeface="Arial"/>
              </a:rPr>
              <a:t>peering to spokes</a:t>
            </a:r>
          </a:p>
        </p:txBody>
      </p:sp>
      <p:pic>
        <p:nvPicPr>
          <p:cNvPr id="16" name="Azure icon: Firewalls" descr="Official Azure icon: Firewalls"/>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21792" y="3547872"/>
            <a:ext cx="384048" cy="384048"/>
          </a:xfrm>
          <a:prstGeom prst="rect">
            <a:avLst/>
          </a:prstGeom>
        </p:spPr>
      </p:pic>
      <p:sp>
        <p:nvSpPr>
          <p:cNvPr id="17" name="TextBox 16"/>
          <p:cNvSpPr txBox="1"/>
          <p:nvPr/>
        </p:nvSpPr>
        <p:spPr>
          <a:xfrm>
            <a:off x="1078992" y="3511296"/>
            <a:ext cx="2267712" cy="457199"/>
          </a:xfrm>
          <a:prstGeom prst="rect">
            <a:avLst/>
          </a:prstGeom>
          <a:noFill/>
        </p:spPr>
        <p:txBody>
          <a:bodyPr wrap="square" lIns="0" rIns="0" tIns="0" bIns="0" anchor="ctr">
            <a:noAutofit/>
          </a:bodyPr>
          <a:lstStyle/>
          <a:p>
            <a:pPr algn="l"/>
            <a:r>
              <a:rPr sz="1300" b="1" i="0">
                <a:solidFill>
                  <a:srgbClr val="000048"/>
                </a:solidFill>
                <a:latin typeface="Arial"/>
              </a:rPr>
              <a:t>Azure Firewall</a:t>
            </a:r>
          </a:p>
          <a:p>
            <a:pPr algn="l"/>
            <a:r>
              <a:rPr sz="1200" b="0" i="0">
                <a:solidFill>
                  <a:srgbClr val="53565A"/>
                </a:solidFill>
                <a:latin typeface="Arial"/>
              </a:rPr>
              <a:t>controlled egress</a:t>
            </a:r>
          </a:p>
        </p:txBody>
      </p:sp>
      <p:pic>
        <p:nvPicPr>
          <p:cNvPr id="18" name="Azure icon: DNS Private Resolver" descr="Official Azure icon: DNS Private Resolve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621792" y="4142232"/>
            <a:ext cx="384048" cy="384048"/>
          </a:xfrm>
          <a:prstGeom prst="rect">
            <a:avLst/>
          </a:prstGeom>
        </p:spPr>
      </p:pic>
      <p:sp>
        <p:nvSpPr>
          <p:cNvPr id="19" name="TextBox 18"/>
          <p:cNvSpPr txBox="1"/>
          <p:nvPr/>
        </p:nvSpPr>
        <p:spPr>
          <a:xfrm>
            <a:off x="1078992" y="4105656"/>
            <a:ext cx="2267712" cy="457199"/>
          </a:xfrm>
          <a:prstGeom prst="rect">
            <a:avLst/>
          </a:prstGeom>
          <a:noFill/>
        </p:spPr>
        <p:txBody>
          <a:bodyPr wrap="square" lIns="0" rIns="0" tIns="0" bIns="0" anchor="ctr">
            <a:noAutofit/>
          </a:bodyPr>
          <a:lstStyle/>
          <a:p>
            <a:pPr algn="l"/>
            <a:r>
              <a:rPr sz="1300" b="1" i="0">
                <a:solidFill>
                  <a:srgbClr val="000048"/>
                </a:solidFill>
                <a:latin typeface="Arial"/>
              </a:rPr>
              <a:t>DNS Private Resolver</a:t>
            </a:r>
          </a:p>
          <a:p>
            <a:pPr algn="l"/>
            <a:r>
              <a:rPr sz="1200" b="0" i="0">
                <a:solidFill>
                  <a:srgbClr val="53565A"/>
                </a:solidFill>
                <a:latin typeface="Arial"/>
              </a:rPr>
              <a:t>private DNS zones</a:t>
            </a:r>
          </a:p>
        </p:txBody>
      </p:sp>
      <p:pic>
        <p:nvPicPr>
          <p:cNvPr id="20" name="Azure icon: Entra Privileged Identity Management" descr="Official Azure icon: Entra Privileged Identity Management"/>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621792" y="4736592"/>
            <a:ext cx="384048" cy="384048"/>
          </a:xfrm>
          <a:prstGeom prst="rect">
            <a:avLst/>
          </a:prstGeom>
        </p:spPr>
      </p:pic>
      <p:sp>
        <p:nvSpPr>
          <p:cNvPr id="21" name="TextBox 20"/>
          <p:cNvSpPr txBox="1"/>
          <p:nvPr/>
        </p:nvSpPr>
        <p:spPr>
          <a:xfrm>
            <a:off x="1078992" y="4700016"/>
            <a:ext cx="2267712" cy="457199"/>
          </a:xfrm>
          <a:prstGeom prst="rect">
            <a:avLst/>
          </a:prstGeom>
          <a:noFill/>
        </p:spPr>
        <p:txBody>
          <a:bodyPr wrap="square" lIns="0" rIns="0" tIns="0" bIns="0" anchor="ctr">
            <a:noAutofit/>
          </a:bodyPr>
          <a:lstStyle/>
          <a:p>
            <a:pPr algn="l"/>
            <a:r>
              <a:rPr sz="1300" b="1" i="0">
                <a:solidFill>
                  <a:srgbClr val="000048"/>
                </a:solidFill>
                <a:latin typeface="Arial"/>
              </a:rPr>
              <a:t>Entra PIM</a:t>
            </a:r>
          </a:p>
          <a:p>
            <a:pPr algn="l"/>
            <a:r>
              <a:rPr sz="1200" b="0" i="0">
                <a:solidFill>
                  <a:srgbClr val="53565A"/>
                </a:solidFill>
                <a:latin typeface="Arial"/>
              </a:rPr>
              <a:t>privileged operator access</a:t>
            </a:r>
          </a:p>
        </p:txBody>
      </p:sp>
      <p:sp>
        <p:nvSpPr>
          <p:cNvPr id="22" name="Rounded Rectangle 21"/>
          <p:cNvSpPr/>
          <p:nvPr/>
        </p:nvSpPr>
        <p:spPr>
          <a:xfrm>
            <a:off x="3886200" y="1325880"/>
            <a:ext cx="7909560" cy="2423160"/>
          </a:xfrm>
          <a:prstGeom prst="roundRect">
            <a:avLst>
              <a:gd name="adj" fmla="val 3773"/>
            </a:avLst>
          </a:prstGeom>
          <a:solidFill>
            <a:srgbClr val="F7F9FC"/>
          </a:solidFill>
          <a:ln w="15875">
            <a:solidFill>
              <a:srgbClr val="8FB3D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3995928" y="1380744"/>
            <a:ext cx="7690104" cy="237744"/>
          </a:xfrm>
          <a:prstGeom prst="rect">
            <a:avLst/>
          </a:prstGeom>
          <a:noFill/>
        </p:spPr>
        <p:txBody>
          <a:bodyPr wrap="square" lIns="0" rIns="0" tIns="0" bIns="0" anchor="t">
            <a:noAutofit/>
          </a:bodyPr>
          <a:lstStyle/>
          <a:p>
            <a:pPr algn="l"/>
            <a:r>
              <a:rPr sz="1200" b="1" i="0">
                <a:solidFill>
                  <a:srgbClr val="000048"/>
                </a:solidFill>
                <a:latin typeface="Arial"/>
              </a:rPr>
              <a:t>PRODUCTION WORKLOAD SUBSCRIPTION</a:t>
            </a:r>
          </a:p>
        </p:txBody>
      </p:sp>
      <p:pic>
        <p:nvPicPr>
          <p:cNvPr id="24" name="Azure icon: Application Gateways" descr="Official Azure icon: Application Gateways"/>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4325112" y="1783080"/>
            <a:ext cx="420624" cy="420624"/>
          </a:xfrm>
          <a:prstGeom prst="rect">
            <a:avLst/>
          </a:prstGeom>
        </p:spPr>
      </p:pic>
      <p:sp>
        <p:nvSpPr>
          <p:cNvPr id="25" name="TextBox 24"/>
          <p:cNvSpPr txBox="1"/>
          <p:nvPr/>
        </p:nvSpPr>
        <p:spPr>
          <a:xfrm>
            <a:off x="4014215" y="2240280"/>
            <a:ext cx="1042415" cy="476894"/>
          </a:xfrm>
          <a:prstGeom prst="rect">
            <a:avLst/>
          </a:prstGeom>
          <a:noFill/>
        </p:spPr>
        <p:txBody>
          <a:bodyPr wrap="square" lIns="0" rIns="0" tIns="0" bIns="0" anchor="t">
            <a:noAutofit/>
          </a:bodyPr>
          <a:lstStyle/>
          <a:p>
            <a:pPr algn="ctr"/>
            <a:r>
              <a:rPr sz="1200" b="1" i="0">
                <a:solidFill>
                  <a:srgbClr val="000048"/>
                </a:solidFill>
                <a:latin typeface="Arial"/>
              </a:rPr>
              <a:t>App Gateway</a:t>
            </a:r>
          </a:p>
          <a:p>
            <a:pPr algn="ctr"/>
            <a:r>
              <a:rPr sz="1200" b="0" i="0">
                <a:solidFill>
                  <a:srgbClr val="53565A"/>
                </a:solidFill>
                <a:latin typeface="Arial"/>
              </a:rPr>
              <a:t>WAF ingress</a:t>
            </a:r>
          </a:p>
        </p:txBody>
      </p:sp>
      <p:cxnSp>
        <p:nvCxnSpPr>
          <p:cNvPr id="26" name="Connector (flow)"/>
          <p:cNvCxnSpPr/>
          <p:nvPr/>
        </p:nvCxnSpPr>
        <p:spPr>
          <a:xfrm>
            <a:off x="5001768" y="1938528"/>
            <a:ext cx="256031"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pic>
        <p:nvPicPr>
          <p:cNvPr id="27" name="Azure icon: Container Apps Environments" descr="Official Azure icon: Container Apps Environments"/>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5513831" y="1783080"/>
            <a:ext cx="420624" cy="420624"/>
          </a:xfrm>
          <a:prstGeom prst="rect">
            <a:avLst/>
          </a:prstGeom>
        </p:spPr>
      </p:pic>
      <p:sp>
        <p:nvSpPr>
          <p:cNvPr id="28" name="TextBox 27"/>
          <p:cNvSpPr txBox="1"/>
          <p:nvPr/>
        </p:nvSpPr>
        <p:spPr>
          <a:xfrm>
            <a:off x="5202936" y="2240280"/>
            <a:ext cx="1042415" cy="476894"/>
          </a:xfrm>
          <a:prstGeom prst="rect">
            <a:avLst/>
          </a:prstGeom>
          <a:noFill/>
        </p:spPr>
        <p:txBody>
          <a:bodyPr wrap="square" lIns="0" rIns="0" tIns="0" bIns="0" anchor="t">
            <a:noAutofit/>
          </a:bodyPr>
          <a:lstStyle/>
          <a:p>
            <a:pPr algn="ctr"/>
            <a:r>
              <a:rPr sz="1200" b="1" i="0">
                <a:solidFill>
                  <a:srgbClr val="000048"/>
                </a:solidFill>
                <a:latin typeface="Arial"/>
              </a:rPr>
              <a:t>App host</a:t>
            </a:r>
          </a:p>
          <a:p>
            <a:pPr algn="ctr"/>
            <a:r>
              <a:rPr sz="1200" b="0" i="0">
                <a:solidFill>
                  <a:srgbClr val="53565A"/>
                </a:solidFill>
                <a:latin typeface="Arial"/>
              </a:rPr>
              <a:t>Container Apps</a:t>
            </a:r>
          </a:p>
        </p:txBody>
      </p:sp>
      <p:cxnSp>
        <p:nvCxnSpPr>
          <p:cNvPr id="29" name="Connector (flow)"/>
          <p:cNvCxnSpPr/>
          <p:nvPr/>
        </p:nvCxnSpPr>
        <p:spPr>
          <a:xfrm>
            <a:off x="6190488" y="1938528"/>
            <a:ext cx="256031"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pic>
        <p:nvPicPr>
          <p:cNvPr id="30" name="Azure icon: Microsoft Foundry" descr="Official Azure icon: Microsoft Foundry"/>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6702551" y="1783080"/>
            <a:ext cx="420624" cy="420624"/>
          </a:xfrm>
          <a:prstGeom prst="rect">
            <a:avLst/>
          </a:prstGeom>
        </p:spPr>
      </p:pic>
      <p:sp>
        <p:nvSpPr>
          <p:cNvPr id="31" name="TextBox 30"/>
          <p:cNvSpPr txBox="1"/>
          <p:nvPr/>
        </p:nvSpPr>
        <p:spPr>
          <a:xfrm>
            <a:off x="6391655" y="2240280"/>
            <a:ext cx="1042415" cy="476894"/>
          </a:xfrm>
          <a:prstGeom prst="rect">
            <a:avLst/>
          </a:prstGeom>
          <a:noFill/>
        </p:spPr>
        <p:txBody>
          <a:bodyPr wrap="square" lIns="0" rIns="0" tIns="0" bIns="0" anchor="t">
            <a:noAutofit/>
          </a:bodyPr>
          <a:lstStyle/>
          <a:p>
            <a:pPr algn="ctr"/>
            <a:r>
              <a:rPr sz="1200" b="1" i="0">
                <a:solidFill>
                  <a:srgbClr val="000048"/>
                </a:solidFill>
                <a:latin typeface="Arial"/>
              </a:rPr>
              <a:t>Foundry project</a:t>
            </a:r>
          </a:p>
          <a:p>
            <a:pPr algn="ctr"/>
            <a:r>
              <a:rPr sz="1200" b="0" i="0">
                <a:solidFill>
                  <a:srgbClr val="53565A"/>
                </a:solidFill>
                <a:latin typeface="Arial"/>
              </a:rPr>
              <a:t>agents</a:t>
            </a:r>
          </a:p>
        </p:txBody>
      </p:sp>
      <p:cxnSp>
        <p:nvCxnSpPr>
          <p:cNvPr id="32" name="Connector (flow)"/>
          <p:cNvCxnSpPr/>
          <p:nvPr/>
        </p:nvCxnSpPr>
        <p:spPr>
          <a:xfrm>
            <a:off x="7379208" y="1938528"/>
            <a:ext cx="256032"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pic>
        <p:nvPicPr>
          <p:cNvPr id="33" name="Azure icon: Foundry Models" descr="Official Azure icon: Foundry Models"/>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7891271" y="1783080"/>
            <a:ext cx="420624" cy="420624"/>
          </a:xfrm>
          <a:prstGeom prst="rect">
            <a:avLst/>
          </a:prstGeom>
        </p:spPr>
      </p:pic>
      <p:sp>
        <p:nvSpPr>
          <p:cNvPr id="34" name="TextBox 33"/>
          <p:cNvSpPr txBox="1"/>
          <p:nvPr/>
        </p:nvSpPr>
        <p:spPr>
          <a:xfrm>
            <a:off x="7580375" y="2240280"/>
            <a:ext cx="1042415" cy="476894"/>
          </a:xfrm>
          <a:prstGeom prst="rect">
            <a:avLst/>
          </a:prstGeom>
          <a:noFill/>
        </p:spPr>
        <p:txBody>
          <a:bodyPr wrap="square" lIns="0" rIns="0" tIns="0" bIns="0" anchor="t">
            <a:noAutofit/>
          </a:bodyPr>
          <a:lstStyle/>
          <a:p>
            <a:pPr algn="ctr"/>
            <a:r>
              <a:rPr sz="1200" b="1" i="0">
                <a:solidFill>
                  <a:srgbClr val="000048"/>
                </a:solidFill>
                <a:latin typeface="Arial"/>
              </a:rPr>
              <a:t>Model</a:t>
            </a:r>
          </a:p>
          <a:p>
            <a:pPr algn="ctr"/>
            <a:r>
              <a:rPr sz="1200" b="0" i="0">
                <a:solidFill>
                  <a:srgbClr val="53565A"/>
                </a:solidFill>
                <a:latin typeface="Arial"/>
              </a:rPr>
              <a:t>deployment</a:t>
            </a:r>
          </a:p>
        </p:txBody>
      </p:sp>
      <p:sp>
        <p:nvSpPr>
          <p:cNvPr id="35" name="Rounded Rectangle 34"/>
          <p:cNvSpPr/>
          <p:nvPr/>
        </p:nvSpPr>
        <p:spPr>
          <a:xfrm>
            <a:off x="8778240" y="1673352"/>
            <a:ext cx="2926080" cy="1371600"/>
          </a:xfrm>
          <a:prstGeom prst="roundRect">
            <a:avLst>
              <a:gd name="adj" fmla="val 6666"/>
            </a:avLst>
          </a:prstGeom>
          <a:solidFill>
            <a:srgbClr val="FAFAFA"/>
          </a:solidFill>
          <a:ln w="15875">
            <a:solidFill>
              <a:srgbClr val="A0A0A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8851392" y="1691640"/>
            <a:ext cx="2743200" cy="228600"/>
          </a:xfrm>
          <a:prstGeom prst="rect">
            <a:avLst/>
          </a:prstGeom>
          <a:noFill/>
        </p:spPr>
        <p:txBody>
          <a:bodyPr wrap="square" lIns="0" rIns="0" tIns="0" bIns="0" anchor="t">
            <a:noAutofit/>
          </a:bodyPr>
          <a:lstStyle/>
          <a:p>
            <a:pPr algn="l"/>
            <a:r>
              <a:rPr sz="1200" b="1" i="0">
                <a:solidFill>
                  <a:srgbClr val="53565A"/>
                </a:solidFill>
                <a:latin typeface="Arial"/>
              </a:rPr>
              <a:t>DATA AND SECRETS</a:t>
            </a:r>
          </a:p>
        </p:txBody>
      </p:sp>
      <p:pic>
        <p:nvPicPr>
          <p:cNvPr id="37" name="Azure icon: AI Search (Cognitive Search icon)" descr="Official Azure icon: AI Search (Cognitive Search icon)"/>
          <p:cNvPicPr>
            <a:picLocks noChangeAspect="1"/>
          </p:cNvPicPr>
          <p:nvPr/>
        </p:nvPicPr>
        <p:blipFill>
          <a:blip r:embed="rId24">
            <a:extLst>
              <a:ext uri="{96DAC541-7B7A-43D3-8B79-37D633B846F1}">
                <asvg:svgBlip xmlns:asvg="http://schemas.microsoft.com/office/drawing/2016/SVG/main" r:embed="rId25"/>
              </a:ext>
            </a:extLst>
          </a:blip>
          <a:stretch>
            <a:fillRect/>
          </a:stretch>
        </p:blipFill>
        <p:spPr>
          <a:xfrm>
            <a:off x="9084563" y="1947672"/>
            <a:ext cx="384048" cy="384048"/>
          </a:xfrm>
          <a:prstGeom prst="rect">
            <a:avLst/>
          </a:prstGeom>
        </p:spPr>
      </p:pic>
      <p:sp>
        <p:nvSpPr>
          <p:cNvPr id="38" name="TextBox 37"/>
          <p:cNvSpPr txBox="1"/>
          <p:nvPr/>
        </p:nvSpPr>
        <p:spPr>
          <a:xfrm>
            <a:off x="8833103" y="2368296"/>
            <a:ext cx="886968" cy="277133"/>
          </a:xfrm>
          <a:prstGeom prst="rect">
            <a:avLst/>
          </a:prstGeom>
          <a:noFill/>
        </p:spPr>
        <p:txBody>
          <a:bodyPr wrap="square" lIns="0" rIns="0" tIns="0" bIns="0" anchor="t">
            <a:noAutofit/>
          </a:bodyPr>
          <a:lstStyle/>
          <a:p>
            <a:pPr algn="ctr"/>
            <a:r>
              <a:rPr sz="1200" b="1" i="0">
                <a:solidFill>
                  <a:srgbClr val="000048"/>
                </a:solidFill>
                <a:latin typeface="Arial"/>
              </a:rPr>
              <a:t>AI Search</a:t>
            </a:r>
          </a:p>
        </p:txBody>
      </p:sp>
      <p:pic>
        <p:nvPicPr>
          <p:cNvPr id="39" name="Azure icon: Storage account" descr="Official Azure icon: Storage account"/>
          <p:cNvPicPr>
            <a:picLocks noChangeAspect="1"/>
          </p:cNvPicPr>
          <p:nvPr/>
        </p:nvPicPr>
        <p:blipFill>
          <a:blip r:embed="rId26">
            <a:extLst>
              <a:ext uri="{96DAC541-7B7A-43D3-8B79-37D633B846F1}">
                <asvg:svgBlip xmlns:asvg="http://schemas.microsoft.com/office/drawing/2016/SVG/main" r:embed="rId27"/>
              </a:ext>
            </a:extLst>
          </a:blip>
          <a:stretch>
            <a:fillRect/>
          </a:stretch>
        </p:blipFill>
        <p:spPr>
          <a:xfrm>
            <a:off x="10044684" y="1947672"/>
            <a:ext cx="384048" cy="384048"/>
          </a:xfrm>
          <a:prstGeom prst="rect">
            <a:avLst/>
          </a:prstGeom>
        </p:spPr>
      </p:pic>
      <p:sp>
        <p:nvSpPr>
          <p:cNvPr id="40" name="TextBox 39"/>
          <p:cNvSpPr txBox="1"/>
          <p:nvPr/>
        </p:nvSpPr>
        <p:spPr>
          <a:xfrm>
            <a:off x="9793224" y="2368296"/>
            <a:ext cx="886968" cy="277133"/>
          </a:xfrm>
          <a:prstGeom prst="rect">
            <a:avLst/>
          </a:prstGeom>
          <a:noFill/>
        </p:spPr>
        <p:txBody>
          <a:bodyPr wrap="square" lIns="0" rIns="0" tIns="0" bIns="0" anchor="t">
            <a:noAutofit/>
          </a:bodyPr>
          <a:lstStyle/>
          <a:p>
            <a:pPr algn="ctr"/>
            <a:r>
              <a:rPr sz="1200" b="1" i="0">
                <a:solidFill>
                  <a:srgbClr val="000048"/>
                </a:solidFill>
                <a:latin typeface="Arial"/>
              </a:rPr>
              <a:t>Storage account</a:t>
            </a:r>
          </a:p>
        </p:txBody>
      </p:sp>
      <p:pic>
        <p:nvPicPr>
          <p:cNvPr id="41" name="Azure icon: Key Vault" descr="Official Azure icon: Key Vault"/>
          <p:cNvPicPr>
            <a:picLocks noChangeAspect="1"/>
          </p:cNvPicPr>
          <p:nvPr/>
        </p:nvPicPr>
        <p:blipFill>
          <a:blip r:embed="rId28">
            <a:extLst>
              <a:ext uri="{96DAC541-7B7A-43D3-8B79-37D633B846F1}">
                <asvg:svgBlip xmlns:asvg="http://schemas.microsoft.com/office/drawing/2016/SVG/main" r:embed="rId29"/>
              </a:ext>
            </a:extLst>
          </a:blip>
          <a:stretch>
            <a:fillRect/>
          </a:stretch>
        </p:blipFill>
        <p:spPr>
          <a:xfrm>
            <a:off x="11004803" y="1947672"/>
            <a:ext cx="384048" cy="384048"/>
          </a:xfrm>
          <a:prstGeom prst="rect">
            <a:avLst/>
          </a:prstGeom>
        </p:spPr>
      </p:pic>
      <p:sp>
        <p:nvSpPr>
          <p:cNvPr id="42" name="TextBox 41"/>
          <p:cNvSpPr txBox="1"/>
          <p:nvPr/>
        </p:nvSpPr>
        <p:spPr>
          <a:xfrm>
            <a:off x="10753343" y="2368296"/>
            <a:ext cx="886968" cy="277133"/>
          </a:xfrm>
          <a:prstGeom prst="rect">
            <a:avLst/>
          </a:prstGeom>
          <a:noFill/>
        </p:spPr>
        <p:txBody>
          <a:bodyPr wrap="square" lIns="0" rIns="0" tIns="0" bIns="0" anchor="t">
            <a:noAutofit/>
          </a:bodyPr>
          <a:lstStyle/>
          <a:p>
            <a:pPr algn="ctr"/>
            <a:r>
              <a:rPr sz="1200" b="1" i="0">
                <a:solidFill>
                  <a:srgbClr val="000048"/>
                </a:solidFill>
                <a:latin typeface="Arial"/>
              </a:rPr>
              <a:t>Key Vault</a:t>
            </a:r>
          </a:p>
        </p:txBody>
      </p:sp>
      <p:cxnSp>
        <p:nvCxnSpPr>
          <p:cNvPr id="43" name="Connector (data)"/>
          <p:cNvCxnSpPr/>
          <p:nvPr/>
        </p:nvCxnSpPr>
        <p:spPr>
          <a:xfrm>
            <a:off x="8321040" y="2258568"/>
            <a:ext cx="457200" cy="0"/>
          </a:xfrm>
          <a:prstGeom prst="line">
            <a:avLst/>
          </a:prstGeom>
          <a:ln w="19050">
            <a:solidFill>
              <a:srgbClr val="2F78C4"/>
            </a:solidFill>
            <a:tailEnd type="triangle" w="med" len="med"/>
          </a:ln>
        </p:spPr>
        <p:style>
          <a:lnRef idx="2">
            <a:schemeClr val="accent1"/>
          </a:lnRef>
          <a:fillRef idx="0">
            <a:schemeClr val="accent1"/>
          </a:fillRef>
          <a:effectRef idx="1">
            <a:schemeClr val="accent1"/>
          </a:effectRef>
          <a:fontRef idx="minor">
            <a:schemeClr val="tx1"/>
          </a:fontRef>
        </p:style>
      </p:cxnSp>
      <p:sp>
        <p:nvSpPr>
          <p:cNvPr id="44" name="Rounded Rectangle 43"/>
          <p:cNvSpPr/>
          <p:nvPr/>
        </p:nvSpPr>
        <p:spPr>
          <a:xfrm>
            <a:off x="4023360" y="3136391"/>
            <a:ext cx="7635240" cy="438912"/>
          </a:xfrm>
          <a:prstGeom prst="roundRect">
            <a:avLst>
              <a:gd name="adj" fmla="val 16666"/>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200" b="0" i="0">
                <a:solidFill>
                  <a:srgbClr val="000048"/>
                </a:solidFill>
                <a:latin typeface="Arial"/>
              </a:rPr>
              <a:t>Private endpoints for Foundry, AI Search, Storage and Key Vault  ·  managed identities, no shared keys</a:t>
            </a:r>
          </a:p>
        </p:txBody>
      </p:sp>
      <p:pic>
        <p:nvPicPr>
          <p:cNvPr id="45" name="Azure icon: Private Endpoints" descr="Official Azure icon: Private Endpoints"/>
          <p:cNvPicPr>
            <a:picLocks noChangeAspect="1"/>
          </p:cNvPicPr>
          <p:nvPr/>
        </p:nvPicPr>
        <p:blipFill>
          <a:blip r:embed="rId30">
            <a:extLst>
              <a:ext uri="{96DAC541-7B7A-43D3-8B79-37D633B846F1}">
                <asvg:svgBlip xmlns:asvg="http://schemas.microsoft.com/office/drawing/2016/SVG/main" r:embed="rId31"/>
              </a:ext>
            </a:extLst>
          </a:blip>
          <a:stretch>
            <a:fillRect/>
          </a:stretch>
        </p:blipFill>
        <p:spPr>
          <a:xfrm>
            <a:off x="11320272" y="3172968"/>
            <a:ext cx="347472" cy="347472"/>
          </a:xfrm>
          <a:prstGeom prst="rect">
            <a:avLst/>
          </a:prstGeom>
        </p:spPr>
      </p:pic>
      <p:sp>
        <p:nvSpPr>
          <p:cNvPr id="46" name="Rounded Rectangle 45"/>
          <p:cNvSpPr/>
          <p:nvPr/>
        </p:nvSpPr>
        <p:spPr>
          <a:xfrm>
            <a:off x="3886200" y="3931920"/>
            <a:ext cx="7909560" cy="914400"/>
          </a:xfrm>
          <a:prstGeom prst="roundRect">
            <a:avLst>
              <a:gd name="adj" fmla="val 10000"/>
            </a:avLst>
          </a:prstGeom>
          <a:solidFill>
            <a:srgbClr val="FAFAFA"/>
          </a:solidFill>
          <a:ln w="15875">
            <a:solidFill>
              <a:srgbClr val="A0A0A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3995928" y="3986783"/>
            <a:ext cx="7690104" cy="237744"/>
          </a:xfrm>
          <a:prstGeom prst="rect">
            <a:avLst/>
          </a:prstGeom>
          <a:noFill/>
        </p:spPr>
        <p:txBody>
          <a:bodyPr wrap="square" lIns="0" rIns="0" tIns="0" bIns="0" anchor="t">
            <a:noAutofit/>
          </a:bodyPr>
          <a:lstStyle/>
          <a:p>
            <a:pPr algn="l"/>
            <a:r>
              <a:rPr sz="1200" b="1" i="0">
                <a:solidFill>
                  <a:srgbClr val="000048"/>
                </a:solidFill>
                <a:latin typeface="Arial"/>
              </a:rPr>
              <a:t>NON-PRODUCTION SUBSCRIPTION (DEV, TEST)</a:t>
            </a:r>
          </a:p>
        </p:txBody>
      </p:sp>
      <p:sp>
        <p:nvSpPr>
          <p:cNvPr id="48" name="TextBox 47"/>
          <p:cNvSpPr txBox="1"/>
          <p:nvPr/>
        </p:nvSpPr>
        <p:spPr>
          <a:xfrm>
            <a:off x="4023360" y="4279392"/>
            <a:ext cx="7680960" cy="502920"/>
          </a:xfrm>
          <a:prstGeom prst="rect">
            <a:avLst/>
          </a:prstGeom>
          <a:noFill/>
        </p:spPr>
        <p:txBody>
          <a:bodyPr wrap="square" lIns="0" rIns="0" tIns="0" bIns="0" anchor="t">
            <a:noAutofit/>
          </a:bodyPr>
          <a:lstStyle/>
          <a:p>
            <a:pPr algn="l"/>
            <a:r>
              <a:rPr sz="1300" b="0" i="0">
                <a:solidFill>
                  <a:srgbClr val="53565A"/>
                </a:solidFill>
                <a:latin typeface="Arial"/>
              </a:rPr>
              <a:t>Same pattern, separate subscription, policies and identities. Promotion only through the pipeline.</a:t>
            </a:r>
          </a:p>
        </p:txBody>
      </p:sp>
      <p:sp>
        <p:nvSpPr>
          <p:cNvPr id="49" name="Rounded Rectangle 48"/>
          <p:cNvSpPr/>
          <p:nvPr/>
        </p:nvSpPr>
        <p:spPr>
          <a:xfrm>
            <a:off x="3886200" y="4983480"/>
            <a:ext cx="7909560" cy="685800"/>
          </a:xfrm>
          <a:prstGeom prst="roundRect">
            <a:avLst>
              <a:gd name="adj" fmla="val 13333"/>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0" name="Azure icon: Azure DevOps" descr="Official Azure icon: Azure DevOps"/>
          <p:cNvPicPr>
            <a:picLocks noChangeAspect="1"/>
          </p:cNvPicPr>
          <p:nvPr/>
        </p:nvPicPr>
        <p:blipFill>
          <a:blip r:embed="rId32">
            <a:extLst>
              <a:ext uri="{96DAC541-7B7A-43D3-8B79-37D633B846F1}">
                <asvg:svgBlip xmlns:asvg="http://schemas.microsoft.com/office/drawing/2016/SVG/main" r:embed="rId33"/>
              </a:ext>
            </a:extLst>
          </a:blip>
          <a:stretch>
            <a:fillRect/>
          </a:stretch>
        </p:blipFill>
        <p:spPr>
          <a:xfrm>
            <a:off x="4050791" y="5138927"/>
            <a:ext cx="347472" cy="347472"/>
          </a:xfrm>
          <a:prstGeom prst="rect">
            <a:avLst/>
          </a:prstGeom>
        </p:spPr>
      </p:pic>
      <p:sp>
        <p:nvSpPr>
          <p:cNvPr id="51" name="TextBox 50"/>
          <p:cNvSpPr txBox="1"/>
          <p:nvPr/>
        </p:nvSpPr>
        <p:spPr>
          <a:xfrm>
            <a:off x="4471416" y="5065776"/>
            <a:ext cx="1389888" cy="493776"/>
          </a:xfrm>
          <a:prstGeom prst="rect">
            <a:avLst/>
          </a:prstGeom>
          <a:noFill/>
        </p:spPr>
        <p:txBody>
          <a:bodyPr wrap="square" lIns="0" rIns="0" tIns="0" bIns="0" anchor="ctr">
            <a:noAutofit/>
          </a:bodyPr>
          <a:lstStyle/>
          <a:p>
            <a:pPr algn="l"/>
            <a:r>
              <a:rPr sz="1200" b="1" i="0">
                <a:solidFill>
                  <a:srgbClr val="000048"/>
                </a:solidFill>
                <a:latin typeface="Arial"/>
              </a:rPr>
              <a:t>IaC pipelines</a:t>
            </a:r>
          </a:p>
          <a:p>
            <a:pPr algn="l"/>
            <a:r>
              <a:rPr sz="1200" b="0" i="0">
                <a:solidFill>
                  <a:srgbClr val="53565A"/>
                </a:solidFill>
                <a:latin typeface="Arial"/>
              </a:rPr>
              <a:t>approvals, promotion</a:t>
            </a:r>
          </a:p>
        </p:txBody>
      </p:sp>
      <p:pic>
        <p:nvPicPr>
          <p:cNvPr id="52" name="Azure icon: Log Analytics workspace" descr="Official Azure icon: Log Analytics workspace"/>
          <p:cNvPicPr>
            <a:picLocks noChangeAspect="1"/>
          </p:cNvPicPr>
          <p:nvPr/>
        </p:nvPicPr>
        <p:blipFill>
          <a:blip r:embed="rId34">
            <a:extLst>
              <a:ext uri="{96DAC541-7B7A-43D3-8B79-37D633B846F1}">
                <asvg:svgBlip xmlns:asvg="http://schemas.microsoft.com/office/drawing/2016/SVG/main" r:embed="rId35"/>
              </a:ext>
            </a:extLst>
          </a:blip>
          <a:stretch>
            <a:fillRect/>
          </a:stretch>
        </p:blipFill>
        <p:spPr>
          <a:xfrm>
            <a:off x="6016752" y="5138927"/>
            <a:ext cx="347472" cy="347472"/>
          </a:xfrm>
          <a:prstGeom prst="rect">
            <a:avLst/>
          </a:prstGeom>
        </p:spPr>
      </p:pic>
      <p:sp>
        <p:nvSpPr>
          <p:cNvPr id="53" name="TextBox 52"/>
          <p:cNvSpPr txBox="1"/>
          <p:nvPr/>
        </p:nvSpPr>
        <p:spPr>
          <a:xfrm>
            <a:off x="6437376" y="5065776"/>
            <a:ext cx="1298448" cy="493776"/>
          </a:xfrm>
          <a:prstGeom prst="rect">
            <a:avLst/>
          </a:prstGeom>
          <a:noFill/>
        </p:spPr>
        <p:txBody>
          <a:bodyPr wrap="square" lIns="0" rIns="0" tIns="0" bIns="0" anchor="ctr">
            <a:noAutofit/>
          </a:bodyPr>
          <a:lstStyle/>
          <a:p>
            <a:pPr algn="l"/>
            <a:r>
              <a:rPr sz="1200" b="1" i="0">
                <a:solidFill>
                  <a:srgbClr val="000048"/>
                </a:solidFill>
                <a:latin typeface="Arial"/>
              </a:rPr>
              <a:t>Log Analytics</a:t>
            </a:r>
          </a:p>
          <a:p>
            <a:pPr algn="l"/>
            <a:r>
              <a:rPr sz="1200" b="0" i="0">
                <a:solidFill>
                  <a:srgbClr val="53565A"/>
                </a:solidFill>
                <a:latin typeface="Arial"/>
              </a:rPr>
              <a:t>platform logs</a:t>
            </a:r>
          </a:p>
        </p:txBody>
      </p:sp>
      <p:pic>
        <p:nvPicPr>
          <p:cNvPr id="54" name="Azure icon: Application Insights" descr="Official Azure icon: Application Insights"/>
          <p:cNvPicPr>
            <a:picLocks noChangeAspect="1"/>
          </p:cNvPicPr>
          <p:nvPr/>
        </p:nvPicPr>
        <p:blipFill>
          <a:blip r:embed="rId36">
            <a:extLst>
              <a:ext uri="{96DAC541-7B7A-43D3-8B79-37D633B846F1}">
                <asvg:svgBlip xmlns:asvg="http://schemas.microsoft.com/office/drawing/2016/SVG/main" r:embed="rId37"/>
              </a:ext>
            </a:extLst>
          </a:blip>
          <a:stretch>
            <a:fillRect/>
          </a:stretch>
        </p:blipFill>
        <p:spPr>
          <a:xfrm>
            <a:off x="7891272" y="5138927"/>
            <a:ext cx="347472" cy="347472"/>
          </a:xfrm>
          <a:prstGeom prst="rect">
            <a:avLst/>
          </a:prstGeom>
        </p:spPr>
      </p:pic>
      <p:sp>
        <p:nvSpPr>
          <p:cNvPr id="55" name="TextBox 54"/>
          <p:cNvSpPr txBox="1"/>
          <p:nvPr/>
        </p:nvSpPr>
        <p:spPr>
          <a:xfrm>
            <a:off x="8311896" y="5065776"/>
            <a:ext cx="1298448" cy="493776"/>
          </a:xfrm>
          <a:prstGeom prst="rect">
            <a:avLst/>
          </a:prstGeom>
          <a:noFill/>
        </p:spPr>
        <p:txBody>
          <a:bodyPr wrap="square" lIns="0" rIns="0" tIns="0" bIns="0" anchor="ctr">
            <a:noAutofit/>
          </a:bodyPr>
          <a:lstStyle/>
          <a:p>
            <a:pPr algn="l"/>
            <a:r>
              <a:rPr sz="1200" b="1" i="0">
                <a:solidFill>
                  <a:srgbClr val="000048"/>
                </a:solidFill>
                <a:latin typeface="Arial"/>
              </a:rPr>
              <a:t>App Insights</a:t>
            </a:r>
          </a:p>
          <a:p>
            <a:pPr algn="l"/>
            <a:r>
              <a:rPr sz="1200" b="0" i="0">
                <a:solidFill>
                  <a:srgbClr val="53565A"/>
                </a:solidFill>
                <a:latin typeface="Arial"/>
              </a:rPr>
              <a:t>agent traces</a:t>
            </a:r>
          </a:p>
        </p:txBody>
      </p:sp>
      <p:pic>
        <p:nvPicPr>
          <p:cNvPr id="56" name="Azure icon: Cost Budgets" descr="Official Azure icon: Cost Budgets"/>
          <p:cNvPicPr>
            <a:picLocks noChangeAspect="1"/>
          </p:cNvPicPr>
          <p:nvPr/>
        </p:nvPicPr>
        <p:blipFill>
          <a:blip r:embed="rId38">
            <a:extLst>
              <a:ext uri="{96DAC541-7B7A-43D3-8B79-37D633B846F1}">
                <asvg:svgBlip xmlns:asvg="http://schemas.microsoft.com/office/drawing/2016/SVG/main" r:embed="rId39"/>
              </a:ext>
            </a:extLst>
          </a:blip>
          <a:stretch>
            <a:fillRect/>
          </a:stretch>
        </p:blipFill>
        <p:spPr>
          <a:xfrm>
            <a:off x="9765792" y="5138927"/>
            <a:ext cx="347472" cy="347472"/>
          </a:xfrm>
          <a:prstGeom prst="rect">
            <a:avLst/>
          </a:prstGeom>
        </p:spPr>
      </p:pic>
      <p:sp>
        <p:nvSpPr>
          <p:cNvPr id="57" name="TextBox 56"/>
          <p:cNvSpPr txBox="1"/>
          <p:nvPr/>
        </p:nvSpPr>
        <p:spPr>
          <a:xfrm>
            <a:off x="10186416" y="5065776"/>
            <a:ext cx="1481328" cy="493776"/>
          </a:xfrm>
          <a:prstGeom prst="rect">
            <a:avLst/>
          </a:prstGeom>
          <a:noFill/>
        </p:spPr>
        <p:txBody>
          <a:bodyPr wrap="square" lIns="0" rIns="0" tIns="0" bIns="0" anchor="ctr">
            <a:noAutofit/>
          </a:bodyPr>
          <a:lstStyle/>
          <a:p>
            <a:pPr algn="l"/>
            <a:r>
              <a:rPr sz="1200" b="1" i="0">
                <a:solidFill>
                  <a:srgbClr val="000048"/>
                </a:solidFill>
                <a:latin typeface="Arial"/>
              </a:rPr>
              <a:t>Budgets</a:t>
            </a:r>
          </a:p>
          <a:p>
            <a:pPr algn="l"/>
            <a:r>
              <a:rPr sz="1200" b="0" i="0">
                <a:solidFill>
                  <a:srgbClr val="53565A"/>
                </a:solidFill>
                <a:latin typeface="Arial"/>
              </a:rPr>
              <a:t>cost alerts</a:t>
            </a:r>
          </a:p>
        </p:txBody>
      </p:sp>
      <p:cxnSp>
        <p:nvCxnSpPr>
          <p:cNvPr id="58" name="Connector (flow)"/>
          <p:cNvCxnSpPr/>
          <p:nvPr/>
        </p:nvCxnSpPr>
        <p:spPr>
          <a:xfrm>
            <a:off x="3474720" y="2971800"/>
            <a:ext cx="411480" cy="0"/>
          </a:xfrm>
          <a:prstGeom prst="line">
            <a:avLst/>
          </a:prstGeom>
          <a:ln w="22225">
            <a:solidFill>
              <a:srgbClr val="000048"/>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59" name="Connector (data)"/>
          <p:cNvCxnSpPr/>
          <p:nvPr/>
        </p:nvCxnSpPr>
        <p:spPr>
          <a:xfrm flipH="1">
            <a:off x="3474720" y="3474720"/>
            <a:ext cx="411480" cy="228600"/>
          </a:xfrm>
          <a:prstGeom prst="line">
            <a:avLst/>
          </a:prstGeom>
          <a:ln w="19050">
            <a:solidFill>
              <a:srgbClr val="2F78C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0" name="Connector (flow)"/>
          <p:cNvCxnSpPr/>
          <p:nvPr/>
        </p:nvCxnSpPr>
        <p:spPr>
          <a:xfrm>
            <a:off x="548640" y="5925312"/>
            <a:ext cx="41148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1024128" y="5806440"/>
            <a:ext cx="1691639" cy="256032"/>
          </a:xfrm>
          <a:prstGeom prst="rect">
            <a:avLst/>
          </a:prstGeom>
          <a:noFill/>
        </p:spPr>
        <p:txBody>
          <a:bodyPr wrap="square" lIns="0" rIns="0" tIns="0" bIns="0" anchor="t">
            <a:noAutofit/>
          </a:bodyPr>
          <a:lstStyle/>
          <a:p>
            <a:pPr algn="l"/>
            <a:r>
              <a:rPr sz="1200" b="0" i="0">
                <a:solidFill>
                  <a:srgbClr val="53565A"/>
                </a:solidFill>
                <a:latin typeface="Arial"/>
              </a:rPr>
              <a:t>Request / data flow</a:t>
            </a:r>
          </a:p>
        </p:txBody>
      </p:sp>
      <p:cxnSp>
        <p:nvCxnSpPr>
          <p:cNvPr id="62" name="Connector (data)"/>
          <p:cNvCxnSpPr/>
          <p:nvPr/>
        </p:nvCxnSpPr>
        <p:spPr>
          <a:xfrm>
            <a:off x="2743200" y="5925312"/>
            <a:ext cx="411480" cy="0"/>
          </a:xfrm>
          <a:prstGeom prst="line">
            <a:avLst/>
          </a:prstGeom>
          <a:ln w="19050">
            <a:solidFill>
              <a:srgbClr val="2F78C4"/>
            </a:solidFill>
            <a:tailEnd type="triangle" w="med" len="med"/>
          </a:ln>
        </p:spPr>
        <p:style>
          <a:lnRef idx="2">
            <a:schemeClr val="accent1"/>
          </a:lnRef>
          <a:fillRef idx="0">
            <a:schemeClr val="accent1"/>
          </a:fillRef>
          <a:effectRef idx="1">
            <a:schemeClr val="accent1"/>
          </a:effectRef>
          <a:fontRef idx="minor">
            <a:schemeClr val="tx1"/>
          </a:fontRef>
        </p:style>
      </p:cxnSp>
      <p:sp>
        <p:nvSpPr>
          <p:cNvPr id="63" name="TextBox 62"/>
          <p:cNvSpPr txBox="1"/>
          <p:nvPr/>
        </p:nvSpPr>
        <p:spPr>
          <a:xfrm>
            <a:off x="3218688" y="5806440"/>
            <a:ext cx="1691639" cy="256032"/>
          </a:xfrm>
          <a:prstGeom prst="rect">
            <a:avLst/>
          </a:prstGeom>
          <a:noFill/>
        </p:spPr>
        <p:txBody>
          <a:bodyPr wrap="square" lIns="0" rIns="0" tIns="0" bIns="0" anchor="t">
            <a:noAutofit/>
          </a:bodyPr>
          <a:lstStyle/>
          <a:p>
            <a:pPr algn="l"/>
            <a:r>
              <a:rPr sz="1200" b="0" i="0">
                <a:solidFill>
                  <a:srgbClr val="53565A"/>
                </a:solidFill>
                <a:latin typeface="Arial"/>
              </a:rPr>
              <a:t>Data access</a:t>
            </a:r>
          </a:p>
        </p:txBody>
      </p:sp>
      <p:sp>
        <p:nvSpPr>
          <p:cNvPr id="64" name="TextBox 63"/>
          <p:cNvSpPr txBox="1"/>
          <p:nvPr/>
        </p:nvSpPr>
        <p:spPr>
          <a:xfrm>
            <a:off x="5120640" y="5806440"/>
            <a:ext cx="6492240" cy="274320"/>
          </a:xfrm>
          <a:prstGeom prst="rect">
            <a:avLst/>
          </a:prstGeom>
          <a:noFill/>
        </p:spPr>
        <p:txBody>
          <a:bodyPr wrap="square" lIns="0" rIns="0" tIns="0" bIns="0" anchor="t">
            <a:noAutofit/>
          </a:bodyPr>
          <a:lstStyle/>
          <a:p>
            <a:pPr algn="l"/>
            <a:r>
              <a:rPr sz="1200" b="0" i="0">
                <a:solidFill>
                  <a:srgbClr val="53565A"/>
                </a:solidFill>
                <a:latin typeface="Arial"/>
              </a:rPr>
              <a:t>Double arrow: hub peering. Blue arrow: egress to hub firewall. Detail: appendix A5, A6.</a:t>
            </a:r>
          </a:p>
        </p:txBody>
      </p:sp>
      <p:sp>
        <p:nvSpPr>
          <p:cNvPr id="65" name="TextBox 64"/>
          <p:cNvSpPr txBox="1"/>
          <p:nvPr/>
        </p:nvSpPr>
        <p:spPr>
          <a:xfrm>
            <a:off x="548640" y="6108192"/>
            <a:ext cx="11064240" cy="256032"/>
          </a:xfrm>
          <a:prstGeom prst="rect">
            <a:avLst/>
          </a:prstGeom>
          <a:noFill/>
        </p:spPr>
        <p:txBody>
          <a:bodyPr wrap="square" lIns="0" rIns="0" tIns="0" bIns="0" anchor="t">
            <a:noAutofit/>
          </a:bodyPr>
          <a:lstStyle/>
          <a:p>
            <a:pPr algn="l"/>
            <a:r>
              <a:rPr sz="1200" b="1" i="0">
                <a:solidFill>
                  <a:srgbClr val="7373D8"/>
                </a:solidFill>
                <a:latin typeface="Arial"/>
              </a:rPr>
              <a:t>Proposed reference architecture  ·  CIS Infra custom design  ·  not a Microsoft-published or Microsoft-endorsed architecture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Management groups, subscriptions, policy and tags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A3</a:t>
            </a:r>
          </a:p>
        </p:txBody>
      </p:sp>
      <p:sp>
        <p:nvSpPr>
          <p:cNvPr id="5" name="Status chip: PROPOSED"/>
          <p:cNvSpPr/>
          <p:nvPr/>
        </p:nvSpPr>
        <p:spPr>
          <a:xfrm>
            <a:off x="1898650" y="274320"/>
            <a:ext cx="9652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v4.0  ·  11 Oct 2026  ·  Working proposal, not approved terms</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14</a:t>
            </a:r>
          </a:p>
        </p:txBody>
      </p:sp>
      <p:sp>
        <p:nvSpPr>
          <p:cNvPr id="9" name="Rounded Rectangle 8"/>
          <p:cNvSpPr/>
          <p:nvPr/>
        </p:nvSpPr>
        <p:spPr>
          <a:xfrm>
            <a:off x="2194560" y="1371600"/>
            <a:ext cx="2011680" cy="475488"/>
          </a:xfrm>
          <a:prstGeom prst="roundRect">
            <a:avLst>
              <a:gd name="adj" fmla="val 15384"/>
            </a:avLst>
          </a:prstGeom>
          <a:solidFill>
            <a:srgbClr val="FFFFFF"/>
          </a:solidFill>
          <a:ln w="12700">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0" name="Azure icon: Management Groups" descr="Official Azure icon: Management Groups"/>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267712" y="1444752"/>
            <a:ext cx="329184" cy="329184"/>
          </a:xfrm>
          <a:prstGeom prst="rect">
            <a:avLst/>
          </a:prstGeom>
        </p:spPr>
      </p:pic>
      <p:sp>
        <p:nvSpPr>
          <p:cNvPr id="11" name="TextBox 10"/>
          <p:cNvSpPr txBox="1"/>
          <p:nvPr/>
        </p:nvSpPr>
        <p:spPr>
          <a:xfrm>
            <a:off x="2670048" y="1408176"/>
            <a:ext cx="1499616" cy="402336"/>
          </a:xfrm>
          <a:prstGeom prst="rect">
            <a:avLst/>
          </a:prstGeom>
          <a:noFill/>
        </p:spPr>
        <p:txBody>
          <a:bodyPr wrap="square" lIns="0" rIns="0" tIns="0" bIns="0" anchor="ctr">
            <a:noAutofit/>
          </a:bodyPr>
          <a:lstStyle/>
          <a:p>
            <a:pPr algn="l"/>
            <a:r>
              <a:rPr sz="1200" b="1" i="0">
                <a:solidFill>
                  <a:srgbClr val="000048"/>
                </a:solidFill>
                <a:latin typeface="Arial"/>
              </a:rPr>
              <a:t>Tenant root group</a:t>
            </a:r>
          </a:p>
        </p:txBody>
      </p:sp>
      <p:sp>
        <p:nvSpPr>
          <p:cNvPr id="12" name="Rounded Rectangle 11"/>
          <p:cNvSpPr/>
          <p:nvPr/>
        </p:nvSpPr>
        <p:spPr>
          <a:xfrm>
            <a:off x="548640" y="2194560"/>
            <a:ext cx="2103120" cy="475488"/>
          </a:xfrm>
          <a:prstGeom prst="roundRect">
            <a:avLst>
              <a:gd name="adj" fmla="val 15384"/>
            </a:avLst>
          </a:prstGeom>
          <a:solidFill>
            <a:srgbClr val="FFFFFF"/>
          </a:solidFill>
          <a:ln w="12700">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3" name="Azure icon: Management Groups" descr="Official Azure icon: Management Groups"/>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21792" y="2267712"/>
            <a:ext cx="329184" cy="329184"/>
          </a:xfrm>
          <a:prstGeom prst="rect">
            <a:avLst/>
          </a:prstGeom>
        </p:spPr>
      </p:pic>
      <p:sp>
        <p:nvSpPr>
          <p:cNvPr id="14" name="TextBox 13"/>
          <p:cNvSpPr txBox="1"/>
          <p:nvPr/>
        </p:nvSpPr>
        <p:spPr>
          <a:xfrm>
            <a:off x="1024127" y="2231136"/>
            <a:ext cx="1591056" cy="402336"/>
          </a:xfrm>
          <a:prstGeom prst="rect">
            <a:avLst/>
          </a:prstGeom>
          <a:noFill/>
        </p:spPr>
        <p:txBody>
          <a:bodyPr wrap="square" lIns="0" rIns="0" tIns="0" bIns="0" anchor="ctr">
            <a:noAutofit/>
          </a:bodyPr>
          <a:lstStyle/>
          <a:p>
            <a:pPr algn="l"/>
            <a:r>
              <a:rPr sz="1200" b="1" i="0">
                <a:solidFill>
                  <a:srgbClr val="000048"/>
                </a:solidFill>
                <a:latin typeface="Arial"/>
              </a:rPr>
              <a:t>Platform</a:t>
            </a:r>
          </a:p>
        </p:txBody>
      </p:sp>
      <p:sp>
        <p:nvSpPr>
          <p:cNvPr id="15" name="Rounded Rectangle 14"/>
          <p:cNvSpPr/>
          <p:nvPr/>
        </p:nvSpPr>
        <p:spPr>
          <a:xfrm>
            <a:off x="3749039" y="2194560"/>
            <a:ext cx="2286000" cy="475488"/>
          </a:xfrm>
          <a:prstGeom prst="roundRect">
            <a:avLst>
              <a:gd name="adj" fmla="val 15384"/>
            </a:avLst>
          </a:prstGeom>
          <a:solidFill>
            <a:srgbClr val="FFFFFF"/>
          </a:solidFill>
          <a:ln w="12700">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6" name="Azure icon: Management Groups" descr="Official Azure icon: Management Groups"/>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822191" y="2267712"/>
            <a:ext cx="329184" cy="329184"/>
          </a:xfrm>
          <a:prstGeom prst="rect">
            <a:avLst/>
          </a:prstGeom>
        </p:spPr>
      </p:pic>
      <p:sp>
        <p:nvSpPr>
          <p:cNvPr id="17" name="TextBox 16"/>
          <p:cNvSpPr txBox="1"/>
          <p:nvPr/>
        </p:nvSpPr>
        <p:spPr>
          <a:xfrm>
            <a:off x="4224528" y="2231136"/>
            <a:ext cx="1773936" cy="402336"/>
          </a:xfrm>
          <a:prstGeom prst="rect">
            <a:avLst/>
          </a:prstGeom>
          <a:noFill/>
        </p:spPr>
        <p:txBody>
          <a:bodyPr wrap="square" lIns="0" rIns="0" tIns="0" bIns="0" anchor="ctr">
            <a:noAutofit/>
          </a:bodyPr>
          <a:lstStyle/>
          <a:p>
            <a:pPr algn="l"/>
            <a:r>
              <a:rPr sz="1200" b="1" i="0">
                <a:solidFill>
                  <a:srgbClr val="000048"/>
                </a:solidFill>
                <a:latin typeface="Arial"/>
              </a:rPr>
              <a:t>Landing zones</a:t>
            </a:r>
          </a:p>
        </p:txBody>
      </p:sp>
      <p:sp>
        <p:nvSpPr>
          <p:cNvPr id="18" name="Rounded Rectangle 17"/>
          <p:cNvSpPr/>
          <p:nvPr/>
        </p:nvSpPr>
        <p:spPr>
          <a:xfrm>
            <a:off x="548640" y="3017520"/>
            <a:ext cx="2103120" cy="475488"/>
          </a:xfrm>
          <a:prstGeom prst="roundRect">
            <a:avLst>
              <a:gd name="adj" fmla="val 15384"/>
            </a:avLst>
          </a:prstGeom>
          <a:solidFill>
            <a:srgbClr val="FFFFFF"/>
          </a:solidFill>
          <a:ln w="12700">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9" name="Azure icon: Subscriptions" descr="Official Azure icon: Subscriptions"/>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21792" y="3090671"/>
            <a:ext cx="329184" cy="329184"/>
          </a:xfrm>
          <a:prstGeom prst="rect">
            <a:avLst/>
          </a:prstGeom>
        </p:spPr>
      </p:pic>
      <p:sp>
        <p:nvSpPr>
          <p:cNvPr id="20" name="TextBox 19"/>
          <p:cNvSpPr txBox="1"/>
          <p:nvPr/>
        </p:nvSpPr>
        <p:spPr>
          <a:xfrm>
            <a:off x="1024127" y="3054096"/>
            <a:ext cx="1591056" cy="402336"/>
          </a:xfrm>
          <a:prstGeom prst="rect">
            <a:avLst/>
          </a:prstGeom>
          <a:noFill/>
        </p:spPr>
        <p:txBody>
          <a:bodyPr wrap="square" lIns="0" rIns="0" tIns="0" bIns="0" anchor="ctr">
            <a:noAutofit/>
          </a:bodyPr>
          <a:lstStyle/>
          <a:p>
            <a:pPr algn="l"/>
            <a:r>
              <a:rPr sz="1200" b="1" i="0">
                <a:solidFill>
                  <a:srgbClr val="000048"/>
                </a:solidFill>
                <a:latin typeface="Arial"/>
              </a:rPr>
              <a:t>Connectivity</a:t>
            </a:r>
          </a:p>
        </p:txBody>
      </p:sp>
      <p:sp>
        <p:nvSpPr>
          <p:cNvPr id="21" name="Rounded Rectangle 20"/>
          <p:cNvSpPr/>
          <p:nvPr/>
        </p:nvSpPr>
        <p:spPr>
          <a:xfrm>
            <a:off x="548640" y="3611880"/>
            <a:ext cx="2103120" cy="475488"/>
          </a:xfrm>
          <a:prstGeom prst="roundRect">
            <a:avLst>
              <a:gd name="adj" fmla="val 15384"/>
            </a:avLst>
          </a:prstGeom>
          <a:solidFill>
            <a:srgbClr val="FFFFFF"/>
          </a:solidFill>
          <a:ln w="12700">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22" name="Azure icon: Subscriptions" descr="Official Azure icon: Subscriptions"/>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21792" y="3685032"/>
            <a:ext cx="329184" cy="329184"/>
          </a:xfrm>
          <a:prstGeom prst="rect">
            <a:avLst/>
          </a:prstGeom>
        </p:spPr>
      </p:pic>
      <p:sp>
        <p:nvSpPr>
          <p:cNvPr id="23" name="TextBox 22"/>
          <p:cNvSpPr txBox="1"/>
          <p:nvPr/>
        </p:nvSpPr>
        <p:spPr>
          <a:xfrm>
            <a:off x="1024127" y="3648456"/>
            <a:ext cx="1591056" cy="402336"/>
          </a:xfrm>
          <a:prstGeom prst="rect">
            <a:avLst/>
          </a:prstGeom>
          <a:noFill/>
        </p:spPr>
        <p:txBody>
          <a:bodyPr wrap="square" lIns="0" rIns="0" tIns="0" bIns="0" anchor="ctr">
            <a:noAutofit/>
          </a:bodyPr>
          <a:lstStyle/>
          <a:p>
            <a:pPr algn="l"/>
            <a:r>
              <a:rPr sz="1200" b="1" i="0">
                <a:solidFill>
                  <a:srgbClr val="000048"/>
                </a:solidFill>
                <a:latin typeface="Arial"/>
              </a:rPr>
              <a:t>Identity, management</a:t>
            </a:r>
          </a:p>
        </p:txBody>
      </p:sp>
      <p:sp>
        <p:nvSpPr>
          <p:cNvPr id="24" name="Rounded Rectangle 23"/>
          <p:cNvSpPr/>
          <p:nvPr/>
        </p:nvSpPr>
        <p:spPr>
          <a:xfrm>
            <a:off x="3200400" y="3017520"/>
            <a:ext cx="1463040" cy="475488"/>
          </a:xfrm>
          <a:prstGeom prst="roundRect">
            <a:avLst>
              <a:gd name="adj" fmla="val 15384"/>
            </a:avLst>
          </a:prstGeom>
          <a:solidFill>
            <a:srgbClr val="FFFFFF"/>
          </a:solidFill>
          <a:ln w="12700">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25" name="Azure icon: Management Groups" descr="Official Azure icon: Management Groups"/>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273552" y="3090671"/>
            <a:ext cx="329184" cy="329184"/>
          </a:xfrm>
          <a:prstGeom prst="rect">
            <a:avLst/>
          </a:prstGeom>
        </p:spPr>
      </p:pic>
      <p:sp>
        <p:nvSpPr>
          <p:cNvPr id="26" name="TextBox 25"/>
          <p:cNvSpPr txBox="1"/>
          <p:nvPr/>
        </p:nvSpPr>
        <p:spPr>
          <a:xfrm>
            <a:off x="3675887" y="3054096"/>
            <a:ext cx="950976" cy="402336"/>
          </a:xfrm>
          <a:prstGeom prst="rect">
            <a:avLst/>
          </a:prstGeom>
          <a:noFill/>
        </p:spPr>
        <p:txBody>
          <a:bodyPr wrap="square" lIns="0" rIns="0" tIns="0" bIns="0" anchor="ctr">
            <a:noAutofit/>
          </a:bodyPr>
          <a:lstStyle/>
          <a:p>
            <a:pPr algn="l"/>
            <a:r>
              <a:rPr sz="1200" b="1" i="0">
                <a:solidFill>
                  <a:srgbClr val="000048"/>
                </a:solidFill>
                <a:latin typeface="Arial"/>
              </a:rPr>
              <a:t>Corp</a:t>
            </a:r>
          </a:p>
        </p:txBody>
      </p:sp>
      <p:sp>
        <p:nvSpPr>
          <p:cNvPr id="27" name="Rounded Rectangle 26"/>
          <p:cNvSpPr/>
          <p:nvPr/>
        </p:nvSpPr>
        <p:spPr>
          <a:xfrm>
            <a:off x="4800600" y="3017520"/>
            <a:ext cx="1463040" cy="475488"/>
          </a:xfrm>
          <a:prstGeom prst="roundRect">
            <a:avLst>
              <a:gd name="adj" fmla="val 15384"/>
            </a:avLst>
          </a:prstGeom>
          <a:solidFill>
            <a:srgbClr val="FFFFFF"/>
          </a:solidFill>
          <a:ln w="12700">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28" name="Azure icon: Management Groups" descr="Official Azure icon: Management Groups"/>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873752" y="3090671"/>
            <a:ext cx="329184" cy="329184"/>
          </a:xfrm>
          <a:prstGeom prst="rect">
            <a:avLst/>
          </a:prstGeom>
        </p:spPr>
      </p:pic>
      <p:sp>
        <p:nvSpPr>
          <p:cNvPr id="29" name="TextBox 28"/>
          <p:cNvSpPr txBox="1"/>
          <p:nvPr/>
        </p:nvSpPr>
        <p:spPr>
          <a:xfrm>
            <a:off x="5276088" y="3054096"/>
            <a:ext cx="950976" cy="402336"/>
          </a:xfrm>
          <a:prstGeom prst="rect">
            <a:avLst/>
          </a:prstGeom>
          <a:noFill/>
        </p:spPr>
        <p:txBody>
          <a:bodyPr wrap="square" lIns="0" rIns="0" tIns="0" bIns="0" anchor="ctr">
            <a:noAutofit/>
          </a:bodyPr>
          <a:lstStyle/>
          <a:p>
            <a:pPr algn="l"/>
            <a:r>
              <a:rPr sz="1200" b="1" i="0">
                <a:solidFill>
                  <a:srgbClr val="000048"/>
                </a:solidFill>
                <a:latin typeface="Arial"/>
              </a:rPr>
              <a:t>Online</a:t>
            </a:r>
          </a:p>
        </p:txBody>
      </p:sp>
      <p:sp>
        <p:nvSpPr>
          <p:cNvPr id="30" name="Rounded Rectangle 29"/>
          <p:cNvSpPr/>
          <p:nvPr/>
        </p:nvSpPr>
        <p:spPr>
          <a:xfrm>
            <a:off x="3200400" y="3840480"/>
            <a:ext cx="1463040" cy="475488"/>
          </a:xfrm>
          <a:prstGeom prst="roundRect">
            <a:avLst>
              <a:gd name="adj" fmla="val 15384"/>
            </a:avLst>
          </a:prstGeom>
          <a:solidFill>
            <a:srgbClr val="EAF2FB"/>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31" name="Azure icon: Subscriptions" descr="Official Azure icon: Subscriptions"/>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273552" y="3913632"/>
            <a:ext cx="329184" cy="329184"/>
          </a:xfrm>
          <a:prstGeom prst="rect">
            <a:avLst/>
          </a:prstGeom>
        </p:spPr>
      </p:pic>
      <p:sp>
        <p:nvSpPr>
          <p:cNvPr id="32" name="TextBox 31"/>
          <p:cNvSpPr txBox="1"/>
          <p:nvPr/>
        </p:nvSpPr>
        <p:spPr>
          <a:xfrm>
            <a:off x="3675887" y="3877056"/>
            <a:ext cx="950976" cy="402336"/>
          </a:xfrm>
          <a:prstGeom prst="rect">
            <a:avLst/>
          </a:prstGeom>
          <a:noFill/>
        </p:spPr>
        <p:txBody>
          <a:bodyPr wrap="square" lIns="0" rIns="0" tIns="0" bIns="0" anchor="ctr">
            <a:noAutofit/>
          </a:bodyPr>
          <a:lstStyle/>
          <a:p>
            <a:pPr algn="l"/>
            <a:r>
              <a:rPr sz="1200" b="1" i="0">
                <a:solidFill>
                  <a:srgbClr val="000048"/>
                </a:solidFill>
                <a:latin typeface="Arial"/>
              </a:rPr>
              <a:t>AI prod</a:t>
            </a:r>
          </a:p>
        </p:txBody>
      </p:sp>
      <p:sp>
        <p:nvSpPr>
          <p:cNvPr id="33" name="Rounded Rectangle 32"/>
          <p:cNvSpPr/>
          <p:nvPr/>
        </p:nvSpPr>
        <p:spPr>
          <a:xfrm>
            <a:off x="3200400" y="4434840"/>
            <a:ext cx="1463040" cy="475488"/>
          </a:xfrm>
          <a:prstGeom prst="roundRect">
            <a:avLst>
              <a:gd name="adj" fmla="val 15384"/>
            </a:avLst>
          </a:prstGeom>
          <a:solidFill>
            <a:srgbClr val="EAF2FB"/>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34" name="Azure icon: Subscriptions" descr="Official Azure icon: Subscriptions"/>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273552" y="4507992"/>
            <a:ext cx="329184" cy="329184"/>
          </a:xfrm>
          <a:prstGeom prst="rect">
            <a:avLst/>
          </a:prstGeom>
        </p:spPr>
      </p:pic>
      <p:sp>
        <p:nvSpPr>
          <p:cNvPr id="35" name="TextBox 34"/>
          <p:cNvSpPr txBox="1"/>
          <p:nvPr/>
        </p:nvSpPr>
        <p:spPr>
          <a:xfrm>
            <a:off x="3675887" y="4471416"/>
            <a:ext cx="950976" cy="402336"/>
          </a:xfrm>
          <a:prstGeom prst="rect">
            <a:avLst/>
          </a:prstGeom>
          <a:noFill/>
        </p:spPr>
        <p:txBody>
          <a:bodyPr wrap="square" lIns="0" rIns="0" tIns="0" bIns="0" anchor="ctr">
            <a:noAutofit/>
          </a:bodyPr>
          <a:lstStyle/>
          <a:p>
            <a:pPr algn="l"/>
            <a:r>
              <a:rPr sz="1200" b="1" i="0">
                <a:solidFill>
                  <a:srgbClr val="000048"/>
                </a:solidFill>
                <a:latin typeface="Arial"/>
              </a:rPr>
              <a:t>AI non-prod</a:t>
            </a:r>
          </a:p>
        </p:txBody>
      </p:sp>
      <p:cxnSp>
        <p:nvCxnSpPr>
          <p:cNvPr id="36" name="Connector (plain)"/>
          <p:cNvCxnSpPr/>
          <p:nvPr/>
        </p:nvCxnSpPr>
        <p:spPr>
          <a:xfrm>
            <a:off x="3200400" y="1847088"/>
            <a:ext cx="0" cy="164592"/>
          </a:xfrm>
          <a:prstGeom prst="line">
            <a:avLst/>
          </a:prstGeom>
          <a:ln w="15875">
            <a:solidFill>
              <a:srgbClr val="53565A"/>
            </a:solidFill>
          </a:ln>
        </p:spPr>
        <p:style>
          <a:lnRef idx="2">
            <a:schemeClr val="accent1"/>
          </a:lnRef>
          <a:fillRef idx="0">
            <a:schemeClr val="accent1"/>
          </a:fillRef>
          <a:effectRef idx="1">
            <a:schemeClr val="accent1"/>
          </a:effectRef>
          <a:fontRef idx="minor">
            <a:schemeClr val="tx1"/>
          </a:fontRef>
        </p:style>
      </p:cxnSp>
      <p:cxnSp>
        <p:nvCxnSpPr>
          <p:cNvPr id="37" name="Connector (plain)"/>
          <p:cNvCxnSpPr/>
          <p:nvPr/>
        </p:nvCxnSpPr>
        <p:spPr>
          <a:xfrm flipH="1">
            <a:off x="1600200" y="2011680"/>
            <a:ext cx="1600200" cy="0"/>
          </a:xfrm>
          <a:prstGeom prst="line">
            <a:avLst/>
          </a:prstGeom>
          <a:ln w="15875">
            <a:solidFill>
              <a:srgbClr val="53565A"/>
            </a:solidFill>
          </a:ln>
        </p:spPr>
        <p:style>
          <a:lnRef idx="2">
            <a:schemeClr val="accent1"/>
          </a:lnRef>
          <a:fillRef idx="0">
            <a:schemeClr val="accent1"/>
          </a:fillRef>
          <a:effectRef idx="1">
            <a:schemeClr val="accent1"/>
          </a:effectRef>
          <a:fontRef idx="minor">
            <a:schemeClr val="tx1"/>
          </a:fontRef>
        </p:style>
      </p:cxnSp>
      <p:cxnSp>
        <p:nvCxnSpPr>
          <p:cNvPr id="38" name="Connector (plain)"/>
          <p:cNvCxnSpPr/>
          <p:nvPr/>
        </p:nvCxnSpPr>
        <p:spPr>
          <a:xfrm>
            <a:off x="1600200" y="2011680"/>
            <a:ext cx="0" cy="182880"/>
          </a:xfrm>
          <a:prstGeom prst="line">
            <a:avLst/>
          </a:prstGeom>
          <a:ln w="15875">
            <a:solidFill>
              <a:srgbClr val="53565A"/>
            </a:solidFill>
          </a:ln>
        </p:spPr>
        <p:style>
          <a:lnRef idx="2">
            <a:schemeClr val="accent1"/>
          </a:lnRef>
          <a:fillRef idx="0">
            <a:schemeClr val="accent1"/>
          </a:fillRef>
          <a:effectRef idx="1">
            <a:schemeClr val="accent1"/>
          </a:effectRef>
          <a:fontRef idx="minor">
            <a:schemeClr val="tx1"/>
          </a:fontRef>
        </p:style>
      </p:cxnSp>
      <p:cxnSp>
        <p:nvCxnSpPr>
          <p:cNvPr id="39" name="Connector (plain)"/>
          <p:cNvCxnSpPr/>
          <p:nvPr/>
        </p:nvCxnSpPr>
        <p:spPr>
          <a:xfrm>
            <a:off x="3200400" y="1847088"/>
            <a:ext cx="0" cy="164592"/>
          </a:xfrm>
          <a:prstGeom prst="line">
            <a:avLst/>
          </a:prstGeom>
          <a:ln w="15875">
            <a:solidFill>
              <a:srgbClr val="53565A"/>
            </a:solidFill>
          </a:ln>
        </p:spPr>
        <p:style>
          <a:lnRef idx="2">
            <a:schemeClr val="accent1"/>
          </a:lnRef>
          <a:fillRef idx="0">
            <a:schemeClr val="accent1"/>
          </a:fillRef>
          <a:effectRef idx="1">
            <a:schemeClr val="accent1"/>
          </a:effectRef>
          <a:fontRef idx="minor">
            <a:schemeClr val="tx1"/>
          </a:fontRef>
        </p:style>
      </p:cxnSp>
      <p:cxnSp>
        <p:nvCxnSpPr>
          <p:cNvPr id="40" name="Connector (plain)"/>
          <p:cNvCxnSpPr/>
          <p:nvPr/>
        </p:nvCxnSpPr>
        <p:spPr>
          <a:xfrm>
            <a:off x="3200400" y="2011680"/>
            <a:ext cx="1691640" cy="0"/>
          </a:xfrm>
          <a:prstGeom prst="line">
            <a:avLst/>
          </a:prstGeom>
          <a:ln w="15875">
            <a:solidFill>
              <a:srgbClr val="53565A"/>
            </a:solidFill>
          </a:ln>
        </p:spPr>
        <p:style>
          <a:lnRef idx="2">
            <a:schemeClr val="accent1"/>
          </a:lnRef>
          <a:fillRef idx="0">
            <a:schemeClr val="accent1"/>
          </a:fillRef>
          <a:effectRef idx="1">
            <a:schemeClr val="accent1"/>
          </a:effectRef>
          <a:fontRef idx="minor">
            <a:schemeClr val="tx1"/>
          </a:fontRef>
        </p:style>
      </p:cxnSp>
      <p:cxnSp>
        <p:nvCxnSpPr>
          <p:cNvPr id="41" name="Connector (plain)"/>
          <p:cNvCxnSpPr/>
          <p:nvPr/>
        </p:nvCxnSpPr>
        <p:spPr>
          <a:xfrm>
            <a:off x="4892040" y="2011680"/>
            <a:ext cx="0" cy="182880"/>
          </a:xfrm>
          <a:prstGeom prst="line">
            <a:avLst/>
          </a:prstGeom>
          <a:ln w="15875">
            <a:solidFill>
              <a:srgbClr val="53565A"/>
            </a:solidFill>
          </a:ln>
        </p:spPr>
        <p:style>
          <a:lnRef idx="2">
            <a:schemeClr val="accent1"/>
          </a:lnRef>
          <a:fillRef idx="0">
            <a:schemeClr val="accent1"/>
          </a:fillRef>
          <a:effectRef idx="1">
            <a:schemeClr val="accent1"/>
          </a:effectRef>
          <a:fontRef idx="minor">
            <a:schemeClr val="tx1"/>
          </a:fontRef>
        </p:style>
      </p:cxnSp>
      <p:cxnSp>
        <p:nvCxnSpPr>
          <p:cNvPr id="42" name="Connector (plain)"/>
          <p:cNvCxnSpPr/>
          <p:nvPr/>
        </p:nvCxnSpPr>
        <p:spPr>
          <a:xfrm>
            <a:off x="1600200" y="2670048"/>
            <a:ext cx="0" cy="347472"/>
          </a:xfrm>
          <a:prstGeom prst="line">
            <a:avLst/>
          </a:prstGeom>
          <a:ln w="15875">
            <a:solidFill>
              <a:srgbClr val="53565A"/>
            </a:solidFill>
          </a:ln>
        </p:spPr>
        <p:style>
          <a:lnRef idx="2">
            <a:schemeClr val="accent1"/>
          </a:lnRef>
          <a:fillRef idx="0">
            <a:schemeClr val="accent1"/>
          </a:fillRef>
          <a:effectRef idx="1">
            <a:schemeClr val="accent1"/>
          </a:effectRef>
          <a:fontRef idx="minor">
            <a:schemeClr val="tx1"/>
          </a:fontRef>
        </p:style>
      </p:cxnSp>
      <p:cxnSp>
        <p:nvCxnSpPr>
          <p:cNvPr id="43" name="Connector (plain)"/>
          <p:cNvCxnSpPr/>
          <p:nvPr/>
        </p:nvCxnSpPr>
        <p:spPr>
          <a:xfrm>
            <a:off x="640080" y="3255264"/>
            <a:ext cx="0" cy="594360"/>
          </a:xfrm>
          <a:prstGeom prst="line">
            <a:avLst/>
          </a:prstGeom>
          <a:ln w="15875">
            <a:solidFill>
              <a:srgbClr val="53565A"/>
            </a:solidFill>
          </a:ln>
        </p:spPr>
        <p:style>
          <a:lnRef idx="2">
            <a:schemeClr val="accent1"/>
          </a:lnRef>
          <a:fillRef idx="0">
            <a:schemeClr val="accent1"/>
          </a:fillRef>
          <a:effectRef idx="1">
            <a:schemeClr val="accent1"/>
          </a:effectRef>
          <a:fontRef idx="minor">
            <a:schemeClr val="tx1"/>
          </a:fontRef>
        </p:style>
      </p:cxnSp>
      <p:cxnSp>
        <p:nvCxnSpPr>
          <p:cNvPr id="44" name="Connector (plain)"/>
          <p:cNvCxnSpPr/>
          <p:nvPr/>
        </p:nvCxnSpPr>
        <p:spPr>
          <a:xfrm>
            <a:off x="4892040" y="2670048"/>
            <a:ext cx="0" cy="164592"/>
          </a:xfrm>
          <a:prstGeom prst="line">
            <a:avLst/>
          </a:prstGeom>
          <a:ln w="15875">
            <a:solidFill>
              <a:srgbClr val="53565A"/>
            </a:solidFill>
          </a:ln>
        </p:spPr>
        <p:style>
          <a:lnRef idx="2">
            <a:schemeClr val="accent1"/>
          </a:lnRef>
          <a:fillRef idx="0">
            <a:schemeClr val="accent1"/>
          </a:fillRef>
          <a:effectRef idx="1">
            <a:schemeClr val="accent1"/>
          </a:effectRef>
          <a:fontRef idx="minor">
            <a:schemeClr val="tx1"/>
          </a:fontRef>
        </p:style>
      </p:cxnSp>
      <p:cxnSp>
        <p:nvCxnSpPr>
          <p:cNvPr id="45" name="Connector (plain)"/>
          <p:cNvCxnSpPr/>
          <p:nvPr/>
        </p:nvCxnSpPr>
        <p:spPr>
          <a:xfrm flipH="1">
            <a:off x="3931920" y="2834640"/>
            <a:ext cx="960120" cy="0"/>
          </a:xfrm>
          <a:prstGeom prst="line">
            <a:avLst/>
          </a:prstGeom>
          <a:ln w="15875">
            <a:solidFill>
              <a:srgbClr val="53565A"/>
            </a:solidFill>
          </a:ln>
        </p:spPr>
        <p:style>
          <a:lnRef idx="2">
            <a:schemeClr val="accent1"/>
          </a:lnRef>
          <a:fillRef idx="0">
            <a:schemeClr val="accent1"/>
          </a:fillRef>
          <a:effectRef idx="1">
            <a:schemeClr val="accent1"/>
          </a:effectRef>
          <a:fontRef idx="minor">
            <a:schemeClr val="tx1"/>
          </a:fontRef>
        </p:style>
      </p:cxnSp>
      <p:cxnSp>
        <p:nvCxnSpPr>
          <p:cNvPr id="46" name="Connector (plain)"/>
          <p:cNvCxnSpPr/>
          <p:nvPr/>
        </p:nvCxnSpPr>
        <p:spPr>
          <a:xfrm>
            <a:off x="3931920" y="2834640"/>
            <a:ext cx="0" cy="182880"/>
          </a:xfrm>
          <a:prstGeom prst="line">
            <a:avLst/>
          </a:prstGeom>
          <a:ln w="15875">
            <a:solidFill>
              <a:srgbClr val="53565A"/>
            </a:solidFill>
          </a:ln>
        </p:spPr>
        <p:style>
          <a:lnRef idx="2">
            <a:schemeClr val="accent1"/>
          </a:lnRef>
          <a:fillRef idx="0">
            <a:schemeClr val="accent1"/>
          </a:fillRef>
          <a:effectRef idx="1">
            <a:schemeClr val="accent1"/>
          </a:effectRef>
          <a:fontRef idx="minor">
            <a:schemeClr val="tx1"/>
          </a:fontRef>
        </p:style>
      </p:cxnSp>
      <p:cxnSp>
        <p:nvCxnSpPr>
          <p:cNvPr id="47" name="Connector (plain)"/>
          <p:cNvCxnSpPr/>
          <p:nvPr/>
        </p:nvCxnSpPr>
        <p:spPr>
          <a:xfrm>
            <a:off x="4892040" y="2834640"/>
            <a:ext cx="640080" cy="0"/>
          </a:xfrm>
          <a:prstGeom prst="line">
            <a:avLst/>
          </a:prstGeom>
          <a:ln w="15875">
            <a:solidFill>
              <a:srgbClr val="53565A"/>
            </a:solidFill>
          </a:ln>
        </p:spPr>
        <p:style>
          <a:lnRef idx="2">
            <a:schemeClr val="accent1"/>
          </a:lnRef>
          <a:fillRef idx="0">
            <a:schemeClr val="accent1"/>
          </a:fillRef>
          <a:effectRef idx="1">
            <a:schemeClr val="accent1"/>
          </a:effectRef>
          <a:fontRef idx="minor">
            <a:schemeClr val="tx1"/>
          </a:fontRef>
        </p:style>
      </p:cxnSp>
      <p:cxnSp>
        <p:nvCxnSpPr>
          <p:cNvPr id="48" name="Connector (plain)"/>
          <p:cNvCxnSpPr/>
          <p:nvPr/>
        </p:nvCxnSpPr>
        <p:spPr>
          <a:xfrm>
            <a:off x="5532120" y="2834640"/>
            <a:ext cx="0" cy="182880"/>
          </a:xfrm>
          <a:prstGeom prst="line">
            <a:avLst/>
          </a:prstGeom>
          <a:ln w="15875">
            <a:solidFill>
              <a:srgbClr val="53565A"/>
            </a:solidFill>
          </a:ln>
        </p:spPr>
        <p:style>
          <a:lnRef idx="2">
            <a:schemeClr val="accent1"/>
          </a:lnRef>
          <a:fillRef idx="0">
            <a:schemeClr val="accent1"/>
          </a:fillRef>
          <a:effectRef idx="1">
            <a:schemeClr val="accent1"/>
          </a:effectRef>
          <a:fontRef idx="minor">
            <a:schemeClr val="tx1"/>
          </a:fontRef>
        </p:style>
      </p:cxnSp>
      <p:cxnSp>
        <p:nvCxnSpPr>
          <p:cNvPr id="49" name="Connector (plain)"/>
          <p:cNvCxnSpPr/>
          <p:nvPr/>
        </p:nvCxnSpPr>
        <p:spPr>
          <a:xfrm>
            <a:off x="3931920" y="3493008"/>
            <a:ext cx="0" cy="347472"/>
          </a:xfrm>
          <a:prstGeom prst="line">
            <a:avLst/>
          </a:prstGeom>
          <a:ln w="15875">
            <a:solidFill>
              <a:srgbClr val="53565A"/>
            </a:solidFill>
          </a:ln>
        </p:spPr>
        <p:style>
          <a:lnRef idx="2">
            <a:schemeClr val="accent1"/>
          </a:lnRef>
          <a:fillRef idx="0">
            <a:schemeClr val="accent1"/>
          </a:fillRef>
          <a:effectRef idx="1">
            <a:schemeClr val="accent1"/>
          </a:effectRef>
          <a:fontRef idx="minor">
            <a:schemeClr val="tx1"/>
          </a:fontRef>
        </p:style>
      </p:cxnSp>
      <p:cxnSp>
        <p:nvCxnSpPr>
          <p:cNvPr id="50" name="Connector (plain)"/>
          <p:cNvCxnSpPr/>
          <p:nvPr/>
        </p:nvCxnSpPr>
        <p:spPr>
          <a:xfrm flipH="1">
            <a:off x="3127248" y="3493008"/>
            <a:ext cx="118872" cy="0"/>
          </a:xfrm>
          <a:prstGeom prst="line">
            <a:avLst/>
          </a:prstGeom>
          <a:ln w="15875">
            <a:solidFill>
              <a:srgbClr val="53565A"/>
            </a:solidFill>
          </a:ln>
        </p:spPr>
        <p:style>
          <a:lnRef idx="2">
            <a:schemeClr val="accent1"/>
          </a:lnRef>
          <a:fillRef idx="0">
            <a:schemeClr val="accent1"/>
          </a:fillRef>
          <a:effectRef idx="1">
            <a:schemeClr val="accent1"/>
          </a:effectRef>
          <a:fontRef idx="minor">
            <a:schemeClr val="tx1"/>
          </a:fontRef>
        </p:style>
      </p:cxnSp>
      <p:cxnSp>
        <p:nvCxnSpPr>
          <p:cNvPr id="51" name="Connector (plain)"/>
          <p:cNvCxnSpPr/>
          <p:nvPr/>
        </p:nvCxnSpPr>
        <p:spPr>
          <a:xfrm>
            <a:off x="3127248" y="3493008"/>
            <a:ext cx="0" cy="1179576"/>
          </a:xfrm>
          <a:prstGeom prst="line">
            <a:avLst/>
          </a:prstGeom>
          <a:ln w="15875">
            <a:solidFill>
              <a:srgbClr val="53565A"/>
            </a:solidFill>
          </a:ln>
        </p:spPr>
        <p:style>
          <a:lnRef idx="2">
            <a:schemeClr val="accent1"/>
          </a:lnRef>
          <a:fillRef idx="0">
            <a:schemeClr val="accent1"/>
          </a:fillRef>
          <a:effectRef idx="1">
            <a:schemeClr val="accent1"/>
          </a:effectRef>
          <a:fontRef idx="minor">
            <a:schemeClr val="tx1"/>
          </a:fontRef>
        </p:style>
      </p:cxnSp>
      <p:cxnSp>
        <p:nvCxnSpPr>
          <p:cNvPr id="52" name="Connector (plain)"/>
          <p:cNvCxnSpPr/>
          <p:nvPr/>
        </p:nvCxnSpPr>
        <p:spPr>
          <a:xfrm>
            <a:off x="3127248" y="4672584"/>
            <a:ext cx="73152" cy="0"/>
          </a:xfrm>
          <a:prstGeom prst="line">
            <a:avLst/>
          </a:prstGeom>
          <a:ln w="15875">
            <a:solidFill>
              <a:srgbClr val="53565A"/>
            </a:solidFill>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548640" y="5074920"/>
            <a:ext cx="5760720" cy="685800"/>
          </a:xfrm>
          <a:prstGeom prst="rect">
            <a:avLst/>
          </a:prstGeom>
          <a:noFill/>
        </p:spPr>
        <p:txBody>
          <a:bodyPr wrap="square" lIns="0" rIns="0" tIns="0" bIns="0" anchor="t">
            <a:noAutofit/>
          </a:bodyPr>
          <a:lstStyle/>
          <a:p>
            <a:pPr algn="l"/>
            <a:r>
              <a:rPr sz="1300" b="0" i="0">
                <a:solidFill>
                  <a:srgbClr val="53565A"/>
                </a:solidFill>
                <a:latin typeface="Arial"/>
              </a:rPr>
              <a:t>AI production and non-production are separate subscriptions under the Corp (or Online) group, inheriting platform policy.</a:t>
            </a:r>
          </a:p>
        </p:txBody>
      </p:sp>
      <p:graphicFrame>
        <p:nvGraphicFramePr>
          <p:cNvPr id="54" name="Table"/>
          <p:cNvGraphicFramePr>
            <a:graphicFrameLocks noGrp="1"/>
          </p:cNvGraphicFramePr>
          <p:nvPr/>
        </p:nvGraphicFramePr>
        <p:xfrm>
          <a:off x="6583680" y="1371600"/>
          <a:ext cx="5056632" cy="2743200"/>
        </p:xfrm>
        <a:graphic>
          <a:graphicData uri="http://schemas.openxmlformats.org/drawingml/2006/table">
            <a:tbl>
              <a:tblPr firstRow="1" bandRow="0">
                <a:tableStyleId>{5C22544A-7EE6-4342-B048-85BDC9FD1C3A}</a:tableStyleId>
              </a:tblPr>
              <a:tblGrid>
                <a:gridCol w="1463040"/>
                <a:gridCol w="3593592"/>
              </a:tblGrid>
              <a:tr h="274320">
                <a:tc>
                  <a:txBody>
                    <a:bodyPr wrap="square" anchor="ctr">
                      <a:noAutofit/>
                    </a:bodyPr>
                    <a:lstStyle/>
                    <a:p>
                      <a:pPr algn="l"/>
                      <a:r>
                        <a:rPr sz="1200" b="1" i="0">
                          <a:solidFill>
                            <a:srgbClr val="FFFFFF"/>
                          </a:solidFill>
                          <a:latin typeface="Arial"/>
                        </a:rPr>
                        <a:t>Control</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Minimum baseline (proposed)</a:t>
                      </a:r>
                    </a:p>
                  </a:txBody>
                  <a:tcPr marL="73152" marR="73152" marT="36576" marB="36576" anchor="ctr">
                    <a:solidFill>
                      <a:srgbClr val="000048"/>
                    </a:solidFill>
                  </a:tcPr>
                </a:tc>
              </a:tr>
              <a:tr h="640080">
                <a:tc>
                  <a:txBody>
                    <a:bodyPr wrap="square" anchor="ctr">
                      <a:noAutofit/>
                    </a:bodyPr>
                    <a:lstStyle/>
                    <a:p>
                      <a:pPr algn="l"/>
                      <a:r>
                        <a:rPr sz="1200" b="1" i="0">
                          <a:solidFill>
                            <a:srgbClr val="1E1E2E"/>
                          </a:solidFill>
                          <a:latin typeface="Arial"/>
                        </a:rPr>
                        <a:t>Azure Policy</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Allowed regions and deployment types; deny public network access for AI, Search, Storage, Key Vault; require diagnostics</a:t>
                      </a:r>
                    </a:p>
                  </a:txBody>
                  <a:tcPr marL="73152" marR="73152" marT="36576" marB="36576" anchor="ctr">
                    <a:solidFill>
                      <a:srgbClr val="FFFFFF"/>
                    </a:solidFill>
                  </a:tcPr>
                </a:tc>
              </a:tr>
              <a:tr h="640080">
                <a:tc>
                  <a:txBody>
                    <a:bodyPr wrap="square" anchor="ctr">
                      <a:noAutofit/>
                    </a:bodyPr>
                    <a:lstStyle/>
                    <a:p>
                      <a:pPr algn="l"/>
                      <a:r>
                        <a:rPr sz="1200" b="1" i="0">
                          <a:solidFill>
                            <a:srgbClr val="1E1E2E"/>
                          </a:solidFill>
                          <a:latin typeface="Arial"/>
                        </a:rPr>
                        <a:t>Tags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owner, workload, environment, cost-centre, data-classification, agent-id (where applicable)</a:t>
                      </a:r>
                    </a:p>
                  </a:txBody>
                  <a:tcPr marL="73152" marR="73152" marT="36576" marB="36576" anchor="ctr">
                    <a:solidFill>
                      <a:srgbClr val="F5F5F2"/>
                    </a:solidFill>
                  </a:tcPr>
                </a:tc>
              </a:tr>
              <a:tr h="457200">
                <a:tc>
                  <a:txBody>
                    <a:bodyPr wrap="square" anchor="ctr">
                      <a:noAutofit/>
                    </a:bodyPr>
                    <a:lstStyle/>
                    <a:p>
                      <a:pPr algn="l"/>
                      <a:r>
                        <a:rPr sz="1200" b="1" i="0">
                          <a:solidFill>
                            <a:srgbClr val="1E1E2E"/>
                          </a:solidFill>
                          <a:latin typeface="Arial"/>
                        </a:rPr>
                        <a:t>Subscription vending</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Request, approval, naming and budget set at creation</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Cost ownership</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Budget and alert per subscription and workload</a:t>
                      </a:r>
                    </a:p>
                  </a:txBody>
                  <a:tcPr marL="73152" marR="73152" marT="36576" marB="36576" anchor="ctr">
                    <a:solidFill>
                      <a:srgbClr val="F5F5F2"/>
                    </a:solidFill>
                  </a:tcPr>
                </a:tc>
              </a:tr>
              <a:tr h="274320">
                <a:tc>
                  <a:txBody>
                    <a:bodyPr wrap="square" anchor="ctr">
                      <a:noAutofit/>
                    </a:bodyPr>
                    <a:lstStyle/>
                    <a:p>
                      <a:pPr algn="l"/>
                      <a:r>
                        <a:rPr sz="1200" b="1" i="0">
                          <a:solidFill>
                            <a:srgbClr val="1E1E2E"/>
                          </a:solidFill>
                          <a:latin typeface="Arial"/>
                        </a:rPr>
                        <a:t>Exceptions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Time-bound, approved by customer risk owner</a:t>
                      </a:r>
                    </a:p>
                  </a:txBody>
                  <a:tcPr marL="73152" marR="73152" marT="36576" marB="36576" anchor="ctr">
                    <a:solidFill>
                      <a:srgbClr val="FFFFFF"/>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Hub connectivity, private endpoints and DNS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A5</a:t>
            </a:r>
          </a:p>
        </p:txBody>
      </p:sp>
      <p:sp>
        <p:nvSpPr>
          <p:cNvPr id="5" name="Status chip: ADAPTED FROM SOURCE"/>
          <p:cNvSpPr/>
          <p:nvPr/>
        </p:nvSpPr>
        <p:spPr>
          <a:xfrm>
            <a:off x="1898650" y="274320"/>
            <a:ext cx="1915160" cy="237744"/>
          </a:xfrm>
          <a:prstGeom prst="roundRect">
            <a:avLst>
              <a:gd name="adj" fmla="val 30769"/>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2F78C4"/>
                </a:solidFill>
                <a:latin typeface="Arial"/>
              </a:rPr>
              <a:t>ADAPTED FROM SOURCE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v4.0  ·  11 Oct 2026  ·  Working proposal, not approved terms</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16</a:t>
            </a:r>
          </a:p>
        </p:txBody>
      </p:sp>
      <p:sp>
        <p:nvSpPr>
          <p:cNvPr id="9" name="Rounded Rectangle 8"/>
          <p:cNvSpPr/>
          <p:nvPr/>
        </p:nvSpPr>
        <p:spPr>
          <a:xfrm>
            <a:off x="1920240" y="1325880"/>
            <a:ext cx="9875520" cy="2697480"/>
          </a:xfrm>
          <a:prstGeom prst="roundRect">
            <a:avLst>
              <a:gd name="adj" fmla="val 3389"/>
            </a:avLst>
          </a:prstGeom>
          <a:solidFill>
            <a:srgbClr val="F7F9FC"/>
          </a:solidFill>
          <a:ln w="15875">
            <a:solidFill>
              <a:srgbClr val="8FB3D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2029968" y="1380744"/>
            <a:ext cx="9656064" cy="237744"/>
          </a:xfrm>
          <a:prstGeom prst="rect">
            <a:avLst/>
          </a:prstGeom>
          <a:noFill/>
        </p:spPr>
        <p:txBody>
          <a:bodyPr wrap="square" lIns="0" rIns="0" tIns="0" bIns="0" anchor="t">
            <a:noAutofit/>
          </a:bodyPr>
          <a:lstStyle/>
          <a:p>
            <a:pPr algn="l"/>
            <a:r>
              <a:rPr sz="1200" b="1" i="0">
                <a:solidFill>
                  <a:srgbClr val="000048"/>
                </a:solidFill>
                <a:latin typeface="Arial"/>
              </a:rPr>
              <a:t>WORKLOAD LANDING ZONE SUBSCRIPTION: SPOKE VIRTUAL NETWORK</a:t>
            </a:r>
          </a:p>
        </p:txBody>
      </p:sp>
      <p:sp>
        <p:nvSpPr>
          <p:cNvPr id="11" name="Rounded Rectangle 10"/>
          <p:cNvSpPr/>
          <p:nvPr/>
        </p:nvSpPr>
        <p:spPr>
          <a:xfrm>
            <a:off x="2057400" y="1691640"/>
            <a:ext cx="1920240" cy="1143000"/>
          </a:xfrm>
          <a:prstGeom prst="roundRect">
            <a:avLst>
              <a:gd name="adj" fmla="val 8000"/>
            </a:avLst>
          </a:prstGeom>
          <a:solidFill>
            <a:srgbClr val="FAFAFA"/>
          </a:solidFill>
          <a:ln w="15875">
            <a:solidFill>
              <a:srgbClr val="A0A0A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30552" y="1719072"/>
            <a:ext cx="1828800" cy="237744"/>
          </a:xfrm>
          <a:prstGeom prst="rect">
            <a:avLst/>
          </a:prstGeom>
          <a:noFill/>
        </p:spPr>
        <p:txBody>
          <a:bodyPr wrap="square" lIns="0" rIns="0" tIns="0" bIns="0" anchor="t">
            <a:noAutofit/>
          </a:bodyPr>
          <a:lstStyle/>
          <a:p>
            <a:pPr algn="l"/>
            <a:r>
              <a:rPr sz="1200" b="1" i="0">
                <a:solidFill>
                  <a:srgbClr val="53565A"/>
                </a:solidFill>
                <a:latin typeface="Arial"/>
              </a:rPr>
              <a:t>snet-appGateway</a:t>
            </a:r>
          </a:p>
        </p:txBody>
      </p:sp>
      <p:pic>
        <p:nvPicPr>
          <p:cNvPr id="13" name="Azure icon: Application Gateways" descr="Official Azure icon: Application Gateways"/>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194560" y="2057400"/>
            <a:ext cx="384048" cy="384048"/>
          </a:xfrm>
          <a:prstGeom prst="rect">
            <a:avLst/>
          </a:prstGeom>
        </p:spPr>
      </p:pic>
      <p:sp>
        <p:nvSpPr>
          <p:cNvPr id="14" name="TextBox 13"/>
          <p:cNvSpPr txBox="1"/>
          <p:nvPr/>
        </p:nvSpPr>
        <p:spPr>
          <a:xfrm>
            <a:off x="2651760" y="2057400"/>
            <a:ext cx="1280160" cy="548640"/>
          </a:xfrm>
          <a:prstGeom prst="rect">
            <a:avLst/>
          </a:prstGeom>
          <a:noFill/>
        </p:spPr>
        <p:txBody>
          <a:bodyPr wrap="square" lIns="0" rIns="0" tIns="0" bIns="0" anchor="t">
            <a:noAutofit/>
          </a:bodyPr>
          <a:lstStyle/>
          <a:p>
            <a:pPr algn="l"/>
            <a:r>
              <a:rPr sz="1200" b="1" i="0">
                <a:solidFill>
                  <a:srgbClr val="000048"/>
                </a:solidFill>
                <a:latin typeface="Arial"/>
              </a:rPr>
              <a:t>App Gateway + WAF</a:t>
            </a:r>
          </a:p>
        </p:txBody>
      </p:sp>
      <p:sp>
        <p:nvSpPr>
          <p:cNvPr id="15" name="Rounded Rectangle 14"/>
          <p:cNvSpPr/>
          <p:nvPr/>
        </p:nvSpPr>
        <p:spPr>
          <a:xfrm>
            <a:off x="4069080" y="1691640"/>
            <a:ext cx="1920240" cy="1143000"/>
          </a:xfrm>
          <a:prstGeom prst="roundRect">
            <a:avLst>
              <a:gd name="adj" fmla="val 8000"/>
            </a:avLst>
          </a:prstGeom>
          <a:solidFill>
            <a:srgbClr val="FAFAFA"/>
          </a:solidFill>
          <a:ln w="15875">
            <a:solidFill>
              <a:srgbClr val="A0A0A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4142232" y="1719072"/>
            <a:ext cx="1828800" cy="237744"/>
          </a:xfrm>
          <a:prstGeom prst="rect">
            <a:avLst/>
          </a:prstGeom>
          <a:noFill/>
        </p:spPr>
        <p:txBody>
          <a:bodyPr wrap="square" lIns="0" rIns="0" tIns="0" bIns="0" anchor="t">
            <a:noAutofit/>
          </a:bodyPr>
          <a:lstStyle/>
          <a:p>
            <a:pPr algn="l"/>
            <a:r>
              <a:rPr sz="1200" b="1" i="0">
                <a:solidFill>
                  <a:srgbClr val="53565A"/>
                </a:solidFill>
                <a:latin typeface="Arial"/>
              </a:rPr>
              <a:t>snet-appServicePlan</a:t>
            </a:r>
          </a:p>
        </p:txBody>
      </p:sp>
      <p:pic>
        <p:nvPicPr>
          <p:cNvPr id="17" name="Azure icon: App Services" descr="Official Azure icon: App Services"/>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206240" y="2057400"/>
            <a:ext cx="384048" cy="384048"/>
          </a:xfrm>
          <a:prstGeom prst="rect">
            <a:avLst/>
          </a:prstGeom>
        </p:spPr>
      </p:pic>
      <p:sp>
        <p:nvSpPr>
          <p:cNvPr id="18" name="TextBox 17"/>
          <p:cNvSpPr txBox="1"/>
          <p:nvPr/>
        </p:nvSpPr>
        <p:spPr>
          <a:xfrm>
            <a:off x="4663440" y="2057400"/>
            <a:ext cx="1280160" cy="548640"/>
          </a:xfrm>
          <a:prstGeom prst="rect">
            <a:avLst/>
          </a:prstGeom>
          <a:noFill/>
        </p:spPr>
        <p:txBody>
          <a:bodyPr wrap="square" lIns="0" rIns="0" tIns="0" bIns="0" anchor="t">
            <a:noAutofit/>
          </a:bodyPr>
          <a:lstStyle/>
          <a:p>
            <a:pPr algn="l"/>
            <a:r>
              <a:rPr sz="1200" b="1" i="0">
                <a:solidFill>
                  <a:srgbClr val="000048"/>
                </a:solidFill>
                <a:latin typeface="Arial"/>
              </a:rPr>
              <a:t>App Service integration</a:t>
            </a:r>
          </a:p>
        </p:txBody>
      </p:sp>
      <p:sp>
        <p:nvSpPr>
          <p:cNvPr id="19" name="Rounded Rectangle 18"/>
          <p:cNvSpPr/>
          <p:nvPr/>
        </p:nvSpPr>
        <p:spPr>
          <a:xfrm>
            <a:off x="6080760" y="1691640"/>
            <a:ext cx="1920240" cy="1143000"/>
          </a:xfrm>
          <a:prstGeom prst="roundRect">
            <a:avLst>
              <a:gd name="adj" fmla="val 8000"/>
            </a:avLst>
          </a:prstGeom>
          <a:solidFill>
            <a:srgbClr val="FAFAFA"/>
          </a:solidFill>
          <a:ln w="15875">
            <a:solidFill>
              <a:srgbClr val="A0A0A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153912" y="1719072"/>
            <a:ext cx="1828800" cy="237744"/>
          </a:xfrm>
          <a:prstGeom prst="rect">
            <a:avLst/>
          </a:prstGeom>
          <a:noFill/>
        </p:spPr>
        <p:txBody>
          <a:bodyPr wrap="square" lIns="0" rIns="0" tIns="0" bIns="0" anchor="t">
            <a:noAutofit/>
          </a:bodyPr>
          <a:lstStyle/>
          <a:p>
            <a:pPr algn="l"/>
            <a:r>
              <a:rPr sz="1200" b="1" i="0">
                <a:solidFill>
                  <a:srgbClr val="53565A"/>
                </a:solidFill>
                <a:latin typeface="Arial"/>
              </a:rPr>
              <a:t>snet-agentsEgress</a:t>
            </a:r>
          </a:p>
        </p:txBody>
      </p:sp>
      <p:pic>
        <p:nvPicPr>
          <p:cNvPr id="21" name="Azure icon: Foundry Agent Service" descr="Official Azure icon: Foundry Agent Service"/>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217920" y="2057400"/>
            <a:ext cx="384048" cy="384048"/>
          </a:xfrm>
          <a:prstGeom prst="rect">
            <a:avLst/>
          </a:prstGeom>
        </p:spPr>
      </p:pic>
      <p:sp>
        <p:nvSpPr>
          <p:cNvPr id="22" name="TextBox 21"/>
          <p:cNvSpPr txBox="1"/>
          <p:nvPr/>
        </p:nvSpPr>
        <p:spPr>
          <a:xfrm>
            <a:off x="6675120" y="2057400"/>
            <a:ext cx="1280160" cy="548640"/>
          </a:xfrm>
          <a:prstGeom prst="rect">
            <a:avLst/>
          </a:prstGeom>
          <a:noFill/>
        </p:spPr>
        <p:txBody>
          <a:bodyPr wrap="square" lIns="0" rIns="0" tIns="0" bIns="0" anchor="t">
            <a:noAutofit/>
          </a:bodyPr>
          <a:lstStyle/>
          <a:p>
            <a:pPr algn="l"/>
            <a:r>
              <a:rPr sz="1200" b="1" i="0">
                <a:solidFill>
                  <a:srgbClr val="000048"/>
                </a:solidFill>
                <a:latin typeface="Arial"/>
              </a:rPr>
              <a:t>Agent Service integration</a:t>
            </a:r>
          </a:p>
        </p:txBody>
      </p:sp>
      <p:sp>
        <p:nvSpPr>
          <p:cNvPr id="23" name="Rounded Rectangle 22"/>
          <p:cNvSpPr/>
          <p:nvPr/>
        </p:nvSpPr>
        <p:spPr>
          <a:xfrm>
            <a:off x="8092440" y="1691640"/>
            <a:ext cx="3566160" cy="2194560"/>
          </a:xfrm>
          <a:prstGeom prst="roundRect">
            <a:avLst>
              <a:gd name="adj" fmla="val 4166"/>
            </a:avLst>
          </a:prstGeom>
          <a:solidFill>
            <a:srgbClr val="FAFAFA"/>
          </a:solidFill>
          <a:ln w="15875">
            <a:solidFill>
              <a:srgbClr val="A0A0A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8165592" y="1719072"/>
            <a:ext cx="3474720" cy="237744"/>
          </a:xfrm>
          <a:prstGeom prst="rect">
            <a:avLst/>
          </a:prstGeom>
          <a:noFill/>
        </p:spPr>
        <p:txBody>
          <a:bodyPr wrap="square" lIns="0" rIns="0" tIns="0" bIns="0" anchor="t">
            <a:noAutofit/>
          </a:bodyPr>
          <a:lstStyle/>
          <a:p>
            <a:pPr algn="l"/>
            <a:r>
              <a:rPr sz="1200" b="1" i="0">
                <a:solidFill>
                  <a:srgbClr val="53565A"/>
                </a:solidFill>
                <a:latin typeface="Arial"/>
              </a:rPr>
              <a:t>snet-privateEndpoints</a:t>
            </a:r>
          </a:p>
        </p:txBody>
      </p:sp>
      <p:pic>
        <p:nvPicPr>
          <p:cNvPr id="25" name="Azure icon: Private Endpoints" descr="Official Azure icon: Private Endpoints"/>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8549640" y="2011680"/>
            <a:ext cx="347472" cy="347472"/>
          </a:xfrm>
          <a:prstGeom prst="rect">
            <a:avLst/>
          </a:prstGeom>
        </p:spPr>
      </p:pic>
      <p:sp>
        <p:nvSpPr>
          <p:cNvPr id="26" name="TextBox 25"/>
          <p:cNvSpPr txBox="1"/>
          <p:nvPr/>
        </p:nvSpPr>
        <p:spPr>
          <a:xfrm>
            <a:off x="8183879" y="2377440"/>
            <a:ext cx="1143000" cy="457200"/>
          </a:xfrm>
          <a:prstGeom prst="rect">
            <a:avLst/>
          </a:prstGeom>
          <a:noFill/>
        </p:spPr>
        <p:txBody>
          <a:bodyPr wrap="square" lIns="0" rIns="0" tIns="0" bIns="0" anchor="t">
            <a:noAutofit/>
          </a:bodyPr>
          <a:lstStyle/>
          <a:p>
            <a:pPr algn="ctr"/>
            <a:r>
              <a:rPr sz="1200" b="0" i="0">
                <a:solidFill>
                  <a:srgbClr val="000048"/>
                </a:solidFill>
                <a:latin typeface="Arial"/>
              </a:rPr>
              <a:t>App Service</a:t>
            </a:r>
          </a:p>
        </p:txBody>
      </p:sp>
      <p:pic>
        <p:nvPicPr>
          <p:cNvPr id="27" name="Azure icon: Private Endpoints" descr="Official Azure icon: Private Endpoints"/>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710928" y="2011680"/>
            <a:ext cx="347472" cy="347472"/>
          </a:xfrm>
          <a:prstGeom prst="rect">
            <a:avLst/>
          </a:prstGeom>
        </p:spPr>
      </p:pic>
      <p:sp>
        <p:nvSpPr>
          <p:cNvPr id="28" name="TextBox 27"/>
          <p:cNvSpPr txBox="1"/>
          <p:nvPr/>
        </p:nvSpPr>
        <p:spPr>
          <a:xfrm>
            <a:off x="9345167" y="2377440"/>
            <a:ext cx="1143000" cy="457200"/>
          </a:xfrm>
          <a:prstGeom prst="rect">
            <a:avLst/>
          </a:prstGeom>
          <a:noFill/>
        </p:spPr>
        <p:txBody>
          <a:bodyPr wrap="square" lIns="0" rIns="0" tIns="0" bIns="0" anchor="t">
            <a:noAutofit/>
          </a:bodyPr>
          <a:lstStyle/>
          <a:p>
            <a:pPr algn="ctr"/>
            <a:r>
              <a:rPr sz="1200" b="0" i="0">
                <a:solidFill>
                  <a:srgbClr val="000048"/>
                </a:solidFill>
                <a:latin typeface="Arial"/>
              </a:rPr>
              <a:t>Storage account</a:t>
            </a:r>
          </a:p>
        </p:txBody>
      </p:sp>
      <p:pic>
        <p:nvPicPr>
          <p:cNvPr id="29" name="Azure icon: Private Endpoints" descr="Official Azure icon: Private Endpoints"/>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0872215" y="2011680"/>
            <a:ext cx="347472" cy="347472"/>
          </a:xfrm>
          <a:prstGeom prst="rect">
            <a:avLst/>
          </a:prstGeom>
        </p:spPr>
      </p:pic>
      <p:sp>
        <p:nvSpPr>
          <p:cNvPr id="30" name="TextBox 29"/>
          <p:cNvSpPr txBox="1"/>
          <p:nvPr/>
        </p:nvSpPr>
        <p:spPr>
          <a:xfrm>
            <a:off x="10506455" y="2377440"/>
            <a:ext cx="1143000" cy="457200"/>
          </a:xfrm>
          <a:prstGeom prst="rect">
            <a:avLst/>
          </a:prstGeom>
          <a:noFill/>
        </p:spPr>
        <p:txBody>
          <a:bodyPr wrap="square" lIns="0" rIns="0" tIns="0" bIns="0" anchor="t">
            <a:noAutofit/>
          </a:bodyPr>
          <a:lstStyle/>
          <a:p>
            <a:pPr algn="ctr"/>
            <a:r>
              <a:rPr sz="1200" b="0" i="0">
                <a:solidFill>
                  <a:srgbClr val="000048"/>
                </a:solidFill>
                <a:latin typeface="Arial"/>
              </a:rPr>
              <a:t>Key Vault</a:t>
            </a:r>
          </a:p>
        </p:txBody>
      </p:sp>
      <p:pic>
        <p:nvPicPr>
          <p:cNvPr id="31" name="Azure icon: Private Endpoints" descr="Official Azure icon: Private Endpoints"/>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8549640" y="2926080"/>
            <a:ext cx="347472" cy="347472"/>
          </a:xfrm>
          <a:prstGeom prst="rect">
            <a:avLst/>
          </a:prstGeom>
        </p:spPr>
      </p:pic>
      <p:sp>
        <p:nvSpPr>
          <p:cNvPr id="32" name="TextBox 31"/>
          <p:cNvSpPr txBox="1"/>
          <p:nvPr/>
        </p:nvSpPr>
        <p:spPr>
          <a:xfrm>
            <a:off x="8183879" y="3291840"/>
            <a:ext cx="1143000" cy="457200"/>
          </a:xfrm>
          <a:prstGeom prst="rect">
            <a:avLst/>
          </a:prstGeom>
          <a:noFill/>
        </p:spPr>
        <p:txBody>
          <a:bodyPr wrap="square" lIns="0" rIns="0" tIns="0" bIns="0" anchor="t">
            <a:noAutofit/>
          </a:bodyPr>
          <a:lstStyle/>
          <a:p>
            <a:pPr algn="ctr"/>
            <a:r>
              <a:rPr sz="1200" b="0" i="0">
                <a:solidFill>
                  <a:srgbClr val="000048"/>
                </a:solidFill>
                <a:latin typeface="Arial"/>
              </a:rPr>
              <a:t>Foundry</a:t>
            </a:r>
          </a:p>
        </p:txBody>
      </p:sp>
      <p:pic>
        <p:nvPicPr>
          <p:cNvPr id="33" name="Azure icon: Private Endpoints" descr="Official Azure icon: Private Endpoints"/>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710928" y="2926080"/>
            <a:ext cx="347472" cy="347472"/>
          </a:xfrm>
          <a:prstGeom prst="rect">
            <a:avLst/>
          </a:prstGeom>
        </p:spPr>
      </p:pic>
      <p:sp>
        <p:nvSpPr>
          <p:cNvPr id="34" name="TextBox 33"/>
          <p:cNvSpPr txBox="1"/>
          <p:nvPr/>
        </p:nvSpPr>
        <p:spPr>
          <a:xfrm>
            <a:off x="9345167" y="3291840"/>
            <a:ext cx="1143000" cy="457200"/>
          </a:xfrm>
          <a:prstGeom prst="rect">
            <a:avLst/>
          </a:prstGeom>
          <a:noFill/>
        </p:spPr>
        <p:txBody>
          <a:bodyPr wrap="square" lIns="0" rIns="0" tIns="0" bIns="0" anchor="t">
            <a:noAutofit/>
          </a:bodyPr>
          <a:lstStyle/>
          <a:p>
            <a:pPr algn="ctr"/>
            <a:r>
              <a:rPr sz="1200" b="0" i="0">
                <a:solidFill>
                  <a:srgbClr val="000048"/>
                </a:solidFill>
                <a:latin typeface="Arial"/>
              </a:rPr>
              <a:t>AI Search</a:t>
            </a:r>
          </a:p>
        </p:txBody>
      </p:sp>
      <p:pic>
        <p:nvPicPr>
          <p:cNvPr id="35" name="Azure icon: Private Endpoints" descr="Official Azure icon: Private Endpoints"/>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0872215" y="2926080"/>
            <a:ext cx="347472" cy="347472"/>
          </a:xfrm>
          <a:prstGeom prst="rect">
            <a:avLst/>
          </a:prstGeom>
        </p:spPr>
      </p:pic>
      <p:sp>
        <p:nvSpPr>
          <p:cNvPr id="36" name="TextBox 35"/>
          <p:cNvSpPr txBox="1"/>
          <p:nvPr/>
        </p:nvSpPr>
        <p:spPr>
          <a:xfrm>
            <a:off x="10506455" y="3291840"/>
            <a:ext cx="1143000" cy="457200"/>
          </a:xfrm>
          <a:prstGeom prst="rect">
            <a:avLst/>
          </a:prstGeom>
          <a:noFill/>
        </p:spPr>
        <p:txBody>
          <a:bodyPr wrap="square" lIns="0" rIns="0" tIns="0" bIns="0" anchor="t">
            <a:noAutofit/>
          </a:bodyPr>
          <a:lstStyle/>
          <a:p>
            <a:pPr algn="ctr"/>
            <a:r>
              <a:rPr sz="1200" b="0" i="0">
                <a:solidFill>
                  <a:srgbClr val="000048"/>
                </a:solidFill>
                <a:latin typeface="Arial"/>
              </a:rPr>
              <a:t>Cosmos DB</a:t>
            </a:r>
          </a:p>
        </p:txBody>
      </p:sp>
      <p:sp>
        <p:nvSpPr>
          <p:cNvPr id="37" name="Rounded Rectangle 36"/>
          <p:cNvSpPr/>
          <p:nvPr/>
        </p:nvSpPr>
        <p:spPr>
          <a:xfrm>
            <a:off x="2057400" y="2926080"/>
            <a:ext cx="3931920" cy="960120"/>
          </a:xfrm>
          <a:prstGeom prst="roundRect">
            <a:avLst>
              <a:gd name="adj" fmla="val 9523"/>
            </a:avLst>
          </a:prstGeom>
          <a:solidFill>
            <a:srgbClr val="FAFAFA"/>
          </a:solidFill>
          <a:ln w="15875">
            <a:solidFill>
              <a:srgbClr val="A0A0A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2130552" y="2953512"/>
            <a:ext cx="3840480" cy="237744"/>
          </a:xfrm>
          <a:prstGeom prst="rect">
            <a:avLst/>
          </a:prstGeom>
          <a:noFill/>
        </p:spPr>
        <p:txBody>
          <a:bodyPr wrap="square" lIns="0" rIns="0" tIns="0" bIns="0" anchor="t">
            <a:noAutofit/>
          </a:bodyPr>
          <a:lstStyle/>
          <a:p>
            <a:pPr algn="l"/>
            <a:r>
              <a:rPr sz="1200" b="1" i="0">
                <a:solidFill>
                  <a:srgbClr val="53565A"/>
                </a:solidFill>
                <a:latin typeface="Arial"/>
              </a:rPr>
              <a:t>snet-buildAgents, snet-jumpBoxes</a:t>
            </a:r>
          </a:p>
        </p:txBody>
      </p:sp>
      <p:pic>
        <p:nvPicPr>
          <p:cNvPr id="39" name="Azure icon: Virtual Machine" descr="Official Azure icon: Virtual Machine"/>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2240280" y="3246120"/>
            <a:ext cx="347472" cy="347472"/>
          </a:xfrm>
          <a:prstGeom prst="rect">
            <a:avLst/>
          </a:prstGeom>
        </p:spPr>
      </p:pic>
      <p:sp>
        <p:nvSpPr>
          <p:cNvPr id="40" name="TextBox 39"/>
          <p:cNvSpPr txBox="1"/>
          <p:nvPr/>
        </p:nvSpPr>
        <p:spPr>
          <a:xfrm>
            <a:off x="2651760" y="3273552"/>
            <a:ext cx="3291840" cy="457200"/>
          </a:xfrm>
          <a:prstGeom prst="rect">
            <a:avLst/>
          </a:prstGeom>
          <a:noFill/>
        </p:spPr>
        <p:txBody>
          <a:bodyPr wrap="square" lIns="0" rIns="0" tIns="0" bIns="0" anchor="t">
            <a:noAutofit/>
          </a:bodyPr>
          <a:lstStyle/>
          <a:p>
            <a:pPr algn="l"/>
            <a:r>
              <a:rPr sz="1200" b="0" i="0">
                <a:solidFill>
                  <a:srgbClr val="000048"/>
                </a:solidFill>
                <a:latin typeface="Arial"/>
              </a:rPr>
              <a:t>Build agents and jump boxes (via Bastion)</a:t>
            </a:r>
          </a:p>
        </p:txBody>
      </p:sp>
      <p:sp>
        <p:nvSpPr>
          <p:cNvPr id="41" name="TextBox 40"/>
          <p:cNvSpPr txBox="1"/>
          <p:nvPr/>
        </p:nvSpPr>
        <p:spPr>
          <a:xfrm>
            <a:off x="6126480" y="3017520"/>
            <a:ext cx="1920240" cy="868680"/>
          </a:xfrm>
          <a:prstGeom prst="rect">
            <a:avLst/>
          </a:prstGeom>
          <a:noFill/>
        </p:spPr>
        <p:txBody>
          <a:bodyPr wrap="square" lIns="0" rIns="0" tIns="0" bIns="0" anchor="t">
            <a:noAutofit/>
          </a:bodyPr>
          <a:lstStyle/>
          <a:p>
            <a:pPr algn="l"/>
            <a:r>
              <a:rPr sz="1200" b="0" i="0">
                <a:solidFill>
                  <a:srgbClr val="53565A"/>
                </a:solidFill>
                <a:latin typeface="Arial"/>
              </a:rPr>
              <a:t>All subnets: NSG and UDR 0.0.0.0/0 to hub firewall</a:t>
            </a:r>
          </a:p>
        </p:txBody>
      </p:sp>
      <p:sp>
        <p:nvSpPr>
          <p:cNvPr id="42" name="Rounded Rectangle 41"/>
          <p:cNvSpPr/>
          <p:nvPr/>
        </p:nvSpPr>
        <p:spPr>
          <a:xfrm>
            <a:off x="1920240" y="4343400"/>
            <a:ext cx="9875520" cy="1417320"/>
          </a:xfrm>
          <a:prstGeom prst="roundRect">
            <a:avLst>
              <a:gd name="adj" fmla="val 6451"/>
            </a:avLst>
          </a:prstGeom>
          <a:solidFill>
            <a:srgbClr val="FFFFFF"/>
          </a:solidFill>
          <a:ln w="15875">
            <a:solidFill>
              <a:srgbClr val="000048"/>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2029968" y="4398264"/>
            <a:ext cx="9656064" cy="237744"/>
          </a:xfrm>
          <a:prstGeom prst="rect">
            <a:avLst/>
          </a:prstGeom>
          <a:noFill/>
        </p:spPr>
        <p:txBody>
          <a:bodyPr wrap="square" lIns="0" rIns="0" tIns="0" bIns="0" anchor="t">
            <a:noAutofit/>
          </a:bodyPr>
          <a:lstStyle/>
          <a:p>
            <a:pPr algn="l"/>
            <a:r>
              <a:rPr sz="1200" b="1" i="0">
                <a:solidFill>
                  <a:srgbClr val="000048"/>
                </a:solidFill>
                <a:latin typeface="Arial"/>
              </a:rPr>
              <a:t>PLATFORM LANDING ZONE: CONNECTIVITY SUBSCRIPTION</a:t>
            </a:r>
          </a:p>
        </p:txBody>
      </p:sp>
      <p:pic>
        <p:nvPicPr>
          <p:cNvPr id="44" name="Azure icon: Virtual Networks" descr="Official Azure icon: Virtual Networks"/>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2130552" y="4782312"/>
            <a:ext cx="384048" cy="384048"/>
          </a:xfrm>
          <a:prstGeom prst="rect">
            <a:avLst/>
          </a:prstGeom>
        </p:spPr>
      </p:pic>
      <p:sp>
        <p:nvSpPr>
          <p:cNvPr id="45" name="TextBox 44"/>
          <p:cNvSpPr txBox="1"/>
          <p:nvPr/>
        </p:nvSpPr>
        <p:spPr>
          <a:xfrm>
            <a:off x="2587752" y="4745736"/>
            <a:ext cx="1719072" cy="457199"/>
          </a:xfrm>
          <a:prstGeom prst="rect">
            <a:avLst/>
          </a:prstGeom>
          <a:noFill/>
        </p:spPr>
        <p:txBody>
          <a:bodyPr wrap="square" lIns="0" rIns="0" tIns="0" bIns="0" anchor="ctr">
            <a:noAutofit/>
          </a:bodyPr>
          <a:lstStyle/>
          <a:p>
            <a:pPr algn="l"/>
            <a:r>
              <a:rPr sz="1200" b="1" i="0">
                <a:solidFill>
                  <a:srgbClr val="000048"/>
                </a:solidFill>
                <a:latin typeface="Arial"/>
              </a:rPr>
              <a:t>Hub virtual network</a:t>
            </a:r>
          </a:p>
          <a:p>
            <a:pPr algn="l"/>
            <a:r>
              <a:rPr sz="1200" b="0" i="0">
                <a:solidFill>
                  <a:srgbClr val="53565A"/>
                </a:solidFill>
                <a:latin typeface="Arial"/>
              </a:rPr>
              <a:t>per region</a:t>
            </a:r>
          </a:p>
        </p:txBody>
      </p:sp>
      <p:pic>
        <p:nvPicPr>
          <p:cNvPr id="46" name="Azure icon: Firewalls" descr="Official Azure icon: Firewalls"/>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4507992" y="4782312"/>
            <a:ext cx="384048" cy="384048"/>
          </a:xfrm>
          <a:prstGeom prst="rect">
            <a:avLst/>
          </a:prstGeom>
        </p:spPr>
      </p:pic>
      <p:sp>
        <p:nvSpPr>
          <p:cNvPr id="47" name="TextBox 46"/>
          <p:cNvSpPr txBox="1"/>
          <p:nvPr/>
        </p:nvSpPr>
        <p:spPr>
          <a:xfrm>
            <a:off x="4965192" y="4745736"/>
            <a:ext cx="1536192" cy="457199"/>
          </a:xfrm>
          <a:prstGeom prst="rect">
            <a:avLst/>
          </a:prstGeom>
          <a:noFill/>
        </p:spPr>
        <p:txBody>
          <a:bodyPr wrap="square" lIns="0" rIns="0" tIns="0" bIns="0" anchor="ctr">
            <a:noAutofit/>
          </a:bodyPr>
          <a:lstStyle/>
          <a:p>
            <a:pPr algn="l"/>
            <a:r>
              <a:rPr sz="1200" b="1" i="0">
                <a:solidFill>
                  <a:srgbClr val="000048"/>
                </a:solidFill>
                <a:latin typeface="Arial"/>
              </a:rPr>
              <a:t>Azure Firewall</a:t>
            </a:r>
          </a:p>
          <a:p>
            <a:pPr algn="l"/>
            <a:r>
              <a:rPr sz="1200" b="0" i="0">
                <a:solidFill>
                  <a:srgbClr val="53565A"/>
                </a:solidFill>
                <a:latin typeface="Arial"/>
              </a:rPr>
              <a:t>egress inspection</a:t>
            </a:r>
          </a:p>
        </p:txBody>
      </p:sp>
      <p:pic>
        <p:nvPicPr>
          <p:cNvPr id="48" name="Azure icon: DNS Private Resolver" descr="Official Azure icon: DNS Private Resolve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6656832" y="4782312"/>
            <a:ext cx="384048" cy="384048"/>
          </a:xfrm>
          <a:prstGeom prst="rect">
            <a:avLst/>
          </a:prstGeom>
        </p:spPr>
      </p:pic>
      <p:sp>
        <p:nvSpPr>
          <p:cNvPr id="49" name="TextBox 48"/>
          <p:cNvSpPr txBox="1"/>
          <p:nvPr/>
        </p:nvSpPr>
        <p:spPr>
          <a:xfrm>
            <a:off x="7114032" y="4745736"/>
            <a:ext cx="1719072" cy="457199"/>
          </a:xfrm>
          <a:prstGeom prst="rect">
            <a:avLst/>
          </a:prstGeom>
          <a:noFill/>
        </p:spPr>
        <p:txBody>
          <a:bodyPr wrap="square" lIns="0" rIns="0" tIns="0" bIns="0" anchor="ctr">
            <a:noAutofit/>
          </a:bodyPr>
          <a:lstStyle/>
          <a:p>
            <a:pPr algn="l"/>
            <a:r>
              <a:rPr sz="1200" b="1" i="0">
                <a:solidFill>
                  <a:srgbClr val="000048"/>
                </a:solidFill>
                <a:latin typeface="Arial"/>
              </a:rPr>
              <a:t>DNS Private Resolver</a:t>
            </a:r>
          </a:p>
          <a:p>
            <a:pPr algn="l"/>
            <a:r>
              <a:rPr sz="1200" b="0" i="0">
                <a:solidFill>
                  <a:srgbClr val="53565A"/>
                </a:solidFill>
                <a:latin typeface="Arial"/>
              </a:rPr>
              <a:t>linked rulesets</a:t>
            </a:r>
          </a:p>
        </p:txBody>
      </p:sp>
      <p:pic>
        <p:nvPicPr>
          <p:cNvPr id="50" name="Azure icon: DNS Zones" descr="Official Azure icon: DNS Zones"/>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9034272" y="4782312"/>
            <a:ext cx="384048" cy="384048"/>
          </a:xfrm>
          <a:prstGeom prst="rect">
            <a:avLst/>
          </a:prstGeom>
        </p:spPr>
      </p:pic>
      <p:sp>
        <p:nvSpPr>
          <p:cNvPr id="51" name="TextBox 50"/>
          <p:cNvSpPr txBox="1"/>
          <p:nvPr/>
        </p:nvSpPr>
        <p:spPr>
          <a:xfrm>
            <a:off x="9491472" y="4745736"/>
            <a:ext cx="1536192" cy="457199"/>
          </a:xfrm>
          <a:prstGeom prst="rect">
            <a:avLst/>
          </a:prstGeom>
          <a:noFill/>
        </p:spPr>
        <p:txBody>
          <a:bodyPr wrap="square" lIns="0" rIns="0" tIns="0" bIns="0" anchor="ctr">
            <a:noAutofit/>
          </a:bodyPr>
          <a:lstStyle/>
          <a:p>
            <a:pPr algn="l"/>
            <a:r>
              <a:rPr sz="1200" b="1" i="0">
                <a:solidFill>
                  <a:srgbClr val="000048"/>
                </a:solidFill>
                <a:latin typeface="Arial"/>
              </a:rPr>
              <a:t>Private DNS zones</a:t>
            </a:r>
          </a:p>
          <a:p>
            <a:pPr algn="l"/>
            <a:r>
              <a:rPr sz="1200" b="0" i="0">
                <a:solidFill>
                  <a:srgbClr val="53565A"/>
                </a:solidFill>
                <a:latin typeface="Arial"/>
              </a:rPr>
              <a:t>for Private Link</a:t>
            </a:r>
          </a:p>
        </p:txBody>
      </p:sp>
      <p:pic>
        <p:nvPicPr>
          <p:cNvPr id="52" name="Azure icon: Users" descr="Official Azure icon: Users"/>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859536" y="1856231"/>
            <a:ext cx="384048" cy="384048"/>
          </a:xfrm>
          <a:prstGeom prst="rect">
            <a:avLst/>
          </a:prstGeom>
        </p:spPr>
      </p:pic>
      <p:sp>
        <p:nvSpPr>
          <p:cNvPr id="53" name="TextBox 52"/>
          <p:cNvSpPr txBox="1"/>
          <p:nvPr/>
        </p:nvSpPr>
        <p:spPr>
          <a:xfrm>
            <a:off x="448056" y="2276856"/>
            <a:ext cx="1207007" cy="310896"/>
          </a:xfrm>
          <a:prstGeom prst="rect">
            <a:avLst/>
          </a:prstGeom>
          <a:noFill/>
        </p:spPr>
        <p:txBody>
          <a:bodyPr wrap="square" lIns="0" rIns="0" tIns="0" bIns="0" anchor="t">
            <a:noAutofit/>
          </a:bodyPr>
          <a:lstStyle/>
          <a:p>
            <a:pPr algn="ctr"/>
            <a:r>
              <a:rPr sz="1300" b="1" i="0">
                <a:solidFill>
                  <a:srgbClr val="000048"/>
                </a:solidFill>
                <a:latin typeface="Arial"/>
              </a:rPr>
              <a:t>End users</a:t>
            </a:r>
          </a:p>
        </p:txBody>
      </p:sp>
      <p:pic>
        <p:nvPicPr>
          <p:cNvPr id="54" name="Azure icon: Virtual Network Gateways" descr="Official Azure icon: Virtual Network Gateways"/>
          <p:cNvPicPr>
            <a:picLocks noChangeAspect="1"/>
          </p:cNvPicPr>
          <p:nvPr/>
        </p:nvPicPr>
        <p:blipFill>
          <a:blip r:embed="rId24">
            <a:extLst>
              <a:ext uri="{96DAC541-7B7A-43D3-8B79-37D633B846F1}">
                <asvg:svgBlip xmlns:asvg="http://schemas.microsoft.com/office/drawing/2016/SVG/main" r:embed="rId25"/>
              </a:ext>
            </a:extLst>
          </a:blip>
          <a:stretch>
            <a:fillRect/>
          </a:stretch>
        </p:blipFill>
        <p:spPr>
          <a:xfrm>
            <a:off x="905256" y="4507992"/>
            <a:ext cx="384048" cy="384048"/>
          </a:xfrm>
          <a:prstGeom prst="rect">
            <a:avLst/>
          </a:prstGeom>
        </p:spPr>
      </p:pic>
      <p:sp>
        <p:nvSpPr>
          <p:cNvPr id="55" name="TextBox 54"/>
          <p:cNvSpPr txBox="1"/>
          <p:nvPr/>
        </p:nvSpPr>
        <p:spPr>
          <a:xfrm>
            <a:off x="448056" y="4928616"/>
            <a:ext cx="1298448" cy="512064"/>
          </a:xfrm>
          <a:prstGeom prst="rect">
            <a:avLst/>
          </a:prstGeom>
          <a:noFill/>
        </p:spPr>
        <p:txBody>
          <a:bodyPr wrap="square" lIns="0" rIns="0" tIns="0" bIns="0" anchor="t">
            <a:noAutofit/>
          </a:bodyPr>
          <a:lstStyle/>
          <a:p>
            <a:pPr algn="ctr"/>
            <a:r>
              <a:rPr sz="1300" b="1" i="0">
                <a:solidFill>
                  <a:srgbClr val="000048"/>
                </a:solidFill>
                <a:latin typeface="Arial"/>
              </a:rPr>
              <a:t>On-premises</a:t>
            </a:r>
          </a:p>
          <a:p>
            <a:pPr algn="ctr"/>
            <a:r>
              <a:rPr sz="1200" b="0" i="0">
                <a:solidFill>
                  <a:srgbClr val="53565A"/>
                </a:solidFill>
                <a:latin typeface="Arial"/>
              </a:rPr>
              <a:t>VPN or ExpressRoute</a:t>
            </a:r>
          </a:p>
        </p:txBody>
      </p:sp>
      <p:cxnSp>
        <p:nvCxnSpPr>
          <p:cNvPr id="56" name="Connector (flow)"/>
          <p:cNvCxnSpPr/>
          <p:nvPr/>
        </p:nvCxnSpPr>
        <p:spPr>
          <a:xfrm>
            <a:off x="1463040" y="2011680"/>
            <a:ext cx="594360" cy="18288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57" name="Oval 56"/>
          <p:cNvSpPr/>
          <p:nvPr/>
        </p:nvSpPr>
        <p:spPr>
          <a:xfrm>
            <a:off x="1554480" y="1600200"/>
            <a:ext cx="310896" cy="310896"/>
          </a:xfrm>
          <a:prstGeom prst="ellipse">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200" b="1" i="0">
                <a:solidFill>
                  <a:srgbClr val="FFFFFF"/>
                </a:solidFill>
                <a:latin typeface="Arial"/>
              </a:rPr>
              <a:t>1</a:t>
            </a:r>
          </a:p>
        </p:txBody>
      </p:sp>
      <p:cxnSp>
        <p:nvCxnSpPr>
          <p:cNvPr id="58" name="Connector (flow)"/>
          <p:cNvCxnSpPr/>
          <p:nvPr/>
        </p:nvCxnSpPr>
        <p:spPr>
          <a:xfrm>
            <a:off x="1783080" y="4754880"/>
            <a:ext cx="274320" cy="13716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9" name="Connector (flow)"/>
          <p:cNvCxnSpPr/>
          <p:nvPr/>
        </p:nvCxnSpPr>
        <p:spPr>
          <a:xfrm>
            <a:off x="3017520" y="4023360"/>
            <a:ext cx="0" cy="320040"/>
          </a:xfrm>
          <a:prstGeom prst="line">
            <a:avLst/>
          </a:prstGeom>
          <a:ln w="22225">
            <a:solidFill>
              <a:srgbClr val="000048"/>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3108960" y="4050791"/>
            <a:ext cx="1371600" cy="274320"/>
          </a:xfrm>
          <a:prstGeom prst="rect">
            <a:avLst/>
          </a:prstGeom>
          <a:noFill/>
        </p:spPr>
        <p:txBody>
          <a:bodyPr wrap="square" lIns="0" rIns="0" tIns="0" bIns="0" anchor="t">
            <a:noAutofit/>
          </a:bodyPr>
          <a:lstStyle/>
          <a:p>
            <a:pPr algn="l"/>
            <a:r>
              <a:rPr sz="1200" b="0" i="0">
                <a:solidFill>
                  <a:srgbClr val="000048"/>
                </a:solidFill>
                <a:latin typeface="Arial"/>
              </a:rPr>
              <a:t>VNet peering</a:t>
            </a:r>
          </a:p>
        </p:txBody>
      </p:sp>
      <p:cxnSp>
        <p:nvCxnSpPr>
          <p:cNvPr id="61" name="Connector (data)"/>
          <p:cNvCxnSpPr/>
          <p:nvPr/>
        </p:nvCxnSpPr>
        <p:spPr>
          <a:xfrm flipH="1">
            <a:off x="5486400" y="3886200"/>
            <a:ext cx="1463040" cy="822960"/>
          </a:xfrm>
          <a:prstGeom prst="line">
            <a:avLst/>
          </a:prstGeom>
          <a:ln w="19050">
            <a:solidFill>
              <a:srgbClr val="2F78C4"/>
            </a:solidFill>
            <a:tailEnd type="triangle" w="med" len="med"/>
          </a:ln>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7269480" y="4069080"/>
            <a:ext cx="1463040" cy="274320"/>
          </a:xfrm>
          <a:prstGeom prst="rect">
            <a:avLst/>
          </a:prstGeom>
          <a:noFill/>
        </p:spPr>
        <p:txBody>
          <a:bodyPr wrap="square" lIns="0" rIns="0" tIns="0" bIns="0" anchor="t">
            <a:noAutofit/>
          </a:bodyPr>
          <a:lstStyle/>
          <a:p>
            <a:pPr algn="l"/>
            <a:r>
              <a:rPr sz="1200" b="0" i="0">
                <a:solidFill>
                  <a:srgbClr val="2F78C4"/>
                </a:solidFill>
                <a:latin typeface="Arial"/>
              </a:rPr>
              <a:t>egress via UDR</a:t>
            </a:r>
          </a:p>
        </p:txBody>
      </p:sp>
      <p:sp>
        <p:nvSpPr>
          <p:cNvPr id="63" name="Oval 62"/>
          <p:cNvSpPr/>
          <p:nvPr/>
        </p:nvSpPr>
        <p:spPr>
          <a:xfrm>
            <a:off x="6967728" y="3950208"/>
            <a:ext cx="256032" cy="256032"/>
          </a:xfrm>
          <a:prstGeom prst="ellipse">
            <a:avLst/>
          </a:prstGeom>
          <a:solidFill>
            <a:srgbClr val="2F78C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200" b="1" i="0">
                <a:solidFill>
                  <a:srgbClr val="FFFFFF"/>
                </a:solidFill>
                <a:latin typeface="Arial"/>
              </a:rPr>
              <a:t>5</a:t>
            </a:r>
          </a:p>
        </p:txBody>
      </p:sp>
      <p:cxnSp>
        <p:nvCxnSpPr>
          <p:cNvPr id="64" name="Connector (telemetry)"/>
          <p:cNvCxnSpPr/>
          <p:nvPr/>
        </p:nvCxnSpPr>
        <p:spPr>
          <a:xfrm flipH="1">
            <a:off x="10058400" y="3886200"/>
            <a:ext cx="1188720" cy="822960"/>
          </a:xfrm>
          <a:prstGeom prst="line">
            <a:avLst/>
          </a:prstGeom>
          <a:ln w="15875">
            <a:solidFill>
              <a:srgbClr val="8A8A8A"/>
            </a:solidFill>
            <a:prstDash val="sysDot"/>
            <a:tailEnd type="triangle" w="med" len="med"/>
          </a:ln>
        </p:spPr>
        <p:style>
          <a:lnRef idx="2">
            <a:schemeClr val="accent1"/>
          </a:lnRef>
          <a:fillRef idx="0">
            <a:schemeClr val="accent1"/>
          </a:fillRef>
          <a:effectRef idx="1">
            <a:schemeClr val="accent1"/>
          </a:effectRef>
          <a:fontRef idx="minor">
            <a:schemeClr val="tx1"/>
          </a:fontRef>
        </p:style>
      </p:cxnSp>
      <p:sp>
        <p:nvSpPr>
          <p:cNvPr id="65" name="TextBox 64"/>
          <p:cNvSpPr txBox="1"/>
          <p:nvPr/>
        </p:nvSpPr>
        <p:spPr>
          <a:xfrm>
            <a:off x="9144000" y="4069080"/>
            <a:ext cx="1325880" cy="274320"/>
          </a:xfrm>
          <a:prstGeom prst="rect">
            <a:avLst/>
          </a:prstGeom>
          <a:noFill/>
        </p:spPr>
        <p:txBody>
          <a:bodyPr wrap="square" lIns="0" rIns="0" tIns="0" bIns="0" anchor="t">
            <a:noAutofit/>
          </a:bodyPr>
          <a:lstStyle/>
          <a:p>
            <a:pPr algn="r"/>
            <a:r>
              <a:rPr sz="1200" b="0" i="0">
                <a:solidFill>
                  <a:srgbClr val="53565A"/>
                </a:solidFill>
                <a:latin typeface="Arial"/>
              </a:rPr>
              <a:t>DNS from hub</a:t>
            </a:r>
          </a:p>
        </p:txBody>
      </p:sp>
      <p:sp>
        <p:nvSpPr>
          <p:cNvPr id="66" name="Oval 65"/>
          <p:cNvSpPr/>
          <p:nvPr/>
        </p:nvSpPr>
        <p:spPr>
          <a:xfrm>
            <a:off x="11292840" y="3950208"/>
            <a:ext cx="256032" cy="256032"/>
          </a:xfrm>
          <a:prstGeom prst="ellipse">
            <a:avLst/>
          </a:prstGeom>
          <a:solidFill>
            <a:srgbClr val="53565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200" b="1" i="0">
                <a:solidFill>
                  <a:srgbClr val="FFFFFF"/>
                </a:solidFill>
                <a:latin typeface="Arial"/>
              </a:rPr>
              <a:t>4</a:t>
            </a:r>
          </a:p>
        </p:txBody>
      </p:sp>
      <p:cxnSp>
        <p:nvCxnSpPr>
          <p:cNvPr id="67" name="Connector (flow)"/>
          <p:cNvCxnSpPr/>
          <p:nvPr/>
        </p:nvCxnSpPr>
        <p:spPr>
          <a:xfrm>
            <a:off x="4114800" y="2724912"/>
            <a:ext cx="397764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68" name="Oval 67"/>
          <p:cNvSpPr/>
          <p:nvPr/>
        </p:nvSpPr>
        <p:spPr>
          <a:xfrm>
            <a:off x="7680960" y="2450592"/>
            <a:ext cx="256032" cy="256032"/>
          </a:xfrm>
          <a:prstGeom prst="ellipse">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200" b="1" i="0">
                <a:solidFill>
                  <a:srgbClr val="FFFFFF"/>
                </a:solidFill>
                <a:latin typeface="Arial"/>
              </a:rPr>
              <a:t>2</a:t>
            </a:r>
          </a:p>
        </p:txBody>
      </p:sp>
      <p:cxnSp>
        <p:nvCxnSpPr>
          <p:cNvPr id="69" name="Connector (flow)"/>
          <p:cNvCxnSpPr/>
          <p:nvPr/>
        </p:nvCxnSpPr>
        <p:spPr>
          <a:xfrm>
            <a:off x="548640" y="5989320"/>
            <a:ext cx="41148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70" name="TextBox 69"/>
          <p:cNvSpPr txBox="1"/>
          <p:nvPr/>
        </p:nvSpPr>
        <p:spPr>
          <a:xfrm>
            <a:off x="1024128" y="5870448"/>
            <a:ext cx="1691639" cy="256032"/>
          </a:xfrm>
          <a:prstGeom prst="rect">
            <a:avLst/>
          </a:prstGeom>
          <a:noFill/>
        </p:spPr>
        <p:txBody>
          <a:bodyPr wrap="square" lIns="0" rIns="0" tIns="0" bIns="0" anchor="t">
            <a:noAutofit/>
          </a:bodyPr>
          <a:lstStyle/>
          <a:p>
            <a:pPr algn="l"/>
            <a:r>
              <a:rPr sz="1200" b="0" i="0">
                <a:solidFill>
                  <a:srgbClr val="53565A"/>
                </a:solidFill>
                <a:latin typeface="Arial"/>
              </a:rPr>
              <a:t>Request / data flow</a:t>
            </a:r>
          </a:p>
        </p:txBody>
      </p:sp>
      <p:cxnSp>
        <p:nvCxnSpPr>
          <p:cNvPr id="71" name="Connector (data)"/>
          <p:cNvCxnSpPr/>
          <p:nvPr/>
        </p:nvCxnSpPr>
        <p:spPr>
          <a:xfrm>
            <a:off x="2743200" y="5989320"/>
            <a:ext cx="411480" cy="0"/>
          </a:xfrm>
          <a:prstGeom prst="line">
            <a:avLst/>
          </a:prstGeom>
          <a:ln w="19050">
            <a:solidFill>
              <a:srgbClr val="2F78C4"/>
            </a:solidFill>
            <a:tailEnd type="triangle" w="med" len="med"/>
          </a:ln>
        </p:spPr>
        <p:style>
          <a:lnRef idx="2">
            <a:schemeClr val="accent1"/>
          </a:lnRef>
          <a:fillRef idx="0">
            <a:schemeClr val="accent1"/>
          </a:fillRef>
          <a:effectRef idx="1">
            <a:schemeClr val="accent1"/>
          </a:effectRef>
          <a:fontRef idx="minor">
            <a:schemeClr val="tx1"/>
          </a:fontRef>
        </p:style>
      </p:cxnSp>
      <p:sp>
        <p:nvSpPr>
          <p:cNvPr id="72" name="TextBox 71"/>
          <p:cNvSpPr txBox="1"/>
          <p:nvPr/>
        </p:nvSpPr>
        <p:spPr>
          <a:xfrm>
            <a:off x="3218688" y="5870448"/>
            <a:ext cx="1691639" cy="256032"/>
          </a:xfrm>
          <a:prstGeom prst="rect">
            <a:avLst/>
          </a:prstGeom>
          <a:noFill/>
        </p:spPr>
        <p:txBody>
          <a:bodyPr wrap="square" lIns="0" rIns="0" tIns="0" bIns="0" anchor="t">
            <a:noAutofit/>
          </a:bodyPr>
          <a:lstStyle/>
          <a:p>
            <a:pPr algn="l"/>
            <a:r>
              <a:rPr sz="1200" b="0" i="0">
                <a:solidFill>
                  <a:srgbClr val="53565A"/>
                </a:solidFill>
                <a:latin typeface="Arial"/>
              </a:rPr>
              <a:t>Data access</a:t>
            </a:r>
          </a:p>
        </p:txBody>
      </p:sp>
      <p:cxnSp>
        <p:nvCxnSpPr>
          <p:cNvPr id="73" name="Connector (telemetry)"/>
          <p:cNvCxnSpPr/>
          <p:nvPr/>
        </p:nvCxnSpPr>
        <p:spPr>
          <a:xfrm>
            <a:off x="4937759" y="5989320"/>
            <a:ext cx="411481" cy="0"/>
          </a:xfrm>
          <a:prstGeom prst="line">
            <a:avLst/>
          </a:prstGeom>
          <a:ln w="15875">
            <a:solidFill>
              <a:srgbClr val="8A8A8A"/>
            </a:solidFill>
            <a:prstDash val="sysDot"/>
          </a:ln>
        </p:spPr>
        <p:style>
          <a:lnRef idx="2">
            <a:schemeClr val="accent1"/>
          </a:lnRef>
          <a:fillRef idx="0">
            <a:schemeClr val="accent1"/>
          </a:fillRef>
          <a:effectRef idx="1">
            <a:schemeClr val="accent1"/>
          </a:effectRef>
          <a:fontRef idx="minor">
            <a:schemeClr val="tx1"/>
          </a:fontRef>
        </p:style>
      </p:cxnSp>
      <p:sp>
        <p:nvSpPr>
          <p:cNvPr id="74" name="TextBox 73"/>
          <p:cNvSpPr txBox="1"/>
          <p:nvPr/>
        </p:nvSpPr>
        <p:spPr>
          <a:xfrm>
            <a:off x="5413248" y="5870448"/>
            <a:ext cx="1691639" cy="256032"/>
          </a:xfrm>
          <a:prstGeom prst="rect">
            <a:avLst/>
          </a:prstGeom>
          <a:noFill/>
        </p:spPr>
        <p:txBody>
          <a:bodyPr wrap="square" lIns="0" rIns="0" tIns="0" bIns="0" anchor="t">
            <a:noAutofit/>
          </a:bodyPr>
          <a:lstStyle/>
          <a:p>
            <a:pPr algn="l"/>
            <a:r>
              <a:rPr sz="1200" b="0" i="0">
                <a:solidFill>
                  <a:srgbClr val="53565A"/>
                </a:solidFill>
                <a:latin typeface="Arial"/>
              </a:rPr>
              <a:t>Telemetry or state read</a:t>
            </a:r>
          </a:p>
        </p:txBody>
      </p:sp>
      <p:sp>
        <p:nvSpPr>
          <p:cNvPr id="75" name="TextBox 74"/>
          <p:cNvSpPr txBox="1"/>
          <p:nvPr/>
        </p:nvSpPr>
        <p:spPr>
          <a:xfrm>
            <a:off x="7223760" y="5870448"/>
            <a:ext cx="4389120" cy="274320"/>
          </a:xfrm>
          <a:prstGeom prst="rect">
            <a:avLst/>
          </a:prstGeom>
          <a:noFill/>
        </p:spPr>
        <p:txBody>
          <a:bodyPr wrap="square" lIns="0" rIns="0" tIns="0" bIns="0" anchor="t">
            <a:noAutofit/>
          </a:bodyPr>
          <a:lstStyle/>
          <a:p>
            <a:pPr algn="r"/>
            <a:r>
              <a:rPr sz="1200" b="0" i="0">
                <a:solidFill>
                  <a:srgbClr val="53565A"/>
                </a:solidFill>
                <a:latin typeface="Arial"/>
              </a:rPr>
              <a:t>Adapted from 11_baseline-landing-zone-networking.png</a:t>
            </a:r>
          </a:p>
        </p:txBody>
      </p:sp>
      <p:sp>
        <p:nvSpPr>
          <p:cNvPr id="76" name="TextBox 75"/>
          <p:cNvSpPr txBox="1"/>
          <p:nvPr/>
        </p:nvSpPr>
        <p:spPr>
          <a:xfrm>
            <a:off x="548640" y="6144768"/>
            <a:ext cx="11064240" cy="256032"/>
          </a:xfrm>
          <a:prstGeom prst="rect">
            <a:avLst/>
          </a:prstGeom>
          <a:noFill/>
        </p:spPr>
        <p:txBody>
          <a:bodyPr wrap="square" lIns="0" rIns="0" tIns="0" bIns="0" anchor="t">
            <a:noAutofit/>
          </a:bodyPr>
          <a:lstStyle/>
          <a:p>
            <a:pPr algn="l"/>
            <a:r>
              <a:rPr sz="1200" b="1" i="0">
                <a:solidFill>
                  <a:srgbClr val="7373D8"/>
                </a:solidFill>
                <a:latin typeface="Arial"/>
              </a:rPr>
              <a:t>Adapted reference architecture  ·  simplified from Microsoft source; validate subnets, DNS and routes per customer</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Controlled egress through the hub firewall</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A6</a:t>
            </a:r>
          </a:p>
        </p:txBody>
      </p:sp>
      <p:sp>
        <p:nvSpPr>
          <p:cNvPr id="5" name="Status chip: ADAPTED FROM SOURCE"/>
          <p:cNvSpPr/>
          <p:nvPr/>
        </p:nvSpPr>
        <p:spPr>
          <a:xfrm>
            <a:off x="1898650" y="274320"/>
            <a:ext cx="1915160" cy="237744"/>
          </a:xfrm>
          <a:prstGeom prst="roundRect">
            <a:avLst>
              <a:gd name="adj" fmla="val 30769"/>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2F78C4"/>
                </a:solidFill>
                <a:latin typeface="Arial"/>
              </a:rPr>
              <a:t>ADAPTED FROM SOURCE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v4.0  ·  11 Oct 2026  ·  Working proposal, not approved terms</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17</a:t>
            </a:r>
          </a:p>
        </p:txBody>
      </p:sp>
      <p:sp>
        <p:nvSpPr>
          <p:cNvPr id="9" name="Rounded Rectangle 8"/>
          <p:cNvSpPr/>
          <p:nvPr/>
        </p:nvSpPr>
        <p:spPr>
          <a:xfrm>
            <a:off x="411480" y="1325880"/>
            <a:ext cx="3931920" cy="4023360"/>
          </a:xfrm>
          <a:prstGeom prst="roundRect">
            <a:avLst>
              <a:gd name="adj" fmla="val 2325"/>
            </a:avLst>
          </a:prstGeom>
          <a:solidFill>
            <a:srgbClr val="F7F9FC"/>
          </a:solidFill>
          <a:ln w="15875">
            <a:solidFill>
              <a:srgbClr val="8FB3D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21208" y="1380744"/>
            <a:ext cx="3712463" cy="237744"/>
          </a:xfrm>
          <a:prstGeom prst="rect">
            <a:avLst/>
          </a:prstGeom>
          <a:noFill/>
        </p:spPr>
        <p:txBody>
          <a:bodyPr wrap="square" lIns="0" rIns="0" tIns="0" bIns="0" anchor="t">
            <a:noAutofit/>
          </a:bodyPr>
          <a:lstStyle/>
          <a:p>
            <a:pPr algn="l"/>
            <a:r>
              <a:rPr sz="1200" b="1" i="0">
                <a:solidFill>
                  <a:srgbClr val="000048"/>
                </a:solidFill>
                <a:latin typeface="Arial"/>
              </a:rPr>
              <a:t>SPOKE SUBNETS WITH UDR TO HUB</a:t>
            </a:r>
          </a:p>
        </p:txBody>
      </p:sp>
      <p:sp>
        <p:nvSpPr>
          <p:cNvPr id="11" name="Rounded Rectangle 10"/>
          <p:cNvSpPr/>
          <p:nvPr/>
        </p:nvSpPr>
        <p:spPr>
          <a:xfrm>
            <a:off x="548640" y="1691640"/>
            <a:ext cx="3657600" cy="731520"/>
          </a:xfrm>
          <a:prstGeom prst="roundRect">
            <a:avLst>
              <a:gd name="adj" fmla="val 10000"/>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2" name="Azure icon: App Services" descr="Official Azure icon: App Services"/>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21792" y="1865376"/>
            <a:ext cx="384048" cy="384048"/>
          </a:xfrm>
          <a:prstGeom prst="rect">
            <a:avLst/>
          </a:prstGeom>
        </p:spPr>
      </p:pic>
      <p:sp>
        <p:nvSpPr>
          <p:cNvPr id="13" name="TextBox 12"/>
          <p:cNvSpPr txBox="1"/>
          <p:nvPr/>
        </p:nvSpPr>
        <p:spPr>
          <a:xfrm>
            <a:off x="1078992" y="1728216"/>
            <a:ext cx="3090672" cy="658368"/>
          </a:xfrm>
          <a:prstGeom prst="rect">
            <a:avLst/>
          </a:prstGeom>
          <a:noFill/>
        </p:spPr>
        <p:txBody>
          <a:bodyPr wrap="square" lIns="0" rIns="0" tIns="0" bIns="0" anchor="ctr">
            <a:noAutofit/>
          </a:bodyPr>
          <a:lstStyle/>
          <a:p>
            <a:pPr algn="l"/>
            <a:r>
              <a:rPr sz="1200" b="1" i="0">
                <a:solidFill>
                  <a:srgbClr val="000048"/>
                </a:solidFill>
                <a:latin typeface="Arial"/>
              </a:rPr>
              <a:t>App Service integration</a:t>
            </a:r>
          </a:p>
          <a:p>
            <a:pPr algn="l"/>
            <a:r>
              <a:rPr sz="1200" b="0" i="0">
                <a:solidFill>
                  <a:srgbClr val="53565A"/>
                </a:solidFill>
                <a:latin typeface="Arial"/>
              </a:rPr>
              <a:t>route 0.0.0.0/0 to firewall</a:t>
            </a:r>
          </a:p>
        </p:txBody>
      </p:sp>
      <p:cxnSp>
        <p:nvCxnSpPr>
          <p:cNvPr id="14" name="Connector (data)"/>
          <p:cNvCxnSpPr/>
          <p:nvPr/>
        </p:nvCxnSpPr>
        <p:spPr>
          <a:xfrm>
            <a:off x="4206240" y="2057400"/>
            <a:ext cx="914400" cy="1280160"/>
          </a:xfrm>
          <a:prstGeom prst="line">
            <a:avLst/>
          </a:prstGeom>
          <a:ln w="19050">
            <a:solidFill>
              <a:srgbClr val="2F78C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548640" y="2560320"/>
            <a:ext cx="3657600" cy="731520"/>
          </a:xfrm>
          <a:prstGeom prst="roundRect">
            <a:avLst>
              <a:gd name="adj" fmla="val 10000"/>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6" name="Azure icon: Foundry Agent Service" descr="Official Azure icon: Foundry Agent Service"/>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21792" y="2734056"/>
            <a:ext cx="384048" cy="384048"/>
          </a:xfrm>
          <a:prstGeom prst="rect">
            <a:avLst/>
          </a:prstGeom>
        </p:spPr>
      </p:pic>
      <p:sp>
        <p:nvSpPr>
          <p:cNvPr id="17" name="TextBox 16"/>
          <p:cNvSpPr txBox="1"/>
          <p:nvPr/>
        </p:nvSpPr>
        <p:spPr>
          <a:xfrm>
            <a:off x="1078992" y="2596896"/>
            <a:ext cx="3090672" cy="658368"/>
          </a:xfrm>
          <a:prstGeom prst="rect">
            <a:avLst/>
          </a:prstGeom>
          <a:noFill/>
        </p:spPr>
        <p:txBody>
          <a:bodyPr wrap="square" lIns="0" rIns="0" tIns="0" bIns="0" anchor="ctr">
            <a:noAutofit/>
          </a:bodyPr>
          <a:lstStyle/>
          <a:p>
            <a:pPr algn="l"/>
            <a:r>
              <a:rPr sz="1200" b="1" i="0">
                <a:solidFill>
                  <a:srgbClr val="000048"/>
                </a:solidFill>
                <a:latin typeface="Arial"/>
              </a:rPr>
              <a:t>Agent Service integration</a:t>
            </a:r>
          </a:p>
          <a:p>
            <a:pPr algn="l"/>
            <a:r>
              <a:rPr sz="1200" b="0" i="0">
                <a:solidFill>
                  <a:srgbClr val="53565A"/>
                </a:solidFill>
                <a:latin typeface="Arial"/>
              </a:rPr>
              <a:t>route 0.0.0.0/0 to firewall</a:t>
            </a:r>
          </a:p>
        </p:txBody>
      </p:sp>
      <p:cxnSp>
        <p:nvCxnSpPr>
          <p:cNvPr id="18" name="Connector (data)"/>
          <p:cNvCxnSpPr/>
          <p:nvPr/>
        </p:nvCxnSpPr>
        <p:spPr>
          <a:xfrm>
            <a:off x="4206240" y="2926080"/>
            <a:ext cx="914400" cy="411480"/>
          </a:xfrm>
          <a:prstGeom prst="line">
            <a:avLst/>
          </a:prstGeom>
          <a:ln w="19050">
            <a:solidFill>
              <a:srgbClr val="2F78C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548640" y="3429000"/>
            <a:ext cx="3657600" cy="731520"/>
          </a:xfrm>
          <a:prstGeom prst="roundRect">
            <a:avLst>
              <a:gd name="adj" fmla="val 10000"/>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20" name="Azure icon: Virtual Machine" descr="Official Azure icon: Virtual Machine"/>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21792" y="3602736"/>
            <a:ext cx="384048" cy="384048"/>
          </a:xfrm>
          <a:prstGeom prst="rect">
            <a:avLst/>
          </a:prstGeom>
        </p:spPr>
      </p:pic>
      <p:sp>
        <p:nvSpPr>
          <p:cNvPr id="21" name="TextBox 20"/>
          <p:cNvSpPr txBox="1"/>
          <p:nvPr/>
        </p:nvSpPr>
        <p:spPr>
          <a:xfrm>
            <a:off x="1078992" y="3465576"/>
            <a:ext cx="3090672" cy="658368"/>
          </a:xfrm>
          <a:prstGeom prst="rect">
            <a:avLst/>
          </a:prstGeom>
          <a:noFill/>
        </p:spPr>
        <p:txBody>
          <a:bodyPr wrap="square" lIns="0" rIns="0" tIns="0" bIns="0" anchor="ctr">
            <a:noAutofit/>
          </a:bodyPr>
          <a:lstStyle/>
          <a:p>
            <a:pPr algn="l"/>
            <a:r>
              <a:rPr sz="1200" b="1" i="0">
                <a:solidFill>
                  <a:srgbClr val="000048"/>
                </a:solidFill>
                <a:latin typeface="Arial"/>
              </a:rPr>
              <a:t>Build agents</a:t>
            </a:r>
          </a:p>
          <a:p>
            <a:pPr algn="l"/>
            <a:r>
              <a:rPr sz="1200" b="0" i="0">
                <a:solidFill>
                  <a:srgbClr val="53565A"/>
                </a:solidFill>
                <a:latin typeface="Arial"/>
              </a:rPr>
              <a:t>route 0.0.0.0/0 to firewall</a:t>
            </a:r>
          </a:p>
        </p:txBody>
      </p:sp>
      <p:cxnSp>
        <p:nvCxnSpPr>
          <p:cNvPr id="22" name="Connector (data)"/>
          <p:cNvCxnSpPr/>
          <p:nvPr/>
        </p:nvCxnSpPr>
        <p:spPr>
          <a:xfrm flipV="1">
            <a:off x="4206240" y="3337560"/>
            <a:ext cx="914400" cy="457200"/>
          </a:xfrm>
          <a:prstGeom prst="line">
            <a:avLst/>
          </a:prstGeom>
          <a:ln w="19050">
            <a:solidFill>
              <a:srgbClr val="2F78C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548640" y="4297679"/>
            <a:ext cx="3657600" cy="731520"/>
          </a:xfrm>
          <a:prstGeom prst="roundRect">
            <a:avLst>
              <a:gd name="adj" fmla="val 10000"/>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24" name="Azure icon: Virtual Machine" descr="Official Azure icon: Virtual Machine"/>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21792" y="4471416"/>
            <a:ext cx="384048" cy="384048"/>
          </a:xfrm>
          <a:prstGeom prst="rect">
            <a:avLst/>
          </a:prstGeom>
        </p:spPr>
      </p:pic>
      <p:sp>
        <p:nvSpPr>
          <p:cNvPr id="25" name="TextBox 24"/>
          <p:cNvSpPr txBox="1"/>
          <p:nvPr/>
        </p:nvSpPr>
        <p:spPr>
          <a:xfrm>
            <a:off x="1078992" y="4334255"/>
            <a:ext cx="3090672" cy="658368"/>
          </a:xfrm>
          <a:prstGeom prst="rect">
            <a:avLst/>
          </a:prstGeom>
          <a:noFill/>
        </p:spPr>
        <p:txBody>
          <a:bodyPr wrap="square" lIns="0" rIns="0" tIns="0" bIns="0" anchor="ctr">
            <a:noAutofit/>
          </a:bodyPr>
          <a:lstStyle/>
          <a:p>
            <a:pPr algn="l"/>
            <a:r>
              <a:rPr sz="1200" b="1" i="0">
                <a:solidFill>
                  <a:srgbClr val="000048"/>
                </a:solidFill>
                <a:latin typeface="Arial"/>
              </a:rPr>
              <a:t>Jump boxes</a:t>
            </a:r>
          </a:p>
          <a:p>
            <a:pPr algn="l"/>
            <a:r>
              <a:rPr sz="1200" b="0" i="0">
                <a:solidFill>
                  <a:srgbClr val="53565A"/>
                </a:solidFill>
                <a:latin typeface="Arial"/>
              </a:rPr>
              <a:t>route 0.0.0.0/0 to firewall</a:t>
            </a:r>
          </a:p>
        </p:txBody>
      </p:sp>
      <p:cxnSp>
        <p:nvCxnSpPr>
          <p:cNvPr id="26" name="Connector (data)"/>
          <p:cNvCxnSpPr/>
          <p:nvPr/>
        </p:nvCxnSpPr>
        <p:spPr>
          <a:xfrm flipV="1">
            <a:off x="4206240" y="3337560"/>
            <a:ext cx="914400" cy="1325880"/>
          </a:xfrm>
          <a:prstGeom prst="line">
            <a:avLst/>
          </a:prstGeom>
          <a:ln w="19050">
            <a:solidFill>
              <a:srgbClr val="2F78C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5120640" y="2103120"/>
            <a:ext cx="3017520" cy="2468880"/>
          </a:xfrm>
          <a:prstGeom prst="roundRect">
            <a:avLst>
              <a:gd name="adj" fmla="val 3703"/>
            </a:avLst>
          </a:prstGeom>
          <a:solidFill>
            <a:srgbClr val="FFFFFF"/>
          </a:solidFill>
          <a:ln w="15875">
            <a:solidFill>
              <a:srgbClr val="000048"/>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5230368" y="2157984"/>
            <a:ext cx="2798063" cy="237744"/>
          </a:xfrm>
          <a:prstGeom prst="rect">
            <a:avLst/>
          </a:prstGeom>
          <a:noFill/>
        </p:spPr>
        <p:txBody>
          <a:bodyPr wrap="square" lIns="0" rIns="0" tIns="0" bIns="0" anchor="t">
            <a:noAutofit/>
          </a:bodyPr>
          <a:lstStyle/>
          <a:p>
            <a:pPr algn="l"/>
            <a:r>
              <a:rPr sz="1200" b="1" i="0">
                <a:solidFill>
                  <a:srgbClr val="000048"/>
                </a:solidFill>
                <a:latin typeface="Arial"/>
              </a:rPr>
              <a:t>HUB (CONNECTIVITY SUBSCRIPTION)</a:t>
            </a:r>
          </a:p>
        </p:txBody>
      </p:sp>
      <p:pic>
        <p:nvPicPr>
          <p:cNvPr id="29" name="Azure icon: Firewalls" descr="Official Azure icon: Firewalls"/>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377940" y="2633472"/>
            <a:ext cx="502920" cy="502920"/>
          </a:xfrm>
          <a:prstGeom prst="rect">
            <a:avLst/>
          </a:prstGeom>
        </p:spPr>
      </p:pic>
      <p:sp>
        <p:nvSpPr>
          <p:cNvPr id="30" name="TextBox 29"/>
          <p:cNvSpPr txBox="1"/>
          <p:nvPr/>
        </p:nvSpPr>
        <p:spPr>
          <a:xfrm>
            <a:off x="5385816" y="3172968"/>
            <a:ext cx="2487168" cy="512063"/>
          </a:xfrm>
          <a:prstGeom prst="rect">
            <a:avLst/>
          </a:prstGeom>
          <a:noFill/>
        </p:spPr>
        <p:txBody>
          <a:bodyPr wrap="square" lIns="0" rIns="0" tIns="0" bIns="0" anchor="t">
            <a:noAutofit/>
          </a:bodyPr>
          <a:lstStyle/>
          <a:p>
            <a:pPr algn="ctr"/>
            <a:r>
              <a:rPr sz="1300" b="1" i="0">
                <a:solidFill>
                  <a:srgbClr val="000048"/>
                </a:solidFill>
                <a:latin typeface="Arial"/>
              </a:rPr>
              <a:t>Azure Firewall</a:t>
            </a:r>
          </a:p>
          <a:p>
            <a:pPr algn="ctr"/>
            <a:r>
              <a:rPr sz="1200" b="0" i="0">
                <a:solidFill>
                  <a:srgbClr val="53565A"/>
                </a:solidFill>
                <a:latin typeface="Arial"/>
              </a:rPr>
              <a:t>application and network rules, logging</a:t>
            </a:r>
          </a:p>
        </p:txBody>
      </p:sp>
      <p:sp>
        <p:nvSpPr>
          <p:cNvPr id="31" name="Rounded Rectangle 30"/>
          <p:cNvSpPr/>
          <p:nvPr/>
        </p:nvSpPr>
        <p:spPr>
          <a:xfrm>
            <a:off x="8778240" y="2651760"/>
            <a:ext cx="1828800" cy="1097280"/>
          </a:xfrm>
          <a:prstGeom prst="roundRect">
            <a:avLst>
              <a:gd name="adj" fmla="val 6666"/>
            </a:avLst>
          </a:prstGeom>
          <a:solidFill>
            <a:srgbClr val="FFFFFF"/>
          </a:solidFill>
          <a:ln w="12700">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wrap="square">
            <a:noAutofit/>
          </a:bodyPr>
          <a:lstStyle/>
          <a:p>
            <a:pPr algn="ctr"/>
            <a:r>
              <a:rPr sz="1300" b="1" i="0">
                <a:solidFill>
                  <a:srgbClr val="000048"/>
                </a:solidFill>
                <a:latin typeface="Arial"/>
              </a:rPr>
              <a:t>Internet and partner endpoints</a:t>
            </a:r>
          </a:p>
          <a:p>
            <a:pPr algn="ctr"/>
            <a:r>
              <a:rPr sz="1200" b="0" i="0">
                <a:solidFill>
                  <a:srgbClr val="53565A"/>
                </a:solidFill>
                <a:latin typeface="Arial"/>
              </a:rPr>
              <a:t>allow-listed FQDNs</a:t>
            </a:r>
          </a:p>
        </p:txBody>
      </p:sp>
      <p:cxnSp>
        <p:nvCxnSpPr>
          <p:cNvPr id="32" name="Connector (data)"/>
          <p:cNvCxnSpPr/>
          <p:nvPr/>
        </p:nvCxnSpPr>
        <p:spPr>
          <a:xfrm>
            <a:off x="8138160" y="3200400"/>
            <a:ext cx="640080" cy="0"/>
          </a:xfrm>
          <a:prstGeom prst="line">
            <a:avLst/>
          </a:prstGeom>
          <a:ln w="19050">
            <a:solidFill>
              <a:srgbClr val="2F78C4"/>
            </a:solidFill>
            <a:tailEnd type="triangle" w="med" len="med"/>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8183879" y="3291840"/>
            <a:ext cx="640080" cy="411480"/>
          </a:xfrm>
          <a:prstGeom prst="rect">
            <a:avLst/>
          </a:prstGeom>
          <a:noFill/>
        </p:spPr>
        <p:txBody>
          <a:bodyPr wrap="square" lIns="0" rIns="0" tIns="0" bIns="0" anchor="t">
            <a:noAutofit/>
          </a:bodyPr>
          <a:lstStyle/>
          <a:p>
            <a:pPr algn="ctr"/>
            <a:r>
              <a:rPr sz="1200" b="0" i="0">
                <a:solidFill>
                  <a:srgbClr val="2F78C4"/>
                </a:solidFill>
                <a:latin typeface="Arial"/>
              </a:rPr>
              <a:t>allowed only</a:t>
            </a:r>
          </a:p>
        </p:txBody>
      </p:sp>
      <p:sp>
        <p:nvSpPr>
          <p:cNvPr id="34" name="TextBox 33"/>
          <p:cNvSpPr txBox="1"/>
          <p:nvPr/>
        </p:nvSpPr>
        <p:spPr>
          <a:xfrm>
            <a:off x="8595360" y="1463040"/>
            <a:ext cx="3108960" cy="1005840"/>
          </a:xfrm>
          <a:prstGeom prst="rect">
            <a:avLst/>
          </a:prstGeom>
          <a:noFill/>
        </p:spPr>
        <p:txBody>
          <a:bodyPr wrap="square" lIns="0" rIns="0" tIns="0" bIns="0" anchor="t">
            <a:noAutofit/>
          </a:bodyPr>
          <a:lstStyle/>
          <a:p>
            <a:pPr algn="l"/>
            <a:r>
              <a:rPr sz="1300" b="0" i="0">
                <a:solidFill>
                  <a:srgbClr val="53565A"/>
                </a:solidFill>
                <a:latin typeface="Arial"/>
              </a:rPr>
              <a:t>Private endpoints keep Azure PaaS traffic off the internet path; firewall handles the rest.</a:t>
            </a:r>
          </a:p>
        </p:txBody>
      </p:sp>
      <p:sp>
        <p:nvSpPr>
          <p:cNvPr id="35" name="Rounded Rectangle 34"/>
          <p:cNvSpPr/>
          <p:nvPr/>
        </p:nvSpPr>
        <p:spPr>
          <a:xfrm>
            <a:off x="548640" y="5577840"/>
            <a:ext cx="11091672" cy="548640"/>
          </a:xfrm>
          <a:prstGeom prst="roundRect">
            <a:avLst>
              <a:gd name="adj" fmla="val 13333"/>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Validate effective routes and each managed service’s egress support before enforcing forced tunnelling.</a:t>
            </a:r>
          </a:p>
        </p:txBody>
      </p:sp>
      <p:sp>
        <p:nvSpPr>
          <p:cNvPr id="36" name="TextBox 35"/>
          <p:cNvSpPr txBox="1"/>
          <p:nvPr/>
        </p:nvSpPr>
        <p:spPr>
          <a:xfrm>
            <a:off x="548640" y="6172200"/>
            <a:ext cx="11064240" cy="256032"/>
          </a:xfrm>
          <a:prstGeom prst="rect">
            <a:avLst/>
          </a:prstGeom>
          <a:noFill/>
        </p:spPr>
        <p:txBody>
          <a:bodyPr wrap="square" lIns="0" rIns="0" tIns="0" bIns="0" anchor="t">
            <a:noAutofit/>
          </a:bodyPr>
          <a:lstStyle/>
          <a:p>
            <a:pPr algn="l"/>
            <a:r>
              <a:rPr sz="1200" b="1" i="0">
                <a:solidFill>
                  <a:srgbClr val="7373D8"/>
                </a:solidFill>
                <a:latin typeface="Arial"/>
              </a:rPr>
              <a:t>Adapted reference architecture  ·  simplified from Microsoft source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Foundry workload baseline: request flow</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A8</a:t>
            </a:r>
          </a:p>
        </p:txBody>
      </p:sp>
      <p:sp>
        <p:nvSpPr>
          <p:cNvPr id="5" name="Status chip: ADAPTED FROM SOURCE"/>
          <p:cNvSpPr/>
          <p:nvPr/>
        </p:nvSpPr>
        <p:spPr>
          <a:xfrm>
            <a:off x="1898650" y="274320"/>
            <a:ext cx="1915160" cy="237744"/>
          </a:xfrm>
          <a:prstGeom prst="roundRect">
            <a:avLst>
              <a:gd name="adj" fmla="val 30769"/>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2F78C4"/>
                </a:solidFill>
                <a:latin typeface="Arial"/>
              </a:rPr>
              <a:t>ADAPTED FROM SOURCE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v4.0  ·  11 Oct 2026  ·  Working proposal, not approved terms</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18</a:t>
            </a:r>
          </a:p>
        </p:txBody>
      </p:sp>
      <p:pic>
        <p:nvPicPr>
          <p:cNvPr id="9" name="Azure icon: Users" descr="Official Azure icon: Users"/>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08660" y="2084832"/>
            <a:ext cx="411480" cy="411480"/>
          </a:xfrm>
          <a:prstGeom prst="rect">
            <a:avLst/>
          </a:prstGeom>
        </p:spPr>
      </p:pic>
      <p:sp>
        <p:nvSpPr>
          <p:cNvPr id="10" name="TextBox 9"/>
          <p:cNvSpPr txBox="1"/>
          <p:nvPr/>
        </p:nvSpPr>
        <p:spPr>
          <a:xfrm>
            <a:off x="493776" y="2532888"/>
            <a:ext cx="841248" cy="310896"/>
          </a:xfrm>
          <a:prstGeom prst="rect">
            <a:avLst/>
          </a:prstGeom>
          <a:noFill/>
        </p:spPr>
        <p:txBody>
          <a:bodyPr wrap="square" lIns="0" rIns="0" tIns="0" bIns="0" anchor="t">
            <a:noAutofit/>
          </a:bodyPr>
          <a:lstStyle/>
          <a:p>
            <a:pPr algn="ctr"/>
            <a:r>
              <a:rPr sz="1300" b="1" i="0">
                <a:solidFill>
                  <a:srgbClr val="000048"/>
                </a:solidFill>
                <a:latin typeface="Arial"/>
              </a:rPr>
              <a:t>User</a:t>
            </a:r>
          </a:p>
        </p:txBody>
      </p:sp>
      <p:sp>
        <p:nvSpPr>
          <p:cNvPr id="11" name="Rounded Rectangle 10"/>
          <p:cNvSpPr/>
          <p:nvPr/>
        </p:nvSpPr>
        <p:spPr>
          <a:xfrm>
            <a:off x="1554480" y="1828800"/>
            <a:ext cx="1463040" cy="1097280"/>
          </a:xfrm>
          <a:prstGeom prst="roundRect">
            <a:avLst>
              <a:gd name="adj" fmla="val 6666"/>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2" name="Azure icon: Application Gateways" descr="Official Azure icon: Application Gateways"/>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057400" y="1901952"/>
            <a:ext cx="457200" cy="457200"/>
          </a:xfrm>
          <a:prstGeom prst="rect">
            <a:avLst/>
          </a:prstGeom>
        </p:spPr>
      </p:pic>
      <p:sp>
        <p:nvSpPr>
          <p:cNvPr id="13" name="TextBox 12"/>
          <p:cNvSpPr txBox="1"/>
          <p:nvPr/>
        </p:nvSpPr>
        <p:spPr>
          <a:xfrm>
            <a:off x="1591056" y="2395728"/>
            <a:ext cx="1389888" cy="512064"/>
          </a:xfrm>
          <a:prstGeom prst="rect">
            <a:avLst/>
          </a:prstGeom>
          <a:noFill/>
        </p:spPr>
        <p:txBody>
          <a:bodyPr wrap="square" lIns="0" rIns="0" tIns="0" bIns="0" anchor="t">
            <a:noAutofit/>
          </a:bodyPr>
          <a:lstStyle/>
          <a:p>
            <a:pPr algn="ctr"/>
            <a:r>
              <a:rPr sz="1300" b="1" i="0">
                <a:solidFill>
                  <a:srgbClr val="000048"/>
                </a:solidFill>
                <a:latin typeface="Arial"/>
              </a:rPr>
              <a:t>App Gateway</a:t>
            </a:r>
          </a:p>
          <a:p>
            <a:pPr algn="ctr"/>
            <a:r>
              <a:rPr sz="1200" b="0" i="0">
                <a:solidFill>
                  <a:srgbClr val="53565A"/>
                </a:solidFill>
                <a:latin typeface="Arial"/>
              </a:rPr>
              <a:t>WAF</a:t>
            </a:r>
          </a:p>
        </p:txBody>
      </p:sp>
      <p:sp>
        <p:nvSpPr>
          <p:cNvPr id="14" name="Rounded Rectangle 13"/>
          <p:cNvSpPr/>
          <p:nvPr/>
        </p:nvSpPr>
        <p:spPr>
          <a:xfrm>
            <a:off x="3429000" y="1828800"/>
            <a:ext cx="1463040" cy="1097280"/>
          </a:xfrm>
          <a:prstGeom prst="roundRect">
            <a:avLst>
              <a:gd name="adj" fmla="val 6666"/>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5" name="Azure icon: App Services" descr="Official Azure icon: App Services"/>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931920" y="1901952"/>
            <a:ext cx="457200" cy="457200"/>
          </a:xfrm>
          <a:prstGeom prst="rect">
            <a:avLst/>
          </a:prstGeom>
        </p:spPr>
      </p:pic>
      <p:sp>
        <p:nvSpPr>
          <p:cNvPr id="16" name="TextBox 15"/>
          <p:cNvSpPr txBox="1"/>
          <p:nvPr/>
        </p:nvSpPr>
        <p:spPr>
          <a:xfrm>
            <a:off x="3465576" y="2395728"/>
            <a:ext cx="1389888" cy="512064"/>
          </a:xfrm>
          <a:prstGeom prst="rect">
            <a:avLst/>
          </a:prstGeom>
          <a:noFill/>
        </p:spPr>
        <p:txBody>
          <a:bodyPr wrap="square" lIns="0" rIns="0" tIns="0" bIns="0" anchor="t">
            <a:noAutofit/>
          </a:bodyPr>
          <a:lstStyle/>
          <a:p>
            <a:pPr algn="ctr"/>
            <a:r>
              <a:rPr sz="1300" b="1" i="0">
                <a:solidFill>
                  <a:srgbClr val="000048"/>
                </a:solidFill>
                <a:latin typeface="Arial"/>
              </a:rPr>
              <a:t>App Service</a:t>
            </a:r>
          </a:p>
          <a:p>
            <a:pPr algn="ctr"/>
            <a:r>
              <a:rPr sz="1200" b="0" i="0">
                <a:solidFill>
                  <a:srgbClr val="53565A"/>
                </a:solidFill>
                <a:latin typeface="Arial"/>
              </a:rPr>
              <a:t>zone-redundant</a:t>
            </a:r>
          </a:p>
        </p:txBody>
      </p:sp>
      <p:sp>
        <p:nvSpPr>
          <p:cNvPr id="17" name="Rounded Rectangle 16"/>
          <p:cNvSpPr/>
          <p:nvPr/>
        </p:nvSpPr>
        <p:spPr>
          <a:xfrm>
            <a:off x="5257800" y="1325880"/>
            <a:ext cx="3703320" cy="2148840"/>
          </a:xfrm>
          <a:prstGeom prst="roundRect">
            <a:avLst>
              <a:gd name="adj" fmla="val 4255"/>
            </a:avLst>
          </a:prstGeom>
          <a:solidFill>
            <a:srgbClr val="F7F9FC"/>
          </a:solidFill>
          <a:ln w="15875">
            <a:solidFill>
              <a:srgbClr val="8FB3D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367528" y="1380744"/>
            <a:ext cx="3483863" cy="237744"/>
          </a:xfrm>
          <a:prstGeom prst="rect">
            <a:avLst/>
          </a:prstGeom>
          <a:noFill/>
        </p:spPr>
        <p:txBody>
          <a:bodyPr wrap="square" lIns="0" rIns="0" tIns="0" bIns="0" anchor="t">
            <a:noAutofit/>
          </a:bodyPr>
          <a:lstStyle/>
          <a:p>
            <a:pPr algn="l"/>
            <a:r>
              <a:rPr sz="1200" b="1" i="0">
                <a:solidFill>
                  <a:srgbClr val="000048"/>
                </a:solidFill>
                <a:latin typeface="Arial"/>
              </a:rPr>
              <a:t>MICROSOFT FOUNDRY</a:t>
            </a:r>
          </a:p>
        </p:txBody>
      </p:sp>
      <p:pic>
        <p:nvPicPr>
          <p:cNvPr id="19" name="Azure icon: Microsoft Foundry" descr="Official Azure icon: Microsoft Foundry"/>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5783580" y="1856231"/>
            <a:ext cx="411480" cy="411480"/>
          </a:xfrm>
          <a:prstGeom prst="rect">
            <a:avLst/>
          </a:prstGeom>
        </p:spPr>
      </p:pic>
      <p:sp>
        <p:nvSpPr>
          <p:cNvPr id="20" name="TextBox 19"/>
          <p:cNvSpPr txBox="1"/>
          <p:nvPr/>
        </p:nvSpPr>
        <p:spPr>
          <a:xfrm>
            <a:off x="5431536" y="2304288"/>
            <a:ext cx="1115568" cy="310896"/>
          </a:xfrm>
          <a:prstGeom prst="rect">
            <a:avLst/>
          </a:prstGeom>
          <a:noFill/>
        </p:spPr>
        <p:txBody>
          <a:bodyPr wrap="square" lIns="0" rIns="0" tIns="0" bIns="0" anchor="t">
            <a:noAutofit/>
          </a:bodyPr>
          <a:lstStyle/>
          <a:p>
            <a:pPr algn="ctr"/>
            <a:r>
              <a:rPr sz="1300" b="1" i="0">
                <a:solidFill>
                  <a:srgbClr val="000048"/>
                </a:solidFill>
                <a:latin typeface="Arial"/>
              </a:rPr>
              <a:t>Foundry project</a:t>
            </a:r>
          </a:p>
        </p:txBody>
      </p:sp>
      <p:pic>
        <p:nvPicPr>
          <p:cNvPr id="21" name="Azure icon: Foundry Agent Service" descr="Official Azure icon: Foundry Agent Service"/>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6972300" y="1856231"/>
            <a:ext cx="411480" cy="411480"/>
          </a:xfrm>
          <a:prstGeom prst="rect">
            <a:avLst/>
          </a:prstGeom>
        </p:spPr>
      </p:pic>
      <p:sp>
        <p:nvSpPr>
          <p:cNvPr id="22" name="TextBox 21"/>
          <p:cNvSpPr txBox="1"/>
          <p:nvPr/>
        </p:nvSpPr>
        <p:spPr>
          <a:xfrm>
            <a:off x="6620256" y="2304288"/>
            <a:ext cx="1115568" cy="310896"/>
          </a:xfrm>
          <a:prstGeom prst="rect">
            <a:avLst/>
          </a:prstGeom>
          <a:noFill/>
        </p:spPr>
        <p:txBody>
          <a:bodyPr wrap="square" lIns="0" rIns="0" tIns="0" bIns="0" anchor="t">
            <a:noAutofit/>
          </a:bodyPr>
          <a:lstStyle/>
          <a:p>
            <a:pPr algn="ctr"/>
            <a:r>
              <a:rPr sz="1300" b="1" i="0">
                <a:solidFill>
                  <a:srgbClr val="000048"/>
                </a:solidFill>
                <a:latin typeface="Arial"/>
              </a:rPr>
              <a:t>Agent Service</a:t>
            </a:r>
          </a:p>
        </p:txBody>
      </p:sp>
      <p:pic>
        <p:nvPicPr>
          <p:cNvPr id="23" name="Azure icon: Foundry Models" descr="Official Azure icon: Foundry Models"/>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8115300" y="1856231"/>
            <a:ext cx="411480" cy="411480"/>
          </a:xfrm>
          <a:prstGeom prst="rect">
            <a:avLst/>
          </a:prstGeom>
        </p:spPr>
      </p:pic>
      <p:sp>
        <p:nvSpPr>
          <p:cNvPr id="24" name="TextBox 23"/>
          <p:cNvSpPr txBox="1"/>
          <p:nvPr/>
        </p:nvSpPr>
        <p:spPr>
          <a:xfrm>
            <a:off x="7763255" y="2304288"/>
            <a:ext cx="1115568" cy="310896"/>
          </a:xfrm>
          <a:prstGeom prst="rect">
            <a:avLst/>
          </a:prstGeom>
          <a:noFill/>
        </p:spPr>
        <p:txBody>
          <a:bodyPr wrap="square" lIns="0" rIns="0" tIns="0" bIns="0" anchor="t">
            <a:noAutofit/>
          </a:bodyPr>
          <a:lstStyle/>
          <a:p>
            <a:pPr algn="ctr"/>
            <a:r>
              <a:rPr sz="1300" b="1" i="0">
                <a:solidFill>
                  <a:srgbClr val="000048"/>
                </a:solidFill>
                <a:latin typeface="Arial"/>
              </a:rPr>
              <a:t>Model deployment</a:t>
            </a:r>
          </a:p>
        </p:txBody>
      </p:sp>
      <p:sp>
        <p:nvSpPr>
          <p:cNvPr id="25" name="Rounded Rectangle 24"/>
          <p:cNvSpPr/>
          <p:nvPr/>
        </p:nvSpPr>
        <p:spPr>
          <a:xfrm>
            <a:off x="9235440" y="1325880"/>
            <a:ext cx="2560320" cy="2148840"/>
          </a:xfrm>
          <a:prstGeom prst="roundRect">
            <a:avLst>
              <a:gd name="adj" fmla="val 4255"/>
            </a:avLst>
          </a:prstGeom>
          <a:solidFill>
            <a:srgbClr val="FAFAFA"/>
          </a:solidFill>
          <a:ln w="15875">
            <a:solidFill>
              <a:srgbClr val="A0A0A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345167" y="1380744"/>
            <a:ext cx="2340863" cy="237744"/>
          </a:xfrm>
          <a:prstGeom prst="rect">
            <a:avLst/>
          </a:prstGeom>
          <a:noFill/>
        </p:spPr>
        <p:txBody>
          <a:bodyPr wrap="square" lIns="0" rIns="0" tIns="0" bIns="0" anchor="t">
            <a:noAutofit/>
          </a:bodyPr>
          <a:lstStyle/>
          <a:p>
            <a:pPr algn="l"/>
            <a:r>
              <a:rPr sz="1200" b="1" i="0">
                <a:solidFill>
                  <a:srgbClr val="000048"/>
                </a:solidFill>
                <a:latin typeface="Arial"/>
              </a:rPr>
              <a:t>AGENT DEPENDENCIES</a:t>
            </a:r>
          </a:p>
        </p:txBody>
      </p:sp>
      <p:pic>
        <p:nvPicPr>
          <p:cNvPr id="27" name="Azure icon: AI Search (Cognitive Search icon)" descr="Official Azure icon: AI Search (Cognitive Search icon)"/>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9747504" y="1764792"/>
            <a:ext cx="347472" cy="347472"/>
          </a:xfrm>
          <a:prstGeom prst="rect">
            <a:avLst/>
          </a:prstGeom>
        </p:spPr>
      </p:pic>
      <p:sp>
        <p:nvSpPr>
          <p:cNvPr id="28" name="TextBox 27"/>
          <p:cNvSpPr txBox="1"/>
          <p:nvPr/>
        </p:nvSpPr>
        <p:spPr>
          <a:xfrm>
            <a:off x="9363455" y="2148840"/>
            <a:ext cx="1115568" cy="277133"/>
          </a:xfrm>
          <a:prstGeom prst="rect">
            <a:avLst/>
          </a:prstGeom>
          <a:noFill/>
        </p:spPr>
        <p:txBody>
          <a:bodyPr wrap="square" lIns="0" rIns="0" tIns="0" bIns="0" anchor="t">
            <a:noAutofit/>
          </a:bodyPr>
          <a:lstStyle/>
          <a:p>
            <a:pPr algn="ctr"/>
            <a:r>
              <a:rPr sz="1200" b="1" i="0">
                <a:solidFill>
                  <a:srgbClr val="000048"/>
                </a:solidFill>
                <a:latin typeface="Arial"/>
              </a:rPr>
              <a:t>AI Search</a:t>
            </a:r>
          </a:p>
        </p:txBody>
      </p:sp>
      <p:pic>
        <p:nvPicPr>
          <p:cNvPr id="29" name="Azure icon: Azure Cosmos DB" descr="Official Azure icon: Azure Cosmos DB"/>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10936224" y="1764792"/>
            <a:ext cx="347472" cy="347472"/>
          </a:xfrm>
          <a:prstGeom prst="rect">
            <a:avLst/>
          </a:prstGeom>
        </p:spPr>
      </p:pic>
      <p:sp>
        <p:nvSpPr>
          <p:cNvPr id="30" name="TextBox 29"/>
          <p:cNvSpPr txBox="1"/>
          <p:nvPr/>
        </p:nvSpPr>
        <p:spPr>
          <a:xfrm>
            <a:off x="10552176" y="2148840"/>
            <a:ext cx="1115568" cy="277133"/>
          </a:xfrm>
          <a:prstGeom prst="rect">
            <a:avLst/>
          </a:prstGeom>
          <a:noFill/>
        </p:spPr>
        <p:txBody>
          <a:bodyPr wrap="square" lIns="0" rIns="0" tIns="0" bIns="0" anchor="t">
            <a:noAutofit/>
          </a:bodyPr>
          <a:lstStyle/>
          <a:p>
            <a:pPr algn="ctr"/>
            <a:r>
              <a:rPr sz="1200" b="1" i="0">
                <a:solidFill>
                  <a:srgbClr val="000048"/>
                </a:solidFill>
                <a:latin typeface="Arial"/>
              </a:rPr>
              <a:t>Cosmos DB</a:t>
            </a:r>
          </a:p>
        </p:txBody>
      </p:sp>
      <p:pic>
        <p:nvPicPr>
          <p:cNvPr id="31" name="Azure icon: Storage account" descr="Official Azure icon: Storage account"/>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10387584" y="2633472"/>
            <a:ext cx="347472" cy="347472"/>
          </a:xfrm>
          <a:prstGeom prst="rect">
            <a:avLst/>
          </a:prstGeom>
        </p:spPr>
      </p:pic>
      <p:sp>
        <p:nvSpPr>
          <p:cNvPr id="32" name="TextBox 31"/>
          <p:cNvSpPr txBox="1"/>
          <p:nvPr/>
        </p:nvSpPr>
        <p:spPr>
          <a:xfrm>
            <a:off x="9957815" y="3017520"/>
            <a:ext cx="1207007" cy="277133"/>
          </a:xfrm>
          <a:prstGeom prst="rect">
            <a:avLst/>
          </a:prstGeom>
          <a:noFill/>
        </p:spPr>
        <p:txBody>
          <a:bodyPr wrap="square" lIns="0" rIns="0" tIns="0" bIns="0" anchor="t">
            <a:noAutofit/>
          </a:bodyPr>
          <a:lstStyle/>
          <a:p>
            <a:pPr algn="ctr"/>
            <a:r>
              <a:rPr sz="1200" b="1" i="0">
                <a:solidFill>
                  <a:srgbClr val="000048"/>
                </a:solidFill>
                <a:latin typeface="Arial"/>
              </a:rPr>
              <a:t>Storage account</a:t>
            </a:r>
          </a:p>
        </p:txBody>
      </p:sp>
      <p:cxnSp>
        <p:nvCxnSpPr>
          <p:cNvPr id="33" name="Connector (flow)"/>
          <p:cNvCxnSpPr/>
          <p:nvPr/>
        </p:nvCxnSpPr>
        <p:spPr>
          <a:xfrm>
            <a:off x="1280160" y="2240280"/>
            <a:ext cx="27432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Oval 33"/>
          <p:cNvSpPr/>
          <p:nvPr/>
        </p:nvSpPr>
        <p:spPr>
          <a:xfrm>
            <a:off x="1261872" y="1828800"/>
            <a:ext cx="274320" cy="274320"/>
          </a:xfrm>
          <a:prstGeom prst="ellipse">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200" b="1" i="0">
                <a:solidFill>
                  <a:srgbClr val="FFFFFF"/>
                </a:solidFill>
                <a:latin typeface="Arial"/>
              </a:rPr>
              <a:t>1</a:t>
            </a:r>
          </a:p>
        </p:txBody>
      </p:sp>
      <p:cxnSp>
        <p:nvCxnSpPr>
          <p:cNvPr id="35" name="Connector (flow)"/>
          <p:cNvCxnSpPr/>
          <p:nvPr/>
        </p:nvCxnSpPr>
        <p:spPr>
          <a:xfrm>
            <a:off x="3017520" y="2240280"/>
            <a:ext cx="41148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6" name="Connector (flow)"/>
          <p:cNvCxnSpPr/>
          <p:nvPr/>
        </p:nvCxnSpPr>
        <p:spPr>
          <a:xfrm>
            <a:off x="4892040" y="2240280"/>
            <a:ext cx="50292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7" name="Oval 36"/>
          <p:cNvSpPr/>
          <p:nvPr/>
        </p:nvSpPr>
        <p:spPr>
          <a:xfrm>
            <a:off x="4937760" y="1874519"/>
            <a:ext cx="274320" cy="274320"/>
          </a:xfrm>
          <a:prstGeom prst="ellipse">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200" b="1" i="0">
                <a:solidFill>
                  <a:srgbClr val="FFFFFF"/>
                </a:solidFill>
                <a:latin typeface="Arial"/>
              </a:rPr>
              <a:t>2</a:t>
            </a:r>
          </a:p>
        </p:txBody>
      </p:sp>
      <p:cxnSp>
        <p:nvCxnSpPr>
          <p:cNvPr id="38" name="Connector (flow)"/>
          <p:cNvCxnSpPr/>
          <p:nvPr/>
        </p:nvCxnSpPr>
        <p:spPr>
          <a:xfrm>
            <a:off x="6446520" y="2194560"/>
            <a:ext cx="22860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9" name="Oval 38"/>
          <p:cNvSpPr/>
          <p:nvPr/>
        </p:nvSpPr>
        <p:spPr>
          <a:xfrm>
            <a:off x="6400800" y="3017520"/>
            <a:ext cx="274320" cy="274320"/>
          </a:xfrm>
          <a:prstGeom prst="ellipse">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200" b="1" i="0">
                <a:solidFill>
                  <a:srgbClr val="FFFFFF"/>
                </a:solidFill>
                <a:latin typeface="Arial"/>
              </a:rPr>
              <a:t>3</a:t>
            </a:r>
          </a:p>
        </p:txBody>
      </p:sp>
      <p:cxnSp>
        <p:nvCxnSpPr>
          <p:cNvPr id="40" name="Connector (flow)"/>
          <p:cNvCxnSpPr/>
          <p:nvPr/>
        </p:nvCxnSpPr>
        <p:spPr>
          <a:xfrm>
            <a:off x="7589520" y="2194560"/>
            <a:ext cx="22860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41" name="Oval 40"/>
          <p:cNvSpPr/>
          <p:nvPr/>
        </p:nvSpPr>
        <p:spPr>
          <a:xfrm>
            <a:off x="7635240" y="3017520"/>
            <a:ext cx="274320" cy="274320"/>
          </a:xfrm>
          <a:prstGeom prst="ellipse">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200" b="1" i="0">
                <a:solidFill>
                  <a:srgbClr val="FFFFFF"/>
                </a:solidFill>
                <a:latin typeface="Arial"/>
              </a:rPr>
              <a:t>6</a:t>
            </a:r>
          </a:p>
        </p:txBody>
      </p:sp>
      <p:cxnSp>
        <p:nvCxnSpPr>
          <p:cNvPr id="42" name="Connector (flow)"/>
          <p:cNvCxnSpPr/>
          <p:nvPr/>
        </p:nvCxnSpPr>
        <p:spPr>
          <a:xfrm>
            <a:off x="8961120" y="2377440"/>
            <a:ext cx="27432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43" name="Oval 42"/>
          <p:cNvSpPr/>
          <p:nvPr/>
        </p:nvSpPr>
        <p:spPr>
          <a:xfrm>
            <a:off x="8961120" y="3017520"/>
            <a:ext cx="274320" cy="274320"/>
          </a:xfrm>
          <a:prstGeom prst="ellipse">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200" b="1" i="0">
                <a:solidFill>
                  <a:srgbClr val="FFFFFF"/>
                </a:solidFill>
                <a:latin typeface="Arial"/>
              </a:rPr>
              <a:t>7</a:t>
            </a:r>
          </a:p>
        </p:txBody>
      </p:sp>
      <p:sp>
        <p:nvSpPr>
          <p:cNvPr id="44" name="Rounded Rectangle 43"/>
          <p:cNvSpPr/>
          <p:nvPr/>
        </p:nvSpPr>
        <p:spPr>
          <a:xfrm>
            <a:off x="1463040" y="3794760"/>
            <a:ext cx="10332720" cy="1417320"/>
          </a:xfrm>
          <a:prstGeom prst="roundRect">
            <a:avLst>
              <a:gd name="adj" fmla="val 6451"/>
            </a:avLst>
          </a:prstGeom>
          <a:solidFill>
            <a:srgbClr val="F7F9FC"/>
          </a:solidFill>
          <a:ln w="15875">
            <a:solidFill>
              <a:srgbClr val="8FB3D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1572768" y="3849624"/>
            <a:ext cx="10113264" cy="237744"/>
          </a:xfrm>
          <a:prstGeom prst="rect">
            <a:avLst/>
          </a:prstGeom>
          <a:noFill/>
        </p:spPr>
        <p:txBody>
          <a:bodyPr wrap="square" lIns="0" rIns="0" tIns="0" bIns="0" anchor="t">
            <a:noAutofit/>
          </a:bodyPr>
          <a:lstStyle/>
          <a:p>
            <a:pPr algn="l"/>
            <a:r>
              <a:rPr sz="1200" b="1" i="0">
                <a:solidFill>
                  <a:srgbClr val="000048"/>
                </a:solidFill>
                <a:latin typeface="Arial"/>
              </a:rPr>
              <a:t>SPOKE VIRTUAL NETWORK</a:t>
            </a:r>
          </a:p>
        </p:txBody>
      </p:sp>
      <p:pic>
        <p:nvPicPr>
          <p:cNvPr id="46" name="Azure icon: Private Endpoints" descr="Official Azure icon: Private Endpoints"/>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1673352" y="4233672"/>
            <a:ext cx="384048" cy="384048"/>
          </a:xfrm>
          <a:prstGeom prst="rect">
            <a:avLst/>
          </a:prstGeom>
        </p:spPr>
      </p:pic>
      <p:sp>
        <p:nvSpPr>
          <p:cNvPr id="47" name="TextBox 46"/>
          <p:cNvSpPr txBox="1"/>
          <p:nvPr/>
        </p:nvSpPr>
        <p:spPr>
          <a:xfrm>
            <a:off x="2130552" y="4197096"/>
            <a:ext cx="2724912" cy="457199"/>
          </a:xfrm>
          <a:prstGeom prst="rect">
            <a:avLst/>
          </a:prstGeom>
          <a:noFill/>
        </p:spPr>
        <p:txBody>
          <a:bodyPr wrap="square" lIns="0" rIns="0" tIns="0" bIns="0" anchor="ctr">
            <a:noAutofit/>
          </a:bodyPr>
          <a:lstStyle/>
          <a:p>
            <a:pPr algn="l"/>
            <a:r>
              <a:rPr sz="1200" b="1" i="0">
                <a:solidFill>
                  <a:srgbClr val="000048"/>
                </a:solidFill>
                <a:latin typeface="Arial"/>
              </a:rPr>
              <a:t>Private endpoints</a:t>
            </a:r>
          </a:p>
          <a:p>
            <a:pPr algn="l"/>
            <a:r>
              <a:rPr sz="1200" b="0" i="0">
                <a:solidFill>
                  <a:srgbClr val="53565A"/>
                </a:solidFill>
                <a:latin typeface="Arial"/>
              </a:rPr>
              <a:t>Foundry, Search, Storage, Key Vault, Cosmos DB</a:t>
            </a:r>
          </a:p>
        </p:txBody>
      </p:sp>
      <p:pic>
        <p:nvPicPr>
          <p:cNvPr id="48" name="Azure icon: Firewalls" descr="Official Azure icon: Firewalls"/>
          <p:cNvPicPr>
            <a:picLocks noChangeAspect="1"/>
          </p:cNvPicPr>
          <p:nvPr/>
        </p:nvPicPr>
        <p:blipFill>
          <a:blip r:embed="rId24">
            <a:extLst>
              <a:ext uri="{96DAC541-7B7A-43D3-8B79-37D633B846F1}">
                <asvg:svgBlip xmlns:asvg="http://schemas.microsoft.com/office/drawing/2016/SVG/main" r:embed="rId25"/>
              </a:ext>
            </a:extLst>
          </a:blip>
          <a:stretch>
            <a:fillRect/>
          </a:stretch>
        </p:blipFill>
        <p:spPr>
          <a:xfrm>
            <a:off x="5193792" y="4233672"/>
            <a:ext cx="384048" cy="384048"/>
          </a:xfrm>
          <a:prstGeom prst="rect">
            <a:avLst/>
          </a:prstGeom>
        </p:spPr>
      </p:pic>
      <p:sp>
        <p:nvSpPr>
          <p:cNvPr id="49" name="TextBox 48"/>
          <p:cNvSpPr txBox="1"/>
          <p:nvPr/>
        </p:nvSpPr>
        <p:spPr>
          <a:xfrm>
            <a:off x="5650992" y="4197096"/>
            <a:ext cx="1719072" cy="457199"/>
          </a:xfrm>
          <a:prstGeom prst="rect">
            <a:avLst/>
          </a:prstGeom>
          <a:noFill/>
        </p:spPr>
        <p:txBody>
          <a:bodyPr wrap="square" lIns="0" rIns="0" tIns="0" bIns="0" anchor="ctr">
            <a:noAutofit/>
          </a:bodyPr>
          <a:lstStyle/>
          <a:p>
            <a:pPr algn="l"/>
            <a:r>
              <a:rPr sz="1200" b="1" i="0">
                <a:solidFill>
                  <a:srgbClr val="000048"/>
                </a:solidFill>
                <a:latin typeface="Arial"/>
              </a:rPr>
              <a:t>Azure Firewall</a:t>
            </a:r>
          </a:p>
          <a:p>
            <a:pPr algn="l"/>
            <a:r>
              <a:rPr sz="1200" b="0" i="0">
                <a:solidFill>
                  <a:srgbClr val="53565A"/>
                </a:solidFill>
                <a:latin typeface="Arial"/>
              </a:rPr>
              <a:t>outbound internet (5)</a:t>
            </a:r>
          </a:p>
        </p:txBody>
      </p:sp>
      <p:pic>
        <p:nvPicPr>
          <p:cNvPr id="50" name="Azure icon: Key Vault" descr="Official Azure icon: Key Vault"/>
          <p:cNvPicPr>
            <a:picLocks noChangeAspect="1"/>
          </p:cNvPicPr>
          <p:nvPr/>
        </p:nvPicPr>
        <p:blipFill>
          <a:blip r:embed="rId26">
            <a:extLst>
              <a:ext uri="{96DAC541-7B7A-43D3-8B79-37D633B846F1}">
                <asvg:svgBlip xmlns:asvg="http://schemas.microsoft.com/office/drawing/2016/SVG/main" r:embed="rId27"/>
              </a:ext>
            </a:extLst>
          </a:blip>
          <a:stretch>
            <a:fillRect/>
          </a:stretch>
        </p:blipFill>
        <p:spPr>
          <a:xfrm>
            <a:off x="7662672" y="4233672"/>
            <a:ext cx="384048" cy="384048"/>
          </a:xfrm>
          <a:prstGeom prst="rect">
            <a:avLst/>
          </a:prstGeom>
        </p:spPr>
      </p:pic>
      <p:sp>
        <p:nvSpPr>
          <p:cNvPr id="51" name="TextBox 50"/>
          <p:cNvSpPr txBox="1"/>
          <p:nvPr/>
        </p:nvSpPr>
        <p:spPr>
          <a:xfrm>
            <a:off x="8119872" y="4197096"/>
            <a:ext cx="1353312" cy="457199"/>
          </a:xfrm>
          <a:prstGeom prst="rect">
            <a:avLst/>
          </a:prstGeom>
          <a:noFill/>
        </p:spPr>
        <p:txBody>
          <a:bodyPr wrap="square" lIns="0" rIns="0" tIns="0" bIns="0" anchor="ctr">
            <a:noAutofit/>
          </a:bodyPr>
          <a:lstStyle/>
          <a:p>
            <a:pPr algn="l"/>
            <a:r>
              <a:rPr sz="1200" b="1" i="0">
                <a:solidFill>
                  <a:srgbClr val="000048"/>
                </a:solidFill>
                <a:latin typeface="Arial"/>
              </a:rPr>
              <a:t>Key Vault</a:t>
            </a:r>
          </a:p>
          <a:p>
            <a:pPr algn="l"/>
            <a:r>
              <a:rPr sz="1200" b="0" i="0">
                <a:solidFill>
                  <a:srgbClr val="53565A"/>
                </a:solidFill>
                <a:latin typeface="Arial"/>
              </a:rPr>
              <a:t>certificates, secrets</a:t>
            </a:r>
          </a:p>
        </p:txBody>
      </p:sp>
      <p:pic>
        <p:nvPicPr>
          <p:cNvPr id="52" name="Azure icon: Application Insights" descr="Official Azure icon: Application Insights"/>
          <p:cNvPicPr>
            <a:picLocks noChangeAspect="1"/>
          </p:cNvPicPr>
          <p:nvPr/>
        </p:nvPicPr>
        <p:blipFill>
          <a:blip r:embed="rId28">
            <a:extLst>
              <a:ext uri="{96DAC541-7B7A-43D3-8B79-37D633B846F1}">
                <asvg:svgBlip xmlns:asvg="http://schemas.microsoft.com/office/drawing/2016/SVG/main" r:embed="rId29"/>
              </a:ext>
            </a:extLst>
          </a:blip>
          <a:stretch>
            <a:fillRect/>
          </a:stretch>
        </p:blipFill>
        <p:spPr>
          <a:xfrm>
            <a:off x="9674352" y="4233672"/>
            <a:ext cx="384048" cy="384048"/>
          </a:xfrm>
          <a:prstGeom prst="rect">
            <a:avLst/>
          </a:prstGeom>
        </p:spPr>
      </p:pic>
      <p:sp>
        <p:nvSpPr>
          <p:cNvPr id="53" name="TextBox 52"/>
          <p:cNvSpPr txBox="1"/>
          <p:nvPr/>
        </p:nvSpPr>
        <p:spPr>
          <a:xfrm>
            <a:off x="10131552" y="4197096"/>
            <a:ext cx="1536192" cy="457199"/>
          </a:xfrm>
          <a:prstGeom prst="rect">
            <a:avLst/>
          </a:prstGeom>
          <a:noFill/>
        </p:spPr>
        <p:txBody>
          <a:bodyPr wrap="square" lIns="0" rIns="0" tIns="0" bIns="0" anchor="ctr">
            <a:noAutofit/>
          </a:bodyPr>
          <a:lstStyle/>
          <a:p>
            <a:pPr algn="l"/>
            <a:r>
              <a:rPr sz="1200" b="1" i="0">
                <a:solidFill>
                  <a:srgbClr val="000048"/>
                </a:solidFill>
                <a:latin typeface="Arial"/>
              </a:rPr>
              <a:t>App Insights</a:t>
            </a:r>
          </a:p>
          <a:p>
            <a:pPr algn="l"/>
            <a:r>
              <a:rPr sz="1200" b="0" i="0">
                <a:solidFill>
                  <a:srgbClr val="53565A"/>
                </a:solidFill>
                <a:latin typeface="Arial"/>
              </a:rPr>
              <a:t>monitoring</a:t>
            </a:r>
          </a:p>
        </p:txBody>
      </p:sp>
      <p:cxnSp>
        <p:nvCxnSpPr>
          <p:cNvPr id="54" name="Connector (data)"/>
          <p:cNvCxnSpPr/>
          <p:nvPr/>
        </p:nvCxnSpPr>
        <p:spPr>
          <a:xfrm flipH="1">
            <a:off x="6400800" y="3474720"/>
            <a:ext cx="777240" cy="685800"/>
          </a:xfrm>
          <a:prstGeom prst="line">
            <a:avLst/>
          </a:prstGeom>
          <a:ln w="19050">
            <a:solidFill>
              <a:srgbClr val="2F78C4"/>
            </a:solidFill>
            <a:tailEnd type="triangle" w="med" len="med"/>
          </a:ln>
        </p:spPr>
        <p:style>
          <a:lnRef idx="2">
            <a:schemeClr val="accent1"/>
          </a:lnRef>
          <a:fillRef idx="0">
            <a:schemeClr val="accent1"/>
          </a:fillRef>
          <a:effectRef idx="1">
            <a:schemeClr val="accent1"/>
          </a:effectRef>
          <a:fontRef idx="minor">
            <a:schemeClr val="tx1"/>
          </a:fontRef>
        </p:style>
      </p:cxnSp>
      <p:sp>
        <p:nvSpPr>
          <p:cNvPr id="55" name="Oval 54"/>
          <p:cNvSpPr/>
          <p:nvPr/>
        </p:nvSpPr>
        <p:spPr>
          <a:xfrm>
            <a:off x="7269480" y="3520440"/>
            <a:ext cx="256032" cy="256032"/>
          </a:xfrm>
          <a:prstGeom prst="ellipse">
            <a:avLst/>
          </a:prstGeom>
          <a:solidFill>
            <a:srgbClr val="2F78C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200" b="1" i="0">
                <a:solidFill>
                  <a:srgbClr val="FFFFFF"/>
                </a:solidFill>
                <a:latin typeface="Arial"/>
              </a:rPr>
              <a:t>4</a:t>
            </a:r>
          </a:p>
        </p:txBody>
      </p:sp>
      <p:cxnSp>
        <p:nvCxnSpPr>
          <p:cNvPr id="56" name="Connector (flow)"/>
          <p:cNvCxnSpPr/>
          <p:nvPr/>
        </p:nvCxnSpPr>
        <p:spPr>
          <a:xfrm>
            <a:off x="548640" y="5605272"/>
            <a:ext cx="41148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1024128" y="5486400"/>
            <a:ext cx="1691639" cy="256032"/>
          </a:xfrm>
          <a:prstGeom prst="rect">
            <a:avLst/>
          </a:prstGeom>
          <a:noFill/>
        </p:spPr>
        <p:txBody>
          <a:bodyPr wrap="square" lIns="0" rIns="0" tIns="0" bIns="0" anchor="t">
            <a:noAutofit/>
          </a:bodyPr>
          <a:lstStyle/>
          <a:p>
            <a:pPr algn="l"/>
            <a:r>
              <a:rPr sz="1200" b="0" i="0">
                <a:solidFill>
                  <a:srgbClr val="53565A"/>
                </a:solidFill>
                <a:latin typeface="Arial"/>
              </a:rPr>
              <a:t>Request / data flow</a:t>
            </a:r>
          </a:p>
        </p:txBody>
      </p:sp>
      <p:cxnSp>
        <p:nvCxnSpPr>
          <p:cNvPr id="58" name="Connector (data)"/>
          <p:cNvCxnSpPr/>
          <p:nvPr/>
        </p:nvCxnSpPr>
        <p:spPr>
          <a:xfrm>
            <a:off x="2743200" y="5605272"/>
            <a:ext cx="411480" cy="0"/>
          </a:xfrm>
          <a:prstGeom prst="line">
            <a:avLst/>
          </a:prstGeom>
          <a:ln w="19050">
            <a:solidFill>
              <a:srgbClr val="2F78C4"/>
            </a:solidFill>
            <a:tailEnd type="triangle" w="med" len="med"/>
          </a:ln>
        </p:spPr>
        <p:style>
          <a:lnRef idx="2">
            <a:schemeClr val="accent1"/>
          </a:lnRef>
          <a:fillRef idx="0">
            <a:schemeClr val="accent1"/>
          </a:fillRef>
          <a:effectRef idx="1">
            <a:schemeClr val="accent1"/>
          </a:effectRef>
          <a:fontRef idx="minor">
            <a:schemeClr val="tx1"/>
          </a:fontRef>
        </p:style>
      </p:cxnSp>
      <p:sp>
        <p:nvSpPr>
          <p:cNvPr id="59" name="TextBox 58"/>
          <p:cNvSpPr txBox="1"/>
          <p:nvPr/>
        </p:nvSpPr>
        <p:spPr>
          <a:xfrm>
            <a:off x="3218688" y="5486400"/>
            <a:ext cx="1691639" cy="256032"/>
          </a:xfrm>
          <a:prstGeom prst="rect">
            <a:avLst/>
          </a:prstGeom>
          <a:noFill/>
        </p:spPr>
        <p:txBody>
          <a:bodyPr wrap="square" lIns="0" rIns="0" tIns="0" bIns="0" anchor="t">
            <a:noAutofit/>
          </a:bodyPr>
          <a:lstStyle/>
          <a:p>
            <a:pPr algn="l"/>
            <a:r>
              <a:rPr sz="1200" b="0" i="0">
                <a:solidFill>
                  <a:srgbClr val="53565A"/>
                </a:solidFill>
                <a:latin typeface="Arial"/>
              </a:rPr>
              <a:t>Data access</a:t>
            </a:r>
          </a:p>
        </p:txBody>
      </p:sp>
      <p:sp>
        <p:nvSpPr>
          <p:cNvPr id="60" name="TextBox 59"/>
          <p:cNvSpPr txBox="1"/>
          <p:nvPr/>
        </p:nvSpPr>
        <p:spPr>
          <a:xfrm>
            <a:off x="5120640" y="5486400"/>
            <a:ext cx="6492240" cy="274320"/>
          </a:xfrm>
          <a:prstGeom prst="rect">
            <a:avLst/>
          </a:prstGeom>
          <a:noFill/>
        </p:spPr>
        <p:txBody>
          <a:bodyPr wrap="square" lIns="0" rIns="0" tIns="0" bIns="0" anchor="t">
            <a:noAutofit/>
          </a:bodyPr>
          <a:lstStyle/>
          <a:p>
            <a:pPr algn="r"/>
            <a:r>
              <a:rPr sz="1200" b="0" i="0">
                <a:solidFill>
                  <a:srgbClr val="53565A"/>
                </a:solidFill>
                <a:latin typeface="Arial"/>
              </a:rPr>
              <a:t>Numbers follow the source diagram. Original: the original references pack.</a:t>
            </a:r>
          </a:p>
        </p:txBody>
      </p:sp>
      <p:sp>
        <p:nvSpPr>
          <p:cNvPr id="61" name="TextBox 60"/>
          <p:cNvSpPr txBox="1"/>
          <p:nvPr/>
        </p:nvSpPr>
        <p:spPr>
          <a:xfrm>
            <a:off x="548640" y="5852160"/>
            <a:ext cx="11064240" cy="256032"/>
          </a:xfrm>
          <a:prstGeom prst="rect">
            <a:avLst/>
          </a:prstGeom>
          <a:noFill/>
        </p:spPr>
        <p:txBody>
          <a:bodyPr wrap="square" lIns="0" rIns="0" tIns="0" bIns="0" anchor="t">
            <a:noAutofit/>
          </a:bodyPr>
          <a:lstStyle/>
          <a:p>
            <a:pPr algn="l"/>
            <a:r>
              <a:rPr sz="1200" b="1" i="0">
                <a:solidFill>
                  <a:srgbClr val="7373D8"/>
                </a:solidFill>
                <a:latin typeface="Arial"/>
              </a:rPr>
              <a:t>Adapted reference architecture  ·  simplified from Microsoft source; not a validated customer implementation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Data paths and disaster recovery options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A20</a:t>
            </a:r>
          </a:p>
        </p:txBody>
      </p:sp>
      <p:sp>
        <p:nvSpPr>
          <p:cNvPr id="5" name="Status chip: PROPOSED OPTIONS"/>
          <p:cNvSpPr/>
          <p:nvPr/>
        </p:nvSpPr>
        <p:spPr>
          <a:xfrm>
            <a:off x="1996440" y="274320"/>
            <a:ext cx="165608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OPTIONS</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v4.0  ·  11 Oct 2026  ·  Working proposal, not approved terms</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29</a:t>
            </a:r>
          </a:p>
        </p:txBody>
      </p:sp>
      <p:graphicFrame>
        <p:nvGraphicFramePr>
          <p:cNvPr id="9" name="Table"/>
          <p:cNvGraphicFramePr>
            <a:graphicFrameLocks noGrp="1"/>
          </p:cNvGraphicFramePr>
          <p:nvPr/>
        </p:nvGraphicFramePr>
        <p:xfrm>
          <a:off x="548640" y="1325880"/>
          <a:ext cx="11091672" cy="1219200"/>
        </p:xfrm>
        <a:graphic>
          <a:graphicData uri="http://schemas.openxmlformats.org/drawingml/2006/table">
            <a:tbl>
              <a:tblPr firstRow="1" bandRow="0">
                <a:tableStyleId>{5C22544A-7EE6-4342-B048-85BDC9FD1C3A}</a:tableStyleId>
              </a:tblPr>
              <a:tblGrid>
                <a:gridCol w="3108960"/>
                <a:gridCol w="4023360"/>
                <a:gridCol w="3959352"/>
              </a:tblGrid>
              <a:tr h="304800">
                <a:tc>
                  <a:txBody>
                    <a:bodyPr wrap="square" anchor="ctr">
                      <a:noAutofit/>
                    </a:bodyPr>
                    <a:lstStyle/>
                    <a:p>
                      <a:pPr algn="l"/>
                      <a:r>
                        <a:rPr sz="1400" b="1" i="0">
                          <a:solidFill>
                            <a:srgbClr val="FFFFFF"/>
                          </a:solidFill>
                          <a:latin typeface="Arial"/>
                        </a:rPr>
                        <a:t>Data path</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Azure services</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CIS Infra role</a:t>
                      </a:r>
                    </a:p>
                  </a:txBody>
                  <a:tcPr marL="73152" marR="73152" marT="36576" marB="36576" anchor="ctr">
                    <a:solidFill>
                      <a:srgbClr val="000048"/>
                    </a:solidFill>
                  </a:tcPr>
                </a:tc>
              </a:tr>
              <a:tr h="304800">
                <a:tc>
                  <a:txBody>
                    <a:bodyPr wrap="square" anchor="ctr">
                      <a:noAutofit/>
                    </a:bodyPr>
                    <a:lstStyle/>
                    <a:p>
                      <a:pPr algn="l"/>
                      <a:r>
                        <a:rPr sz="1400" b="1" i="0">
                          <a:solidFill>
                            <a:srgbClr val="1E1E2E"/>
                          </a:solidFill>
                          <a:latin typeface="Arial"/>
                        </a:rPr>
                        <a:t>Documents and files</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Storage account, AI Search</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Private endpoints, identity, lifecycle</a:t>
                      </a:r>
                    </a:p>
                  </a:txBody>
                  <a:tcPr marL="73152" marR="73152" marT="36576" marB="36576" anchor="ctr">
                    <a:solidFill>
                      <a:srgbClr val="FFFFFF"/>
                    </a:solidFill>
                  </a:tcPr>
                </a:tc>
              </a:tr>
              <a:tr h="304800">
                <a:tc>
                  <a:txBody>
                    <a:bodyPr wrap="square" anchor="ctr">
                      <a:noAutofit/>
                    </a:bodyPr>
                    <a:lstStyle/>
                    <a:p>
                      <a:pPr algn="l"/>
                      <a:r>
                        <a:rPr sz="1400" b="1" i="0">
                          <a:solidFill>
                            <a:srgbClr val="1E1E2E"/>
                          </a:solidFill>
                          <a:latin typeface="Arial"/>
                        </a:rPr>
                        <a:t>Enterprise analytics data</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Microsoft Fabric, OneLake (if used)</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Network and identity integration only</a:t>
                      </a:r>
                    </a:p>
                  </a:txBody>
                  <a:tcPr marL="73152" marR="73152" marT="36576" marB="36576" anchor="ctr">
                    <a:solidFill>
                      <a:srgbClr val="F5F5F2"/>
                    </a:solidFill>
                  </a:tcPr>
                </a:tc>
              </a:tr>
              <a:tr h="304800">
                <a:tc>
                  <a:txBody>
                    <a:bodyPr wrap="square" anchor="ctr">
                      <a:noAutofit/>
                    </a:bodyPr>
                    <a:lstStyle/>
                    <a:p>
                      <a:pPr algn="l"/>
                      <a:r>
                        <a:rPr sz="1400" b="1" i="0">
                          <a:solidFill>
                            <a:srgbClr val="1E1E2E"/>
                          </a:solidFill>
                          <a:latin typeface="Arial"/>
                        </a:rPr>
                        <a:t>Operational systems</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Customer sources via connectors</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Network path and DNS</a:t>
                      </a:r>
                    </a:p>
                  </a:txBody>
                  <a:tcPr marL="73152" marR="73152" marT="36576" marB="36576" anchor="ctr">
                    <a:solidFill>
                      <a:srgbClr val="FFFFFF"/>
                    </a:solidFill>
                  </a:tcPr>
                </a:tc>
              </a:tr>
            </a:tbl>
          </a:graphicData>
        </a:graphic>
      </p:graphicFrame>
      <p:graphicFrame>
        <p:nvGraphicFramePr>
          <p:cNvPr id="10" name="Table"/>
          <p:cNvGraphicFramePr>
            <a:graphicFrameLocks noGrp="1"/>
          </p:cNvGraphicFramePr>
          <p:nvPr/>
        </p:nvGraphicFramePr>
        <p:xfrm>
          <a:off x="548640" y="3383280"/>
          <a:ext cx="11091672" cy="1645920"/>
        </p:xfrm>
        <a:graphic>
          <a:graphicData uri="http://schemas.openxmlformats.org/drawingml/2006/table">
            <a:tbl>
              <a:tblPr firstRow="1" bandRow="0">
                <a:tableStyleId>{5C22544A-7EE6-4342-B048-85BDC9FD1C3A}</a:tableStyleId>
              </a:tblPr>
              <a:tblGrid>
                <a:gridCol w="2377440"/>
                <a:gridCol w="3474720"/>
                <a:gridCol w="3108960"/>
                <a:gridCol w="2130552"/>
              </a:tblGrid>
              <a:tr h="304800">
                <a:tc>
                  <a:txBody>
                    <a:bodyPr wrap="square" anchor="ctr">
                      <a:noAutofit/>
                    </a:bodyPr>
                    <a:lstStyle/>
                    <a:p>
                      <a:pPr algn="l"/>
                      <a:r>
                        <a:rPr sz="1400" b="1" i="0">
                          <a:solidFill>
                            <a:srgbClr val="FFFFFF"/>
                          </a:solidFill>
                          <a:latin typeface="Arial"/>
                        </a:rPr>
                        <a:t>DR option</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How it works</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Cost driver</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Recovery</a:t>
                      </a:r>
                    </a:p>
                  </a:txBody>
                  <a:tcPr marL="73152" marR="73152" marT="36576" marB="36576" anchor="ctr">
                    <a:solidFill>
                      <a:srgbClr val="000048"/>
                    </a:solidFill>
                  </a:tcPr>
                </a:tc>
              </a:tr>
              <a:tr h="304800">
                <a:tc>
                  <a:txBody>
                    <a:bodyPr wrap="square" anchor="ctr">
                      <a:noAutofit/>
                    </a:bodyPr>
                    <a:lstStyle/>
                    <a:p>
                      <a:pPr algn="l"/>
                      <a:r>
                        <a:rPr sz="1400" b="1" i="0">
                          <a:solidFill>
                            <a:srgbClr val="1E1E2E"/>
                          </a:solidFill>
                          <a:latin typeface="Arial"/>
                        </a:rPr>
                        <a:t>Single region, rebuild</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Redeploy from code; restore data</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Lowest</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Hours to days</a:t>
                      </a:r>
                    </a:p>
                  </a:txBody>
                  <a:tcPr marL="73152" marR="73152" marT="36576" marB="36576" anchor="ctr">
                    <a:solidFill>
                      <a:srgbClr val="FFFFFF"/>
                    </a:solidFill>
                  </a:tcPr>
                </a:tc>
              </a:tr>
              <a:tr h="518160">
                <a:tc>
                  <a:txBody>
                    <a:bodyPr wrap="square" anchor="ctr">
                      <a:noAutofit/>
                    </a:bodyPr>
                    <a:lstStyle/>
                    <a:p>
                      <a:pPr algn="l"/>
                      <a:r>
                        <a:rPr sz="1400" b="1" i="0">
                          <a:solidFill>
                            <a:srgbClr val="1E1E2E"/>
                          </a:solidFill>
                          <a:latin typeface="Arial"/>
                        </a:rPr>
                        <a:t>Warm standby</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Second region pre-built, scaled down</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Second region baseline, data replication</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Hours</a:t>
                      </a:r>
                    </a:p>
                  </a:txBody>
                  <a:tcPr marL="73152" marR="73152" marT="36576" marB="36576" anchor="ctr">
                    <a:solidFill>
                      <a:srgbClr val="F5F5F2"/>
                    </a:solidFill>
                  </a:tcPr>
                </a:tc>
              </a:tr>
              <a:tr h="518160">
                <a:tc>
                  <a:txBody>
                    <a:bodyPr wrap="square" anchor="ctr">
                      <a:noAutofit/>
                    </a:bodyPr>
                    <a:lstStyle/>
                    <a:p>
                      <a:pPr algn="l"/>
                      <a:r>
                        <a:rPr sz="1400" b="1" i="0">
                          <a:solidFill>
                            <a:srgbClr val="1E1E2E"/>
                          </a:solidFill>
                          <a:latin typeface="Arial"/>
                        </a:rPr>
                        <a:t>Active-active</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Two regions serving traffic</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Double capacity, global routing</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Minutes, if capacity exists</a:t>
                      </a:r>
                    </a:p>
                  </a:txBody>
                  <a:tcPr marL="73152" marR="73152" marT="36576" marB="36576" anchor="ctr">
                    <a:solidFill>
                      <a:srgbClr val="FFFFFF"/>
                    </a:solidFill>
                  </a:tcPr>
                </a:tc>
              </a:tr>
            </a:tbl>
          </a:graphicData>
        </a:graphic>
      </p:graphicFrame>
      <p:sp>
        <p:nvSpPr>
          <p:cNvPr id="11" name="Rounded Rectangle 10"/>
          <p:cNvSpPr/>
          <p:nvPr/>
        </p:nvSpPr>
        <p:spPr>
          <a:xfrm>
            <a:off x="548640" y="5486400"/>
            <a:ext cx="11091672" cy="548640"/>
          </a:xfrm>
          <a:prstGeom prst="roundRect">
            <a:avLst>
              <a:gd name="adj" fmla="val 13333"/>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Model capacity in a second region is not guaranteed on demand. Test failover before quoting a recovery time.</a:t>
            </a:r>
          </a:p>
        </p:txBody>
      </p:sp>
    </p:spTree>
  </p:cSld>
  <p:clrMapOvr>
    <a:masterClrMapping/>
  </p:clrMapOvr>
</p:sld>
</file>

<file path=ppt/theme/theme1.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Upendra Kumar</dc:creator>
  <lastModifiedBy>Upendra Kumar</lastModifiedBy>
  <dc:title>AI Platform / Landing Zone v4.0</dc:title>
  <dcterms:created xsi:type="dcterms:W3CDTF">2026-10-10T13:56:28.3080000Z</dcterms:created>
  <dcterms:modified xsi:type="dcterms:W3CDTF">2026-10-10T13:56:28.3090000Z</dcterms:modified>
  <dc:subject>Proposed CIS Infra GTM offering for internal leadership review</dc:subject>
</coreProperties>
</file>