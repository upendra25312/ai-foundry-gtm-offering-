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pack holds the original Microsoft diagrams we adapted. Use it when someone asks where a design came from.</a:t>
            </a:r>
          </a:p>
          <a:p/>
          <a:p>
            <a:r>
              <a:t>Likely question: Are these current?</a:t>
            </a:r>
          </a:p>
          <a:p>
            <a:r>
              <a:t>Answer: Some use older labels, which is why the decks use rebuilt versions. Each slide says so.</a:t>
            </a:r>
          </a:p>
          <a:p/>
          <a:p>
            <a:r>
              <a:t>DETAIL AND CAVEATS</a:t>
            </a:r>
          </a:p>
          <a:p>
            <a:r>
              <a:t>Reference pack. Each slide shows an original Microsoft Architecture Center diagram from the GTM repository, unchanged, with its source link. The editable, current-label versions are in the offering decks.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Reference divider.</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https://github.com/upendra25312/AI-Foundry-GTM-offering-/blob/main/architectures/04_AI-Landing-Zone-with-platform.png</a:t>
            </a:r>
          </a:p>
          <a:p>
            <a:r>
              <a:t>Editable Visio: https://github.com/upendra25312/AI-Foundry-GTM-offering-/blob/main/architectures/01_AI-Landing-Zones-Multi-Page.vsdx</a:t>
            </a:r>
          </a:p>
          <a:p>
            <a:r>
              <a:t>Microsoft source: https://github.com/Azure/AI-Landing-Zones</a:t>
            </a:r>
          </a:p>
          <a:p/>
          <a:p>
            <a:r>
              <a:t>Source labels use the earlier "AI Foundry" naming; the simplified executive view uses current Foundry names.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Source shows "Azure OpenAI model"; adapted view (A8) uses Foundry model deployment.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https://github.com/upendra25312/AI-Foundry-GTM-offering-/blob/main/architectures/11_baseline-landing-zone-networking.png</a:t>
            </a:r>
          </a:p>
          <a:p>
            <a:r>
              <a:t>Editable Visio: https://github.com/upendra25312/AI-Foundry-GTM-offering-/blob/main/architectures/05_baseline-landing-zone-networking.vsdx</a:t>
            </a:r>
          </a:p>
          <a:p>
            <a:r>
              <a:t>Microsoft source: https://learn.microsoft.com/en-us/azure/architecture/ai-ml/architecture/baseline-microsoft-foundry-landing-zone</a:t>
            </a:r>
          </a:p>
          <a:p/>
          <a:p>
            <a:r>
              <a:t>The source PNG clips some labels in its own render; the editable reconstruction is appendix A5.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https://github.com/upendra25312/AI-Foundry-GTM-offering-/blob/main/architectures/12_baseline-landing-zone-networking-egress.png</a:t>
            </a:r>
          </a:p>
          <a:p>
            <a:r>
              <a:t>Editable Visio: https://github.com/upendra25312/AI-Foundry-GTM-offering-/blob/main/architectures/06_baseline-landing-zone-networking-egress.vsdx</a:t>
            </a:r>
          </a:p>
          <a:p>
            <a:r>
              <a:t>Microsoft source: https://learn.microsoft.com/en-us/azure/architecture/ai-ml/architecture/baseline-microsoft-foundry-landing-zone</a:t>
            </a:r>
          </a:p>
          <a:p/>
          <a:p>
            <a:r>
              <a:t>The source PNG clips some labels in its own render; the editable reconstruction is appendix A6.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https://github.com/upendra25312/AI-Foundry-GTM-offering-/blob/main/architectures/35_azure-landing-zone-conceptual-architecture.png</a:t>
            </a:r>
          </a:p>
          <a:p>
            <a:r>
              <a:t>Microsoft source: https://learn.microsoft.com/en-us/azure/cloud-adoption-framework/ready/landing-zone/</a:t>
            </a:r>
          </a:p>
          <a:p/>
          <a:p>
            <a:r>
              <a:t>Microsoft CAF conceptual view showing Foundry added to workload landing zones that need AI.</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https://github.com/upendra25312/AI-Foundry-GTM-offering-/blob/main/architectures/15_multiple-agent-workflow-automation.png</a:t>
            </a:r>
          </a:p>
          <a:p>
            <a:r>
              <a:t>Editable Visio: https://github.com/upendra25312/AI-Foundry-GTM-offering-/blob/main/architectures/08_multiple-agent-workflow-automation.vsdx</a:t>
            </a:r>
          </a:p>
          <a:p>
            <a:r>
              <a:t>Microsoft source: https://learn.microsoft.com/en-us/azure/architecture/ai-ml/idea/multiple-agent-workflow-automation</a:t>
            </a:r>
          </a:p>
          <a:p/>
          <a:p>
            <a:r>
              <a:t>Source labels the model GPT-4.1, which retires 2027-04-14; adapted view (A11) uses a generic model deployment.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https://github.com/upendra25312/AI-Foundry-GTM-offering-/blob/main/architectures/14_agentic-rag.png</a:t>
            </a:r>
          </a:p>
          <a:p>
            <a:r>
              <a:t>Editable Visio: https://github.com/upendra25312/AI-Foundry-GTM-offering-/blob/main/architectures/07_agentic-rag.vsdx</a:t>
            </a:r>
          </a:p>
          <a:p>
            <a:r>
              <a:t>Microsoft source: https://learn.microsoft.com/en-us/azure/architecture/ai-ml/guide/rag/rag-agentic</a:t>
            </a:r>
          </a:p>
          <a:p/>
          <a:p>
            <a:r>
              <a:t>Reasoning loop only; it does not show an implemented kill switch.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map agent registrations, runtime, search, storage and network to monitored assets.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https://github.com/upendra25312/AI-Foundry-GTM-offering-/blob/main/architectures/38_foundry-gateway-conceptual-architecture.png</a:t>
            </a:r>
          </a:p>
          <a:p>
            <a:r>
              <a:t>Editable Visio: https://github.com/upendra25312/AI-Foundry-GTM-offering-/blob/main/architectures/12_foundry-gateway-conceptual-architecture.vsdx</a:t>
            </a:r>
          </a:p>
          <a:p>
            <a:r>
              <a:t>Microsoft source: https://learn.microsoft.com/en-us/azure/architecture/ai-ml/guide/azure-openai-gateway-guide</a:t>
            </a:r>
          </a:p>
          <a:p/>
          <a:p>
            <a:r>
              <a:t>Conceptual functions; queuing and compute may need services beyond one API Management tier.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 It carries legacy labels, so do not use it in proposals.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https://github.com/upendra25312/AI-Foundry-GTM-offering-/blob/main/architectures/44_azure-openai-gateway-identity-solution-combined.png</a:t>
            </a:r>
          </a:p>
          <a:p>
            <a:r>
              <a:t>Editable Visio: https://github.com/upendra25312/AI-Foundry-GTM-offering-/blob/main/architectures/14_azure-openai-authentication.vsdx</a:t>
            </a:r>
          </a:p>
          <a:p>
            <a:r>
              <a:t>Microsoft source: https://learn.microsoft.com/en-us/azure/architecture/ai-ml/guide/azure-openai-gateway-custom-authentication</a:t>
            </a:r>
          </a:p>
          <a:p/>
          <a:p>
            <a:r>
              <a:t>HISTORICAL: legacy gpt-35-turbo and Azure OpenAI labels. Do not use in proposals; use appendix A3.</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https://github.com/upendra25312/AI-Foundry-GTM-offering-/blob/main/architectures/20_multiple-regions-api-management-single-after.png</a:t>
            </a:r>
          </a:p>
          <a:p>
            <a:r>
              <a:t>Microsoft source: https://learn.microsoft.com/en-us/azure/architecture/ai-ml/guide/azure-openai-gateway-guide</a:t>
            </a:r>
          </a:p>
          <a:p/>
          <a:p>
            <a:r>
              <a:t>Source labels "rt-foundry-westus" appear to mean resource group; backend failover keeps one gateway failure domain.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https://github.com/upendra25312/AI-Foundry-GTM-offering-/blob/main/architectures/21_multiple-regions-api-management-multiple-after.png</a:t>
            </a:r>
          </a:p>
          <a:p>
            <a:r>
              <a:t>Microsoft source: https://learn.microsoft.com/en-us/azure/architecture/ai-ml/guide/azure-openai-gateway-guide</a:t>
            </a:r>
          </a:p>
          <a:p/>
          <a:p>
            <a:r>
              <a:t>Built-in multi-region API Management needs Premium (classic).</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Original diagram from the user repository, embedded unchanged at source resolution and not stretched beyond its native size. Repository: https://github.com/upendra25312/AI-Foundry-GTM-offering-/blob/main/architectures/08_baseline-microsoft-foundry-network-flow.png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derive the monitored dependency map (A3). Source labels the model "Azure OpenAI model".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hyperlink" Target="https://github.com/upendra25312/AI-Foundry-GTM-offering-/blob/main/architectures/04_AI-Landing-Zone-with-platform.png" TargetMode="External"/><Relationship Id="rId6" Type="http://schemas.openxmlformats.org/officeDocument/2006/relationships/hyperlink" Target="https://github.com/Azure/AI-Landing-Zones" TargetMode="External"/><Relationship Id="rId7" Type="http://schemas.openxmlformats.org/officeDocument/2006/relationships/slide" Target="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 Id="rId4" Type="http://schemas.openxmlformats.org/officeDocument/2006/relationships/image" Target="../media/image11.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2.png"/><Relationship Id="rId5" Type="http://schemas.openxmlformats.org/officeDocument/2006/relationships/hyperlink" Target="https://github.com/upendra25312/AI-Foundry-GTM-offering-/blob/main/architectures/11_baseline-landing-zone-networking.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13.png"/><Relationship Id="rId5" Type="http://schemas.openxmlformats.org/officeDocument/2006/relationships/hyperlink" Target="https://github.com/upendra25312/AI-Foundry-GTM-offering-/blob/main/architectures/12_baseline-landing-zone-networking-egress.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image" Target="../media/image14.png"/><Relationship Id="rId5" Type="http://schemas.openxmlformats.org/officeDocument/2006/relationships/hyperlink" Target="https://github.com/upendra25312/AI-Foundry-GTM-offering-/blob/main/architectures/35_azure-landing-zone-conceptual-architecture.png" TargetMode="External"/><Relationship Id="rId6" Type="http://schemas.openxmlformats.org/officeDocument/2006/relationships/hyperlink" Target="https://learn.microsoft.com/en-us/azure/cloud-adoption-framework/ready/landing-zone/" TargetMode="External"/><Relationship Id="rId7"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 Id="rId4" Type="http://schemas.openxmlformats.org/officeDocument/2006/relationships/image" Target="../media/image15.png"/><Relationship Id="rId5" Type="http://schemas.openxmlformats.org/officeDocument/2006/relationships/hyperlink" Target="https://github.com/upendra25312/AI-Foundry-GTM-offering-/blob/main/architectures/15_multiple-agent-workflow-automation.png" TargetMode="External"/><Relationship Id="rId6" Type="http://schemas.openxmlformats.org/officeDocument/2006/relationships/hyperlink" Target="https://learn.microsoft.com/en-us/azure/architecture/ai-ml/idea/multiple-agent-workflow-automation" TargetMode="External"/><Relationship Id="rId7"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 Id="rId4" Type="http://schemas.openxmlformats.org/officeDocument/2006/relationships/image" Target="../media/image16.png"/><Relationship Id="rId5" Type="http://schemas.openxmlformats.org/officeDocument/2006/relationships/hyperlink" Target="https://github.com/upendra25312/AI-Foundry-GTM-offering-/blob/main/architectures/14_agentic-rag.png" TargetMode="External"/><Relationship Id="rId6" Type="http://schemas.openxmlformats.org/officeDocument/2006/relationships/hyperlink" Target="https://learn.microsoft.com/en-us/azure/architecture/ai-ml/guide/rag/rag-agentic" TargetMode="External"/><Relationship Id="rId7" Type="http://schemas.openxmlformats.org/officeDocument/2006/relationships/slide" Target="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image" Target="../media/image11.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image" Target="../media/image17.png"/><Relationship Id="rId5" Type="http://schemas.openxmlformats.org/officeDocument/2006/relationships/hyperlink" Target="https://github.com/upendra25312/AI-Foundry-GTM-offering-/blob/main/architectures/38_foundry-gateway-conceptual-architecture.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image" Target="../media/image18.png"/><Relationship Id="rId5" Type="http://schemas.openxmlformats.org/officeDocument/2006/relationships/hyperlink" Target="https://github.com/upendra25312/AI-Foundry-GTM-offering-/blob/main/architectures/44_azure-openai-gateway-identity-solution-combined.png" TargetMode="External"/><Relationship Id="rId6" Type="http://schemas.openxmlformats.org/officeDocument/2006/relationships/hyperlink" Target="https://learn.microsoft.com/en-us/azure/architecture/ai-ml/guide/azure-openai-gateway-custom-authentication" TargetMode="External"/><Relationship Id="rId7"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19.png"/><Relationship Id="rId5" Type="http://schemas.openxmlformats.org/officeDocument/2006/relationships/hyperlink" Target="https://github.com/upendra25312/AI-Foundry-GTM-offering-/blob/main/architectures/20_multiple-regions-api-management-sing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0.png"/><Relationship Id="rId5" Type="http://schemas.openxmlformats.org/officeDocument/2006/relationships/hyperlink" Target="https://github.com/upendra25312/AI-Foundry-GTM-offering-/blob/main/architectures/21_multiple-regions-api-management-multip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21.png"/><Relationship Id="rId5" Type="http://schemas.openxmlformats.org/officeDocument/2006/relationships/hyperlink" Target="https://github.com/upendra25312/AI-Foundry-GTM-offering-/blob/main/architectures/08_baseline-microsoft-foundry-network-flow.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Original Microsoft reference diagrams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Unchanged source diagrams behind the editable architectures in decks 01 to 05</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Moved out of the offering decks in v4.0 to reduce appendix length  ·  kept for traceability</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Reference pack for decks 01 to 05</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REFERENCES</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Original reference diagrams</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Grouped by offering deck: 01 landing zone, 02 agent governance, 03 gateway, 05 operations.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04  </a:t>
            </a:r>
            <a:r>
              <a:rPr sz="1300" b="1" i="0">
                <a:solidFill>
                  <a:srgbClr val="000048"/>
                </a:solidFill>
                <a:latin typeface="Arial"/>
              </a:rPr>
              <a:t>01-O1  </a:t>
            </a:r>
            <a:r>
              <a:rPr sz="1300" b="0" i="0">
                <a:solidFill>
                  <a:srgbClr val="1E1E2E"/>
                </a:solidFill>
                <a:latin typeface="Arial"/>
              </a:rPr>
              <a:t>Original: AI landing zone with platform</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05  </a:t>
            </a:r>
            <a:r>
              <a:rPr sz="1300" b="1" i="0">
                <a:solidFill>
                  <a:srgbClr val="000048"/>
                </a:solidFill>
                <a:latin typeface="Arial"/>
              </a:rPr>
              <a:t>01-O2  </a:t>
            </a:r>
            <a:r>
              <a:rPr sz="1300" b="0" i="0">
                <a:solidFill>
                  <a:srgbClr val="1E1E2E"/>
                </a:solidFill>
                <a:latin typeface="Arial"/>
              </a:rPr>
              <a:t>Original: Foundry baseline</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06  </a:t>
            </a:r>
            <a:r>
              <a:rPr sz="1300" b="1" i="0">
                <a:solidFill>
                  <a:srgbClr val="000048"/>
                </a:solidFill>
                <a:latin typeface="Arial"/>
              </a:rPr>
              <a:t>01-O3  </a:t>
            </a:r>
            <a:r>
              <a:rPr sz="1300" b="0" i="0">
                <a:solidFill>
                  <a:srgbClr val="1E1E2E"/>
                </a:solidFill>
                <a:latin typeface="Arial"/>
              </a:rPr>
              <a:t>Original: landing zone networking</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07  </a:t>
            </a:r>
            <a:r>
              <a:rPr sz="1300" b="1" i="0">
                <a:solidFill>
                  <a:srgbClr val="000048"/>
                </a:solidFill>
                <a:latin typeface="Arial"/>
              </a:rPr>
              <a:t>01-O4  </a:t>
            </a:r>
            <a:r>
              <a:rPr sz="1300" b="0" i="0">
                <a:solidFill>
                  <a:srgbClr val="1E1E2E"/>
                </a:solidFill>
                <a:latin typeface="Arial"/>
              </a:rPr>
              <a:t>Original: landing zone egress</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08  </a:t>
            </a:r>
            <a:r>
              <a:rPr sz="1300" b="1" i="0">
                <a:solidFill>
                  <a:srgbClr val="000048"/>
                </a:solidFill>
                <a:latin typeface="Arial"/>
              </a:rPr>
              <a:t>01-O5  </a:t>
            </a:r>
            <a:r>
              <a:rPr sz="1300" b="0" i="0">
                <a:solidFill>
                  <a:srgbClr val="1E1E2E"/>
                </a:solidFill>
                <a:latin typeface="Arial"/>
              </a:rPr>
              <a:t>Original: CAF landing zone conceptual</a:t>
            </a:r>
          </a:p>
        </p:txBody>
      </p:sp>
      <p:sp>
        <p:nvSpPr>
          <p:cNvPr id="12" name="TextBox 11">
            <a:hlinkClick action="ppaction://hlinksldjump" r:id="rId9"/>
          </p:cNvPr>
          <p:cNvSpPr txBox="1"/>
          <p:nvPr/>
        </p:nvSpPr>
        <p:spPr>
          <a:xfrm>
            <a:off x="54864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09  </a:t>
            </a:r>
            <a:r>
              <a:rPr sz="1300" b="1" i="0">
                <a:solidFill>
                  <a:srgbClr val="000048"/>
                </a:solidFill>
                <a:latin typeface="Arial"/>
              </a:rPr>
              <a:t>02-O1  </a:t>
            </a:r>
            <a:r>
              <a:rPr sz="1300" b="0" i="0">
                <a:solidFill>
                  <a:srgbClr val="1E1E2E"/>
                </a:solidFill>
                <a:latin typeface="Arial"/>
              </a:rPr>
              <a:t>Original: multiple-agent workflow</a:t>
            </a:r>
          </a:p>
        </p:txBody>
      </p:sp>
      <p:sp>
        <p:nvSpPr>
          <p:cNvPr id="13" name="TextBox 12">
            <a:hlinkClick action="ppaction://hlinksldjump" r:id="rId10"/>
          </p:cNvPr>
          <p:cNvSpPr txBox="1"/>
          <p:nvPr/>
        </p:nvSpPr>
        <p:spPr>
          <a:xfrm>
            <a:off x="54864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10  </a:t>
            </a:r>
            <a:r>
              <a:rPr sz="1300" b="1" i="0">
                <a:solidFill>
                  <a:srgbClr val="000048"/>
                </a:solidFill>
                <a:latin typeface="Arial"/>
              </a:rPr>
              <a:t>02-O2  </a:t>
            </a:r>
            <a:r>
              <a:rPr sz="1300" b="0" i="0">
                <a:solidFill>
                  <a:srgbClr val="1E1E2E"/>
                </a:solidFill>
                <a:latin typeface="Arial"/>
              </a:rPr>
              <a:t>Original: agentic RAG loop</a:t>
            </a:r>
          </a:p>
        </p:txBody>
      </p:sp>
      <p:sp>
        <p:nvSpPr>
          <p:cNvPr id="14" name="TextBox 13">
            <a:hlinkClick action="ppaction://hlinksldjump" r:id="rId11"/>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11  </a:t>
            </a:r>
            <a:r>
              <a:rPr sz="1300" b="1" i="0">
                <a:solidFill>
                  <a:srgbClr val="000048"/>
                </a:solidFill>
                <a:latin typeface="Arial"/>
              </a:rPr>
              <a:t>02-O3  </a:t>
            </a:r>
            <a:r>
              <a:rPr sz="1300" b="0" i="0">
                <a:solidFill>
                  <a:srgbClr val="1E1E2E"/>
                </a:solidFill>
                <a:latin typeface="Arial"/>
              </a:rPr>
              <a:t>Original: Foundry baseline</a:t>
            </a:r>
          </a:p>
        </p:txBody>
      </p:sp>
      <p:sp>
        <p:nvSpPr>
          <p:cNvPr id="15" name="TextBox 14">
            <a:hlinkClick action="ppaction://hlinksldjump" r:id="rId12"/>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12  </a:t>
            </a:r>
            <a:r>
              <a:rPr sz="1300" b="1" i="0">
                <a:solidFill>
                  <a:srgbClr val="000048"/>
                </a:solidFill>
                <a:latin typeface="Arial"/>
              </a:rPr>
              <a:t>03-O1  </a:t>
            </a:r>
            <a:r>
              <a:rPr sz="1300" b="0" i="0">
                <a:solidFill>
                  <a:srgbClr val="1E1E2E"/>
                </a:solidFill>
                <a:latin typeface="Arial"/>
              </a:rPr>
              <a:t>Original: gateway conceptual</a:t>
            </a:r>
          </a:p>
        </p:txBody>
      </p:sp>
      <p:sp>
        <p:nvSpPr>
          <p:cNvPr id="16" name="TextBox 15">
            <a:hlinkClick action="ppaction://hlinksldjump" r:id="rId13"/>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03-O2  </a:t>
            </a:r>
            <a:r>
              <a:rPr sz="1300" b="0" i="0">
                <a:solidFill>
                  <a:srgbClr val="1E1E2E"/>
                </a:solidFill>
                <a:latin typeface="Arial"/>
              </a:rPr>
              <a:t>Historical: legacy identity diagram</a:t>
            </a:r>
          </a:p>
        </p:txBody>
      </p:sp>
      <p:sp>
        <p:nvSpPr>
          <p:cNvPr id="17" name="TextBox 16">
            <a:hlinkClick action="ppaction://hlinksldjump" r:id="rId14"/>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03-O3  </a:t>
            </a:r>
            <a:r>
              <a:rPr sz="1300" b="0" i="0">
                <a:solidFill>
                  <a:srgbClr val="1E1E2E"/>
                </a:solidFill>
                <a:latin typeface="Arial"/>
              </a:rPr>
              <a:t>Original: single gateway, regional backends</a:t>
            </a:r>
          </a:p>
        </p:txBody>
      </p:sp>
      <p:sp>
        <p:nvSpPr>
          <p:cNvPr id="18" name="TextBox 17">
            <a:hlinkClick action="ppaction://hlinksldjump" r:id="rId15"/>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03-O4  </a:t>
            </a:r>
            <a:r>
              <a:rPr sz="1300" b="0" i="0">
                <a:solidFill>
                  <a:srgbClr val="1E1E2E"/>
                </a:solidFill>
                <a:latin typeface="Arial"/>
              </a:rPr>
              <a:t>Original: multi-region gateway</a:t>
            </a:r>
          </a:p>
        </p:txBody>
      </p:sp>
      <p:sp>
        <p:nvSpPr>
          <p:cNvPr id="19" name="TextBox 18">
            <a:hlinkClick action="ppaction://hlinksldjump" r:id="rId16"/>
          </p:cNvPr>
          <p:cNvSpPr txBox="1"/>
          <p:nvPr/>
        </p:nvSpPr>
        <p:spPr>
          <a:xfrm>
            <a:off x="621792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05-O1  </a:t>
            </a:r>
            <a:r>
              <a:rPr sz="1300" b="0" i="0">
                <a:solidFill>
                  <a:srgbClr val="1E1E2E"/>
                </a:solidFill>
                <a:latin typeface="Arial"/>
              </a:rPr>
              <a:t>Original: Foundry baseline network 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AI landing zone with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01-O1</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pic>
        <p:nvPicPr>
          <p:cNvPr id="9" name="Original reference image: 04_AI-Landing-Zone-with-platform.png" descr="04_AI-Landing-Zone-with-platform.png"/>
          <p:cNvPicPr>
            <a:picLocks noChangeAspect="1"/>
          </p:cNvPicPr>
          <p:nvPr/>
        </p:nvPicPr>
        <p:blipFill>
          <a:blip r:embed="rId4"/>
          <a:stretch>
            <a:fillRect/>
          </a:stretch>
        </p:blipFill>
        <p:spPr>
          <a:xfrm>
            <a:off x="2384212" y="1280160"/>
            <a:ext cx="7420526"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04_AI-Landing-Zone-with-platform.png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Source labels use the earlier "AI Foundry" naming; the simplified executive view uses current Foundry names.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Microsoft Foundry baseline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01-O2</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07_baseline-microsoft-foundry.png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Source shows "Azure OpenAI model"; adapted view (A8) uses Foundry model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networking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01-O3</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pic>
        <p:nvPicPr>
          <p:cNvPr id="9" name="Original reference image: 11_baseline-landing-zone-networking.png" descr="11_baseline-landing-zone-networking.png"/>
          <p:cNvPicPr>
            <a:picLocks noChangeAspect="1"/>
          </p:cNvPicPr>
          <p:nvPr/>
        </p:nvPicPr>
        <p:blipFill>
          <a:blip r:embed="rId4"/>
          <a:stretch>
            <a:fillRect/>
          </a:stretch>
        </p:blipFill>
        <p:spPr>
          <a:xfrm>
            <a:off x="3622063" y="1280160"/>
            <a:ext cx="494482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11_baseline-landing-zone-networking.png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The source PNG clips some labels in its own render; the editable reconstruction is appendix A5.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egress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01-O4</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pic>
        <p:nvPicPr>
          <p:cNvPr id="9" name="Original reference image: 12_baseline-landing-zone-networking-egress.png" descr="12_baseline-landing-zone-networking-egress.png"/>
          <p:cNvPicPr>
            <a:picLocks noChangeAspect="1"/>
          </p:cNvPicPr>
          <p:nvPr/>
        </p:nvPicPr>
        <p:blipFill>
          <a:blip r:embed="rId4"/>
          <a:stretch>
            <a:fillRect/>
          </a:stretch>
        </p:blipFill>
        <p:spPr>
          <a:xfrm>
            <a:off x="3819963" y="1280160"/>
            <a:ext cx="4549025"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12_baseline-landing-zone-networking-egress.png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The source PNG clips some labels in its own render; the editable reconstruction is appendix A6.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Azure landing zone conceptual 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01-O5</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pic>
        <p:nvPicPr>
          <p:cNvPr id="9" name="Original reference image: 35_azure-landing-zone-conceptual-architecture.png" descr="35_azure-landing-zone-conceptual-architecture.png"/>
          <p:cNvPicPr>
            <a:picLocks noChangeAspect="1"/>
          </p:cNvPicPr>
          <p:nvPr/>
        </p:nvPicPr>
        <p:blipFill>
          <a:blip r:embed="rId4"/>
          <a:stretch>
            <a:fillRect/>
          </a:stretch>
        </p:blipFill>
        <p:spPr>
          <a:xfrm>
            <a:off x="2363814" y="1280160"/>
            <a:ext cx="746132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35_azure-landing-zone-conceptual-architecture.png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Microsoft CAF conceptual view showing Foundry added to workload landing zones that need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multiple-agent workflow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02-O1</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pic>
        <p:nvPicPr>
          <p:cNvPr id="9" name="Original reference image: 15_multiple-agent-workflow-automation.png" descr="15_multiple-agent-workflow-automation.png"/>
          <p:cNvPicPr>
            <a:picLocks noChangeAspect="1"/>
          </p:cNvPicPr>
          <p:nvPr/>
        </p:nvPicPr>
        <p:blipFill>
          <a:blip r:embed="rId4"/>
          <a:stretch>
            <a:fillRect/>
          </a:stretch>
        </p:blipFill>
        <p:spPr>
          <a:xfrm>
            <a:off x="3160776" y="1280160"/>
            <a:ext cx="5867400"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15_multiple-agent-workflow-automation.png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Source labels the model GPT-4.1, which retires 2027-04-14; adapted view (A11) uses a generic model 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agentic RAG loop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02-O2</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pic>
        <p:nvPicPr>
          <p:cNvPr id="9" name="Original reference image: 14_agentic-rag.png" descr="14_agentic-rag.png"/>
          <p:cNvPicPr>
            <a:picLocks noChangeAspect="1"/>
          </p:cNvPicPr>
          <p:nvPr/>
        </p:nvPicPr>
        <p:blipFill>
          <a:blip r:embed="rId4"/>
          <a:stretch>
            <a:fillRect/>
          </a:stretch>
        </p:blipFill>
        <p:spPr>
          <a:xfrm>
            <a:off x="548640" y="1280160"/>
            <a:ext cx="11091672" cy="2852144"/>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14_agentic-rag.png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Reasoning loop only; it does not show an implemented kill switch.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monitoring scope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02-O3</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11</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07_baseline-microsoft-foundry.png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Use to map agent registrations, runtime, search, storage and network to monitored assets.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gateway conceptual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03-O1</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pic>
        <p:nvPicPr>
          <p:cNvPr id="9" name="Original reference image: 38_foundry-gateway-conceptual-architecture.png" descr="38_foundry-gateway-conceptual-architecture.png"/>
          <p:cNvPicPr>
            <a:picLocks noChangeAspect="1"/>
          </p:cNvPicPr>
          <p:nvPr/>
        </p:nvPicPr>
        <p:blipFill>
          <a:blip r:embed="rId4"/>
          <a:stretch>
            <a:fillRect/>
          </a:stretch>
        </p:blipFill>
        <p:spPr>
          <a:xfrm>
            <a:off x="2351273" y="1280160"/>
            <a:ext cx="748640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38_foundry-gateway-conceptual-architecture.png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Conceptual functions; queuing and compute may need services beyond one API Management tier.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Historical reference: legacy identity diagram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03-O2</a:t>
            </a:r>
          </a:p>
        </p:txBody>
      </p:sp>
      <p:sp>
        <p:nvSpPr>
          <p:cNvPr id="5" name="Status chip: HISTORICAL, LEGACY LABELS"/>
          <p:cNvSpPr/>
          <p:nvPr/>
        </p:nvSpPr>
        <p:spPr>
          <a:xfrm>
            <a:off x="2192020" y="274320"/>
            <a:ext cx="243332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HISTORICAL, LEGACY LABELS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pic>
        <p:nvPicPr>
          <p:cNvPr id="9" name="Original reference image: 44_azure-openai-gateway-identity-solution-combined.png" descr="44_azure-openai-gateway-identity-solution-combined.png"/>
          <p:cNvPicPr>
            <a:picLocks noChangeAspect="1"/>
          </p:cNvPicPr>
          <p:nvPr/>
        </p:nvPicPr>
        <p:blipFill>
          <a:blip r:embed="rId4"/>
          <a:stretch>
            <a:fillRect/>
          </a:stretch>
        </p:blipFill>
        <p:spPr>
          <a:xfrm>
            <a:off x="2709582" y="1280160"/>
            <a:ext cx="6769787"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44_azure-openai-gateway-identity-solution-combined.png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8A4B08"/>
                </a:solidFill>
                <a:latin typeface="Arial"/>
              </a:rPr>
              <a:t>HISTORICAL: legacy gpt-35-turbo and Azure OpenAI labels. Do not use in proposals; use appendix A3.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one gateway, regional backends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03-O3</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pic>
        <p:nvPicPr>
          <p:cNvPr id="9" name="Original reference image: 20_multiple-regions-api-management-single-after.png" descr="20_multiple-regions-api-management-single-after.png"/>
          <p:cNvPicPr>
            <a:picLocks noChangeAspect="1"/>
          </p:cNvPicPr>
          <p:nvPr/>
        </p:nvPicPr>
        <p:blipFill>
          <a:blip r:embed="rId4"/>
          <a:stretch>
            <a:fillRect/>
          </a:stretch>
        </p:blipFill>
        <p:spPr>
          <a:xfrm>
            <a:off x="891855" y="1280160"/>
            <a:ext cx="1040524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20_multiple-regions-api-management-single-after.png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Source labels "rt-foundry-westus" appear to mean resource group; backend failover keeps one gateway failure domain.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multi-region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03-O4</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pic>
        <p:nvPicPr>
          <p:cNvPr id="9" name="Original reference image: 21_multiple-regions-api-management-multiple-after.png" descr="21_multiple-regions-api-management-multiple-after.png"/>
          <p:cNvPicPr>
            <a:picLocks noChangeAspect="1"/>
          </p:cNvPicPr>
          <p:nvPr/>
        </p:nvPicPr>
        <p:blipFill>
          <a:blip r:embed="rId4"/>
          <a:stretch>
            <a:fillRect/>
          </a:stretch>
        </p:blipFill>
        <p:spPr>
          <a:xfrm>
            <a:off x="1448734" y="1280160"/>
            <a:ext cx="929148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21_multiple-regions-api-management-multiple-after.png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Built-in multi-region API Management needs Premium (classic).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network flows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460500" cy="256032"/>
          </a:xfrm>
          <a:prstGeom prst="rect">
            <a:avLst/>
          </a:prstGeom>
          <a:noFill/>
        </p:spPr>
        <p:txBody>
          <a:bodyPr wrap="square" lIns="0" rIns="0" tIns="0" bIns="0" anchor="t">
            <a:noAutofit/>
          </a:bodyPr>
          <a:lstStyle/>
          <a:p>
            <a:pPr algn="l"/>
            <a:r>
              <a:rPr sz="1100" b="1" i="0">
                <a:solidFill>
                  <a:srgbClr val="2F78C4"/>
                </a:solidFill>
                <a:latin typeface="Arial"/>
              </a:rPr>
              <a:t>APPENDIX 05-O1</a:t>
            </a:r>
          </a:p>
        </p:txBody>
      </p:sp>
      <p:sp>
        <p:nvSpPr>
          <p:cNvPr id="5" name="Status chip: ORIGINAL REFERENCE, UNCHANGED"/>
          <p:cNvSpPr/>
          <p:nvPr/>
        </p:nvSpPr>
        <p:spPr>
          <a:xfrm>
            <a:off x="219202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Original reference diagrams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pic>
        <p:nvPicPr>
          <p:cNvPr id="9" name="Original reference image: 08_baseline-microsoft-foundry-network-flow.png" descr="08_baseline-microsoft-foundry-network-flow.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200" b="1" i="0">
                <a:solidFill>
                  <a:srgbClr val="53565A"/>
                </a:solidFill>
                <a:latin typeface="Arial"/>
              </a:rPr>
              <a:t>Source: </a:t>
            </a:r>
            <a:r>
              <a:rPr sz="1200" b="0" i="0">
                <a:solidFill>
                  <a:srgbClr val="2F78C4"/>
                </a:solidFill>
                <a:latin typeface="Arial"/>
                <a:hlinkClick r:id="rId5"/>
              </a:rPr>
              <a:t>08_baseline-microsoft-foundry-network-flow.png in the GTM repository</a:t>
            </a:r>
            <a:r>
              <a:rPr sz="1200" b="1" i="0">
                <a:solidFill>
                  <a:srgbClr val="53565A"/>
                </a:solidFill>
                <a:latin typeface="Arial"/>
              </a:rPr>
              <a:t>  ·  Microsoft page: </a:t>
            </a:r>
            <a:r>
              <a:rPr sz="12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200" b="0" i="0">
                <a:solidFill>
                  <a:srgbClr val="53565A"/>
                </a:solidFill>
                <a:latin typeface="Arial"/>
              </a:rPr>
              <a:t>Use to derive the monitored dependency map (A3). Source labels the model "Azure OpenAI model".</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Original Microsoft reference diagrams v4.0</dc:title>
  <dcterms:created xsi:type="dcterms:W3CDTF">2026-10-10T13:56:28.3080000Z</dcterms:created>
  <dcterms:modified xsi:type="dcterms:W3CDTF">2026-10-10T13:56:28.3090000Z</dcterms:modified>
  <dc:subject>Proposed CIS Infra GTM offering for internal leadership review</dc:subject>
</coreProperties>
</file>