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Services, USD thousands</c:v>
                </c:pt>
              </c:strCache>
            </c:strRef>
          </c:tx>
          <c:spPr>
            <a:solidFill>
              <a:srgbClr val="7373D8"/>
            </a:solidFill>
          </c:spPr>
          <c:cat>
            <c:strRef>
              <c:f>Sheet1!$A$2:$A$6</c:f>
              <c:strCache>
                <c:ptCount val="5"/>
                <c:pt idx="0">
                  <c:v>05 Onboarding + 6 months</c:v>
                </c:pt>
                <c:pt idx="1">
                  <c:v>02 Configure and pilot</c:v>
                </c:pt>
                <c:pt idx="2">
                  <c:v>03 Gateway build</c:v>
                </c:pt>
                <c:pt idx="3">
                  <c:v>01 Platform build</c:v>
                </c:pt>
                <c:pt idx="4">
                  <c:v>04 Assessment</c:v>
                </c:pt>
              </c:strCache>
            </c:strRef>
          </c:cat>
          <c:val>
            <c:numRef>
              <c:f>Sheet1!$B$2:$B$6</c:f>
              <c:numCache>
                <c:formatCode>General</c:formatCode>
                <c:ptCount val="5"/>
                <c:pt idx="0">
                  <c:v>300</c:v>
                </c:pt>
                <c:pt idx="1">
                  <c:v>67</c:v>
                </c:pt>
                <c:pt idx="2">
                  <c:v>70</c:v>
                </c:pt>
                <c:pt idx="3">
                  <c:v>180</c:v>
                </c:pt>
                <c:pt idx="4">
                  <c:v>30</c:v>
                </c:pt>
              </c:numCache>
            </c:numRef>
          </c:val>
        </c:ser>
        <c:dLbls>
          <c:numFmt formatCode="$#,##0&quot;k&quot;" sourceLinked="0"/>
          <c:txPr>
            <a:bodyPr/>
            <a:lstStyle/>
            <a:p>
              <a:pPr>
                <a:defRPr sz="13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3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quot;k&quot;" sourceLinked="0"/>
        <c:majorTickMark val="out"/>
        <c:minorTickMark val="none"/>
        <c:tickLblPos val="nextTo"/>
        <c:spPr>
          <a:ln>
            <a:noFill/>
          </a:ln>
        </c:spPr>
        <c:txPr>
          <a:bodyPr/>
          <a:lstStyle/>
          <a:p>
            <a:pPr>
              <a:defRPr sz="1300"/>
            </a:pPr>
          </a:p>
        </c:txPr>
        <c:crossAx val="-2068027336"/>
        <c:crosses val="autoZero"/>
      </c:valAx>
    </c:plotArea>
    <c:dispBlanksAs val="gap"/>
  </c:chart>
  <c:txPr>
    <a:bodyPr/>
    <a:lstStyle/>
    <a:p>
      <a:pPr>
        <a:defRPr sz="14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have prepared five complete offerings for the Azure AI platform. Today we ask leadership to choose which ones to test for 90 days, and we give our own recommendation. Everything else in this deck supports that choice.</a:t>
            </a:r>
          </a:p>
          <a:p/>
          <a:p>
            <a:r>
              <a:t>Likely question: Is anything approved yet?</a:t>
            </a:r>
          </a:p>
          <a:p>
            <a:r>
              <a:t>Answer: No. This is a proposal. Rates, budgets and sponsors are inputs we need from leadership and Finance.</a:t>
            </a:r>
          </a:p>
          <a:p/>
          <a:p>
            <a:r>
              <a:t>DETAIL AND CAVEATS</a:t>
            </a:r>
          </a:p>
          <a:p>
            <a:r>
              <a:t>Opening slide of the master deck. Version 4.0 adds a concrete ask per offering, an author recommendation, a horizons view, the business case structure, internal positioning, governance and sign-off status.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answer first: we have five defined offerings and we ask you to choose which to test for 90 days. Our recommendation, on slide 4, is to start with the FinOps assessment and the AI gateway, because they are fastest to revenue and cheapest to prove. But the choice is yours.</a:t>
            </a:r>
          </a:p>
          <a:p/>
          <a:p>
            <a:r>
              <a:t>Likely question: Why not launch all five now?</a:t>
            </a:r>
          </a:p>
          <a:p>
            <a:r>
              <a:t>Answer: You can. The 90-day test with stop rules limits the risk whichever you choose.</a:t>
            </a:r>
          </a:p>
          <a:p/>
          <a:p>
            <a:r>
              <a:t>DETAIL AND CAVEATS</a:t>
            </a:r>
          </a:p>
          <a:p>
            <a:r>
              <a:t>Answer-first summary. The decision table is on the last executive slide.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changed in 2026: Microsoft shipped agent control planes, models now retire inside commitment terms, and AI and resilience rules have fixed dates. Each creates a reason to buy.</a:t>
            </a:r>
          </a:p>
          <a:p/>
          <a:p>
            <a:r>
              <a:t>Likely question: Where is the demand evidence?</a:t>
            </a:r>
          </a:p>
          <a:p>
            <a:r>
              <a:t>Answer: We do not claim pipeline. The 90-day test asks account teams for qualified candidates per offering.</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Models retirement schedule: https://learn.microsoft.com/en-us/azure/foundry/openai/concepts/model-retirement-schedule</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Each offering serves a different goal: fast start, large deals, broad demand, differentiation or recurring revenue. If we had to choose, we would start with the FinOps assessment and the gateway, because they earn soonest with the least internal build effort, and they pull through the landing zone and managed operations. Leadership decides.</a:t>
            </a:r>
          </a:p>
          <a:p/>
          <a:p>
            <a:r>
              <a:t>Likely question: Why not lead with agent governance? It is the most exciting.</a:t>
            </a:r>
          </a:p>
          <a:p>
            <a:r>
              <a:t>Answer: It is, but its kill switch is unproven. We would fund its proof of concept in parallel and sell it once the evidence exists.</a:t>
            </a:r>
          </a:p>
          <a:p/>
          <a:p>
            <a:r>
              <a:t>DETAIL AND CAVEATS</a:t>
            </a:r>
          </a:p>
          <a:p>
            <a:r>
              <a:t>Side-by-side comparison so leadership can choose. First-sale fee bands use the illustrative $1,000 per role day, not a Cognizant rate. The author recommendation is a view, not a decision: leadership decides. Reasoning: 04 and 03 have the shortest time to first revenue, need the lowest internal build effort in role days (appendix A9); 03 depends on a landing zone, so pair it with a 01 assessment where none exists, and both create demand for 01 and 05. 02 is the most differentiated but should wait for its kill-switch proof of concept.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Think of the portfolio in three horizons. Earn now with the assessment and the gateway. Build the base with the landing zone and managed operations, which carry the recurring revenue. And prove the bet: agent governance, which could be our strongest differentiator once its kill switch is tested.</a:t>
            </a:r>
          </a:p>
          <a:p/>
          <a:p>
            <a:r>
              <a:t>Likely question: Can 02 move to horizon 1?</a:t>
            </a:r>
          </a:p>
          <a:p>
            <a:r>
              <a:t>Answer: Yes, if the proof of concept passes early and an account is ready.</a:t>
            </a:r>
          </a:p>
          <a:p/>
          <a:p>
            <a:r>
              <a:t>DETAIL AND CAVEATS</a:t>
            </a:r>
          </a:p>
          <a:p>
            <a:r>
              <a:t>Horizons view (L6). Horizon 1: offerings that can earn this financial year with little investment (04 assessment, 03 gateway). Horizon 2: offerings that build the platform and the recurring base (01 landing zone, 05 managed operations). Horizon 3: the emerging bet that depends on proof (02 agent governance and kill switch). Timing is indicative and depends on leadership choice.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settles internal ownership. Microsoft 365 Copilot belongs to our M365 and D365 teams. We own the Azure side: Foundry, the landing zone, the gateway, the tool registry, FinOps and operations. Copilot Studio and Agent 365 sit in the middle under joint rules, and Security owns their policies.</a:t>
            </a:r>
          </a:p>
          <a:p/>
          <a:p>
            <a:r>
              <a:t>Likely question: Who leads a deal that has both?</a:t>
            </a:r>
          </a:p>
          <a:p>
            <a:r>
              <a:t>Answer: Proposal: the team with the larger first work package leads, and the other is credited its packages. Practice leads decide.</a:t>
            </a:r>
          </a:p>
          <a:p/>
          <a:p>
            <a:r>
              <a:t>DETAIL AND CAVEATS</a:t>
            </a:r>
          </a:p>
          <a:p>
            <a:r>
              <a:t>Ownership map. Microsoft 365 Copilot is owned by the Cognizant M365 and D365 teams, not CIS Infra. The split between them (for example Copilot in Microsoft 365 apps for the M365 team and Copilot in Dynamics 365 for the D365 team) and who leads a joint deal are open decisions in the register. Copilot Studio administration stays with the customer Power Platform team; CIS Infra covers Copilot Studio agents as a runtime in the catalogue, gateway and containment. Security owns policy for Agent 365, Entra, Purview and Defender; CIS Infra implements. API Center is built by CIS Infra in offering 03.</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one customer bought everything, year-one services would be about 647 thousand dollars at our illustrative rate, and managed operations would carry about 540 thousand a year after that. To size the whole portfolio we need two inputs from account leadership: how many target accounts and what attach rate. The formula is ready in the appendix.</a:t>
            </a:r>
          </a:p>
          <a:p/>
          <a:p>
            <a:r>
              <a:t>Likely question: What is the margin?</a:t>
            </a:r>
          </a:p>
          <a:p>
            <a:r>
              <a:t>Answer: The structure is in appendix A10. The numbers need Finance rates and the delivery mix, which are inputs we are asking for.</a:t>
            </a:r>
          </a:p>
          <a:p/>
          <a:p>
            <a:r>
              <a:t>DETAIL AND CAVEATS</a:t>
            </a:r>
          </a:p>
          <a:p>
            <a:r>
              <a:t>HYPOTHETICAL deal for one customer buying all five, from mid-points of each deck: 04 assessment 30 role days; 01 Establish 180; 03 single-region build 70; 02 configure 45 plus a customer stop-path pilot 22 (after the internal PoC passes, reusing its assets); 05 onboarding 30 plus Foundation at 45 role days a month for 6 months (270). Total 647 role days = $647k at the illustrative $1,000 per role day. Year two recurring at Foundation mid-point: 45 x 12 = 540 role days, about $540k. Portfolio size needs target accounts and attach rates from account leadership (appendix A8); investment and margin structure in A9 and A10. Customer Azure, model and licence spend goes to Microsoft and is not CIS Infra revenue.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Large partners lead with industry outcomes and Copilot rollouts. Our right to win is narrower: the infrastructure underneath agents, built on Microsoft accelerators, with a tested stop and a clear run model. None of this is proven yet, so each claim has the evidence we need next to it.</a:t>
            </a:r>
          </a:p>
          <a:p/>
          <a:p>
            <a:r>
              <a:t>Likely question: Are we better than Accenture and Avanade?</a:t>
            </a:r>
          </a:p>
          <a:p>
            <a:r>
              <a:t>Answer: We do not claim that. We claim specific, testable things, and we will only use them once the evidence exists.</a:t>
            </a:r>
          </a:p>
          <a:p/>
          <a:p>
            <a:r>
              <a:t>DETAIL AND CAVEATS</a:t>
            </a:r>
          </a:p>
          <a:p>
            <a:r>
              <a:t>Why us, why now, why CIS Infra (SD2) and right to win against the eight-firm benchmark in the GTM proposal V3 (SD3). Each differentiator is a claim to validate; the evidence column says what would prove it. No claim is used externally until the evidence exists. Internal positioning against Cognizant Agent Foundry, Neuro AI and the Microsoft Business Group is in appendix A7.</a:t>
            </a:r>
          </a:p>
          <a:p/>
          <a:p>
            <a:r>
              <a:t>Sources (checked 11 Oct 2026):</a:t>
            </a:r>
          </a:p>
          <a:p>
            <a:r>
              <a:t>CIS Infra Azure AI Platform GTM Proposal V3 (competitor benchmark and Cognizant sources C1 to C9, reviewed 7 Oct 2026): https://github.com/upendra25312/AI-Foundry-GTM-offering-/blob/main/CIS_Infra_Azure_AI_Platform_GTM_Proposal_V3.docx</a:t>
            </a:r>
          </a:p>
          <a:p>
            <a:r>
              <a:t>Azure AI Landing Zones (GitHub): https://github.com/Azure/AI-Landing-Zones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Microsoft cares about consumption. Every offering here moves AI workloads into production, which grows Azure use; even the FinOps assessment helps customers buy more confidently. For us, services co-sell needs a designation or specialization, and the AI Platform on Azure specialization is the obvious one to confirm. Our alliance team will co-author this slide; it has not reviewed it yet.</a:t>
            </a:r>
          </a:p>
          <a:p/>
          <a:p>
            <a:r>
              <a:t>Likely question: Will Microsoft fund our assessments?</a:t>
            </a:r>
          </a:p>
          <a:p>
            <a:r>
              <a:t>Answer: Sometimes, through Azure Accelerate, per customer. Where funding exists we use it for discovery and charge for the deeper assessment.</a:t>
            </a:r>
          </a:p>
          <a:p/>
          <a:p>
            <a:r>
              <a:t>DETAIL AND CAVEATS</a:t>
            </a:r>
          </a:p>
          <a:p>
            <a:r>
              <a:t>Consumption narrative (B6): governed platforms unblock production workloads, which grows Azure consumption; deck 04 still gives honest FinOps advice on how to buy that consumption well. Services co-sell (Microsoft Learn): partners need a Solutions partner designation, a specialization or Azure Expert MSP; a Marketplace consulting offer is optional. Relevant specializations (Microsoft Learn, updated 29 Sep 2026): AI Platform on Microsoft Azure, AI Apps on Microsoft Azure, and Frontier Partner. Azure Accelerate offers funding support and expert guidance; eligibility is per customer and confirmed by the alliance team. Paid versus funded assessments: use Microsoft funding where eligible for discovery, and charge for the deeper Cognizant assessment and decision memo. Alliance team to co-author; not yet reviewed (A12).</a:t>
            </a:r>
          </a:p>
          <a:p/>
          <a:p>
            <a:r>
              <a:t>Sources (checked 11 Oct 2026):</a:t>
            </a:r>
          </a:p>
          <a:p>
            <a:r>
              <a:t>Services co-sell (Microsoft Learn, Partner Center): https://learn.microsoft.com/partner-center/services-co-sell</a:t>
            </a:r>
          </a:p>
          <a:p>
            <a:r>
              <a:t>Specializations (Microsoft Learn, Partner Center, updated 29 Sep 2026): https://learn.microsoft.com/en-us/partner-center/membership/specializations-apply</a:t>
            </a:r>
          </a:p>
          <a:p>
            <a:r>
              <a:t>What's new for partners, Jan 2026 (Microsoft Partner blog): https://partner.microsoft.com/blog/article/whats-new-for-partners-jan-2026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Here is the concrete ask. For each offering you choose, we need a 90-day budget, a sponsor and owner, and a headcount; those are yours to set. We propose the stop rule and the success measure for each, so everyone knows what failure and success look like on day 90.</a:t>
            </a:r>
          </a:p>
          <a:p/>
          <a:p>
            <a:r>
              <a:t>Likely question: What if we choose all five?</a:t>
            </a:r>
          </a:p>
          <a:p>
            <a:r>
              <a:t>Answer: Then all five rows apply. Our recommendation is to fund 04 and 03 fully and the 02 proof of concept, and keep 01 and 05 ready for the first pull-through.</a:t>
            </a:r>
          </a:p>
          <a:p/>
          <a:p>
            <a:r>
              <a:t>DETAIL AND CAVEATS</a:t>
            </a:r>
          </a:p>
          <a:p>
            <a:r>
              <a:t>Concrete ask per offering (L1). Budget, sponsor and owner, and headcount are inputs required from CIS Infra leadership, Finance and the delivery lead; no amount or name is assumed. Stop rules and success measures are proposals for leadership to accept or change. Validation runs 90 days with a checkpoint at day 30. Full register in appendix D1 and the inputs-required register.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Likely question: Do we need to go through the appendix?</a:t>
            </a:r>
          </a:p>
          <a:p>
            <a:r>
              <a:t>Answer: No. Use it to answer questions; the executive section stands on its own.</a:t>
            </a:r>
          </a:p>
          <a:p/>
          <a:p>
            <a:r>
              <a:t>DETAIL AND CAVEATS</a:t>
            </a:r>
          </a:p>
          <a:p>
            <a:r>
              <a:t>Appendix divider. Use the index to navigate.</a:t>
            </a:r>
          </a:p>
          <a:p/>
          <a:p>
            <a:r>
              <a:t>Sources: see appendix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Sellers can use this as the one-page menu: who buys each offering, what triggers it, the first package and the value the customer sees.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One line per offering, from decks 01 to 05. Effort ranges are planning estimates. Value metric is the customer outcome each offering reports 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removes overlap. The kill switch is built in 02 and operated in 05. Chargeback data comes from the gateway in 03, and the cost model is designed in 04. Monthly reviews are run by 05 using the method from 04.</a:t>
            </a:r>
          </a:p>
          <a:p/>
          <a:p>
            <a:r>
              <a:t>Likely question: Who owns Copilot Studio agents?</a:t>
            </a:r>
          </a:p>
          <a:p>
            <a:r>
              <a:t>Answer: Governance in 02, gateway connectors in 03, operations in 05; Power Platform keeps administration.</a:t>
            </a:r>
          </a:p>
          <a:p/>
          <a:p>
            <a:r>
              <a:t>DETAIL AND CAVEATS</a:t>
            </a:r>
          </a:p>
          <a:p>
            <a:r>
              <a:t>MECE ownership matrix (L5). Where two offerings touch a capability, the split is explicit: one builds or designs, the other operates or supplies inputs.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Customers should see one Cognizant team. One named lead per deal, clear handoffs, credit by priced work package, and in accounts we already run, we extend the existing contract rather than compete with it.</a:t>
            </a:r>
          </a:p>
          <a:p/>
          <a:p>
            <a:r>
              <a:t>Likely question: Who decides the lead?</a:t>
            </a:r>
          </a:p>
          <a:p>
            <a:r>
              <a:t>Answer: Proposal: the team with the largest first work package, confirmed by the account leader.</a:t>
            </a:r>
          </a:p>
          <a:p/>
          <a:p>
            <a:r>
              <a:t>DETAIL AND CAVEATS</a:t>
            </a:r>
          </a:p>
          <a:p>
            <a:r>
              <a:t>Proposed rules for deals that include Microsoft 365 Copilot or Copilot in Dynamics 365 alongside CIS Infra offerings, plus the cannibalisation check for accounts where Cognizant already runs infrastructure or managed services. To be agreed by practice leads; revenue credit follows priced work packages (C1 cost layers in each deck).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portfolio risks are mostly internal: tower commitments, overlap with our M365 and D365 colleagues, rates and fast-moving Microsoft features. The 90-day test is designed to close them.</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Portfolio-level risks. Offering-level risks are in each deck.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prepare, not to attack. Each firm has a public message; the lesson column tells us what to show in our own pitch.</a:t>
            </a:r>
          </a:p>
          <a:p/>
          <a:p>
            <a:r>
              <a:t>Likely question: Can we name competitors to customers?</a:t>
            </a:r>
          </a:p>
          <a:p>
            <a:r>
              <a:t>Answer: No. This is internal.</a:t>
            </a:r>
          </a:p>
          <a:p/>
          <a:p>
            <a:r>
              <a:t>DETAIL AND CAVEATS</a:t>
            </a:r>
          </a:p>
          <a:p>
            <a:r>
              <a:t>Firms and packaging lessons from the GTM proposal V3 public benchmark (sources B1 to B8, reviewed 7 Oct 2026). Public positioning is not proof of delivery quality, scope or price. Do not infer absence from silence. Internal only: do not share with any firm named here.</a:t>
            </a:r>
          </a:p>
          <a:p/>
          <a:p>
            <a:r>
              <a:t>Sources (checked 11 Oct 2026):</a:t>
            </a:r>
          </a:p>
          <a:p>
            <a:r>
              <a:t>CIS Infra Azure AI Platform GTM Proposal V3 (competitor benchmark and Cognizant sources C1 to C9, reviewed 7 Oct 2026): https://github.com/upendra25312/AI-Foundry-GTM-offering-/blob/main/CIS_Infra_Azure_AI_Platform_GTM_Proposal_V3.docx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Senior directors will ask why CIS Infra needs its own portfolio. The answer: the other Cognizant offerings lead on agents, AI engineering and Microsoft business apps; we supply the Azure infrastructure, gateway, governance plumbing and operations underneath them. Every boundary here needs confirming with its owner.</a:t>
            </a:r>
          </a:p>
          <a:p/>
          <a:p>
            <a:r>
              <a:t>Likely question: Will this compete with Agent Foundry?</a:t>
            </a:r>
          </a:p>
          <a:p>
            <a:r>
              <a:t>Answer: It should not. Agent Foundry builds agents; our offerings host, govern and run them on Azure. We will confirm the split with its owner.</a:t>
            </a:r>
          </a:p>
          <a:p/>
          <a:p>
            <a:r>
              <a:t>DETAIL AND CAVEATS</a:t>
            </a:r>
          </a:p>
          <a:p>
            <a:r>
              <a:t>Internal positioning against Cognizant offerings listed in the GTM proposal V3 (sources C1 to C8: Agent Foundry, Microsoft Copilot services, enterprise agentic AI and multi-agent services, Neuro AI Engineering, Enterprise Core and Decisioning, Microsoft Business Group and AI Operations Assistant). Descriptions are short summaries of public positioning; each owner and boundary must be confirmed with the offering owner before use.</a:t>
            </a:r>
          </a:p>
          <a:p/>
          <a:p>
            <a:r>
              <a:t>Sources (checked 11 Oct 2026):</a:t>
            </a:r>
          </a:p>
          <a:p>
            <a:r>
              <a:t>CIS Infra Azure AI Platform GTM Proposal V3 (competitor benchmark and Cognizant sources C1 to C9, reviewed 7 Oct 2026): https://github.com/upendra25312/AI-Foundry-GTM-offering-/blob/main/CIS_Infra_Azure_AI_Platform_GTM_Proposal_V3.docx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formula is simple: accounts times attach rate times deal size. We have filled in the deal size from each deck. The two numbers only account leadership can give us are how many target accounts and what share will buy.</a:t>
            </a:r>
          </a:p>
          <a:p/>
          <a:p>
            <a:r>
              <a:t>Likely question: Can we use an analyst market size?</a:t>
            </a:r>
          </a:p>
          <a:p>
            <a:r>
              <a:t>Answer: We could add one for context, but the account-based estimate is the one leadership can hold us to.</a:t>
            </a:r>
          </a:p>
          <a:p/>
          <a:p>
            <a:r>
              <a:t>DETAIL AND CAVEATS</a:t>
            </a:r>
          </a:p>
          <a:p>
            <a:r>
              <a:t>Opportunity sizing per offering (B1). Year 1 = target accounts x attach rate x average deal size; Year 3 adds the recurring managed-service run rate. Average deal size uses mid-points from each deck at the illustrative $1,000 per role day. Target accounts and attach rates are inputs required from account leadership; no market figure is assumed.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Before the first sale we need some assets: a lab, accelerators, a cost model, a tested kill switch and runbooks. The effort estimates are ours; the cash items are inputs we need. Payback is the investment divided by the margin per deal, which Finance can complete once rates are set.</a:t>
            </a:r>
          </a:p>
          <a:p/>
          <a:p>
            <a:r>
              <a:t>Likely question: Which is cheapest to prove?</a:t>
            </a:r>
          </a:p>
          <a:p>
            <a:r>
              <a:t>Answer: The FinOps assessment and the gateway, which is why we recommend them first.</a:t>
            </a:r>
          </a:p>
          <a:p/>
          <a:p>
            <a:r>
              <a:t>DETAIL AND CAVEATS</a:t>
            </a:r>
          </a:p>
          <a:p>
            <a:r>
              <a:t>Investment case (B2). Build effort is our planning estimate in role days for internal assets, converted at the illustrative $1,000 per role day; cash items (lab Azure spend, certification fees, enablement time) are inputs required. Payback in deals = total investment divided by margin per deal; margin per deal needs Finance rates (A10).</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Margin depends on where the work is done. Workshops and customer-facing design stay onshore; build and run can largely be nearshore or offshore. Finance owns the rates and recognition; we show the structure so they can complete it.</a:t>
            </a:r>
          </a:p>
          <a:p/>
          <a:p>
            <a:r>
              <a:t>Likely question: What margin do we expect?</a:t>
            </a:r>
          </a:p>
          <a:p>
            <a:r>
              <a:t>Answer: We will not guess. Finance sets it once the mix and rates are in.</a:t>
            </a:r>
          </a:p>
          <a:p/>
          <a:p>
            <a:r>
              <a:t>DETAIL AND CAVEATS</a:t>
            </a:r>
          </a:p>
          <a:p>
            <a:r>
              <a:t>Margin structure with delivery mix (B3) and revenue recognition (B5). Margin = price - (onshore days x onshore cost + nearshore days x nearshore cost + offshore days x offshore cost) - contingency - tools. Delivery mix per offering is an input required from the delivery lead; costs and rates come from Finance. Recognition method per offering is a proposal for Finance to confirm.</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Microsoft sellers engage when we grow consumption in their solution plays. Each offering maps to a play and a consumption outcome. If leadership wants IP co-sell, two assets could become Marketplace offers, but that needs a certified software designation.</a:t>
            </a:r>
          </a:p>
          <a:p/>
          <a:p>
            <a:r>
              <a:t>Likely question: Do we need IP to co-sell?</a:t>
            </a:r>
          </a:p>
          <a:p>
            <a:r>
              <a:t>Answer: No. Services co-sell needs a designation or specialization. IP co-sell is optional and has its own requirement.</a:t>
            </a:r>
          </a:p>
          <a:p/>
          <a:p>
            <a:r>
              <a:t>DETAIL AND CAVEATS</a:t>
            </a:r>
          </a:p>
          <a:p>
            <a:r>
              <a:t>Microsoft sales motion alignment (MS2). Microsoft role names are indicative and change by fiscal year; the alliance team confirms them. FY26 services co-sell solution areas per Microsoft Learn include Cloud and AI Platforms (for example Innovate with Azure AI Apps and Agents) and Security (for example Protect Cloud AI Platform and Apps). Packaged IP route (MS4): if leadership wants IP co-sell, the 04 cost model or the 03 policy library could become a Marketplace offer; Azure IP co-sell needs a certified software designation (from 1 Jan 2026). Decision in D1.</a:t>
            </a:r>
          </a:p>
          <a:p/>
          <a:p>
            <a:r>
              <a:t>Sources (checked 11 Oct 2026):</a:t>
            </a:r>
          </a:p>
          <a:p>
            <a:r>
              <a:t>Services co-sell (Microsoft Learn, Partner Center): https://learn.microsoft.com/partner-center/services-co-sell</a:t>
            </a:r>
          </a:p>
          <a:p>
            <a:r>
              <a:t>What's new for partners, Jan 2026 (Microsoft Partner blog): https://partner.microsoft.com/blog/article/whats-new-for-partners-jan-2026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To be clear about where this stands: no tower, Finance, Security, alliance or practice lead has reviewed it yet. These are the reviews we need, in order, during the validation.</a:t>
            </a:r>
          </a:p>
          <a:p/>
          <a:p>
            <a:r>
              <a:t>Likely question: Why bring it before review?</a:t>
            </a:r>
          </a:p>
          <a:p>
            <a:r>
              <a:t>Answer: To get leadership’s choice first, so reviewers only spend time on the offerings you want.</a:t>
            </a:r>
          </a:p>
          <a:p/>
          <a:p>
            <a:r>
              <a:t>DETAIL AND CAVEATS</a:t>
            </a:r>
          </a:p>
          <a:p>
            <a:r>
              <a:t>Sign-off status (SD4). No review is claimed that has not happened. Planned review dates are inputs required from the offering owner.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Each offering moves through three gates: validate, pilot, launch. A named P&amp;L owner runs a monthly review and comes back to leadership every quarter. If an offering misses its gate, we stop it.</a:t>
            </a:r>
          </a:p>
          <a:p/>
          <a:p>
            <a:r>
              <a:t>Likely question: Who is the P&amp;L owner?</a:t>
            </a:r>
          </a:p>
          <a:p>
            <a:r>
              <a:t>Answer: That is an input we need from leadership.</a:t>
            </a:r>
          </a:p>
          <a:p/>
          <a:p>
            <a:r>
              <a:t>DETAIL AND CAVEATS</a:t>
            </a:r>
          </a:p>
          <a:p>
            <a:r>
              <a:t>Offering governance (SD5). P&amp;L owner is an input required. Gates: validate (90 days), pilot (first paid customers, about 6 months), launch (external marketing and Marketplace). Monthly portfolio review; quarterly gate review with leadership. Stop rules per offering on exec slide 10.</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Customer procurement will send a vendor-risk questionnaire. These are our proposed answers. Where the answer depends on Cognizant certifications, we have left it for the compliance office to complete.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Customer third-party risk answer set (KP4). Positions are proposals; Cognizant certifications are not asserted and are inputs required from the Cognizant security and compliance office. Full question bank in the RFP answer register.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Responsible AI is shared. We can make the platform safe, observable and controllable. Whether a use case is fair or appropriate is decided by the AI tower and the customer. This table keeps that line clear.</a:t>
            </a:r>
          </a:p>
          <a:p/>
          <a:p>
            <a:r>
              <a:t>Likely question: Do we certify that a model is fair?</a:t>
            </a:r>
          </a:p>
          <a:p>
            <a:r>
              <a:t>Answer: No. We provide the platform controls and evidence; fairness of a use case is owned by the AI tower and the customer.</a:t>
            </a:r>
          </a:p>
          <a:p/>
          <a:p>
            <a:r>
              <a:t>DETAIL AND CAVEATS</a:t>
            </a:r>
          </a:p>
          <a:p>
            <a:r>
              <a:t>Responsible AI controls mapping (PW4). Platform-level controls are implemented by CIS Infra under Security policy; model and use-case controls belong to the AI tower and the customer. Principle names follow common responsible AI frameworks; map to the customer framework in delivery.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everything we still need. Each line has an owner, and most are quick for the right person to answer.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Summary of the inputs-required register delivered with this deck. Nothing here is assumed in any slide; every placeholder says who owns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14 or more with no zero on funding, authority, sponsor or the data residency gate;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2026 (released 3 Aug 2026), plus the MCP tool trust boundary, supply chain and identity threats specific to this offering. CIS Infra implements platform controls; Security owns threat modelling, policy and security operations.</a:t>
            </a:r>
          </a:p>
          <a:p/>
          <a:p>
            <a:r>
              <a:t>Sources (checked 11 Oct 2026):</a:t>
            </a:r>
          </a:p>
          <a:p>
            <a:r>
              <a:t>OWASP Top 10 for LLM Applications 2026 (OWASP GenAI Security Project, released 3 Aug 2026): https://genai.owasp.org/resource/owasp-genai-llm-top-10-2026/</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decide the compliance conversation: what role the customer holds under the EU AI Act, and which sector rules apply. We help with evidence and controls; the customer and its lawyers decide.</a:t>
            </a:r>
          </a:p>
          <a:p/>
          <a:p>
            <a:r>
              <a:t>Likely question: Does SR 11-7 still apply to our US bank clients?</a:t>
            </a:r>
          </a:p>
          <a:p>
            <a:r>
              <a:t>Answer: It was replaced in April 2026 by risk-based interagency guidance, and generative and agentic AI are out of its scope. Banks still expect governance, so we position audit evidence, not model validation.</a:t>
            </a:r>
          </a:p>
          <a:p/>
          <a:p>
            <a:r>
              <a:t>DETAIL AND CAVEATS</a:t>
            </a:r>
          </a:p>
          <a:p>
            <a:r>
              <a:t>EU AI Act roles are indicative: the customer is usually the deployer of an AI system and becomes a provider only if it develops a system and places it on the market or puts it into service under its own name. Cognizant, delivering infrastructure services, is normally neither, unless a contract says otherwise. Sector rows: DORA applies from 17 Jan 2025 (Regulation (EU) 2022/2554); NIS2 transposition deadline 17 Oct 2024 (Directive (EU) 2022/2555); Saudi PDPL effective 14 Sep 2023 and enforceable from Sep 2024 (Baker McKenzie summary, third party); US interagency model risk guidance issued 17 Apr 2026 replaced SR 11-7 and puts generative and agentic AI out of scope (JD Supra summary, third party). UK and UAE rows are not re-verified and are marked so. Cognizant does not give legal advice; customers take their own.</a:t>
            </a:r>
          </a:p>
          <a:p/>
          <a:p>
            <a:r>
              <a:t>Sources (checked 11 Oct 2026):</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r>
              <a:t>Directive (EU) 2022/2555 (NIS2), EUR-Lex: https://eur-lex.europa.eu/eli/dir/2022/2555/oj</a:t>
            </a:r>
          </a:p>
          <a:p>
            <a:r>
              <a:t>Saudi Arabia key data and cybersecurity laws (Baker McKenzie, third party, reviewed 31 Dec 2024): https://resourcehub.bakermckenzie.com/en/resources/global-data-and-cyber-handbook/emea/saudi-arabia/topics/key-data-and-cybersecurity-laws</a:t>
            </a:r>
          </a:p>
          <a:p>
            <a:r>
              <a:t>Banking regulators replace SR 11-7 with revised model risk guidance (JD Supra law-firm summary, third party): https://www.jdsupra.com/legalnews/banking-regulators-replace-5649360/</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owns the policy for every one of these services. We implement and wire telemetry under their design, which keeps accountability clean.</a:t>
            </a:r>
          </a:p>
          <a:p/>
          <a:p>
            <a:r>
              <a:t>Likely question: Does CIS Infra run the SOC?</a:t>
            </a:r>
          </a:p>
          <a:p>
            <a:r>
              <a:t>Answer: No. A contracted security service or the Security tower does.</a:t>
            </a:r>
          </a:p>
          <a:p/>
          <a:p>
            <a:r>
              <a:t>DETAIL AND CAVEATS</a:t>
            </a:r>
          </a:p>
          <a:p>
            <a:r>
              <a:t>Microsoft security services positioned with owners. Security designs and owns policy for Agent 365, Entra Conditional Access for agents, Purview and Defender; CIS Infra implements under that design and provides telemetry plumbing. Licensing for Conditional Access for agents per Microsoft Learn (updated 30 Sep 2026): Microsoft 365 E7, or Agent 365 plus Entra P1 or Microsoft 365 E3.</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Conditional Access for agents (Microsoft Learn, updated 30 Sep 2026): https://learn.microsoft.com/en-us/entra/identity/conditional-access/agent-id</a:t>
            </a:r>
          </a:p>
          <a:p>
            <a:r>
              <a:t>Microsoft Agent 365 now generally available (Microsoft Security blog, 1 May 2026): https://www.microsoft.com/en-us/security/blog/2026/05/01/microsoft-agent-365-now-generally-available-expands-capabilities-and-integrations/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hyperlink" Target="https://www.microsoft.com/en-us/security/blog/2026/05/01/microsoft-agent-365-now-generally-available-expands-capabilities-and-integrations/" TargetMode="External"/><Relationship Id="rId5" Type="http://schemas.openxmlformats.org/officeDocument/2006/relationships/hyperlink" Target="https://learn.microsoft.com/en-us/azure/foundry/openai/concepts/model-retirement-schedule" TargetMode="External"/><Relationship Id="rId6" Type="http://schemas.openxmlformats.org/officeDocument/2006/relationships/hyperlink" Target="https://www.orrick.com/en/Insights/2026/07/EU-AI-Act-Update-Digital-Omnibus-Finalizes-8-Compliance-Changes" TargetMode="External"/><Relationship Id="rId7" Type="http://schemas.openxmlformats.org/officeDocument/2006/relationships/hyperlink" Target="https://eur-lex.europa.eu/eli/reg/2022/2554/oj" TargetMode="External"/><Relationship Id="rId8" Type="http://schemas.openxmlformats.org/officeDocument/2006/relationships/hyperlink" Target="https://eur-lex.europa.eu/eli/dir/2022/2555/oj" TargetMode="External"/><Relationship Id="rId9" Type="http://schemas.openxmlformats.org/officeDocument/2006/relationships/hyperlink" Target="https://resourcehub.bakermckenzie.com/en/resources/global-data-and-cyber-handbook/emea/saudi-arabia/topics/key-data-and-cybersecurity-laws" TargetMode="External"/><Relationship Id="rId10" Type="http://schemas.openxmlformats.org/officeDocument/2006/relationships/hyperlink" Target="https://www.jdsupra.com/legalnews/banking-regulators-replace-5649360/" TargetMode="External"/><Relationship Id="rId11" Type="http://schemas.openxmlformats.org/officeDocument/2006/relationships/hyperlink" Target="https://learn.microsoft.com/en-us/azure/api-center/register-discover-mcp-server" TargetMode="External"/><Relationship Id="rId12" Type="http://schemas.openxmlformats.org/officeDocument/2006/relationships/hyperlink" Target="https://learn.microsoft.com/partner-center/services-co-sell" TargetMode="External"/><Relationship Id="rId13" Type="http://schemas.openxmlformats.org/officeDocument/2006/relationships/hyperlink" Target="https://learn.microsoft.com/en-us/partner-center/membership/specializations-apply" TargetMode="External"/><Relationship Id="rId14" Type="http://schemas.openxmlformats.org/officeDocument/2006/relationships/hyperlink" Target="https://partner.microsoft.com/blog/article/whats-new-for-partners-jan-2026" TargetMode="External"/><Relationship Id="rId15" Type="http://schemas.openxmlformats.org/officeDocument/2006/relationships/hyperlink" Target="https://github.com/Azure/AI-Landing-Zones" TargetMode="External"/><Relationship Id="rId16" Type="http://schemas.openxmlformats.org/officeDocument/2006/relationships/hyperlink" Target="https://learn.microsoft.com/en-us/entra/identity/conditional-access/agent-id" TargetMode="External"/><Relationship Id="rId17"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hyperlink" Target="https://learn.microsoft.com/en-us/azure/defender-for-cloud/ai-threat-protection" TargetMode="External"/><Relationship Id="rId5" Type="http://schemas.openxmlformats.org/officeDocument/2006/relationships/hyperlink" Target="https://learn.microsoft.com/en-us/purview/ai-microsoft-purview" TargetMode="External"/><Relationship Id="rId6" Type="http://schemas.openxmlformats.org/officeDocument/2006/relationships/hyperlink" Target="https://genai.owasp.org/resource/owasp-genai-llm-top-10-2026/" TargetMode="External"/><Relationship Id="rId7" Type="http://schemas.openxmlformats.org/officeDocument/2006/relationships/hyperlink" Target="https://www.iso.org/standard/81230.html" TargetMode="External"/><Relationship Id="rId8" Type="http://schemas.openxmlformats.org/officeDocument/2006/relationships/hyperlink" Target="https://github.com/upendra25312/AI-Foundry-GTM-offering-/blob/main/CIS_Infra_Azure_AI_Platform_GTM_Proposal_V3.docx" TargetMode="External"/><Relationship Id="rId9" Type="http://schemas.openxmlformats.org/officeDocument/2006/relationships/hyperlink" Target="See S1 in each deck" TargetMode="External"/><Relationship Id="rId10"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Azure AI Platform Portfolio</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Five defined CIS Infra offerings for the Azure AI platform: leadership chooses which to test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Master portfolio view for decks 01 to 05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Pick from five defined offerings and fund a 90-day test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024127"/>
          </a:xfrm>
          <a:prstGeom prst="rect">
            <a:avLst/>
          </a:prstGeom>
          <a:noFill/>
        </p:spPr>
        <p:txBody>
          <a:bodyPr wrap="square" lIns="0" rIns="0" tIns="0" bIns="0" anchor="t">
            <a:noAutofit/>
          </a:bodyPr>
          <a:lstStyle/>
          <a:p>
            <a:pPr algn="l"/>
            <a:r>
              <a:rPr sz="1800" b="0" i="0">
                <a:solidFill>
                  <a:srgbClr val="1E1E2E"/>
                </a:solidFill>
                <a:latin typeface="Arial"/>
              </a:rPr>
              <a:t>Customers scale AI agents on platforms nobody owns end to end: capacity, cost, control and operations.</a:t>
            </a:r>
          </a:p>
        </p:txBody>
      </p:sp>
      <p:sp>
        <p:nvSpPr>
          <p:cNvPr id="10" name="TextBox 9"/>
          <p:cNvSpPr txBox="1"/>
          <p:nvPr/>
        </p:nvSpPr>
        <p:spPr>
          <a:xfrm>
            <a:off x="548640" y="2441448"/>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441448"/>
            <a:ext cx="5120640" cy="1024127"/>
          </a:xfrm>
          <a:prstGeom prst="rect">
            <a:avLst/>
          </a:prstGeom>
          <a:noFill/>
        </p:spPr>
        <p:txBody>
          <a:bodyPr wrap="square" lIns="0" rIns="0" tIns="0" bIns="0" anchor="t">
            <a:noAutofit/>
          </a:bodyPr>
          <a:lstStyle/>
          <a:p>
            <a:pPr algn="l"/>
            <a:r>
              <a:rPr sz="1800" b="0" i="0">
                <a:solidFill>
                  <a:srgbClr val="1E1E2E"/>
                </a:solidFill>
                <a:latin typeface="Arial"/>
              </a:rPr>
              <a:t>Five CIS Infra offerings: assess, build, control traffic, govern agents and run. Each sells alone or in sequence.</a:t>
            </a:r>
          </a:p>
        </p:txBody>
      </p:sp>
      <p:sp>
        <p:nvSpPr>
          <p:cNvPr id="12" name="TextBox 11"/>
          <p:cNvSpPr txBox="1"/>
          <p:nvPr/>
        </p:nvSpPr>
        <p:spPr>
          <a:xfrm>
            <a:off x="548640" y="3511296"/>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3511296"/>
            <a:ext cx="5120640" cy="1024127"/>
          </a:xfrm>
          <a:prstGeom prst="rect">
            <a:avLst/>
          </a:prstGeom>
          <a:noFill/>
        </p:spPr>
        <p:txBody>
          <a:bodyPr wrap="square" lIns="0" rIns="0" tIns="0" bIns="0" anchor="t">
            <a:noAutofit/>
          </a:bodyPr>
          <a:lstStyle/>
          <a:p>
            <a:pPr algn="l"/>
            <a:r>
              <a:rPr sz="1800" b="0" i="0">
                <a:solidFill>
                  <a:srgbClr val="1E1E2E"/>
                </a:solidFill>
                <a:latin typeface="Arial"/>
              </a:rPr>
              <a:t>Governed Azure AI platforms in production, with recurring CIS Infra revenue from operations.</a:t>
            </a:r>
          </a:p>
        </p:txBody>
      </p:sp>
      <p:sp>
        <p:nvSpPr>
          <p:cNvPr id="14" name="TextBox 13"/>
          <p:cNvSpPr txBox="1"/>
          <p:nvPr/>
        </p:nvSpPr>
        <p:spPr>
          <a:xfrm>
            <a:off x="548640" y="4581144"/>
            <a:ext cx="1600200" cy="457200"/>
          </a:xfrm>
          <a:prstGeom prst="rect">
            <a:avLst/>
          </a:prstGeom>
          <a:noFill/>
        </p:spPr>
        <p:txBody>
          <a:bodyPr wrap="square" lIns="0" rIns="0" tIns="0" bIns="0" anchor="t">
            <a:noAutofit/>
          </a:bodyPr>
          <a:lstStyle/>
          <a:p>
            <a:pPr algn="l"/>
            <a:r>
              <a:rPr sz="2200" b="1" i="0">
                <a:solidFill>
                  <a:srgbClr val="1D6B3A"/>
                </a:solidFill>
                <a:latin typeface="Arial"/>
              </a:rPr>
              <a:t>Value</a:t>
            </a:r>
          </a:p>
        </p:txBody>
      </p:sp>
      <p:sp>
        <p:nvSpPr>
          <p:cNvPr id="15" name="TextBox 14"/>
          <p:cNvSpPr txBox="1"/>
          <p:nvPr/>
        </p:nvSpPr>
        <p:spPr>
          <a:xfrm>
            <a:off x="2148840" y="4581144"/>
            <a:ext cx="5120640" cy="1024127"/>
          </a:xfrm>
          <a:prstGeom prst="rect">
            <a:avLst/>
          </a:prstGeom>
          <a:noFill/>
        </p:spPr>
        <p:txBody>
          <a:bodyPr wrap="square" lIns="0" rIns="0" tIns="0" bIns="0" anchor="t">
            <a:noAutofit/>
          </a:bodyPr>
          <a:lstStyle/>
          <a:p>
            <a:pPr algn="l"/>
            <a:r>
              <a:rPr sz="1800" b="0" i="0">
                <a:solidFill>
                  <a:srgbClr val="1E1E2E"/>
                </a:solidFill>
                <a:latin typeface="Arial"/>
              </a:rPr>
              <a:t>Customers reach production faster with measured cost; Microsoft gains Azure consumption; we gain services.</a:t>
            </a:r>
          </a:p>
        </p:txBody>
      </p:sp>
      <p:sp>
        <p:nvSpPr>
          <p:cNvPr id="16" name="Rounded Rectangle 15"/>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Choose which offerings to test: one, several or all five</a:t>
            </a:r>
          </a:p>
          <a:p>
            <a:pPr algn="l" marL="201168" indent="-201168">
              <a:spcAft>
                <a:spcPts val="1000"/>
              </a:spcAft>
              <a:buFont typeface="Arial"/>
              <a:buChar char="•"/>
            </a:pPr>
            <a:r>
              <a:rPr sz="2000" b="0" i="0">
                <a:solidFill>
                  <a:srgbClr val="FFFFFF"/>
                </a:solidFill>
                <a:latin typeface="Arial"/>
              </a:rPr>
              <a:t>Name a sponsor and owner for each</a:t>
            </a:r>
          </a:p>
          <a:p>
            <a:pPr algn="l" marL="201168" indent="-201168">
              <a:spcAft>
                <a:spcPts val="1000"/>
              </a:spcAft>
              <a:buFont typeface="Arial"/>
              <a:buChar char="•"/>
            </a:pPr>
            <a:r>
              <a:rPr sz="2000" b="0" i="0">
                <a:solidFill>
                  <a:srgbClr val="FFFFFF"/>
                </a:solidFill>
                <a:latin typeface="Arial"/>
              </a:rPr>
              <a:t>Fund a 90-day validation with stop rules</a:t>
            </a:r>
          </a:p>
        </p:txBody>
      </p:sp>
      <p:sp>
        <p:nvSpPr>
          <p:cNvPr id="17" name="Rounded Rectangle 16"/>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Rates, budgets and sponsors are inputs required. Fee bands use an illustrative $1,000 per role 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sprawl, model churn and AI rules create 2026 demand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 control planes are GA</a:t>
            </a:r>
          </a:p>
          <a:p>
            <a:pPr algn="l">
              <a:spcAft>
                <a:spcPts val="400"/>
              </a:spcAft>
            </a:pPr>
            <a:r>
              <a:rPr sz="1800" b="0" i="0">
                <a:solidFill>
                  <a:srgbClr val="1E1E2E"/>
                </a:solidFill>
                <a:latin typeface="Arial"/>
              </a:rPr>
              <a:t>Agent 365 has been generally available since 1 May 2026, so agent governance is now a budget line.</a:t>
            </a:r>
          </a:p>
          <a:p>
            <a:pPr algn="l"/>
            <a:r>
              <a:rPr sz="1200" b="0" i="0">
                <a:solidFill>
                  <a:srgbClr val="53565A"/>
                </a:solidFill>
                <a:latin typeface="Arial"/>
              </a:rPr>
              <a:t>Source: Microsoft Security blog</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retire every few months</a:t>
            </a:r>
          </a:p>
          <a:p>
            <a:pPr algn="l">
              <a:spcAft>
                <a:spcPts val="400"/>
              </a:spcAft>
            </a:pPr>
            <a:r>
              <a:rPr sz="1800" b="0" i="0">
                <a:solidFill>
                  <a:srgbClr val="1E1E2E"/>
                </a:solidFill>
                <a:latin typeface="Arial"/>
              </a:rPr>
              <a:t>gpt-4.1 retires 14 Apr 2027 and gpt-5.4 on 2 Sep 2027. Capacity and routing must keep moving.</a:t>
            </a:r>
          </a:p>
          <a:p>
            <a:pPr algn="l"/>
            <a:r>
              <a:rPr sz="1200" b="0" i="0">
                <a:solidFill>
                  <a:srgbClr val="53565A"/>
                </a:solidFill>
                <a:latin typeface="Arial"/>
              </a:rPr>
              <a:t>Source: Foundry retirement schedule</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Regulation has dates</a:t>
            </a:r>
          </a:p>
          <a:p>
            <a:pPr algn="l">
              <a:spcAft>
                <a:spcPts val="400"/>
              </a:spcAft>
            </a:pPr>
            <a:r>
              <a:rPr sz="1800" b="0" i="0">
                <a:solidFill>
                  <a:srgbClr val="1E1E2E"/>
                </a:solidFill>
                <a:latin typeface="Arial"/>
              </a:rPr>
              <a:t>EU AI Act high-risk duties apply from 2 Dec 2027 (Annex III); DORA has applied since 17 Jan 2025.</a:t>
            </a:r>
          </a:p>
          <a:p>
            <a:pPr algn="l"/>
            <a:r>
              <a:rPr sz="1200" b="0" i="0">
                <a:solidFill>
                  <a:srgbClr val="53565A"/>
                </a:solidFill>
                <a:latin typeface="Arial"/>
              </a:rPr>
              <a:t>Sources: Orrick (third party; EUR-Lex text not verified); DORA: EUR-Lex</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CIO or AI platform leader with the CISO delegate, FinOps lead and IT service owner; CFO or head of operations for business cases.</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Agents moving to production; unexplained AI spend; an audit or incident; a Microsoft licence or capacity decision.</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Each option suits a goal; we would start with 04 and 03</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graphicFrame>
        <p:nvGraphicFramePr>
          <p:cNvPr id="8" name="Table"/>
          <p:cNvGraphicFramePr>
            <a:graphicFrameLocks noGrp="1"/>
          </p:cNvGraphicFramePr>
          <p:nvPr/>
        </p:nvGraphicFramePr>
        <p:xfrm>
          <a:off x="548640" y="1325880"/>
          <a:ext cx="7086600" cy="3474720"/>
        </p:xfrm>
        <a:graphic>
          <a:graphicData uri="http://schemas.openxmlformats.org/drawingml/2006/table">
            <a:tbl>
              <a:tblPr firstRow="1" bandRow="0">
                <a:tableStyleId>{5C22544A-7EE6-4342-B048-85BDC9FD1C3A}</a:tableStyleId>
              </a:tblPr>
              <a:tblGrid>
                <a:gridCol w="2148840"/>
                <a:gridCol w="2011680"/>
                <a:gridCol w="1234440"/>
                <a:gridCol w="1691640"/>
              </a:tblGrid>
              <a:tr h="579120">
                <a:tc>
                  <a:txBody>
                    <a:bodyPr wrap="square" anchor="ctr">
                      <a:noAutofit/>
                    </a:bodyPr>
                    <a:lstStyle/>
                    <a:p>
                      <a:pPr algn="l"/>
                      <a:r>
                        <a:rPr sz="16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First sale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First revenue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Good choice if you want</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04 FinOps Assessment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$20k to $40k</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4 to 6 weeks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 fast, low-risk start</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01 Landing Zone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$15k to $30k, then $140k to $220k</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3 to 5 weeks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Largest one-time deals</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03 AI Gateway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$10k to $20k, then $45k to $90k</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2 to 4 weeks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Broad, repeatable demand</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02 Agent Governance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$15k to $25k, pilot later</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3 to 4 weeks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Edge, once proven</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05 Managed 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$30k to $60k a month</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4 to 8 weeks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Recurring revenue</a:t>
                      </a:r>
                    </a:p>
                  </a:txBody>
                  <a:tcPr marL="73152" marR="73152" marT="36576" marB="36576" anchor="ctr">
                    <a:solidFill>
                      <a:srgbClr val="FFFFFF"/>
                    </a:solidFill>
                  </a:tcPr>
                </a:tc>
              </a:tr>
            </a:tbl>
          </a:graphicData>
        </a:graphic>
      </p:graphicFrame>
      <p:sp>
        <p:nvSpPr>
          <p:cNvPr id="9" name="Rounded Rectangle 8"/>
          <p:cNvSpPr/>
          <p:nvPr/>
        </p:nvSpPr>
        <p:spPr>
          <a:xfrm>
            <a:off x="7863840" y="1325880"/>
            <a:ext cx="3776472" cy="4206240"/>
          </a:xfrm>
          <a:prstGeom prst="roundRect">
            <a:avLst>
              <a:gd name="adj" fmla="val 1937"/>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600"/>
              </a:spcAft>
            </a:pPr>
            <a:r>
              <a:rPr sz="1600" b="1" i="0">
                <a:solidFill>
                  <a:srgbClr val="26EFE9"/>
                </a:solidFill>
                <a:latin typeface="Arial"/>
              </a:rPr>
              <a:t>Author recommendation</a:t>
            </a:r>
          </a:p>
          <a:p>
            <a:pPr algn="l">
              <a:spcAft>
                <a:spcPts val="800"/>
              </a:spcAft>
            </a:pPr>
            <a:r>
              <a:rPr sz="2200" b="1" i="0">
                <a:solidFill>
                  <a:srgbClr val="FFFFFF"/>
                </a:solidFill>
                <a:latin typeface="Arial"/>
              </a:rPr>
              <a:t>Start with 04 and 03.</a:t>
            </a:r>
          </a:p>
          <a:p>
            <a:pPr algn="l">
              <a:spcAft>
                <a:spcPts val="800"/>
              </a:spcAft>
            </a:pPr>
            <a:r>
              <a:rPr sz="1700" b="0" i="0">
                <a:solidFill>
                  <a:srgbClr val="FFFFFF"/>
                </a:solidFill>
                <a:latin typeface="Arial"/>
              </a:rPr>
              <a:t>Fastest to revenue and lowest internal build effort (A9). Pair 03 with a 01 assessment where no landing zone exists. Run the 02 PoC in parallel.</a:t>
            </a:r>
          </a:p>
          <a:p>
            <a:pPr algn="l"/>
            <a:r>
              <a:rPr sz="1800" b="1" i="0">
                <a:solidFill>
                  <a:srgbClr val="26EFE9"/>
                </a:solidFill>
                <a:latin typeface="Arial"/>
              </a:rPr>
              <a:t>Leadership decides.</a:t>
            </a:r>
          </a:p>
        </p:txBody>
      </p:sp>
      <p:sp>
        <p:nvSpPr>
          <p:cNvPr id="10" name="Rounded Rectangle 9"/>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bands use an illustrative $1,000 per role day, not a Cognizant rate. Detail: appendix A1; business case: appendix A8.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this year from 04 and 03; 02 is the bet to prove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VIEW"/>
          <p:cNvSpPr/>
          <p:nvPr/>
        </p:nvSpPr>
        <p:spPr>
          <a:xfrm>
            <a:off x="365887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VIEW</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324612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Horizon 1: earn now</a:t>
            </a:r>
          </a:p>
          <a:p>
            <a:pPr algn="l"/>
            <a:r>
              <a:rPr sz="1600" b="0" i="0">
                <a:solidFill>
                  <a:srgbClr val="26EFE9"/>
                </a:solidFill>
                <a:latin typeface="Arial"/>
              </a:rPr>
              <a:t>0 to 6 months</a:t>
            </a:r>
          </a:p>
        </p:txBody>
      </p:sp>
      <p:sp>
        <p:nvSpPr>
          <p:cNvPr id="9" name="Rounded Rectangle 8"/>
          <p:cNvSpPr/>
          <p:nvPr/>
        </p:nvSpPr>
        <p:spPr>
          <a:xfrm>
            <a:off x="548640" y="4206240"/>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04 FinOps Assessment  </a:t>
            </a:r>
            <a:r>
              <a:rPr sz="1500" b="0" i="0">
                <a:solidFill>
                  <a:srgbClr val="53565A"/>
                </a:solidFill>
                <a:latin typeface="Arial"/>
              </a:rPr>
              <a:t>short, fixed scope</a:t>
            </a:r>
          </a:p>
        </p:txBody>
      </p:sp>
      <p:sp>
        <p:nvSpPr>
          <p:cNvPr id="10" name="Rounded Rectangle 9"/>
          <p:cNvSpPr/>
          <p:nvPr/>
        </p:nvSpPr>
        <p:spPr>
          <a:xfrm>
            <a:off x="548640" y="4983479"/>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03 AI Gateway  </a:t>
            </a:r>
            <a:r>
              <a:rPr sz="1500" b="0" i="0">
                <a:solidFill>
                  <a:srgbClr val="53565A"/>
                </a:solidFill>
                <a:latin typeface="Arial"/>
              </a:rPr>
              <a:t>needs a landing zone</a:t>
            </a:r>
          </a:p>
        </p:txBody>
      </p:sp>
      <p:sp>
        <p:nvSpPr>
          <p:cNvPr id="11" name="Rounded Rectangle 10"/>
          <p:cNvSpPr/>
          <p:nvPr/>
        </p:nvSpPr>
        <p:spPr>
          <a:xfrm>
            <a:off x="4297679" y="2377439"/>
            <a:ext cx="3593592" cy="868680"/>
          </a:xfrm>
          <a:prstGeom prst="roundRect">
            <a:avLst>
              <a:gd name="adj" fmla="val 8421"/>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Horizon 2: build the base</a:t>
            </a:r>
          </a:p>
          <a:p>
            <a:pPr algn="l"/>
            <a:r>
              <a:rPr sz="1600" b="0" i="0">
                <a:solidFill>
                  <a:srgbClr val="26EFE9"/>
                </a:solidFill>
                <a:latin typeface="Arial"/>
              </a:rPr>
              <a:t>6 to 18 months</a:t>
            </a:r>
          </a:p>
        </p:txBody>
      </p:sp>
      <p:sp>
        <p:nvSpPr>
          <p:cNvPr id="12" name="Rounded Rectangle 11"/>
          <p:cNvSpPr/>
          <p:nvPr/>
        </p:nvSpPr>
        <p:spPr>
          <a:xfrm>
            <a:off x="4297679" y="3337559"/>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01 Landing Zone  </a:t>
            </a:r>
            <a:r>
              <a:rPr sz="1500" b="0" i="0">
                <a:solidFill>
                  <a:srgbClr val="53565A"/>
                </a:solidFill>
                <a:latin typeface="Arial"/>
              </a:rPr>
              <a:t>largest one-time deals</a:t>
            </a:r>
          </a:p>
        </p:txBody>
      </p:sp>
      <p:sp>
        <p:nvSpPr>
          <p:cNvPr id="13" name="Rounded Rectangle 12"/>
          <p:cNvSpPr/>
          <p:nvPr/>
        </p:nvSpPr>
        <p:spPr>
          <a:xfrm>
            <a:off x="4297679" y="4114799"/>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05 Managed Operations  </a:t>
            </a:r>
            <a:r>
              <a:rPr sz="1500" b="0" i="0">
                <a:solidFill>
                  <a:srgbClr val="53565A"/>
                </a:solidFill>
                <a:latin typeface="Arial"/>
              </a:rPr>
              <a:t>recurring revenue</a:t>
            </a:r>
          </a:p>
        </p:txBody>
      </p:sp>
      <p:sp>
        <p:nvSpPr>
          <p:cNvPr id="14" name="Rounded Rectangle 13"/>
          <p:cNvSpPr/>
          <p:nvPr/>
        </p:nvSpPr>
        <p:spPr>
          <a:xfrm>
            <a:off x="8046719" y="1508760"/>
            <a:ext cx="3593592" cy="868680"/>
          </a:xfrm>
          <a:prstGeom prst="roundRect">
            <a:avLst>
              <a:gd name="adj" fmla="val 8421"/>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Horizon 3: prove the bet</a:t>
            </a:r>
          </a:p>
          <a:p>
            <a:pPr algn="l"/>
            <a:r>
              <a:rPr sz="1600" b="0" i="0">
                <a:solidFill>
                  <a:srgbClr val="26EFE9"/>
                </a:solidFill>
                <a:latin typeface="Arial"/>
              </a:rPr>
              <a:t>after the PoC</a:t>
            </a:r>
          </a:p>
        </p:txBody>
      </p:sp>
      <p:sp>
        <p:nvSpPr>
          <p:cNvPr id="15" name="Rounded Rectangle 14"/>
          <p:cNvSpPr/>
          <p:nvPr/>
        </p:nvSpPr>
        <p:spPr>
          <a:xfrm>
            <a:off x="8046719" y="2468880"/>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02 Agent Governance  </a:t>
            </a:r>
            <a:r>
              <a:rPr sz="1500" b="0" i="0">
                <a:solidFill>
                  <a:srgbClr val="53565A"/>
                </a:solidFill>
                <a:latin typeface="Arial"/>
              </a:rPr>
              <a:t>differentiator once proven</a:t>
            </a:r>
          </a:p>
        </p:txBody>
      </p:sp>
      <p:sp>
        <p:nvSpPr>
          <p:cNvPr id="16" name="Rounded Rectangle 15"/>
          <p:cNvSpPr/>
          <p:nvPr/>
        </p:nvSpPr>
        <p:spPr>
          <a:xfrm>
            <a:off x="8046719" y="3246120"/>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Kill-switch PoC  </a:t>
            </a:r>
            <a:r>
              <a:rPr sz="1500" b="0" i="0">
                <a:solidFill>
                  <a:srgbClr val="53565A"/>
                </a:solidFill>
                <a:latin typeface="Arial"/>
              </a:rPr>
              <a:t>internal, funding requested</a:t>
            </a:r>
          </a:p>
        </p:txBody>
      </p:sp>
      <p:cxnSp>
        <p:nvCxnSpPr>
          <p:cNvPr id="17" name="Connector (flow)"/>
          <p:cNvCxnSpPr/>
          <p:nvPr/>
        </p:nvCxnSpPr>
        <p:spPr>
          <a:xfrm>
            <a:off x="548640" y="5897880"/>
            <a:ext cx="109728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5961888"/>
            <a:ext cx="11064240" cy="365760"/>
          </a:xfrm>
          <a:prstGeom prst="rect">
            <a:avLst/>
          </a:prstGeom>
          <a:noFill/>
        </p:spPr>
        <p:txBody>
          <a:bodyPr wrap="square" lIns="0" rIns="0" tIns="0" bIns="0" anchor="t">
            <a:noAutofit/>
          </a:bodyPr>
          <a:lstStyle/>
          <a:p>
            <a:pPr algn="r"/>
            <a:r>
              <a:rPr sz="1400" b="0" i="0">
                <a:solidFill>
                  <a:srgbClr val="53565A"/>
                </a:solidFill>
                <a:latin typeface="Arial"/>
              </a:rPr>
              <a:t>Time and maturity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M365 Copilot stays with M365 and D365; we own the Azure side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BOUNDARIES"/>
          <p:cNvSpPr/>
          <p:nvPr/>
        </p:nvSpPr>
        <p:spPr>
          <a:xfrm>
            <a:off x="365887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BOUNDARIES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548640" y="1371600"/>
            <a:ext cx="3593592" cy="640080"/>
          </a:xfrm>
          <a:prstGeom prst="roundRect">
            <a:avLst>
              <a:gd name="adj" fmla="val 11428"/>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Cognizant M365 and D365 teams</a:t>
            </a:r>
          </a:p>
        </p:txBody>
      </p:sp>
      <p:sp>
        <p:nvSpPr>
          <p:cNvPr id="9" name="Rounded Rectangle 8"/>
          <p:cNvSpPr/>
          <p:nvPr/>
        </p:nvSpPr>
        <p:spPr>
          <a:xfrm>
            <a:off x="548640" y="210312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Microsoft 365 Copilot</a:t>
            </a:r>
          </a:p>
          <a:p>
            <a:pPr algn="l"/>
            <a:r>
              <a:rPr sz="1600" b="0" i="0">
                <a:solidFill>
                  <a:srgbClr val="1E1E2E"/>
                </a:solidFill>
                <a:latin typeface="Arial"/>
              </a:rPr>
              <a:t>Microsoft 365 apps (M365 team, to confirm)</a:t>
            </a:r>
          </a:p>
        </p:txBody>
      </p:sp>
      <p:sp>
        <p:nvSpPr>
          <p:cNvPr id="10" name="Rounded Rectangle 9"/>
          <p:cNvSpPr/>
          <p:nvPr/>
        </p:nvSpPr>
        <p:spPr>
          <a:xfrm>
            <a:off x="548640" y="3154679"/>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in Dynamics 365</a:t>
            </a:r>
          </a:p>
          <a:p>
            <a:pPr algn="l"/>
            <a:r>
              <a:rPr sz="1600" b="0" i="0">
                <a:solidFill>
                  <a:srgbClr val="1E1E2E"/>
                </a:solidFill>
                <a:latin typeface="Arial"/>
              </a:rPr>
              <a:t>D365 team, to confirm</a:t>
            </a:r>
          </a:p>
        </p:txBody>
      </p:sp>
      <p:sp>
        <p:nvSpPr>
          <p:cNvPr id="11" name="Rounded Rectangle 10"/>
          <p:cNvSpPr/>
          <p:nvPr/>
        </p:nvSpPr>
        <p:spPr>
          <a:xfrm>
            <a:off x="548640" y="420624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Adoption and change</a:t>
            </a:r>
          </a:p>
          <a:p>
            <a:pPr algn="l"/>
            <a:r>
              <a:rPr sz="1600" b="0" i="0">
                <a:solidFill>
                  <a:srgbClr val="1E1E2E"/>
                </a:solidFill>
                <a:latin typeface="Arial"/>
              </a:rPr>
              <a:t>licences, rollout, training</a:t>
            </a:r>
          </a:p>
        </p:txBody>
      </p:sp>
      <p:sp>
        <p:nvSpPr>
          <p:cNvPr id="12" name="Rounded Rectangle 11"/>
          <p:cNvSpPr/>
          <p:nvPr/>
        </p:nvSpPr>
        <p:spPr>
          <a:xfrm>
            <a:off x="4297679" y="1371600"/>
            <a:ext cx="3593592" cy="640080"/>
          </a:xfrm>
          <a:prstGeom prst="roundRect">
            <a:avLst>
              <a:gd name="adj" fmla="val 11428"/>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Shared: joint rules apply</a:t>
            </a:r>
          </a:p>
        </p:txBody>
      </p:sp>
      <p:sp>
        <p:nvSpPr>
          <p:cNvPr id="13" name="Rounded Rectangle 12"/>
          <p:cNvSpPr/>
          <p:nvPr/>
        </p:nvSpPr>
        <p:spPr>
          <a:xfrm>
            <a:off x="4297679" y="210312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Studio</a:t>
            </a:r>
          </a:p>
          <a:p>
            <a:pPr algn="l"/>
            <a:r>
              <a:rPr sz="1600" b="0" i="0">
                <a:solidFill>
                  <a:srgbClr val="1E1E2E"/>
                </a:solidFill>
                <a:latin typeface="Arial"/>
              </a:rPr>
              <a:t>Power Platform admins it; we govern its agents</a:t>
            </a:r>
          </a:p>
        </p:txBody>
      </p:sp>
      <p:sp>
        <p:nvSpPr>
          <p:cNvPr id="14" name="Rounded Rectangle 13"/>
          <p:cNvSpPr/>
          <p:nvPr/>
        </p:nvSpPr>
        <p:spPr>
          <a:xfrm>
            <a:off x="4297679" y="3154679"/>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Agent 365 and Entra</a:t>
            </a:r>
          </a:p>
          <a:p>
            <a:pPr algn="l"/>
            <a:r>
              <a:rPr sz="1600" b="0" i="0">
                <a:solidFill>
                  <a:srgbClr val="1E1E2E"/>
                </a:solidFill>
                <a:latin typeface="Arial"/>
              </a:rPr>
              <a:t>Security owns policy; we implement</a:t>
            </a:r>
          </a:p>
        </p:txBody>
      </p:sp>
      <p:sp>
        <p:nvSpPr>
          <p:cNvPr id="15" name="Rounded Rectangle 14"/>
          <p:cNvSpPr/>
          <p:nvPr/>
        </p:nvSpPr>
        <p:spPr>
          <a:xfrm>
            <a:off x="4297679" y="420624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Purview readiness</a:t>
            </a:r>
          </a:p>
          <a:p>
            <a:pPr algn="l"/>
            <a:r>
              <a:rPr sz="1600" b="0" i="0">
                <a:solidFill>
                  <a:srgbClr val="1E1E2E"/>
                </a:solidFill>
                <a:latin typeface="Arial"/>
              </a:rPr>
              <a:t>Security leads; we supply inputs</a:t>
            </a:r>
          </a:p>
        </p:txBody>
      </p:sp>
      <p:sp>
        <p:nvSpPr>
          <p:cNvPr id="16" name="Rounded Rectangle 15"/>
          <p:cNvSpPr/>
          <p:nvPr/>
        </p:nvSpPr>
        <p:spPr>
          <a:xfrm>
            <a:off x="804671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CIS Infra offerings 01 to 05</a:t>
            </a:r>
          </a:p>
        </p:txBody>
      </p:sp>
      <p:sp>
        <p:nvSpPr>
          <p:cNvPr id="17" name="Rounded Rectangle 16"/>
          <p:cNvSpPr/>
          <p:nvPr/>
        </p:nvSpPr>
        <p:spPr>
          <a:xfrm>
            <a:off x="8046719" y="210312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Foundry and AI landing zone</a:t>
            </a:r>
          </a:p>
          <a:p>
            <a:pPr algn="l"/>
            <a:r>
              <a:rPr sz="1600" b="0" i="0">
                <a:solidFill>
                  <a:srgbClr val="1E1E2E"/>
                </a:solidFill>
                <a:latin typeface="Arial"/>
              </a:rPr>
              <a:t>offering 01</a:t>
            </a:r>
          </a:p>
        </p:txBody>
      </p:sp>
      <p:sp>
        <p:nvSpPr>
          <p:cNvPr id="18" name="Rounded Rectangle 17"/>
          <p:cNvSpPr/>
          <p:nvPr/>
        </p:nvSpPr>
        <p:spPr>
          <a:xfrm>
            <a:off x="8046719" y="3154679"/>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API Management and API Center</a:t>
            </a:r>
          </a:p>
          <a:p>
            <a:pPr algn="l"/>
            <a:r>
              <a:rPr sz="1600" b="0" i="0">
                <a:solidFill>
                  <a:srgbClr val="1E1E2E"/>
                </a:solidFill>
                <a:latin typeface="Arial"/>
              </a:rPr>
              <a:t>offering 03</a:t>
            </a:r>
          </a:p>
        </p:txBody>
      </p:sp>
      <p:sp>
        <p:nvSpPr>
          <p:cNvPr id="19" name="Rounded Rectangle 18"/>
          <p:cNvSpPr/>
          <p:nvPr/>
        </p:nvSpPr>
        <p:spPr>
          <a:xfrm>
            <a:off x="8046719" y="420624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Governance, FinOps, operations</a:t>
            </a:r>
          </a:p>
          <a:p>
            <a:pPr algn="l"/>
            <a:r>
              <a:rPr sz="1600" b="0" i="0">
                <a:solidFill>
                  <a:srgbClr val="1E1E2E"/>
                </a:solidFill>
                <a:latin typeface="Arial"/>
              </a:rPr>
              <a:t>offerings 02, 04, 05</a:t>
            </a:r>
          </a:p>
        </p:txBody>
      </p:sp>
      <p:cxnSp>
        <p:nvCxnSpPr>
          <p:cNvPr id="20" name="Connector (flow)"/>
          <p:cNvCxnSpPr/>
          <p:nvPr/>
        </p:nvCxnSpPr>
        <p:spPr>
          <a:xfrm>
            <a:off x="414223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flow)"/>
          <p:cNvCxnSpPr/>
          <p:nvPr/>
        </p:nvCxnSpPr>
        <p:spPr>
          <a:xfrm>
            <a:off x="789127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Open: the M365 versus D365 Copilot split and the joint-deal lead (register D1, owners named).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One customer buying all five: $647k in year one, $540k after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HYPOTHETICAL"/>
          <p:cNvSpPr/>
          <p:nvPr/>
        </p:nvSpPr>
        <p:spPr>
          <a:xfrm>
            <a:off x="365887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graphicFrame>
        <p:nvGraphicFramePr>
          <p:cNvPr id="8" name="Chart"/>
          <p:cNvGraphicFramePr>
            <a:graphicFrameLocks noGrp="1"/>
          </p:cNvGraphicFramePr>
          <p:nvPr/>
        </p:nvGraphicFramePr>
        <p:xfrm>
          <a:off x="548640" y="1371600"/>
          <a:ext cx="6400800" cy="3931920"/>
        </p:xfrm>
        <a:graphic>
          <a:graphicData uri="http://schemas.openxmlformats.org/drawingml/2006/chart">
            <c:chart xmlns:c="http://schemas.openxmlformats.org/drawingml/2006/chart" r:id="rId4"/>
          </a:graphicData>
        </a:graphic>
      </p:graphicFrame>
      <p:sp>
        <p:nvSpPr>
          <p:cNvPr id="9" name="Rounded Rectangle 8"/>
          <p:cNvSpPr/>
          <p:nvPr/>
        </p:nvSpPr>
        <p:spPr>
          <a:xfrm>
            <a:off x="7223760" y="1371600"/>
            <a:ext cx="4416552" cy="3931920"/>
          </a:xfrm>
          <a:prstGeom prst="roundRect">
            <a:avLst>
              <a:gd name="adj" fmla="val 1860"/>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400"/>
              </a:spcAft>
            </a:pPr>
            <a:r>
              <a:rPr sz="1800" b="1" i="0">
                <a:solidFill>
                  <a:srgbClr val="26EFE9"/>
                </a:solidFill>
                <a:latin typeface="Arial"/>
              </a:rPr>
              <a:t>Portfolio size</a:t>
            </a:r>
          </a:p>
          <a:p>
            <a:pPr algn="l">
              <a:spcAft>
                <a:spcPts val="1000"/>
              </a:spcAft>
            </a:pPr>
            <a:r>
              <a:rPr sz="2000" b="1" i="0">
                <a:solidFill>
                  <a:srgbClr val="FFFFFF"/>
                </a:solidFill>
                <a:latin typeface="Arial"/>
              </a:rPr>
              <a:t>accounts × attach rate × deal size</a:t>
            </a:r>
          </a:p>
          <a:p>
            <a:pPr algn="l">
              <a:spcAft>
                <a:spcPts val="1000"/>
              </a:spcAft>
            </a:pPr>
            <a:r>
              <a:rPr sz="1800" b="0" i="0">
                <a:solidFill>
                  <a:srgbClr val="FFFFFF"/>
                </a:solidFill>
                <a:latin typeface="Arial"/>
              </a:rPr>
              <a:t>Accounts and attach rate: input required from account leadership.</a:t>
            </a:r>
          </a:p>
          <a:p>
            <a:pPr algn="l"/>
            <a:r>
              <a:rPr sz="1800" b="0" i="0">
                <a:solidFill>
                  <a:srgbClr val="FFFFFF"/>
                </a:solidFill>
                <a:latin typeface="Arial"/>
              </a:rPr>
              <a:t>Investment, payback and margin structure: appendix A9 and A10.</a:t>
            </a:r>
          </a:p>
        </p:txBody>
      </p:sp>
      <p:sp>
        <p:nvSpPr>
          <p:cNvPr id="10" name="Rounded Rectangle 9"/>
          <p:cNvSpPr/>
          <p:nvPr/>
        </p:nvSpPr>
        <p:spPr>
          <a:xfrm>
            <a:off x="548640" y="5577840"/>
            <a:ext cx="11091672"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Hypothetical deal, illustrative rate. Customer Azure and licence spend is separate and goes to Microsoft.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Our edge is testable: five claims, each with its proof</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CLAIMS TO VALIDATE"/>
          <p:cNvSpPr/>
          <p:nvPr/>
        </p:nvSpPr>
        <p:spPr>
          <a:xfrm>
            <a:off x="3658870" y="274320"/>
            <a:ext cx="182880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CLAIMS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25880"/>
          <a:ext cx="11091672" cy="3550920"/>
        </p:xfrm>
        <a:graphic>
          <a:graphicData uri="http://schemas.openxmlformats.org/drawingml/2006/table">
            <a:tbl>
              <a:tblPr firstRow="1" bandRow="0">
                <a:tableStyleId>{5C22544A-7EE6-4342-B048-85BDC9FD1C3A}</a:tableStyleId>
              </a:tblPr>
              <a:tblGrid>
                <a:gridCol w="4754880"/>
                <a:gridCol w="4572000"/>
                <a:gridCol w="1764792"/>
              </a:tblGrid>
              <a:tr h="350520">
                <a:tc>
                  <a:txBody>
                    <a:bodyPr wrap="square" anchor="ctr">
                      <a:noAutofit/>
                    </a:bodyPr>
                    <a:lstStyle/>
                    <a:p>
                      <a:pPr algn="l"/>
                      <a:r>
                        <a:rPr sz="1700" b="1" i="0">
                          <a:solidFill>
                            <a:srgbClr val="FFFFFF"/>
                          </a:solidFill>
                          <a:latin typeface="Arial"/>
                        </a:rPr>
                        <a:t>Differentiator (claim to validate)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Evidence needed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Status</a:t>
                      </a:r>
                    </a:p>
                  </a:txBody>
                  <a:tcPr marL="73152" marR="73152" marT="36576" marB="36576" anchor="ctr">
                    <a:solidFill>
                      <a:srgbClr val="000048"/>
                    </a:solidFill>
                  </a:tcPr>
                </a:tc>
              </a:tr>
              <a:tr h="640080">
                <a:tc>
                  <a:txBody>
                    <a:bodyPr wrap="square" anchor="ctr">
                      <a:noAutofit/>
                    </a:bodyPr>
                    <a:lstStyle/>
                    <a:p>
                      <a:pPr algn="l"/>
                      <a:r>
                        <a:rPr sz="1800" b="1" i="0">
                          <a:solidFill>
                            <a:srgbClr val="1E1E2E"/>
                          </a:solidFill>
                          <a:latin typeface="Arial"/>
                        </a:rPr>
                        <a:t>Built on Microsoft AI Landing Zone accelerators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Working lab build and reuse saving measured</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To prove</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Configure Agent 365 and Foundry first, build only gaps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One pilot with build-versus-buy log</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To prove</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Kill switch tested before it is sold</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PoC with measured stop time per runtime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To prove</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One run model with clear tower lanes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Signed tower agreements and first service report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To prove</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Cost evidence from day one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One assessment memo accepted by a customer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To prove</a:t>
                      </a:r>
                    </a:p>
                  </a:txBody>
                  <a:tcPr marL="73152" marR="73152" marT="36576" marB="36576" anchor="ctr">
                    <a:solidFill>
                      <a:srgbClr val="FFFFFF"/>
                    </a:solidFill>
                  </a:tcPr>
                </a:tc>
              </a:tr>
            </a:tbl>
          </a:graphicData>
        </a:graphic>
      </p:graphicFrame>
      <p:sp>
        <p:nvSpPr>
          <p:cNvPr id="9" name="Rounded Rectangle 8"/>
          <p:cNvSpPr/>
          <p:nvPr/>
        </p:nvSpPr>
        <p:spPr>
          <a:xfrm>
            <a:off x="548640" y="5577840"/>
            <a:ext cx="11091672"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Benchmark firms are public positioning only, not proof of quality or price. Battlecard: appendix A6.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Microsoft gains consumption; we gain co-sold services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Status chip: CHECKED 11 OCT 2026"/>
          <p:cNvSpPr/>
          <p:nvPr/>
        </p:nvSpPr>
        <p:spPr>
          <a:xfrm>
            <a:off x="365887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8" name="Rounded Rectangle 7"/>
          <p:cNvSpPr/>
          <p:nvPr/>
        </p:nvSpPr>
        <p:spPr>
          <a:xfrm>
            <a:off x="548640"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Consumption for Microsoft</a:t>
            </a:r>
          </a:p>
        </p:txBody>
      </p:sp>
      <p:sp>
        <p:nvSpPr>
          <p:cNvPr id="9" name="Rounded Rectangle 8"/>
          <p:cNvSpPr/>
          <p:nvPr/>
        </p:nvSpPr>
        <p:spPr>
          <a:xfrm>
            <a:off x="548640" y="2103120"/>
            <a:ext cx="3593592"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900" b="0" i="0">
                <a:solidFill>
                  <a:srgbClr val="1E1E2E"/>
                </a:solidFill>
                <a:latin typeface="Arial"/>
              </a:rPr>
              <a:t>Governed platforms move AI workloads into production, which grows Azure use</a:t>
            </a:r>
          </a:p>
        </p:txBody>
      </p:sp>
      <p:sp>
        <p:nvSpPr>
          <p:cNvPr id="10" name="Rounded Rectangle 9"/>
          <p:cNvSpPr/>
          <p:nvPr/>
        </p:nvSpPr>
        <p:spPr>
          <a:xfrm>
            <a:off x="548640" y="4206240"/>
            <a:ext cx="3593592" cy="960120"/>
          </a:xfrm>
          <a:prstGeom prst="roundRect">
            <a:avLst>
              <a:gd name="adj" fmla="val 761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Owner: offering owners</a:t>
            </a:r>
          </a:p>
        </p:txBody>
      </p:sp>
      <p:sp>
        <p:nvSpPr>
          <p:cNvPr id="11" name="Rounded Rectangle 10"/>
          <p:cNvSpPr/>
          <p:nvPr/>
        </p:nvSpPr>
        <p:spPr>
          <a:xfrm>
            <a:off x="429767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Services co-sell</a:t>
            </a:r>
          </a:p>
        </p:txBody>
      </p:sp>
      <p:sp>
        <p:nvSpPr>
          <p:cNvPr id="12" name="Rounded Rectangle 11"/>
          <p:cNvSpPr/>
          <p:nvPr/>
        </p:nvSpPr>
        <p:spPr>
          <a:xfrm>
            <a:off x="4297679" y="2103120"/>
            <a:ext cx="3593592"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900" b="0" i="0">
                <a:solidFill>
                  <a:srgbClr val="1E1E2E"/>
                </a:solidFill>
                <a:latin typeface="Arial"/>
              </a:rPr>
              <a:t>Needs a Solutions partner designation, a specialization or Azure Expert MSP</a:t>
            </a:r>
          </a:p>
        </p:txBody>
      </p:sp>
      <p:sp>
        <p:nvSpPr>
          <p:cNvPr id="13" name="Rounded Rectangle 12"/>
          <p:cNvSpPr/>
          <p:nvPr/>
        </p:nvSpPr>
        <p:spPr>
          <a:xfrm>
            <a:off x="4297679" y="4206240"/>
            <a:ext cx="3593592" cy="960120"/>
          </a:xfrm>
          <a:prstGeom prst="roundRect">
            <a:avLst>
              <a:gd name="adj" fmla="val 761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Owner: alliance team to confirm status</a:t>
            </a:r>
          </a:p>
        </p:txBody>
      </p:sp>
      <p:sp>
        <p:nvSpPr>
          <p:cNvPr id="14" name="Rounded Rectangle 13"/>
          <p:cNvSpPr/>
          <p:nvPr/>
        </p:nvSpPr>
        <p:spPr>
          <a:xfrm>
            <a:off x="804671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Funding and assessments</a:t>
            </a:r>
          </a:p>
        </p:txBody>
      </p:sp>
      <p:sp>
        <p:nvSpPr>
          <p:cNvPr id="15" name="Rounded Rectangle 14"/>
          <p:cNvSpPr/>
          <p:nvPr/>
        </p:nvSpPr>
        <p:spPr>
          <a:xfrm>
            <a:off x="8046719" y="2103120"/>
            <a:ext cx="3593592"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r>
              <a:rPr sz="1900" b="0" i="0">
                <a:solidFill>
                  <a:srgbClr val="1E1E2E"/>
                </a:solidFill>
                <a:latin typeface="Arial"/>
              </a:rPr>
              <a:t>Azure Accelerate where eligible for discovery; we charge for the decision memo</a:t>
            </a:r>
          </a:p>
        </p:txBody>
      </p:sp>
      <p:sp>
        <p:nvSpPr>
          <p:cNvPr id="16" name="Rounded Rectangle 15"/>
          <p:cNvSpPr/>
          <p:nvPr/>
        </p:nvSpPr>
        <p:spPr>
          <a:xfrm>
            <a:off x="8046719" y="4206240"/>
            <a:ext cx="3593592" cy="960120"/>
          </a:xfrm>
          <a:prstGeom prst="roundRect">
            <a:avLst>
              <a:gd name="adj" fmla="val 761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700" b="0" i="0">
                <a:solidFill>
                  <a:srgbClr val="1E1E2E"/>
                </a:solidFill>
                <a:latin typeface="Arial"/>
              </a:rPr>
              <a:t>Owner: alliance team, per customer</a:t>
            </a:r>
          </a:p>
        </p:txBody>
      </p:sp>
      <p:sp>
        <p:nvSpPr>
          <p:cNvPr id="17" name="Rounded Rectangle 16"/>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Specializations to confirm: AI Platform on Microsoft Azure; AI Apps on Microsoft Azure. No funding assumed in any price.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Decide today: which offerings, who owns them, what budget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INPUTS REQUIRED"/>
          <p:cNvSpPr/>
          <p:nvPr/>
        </p:nvSpPr>
        <p:spPr>
          <a:xfrm>
            <a:off x="375666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INPUTS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graphicFrame>
        <p:nvGraphicFramePr>
          <p:cNvPr id="8" name="Table"/>
          <p:cNvGraphicFramePr>
            <a:graphicFrameLocks noGrp="1"/>
          </p:cNvGraphicFramePr>
          <p:nvPr/>
        </p:nvGraphicFramePr>
        <p:xfrm>
          <a:off x="548640" y="1325880"/>
          <a:ext cx="11091672" cy="3291840"/>
        </p:xfrm>
        <a:graphic>
          <a:graphicData uri="http://schemas.openxmlformats.org/drawingml/2006/table">
            <a:tbl>
              <a:tblPr firstRow="1" bandRow="0">
                <a:tableStyleId>{5C22544A-7EE6-4342-B048-85BDC9FD1C3A}</a:tableStyleId>
              </a:tblPr>
              <a:tblGrid>
                <a:gridCol w="2194560"/>
                <a:gridCol w="1280160"/>
                <a:gridCol w="1600200"/>
                <a:gridCol w="2651760"/>
                <a:gridCol w="3364992"/>
              </a:tblGrid>
              <a:tr h="640080">
                <a:tc>
                  <a:txBody>
                    <a:bodyPr wrap="square" anchor="ctr">
                      <a:noAutofit/>
                    </a:bodyPr>
                    <a:lstStyle/>
                    <a:p>
                      <a:pPr algn="l"/>
                      <a:r>
                        <a:rPr sz="18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Budget</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Sponsor, owner</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Stop at day 45 if</a:t>
                      </a:r>
                    </a:p>
                  </a:txBody>
                  <a:tcPr marL="73152" marR="73152" marT="36576" marB="36576" anchor="ctr">
                    <a:solidFill>
                      <a:srgbClr val="000048"/>
                    </a:solidFill>
                  </a:tcPr>
                </a:tc>
                <a:tc>
                  <a:txBody>
                    <a:bodyPr wrap="square" anchor="ctr">
                      <a:noAutofit/>
                    </a:bodyPr>
                    <a:lstStyle/>
                    <a:p>
                      <a:pPr algn="l"/>
                      <a:r>
                        <a:rPr sz="1800" b="1" i="0">
                          <a:solidFill>
                            <a:srgbClr val="FFFFFF"/>
                          </a:solidFill>
                          <a:latin typeface="Arial"/>
                        </a:rPr>
                        <a:t>Success by day 90</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no data access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two assessments signed</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03 AI Gateway</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no qualified account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one readiness sold</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01 Landing Zone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lab build fails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lab built, one deal qualified</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02 Governance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PoC fails a K4 test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PoC passed, stop time measured</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05 Managed Ops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Input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no tower agreements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agreements signed, one onboarding</a:t>
                      </a:r>
                    </a:p>
                  </a:txBody>
                  <a:tcPr marL="73152" marR="73152" marT="36576" marB="36576" anchor="ctr">
                    <a:solidFill>
                      <a:srgbClr val="FFFFFF"/>
                    </a:solidFill>
                  </a:tcPr>
                </a:tc>
              </a:tr>
            </a:tbl>
          </a:graphicData>
        </a:graphic>
      </p:graphicFrame>
      <p:sp>
        <p:nvSpPr>
          <p:cNvPr id="9" name="Rounded Rectangle 8"/>
          <p:cNvSpPr/>
          <p:nvPr/>
        </p:nvSpPr>
        <p:spPr>
          <a:xfrm>
            <a:off x="548640" y="557784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Input: budget and sponsor from leadership; headcount from the delivery lead. Day-30 checkpoint; register D1.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Portfolio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Offering cards, ownership matrix, joint motion, risks, sizing, investment and margin, internal positioning, Microsoft alignment, governance, sign-off, third-party risk, responsible AI, inputs required, security, regulation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2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Offering cards</a:t>
            </a:r>
          </a:p>
        </p:txBody>
      </p:sp>
      <p:sp>
        <p:nvSpPr>
          <p:cNvPr id="8" name="TextBox 7">
            <a:hlinkClick action="ppaction://hlinksldjump" r:id="rId5"/>
          </p:cNvPr>
          <p:cNvSpPr txBox="1"/>
          <p:nvPr/>
        </p:nvSpPr>
        <p:spPr>
          <a:xfrm>
            <a:off x="54864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Capability ownership matrix</a:t>
            </a:r>
          </a:p>
        </p:txBody>
      </p:sp>
      <p:sp>
        <p:nvSpPr>
          <p:cNvPr id="9" name="TextBox 8">
            <a:hlinkClick action="ppaction://hlinksldjump" r:id="rId6"/>
          </p:cNvPr>
          <p:cNvSpPr txBox="1"/>
          <p:nvPr/>
        </p:nvSpPr>
        <p:spPr>
          <a:xfrm>
            <a:off x="54864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Joint-motion rules and cannibalisation check</a:t>
            </a:r>
          </a:p>
        </p:txBody>
      </p:sp>
      <p:sp>
        <p:nvSpPr>
          <p:cNvPr id="10" name="TextBox 9">
            <a:hlinkClick action="ppaction://hlinksldjump" r:id="rId7"/>
          </p:cNvPr>
          <p:cNvSpPr txBox="1"/>
          <p:nvPr/>
        </p:nvSpPr>
        <p:spPr>
          <a:xfrm>
            <a:off x="54864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Portfolio risks</a:t>
            </a:r>
          </a:p>
        </p:txBody>
      </p:sp>
      <p:sp>
        <p:nvSpPr>
          <p:cNvPr id="11" name="TextBox 10">
            <a:hlinkClick action="ppaction://hlinksldjump" r:id="rId8"/>
          </p:cNvPr>
          <p:cNvSpPr txBox="1"/>
          <p:nvPr/>
        </p:nvSpPr>
        <p:spPr>
          <a:xfrm>
            <a:off x="54864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A6  </a:t>
            </a:r>
            <a:r>
              <a:rPr sz="1300" b="0" i="0">
                <a:solidFill>
                  <a:srgbClr val="1E1E2E"/>
                </a:solidFill>
                <a:latin typeface="Arial"/>
              </a:rPr>
              <a:t>Competitor battlecard</a:t>
            </a:r>
          </a:p>
        </p:txBody>
      </p:sp>
      <p:sp>
        <p:nvSpPr>
          <p:cNvPr id="12" name="TextBox 11">
            <a:hlinkClick action="ppaction://hlinksldjump" r:id="rId9"/>
          </p:cNvPr>
          <p:cNvSpPr txBox="1"/>
          <p:nvPr/>
        </p:nvSpPr>
        <p:spPr>
          <a:xfrm>
            <a:off x="54864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A7  </a:t>
            </a:r>
            <a:r>
              <a:rPr sz="1300" b="0" i="0">
                <a:solidFill>
                  <a:srgbClr val="1E1E2E"/>
                </a:solidFill>
                <a:latin typeface="Arial"/>
              </a:rPr>
              <a:t>Internal positioning</a:t>
            </a:r>
          </a:p>
        </p:txBody>
      </p:sp>
      <p:sp>
        <p:nvSpPr>
          <p:cNvPr id="13" name="TextBox 12">
            <a:hlinkClick action="ppaction://hlinksldjump" r:id="rId10"/>
          </p:cNvPr>
          <p:cNvSpPr txBox="1"/>
          <p:nvPr/>
        </p:nvSpPr>
        <p:spPr>
          <a:xfrm>
            <a:off x="54864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A8  </a:t>
            </a:r>
            <a:r>
              <a:rPr sz="1300" b="0" i="0">
                <a:solidFill>
                  <a:srgbClr val="1E1E2E"/>
                </a:solidFill>
                <a:latin typeface="Arial"/>
              </a:rPr>
              <a:t>Opportunity sizing</a:t>
            </a:r>
          </a:p>
        </p:txBody>
      </p:sp>
      <p:sp>
        <p:nvSpPr>
          <p:cNvPr id="14" name="TextBox 13">
            <a:hlinkClick action="ppaction://hlinksldjump" r:id="rId11"/>
          </p:cNvPr>
          <p:cNvSpPr txBox="1"/>
          <p:nvPr/>
        </p:nvSpPr>
        <p:spPr>
          <a:xfrm>
            <a:off x="54864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A9  </a:t>
            </a:r>
            <a:r>
              <a:rPr sz="1300" b="0" i="0">
                <a:solidFill>
                  <a:srgbClr val="1E1E2E"/>
                </a:solidFill>
                <a:latin typeface="Arial"/>
              </a:rPr>
              <a:t>Investment and payback</a:t>
            </a:r>
          </a:p>
        </p:txBody>
      </p:sp>
      <p:sp>
        <p:nvSpPr>
          <p:cNvPr id="15" name="TextBox 14">
            <a:hlinkClick action="ppaction://hlinksldjump" r:id="rId12"/>
          </p:cNvPr>
          <p:cNvSpPr txBox="1"/>
          <p:nvPr/>
        </p:nvSpPr>
        <p:spPr>
          <a:xfrm>
            <a:off x="54864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A10  </a:t>
            </a:r>
            <a:r>
              <a:rPr sz="1300" b="0" i="0">
                <a:solidFill>
                  <a:srgbClr val="1E1E2E"/>
                </a:solidFill>
                <a:latin typeface="Arial"/>
              </a:rPr>
              <a:t>Margin structure and revenue recognition</a:t>
            </a:r>
          </a:p>
        </p:txBody>
      </p:sp>
      <p:sp>
        <p:nvSpPr>
          <p:cNvPr id="16" name="TextBox 15">
            <a:hlinkClick action="ppaction://hlinksldjump" r:id="rId13"/>
          </p:cNvPr>
          <p:cNvSpPr txBox="1"/>
          <p:nvPr/>
        </p:nvSpPr>
        <p:spPr>
          <a:xfrm>
            <a:off x="54864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A11  </a:t>
            </a:r>
            <a:r>
              <a:rPr sz="1300" b="0" i="0">
                <a:solidFill>
                  <a:srgbClr val="1E1E2E"/>
                </a:solidFill>
                <a:latin typeface="Arial"/>
              </a:rPr>
              <a:t>Microsoft sales motion alignment</a:t>
            </a:r>
          </a:p>
        </p:txBody>
      </p:sp>
      <p:sp>
        <p:nvSpPr>
          <p:cNvPr id="17" name="TextBox 16">
            <a:hlinkClick action="ppaction://hlinksldjump" r:id="rId14"/>
          </p:cNvPr>
          <p:cNvSpPr txBox="1"/>
          <p:nvPr/>
        </p:nvSpPr>
        <p:spPr>
          <a:xfrm>
            <a:off x="54864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A12  </a:t>
            </a:r>
            <a:r>
              <a:rPr sz="1300" b="0" i="0">
                <a:solidFill>
                  <a:srgbClr val="1E1E2E"/>
                </a:solidFill>
                <a:latin typeface="Arial"/>
              </a:rPr>
              <a:t>Sign-off status</a:t>
            </a:r>
          </a:p>
        </p:txBody>
      </p:sp>
      <p:sp>
        <p:nvSpPr>
          <p:cNvPr id="18" name="TextBox 17">
            <a:hlinkClick action="ppaction://hlinksldjump" r:id="rId15"/>
          </p:cNvPr>
          <p:cNvSpPr txBox="1"/>
          <p:nvPr/>
        </p:nvSpPr>
        <p:spPr>
          <a:xfrm>
            <a:off x="54864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A13  </a:t>
            </a:r>
            <a:r>
              <a:rPr sz="1300" b="0" i="0">
                <a:solidFill>
                  <a:srgbClr val="1E1E2E"/>
                </a:solidFill>
                <a:latin typeface="Arial"/>
              </a:rPr>
              <a:t>Offering governance</a:t>
            </a:r>
          </a:p>
        </p:txBody>
      </p:sp>
      <p:sp>
        <p:nvSpPr>
          <p:cNvPr id="19" name="TextBox 18">
            <a:hlinkClick action="ppaction://hlinksldjump" r:id="rId16"/>
          </p:cNvPr>
          <p:cNvSpPr txBox="1"/>
          <p:nvPr/>
        </p:nvSpPr>
        <p:spPr>
          <a:xfrm>
            <a:off x="621792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A14  </a:t>
            </a:r>
            <a:r>
              <a:rPr sz="1300" b="0" i="0">
                <a:solidFill>
                  <a:srgbClr val="1E1E2E"/>
                </a:solidFill>
                <a:latin typeface="Arial"/>
              </a:rPr>
              <a:t>Third-party risk answer set</a:t>
            </a:r>
          </a:p>
        </p:txBody>
      </p:sp>
      <p:sp>
        <p:nvSpPr>
          <p:cNvPr id="20" name="TextBox 19">
            <a:hlinkClick action="ppaction://hlinksldjump" r:id="rId17"/>
          </p:cNvPr>
          <p:cNvSpPr txBox="1"/>
          <p:nvPr/>
        </p:nvSpPr>
        <p:spPr>
          <a:xfrm>
            <a:off x="621792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A15  </a:t>
            </a:r>
            <a:r>
              <a:rPr sz="1300" b="0" i="0">
                <a:solidFill>
                  <a:srgbClr val="1E1E2E"/>
                </a:solidFill>
                <a:latin typeface="Arial"/>
              </a:rPr>
              <a:t>Responsible AI controls</a:t>
            </a:r>
          </a:p>
        </p:txBody>
      </p:sp>
      <p:sp>
        <p:nvSpPr>
          <p:cNvPr id="21" name="TextBox 20">
            <a:hlinkClick action="ppaction://hlinksldjump" r:id="rId18"/>
          </p:cNvPr>
          <p:cNvSpPr txBox="1"/>
          <p:nvPr/>
        </p:nvSpPr>
        <p:spPr>
          <a:xfrm>
            <a:off x="621792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A16  </a:t>
            </a:r>
            <a:r>
              <a:rPr sz="1300" b="0" i="0">
                <a:solidFill>
                  <a:srgbClr val="1E1E2E"/>
                </a:solidFill>
                <a:latin typeface="Arial"/>
              </a:rPr>
              <a:t>Inputs required summary</a:t>
            </a:r>
          </a:p>
        </p:txBody>
      </p:sp>
      <p:sp>
        <p:nvSpPr>
          <p:cNvPr id="22" name="TextBox 21">
            <a:hlinkClick action="ppaction://hlinksldjump" r:id="rId19"/>
          </p:cNvPr>
          <p:cNvSpPr txBox="1"/>
          <p:nvPr/>
        </p:nvSpPr>
        <p:spPr>
          <a:xfrm>
            <a:off x="621792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E1  </a:t>
            </a:r>
            <a:r>
              <a:rPr sz="1300" b="0" i="0">
                <a:solidFill>
                  <a:srgbClr val="1E1E2E"/>
                </a:solidFill>
                <a:latin typeface="Arial"/>
              </a:rPr>
              <a:t>Combined estimate assumptions</a:t>
            </a:r>
          </a:p>
        </p:txBody>
      </p:sp>
      <p:sp>
        <p:nvSpPr>
          <p:cNvPr id="23" name="TextBox 22">
            <a:hlinkClick action="ppaction://hlinksldjump" r:id="rId20"/>
          </p:cNvPr>
          <p:cNvSpPr txBox="1"/>
          <p:nvPr/>
        </p:nvSpPr>
        <p:spPr>
          <a:xfrm>
            <a:off x="621792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24" name="TextBox 23">
            <a:hlinkClick action="ppaction://hlinksldjump" r:id="rId21"/>
          </p:cNvPr>
          <p:cNvSpPr txBox="1"/>
          <p:nvPr/>
        </p:nvSpPr>
        <p:spPr>
          <a:xfrm>
            <a:off x="621792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SEC1  </a:t>
            </a:r>
            <a:r>
              <a:rPr sz="1300" b="0" i="0">
                <a:solidFill>
                  <a:srgbClr val="1E1E2E"/>
                </a:solidFill>
                <a:latin typeface="Arial"/>
              </a:rPr>
              <a:t>AI threat model and controls</a:t>
            </a:r>
          </a:p>
        </p:txBody>
      </p:sp>
      <p:sp>
        <p:nvSpPr>
          <p:cNvPr id="25" name="TextBox 24">
            <a:hlinkClick action="ppaction://hlinksldjump" r:id="rId22"/>
          </p:cNvPr>
          <p:cNvSpPr txBox="1"/>
          <p:nvPr/>
        </p:nvSpPr>
        <p:spPr>
          <a:xfrm>
            <a:off x="621792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SEC2  </a:t>
            </a:r>
            <a:r>
              <a:rPr sz="1300" b="0" i="0">
                <a:solidFill>
                  <a:srgbClr val="1E1E2E"/>
                </a:solidFill>
                <a:latin typeface="Arial"/>
              </a:rPr>
              <a:t>Regulation and EU AI Act roles</a:t>
            </a:r>
          </a:p>
        </p:txBody>
      </p:sp>
      <p:sp>
        <p:nvSpPr>
          <p:cNvPr id="26" name="TextBox 25">
            <a:hlinkClick action="ppaction://hlinksldjump" r:id="rId23"/>
          </p:cNvPr>
          <p:cNvSpPr txBox="1"/>
          <p:nvPr/>
        </p:nvSpPr>
        <p:spPr>
          <a:xfrm>
            <a:off x="621792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SEC3  </a:t>
            </a:r>
            <a:r>
              <a:rPr sz="1300" b="0" i="0">
                <a:solidFill>
                  <a:srgbClr val="1E1E2E"/>
                </a:solidFill>
                <a:latin typeface="Arial"/>
              </a:rPr>
              <a:t>Security services and owners</a:t>
            </a:r>
          </a:p>
        </p:txBody>
      </p:sp>
      <p:sp>
        <p:nvSpPr>
          <p:cNvPr id="27" name="TextBox 26">
            <a:hlinkClick action="ppaction://hlinksldjump" r:id="rId24"/>
          </p:cNvPr>
          <p:cNvSpPr txBox="1"/>
          <p:nvPr/>
        </p:nvSpPr>
        <p:spPr>
          <a:xfrm>
            <a:off x="621792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G1  </a:t>
            </a:r>
            <a:r>
              <a:rPr sz="1300" b="0" i="0">
                <a:solidFill>
                  <a:srgbClr val="1E1E2E"/>
                </a:solidFill>
                <a:latin typeface="Arial"/>
              </a:rPr>
              <a:t>Glossary</a:t>
            </a:r>
          </a:p>
        </p:txBody>
      </p:sp>
      <p:sp>
        <p:nvSpPr>
          <p:cNvPr id="28" name="TextBox 27">
            <a:hlinkClick action="ppaction://hlinksldjump" r:id="rId25"/>
          </p:cNvPr>
          <p:cNvSpPr txBox="1"/>
          <p:nvPr/>
        </p:nvSpPr>
        <p:spPr>
          <a:xfrm>
            <a:off x="621792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D1  </a:t>
            </a:r>
            <a:r>
              <a:rPr sz="1300" b="0" i="0">
                <a:solidFill>
                  <a:srgbClr val="1E1E2E"/>
                </a:solidFill>
                <a:latin typeface="Arial"/>
              </a:rPr>
              <a:t>Decision and approval register</a:t>
            </a:r>
          </a:p>
        </p:txBody>
      </p:sp>
      <p:sp>
        <p:nvSpPr>
          <p:cNvPr id="29" name="TextBox 28">
            <a:hlinkClick action="ppaction://hlinksldjump" r:id="rId26"/>
          </p:cNvPr>
          <p:cNvSpPr txBox="1"/>
          <p:nvPr/>
        </p:nvSpPr>
        <p:spPr>
          <a:xfrm>
            <a:off x="621792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S1  </a:t>
            </a:r>
            <a:r>
              <a:rPr sz="1300" b="0" i="0">
                <a:solidFill>
                  <a:srgbClr val="1E1E2E"/>
                </a:solidFill>
                <a:latin typeface="Arial"/>
              </a:rPr>
              <a:t>Sources and verification dates</a:t>
            </a:r>
          </a:p>
        </p:txBody>
      </p:sp>
      <p:sp>
        <p:nvSpPr>
          <p:cNvPr id="30" name="TextBox 29">
            <a:hlinkClick action="ppaction://hlinksldjump" r:id="rId27"/>
          </p:cNvPr>
          <p:cNvSpPr txBox="1"/>
          <p:nvPr/>
        </p:nvSpPr>
        <p:spPr>
          <a:xfrm>
            <a:off x="621792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S1b  </a:t>
            </a:r>
            <a:r>
              <a:rPr sz="1300" b="0" i="0">
                <a:solidFill>
                  <a:srgbClr val="1E1E2E"/>
                </a:solidFill>
                <a:latin typeface="Arial"/>
              </a:rPr>
              <a:t>Sources and verification dates (continued)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Offering cards: buyer, trigger, entry package, value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926080"/>
        </p:xfrm>
        <a:graphic>
          <a:graphicData uri="http://schemas.openxmlformats.org/drawingml/2006/table">
            <a:tbl>
              <a:tblPr firstRow="1" bandRow="0">
                <a:tableStyleId>{5C22544A-7EE6-4342-B048-85BDC9FD1C3A}</a:tableStyleId>
              </a:tblPr>
              <a:tblGrid>
                <a:gridCol w="2194560"/>
                <a:gridCol w="2194560"/>
                <a:gridCol w="2560320"/>
                <a:gridCol w="1828800"/>
                <a:gridCol w="2313432"/>
              </a:tblGrid>
              <a:tr h="487680">
                <a:tc>
                  <a:txBody>
                    <a:bodyPr wrap="square" anchor="ctr">
                      <a:noAutofit/>
                    </a:bodyPr>
                    <a:lstStyle/>
                    <a:p>
                      <a:pPr algn="l"/>
                      <a:r>
                        <a:rPr sz="13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Main buyer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Trigger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Entry package (role days)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Customer value metric</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04 FinOps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lead, CFO delegate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Spend growing; PTU or licence decision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Assessment, 20 to 40</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Cost per useful AI task</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01 Landing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Cloud platform owner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First production AI workload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Assess, 15 to 30</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Weeks from approval to first production workload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03 AI 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Platform or API owner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Many teams calling models; keys in apps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Readiness, 10 to 20</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Share of AI calls governed and attributed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02 Agent Governance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platform leader, CISO delegate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sprawl; audit request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Coverage assessment, 15 to 25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Agents with an owner; stop time measured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05 Managed Operations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IT service owner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workload entering production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Onboarding, 20 to 40</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Incidents resolved inside target</a:t>
                      </a:r>
                    </a:p>
                  </a:txBody>
                  <a:tcPr marL="73152" marR="73152"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One owner per capability: no offering claims the same work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71600"/>
          <a:ext cx="11091672" cy="2712720"/>
        </p:xfrm>
        <a:graphic>
          <a:graphicData uri="http://schemas.openxmlformats.org/drawingml/2006/table">
            <a:tbl>
              <a:tblPr firstRow="1" bandRow="0">
                <a:tableStyleId>{5C22544A-7EE6-4342-B048-85BDC9FD1C3A}</a:tableStyleId>
              </a:tblPr>
              <a:tblGrid>
                <a:gridCol w="3566160"/>
                <a:gridCol w="1371600"/>
                <a:gridCol w="1554480"/>
                <a:gridCol w="1554480"/>
                <a:gridCol w="1463040"/>
                <a:gridCol w="1581912"/>
              </a:tblGrid>
              <a:tr h="289560">
                <a:tc>
                  <a:txBody>
                    <a:bodyPr wrap="square" anchor="ctr">
                      <a:noAutofit/>
                    </a:bodyPr>
                    <a:lstStyle/>
                    <a:p>
                      <a:pPr algn="l"/>
                      <a:r>
                        <a:rPr sz="13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01</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02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03</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04</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05</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Landing zone, network, identity plumbing</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Builds</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Operates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Agent registry, catalogue, reviews</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Builds</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Operates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Kill switch (containment)</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Network inputs</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Builds and proves</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Gateway enforcement</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Operates drills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Gateway policies, API Center</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Builds</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Operates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Chargeback and showback</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Builds the data</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Designs the model</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Runs reports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Capacity and cost decisions</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Routing rules</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Designs</a:t>
                      </a:r>
                    </a:p>
                  </a:txBody>
                  <a:tcPr marL="73152" marR="73152" marT="36576" marB="36576" anchor="ctr">
                    <a:solidFill>
                      <a:srgbClr val="F5F5F2"/>
                    </a:solidFill>
                  </a:tcPr>
                </a:tc>
                <a:tc>
                  <a:txBody>
                    <a:bodyPr wrap="square" anchor="ctr">
                      <a:noAutofit/>
                    </a:bodyPr>
                    <a:lstStyle/>
                    <a:p>
                      <a:pPr algn="ctr"/>
                      <a:r>
                        <a:rPr sz="1300" b="0" i="0">
                          <a:solidFill>
                            <a:srgbClr val="1E1E2E"/>
                          </a:solidFill>
                          <a:latin typeface="Arial"/>
                        </a:rPr>
                        <a:t>Monthly review</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Monthly service and cost review</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Supplies method</a:t>
                      </a:r>
                    </a:p>
                  </a:txBody>
                  <a:tcPr marL="73152" marR="73152" marT="36576" marB="36576" anchor="ctr">
                    <a:solidFill>
                      <a:srgbClr val="FFFFFF"/>
                    </a:solidFill>
                  </a:tcPr>
                </a:tc>
                <a:tc>
                  <a:txBody>
                    <a:bodyPr wrap="square" anchor="ctr">
                      <a:noAutofit/>
                    </a:bodyPr>
                    <a:lstStyle/>
                    <a:p>
                      <a:pPr algn="ctr"/>
                      <a:r>
                        <a:rPr sz="1300" b="0" i="0">
                          <a:solidFill>
                            <a:srgbClr val="1E1E2E"/>
                          </a:solidFill>
                          <a:latin typeface="Arial"/>
                        </a:rPr>
                        <a:t>Runs</a:t>
                      </a:r>
                    </a:p>
                  </a:txBody>
                  <a:tcPr marL="73152" marR="73152" marT="36576" marB="36576"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Joint motion with M365 and D365: one team, one lead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TO AGREE"/>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 AGREE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9" name="Table"/>
          <p:cNvGraphicFramePr>
            <a:graphicFrameLocks noGrp="1"/>
          </p:cNvGraphicFramePr>
          <p:nvPr/>
        </p:nvGraphicFramePr>
        <p:xfrm>
          <a:off x="548640" y="1371600"/>
          <a:ext cx="11091672" cy="3017520"/>
        </p:xfrm>
        <a:graphic>
          <a:graphicData uri="http://schemas.openxmlformats.org/drawingml/2006/table">
            <a:tbl>
              <a:tblPr firstRow="1" bandRow="0">
                <a:tableStyleId>{5C22544A-7EE6-4342-B048-85BDC9FD1C3A}</a:tableStyleId>
              </a:tblPr>
              <a:tblGrid>
                <a:gridCol w="2377440"/>
                <a:gridCol w="6217920"/>
                <a:gridCol w="2496312"/>
              </a:tblGrid>
              <a:tr h="289560">
                <a:tc>
                  <a:txBody>
                    <a:bodyPr wrap="square" anchor="ctr">
                      <a:noAutofit/>
                    </a:bodyPr>
                    <a:lstStyle/>
                    <a:p>
                      <a:pPr algn="l"/>
                      <a:r>
                        <a:rPr sz="1300" b="1" i="0">
                          <a:solidFill>
                            <a:srgbClr val="FFFFFF"/>
                          </a:solidFill>
                          <a:latin typeface="Arial"/>
                        </a:rPr>
                        <a:t>Topic</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Proposed rule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 to agree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Deal lead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Team with the largest first priced work package leads; account leader confirms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Practice leads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Copilot ownership split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M365 team: Copilot in Microsoft 365 apps; D365 team: Copilot in Dynamics 365 (to confirm)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M365 and D365 leads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Handoffs to CIS Infra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Identity, network, Purview readiness inputs, Azure-hosted agents and backends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with M365 lead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Revenue credit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By priced work package per team; shared costs allocated once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Finance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One-team narrative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deck, one sponsor, one plan: Copilot adoption on a governed Azure platform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Account leader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Cannibalisation check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Existing Cognizant infrastructure or managed service accounts: extend by change control, never a rival bid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Account leader with delivery</a:t>
                      </a:r>
                    </a:p>
                  </a:txBody>
                  <a:tcPr marL="73152" marR="73152" marT="36576" marB="36576" anchor="ctr">
                    <a:solidFill>
                      <a:srgbClr val="F5F5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Portfolio risks and how we handle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8" name="Table"/>
          <p:cNvGraphicFramePr>
            <a:graphicFrameLocks noGrp="1"/>
          </p:cNvGraphicFramePr>
          <p:nvPr/>
        </p:nvGraphicFramePr>
        <p:xfrm>
          <a:off x="548640" y="1371600"/>
          <a:ext cx="11091672" cy="3200400"/>
        </p:xfrm>
        <a:graphic>
          <a:graphicData uri="http://schemas.openxmlformats.org/drawingml/2006/table">
            <a:tbl>
              <a:tblPr firstRow="1" bandRow="0">
                <a:tableStyleId>{5C22544A-7EE6-4342-B048-85BDC9FD1C3A}</a:tableStyleId>
              </a:tblPr>
              <a:tblGrid>
                <a:gridCol w="2743200"/>
                <a:gridCol w="2743200"/>
                <a:gridCol w="3474720"/>
                <a:gridCol w="2130552"/>
              </a:tblGrid>
              <a:tr h="304800">
                <a:tc>
                  <a:txBody>
                    <a:bodyPr wrap="square" anchor="ctr">
                      <a:noAutofit/>
                    </a:bodyPr>
                    <a:lstStyle/>
                    <a:p>
                      <a:pPr algn="l"/>
                      <a:r>
                        <a:rPr sz="1400" b="1" i="0">
                          <a:solidFill>
                            <a:srgbClr val="FFFFFF"/>
                          </a:solidFill>
                          <a:latin typeface="Arial"/>
                        </a:rPr>
                        <a:t>Risk</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Effect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How we handle it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Tower commitments unsigned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Offers cannot be delivered end to end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Signed tower agreements during validation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 leadership</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Overlap with M365, D365 and AI practices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Several Cognizant teams pitch one customer</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Joint-motion rules (A3) and internal positioning (A7)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Practice leads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No approved rates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Bands cannot become quotes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Finance sets rates and attribution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Microsoft features change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Preview features shift or slip</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 for production; recheck before quotes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Offering owners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Kill switch unproven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Containment promised but not delivered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in committed scope until the PoC passes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Offering owner 02</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Too many offerings at once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Effort spread thin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Leadership chooses; stop rules at day 45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CIS Infra leadership</a:t>
                      </a:r>
                    </a:p>
                  </a:txBody>
                  <a:tcPr marL="73152" marR="73152" marT="36576" marB="36576" anchor="ctr">
                    <a:solidFill>
                      <a:srgbClr val="F5F5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Competitor battlecard and objection responses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PUBLIC POSITIONING ONLY"/>
          <p:cNvSpPr/>
          <p:nvPr/>
        </p:nvSpPr>
        <p:spPr>
          <a:xfrm>
            <a:off x="1898650" y="274320"/>
            <a:ext cx="226060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PUBLIC POSITIONING ONLY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25880"/>
          <a:ext cx="6949438" cy="3931920"/>
        </p:xfrm>
        <a:graphic>
          <a:graphicData uri="http://schemas.openxmlformats.org/drawingml/2006/table">
            <a:tbl>
              <a:tblPr firstRow="1" bandRow="0">
                <a:tableStyleId>{5C22544A-7EE6-4342-B048-85BDC9FD1C3A}</a:tableStyleId>
              </a:tblPr>
              <a:tblGrid>
                <a:gridCol w="2011679"/>
                <a:gridCol w="2560320"/>
                <a:gridCol w="2377439"/>
              </a:tblGrid>
              <a:tr h="274320">
                <a:tc>
                  <a:txBody>
                    <a:bodyPr wrap="square" anchor="ctr">
                      <a:noAutofit/>
                    </a:bodyPr>
                    <a:lstStyle/>
                    <a:p>
                      <a:pPr algn="l"/>
                      <a:r>
                        <a:rPr sz="1200" b="1" i="0">
                          <a:solidFill>
                            <a:srgbClr val="FFFFFF"/>
                          </a:solidFill>
                          <a:latin typeface="Arial"/>
                        </a:rPr>
                        <a:t>Firm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Public positioning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Lesson for our pitch</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Accenture and Avanade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Agentic factory, industry workflows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Tie assets to an operational buyer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TCS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Persona-based Copilot rollout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Repeatable role and integration patterns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KPMG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Copilot, custom agents, governance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 trust controls to value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EPAM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AI/Run, agentic engineering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Show reusable assets and test evidence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EY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Industry engineering, change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Include process change and value owners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PwC</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quickstart, responsible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Named packages need real assets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Deloitte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End-to-end Microsoft transformation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 technology to operating model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Wipro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Industry IP, agent marketplace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Make integration reuse visible</a:t>
                      </a:r>
                    </a:p>
                  </a:txBody>
                  <a:tcPr marL="73152" marR="73152" marT="36576" marB="36576" anchor="ctr">
                    <a:solidFill>
                      <a:srgbClr val="F5F5F2"/>
                    </a:solidFill>
                  </a:tcPr>
                </a:tc>
              </a:tr>
            </a:tbl>
          </a:graphicData>
        </a:graphic>
      </p:graphicFrame>
      <p:sp>
        <p:nvSpPr>
          <p:cNvPr id="10" name="Rounded Rectangle 9"/>
          <p:cNvSpPr/>
          <p:nvPr/>
        </p:nvSpPr>
        <p:spPr>
          <a:xfrm>
            <a:off x="7726679" y="1325880"/>
            <a:ext cx="391363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"You are only infrastructure."</a:t>
            </a:r>
          </a:p>
          <a:p>
            <a:pPr algn="l"/>
            <a:r>
              <a:rPr sz="1300" b="0" i="0">
                <a:solidFill>
                  <a:srgbClr val="1E1E2E"/>
                </a:solidFill>
                <a:latin typeface="Arial"/>
              </a:rPr>
              <a:t>Agents fail on identity, network, cost and stop paths. That is our scope, and it is testable.</a:t>
            </a:r>
          </a:p>
        </p:txBody>
      </p:sp>
      <p:sp>
        <p:nvSpPr>
          <p:cNvPr id="11" name="Rounded Rectangle 10"/>
          <p:cNvSpPr/>
          <p:nvPr/>
        </p:nvSpPr>
        <p:spPr>
          <a:xfrm>
            <a:off x="7726679" y="2834639"/>
            <a:ext cx="391363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"Why not just use Microsoft’s tools?"</a:t>
            </a:r>
          </a:p>
          <a:p>
            <a:pPr algn="l"/>
            <a:r>
              <a:rPr sz="1300" b="0" i="0">
                <a:solidFill>
                  <a:srgbClr val="1E1E2E"/>
                </a:solidFill>
                <a:latin typeface="Arial"/>
              </a:rPr>
              <a:t>We do. We deploy and configure Microsoft tools first so customers adopt them faster, and build only what is missing.</a:t>
            </a:r>
          </a:p>
        </p:txBody>
      </p:sp>
      <p:sp>
        <p:nvSpPr>
          <p:cNvPr id="12" name="Rounded Rectangle 11"/>
          <p:cNvSpPr/>
          <p:nvPr/>
        </p:nvSpPr>
        <p:spPr>
          <a:xfrm>
            <a:off x="7726679" y="4343400"/>
            <a:ext cx="391363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"Big partners have more references."</a:t>
            </a:r>
          </a:p>
          <a:p>
            <a:pPr algn="l"/>
            <a:r>
              <a:rPr sz="1300" b="0" i="0">
                <a:solidFill>
                  <a:srgbClr val="1E1E2E"/>
                </a:solidFill>
                <a:latin typeface="Arial"/>
              </a:rPr>
              <a:t>Start with a 4 to 6 week assessment and judge us on its evidence.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Inside Cognizant: where CIS Infra adds infrastructure depth</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OWNERS TO CONFIRM"/>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OWNERS TO CONFIRM</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1" cy="2926080"/>
        </p:xfrm>
        <a:graphic>
          <a:graphicData uri="http://schemas.openxmlformats.org/drawingml/2006/table">
            <a:tbl>
              <a:tblPr firstRow="1" bandRow="0">
                <a:tableStyleId>{5C22544A-7EE6-4342-B048-85BDC9FD1C3A}</a:tableStyleId>
              </a:tblPr>
              <a:tblGrid>
                <a:gridCol w="3291840"/>
                <a:gridCol w="2377440"/>
                <a:gridCol w="3840480"/>
                <a:gridCol w="1581911"/>
              </a:tblGrid>
              <a:tr h="487680">
                <a:tc>
                  <a:txBody>
                    <a:bodyPr wrap="square" anchor="ctr">
                      <a:noAutofit/>
                    </a:bodyPr>
                    <a:lstStyle/>
                    <a:p>
                      <a:pPr algn="l"/>
                      <a:r>
                        <a:rPr sz="1300" b="1" i="0">
                          <a:solidFill>
                            <a:srgbClr val="FFFFFF"/>
                          </a:solidFill>
                          <a:latin typeface="Arial"/>
                        </a:rPr>
                        <a:t>Cognizant offering (public, per V3 C1 to C8)</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Leads 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Where CIS Infra adds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Agent Foundry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Agentic AI at enterprise scale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Landing zone, gateway, governance and operations for its agents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 confirm</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Enterprise agentic AI and multi-agent services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design and build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Runtime controls, containment and FinOps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 confirm</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Neuro AI Engineering, Enterprise Core, Decisioning</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engineering platforms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hosting, identity, network, cost controls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 confirm</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Microsoft Business Group and AI Operations Assistant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business apps and Copilot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Azure-side platform and agent operations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 confirm</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Microsoft Copilot services (M365 and D365 teams)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Copilot rollout and adoption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Identity, network, Purview inputs, Azure backends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 confirm</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Descriptions summarise public positioning only. Confirm every boundary with its owner before external use.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Sizing the opportunity: formula ready, inputs needed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INPUTS REQUIRED"/>
          <p:cNvSpPr/>
          <p:nvPr/>
        </p:nvSpPr>
        <p:spPr>
          <a:xfrm>
            <a:off x="189865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INPUTS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2194560"/>
                <a:gridCol w="2286000"/>
                <a:gridCol w="2286000"/>
                <a:gridCol w="2560320"/>
                <a:gridCol w="1764792"/>
              </a:tblGrid>
              <a:tr h="487680">
                <a:tc>
                  <a:txBody>
                    <a:bodyPr wrap="square" anchor="ctr">
                      <a:noAutofit/>
                    </a:bodyPr>
                    <a:lstStyle/>
                    <a:p>
                      <a:pPr algn="l"/>
                      <a:r>
                        <a:rPr sz="13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Target accounts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Attach rate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Average first deal (illustrative)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Revenue formula</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$30k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Y1 = A × B × C</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01 Landing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$22k assess, $180k build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Y1 = A × B × C</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03 AI 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$15k readiness, $68k build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Y1 = A × B × C</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02 Agent Governance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$20k assess, $45k configure, $22k pilot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Y1 = A × B × 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05 Managed Operations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account leadership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$45k a month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Y1 = A × B × C × months</a:t>
                      </a:r>
                    </a:p>
                  </a:txBody>
                  <a:tcPr marL="73152" marR="73152" marT="36576" marB="36576" anchor="ctr">
                    <a:solidFill>
                      <a:srgbClr val="FFFFFF"/>
                    </a:solidFill>
                  </a:tcPr>
                </a:tc>
              </a:tr>
            </a:tbl>
          </a:graphicData>
        </a:graphic>
      </p:graphicFrame>
      <p:sp>
        <p:nvSpPr>
          <p:cNvPr id="10" name="Rounded Rectangle 9"/>
          <p:cNvSpPr/>
          <p:nvPr/>
        </p:nvSpPr>
        <p:spPr>
          <a:xfrm>
            <a:off x="548640" y="539496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A accounts, B attach rate, C deal. Year 3 = sum of yearly A × B × C plus expansion into 01 and 05. $1,000 per role 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Cognizant invests before the first sale, and payback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ESTIMATE, INPUTS REQUIRED"/>
          <p:cNvSpPr/>
          <p:nvPr/>
        </p:nvSpPr>
        <p:spPr>
          <a:xfrm>
            <a:off x="1898650" y="274320"/>
            <a:ext cx="24333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INPUTS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9" name="Table"/>
          <p:cNvGraphicFramePr>
            <a:graphicFrameLocks noGrp="1"/>
          </p:cNvGraphicFramePr>
          <p:nvPr/>
        </p:nvGraphicFramePr>
        <p:xfrm>
          <a:off x="548640" y="1371600"/>
          <a:ext cx="11091671" cy="3413760"/>
        </p:xfrm>
        <a:graphic>
          <a:graphicData uri="http://schemas.openxmlformats.org/drawingml/2006/table">
            <a:tbl>
              <a:tblPr firstRow="1" bandRow="0">
                <a:tableStyleId>{5C22544A-7EE6-4342-B048-85BDC9FD1C3A}</a:tableStyleId>
              </a:tblPr>
              <a:tblGrid>
                <a:gridCol w="2011680"/>
                <a:gridCol w="2834640"/>
                <a:gridCol w="1920240"/>
                <a:gridCol w="2468880"/>
                <a:gridCol w="1856231"/>
              </a:tblGrid>
              <a:tr h="487680">
                <a:tc>
                  <a:txBody>
                    <a:bodyPr wrap="square" anchor="ctr">
                      <a:noAutofit/>
                    </a:bodyPr>
                    <a:lstStyle/>
                    <a:p>
                      <a:pPr algn="l"/>
                      <a:r>
                        <a:rPr sz="13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Internal asset to build first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Build effort (role days; $ at $1,000)</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Cash items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Payback</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Cost model, method, memo template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15 to 25 ($15k to $25k)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required: Finance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Investment ÷ margin per deal</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03 AI Gateway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Policy library, test harness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25 to 40 ($25k to $40k)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Lab Azure spend: input required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Investment ÷ margin per deal</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01 Landing Zone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Lab build of AI landing zone on AVM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30 to 50 ($30k to $50k)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Lab Azure spend: input required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Investment ÷ margin per deal</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02 Agent Governance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PoC 25 to 45; catalogue 15 to 25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40 to 70 ($40k to $70k)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test licences: input required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Investment ÷ margin per deal</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05 Managed Operations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Runbooks, tooling, roster setup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20 to 40 ($20k to $40k)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Roster funding: input required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Investment ÷ monthly margin</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All</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Enablement and certifications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Exam and training cost: input required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Shared across offerings</a:t>
                      </a:r>
                    </a:p>
                  </a:txBody>
                  <a:tcPr marL="73152" marR="73152" marT="36576" marB="36576" anchor="ctr">
                    <a:solidFill>
                      <a:srgbClr val="F5F5F2"/>
                    </a:solidFill>
                  </a:tcPr>
                </a:tc>
              </a:tr>
            </a:tbl>
          </a:graphicData>
        </a:graphic>
      </p:graphicFrame>
      <p:sp>
        <p:nvSpPr>
          <p:cNvPr id="10" name="Rounded Rectangle 9"/>
          <p:cNvSpPr/>
          <p:nvPr/>
        </p:nvSpPr>
        <p:spPr>
          <a:xfrm>
            <a:off x="548640" y="562356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Deals to pay back = build cost ÷ (first-deal fee × margin %). Example: 04 at $20k build and a $30k deal needs margin from Finance to complete.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Margin structure and revenue recognition per offering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FORMULA, INPUTS REQUIRED"/>
          <p:cNvSpPr/>
          <p:nvPr/>
        </p:nvSpPr>
        <p:spPr>
          <a:xfrm>
            <a:off x="1996440" y="274320"/>
            <a:ext cx="23469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FORMULA, INPUTS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TextBox 8"/>
          <p:cNvSpPr txBox="1"/>
          <p:nvPr/>
        </p:nvSpPr>
        <p:spPr>
          <a:xfrm>
            <a:off x="548640" y="1325880"/>
            <a:ext cx="11064240" cy="548640"/>
          </a:xfrm>
          <a:prstGeom prst="rect">
            <a:avLst/>
          </a:prstGeom>
          <a:noFill/>
        </p:spPr>
        <p:txBody>
          <a:bodyPr wrap="square" lIns="0" rIns="0" tIns="0" bIns="0" anchor="t">
            <a:noAutofit/>
          </a:bodyPr>
          <a:lstStyle/>
          <a:p>
            <a:pPr algn="l"/>
            <a:r>
              <a:rPr sz="1700" b="1" i="0">
                <a:solidFill>
                  <a:srgbClr val="000048"/>
                </a:solidFill>
                <a:latin typeface="Arial"/>
              </a:rPr>
              <a:t>Margin</a:t>
            </a:r>
            <a:r>
              <a:rPr sz="1700" b="0" i="0">
                <a:solidFill>
                  <a:srgbClr val="1E1E2E"/>
                </a:solidFill>
                <a:latin typeface="Arial"/>
              </a:rPr>
              <a:t> = price − (onshore days × cost + nearshore days × cost + offshore days × cost) − contingency − tools</a:t>
            </a:r>
          </a:p>
        </p:txBody>
      </p:sp>
      <p:graphicFrame>
        <p:nvGraphicFramePr>
          <p:cNvPr id="10" name="Table"/>
          <p:cNvGraphicFramePr>
            <a:graphicFrameLocks noGrp="1"/>
          </p:cNvGraphicFramePr>
          <p:nvPr/>
        </p:nvGraphicFramePr>
        <p:xfrm>
          <a:off x="548640" y="2011680"/>
          <a:ext cx="11091671" cy="2926080"/>
        </p:xfrm>
        <a:graphic>
          <a:graphicData uri="http://schemas.openxmlformats.org/drawingml/2006/table">
            <a:tbl>
              <a:tblPr firstRow="1" bandRow="0">
                <a:tableStyleId>{5C22544A-7EE6-4342-B048-85BDC9FD1C3A}</a:tableStyleId>
              </a:tblPr>
              <a:tblGrid>
                <a:gridCol w="2011680"/>
                <a:gridCol w="2560320"/>
                <a:gridCol w="2377440"/>
                <a:gridCol w="1645920"/>
                <a:gridCol w="2496311"/>
              </a:tblGrid>
              <a:tr h="487680">
                <a:tc>
                  <a:txBody>
                    <a:bodyPr wrap="square" anchor="ctr">
                      <a:noAutofit/>
                    </a:bodyPr>
                    <a:lstStyle/>
                    <a:p>
                      <a:pPr algn="l"/>
                      <a:r>
                        <a:rPr sz="13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Work that stays onshore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Work that can move offshore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Delivery mix</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Revenue recognition (proposed)</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Workshops, memo readout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analysis, cost model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delivery lead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Fixed price, on acceptance of memo</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01 Landing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Design authority, customer workshops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IaC build, testing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delivery lead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Fixed-price milestones per gate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03 AI 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Design, security review</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Policy build, load tests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delivery lead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Fixed-price milestones per gate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02 Agent Governance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authority, drills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Catalogue build, adapters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delivery lead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Milestones; stop-path pilot as a separate fixed fee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05 Managed Operations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Service lead, major incidents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Monitoring, changes, reports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delivery lead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Monthly managed service fee</a:t>
                      </a:r>
                    </a:p>
                  </a:txBody>
                  <a:tcPr marL="73152" marR="73152" marT="36576" marB="36576" anchor="ctr">
                    <a:solidFill>
                      <a:srgbClr val="FFFFFF"/>
                    </a:solidFill>
                  </a:tcPr>
                </a:tc>
              </a:tr>
            </a:tbl>
          </a:graphicData>
        </a:graphic>
      </p:graphicFrame>
      <p:sp>
        <p:nvSpPr>
          <p:cNvPr id="11" name="Rounded Rectangle 10"/>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Rates, delivery costs and recognition rules are Finance decisions. Owner: Finance with the delivery lead.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Microsoft sellers to engage, and the consumption each drives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ALLIANCE TEAM TO CONFIRM"/>
          <p:cNvSpPr/>
          <p:nvPr/>
        </p:nvSpPr>
        <p:spPr>
          <a:xfrm>
            <a:off x="1996440" y="274320"/>
            <a:ext cx="23469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ALLIANCE TEAM TO CONFIRM</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Table"/>
          <p:cNvGraphicFramePr>
            <a:graphicFrameLocks noGrp="1"/>
          </p:cNvGraphicFramePr>
          <p:nvPr/>
        </p:nvGraphicFramePr>
        <p:xfrm>
          <a:off x="548640" y="1371600"/>
          <a:ext cx="11091672" cy="2133600"/>
        </p:xfrm>
        <a:graphic>
          <a:graphicData uri="http://schemas.openxmlformats.org/drawingml/2006/table">
            <a:tbl>
              <a:tblPr firstRow="1" bandRow="0">
                <a:tableStyleId>{5C22544A-7EE6-4342-B048-85BDC9FD1C3A}</a:tableStyleId>
              </a:tblPr>
              <a:tblGrid>
                <a:gridCol w="2103120"/>
                <a:gridCol w="2651760"/>
                <a:gridCol w="3291840"/>
                <a:gridCol w="3044952"/>
              </a:tblGrid>
              <a:tr h="289560">
                <a:tc>
                  <a:txBody>
                    <a:bodyPr wrap="square" anchor="ctr">
                      <a:noAutofit/>
                    </a:bodyPr>
                    <a:lstStyle/>
                    <a:p>
                      <a:pPr algn="l"/>
                      <a:r>
                        <a:rPr sz="13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Microsoft solution area (FY26)</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Microsoft roles to engage (indicative)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Consumption it drives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Cloud and AI Platforms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AI specialist, account team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Confident PTU and model purchases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01 Landing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Cloud and AI Platforms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specialist, cloud solution architect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Foundry, networking, monitoring</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03 AI 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Cloud and AI Platforms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AI apps and agents specialist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API Management, model tokens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02 Agent Governance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Cloud and AI Platforms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specialist, AI specialist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Defender, Purview, Foundry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05 Managed Operations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Cloud and AI Platforms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Account team, partner manager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Sustained production workloads</a:t>
                      </a:r>
                    </a:p>
                  </a:txBody>
                  <a:tcPr marL="73152" marR="73152" marT="36576" marB="36576" anchor="ctr">
                    <a:solidFill>
                      <a:srgbClr val="FFFFFF"/>
                    </a:solidFill>
                  </a:tcPr>
                </a:tc>
              </a:tr>
            </a:tbl>
          </a:graphicData>
        </a:graphic>
      </p:graphicFrame>
      <p:sp>
        <p:nvSpPr>
          <p:cNvPr id="10" name="Rounded Rectangle 9"/>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Packaged IP route: 04 cost model or 03 policy library as a Marketplace offer needs a certified software designation (decision D1).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Sign-off status: nobody has reviewed this yet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STATUS AS OF 11 OCT 2026"/>
          <p:cNvSpPr/>
          <p:nvPr/>
        </p:nvSpPr>
        <p:spPr>
          <a:xfrm>
            <a:off x="1996440" y="274320"/>
            <a:ext cx="23469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STATUS AS OF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71600"/>
          <a:ext cx="11091672" cy="2514600"/>
        </p:xfrm>
        <a:graphic>
          <a:graphicData uri="http://schemas.openxmlformats.org/drawingml/2006/table">
            <a:tbl>
              <a:tblPr firstRow="1" bandRow="0">
                <a:tableStyleId>{5C22544A-7EE6-4342-B048-85BDC9FD1C3A}</a:tableStyleId>
              </a:tblPr>
              <a:tblGrid>
                <a:gridCol w="2926080"/>
                <a:gridCol w="4206240"/>
                <a:gridCol w="2011680"/>
                <a:gridCol w="1947672"/>
              </a:tblGrid>
              <a:tr h="289560">
                <a:tc>
                  <a:txBody>
                    <a:bodyPr wrap="square" anchor="ctr">
                      <a:noAutofit/>
                    </a:bodyPr>
                    <a:lstStyle/>
                    <a:p>
                      <a:pPr algn="l"/>
                      <a:r>
                        <a:rPr sz="1300" b="1" i="0">
                          <a:solidFill>
                            <a:srgbClr val="FFFFFF"/>
                          </a:solidFill>
                          <a:latin typeface="Arial"/>
                        </a:rPr>
                        <a:t>Reviewer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What they confirm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Planned date</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CIS Infra tower leads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Scope, effort, bench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Not yet reviewed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Security tower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Policy ownership, threat models, kill-switch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Not yet reviewed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Rates, margin, recognition, attribution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Not yet reviewed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Microsoft alliance team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Partner motion, specializations, funding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Not yet reviewed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M365 and D365 practice leads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Copilot split, joint-deal rules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Not yet reviewed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Legal</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Contract positions, liability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Not yet reviewed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DevOps, AI and Data towers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RACI rows and support agreements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Not yet reviewed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Input required</a:t>
                      </a:r>
                    </a:p>
                  </a:txBody>
                  <a:tcPr marL="73152" marR="73152" marT="36576" marB="36576"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portfolio is governed: owner, gates, cadence, stops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sp>
        <p:nvSpPr>
          <p:cNvPr id="9" name="Rounded Rectangle 8"/>
          <p:cNvSpPr/>
          <p:nvPr/>
        </p:nvSpPr>
        <p:spPr>
          <a:xfrm>
            <a:off x="548640" y="1371600"/>
            <a:ext cx="3593592" cy="822960"/>
          </a:xfrm>
          <a:prstGeom prst="roundRect">
            <a:avLst>
              <a:gd name="adj" fmla="val 8888"/>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Validate</a:t>
            </a:r>
          </a:p>
          <a:p>
            <a:pPr algn="l"/>
            <a:r>
              <a:rPr sz="1500" b="0" i="0">
                <a:solidFill>
                  <a:srgbClr val="26EFE9"/>
                </a:solidFill>
                <a:latin typeface="Arial"/>
              </a:rPr>
              <a:t>90 days</a:t>
            </a:r>
          </a:p>
        </p:txBody>
      </p:sp>
      <p:sp>
        <p:nvSpPr>
          <p:cNvPr id="10" name="Rounded Rectangle 9"/>
          <p:cNvSpPr/>
          <p:nvPr/>
        </p:nvSpPr>
        <p:spPr>
          <a:xfrm>
            <a:off x="548640" y="2286000"/>
            <a:ext cx="3593592"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r>
              <a:rPr sz="1500" b="0" i="0">
                <a:solidFill>
                  <a:srgbClr val="1E1E2E"/>
                </a:solidFill>
                <a:latin typeface="Arial"/>
              </a:rPr>
              <a:t>Exit: Qualified accounts, assets built, reviews signed</a:t>
            </a:r>
          </a:p>
        </p:txBody>
      </p:sp>
      <p:cxnSp>
        <p:nvCxnSpPr>
          <p:cNvPr id="11" name="Connector (flow)"/>
          <p:cNvCxnSpPr/>
          <p:nvPr/>
        </p:nvCxnSpPr>
        <p:spPr>
          <a:xfrm>
            <a:off x="4142232" y="1783080"/>
            <a:ext cx="155447"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93592" cy="822960"/>
          </a:xfrm>
          <a:prstGeom prst="roundRect">
            <a:avLst>
              <a:gd name="adj" fmla="val 8888"/>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Pilot</a:t>
            </a:r>
          </a:p>
          <a:p>
            <a:pPr algn="l"/>
            <a:r>
              <a:rPr sz="1500" b="0" i="0">
                <a:solidFill>
                  <a:srgbClr val="26EFE9"/>
                </a:solidFill>
                <a:latin typeface="Arial"/>
              </a:rPr>
              <a:t>about 6 months</a:t>
            </a:r>
          </a:p>
        </p:txBody>
      </p:sp>
      <p:sp>
        <p:nvSpPr>
          <p:cNvPr id="13" name="Rounded Rectangle 12"/>
          <p:cNvSpPr/>
          <p:nvPr/>
        </p:nvSpPr>
        <p:spPr>
          <a:xfrm>
            <a:off x="4297679" y="2286000"/>
            <a:ext cx="3593592"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r>
              <a:rPr sz="1500" b="0" i="0">
                <a:solidFill>
                  <a:srgbClr val="1E1E2E"/>
                </a:solidFill>
                <a:latin typeface="Arial"/>
              </a:rPr>
              <a:t>Exit: First paid customers, actual effort captured</a:t>
            </a:r>
          </a:p>
        </p:txBody>
      </p:sp>
      <p:cxnSp>
        <p:nvCxnSpPr>
          <p:cNvPr id="14" name="Connector (flow)"/>
          <p:cNvCxnSpPr/>
          <p:nvPr/>
        </p:nvCxnSpPr>
        <p:spPr>
          <a:xfrm>
            <a:off x="7891271" y="1783080"/>
            <a:ext cx="15544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93592" cy="822960"/>
          </a:xfrm>
          <a:prstGeom prst="roundRect">
            <a:avLst>
              <a:gd name="adj" fmla="val 8888"/>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Launch</a:t>
            </a:r>
          </a:p>
          <a:p>
            <a:pPr algn="l"/>
            <a:r>
              <a:rPr sz="1500" b="0" i="0">
                <a:solidFill>
                  <a:srgbClr val="26EFE9"/>
                </a:solidFill>
                <a:latin typeface="Arial"/>
              </a:rPr>
              <a:t>after pilot</a:t>
            </a:r>
          </a:p>
        </p:txBody>
      </p:sp>
      <p:sp>
        <p:nvSpPr>
          <p:cNvPr id="16" name="Rounded Rectangle 15"/>
          <p:cNvSpPr/>
          <p:nvPr/>
        </p:nvSpPr>
        <p:spPr>
          <a:xfrm>
            <a:off x="8046719" y="2286000"/>
            <a:ext cx="3593592"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r>
              <a:rPr sz="1500" b="0" i="0">
                <a:solidFill>
                  <a:srgbClr val="1E1E2E"/>
                </a:solidFill>
                <a:latin typeface="Arial"/>
              </a:rPr>
              <a:t>Exit: External marketing, Marketplace if chosen</a:t>
            </a:r>
          </a:p>
        </p:txBody>
      </p:sp>
      <p:graphicFrame>
        <p:nvGraphicFramePr>
          <p:cNvPr id="17" name="Table"/>
          <p:cNvGraphicFramePr>
            <a:graphicFrameLocks noGrp="1"/>
          </p:cNvGraphicFramePr>
          <p:nvPr/>
        </p:nvGraphicFramePr>
        <p:xfrm>
          <a:off x="548640" y="3474720"/>
          <a:ext cx="11091672" cy="1524000"/>
        </p:xfrm>
        <a:graphic>
          <a:graphicData uri="http://schemas.openxmlformats.org/drawingml/2006/table">
            <a:tbl>
              <a:tblPr firstRow="1" bandRow="0">
                <a:tableStyleId>{5C22544A-7EE6-4342-B048-85BDC9FD1C3A}</a:tableStyleId>
              </a:tblPr>
              <a:tblGrid>
                <a:gridCol w="2926080"/>
                <a:gridCol w="8165592"/>
              </a:tblGrid>
              <a:tr h="304800">
                <a:tc>
                  <a:txBody>
                    <a:bodyPr wrap="square" anchor="ctr">
                      <a:noAutofit/>
                    </a:bodyPr>
                    <a:lstStyle/>
                    <a:p>
                      <a:pPr algn="l"/>
                      <a:r>
                        <a:rPr sz="1400" b="1" i="0">
                          <a:solidFill>
                            <a:srgbClr val="FFFFFF"/>
                          </a:solidFill>
                          <a:latin typeface="Arial"/>
                        </a:rPr>
                        <a:t>Governance 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Proposal</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P&amp;L owner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Input required: CIS Infra leadership</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Monthly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Offering owners with Finance: pipeline, effort, margin, risks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Quarterly gate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Leadership decides continue, change or stop per offering</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Stop rule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Any offering that misses its gate exit stops or is re-scoped</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Customer third-party risk: our proposed answers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INPUTS REQUIRED"/>
          <p:cNvSpPr/>
          <p:nvPr/>
        </p:nvSpPr>
        <p:spPr>
          <a:xfrm>
            <a:off x="199644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INPUTS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9" name="Table"/>
          <p:cNvGraphicFramePr>
            <a:graphicFrameLocks noGrp="1"/>
          </p:cNvGraphicFramePr>
          <p:nvPr/>
        </p:nvGraphicFramePr>
        <p:xfrm>
          <a:off x="548640" y="1371600"/>
          <a:ext cx="11091672" cy="2133600"/>
        </p:xfrm>
        <a:graphic>
          <a:graphicData uri="http://schemas.openxmlformats.org/drawingml/2006/table">
            <a:tbl>
              <a:tblPr firstRow="1" bandRow="0">
                <a:tableStyleId>{5C22544A-7EE6-4342-B048-85BDC9FD1C3A}</a:tableStyleId>
              </a:tblPr>
              <a:tblGrid>
                <a:gridCol w="3108960"/>
                <a:gridCol w="7982712"/>
              </a:tblGrid>
              <a:tr h="304800">
                <a:tc>
                  <a:txBody>
                    <a:bodyPr wrap="square" anchor="ctr">
                      <a:noAutofit/>
                    </a:bodyPr>
                    <a:lstStyle/>
                    <a:p>
                      <a:pPr algn="l"/>
                      <a:r>
                        <a:rPr sz="1400" b="1" i="0">
                          <a:solidFill>
                            <a:srgbClr val="FFFFFF"/>
                          </a:solidFill>
                          <a:latin typeface="Arial"/>
                        </a:rPr>
                        <a:t>Question area</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Proposed answer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Where is customer data?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 the customer tenant and region; Cognizant holds no copies outside it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Who has access?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Named engineers through customer PIM, just-in-time, logged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Is AI content logged?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Counts and IDs only by default; content logging opt-in (deck 03 and 05)</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Subcontractors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planned; any change needs customer approval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Incident notification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Per contract; security incidents routed to the customer resolver</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Certifications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Input required: Cognizant security and compliance office</a:t>
                      </a:r>
                    </a:p>
                  </a:txBody>
                  <a:tcPr marL="73152" marR="73152" marT="36576" marB="36576" anchor="ctr">
                    <a:solidFill>
                      <a:srgbClr val="F5F5F2"/>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Responsible AI: platform controls versus use-case controls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3200400"/>
        </p:xfrm>
        <a:graphic>
          <a:graphicData uri="http://schemas.openxmlformats.org/drawingml/2006/table">
            <a:tbl>
              <a:tblPr firstRow="1" bandRow="0">
                <a:tableStyleId>{5C22544A-7EE6-4342-B048-85BDC9FD1C3A}</a:tableStyleId>
              </a:tblPr>
              <a:tblGrid>
                <a:gridCol w="2194560"/>
                <a:gridCol w="4480560"/>
                <a:gridCol w="4416552"/>
              </a:tblGrid>
              <a:tr h="304800">
                <a:tc>
                  <a:txBody>
                    <a:bodyPr wrap="square" anchor="ctr">
                      <a:noAutofit/>
                    </a:bodyPr>
                    <a:lstStyle/>
                    <a:p>
                      <a:pPr algn="l"/>
                      <a:r>
                        <a:rPr sz="1400" b="1" i="0">
                          <a:solidFill>
                            <a:srgbClr val="FFFFFF"/>
                          </a:solidFill>
                          <a:latin typeface="Arial"/>
                        </a:rPr>
                        <a:t>Principle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Platform control (CIS Infra implements)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Model or use-case control (owner)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Accountability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registry, owner per agent, audit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Business owner sign-off (customer)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Transparency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Logging of agent actions and versions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User disclosure, documentation (AI tower, customer)</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Safety and security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Gateway safety filters, containment, private network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Red teaming, evaluations (AI tower, Security)</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Privacy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Data stays in tenant; no content logging by default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Lawful basis, data minimisation (customer)</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Fairness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a platform control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Evaluation and monitoring of outcomes (AI tower, customer)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Reliability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Capacity, routing, monitoring, recovery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Quality thresholds, human oversight (AI tower, customer)</a:t>
                      </a:r>
                    </a:p>
                  </a:txBody>
                  <a:tcPr marL="73152" marR="73152" marT="36576" marB="36576" anchor="ctr">
                    <a:solidFill>
                      <a:srgbClr val="F5F5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Inputs we need from leadership and functions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INPUTS REQUIRED"/>
          <p:cNvSpPr/>
          <p:nvPr/>
        </p:nvSpPr>
        <p:spPr>
          <a:xfrm>
            <a:off x="199644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INPUTS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9" name="Table"/>
          <p:cNvGraphicFramePr>
            <a:graphicFrameLocks noGrp="1"/>
          </p:cNvGraphicFramePr>
          <p:nvPr/>
        </p:nvGraphicFramePr>
        <p:xfrm>
          <a:off x="548640" y="1371600"/>
          <a:ext cx="11091672" cy="2956560"/>
        </p:xfrm>
        <a:graphic>
          <a:graphicData uri="http://schemas.openxmlformats.org/drawingml/2006/table">
            <a:tbl>
              <a:tblPr firstRow="1" bandRow="0">
                <a:tableStyleId>{5C22544A-7EE6-4342-B048-85BDC9FD1C3A}</a:tableStyleId>
              </a:tblPr>
              <a:tblGrid>
                <a:gridCol w="4754880"/>
                <a:gridCol w="3291840"/>
                <a:gridCol w="304495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Needed for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Chosen offerings, sponsors, owners, P&amp;L owner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Exec 10, A13</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90-day budgets and headcount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CIS Infra leadership with Finance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Exec 10</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Blended rates, delivery costs, margin targets, recognition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A10, every fee band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Target accounts and attach rates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Account leadership</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A8 sizing</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Bench numbers and delivery mix</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 delivery lead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DP1 in each deck, A10</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Partner designations and funding eligibility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alliance team</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Exec 9, A11</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Copilot split and joint-deal rules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M365 and D365 practice leads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Exec 6, A3</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Certifications and contract positions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Compliance office, Legal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A14, contract slides</a:t>
                      </a:r>
                    </a:p>
                  </a:txBody>
                  <a:tcPr marL="73152" marR="73152" marT="36576" marB="36576" anchor="ctr">
                    <a:solidFill>
                      <a:srgbClr val="F5F5F2"/>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25880"/>
          <a:ext cx="11091672" cy="1737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20 days: telemetry exists, two workloads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40 days: no telemetry, six workloads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01 Establish</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140 days: greenfield, one region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220 days: hub constraints, three regions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03 Build,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45 days: five consumers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90 days: twenty consumers, complex hub</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02 Configure and pilot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45 days: two runtimes, licence owned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90 days: several clouds, no licence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05 Foundation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30 days a month: one environment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60 days a month: three environments</a:t>
                      </a:r>
                    </a:p>
                  </a:txBody>
                  <a:tcPr marL="73152" marR="73152" marT="36576" marB="36576" anchor="ctr">
                    <a:solidFill>
                      <a:srgbClr val="FFFFFF"/>
                    </a:solidFill>
                  </a:tcPr>
                </a:tc>
              </a:tr>
            </a:tbl>
          </a:graphicData>
        </a:graphic>
      </p:graphicFrame>
      <p:sp>
        <p:nvSpPr>
          <p:cNvPr id="10" name="Rounded Rectangle 9"/>
          <p:cNvSpPr/>
          <p:nvPr/>
        </p:nvSpPr>
        <p:spPr>
          <a:xfrm>
            <a:off x="548640" y="3291839"/>
            <a:ext cx="11091672" cy="1097280"/>
          </a:xfrm>
          <a:prstGeom prst="roundRect">
            <a:avLst>
              <a:gd name="adj" fmla="val 6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300"/>
              </a:spcAft>
            </a:pPr>
            <a:r>
              <a:rPr sz="1400" b="1" i="0">
                <a:solidFill>
                  <a:srgbClr val="000048"/>
                </a:solidFill>
                <a:latin typeface="Arial"/>
              </a:rPr>
              <a:t>Basis and recalibration plan</a:t>
            </a:r>
          </a:p>
          <a:p>
            <a:pPr algn="l"/>
            <a:r>
              <a:rPr sz="1400" b="0" i="0">
                <a:solidFill>
                  <a:srgbClr val="1E1E2E"/>
                </a:solidFill>
                <a:latin typeface="Arial"/>
              </a:rPr>
              <a:t>Basis: 01 is anchored on the GTM proposal V3 worked example (88 role days); 02 to 05 are bottom-up author estimates by role and activity. Recalibrate after every pilot: record actual role days per package, compare with the band, and reset bands each quarter. Owner: integrated service owner with Finance.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25880"/>
          <a:ext cx="6035039" cy="339852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residency 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UK or Middle East in-country need checked (deck 01)</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Regulated bank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risk and DORA position known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Microsoft context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E7 or Copilot plans known</a:t>
                      </a:r>
                    </a:p>
                  </a:txBody>
                  <a:tcPr marL="73152" marR="73152" marT="36576" marB="36576" anchor="ctr">
                    <a:solidFill>
                      <a:srgbClr val="F5F5F2"/>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2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14+ with no zero on funding, authority, sponsor or residency. Otherwise sell the assessment.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25880"/>
          <a:ext cx="11091672" cy="350520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Malicious text in a document or tool result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Content safety, prompt shields, tool-side validation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AI tower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MCP tool trust boundary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calls an unapproved MCP server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API Center allow-list, gateway-only routing (03)</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with 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Compromised model, package or connector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Approved catalogues, image scanning, pinned versions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DevOps,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identity misuse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token used outside its scope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Entra agent identities, Conditional Access for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Excessive agency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acts beyond its mandate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Runtime limits, approvals, containment (02)</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tower, 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Unbounded consumption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Runaway agent burns tokens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Token quotas, budgets, alerts (03, 04)</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Sensitive data disclosure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Personal data in prompts or logs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Purview, no content logging by default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Regulation: who holds which duty, and where we help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10" name="Table"/>
          <p:cNvGraphicFramePr>
            <a:graphicFrameLocks noGrp="1"/>
          </p:cNvGraphicFramePr>
          <p:nvPr/>
        </p:nvGraphicFramePr>
        <p:xfrm>
          <a:off x="548640" y="1325880"/>
          <a:ext cx="11091672" cy="1280160"/>
        </p:xfrm>
        <a:graphic>
          <a:graphicData uri="http://schemas.openxmlformats.org/drawingml/2006/table">
            <a:tbl>
              <a:tblPr firstRow="1" bandRow="0">
                <a:tableStyleId>{5C22544A-7EE6-4342-B048-85BDC9FD1C3A}</a:tableStyleId>
              </a:tblPr>
              <a:tblGrid>
                <a:gridCol w="2377440"/>
                <a:gridCol w="3840480"/>
                <a:gridCol w="4873752"/>
              </a:tblGrid>
              <a:tr h="274320">
                <a:tc>
                  <a:txBody>
                    <a:bodyPr wrap="square" anchor="ctr">
                      <a:noAutofit/>
                    </a:bodyPr>
                    <a:lstStyle/>
                    <a:p>
                      <a:pPr algn="l"/>
                      <a:r>
                        <a:rPr sz="1200" b="1" i="0">
                          <a:solidFill>
                            <a:srgbClr val="FFFFFF"/>
                          </a:solidFill>
                          <a:latin typeface="Arial"/>
                        </a:rPr>
                        <a:t>Party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Likely EU AI Act role (indicative)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What this offering supports</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Customer deploying AI systems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Deployer (usually)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Inventory, logging and oversight evidence (02, 05)</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Customer building its own AI system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Provider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Platform controls and technical documentation inputs (01, 03)</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Cognizant 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Usually neither: infrastructure service provider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stated in the contract; Legal confirms</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2788920"/>
          <a:ext cx="11091672" cy="2560320"/>
        </p:xfrm>
        <a:graphic>
          <a:graphicData uri="http://schemas.openxmlformats.org/drawingml/2006/table">
            <a:tbl>
              <a:tblPr firstRow="1" bandRow="0">
                <a:tableStyleId>{5C22544A-7EE6-4342-B048-85BDC9FD1C3A}</a:tableStyleId>
              </a:tblPr>
              <a:tblGrid>
                <a:gridCol w="1828800"/>
                <a:gridCol w="5486400"/>
                <a:gridCol w="3776472"/>
              </a:tblGrid>
              <a:tr h="274320">
                <a:tc>
                  <a:txBody>
                    <a:bodyPr wrap="square" anchor="ctr">
                      <a:noAutofit/>
                    </a:bodyPr>
                    <a:lstStyle/>
                    <a:p>
                      <a:pPr algn="l"/>
                      <a:r>
                        <a:rPr sz="1200" b="1" i="0">
                          <a:solidFill>
                            <a:srgbClr val="FFFFFF"/>
                          </a:solidFill>
                          <a:latin typeface="Arial"/>
                        </a:rPr>
                        <a:t>Area</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 AI Act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Annex III high-risk duties from 2 Dec 2027; Annex I from 2 Aug 2028</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Third-party summary (Orrick); EUR-Lex not verified</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EU DORA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ICT risk and ICT third-party contract terms for financial entities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Applies from 17 Jan 2025 (EUR-Lex)</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EU 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Cyber risk management for essential and important entities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National laws; deadline 17 Oct 2024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Regulator-led AI principles;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re-verified: confirm current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Federal Decree-Law 45 of 2021 (personal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Executive regulations: verify status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Saudi Arabia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PDPL (enforceable Sep 2024); NCA cloud controls CCC-1:2020</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Third-party summary; verify transfer rules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US banks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Interagency model risk guidance (17 Apr 2026) replaced SR 11-7</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Generative and agentic AI out of scope; governance still expected</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Security owns policy, we wire them in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SEC3</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25880"/>
          <a:ext cx="11091671" cy="3611879"/>
        </p:xfrm>
        <a:graphic>
          <a:graphicData uri="http://schemas.openxmlformats.org/drawingml/2006/table">
            <a:tbl>
              <a:tblPr firstRow="1" bandRow="0">
                <a:tableStyleId>{5C22544A-7EE6-4342-B048-85BDC9FD1C3A}</a:tableStyleId>
              </a:tblPr>
              <a:tblGrid>
                <a:gridCol w="2926080"/>
                <a:gridCol w="4023360"/>
                <a:gridCol w="2286000"/>
                <a:gridCol w="1856231"/>
              </a:tblGrid>
              <a:tr h="487680">
                <a:tc>
                  <a:txBody>
                    <a:bodyPr wrap="square" anchor="ctr">
                      <a:noAutofit/>
                    </a:bodyPr>
                    <a:lstStyle/>
                    <a:p>
                      <a:pPr algn="l"/>
                      <a:r>
                        <a:rPr sz="13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Status (checked 11 Oct 2026)</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GA; text tokens only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Mixed current and preview</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GA (not re-verified)</a:t>
                      </a:r>
                    </a:p>
                  </a:txBody>
                  <a:tcPr marL="73152" marR="73152" marT="36576" marB="36576" anchor="ctr">
                    <a:solidFill>
                      <a:srgbClr val="FFFFFF"/>
                    </a:solidFill>
                  </a:tcPr>
                </a:tc>
              </a:tr>
              <a:tr h="685799">
                <a:tc>
                  <a:txBody>
                    <a:bodyPr wrap="square" anchor="ctr">
                      <a:noAutofit/>
                    </a:bodyPr>
                    <a:lstStyle/>
                    <a:p>
                      <a:pPr algn="l"/>
                      <a:r>
                        <a:rPr sz="13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identities; block or limit agent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365 E7, or Agent 365 with Entra P1 or E3</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GA (via APIM policy)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 policies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Registry, agent policies, lifecycle (announced)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accountable; CIS Infra configures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GA 1 May 2026</a:t>
                      </a:r>
                    </a:p>
                  </a:txBody>
                  <a:tcPr marL="73152" marR="73152" marT="36576" marB="36576" anchor="ctr">
                    <a:solidFill>
                      <a:srgbClr val="F5F5F2"/>
                    </a:solidFill>
                  </a:tcPr>
                </a:tc>
              </a:tr>
            </a:tbl>
          </a:graphicData>
        </a:graphic>
      </p:graphicFrame>
      <p:sp>
        <p:nvSpPr>
          <p:cNvPr id="10" name="Rounded Rectangle 9"/>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Security is accountable for policy on these services. CIS Infra is responsible for implementation and telemetry.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3593592" cy="44805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Agent-to-agent protocol for agents calling other agents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registry for APIs and MCP servers; decides which tools exist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API Management; the gateway that controls traffic</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processing inside a Microsoft data zone (US, EU or APAC)</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DORA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Digital Operational Resilience Act for financial entities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FOCUS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FinOps Open Cost and Usage Specification for cost data exports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4297679" y="1325880"/>
          <a:ext cx="3593592" cy="374904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Foundry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Foundry: Azure platform for models and agents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FTE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Full-time equivalent person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Model Context Protocol: standard way for agents to call tools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MRM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risk management (banking supervision)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directive on cybersecurity for essential sectors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 as you go: pay per token used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PDPL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 (Saudi Arabia, UAE)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Privileged Identity Management: just-in-time admin access</a:t>
                      </a:r>
                    </a:p>
                  </a:txBody>
                  <a:tcPr marL="73152" marR="73152" marT="36576" marB="36576" anchor="ctr">
                    <a:solidFill>
                      <a:srgbClr val="F5F5F2"/>
                    </a:solidFill>
                  </a:tcPr>
                </a:tc>
              </a:tr>
            </a:tbl>
          </a:graphicData>
        </a:graphic>
      </p:graphicFrame>
      <p:graphicFrame>
        <p:nvGraphicFramePr>
          <p:cNvPr id="11" name="Table"/>
          <p:cNvGraphicFramePr>
            <a:graphicFrameLocks noGrp="1"/>
          </p:cNvGraphicFramePr>
          <p:nvPr/>
        </p:nvGraphicFramePr>
        <p:xfrm>
          <a:off x="8046719" y="1325880"/>
          <a:ext cx="3593592" cy="31089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Provisioned throughput unit: reserved model capacity, billed per hour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RACI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Responsible, Accountable, Consulted, Informed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RFP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for proposal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Recovery time objective / recovery point objective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Statement of work</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 of text a model reads or writes; the main pricing unit</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per minute</a:t>
                      </a:r>
                    </a:p>
                  </a:txBody>
                  <a:tcPr marL="73152" marR="73152" marT="36576" marB="36576" anchor="ct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301752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Which offerings to test (one, several or all five)</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Exec 4 and 10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Sponsor, owner, budget and headcount per chosen offering</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 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Exec 10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M365 versus D365 split of Copilot ownership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Within 30 days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M365 and D365 practice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Account coverage</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Joint-deal lead and revenue credit rules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Within 30 days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Practice leads with 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A3</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Rates, margin and revenue recognition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A10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Specialization and co-sell route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Before first quote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alliance team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Exec 9, A11</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Packaged IP route (Marketplace)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A11</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External launch</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 gate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A13</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1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Microsoft Agent 365 now generally available (Microsoft Security blog, 1 May 2026):  </a:t>
            </a:r>
            <a:r>
              <a:rPr sz="1200" b="0" i="0">
                <a:solidFill>
                  <a:srgbClr val="2F78C4"/>
                </a:solidFill>
                <a:latin typeface="Arial"/>
                <a:hlinkClick r:id="rId4"/>
              </a:rPr>
              <a:t>https://www.microsoft.com/en-us/security/blog/2026/05/01/microsoft-agent-365-now-generally-available-expands-capabilities-and-integrations/</a:t>
            </a:r>
          </a:p>
          <a:p>
            <a:pPr algn="l">
              <a:spcAft>
                <a:spcPts val="400"/>
              </a:spcAft>
            </a:pPr>
            <a:r>
              <a:rPr sz="1200" b="1" i="0">
                <a:solidFill>
                  <a:srgbClr val="000048"/>
                </a:solidFill>
                <a:latin typeface="Arial"/>
              </a:rPr>
              <a:t>Foundry Models retirement schedule:  </a:t>
            </a:r>
            <a:r>
              <a:rPr sz="1200" b="0" i="0">
                <a:solidFill>
                  <a:srgbClr val="2F78C4"/>
                </a:solidFill>
                <a:latin typeface="Arial"/>
                <a:hlinkClick r:id="rId5"/>
              </a:rPr>
              <a:t>https://learn.microsoft.com/en-us/azure/foundry/openai/concepts/model-retirement-schedule</a:t>
            </a:r>
          </a:p>
          <a:p>
            <a:pPr algn="l">
              <a:spcAft>
                <a:spcPts val="400"/>
              </a:spcAft>
            </a:pPr>
            <a:r>
              <a:rPr sz="1200" b="1" i="0">
                <a:solidFill>
                  <a:srgbClr val="000048"/>
                </a:solidFill>
                <a:latin typeface="Arial"/>
              </a:rPr>
              <a:t>EU AI Act Update: Digital Omnibus finalises compliance changes (Orrick, third-party law-firm summary, 29 Jul 2026; EUR-Lex text not verified):  </a:t>
            </a:r>
            <a:r>
              <a:rPr sz="1200" b="0" i="0">
                <a:solidFill>
                  <a:srgbClr val="2F78C4"/>
                </a:solidFill>
                <a:latin typeface="Arial"/>
                <a:hlinkClick r:id="rId6"/>
              </a:rPr>
              <a:t>https://www.orrick.com/en/Insights/2026/07/EU-AI-Act-Update-Digital-Omnibus-Finalizes-8-Compliance-Changes</a:t>
            </a:r>
          </a:p>
          <a:p>
            <a:pPr algn="l">
              <a:spcAft>
                <a:spcPts val="400"/>
              </a:spcAft>
            </a:pPr>
            <a:r>
              <a:rPr sz="1200" b="1" i="0">
                <a:solidFill>
                  <a:srgbClr val="000048"/>
                </a:solidFill>
                <a:latin typeface="Arial"/>
              </a:rPr>
              <a:t>Regulation (EU) 2022/2554 (DORA), EUR-Lex:  </a:t>
            </a:r>
            <a:r>
              <a:rPr sz="1200" b="0" i="0">
                <a:solidFill>
                  <a:srgbClr val="2F78C4"/>
                </a:solidFill>
                <a:latin typeface="Arial"/>
                <a:hlinkClick r:id="rId7"/>
              </a:rPr>
              <a:t>https://eur-lex.europa.eu/eli/reg/2022/2554/oj</a:t>
            </a:r>
          </a:p>
          <a:p>
            <a:pPr algn="l">
              <a:spcAft>
                <a:spcPts val="400"/>
              </a:spcAft>
            </a:pPr>
            <a:r>
              <a:rPr sz="1200" b="1" i="0">
                <a:solidFill>
                  <a:srgbClr val="000048"/>
                </a:solidFill>
                <a:latin typeface="Arial"/>
              </a:rPr>
              <a:t>Directive (EU) 2022/2555 (NIS2), EUR-Lex:  </a:t>
            </a:r>
            <a:r>
              <a:rPr sz="1200" b="0" i="0">
                <a:solidFill>
                  <a:srgbClr val="2F78C4"/>
                </a:solidFill>
                <a:latin typeface="Arial"/>
                <a:hlinkClick r:id="rId8"/>
              </a:rPr>
              <a:t>https://eur-lex.europa.eu/eli/dir/2022/2555/oj</a:t>
            </a:r>
          </a:p>
          <a:p>
            <a:pPr algn="l">
              <a:spcAft>
                <a:spcPts val="400"/>
              </a:spcAft>
            </a:pPr>
            <a:r>
              <a:rPr sz="1200" b="1" i="0">
                <a:solidFill>
                  <a:srgbClr val="000048"/>
                </a:solidFill>
                <a:latin typeface="Arial"/>
              </a:rPr>
              <a:t>Saudi Arabia key data and cybersecurity laws (Baker McKenzie, third party, reviewed 31 Dec 2024):  </a:t>
            </a:r>
            <a:r>
              <a:rPr sz="1200" b="0" i="0">
                <a:solidFill>
                  <a:srgbClr val="2F78C4"/>
                </a:solidFill>
                <a:latin typeface="Arial"/>
                <a:hlinkClick r:id="rId9"/>
              </a:rPr>
              <a:t>https://resourcehub.bakermckenzie.com/en/resources/global-data-and-cyber-handbook/emea/saudi-arabia/topics/key-data-and-cybersecurity-laws</a:t>
            </a:r>
          </a:p>
          <a:p>
            <a:pPr algn="l">
              <a:spcAft>
                <a:spcPts val="400"/>
              </a:spcAft>
            </a:pPr>
            <a:r>
              <a:rPr sz="1200" b="1" i="0">
                <a:solidFill>
                  <a:srgbClr val="000048"/>
                </a:solidFill>
                <a:latin typeface="Arial"/>
              </a:rPr>
              <a:t>Banking regulators replace SR 11-7 with revised model risk guidance (JD Supra law-firm summary, third party):  </a:t>
            </a:r>
            <a:r>
              <a:rPr sz="1200" b="0" i="0">
                <a:solidFill>
                  <a:srgbClr val="2F78C4"/>
                </a:solidFill>
                <a:latin typeface="Arial"/>
                <a:hlinkClick r:id="rId10"/>
              </a:rPr>
              <a:t>https://www.jdsupra.com/legalnews/banking-regulators-replace-5649360/</a:t>
            </a:r>
          </a:p>
          <a:p>
            <a:pPr algn="l">
              <a:spcAft>
                <a:spcPts val="400"/>
              </a:spcAft>
            </a:pPr>
            <a:r>
              <a:rPr sz="1200" b="1" i="0">
                <a:solidFill>
                  <a:srgbClr val="000048"/>
                </a:solidFill>
                <a:latin typeface="Arial"/>
              </a:rPr>
              <a:t>Register and discover MCP servers in Azure API Center:  </a:t>
            </a:r>
            <a:r>
              <a:rPr sz="1200" b="0" i="0">
                <a:solidFill>
                  <a:srgbClr val="2F78C4"/>
                </a:solidFill>
                <a:latin typeface="Arial"/>
                <a:hlinkClick r:id="rId11"/>
              </a:rPr>
              <a:t>https://learn.microsoft.com/en-us/azure/api-center/register-discover-mcp-server</a:t>
            </a:r>
          </a:p>
          <a:p>
            <a:pPr algn="l">
              <a:spcAft>
                <a:spcPts val="400"/>
              </a:spcAft>
            </a:pPr>
            <a:r>
              <a:rPr sz="1200" b="1" i="0">
                <a:solidFill>
                  <a:srgbClr val="000048"/>
                </a:solidFill>
                <a:latin typeface="Arial"/>
              </a:rPr>
              <a:t>Services co-sell (Microsoft Learn, Partner Center):  </a:t>
            </a:r>
            <a:r>
              <a:rPr sz="1200" b="0" i="0">
                <a:solidFill>
                  <a:srgbClr val="2F78C4"/>
                </a:solidFill>
                <a:latin typeface="Arial"/>
                <a:hlinkClick r:id="rId12"/>
              </a:rPr>
              <a:t>https://learn.microsoft.com/partner-center/services-co-sell</a:t>
            </a:r>
          </a:p>
          <a:p>
            <a:pPr algn="l">
              <a:spcAft>
                <a:spcPts val="400"/>
              </a:spcAft>
            </a:pPr>
            <a:r>
              <a:rPr sz="1200" b="1" i="0">
                <a:solidFill>
                  <a:srgbClr val="000048"/>
                </a:solidFill>
                <a:latin typeface="Arial"/>
              </a:rPr>
              <a:t>Specializations (Microsoft Learn, Partner Center, updated 29 Sep 2026):  </a:t>
            </a:r>
            <a:r>
              <a:rPr sz="1200" b="0" i="0">
                <a:solidFill>
                  <a:srgbClr val="2F78C4"/>
                </a:solidFill>
                <a:latin typeface="Arial"/>
                <a:hlinkClick r:id="rId13"/>
              </a:rPr>
              <a:t>https://learn.microsoft.com/en-us/partner-center/membership/specializations-apply</a:t>
            </a:r>
          </a:p>
          <a:p>
            <a:pPr algn="l">
              <a:spcAft>
                <a:spcPts val="400"/>
              </a:spcAft>
            </a:pPr>
            <a:r>
              <a:rPr sz="1200" b="1" i="0">
                <a:solidFill>
                  <a:srgbClr val="000048"/>
                </a:solidFill>
                <a:latin typeface="Arial"/>
              </a:rPr>
              <a:t>What's new for partners, Jan 2026 (Microsoft Partner blog):  </a:t>
            </a:r>
            <a:r>
              <a:rPr sz="1200" b="0" i="0">
                <a:solidFill>
                  <a:srgbClr val="2F78C4"/>
                </a:solidFill>
                <a:latin typeface="Arial"/>
                <a:hlinkClick r:id="rId14"/>
              </a:rPr>
              <a:t>https://partner.microsoft.com/blog/article/whats-new-for-partners-jan-2026</a:t>
            </a:r>
          </a:p>
          <a:p>
            <a:pPr algn="l">
              <a:spcAft>
                <a:spcPts val="400"/>
              </a:spcAft>
            </a:pPr>
            <a:r>
              <a:rPr sz="1200" b="1" i="0">
                <a:solidFill>
                  <a:srgbClr val="000048"/>
                </a:solidFill>
                <a:latin typeface="Arial"/>
              </a:rPr>
              <a:t>Azure AI Landing Zones (GitHub):  </a:t>
            </a:r>
            <a:r>
              <a:rPr sz="1200" b="0" i="0">
                <a:solidFill>
                  <a:srgbClr val="2F78C4"/>
                </a:solidFill>
                <a:latin typeface="Arial"/>
                <a:hlinkClick r:id="rId15"/>
              </a:rPr>
              <a:t>https://github.com/Azure/AI-Landing-Zones</a:t>
            </a:r>
          </a:p>
          <a:p>
            <a:pPr algn="l">
              <a:spcAft>
                <a:spcPts val="400"/>
              </a:spcAft>
            </a:pPr>
            <a:r>
              <a:rPr sz="1200" b="1" i="0">
                <a:solidFill>
                  <a:srgbClr val="000048"/>
                </a:solidFill>
                <a:latin typeface="Arial"/>
              </a:rPr>
              <a:t>Conditional Access for agents (Microsoft Learn, updated 30 Sep 2026):  </a:t>
            </a:r>
            <a:r>
              <a:rPr sz="1200" b="0" i="0">
                <a:solidFill>
                  <a:srgbClr val="2F78C4"/>
                </a:solidFill>
                <a:latin typeface="Arial"/>
                <a:hlinkClick r:id="rId16"/>
              </a:rPr>
              <a:t>https://learn.microsoft.com/en-us/entra/identity/conditional-access/agent-id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 (continued)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S1B</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AI threat protection in Microsoft Defender for Cloud:  </a:t>
            </a:r>
            <a:r>
              <a:rPr sz="1200" b="0" i="0">
                <a:solidFill>
                  <a:srgbClr val="2F78C4"/>
                </a:solidFill>
                <a:latin typeface="Arial"/>
                <a:hlinkClick r:id="rId4"/>
              </a:rPr>
              <a:t>https://learn.microsoft.com/en-us/azure/defender-for-cloud/ai-threat-protection</a:t>
            </a:r>
          </a:p>
          <a:p>
            <a:pPr algn="l">
              <a:spcAft>
                <a:spcPts val="400"/>
              </a:spcAft>
            </a:pPr>
            <a:r>
              <a:rPr sz="1200" b="1" i="0">
                <a:solidFill>
                  <a:srgbClr val="000048"/>
                </a:solidFill>
                <a:latin typeface="Arial"/>
              </a:rPr>
              <a:t>Microsoft Purview data security and compliance for AI:  </a:t>
            </a:r>
            <a:r>
              <a:rPr sz="1200" b="0" i="0">
                <a:solidFill>
                  <a:srgbClr val="2F78C4"/>
                </a:solidFill>
                <a:latin typeface="Arial"/>
                <a:hlinkClick r:id="rId5"/>
              </a:rPr>
              <a:t>https://learn.microsoft.com/en-us/purview/ai-microsoft-purview</a:t>
            </a:r>
          </a:p>
          <a:p>
            <a:pPr algn="l">
              <a:spcAft>
                <a:spcPts val="400"/>
              </a:spcAft>
            </a:pPr>
            <a:r>
              <a:rPr sz="1200" b="1" i="0">
                <a:solidFill>
                  <a:srgbClr val="000048"/>
                </a:solidFill>
                <a:latin typeface="Arial"/>
              </a:rPr>
              <a:t>OWASP Top 10 for LLM Applications 2026 (OWASP GenAI Security Project, released 3 Aug 2026):  </a:t>
            </a:r>
            <a:r>
              <a:rPr sz="1200" b="0" i="0">
                <a:solidFill>
                  <a:srgbClr val="2F78C4"/>
                </a:solidFill>
                <a:latin typeface="Arial"/>
                <a:hlinkClick r:id="rId6"/>
              </a:rPr>
              <a:t>https://genai.owasp.org/resource/owasp-genai-llm-top-10-2026/</a:t>
            </a:r>
          </a:p>
          <a:p>
            <a:pPr algn="l">
              <a:spcAft>
                <a:spcPts val="400"/>
              </a:spcAft>
            </a:pPr>
            <a:r>
              <a:rPr sz="1200" b="1" i="0">
                <a:solidFill>
                  <a:srgbClr val="000048"/>
                </a:solidFill>
                <a:latin typeface="Arial"/>
              </a:rPr>
              <a:t>ISO/IEC 42001 AI management systems:  </a:t>
            </a:r>
            <a:r>
              <a:rPr sz="1200" b="0" i="0">
                <a:solidFill>
                  <a:srgbClr val="2F78C4"/>
                </a:solidFill>
                <a:latin typeface="Arial"/>
                <a:hlinkClick r:id="rId7"/>
              </a:rPr>
              <a:t>https://www.iso.org/standard/81230.html</a:t>
            </a:r>
          </a:p>
          <a:p>
            <a:pPr algn="l">
              <a:spcAft>
                <a:spcPts val="400"/>
              </a:spcAft>
            </a:pPr>
            <a:r>
              <a:rPr sz="1200" b="1" i="0">
                <a:solidFill>
                  <a:srgbClr val="000048"/>
                </a:solidFill>
                <a:latin typeface="Arial"/>
              </a:rPr>
              <a:t>CIS Infra Azure AI Platform GTM Proposal V3 (competitor benchmark and Cognizant sources C1 to C9, reviewed 7 Oct 2026):  </a:t>
            </a:r>
            <a:r>
              <a:rPr sz="1200" b="0" i="0">
                <a:solidFill>
                  <a:srgbClr val="2F78C4"/>
                </a:solidFill>
                <a:latin typeface="Arial"/>
                <a:hlinkClick r:id="rId8"/>
              </a:rPr>
              <a:t>https://github.com/upendra25312/AI-Foundry-GTM-offering-/blob/main/CIS_Infra_Azure_AI_Platform_GTM_Proposal_V3.docx</a:t>
            </a:r>
          </a:p>
          <a:p>
            <a:pPr algn="l">
              <a:spcAft>
                <a:spcPts val="400"/>
              </a:spcAft>
            </a:pPr>
            <a:r>
              <a:rPr sz="1200" b="1" i="0">
                <a:solidFill>
                  <a:srgbClr val="000048"/>
                </a:solidFill>
                <a:latin typeface="Arial"/>
              </a:rPr>
              <a:t>Deck 01 to 05 v4.0 source registers:  </a:t>
            </a:r>
            <a:r>
              <a:rPr sz="1200" b="0" i="0">
                <a:solidFill>
                  <a:srgbClr val="2F78C4"/>
                </a:solidFill>
                <a:latin typeface="Arial"/>
                <a:hlinkClick r:id="rId9"/>
              </a:rPr>
              <a:t>See S1 in each deck</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Azure AI Platform Portfolio v4.0</dc:title>
  <dcterms:created xsi:type="dcterms:W3CDTF">2026-10-10T13:56:28.3080000Z</dcterms:created>
  <dcterms:modified xsi:type="dcterms:W3CDTF">2026-10-10T13:56:28.3090000Z</dcterms:modified>
  <dc:subject>Proposed CIS Infra GTM offering for internal leadership review</dc:subject>
</coreProperties>
</file>