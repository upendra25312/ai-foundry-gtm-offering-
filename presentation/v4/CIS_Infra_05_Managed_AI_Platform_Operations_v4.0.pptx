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Once AI workloads are live, someone has to run them. This is the recurring service that keeps the platform healthy, routes incidents to the right tower, reviews cost monthly and can stop an agent when told to. It is where the portfolio earns recurring revenue.</a:t>
            </a:r>
          </a:p>
          <a:p/>
          <a:p>
            <a:r>
              <a:t>Likely question: Is this just managed Azure?</a:t>
            </a:r>
          </a:p>
          <a:p>
            <a:r>
              <a:t>Answer: It adds AI-specific work: agent inventory, containment drills, model retirements, token cost reviews and Agent 365 operations.</a:t>
            </a:r>
          </a:p>
          <a:p/>
          <a:p>
            <a:r>
              <a:t>DETAIL AND CAVEATS</a:t>
            </a:r>
          </a:p>
          <a:p>
            <a:r>
              <a:t>Opening slide.</a:t>
            </a:r>
          </a:p>
          <a:p/>
          <a:p>
            <a:r>
              <a:t>No baseline deck for this offering was supplied with the original request; it was built new in v2.0 from the brief, the GTM proposal V3 (managed operations section) and verified Microsoft sources. Version 4.0 links staffing to price, adds ITSM and AIOps integration, Agent 365 and Copilot Studio operations, a kill-switch proof of concept and an exit plan.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One operator, three lanes, monthly evidence. The price is now tied to staffing, so leadership can see what each package costs to deliver.</a:t>
            </a:r>
          </a:p>
          <a:p/>
          <a:p>
            <a:r>
              <a:t>Likely question: Can we sell 24x7 now?</a:t>
            </a:r>
          </a:p>
          <a:p>
            <a:r>
              <a:t>Answer: Only with a funded on-call roster and signed tower agreements. That is a decision on this slide.</a:t>
            </a:r>
          </a:p>
          <a:p/>
          <a:p>
            <a:r>
              <a:t>DETAIL AND CAVEATS</a:t>
            </a:r>
          </a:p>
          <a:p>
            <a:r>
              <a:t>Quote recurring platform services separately from build revenue (V3 proposal). Specialist tower support needs an internal agreement or a separate customer work package.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Agents are now a managed estate, stopping one is not instant, and models retire every few months. Each of those is recurring work, which is what a managed service is for.</a:t>
            </a:r>
          </a:p>
          <a:p/>
          <a:p>
            <a:r>
              <a:t>Likely question: Will customers run this themselves?</a:t>
            </a:r>
          </a:p>
          <a:p>
            <a:r>
              <a:t>Answer: Some will. We qualify on whether they have on-call capacity and AI platform skills.</a:t>
            </a:r>
          </a:p>
          <a:p/>
          <a:p>
            <a:r>
              <a:t>DETAIL AND CAVEATS</a:t>
            </a:r>
          </a:p>
          <a:p>
            <a:r>
              <a:t>Drivers are sourced facts. No customer or pipeline is claimed.</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Foundry Models retirement schedule: https://learn.microsoft.com/en-us/azure/foundry/openai/concepts/model-retirement-schedule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other offering hands over to this one. In return it feeds monthly evidence back into the capacity and cost decisions.</a:t>
            </a:r>
          </a:p>
          <a:p/>
          <a:p>
            <a:r>
              <a:t>Likely question: Do we operate Microsoft 365 Copilot?</a:t>
            </a:r>
          </a:p>
          <a:p>
            <a:r>
              <a:t>Answer: No. Our M365 and D365 teams own it. We operate Copilot Studio agents only where they are in the agent catalogue.</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ticket lands in one of three lanes. We own platform availability. The AI tower owns whether an agent gives good answers. Security owns attacks and data exposure. We still execute containment on our components when Security directs it.</a:t>
            </a:r>
          </a:p>
          <a:p/>
          <a:p>
            <a:r>
              <a:t>Likely question: What if a ticket fits two lanes?</a:t>
            </a:r>
          </a:p>
          <a:p>
            <a:r>
              <a:t>Answer: The service desk routes it to the most likely lane and the integrated service owner arbitrates. That rule is in the runbook.</a:t>
            </a:r>
          </a:p>
          <a:p/>
          <a:p>
            <a:r>
              <a:t>DETAIL AND CAVEATS</a:t>
            </a:r>
          </a:p>
          <a:p>
            <a:r>
              <a:t>Separates platform availability, agent task quality and security incident response. CIS Infra is accountable for the platform lane. AI is accountable for agent quality. A contracted security resolver is accountable for security incidents. CIS Infra executes containment on its allocated components when directed.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are the signals: Azure Monitor, Service Health, Application Insights with agent traces, logs and budgets. Alert rules with named owners send them to one service desk, which routes to the right resolver lane. Containment is a separate plane, covered in the appendix.</a:t>
            </a:r>
          </a:p>
          <a:p/>
          <a:p>
            <a:r>
              <a:t>Likely question: Which service desk tools do we support?</a:t>
            </a:r>
          </a:p>
          <a:p>
            <a:r>
              <a:t>Answer: Azure Monitor sends alerts to ServiceNow ITOM and BMC Helix through a secure webhook. Others use generic webhooks or Logic Apps. We confirm per customer.</a:t>
            </a:r>
          </a:p>
          <a:p/>
          <a:p>
            <a:r>
              <a:t>DETAIL AND CAVEATS</a:t>
            </a:r>
          </a:p>
          <a:p>
            <a:r>
              <a:t>Improved executive operations architecture (replaces the original architecture slides 5, 7 and 13, which were not supplied). Signals: Azure Monitor and Service Health for platform health, Application Insights and Foundry traces for agents, Log Analytics for logs, cost budgets for spend. Alert rules and action groups route to the customer service desk (ITSM tool, conceptual, not an Azure service) which assigns the lane resolver. The containment control plane (appendix K1) is invoked by authorised operators. A workbook provides monthly reporting.</a:t>
            </a:r>
          </a:p>
          <a:p/>
          <a:p>
            <a:r>
              <a:t>Sources (checked 11 Oct 2026):</a:t>
            </a:r>
          </a:p>
          <a:p>
            <a:r>
              <a:t>Foundry Control Plane: manage agents: https://learn.microsoft.com/en-us/azure/foundry/control-plane/how-to-manage-agents</a:t>
            </a:r>
          </a:p>
          <a:p>
            <a:r>
              <a:t>IT Service Management integration (Azure Monitor): https://learn.microsoft.com/en-us/azure/azure-monitor/alerts/itsmc-overview</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Price now follows staffing. Foundation is one and a half to three people, Extended three to five, Continuous six to ten because a 24 by 7 seat needs about five people. Onboarding and exit are one-time packages, so the customer knows the way out on day one.</a:t>
            </a:r>
          </a:p>
          <a:p/>
          <a:p>
            <a:r>
              <a:t>Likely question: Why is Continuous so much more?</a:t>
            </a:r>
          </a:p>
          <a:p>
            <a:r>
              <a:t>Answer: A single always-staffed seat needs roughly 8,760 hours a year, about five people. That cost is real before any tickets arrive.</a:t>
            </a:r>
          </a:p>
          <a:p/>
          <a:p>
            <a:r>
              <a:t>DETAIL AND CAVEATS</a:t>
            </a:r>
          </a:p>
          <a:p>
            <a:r>
              <a:t>Role days per month assume about 20 productive days per FTE. Staffing is a planning estimate, not a commitment; validate with delivery leadership. Continuous coverage is offered only with a funded on-call roster and agreed specialist escalation. Pricing formula in appendix A16; staffing detail in A13 and A20.</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response targets for discussion, not a contract. A P1, such as a platform outage or a containment request, gets a response in 30 minutes inside coverage hours. We do not propose restore times until dependencies are tested.</a:t>
            </a:r>
          </a:p>
          <a:p/>
          <a:p>
            <a:r>
              <a:t>Likely question: Why no availability SLA?</a:t>
            </a:r>
          </a:p>
          <a:p>
            <a:r>
              <a:t>Answer: The platform depends on Azure services we do not control. We report availability for contracted components where meaningful.</a:t>
            </a:r>
          </a:p>
          <a:p/>
          <a:p>
            <a:r>
              <a:t>DETAIL AND CAVEATS</a:t>
            </a:r>
          </a:p>
          <a:p>
            <a:r>
              <a:t>Response targets are PROPOSED until approved by delivery leadership, Finance and the customer, and validated against staffing. They apply only inside the package coverage hours and only to contracted components. Restore targets are not proposed because they depend on dependency-specific testing and Microsoft service health.</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Managed services fail at the seams between towers. The fix is signed internal agreements and a hard onboarding gate before we accept anything.</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Top dependencies and risks. Alert noise is managed through alert ownership (appendix A5).</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measure what a customer can audit. Today we ask to approve the packages for pilots and the no-24x7-without-roster rule.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Measures are definitions. Targets after pilot data. 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Likely question: Do we need to go through the appendix?</a:t>
            </a:r>
          </a:p>
          <a:p>
            <a:r>
              <a:t>Answer: No. Use it to answer questions; the executive section stands on its own.</a:t>
            </a:r>
          </a:p>
          <a:p/>
          <a:p>
            <a:r>
              <a:t>DETAIL AND CAVEATS</a:t>
            </a:r>
          </a:p>
          <a:p>
            <a:r>
              <a:t>Appendix divider. Use the index to navigate.</a:t>
            </a:r>
          </a:p>
          <a:p/>
          <a:p>
            <a:r>
              <a:t>Sources: see appendix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"Service onboarding and readiness gates". A platform enters managed operations only after these gates. Gaps become a remediation plan priced separately.</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A platform enters managed operations only after these gates. Gaps become a remediation plan priced separately.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"Platform health and dependency monitoring". Detailed monitoring architecture. Each monitored dependency maps to an alert rule with an owner. Dependency map derived from the Foundry baseline network flows (the original references pack).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Detailed monitoring architecture. Each monitored dependency maps to an alert rule with an owner. Dependency map derived from the Foundry baseline network flows (the original references pack). Service Health covers Azure-side incidents and planned maintenance. Application Insights availability tests check the user path end to end.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observability and agent traces". Verified (Foundry Control Plane, updated 2026-07-15): Foundry Control Plane uses the Application Insights resources that host agents to show runs, error rates, token usage and estimated cost; metrics and traces are collected only for runs after configuration; allow up to 15 minutes for propagation; Logic Apps agent loops have no traces or metrics; custom agents need extra configuration.</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Verified (Foundry Control Plane, updated 2026-07-15): Foundry Control Plane uses the Application Insights resources that host agents to show runs, error rates, token usage and estimated cost; metrics and traces are collected only for runs after configuration; allow up to 15 minutes for propagation; Logic Apps agent loops have no traces or metrics; custom agents need extra configuration.</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"Alert ownership and service desk integration". Resolver routing from the V3 proposal managed operations table. A single customer incident entry point routes internally. Unexpected spend: CIS Infra coordinates; AI explains calls and tokens; towers fix attributable causes.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Resolver routing from the V3 proposal managed operations table. A single customer incident entry point routes internally. Unexpected spend: CIS Infra coordinates; AI explains calls and tokens; towers fix attributable causes.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"Incident, problem and change management". Processes follow the customer ITSM framework; CIS Infra operates within it. Containment is a P1 incident type with its own runbook (appendix A8 and 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Processes follow the customer ITSM framework; CIS Infra operates within it. Containment is a P1 incident type with its own runbook (appendix A8 and 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"Lane boundaries in detail". Detailed lane boundaries. Measures are separate: platform availability is measured where meaningful; agent quality and data freshness are separately owned measures; security incident handling follows the contracted security service.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Detailed lane boundaries. Measures are separate: platform availability is measured where meaningful; agent quality and data freshness are separately owned measures; security incident handling follows the contracted security service.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containment spans several offerings. Deck 02 builds the containment design and deck 05 operates it. This slide shows the part this offering provides.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Enforcement point 4 is the identity layer. Entra Conditional Access for agents can block or limit agent access when tokens are issued or refreshed; it requires Microsoft 365 E7, or Agent 365 plus Entra P1 or Microsoft 365 E3 (Microsoft Learn, updated 30 Sep 2026), and live sessions are not cut immediately,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Before anyone presses stop, everyone must know who is allowed to, who can restart, and what happens if the stop does not work. This is that agreement.</a:t>
            </a:r>
          </a:p>
          <a:p/>
          <a:p>
            <a:r>
              <a:t>Likely question: Are we liable if the stop fails?</a:t>
            </a:r>
          </a:p>
          <a:p>
            <a:r>
              <a:t>Answer: Our proposed position is reasonable efforts on a tested runbook within agreed limits, never a guarantee of an instant stop. Legal sets the final terms.</a:t>
            </a:r>
          </a:p>
          <a:p/>
          <a:p>
            <a:r>
              <a:t>DETAIL AND CAVEATS</a:t>
            </a:r>
          </a:p>
          <a:p>
            <a:r>
              <a:t>Authority and liability for containment. Positions are proposals for the customer risk owner, Security and Cognizant Legal. The design is unproven until the PoC passes (K5), so containment is not in committed scope before then.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"Controlled recovery after containment". Recovery is never automatic when an alert clears. The state version is advanced on release so stale approvals are rejected.</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Recovery is never automatic when an alert clears. The state version is advanced on release so stale approvals are rejected.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"Capacity, quota and cost review". Monthly review inputs come from the FinOps telemetry (offering 04). Quota does not guarantee capacity; scaling down releases capacity with no guarantee of return.</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Monthly review inputs come from the FinOps telemetry (offering 04). Quota does not guarantee capacity; scaling down releases capacity with no guarantee of return.</a:t>
            </a:r>
          </a:p>
          <a:p/>
          <a:p>
            <a:r>
              <a:t>Sources (checked 11 Oct 2026):</a:t>
            </a:r>
          </a:p>
          <a:p>
            <a:r>
              <a:t>Provisioned throughput concepts: https://learn.microsoft.com/en-us/azure/foundry/openai/concepts/provisioned-throughput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"Backup and recovery responsibilities". Recovery responsibility per component. Single-region restoration is not regional disaster recovery. RTO and RPO require dependency-specific testing.</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Recovery responsibility per component. Single-region restoration is not regional disaster recovery. RTO and RPO require dependency-specific testing.</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"Runbooks, escalation and tower agreements". Internal support agreement fields from the V3 proposal: lead and backup, hours, response and restore expectations, escalation, access, warranty, maintenance releases, enhancement limits and charging. Align internal targets to customer obligations.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Internal support agreement fields from the V3 proposal: lead and backup, hours, response and restore expectations, escalation, access, warranty, maintenance releases, enhancement limits and charging. Align internal targets to customer obligations.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"Service hours, on-call and effort allowances". Planning assumption, not a staffing commitment: one continuously staffed seat needs roughly 8,760 hours a year divided by about 1,700 productive hours per person, so about 5 people per seat before skills mix and leave. Validate with delivery leadership and local labour rules.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Planning assumption, not a staffing commitment: one continuously staffed seat needs roughly 8,760 hours a year divided by about 1,700 productive hours per person, so about 5 people per seat before skills mix and leave. Validate with delivery leadership and local labour rules.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"Pricing logic for the recurring service". Recurring fee formula. No approved rates exist; each term names its missing input and owner. Specialist tower support is either inside the fee through internal agreements or a separate work package.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Recurring fee formula. No approved rates exist; each term names its missing input and owner. Specialist tower support is either inside the fee through internal agreements or a separate work package. Azure consumption is outside the fee unless a resale agreement says otherwise.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Alerts must land in the customer service desk, not in our inbox. For ServiceNow and BMC, Azure Monitor has a secure webhook path. The older ServiceNow connector is being retired, so we do not design new work on it.</a:t>
            </a:r>
          </a:p>
          <a:p/>
          <a:p>
            <a:r>
              <a:t>Likely question: Do we sell an AIOps tool?</a:t>
            </a:r>
          </a:p>
          <a:p>
            <a:r>
              <a:t>Answer: No. We use native correlation and automation, and integrate with the customer tool if they have one.</a:t>
            </a:r>
          </a:p>
          <a:p/>
          <a:p>
            <a:r>
              <a:t>DETAIL AND CAVEATS</a:t>
            </a:r>
          </a:p>
          <a:p>
            <a:r>
              <a:t>Azure Monitor IT Service Management integration (page updated 16 Oct 2025): Secure Webhook action groups with Secure Export support ServiceNow ITOM and BMC Helix. Using ITSM actions to send alerts to ServiceNow has been in a three-year deprecation since September 2022 and new connectors cannot be created in the portal since October 2023. Other tools: generic webhook or Logic Apps. AIOps here means alert correlation, noise reduction and runbook automation using native features (alert processing rules, dynamic thresholds, Azure Automation or Logic Apps); any third-party AIOps tooling is the customer choice.</a:t>
            </a:r>
          </a:p>
          <a:p/>
          <a:p>
            <a:r>
              <a:t>Sources (checked 11 Oct 2026):</a:t>
            </a:r>
          </a:p>
          <a:p>
            <a:r>
              <a:t>IT Service Management integration (Azure Monitor): https://learn.microsoft.com/en-us/azure/azure-monitor/alerts/itsmc-overview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the recurring tasks for agent platforms. We keep the registry and catalogue current, run reviews and drills, and support Copilot Studio agents through the gateway. The Power Platform team keeps Copilot Studio administration, and Microsoft 365 Copilot stays with our M365 and D365 teams.</a:t>
            </a:r>
          </a:p>
          <a:p/>
          <a:p>
            <a:r>
              <a:t>Likely question: Is this included in Foundation?</a:t>
            </a:r>
          </a:p>
          <a:p>
            <a:r>
              <a:t>Answer: Registry and catalogue upkeep yes; drills and Copilot Studio connector work scale with the number of agents.</a:t>
            </a:r>
          </a:p>
          <a:p/>
          <a:p>
            <a:r>
              <a:t>DETAIL AND CAVEATS</a:t>
            </a:r>
          </a:p>
          <a:p>
            <a:r>
              <a:t>Service catalogue items for agent platforms. Agent 365 is GA (1 May 2026) with registry, policies and Entra agent identities; lifecycle actions announced as coming. Copilot Studio environment administration and DLP policies remain with the customer Power Platform team; CIS Infra operates the catalogue, gateway connectors, telemetry and containment for Copilot Studio agents that are in scope. Microsoft 365 Copilot is owned by the Cognizant M365 and D365 teams and is outside this service.</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Control Plane: manage agents: https://learn.microsoft.com/en-us/azure/foundry/control-plane/how-to-manage-agents</a:t>
            </a:r>
          </a:p>
          <a:p>
            <a:r>
              <a:t>Conditional Access for agents (Microsoft Learn, updated 30 Sep 2026): https://learn.microsoft.com/en-us/entra/identity/conditional-access/agent-id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Procurement always asks how they leave. Everything we build lives in the customer tenant and repositories, and the exit package is priced up front.</a:t>
            </a:r>
          </a:p>
          <a:p/>
          <a:p>
            <a:r>
              <a:t>Likely question: Do we keep any IP?</a:t>
            </a:r>
          </a:p>
          <a:p>
            <a:r>
              <a:t>Answer: Our internal accelerators and methods, yes, as agreed in the contract. Customer configuration and data stay with the customer.</a:t>
            </a:r>
          </a:p>
          <a:p/>
          <a:p>
            <a:r>
              <a:t>DETAIL AND CAVEATS</a:t>
            </a:r>
          </a:p>
          <a:p>
            <a:r>
              <a:t>Exit plan agreed at contract start and refreshed yearly. One-time exit package of 15 to 30 role days over 4 to 6 weeks (estimate). All runbooks, infrastructure as code, alert rules, dashboards and catalogue data remain customer property in customer tenants and repositories.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shows what sits behind each fee band, so Finance can test the margin. Continuous is mainly the cost of an always-staffed seat.</a:t>
            </a:r>
          </a:p>
          <a:p/>
          <a:p>
            <a:r>
              <a:t>Likely question: Can offshore delivery lower it?</a:t>
            </a:r>
          </a:p>
          <a:p>
            <a:r>
              <a:t>Answer: Yes, location mix changes the rate, not the role days. Finance sets the rates.</a:t>
            </a:r>
          </a:p>
          <a:p/>
          <a:p>
            <a:r>
              <a:t>DETAIL AND CAVEATS</a:t>
            </a:r>
          </a:p>
          <a:p>
            <a:r>
              <a:t>Planning estimates. About 20 productive role days per FTE per month. One continuously staffed seat is about 8,760 hours a year divided by about 1,700 productive hours per person, about 5 people. Role mix is indicative; validate with delivery leadership.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will ask what we log. By default we log numbers and IDs, not prompts or answers. Content logging is opt-in, redacted, short-lived and approved by Security and the data owner.</a:t>
            </a:r>
          </a:p>
          <a:p/>
          <a:p>
            <a:r>
              <a:t>Likely question: Can we debug without prompts?</a:t>
            </a:r>
          </a:p>
          <a:p>
            <a:r>
              <a:t>Answer: Mostly yes. For deep debugging we use a time-boxed, approved capture in a restricted workspace.</a:t>
            </a:r>
          </a:p>
          <a:p/>
          <a:p>
            <a:r>
              <a:t>DETAIL AND CAVEATS</a:t>
            </a:r>
          </a:p>
          <a:p>
            <a:r>
              <a:t>Prompt and telemetry data handling for chargeback and observability. Default: token counts, caller, agent and model IDs, latency and status codes only. Prompt or completion logging is opt-in, approved by Security and the data owner, with redaction and short retention. Retention values are proposals for the customer to set.</a:t>
            </a:r>
          </a:p>
          <a:p/>
          <a:p>
            <a:r>
              <a:t>Sources (checked 11 Oct 2026):</a:t>
            </a:r>
          </a:p>
          <a:p>
            <a:r>
              <a:t>AI gateway capabilities in API Management: https://learn.microsoft.com/en-us/azure/api-management/genai-gateway-capabilities</a:t>
            </a:r>
          </a:p>
          <a:p>
            <a:r>
              <a:t>Microsoft Purview data security and compliance for AI: https://learn.microsoft.com/en-us/purview/ai-microsoft-purview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Internal audit is often who triggers the budget, so we give them something they can test. Each control has a test and an evidence source they can pull themselves.</a:t>
            </a:r>
          </a:p>
          <a:p/>
          <a:p>
            <a:r>
              <a:t>Likely question: Is this an audit opinion?</a:t>
            </a:r>
          </a:p>
          <a:p>
            <a:r>
              <a:t>Answer: No. It is evidence for the customer auditors to test. We do not give assurance opinions.</a:t>
            </a:r>
          </a:p>
          <a:p/>
          <a:p>
            <a:r>
              <a:t>DETAIL AND CAVEATS</a:t>
            </a:r>
          </a:p>
          <a:p>
            <a:r>
              <a:t>Named deliverable: AI agent control matrix and evidence pack. Each control has an objective, a test and the evidence source, so internal audit can test agent inventory, ownership and containment. It supports, but does not replace, the customer audit or any external assurance.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14 or more with no zero on funding, authority, sponsor or the data residency gate;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2026 (released 3 Aug 2026), plus the MCP tool trust boundary, supply chain and identity threats specific to this offering. CIS Infra implements platform controls; Security owns threat modelling, policy and security operations.</a:t>
            </a:r>
          </a:p>
          <a:p/>
          <a:p>
            <a:r>
              <a:t>Sources (checked 11 Oct 2026):</a:t>
            </a:r>
          </a:p>
          <a:p>
            <a:r>
              <a:t>OWASP Top 10 for LLM Applications 2026 (OWASP GenAI Security Project, released 3 Aug 2026): https://genai.owasp.org/resource/owasp-genai-llm-top-10-2026/</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questions decide the compliance conversation: what role the customer holds under the EU AI Act, and which sector rules apply. We help with evidence and controls; the customer and its lawyers decide.</a:t>
            </a:r>
          </a:p>
          <a:p/>
          <a:p>
            <a:r>
              <a:t>Likely question: Does SR 11-7 still apply to our US bank clients?</a:t>
            </a:r>
          </a:p>
          <a:p>
            <a:r>
              <a:t>Answer: It was replaced in April 2026 by risk-based interagency guidance, and generative and agentic AI are out of its scope. Banks still expect governance, so we position audit evidence, not model validation.</a:t>
            </a:r>
          </a:p>
          <a:p/>
          <a:p>
            <a:r>
              <a:t>DETAIL AND CAVEATS</a:t>
            </a:r>
          </a:p>
          <a:p>
            <a:r>
              <a:t>EU AI Act roles are indicative: the customer is usually the deployer of an AI system and becomes a provider only if it develops a system and places it on the market or puts it into service under its own name. Cognizant, delivering infrastructure services, is normally neither, unless a contract says otherwise. Sector rows: DORA applies from 17 Jan 2025 (Regulation (EU) 2022/2554); NIS2 transposition deadline 17 Oct 2024 (Directive (EU) 2022/2555); Saudi PDPL effective 14 Sep 2023 and enforceable from Sep 2024 (Baker McKenzie summary, third party); US interagency model risk guidance issued 17 Apr 2026 replaced SR 11-7 and puts generative and agentic AI out of scope (JD Supra summary, third party). UK and UAE rows are not re-verified and are marked so. Cognizant does not give legal advice; customers take their own.</a:t>
            </a:r>
          </a:p>
          <a:p/>
          <a:p>
            <a:r>
              <a:t>Sources (checked 11 Oct 2026):</a:t>
            </a:r>
          </a:p>
          <a:p>
            <a:r>
              <a:t>EU AI Act Update: Digital Omnibus finalises compliance changes (Orrick, third-party law-firm summary, 29 Jul 2026; EUR-Lex text not verified): https://www.orrick.com/en/Insights/2026/07/EU-AI-Act-Update-Digital-Omnibus-Finalizes-8-Compliance-Changes</a:t>
            </a:r>
          </a:p>
          <a:p>
            <a:r>
              <a:t>Regulation (EU) 2022/2554 (DORA), EUR-Lex: https://eur-lex.europa.eu/eli/reg/2022/2554/oj</a:t>
            </a:r>
          </a:p>
          <a:p>
            <a:r>
              <a:t>Directive (EU) 2022/2555 (NIS2), EUR-Lex: https://eur-lex.europa.eu/eli/dir/2022/2555/oj</a:t>
            </a:r>
          </a:p>
          <a:p>
            <a:r>
              <a:t>Saudi Arabia key data and cybersecurity laws (Baker McKenzie, third party, reviewed 31 Dec 2024): https://resourcehub.bakermckenzie.com/en/resources/global-data-and-cyber-handbook/emea/saudi-arabia/topics/key-data-and-cybersecurity-laws</a:t>
            </a:r>
          </a:p>
          <a:p>
            <a:r>
              <a:t>Banking regulators replace SR 11-7 with revised model risk guidance (JD Supra law-firm summary, third party): https://www.jdsupra.com/legalnews/banking-regulators-replace-5649360/</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Delivery will ask who does the work, and sellers will ask what they can use. This slide answers both honestly: the roles and skills are defined, current bench numbers are an input we still need, and most of the sales kit is still to build.</a:t>
            </a:r>
          </a:p>
          <a:p/>
          <a:p>
            <a:r>
              <a:t>Likely question: How long to get ready?</a:t>
            </a:r>
          </a:p>
          <a:p>
            <a:r>
              <a:t>Answer: The ramp-up column gives our estimate per role. Leadership can shorten it by funding enablement in the validation.</a:t>
            </a:r>
          </a:p>
          <a:p/>
          <a:p>
            <a:r>
              <a:t>DETAIL AND CAVEATS</a:t>
            </a:r>
          </a:p>
          <a:p>
            <a:r>
              <a:t>Skills and bench plan (delivery) and presales kit (sellers). Bench numbers are an input required from the CIS Infra delivery lead; no staffing is asserted. Certifications listed are Microsoft role-based certifications or specializations to confirm with the Microsoft alliance team. Kit status reflects what exists today in this proposal: decks and talk tracks exist; everything else is to build.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Account teams want to know where this fits and how big it gets. The top row is the account play, including a story for a business buyer, not only IT. The table is what Legal and Finance will want settled before we sign.</a:t>
            </a:r>
          </a:p>
          <a:p/>
          <a:p>
            <a:r>
              <a:t>Likely question: Will this compete with our existing infrastructure contract?</a:t>
            </a:r>
          </a:p>
          <a:p>
            <a:r>
              <a:t>Answer: No. In existing accounts we add it through change control as an extension, and the account leader decides the route.</a:t>
            </a:r>
          </a:p>
          <a:p/>
          <a:p>
            <a:r>
              <a:t>DETAIL AND CAVEATS</a:t>
            </a:r>
          </a:p>
          <a:p>
            <a:r>
              <a:t>Account play (where the offering fits in an existing account plan, first deal, expansion path and a business-led entry story) and contract risk positions. Contract positions are proposals for Legal and Finance; Cognizant standard terms prevail. Deal sizes use the illustrative $1,000 per role day. In accounts where Cognizant already runs infrastructure or managed services, position this offering as an extension of the existing contract through change control, not a competing bid.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90-day validation.</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Security incidents: Security is shown accountable as the contracted security resolver; if the customer or a third party provides security operations, that party is accountable instead.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Third-party sources are labelled. Recheck prices and regions before any customer quote.</a:t>
            </a:r>
          </a:p>
          <a:p/>
          <a:p>
            <a:r>
              <a:t>Likely question: Which sources are third party?</a:t>
            </a:r>
          </a:p>
          <a:p>
            <a:r>
              <a:t>Answer: Those labelled third party, such as law-firm summaries and licensing analysts. Microsoft facts come from Microsoft Learn, Microsoft blogs or the Azure Retail Prices API.</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Third-party sources are labelled. Recheck prices and regions before any customer quote.</a:t>
            </a:r>
          </a:p>
          <a:p/>
          <a:p>
            <a:r>
              <a:t>Likely question: Which sources are third party?</a:t>
            </a:r>
          </a:p>
          <a:p>
            <a:r>
              <a:t>Answer: Those labelled third party, such as law-firm summaries and licensing analysts. Microsoft facts come from Microsoft Learn, Microsoft blogs or the Azure Retail Prices API.</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image" Target="../media/image25.png"/><Relationship Id="rId5" Type="http://schemas.openxmlformats.org/officeDocument/2006/relationships/image" Target="../media/image28.svg"/><Relationship Id="rId6" Type="http://schemas.openxmlformats.org/officeDocument/2006/relationships/image" Target="../media/image27.png"/><Relationship Id="rId7" Type="http://schemas.openxmlformats.org/officeDocument/2006/relationships/image" Target="../media/image30.svg"/><Relationship Id="rId8" Type="http://schemas.openxmlformats.org/officeDocument/2006/relationships/image" Target="../media/image29.png"/><Relationship Id="rId9" Type="http://schemas.openxmlformats.org/officeDocument/2006/relationships/image" Target="../media/image32.svg"/><Relationship Id="rId10" Type="http://schemas.openxmlformats.org/officeDocument/2006/relationships/image" Target="../media/image31.png"/><Relationship Id="rId11" Type="http://schemas.openxmlformats.org/officeDocument/2006/relationships/image" Target="../media/image34.svg"/><Relationship Id="rId12" Type="http://schemas.openxmlformats.org/officeDocument/2006/relationships/image" Target="../media/image33.png"/><Relationship Id="rId13" Type="http://schemas.openxmlformats.org/officeDocument/2006/relationships/image" Target="../media/image36.svg"/><Relationship Id="rId14" Type="http://schemas.openxmlformats.org/officeDocument/2006/relationships/image" Target="../media/image35.png"/><Relationship Id="rId15" Type="http://schemas.openxmlformats.org/officeDocument/2006/relationships/image" Target="../media/image38.svg"/><Relationship Id="rId16" Type="http://schemas.openxmlformats.org/officeDocument/2006/relationships/image" Target="../media/image37.png"/><Relationship Id="rId17" Type="http://schemas.openxmlformats.org/officeDocument/2006/relationships/image" Target="../media/image40.svg"/><Relationship Id="rId18" Type="http://schemas.openxmlformats.org/officeDocument/2006/relationships/image" Target="../media/image39.png"/><Relationship Id="rId19" Type="http://schemas.openxmlformats.org/officeDocument/2006/relationships/image" Target="../media/image42.svg"/><Relationship Id="rId20" Type="http://schemas.openxmlformats.org/officeDocument/2006/relationships/image" Target="../media/image41.png"/><Relationship Id="rId21" Type="http://schemas.openxmlformats.org/officeDocument/2006/relationships/image" Target="../media/image44.svg"/><Relationship Id="rId22" Type="http://schemas.openxmlformats.org/officeDocument/2006/relationships/image" Target="../media/image43.png"/><Relationship Id="rId23" Type="http://schemas.openxmlformats.org/officeDocument/2006/relationships/image" Target="../media/image46.svg"/><Relationship Id="rId24" Type="http://schemas.openxmlformats.org/officeDocument/2006/relationships/image" Target="../media/image45.png"/><Relationship Id="rId25" Type="http://schemas.openxmlformats.org/officeDocument/2006/relationships/image" Target="../media/image48.svg"/><Relationship Id="rId26" Type="http://schemas.openxmlformats.org/officeDocument/2006/relationships/image" Target="../media/image11.png"/><Relationship Id="rId27" Type="http://schemas.openxmlformats.org/officeDocument/2006/relationships/image" Target="../media/image14.svg"/><Relationship Id="rId28" Type="http://schemas.openxmlformats.org/officeDocument/2006/relationships/image" Target="../media/image13.png"/><Relationship Id="rId29" Type="http://schemas.openxmlformats.org/officeDocument/2006/relationships/image" Target="../media/image16.svg"/><Relationship Id="rId30" Type="http://schemas.openxmlformats.org/officeDocument/2006/relationships/image" Target="../media/image15.png"/><Relationship Id="rId31" Type="http://schemas.openxmlformats.org/officeDocument/2006/relationships/image" Target="../media/image18.svg"/><Relationship Id="rId32"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hyperlink" Target="https://learn.microsoft.com/en-us/azure/foundry/control-plane/how-to-manage-agents" TargetMode="External"/><Relationship Id="rId5" Type="http://schemas.openxmlformats.org/officeDocument/2006/relationships/hyperlink" Target="https://learn.microsoft.com/en-us/azure/foundry/control-plane/register-custom-agent" TargetMode="External"/><Relationship Id="rId6" Type="http://schemas.openxmlformats.org/officeDocument/2006/relationships/hyperlink" Target="https://www.microsoft.com/en-us/security/blog/2026/05/01/microsoft-agent-365-now-generally-available-expands-capabilities-and-integrations/" TargetMode="External"/><Relationship Id="rId7" Type="http://schemas.openxmlformats.org/officeDocument/2006/relationships/hyperlink" Target="https://learn.microsoft.com/en-us/entra/identity/conditional-access/agent-id" TargetMode="External"/><Relationship Id="rId8" Type="http://schemas.openxmlformats.org/officeDocument/2006/relationships/hyperlink" Target="https://learn.microsoft.com/en-us/azure/azure-monitor/alerts/itsmc-overview" TargetMode="External"/><Relationship Id="rId9" Type="http://schemas.openxmlformats.org/officeDocument/2006/relationships/hyperlink" Target="https://learn.microsoft.com/en-us/azure/foundry/openai/concepts/model-retirement-schedule" TargetMode="External"/><Relationship Id="rId10" Type="http://schemas.openxmlformats.org/officeDocument/2006/relationships/hyperlink" Target="https://learn.microsoft.com/en-us/azure/foundry/openai/concepts/provisioned-throughput" TargetMode="External"/><Relationship Id="rId11" Type="http://schemas.openxmlformats.org/officeDocument/2006/relationships/hyperlink" Target="https://prices.azure.com/api/retail/prices?$filter=serviceName eq 'Log Analytics' and armRegionName eq 'eastus2'" TargetMode="External"/><Relationship Id="rId12" Type="http://schemas.openxmlformats.org/officeDocument/2006/relationships/hyperlink" Target="https://learn.microsoft.com/en-us/azure/api-management/genai-gateway-capabilities" TargetMode="External"/><Relationship Id="rId13" Type="http://schemas.openxmlformats.org/officeDocument/2006/relationships/hyperlink" Target="https://learn.microsoft.com/en-us/azure/defender-for-cloud/ai-threat-protection" TargetMode="External"/><Relationship Id="rId14" Type="http://schemas.openxmlformats.org/officeDocument/2006/relationships/hyperlink" Target="https://learn.microsoft.com/en-us/purview/ai-microsoft-purview" TargetMode="External"/><Relationship Id="rId15" Type="http://schemas.openxmlformats.org/officeDocument/2006/relationships/hyperlink" Target="https://www.orrick.com/en/Insights/2026/07/EU-AI-Act-Update-Digital-Omnibus-Finalizes-8-Compliance-Changes" TargetMode="External"/><Relationship Id="rId16" Type="http://schemas.openxmlformats.org/officeDocument/2006/relationships/hyperlink" Target="https://genai.owasp.org/resource/owasp-genai-llm-top-10-2026/" TargetMode="External"/><Relationship Id="rId17"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hyperlink" Target="https://learn.microsoft.com/en-us/azure/architecture/icons/" TargetMode="External"/><Relationship Id="rId5" Type="http://schemas.openxmlformats.org/officeDocument/2006/relationships/hyperlink" Target="https://az-icons.com/" TargetMode="External"/><Relationship Id="rId6" Type="http://schemas.openxmlformats.org/officeDocument/2006/relationships/hyperlink" Target="https://github.com/upendra25312/AI-Foundry-GTM-offering-/blob/main/CIS_Infra_Azure_AI_Platform_GTM_Proposal_V3.docx" TargetMode="External"/><Relationship Id="rId7" Type="http://schemas.openxmlformats.org/officeDocument/2006/relationships/hyperlink" Target="https://learn.microsoft.com/en-us/azure/foundry/observability/how-to/how-to-monitor-agents-dashboard" TargetMode="External"/><Relationship Id="rId8"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Managed AI Platform Operations</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Run the Azure AI platform with clear ownership, proposed service objectives and monthly evidence</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Recurring CIS Infra service with defined handoffs to AI, Data and Security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4.0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One accountable operator runs the AI platform each month</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024127"/>
          </a:xfrm>
          <a:prstGeom prst="rect">
            <a:avLst/>
          </a:prstGeom>
          <a:noFill/>
        </p:spPr>
        <p:txBody>
          <a:bodyPr wrap="square" lIns="0" rIns="0" tIns="0" bIns="0" anchor="t">
            <a:noAutofit/>
          </a:bodyPr>
          <a:lstStyle/>
          <a:p>
            <a:pPr algn="l"/>
            <a:r>
              <a:rPr sz="1800" b="0" i="0">
                <a:solidFill>
                  <a:srgbClr val="1E1E2E"/>
                </a:solidFill>
                <a:latin typeface="Arial"/>
              </a:rPr>
              <a:t>AI workloads reach production with unowned alerts, unclear tower handoffs, drifting costs and no rehearsed way to stop an agent.</a:t>
            </a:r>
          </a:p>
        </p:txBody>
      </p:sp>
      <p:sp>
        <p:nvSpPr>
          <p:cNvPr id="10" name="TextBox 9"/>
          <p:cNvSpPr txBox="1"/>
          <p:nvPr/>
        </p:nvSpPr>
        <p:spPr>
          <a:xfrm>
            <a:off x="548640" y="2441448"/>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441448"/>
            <a:ext cx="5120640" cy="1024127"/>
          </a:xfrm>
          <a:prstGeom prst="rect">
            <a:avLst/>
          </a:prstGeom>
          <a:noFill/>
        </p:spPr>
        <p:txBody>
          <a:bodyPr wrap="square" lIns="0" rIns="0" tIns="0" bIns="0" anchor="t">
            <a:noAutofit/>
          </a:bodyPr>
          <a:lstStyle/>
          <a:p>
            <a:pPr algn="l"/>
            <a:r>
              <a:rPr sz="1800" b="0" i="0">
                <a:solidFill>
                  <a:srgbClr val="1E1E2E"/>
                </a:solidFill>
                <a:latin typeface="Arial"/>
              </a:rPr>
              <a:t>A recurring service: platform health, incidents, changes, agent inventory, monthly cost and lifecycle reviews; containment once proven in 02.</a:t>
            </a:r>
          </a:p>
        </p:txBody>
      </p:sp>
      <p:sp>
        <p:nvSpPr>
          <p:cNvPr id="12" name="TextBox 11"/>
          <p:cNvSpPr txBox="1"/>
          <p:nvPr/>
        </p:nvSpPr>
        <p:spPr>
          <a:xfrm>
            <a:off x="548640" y="3511296"/>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3511296"/>
            <a:ext cx="5120640" cy="1024127"/>
          </a:xfrm>
          <a:prstGeom prst="rect">
            <a:avLst/>
          </a:prstGeom>
          <a:noFill/>
        </p:spPr>
        <p:txBody>
          <a:bodyPr wrap="square" lIns="0" rIns="0" tIns="0" bIns="0" anchor="t">
            <a:noAutofit/>
          </a:bodyPr>
          <a:lstStyle/>
          <a:p>
            <a:pPr algn="l"/>
            <a:r>
              <a:rPr sz="1800" b="0" i="0">
                <a:solidFill>
                  <a:srgbClr val="1E1E2E"/>
                </a:solidFill>
                <a:latin typeface="Arial"/>
              </a:rPr>
              <a:t>One service entry point, named resolvers per lane, proposed objectives, monthly evidence and a staffed price.</a:t>
            </a:r>
          </a:p>
        </p:txBody>
      </p:sp>
      <p:sp>
        <p:nvSpPr>
          <p:cNvPr id="14" name="TextBox 13"/>
          <p:cNvSpPr txBox="1"/>
          <p:nvPr/>
        </p:nvSpPr>
        <p:spPr>
          <a:xfrm>
            <a:off x="548640" y="4581144"/>
            <a:ext cx="1600200" cy="457200"/>
          </a:xfrm>
          <a:prstGeom prst="rect">
            <a:avLst/>
          </a:prstGeom>
          <a:noFill/>
        </p:spPr>
        <p:txBody>
          <a:bodyPr wrap="square" lIns="0" rIns="0" tIns="0" bIns="0" anchor="t">
            <a:noAutofit/>
          </a:bodyPr>
          <a:lstStyle/>
          <a:p>
            <a:pPr algn="l"/>
            <a:r>
              <a:rPr sz="2200" b="1" i="0">
                <a:solidFill>
                  <a:srgbClr val="1D6B3A"/>
                </a:solidFill>
                <a:latin typeface="Arial"/>
              </a:rPr>
              <a:t>Value</a:t>
            </a:r>
          </a:p>
        </p:txBody>
      </p:sp>
      <p:sp>
        <p:nvSpPr>
          <p:cNvPr id="15" name="TextBox 14"/>
          <p:cNvSpPr txBox="1"/>
          <p:nvPr/>
        </p:nvSpPr>
        <p:spPr>
          <a:xfrm>
            <a:off x="2148840" y="4581144"/>
            <a:ext cx="5120640" cy="1024127"/>
          </a:xfrm>
          <a:prstGeom prst="rect">
            <a:avLst/>
          </a:prstGeom>
          <a:noFill/>
        </p:spPr>
        <p:txBody>
          <a:bodyPr wrap="square" lIns="0" rIns="0" tIns="0" bIns="0" anchor="t">
            <a:noAutofit/>
          </a:bodyPr>
          <a:lstStyle/>
          <a:p>
            <a:pPr algn="l"/>
            <a:r>
              <a:rPr sz="1800" b="0" i="0">
                <a:solidFill>
                  <a:srgbClr val="1E1E2E"/>
                </a:solidFill>
                <a:latin typeface="Arial"/>
              </a:rPr>
              <a:t>Incidents resolved inside target; steady production use of Azure.</a:t>
            </a:r>
          </a:p>
        </p:txBody>
      </p:sp>
      <p:sp>
        <p:nvSpPr>
          <p:cNvPr id="16" name="Rounded Rectangle 15"/>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Approve three proposed coverage packages for pilots</a:t>
            </a:r>
          </a:p>
          <a:p>
            <a:pPr algn="l" marL="201168" indent="-201168">
              <a:spcAft>
                <a:spcPts val="1000"/>
              </a:spcAft>
              <a:buFont typeface="Arial"/>
              <a:buChar char="•"/>
            </a:pPr>
            <a:r>
              <a:rPr sz="2000" b="0" i="0">
                <a:solidFill>
                  <a:srgbClr val="FFFFFF"/>
                </a:solidFill>
                <a:latin typeface="Arial"/>
              </a:rPr>
              <a:t>No 24x7 offer without a funded roster</a:t>
            </a:r>
          </a:p>
          <a:p>
            <a:pPr algn="l" marL="201168" indent="-201168">
              <a:spcAft>
                <a:spcPts val="1000"/>
              </a:spcAft>
              <a:buFont typeface="Arial"/>
              <a:buChar char="•"/>
            </a:pPr>
            <a:r>
              <a:rPr sz="2000" b="0" i="0">
                <a:solidFill>
                  <a:srgbClr val="FFFFFF"/>
                </a:solidFill>
                <a:latin typeface="Arial"/>
              </a:rPr>
              <a:t>Sponsor internal support agreements with towers</a:t>
            </a:r>
          </a:p>
        </p:txBody>
      </p:sp>
      <p:sp>
        <p:nvSpPr>
          <p:cNvPr id="17" name="Rounded Rectangle 16"/>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Platform operations are not AI quality management or security operations. Those stay with their towers.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Agents, stops and model retirements all need running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Agents need operating</a:t>
            </a:r>
          </a:p>
          <a:p>
            <a:pPr algn="l">
              <a:spcAft>
                <a:spcPts val="400"/>
              </a:spcAft>
            </a:pPr>
            <a:r>
              <a:rPr sz="1800" b="0" i="0">
                <a:solidFill>
                  <a:srgbClr val="1E1E2E"/>
                </a:solidFill>
                <a:latin typeface="Arial"/>
              </a:rPr>
              <a:t>Agent 365 is GA since 1 May 2026; registries, policies and identities need day-to-day owners.</a:t>
            </a:r>
          </a:p>
          <a:p>
            <a:pPr algn="l"/>
            <a:r>
              <a:rPr sz="1200" b="0" i="0">
                <a:solidFill>
                  <a:srgbClr val="53565A"/>
                </a:solidFill>
                <a:latin typeface="Arial"/>
              </a:rPr>
              <a:t>Source: Microsoft Security blog</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Stop needs a runbook</a:t>
            </a:r>
          </a:p>
          <a:p>
            <a:pPr algn="l">
              <a:spcAft>
                <a:spcPts val="400"/>
              </a:spcAft>
            </a:pPr>
            <a:r>
              <a:rPr sz="1800" b="0" i="0">
                <a:solidFill>
                  <a:srgbClr val="1E1E2E"/>
                </a:solidFill>
                <a:latin typeface="Arial"/>
              </a:rPr>
              <a:t>Stopping a Foundry agent does not end runs already in progress, so containment must be drilled.</a:t>
            </a:r>
          </a:p>
          <a:p>
            <a:pPr algn="l"/>
            <a:r>
              <a:rPr sz="1200" b="0" i="0">
                <a:solidFill>
                  <a:srgbClr val="53565A"/>
                </a:solidFill>
                <a:latin typeface="Arial"/>
              </a:rPr>
              <a:t>Source: Foundry Control Plane docs</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Models keep retiring</a:t>
            </a:r>
          </a:p>
          <a:p>
            <a:pPr algn="l">
              <a:spcAft>
                <a:spcPts val="400"/>
              </a:spcAft>
            </a:pPr>
            <a:r>
              <a:rPr sz="1800" b="0" i="0">
                <a:solidFill>
                  <a:srgbClr val="1E1E2E"/>
                </a:solidFill>
                <a:latin typeface="Arial"/>
              </a:rPr>
              <a:t>gpt-4.1 retires 14 Apr 2027; provisioned deployments are not auto-upgraded.</a:t>
            </a:r>
          </a:p>
          <a:p>
            <a:pPr algn="l"/>
            <a:r>
              <a:rPr sz="1200" b="0" i="0">
                <a:solidFill>
                  <a:srgbClr val="53565A"/>
                </a:solidFill>
                <a:latin typeface="Arial"/>
              </a:rPr>
              <a:t>Source: Foundry retirement schedule</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IT service owner with the AI platform leader; CISO delegate for containment; FinOps lead for reviews.</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An AI workload entering production; an agent incident; engineering firefighting the platform; unplanned spend.</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05 runs what 01 to 04 build, and feeds evidence back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04</a:t>
            </a:r>
          </a:p>
          <a:p>
            <a:pPr algn="l"/>
            <a:r>
              <a:rPr sz="1500" b="1" i="0">
                <a:solidFill>
                  <a:srgbClr val="000048"/>
                </a:solidFill>
                <a:latin typeface="Arial"/>
              </a:rPr>
              <a:t>AI Capacity and FinOps Assessment</a:t>
            </a:r>
          </a:p>
        </p:txBody>
      </p:sp>
      <p:cxnSp>
        <p:nvCxnSpPr>
          <p:cNvPr id="9" name="Connector (flow)"/>
          <p:cNvCxnSpPr/>
          <p:nvPr/>
        </p:nvCxnSpPr>
        <p:spPr>
          <a:xfrm>
            <a:off x="258775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01</a:t>
            </a:r>
          </a:p>
          <a:p>
            <a:pPr algn="l"/>
            <a:r>
              <a:rPr sz="1500" b="1" i="0">
                <a:solidFill>
                  <a:srgbClr val="000048"/>
                </a:solidFill>
                <a:latin typeface="Arial"/>
              </a:rPr>
              <a:t>AI Platform / Landing Zone</a:t>
            </a:r>
          </a:p>
        </p:txBody>
      </p:sp>
      <p:cxnSp>
        <p:nvCxnSpPr>
          <p:cNvPr id="11" name="Connector (flow)"/>
          <p:cNvCxnSpPr/>
          <p:nvPr/>
        </p:nvCxnSpPr>
        <p:spPr>
          <a:xfrm>
            <a:off x="485820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03</a:t>
            </a:r>
          </a:p>
          <a:p>
            <a:pPr algn="l"/>
            <a:r>
              <a:rPr sz="1500" b="1" i="0">
                <a:solidFill>
                  <a:srgbClr val="000048"/>
                </a:solidFill>
                <a:latin typeface="Arial"/>
              </a:rPr>
              <a:t>AI Gateway Implementation</a:t>
            </a:r>
          </a:p>
        </p:txBody>
      </p:sp>
      <p:cxnSp>
        <p:nvCxnSpPr>
          <p:cNvPr id="13" name="Connector (flow)"/>
          <p:cNvCxnSpPr/>
          <p:nvPr/>
        </p:nvCxnSpPr>
        <p:spPr>
          <a:xfrm>
            <a:off x="712866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000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02</a:t>
            </a:r>
          </a:p>
          <a:p>
            <a:pPr algn="l"/>
            <a:r>
              <a:rPr sz="1500" b="1" i="0">
                <a:solidFill>
                  <a:srgbClr val="000048"/>
                </a:solidFill>
                <a:latin typeface="Arial"/>
              </a:rPr>
              <a:t>Agent Governance and Operations</a:t>
            </a:r>
          </a:p>
        </p:txBody>
      </p:sp>
      <p:cxnSp>
        <p:nvCxnSpPr>
          <p:cNvPr id="15" name="Connector (flow)"/>
          <p:cNvCxnSpPr/>
          <p:nvPr/>
        </p:nvCxnSpPr>
        <p:spPr>
          <a:xfrm>
            <a:off x="939911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30460" y="1298448"/>
            <a:ext cx="2011680" cy="1188720"/>
          </a:xfrm>
          <a:prstGeom prst="roundRect">
            <a:avLst>
              <a:gd name="adj" fmla="val 615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26EFE9"/>
                </a:solidFill>
                <a:latin typeface="Arial"/>
              </a:rPr>
              <a:t>05  THIS OFFERING</a:t>
            </a:r>
          </a:p>
          <a:p>
            <a:pPr algn="l"/>
            <a:r>
              <a:rPr sz="1500" b="1" i="0">
                <a:solidFill>
                  <a:srgbClr val="FFFFFF"/>
                </a:solidFill>
                <a:latin typeface="Arial"/>
              </a:rPr>
              <a:t>Managed AI Platform Operations</a:t>
            </a:r>
          </a:p>
        </p:txBody>
      </p:sp>
      <p:cxnSp>
        <p:nvCxnSpPr>
          <p:cNvPr id="17" name="Connector (control)"/>
          <p:cNvCxnSpPr/>
          <p:nvPr/>
        </p:nvCxnSpPr>
        <p:spPr>
          <a:xfrm>
            <a:off x="10636300" y="2487168"/>
            <a:ext cx="0" cy="256032"/>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control)"/>
          <p:cNvCxnSpPr/>
          <p:nvPr/>
        </p:nvCxnSpPr>
        <p:spPr>
          <a:xfrm flipH="1">
            <a:off x="1554480" y="2743200"/>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V="1">
            <a:off x="1554480" y="2487168"/>
            <a:ext cx="0" cy="2560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26080" y="2761488"/>
            <a:ext cx="6400800" cy="256032"/>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1" name="TextBox 20"/>
          <p:cNvSpPr txBox="1"/>
          <p:nvPr/>
        </p:nvSpPr>
        <p:spPr>
          <a:xfrm>
            <a:off x="548640" y="3090672"/>
            <a:ext cx="11064240" cy="292608"/>
          </a:xfrm>
          <a:prstGeom prst="rect">
            <a:avLst/>
          </a:prstGeom>
          <a:noFill/>
        </p:spPr>
        <p:txBody>
          <a:bodyPr wrap="square" lIns="0" rIns="0" tIns="0" bIns="0" anchor="t">
            <a:noAutofit/>
          </a:bodyPr>
          <a:lstStyle/>
          <a:p>
            <a:pPr algn="l"/>
            <a:r>
              <a:rPr sz="1500" b="1" i="0">
                <a:solidFill>
                  <a:srgbClr val="000048"/>
                </a:solidFill>
                <a:latin typeface="Arial"/>
              </a:rPr>
              <a:t>Microsoft ecosystem around the portfolio</a:t>
            </a:r>
          </a:p>
        </p:txBody>
      </p:sp>
      <p:sp>
        <p:nvSpPr>
          <p:cNvPr id="22" name="Rounded Rectangle 21"/>
          <p:cNvSpPr/>
          <p:nvPr/>
        </p:nvSpPr>
        <p:spPr>
          <a:xfrm>
            <a:off x="548640" y="3438144"/>
            <a:ext cx="2681478" cy="1051560"/>
          </a:xfrm>
          <a:prstGeom prst="roundRect">
            <a:avLst>
              <a:gd name="adj" fmla="val 6956"/>
            </a:avLst>
          </a:prstGeom>
          <a:solidFill>
            <a:srgbClr val="F1EFF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3" name="TextBox 22"/>
          <p:cNvSpPr txBox="1"/>
          <p:nvPr/>
        </p:nvSpPr>
        <p:spPr>
          <a:xfrm>
            <a:off x="704088"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M365 Copilot</a:t>
            </a:r>
          </a:p>
        </p:txBody>
      </p:sp>
      <p:sp>
        <p:nvSpPr>
          <p:cNvPr id="24" name="TextBox 23"/>
          <p:cNvSpPr txBox="1"/>
          <p:nvPr/>
        </p:nvSpPr>
        <p:spPr>
          <a:xfrm>
            <a:off x="704088"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Owned by Cognizant M365 and D365 teams; CIS Infra supplies readiness</a:t>
            </a:r>
          </a:p>
        </p:txBody>
      </p:sp>
      <p:sp>
        <p:nvSpPr>
          <p:cNvPr id="25" name="Status chip: HANDOFF"/>
          <p:cNvSpPr/>
          <p:nvPr/>
        </p:nvSpPr>
        <p:spPr>
          <a:xfrm>
            <a:off x="704088" y="4187952"/>
            <a:ext cx="818388"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53565A"/>
                </a:solidFill>
                <a:latin typeface="Arial"/>
              </a:rPr>
              <a:t>HANDOFF</a:t>
            </a:r>
          </a:p>
        </p:txBody>
      </p:sp>
      <p:sp>
        <p:nvSpPr>
          <p:cNvPr id="26" name="Rounded Rectangle 25"/>
          <p:cNvSpPr/>
          <p:nvPr/>
        </p:nvSpPr>
        <p:spPr>
          <a:xfrm>
            <a:off x="3367278"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7" name="TextBox 26"/>
          <p:cNvSpPr txBox="1"/>
          <p:nvPr/>
        </p:nvSpPr>
        <p:spPr>
          <a:xfrm>
            <a:off x="3477006"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Copilot Studio</a:t>
            </a:r>
          </a:p>
        </p:txBody>
      </p:sp>
      <p:sp>
        <p:nvSpPr>
          <p:cNvPr id="28" name="TextBox 27"/>
          <p:cNvSpPr txBox="1"/>
          <p:nvPr/>
        </p:nvSpPr>
        <p:spPr>
          <a:xfrm>
            <a:off x="3477006"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Agents covered as a runtime in offerings 02 to 05</a:t>
            </a:r>
          </a:p>
        </p:txBody>
      </p:sp>
      <p:sp>
        <p:nvSpPr>
          <p:cNvPr id="29" name="Status chip: COVERED RUNTIME"/>
          <p:cNvSpPr/>
          <p:nvPr/>
        </p:nvSpPr>
        <p:spPr>
          <a:xfrm>
            <a:off x="3477006"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COVERED RUNTIME</a:t>
            </a:r>
          </a:p>
        </p:txBody>
      </p:sp>
      <p:sp>
        <p:nvSpPr>
          <p:cNvPr id="30" name="Rounded Rectangle 29"/>
          <p:cNvSpPr/>
          <p:nvPr/>
        </p:nvSpPr>
        <p:spPr>
          <a:xfrm>
            <a:off x="6140196"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31" name="TextBox 30"/>
          <p:cNvSpPr txBox="1"/>
          <p:nvPr/>
        </p:nvSpPr>
        <p:spPr>
          <a:xfrm>
            <a:off x="6249924"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Agent 365</a:t>
            </a:r>
          </a:p>
        </p:txBody>
      </p:sp>
      <p:sp>
        <p:nvSpPr>
          <p:cNvPr id="32" name="TextBox 31"/>
          <p:cNvSpPr txBox="1"/>
          <p:nvPr/>
        </p:nvSpPr>
        <p:spPr>
          <a:xfrm>
            <a:off x="6249924"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Microsoft agent control plane; configure before any custom build</a:t>
            </a:r>
          </a:p>
        </p:txBody>
      </p:sp>
      <p:sp>
        <p:nvSpPr>
          <p:cNvPr id="33" name="Status chip: CONFIGURE FIRST"/>
          <p:cNvSpPr/>
          <p:nvPr/>
        </p:nvSpPr>
        <p:spPr>
          <a:xfrm>
            <a:off x="6249924"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CONFIGURE FIRST</a:t>
            </a:r>
          </a:p>
        </p:txBody>
      </p:sp>
      <p:sp>
        <p:nvSpPr>
          <p:cNvPr id="34" name="Rounded Rectangle 33"/>
          <p:cNvSpPr/>
          <p:nvPr/>
        </p:nvSpPr>
        <p:spPr>
          <a:xfrm>
            <a:off x="8913114"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API Center" descr="Official Azure icon: API Cente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22842" y="3520439"/>
            <a:ext cx="274320" cy="274320"/>
          </a:xfrm>
          <a:prstGeom prst="rect">
            <a:avLst/>
          </a:prstGeom>
        </p:spPr>
      </p:pic>
      <p:sp>
        <p:nvSpPr>
          <p:cNvPr id="36" name="TextBox 35"/>
          <p:cNvSpPr txBox="1"/>
          <p:nvPr/>
        </p:nvSpPr>
        <p:spPr>
          <a:xfrm>
            <a:off x="9352026" y="3502152"/>
            <a:ext cx="2013966" cy="274320"/>
          </a:xfrm>
          <a:prstGeom prst="rect">
            <a:avLst/>
          </a:prstGeom>
          <a:noFill/>
        </p:spPr>
        <p:txBody>
          <a:bodyPr wrap="square" lIns="0" rIns="0" tIns="0" bIns="0" anchor="t">
            <a:noAutofit/>
          </a:bodyPr>
          <a:lstStyle/>
          <a:p>
            <a:pPr algn="l"/>
            <a:r>
              <a:rPr sz="1400" b="1" i="0">
                <a:solidFill>
                  <a:srgbClr val="000048"/>
                </a:solidFill>
                <a:latin typeface="Arial"/>
              </a:rPr>
              <a:t>API Center</a:t>
            </a:r>
          </a:p>
        </p:txBody>
      </p:sp>
      <p:sp>
        <p:nvSpPr>
          <p:cNvPr id="37" name="TextBox 36"/>
          <p:cNvSpPr txBox="1"/>
          <p:nvPr/>
        </p:nvSpPr>
        <p:spPr>
          <a:xfrm>
            <a:off x="9022842"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Registry for APIs and MCP tools, beside API Management</a:t>
            </a:r>
          </a:p>
        </p:txBody>
      </p:sp>
      <p:sp>
        <p:nvSpPr>
          <p:cNvPr id="38" name="Status chip: CIS INFRA BUILDS"/>
          <p:cNvSpPr/>
          <p:nvPr/>
        </p:nvSpPr>
        <p:spPr>
          <a:xfrm>
            <a:off x="9022842" y="4187952"/>
            <a:ext cx="1517904"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CIS INFRA BUILDS</a:t>
            </a:r>
          </a:p>
        </p:txBody>
      </p:sp>
      <p:sp>
        <p:nvSpPr>
          <p:cNvPr id="39" name="Rounded Rectangle 38"/>
          <p:cNvSpPr/>
          <p:nvPr/>
        </p:nvSpPr>
        <p:spPr>
          <a:xfrm>
            <a:off x="5486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01 and 03</a:t>
            </a:r>
          </a:p>
          <a:p>
            <a:pPr algn="l"/>
            <a:r>
              <a:rPr sz="1600" b="0" i="0">
                <a:solidFill>
                  <a:srgbClr val="1E1E2E"/>
                </a:solidFill>
                <a:latin typeface="Arial"/>
              </a:rPr>
              <a:t>Accepted platform, gateway, runbooks, alert routing</a:t>
            </a:r>
          </a:p>
        </p:txBody>
      </p:sp>
      <p:sp>
        <p:nvSpPr>
          <p:cNvPr id="40" name="Rounded Rectangle 39"/>
          <p:cNvSpPr/>
          <p:nvPr/>
        </p:nvSpPr>
        <p:spPr>
          <a:xfrm>
            <a:off x="4319016"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02 Governance</a:t>
            </a:r>
          </a:p>
          <a:p>
            <a:pPr algn="l"/>
            <a:r>
              <a:rPr sz="1600" b="0" i="0">
                <a:solidFill>
                  <a:srgbClr val="1E1E2E"/>
                </a:solidFill>
                <a:latin typeface="Arial"/>
              </a:rPr>
              <a:t>Catalogue, containment plane and drills</a:t>
            </a:r>
          </a:p>
        </p:txBody>
      </p:sp>
      <p:sp>
        <p:nvSpPr>
          <p:cNvPr id="41" name="Rounded Rectangle 40"/>
          <p:cNvSpPr/>
          <p:nvPr/>
        </p:nvSpPr>
        <p:spPr>
          <a:xfrm>
            <a:off x="80162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04 FinOps</a:t>
            </a:r>
          </a:p>
          <a:p>
            <a:pPr algn="l"/>
            <a:r>
              <a:rPr sz="1600" b="0" i="0">
                <a:solidFill>
                  <a:srgbClr val="1E1E2E"/>
                </a:solidFill>
                <a:latin typeface="Arial"/>
              </a:rPr>
              <a:t>Monthly utilisation and cost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lanes keep platform, quality and security apart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BOUNDARIES"/>
          <p:cNvSpPr/>
          <p:nvPr/>
        </p:nvSpPr>
        <p:spPr>
          <a:xfrm>
            <a:off x="365887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BOUNDARIES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960120"/>
          </a:xfrm>
          <a:prstGeom prst="roundRect">
            <a:avLst>
              <a:gd name="adj" fmla="val 7619"/>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Platform availability</a:t>
            </a:r>
          </a:p>
          <a:p>
            <a:pPr algn="l"/>
            <a:r>
              <a:rPr sz="1500" b="0" i="0">
                <a:solidFill>
                  <a:srgbClr val="26EFE9"/>
                </a:solidFill>
                <a:latin typeface="Arial"/>
              </a:rPr>
              <a:t>Accountable: CIS Infra</a:t>
            </a:r>
          </a:p>
        </p:txBody>
      </p:sp>
      <p:sp>
        <p:nvSpPr>
          <p:cNvPr id="9" name="Rounded Rectangle 8"/>
          <p:cNvSpPr/>
          <p:nvPr/>
        </p:nvSpPr>
        <p:spPr>
          <a:xfrm>
            <a:off x="548640" y="2423160"/>
            <a:ext cx="3593592" cy="3108960"/>
          </a:xfrm>
          <a:prstGeom prst="roundRect">
            <a:avLst>
              <a:gd name="adj" fmla="val 235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1000"/>
              </a:spcAft>
              <a:buFont typeface="Arial"/>
              <a:buChar char="•"/>
            </a:pPr>
            <a:r>
              <a:rPr sz="1900" b="0" i="0">
                <a:solidFill>
                  <a:srgbClr val="1E1E2E"/>
                </a:solidFill>
                <a:latin typeface="Arial"/>
              </a:rPr>
              <a:t>Resource health, dependencies</a:t>
            </a:r>
          </a:p>
          <a:p>
            <a:pPr algn="l" marL="201168" indent="-201168">
              <a:spcAft>
                <a:spcPts val="1000"/>
              </a:spcAft>
              <a:buFont typeface="Arial"/>
              <a:buChar char="•"/>
            </a:pPr>
            <a:r>
              <a:rPr sz="1900" b="0" i="0">
                <a:solidFill>
                  <a:srgbClr val="1E1E2E"/>
                </a:solidFill>
                <a:latin typeface="Arial"/>
              </a:rPr>
              <a:t>Network, DNS, identity plumbing</a:t>
            </a:r>
          </a:p>
          <a:p>
            <a:pPr algn="l" marL="201168" indent="-201168">
              <a:spcAft>
                <a:spcPts val="1000"/>
              </a:spcAft>
              <a:buFont typeface="Arial"/>
              <a:buChar char="•"/>
            </a:pPr>
            <a:r>
              <a:rPr sz="1900" b="0" i="0">
                <a:solidFill>
                  <a:srgbClr val="1E1E2E"/>
                </a:solidFill>
                <a:latin typeface="Arial"/>
              </a:rPr>
              <a:t>Gateway and capacity</a:t>
            </a:r>
          </a:p>
          <a:p>
            <a:pPr algn="l" marL="201168" indent="-201168">
              <a:spcAft>
                <a:spcPts val="1000"/>
              </a:spcAft>
              <a:buFont typeface="Arial"/>
              <a:buChar char="•"/>
            </a:pPr>
            <a:r>
              <a:rPr sz="1900" b="0" i="0">
                <a:solidFill>
                  <a:srgbClr val="1E1E2E"/>
                </a:solidFill>
                <a:latin typeface="Arial"/>
              </a:rPr>
              <a:t>Platform recovery</a:t>
            </a:r>
          </a:p>
        </p:txBody>
      </p:sp>
      <p:sp>
        <p:nvSpPr>
          <p:cNvPr id="10" name="Rounded Rectangle 9"/>
          <p:cNvSpPr/>
          <p:nvPr/>
        </p:nvSpPr>
        <p:spPr>
          <a:xfrm>
            <a:off x="4297679" y="1371600"/>
            <a:ext cx="3593592" cy="960120"/>
          </a:xfrm>
          <a:prstGeom prst="roundRect">
            <a:avLst>
              <a:gd name="adj" fmla="val 7619"/>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Agent task quality</a:t>
            </a:r>
          </a:p>
          <a:p>
            <a:pPr algn="l"/>
            <a:r>
              <a:rPr sz="1500" b="0" i="0">
                <a:solidFill>
                  <a:srgbClr val="26EFE9"/>
                </a:solidFill>
                <a:latin typeface="Arial"/>
              </a:rPr>
              <a:t>Accountable: AI tower</a:t>
            </a:r>
          </a:p>
        </p:txBody>
      </p:sp>
      <p:sp>
        <p:nvSpPr>
          <p:cNvPr id="11" name="Rounded Rectangle 10"/>
          <p:cNvSpPr/>
          <p:nvPr/>
        </p:nvSpPr>
        <p:spPr>
          <a:xfrm>
            <a:off x="4297679" y="2423160"/>
            <a:ext cx="3593592" cy="3108960"/>
          </a:xfrm>
          <a:prstGeom prst="roundRect">
            <a:avLst>
              <a:gd name="adj" fmla="val 235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1000"/>
              </a:spcAft>
              <a:buFont typeface="Arial"/>
              <a:buChar char="•"/>
            </a:pPr>
            <a:r>
              <a:rPr sz="1900" b="0" i="0">
                <a:solidFill>
                  <a:srgbClr val="1E1E2E"/>
                </a:solidFill>
                <a:latin typeface="Arial"/>
              </a:rPr>
              <a:t>Wrong or poor answers</a:t>
            </a:r>
          </a:p>
          <a:p>
            <a:pPr algn="l" marL="201168" indent="-201168">
              <a:spcAft>
                <a:spcPts val="1000"/>
              </a:spcAft>
              <a:buFont typeface="Arial"/>
              <a:buChar char="•"/>
            </a:pPr>
            <a:r>
              <a:rPr sz="1900" b="0" i="0">
                <a:solidFill>
                  <a:srgbClr val="1E1E2E"/>
                </a:solidFill>
                <a:latin typeface="Arial"/>
              </a:rPr>
              <a:t>Tool misuse by design</a:t>
            </a:r>
          </a:p>
          <a:p>
            <a:pPr algn="l" marL="201168" indent="-201168">
              <a:spcAft>
                <a:spcPts val="1000"/>
              </a:spcAft>
              <a:buFont typeface="Arial"/>
              <a:buChar char="•"/>
            </a:pPr>
            <a:r>
              <a:rPr sz="1900" b="0" i="0">
                <a:solidFill>
                  <a:srgbClr val="1E1E2E"/>
                </a:solidFill>
                <a:latin typeface="Arial"/>
              </a:rPr>
              <a:t>Evaluation drift</a:t>
            </a:r>
          </a:p>
          <a:p>
            <a:pPr algn="l" marL="201168" indent="-201168">
              <a:spcAft>
                <a:spcPts val="1000"/>
              </a:spcAft>
              <a:buFont typeface="Arial"/>
              <a:buChar char="•"/>
            </a:pPr>
            <a:r>
              <a:rPr sz="1900" b="0" i="0">
                <a:solidFill>
                  <a:srgbClr val="1E1E2E"/>
                </a:solidFill>
                <a:latin typeface="Arial"/>
              </a:rPr>
              <a:t>Model and prompt changes</a:t>
            </a:r>
          </a:p>
        </p:txBody>
      </p:sp>
      <p:sp>
        <p:nvSpPr>
          <p:cNvPr id="12" name="Rounded Rectangle 11"/>
          <p:cNvSpPr/>
          <p:nvPr/>
        </p:nvSpPr>
        <p:spPr>
          <a:xfrm>
            <a:off x="8046719" y="1371600"/>
            <a:ext cx="3593592" cy="960120"/>
          </a:xfrm>
          <a:prstGeom prst="roundRect">
            <a:avLst>
              <a:gd name="adj" fmla="val 761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Security incidents</a:t>
            </a:r>
          </a:p>
          <a:p>
            <a:pPr algn="l"/>
            <a:r>
              <a:rPr sz="1500" b="0" i="0">
                <a:solidFill>
                  <a:srgbClr val="26EFE9"/>
                </a:solidFill>
                <a:latin typeface="Arial"/>
              </a:rPr>
              <a:t>Accountable: Contracted security resolver</a:t>
            </a:r>
          </a:p>
        </p:txBody>
      </p:sp>
      <p:sp>
        <p:nvSpPr>
          <p:cNvPr id="13" name="Rounded Rectangle 12"/>
          <p:cNvSpPr/>
          <p:nvPr/>
        </p:nvSpPr>
        <p:spPr>
          <a:xfrm>
            <a:off x="8046719" y="2423160"/>
            <a:ext cx="3593592" cy="3108960"/>
          </a:xfrm>
          <a:prstGeom prst="roundRect">
            <a:avLst>
              <a:gd name="adj" fmla="val 235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1000"/>
              </a:spcAft>
              <a:buFont typeface="Arial"/>
              <a:buChar char="•"/>
            </a:pPr>
            <a:r>
              <a:rPr sz="1900" b="0" i="0">
                <a:solidFill>
                  <a:srgbClr val="1E1E2E"/>
                </a:solidFill>
                <a:latin typeface="Arial"/>
              </a:rPr>
              <a:t>Attack or data exposure</a:t>
            </a:r>
          </a:p>
          <a:p>
            <a:pPr algn="l" marL="201168" indent="-201168">
              <a:spcAft>
                <a:spcPts val="1000"/>
              </a:spcAft>
              <a:buFont typeface="Arial"/>
              <a:buChar char="•"/>
            </a:pPr>
            <a:r>
              <a:rPr sz="1900" b="0" i="0">
                <a:solidFill>
                  <a:srgbClr val="1E1E2E"/>
                </a:solidFill>
                <a:latin typeface="Arial"/>
              </a:rPr>
              <a:t>Containment authority</a:t>
            </a:r>
          </a:p>
          <a:p>
            <a:pPr algn="l" marL="201168" indent="-201168">
              <a:spcAft>
                <a:spcPts val="1000"/>
              </a:spcAft>
              <a:buFont typeface="Arial"/>
              <a:buChar char="•"/>
            </a:pPr>
            <a:r>
              <a:rPr sz="1900" b="0" i="0">
                <a:solidFill>
                  <a:srgbClr val="1E1E2E"/>
                </a:solidFill>
                <a:latin typeface="Arial"/>
              </a:rPr>
              <a:t>Forensics, notification</a:t>
            </a:r>
          </a:p>
          <a:p>
            <a:pPr algn="l" marL="201168" indent="-201168">
              <a:spcAft>
                <a:spcPts val="1000"/>
              </a:spcAft>
              <a:buFont typeface="Arial"/>
              <a:buChar char="•"/>
            </a:pPr>
            <a:r>
              <a:rPr sz="1900" b="0" i="0">
                <a:solidFill>
                  <a:srgbClr val="1E1E2E"/>
                </a:solidFill>
                <a:latin typeface="Arial"/>
              </a:rPr>
              <a:t>Contains its parts once proven</a:t>
            </a:r>
          </a:p>
        </p:txBody>
      </p:sp>
      <p:sp>
        <p:nvSpPr>
          <p:cNvPr id="14" name="Rounded Rectangle 13"/>
          <p:cNvSpPr/>
          <p:nvPr/>
        </p:nvSpPr>
        <p:spPr>
          <a:xfrm>
            <a:off x="548640" y="571500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Decision:  </a:t>
            </a:r>
            <a:r>
              <a:rPr sz="1600" b="0" i="0">
                <a:solidFill>
                  <a:srgbClr val="1E1E2E"/>
                </a:solidFill>
                <a:latin typeface="Arial"/>
              </a:rPr>
              <a:t>One service desk entry point routes to the right lane. CIS Infra does not own model quality or security operations.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Every alert reaches one desk and the right resolver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3108960" cy="4389120"/>
          </a:xfrm>
          <a:prstGeom prst="roundRect">
            <a:avLst>
              <a:gd name="adj" fmla="val 294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2889504" cy="237744"/>
          </a:xfrm>
          <a:prstGeom prst="rect">
            <a:avLst/>
          </a:prstGeom>
          <a:noFill/>
        </p:spPr>
        <p:txBody>
          <a:bodyPr wrap="square" lIns="0" rIns="0" tIns="0" bIns="0" anchor="t">
            <a:noAutofit/>
          </a:bodyPr>
          <a:lstStyle/>
          <a:p>
            <a:pPr algn="l"/>
            <a:r>
              <a:rPr sz="1200" b="1" i="0">
                <a:solidFill>
                  <a:srgbClr val="000048"/>
                </a:solidFill>
                <a:latin typeface="Arial"/>
              </a:rPr>
              <a:t>SIGNALS</a:t>
            </a:r>
          </a:p>
        </p:txBody>
      </p:sp>
      <p:pic>
        <p:nvPicPr>
          <p:cNvPr id="10" name="Azure icon: Azure Monitor" descr="Official Azure icon: Azure Monito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42516"/>
            <a:ext cx="384048" cy="384048"/>
          </a:xfrm>
          <a:prstGeom prst="rect">
            <a:avLst/>
          </a:prstGeom>
        </p:spPr>
      </p:pic>
      <p:sp>
        <p:nvSpPr>
          <p:cNvPr id="11" name="TextBox 10"/>
          <p:cNvSpPr txBox="1"/>
          <p:nvPr/>
        </p:nvSpPr>
        <p:spPr>
          <a:xfrm>
            <a:off x="1078992" y="1728216"/>
            <a:ext cx="2267712" cy="612648"/>
          </a:xfrm>
          <a:prstGeom prst="rect">
            <a:avLst/>
          </a:prstGeom>
          <a:noFill/>
        </p:spPr>
        <p:txBody>
          <a:bodyPr wrap="square" lIns="0" rIns="0" tIns="0" bIns="0" anchor="ctr">
            <a:noAutofit/>
          </a:bodyPr>
          <a:lstStyle/>
          <a:p>
            <a:pPr algn="l"/>
            <a:r>
              <a:rPr sz="1300" b="1" i="0">
                <a:solidFill>
                  <a:srgbClr val="000048"/>
                </a:solidFill>
                <a:latin typeface="Arial"/>
              </a:rPr>
              <a:t>Azure Monitor</a:t>
            </a:r>
          </a:p>
          <a:p>
            <a:pPr algn="l"/>
            <a:r>
              <a:rPr sz="1200" b="0" i="0">
                <a:solidFill>
                  <a:srgbClr val="53565A"/>
                </a:solidFill>
                <a:latin typeface="Arial"/>
              </a:rPr>
              <a:t>metrics, alerts</a:t>
            </a:r>
          </a:p>
        </p:txBody>
      </p:sp>
      <p:pic>
        <p:nvPicPr>
          <p:cNvPr id="12" name="Azure icon: Service Health" descr="Official Azure icon: Service Health"/>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619756"/>
            <a:ext cx="384048" cy="384048"/>
          </a:xfrm>
          <a:prstGeom prst="rect">
            <a:avLst/>
          </a:prstGeom>
        </p:spPr>
      </p:pic>
      <p:sp>
        <p:nvSpPr>
          <p:cNvPr id="13" name="TextBox 12"/>
          <p:cNvSpPr txBox="1"/>
          <p:nvPr/>
        </p:nvSpPr>
        <p:spPr>
          <a:xfrm>
            <a:off x="1078992" y="2505456"/>
            <a:ext cx="2267712" cy="612648"/>
          </a:xfrm>
          <a:prstGeom prst="rect">
            <a:avLst/>
          </a:prstGeom>
          <a:noFill/>
        </p:spPr>
        <p:txBody>
          <a:bodyPr wrap="square" lIns="0" rIns="0" tIns="0" bIns="0" anchor="ctr">
            <a:noAutofit/>
          </a:bodyPr>
          <a:lstStyle/>
          <a:p>
            <a:pPr algn="l"/>
            <a:r>
              <a:rPr sz="1300" b="1" i="0">
                <a:solidFill>
                  <a:srgbClr val="000048"/>
                </a:solidFill>
                <a:latin typeface="Arial"/>
              </a:rPr>
              <a:t>Service Health</a:t>
            </a:r>
          </a:p>
          <a:p>
            <a:pPr algn="l"/>
            <a:r>
              <a:rPr sz="1200" b="0" i="0">
                <a:solidFill>
                  <a:srgbClr val="53565A"/>
                </a:solidFill>
                <a:latin typeface="Arial"/>
              </a:rPr>
              <a:t>Azure incidents</a:t>
            </a:r>
          </a:p>
        </p:txBody>
      </p:sp>
      <p:pic>
        <p:nvPicPr>
          <p:cNvPr id="14" name="Azure icon: Application Insights" descr="Official Azure icon: Application Insight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396996"/>
            <a:ext cx="384048" cy="384048"/>
          </a:xfrm>
          <a:prstGeom prst="rect">
            <a:avLst/>
          </a:prstGeom>
        </p:spPr>
      </p:pic>
      <p:sp>
        <p:nvSpPr>
          <p:cNvPr id="15" name="TextBox 14"/>
          <p:cNvSpPr txBox="1"/>
          <p:nvPr/>
        </p:nvSpPr>
        <p:spPr>
          <a:xfrm>
            <a:off x="1078992" y="3282696"/>
            <a:ext cx="2267712" cy="61264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200" b="0" i="0">
                <a:solidFill>
                  <a:srgbClr val="53565A"/>
                </a:solidFill>
                <a:latin typeface="Arial"/>
              </a:rPr>
              <a:t>agent traces, errors</a:t>
            </a:r>
          </a:p>
        </p:txBody>
      </p:sp>
      <p:pic>
        <p:nvPicPr>
          <p:cNvPr id="16" name="Azure icon: Log Analytics workspace" descr="Official Azure icon: Log Analytics workspace"/>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4174236"/>
            <a:ext cx="384048" cy="384048"/>
          </a:xfrm>
          <a:prstGeom prst="rect">
            <a:avLst/>
          </a:prstGeom>
        </p:spPr>
      </p:pic>
      <p:sp>
        <p:nvSpPr>
          <p:cNvPr id="17" name="TextBox 16"/>
          <p:cNvSpPr txBox="1"/>
          <p:nvPr/>
        </p:nvSpPr>
        <p:spPr>
          <a:xfrm>
            <a:off x="1078992" y="4059936"/>
            <a:ext cx="2267712" cy="612648"/>
          </a:xfrm>
          <a:prstGeom prst="rect">
            <a:avLst/>
          </a:prstGeom>
          <a:noFill/>
        </p:spPr>
        <p:txBody>
          <a:bodyPr wrap="square" lIns="0" rIns="0" tIns="0" bIns="0" anchor="ctr">
            <a:noAutofit/>
          </a:bodyPr>
          <a:lstStyle/>
          <a:p>
            <a:pPr algn="l"/>
            <a:r>
              <a:rPr sz="1300" b="1" i="0">
                <a:solidFill>
                  <a:srgbClr val="000048"/>
                </a:solidFill>
                <a:latin typeface="Arial"/>
              </a:rPr>
              <a:t>Log Analytics</a:t>
            </a:r>
          </a:p>
          <a:p>
            <a:pPr algn="l"/>
            <a:r>
              <a:rPr sz="1200" b="0" i="0">
                <a:solidFill>
                  <a:srgbClr val="53565A"/>
                </a:solidFill>
                <a:latin typeface="Arial"/>
              </a:rPr>
              <a:t>platform and gateway logs</a:t>
            </a:r>
          </a:p>
        </p:txBody>
      </p:sp>
      <p:pic>
        <p:nvPicPr>
          <p:cNvPr id="18" name="Azure icon: Cost Budgets" descr="Official Azure icon: Cost Budget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1792" y="4951476"/>
            <a:ext cx="384048" cy="384048"/>
          </a:xfrm>
          <a:prstGeom prst="rect">
            <a:avLst/>
          </a:prstGeom>
        </p:spPr>
      </p:pic>
      <p:sp>
        <p:nvSpPr>
          <p:cNvPr id="19" name="TextBox 18"/>
          <p:cNvSpPr txBox="1"/>
          <p:nvPr/>
        </p:nvSpPr>
        <p:spPr>
          <a:xfrm>
            <a:off x="1078992" y="4837176"/>
            <a:ext cx="2267712" cy="612648"/>
          </a:xfrm>
          <a:prstGeom prst="rect">
            <a:avLst/>
          </a:prstGeom>
          <a:noFill/>
        </p:spPr>
        <p:txBody>
          <a:bodyPr wrap="square" lIns="0" rIns="0" tIns="0" bIns="0" anchor="ctr">
            <a:noAutofit/>
          </a:bodyPr>
          <a:lstStyle/>
          <a:p>
            <a:pPr algn="l"/>
            <a:r>
              <a:rPr sz="1300" b="1" i="0">
                <a:solidFill>
                  <a:srgbClr val="000048"/>
                </a:solidFill>
                <a:latin typeface="Arial"/>
              </a:rPr>
              <a:t>Budgets</a:t>
            </a:r>
          </a:p>
          <a:p>
            <a:pPr algn="l"/>
            <a:r>
              <a:rPr sz="1200" b="0" i="0">
                <a:solidFill>
                  <a:srgbClr val="53565A"/>
                </a:solidFill>
                <a:latin typeface="Arial"/>
              </a:rPr>
              <a:t>spend alerts</a:t>
            </a:r>
          </a:p>
        </p:txBody>
      </p:sp>
      <p:sp>
        <p:nvSpPr>
          <p:cNvPr id="20" name="Rounded Rectangle 19"/>
          <p:cNvSpPr/>
          <p:nvPr/>
        </p:nvSpPr>
        <p:spPr>
          <a:xfrm>
            <a:off x="3977639" y="2697480"/>
            <a:ext cx="1920240" cy="1159881"/>
          </a:xfrm>
          <a:prstGeom prst="roundRect">
            <a:avLst>
              <a:gd name="adj" fmla="val 630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Alerts" descr="Official Azure icon: Alert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686299" y="2770632"/>
            <a:ext cx="502920" cy="502920"/>
          </a:xfrm>
          <a:prstGeom prst="rect">
            <a:avLst/>
          </a:prstGeom>
        </p:spPr>
      </p:pic>
      <p:sp>
        <p:nvSpPr>
          <p:cNvPr id="22" name="TextBox 21"/>
          <p:cNvSpPr txBox="1"/>
          <p:nvPr/>
        </p:nvSpPr>
        <p:spPr>
          <a:xfrm>
            <a:off x="4014215" y="3310128"/>
            <a:ext cx="1847088" cy="528945"/>
          </a:xfrm>
          <a:prstGeom prst="rect">
            <a:avLst/>
          </a:prstGeom>
          <a:noFill/>
        </p:spPr>
        <p:txBody>
          <a:bodyPr wrap="square" lIns="0" rIns="0" tIns="0" bIns="0" anchor="t">
            <a:noAutofit/>
          </a:bodyPr>
          <a:lstStyle/>
          <a:p>
            <a:pPr algn="ctr"/>
            <a:r>
              <a:rPr sz="1400" b="1" i="0">
                <a:solidFill>
                  <a:srgbClr val="000048"/>
                </a:solidFill>
                <a:latin typeface="Arial"/>
              </a:rPr>
              <a:t>Alert rules</a:t>
            </a:r>
          </a:p>
          <a:p>
            <a:pPr algn="ctr"/>
            <a:r>
              <a:rPr sz="1200" b="0" i="0">
                <a:solidFill>
                  <a:srgbClr val="53565A"/>
                </a:solidFill>
                <a:latin typeface="Arial"/>
              </a:rPr>
              <a:t>action groups, owners</a:t>
            </a:r>
          </a:p>
        </p:txBody>
      </p:sp>
      <p:sp>
        <p:nvSpPr>
          <p:cNvPr id="23" name="Rounded Rectangle 22"/>
          <p:cNvSpPr/>
          <p:nvPr/>
        </p:nvSpPr>
        <p:spPr>
          <a:xfrm>
            <a:off x="6355080" y="2697480"/>
            <a:ext cx="1920240" cy="1280160"/>
          </a:xfrm>
          <a:prstGeom prst="roundRect">
            <a:avLst>
              <a:gd name="adj" fmla="val 57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Service desk</a:t>
            </a:r>
          </a:p>
          <a:p>
            <a:pPr algn="ctr"/>
            <a:r>
              <a:rPr sz="1200" b="0" i="0">
                <a:solidFill>
                  <a:srgbClr val="53565A"/>
                </a:solidFill>
                <a:latin typeface="Arial"/>
              </a:rPr>
              <a:t>customer ITSM, e.g. ServiceNow</a:t>
            </a:r>
          </a:p>
        </p:txBody>
      </p:sp>
      <p:sp>
        <p:nvSpPr>
          <p:cNvPr id="24" name="Rounded Rectangle 23"/>
          <p:cNvSpPr/>
          <p:nvPr/>
        </p:nvSpPr>
        <p:spPr>
          <a:xfrm>
            <a:off x="8732520" y="1325880"/>
            <a:ext cx="3017520" cy="4389120"/>
          </a:xfrm>
          <a:prstGeom prst="roundRect">
            <a:avLst>
              <a:gd name="adj" fmla="val 3030"/>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842248" y="1380744"/>
            <a:ext cx="2798063" cy="237744"/>
          </a:xfrm>
          <a:prstGeom prst="rect">
            <a:avLst/>
          </a:prstGeom>
          <a:noFill/>
        </p:spPr>
        <p:txBody>
          <a:bodyPr wrap="square" lIns="0" rIns="0" tIns="0" bIns="0" anchor="t">
            <a:noAutofit/>
          </a:bodyPr>
          <a:lstStyle/>
          <a:p>
            <a:pPr algn="l"/>
            <a:r>
              <a:rPr sz="1200" b="1" i="0">
                <a:solidFill>
                  <a:srgbClr val="000048"/>
                </a:solidFill>
                <a:latin typeface="Arial"/>
              </a:rPr>
              <a:t>RESOLVER LANES</a:t>
            </a:r>
          </a:p>
        </p:txBody>
      </p:sp>
      <p:sp>
        <p:nvSpPr>
          <p:cNvPr id="26" name="Rounded Rectangle 25"/>
          <p:cNvSpPr/>
          <p:nvPr/>
        </p:nvSpPr>
        <p:spPr>
          <a:xfrm>
            <a:off x="8869680" y="169164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CIS Infra</a:t>
            </a:r>
          </a:p>
          <a:p>
            <a:pPr algn="l"/>
            <a:r>
              <a:rPr sz="1200" b="0" i="0">
                <a:solidFill>
                  <a:srgbClr val="53565A"/>
                </a:solidFill>
                <a:latin typeface="Arial"/>
              </a:rPr>
              <a:t>platform availability</a:t>
            </a:r>
          </a:p>
        </p:txBody>
      </p:sp>
      <p:sp>
        <p:nvSpPr>
          <p:cNvPr id="27" name="Rounded Rectangle 26"/>
          <p:cNvSpPr/>
          <p:nvPr/>
        </p:nvSpPr>
        <p:spPr>
          <a:xfrm>
            <a:off x="8869680" y="256032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AI tower</a:t>
            </a:r>
          </a:p>
          <a:p>
            <a:pPr algn="l"/>
            <a:r>
              <a:rPr sz="1200" b="0" i="0">
                <a:solidFill>
                  <a:srgbClr val="53565A"/>
                </a:solidFill>
                <a:latin typeface="Arial"/>
              </a:rPr>
              <a:t>agent task quality</a:t>
            </a:r>
          </a:p>
        </p:txBody>
      </p:sp>
      <p:sp>
        <p:nvSpPr>
          <p:cNvPr id="28" name="Rounded Rectangle 27"/>
          <p:cNvSpPr/>
          <p:nvPr/>
        </p:nvSpPr>
        <p:spPr>
          <a:xfrm>
            <a:off x="8869680" y="342900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Data Eng.</a:t>
            </a:r>
          </a:p>
          <a:p>
            <a:pPr algn="l"/>
            <a:r>
              <a:rPr sz="1200" b="0" i="0">
                <a:solidFill>
                  <a:srgbClr val="53565A"/>
                </a:solidFill>
                <a:latin typeface="Arial"/>
              </a:rPr>
              <a:t>pipelines, indexes</a:t>
            </a:r>
          </a:p>
        </p:txBody>
      </p:sp>
      <p:sp>
        <p:nvSpPr>
          <p:cNvPr id="29" name="Rounded Rectangle 28"/>
          <p:cNvSpPr/>
          <p:nvPr/>
        </p:nvSpPr>
        <p:spPr>
          <a:xfrm>
            <a:off x="8869680" y="4297679"/>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Security resolver</a:t>
            </a:r>
          </a:p>
          <a:p>
            <a:pPr algn="l"/>
            <a:r>
              <a:rPr sz="1200" b="0" i="0">
                <a:solidFill>
                  <a:srgbClr val="53565A"/>
                </a:solidFill>
                <a:latin typeface="Arial"/>
              </a:rPr>
              <a:t>security incidents</a:t>
            </a:r>
          </a:p>
        </p:txBody>
      </p:sp>
      <p:sp>
        <p:nvSpPr>
          <p:cNvPr id="30" name="Rounded Rectangle 29"/>
          <p:cNvSpPr/>
          <p:nvPr/>
        </p:nvSpPr>
        <p:spPr>
          <a:xfrm>
            <a:off x="8869680" y="5212080"/>
            <a:ext cx="2743200" cy="411480"/>
          </a:xfrm>
          <a:prstGeom prst="roundRect">
            <a:avLst>
              <a:gd name="adj" fmla="val 17777"/>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200" b="1" i="0">
                <a:solidFill>
                  <a:srgbClr val="000048"/>
                </a:solidFill>
                <a:latin typeface="Arial"/>
              </a:rPr>
              <a:t>Containment: appendix K; design deck 02 K1</a:t>
            </a:r>
          </a:p>
        </p:txBody>
      </p:sp>
      <p:cxnSp>
        <p:nvCxnSpPr>
          <p:cNvPr id="31" name="Connector (telemetry)"/>
          <p:cNvCxnSpPr/>
          <p:nvPr/>
        </p:nvCxnSpPr>
        <p:spPr>
          <a:xfrm>
            <a:off x="3383280" y="2029968"/>
            <a:ext cx="594359" cy="126187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telemetry)"/>
          <p:cNvCxnSpPr/>
          <p:nvPr/>
        </p:nvCxnSpPr>
        <p:spPr>
          <a:xfrm>
            <a:off x="3383280" y="2807208"/>
            <a:ext cx="594359" cy="484632"/>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telemetry)"/>
          <p:cNvCxnSpPr/>
          <p:nvPr/>
        </p:nvCxnSpPr>
        <p:spPr>
          <a:xfrm flipV="1">
            <a:off x="3383280" y="3291840"/>
            <a:ext cx="594359" cy="29260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telemetry)"/>
          <p:cNvCxnSpPr/>
          <p:nvPr/>
        </p:nvCxnSpPr>
        <p:spPr>
          <a:xfrm flipV="1">
            <a:off x="3383280" y="3291840"/>
            <a:ext cx="594359" cy="106984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telemetry)"/>
          <p:cNvCxnSpPr/>
          <p:nvPr/>
        </p:nvCxnSpPr>
        <p:spPr>
          <a:xfrm flipV="1">
            <a:off x="3383280" y="3291840"/>
            <a:ext cx="594359" cy="184708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a:off x="5897880" y="3337560"/>
            <a:ext cx="4572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flipV="1">
            <a:off x="8275320" y="2057400"/>
            <a:ext cx="594360" cy="12801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flipV="1">
            <a:off x="8275320" y="2926080"/>
            <a:ext cx="594360" cy="4114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8275320" y="3337560"/>
            <a:ext cx="594360" cy="4572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8275320" y="3337560"/>
            <a:ext cx="594360" cy="1325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telemetry)"/>
          <p:cNvCxnSpPr/>
          <p:nvPr/>
        </p:nvCxnSpPr>
        <p:spPr>
          <a:xfrm>
            <a:off x="4937760" y="3749039"/>
            <a:ext cx="0" cy="685801"/>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3977639" y="4434840"/>
            <a:ext cx="19202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3" name="Azure icon: Azure Workbooks" descr="Official Azure icon: Azure Workbook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050791" y="4572000"/>
            <a:ext cx="411480" cy="411480"/>
          </a:xfrm>
          <a:prstGeom prst="rect">
            <a:avLst/>
          </a:prstGeom>
        </p:spPr>
      </p:pic>
      <p:sp>
        <p:nvSpPr>
          <p:cNvPr id="44" name="TextBox 43"/>
          <p:cNvSpPr txBox="1"/>
          <p:nvPr/>
        </p:nvSpPr>
        <p:spPr>
          <a:xfrm>
            <a:off x="4535424" y="4471416"/>
            <a:ext cx="1325880" cy="612648"/>
          </a:xfrm>
          <a:prstGeom prst="rect">
            <a:avLst/>
          </a:prstGeom>
          <a:noFill/>
        </p:spPr>
        <p:txBody>
          <a:bodyPr wrap="square" lIns="0" rIns="0" tIns="0" bIns="0" anchor="ctr">
            <a:noAutofit/>
          </a:bodyPr>
          <a:lstStyle/>
          <a:p>
            <a:pPr algn="l"/>
            <a:r>
              <a:rPr sz="1200" b="1" i="0">
                <a:solidFill>
                  <a:srgbClr val="000048"/>
                </a:solidFill>
                <a:latin typeface="Arial"/>
              </a:rPr>
              <a:t>Monthly report</a:t>
            </a:r>
          </a:p>
          <a:p>
            <a:pPr algn="l"/>
            <a:r>
              <a:rPr sz="1200" b="0" i="0">
                <a:solidFill>
                  <a:srgbClr val="53565A"/>
                </a:solidFill>
                <a:latin typeface="Arial"/>
              </a:rPr>
              <a:t>service objectives, cost</a:t>
            </a:r>
          </a:p>
        </p:txBody>
      </p:sp>
      <p:cxnSp>
        <p:nvCxnSpPr>
          <p:cNvPr id="45" name="Connector (flow)"/>
          <p:cNvCxnSpPr/>
          <p:nvPr/>
        </p:nvCxnSpPr>
        <p:spPr>
          <a:xfrm>
            <a:off x="548640" y="597103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24128" y="5852160"/>
            <a:ext cx="1783080"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47" name="Connector (telemetry)"/>
          <p:cNvCxnSpPr/>
          <p:nvPr/>
        </p:nvCxnSpPr>
        <p:spPr>
          <a:xfrm>
            <a:off x="2834640" y="597103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310128" y="5852160"/>
            <a:ext cx="1783080"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sp>
        <p:nvSpPr>
          <p:cNvPr id="49" name="TextBox 48"/>
          <p:cNvSpPr txBox="1"/>
          <p:nvPr/>
        </p:nvSpPr>
        <p:spPr>
          <a:xfrm>
            <a:off x="548640" y="6126480"/>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Price follows staffing: 1.5 to 10 FTE per package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ESTIMATE, NOT APPROVED"/>
          <p:cNvSpPr/>
          <p:nvPr/>
        </p:nvSpPr>
        <p:spPr>
          <a:xfrm>
            <a:off x="36588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graphicFrame>
        <p:nvGraphicFramePr>
          <p:cNvPr id="8" name="Table"/>
          <p:cNvGraphicFramePr>
            <a:graphicFrameLocks noGrp="1"/>
          </p:cNvGraphicFramePr>
          <p:nvPr/>
        </p:nvGraphicFramePr>
        <p:xfrm>
          <a:off x="548640" y="1371600"/>
          <a:ext cx="11091672" cy="2164080"/>
        </p:xfrm>
        <a:graphic>
          <a:graphicData uri="http://schemas.openxmlformats.org/drawingml/2006/table">
            <a:tbl>
              <a:tblPr firstRow="1" bandRow="0">
                <a:tableStyleId>{5C22544A-7EE6-4342-B048-85BDC9FD1C3A}</a:tableStyleId>
              </a:tblPr>
              <a:tblGrid>
                <a:gridCol w="3291840"/>
                <a:gridCol w="2560320"/>
                <a:gridCol w="2194560"/>
                <a:gridCol w="3044952"/>
              </a:tblGrid>
              <a:tr h="335280">
                <a:tc>
                  <a:txBody>
                    <a:bodyPr wrap="square" anchor="ctr">
                      <a:noAutofit/>
                    </a:bodyPr>
                    <a:lstStyle/>
                    <a:p>
                      <a:pPr algn="l"/>
                      <a:r>
                        <a:rPr sz="16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Effort (role days)</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Staffing or time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Indicative fee band*</a:t>
                      </a:r>
                    </a:p>
                  </a:txBody>
                  <a:tcPr marL="73152" marR="73152" marT="36576" marB="36576" anchor="ctr">
                    <a:solidFill>
                      <a:srgbClr val="000048"/>
                    </a:solidFill>
                  </a:tcPr>
                </a:tc>
              </a:tr>
              <a:tr h="365760">
                <a:tc>
                  <a:txBody>
                    <a:bodyPr wrap="square" anchor="ctr">
                      <a:noAutofit/>
                    </a:bodyPr>
                    <a:lstStyle/>
                    <a:p>
                      <a:pPr algn="l"/>
                      <a:r>
                        <a:rPr sz="1800" b="1" i="0">
                          <a:solidFill>
                            <a:srgbClr val="1E1E2E"/>
                          </a:solidFill>
                          <a:latin typeface="Arial"/>
                        </a:rPr>
                        <a:t>Foundation: business hours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30 to 60 per month</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 to 3 FTE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$30k to $60k per month</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Extended: two time zones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60 to 100 per month</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3 to 5 FTE</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$60k to $100k per month</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Continuous: 24x7 roster</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120 to 200 per month</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6 to 10 FTE</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$120k to $200k per month</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Onboarding (one-time)</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20 to 40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 to 8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$20k to $40k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Exit and transition</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 to 30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4 to 6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$15k to $30k</a:t>
                      </a:r>
                    </a:p>
                  </a:txBody>
                  <a:tcPr marL="73152" marR="73152" marT="36576" marB="36576" anchor="ctr">
                    <a:solidFill>
                      <a:srgbClr val="FFFFFF"/>
                    </a:solidFill>
                  </a:tcPr>
                </a:tc>
              </a:tr>
            </a:tbl>
          </a:graphicData>
        </a:graphic>
      </p:graphicFrame>
      <p:sp>
        <p:nvSpPr>
          <p:cNvPr id="9" name="Rounded Rectangle 8"/>
          <p:cNvSpPr/>
          <p:nvPr/>
        </p:nvSpPr>
        <p:spPr>
          <a:xfrm>
            <a:off x="548640" y="3810000"/>
            <a:ext cx="11091672" cy="1630680"/>
          </a:xfrm>
          <a:prstGeom prst="roundRect">
            <a:avLst>
              <a:gd name="adj" fmla="val 448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800" b="1" i="0">
                <a:solidFill>
                  <a:srgbClr val="000048"/>
                </a:solidFill>
                <a:latin typeface="Arial"/>
              </a:rPr>
              <a:t>What moves an engagement to the high end: </a:t>
            </a:r>
            <a:r>
              <a:rPr sz="1800" b="0" i="0">
                <a:solidFill>
                  <a:srgbClr val="1E1E2E"/>
                </a:solidFill>
                <a:latin typeface="Arial"/>
              </a:rPr>
              <a:t>many agents or runtimes, 24x7 containment, several regions, strict change windows, low platform maturity.</a:t>
            </a:r>
          </a:p>
        </p:txBody>
      </p:sp>
      <p:sp>
        <p:nvSpPr>
          <p:cNvPr id="10" name="Rounded Rectangle 9"/>
          <p:cNvSpPr/>
          <p:nvPr/>
        </p:nvSpPr>
        <p:spPr>
          <a:xfrm>
            <a:off x="548640" y="5577840"/>
            <a:ext cx="11091672" cy="731520"/>
          </a:xfrm>
          <a:prstGeom prst="roundRect">
            <a:avLst>
              <a:gd name="adj" fmla="val 10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*Fee band = role days x illustrative $1,000 per day. Not a Cognizant rate or quote. Azure and licence spend are separate.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Response targets are proposed, not yet approved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PROPOSED, NOT APPROVED"/>
          <p:cNvSpPr/>
          <p:nvPr/>
        </p:nvSpPr>
        <p:spPr>
          <a:xfrm>
            <a:off x="3658870" y="274320"/>
            <a:ext cx="21742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sp>
        <p:nvSpPr>
          <p:cNvPr id="8" name="Rounded Rectangle 7"/>
          <p:cNvSpPr/>
          <p:nvPr/>
        </p:nvSpPr>
        <p:spPr>
          <a:xfrm>
            <a:off x="548640" y="1325880"/>
            <a:ext cx="11091672" cy="457200"/>
          </a:xfrm>
          <a:prstGeom prst="roundRect">
            <a:avLst>
              <a:gd name="adj" fmla="val 16000"/>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1" i="0">
                <a:solidFill>
                  <a:srgbClr val="000048"/>
                </a:solidFill>
                <a:latin typeface="Arial"/>
              </a:rPr>
              <a:t>PROPOSED targets for pilot discussion only  ·  not contractual  ·  valid inside coverage hours</a:t>
            </a:r>
          </a:p>
        </p:txBody>
      </p:sp>
      <p:graphicFrame>
        <p:nvGraphicFramePr>
          <p:cNvPr id="9" name="Table"/>
          <p:cNvGraphicFramePr>
            <a:graphicFrameLocks noGrp="1"/>
          </p:cNvGraphicFramePr>
          <p:nvPr/>
        </p:nvGraphicFramePr>
        <p:xfrm>
          <a:off x="548640" y="1920240"/>
          <a:ext cx="11091672" cy="3002279"/>
        </p:xfrm>
        <a:graphic>
          <a:graphicData uri="http://schemas.openxmlformats.org/drawingml/2006/table">
            <a:tbl>
              <a:tblPr firstRow="1" bandRow="0">
                <a:tableStyleId>{5C22544A-7EE6-4342-B048-85BDC9FD1C3A}</a:tableStyleId>
              </a:tblPr>
              <a:tblGrid>
                <a:gridCol w="1280160"/>
                <a:gridCol w="4572000"/>
                <a:gridCol w="2743200"/>
                <a:gridCol w="2496312"/>
              </a:tblGrid>
              <a:tr h="609600">
                <a:tc>
                  <a:txBody>
                    <a:bodyPr wrap="square" anchor="ctr">
                      <a:noAutofit/>
                    </a:bodyPr>
                    <a:lstStyle/>
                    <a:p>
                      <a:pPr algn="l"/>
                      <a:r>
                        <a:rPr sz="1700" b="1" i="0">
                          <a:solidFill>
                            <a:srgbClr val="FFFFFF"/>
                          </a:solidFill>
                          <a:latin typeface="Arial"/>
                        </a:rPr>
                        <a:t>Priority</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Response target (proposed)</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Update cadence (proposed)</a:t>
                      </a:r>
                    </a:p>
                  </a:txBody>
                  <a:tcPr marL="73152" marR="73152" marT="36576" marB="36576" anchor="ctr">
                    <a:solidFill>
                      <a:srgbClr val="000048"/>
                    </a:solidFill>
                  </a:tcPr>
                </a:tc>
              </a:tr>
              <a:tr h="670560">
                <a:tc>
                  <a:txBody>
                    <a:bodyPr wrap="square" anchor="ctr">
                      <a:noAutofit/>
                    </a:bodyPr>
                    <a:lstStyle/>
                    <a:p>
                      <a:pPr algn="l"/>
                      <a:r>
                        <a:rPr sz="1900" b="1" i="0">
                          <a:solidFill>
                            <a:srgbClr val="1E1E2E"/>
                          </a:solidFill>
                          <a:latin typeface="Arial"/>
                        </a:rPr>
                        <a:t>P1</a:t>
                      </a:r>
                    </a:p>
                  </a:txBody>
                  <a:tcPr marL="73152" marR="73152" marT="36576" marB="36576" anchor="ctr">
                    <a:solidFill>
                      <a:srgbClr val="FFFFFF"/>
                    </a:solidFill>
                  </a:tcPr>
                </a:tc>
                <a:tc>
                  <a:txBody>
                    <a:bodyPr wrap="square" anchor="ctr">
                      <a:noAutofit/>
                    </a:bodyPr>
                    <a:lstStyle/>
                    <a:p>
                      <a:pPr algn="l"/>
                      <a:r>
                        <a:rPr sz="1900" b="0" i="0">
                          <a:solidFill>
                            <a:srgbClr val="1E1E2E"/>
                          </a:solidFill>
                          <a:latin typeface="Arial"/>
                        </a:rPr>
                        <a:t>Platform outage affecting production AI</a:t>
                      </a:r>
                    </a:p>
                  </a:txBody>
                  <a:tcPr marL="73152" marR="73152" marT="36576" marB="36576" anchor="ctr">
                    <a:solidFill>
                      <a:srgbClr val="FFFFFF"/>
                    </a:solidFill>
                  </a:tcPr>
                </a:tc>
                <a:tc>
                  <a:txBody>
                    <a:bodyPr wrap="square" anchor="ctr">
                      <a:noAutofit/>
                    </a:bodyPr>
                    <a:lstStyle/>
                    <a:p>
                      <a:pPr algn="l"/>
                      <a:r>
                        <a:rPr sz="1900" b="0" i="0">
                          <a:solidFill>
                            <a:srgbClr val="1E1E2E"/>
                          </a:solidFill>
                          <a:latin typeface="Arial"/>
                        </a:rPr>
                        <a:t>30 minutes</a:t>
                      </a:r>
                    </a:p>
                  </a:txBody>
                  <a:tcPr marL="73152" marR="73152" marT="36576" marB="36576" anchor="ctr">
                    <a:solidFill>
                      <a:srgbClr val="FFFFFF"/>
                    </a:solidFill>
                  </a:tcPr>
                </a:tc>
                <a:tc>
                  <a:txBody>
                    <a:bodyPr wrap="square" anchor="ctr">
                      <a:noAutofit/>
                    </a:bodyPr>
                    <a:lstStyle/>
                    <a:p>
                      <a:pPr algn="l"/>
                      <a:r>
                        <a:rPr sz="1900" b="0" i="0">
                          <a:solidFill>
                            <a:srgbClr val="1E1E2E"/>
                          </a:solidFill>
                          <a:latin typeface="Arial"/>
                        </a:rPr>
                        <a:t>Every hour</a:t>
                      </a:r>
                    </a:p>
                  </a:txBody>
                  <a:tcPr marL="73152" marR="73152" marT="36576" marB="36576" anchor="ctr">
                    <a:solidFill>
                      <a:srgbClr val="FFFFFF"/>
                    </a:solidFill>
                  </a:tcPr>
                </a:tc>
              </a:tr>
              <a:tr h="670560">
                <a:tc>
                  <a:txBody>
                    <a:bodyPr wrap="square" anchor="ctr">
                      <a:noAutofit/>
                    </a:bodyPr>
                    <a:lstStyle/>
                    <a:p>
                      <a:pPr algn="l"/>
                      <a:r>
                        <a:rPr sz="1900" b="1" i="0">
                          <a:solidFill>
                            <a:srgbClr val="1E1E2E"/>
                          </a:solidFill>
                          <a:latin typeface="Arial"/>
                        </a:rPr>
                        <a:t>P2</a:t>
                      </a:r>
                    </a:p>
                  </a:txBody>
                  <a:tcPr marL="73152" marR="73152" marT="36576" marB="36576" anchor="ctr">
                    <a:solidFill>
                      <a:srgbClr val="F5F5F2"/>
                    </a:solidFill>
                  </a:tcPr>
                </a:tc>
                <a:tc>
                  <a:txBody>
                    <a:bodyPr wrap="square" anchor="ctr">
                      <a:noAutofit/>
                    </a:bodyPr>
                    <a:lstStyle/>
                    <a:p>
                      <a:pPr algn="l"/>
                      <a:r>
                        <a:rPr sz="1900" b="0" i="0">
                          <a:solidFill>
                            <a:srgbClr val="1E1E2E"/>
                          </a:solidFill>
                          <a:latin typeface="Arial"/>
                        </a:rPr>
                        <a:t>Degraded platform, gateway throttling</a:t>
                      </a:r>
                    </a:p>
                  </a:txBody>
                  <a:tcPr marL="73152" marR="73152" marT="36576" marB="36576" anchor="ctr">
                    <a:solidFill>
                      <a:srgbClr val="F5F5F2"/>
                    </a:solidFill>
                  </a:tcPr>
                </a:tc>
                <a:tc>
                  <a:txBody>
                    <a:bodyPr wrap="square" anchor="ctr">
                      <a:noAutofit/>
                    </a:bodyPr>
                    <a:lstStyle/>
                    <a:p>
                      <a:pPr algn="l"/>
                      <a:r>
                        <a:rPr sz="1900" b="0" i="0">
                          <a:solidFill>
                            <a:srgbClr val="1E1E2E"/>
                          </a:solidFill>
                          <a:latin typeface="Arial"/>
                        </a:rPr>
                        <a:t>2 hours</a:t>
                      </a:r>
                    </a:p>
                  </a:txBody>
                  <a:tcPr marL="73152" marR="73152" marT="36576" marB="36576" anchor="ctr">
                    <a:solidFill>
                      <a:srgbClr val="F5F5F2"/>
                    </a:solidFill>
                  </a:tcPr>
                </a:tc>
                <a:tc>
                  <a:txBody>
                    <a:bodyPr wrap="square" anchor="ctr">
                      <a:noAutofit/>
                    </a:bodyPr>
                    <a:lstStyle/>
                    <a:p>
                      <a:pPr algn="l"/>
                      <a:r>
                        <a:rPr sz="1900" b="0" i="0">
                          <a:solidFill>
                            <a:srgbClr val="1E1E2E"/>
                          </a:solidFill>
                          <a:latin typeface="Arial"/>
                        </a:rPr>
                        <a:t>Every 4 hours</a:t>
                      </a:r>
                    </a:p>
                  </a:txBody>
                  <a:tcPr marL="73152" marR="73152" marT="36576" marB="36576" anchor="ctr">
                    <a:solidFill>
                      <a:srgbClr val="F5F5F2"/>
                    </a:solidFill>
                  </a:tcPr>
                </a:tc>
              </a:tr>
              <a:tr h="670560">
                <a:tc>
                  <a:txBody>
                    <a:bodyPr wrap="square" anchor="ctr">
                      <a:noAutofit/>
                    </a:bodyPr>
                    <a:lstStyle/>
                    <a:p>
                      <a:pPr algn="l"/>
                      <a:r>
                        <a:rPr sz="1900" b="1" i="0">
                          <a:solidFill>
                            <a:srgbClr val="1E1E2E"/>
                          </a:solidFill>
                          <a:latin typeface="Arial"/>
                        </a:rPr>
                        <a:t>P3</a:t>
                      </a:r>
                    </a:p>
                  </a:txBody>
                  <a:tcPr marL="73152" marR="73152" marT="36576" marB="36576" anchor="ctr">
                    <a:solidFill>
                      <a:srgbClr val="FFFFFF"/>
                    </a:solidFill>
                  </a:tcPr>
                </a:tc>
                <a:tc>
                  <a:txBody>
                    <a:bodyPr wrap="square" anchor="ctr">
                      <a:noAutofit/>
                    </a:bodyPr>
                    <a:lstStyle/>
                    <a:p>
                      <a:pPr algn="l"/>
                      <a:r>
                        <a:rPr sz="1900" b="0" i="0">
                          <a:solidFill>
                            <a:srgbClr val="1E1E2E"/>
                          </a:solidFill>
                          <a:latin typeface="Arial"/>
                        </a:rPr>
                        <a:t>Single component issue, workaround exists</a:t>
                      </a:r>
                    </a:p>
                  </a:txBody>
                  <a:tcPr marL="73152" marR="73152" marT="36576" marB="36576" anchor="ctr">
                    <a:solidFill>
                      <a:srgbClr val="FFFFFF"/>
                    </a:solidFill>
                  </a:tcPr>
                </a:tc>
                <a:tc>
                  <a:txBody>
                    <a:bodyPr wrap="square" anchor="ctr">
                      <a:noAutofit/>
                    </a:bodyPr>
                    <a:lstStyle/>
                    <a:p>
                      <a:pPr algn="l"/>
                      <a:r>
                        <a:rPr sz="1900" b="0" i="0">
                          <a:solidFill>
                            <a:srgbClr val="1E1E2E"/>
                          </a:solidFill>
                          <a:latin typeface="Arial"/>
                        </a:rPr>
                        <a:t>1 business day</a:t>
                      </a:r>
                    </a:p>
                  </a:txBody>
                  <a:tcPr marL="73152" marR="73152" marT="36576" marB="36576" anchor="ctr">
                    <a:solidFill>
                      <a:srgbClr val="FFFFFF"/>
                    </a:solidFill>
                  </a:tcPr>
                </a:tc>
                <a:tc>
                  <a:txBody>
                    <a:bodyPr wrap="square" anchor="ctr">
                      <a:noAutofit/>
                    </a:bodyPr>
                    <a:lstStyle/>
                    <a:p>
                      <a:pPr algn="l"/>
                      <a:r>
                        <a:rPr sz="1900" b="0" i="0">
                          <a:solidFill>
                            <a:srgbClr val="1E1E2E"/>
                          </a:solidFill>
                          <a:latin typeface="Arial"/>
                        </a:rPr>
                        <a:t>Daily</a:t>
                      </a:r>
                    </a:p>
                  </a:txBody>
                  <a:tcPr marL="73152" marR="73152" marT="36576" marB="36576" anchor="ctr">
                    <a:solidFill>
                      <a:srgbClr val="FFFFFF"/>
                    </a:solidFill>
                  </a:tcPr>
                </a:tc>
              </a:tr>
              <a:tr h="380999">
                <a:tc>
                  <a:txBody>
                    <a:bodyPr wrap="square" anchor="ctr">
                      <a:noAutofit/>
                    </a:bodyPr>
                    <a:lstStyle/>
                    <a:p>
                      <a:pPr algn="l"/>
                      <a:r>
                        <a:rPr sz="1900" b="1" i="0">
                          <a:solidFill>
                            <a:srgbClr val="1E1E2E"/>
                          </a:solidFill>
                          <a:latin typeface="Arial"/>
                        </a:rPr>
                        <a:t>P4</a:t>
                      </a:r>
                    </a:p>
                  </a:txBody>
                  <a:tcPr marL="73152" marR="73152" marT="36576" marB="36576" anchor="ctr">
                    <a:solidFill>
                      <a:srgbClr val="F5F5F2"/>
                    </a:solidFill>
                  </a:tcPr>
                </a:tc>
                <a:tc>
                  <a:txBody>
                    <a:bodyPr wrap="square" anchor="ctr">
                      <a:noAutofit/>
                    </a:bodyPr>
                    <a:lstStyle/>
                    <a:p>
                      <a:pPr algn="l"/>
                      <a:r>
                        <a:rPr sz="1900" b="0" i="0">
                          <a:solidFill>
                            <a:srgbClr val="1E1E2E"/>
                          </a:solidFill>
                          <a:latin typeface="Arial"/>
                        </a:rPr>
                        <a:t>Request or question</a:t>
                      </a:r>
                    </a:p>
                  </a:txBody>
                  <a:tcPr marL="73152" marR="73152" marT="36576" marB="36576" anchor="ctr">
                    <a:solidFill>
                      <a:srgbClr val="F5F5F2"/>
                    </a:solidFill>
                  </a:tcPr>
                </a:tc>
                <a:tc>
                  <a:txBody>
                    <a:bodyPr wrap="square" anchor="ctr">
                      <a:noAutofit/>
                    </a:bodyPr>
                    <a:lstStyle/>
                    <a:p>
                      <a:pPr algn="l"/>
                      <a:r>
                        <a:rPr sz="1900" b="0" i="0">
                          <a:solidFill>
                            <a:srgbClr val="1E1E2E"/>
                          </a:solidFill>
                          <a:latin typeface="Arial"/>
                        </a:rPr>
                        <a:t>3 business days</a:t>
                      </a:r>
                    </a:p>
                  </a:txBody>
                  <a:tcPr marL="73152" marR="73152" marT="36576" marB="36576" anchor="ctr">
                    <a:solidFill>
                      <a:srgbClr val="F5F5F2"/>
                    </a:solidFill>
                  </a:tcPr>
                </a:tc>
                <a:tc>
                  <a:txBody>
                    <a:bodyPr wrap="square" anchor="ctr">
                      <a:noAutofit/>
                    </a:bodyPr>
                    <a:lstStyle/>
                    <a:p>
                      <a:pPr algn="l"/>
                      <a:r>
                        <a:rPr sz="1900" b="0" i="0">
                          <a:solidFill>
                            <a:srgbClr val="1E1E2E"/>
                          </a:solidFill>
                          <a:latin typeface="Arial"/>
                        </a:rPr>
                        <a:t>On change</a:t>
                      </a:r>
                    </a:p>
                  </a:txBody>
                  <a:tcPr marL="73152" marR="73152" marT="36576" marB="36576" anchor="ctr">
                    <a:solidFill>
                      <a:srgbClr val="F5F5F2"/>
                    </a:solidFill>
                  </a:tcPr>
                </a:tc>
              </a:tr>
            </a:tbl>
          </a:graphicData>
        </a:graphic>
      </p:graphicFrame>
      <p:sp>
        <p:nvSpPr>
          <p:cNvPr id="10" name="Rounded Rectangle 9"/>
          <p:cNvSpPr/>
          <p:nvPr/>
        </p:nvSpPr>
        <p:spPr>
          <a:xfrm>
            <a:off x="548640" y="52578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Response, not resolution. Restore objectives need dependency tests and depend on Azure service health.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Tower agreements and a funded roster decide success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7" name="Rounded Rectangle 6"/>
          <p:cNvSpPr/>
          <p:nvPr/>
        </p:nvSpPr>
        <p:spPr>
          <a:xfrm>
            <a:off x="54864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No tower agreements</a:t>
            </a:r>
          </a:p>
          <a:p>
            <a:pPr algn="l">
              <a:spcAft>
                <a:spcPts val="400"/>
              </a:spcAft>
            </a:pPr>
            <a:r>
              <a:rPr sz="1800" b="1" i="0">
                <a:solidFill>
                  <a:srgbClr val="8A4B08"/>
                </a:solidFill>
                <a:latin typeface="Arial"/>
              </a:rPr>
              <a:t>Effect: </a:t>
            </a:r>
            <a:r>
              <a:rPr sz="1800" b="0" i="0">
                <a:solidFill>
                  <a:srgbClr val="1E1E2E"/>
                </a:solidFill>
                <a:latin typeface="Arial"/>
              </a:rPr>
              <a:t>Tickets stall between towers</a:t>
            </a:r>
          </a:p>
          <a:p>
            <a:pPr algn="l">
              <a:spcAft>
                <a:spcPts val="400"/>
              </a:spcAft>
            </a:pPr>
            <a:r>
              <a:rPr sz="1800" b="1" i="0">
                <a:solidFill>
                  <a:srgbClr val="1D6B3A"/>
                </a:solidFill>
                <a:latin typeface="Arial"/>
              </a:rPr>
              <a:t>Handle: </a:t>
            </a:r>
            <a:r>
              <a:rPr sz="1800" b="0" i="0">
                <a:solidFill>
                  <a:srgbClr val="1E1E2E"/>
                </a:solidFill>
                <a:latin typeface="Arial"/>
              </a:rPr>
              <a:t>Signed internal agreements before go-live</a:t>
            </a:r>
          </a:p>
          <a:p>
            <a:pPr algn="l"/>
            <a:r>
              <a:rPr sz="1800" b="1" i="0">
                <a:solidFill>
                  <a:srgbClr val="2F78C4"/>
                </a:solidFill>
                <a:latin typeface="Arial"/>
              </a:rPr>
              <a:t>Owner: </a:t>
            </a:r>
            <a:r>
              <a:rPr sz="1800" b="0" i="0">
                <a:solidFill>
                  <a:srgbClr val="1E1E2E"/>
                </a:solidFill>
                <a:latin typeface="Arial"/>
              </a:rPr>
              <a:t>Integrated service owner</a:t>
            </a:r>
          </a:p>
        </p:txBody>
      </p:sp>
      <p:sp>
        <p:nvSpPr>
          <p:cNvPr id="8" name="Rounded Rectangle 7"/>
          <p:cNvSpPr/>
          <p:nvPr/>
        </p:nvSpPr>
        <p:spPr>
          <a:xfrm>
            <a:off x="617220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24x7 sold without roster</a:t>
            </a:r>
          </a:p>
          <a:p>
            <a:pPr algn="l">
              <a:spcAft>
                <a:spcPts val="400"/>
              </a:spcAft>
            </a:pPr>
            <a:r>
              <a:rPr sz="1800" b="1" i="0">
                <a:solidFill>
                  <a:srgbClr val="8A4B08"/>
                </a:solidFill>
                <a:latin typeface="Arial"/>
              </a:rPr>
              <a:t>Effect: </a:t>
            </a:r>
            <a:r>
              <a:rPr sz="1800" b="0" i="0">
                <a:solidFill>
                  <a:srgbClr val="1E1E2E"/>
                </a:solidFill>
                <a:latin typeface="Arial"/>
              </a:rPr>
              <a:t>Missed obligations</a:t>
            </a:r>
          </a:p>
          <a:p>
            <a:pPr algn="l">
              <a:spcAft>
                <a:spcPts val="400"/>
              </a:spcAft>
            </a:pPr>
            <a:r>
              <a:rPr sz="1800" b="1" i="0">
                <a:solidFill>
                  <a:srgbClr val="1D6B3A"/>
                </a:solidFill>
                <a:latin typeface="Arial"/>
              </a:rPr>
              <a:t>Handle: </a:t>
            </a:r>
            <a:r>
              <a:rPr sz="1800" b="0" i="0">
                <a:solidFill>
                  <a:srgbClr val="1E1E2E"/>
                </a:solidFill>
                <a:latin typeface="Arial"/>
              </a:rPr>
              <a:t>Funded roster before contract</a:t>
            </a:r>
          </a:p>
          <a:p>
            <a:pPr algn="l"/>
            <a:r>
              <a:rPr sz="1800" b="1" i="0">
                <a:solidFill>
                  <a:srgbClr val="2F78C4"/>
                </a:solidFill>
                <a:latin typeface="Arial"/>
              </a:rPr>
              <a:t>Owner: </a:t>
            </a:r>
            <a:r>
              <a:rPr sz="1800" b="0" i="0">
                <a:solidFill>
                  <a:srgbClr val="1E1E2E"/>
                </a:solidFill>
                <a:latin typeface="Arial"/>
              </a:rPr>
              <a:t>Delivery leadership</a:t>
            </a:r>
          </a:p>
        </p:txBody>
      </p:sp>
      <p:sp>
        <p:nvSpPr>
          <p:cNvPr id="9" name="Rounded Rectangle 8"/>
          <p:cNvSpPr/>
          <p:nvPr/>
        </p:nvSpPr>
        <p:spPr>
          <a:xfrm>
            <a:off x="54864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Platform not accepted</a:t>
            </a:r>
          </a:p>
          <a:p>
            <a:pPr algn="l">
              <a:spcAft>
                <a:spcPts val="400"/>
              </a:spcAft>
            </a:pPr>
            <a:r>
              <a:rPr sz="1800" b="1" i="0">
                <a:solidFill>
                  <a:srgbClr val="8A4B08"/>
                </a:solidFill>
                <a:latin typeface="Arial"/>
              </a:rPr>
              <a:t>Effect: </a:t>
            </a:r>
            <a:r>
              <a:rPr sz="1800" b="0" i="0">
                <a:solidFill>
                  <a:srgbClr val="1E1E2E"/>
                </a:solidFill>
                <a:latin typeface="Arial"/>
              </a:rPr>
              <a:t>Operating unknown risk</a:t>
            </a:r>
          </a:p>
          <a:p>
            <a:pPr algn="l">
              <a:spcAft>
                <a:spcPts val="400"/>
              </a:spcAft>
            </a:pPr>
            <a:r>
              <a:rPr sz="1800" b="1" i="0">
                <a:solidFill>
                  <a:srgbClr val="1D6B3A"/>
                </a:solidFill>
                <a:latin typeface="Arial"/>
              </a:rPr>
              <a:t>Handle: </a:t>
            </a:r>
            <a:r>
              <a:rPr sz="1800" b="0" i="0">
                <a:solidFill>
                  <a:srgbClr val="1E1E2E"/>
                </a:solidFill>
                <a:latin typeface="Arial"/>
              </a:rPr>
              <a:t>Onboarding gate (appendix A1)</a:t>
            </a:r>
          </a:p>
          <a:p>
            <a:pPr algn="l"/>
            <a:r>
              <a:rPr sz="1800" b="1" i="0">
                <a:solidFill>
                  <a:srgbClr val="2F78C4"/>
                </a:solidFill>
                <a:latin typeface="Arial"/>
              </a:rPr>
              <a:t>Owner: </a:t>
            </a:r>
            <a:r>
              <a:rPr sz="1800" b="0" i="0">
                <a:solidFill>
                  <a:srgbClr val="1E1E2E"/>
                </a:solidFill>
                <a:latin typeface="Arial"/>
              </a:rPr>
              <a:t>CIS Infra</a:t>
            </a:r>
          </a:p>
        </p:txBody>
      </p:sp>
      <p:sp>
        <p:nvSpPr>
          <p:cNvPr id="10" name="Rounded Rectangle 9"/>
          <p:cNvSpPr/>
          <p:nvPr/>
        </p:nvSpPr>
        <p:spPr>
          <a:xfrm>
            <a:off x="617220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Containment authority unclear</a:t>
            </a:r>
          </a:p>
          <a:p>
            <a:pPr algn="l">
              <a:spcAft>
                <a:spcPts val="400"/>
              </a:spcAft>
            </a:pPr>
            <a:r>
              <a:rPr sz="1800" b="1" i="0">
                <a:solidFill>
                  <a:srgbClr val="8A4B08"/>
                </a:solidFill>
                <a:latin typeface="Arial"/>
              </a:rPr>
              <a:t>Effect: </a:t>
            </a:r>
            <a:r>
              <a:rPr sz="1800" b="0" i="0">
                <a:solidFill>
                  <a:srgbClr val="1E1E2E"/>
                </a:solidFill>
                <a:latin typeface="Arial"/>
              </a:rPr>
              <a:t>Slow or contested stop</a:t>
            </a:r>
          </a:p>
          <a:p>
            <a:pPr algn="l">
              <a:spcAft>
                <a:spcPts val="400"/>
              </a:spcAft>
            </a:pPr>
            <a:r>
              <a:rPr sz="1800" b="1" i="0">
                <a:solidFill>
                  <a:srgbClr val="1D6B3A"/>
                </a:solidFill>
                <a:latin typeface="Arial"/>
              </a:rPr>
              <a:t>Handle: </a:t>
            </a:r>
            <a:r>
              <a:rPr sz="1800" b="0" i="0">
                <a:solidFill>
                  <a:srgbClr val="1E1E2E"/>
                </a:solidFill>
                <a:latin typeface="Arial"/>
              </a:rPr>
              <a:t>Named authority; quarterly drills</a:t>
            </a:r>
          </a:p>
          <a:p>
            <a:pPr algn="l"/>
            <a:r>
              <a:rPr sz="1800" b="1" i="0">
                <a:solidFill>
                  <a:srgbClr val="2F78C4"/>
                </a:solidFill>
                <a:latin typeface="Arial"/>
              </a:rPr>
              <a:t>Owner: </a:t>
            </a:r>
            <a:r>
              <a:rPr sz="1800" b="0" i="0">
                <a:solidFill>
                  <a:srgbClr val="1E1E2E"/>
                </a:solidFill>
                <a:latin typeface="Arial"/>
              </a:rPr>
              <a:t>Customer risk owner</a:t>
            </a:r>
          </a:p>
        </p:txBody>
      </p:sp>
      <p:sp>
        <p:nvSpPr>
          <p:cNvPr id="11" name="TextBox 10"/>
          <p:cNvSpPr txBox="1"/>
          <p:nvPr/>
        </p:nvSpPr>
        <p:spPr>
          <a:xfrm>
            <a:off x="548640" y="5897880"/>
            <a:ext cx="11064240" cy="411480"/>
          </a:xfrm>
          <a:prstGeom prst="rect">
            <a:avLst/>
          </a:prstGeom>
          <a:noFill/>
        </p:spPr>
        <p:txBody>
          <a:bodyPr wrap="square" lIns="0" rIns="0" tIns="0" bIns="0" anchor="t">
            <a:noAutofit/>
          </a:bodyPr>
          <a:lstStyle/>
          <a:p>
            <a:pPr algn="l"/>
            <a:r>
              <a:rPr sz="1500" b="0" i="0">
                <a:solidFill>
                  <a:srgbClr val="53565A"/>
                </a:solidFill>
                <a:latin typeface="Arial"/>
              </a:rPr>
              <a:t>Security threat model and regulatory notes: appendix SEC1 and SEC2.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Measure response and service; approve pilot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AFTER PILOT"/>
          <p:cNvSpPr/>
          <p:nvPr/>
        </p:nvSpPr>
        <p:spPr>
          <a:xfrm>
            <a:off x="375666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AFTER PILOT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8" name="TextBox 7"/>
          <p:cNvSpPr txBox="1"/>
          <p:nvPr/>
        </p:nvSpPr>
        <p:spPr>
          <a:xfrm>
            <a:off x="548640" y="1325880"/>
            <a:ext cx="5852160" cy="365760"/>
          </a:xfrm>
          <a:prstGeom prst="rect">
            <a:avLst/>
          </a:prstGeom>
          <a:noFill/>
        </p:spPr>
        <p:txBody>
          <a:bodyPr wrap="square" lIns="0" rIns="0" tIns="0" bIns="0" anchor="t">
            <a:noAutofit/>
          </a:bodyPr>
          <a:lstStyle/>
          <a:p>
            <a:pPr algn="l"/>
            <a:r>
              <a:rPr sz="1900" b="1" i="0">
                <a:solidFill>
                  <a:srgbClr val="000048"/>
                </a:solidFill>
                <a:latin typeface="Arial"/>
              </a:rPr>
              <a:t>Success measures</a:t>
            </a:r>
          </a:p>
        </p:txBody>
      </p:sp>
      <p:sp>
        <p:nvSpPr>
          <p:cNvPr id="9" name="Rounded Rectangle 8"/>
          <p:cNvSpPr/>
          <p:nvPr/>
        </p:nvSpPr>
        <p:spPr>
          <a:xfrm>
            <a:off x="548640" y="178308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Response  </a:t>
            </a:r>
            <a:r>
              <a:rPr sz="1800" b="0" i="0">
                <a:solidFill>
                  <a:srgbClr val="1E1E2E"/>
                </a:solidFill>
                <a:latin typeface="Arial"/>
              </a:rPr>
              <a:t>tickets meeting the agreed target</a:t>
            </a:r>
          </a:p>
        </p:txBody>
      </p:sp>
      <p:sp>
        <p:nvSpPr>
          <p:cNvPr id="10" name="Rounded Rectangle 9"/>
          <p:cNvSpPr/>
          <p:nvPr/>
        </p:nvSpPr>
        <p:spPr>
          <a:xfrm>
            <a:off x="548640" y="256032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Change success  </a:t>
            </a:r>
            <a:r>
              <a:rPr sz="1800" b="0" i="0">
                <a:solidFill>
                  <a:srgbClr val="1E1E2E"/>
                </a:solidFill>
                <a:latin typeface="Arial"/>
              </a:rPr>
              <a:t>changes without rollback or incident</a:t>
            </a:r>
          </a:p>
        </p:txBody>
      </p:sp>
      <p:sp>
        <p:nvSpPr>
          <p:cNvPr id="11" name="Rounded Rectangle 10"/>
          <p:cNvSpPr/>
          <p:nvPr/>
        </p:nvSpPr>
        <p:spPr>
          <a:xfrm>
            <a:off x="548640" y="333756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Alert ownership  </a:t>
            </a:r>
            <a:r>
              <a:rPr sz="1800" b="0" i="0">
                <a:solidFill>
                  <a:srgbClr val="1E1E2E"/>
                </a:solidFill>
                <a:latin typeface="Arial"/>
              </a:rPr>
              <a:t>alerts with an owner and runbook</a:t>
            </a:r>
          </a:p>
        </p:txBody>
      </p:sp>
      <p:sp>
        <p:nvSpPr>
          <p:cNvPr id="12" name="Rounded Rectangle 11"/>
          <p:cNvSpPr/>
          <p:nvPr/>
        </p:nvSpPr>
        <p:spPr>
          <a:xfrm>
            <a:off x="548640" y="411480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Containment drills  </a:t>
            </a:r>
            <a:r>
              <a:rPr sz="1800" b="0" i="0">
                <a:solidFill>
                  <a:srgbClr val="1E1E2E"/>
                </a:solidFill>
                <a:latin typeface="Arial"/>
              </a:rPr>
              <a:t>quarterly, once proven in offering 02</a:t>
            </a:r>
          </a:p>
        </p:txBody>
      </p:sp>
      <p:sp>
        <p:nvSpPr>
          <p:cNvPr id="13" name="Rounded Rectangle 12"/>
          <p:cNvSpPr/>
          <p:nvPr/>
        </p:nvSpPr>
        <p:spPr>
          <a:xfrm>
            <a:off x="548640" y="489204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Cost visibility  </a:t>
            </a:r>
            <a:r>
              <a:rPr sz="1800" b="0" i="0">
                <a:solidFill>
                  <a:srgbClr val="1E1E2E"/>
                </a:solidFill>
                <a:latin typeface="Arial"/>
              </a:rPr>
              <a:t>spend attributed and reviewed monthly</a:t>
            </a:r>
          </a:p>
        </p:txBody>
      </p:sp>
      <p:sp>
        <p:nvSpPr>
          <p:cNvPr id="14" name="Rounded Rectangle 13"/>
          <p:cNvSpPr/>
          <p:nvPr/>
        </p:nvSpPr>
        <p:spPr>
          <a:xfrm>
            <a:off x="6675120" y="1325880"/>
            <a:ext cx="4965192" cy="530352"/>
          </a:xfrm>
          <a:prstGeom prst="roundRect">
            <a:avLst>
              <a:gd name="adj" fmla="val 1379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today</a:t>
            </a:r>
          </a:p>
        </p:txBody>
      </p:sp>
      <p:sp>
        <p:nvSpPr>
          <p:cNvPr id="15" name="TextBox 14"/>
          <p:cNvSpPr txBox="1"/>
          <p:nvPr/>
        </p:nvSpPr>
        <p:spPr>
          <a:xfrm>
            <a:off x="6675120" y="1920240"/>
            <a:ext cx="4965192" cy="164592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Packages for pilot use</a:t>
            </a:r>
          </a:p>
          <a:p>
            <a:pPr algn="l" marL="201168" indent="-201168">
              <a:spcAft>
                <a:spcPts val="400"/>
              </a:spcAft>
              <a:buFont typeface="Arial"/>
              <a:buChar char="•"/>
            </a:pPr>
            <a:r>
              <a:rPr sz="1900" b="0" i="0">
                <a:solidFill>
                  <a:srgbClr val="1E1E2E"/>
                </a:solidFill>
                <a:latin typeface="Arial"/>
              </a:rPr>
              <a:t>No 24x7 without funded roster</a:t>
            </a:r>
          </a:p>
          <a:p>
            <a:pPr algn="l" marL="201168" indent="-201168">
              <a:spcAft>
                <a:spcPts val="400"/>
              </a:spcAft>
              <a:buFont typeface="Arial"/>
              <a:buChar char="•"/>
            </a:pPr>
            <a:r>
              <a:rPr sz="1900" b="0" i="0">
                <a:solidFill>
                  <a:srgbClr val="1E1E2E"/>
                </a:solidFill>
                <a:latin typeface="Arial"/>
              </a:rPr>
              <a:t>Sponsor tower agreements</a:t>
            </a:r>
          </a:p>
        </p:txBody>
      </p:sp>
      <p:sp>
        <p:nvSpPr>
          <p:cNvPr id="16" name="Rounded Rectangle 15"/>
          <p:cNvSpPr/>
          <p:nvPr/>
        </p:nvSpPr>
        <p:spPr>
          <a:xfrm>
            <a:off x="6675120" y="3520440"/>
            <a:ext cx="4965192" cy="530352"/>
          </a:xfrm>
          <a:prstGeom prst="roundRect">
            <a:avLst>
              <a:gd name="adj" fmla="val 1379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after evidence or approval</a:t>
            </a:r>
          </a:p>
        </p:txBody>
      </p:sp>
      <p:sp>
        <p:nvSpPr>
          <p:cNvPr id="17" name="TextBox 16"/>
          <p:cNvSpPr txBox="1"/>
          <p:nvPr/>
        </p:nvSpPr>
        <p:spPr>
          <a:xfrm>
            <a:off x="6675120" y="4114800"/>
            <a:ext cx="4965192" cy="137160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Service objective values (pilot)</a:t>
            </a:r>
          </a:p>
          <a:p>
            <a:pPr algn="l" marL="201168" indent="-201168">
              <a:spcAft>
                <a:spcPts val="400"/>
              </a:spcAft>
              <a:buFont typeface="Arial"/>
              <a:buChar char="•"/>
            </a:pPr>
            <a:r>
              <a:rPr sz="1900" b="0" i="0">
                <a:solidFill>
                  <a:srgbClr val="1E1E2E"/>
                </a:solidFill>
                <a:latin typeface="Arial"/>
              </a:rPr>
              <a:t>Rates and uplifts (Finance)</a:t>
            </a:r>
          </a:p>
          <a:p>
            <a:pPr algn="l" marL="201168" indent="-201168">
              <a:spcAft>
                <a:spcPts val="400"/>
              </a:spcAft>
              <a:buFont typeface="Arial"/>
              <a:buChar char="•"/>
            </a:pPr>
            <a:r>
              <a:rPr sz="1900" b="0" i="0">
                <a:solidFill>
                  <a:srgbClr val="1E1E2E"/>
                </a:solidFill>
                <a:latin typeface="Arial"/>
              </a:rPr>
              <a:t>ITSM integration per customer</a:t>
            </a:r>
          </a:p>
        </p:txBody>
      </p:sp>
      <p:sp>
        <p:nvSpPr>
          <p:cNvPr id="18" name="Rounded Rectangle 17"/>
          <p:cNvSpPr/>
          <p:nvPr/>
        </p:nvSpPr>
        <p:spPr>
          <a:xfrm>
            <a:off x="6675120" y="5532120"/>
            <a:ext cx="4965192" cy="777240"/>
          </a:xfrm>
          <a:prstGeom prst="roundRect">
            <a:avLst>
              <a:gd name="adj" fmla="val 941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90-day ask: </a:t>
            </a:r>
            <a:r>
              <a:rPr sz="1400" b="0" i="0">
                <a:solidFill>
                  <a:srgbClr val="1E1E2E"/>
                </a:solidFill>
                <a:latin typeface="Arial"/>
              </a:rPr>
              <a:t>budget and sponsor are inputs (deck 00 slide 10). Stop at day 45 if no tower agreements are signed.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Onboarding, monitoring, ITSM and AIOps, Agent 365 and Copilot Studio operations, containment and recovery, reviews, staffing, objectives, pricing, exit, data handling, audit evidence, delivery bench, account play, RACI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2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79698"/>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Onboarding and readiness gates</a:t>
            </a:r>
          </a:p>
        </p:txBody>
      </p:sp>
      <p:sp>
        <p:nvSpPr>
          <p:cNvPr id="8" name="TextBox 7">
            <a:hlinkClick action="ppaction://hlinksldjump" r:id="rId5"/>
          </p:cNvPr>
          <p:cNvSpPr txBox="1"/>
          <p:nvPr/>
        </p:nvSpPr>
        <p:spPr>
          <a:xfrm>
            <a:off x="548640" y="1697018"/>
            <a:ext cx="5486400" cy="279698"/>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A3  </a:t>
            </a:r>
            <a:r>
              <a:rPr sz="1300" b="0" i="0">
                <a:solidFill>
                  <a:srgbClr val="1E1E2E"/>
                </a:solidFill>
                <a:latin typeface="Arial"/>
              </a:rPr>
              <a:t>Health and dependency monitoring</a:t>
            </a:r>
          </a:p>
        </p:txBody>
      </p:sp>
      <p:sp>
        <p:nvSpPr>
          <p:cNvPr id="9" name="TextBox 8">
            <a:hlinkClick action="ppaction://hlinksldjump" r:id="rId6"/>
          </p:cNvPr>
          <p:cNvSpPr txBox="1"/>
          <p:nvPr/>
        </p:nvSpPr>
        <p:spPr>
          <a:xfrm>
            <a:off x="548640" y="1976717"/>
            <a:ext cx="5486400" cy="279698"/>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A4  </a:t>
            </a:r>
            <a:r>
              <a:rPr sz="1300" b="0" i="0">
                <a:solidFill>
                  <a:srgbClr val="1E1E2E"/>
                </a:solidFill>
                <a:latin typeface="Arial"/>
              </a:rPr>
              <a:t>Foundry observability, App Insights, Log Analytics</a:t>
            </a:r>
          </a:p>
        </p:txBody>
      </p:sp>
      <p:sp>
        <p:nvSpPr>
          <p:cNvPr id="10" name="TextBox 9">
            <a:hlinkClick action="ppaction://hlinksldjump" r:id="rId7"/>
          </p:cNvPr>
          <p:cNvSpPr txBox="1"/>
          <p:nvPr/>
        </p:nvSpPr>
        <p:spPr>
          <a:xfrm>
            <a:off x="548640" y="2256416"/>
            <a:ext cx="5486400" cy="279698"/>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A5  </a:t>
            </a:r>
            <a:r>
              <a:rPr sz="1300" b="0" i="0">
                <a:solidFill>
                  <a:srgbClr val="1E1E2E"/>
                </a:solidFill>
                <a:latin typeface="Arial"/>
              </a:rPr>
              <a:t>Alert ownership and routing</a:t>
            </a:r>
          </a:p>
        </p:txBody>
      </p:sp>
      <p:sp>
        <p:nvSpPr>
          <p:cNvPr id="11" name="TextBox 10">
            <a:hlinkClick action="ppaction://hlinksldjump" r:id="rId8"/>
          </p:cNvPr>
          <p:cNvSpPr txBox="1"/>
          <p:nvPr/>
        </p:nvSpPr>
        <p:spPr>
          <a:xfrm>
            <a:off x="548640" y="2536115"/>
            <a:ext cx="5486400" cy="279698"/>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A6  </a:t>
            </a:r>
            <a:r>
              <a:rPr sz="1300" b="0" i="0">
                <a:solidFill>
                  <a:srgbClr val="1E1E2E"/>
                </a:solidFill>
                <a:latin typeface="Arial"/>
              </a:rPr>
              <a:t>Incident, problem and change</a:t>
            </a:r>
          </a:p>
        </p:txBody>
      </p:sp>
      <p:sp>
        <p:nvSpPr>
          <p:cNvPr id="12" name="TextBox 11">
            <a:hlinkClick action="ppaction://hlinksldjump" r:id="rId9"/>
          </p:cNvPr>
          <p:cNvSpPr txBox="1"/>
          <p:nvPr/>
        </p:nvSpPr>
        <p:spPr>
          <a:xfrm>
            <a:off x="548640" y="2815814"/>
            <a:ext cx="5486400" cy="279698"/>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A7  </a:t>
            </a:r>
            <a:r>
              <a:rPr sz="1300" b="0" i="0">
                <a:solidFill>
                  <a:srgbClr val="1E1E2E"/>
                </a:solidFill>
                <a:latin typeface="Arial"/>
              </a:rPr>
              <a:t>Platform, quality and security lanes</a:t>
            </a:r>
          </a:p>
        </p:txBody>
      </p:sp>
      <p:sp>
        <p:nvSpPr>
          <p:cNvPr id="13" name="TextBox 12">
            <a:hlinkClick action="ppaction://hlinksldjump" r:id="rId10"/>
          </p:cNvPr>
          <p:cNvSpPr txBox="1"/>
          <p:nvPr/>
        </p:nvSpPr>
        <p:spPr>
          <a:xfrm>
            <a:off x="548640" y="3095512"/>
            <a:ext cx="5486400" cy="279698"/>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K  </a:t>
            </a:r>
            <a:r>
              <a:rPr sz="1300" b="0" i="0">
                <a:solidFill>
                  <a:srgbClr val="1E1E2E"/>
                </a:solidFill>
                <a:latin typeface="Arial"/>
              </a:rPr>
              <a:t>Kill-switch: how operations runs it</a:t>
            </a:r>
          </a:p>
        </p:txBody>
      </p:sp>
      <p:sp>
        <p:nvSpPr>
          <p:cNvPr id="14" name="TextBox 13">
            <a:hlinkClick action="ppaction://hlinksldjump" r:id="rId11"/>
          </p:cNvPr>
          <p:cNvSpPr txBox="1"/>
          <p:nvPr/>
        </p:nvSpPr>
        <p:spPr>
          <a:xfrm>
            <a:off x="548640" y="3375211"/>
            <a:ext cx="5486400" cy="279698"/>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K6  </a:t>
            </a:r>
            <a:r>
              <a:rPr sz="1300" b="0" i="0">
                <a:solidFill>
                  <a:srgbClr val="1E1E2E"/>
                </a:solidFill>
                <a:latin typeface="Arial"/>
              </a:rPr>
              <a:t>Kill-switch authority and liability</a:t>
            </a:r>
          </a:p>
        </p:txBody>
      </p:sp>
      <p:sp>
        <p:nvSpPr>
          <p:cNvPr id="15" name="TextBox 14">
            <a:hlinkClick action="ppaction://hlinksldjump" r:id="rId12"/>
          </p:cNvPr>
          <p:cNvSpPr txBox="1"/>
          <p:nvPr/>
        </p:nvSpPr>
        <p:spPr>
          <a:xfrm>
            <a:off x="548640" y="3654910"/>
            <a:ext cx="5486400" cy="279698"/>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A8  </a:t>
            </a:r>
            <a:r>
              <a:rPr sz="1300" b="0" i="0">
                <a:solidFill>
                  <a:srgbClr val="1E1E2E"/>
                </a:solidFill>
                <a:latin typeface="Arial"/>
              </a:rPr>
              <a:t>Controlled recovery</a:t>
            </a:r>
          </a:p>
        </p:txBody>
      </p:sp>
      <p:sp>
        <p:nvSpPr>
          <p:cNvPr id="16" name="TextBox 15">
            <a:hlinkClick action="ppaction://hlinksldjump" r:id="rId13"/>
          </p:cNvPr>
          <p:cNvSpPr txBox="1"/>
          <p:nvPr/>
        </p:nvSpPr>
        <p:spPr>
          <a:xfrm>
            <a:off x="548640" y="3934609"/>
            <a:ext cx="5486400" cy="279698"/>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A9  </a:t>
            </a:r>
            <a:r>
              <a:rPr sz="1300" b="0" i="0">
                <a:solidFill>
                  <a:srgbClr val="1E1E2E"/>
                </a:solidFill>
                <a:latin typeface="Arial"/>
              </a:rPr>
              <a:t>Capacity, quota and cost review</a:t>
            </a:r>
          </a:p>
        </p:txBody>
      </p:sp>
      <p:sp>
        <p:nvSpPr>
          <p:cNvPr id="17" name="TextBox 16">
            <a:hlinkClick action="ppaction://hlinksldjump" r:id="rId14"/>
          </p:cNvPr>
          <p:cNvSpPr txBox="1"/>
          <p:nvPr/>
        </p:nvSpPr>
        <p:spPr>
          <a:xfrm>
            <a:off x="548640" y="4214308"/>
            <a:ext cx="5486400" cy="279698"/>
          </a:xfrm>
          <a:prstGeom prst="rect">
            <a:avLst/>
          </a:prstGeom>
          <a:noFill/>
        </p:spPr>
        <p:txBody>
          <a:bodyPr wrap="square" lIns="0" rIns="0" tIns="0" bIns="0" anchor="t">
            <a:noAutofit/>
          </a:bodyPr>
          <a:lstStyle/>
          <a:p>
            <a:pPr algn="l"/>
            <a:r>
              <a:rPr sz="1300" b="1" i="0">
                <a:solidFill>
                  <a:srgbClr val="2F78C4"/>
                </a:solidFill>
                <a:latin typeface="Arial"/>
              </a:rPr>
              <a:t>23  </a:t>
            </a:r>
            <a:r>
              <a:rPr sz="1300" b="1" i="0">
                <a:solidFill>
                  <a:srgbClr val="000048"/>
                </a:solidFill>
                <a:latin typeface="Arial"/>
              </a:rPr>
              <a:t>A11  </a:t>
            </a:r>
            <a:r>
              <a:rPr sz="1300" b="0" i="0">
                <a:solidFill>
                  <a:srgbClr val="1E1E2E"/>
                </a:solidFill>
                <a:latin typeface="Arial"/>
              </a:rPr>
              <a:t>Backup and recovery responsibilities</a:t>
            </a:r>
          </a:p>
        </p:txBody>
      </p:sp>
      <p:sp>
        <p:nvSpPr>
          <p:cNvPr id="18" name="TextBox 17">
            <a:hlinkClick action="ppaction://hlinksldjump" r:id="rId15"/>
          </p:cNvPr>
          <p:cNvSpPr txBox="1"/>
          <p:nvPr/>
        </p:nvSpPr>
        <p:spPr>
          <a:xfrm>
            <a:off x="548640" y="4494007"/>
            <a:ext cx="5486400" cy="279698"/>
          </a:xfrm>
          <a:prstGeom prst="rect">
            <a:avLst/>
          </a:prstGeom>
          <a:noFill/>
        </p:spPr>
        <p:txBody>
          <a:bodyPr wrap="square" lIns="0" rIns="0" tIns="0" bIns="0" anchor="t">
            <a:noAutofit/>
          </a:bodyPr>
          <a:lstStyle/>
          <a:p>
            <a:pPr algn="l"/>
            <a:r>
              <a:rPr sz="1300" b="1" i="0">
                <a:solidFill>
                  <a:srgbClr val="2F78C4"/>
                </a:solidFill>
                <a:latin typeface="Arial"/>
              </a:rPr>
              <a:t>24  </a:t>
            </a:r>
            <a:r>
              <a:rPr sz="1300" b="1" i="0">
                <a:solidFill>
                  <a:srgbClr val="000048"/>
                </a:solidFill>
                <a:latin typeface="Arial"/>
              </a:rPr>
              <a:t>A12  </a:t>
            </a:r>
            <a:r>
              <a:rPr sz="1300" b="0" i="0">
                <a:solidFill>
                  <a:srgbClr val="1E1E2E"/>
                </a:solidFill>
                <a:latin typeface="Arial"/>
              </a:rPr>
              <a:t>Runbooks and specialist dependencies</a:t>
            </a:r>
          </a:p>
        </p:txBody>
      </p:sp>
      <p:sp>
        <p:nvSpPr>
          <p:cNvPr id="19" name="TextBox 18">
            <a:hlinkClick action="ppaction://hlinksldjump" r:id="rId16"/>
          </p:cNvPr>
          <p:cNvSpPr txBox="1"/>
          <p:nvPr/>
        </p:nvSpPr>
        <p:spPr>
          <a:xfrm>
            <a:off x="548640" y="4773705"/>
            <a:ext cx="5486400" cy="279698"/>
          </a:xfrm>
          <a:prstGeom prst="rect">
            <a:avLst/>
          </a:prstGeom>
          <a:noFill/>
        </p:spPr>
        <p:txBody>
          <a:bodyPr wrap="square" lIns="0" rIns="0" tIns="0" bIns="0" anchor="t">
            <a:noAutofit/>
          </a:bodyPr>
          <a:lstStyle/>
          <a:p>
            <a:pPr algn="l"/>
            <a:r>
              <a:rPr sz="1300" b="1" i="0">
                <a:solidFill>
                  <a:srgbClr val="2F78C4"/>
                </a:solidFill>
                <a:latin typeface="Arial"/>
              </a:rPr>
              <a:t>25  </a:t>
            </a:r>
            <a:r>
              <a:rPr sz="1300" b="1" i="0">
                <a:solidFill>
                  <a:srgbClr val="000048"/>
                </a:solidFill>
                <a:latin typeface="Arial"/>
              </a:rPr>
              <a:t>A13  </a:t>
            </a:r>
            <a:r>
              <a:rPr sz="1300" b="0" i="0">
                <a:solidFill>
                  <a:srgbClr val="1E1E2E"/>
                </a:solidFill>
                <a:latin typeface="Arial"/>
              </a:rPr>
              <a:t>Coverage, on-call and effort</a:t>
            </a:r>
          </a:p>
        </p:txBody>
      </p:sp>
      <p:sp>
        <p:nvSpPr>
          <p:cNvPr id="20" name="TextBox 19">
            <a:hlinkClick action="ppaction://hlinksldjump" r:id="rId17"/>
          </p:cNvPr>
          <p:cNvSpPr txBox="1"/>
          <p:nvPr/>
        </p:nvSpPr>
        <p:spPr>
          <a:xfrm>
            <a:off x="548640" y="5053404"/>
            <a:ext cx="5486400" cy="279698"/>
          </a:xfrm>
          <a:prstGeom prst="rect">
            <a:avLst/>
          </a:prstGeom>
          <a:noFill/>
        </p:spPr>
        <p:txBody>
          <a:bodyPr wrap="square" lIns="0" rIns="0" tIns="0" bIns="0" anchor="t">
            <a:noAutofit/>
          </a:bodyPr>
          <a:lstStyle/>
          <a:p>
            <a:pPr algn="l"/>
            <a:r>
              <a:rPr sz="1300" b="1" i="0">
                <a:solidFill>
                  <a:srgbClr val="2F78C4"/>
                </a:solidFill>
                <a:latin typeface="Arial"/>
              </a:rPr>
              <a:t>26  </a:t>
            </a:r>
            <a:r>
              <a:rPr sz="1300" b="1" i="0">
                <a:solidFill>
                  <a:srgbClr val="000048"/>
                </a:solidFill>
                <a:latin typeface="Arial"/>
              </a:rPr>
              <a:t>A16  </a:t>
            </a:r>
            <a:r>
              <a:rPr sz="1300" b="0" i="0">
                <a:solidFill>
                  <a:srgbClr val="1E1E2E"/>
                </a:solidFill>
                <a:latin typeface="Arial"/>
              </a:rPr>
              <a:t>Pricing logic</a:t>
            </a:r>
          </a:p>
        </p:txBody>
      </p:sp>
      <p:sp>
        <p:nvSpPr>
          <p:cNvPr id="21" name="TextBox 20">
            <a:hlinkClick action="ppaction://hlinksldjump" r:id="rId18"/>
          </p:cNvPr>
          <p:cNvSpPr txBox="1"/>
          <p:nvPr/>
        </p:nvSpPr>
        <p:spPr>
          <a:xfrm>
            <a:off x="548640" y="5333103"/>
            <a:ext cx="5486400" cy="279698"/>
          </a:xfrm>
          <a:prstGeom prst="rect">
            <a:avLst/>
          </a:prstGeom>
          <a:noFill/>
        </p:spPr>
        <p:txBody>
          <a:bodyPr wrap="square" lIns="0" rIns="0" tIns="0" bIns="0" anchor="t">
            <a:noAutofit/>
          </a:bodyPr>
          <a:lstStyle/>
          <a:p>
            <a:pPr algn="l"/>
            <a:r>
              <a:rPr sz="1300" b="1" i="0">
                <a:solidFill>
                  <a:srgbClr val="2F78C4"/>
                </a:solidFill>
                <a:latin typeface="Arial"/>
              </a:rPr>
              <a:t>27  </a:t>
            </a:r>
            <a:r>
              <a:rPr sz="1300" b="1" i="0">
                <a:solidFill>
                  <a:srgbClr val="000048"/>
                </a:solidFill>
                <a:latin typeface="Arial"/>
              </a:rPr>
              <a:t>A17  </a:t>
            </a:r>
            <a:r>
              <a:rPr sz="1300" b="0" i="0">
                <a:solidFill>
                  <a:srgbClr val="1E1E2E"/>
                </a:solidFill>
                <a:latin typeface="Arial"/>
              </a:rPr>
              <a:t>ITSM and AIOps integration</a:t>
            </a:r>
          </a:p>
        </p:txBody>
      </p:sp>
      <p:sp>
        <p:nvSpPr>
          <p:cNvPr id="22" name="TextBox 21">
            <a:hlinkClick action="ppaction://hlinksldjump" r:id="rId19"/>
          </p:cNvPr>
          <p:cNvSpPr txBox="1"/>
          <p:nvPr/>
        </p:nvSpPr>
        <p:spPr>
          <a:xfrm>
            <a:off x="548640" y="5612802"/>
            <a:ext cx="5486400" cy="279698"/>
          </a:xfrm>
          <a:prstGeom prst="rect">
            <a:avLst/>
          </a:prstGeom>
          <a:noFill/>
        </p:spPr>
        <p:txBody>
          <a:bodyPr wrap="square" lIns="0" rIns="0" tIns="0" bIns="0" anchor="t">
            <a:noAutofit/>
          </a:bodyPr>
          <a:lstStyle/>
          <a:p>
            <a:pPr algn="l"/>
            <a:r>
              <a:rPr sz="1300" b="1" i="0">
                <a:solidFill>
                  <a:srgbClr val="2F78C4"/>
                </a:solidFill>
                <a:latin typeface="Arial"/>
              </a:rPr>
              <a:t>28  </a:t>
            </a:r>
            <a:r>
              <a:rPr sz="1300" b="1" i="0">
                <a:solidFill>
                  <a:srgbClr val="000048"/>
                </a:solidFill>
                <a:latin typeface="Arial"/>
              </a:rPr>
              <a:t>A18  </a:t>
            </a:r>
            <a:r>
              <a:rPr sz="1300" b="0" i="0">
                <a:solidFill>
                  <a:srgbClr val="1E1E2E"/>
                </a:solidFill>
                <a:latin typeface="Arial"/>
              </a:rPr>
              <a:t>Agent 365 and Copilot Studio operations</a:t>
            </a:r>
          </a:p>
        </p:txBody>
      </p:sp>
      <p:sp>
        <p:nvSpPr>
          <p:cNvPr id="23" name="TextBox 22">
            <a:hlinkClick action="ppaction://hlinksldjump" r:id="rId20"/>
          </p:cNvPr>
          <p:cNvSpPr txBox="1"/>
          <p:nvPr/>
        </p:nvSpPr>
        <p:spPr>
          <a:xfrm>
            <a:off x="548640" y="5892501"/>
            <a:ext cx="5486400" cy="279698"/>
          </a:xfrm>
          <a:prstGeom prst="rect">
            <a:avLst/>
          </a:prstGeom>
          <a:noFill/>
        </p:spPr>
        <p:txBody>
          <a:bodyPr wrap="square" lIns="0" rIns="0" tIns="0" bIns="0" anchor="t">
            <a:noAutofit/>
          </a:bodyPr>
          <a:lstStyle/>
          <a:p>
            <a:pPr algn="l"/>
            <a:r>
              <a:rPr sz="1300" b="1" i="0">
                <a:solidFill>
                  <a:srgbClr val="2F78C4"/>
                </a:solidFill>
                <a:latin typeface="Arial"/>
              </a:rPr>
              <a:t>29  </a:t>
            </a:r>
            <a:r>
              <a:rPr sz="1300" b="1" i="0">
                <a:solidFill>
                  <a:srgbClr val="000048"/>
                </a:solidFill>
                <a:latin typeface="Arial"/>
              </a:rPr>
              <a:t>A19  </a:t>
            </a:r>
            <a:r>
              <a:rPr sz="1300" b="0" i="0">
                <a:solidFill>
                  <a:srgbClr val="1E1E2E"/>
                </a:solidFill>
                <a:latin typeface="Arial"/>
              </a:rPr>
              <a:t>Exit and transition plan</a:t>
            </a:r>
          </a:p>
        </p:txBody>
      </p:sp>
      <p:sp>
        <p:nvSpPr>
          <p:cNvPr id="24" name="TextBox 23">
            <a:hlinkClick action="ppaction://hlinksldjump" r:id="rId21"/>
          </p:cNvPr>
          <p:cNvSpPr txBox="1"/>
          <p:nvPr/>
        </p:nvSpPr>
        <p:spPr>
          <a:xfrm>
            <a:off x="6217920" y="1417320"/>
            <a:ext cx="5486400" cy="279698"/>
          </a:xfrm>
          <a:prstGeom prst="rect">
            <a:avLst/>
          </a:prstGeom>
          <a:noFill/>
        </p:spPr>
        <p:txBody>
          <a:bodyPr wrap="square" lIns="0" rIns="0" tIns="0" bIns="0" anchor="t">
            <a:noAutofit/>
          </a:bodyPr>
          <a:lstStyle/>
          <a:p>
            <a:pPr algn="l"/>
            <a:r>
              <a:rPr sz="1300" b="1" i="0">
                <a:solidFill>
                  <a:srgbClr val="2F78C4"/>
                </a:solidFill>
                <a:latin typeface="Arial"/>
              </a:rPr>
              <a:t>30  </a:t>
            </a:r>
            <a:r>
              <a:rPr sz="1300" b="1" i="0">
                <a:solidFill>
                  <a:srgbClr val="000048"/>
                </a:solidFill>
                <a:latin typeface="Arial"/>
              </a:rPr>
              <a:t>A20  </a:t>
            </a:r>
            <a:r>
              <a:rPr sz="1300" b="0" i="0">
                <a:solidFill>
                  <a:srgbClr val="1E1E2E"/>
                </a:solidFill>
                <a:latin typeface="Arial"/>
              </a:rPr>
              <a:t>Staffing-to-price link</a:t>
            </a:r>
          </a:p>
        </p:txBody>
      </p:sp>
      <p:sp>
        <p:nvSpPr>
          <p:cNvPr id="25" name="TextBox 24">
            <a:hlinkClick action="ppaction://hlinksldjump" r:id="rId22"/>
          </p:cNvPr>
          <p:cNvSpPr txBox="1"/>
          <p:nvPr/>
        </p:nvSpPr>
        <p:spPr>
          <a:xfrm>
            <a:off x="6217920" y="1697018"/>
            <a:ext cx="5486400" cy="279698"/>
          </a:xfrm>
          <a:prstGeom prst="rect">
            <a:avLst/>
          </a:prstGeom>
          <a:noFill/>
        </p:spPr>
        <p:txBody>
          <a:bodyPr wrap="square" lIns="0" rIns="0" tIns="0" bIns="0" anchor="t">
            <a:noAutofit/>
          </a:bodyPr>
          <a:lstStyle/>
          <a:p>
            <a:pPr algn="l"/>
            <a:r>
              <a:rPr sz="1300" b="1" i="0">
                <a:solidFill>
                  <a:srgbClr val="2F78C4"/>
                </a:solidFill>
                <a:latin typeface="Arial"/>
              </a:rPr>
              <a:t>31  </a:t>
            </a:r>
            <a:r>
              <a:rPr sz="1300" b="1" i="0">
                <a:solidFill>
                  <a:srgbClr val="000048"/>
                </a:solidFill>
                <a:latin typeface="Arial"/>
              </a:rPr>
              <a:t>DH1  </a:t>
            </a:r>
            <a:r>
              <a:rPr sz="1300" b="0" i="0">
                <a:solidFill>
                  <a:srgbClr val="1E1E2E"/>
                </a:solidFill>
                <a:latin typeface="Arial"/>
              </a:rPr>
              <a:t>Prompt and telemetry data handling</a:t>
            </a:r>
          </a:p>
        </p:txBody>
      </p:sp>
      <p:sp>
        <p:nvSpPr>
          <p:cNvPr id="26" name="TextBox 25">
            <a:hlinkClick action="ppaction://hlinksldjump" r:id="rId23"/>
          </p:cNvPr>
          <p:cNvSpPr txBox="1"/>
          <p:nvPr/>
        </p:nvSpPr>
        <p:spPr>
          <a:xfrm>
            <a:off x="6217920" y="1976717"/>
            <a:ext cx="5486400" cy="279698"/>
          </a:xfrm>
          <a:prstGeom prst="rect">
            <a:avLst/>
          </a:prstGeom>
          <a:noFill/>
        </p:spPr>
        <p:txBody>
          <a:bodyPr wrap="square" lIns="0" rIns="0" tIns="0" bIns="0" anchor="t">
            <a:noAutofit/>
          </a:bodyPr>
          <a:lstStyle/>
          <a:p>
            <a:pPr algn="l"/>
            <a:r>
              <a:rPr sz="1300" b="1" i="0">
                <a:solidFill>
                  <a:srgbClr val="2F78C4"/>
                </a:solidFill>
                <a:latin typeface="Arial"/>
              </a:rPr>
              <a:t>32  </a:t>
            </a:r>
            <a:r>
              <a:rPr sz="1300" b="1" i="0">
                <a:solidFill>
                  <a:srgbClr val="000048"/>
                </a:solidFill>
                <a:latin typeface="Arial"/>
              </a:rPr>
              <a:t>AU1  </a:t>
            </a:r>
            <a:r>
              <a:rPr sz="1300" b="0" i="0">
                <a:solidFill>
                  <a:srgbClr val="1E1E2E"/>
                </a:solidFill>
                <a:latin typeface="Arial"/>
              </a:rPr>
              <a:t>Audit-ready control matrix and evidence pack</a:t>
            </a:r>
          </a:p>
        </p:txBody>
      </p:sp>
      <p:sp>
        <p:nvSpPr>
          <p:cNvPr id="27" name="TextBox 26">
            <a:hlinkClick action="ppaction://hlinksldjump" r:id="rId24"/>
          </p:cNvPr>
          <p:cNvSpPr txBox="1"/>
          <p:nvPr/>
        </p:nvSpPr>
        <p:spPr>
          <a:xfrm>
            <a:off x="6217920" y="2256416"/>
            <a:ext cx="5486400" cy="279698"/>
          </a:xfrm>
          <a:prstGeom prst="rect">
            <a:avLst/>
          </a:prstGeom>
          <a:noFill/>
        </p:spPr>
        <p:txBody>
          <a:bodyPr wrap="square" lIns="0" rIns="0" tIns="0" bIns="0" anchor="t">
            <a:noAutofit/>
          </a:bodyPr>
          <a:lstStyle/>
          <a:p>
            <a:pPr algn="l"/>
            <a:r>
              <a:rPr sz="1300" b="1" i="0">
                <a:solidFill>
                  <a:srgbClr val="2F78C4"/>
                </a:solidFill>
                <a:latin typeface="Arial"/>
              </a:rPr>
              <a:t>33  </a:t>
            </a:r>
            <a:r>
              <a:rPr sz="1300" b="1" i="0">
                <a:solidFill>
                  <a:srgbClr val="000048"/>
                </a:solidFill>
                <a:latin typeface="Arial"/>
              </a:rPr>
              <a:t>Q1  </a:t>
            </a:r>
            <a:r>
              <a:rPr sz="1300" b="0" i="0">
                <a:solidFill>
                  <a:srgbClr val="1E1E2E"/>
                </a:solidFill>
                <a:latin typeface="Arial"/>
              </a:rPr>
              <a:t>Qualification scorecard and account shortlist</a:t>
            </a:r>
          </a:p>
        </p:txBody>
      </p:sp>
      <p:sp>
        <p:nvSpPr>
          <p:cNvPr id="28" name="TextBox 27">
            <a:hlinkClick action="ppaction://hlinksldjump" r:id="rId25"/>
          </p:cNvPr>
          <p:cNvSpPr txBox="1"/>
          <p:nvPr/>
        </p:nvSpPr>
        <p:spPr>
          <a:xfrm>
            <a:off x="6217920" y="2536115"/>
            <a:ext cx="5486400" cy="279698"/>
          </a:xfrm>
          <a:prstGeom prst="rect">
            <a:avLst/>
          </a:prstGeom>
          <a:noFill/>
        </p:spPr>
        <p:txBody>
          <a:bodyPr wrap="square" lIns="0" rIns="0" tIns="0" bIns="0" anchor="t">
            <a:noAutofit/>
          </a:bodyPr>
          <a:lstStyle/>
          <a:p>
            <a:pPr algn="l"/>
            <a:r>
              <a:rPr sz="1300" b="1" i="0">
                <a:solidFill>
                  <a:srgbClr val="2F78C4"/>
                </a:solidFill>
                <a:latin typeface="Arial"/>
              </a:rPr>
              <a:t>34  </a:t>
            </a:r>
            <a:r>
              <a:rPr sz="1300" b="1" i="0">
                <a:solidFill>
                  <a:srgbClr val="000048"/>
                </a:solidFill>
                <a:latin typeface="Arial"/>
              </a:rPr>
              <a:t>E1  </a:t>
            </a:r>
            <a:r>
              <a:rPr sz="1300" b="0" i="0">
                <a:solidFill>
                  <a:srgbClr val="1E1E2E"/>
                </a:solidFill>
                <a:latin typeface="Arial"/>
              </a:rPr>
              <a:t>Estimate assumptions</a:t>
            </a:r>
          </a:p>
        </p:txBody>
      </p:sp>
      <p:sp>
        <p:nvSpPr>
          <p:cNvPr id="29" name="TextBox 28">
            <a:hlinkClick action="ppaction://hlinksldjump" r:id="rId26"/>
          </p:cNvPr>
          <p:cNvSpPr txBox="1"/>
          <p:nvPr/>
        </p:nvSpPr>
        <p:spPr>
          <a:xfrm>
            <a:off x="6217920" y="2815814"/>
            <a:ext cx="5486400" cy="279698"/>
          </a:xfrm>
          <a:prstGeom prst="rect">
            <a:avLst/>
          </a:prstGeom>
          <a:noFill/>
        </p:spPr>
        <p:txBody>
          <a:bodyPr wrap="square" lIns="0" rIns="0" tIns="0" bIns="0" anchor="t">
            <a:noAutofit/>
          </a:bodyPr>
          <a:lstStyle/>
          <a:p>
            <a:pPr algn="l"/>
            <a:r>
              <a:rPr sz="1300" b="1" i="0">
                <a:solidFill>
                  <a:srgbClr val="2F78C4"/>
                </a:solidFill>
                <a:latin typeface="Arial"/>
              </a:rPr>
              <a:t>35  </a:t>
            </a:r>
            <a:r>
              <a:rPr sz="1300" b="1" i="0">
                <a:solidFill>
                  <a:srgbClr val="000048"/>
                </a:solidFill>
                <a:latin typeface="Arial"/>
              </a:rPr>
              <a:t>SEC1  </a:t>
            </a:r>
            <a:r>
              <a:rPr sz="1300" b="0" i="0">
                <a:solidFill>
                  <a:srgbClr val="1E1E2E"/>
                </a:solidFill>
                <a:latin typeface="Arial"/>
              </a:rPr>
              <a:t>AI threat model and controls</a:t>
            </a:r>
          </a:p>
        </p:txBody>
      </p:sp>
      <p:sp>
        <p:nvSpPr>
          <p:cNvPr id="30" name="TextBox 29">
            <a:hlinkClick action="ppaction://hlinksldjump" r:id="rId27"/>
          </p:cNvPr>
          <p:cNvSpPr txBox="1"/>
          <p:nvPr/>
        </p:nvSpPr>
        <p:spPr>
          <a:xfrm>
            <a:off x="6217920" y="3095512"/>
            <a:ext cx="5486400" cy="279698"/>
          </a:xfrm>
          <a:prstGeom prst="rect">
            <a:avLst/>
          </a:prstGeom>
          <a:noFill/>
        </p:spPr>
        <p:txBody>
          <a:bodyPr wrap="square" lIns="0" rIns="0" tIns="0" bIns="0" anchor="t">
            <a:noAutofit/>
          </a:bodyPr>
          <a:lstStyle/>
          <a:p>
            <a:pPr algn="l"/>
            <a:r>
              <a:rPr sz="1300" b="1" i="0">
                <a:solidFill>
                  <a:srgbClr val="2F78C4"/>
                </a:solidFill>
                <a:latin typeface="Arial"/>
              </a:rPr>
              <a:t>36  </a:t>
            </a:r>
            <a:r>
              <a:rPr sz="1300" b="1" i="0">
                <a:solidFill>
                  <a:srgbClr val="000048"/>
                </a:solidFill>
                <a:latin typeface="Arial"/>
              </a:rPr>
              <a:t>SEC2  </a:t>
            </a:r>
            <a:r>
              <a:rPr sz="1300" b="0" i="0">
                <a:solidFill>
                  <a:srgbClr val="1E1E2E"/>
                </a:solidFill>
                <a:latin typeface="Arial"/>
              </a:rPr>
              <a:t>Regulation and EU AI Act roles</a:t>
            </a:r>
          </a:p>
        </p:txBody>
      </p:sp>
      <p:sp>
        <p:nvSpPr>
          <p:cNvPr id="31" name="TextBox 30">
            <a:hlinkClick action="ppaction://hlinksldjump" r:id="rId28"/>
          </p:cNvPr>
          <p:cNvSpPr txBox="1"/>
          <p:nvPr/>
        </p:nvSpPr>
        <p:spPr>
          <a:xfrm>
            <a:off x="6217920" y="3375211"/>
            <a:ext cx="5486400" cy="279698"/>
          </a:xfrm>
          <a:prstGeom prst="rect">
            <a:avLst/>
          </a:prstGeom>
          <a:noFill/>
        </p:spPr>
        <p:txBody>
          <a:bodyPr wrap="square" lIns="0" rIns="0" tIns="0" bIns="0" anchor="t">
            <a:noAutofit/>
          </a:bodyPr>
          <a:lstStyle/>
          <a:p>
            <a:pPr algn="l"/>
            <a:r>
              <a:rPr sz="1300" b="1" i="0">
                <a:solidFill>
                  <a:srgbClr val="2F78C4"/>
                </a:solidFill>
                <a:latin typeface="Arial"/>
              </a:rPr>
              <a:t>37  </a:t>
            </a:r>
            <a:r>
              <a:rPr sz="1300" b="1" i="0">
                <a:solidFill>
                  <a:srgbClr val="000048"/>
                </a:solidFill>
                <a:latin typeface="Arial"/>
              </a:rPr>
              <a:t>G1  </a:t>
            </a:r>
            <a:r>
              <a:rPr sz="1300" b="0" i="0">
                <a:solidFill>
                  <a:srgbClr val="1E1E2E"/>
                </a:solidFill>
                <a:latin typeface="Arial"/>
              </a:rPr>
              <a:t>Glossary</a:t>
            </a:r>
          </a:p>
        </p:txBody>
      </p:sp>
      <p:sp>
        <p:nvSpPr>
          <p:cNvPr id="32" name="TextBox 31">
            <a:hlinkClick action="ppaction://hlinksldjump" r:id="rId29"/>
          </p:cNvPr>
          <p:cNvSpPr txBox="1"/>
          <p:nvPr/>
        </p:nvSpPr>
        <p:spPr>
          <a:xfrm>
            <a:off x="6217920" y="3654910"/>
            <a:ext cx="5486400" cy="279698"/>
          </a:xfrm>
          <a:prstGeom prst="rect">
            <a:avLst/>
          </a:prstGeom>
          <a:noFill/>
        </p:spPr>
        <p:txBody>
          <a:bodyPr wrap="square" lIns="0" rIns="0" tIns="0" bIns="0" anchor="t">
            <a:noAutofit/>
          </a:bodyPr>
          <a:lstStyle/>
          <a:p>
            <a:pPr algn="l"/>
            <a:r>
              <a:rPr sz="1300" b="1" i="0">
                <a:solidFill>
                  <a:srgbClr val="2F78C4"/>
                </a:solidFill>
                <a:latin typeface="Arial"/>
              </a:rPr>
              <a:t>38  </a:t>
            </a:r>
            <a:r>
              <a:rPr sz="1300" b="1" i="0">
                <a:solidFill>
                  <a:srgbClr val="000048"/>
                </a:solidFill>
                <a:latin typeface="Arial"/>
              </a:rPr>
              <a:t>DP1  </a:t>
            </a:r>
            <a:r>
              <a:rPr sz="1300" b="0" i="0">
                <a:solidFill>
                  <a:srgbClr val="1E1E2E"/>
                </a:solidFill>
                <a:latin typeface="Arial"/>
              </a:rPr>
              <a:t>Delivery bench and presales kit</a:t>
            </a:r>
          </a:p>
        </p:txBody>
      </p:sp>
      <p:sp>
        <p:nvSpPr>
          <p:cNvPr id="33" name="TextBox 32">
            <a:hlinkClick action="ppaction://hlinksldjump" r:id="rId30"/>
          </p:cNvPr>
          <p:cNvSpPr txBox="1"/>
          <p:nvPr/>
        </p:nvSpPr>
        <p:spPr>
          <a:xfrm>
            <a:off x="6217920" y="3934609"/>
            <a:ext cx="5486400" cy="279698"/>
          </a:xfrm>
          <a:prstGeom prst="rect">
            <a:avLst/>
          </a:prstGeom>
          <a:noFill/>
        </p:spPr>
        <p:txBody>
          <a:bodyPr wrap="square" lIns="0" rIns="0" tIns="0" bIns="0" anchor="t">
            <a:noAutofit/>
          </a:bodyPr>
          <a:lstStyle/>
          <a:p>
            <a:pPr algn="l"/>
            <a:r>
              <a:rPr sz="1300" b="1" i="0">
                <a:solidFill>
                  <a:srgbClr val="2F78C4"/>
                </a:solidFill>
                <a:latin typeface="Arial"/>
              </a:rPr>
              <a:t>39  </a:t>
            </a:r>
            <a:r>
              <a:rPr sz="1300" b="1" i="0">
                <a:solidFill>
                  <a:srgbClr val="000048"/>
                </a:solidFill>
                <a:latin typeface="Arial"/>
              </a:rPr>
              <a:t>AC1  </a:t>
            </a:r>
            <a:r>
              <a:rPr sz="1300" b="0" i="0">
                <a:solidFill>
                  <a:srgbClr val="1E1E2E"/>
                </a:solidFill>
                <a:latin typeface="Arial"/>
              </a:rPr>
              <a:t>Account play and contract risk</a:t>
            </a:r>
          </a:p>
        </p:txBody>
      </p:sp>
      <p:sp>
        <p:nvSpPr>
          <p:cNvPr id="34" name="TextBox 33">
            <a:hlinkClick action="ppaction://hlinksldjump" r:id="rId31"/>
          </p:cNvPr>
          <p:cNvSpPr txBox="1"/>
          <p:nvPr/>
        </p:nvSpPr>
        <p:spPr>
          <a:xfrm>
            <a:off x="6217920" y="4214308"/>
            <a:ext cx="5486400" cy="279698"/>
          </a:xfrm>
          <a:prstGeom prst="rect">
            <a:avLst/>
          </a:prstGeom>
          <a:noFill/>
        </p:spPr>
        <p:txBody>
          <a:bodyPr wrap="square" lIns="0" rIns="0" tIns="0" bIns="0" anchor="t">
            <a:noAutofit/>
          </a:bodyPr>
          <a:lstStyle/>
          <a:p>
            <a:pPr algn="l"/>
            <a:r>
              <a:rPr sz="1300" b="1" i="0">
                <a:solidFill>
                  <a:srgbClr val="2F78C4"/>
                </a:solidFill>
                <a:latin typeface="Arial"/>
              </a:rPr>
              <a:t>40  </a:t>
            </a:r>
            <a:r>
              <a:rPr sz="1300" b="1" i="0">
                <a:solidFill>
                  <a:srgbClr val="000048"/>
                </a:solidFill>
                <a:latin typeface="Arial"/>
              </a:rPr>
              <a:t>C1  </a:t>
            </a:r>
            <a:r>
              <a:rPr sz="1300" b="0" i="0">
                <a:solidFill>
                  <a:srgbClr val="1E1E2E"/>
                </a:solidFill>
                <a:latin typeface="Arial"/>
              </a:rPr>
              <a:t>Cost layers and pricing formula</a:t>
            </a:r>
          </a:p>
        </p:txBody>
      </p:sp>
      <p:sp>
        <p:nvSpPr>
          <p:cNvPr id="35" name="TextBox 34">
            <a:hlinkClick action="ppaction://hlinksldjump" r:id="rId32"/>
          </p:cNvPr>
          <p:cNvSpPr txBox="1"/>
          <p:nvPr/>
        </p:nvSpPr>
        <p:spPr>
          <a:xfrm>
            <a:off x="6217920" y="4494007"/>
            <a:ext cx="5486400" cy="279698"/>
          </a:xfrm>
          <a:prstGeom prst="rect">
            <a:avLst/>
          </a:prstGeom>
          <a:noFill/>
        </p:spPr>
        <p:txBody>
          <a:bodyPr wrap="square" lIns="0" rIns="0" tIns="0" bIns="0" anchor="t">
            <a:noAutofit/>
          </a:bodyPr>
          <a:lstStyle/>
          <a:p>
            <a:pPr algn="l"/>
            <a:r>
              <a:rPr sz="1300" b="1" i="0">
                <a:solidFill>
                  <a:srgbClr val="2F78C4"/>
                </a:solidFill>
                <a:latin typeface="Arial"/>
              </a:rPr>
              <a:t>41  </a:t>
            </a:r>
            <a:r>
              <a:rPr sz="1300" b="1" i="0">
                <a:solidFill>
                  <a:srgbClr val="000048"/>
                </a:solidFill>
                <a:latin typeface="Arial"/>
              </a:rPr>
              <a:t>R1  </a:t>
            </a:r>
            <a:r>
              <a:rPr sz="1300" b="0" i="0">
                <a:solidFill>
                  <a:srgbClr val="1E1E2E"/>
                </a:solidFill>
                <a:latin typeface="Arial"/>
              </a:rPr>
              <a:t>RACI matrix</a:t>
            </a:r>
          </a:p>
        </p:txBody>
      </p:sp>
      <p:sp>
        <p:nvSpPr>
          <p:cNvPr id="36" name="TextBox 35">
            <a:hlinkClick action="ppaction://hlinksldjump" r:id="rId33"/>
          </p:cNvPr>
          <p:cNvSpPr txBox="1"/>
          <p:nvPr/>
        </p:nvSpPr>
        <p:spPr>
          <a:xfrm>
            <a:off x="6217920" y="4773705"/>
            <a:ext cx="5486400" cy="279698"/>
          </a:xfrm>
          <a:prstGeom prst="rect">
            <a:avLst/>
          </a:prstGeom>
          <a:noFill/>
        </p:spPr>
        <p:txBody>
          <a:bodyPr wrap="square" lIns="0" rIns="0" tIns="0" bIns="0" anchor="t">
            <a:noAutofit/>
          </a:bodyPr>
          <a:lstStyle/>
          <a:p>
            <a:pPr algn="l"/>
            <a:r>
              <a:rPr sz="1300" b="1" i="0">
                <a:solidFill>
                  <a:srgbClr val="2F78C4"/>
                </a:solidFill>
                <a:latin typeface="Arial"/>
              </a:rPr>
              <a:t>42  </a:t>
            </a:r>
            <a:r>
              <a:rPr sz="1300" b="1" i="0">
                <a:solidFill>
                  <a:srgbClr val="000048"/>
                </a:solidFill>
                <a:latin typeface="Arial"/>
              </a:rPr>
              <a:t>R3  </a:t>
            </a:r>
            <a:r>
              <a:rPr sz="1300" b="0" i="0">
                <a:solidFill>
                  <a:srgbClr val="1E1E2E"/>
                </a:solidFill>
                <a:latin typeface="Arial"/>
              </a:rPr>
              <a:t>Delivery and commercial readiness</a:t>
            </a:r>
          </a:p>
        </p:txBody>
      </p:sp>
      <p:sp>
        <p:nvSpPr>
          <p:cNvPr id="37" name="TextBox 36">
            <a:hlinkClick action="ppaction://hlinksldjump" r:id="rId34"/>
          </p:cNvPr>
          <p:cNvSpPr txBox="1"/>
          <p:nvPr/>
        </p:nvSpPr>
        <p:spPr>
          <a:xfrm>
            <a:off x="6217920" y="5053404"/>
            <a:ext cx="5486400" cy="279698"/>
          </a:xfrm>
          <a:prstGeom prst="rect">
            <a:avLst/>
          </a:prstGeom>
          <a:noFill/>
        </p:spPr>
        <p:txBody>
          <a:bodyPr wrap="square" lIns="0" rIns="0" tIns="0" bIns="0" anchor="t">
            <a:noAutofit/>
          </a:bodyPr>
          <a:lstStyle/>
          <a:p>
            <a:pPr algn="l"/>
            <a:r>
              <a:rPr sz="1300" b="1" i="0">
                <a:solidFill>
                  <a:srgbClr val="2F78C4"/>
                </a:solidFill>
                <a:latin typeface="Arial"/>
              </a:rPr>
              <a:t>43  </a:t>
            </a:r>
            <a:r>
              <a:rPr sz="1300" b="1" i="0">
                <a:solidFill>
                  <a:srgbClr val="000048"/>
                </a:solidFill>
                <a:latin typeface="Arial"/>
              </a:rPr>
              <a:t>D1  </a:t>
            </a:r>
            <a:r>
              <a:rPr sz="1300" b="0" i="0">
                <a:solidFill>
                  <a:srgbClr val="1E1E2E"/>
                </a:solidFill>
                <a:latin typeface="Arial"/>
              </a:rPr>
              <a:t>Decision and approval register</a:t>
            </a:r>
          </a:p>
        </p:txBody>
      </p:sp>
      <p:sp>
        <p:nvSpPr>
          <p:cNvPr id="38" name="TextBox 37">
            <a:hlinkClick action="ppaction://hlinksldjump" r:id="rId35"/>
          </p:cNvPr>
          <p:cNvSpPr txBox="1"/>
          <p:nvPr/>
        </p:nvSpPr>
        <p:spPr>
          <a:xfrm>
            <a:off x="6217920" y="5333103"/>
            <a:ext cx="5486400" cy="279698"/>
          </a:xfrm>
          <a:prstGeom prst="rect">
            <a:avLst/>
          </a:prstGeom>
          <a:noFill/>
        </p:spPr>
        <p:txBody>
          <a:bodyPr wrap="square" lIns="0" rIns="0" tIns="0" bIns="0" anchor="t">
            <a:noAutofit/>
          </a:bodyPr>
          <a:lstStyle/>
          <a:p>
            <a:pPr algn="l"/>
            <a:r>
              <a:rPr sz="1300" b="1" i="0">
                <a:solidFill>
                  <a:srgbClr val="2F78C4"/>
                </a:solidFill>
                <a:latin typeface="Arial"/>
              </a:rPr>
              <a:t>44  </a:t>
            </a:r>
            <a:r>
              <a:rPr sz="1300" b="1" i="0">
                <a:solidFill>
                  <a:srgbClr val="000048"/>
                </a:solidFill>
                <a:latin typeface="Arial"/>
              </a:rPr>
              <a:t>S1  </a:t>
            </a:r>
            <a:r>
              <a:rPr sz="1300" b="0" i="0">
                <a:solidFill>
                  <a:srgbClr val="1E1E2E"/>
                </a:solidFill>
                <a:latin typeface="Arial"/>
              </a:rPr>
              <a:t>Sources and verification dates</a:t>
            </a:r>
          </a:p>
        </p:txBody>
      </p:sp>
      <p:sp>
        <p:nvSpPr>
          <p:cNvPr id="39" name="TextBox 38">
            <a:hlinkClick action="ppaction://hlinksldjump" r:id="rId36"/>
          </p:cNvPr>
          <p:cNvSpPr txBox="1"/>
          <p:nvPr/>
        </p:nvSpPr>
        <p:spPr>
          <a:xfrm>
            <a:off x="6217920" y="5612802"/>
            <a:ext cx="5486400" cy="279698"/>
          </a:xfrm>
          <a:prstGeom prst="rect">
            <a:avLst/>
          </a:prstGeom>
          <a:noFill/>
        </p:spPr>
        <p:txBody>
          <a:bodyPr wrap="square" lIns="0" rIns="0" tIns="0" bIns="0" anchor="t">
            <a:noAutofit/>
          </a:bodyPr>
          <a:lstStyle/>
          <a:p>
            <a:pPr algn="l"/>
            <a:r>
              <a:rPr sz="1300" b="1" i="0">
                <a:solidFill>
                  <a:srgbClr val="2F78C4"/>
                </a:solidFill>
                <a:latin typeface="Arial"/>
              </a:rPr>
              <a:t>45  </a:t>
            </a:r>
            <a:r>
              <a:rPr sz="1300" b="1" i="0">
                <a:solidFill>
                  <a:srgbClr val="000048"/>
                </a:solidFill>
                <a:latin typeface="Arial"/>
              </a:rPr>
              <a:t>S1b  </a:t>
            </a:r>
            <a:r>
              <a:rPr sz="1300" b="0" i="0">
                <a:solidFill>
                  <a:srgbClr val="1E1E2E"/>
                </a:solidFill>
                <a:latin typeface="Arial"/>
              </a:rPr>
              <a:t>Sources and verification dates (continued)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Service onboarding and readiness gates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9" name="Table"/>
          <p:cNvGraphicFramePr>
            <a:graphicFrameLocks noGrp="1"/>
          </p:cNvGraphicFramePr>
          <p:nvPr/>
        </p:nvGraphicFramePr>
        <p:xfrm>
          <a:off x="548640" y="1371600"/>
          <a:ext cx="11091672" cy="2819399"/>
        </p:xfrm>
        <a:graphic>
          <a:graphicData uri="http://schemas.openxmlformats.org/drawingml/2006/table">
            <a:tbl>
              <a:tblPr firstRow="1" bandRow="0">
                <a:tableStyleId>{5C22544A-7EE6-4342-B048-85BDC9FD1C3A}</a:tableStyleId>
              </a:tblPr>
              <a:tblGrid>
                <a:gridCol w="2560320"/>
                <a:gridCol w="5486400"/>
                <a:gridCol w="3044952"/>
              </a:tblGrid>
              <a:tr h="320040">
                <a:tc>
                  <a:txBody>
                    <a:bodyPr wrap="square" anchor="ctr">
                      <a:noAutofit/>
                    </a:bodyPr>
                    <a:lstStyle/>
                    <a:p>
                      <a:pPr algn="l"/>
                      <a:r>
                        <a:rPr sz="15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Evidence required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Owner</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Platform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Offering 01 gates passed or equivalent review</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Inventory complete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Assets and agents in scope listed, owners named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CIS Infra with agent owners</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Monitoring live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Alerts with owners and runbooks; telemetry healthy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Access in place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PIM roles, break-glass, service desk queues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with Security</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Tower agreements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Resolver, hours and escalation per tower</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r h="822959">
                <a:tc>
                  <a:txBody>
                    <a:bodyPr wrap="square" anchor="ctr">
                      <a:noAutofit/>
                    </a:bodyPr>
                    <a:lstStyle/>
                    <a:p>
                      <a:pPr algn="l"/>
                      <a:r>
                        <a:rPr sz="1600" b="1" i="0">
                          <a:solidFill>
                            <a:srgbClr val="1E1E2E"/>
                          </a:solidFill>
                          <a:latin typeface="Arial"/>
                        </a:rPr>
                        <a:t>Containment ready (only if in scope after 02 PoC)</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K4 drills passed in non-production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Security with CIS Infra</a:t>
                      </a:r>
                    </a:p>
                  </a:txBody>
                  <a:tcPr marL="73152" marR="73152" marT="36576" marB="36576" anchor="ctr">
                    <a:solidFill>
                      <a:srgbClr val="F5F5F2"/>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Platform health and dependency monitoring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3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9" name="Rounded Rectangle 8"/>
          <p:cNvSpPr/>
          <p:nvPr/>
        </p:nvSpPr>
        <p:spPr>
          <a:xfrm>
            <a:off x="502919"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2647" y="1380744"/>
            <a:ext cx="1746504" cy="237744"/>
          </a:xfrm>
          <a:prstGeom prst="rect">
            <a:avLst/>
          </a:prstGeom>
          <a:noFill/>
        </p:spPr>
        <p:txBody>
          <a:bodyPr wrap="square" lIns="0" rIns="0" tIns="0" bIns="0" anchor="t">
            <a:noAutofit/>
          </a:bodyPr>
          <a:lstStyle/>
          <a:p>
            <a:pPr algn="l"/>
            <a:r>
              <a:rPr sz="1200" b="1" i="0">
                <a:solidFill>
                  <a:srgbClr val="000048"/>
                </a:solidFill>
                <a:latin typeface="Arial"/>
              </a:rPr>
              <a:t>INGRESS</a:t>
            </a:r>
          </a:p>
        </p:txBody>
      </p:sp>
      <p:pic>
        <p:nvPicPr>
          <p:cNvPr id="11"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0080" y="1805940"/>
            <a:ext cx="365760" cy="365760"/>
          </a:xfrm>
          <a:prstGeom prst="rect">
            <a:avLst/>
          </a:prstGeom>
        </p:spPr>
      </p:pic>
      <p:sp>
        <p:nvSpPr>
          <p:cNvPr id="12" name="TextBox 11"/>
          <p:cNvSpPr txBox="1"/>
          <p:nvPr/>
        </p:nvSpPr>
        <p:spPr>
          <a:xfrm>
            <a:off x="10789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App Gateway WAF</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0080" y="2519172"/>
            <a:ext cx="365760" cy="365760"/>
          </a:xfrm>
          <a:prstGeom prst="rect">
            <a:avLst/>
          </a:prstGeom>
        </p:spPr>
      </p:pic>
      <p:sp>
        <p:nvSpPr>
          <p:cNvPr id="14" name="TextBox 13"/>
          <p:cNvSpPr txBox="1"/>
          <p:nvPr/>
        </p:nvSpPr>
        <p:spPr>
          <a:xfrm>
            <a:off x="10789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API Management</a:t>
            </a:r>
          </a:p>
        </p:txBody>
      </p:sp>
      <p:sp>
        <p:nvSpPr>
          <p:cNvPr id="15" name="Rounded Rectangle 14"/>
          <p:cNvSpPr/>
          <p:nvPr/>
        </p:nvSpPr>
        <p:spPr>
          <a:xfrm>
            <a:off x="25603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70048" y="1380744"/>
            <a:ext cx="1746504" cy="237744"/>
          </a:xfrm>
          <a:prstGeom prst="rect">
            <a:avLst/>
          </a:prstGeom>
          <a:noFill/>
        </p:spPr>
        <p:txBody>
          <a:bodyPr wrap="square" lIns="0" rIns="0" tIns="0" bIns="0" anchor="t">
            <a:noAutofit/>
          </a:bodyPr>
          <a:lstStyle/>
          <a:p>
            <a:pPr algn="l"/>
            <a:r>
              <a:rPr sz="1200" b="1" i="0">
                <a:solidFill>
                  <a:srgbClr val="000048"/>
                </a:solidFill>
                <a:latin typeface="Arial"/>
              </a:rPr>
              <a:t>RUNTIME</a:t>
            </a:r>
          </a:p>
        </p:txBody>
      </p:sp>
      <p:pic>
        <p:nvPicPr>
          <p:cNvPr id="17" name="Azure icon: App Services" descr="Official Azure icon: App Servic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97480" y="1805940"/>
            <a:ext cx="365760" cy="365760"/>
          </a:xfrm>
          <a:prstGeom prst="rect">
            <a:avLst/>
          </a:prstGeom>
        </p:spPr>
      </p:pic>
      <p:sp>
        <p:nvSpPr>
          <p:cNvPr id="18" name="TextBox 17"/>
          <p:cNvSpPr txBox="1"/>
          <p:nvPr/>
        </p:nvSpPr>
        <p:spPr>
          <a:xfrm>
            <a:off x="31363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App Service</a:t>
            </a:r>
          </a:p>
        </p:txBody>
      </p:sp>
      <p:pic>
        <p:nvPicPr>
          <p:cNvPr id="19" name="Azure icon: Foundry Agent Service" descr="Official Azure icon: Foundry Agent Service"/>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697480" y="2519172"/>
            <a:ext cx="365760" cy="365760"/>
          </a:xfrm>
          <a:prstGeom prst="rect">
            <a:avLst/>
          </a:prstGeom>
        </p:spPr>
      </p:pic>
      <p:sp>
        <p:nvSpPr>
          <p:cNvPr id="20" name="TextBox 19"/>
          <p:cNvSpPr txBox="1"/>
          <p:nvPr/>
        </p:nvSpPr>
        <p:spPr>
          <a:xfrm>
            <a:off x="31363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Agent Service</a:t>
            </a:r>
          </a:p>
        </p:txBody>
      </p:sp>
      <p:sp>
        <p:nvSpPr>
          <p:cNvPr id="21" name="Rounded Rectangle 20"/>
          <p:cNvSpPr/>
          <p:nvPr/>
        </p:nvSpPr>
        <p:spPr>
          <a:xfrm>
            <a:off x="46177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727448" y="1380744"/>
            <a:ext cx="1746504" cy="237744"/>
          </a:xfrm>
          <a:prstGeom prst="rect">
            <a:avLst/>
          </a:prstGeom>
          <a:noFill/>
        </p:spPr>
        <p:txBody>
          <a:bodyPr wrap="square" lIns="0" rIns="0" tIns="0" bIns="0" anchor="t">
            <a:noAutofit/>
          </a:bodyPr>
          <a:lstStyle/>
          <a:p>
            <a:pPr algn="l"/>
            <a:r>
              <a:rPr sz="1200" b="1" i="0">
                <a:solidFill>
                  <a:srgbClr val="000048"/>
                </a:solidFill>
                <a:latin typeface="Arial"/>
              </a:rPr>
              <a:t>MODELS AND DATA</a:t>
            </a:r>
          </a:p>
        </p:txBody>
      </p:sp>
      <p:pic>
        <p:nvPicPr>
          <p:cNvPr id="23"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54879" y="1805940"/>
            <a:ext cx="365760" cy="365760"/>
          </a:xfrm>
          <a:prstGeom prst="rect">
            <a:avLst/>
          </a:prstGeom>
        </p:spPr>
      </p:pic>
      <p:sp>
        <p:nvSpPr>
          <p:cNvPr id="24" name="TextBox 23"/>
          <p:cNvSpPr txBox="1"/>
          <p:nvPr/>
        </p:nvSpPr>
        <p:spPr>
          <a:xfrm>
            <a:off x="51937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Model deployments</a:t>
            </a:r>
          </a:p>
        </p:txBody>
      </p:sp>
      <p:pic>
        <p:nvPicPr>
          <p:cNvPr id="25" name="Azure icon: AI Search (Cognitive Search icon)" descr="Official Azure icon: AI Search (Cognitive Search icon)"/>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54879" y="2519172"/>
            <a:ext cx="365760" cy="365760"/>
          </a:xfrm>
          <a:prstGeom prst="rect">
            <a:avLst/>
          </a:prstGeom>
        </p:spPr>
      </p:pic>
      <p:sp>
        <p:nvSpPr>
          <p:cNvPr id="26" name="TextBox 25"/>
          <p:cNvSpPr txBox="1"/>
          <p:nvPr/>
        </p:nvSpPr>
        <p:spPr>
          <a:xfrm>
            <a:off x="51937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AI Search</a:t>
            </a:r>
          </a:p>
        </p:txBody>
      </p:sp>
      <p:pic>
        <p:nvPicPr>
          <p:cNvPr id="27" name="Azure icon: Azure Cosmos DB" descr="Official Azure icon: Azure Cosmos DB"/>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754879" y="3232404"/>
            <a:ext cx="365760" cy="365760"/>
          </a:xfrm>
          <a:prstGeom prst="rect">
            <a:avLst/>
          </a:prstGeom>
        </p:spPr>
      </p:pic>
      <p:sp>
        <p:nvSpPr>
          <p:cNvPr id="28" name="TextBox 27"/>
          <p:cNvSpPr txBox="1"/>
          <p:nvPr/>
        </p:nvSpPr>
        <p:spPr>
          <a:xfrm>
            <a:off x="5193792" y="3154680"/>
            <a:ext cx="1280160" cy="521208"/>
          </a:xfrm>
          <a:prstGeom prst="rect">
            <a:avLst/>
          </a:prstGeom>
          <a:noFill/>
        </p:spPr>
        <p:txBody>
          <a:bodyPr wrap="square" lIns="0" rIns="0" tIns="0" bIns="0" anchor="ctr">
            <a:noAutofit/>
          </a:bodyPr>
          <a:lstStyle/>
          <a:p>
            <a:pPr algn="l"/>
            <a:r>
              <a:rPr sz="1200" b="1" i="0">
                <a:solidFill>
                  <a:srgbClr val="000048"/>
                </a:solidFill>
                <a:latin typeface="Arial"/>
              </a:rPr>
              <a:t>Cosmos DB</a:t>
            </a:r>
          </a:p>
        </p:txBody>
      </p:sp>
      <p:pic>
        <p:nvPicPr>
          <p:cNvPr id="29" name="Azure icon: Storage account" descr="Official Azure icon: Storage account"/>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754879" y="3945635"/>
            <a:ext cx="365760" cy="365760"/>
          </a:xfrm>
          <a:prstGeom prst="rect">
            <a:avLst/>
          </a:prstGeom>
        </p:spPr>
      </p:pic>
      <p:sp>
        <p:nvSpPr>
          <p:cNvPr id="30" name="TextBox 29"/>
          <p:cNvSpPr txBox="1"/>
          <p:nvPr/>
        </p:nvSpPr>
        <p:spPr>
          <a:xfrm>
            <a:off x="5193792" y="3867911"/>
            <a:ext cx="1280160" cy="521208"/>
          </a:xfrm>
          <a:prstGeom prst="rect">
            <a:avLst/>
          </a:prstGeom>
          <a:noFill/>
        </p:spPr>
        <p:txBody>
          <a:bodyPr wrap="square" lIns="0" rIns="0" tIns="0" bIns="0" anchor="ctr">
            <a:noAutofit/>
          </a:bodyPr>
          <a:lstStyle/>
          <a:p>
            <a:pPr algn="l"/>
            <a:r>
              <a:rPr sz="1200" b="1" i="0">
                <a:solidFill>
                  <a:srgbClr val="000048"/>
                </a:solidFill>
                <a:latin typeface="Arial"/>
              </a:rPr>
              <a:t>Storage account</a:t>
            </a:r>
          </a:p>
        </p:txBody>
      </p:sp>
      <p:sp>
        <p:nvSpPr>
          <p:cNvPr id="31" name="Rounded Rectangle 30"/>
          <p:cNvSpPr/>
          <p:nvPr/>
        </p:nvSpPr>
        <p:spPr>
          <a:xfrm>
            <a:off x="6675120" y="1325880"/>
            <a:ext cx="1965960" cy="3246120"/>
          </a:xfrm>
          <a:prstGeom prst="roundRect">
            <a:avLst>
              <a:gd name="adj" fmla="val 46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84848" y="1380744"/>
            <a:ext cx="1746504" cy="237744"/>
          </a:xfrm>
          <a:prstGeom prst="rect">
            <a:avLst/>
          </a:prstGeom>
          <a:noFill/>
        </p:spPr>
        <p:txBody>
          <a:bodyPr wrap="square" lIns="0" rIns="0" tIns="0" bIns="0" anchor="t">
            <a:noAutofit/>
          </a:bodyPr>
          <a:lstStyle/>
          <a:p>
            <a:pPr algn="l"/>
            <a:r>
              <a:rPr sz="1200" b="1" i="0">
                <a:solidFill>
                  <a:srgbClr val="000048"/>
                </a:solidFill>
                <a:latin typeface="Arial"/>
              </a:rPr>
              <a:t>NETWORK</a:t>
            </a:r>
          </a:p>
        </p:txBody>
      </p:sp>
      <p:pic>
        <p:nvPicPr>
          <p:cNvPr id="33" name="Azure icon: Private Endpoints" descr="Official Azure icon: Private Endpoint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812279" y="1805940"/>
            <a:ext cx="365760" cy="365760"/>
          </a:xfrm>
          <a:prstGeom prst="rect">
            <a:avLst/>
          </a:prstGeom>
        </p:spPr>
      </p:pic>
      <p:sp>
        <p:nvSpPr>
          <p:cNvPr id="34" name="TextBox 33"/>
          <p:cNvSpPr txBox="1"/>
          <p:nvPr/>
        </p:nvSpPr>
        <p:spPr>
          <a:xfrm>
            <a:off x="7251192" y="1728216"/>
            <a:ext cx="1280160" cy="521208"/>
          </a:xfrm>
          <a:prstGeom prst="rect">
            <a:avLst/>
          </a:prstGeom>
          <a:noFill/>
        </p:spPr>
        <p:txBody>
          <a:bodyPr wrap="square" lIns="0" rIns="0" tIns="0" bIns="0" anchor="ctr">
            <a:noAutofit/>
          </a:bodyPr>
          <a:lstStyle/>
          <a:p>
            <a:pPr algn="l"/>
            <a:r>
              <a:rPr sz="1200" b="1" i="0">
                <a:solidFill>
                  <a:srgbClr val="000048"/>
                </a:solidFill>
                <a:latin typeface="Arial"/>
              </a:rPr>
              <a:t>Private endpoints</a:t>
            </a:r>
          </a:p>
        </p:txBody>
      </p:sp>
      <p:pic>
        <p:nvPicPr>
          <p:cNvPr id="35" name="Azure icon: DNS Private Resolver" descr="Official Azure icon: DNS Private Resolve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812279" y="2519172"/>
            <a:ext cx="365760" cy="365760"/>
          </a:xfrm>
          <a:prstGeom prst="rect">
            <a:avLst/>
          </a:prstGeom>
        </p:spPr>
      </p:pic>
      <p:sp>
        <p:nvSpPr>
          <p:cNvPr id="36" name="TextBox 35"/>
          <p:cNvSpPr txBox="1"/>
          <p:nvPr/>
        </p:nvSpPr>
        <p:spPr>
          <a:xfrm>
            <a:off x="7251192" y="2441448"/>
            <a:ext cx="1280160" cy="521208"/>
          </a:xfrm>
          <a:prstGeom prst="rect">
            <a:avLst/>
          </a:prstGeom>
          <a:noFill/>
        </p:spPr>
        <p:txBody>
          <a:bodyPr wrap="square" lIns="0" rIns="0" tIns="0" bIns="0" anchor="ctr">
            <a:noAutofit/>
          </a:bodyPr>
          <a:lstStyle/>
          <a:p>
            <a:pPr algn="l"/>
            <a:r>
              <a:rPr sz="1200" b="1" i="0">
                <a:solidFill>
                  <a:srgbClr val="000048"/>
                </a:solidFill>
                <a:latin typeface="Arial"/>
              </a:rPr>
              <a:t>DNS resolver</a:t>
            </a:r>
          </a:p>
        </p:txBody>
      </p:sp>
      <p:pic>
        <p:nvPicPr>
          <p:cNvPr id="37" name="Azure icon: Firewalls" descr="Official Azure icon: Firewall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812279" y="3232404"/>
            <a:ext cx="365760" cy="365760"/>
          </a:xfrm>
          <a:prstGeom prst="rect">
            <a:avLst/>
          </a:prstGeom>
        </p:spPr>
      </p:pic>
      <p:sp>
        <p:nvSpPr>
          <p:cNvPr id="38" name="TextBox 37"/>
          <p:cNvSpPr txBox="1"/>
          <p:nvPr/>
        </p:nvSpPr>
        <p:spPr>
          <a:xfrm>
            <a:off x="7251192" y="3154680"/>
            <a:ext cx="1280160" cy="521208"/>
          </a:xfrm>
          <a:prstGeom prst="rect">
            <a:avLst/>
          </a:prstGeom>
          <a:noFill/>
        </p:spPr>
        <p:txBody>
          <a:bodyPr wrap="square" lIns="0" rIns="0" tIns="0" bIns="0" anchor="ctr">
            <a:noAutofit/>
          </a:bodyPr>
          <a:lstStyle/>
          <a:p>
            <a:pPr algn="l"/>
            <a:r>
              <a:rPr sz="1200" b="1" i="0">
                <a:solidFill>
                  <a:srgbClr val="000048"/>
                </a:solidFill>
                <a:latin typeface="Arial"/>
              </a:rPr>
              <a:t>Firewall</a:t>
            </a:r>
          </a:p>
        </p:txBody>
      </p:sp>
      <p:sp>
        <p:nvSpPr>
          <p:cNvPr id="39" name="Rounded Rectangle 38"/>
          <p:cNvSpPr/>
          <p:nvPr/>
        </p:nvSpPr>
        <p:spPr>
          <a:xfrm>
            <a:off x="8915400" y="146304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0" name="Azure icon: Azure Monitor" descr="Official Azure icon: Azure Monito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988552" y="1623060"/>
            <a:ext cx="411480" cy="411480"/>
          </a:xfrm>
          <a:prstGeom prst="rect">
            <a:avLst/>
          </a:prstGeom>
        </p:spPr>
      </p:pic>
      <p:sp>
        <p:nvSpPr>
          <p:cNvPr id="41" name="TextBox 40"/>
          <p:cNvSpPr txBox="1"/>
          <p:nvPr/>
        </p:nvSpPr>
        <p:spPr>
          <a:xfrm>
            <a:off x="9473184" y="1499616"/>
            <a:ext cx="2148839" cy="658368"/>
          </a:xfrm>
          <a:prstGeom prst="rect">
            <a:avLst/>
          </a:prstGeom>
          <a:noFill/>
        </p:spPr>
        <p:txBody>
          <a:bodyPr wrap="square" lIns="0" rIns="0" tIns="0" bIns="0" anchor="ctr">
            <a:noAutofit/>
          </a:bodyPr>
          <a:lstStyle/>
          <a:p>
            <a:pPr algn="l"/>
            <a:r>
              <a:rPr sz="1300" b="1" i="0">
                <a:solidFill>
                  <a:srgbClr val="000048"/>
                </a:solidFill>
                <a:latin typeface="Arial"/>
              </a:rPr>
              <a:t>Azure Monitor</a:t>
            </a:r>
          </a:p>
          <a:p>
            <a:pPr algn="l"/>
            <a:r>
              <a:rPr sz="1200" b="0" i="0">
                <a:solidFill>
                  <a:srgbClr val="53565A"/>
                </a:solidFill>
                <a:latin typeface="Arial"/>
              </a:rPr>
              <a:t>metrics, alert rules</a:t>
            </a:r>
          </a:p>
        </p:txBody>
      </p:sp>
      <p:sp>
        <p:nvSpPr>
          <p:cNvPr id="42" name="Rounded Rectangle 41"/>
          <p:cNvSpPr/>
          <p:nvPr/>
        </p:nvSpPr>
        <p:spPr>
          <a:xfrm>
            <a:off x="8915400" y="233172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3" name="Azure icon: Service Health" descr="Official Azure icon: Service Health"/>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8988552" y="2491739"/>
            <a:ext cx="411480" cy="411480"/>
          </a:xfrm>
          <a:prstGeom prst="rect">
            <a:avLst/>
          </a:prstGeom>
        </p:spPr>
      </p:pic>
      <p:sp>
        <p:nvSpPr>
          <p:cNvPr id="44" name="TextBox 43"/>
          <p:cNvSpPr txBox="1"/>
          <p:nvPr/>
        </p:nvSpPr>
        <p:spPr>
          <a:xfrm>
            <a:off x="9473184" y="2368296"/>
            <a:ext cx="2148839" cy="658368"/>
          </a:xfrm>
          <a:prstGeom prst="rect">
            <a:avLst/>
          </a:prstGeom>
          <a:noFill/>
        </p:spPr>
        <p:txBody>
          <a:bodyPr wrap="square" lIns="0" rIns="0" tIns="0" bIns="0" anchor="ctr">
            <a:noAutofit/>
          </a:bodyPr>
          <a:lstStyle/>
          <a:p>
            <a:pPr algn="l"/>
            <a:r>
              <a:rPr sz="1300" b="1" i="0">
                <a:solidFill>
                  <a:srgbClr val="000048"/>
                </a:solidFill>
                <a:latin typeface="Arial"/>
              </a:rPr>
              <a:t>Service Health</a:t>
            </a:r>
          </a:p>
          <a:p>
            <a:pPr algn="l"/>
            <a:r>
              <a:rPr sz="1200" b="0" i="0">
                <a:solidFill>
                  <a:srgbClr val="53565A"/>
                </a:solidFill>
                <a:latin typeface="Arial"/>
              </a:rPr>
              <a:t>Azure incidents, maintenance</a:t>
            </a:r>
          </a:p>
        </p:txBody>
      </p:sp>
      <p:sp>
        <p:nvSpPr>
          <p:cNvPr id="45" name="Rounded Rectangle 44"/>
          <p:cNvSpPr/>
          <p:nvPr/>
        </p:nvSpPr>
        <p:spPr>
          <a:xfrm>
            <a:off x="8915400" y="3200400"/>
            <a:ext cx="27432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46" name="Azure icon: Application Insights" descr="Official Azure icon: Application Insights"/>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8988552" y="3360420"/>
            <a:ext cx="411480" cy="411480"/>
          </a:xfrm>
          <a:prstGeom prst="rect">
            <a:avLst/>
          </a:prstGeom>
        </p:spPr>
      </p:pic>
      <p:sp>
        <p:nvSpPr>
          <p:cNvPr id="47" name="TextBox 46"/>
          <p:cNvSpPr txBox="1"/>
          <p:nvPr/>
        </p:nvSpPr>
        <p:spPr>
          <a:xfrm>
            <a:off x="9473184" y="3236976"/>
            <a:ext cx="2148839" cy="658368"/>
          </a:xfrm>
          <a:prstGeom prst="rect">
            <a:avLst/>
          </a:prstGeom>
          <a:noFill/>
        </p:spPr>
        <p:txBody>
          <a:bodyPr wrap="square" lIns="0" rIns="0" tIns="0" bIns="0" anchor="ctr">
            <a:noAutofit/>
          </a:bodyPr>
          <a:lstStyle/>
          <a:p>
            <a:pPr algn="l"/>
            <a:r>
              <a:rPr sz="1300" b="1" i="0">
                <a:solidFill>
                  <a:srgbClr val="000048"/>
                </a:solidFill>
                <a:latin typeface="Arial"/>
              </a:rPr>
              <a:t>Availability tests</a:t>
            </a:r>
          </a:p>
          <a:p>
            <a:pPr algn="l"/>
            <a:r>
              <a:rPr sz="1200" b="0" i="0">
                <a:solidFill>
                  <a:srgbClr val="53565A"/>
                </a:solidFill>
                <a:latin typeface="Arial"/>
              </a:rPr>
              <a:t>App Insights, end-to-end path</a:t>
            </a:r>
          </a:p>
        </p:txBody>
      </p:sp>
      <p:cxnSp>
        <p:nvCxnSpPr>
          <p:cNvPr id="48" name="Connector (telemetry)"/>
          <p:cNvCxnSpPr/>
          <p:nvPr/>
        </p:nvCxnSpPr>
        <p:spPr>
          <a:xfrm flipV="1">
            <a:off x="8595360" y="1828800"/>
            <a:ext cx="320040" cy="9144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telemetry)"/>
          <p:cNvCxnSpPr/>
          <p:nvPr/>
        </p:nvCxnSpPr>
        <p:spPr>
          <a:xfrm>
            <a:off x="8595360" y="2743200"/>
            <a:ext cx="320040" cy="8229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50" name="Table"/>
          <p:cNvGraphicFramePr>
            <a:graphicFrameLocks noGrp="1"/>
          </p:cNvGraphicFramePr>
          <p:nvPr/>
        </p:nvGraphicFramePr>
        <p:xfrm>
          <a:off x="548640" y="4709160"/>
          <a:ext cx="11091672" cy="1158240"/>
        </p:xfrm>
        <a:graphic>
          <a:graphicData uri="http://schemas.openxmlformats.org/drawingml/2006/table">
            <a:tbl>
              <a:tblPr firstRow="1" bandRow="0">
                <a:tableStyleId>{5C22544A-7EE6-4342-B048-85BDC9FD1C3A}</a:tableStyleId>
              </a:tblPr>
              <a:tblGrid>
                <a:gridCol w="2377440"/>
                <a:gridCol w="5486400"/>
                <a:gridCol w="3227832"/>
              </a:tblGrid>
              <a:tr h="289560">
                <a:tc>
                  <a:txBody>
                    <a:bodyPr wrap="square" anchor="ctr">
                      <a:noAutofit/>
                    </a:bodyPr>
                    <a:lstStyle/>
                    <a:p>
                      <a:pPr algn="l"/>
                      <a:r>
                        <a:rPr sz="1300" b="1" i="0">
                          <a:solidFill>
                            <a:srgbClr val="FFFFFF"/>
                          </a:solidFill>
                          <a:latin typeface="Arial"/>
                        </a:rPr>
                        <a:t>Signal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 alert (proposed)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Model deployment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429 rate or latency above agreed level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AI informed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Private DNS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Resolution failures for private endpoints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Gateway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Backend circuit open; capacity units saturated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observability and agent traces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graphicFrame>
        <p:nvGraphicFramePr>
          <p:cNvPr id="9" name="Table"/>
          <p:cNvGraphicFramePr>
            <a:graphicFrameLocks noGrp="1"/>
          </p:cNvGraphicFramePr>
          <p:nvPr/>
        </p:nvGraphicFramePr>
        <p:xfrm>
          <a:off x="548640" y="1371600"/>
          <a:ext cx="11091672" cy="2606040"/>
        </p:xfrm>
        <a:graphic>
          <a:graphicData uri="http://schemas.openxmlformats.org/drawingml/2006/table">
            <a:tbl>
              <a:tblPr firstRow="1" bandRow="0">
                <a:tableStyleId>{5C22544A-7EE6-4342-B048-85BDC9FD1C3A}</a:tableStyleId>
              </a:tblPr>
              <a:tblGrid>
                <a:gridCol w="3291840"/>
                <a:gridCol w="4206240"/>
                <a:gridCol w="3593592"/>
              </a:tblGrid>
              <a:tr h="320040">
                <a:tc>
                  <a:txBody>
                    <a:bodyPr wrap="square" anchor="ctr">
                      <a:noAutofit/>
                    </a:bodyPr>
                    <a:lstStyle/>
                    <a:p>
                      <a:pPr algn="l"/>
                      <a:r>
                        <a:rPr sz="1500" b="1" i="0">
                          <a:solidFill>
                            <a:srgbClr val="FFFFFF"/>
                          </a:solidFill>
                          <a:latin typeface="Arial"/>
                        </a:rPr>
                        <a:t>Integration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What it gives operations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Limit</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Application Insights per Foundry project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Runs, errors, traces, tokens per agent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Only after configuration; up to 15 min delay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Log Analytics workspace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Platform and gateway logs, KQL alerts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Ingestion cost; retention to agree</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Foundry Control Plane inventory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Agent list with runs and errors (last month)</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Supported platforms only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Correlation IDs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Join gateway call, agent run and tool call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Needs agent ID in every hop</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Payload logging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Debugging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Redact; restrict access; short retention</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Alert ownership and service desk integration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9" name="Table"/>
          <p:cNvGraphicFramePr>
            <a:graphicFrameLocks noGrp="1"/>
          </p:cNvGraphicFramePr>
          <p:nvPr/>
        </p:nvGraphicFramePr>
        <p:xfrm>
          <a:off x="548640" y="1371600"/>
          <a:ext cx="11091671" cy="3154680"/>
        </p:xfrm>
        <a:graphic>
          <a:graphicData uri="http://schemas.openxmlformats.org/drawingml/2006/table">
            <a:tbl>
              <a:tblPr firstRow="1" bandRow="0">
                <a:tableStyleId>{5C22544A-7EE6-4342-B048-85BDC9FD1C3A}</a:tableStyleId>
              </a:tblPr>
              <a:tblGrid>
                <a:gridCol w="3749039"/>
                <a:gridCol w="2834640"/>
                <a:gridCol w="4507992"/>
              </a:tblGrid>
              <a:tr h="320040">
                <a:tc>
                  <a:txBody>
                    <a:bodyPr wrap="square" anchor="ctr">
                      <a:noAutofit/>
                    </a:bodyPr>
                    <a:lstStyle/>
                    <a:p>
                      <a:pPr algn="l"/>
                      <a:r>
                        <a:rPr sz="1500" b="1" i="0">
                          <a:solidFill>
                            <a:srgbClr val="FFFFFF"/>
                          </a:solidFill>
                          <a:latin typeface="Arial"/>
                        </a:rPr>
                        <a:t>Incident or change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Primary resolver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Supporting dependency</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DNS, network, endpoint or resource health</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Security for control changes; AI for runtime limits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Failed pipeline or infrastructure release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DevOps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 for configuration; Security for controls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Stale index or failed ingestion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Data Engineering</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Data owner for source quality and access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Poor answer or unauthorised agent action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Security and Data Engineering as relevant</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Security event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Contracted security resolver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 and workload owners contain allocated parts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Unexpected spend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 coordinates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AI explains usage; towers fix causes</a:t>
                      </a:r>
                    </a:p>
                  </a:txBody>
                  <a:tcPr marL="73152" marR="73152" marT="36576" marB="36576" anchor="ctr">
                    <a:solidFill>
                      <a:srgbClr val="F5F5F2"/>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Incident, problem and change management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sp>
        <p:nvSpPr>
          <p:cNvPr id="8" name="Rounded Rectangle 7"/>
          <p:cNvSpPr/>
          <p:nvPr/>
        </p:nvSpPr>
        <p:spPr>
          <a:xfrm>
            <a:off x="548640" y="137160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Incident</a:t>
            </a:r>
          </a:p>
        </p:txBody>
      </p:sp>
      <p:sp>
        <p:nvSpPr>
          <p:cNvPr id="9" name="Rounded Rectangle 8"/>
          <p:cNvSpPr/>
          <p:nvPr/>
        </p:nvSpPr>
        <p:spPr>
          <a:xfrm>
            <a:off x="548640" y="210312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1  Single entry point</a:t>
            </a:r>
          </a:p>
        </p:txBody>
      </p:sp>
      <p:sp>
        <p:nvSpPr>
          <p:cNvPr id="10" name="Rounded Rectangle 9"/>
          <p:cNvSpPr/>
          <p:nvPr/>
        </p:nvSpPr>
        <p:spPr>
          <a:xfrm>
            <a:off x="548640" y="288036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2  Lane triage</a:t>
            </a:r>
          </a:p>
        </p:txBody>
      </p:sp>
      <p:sp>
        <p:nvSpPr>
          <p:cNvPr id="11" name="Rounded Rectangle 10"/>
          <p:cNvSpPr/>
          <p:nvPr/>
        </p:nvSpPr>
        <p:spPr>
          <a:xfrm>
            <a:off x="548640" y="365760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3  Resolver works, updates</a:t>
            </a:r>
          </a:p>
        </p:txBody>
      </p:sp>
      <p:sp>
        <p:nvSpPr>
          <p:cNvPr id="12" name="Rounded Rectangle 11"/>
          <p:cNvSpPr/>
          <p:nvPr/>
        </p:nvSpPr>
        <p:spPr>
          <a:xfrm>
            <a:off x="548640" y="443484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4  Close with cause</a:t>
            </a:r>
          </a:p>
        </p:txBody>
      </p:sp>
      <p:sp>
        <p:nvSpPr>
          <p:cNvPr id="13" name="Rounded Rectangle 12"/>
          <p:cNvSpPr/>
          <p:nvPr/>
        </p:nvSpPr>
        <p:spPr>
          <a:xfrm>
            <a:off x="4297679" y="137160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Problem</a:t>
            </a:r>
          </a:p>
        </p:txBody>
      </p:sp>
      <p:sp>
        <p:nvSpPr>
          <p:cNvPr id="14" name="Rounded Rectangle 13"/>
          <p:cNvSpPr/>
          <p:nvPr/>
        </p:nvSpPr>
        <p:spPr>
          <a:xfrm>
            <a:off x="4297679" y="210312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1  Recurring incident trend</a:t>
            </a:r>
          </a:p>
        </p:txBody>
      </p:sp>
      <p:sp>
        <p:nvSpPr>
          <p:cNvPr id="15" name="Rounded Rectangle 14"/>
          <p:cNvSpPr/>
          <p:nvPr/>
        </p:nvSpPr>
        <p:spPr>
          <a:xfrm>
            <a:off x="4297679" y="288036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2  Root cause analysis</a:t>
            </a:r>
          </a:p>
        </p:txBody>
      </p:sp>
      <p:sp>
        <p:nvSpPr>
          <p:cNvPr id="16" name="Rounded Rectangle 15"/>
          <p:cNvSpPr/>
          <p:nvPr/>
        </p:nvSpPr>
        <p:spPr>
          <a:xfrm>
            <a:off x="4297679" y="365760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3  Fix through change</a:t>
            </a:r>
          </a:p>
        </p:txBody>
      </p:sp>
      <p:sp>
        <p:nvSpPr>
          <p:cNvPr id="17" name="Rounded Rectangle 16"/>
          <p:cNvSpPr/>
          <p:nvPr/>
        </p:nvSpPr>
        <p:spPr>
          <a:xfrm>
            <a:off x="4297679" y="443484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4  Review monthly</a:t>
            </a:r>
          </a:p>
        </p:txBody>
      </p:sp>
      <p:sp>
        <p:nvSpPr>
          <p:cNvPr id="18" name="Rounded Rectangle 17"/>
          <p:cNvSpPr/>
          <p:nvPr/>
        </p:nvSpPr>
        <p:spPr>
          <a:xfrm>
            <a:off x="8046719" y="1371600"/>
            <a:ext cx="3593592" cy="594360"/>
          </a:xfrm>
          <a:prstGeom prst="roundRect">
            <a:avLst>
              <a:gd name="adj" fmla="val 12307"/>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2000" b="1" i="0">
                <a:solidFill>
                  <a:srgbClr val="FFFFFF"/>
                </a:solidFill>
                <a:latin typeface="Arial"/>
              </a:rPr>
              <a:t>Change</a:t>
            </a:r>
          </a:p>
        </p:txBody>
      </p:sp>
      <p:sp>
        <p:nvSpPr>
          <p:cNvPr id="19" name="Rounded Rectangle 18"/>
          <p:cNvSpPr/>
          <p:nvPr/>
        </p:nvSpPr>
        <p:spPr>
          <a:xfrm>
            <a:off x="8046719" y="210312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1  Request with risk class</a:t>
            </a:r>
          </a:p>
        </p:txBody>
      </p:sp>
      <p:sp>
        <p:nvSpPr>
          <p:cNvPr id="20" name="Rounded Rectangle 19"/>
          <p:cNvSpPr/>
          <p:nvPr/>
        </p:nvSpPr>
        <p:spPr>
          <a:xfrm>
            <a:off x="8046719" y="288036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2  Pipeline-only to production</a:t>
            </a:r>
          </a:p>
        </p:txBody>
      </p:sp>
      <p:sp>
        <p:nvSpPr>
          <p:cNvPr id="21" name="Rounded Rectangle 20"/>
          <p:cNvSpPr/>
          <p:nvPr/>
        </p:nvSpPr>
        <p:spPr>
          <a:xfrm>
            <a:off x="8046719" y="365760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3  Approval by customer authority</a:t>
            </a:r>
          </a:p>
        </p:txBody>
      </p:sp>
      <p:sp>
        <p:nvSpPr>
          <p:cNvPr id="22" name="Rounded Rectangle 21"/>
          <p:cNvSpPr/>
          <p:nvPr/>
        </p:nvSpPr>
        <p:spPr>
          <a:xfrm>
            <a:off x="8046719" y="4434840"/>
            <a:ext cx="3593592" cy="640080"/>
          </a:xfrm>
          <a:prstGeom prst="roundRect">
            <a:avLst>
              <a:gd name="adj" fmla="val 1142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4  Rollback tested</a:t>
            </a:r>
          </a:p>
        </p:txBody>
      </p:sp>
      <p:sp>
        <p:nvSpPr>
          <p:cNvPr id="23" name="Rounded Rectangle 22"/>
          <p:cNvSpPr/>
          <p:nvPr/>
        </p:nvSpPr>
        <p:spPr>
          <a:xfrm>
            <a:off x="548640" y="539496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Model, prompt and agent changes follow the AI tower change path; platform changes follow CIS Infra’s.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Lane boundaries in detail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71600"/>
          <a:ext cx="11091672" cy="2606040"/>
        </p:xfrm>
        <a:graphic>
          <a:graphicData uri="http://schemas.openxmlformats.org/drawingml/2006/table">
            <a:tbl>
              <a:tblPr firstRow="1" bandRow="0">
                <a:tableStyleId>{5C22544A-7EE6-4342-B048-85BDC9FD1C3A}</a:tableStyleId>
              </a:tblPr>
              <a:tblGrid>
                <a:gridCol w="2468880"/>
                <a:gridCol w="2834640"/>
                <a:gridCol w="2834640"/>
                <a:gridCol w="2953512"/>
              </a:tblGrid>
              <a:tr h="320040">
                <a:tc>
                  <a:txBody>
                    <a:bodyPr wrap="square" anchor="ctr">
                      <a:noAutofit/>
                    </a:bodyPr>
                    <a:lstStyle/>
                    <a:p>
                      <a:pPr algn="l"/>
                      <a:r>
                        <a:rPr sz="1500" b="1" i="0">
                          <a:solidFill>
                            <a:srgbClr val="FFFFFF"/>
                          </a:solidFill>
                          <a:latin typeface="Arial"/>
                        </a:rPr>
                        <a:t>Aspect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Platform availability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Agent task quality</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Security incidents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Accountable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AI tower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Contracted security resolver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Typical signal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Health alert, 5xx, DNS failure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Evaluation drop, user complaint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Defender alert, abuse report</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Measure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Availability, response, change success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Task success, escalation rate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security service terms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CIS Infra role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Resolve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Provide telemetry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Contain allocated components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Out of scope for 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Prompt, model, evaluation fixes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Forensics, notification</a:t>
                      </a:r>
                    </a:p>
                  </a:txBody>
                  <a:tcPr marL="73152" marR="73152" marT="36576" marB="36576"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Operates the containment design built and proven in offering 02</a:t>
            </a:r>
          </a:p>
          <a:p>
            <a:pPr algn="l" marL="201168" indent="-201168">
              <a:spcAft>
                <a:spcPts val="600"/>
              </a:spcAft>
              <a:buFont typeface="Arial"/>
              <a:buChar char="•"/>
            </a:pPr>
            <a:r>
              <a:rPr sz="1800" b="0" i="0">
                <a:solidFill>
                  <a:srgbClr val="1E1E2E"/>
                </a:solidFill>
                <a:latin typeface="Arial"/>
              </a:rPr>
              <a:t>Runs quarterly drills and keeps the runbook current</a:t>
            </a:r>
          </a:p>
          <a:p>
            <a:pPr algn="l" marL="201168" indent="-201168">
              <a:spcAft>
                <a:spcPts val="600"/>
              </a:spcAft>
              <a:buFont typeface="Arial"/>
              <a:buChar char="•"/>
            </a:pPr>
            <a:r>
              <a:rPr sz="1800" b="0" i="0">
                <a:solidFill>
                  <a:srgbClr val="1E1E2E"/>
                </a:solidFill>
                <a:latin typeface="Arial"/>
              </a:rPr>
              <a:t>Executes containment on platform layers when Security directs it</a:t>
            </a:r>
          </a:p>
          <a:p>
            <a:pPr algn="l" marL="201168" indent="-201168">
              <a:spcAft>
                <a:spcPts val="600"/>
              </a:spcAft>
              <a:buFont typeface="Arial"/>
              <a:buChar char="•"/>
            </a:pPr>
            <a:r>
              <a:rPr sz="1800" b="0" i="0">
                <a:solidFill>
                  <a:srgbClr val="1E1E2E"/>
                </a:solidFill>
                <a:latin typeface="Arial"/>
              </a:rPr>
              <a:t>Restarts only after two-person approval</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and the design is unproven until the PoC passes. Deck 02 builds it; deck 05 operates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may stop an agent, who may restart it, and liability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K6</a:t>
            </a:r>
          </a:p>
        </p:txBody>
      </p:sp>
      <p:sp>
        <p:nvSpPr>
          <p:cNvPr id="5" name="Status chip: PROPOSED, LEGAL TO CONFIRM"/>
          <p:cNvSpPr/>
          <p:nvPr/>
        </p:nvSpPr>
        <p:spPr>
          <a:xfrm>
            <a:off x="1898650" y="274320"/>
            <a:ext cx="25196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LEGAL TO CONFIRM</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graphicFrame>
        <p:nvGraphicFramePr>
          <p:cNvPr id="9" name="Table"/>
          <p:cNvGraphicFramePr>
            <a:graphicFrameLocks noGrp="1"/>
          </p:cNvGraphicFramePr>
          <p:nvPr/>
        </p:nvGraphicFramePr>
        <p:xfrm>
          <a:off x="548640" y="1325880"/>
          <a:ext cx="11091672" cy="2987040"/>
        </p:xfrm>
        <a:graphic>
          <a:graphicData uri="http://schemas.openxmlformats.org/drawingml/2006/table">
            <a:tbl>
              <a:tblPr firstRow="1" bandRow="0">
                <a:tableStyleId>{5C22544A-7EE6-4342-B048-85BDC9FD1C3A}</a:tableStyleId>
              </a:tblPr>
              <a:tblGrid>
                <a:gridCol w="2560320"/>
                <a:gridCol w="6035040"/>
                <a:gridCol w="2496312"/>
              </a:tblGrid>
              <a:tr h="304800">
                <a:tc>
                  <a:txBody>
                    <a:bodyPr wrap="square" anchor="ctr">
                      <a:noAutofit/>
                    </a:bodyPr>
                    <a:lstStyle/>
                    <a:p>
                      <a:pPr algn="l"/>
                      <a:r>
                        <a:rPr sz="1400" b="1" i="0">
                          <a:solidFill>
                            <a:srgbClr val="FFFFFF"/>
                          </a:solidFill>
                          <a:latin typeface="Arial"/>
                        </a:rPr>
                        <a:t>Question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Proposed answer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Owner</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Who may order a stop?</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Named customer risk owner or delegated Security on-call; listed in the runbook</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risk owner</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Who executes it?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CIS Infra on platform layers; AI tower and tool owners on their layers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Integrated service owner</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Who may restart?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Two-person approval: customer business owner plus Security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business owner</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If a stop fails or is late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Escalate to break-glass path; record as incident; no penalty beyond agreed service levels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Security with CIS Infra</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Liability position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Reasonable efforts on a tested runbook; no guarantee of instant stop; standard caps apply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Cognizant Legal</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When is it in scope?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Only after the PoC passes and the drills are accepted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Offering owner</a:t>
                      </a:r>
                    </a:p>
                  </a:txBody>
                  <a:tcPr marL="73152" marR="73152" marT="36576" marB="36576" anchor="ctr">
                    <a:solidFill>
                      <a:srgbClr val="F5F5F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Controlled recovery after containment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sp>
        <p:nvSpPr>
          <p:cNvPr id="9" name="Rounded Rectangle 8"/>
          <p:cNvSpPr/>
          <p:nvPr/>
        </p:nvSpPr>
        <p:spPr>
          <a:xfrm>
            <a:off x="548640"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Root cause</a:t>
            </a:r>
          </a:p>
          <a:p>
            <a:pPr algn="l"/>
            <a:r>
              <a:rPr sz="1600" b="0" i="0">
                <a:solidFill>
                  <a:srgbClr val="1E1E2E"/>
                </a:solidFill>
                <a:latin typeface="Arial"/>
              </a:rPr>
              <a:t>AI and Security confirm cause and fix</a:t>
            </a:r>
          </a:p>
        </p:txBody>
      </p:sp>
      <p:cxnSp>
        <p:nvCxnSpPr>
          <p:cNvPr id="10"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07208"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Approval</a:t>
            </a:r>
          </a:p>
          <a:p>
            <a:pPr algn="l"/>
            <a:r>
              <a:rPr sz="1600" b="0" i="0">
                <a:solidFill>
                  <a:srgbClr val="1E1E2E"/>
                </a:solidFill>
                <a:latin typeface="Arial"/>
              </a:rPr>
              <a:t>Two-person approval by named authority</a:t>
            </a:r>
          </a:p>
        </p:txBody>
      </p:sp>
      <p:cxnSp>
        <p:nvCxnSpPr>
          <p:cNvPr id="12"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65776"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Canary</a:t>
            </a:r>
          </a:p>
          <a:p>
            <a:pPr algn="l"/>
            <a:r>
              <a:rPr sz="1600" b="0" i="0">
                <a:solidFill>
                  <a:srgbClr val="1E1E2E"/>
                </a:solidFill>
                <a:latin typeface="Arial"/>
              </a:rPr>
              <a:t>Bounded traffic, close monitoring</a:t>
            </a:r>
          </a:p>
        </p:txBody>
      </p:sp>
      <p:cxnSp>
        <p:nvCxnSpPr>
          <p:cNvPr id="14"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24344"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Release</a:t>
            </a:r>
          </a:p>
          <a:p>
            <a:pPr algn="l"/>
            <a:r>
              <a:rPr sz="1600" b="0" i="0">
                <a:solidFill>
                  <a:srgbClr val="1E1E2E"/>
                </a:solidFill>
                <a:latin typeface="Arial"/>
              </a:rPr>
              <a:t>State version advanced; limits restored</a:t>
            </a:r>
          </a:p>
        </p:txBody>
      </p:sp>
      <p:cxnSp>
        <p:nvCxnSpPr>
          <p:cNvPr id="16"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82912"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Review</a:t>
            </a:r>
          </a:p>
          <a:p>
            <a:pPr algn="l"/>
            <a:r>
              <a:rPr sz="1600" b="0" i="0">
                <a:solidFill>
                  <a:srgbClr val="1E1E2E"/>
                </a:solidFill>
                <a:latin typeface="Arial"/>
              </a:rPr>
              <a:t>Evidence filed; drill updated</a:t>
            </a:r>
          </a:p>
        </p:txBody>
      </p:sp>
      <p:sp>
        <p:nvSpPr>
          <p:cNvPr id="18" name="Rounded Rectangle 17"/>
          <p:cNvSpPr/>
          <p:nvPr/>
        </p:nvSpPr>
        <p:spPr>
          <a:xfrm>
            <a:off x="548640" y="393192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Completed side effects are not undone by restart. Compensation is a separate, workload-owned process.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Capacity, quota and cost review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8" name="Table"/>
          <p:cNvGraphicFramePr>
            <a:graphicFrameLocks noGrp="1"/>
          </p:cNvGraphicFramePr>
          <p:nvPr/>
        </p:nvGraphicFramePr>
        <p:xfrm>
          <a:off x="548640" y="1371600"/>
          <a:ext cx="11091672" cy="2148840"/>
        </p:xfrm>
        <a:graphic>
          <a:graphicData uri="http://schemas.openxmlformats.org/drawingml/2006/table">
            <a:tbl>
              <a:tblPr firstRow="1" bandRow="0">
                <a:tableStyleId>{5C22544A-7EE6-4342-B048-85BDC9FD1C3A}</a:tableStyleId>
              </a:tblPr>
              <a:tblGrid>
                <a:gridCol w="2743200"/>
                <a:gridCol w="4572000"/>
                <a:gridCol w="3776472"/>
              </a:tblGrid>
              <a:tr h="320040">
                <a:tc>
                  <a:txBody>
                    <a:bodyPr wrap="square" anchor="ctr">
                      <a:noAutofit/>
                    </a:bodyPr>
                    <a:lstStyle/>
                    <a:p>
                      <a:pPr algn="l"/>
                      <a:r>
                        <a:rPr sz="1500" b="1" i="0">
                          <a:solidFill>
                            <a:srgbClr val="FFFFFF"/>
                          </a:solidFill>
                          <a:latin typeface="Arial"/>
                        </a:rPr>
                        <a:t>Review item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Evidence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Typical action</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PTU utilisation and coverage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Utilisation, reserved vs deployed, overflow share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Raise to FinOps; resize at term</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Throttling</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429 rate by deployment and caller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Rebalance routing; request quota</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Quota headroom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Quota vs planned deployments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Request quota early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Spend vs budget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Actual and forecast by owner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Explain variance; fix causes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Model lifecycle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Retirement dates of deployed models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Plan migration and re-benchmark</a:t>
                      </a:r>
                    </a:p>
                  </a:txBody>
                  <a:tcPr marL="73152" marR="73152" marT="36576" marB="36576"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Backup and recovery responsibilities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graphicFrame>
        <p:nvGraphicFramePr>
          <p:cNvPr id="9" name="Table"/>
          <p:cNvGraphicFramePr>
            <a:graphicFrameLocks noGrp="1"/>
          </p:cNvGraphicFramePr>
          <p:nvPr/>
        </p:nvGraphicFramePr>
        <p:xfrm>
          <a:off x="548640" y="1371600"/>
          <a:ext cx="11091672" cy="2697480"/>
        </p:xfrm>
        <a:graphic>
          <a:graphicData uri="http://schemas.openxmlformats.org/drawingml/2006/table">
            <a:tbl>
              <a:tblPr firstRow="1" bandRow="0">
                <a:tableStyleId>{5C22544A-7EE6-4342-B048-85BDC9FD1C3A}</a:tableStyleId>
              </a:tblPr>
              <a:tblGrid>
                <a:gridCol w="2651760"/>
                <a:gridCol w="3291840"/>
                <a:gridCol w="2377440"/>
                <a:gridCol w="2770632"/>
              </a:tblGrid>
              <a:tr h="320040">
                <a:tc>
                  <a:txBody>
                    <a:bodyPr wrap="square" anchor="ctr">
                      <a:noAutofit/>
                    </a:bodyPr>
                    <a:lstStyle/>
                    <a:p>
                      <a:pPr algn="l"/>
                      <a:r>
                        <a:rPr sz="1500" b="1" i="0">
                          <a:solidFill>
                            <a:srgbClr val="FFFFFF"/>
                          </a:solidFill>
                          <a:latin typeface="Arial"/>
                        </a:rPr>
                        <a:t>Component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Recovery method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Responsible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Customer decision</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Platform resources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Redeploy from IaC</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 with DevOps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RTO per environment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Cosmos DB (agent state)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Continuous or periodic backup</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Backup mode and retention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Storage account (documents)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Soft delete, versioning, replication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Retention and replication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AI Search index</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Rebuild from source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Data Engineering</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Rebuild time accepted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Model deployments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Redeploy; capacity may not be available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CIS Infra with AI</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Second region or not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Gateway configuration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Redeploy policies from repository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CIS Infra with DevOps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Multi-region or not</a:t>
                      </a:r>
                    </a:p>
                  </a:txBody>
                  <a:tcPr marL="73152" marR="73152" marT="36576" marB="36576" anchor="ctr">
                    <a:solidFill>
                      <a:srgbClr val="F5F5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Runbooks, escalation and tower agreements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9" name="Table"/>
          <p:cNvGraphicFramePr>
            <a:graphicFrameLocks noGrp="1"/>
          </p:cNvGraphicFramePr>
          <p:nvPr/>
        </p:nvGraphicFramePr>
        <p:xfrm>
          <a:off x="548640" y="1371600"/>
          <a:ext cx="11091672" cy="2331720"/>
        </p:xfrm>
        <a:graphic>
          <a:graphicData uri="http://schemas.openxmlformats.org/drawingml/2006/table">
            <a:tbl>
              <a:tblPr firstRow="1" bandRow="0">
                <a:tableStyleId>{5C22544A-7EE6-4342-B048-85BDC9FD1C3A}</a:tableStyleId>
              </a:tblPr>
              <a:tblGrid>
                <a:gridCol w="3017520"/>
                <a:gridCol w="8074152"/>
              </a:tblGrid>
              <a:tr h="320040">
                <a:tc>
                  <a:txBody>
                    <a:bodyPr wrap="square" anchor="ctr">
                      <a:noAutofit/>
                    </a:bodyPr>
                    <a:lstStyle/>
                    <a:p>
                      <a:pPr algn="l"/>
                      <a:r>
                        <a:rPr sz="1500" b="1" i="0">
                          <a:solidFill>
                            <a:srgbClr val="FFFFFF"/>
                          </a:solidFill>
                          <a:latin typeface="Arial"/>
                        </a:rPr>
                        <a:t>Agreement field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Content</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Lead and backup</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Named resolver per tower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Hours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Must match or exceed the sold package</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Targets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Internal response aligned to customer objectives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Escalation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Path and contacts to tower leadership</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Access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Roles and PIM for each resolver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Charging</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Internal charge or attributed revenue, per Finance</a:t>
                      </a:r>
                    </a:p>
                  </a:txBody>
                  <a:tcPr marL="73152" marR="73152" marT="36576" marB="36576" anchor="ctr">
                    <a:solidFill>
                      <a:srgbClr val="F5F5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Service hours, on-call and effort allowances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PLANNING ASSUMPTION"/>
          <p:cNvSpPr/>
          <p:nvPr/>
        </p:nvSpPr>
        <p:spPr>
          <a:xfrm>
            <a:off x="1996440" y="274320"/>
            <a:ext cx="19151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PLANNING ASSUMPTION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graphicFrame>
        <p:nvGraphicFramePr>
          <p:cNvPr id="9" name="Table"/>
          <p:cNvGraphicFramePr>
            <a:graphicFrameLocks noGrp="1"/>
          </p:cNvGraphicFramePr>
          <p:nvPr/>
        </p:nvGraphicFramePr>
        <p:xfrm>
          <a:off x="548640" y="1371600"/>
          <a:ext cx="11091672" cy="1965960"/>
        </p:xfrm>
        <a:graphic>
          <a:graphicData uri="http://schemas.openxmlformats.org/drawingml/2006/table">
            <a:tbl>
              <a:tblPr firstRow="1" bandRow="0">
                <a:tableStyleId>{5C22544A-7EE6-4342-B048-85BDC9FD1C3A}</a:tableStyleId>
              </a:tblPr>
              <a:tblGrid>
                <a:gridCol w="2103120"/>
                <a:gridCol w="2926080"/>
                <a:gridCol w="3291840"/>
                <a:gridCol w="2770632"/>
              </a:tblGrid>
              <a:tr h="320040">
                <a:tc>
                  <a:txBody>
                    <a:bodyPr wrap="square" anchor="ctr">
                      <a:noAutofit/>
                    </a:bodyPr>
                    <a:lstStyle/>
                    <a:p>
                      <a:pPr algn="l"/>
                      <a:r>
                        <a:rPr sz="15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Coverage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Staffing model (estimate)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Effort allowance</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Foundation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Business hours, one time zone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Shared pool, named lead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Monthly hours band; overage at rate</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Extended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Extended hours, two time zones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Follow-the-sun pool</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Higher band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Continuous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24x7</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Funded on-call roster, about 5 people per seat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Roster cost plus band</a:t>
                      </a:r>
                    </a:p>
                  </a:txBody>
                  <a:tcPr marL="73152" marR="73152" marT="36576" marB="36576" anchor="ctr">
                    <a:solidFill>
                      <a:srgbClr val="FFFFFF"/>
                    </a:solidFill>
                  </a:tcPr>
                </a:tc>
              </a:tr>
            </a:tbl>
          </a:graphicData>
        </a:graphic>
      </p:graphicFrame>
      <p:sp>
        <p:nvSpPr>
          <p:cNvPr id="10" name="TextBox 9"/>
          <p:cNvSpPr txBox="1"/>
          <p:nvPr/>
        </p:nvSpPr>
        <p:spPr>
          <a:xfrm>
            <a:off x="548640" y="3246120"/>
            <a:ext cx="11064240" cy="365760"/>
          </a:xfrm>
          <a:prstGeom prst="rect">
            <a:avLst/>
          </a:prstGeom>
          <a:noFill/>
        </p:spPr>
        <p:txBody>
          <a:bodyPr wrap="square" lIns="0" rIns="0" tIns="0" bIns="0" anchor="t">
            <a:noAutofit/>
          </a:bodyPr>
          <a:lstStyle/>
          <a:p>
            <a:pPr algn="l"/>
            <a:r>
              <a:rPr sz="1600" b="1" i="0">
                <a:solidFill>
                  <a:srgbClr val="000048"/>
                </a:solidFill>
                <a:latin typeface="Arial"/>
              </a:rPr>
              <a:t>Before any 24x7 commitment, all of these must be true</a:t>
            </a:r>
          </a:p>
        </p:txBody>
      </p:sp>
      <p:graphicFrame>
        <p:nvGraphicFramePr>
          <p:cNvPr id="11" name="Table"/>
          <p:cNvGraphicFramePr>
            <a:graphicFrameLocks noGrp="1"/>
          </p:cNvGraphicFramePr>
          <p:nvPr/>
        </p:nvGraphicFramePr>
        <p:xfrm>
          <a:off x="548640" y="3657600"/>
          <a:ext cx="11091672" cy="1447800"/>
        </p:xfrm>
        <a:graphic>
          <a:graphicData uri="http://schemas.openxmlformats.org/drawingml/2006/table">
            <a:tbl>
              <a:tblPr firstRow="1" bandRow="0">
                <a:tableStyleId>{5C22544A-7EE6-4342-B048-85BDC9FD1C3A}</a:tableStyleId>
              </a:tblPr>
              <a:tblGrid>
                <a:gridCol w="3657600"/>
                <a:gridCol w="7434072"/>
              </a:tblGrid>
              <a:tr h="289560">
                <a:tc>
                  <a:txBody>
                    <a:bodyPr wrap="square" anchor="ctr">
                      <a:noAutofit/>
                    </a:bodyPr>
                    <a:lstStyle/>
                    <a:p>
                      <a:pPr algn="l"/>
                      <a:r>
                        <a:rPr sz="1300" b="1" i="0">
                          <a:solidFill>
                            <a:srgbClr val="FFFFFF"/>
                          </a:solidFill>
                          <a:latin typeface="Arial"/>
                        </a:rPr>
                        <a:t>Prerequisite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Funded on-call roster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About 5 people per 24x7 seat, approved by delivery leadership</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Paging and escalation tooling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Tested call-out with named contacts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P1 runbooks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Runbooks for outage and containment scenarios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Tower agreements with 24x7 escalation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Signed by Security, AI and Data Engineering leads</a:t>
                      </a:r>
                    </a:p>
                  </a:txBody>
                  <a:tcPr marL="73152" marR="73152" marT="36576" marB="36576" anchor="ctr">
                    <a:solidFill>
                      <a:srgbClr val="F5F5F2"/>
                    </a:solidFill>
                  </a:tcPr>
                </a:tc>
              </a:tr>
            </a:tbl>
          </a:graphicData>
        </a:graphic>
      </p:graphicFrame>
      <p:sp>
        <p:nvSpPr>
          <p:cNvPr id="12" name="Rounded Rectangle 11"/>
          <p:cNvSpPr/>
          <p:nvPr/>
        </p:nvSpPr>
        <p:spPr>
          <a:xfrm>
            <a:off x="548640" y="5760720"/>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About 8,760 hours a year per seat ÷ about 1,700 productive hours per person. Estimate only. Bands: A20.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Pricing logic for the recurring service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Status chip: FORMULA, NO RATES"/>
          <p:cNvSpPr/>
          <p:nvPr/>
        </p:nvSpPr>
        <p:spPr>
          <a:xfrm>
            <a:off x="199644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FORMULA, NO RATES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sp>
        <p:nvSpPr>
          <p:cNvPr id="9" name="TextBox 8"/>
          <p:cNvSpPr txBox="1"/>
          <p:nvPr/>
        </p:nvSpPr>
        <p:spPr>
          <a:xfrm>
            <a:off x="548640" y="1371600"/>
            <a:ext cx="11064240" cy="822960"/>
          </a:xfrm>
          <a:prstGeom prst="rect">
            <a:avLst/>
          </a:prstGeom>
          <a:noFill/>
        </p:spPr>
        <p:txBody>
          <a:bodyPr wrap="square" lIns="0" rIns="0" tIns="0" bIns="0" anchor="t">
            <a:noAutofit/>
          </a:bodyPr>
          <a:lstStyle/>
          <a:p>
            <a:pPr algn="l">
              <a:spcAft>
                <a:spcPts val="400"/>
              </a:spcAft>
            </a:pPr>
            <a:r>
              <a:rPr sz="1800" b="1" i="0">
                <a:solidFill>
                  <a:srgbClr val="000048"/>
                </a:solidFill>
                <a:latin typeface="Arial"/>
              </a:rPr>
              <a:t>Monthly fee</a:t>
            </a:r>
            <a:r>
              <a:rPr sz="1800" b="0" i="0">
                <a:solidFill>
                  <a:srgbClr val="1E1E2E"/>
                </a:solidFill>
                <a:latin typeface="Arial"/>
              </a:rPr>
              <a:t> = base service fee + Σ (asset units x unit rate) + coverage uplift + specialist allowance</a:t>
            </a:r>
          </a:p>
          <a:p>
            <a:pPr algn="l"/>
            <a:r>
              <a:rPr sz="1800" b="1" i="0">
                <a:solidFill>
                  <a:srgbClr val="000048"/>
                </a:solidFill>
                <a:latin typeface="Arial"/>
              </a:rPr>
              <a:t>One-time</a:t>
            </a:r>
            <a:r>
              <a:rPr sz="1800" b="0" i="0">
                <a:solidFill>
                  <a:srgbClr val="1E1E2E"/>
                </a:solidFill>
                <a:latin typeface="Arial"/>
              </a:rPr>
              <a:t> = onboarding (gates in A1) + remediation work packages, if any</a:t>
            </a:r>
          </a:p>
        </p:txBody>
      </p:sp>
      <p:graphicFrame>
        <p:nvGraphicFramePr>
          <p:cNvPr id="10" name="Table"/>
          <p:cNvGraphicFramePr>
            <a:graphicFrameLocks noGrp="1"/>
          </p:cNvGraphicFramePr>
          <p:nvPr/>
        </p:nvGraphicFramePr>
        <p:xfrm>
          <a:off x="548640" y="2377440"/>
          <a:ext cx="11091672" cy="2148840"/>
        </p:xfrm>
        <a:graphic>
          <a:graphicData uri="http://schemas.openxmlformats.org/drawingml/2006/table">
            <a:tbl>
              <a:tblPr firstRow="1" bandRow="0">
                <a:tableStyleId>{5C22544A-7EE6-4342-B048-85BDC9FD1C3A}</a:tableStyleId>
              </a:tblPr>
              <a:tblGrid>
                <a:gridCol w="2743200"/>
                <a:gridCol w="4937760"/>
                <a:gridCol w="3410712"/>
              </a:tblGrid>
              <a:tr h="320040">
                <a:tc>
                  <a:txBody>
                    <a:bodyPr wrap="square" anchor="ctr">
                      <a:noAutofit/>
                    </a:bodyPr>
                    <a:lstStyle/>
                    <a:p>
                      <a:pPr algn="l"/>
                      <a:r>
                        <a:rPr sz="15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Driver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Missing input (owner)</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Base service fee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Governance, reporting, service management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Base rate (Finance)</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Asset units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Environments, AI resources, gateway APIs, agent bands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Unit rates (Finance)</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Coverage uplift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Extended or continuous hours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Roster cost (delivery leadership)</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Specialist allowance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Tower hours inside the service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Tower agreements (tower leads)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Overage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Hours or assets above band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Overage rate (Finance)</a:t>
                      </a:r>
                    </a:p>
                  </a:txBody>
                  <a:tcPr marL="73152" marR="73152" marT="36576" marB="36576"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ITSM and AIOps integration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graphicFrame>
        <p:nvGraphicFramePr>
          <p:cNvPr id="9" name="Table"/>
          <p:cNvGraphicFramePr>
            <a:graphicFrameLocks noGrp="1"/>
          </p:cNvGraphicFramePr>
          <p:nvPr/>
        </p:nvGraphicFramePr>
        <p:xfrm>
          <a:off x="548640" y="1371600"/>
          <a:ext cx="11091671" cy="2270760"/>
        </p:xfrm>
        <a:graphic>
          <a:graphicData uri="http://schemas.openxmlformats.org/drawingml/2006/table">
            <a:tbl>
              <a:tblPr firstRow="1" bandRow="0">
                <a:tableStyleId>{5C22544A-7EE6-4342-B048-85BDC9FD1C3A}</a:tableStyleId>
              </a:tblPr>
              <a:tblGrid>
                <a:gridCol w="2926080"/>
                <a:gridCol w="3566160"/>
                <a:gridCol w="2011680"/>
                <a:gridCol w="2587751"/>
              </a:tblGrid>
              <a:tr h="304800">
                <a:tc>
                  <a:txBody>
                    <a:bodyPr wrap="square" anchor="ctr">
                      <a:noAutofit/>
                    </a:bodyPr>
                    <a:lstStyle/>
                    <a:p>
                      <a:pPr algn="l"/>
                      <a:r>
                        <a:rPr sz="1400" b="1" i="0">
                          <a:solidFill>
                            <a:srgbClr val="FFFFFF"/>
                          </a:solidFill>
                          <a:latin typeface="Arial"/>
                        </a:rPr>
                        <a:t>Customer tool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Integration path</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Status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Notes</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ServiceNow ITOM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Secure Webhook action group (Secure Export)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Supported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Entra app registration needed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BMC Helix</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Secure Webhook action group (Secure Export)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Supported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Same pattern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ServiceNow ITSM (legacy connector)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ITSM action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Being deprecated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Do not use for new work</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Other ITSM tools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Generic webhook or Logic Apps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Customer build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Scope per customer</a:t>
                      </a:r>
                    </a:p>
                  </a:txBody>
                  <a:tcPr marL="73152" marR="73152" marT="36576" marB="36576" anchor="ctr">
                    <a:solidFill>
                      <a:srgbClr val="F5F5F2"/>
                    </a:solidFill>
                  </a:tcPr>
                </a:tc>
              </a:tr>
            </a:tbl>
          </a:graphicData>
        </a:graphic>
      </p:graphicFrame>
      <p:sp>
        <p:nvSpPr>
          <p:cNvPr id="10" name="Rounded Rectangle 9"/>
          <p:cNvSpPr/>
          <p:nvPr/>
        </p:nvSpPr>
        <p:spPr>
          <a:xfrm>
            <a:off x="548640" y="3840480"/>
            <a:ext cx="359359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800" b="1" i="0">
                <a:solidFill>
                  <a:srgbClr val="000048"/>
                </a:solidFill>
                <a:latin typeface="Arial"/>
              </a:rPr>
              <a:t>Correlate</a:t>
            </a:r>
          </a:p>
          <a:p>
            <a:pPr algn="l"/>
            <a:r>
              <a:rPr sz="1500" b="0" i="0">
                <a:solidFill>
                  <a:srgbClr val="1E1E2E"/>
                </a:solidFill>
                <a:latin typeface="Arial"/>
              </a:rPr>
              <a:t>Alert processing rules group related alerts</a:t>
            </a:r>
          </a:p>
        </p:txBody>
      </p:sp>
      <p:sp>
        <p:nvSpPr>
          <p:cNvPr id="11" name="Rounded Rectangle 10"/>
          <p:cNvSpPr/>
          <p:nvPr/>
        </p:nvSpPr>
        <p:spPr>
          <a:xfrm>
            <a:off x="4297679" y="3840480"/>
            <a:ext cx="359359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800" b="1" i="0">
                <a:solidFill>
                  <a:srgbClr val="000048"/>
                </a:solidFill>
                <a:latin typeface="Arial"/>
              </a:rPr>
              <a:t>Reduce noise</a:t>
            </a:r>
          </a:p>
          <a:p>
            <a:pPr algn="l"/>
            <a:r>
              <a:rPr sz="1500" b="0" i="0">
                <a:solidFill>
                  <a:srgbClr val="1E1E2E"/>
                </a:solidFill>
                <a:latin typeface="Arial"/>
              </a:rPr>
              <a:t>Dynamic thresholds; every alert has an owner</a:t>
            </a:r>
          </a:p>
        </p:txBody>
      </p:sp>
      <p:sp>
        <p:nvSpPr>
          <p:cNvPr id="12" name="Rounded Rectangle 11"/>
          <p:cNvSpPr/>
          <p:nvPr/>
        </p:nvSpPr>
        <p:spPr>
          <a:xfrm>
            <a:off x="8046719" y="3840480"/>
            <a:ext cx="359359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800" b="1" i="0">
                <a:solidFill>
                  <a:srgbClr val="000048"/>
                </a:solidFill>
                <a:latin typeface="Arial"/>
              </a:rPr>
              <a:t>Automate</a:t>
            </a:r>
          </a:p>
          <a:p>
            <a:pPr algn="l"/>
            <a:r>
              <a:rPr sz="1500" b="0" i="0">
                <a:solidFill>
                  <a:srgbClr val="1E1E2E"/>
                </a:solidFill>
                <a:latin typeface="Arial"/>
              </a:rPr>
              <a:t>Runbooks via Azure Automation or Logic Apps</a:t>
            </a:r>
          </a:p>
        </p:txBody>
      </p:sp>
      <p:sp>
        <p:nvSpPr>
          <p:cNvPr id="13" name="Rounded Rectangle 12"/>
          <p:cNvSpPr/>
          <p:nvPr/>
        </p:nvSpPr>
        <p:spPr>
          <a:xfrm>
            <a:off x="548640" y="548640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AIOps here means native correlation and automation. Third-party AIOps tools are the customer choice.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Operating Agent 365 and Copilot Studio agents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PROPOSED CATALOGUE"/>
          <p:cNvSpPr/>
          <p:nvPr/>
        </p:nvSpPr>
        <p:spPr>
          <a:xfrm>
            <a:off x="199644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CATALOGUE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9" name="Table"/>
          <p:cNvGraphicFramePr>
            <a:graphicFrameLocks noGrp="1"/>
          </p:cNvGraphicFramePr>
          <p:nvPr/>
        </p:nvGraphicFramePr>
        <p:xfrm>
          <a:off x="548640" y="1371600"/>
          <a:ext cx="11091672" cy="2987040"/>
        </p:xfrm>
        <a:graphic>
          <a:graphicData uri="http://schemas.openxmlformats.org/drawingml/2006/table">
            <a:tbl>
              <a:tblPr firstRow="1" bandRow="0">
                <a:tableStyleId>{5C22544A-7EE6-4342-B048-85BDC9FD1C3A}</a:tableStyleId>
              </a:tblPr>
              <a:tblGrid>
                <a:gridCol w="3108960"/>
                <a:gridCol w="1463040"/>
                <a:gridCol w="3657600"/>
                <a:gridCol w="2862072"/>
              </a:tblGrid>
              <a:tr h="304800">
                <a:tc>
                  <a:txBody>
                    <a:bodyPr wrap="square" anchor="ctr">
                      <a:noAutofit/>
                    </a:bodyPr>
                    <a:lstStyle/>
                    <a:p>
                      <a:pPr algn="l"/>
                      <a:r>
                        <a:rPr sz="1400" b="1" i="0">
                          <a:solidFill>
                            <a:srgbClr val="FFFFFF"/>
                          </a:solidFill>
                          <a:latin typeface="Arial"/>
                        </a:rPr>
                        <a:t>Catalogue item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Frequency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CIS Infra does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Others do</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Agent registry upkeep (Agent 365)</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Weekly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Reconcile registry with catalogue; flag unowned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Agent owners confirm</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Dormant and orphaned agent review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Monthly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Prepare list and evidence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Owners keep or retire</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Agent identity hygiene (Entra)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Monthly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Report stale identities and access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Security approves changes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Copilot Studio connectors via gateway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On change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APIs, limits, logging</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Power Platform team admin</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Containment drill</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Quarterly, after 02 PoC</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Run drill on platform layers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Security directs; AI verifies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Model retirement watch</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Monthly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List affected deployments, plan migration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AI tower re-evaluates</a:t>
                      </a:r>
                    </a:p>
                  </a:txBody>
                  <a:tcPr marL="73152" marR="73152" marT="36576" marB="36576" anchor="ctr">
                    <a:solidFill>
                      <a:srgbClr val="F5F5F2"/>
                    </a:solidFill>
                  </a:tcPr>
                </a:tc>
              </a:tr>
            </a:tbl>
          </a:graphicData>
        </a:graphic>
      </p:graphicFrame>
      <p:sp>
        <p:nvSpPr>
          <p:cNvPr id="10" name="Rounded Rectangle 9"/>
          <p:cNvSpPr/>
          <p:nvPr/>
        </p:nvSpPr>
        <p:spPr>
          <a:xfrm>
            <a:off x="548640" y="54864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Microsoft 365 Copilot is owned by the Cognizant M365 and D365 teams and is outside this service.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Exit and transition: the way out is planned on day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sp>
        <p:nvSpPr>
          <p:cNvPr id="9" name="Rounded Rectangle 8"/>
          <p:cNvSpPr/>
          <p:nvPr/>
        </p:nvSpPr>
        <p:spPr>
          <a:xfrm>
            <a:off x="54864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1  Notice</a:t>
            </a:r>
          </a:p>
        </p:txBody>
      </p:sp>
      <p:sp>
        <p:nvSpPr>
          <p:cNvPr id="10" name="Rounded Rectangle 9"/>
          <p:cNvSpPr/>
          <p:nvPr/>
        </p:nvSpPr>
        <p:spPr>
          <a:xfrm>
            <a:off x="54864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Exit plan activated; owners named</a:t>
            </a:r>
          </a:p>
        </p:txBody>
      </p:sp>
      <p:cxnSp>
        <p:nvCxnSpPr>
          <p:cNvPr id="11" name="Connector (flow)"/>
          <p:cNvCxnSpPr/>
          <p:nvPr/>
        </p:nvCxnSpPr>
        <p:spPr>
          <a:xfrm>
            <a:off x="265176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78892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2  Inventory</a:t>
            </a:r>
          </a:p>
        </p:txBody>
      </p:sp>
      <p:sp>
        <p:nvSpPr>
          <p:cNvPr id="13" name="Rounded Rectangle 12"/>
          <p:cNvSpPr/>
          <p:nvPr/>
        </p:nvSpPr>
        <p:spPr>
          <a:xfrm>
            <a:off x="278892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Assets, agents, alerts, runbooks confirmed</a:t>
            </a:r>
          </a:p>
        </p:txBody>
      </p:sp>
      <p:cxnSp>
        <p:nvCxnSpPr>
          <p:cNvPr id="14" name="Connector (flow)"/>
          <p:cNvCxnSpPr/>
          <p:nvPr/>
        </p:nvCxnSpPr>
        <p:spPr>
          <a:xfrm>
            <a:off x="489204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2920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3  Knowledge transfer</a:t>
            </a:r>
          </a:p>
        </p:txBody>
      </p:sp>
      <p:sp>
        <p:nvSpPr>
          <p:cNvPr id="16" name="Rounded Rectangle 15"/>
          <p:cNvSpPr/>
          <p:nvPr/>
        </p:nvSpPr>
        <p:spPr>
          <a:xfrm>
            <a:off x="502920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Shadow, then reverse shadow</a:t>
            </a:r>
          </a:p>
        </p:txBody>
      </p:sp>
      <p:cxnSp>
        <p:nvCxnSpPr>
          <p:cNvPr id="17" name="Connector (flow)"/>
          <p:cNvCxnSpPr/>
          <p:nvPr/>
        </p:nvCxnSpPr>
        <p:spPr>
          <a:xfrm>
            <a:off x="713232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26948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4  Access handover</a:t>
            </a:r>
          </a:p>
        </p:txBody>
      </p:sp>
      <p:sp>
        <p:nvSpPr>
          <p:cNvPr id="19" name="Rounded Rectangle 18"/>
          <p:cNvSpPr/>
          <p:nvPr/>
        </p:nvSpPr>
        <p:spPr>
          <a:xfrm>
            <a:off x="726948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Roles removed; break-glass rotated</a:t>
            </a:r>
          </a:p>
        </p:txBody>
      </p:sp>
      <p:cxnSp>
        <p:nvCxnSpPr>
          <p:cNvPr id="20" name="Connector (flow)"/>
          <p:cNvCxnSpPr/>
          <p:nvPr/>
        </p:nvCxnSpPr>
        <p:spPr>
          <a:xfrm>
            <a:off x="9372600" y="1810512"/>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09760" y="1463040"/>
            <a:ext cx="2103120" cy="685800"/>
          </a:xfrm>
          <a:prstGeom prst="roundRect">
            <a:avLst>
              <a:gd name="adj" fmla="val 1066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5  Closure</a:t>
            </a:r>
          </a:p>
        </p:txBody>
      </p:sp>
      <p:sp>
        <p:nvSpPr>
          <p:cNvPr id="22" name="Rounded Rectangle 21"/>
          <p:cNvSpPr/>
          <p:nvPr/>
        </p:nvSpPr>
        <p:spPr>
          <a:xfrm>
            <a:off x="9509760" y="2240280"/>
            <a:ext cx="2103120"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1500" b="0" i="0">
                <a:solidFill>
                  <a:srgbClr val="1E1E2E"/>
                </a:solidFill>
                <a:latin typeface="Arial"/>
              </a:rPr>
              <a:t>Final report; open items handed over</a:t>
            </a:r>
          </a:p>
        </p:txBody>
      </p:sp>
      <p:sp>
        <p:nvSpPr>
          <p:cNvPr id="23" name="Rounded Rectangle 22"/>
          <p:cNvSpPr/>
          <p:nvPr/>
        </p:nvSpPr>
        <p:spPr>
          <a:xfrm>
            <a:off x="548640" y="3886200"/>
            <a:ext cx="11091672" cy="1097280"/>
          </a:xfrm>
          <a:prstGeom prst="roundRect">
            <a:avLst>
              <a:gd name="adj" fmla="val 6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700" b="1" i="0">
                <a:solidFill>
                  <a:srgbClr val="000048"/>
                </a:solidFill>
                <a:latin typeface="Arial"/>
              </a:rPr>
              <a:t>Customer keeps: </a:t>
            </a:r>
            <a:r>
              <a:rPr sz="1700" b="0" i="0">
                <a:solidFill>
                  <a:srgbClr val="1E1E2E"/>
                </a:solidFill>
                <a:latin typeface="Arial"/>
              </a:rPr>
              <a:t>runbooks, infrastructure as code, alert rules, dashboards, catalogue data and reports, all in customer tenants and repositories.</a:t>
            </a:r>
          </a:p>
        </p:txBody>
      </p:sp>
      <p:sp>
        <p:nvSpPr>
          <p:cNvPr id="24" name="Rounded Rectangle 23"/>
          <p:cNvSpPr/>
          <p:nvPr/>
        </p:nvSpPr>
        <p:spPr>
          <a:xfrm>
            <a:off x="548640" y="525780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Exit package: 15 to 30 role days over 4 to 6 weeks (estimate). Refresh the plan every year.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Staffing behind each package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PLANNING ASSUMPTION"/>
          <p:cNvSpPr/>
          <p:nvPr/>
        </p:nvSpPr>
        <p:spPr>
          <a:xfrm>
            <a:off x="1996440" y="274320"/>
            <a:ext cx="19151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PLANNING ASSUMPTION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71600"/>
          <a:ext cx="11091672" cy="2392680"/>
        </p:xfrm>
        <a:graphic>
          <a:graphicData uri="http://schemas.openxmlformats.org/drawingml/2006/table">
            <a:tbl>
              <a:tblPr firstRow="1" bandRow="0">
                <a:tableStyleId>{5C22544A-7EE6-4342-B048-85BDC9FD1C3A}</a:tableStyleId>
              </a:tblPr>
              <a:tblGrid>
                <a:gridCol w="2377440"/>
                <a:gridCol w="1828800"/>
                <a:gridCol w="2286000"/>
                <a:gridCol w="4599432"/>
              </a:tblGrid>
              <a:tr h="320040">
                <a:tc>
                  <a:txBody>
                    <a:bodyPr wrap="square" anchor="ctr">
                      <a:noAutofit/>
                    </a:bodyPr>
                    <a:lstStyle/>
                    <a:p>
                      <a:pPr algn="l"/>
                      <a:r>
                        <a:rPr sz="15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FTE (estimate)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Role days per month</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Indicative role mix</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Foundation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1.5 to 3</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30 to 60</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Service lead (part), platform engineers, shared on-call</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Extended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3 to 5</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60 to 100</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Service lead, engineers in two time zones</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Continuous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6 to 10</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120 to 200</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About 5 people per 24x7 seat, plus lead and engineers</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Specialist allowance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Per agreement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Per agreement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AI, Data Eng., Security hours inside the fee</a:t>
                      </a:r>
                    </a:p>
                  </a:txBody>
                  <a:tcPr marL="73152" marR="73152" marT="36576" marB="36576" anchor="ctr">
                    <a:solidFill>
                      <a:srgbClr val="F5F5F2"/>
                    </a:solidFill>
                  </a:tcPr>
                </a:tc>
              </a:tr>
            </a:tbl>
          </a:graphicData>
        </a:graphic>
      </p:graphicFrame>
      <p:sp>
        <p:nvSpPr>
          <p:cNvPr id="10" name="Rounded Rectangle 9"/>
          <p:cNvSpPr/>
          <p:nvPr/>
        </p:nvSpPr>
        <p:spPr>
          <a:xfrm>
            <a:off x="548640" y="420624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About 20 role days per FTE per month. Illustrative $1,000 per role day, not a Cognizant rate.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Telemetry stores counts and IDs, not prompts, by default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DH1</a:t>
            </a:r>
          </a:p>
        </p:txBody>
      </p:sp>
      <p:sp>
        <p:nvSpPr>
          <p:cNvPr id="5" name="Status chip: PROPOSED CONTROLS"/>
          <p:cNvSpPr/>
          <p:nvPr/>
        </p:nvSpPr>
        <p:spPr>
          <a:xfrm>
            <a:off x="199644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CONTROLS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9" name="Table"/>
          <p:cNvGraphicFramePr>
            <a:graphicFrameLocks noGrp="1"/>
          </p:cNvGraphicFramePr>
          <p:nvPr/>
        </p:nvGraphicFramePr>
        <p:xfrm>
          <a:off x="548640" y="1325880"/>
          <a:ext cx="11091672" cy="2133600"/>
        </p:xfrm>
        <a:graphic>
          <a:graphicData uri="http://schemas.openxmlformats.org/drawingml/2006/table">
            <a:tbl>
              <a:tblPr firstRow="1" bandRow="0">
                <a:tableStyleId>{5C22544A-7EE6-4342-B048-85BDC9FD1C3A}</a:tableStyleId>
              </a:tblPr>
              <a:tblGrid>
                <a:gridCol w="2377440"/>
                <a:gridCol w="1737360"/>
                <a:gridCol w="3108960"/>
                <a:gridCol w="1828800"/>
                <a:gridCol w="2039112"/>
              </a:tblGrid>
              <a:tr h="289560">
                <a:tc>
                  <a:txBody>
                    <a:bodyPr wrap="square" anchor="ctr">
                      <a:noAutofit/>
                    </a:bodyPr>
                    <a:lstStyle/>
                    <a:p>
                      <a:pPr algn="l"/>
                      <a:r>
                        <a:rPr sz="13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Logged by default?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Protection</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Retention (proposed)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Access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Platform metrics and alerts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Yes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content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90 days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Operations team</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traces (spans, tool names, status)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Yes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Content fields excluded by default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30 days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Operations, AI tower</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Prompt and response content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(opt-in)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Redaction, restricted workspace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7 to 30 days if enabled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Approved named engineers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Incident and change records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Yes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 customer ITSM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Per customer policy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Service desk</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Containment evidence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Yes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Immutable storage policy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Per audit policy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auditors</a:t>
                      </a:r>
                    </a:p>
                  </a:txBody>
                  <a:tcPr marL="73152" marR="73152" marT="36576" marB="36576" anchor="ctr">
                    <a:solidFill>
                      <a:srgbClr val="FFFFFF"/>
                    </a:solidFill>
                  </a:tcPr>
                </a:tc>
              </a:tr>
            </a:tbl>
          </a:graphicData>
        </a:graphic>
      </p:graphicFrame>
      <p:sp>
        <p:nvSpPr>
          <p:cNvPr id="10" name="Rounded Rectangle 9"/>
          <p:cNvSpPr/>
          <p:nvPr/>
        </p:nvSpPr>
        <p:spPr>
          <a:xfrm>
            <a:off x="548640" y="56692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Content logging is opt-in only, approved by Security and the data owner. The customer sets final retention.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Audit-ready evidence: what internal audit can test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AU1</a:t>
            </a:r>
          </a:p>
        </p:txBody>
      </p:sp>
      <p:sp>
        <p:nvSpPr>
          <p:cNvPr id="5" name="Status chip: PROPOSED DELIVERABLE"/>
          <p:cNvSpPr/>
          <p:nvPr/>
        </p:nvSpPr>
        <p:spPr>
          <a:xfrm>
            <a:off x="1996440" y="274320"/>
            <a:ext cx="2001519"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DELIVERABLE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graphicFrame>
        <p:nvGraphicFramePr>
          <p:cNvPr id="9" name="Table"/>
          <p:cNvGraphicFramePr>
            <a:graphicFrameLocks noGrp="1"/>
          </p:cNvGraphicFramePr>
          <p:nvPr/>
        </p:nvGraphicFramePr>
        <p:xfrm>
          <a:off x="548640" y="1325880"/>
          <a:ext cx="11091672" cy="2133600"/>
        </p:xfrm>
        <a:graphic>
          <a:graphicData uri="http://schemas.openxmlformats.org/drawingml/2006/table">
            <a:tbl>
              <a:tblPr firstRow="1" bandRow="0">
                <a:tableStyleId>{5C22544A-7EE6-4342-B048-85BDC9FD1C3A}</a:tableStyleId>
              </a:tblPr>
              <a:tblGrid>
                <a:gridCol w="3291840"/>
                <a:gridCol w="4023360"/>
                <a:gridCol w="3776472"/>
              </a:tblGrid>
              <a:tr h="289560">
                <a:tc>
                  <a:txBody>
                    <a:bodyPr wrap="square" anchor="ctr">
                      <a:noAutofit/>
                    </a:bodyPr>
                    <a:lstStyle/>
                    <a:p>
                      <a:pPr algn="l"/>
                      <a:r>
                        <a:rPr sz="1300" b="1" i="0">
                          <a:solidFill>
                            <a:srgbClr val="FFFFFF"/>
                          </a:solidFill>
                          <a:latin typeface="Arial"/>
                        </a:rPr>
                        <a:t>Control objective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Test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 source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Every operated agent has a current owner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Monthly ownership check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Catalogue, review queue</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Incidents meet response targets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Sample tickets against targets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ITSM reports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Changes are approved and tested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Sample changes; check approval and rollback plan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ITSM change records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Containment drills are run and pass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Quarterly drill evidence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K4 evidence pack</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Privileged access is just in time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Review PIM activations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PIM reports</a:t>
                      </a:r>
                    </a:p>
                  </a:txBody>
                  <a:tcPr marL="73152" marR="73152" marT="36576" marB="36576" anchor="ctr">
                    <a:solidFill>
                      <a:srgbClr val="FFFFFF"/>
                    </a:solidFill>
                  </a:tcPr>
                </a:tc>
              </a:tr>
            </a:tbl>
          </a:graphicData>
        </a:graphic>
      </p:graphicFrame>
      <p:sp>
        <p:nvSpPr>
          <p:cNvPr id="10" name="Rounded Rectangle 9"/>
          <p:cNvSpPr/>
          <p:nvPr/>
        </p:nvSpPr>
        <p:spPr>
          <a:xfrm>
            <a:off x="548640" y="566928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Deliverable: control matrix plus evidence pack, refreshed monthly in managed operations. Not an assurance opinion.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25880"/>
          <a:ext cx="6035039" cy="368808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residency gate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UK or Middle East in-country need checked (deck 01)</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Regulated bank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risk and DORA position known</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Platform accepted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Offering 01 gates or equivalent</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Coverage need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Hours and containment expectation</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2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6692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14+ with no zero on funding, authority, sponsor or residency. Otherwise sell the assessment.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9" name="Table"/>
          <p:cNvGraphicFramePr>
            <a:graphicFrameLocks noGrp="1"/>
          </p:cNvGraphicFramePr>
          <p:nvPr/>
        </p:nvGraphicFramePr>
        <p:xfrm>
          <a:off x="548640" y="1325880"/>
          <a:ext cx="11091672" cy="173736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Foundation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environment, ten agents, one region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Three environments, fifty agents, two regions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Extended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 time zones, change windows standard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Strict change windows, several runtimes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Continuous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24x7 seat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Two seats plus specialist escalation</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Onboarding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Platform built by offering 01</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Inherited platform with gaps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Exit and transition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team ready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New provider, full shadow period</a:t>
                      </a:r>
                    </a:p>
                  </a:txBody>
                  <a:tcPr marL="73152" marR="73152" marT="36576" marB="36576" anchor="ctr">
                    <a:solidFill>
                      <a:srgbClr val="FFFFFF"/>
                    </a:solidFill>
                  </a:tcPr>
                </a:tc>
              </a:tr>
            </a:tbl>
          </a:graphicData>
        </a:graphic>
      </p:graphicFrame>
      <p:sp>
        <p:nvSpPr>
          <p:cNvPr id="10" name="Rounded Rectangle 9"/>
          <p:cNvSpPr/>
          <p:nvPr/>
        </p:nvSpPr>
        <p:spPr>
          <a:xfrm>
            <a:off x="548640" y="3291839"/>
            <a:ext cx="11091672" cy="1097280"/>
          </a:xfrm>
          <a:prstGeom prst="roundRect">
            <a:avLst>
              <a:gd name="adj" fmla="val 6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300"/>
              </a:spcAft>
            </a:pPr>
            <a:r>
              <a:rPr sz="1400" b="1" i="0">
                <a:solidFill>
                  <a:srgbClr val="000048"/>
                </a:solidFill>
                <a:latin typeface="Arial"/>
              </a:rPr>
              <a:t>Basis and recalibration plan</a:t>
            </a:r>
          </a:p>
          <a:p>
            <a:pPr algn="l"/>
            <a:r>
              <a:rPr sz="1400" b="0" i="0">
                <a:solidFill>
                  <a:srgbClr val="1E1E2E"/>
                </a:solidFill>
                <a:latin typeface="Arial"/>
              </a:rPr>
              <a:t>Basis: bottom-up author estimate from staffing: about 20 productive role days per FTE per month; onboarding = runbooks, alert routing, readiness gates; exit = knowledge transfer and access handover. Recalibrate after every pilot: record actual role days per package, compare with the band, and reset bands each quarter. Owner: integrated service owner with Finance.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25880"/>
          <a:ext cx="11091672" cy="350520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Privileged misuse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Operator changes production unsafely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PIM, just-in-time access, change approval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with 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Rogue agent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acts outside scope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Containment runbook, quarterly drills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directs, CIS Infra executes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Alert blind spot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Attack signal ignored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Defender alerts routed to security resolver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Stale identities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Unused agent identities keep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Monthly identity hygiene review</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with CIS Infra</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Model retirement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Unsupported model in production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Monthly retirement watch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AI tower</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MCP tool trust boundary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New tool added outside change control</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Change process requires API Center registration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with 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Supply chain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Unpatched runtime image or extension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Patch cadence, image scanning, change approval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DevOps</a:t>
                      </a:r>
                    </a:p>
                  </a:txBody>
                  <a:tcPr marL="73152" marR="73152" marT="36576" marB="36576" anchor="ctr">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Regulation: who holds which duty, and where we help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10" name="Table"/>
          <p:cNvGraphicFramePr>
            <a:graphicFrameLocks noGrp="1"/>
          </p:cNvGraphicFramePr>
          <p:nvPr/>
        </p:nvGraphicFramePr>
        <p:xfrm>
          <a:off x="548640" y="1325880"/>
          <a:ext cx="11091672" cy="1280160"/>
        </p:xfrm>
        <a:graphic>
          <a:graphicData uri="http://schemas.openxmlformats.org/drawingml/2006/table">
            <a:tbl>
              <a:tblPr firstRow="1" bandRow="0">
                <a:tableStyleId>{5C22544A-7EE6-4342-B048-85BDC9FD1C3A}</a:tableStyleId>
              </a:tblPr>
              <a:tblGrid>
                <a:gridCol w="2377440"/>
                <a:gridCol w="3840480"/>
                <a:gridCol w="4873752"/>
              </a:tblGrid>
              <a:tr h="274320">
                <a:tc>
                  <a:txBody>
                    <a:bodyPr wrap="square" anchor="ctr">
                      <a:noAutofit/>
                    </a:bodyPr>
                    <a:lstStyle/>
                    <a:p>
                      <a:pPr algn="l"/>
                      <a:r>
                        <a:rPr sz="1200" b="1" i="0">
                          <a:solidFill>
                            <a:srgbClr val="FFFFFF"/>
                          </a:solidFill>
                          <a:latin typeface="Arial"/>
                        </a:rPr>
                        <a:t>Party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Likely EU AI Act role (indicative)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What this offering supports</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Customer deploying AI systems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Deployer (usually)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Ongoing monitoring, incident records and drill evidence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Customer building its own AI system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Provider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Post-market monitoring and incident reporting inputs</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Cognizant CIS Infra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Usually neither: infrastructure service provider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Role stated in the contract; Legal confirms</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2788920"/>
          <a:ext cx="11091672" cy="2560320"/>
        </p:xfrm>
        <a:graphic>
          <a:graphicData uri="http://schemas.openxmlformats.org/drawingml/2006/table">
            <a:tbl>
              <a:tblPr firstRow="1" bandRow="0">
                <a:tableStyleId>{5C22544A-7EE6-4342-B048-85BDC9FD1C3A}</a:tableStyleId>
              </a:tblPr>
              <a:tblGrid>
                <a:gridCol w="1828800"/>
                <a:gridCol w="5486400"/>
                <a:gridCol w="3776472"/>
              </a:tblGrid>
              <a:tr h="274320">
                <a:tc>
                  <a:txBody>
                    <a:bodyPr wrap="square" anchor="ctr">
                      <a:noAutofit/>
                    </a:bodyPr>
                    <a:lstStyle/>
                    <a:p>
                      <a:pPr algn="l"/>
                      <a:r>
                        <a:rPr sz="1200" b="1" i="0">
                          <a:solidFill>
                            <a:srgbClr val="FFFFFF"/>
                          </a:solidFill>
                          <a:latin typeface="Arial"/>
                        </a:rPr>
                        <a:t>Area</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 AI Act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Annex III high-risk duties from 2 Dec 2027; Annex I from 2 Aug 2028</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Third-party summary (Orrick); EUR-Lex not verified</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EU DORA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ICT risk and ICT third-party contract terms for financial entities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Applies from 17 Jan 2025 (EUR-Lex)</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EU NIS2</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Cyber risk management for essential and important entities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National laws; deadline 17 Oct 2024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Regulator-led AI principles;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re-verified: confirm current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Federal Decree-Law 45 of 2021 (personal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Executive regulations: verify status</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Saudi Arabia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PDPL (enforceable Sep 2024); NCA cloud controls CCC-1:2020</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Third-party summary; verify transfer rules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US banks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Interagency model risk guidance (17 Apr 2026) replaced SR 11-7</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Generative and agentic AI out of scope; governance still expected</a:t>
                      </a:r>
                    </a:p>
                  </a:txBody>
                  <a:tcPr marL="73152" marR="73152" marT="36576" marB="36576"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3593592" cy="448056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Agent-to-agent protocol for agents calling other agents</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640080">
                <a:tc>
                  <a:txBody>
                    <a:bodyPr wrap="square" anchor="ctr">
                      <a:noAutofit/>
                    </a:bodyPr>
                    <a:lstStyle/>
                    <a:p>
                      <a:pPr algn="l"/>
                      <a:r>
                        <a:rPr sz="12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registry for APIs and MCP servers; decides which tools exist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API Management; the gateway that controls traffic</a:t>
                      </a:r>
                    </a:p>
                  </a:txBody>
                  <a:tcPr marL="73152" marR="73152" marT="36576" marB="36576" anchor="ctr">
                    <a:solidFill>
                      <a:srgbClr val="F5F5F2"/>
                    </a:solidFill>
                  </a:tcPr>
                </a:tc>
              </a:tr>
              <a:tr h="640080">
                <a:tc>
                  <a:txBody>
                    <a:bodyPr wrap="square" anchor="ctr">
                      <a:noAutofit/>
                    </a:bodyPr>
                    <a:lstStyle/>
                    <a:p>
                      <a:pPr algn="l"/>
                      <a:r>
                        <a:rPr sz="12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Model processing inside a Microsoft data zone (US, EU or APAC)</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DORA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EU Digital Operational Resilience Act for financial entities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FOCUS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FinOps Open Cost and Usage Specification for cost data exports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4297679" y="1325880"/>
          <a:ext cx="3593592" cy="374904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Foundry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Microsoft Foundry: Azure platform for models and agents</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FTE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Full-time equivalent person</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Model Context Protocol: standard way for agents to call tools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MRM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Model risk management (banking supervision)</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NIS2</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EU directive on cybersecurity for essential sectors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Pay as you go: pay per token used</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PDPL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 (Saudi Arabia, UAE)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PIM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Entra Privileged Identity Management: just-in-time admin access</a:t>
                      </a:r>
                    </a:p>
                  </a:txBody>
                  <a:tcPr marL="73152" marR="73152" marT="36576" marB="36576" anchor="ctr">
                    <a:solidFill>
                      <a:srgbClr val="F5F5F2"/>
                    </a:solidFill>
                  </a:tcPr>
                </a:tc>
              </a:tr>
            </a:tbl>
          </a:graphicData>
        </a:graphic>
      </p:graphicFrame>
      <p:graphicFrame>
        <p:nvGraphicFramePr>
          <p:cNvPr id="11" name="Table"/>
          <p:cNvGraphicFramePr>
            <a:graphicFrameLocks noGrp="1"/>
          </p:cNvGraphicFramePr>
          <p:nvPr/>
        </p:nvGraphicFramePr>
        <p:xfrm>
          <a:off x="8046719" y="1325880"/>
          <a:ext cx="3593592" cy="310896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640080">
                <a:tc>
                  <a:txBody>
                    <a:bodyPr wrap="square" anchor="ctr">
                      <a:noAutofit/>
                    </a:bodyPr>
                    <a:lstStyle/>
                    <a:p>
                      <a:pPr algn="l"/>
                      <a:r>
                        <a:rPr sz="1200" b="1" i="0">
                          <a:solidFill>
                            <a:srgbClr val="1E1E2E"/>
                          </a:solidFill>
                          <a:latin typeface="Arial"/>
                        </a:rPr>
                        <a:t>PTU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Provisioned throughput unit: reserved model capacity, billed per hour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RACI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Responsible, Accountable, Consulted, Informed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RFP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Request for proposal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Recovery time objective / recovery point objective</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SOW</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Statement of work</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Unit of text a model reads or writes; the main pricing unit</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per minute</a:t>
                      </a:r>
                    </a:p>
                  </a:txBody>
                  <a:tcPr marL="73152" marR="73152" marT="36576" marB="36576" anchor="ctr">
                    <a:solidFill>
                      <a:srgbClr val="FFFF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delivers it, and what sellers need before day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DP1</a:t>
            </a:r>
          </a:p>
        </p:txBody>
      </p:sp>
      <p:sp>
        <p:nvSpPr>
          <p:cNvPr id="5" name="Status chip: INPUT REQUIRED"/>
          <p:cNvSpPr/>
          <p:nvPr/>
        </p:nvSpPr>
        <p:spPr>
          <a:xfrm>
            <a:off x="1996440" y="274320"/>
            <a:ext cx="14833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INPUT REQUIRED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graphicFrame>
        <p:nvGraphicFramePr>
          <p:cNvPr id="9" name="Table"/>
          <p:cNvGraphicFramePr>
            <a:graphicFrameLocks noGrp="1"/>
          </p:cNvGraphicFramePr>
          <p:nvPr/>
        </p:nvGraphicFramePr>
        <p:xfrm>
          <a:off x="548640" y="1325880"/>
          <a:ext cx="11091672" cy="2286000"/>
        </p:xfrm>
        <a:graphic>
          <a:graphicData uri="http://schemas.openxmlformats.org/drawingml/2006/table">
            <a:tbl>
              <a:tblPr firstRow="1" bandRow="0">
                <a:tableStyleId>{5C22544A-7EE6-4342-B048-85BDC9FD1C3A}</a:tableStyleId>
              </a:tblPr>
              <a:tblGrid>
                <a:gridCol w="2011680"/>
                <a:gridCol w="3657600"/>
                <a:gridCol w="2468880"/>
                <a:gridCol w="1188720"/>
                <a:gridCol w="1764792"/>
              </a:tblGrid>
              <a:tr h="457200">
                <a:tc>
                  <a:txBody>
                    <a:bodyPr wrap="square" anchor="ctr">
                      <a:noAutofit/>
                    </a:bodyPr>
                    <a:lstStyle/>
                    <a:p>
                      <a:pPr algn="l"/>
                      <a:r>
                        <a:rPr sz="1200" b="1" i="0">
                          <a:solidFill>
                            <a:srgbClr val="FFFFFF"/>
                          </a:solidFill>
                          <a:latin typeface="Arial"/>
                        </a:rPr>
                        <a:t>Role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Skills needed</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Certification (verify current)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Ramp-up (estimate)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Bench now</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Service lead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ITSM, service reviews, tower coordination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ITIL 4 Foundation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2 weeks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Operations engineer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Monitor, alerts, automation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Administrator Associate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2 weeks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On-call engineer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Incident response, runbooks, containment drills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Administrator Associate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2 weeks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Security liaison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resolver handoffs, evidence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tower role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1 week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548640" y="3794760"/>
          <a:ext cx="11091672" cy="1920240"/>
        </p:xfrm>
        <a:graphic>
          <a:graphicData uri="http://schemas.openxmlformats.org/drawingml/2006/table">
            <a:tbl>
              <a:tblPr firstRow="1" bandRow="0">
                <a:tableStyleId>{5C22544A-7EE6-4342-B048-85BDC9FD1C3A}</a:tableStyleId>
              </a:tblPr>
              <a:tblGrid>
                <a:gridCol w="5120640"/>
                <a:gridCol w="2377440"/>
                <a:gridCol w="3593592"/>
              </a:tblGrid>
              <a:tr h="274320">
                <a:tc>
                  <a:txBody>
                    <a:bodyPr wrap="square" anchor="ctr">
                      <a:noAutofit/>
                    </a:bodyPr>
                    <a:lstStyle/>
                    <a:p>
                      <a:pPr algn="l"/>
                      <a:r>
                        <a:rPr sz="1200" b="1" i="0">
                          <a:solidFill>
                            <a:srgbClr val="FFFFFF"/>
                          </a:solidFill>
                          <a:latin typeface="Arial"/>
                        </a:rPr>
                        <a:t>Presales kit 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Executive deck, talk tracks, customer pitch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Exists (v4.0 draft)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Demo environment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 lab owner (input required)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SOW template and estimator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Presales lead with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RFP answer bank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Draft exists (register)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Presales lead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Case study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first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Account team</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Runbook library and service report template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Offering owner 05</a:t>
                      </a:r>
                    </a:p>
                  </a:txBody>
                  <a:tcPr marL="73152" marR="73152" marT="36576" marB="36576" anchor="ctr">
                    <a:solidFill>
                      <a:srgbClr val="F5F5F2"/>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account teams use it, and the contract risks to manage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AC1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sp>
        <p:nvSpPr>
          <p:cNvPr id="9" name="Rounded Rectangle 8"/>
          <p:cNvSpPr/>
          <p:nvPr/>
        </p:nvSpPr>
        <p:spPr>
          <a:xfrm>
            <a:off x="548640"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Fits in the account plan</a:t>
            </a:r>
          </a:p>
          <a:p>
            <a:pPr algn="l"/>
            <a:r>
              <a:rPr sz="1400" b="0" i="0">
                <a:solidFill>
                  <a:srgbClr val="1E1E2E"/>
                </a:solidFill>
                <a:latin typeface="Arial"/>
              </a:rPr>
              <a:t>Existing Cognizant infrastructure service: extend by change control.</a:t>
            </a:r>
          </a:p>
        </p:txBody>
      </p:sp>
      <p:sp>
        <p:nvSpPr>
          <p:cNvPr id="10" name="Rounded Rectangle 9"/>
          <p:cNvSpPr/>
          <p:nvPr/>
        </p:nvSpPr>
        <p:spPr>
          <a:xfrm>
            <a:off x="3355848"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First deal (illustrative)</a:t>
            </a:r>
          </a:p>
          <a:p>
            <a:pPr algn="l"/>
            <a:r>
              <a:rPr sz="1400" b="0" i="0">
                <a:solidFill>
                  <a:srgbClr val="1E1E2E"/>
                </a:solidFill>
                <a:latin typeface="Arial"/>
              </a:rPr>
              <a:t>Onboarding $20k to $40k, then $30k to $60k a month.</a:t>
            </a:r>
          </a:p>
        </p:txBody>
      </p:sp>
      <p:sp>
        <p:nvSpPr>
          <p:cNvPr id="11" name="Rounded Rectangle 10"/>
          <p:cNvSpPr/>
          <p:nvPr/>
        </p:nvSpPr>
        <p:spPr>
          <a:xfrm>
            <a:off x="6163055"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Expansion path</a:t>
            </a:r>
          </a:p>
          <a:p>
            <a:pPr algn="l"/>
            <a:r>
              <a:rPr sz="1400" b="0" i="0">
                <a:solidFill>
                  <a:srgbClr val="1E1E2E"/>
                </a:solidFill>
                <a:latin typeface="Arial"/>
              </a:rPr>
              <a:t>More environments, coverage hours and agents.</a:t>
            </a:r>
          </a:p>
        </p:txBody>
      </p:sp>
      <p:sp>
        <p:nvSpPr>
          <p:cNvPr id="12" name="Rounded Rectangle 11"/>
          <p:cNvSpPr/>
          <p:nvPr/>
        </p:nvSpPr>
        <p:spPr>
          <a:xfrm>
            <a:off x="8970263"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Business-led entry</a:t>
            </a:r>
          </a:p>
          <a:p>
            <a:pPr algn="l"/>
            <a:r>
              <a:rPr sz="1400" b="0" i="0">
                <a:solidFill>
                  <a:srgbClr val="1E1E2E"/>
                </a:solidFill>
                <a:latin typeface="Arial"/>
              </a:rPr>
              <a:t>Head of operations: AI services run with named owners and targets.</a:t>
            </a:r>
          </a:p>
        </p:txBody>
      </p:sp>
      <p:graphicFrame>
        <p:nvGraphicFramePr>
          <p:cNvPr id="13" name="Table"/>
          <p:cNvGraphicFramePr>
            <a:graphicFrameLocks noGrp="1"/>
          </p:cNvGraphicFramePr>
          <p:nvPr/>
        </p:nvGraphicFramePr>
        <p:xfrm>
          <a:off x="548640" y="3383280"/>
          <a:ext cx="11091672" cy="1828800"/>
        </p:xfrm>
        <a:graphic>
          <a:graphicData uri="http://schemas.openxmlformats.org/drawingml/2006/table">
            <a:tbl>
              <a:tblPr firstRow="1" bandRow="0">
                <a:tableStyleId>{5C22544A-7EE6-4342-B048-85BDC9FD1C3A}</a:tableStyleId>
              </a:tblPr>
              <a:tblGrid>
                <a:gridCol w="2377440"/>
                <a:gridCol w="6400800"/>
                <a:gridCol w="2313432"/>
              </a:tblGrid>
              <a:tr h="274320">
                <a:tc>
                  <a:txBody>
                    <a:bodyPr wrap="square" anchor="ctr">
                      <a:noAutofit/>
                    </a:bodyPr>
                    <a:lstStyle/>
                    <a:p>
                      <a:pPr algn="l"/>
                      <a:r>
                        <a:rPr sz="1200" b="1" i="0">
                          <a:solidFill>
                            <a:srgbClr val="FFFFFF"/>
                          </a:solidFill>
                          <a:latin typeface="Arial"/>
                        </a:rPr>
                        <a:t>Contract topic</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position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Liability cap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Cognizant standard terms; no uncapped liability for agent behaviour or customer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Legal</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Service-level penalties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on response targets inside coverage hours; none on Azure availability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Legal with delivery</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IP of accelerators and code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Cognizant keeps reusable accelerators; customer owns its configuration and code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Legal</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Change control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New scope, regions or runtimes priced by change request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Delivery with Finance</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Service levels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Response targets only, inside coverage; restore after dependency tests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Delivery with Legal</a:t>
                      </a:r>
                    </a:p>
                  </a:txBody>
                  <a:tcPr marL="73152" marR="73152" marT="36576" marB="36576" anchor="ctr">
                    <a:solidFill>
                      <a:srgbClr val="FFFFFF"/>
                    </a:solidFill>
                  </a:tcPr>
                </a:tc>
              </a:tr>
            </a:tbl>
          </a:graphicData>
        </a:graphic>
      </p:graphicFrame>
      <p:sp>
        <p:nvSpPr>
          <p:cNvPr id="14" name="Rounded Rectangle 13"/>
          <p:cNvSpPr/>
          <p:nvPr/>
        </p:nvSpPr>
        <p:spPr>
          <a:xfrm>
            <a:off x="548640" y="534924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300" b="1" i="0">
                <a:solidFill>
                  <a:srgbClr val="000048"/>
                </a:solidFill>
                <a:latin typeface="Arial"/>
              </a:rPr>
              <a:t>Microsoft motion:  </a:t>
            </a:r>
            <a:r>
              <a:rPr sz="1300" b="0" i="0">
                <a:solidFill>
                  <a:srgbClr val="1E1E2E"/>
                </a:solidFill>
                <a:latin typeface="Arial"/>
              </a:rPr>
              <a:t>engage the account team and partner manager; sustains production workload consumption month after month.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9" name="Table"/>
          <p:cNvGraphicFramePr>
            <a:graphicFrameLocks noGrp="1"/>
          </p:cNvGraphicFramePr>
          <p:nvPr/>
        </p:nvGraphicFramePr>
        <p:xfrm>
          <a:off x="548640" y="1325880"/>
          <a:ext cx="11091672" cy="228600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Onboarding and remediation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role days x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Data Eng., Security support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Internal agreement or work package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agreements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offering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Formula in A16</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unit and uplift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Monitoring, logs, backup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Meters x quantity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 prices (customer)</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workloads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or PTU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 to the service fee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if self-hosted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VM hours plus operations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Separate scope if selected</a:t>
                      </a:r>
                    </a:p>
                  </a:txBody>
                  <a:tcPr marL="73152" marR="73152" marT="36576" marB="36576" anchor="ctr">
                    <a:solidFill>
                      <a:srgbClr val="F5F5F2"/>
                    </a:solidFill>
                  </a:tcPr>
                </a:tc>
              </a:tr>
            </a:tbl>
          </a:graphicData>
        </a:graphic>
      </p:graphicFrame>
      <p:sp>
        <p:nvSpPr>
          <p:cNvPr id="10" name="Rounded Rectangle 9"/>
          <p:cNvSpPr/>
          <p:nvPr/>
        </p:nvSpPr>
        <p:spPr>
          <a:xfrm>
            <a:off x="548640" y="3794760"/>
            <a:ext cx="11091672"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Revenue recognition (Finance owns):  </a:t>
            </a:r>
            <a:r>
              <a:rPr sz="1400" b="0" i="0">
                <a:solidFill>
                  <a:srgbClr val="1E1E2E"/>
                </a:solidFill>
                <a:latin typeface="Arial"/>
              </a:rPr>
              <a:t>Monthly managed service fee; onboarding and exit as fixed fees. Owner: Finance.</a:t>
            </a:r>
          </a:p>
        </p:txBody>
      </p:sp>
      <p:sp>
        <p:nvSpPr>
          <p:cNvPr id="11" name="Rounded Rectangle 10"/>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graphicFrame>
        <p:nvGraphicFramePr>
          <p:cNvPr id="9" name="Table"/>
          <p:cNvGraphicFramePr>
            <a:graphicFrameLocks noGrp="1"/>
          </p:cNvGraphicFramePr>
          <p:nvPr/>
        </p:nvGraphicFramePr>
        <p:xfrm>
          <a:off x="548640" y="1325880"/>
          <a:ext cx="11091671" cy="397764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2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CIS</a:t>
                      </a:r>
                    </a:p>
                    <a:p>
                      <a:pPr algn="ctr"/>
                      <a:r>
                        <a:rPr sz="12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Secu-</a:t>
                      </a:r>
                    </a:p>
                    <a:p>
                      <a:pPr algn="ctr"/>
                      <a:r>
                        <a:rPr sz="12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Dev-</a:t>
                      </a:r>
                    </a:p>
                    <a:p>
                      <a:pPr algn="ctr"/>
                      <a:r>
                        <a:rPr sz="12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Data</a:t>
                      </a:r>
                    </a:p>
                    <a:p>
                      <a:pPr algn="ctr"/>
                      <a:r>
                        <a:rPr sz="12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Integr.</a:t>
                      </a:r>
                    </a:p>
                    <a:p>
                      <a:pPr algn="ctr"/>
                      <a:r>
                        <a:rPr sz="1200" b="1" i="0">
                          <a:solidFill>
                            <a:srgbClr val="FFFFFF"/>
                          </a:solidFill>
                          <a:latin typeface="Arial"/>
                        </a:rPr>
                        <a:t>service</a:t>
                      </a:r>
                    </a:p>
                    <a:p>
                      <a:pPr algn="ctr"/>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Cust.</a:t>
                      </a:r>
                    </a:p>
                    <a:p>
                      <a:pPr algn="ctr"/>
                      <a:r>
                        <a:rPr sz="1200" b="1" i="0">
                          <a:solidFill>
                            <a:srgbClr val="FFFFFF"/>
                          </a:solidFill>
                          <a:latin typeface="Arial"/>
                        </a:rPr>
                        <a:t>work-</a:t>
                      </a:r>
                    </a:p>
                    <a:p>
                      <a:pPr algn="ctr"/>
                      <a:r>
                        <a:rPr sz="1200" b="1" i="0">
                          <a:solidFill>
                            <a:srgbClr val="FFFFFF"/>
                          </a:solidFill>
                          <a:latin typeface="Arial"/>
                        </a:rPr>
                        <a:t>load</a:t>
                      </a:r>
                    </a:p>
                    <a:p>
                      <a:pPr algn="ctr"/>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Comm.</a:t>
                      </a:r>
                    </a:p>
                    <a:p>
                      <a:pPr algn="ctr"/>
                      <a:r>
                        <a:rPr sz="1200" b="1" i="0">
                          <a:solidFill>
                            <a:srgbClr val="FFFFFF"/>
                          </a:solidFill>
                          <a:latin typeface="Arial"/>
                        </a:rPr>
                        <a:t>/ fin.</a:t>
                      </a:r>
                    </a:p>
                  </a:txBody>
                  <a:tcPr marL="73152" marR="73152" marT="36576" marB="36576" anchor="ctr">
                    <a:solidFill>
                      <a:srgbClr val="000048"/>
                    </a:solidFill>
                  </a:tcPr>
                </a:tc>
              </a:tr>
              <a:tr h="426720">
                <a:tc>
                  <a:txBody>
                    <a:bodyPr wrap="square" anchor="ctr">
                      <a:noAutofit/>
                    </a:bodyPr>
                    <a:lstStyle/>
                    <a:p>
                      <a:pPr algn="l"/>
                      <a:r>
                        <a:rPr sz="1200" b="0" i="0">
                          <a:solidFill>
                            <a:srgbClr val="1E1E2E"/>
                          </a:solidFill>
                          <a:latin typeface="Arial"/>
                        </a:rPr>
                        <a:t>Agent 365, Entra CA, Purview and Defender policy</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Service design and onboarding</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Monitoring and alert implementation</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Onboarding readiness testing</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Service acceptance</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Platform incidents and changes</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Agent quality incidents</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Security incidents</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Containment execution</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Recovery and restart approval</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Monthly governance and reporting</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Pricing, attribution and renewal</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41324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2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Accepted platform (offering 01 or equivalent), inventory, owners, ITSM route</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Asset list, agents, alerts, runbooks, coverage need, tower contacts</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Operated service, monthly report, reviews, drills, runbooks maintained</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Contracted assets and coverage; specialist lanes per agreements</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agreements, security resolver, customer service desk</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Onboard, stabilise, operate, review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49936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2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Onboarding gates A1; service acceptance by customer</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Service desk, approvals, containment authority, data owners</a:t>
                      </a:r>
                    </a:p>
                  </a:txBody>
                  <a:tcPr marL="73152" marR="73152" marT="36576" marB="36576" anchor="ctr">
                    <a:solidFill>
                      <a:srgbClr val="F5F5F2"/>
                    </a:solidFill>
                  </a:tcPr>
                </a:tc>
              </a:tr>
              <a:tr h="259080">
                <a:tc>
                  <a:txBody>
                    <a:bodyPr wrap="square" anchor="ctr">
                      <a:noAutofit/>
                    </a:bodyPr>
                    <a:lstStyle/>
                    <a:p>
                      <a:pPr algn="l"/>
                      <a:r>
                        <a:rPr sz="12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asset units + coverage uplift + allowance (A16)</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New assets above band, coverage change, new runtime or region</a:t>
                      </a:r>
                    </a:p>
                  </a:txBody>
                  <a:tcPr marL="73152" marR="73152" marT="36576" marB="36576" anchor="ctr">
                    <a:solidFill>
                      <a:srgbClr val="F5F5F2"/>
                    </a:solidFill>
                  </a:tcPr>
                </a:tc>
              </a:tr>
              <a:tr h="259080">
                <a:tc>
                  <a:txBody>
                    <a:bodyPr wrap="square" anchor="ctr">
                      <a:noAutofit/>
                    </a:bodyPr>
                    <a:lstStyle/>
                    <a:p>
                      <a:pPr algn="l"/>
                      <a:r>
                        <a:rPr sz="12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Exit plan agreed at start; exit package (A19)</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Objectives met, cost reviewed, alert ownership; drills once in scope</a:t>
                      </a:r>
                    </a:p>
                  </a:txBody>
                  <a:tcPr marL="73152" marR="73152" marT="36576" marB="36576" anchor="ctr">
                    <a:solidFill>
                      <a:srgbClr val="F5F5F2"/>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11091672" cy="237744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Proposed packages for pilots</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No 24x7 without funded roster</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Delivery leadership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Policy statement</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Service objectives values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Delivery leadership with customer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Pilot ticket data</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Base, unit and uplift rates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Tower support agreements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agreement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Tower leads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Signed agreements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Security resolver model per customer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Per engagement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CISO delegate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Existing SOC contracts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Staffing bands behind packages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Before first quote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Delivery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Pilot effort data</a:t>
                      </a:r>
                    </a:p>
                  </a:txBody>
                  <a:tcPr marL="73152" marR="73152" marT="36576" marB="36576"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1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sp>
        <p:nvSpPr>
          <p:cNvPr id="9" name="TextBox 8"/>
          <p:cNvSpPr txBox="1"/>
          <p:nvPr/>
        </p:nvSpPr>
        <p:spPr>
          <a:xfrm>
            <a:off x="548640" y="1325880"/>
            <a:ext cx="11091672" cy="4983480"/>
          </a:xfrm>
          <a:prstGeom prst="rect">
            <a:avLst/>
          </a:prstGeom>
          <a:noFill/>
        </p:spPr>
        <p:txBody>
          <a:bodyPr wrap="square" lIns="0" rIns="0" tIns="0" bIns="0" anchor="t">
            <a:noAutofit/>
          </a:bodyPr>
          <a:lstStyle/>
          <a:p>
            <a:pPr algn="l">
              <a:spcAft>
                <a:spcPts val="400"/>
              </a:spcAft>
            </a:pPr>
            <a:r>
              <a:rPr sz="1200" b="1" i="0">
                <a:solidFill>
                  <a:srgbClr val="000048"/>
                </a:solidFill>
                <a:latin typeface="Arial"/>
              </a:rPr>
              <a:t>Foundry Control Plane: manage agents:  </a:t>
            </a:r>
            <a:r>
              <a:rPr sz="1200" b="0" i="0">
                <a:solidFill>
                  <a:srgbClr val="2F78C4"/>
                </a:solidFill>
                <a:latin typeface="Arial"/>
                <a:hlinkClick r:id="rId4"/>
              </a:rPr>
              <a:t>https://learn.microsoft.com/en-us/azure/foundry/control-plane/how-to-manage-agents</a:t>
            </a:r>
          </a:p>
          <a:p>
            <a:pPr algn="l">
              <a:spcAft>
                <a:spcPts val="400"/>
              </a:spcAft>
            </a:pPr>
            <a:r>
              <a:rPr sz="1200" b="1" i="0">
                <a:solidFill>
                  <a:srgbClr val="000048"/>
                </a:solidFill>
                <a:latin typeface="Arial"/>
              </a:rPr>
              <a:t>Foundry Control Plane: register custom agent:  </a:t>
            </a:r>
            <a:r>
              <a:rPr sz="1200" b="0" i="0">
                <a:solidFill>
                  <a:srgbClr val="2F78C4"/>
                </a:solidFill>
                <a:latin typeface="Arial"/>
                <a:hlinkClick r:id="rId5"/>
              </a:rPr>
              <a:t>https://learn.microsoft.com/en-us/azure/foundry/control-plane/register-custom-agent</a:t>
            </a:r>
          </a:p>
          <a:p>
            <a:pPr algn="l">
              <a:spcAft>
                <a:spcPts val="400"/>
              </a:spcAft>
            </a:pPr>
            <a:r>
              <a:rPr sz="1200" b="1" i="0">
                <a:solidFill>
                  <a:srgbClr val="000048"/>
                </a:solidFill>
                <a:latin typeface="Arial"/>
              </a:rPr>
              <a:t>Microsoft Agent 365 now generally available (Microsoft Security blog, 1 May 2026):  </a:t>
            </a:r>
            <a:r>
              <a:rPr sz="1200" b="0" i="0">
                <a:solidFill>
                  <a:srgbClr val="2F78C4"/>
                </a:solidFill>
                <a:latin typeface="Arial"/>
                <a:hlinkClick r:id="rId6"/>
              </a:rPr>
              <a:t>https://www.microsoft.com/en-us/security/blog/2026/05/01/microsoft-agent-365-now-generally-available-expands-capabilities-and-integrations/</a:t>
            </a:r>
          </a:p>
          <a:p>
            <a:pPr algn="l">
              <a:spcAft>
                <a:spcPts val="400"/>
              </a:spcAft>
            </a:pPr>
            <a:r>
              <a:rPr sz="1200" b="1" i="0">
                <a:solidFill>
                  <a:srgbClr val="000048"/>
                </a:solidFill>
                <a:latin typeface="Arial"/>
              </a:rPr>
              <a:t>Conditional Access for agents (Microsoft Learn, updated 30 Sep 2026):  </a:t>
            </a:r>
            <a:r>
              <a:rPr sz="1200" b="0" i="0">
                <a:solidFill>
                  <a:srgbClr val="2F78C4"/>
                </a:solidFill>
                <a:latin typeface="Arial"/>
                <a:hlinkClick r:id="rId7"/>
              </a:rPr>
              <a:t>https://learn.microsoft.com/en-us/entra/identity/conditional-access/agent-id</a:t>
            </a:r>
          </a:p>
          <a:p>
            <a:pPr algn="l">
              <a:spcAft>
                <a:spcPts val="400"/>
              </a:spcAft>
            </a:pPr>
            <a:r>
              <a:rPr sz="1200" b="1" i="0">
                <a:solidFill>
                  <a:srgbClr val="000048"/>
                </a:solidFill>
                <a:latin typeface="Arial"/>
              </a:rPr>
              <a:t>IT Service Management integration (Azure Monitor):  </a:t>
            </a:r>
            <a:r>
              <a:rPr sz="1200" b="0" i="0">
                <a:solidFill>
                  <a:srgbClr val="2F78C4"/>
                </a:solidFill>
                <a:latin typeface="Arial"/>
                <a:hlinkClick r:id="rId8"/>
              </a:rPr>
              <a:t>https://learn.microsoft.com/en-us/azure/azure-monitor/alerts/itsmc-overview</a:t>
            </a:r>
          </a:p>
          <a:p>
            <a:pPr algn="l">
              <a:spcAft>
                <a:spcPts val="400"/>
              </a:spcAft>
            </a:pPr>
            <a:r>
              <a:rPr sz="1200" b="1" i="0">
                <a:solidFill>
                  <a:srgbClr val="000048"/>
                </a:solidFill>
                <a:latin typeface="Arial"/>
              </a:rPr>
              <a:t>Foundry Models retirement schedule:  </a:t>
            </a:r>
            <a:r>
              <a:rPr sz="1200" b="0" i="0">
                <a:solidFill>
                  <a:srgbClr val="2F78C4"/>
                </a:solidFill>
                <a:latin typeface="Arial"/>
                <a:hlinkClick r:id="rId9"/>
              </a:rPr>
              <a:t>https://learn.microsoft.com/en-us/azure/foundry/openai/concepts/model-retirement-schedule</a:t>
            </a:r>
          </a:p>
          <a:p>
            <a:pPr algn="l">
              <a:spcAft>
                <a:spcPts val="400"/>
              </a:spcAft>
            </a:pPr>
            <a:r>
              <a:rPr sz="1200" b="1" i="0">
                <a:solidFill>
                  <a:srgbClr val="000048"/>
                </a:solidFill>
                <a:latin typeface="Arial"/>
              </a:rPr>
              <a:t>Provisioned throughput concepts:  </a:t>
            </a:r>
            <a:r>
              <a:rPr sz="1200" b="0" i="0">
                <a:solidFill>
                  <a:srgbClr val="2F78C4"/>
                </a:solidFill>
                <a:latin typeface="Arial"/>
                <a:hlinkClick r:id="rId10"/>
              </a:rPr>
              <a:t>https://learn.microsoft.com/en-us/azure/foundry/openai/concepts/provisioned-throughput</a:t>
            </a:r>
          </a:p>
          <a:p>
            <a:pPr algn="l">
              <a:spcAft>
                <a:spcPts val="400"/>
              </a:spcAft>
            </a:pPr>
            <a:r>
              <a:rPr sz="1200" b="1" i="0">
                <a:solidFill>
                  <a:srgbClr val="000048"/>
                </a:solidFill>
                <a:latin typeface="Arial"/>
              </a:rPr>
              <a:t>Azure Retail Prices API: Log Analytics, East US 2:  </a:t>
            </a:r>
            <a:r>
              <a:rPr sz="1200" b="0" i="0">
                <a:solidFill>
                  <a:srgbClr val="2F78C4"/>
                </a:solidFill>
                <a:latin typeface="Arial"/>
                <a:hlinkClick r:id="rId11"/>
              </a:rPr>
              <a:t>https://prices.azure.com/api/retail/prices?$filter=serviceName eq 'Log Analytics' and armRegionName eq 'eastus2'</a:t>
            </a:r>
          </a:p>
          <a:p>
            <a:pPr algn="l">
              <a:spcAft>
                <a:spcPts val="400"/>
              </a:spcAft>
            </a:pPr>
            <a:r>
              <a:rPr sz="1200" b="1" i="0">
                <a:solidFill>
                  <a:srgbClr val="000048"/>
                </a:solidFill>
                <a:latin typeface="Arial"/>
              </a:rPr>
              <a:t>AI gateway capabilities in API Management:  </a:t>
            </a:r>
            <a:r>
              <a:rPr sz="1200" b="0" i="0">
                <a:solidFill>
                  <a:srgbClr val="2F78C4"/>
                </a:solidFill>
                <a:latin typeface="Arial"/>
                <a:hlinkClick r:id="rId12"/>
              </a:rPr>
              <a:t>https://learn.microsoft.com/en-us/azure/api-management/genai-gateway-capabilities</a:t>
            </a:r>
          </a:p>
          <a:p>
            <a:pPr algn="l">
              <a:spcAft>
                <a:spcPts val="400"/>
              </a:spcAft>
            </a:pPr>
            <a:r>
              <a:rPr sz="1200" b="1" i="0">
                <a:solidFill>
                  <a:srgbClr val="000048"/>
                </a:solidFill>
                <a:latin typeface="Arial"/>
              </a:rPr>
              <a:t>AI threat protection in Microsoft Defender for Cloud:  </a:t>
            </a:r>
            <a:r>
              <a:rPr sz="1200" b="0" i="0">
                <a:solidFill>
                  <a:srgbClr val="2F78C4"/>
                </a:solidFill>
                <a:latin typeface="Arial"/>
                <a:hlinkClick r:id="rId13"/>
              </a:rPr>
              <a:t>https://learn.microsoft.com/en-us/azure/defender-for-cloud/ai-threat-protection</a:t>
            </a:r>
          </a:p>
          <a:p>
            <a:pPr algn="l">
              <a:spcAft>
                <a:spcPts val="400"/>
              </a:spcAft>
            </a:pPr>
            <a:r>
              <a:rPr sz="1200" b="1" i="0">
                <a:solidFill>
                  <a:srgbClr val="000048"/>
                </a:solidFill>
                <a:latin typeface="Arial"/>
              </a:rPr>
              <a:t>Microsoft Purview data security and compliance for AI:  </a:t>
            </a:r>
            <a:r>
              <a:rPr sz="1200" b="0" i="0">
                <a:solidFill>
                  <a:srgbClr val="2F78C4"/>
                </a:solidFill>
                <a:latin typeface="Arial"/>
                <a:hlinkClick r:id="rId14"/>
              </a:rPr>
              <a:t>https://learn.microsoft.com/en-us/purview/ai-microsoft-purview</a:t>
            </a:r>
          </a:p>
          <a:p>
            <a:pPr algn="l">
              <a:spcAft>
                <a:spcPts val="400"/>
              </a:spcAft>
            </a:pPr>
            <a:r>
              <a:rPr sz="1200" b="1" i="0">
                <a:solidFill>
                  <a:srgbClr val="000048"/>
                </a:solidFill>
                <a:latin typeface="Arial"/>
              </a:rPr>
              <a:t>EU AI Act Update: Digital Omnibus finalises compliance changes (Orrick, third-party law-firm summary, 29 Jul 2026; EUR-Lex text not verified):  </a:t>
            </a:r>
            <a:r>
              <a:rPr sz="1200" b="0" i="0">
                <a:solidFill>
                  <a:srgbClr val="2F78C4"/>
                </a:solidFill>
                <a:latin typeface="Arial"/>
                <a:hlinkClick r:id="rId15"/>
              </a:rPr>
              <a:t>https://www.orrick.com/en/Insights/2026/07/EU-AI-Act-Update-Digital-Omnibus-Finalizes-8-Compliance-Changes</a:t>
            </a:r>
          </a:p>
          <a:p>
            <a:pPr algn="l">
              <a:spcAft>
                <a:spcPts val="400"/>
              </a:spcAft>
            </a:pPr>
            <a:r>
              <a:rPr sz="1200" b="1" i="0">
                <a:solidFill>
                  <a:srgbClr val="000048"/>
                </a:solidFill>
                <a:latin typeface="Arial"/>
              </a:rPr>
              <a:t>OWASP Top 10 for LLM Applications 2026 (OWASP GenAI Security Project, released 3 Aug 2026):  </a:t>
            </a:r>
            <a:r>
              <a:rPr sz="1200" b="0" i="0">
                <a:solidFill>
                  <a:srgbClr val="2F78C4"/>
                </a:solidFill>
                <a:latin typeface="Arial"/>
                <a:hlinkClick r:id="rId16"/>
              </a:rPr>
              <a:t>https://genai.owasp.org/resource/owasp-genai-llm-top-10-2026/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 (continued)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S1B</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Managed AI Platform Operations  ·  v4.0  ·  11 Oct 2026  ·  Working proposal, not approved terms</a:t>
            </a:r>
          </a:p>
        </p:txBody>
      </p:sp>
      <p:sp>
        <p:nvSpPr>
          <p:cNvPr id="7" name="IndexLink">
            <a:hlinkClick action="ppaction://hlinksldjump" r:id="rId8"/>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sp>
        <p:nvSpPr>
          <p:cNvPr id="9" name="TextBox 8"/>
          <p:cNvSpPr txBox="1"/>
          <p:nvPr/>
        </p:nvSpPr>
        <p:spPr>
          <a:xfrm>
            <a:off x="548640" y="1325880"/>
            <a:ext cx="11091672" cy="4983480"/>
          </a:xfrm>
          <a:prstGeom prst="rect">
            <a:avLst/>
          </a:prstGeom>
          <a:noFill/>
        </p:spPr>
        <p:txBody>
          <a:bodyPr wrap="square" lIns="0" rIns="0" tIns="0" bIns="0" anchor="t">
            <a:noAutofit/>
          </a:bodyPr>
          <a:lstStyle/>
          <a:p>
            <a:pPr algn="l">
              <a:spcAft>
                <a:spcPts val="400"/>
              </a:spcAft>
            </a:pPr>
            <a:r>
              <a:rPr sz="1200" b="1" i="0">
                <a:solidFill>
                  <a:srgbClr val="000048"/>
                </a:solidFill>
                <a:latin typeface="Arial"/>
              </a:rPr>
              <a:t>Azure Architecture Icons (V24):  </a:t>
            </a:r>
            <a:r>
              <a:rPr sz="1200" b="0" i="0">
                <a:solidFill>
                  <a:srgbClr val="2F78C4"/>
                </a:solidFill>
                <a:latin typeface="Arial"/>
                <a:hlinkClick r:id="rId4"/>
              </a:rPr>
              <a:t>https://learn.microsoft.com/en-us/azure/architecture/icons/</a:t>
            </a:r>
          </a:p>
          <a:p>
            <a:pPr algn="l">
              <a:spcAft>
                <a:spcPts val="400"/>
              </a:spcAft>
            </a:pPr>
            <a:r>
              <a:rPr sz="1200" b="1" i="0">
                <a:solidFill>
                  <a:srgbClr val="000048"/>
                </a:solidFill>
                <a:latin typeface="Arial"/>
              </a:rPr>
              <a:t>az-icons.com catalogue of official Azure icons (July 2026 set):  </a:t>
            </a:r>
            <a:r>
              <a:rPr sz="1200" b="0" i="0">
                <a:solidFill>
                  <a:srgbClr val="2F78C4"/>
                </a:solidFill>
                <a:latin typeface="Arial"/>
                <a:hlinkClick r:id="rId5"/>
              </a:rPr>
              <a:t>https://az-icons.com/</a:t>
            </a:r>
          </a:p>
          <a:p>
            <a:pPr algn="l">
              <a:spcAft>
                <a:spcPts val="400"/>
              </a:spcAft>
            </a:pPr>
            <a:r>
              <a:rPr sz="1200" b="1" i="0">
                <a:solidFill>
                  <a:srgbClr val="000048"/>
                </a:solidFill>
                <a:latin typeface="Arial"/>
              </a:rPr>
              <a:t>GTM proposal V3 (managed operations section):  </a:t>
            </a:r>
            <a:r>
              <a:rPr sz="1200" b="0" i="0">
                <a:solidFill>
                  <a:srgbClr val="2F78C4"/>
                </a:solidFill>
                <a:latin typeface="Arial"/>
                <a:hlinkClick r:id="rId6"/>
              </a:rPr>
              <a:t>https://github.com/upendra25312/AI-Foundry-GTM-offering-/blob/main/CIS_Infra_Azure_AI_Platform_GTM_Proposal_V3.docx</a:t>
            </a:r>
          </a:p>
          <a:p>
            <a:pPr algn="l">
              <a:spcAft>
                <a:spcPts val="400"/>
              </a:spcAft>
            </a:pPr>
            <a:r>
              <a:rPr sz="1200" b="1" i="0">
                <a:solidFill>
                  <a:srgbClr val="000048"/>
                </a:solidFill>
                <a:latin typeface="Arial"/>
              </a:rPr>
              <a:t>Foundry agent monitoring dashboard:  </a:t>
            </a:r>
            <a:r>
              <a:rPr sz="1200" b="0" i="0">
                <a:solidFill>
                  <a:srgbClr val="2F78C4"/>
                </a:solidFill>
                <a:latin typeface="Arial"/>
                <a:hlinkClick r:id="rId7"/>
              </a:rPr>
              <a:t>https://learn.microsoft.com/en-us/azure/foundry/observability/how-to/how-to-monitor-agents-dashboard</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Managed AI Platform Operations v4.0</dc:title>
  <dcterms:created xsi:type="dcterms:W3CDTF">2026-10-10T13:56:28.3080000Z</dcterms:created>
  <dcterms:modified xsi:type="dcterms:W3CDTF">2026-10-10T13:56:28.3090000Z</dcterms:modified>
  <dc:subject>Proposed CIS Infra GTM offering for internal leadership review</dc:subject>
</coreProperties>
</file>