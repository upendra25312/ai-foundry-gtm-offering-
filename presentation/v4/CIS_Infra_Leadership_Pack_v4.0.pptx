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1" ns0:id="rId14"/>
    <p:sldId xmlns:ns0="http://schemas.openxmlformats.org/officeDocument/2006/relationships" id="264" ns0:id="rId17"/>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65" ns0:id="rId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4" Type="http://schemas.openxmlformats.org/officeDocument/2006/relationships/slide" Target="slides/slide6.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have prepared five complete offerings for the Azure AI platform. Today we ask leadership to choose which ones to test for 90 days, and we give our own recommendation. Everything else in this deck supports that choice.</a:t>
            </a:r>
          </a:p>
          <a:p/>
          <a:p>
            <a:r>
              <a:t>Likely question: Is anything approved yet?</a:t>
            </a:r>
          </a:p>
          <a:p>
            <a:r>
              <a:t>Answer: No. This is a proposal. Rates, budgets and sponsors are inputs we need from leadership and Finance.</a:t>
            </a:r>
          </a:p>
          <a:p/>
          <a:p>
            <a:r>
              <a:t>DETAIL AND CAVEATS</a:t>
            </a:r>
          </a:p>
          <a:p>
            <a:r>
              <a:t>Opening slide of the master deck. Version 4.0 adds a concrete ask per offering, an author recommendation, a horizons view, the business case structure, internal positioning, governance and sign-off status.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answer first: we have five defined offerings and we ask you to choose which to test for 90 days. Our recommendation, on slide 4, is to start with the FinOps assessment and the AI gateway, because they are fastest to revenue and cheapest to prove. But the choice is yours.</a:t>
            </a:r>
          </a:p>
          <a:p/>
          <a:p>
            <a:r>
              <a:t>Likely question: Why not launch all five now?</a:t>
            </a:r>
          </a:p>
          <a:p>
            <a:r>
              <a:t>Answer: You can. The 90-day test with stop rules limits the risk whichever you choose.</a:t>
            </a:r>
          </a:p>
          <a:p/>
          <a:p>
            <a:r>
              <a:t>DETAIL AND CAVEATS</a:t>
            </a:r>
          </a:p>
          <a:p>
            <a:r>
              <a:t>Answer-first summary. The decision table is on the last executive slide.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changed in 2026: Microsoft shipped agent control planes, models now retire inside commitment terms, and AI and resilience rules have fixed dates. Each creates a reason to buy.</a:t>
            </a:r>
          </a:p>
          <a:p/>
          <a:p>
            <a:r>
              <a:t>Likely question: Where is the demand evidence?</a:t>
            </a:r>
          </a:p>
          <a:p>
            <a:r>
              <a:t>Answer: We do not claim pipeline. The 90-day test asks account teams for qualified candidates per offering.</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Models retirement schedule: https://learn.microsoft.com/en-us/azure/foundry/openai/concepts/model-retirement-schedule</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Each offering serves a different goal: fast start, large deals, broad demand, differentiation or recurring revenue. If we had to choose, we would start with the FinOps assessment and the gateway, because they earn soonest with the least internal build effort, and they pull through the landing zone and managed operations. Leadership decides.</a:t>
            </a:r>
          </a:p>
          <a:p/>
          <a:p>
            <a:r>
              <a:t>Likely question: Why not lead with agent governance? It is the most exciting.</a:t>
            </a:r>
          </a:p>
          <a:p>
            <a:r>
              <a:t>Answer: It is, but its kill switch is unproven. We would fund its proof of concept in parallel and sell it once the evidence exists.</a:t>
            </a:r>
          </a:p>
          <a:p/>
          <a:p>
            <a:r>
              <a:t>DETAIL AND CAVEATS</a:t>
            </a:r>
          </a:p>
          <a:p>
            <a:r>
              <a:t>Side-by-side comparison so leadership can choose. First-sale fee bands use the illustrative $1,000 per role day, not a Cognizant rate. The author recommendation is a view, not a decision: leadership decides. Reasoning: 04 and 03 have the shortest time to first revenue, need the lowest internal build effort in role days (deck 00 appendix A9); 03 depends on a landing zone, so pair it with a 01 assessment where none exists, and both create demand for 01 and 05. 02 is the most differentiated but should wait for its kill-switch proof of concept.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settles internal ownership. Microsoft 365 Copilot belongs to our M365 and D365 teams. We own the Azure side: Foundry, the landing zone, the gateway, the tool registry, FinOps and operations. Copilot Studio and Agent 365 sit in the middle under joint rules, and Security owns their policies.</a:t>
            </a:r>
          </a:p>
          <a:p/>
          <a:p>
            <a:r>
              <a:t>Likely question: Who leads a deal that has both?</a:t>
            </a:r>
          </a:p>
          <a:p>
            <a:r>
              <a:t>Answer: Proposal: the team with the larger first work package leads, and the other is credited its packages. Practice leads decide.</a:t>
            </a:r>
          </a:p>
          <a:p/>
          <a:p>
            <a:r>
              <a:t>DETAIL AND CAVEATS</a:t>
            </a:r>
          </a:p>
          <a:p>
            <a:r>
              <a:t>Ownership map. Microsoft 365 Copilot is owned by the Cognizant M365 and D365 teams, not CIS Infra. The split between them (for example Copilot in Microsoft 365 apps for the M365 team and Copilot in Dynamics 365 for the D365 team) and who leads a joint deal are open decisions in the register. Copilot Studio administration stays with the customer Power Platform team; CIS Infra covers Copilot Studio agents as a runtime in the catalogue, gateway and containment. Security owns policy for Agent 365, Entra, Purview and Defender; CIS Infra implements. API Center is built by CIS Infra in offering 03.</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Microsoft cares about consumption. Every offering here moves AI workloads into production, which grows Azure use; even the FinOps assessment helps customers buy more confidently. For us, services co-sell needs a designation or specialization, and the AI Platform on Azure specialization is the obvious one to confirm. Our alliance team will co-author this slide; it has not reviewed it yet.</a:t>
            </a:r>
          </a:p>
          <a:p/>
          <a:p>
            <a:r>
              <a:t>Likely question: Will Microsoft fund our assessments?</a:t>
            </a:r>
          </a:p>
          <a:p>
            <a:r>
              <a:t>Answer: Sometimes, through Azure Accelerate, per customer. Where funding exists we use it for discovery and charge for the deeper assessment.</a:t>
            </a:r>
          </a:p>
          <a:p/>
          <a:p>
            <a:r>
              <a:t>DETAIL AND CAVEATS</a:t>
            </a:r>
          </a:p>
          <a:p>
            <a:r>
              <a:t>Consumption narrative (B6): governed platforms unblock production workloads, which grows Azure consumption; deck 04 still gives honest FinOps advice on how to buy that consumption well. Services co-sell (Microsoft Learn): partners need a Solutions partner designation, a specialization or Azure Expert MSP; a Marketplace consulting offer is optional. Relevant specializations (Microsoft Learn, updated 29 Sep 2026): AI Platform on Microsoft Azure, AI Apps on Microsoft Azure, and Frontier Partner. Azure Accelerate offers funding support and expert guidance; eligibility is per customer and confirmed by the alliance team. Paid versus funded assessments: use Microsoft funding where eligible for discovery, and charge for the deeper Cognizant assessment and decision memo. Alliance team to co-author; not yet reviewed (deck 00 A12).</a:t>
            </a:r>
          </a:p>
          <a:p/>
          <a:p>
            <a:r>
              <a:t>Sources (checked 11 Oct 2026):</a:t>
            </a:r>
          </a:p>
          <a:p>
            <a:r>
              <a:t>Services co-sell (Microsoft Learn, Partner Center): https://learn.microsoft.com/partner-center/services-co-sell</a:t>
            </a:r>
          </a:p>
          <a:p>
            <a:r>
              <a:t>Specializations (Microsoft Learn, Partner Center, updated 29 Sep 2026): https://learn.microsoft.com/en-us/partner-center/membership/specializations-apply</a:t>
            </a:r>
          </a:p>
          <a:p>
            <a:r>
              <a:t>What's new for partners, Jan 2026 (Microsoft Partner blog): https://partner.microsoft.com/blog/article/whats-new-for-partners-jan-2026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Here is the concrete ask. For each offering you choose, we need a 90-day budget, a sponsor and owner, and a headcount; those are yours to set. We propose the stop rule and the success measure for each, so everyone knows what failure and success look like on day 90.</a:t>
            </a:r>
          </a:p>
          <a:p/>
          <a:p>
            <a:r>
              <a:t>Likely question: What if we choose all five?</a:t>
            </a:r>
          </a:p>
          <a:p>
            <a:r>
              <a:t>Answer: Then all five rows apply. Our recommendation is to fund 04 and 03 fully and the 02 proof of concept, and keep 01 and 05 ready for the first pull-through.</a:t>
            </a:r>
          </a:p>
          <a:p/>
          <a:p>
            <a:r>
              <a:t>DETAIL AND CAVEATS</a:t>
            </a:r>
          </a:p>
          <a:p>
            <a:r>
              <a:t>Concrete ask per offering (L1). Budget, sponsor and owner, and headcount are inputs required from CIS Infra leadership, Finance and the delivery lead; no amount or name is assumed. Stop rules and success measures are proposals for leadership to accept or change. Validation runs 90 days with a checkpoint at day 30. Full register: deck 00 appendix D1 and the inputs-required register.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AI Capacity and FinOps Assessment in one page. Measure real AI demand, then choose PAYG, PTU, hybrid or self-hosted capacity on evidence; check agent licence costs. The buyer is: FinOps lead or CFO delegate. The usual trigger: Spend growing faster than usage; PTU or licence decision due. To start, we build: Cost model and method (15 to 25 role days). Main dependency: Customer cost data and agreement prices.</a:t>
            </a:r>
          </a:p>
          <a:p/>
          <a:p>
            <a:r>
              <a:t>Likely question: Where is the detail?</a:t>
            </a:r>
          </a:p>
          <a:p>
            <a:r>
              <a:t>Answer: In deck 04, which has the architecture, ranges, risks, RACI and sources.</a:t>
            </a:r>
          </a:p>
          <a:p/>
          <a:p>
            <a:r>
              <a:t>DETAIL AND CAVEATS</a:t>
            </a:r>
          </a:p>
          <a:p>
            <a:r>
              <a:t>One-page summary of offering 04 (AI Capacity and FinOps Assessment). Full detail in deck 04.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AI Platform / Landing Zone in one page. Assess, extend or establish the Azure foundation for AI workloads on Microsoft’s AI Landing Zone accelerator. The buyer is: Cloud platform owner. The usual trigger: First production AI workload blocked by platform gaps. To start, we build: Lab build on Azure Verified Modules (30 to 50 role days). Main dependency: DevOps owning Terraform; UK and Middle East residency gate.</a:t>
            </a:r>
          </a:p>
          <a:p/>
          <a:p>
            <a:r>
              <a:t>Likely question: Where is the detail?</a:t>
            </a:r>
          </a:p>
          <a:p>
            <a:r>
              <a:t>Answer: In deck 01, which has the architecture, ranges, risks, RACI and sources.</a:t>
            </a:r>
          </a:p>
          <a:p/>
          <a:p>
            <a:r>
              <a:t>DETAIL AND CAVEATS</a:t>
            </a:r>
          </a:p>
          <a:p>
            <a:r>
              <a:t>One-page summary of offering 01 (AI Platform / Landing Zone). Full detail in deck 01.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AI Gateway Implementation in one page. One governed path for every model and tool call: API Management for traffic, API Center for which tools exist. The buyer is: Platform or API owner. The usual trigger: Many teams calling models directly; keys found in apps. To start, we build: Policy library and test harness (25 to 40 role days). Main dependency: Security identity design.</a:t>
            </a:r>
          </a:p>
          <a:p/>
          <a:p>
            <a:r>
              <a:t>Likely question: Where is the detail?</a:t>
            </a:r>
          </a:p>
          <a:p>
            <a:r>
              <a:t>Answer: In deck 03, which has the architecture, ranges, risks, RACI and sources.</a:t>
            </a:r>
          </a:p>
          <a:p/>
          <a:p>
            <a:r>
              <a:t>DETAIL AND CAVEATS</a:t>
            </a:r>
          </a:p>
          <a:p>
            <a:r>
              <a:t>One-page summary of offering 03 (AI Gateway Implementation). Full detail in deck 03.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Governance and Operations in one page. Configure Agent 365 and the Foundry Control Plane first; add usage evidence and a stop proven in a pilot only where needed. The buyer is: AI platform leader with the CISO delegate. The usual trigger: Agent sprawl; audit request; an agent incident. To start, we build: Internal kill-switch PoC (25 to 45 role days) and catalogue. Main dependency: Agent 365 licensing; Security as policy owner.</a:t>
            </a:r>
          </a:p>
          <a:p/>
          <a:p>
            <a:r>
              <a:t>Likely question: Where is the detail?</a:t>
            </a:r>
          </a:p>
          <a:p>
            <a:r>
              <a:t>Answer: In deck 02, which has the architecture, ranges, risks, RACI and sources.</a:t>
            </a:r>
          </a:p>
          <a:p/>
          <a:p>
            <a:r>
              <a:t>DETAIL AND CAVEATS</a:t>
            </a:r>
          </a:p>
          <a:p>
            <a:r>
              <a:t>One-page summary of offering 02 (Agent Governance and Operations). Full detail in deck 02.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Managed AI Platform Operations in one page. Run the AI platform monthly: health, incidents, changes, agent reviews and cost reviews; drills once proven. The buyer is: IT service owner. The usual trigger: An AI workload entering production. To start, we build: Runbooks, tooling, roster (20 to 40 role days). Main dependency: Signed tower agreements; funded 24x7 roster.</a:t>
            </a:r>
          </a:p>
          <a:p/>
          <a:p>
            <a:r>
              <a:t>Likely question: Where is the detail?</a:t>
            </a:r>
          </a:p>
          <a:p>
            <a:r>
              <a:t>Answer: In deck 05, which has the architecture, ranges, risks, RACI and sources.</a:t>
            </a:r>
          </a:p>
          <a:p/>
          <a:p>
            <a:r>
              <a:t>DETAIL AND CAVEATS</a:t>
            </a:r>
          </a:p>
          <a:p>
            <a:r>
              <a:t>One-page summary of offering 05 (Managed AI Platform Operations). Full detail in deck 05.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Azure AI Platform Portfolio</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Five defined CIS Infra offerings for the Azure AI platform: leadership chooses which to test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Master portfolio view for decks 01 to 05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Pick from five defined offerings and fund a 90-day test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LEADERSHIP PACK  ·  2 OF 12</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Customers scale AI agents on platforms nobody owns end to end: capacity, cost, control and operations.</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Five CIS Infra offerings: assess, build, control traffic, govern agents and run. Each sells alone or in sequence.</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Governed Azure AI platforms in production, with recurring CIS Infra revenue from operations.</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Customers reach production faster with measured cost; Microsoft gains Azure consumption; we gain services.</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Choose which offerings to test: one, several or all five</a:t>
            </a:r>
          </a:p>
          <a:p>
            <a:pPr algn="l" marL="201168" indent="-201168">
              <a:spcAft>
                <a:spcPts val="1000"/>
              </a:spcAft>
              <a:buFont typeface="Arial"/>
              <a:buChar char="•"/>
            </a:pPr>
            <a:r>
              <a:rPr sz="2000" b="0" i="0">
                <a:solidFill>
                  <a:srgbClr val="FFFFFF"/>
                </a:solidFill>
                <a:latin typeface="Arial"/>
              </a:rPr>
              <a:t>Name a sponsor and owner for each</a:t>
            </a:r>
          </a:p>
          <a:p>
            <a:pPr algn="l" marL="201168" indent="-201168">
              <a:spcAft>
                <a:spcPts val="1000"/>
              </a:spcAft>
              <a:buFont typeface="Arial"/>
              <a:buChar char="•"/>
            </a:pPr>
            <a:r>
              <a:rPr sz="2000" b="0" i="0">
                <a:solidFill>
                  <a:srgbClr val="FFFFFF"/>
                </a:solidFill>
                <a:latin typeface="Arial"/>
              </a:rPr>
              <a:t>Fund a 90-day validation with stop rules</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Rates, budgets and sponsors are inputs required. Fee bands use an illustrative $1,000 per role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sprawl, model churn and AI rules create 2026 demand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LEADERSHIP PACK  ·  3 OF 12</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control planes are GA</a:t>
            </a:r>
          </a:p>
          <a:p>
            <a:pPr algn="l">
              <a:spcAft>
                <a:spcPts val="400"/>
              </a:spcAft>
            </a:pPr>
            <a:r>
              <a:rPr sz="1800" b="0" i="0">
                <a:solidFill>
                  <a:srgbClr val="1E1E2E"/>
                </a:solidFill>
                <a:latin typeface="Arial"/>
              </a:rPr>
              <a:t>Agent 365 has been generally available since 1 May 2026, so agent governance is now a budget line.</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retire every few months</a:t>
            </a:r>
          </a:p>
          <a:p>
            <a:pPr algn="l">
              <a:spcAft>
                <a:spcPts val="400"/>
              </a:spcAft>
            </a:pPr>
            <a:r>
              <a:rPr sz="1800" b="0" i="0">
                <a:solidFill>
                  <a:srgbClr val="1E1E2E"/>
                </a:solidFill>
                <a:latin typeface="Arial"/>
              </a:rPr>
              <a:t>gpt-4.1 retires 14 Apr 2027 and gpt-5.4 on 2 Sep 2027. Capacity and routing must keep moving.</a:t>
            </a:r>
          </a:p>
          <a:p>
            <a:pPr algn="l"/>
            <a:r>
              <a:rPr sz="1200" b="0" i="0">
                <a:solidFill>
                  <a:srgbClr val="53565A"/>
                </a:solidFill>
                <a:latin typeface="Arial"/>
              </a:rPr>
              <a:t>Source: Foundry retirement schedule</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Regulation has dates</a:t>
            </a:r>
          </a:p>
          <a:p>
            <a:pPr algn="l">
              <a:spcAft>
                <a:spcPts val="400"/>
              </a:spcAft>
            </a:pPr>
            <a:r>
              <a:rPr sz="1800" b="0" i="0">
                <a:solidFill>
                  <a:srgbClr val="1E1E2E"/>
                </a:solidFill>
                <a:latin typeface="Arial"/>
              </a:rPr>
              <a:t>EU AI Act high-risk duties apply from 2 Dec 2027 (Annex III); DORA has applied since 17 Jan 2025.</a:t>
            </a:r>
          </a:p>
          <a:p>
            <a:pPr algn="l"/>
            <a:r>
              <a:rPr sz="1200" b="0" i="0">
                <a:solidFill>
                  <a:srgbClr val="53565A"/>
                </a:solidFill>
                <a:latin typeface="Arial"/>
              </a:rPr>
              <a:t>Sources: Orrick (third party; EUR-Lex text not verified); DORA: EUR-Lex</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CIO or AI platform leader with the CISO delegate, FinOps lead and IT service owner; CFO or head of operations for business cases.</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Agents moving to production; unexplained AI spend; an audit or incident; a Microsoft licence or capacity decision.</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deck 00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Each option suits a goal; we would start with 04 and 03</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LEADERSHIP PACK  ·  4 OF 12</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graphicFrame>
        <p:nvGraphicFramePr>
          <p:cNvPr id="8" name="Table"/>
          <p:cNvGraphicFramePr>
            <a:graphicFrameLocks noGrp="1"/>
          </p:cNvGraphicFramePr>
          <p:nvPr/>
        </p:nvGraphicFramePr>
        <p:xfrm>
          <a:off x="548640" y="1325880"/>
          <a:ext cx="7086600" cy="3474720"/>
        </p:xfrm>
        <a:graphic>
          <a:graphicData uri="http://schemas.openxmlformats.org/drawingml/2006/table">
            <a:tbl>
              <a:tblPr firstRow="1" bandRow="0">
                <a:tableStyleId>{5C22544A-7EE6-4342-B048-85BDC9FD1C3A}</a:tableStyleId>
              </a:tblPr>
              <a:tblGrid>
                <a:gridCol w="2148840"/>
                <a:gridCol w="2011680"/>
                <a:gridCol w="1234440"/>
                <a:gridCol w="1691640"/>
              </a:tblGrid>
              <a:tr h="579120">
                <a:tc>
                  <a:txBody>
                    <a:bodyPr wrap="square" anchor="ctr">
                      <a:noAutofit/>
                    </a:bodyPr>
                    <a:lstStyle/>
                    <a:p>
                      <a:pPr algn="l"/>
                      <a:r>
                        <a:rPr sz="16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First sale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First revenue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Good choice if you want</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04 FinOps Assessment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$20k to $40k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 fast, low-risk start</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01 Landing Zone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$15k to $30k, then $140k to $220k</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5 weeks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Largest one-time deals</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03 AI Gateway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$10k to $20k, then $45k to $90k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2 to 4 weeks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Broad, repeatable demand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$15k to $25k, pilot later</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4 weeks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Edge, once proven</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$30k to $60k a month</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4 to 8 weeks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Recurring revenue</a:t>
                      </a:r>
                    </a:p>
                  </a:txBody>
                  <a:tcPr marL="73152" marR="73152" marT="36576" marB="36576" anchor="ctr">
                    <a:solidFill>
                      <a:srgbClr val="FFFFFF"/>
                    </a:solidFill>
                  </a:tcPr>
                </a:tc>
              </a:tr>
            </a:tbl>
          </a:graphicData>
        </a:graphic>
      </p:graphicFrame>
      <p:sp>
        <p:nvSpPr>
          <p:cNvPr id="9" name="Rounded Rectangle 8"/>
          <p:cNvSpPr/>
          <p:nvPr/>
        </p:nvSpPr>
        <p:spPr>
          <a:xfrm>
            <a:off x="7863840" y="1325880"/>
            <a:ext cx="3776472" cy="4206240"/>
          </a:xfrm>
          <a:prstGeom prst="roundRect">
            <a:avLst>
              <a:gd name="adj" fmla="val 1937"/>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600"/>
              </a:spcAft>
            </a:pPr>
            <a:r>
              <a:rPr sz="1600" b="1" i="0">
                <a:solidFill>
                  <a:srgbClr val="26EFE9"/>
                </a:solidFill>
                <a:latin typeface="Arial"/>
              </a:rPr>
              <a:t>Author recommendation</a:t>
            </a:r>
          </a:p>
          <a:p>
            <a:pPr algn="l">
              <a:spcAft>
                <a:spcPts val="800"/>
              </a:spcAft>
            </a:pPr>
            <a:r>
              <a:rPr sz="2200" b="1" i="0">
                <a:solidFill>
                  <a:srgbClr val="FFFFFF"/>
                </a:solidFill>
                <a:latin typeface="Arial"/>
              </a:rPr>
              <a:t>Start with 04 and 03.</a:t>
            </a:r>
          </a:p>
          <a:p>
            <a:pPr algn="l">
              <a:spcAft>
                <a:spcPts val="800"/>
              </a:spcAft>
            </a:pPr>
            <a:r>
              <a:rPr sz="1700" b="0" i="0">
                <a:solidFill>
                  <a:srgbClr val="FFFFFF"/>
                </a:solidFill>
                <a:latin typeface="Arial"/>
              </a:rPr>
              <a:t>Fastest to revenue and lowest internal build effort (A9). Pair 03 with a 01 assessment where no landing zone exists. Run the 02 PoC in parallel.</a:t>
            </a:r>
          </a:p>
          <a:p>
            <a:pPr algn="l"/>
            <a:r>
              <a:rPr sz="1800" b="1" i="0">
                <a:solidFill>
                  <a:srgbClr val="26EFE9"/>
                </a:solidFill>
                <a:latin typeface="Arial"/>
              </a:rPr>
              <a:t>Leadership decides.</a:t>
            </a:r>
          </a:p>
        </p:txBody>
      </p:sp>
      <p:sp>
        <p:nvSpPr>
          <p:cNvPr id="10" name="Rounded Rectangle 9"/>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bands use an illustrative $1,000 per role day, not a Cognizant rate. Detail: deck 00 appendix A1; business case: deck 00 appendix A8.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M365 Copilot stays with M365 and D365; we own the Azure side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LEADERSHIP PACK  ·  5 OF 12</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640080"/>
          </a:xfrm>
          <a:prstGeom prst="roundRect">
            <a:avLst>
              <a:gd name="adj" fmla="val 11428"/>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Cognizant M365 and D365 teams</a:t>
            </a:r>
          </a:p>
        </p:txBody>
      </p:sp>
      <p:sp>
        <p:nvSpPr>
          <p:cNvPr id="9" name="Rounded Rectangle 8"/>
          <p:cNvSpPr/>
          <p:nvPr/>
        </p:nvSpPr>
        <p:spPr>
          <a:xfrm>
            <a:off x="548640" y="210312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Microsoft 365 Copilot</a:t>
            </a:r>
          </a:p>
          <a:p>
            <a:pPr algn="l"/>
            <a:r>
              <a:rPr sz="1600" b="0" i="0">
                <a:solidFill>
                  <a:srgbClr val="1E1E2E"/>
                </a:solidFill>
                <a:latin typeface="Arial"/>
              </a:rPr>
              <a:t>Microsoft 365 apps (M365 team, to confirm)</a:t>
            </a:r>
          </a:p>
        </p:txBody>
      </p:sp>
      <p:sp>
        <p:nvSpPr>
          <p:cNvPr id="10" name="Rounded Rectangle 9"/>
          <p:cNvSpPr/>
          <p:nvPr/>
        </p:nvSpPr>
        <p:spPr>
          <a:xfrm>
            <a:off x="548640" y="3154679"/>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in Dynamics 365</a:t>
            </a:r>
          </a:p>
          <a:p>
            <a:pPr algn="l"/>
            <a:r>
              <a:rPr sz="1600" b="0" i="0">
                <a:solidFill>
                  <a:srgbClr val="1E1E2E"/>
                </a:solidFill>
                <a:latin typeface="Arial"/>
              </a:rPr>
              <a:t>D365 team, to confirm</a:t>
            </a:r>
          </a:p>
        </p:txBody>
      </p:sp>
      <p:sp>
        <p:nvSpPr>
          <p:cNvPr id="11" name="Rounded Rectangle 10"/>
          <p:cNvSpPr/>
          <p:nvPr/>
        </p:nvSpPr>
        <p:spPr>
          <a:xfrm>
            <a:off x="548640" y="420624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Adoption and change</a:t>
            </a:r>
          </a:p>
          <a:p>
            <a:pPr algn="l"/>
            <a:r>
              <a:rPr sz="1600" b="0" i="0">
                <a:solidFill>
                  <a:srgbClr val="1E1E2E"/>
                </a:solidFill>
                <a:latin typeface="Arial"/>
              </a:rPr>
              <a:t>licences, rollout, training</a:t>
            </a:r>
          </a:p>
        </p:txBody>
      </p:sp>
      <p:sp>
        <p:nvSpPr>
          <p:cNvPr id="12" name="Rounded Rectangle 11"/>
          <p:cNvSpPr/>
          <p:nvPr/>
        </p:nvSpPr>
        <p:spPr>
          <a:xfrm>
            <a:off x="4297679" y="1371600"/>
            <a:ext cx="3593592" cy="640080"/>
          </a:xfrm>
          <a:prstGeom prst="roundRect">
            <a:avLst>
              <a:gd name="adj" fmla="val 11428"/>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Shared: joint rules apply</a:t>
            </a:r>
          </a:p>
        </p:txBody>
      </p:sp>
      <p:sp>
        <p:nvSpPr>
          <p:cNvPr id="13" name="Rounded Rectangle 12"/>
          <p:cNvSpPr/>
          <p:nvPr/>
        </p:nvSpPr>
        <p:spPr>
          <a:xfrm>
            <a:off x="4297679" y="210312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Studio</a:t>
            </a:r>
          </a:p>
          <a:p>
            <a:pPr algn="l"/>
            <a:r>
              <a:rPr sz="1600" b="0" i="0">
                <a:solidFill>
                  <a:srgbClr val="1E1E2E"/>
                </a:solidFill>
                <a:latin typeface="Arial"/>
              </a:rPr>
              <a:t>Power Platform admins it; we govern its agents</a:t>
            </a:r>
          </a:p>
        </p:txBody>
      </p:sp>
      <p:sp>
        <p:nvSpPr>
          <p:cNvPr id="14" name="Rounded Rectangle 13"/>
          <p:cNvSpPr/>
          <p:nvPr/>
        </p:nvSpPr>
        <p:spPr>
          <a:xfrm>
            <a:off x="4297679" y="3154679"/>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Agent 365 and Entra</a:t>
            </a:r>
          </a:p>
          <a:p>
            <a:pPr algn="l"/>
            <a:r>
              <a:rPr sz="1600" b="0" i="0">
                <a:solidFill>
                  <a:srgbClr val="1E1E2E"/>
                </a:solidFill>
                <a:latin typeface="Arial"/>
              </a:rPr>
              <a:t>Security owns policy; we implement</a:t>
            </a:r>
          </a:p>
        </p:txBody>
      </p:sp>
      <p:sp>
        <p:nvSpPr>
          <p:cNvPr id="15" name="Rounded Rectangle 14"/>
          <p:cNvSpPr/>
          <p:nvPr/>
        </p:nvSpPr>
        <p:spPr>
          <a:xfrm>
            <a:off x="4297679" y="420624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Purview readiness</a:t>
            </a:r>
          </a:p>
          <a:p>
            <a:pPr algn="l"/>
            <a:r>
              <a:rPr sz="1600" b="0" i="0">
                <a:solidFill>
                  <a:srgbClr val="1E1E2E"/>
                </a:solidFill>
                <a:latin typeface="Arial"/>
              </a:rPr>
              <a:t>Security leads; we supply inputs</a:t>
            </a:r>
          </a:p>
        </p:txBody>
      </p:sp>
      <p:sp>
        <p:nvSpPr>
          <p:cNvPr id="16" name="Rounded Rectangle 15"/>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CIS Infra offerings 01 to 05</a:t>
            </a:r>
          </a:p>
        </p:txBody>
      </p:sp>
      <p:sp>
        <p:nvSpPr>
          <p:cNvPr id="17" name="Rounded Rectangle 16"/>
          <p:cNvSpPr/>
          <p:nvPr/>
        </p:nvSpPr>
        <p:spPr>
          <a:xfrm>
            <a:off x="8046719" y="210312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Foundry and AI landing zone</a:t>
            </a:r>
          </a:p>
          <a:p>
            <a:pPr algn="l"/>
            <a:r>
              <a:rPr sz="1600" b="0" i="0">
                <a:solidFill>
                  <a:srgbClr val="1E1E2E"/>
                </a:solidFill>
                <a:latin typeface="Arial"/>
              </a:rPr>
              <a:t>offering 01</a:t>
            </a:r>
          </a:p>
        </p:txBody>
      </p:sp>
      <p:sp>
        <p:nvSpPr>
          <p:cNvPr id="18" name="Rounded Rectangle 17"/>
          <p:cNvSpPr/>
          <p:nvPr/>
        </p:nvSpPr>
        <p:spPr>
          <a:xfrm>
            <a:off x="8046719" y="3154679"/>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API Management and API Center</a:t>
            </a:r>
          </a:p>
          <a:p>
            <a:pPr algn="l"/>
            <a:r>
              <a:rPr sz="1600" b="0" i="0">
                <a:solidFill>
                  <a:srgbClr val="1E1E2E"/>
                </a:solidFill>
                <a:latin typeface="Arial"/>
              </a:rPr>
              <a:t>offering 03</a:t>
            </a:r>
          </a:p>
        </p:txBody>
      </p:sp>
      <p:sp>
        <p:nvSpPr>
          <p:cNvPr id="19" name="Rounded Rectangle 18"/>
          <p:cNvSpPr/>
          <p:nvPr/>
        </p:nvSpPr>
        <p:spPr>
          <a:xfrm>
            <a:off x="8046719" y="420624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Governance, FinOps, operations</a:t>
            </a:r>
          </a:p>
          <a:p>
            <a:pPr algn="l"/>
            <a:r>
              <a:rPr sz="1600" b="0" i="0">
                <a:solidFill>
                  <a:srgbClr val="1E1E2E"/>
                </a:solidFill>
                <a:latin typeface="Arial"/>
              </a:rPr>
              <a:t>offerings 02, 04, 05</a:t>
            </a:r>
          </a:p>
        </p:txBody>
      </p:sp>
      <p:cxnSp>
        <p:nvCxnSpPr>
          <p:cNvPr id="20" name="Connector (flow)"/>
          <p:cNvCxnSpPr/>
          <p:nvPr/>
        </p:nvCxnSpPr>
        <p:spPr>
          <a:xfrm>
            <a:off x="414223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flow)"/>
          <p:cNvCxnSpPr/>
          <p:nvPr/>
        </p:nvCxnSpPr>
        <p:spPr>
          <a:xfrm>
            <a:off x="789127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Open: the M365 versus D365 Copilot split and the joint-deal lead (deck 00 register D1, owners named).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gains consumption; we gain co-sold services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LEADERSHIP PACK  ·  6 OF 12</a:t>
            </a:r>
          </a:p>
        </p:txBody>
      </p:sp>
      <p:sp>
        <p:nvSpPr>
          <p:cNvPr id="5" name="Status chip: CHECKED 11 OCT 2026"/>
          <p:cNvSpPr/>
          <p:nvPr/>
        </p:nvSpPr>
        <p:spPr>
          <a:xfrm>
            <a:off x="365887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548640"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Consumption for Microsoft</a:t>
            </a:r>
          </a:p>
        </p:txBody>
      </p:sp>
      <p:sp>
        <p:nvSpPr>
          <p:cNvPr id="9" name="Rounded Rectangle 8"/>
          <p:cNvSpPr/>
          <p:nvPr/>
        </p:nvSpPr>
        <p:spPr>
          <a:xfrm>
            <a:off x="548640" y="2103120"/>
            <a:ext cx="3593592"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900" b="0" i="0">
                <a:solidFill>
                  <a:srgbClr val="1E1E2E"/>
                </a:solidFill>
                <a:latin typeface="Arial"/>
              </a:rPr>
              <a:t>Governed platforms move AI workloads into production, which grows Azure use</a:t>
            </a:r>
          </a:p>
        </p:txBody>
      </p:sp>
      <p:sp>
        <p:nvSpPr>
          <p:cNvPr id="10" name="Rounded Rectangle 9"/>
          <p:cNvSpPr/>
          <p:nvPr/>
        </p:nvSpPr>
        <p:spPr>
          <a:xfrm>
            <a:off x="548640" y="4206240"/>
            <a:ext cx="3593592" cy="960120"/>
          </a:xfrm>
          <a:prstGeom prst="roundRect">
            <a:avLst>
              <a:gd name="adj" fmla="val 761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 offering owners</a:t>
            </a:r>
          </a:p>
        </p:txBody>
      </p:sp>
      <p:sp>
        <p:nvSpPr>
          <p:cNvPr id="11" name="Rounded Rectangle 10"/>
          <p:cNvSpPr/>
          <p:nvPr/>
        </p:nvSpPr>
        <p:spPr>
          <a:xfrm>
            <a:off x="429767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Services co-sell</a:t>
            </a:r>
          </a:p>
        </p:txBody>
      </p:sp>
      <p:sp>
        <p:nvSpPr>
          <p:cNvPr id="12" name="Rounded Rectangle 11"/>
          <p:cNvSpPr/>
          <p:nvPr/>
        </p:nvSpPr>
        <p:spPr>
          <a:xfrm>
            <a:off x="4297679" y="2103120"/>
            <a:ext cx="3593592"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900" b="0" i="0">
                <a:solidFill>
                  <a:srgbClr val="1E1E2E"/>
                </a:solidFill>
                <a:latin typeface="Arial"/>
              </a:rPr>
              <a:t>Needs a Solutions partner designation, a specialization or Azure Expert MSP</a:t>
            </a:r>
          </a:p>
        </p:txBody>
      </p:sp>
      <p:sp>
        <p:nvSpPr>
          <p:cNvPr id="13" name="Rounded Rectangle 12"/>
          <p:cNvSpPr/>
          <p:nvPr/>
        </p:nvSpPr>
        <p:spPr>
          <a:xfrm>
            <a:off x="4297679" y="4206240"/>
            <a:ext cx="3593592" cy="960120"/>
          </a:xfrm>
          <a:prstGeom prst="roundRect">
            <a:avLst>
              <a:gd name="adj" fmla="val 761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 alliance team to confirm status</a:t>
            </a:r>
          </a:p>
        </p:txBody>
      </p:sp>
      <p:sp>
        <p:nvSpPr>
          <p:cNvPr id="14" name="Rounded Rectangle 13"/>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Funding and assessments</a:t>
            </a:r>
          </a:p>
        </p:txBody>
      </p:sp>
      <p:sp>
        <p:nvSpPr>
          <p:cNvPr id="15" name="Rounded Rectangle 14"/>
          <p:cNvSpPr/>
          <p:nvPr/>
        </p:nvSpPr>
        <p:spPr>
          <a:xfrm>
            <a:off x="8046719" y="2103120"/>
            <a:ext cx="3593592"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900" b="0" i="0">
                <a:solidFill>
                  <a:srgbClr val="1E1E2E"/>
                </a:solidFill>
                <a:latin typeface="Arial"/>
              </a:rPr>
              <a:t>Azure Accelerate where eligible for discovery; we charge for the decision memo</a:t>
            </a:r>
          </a:p>
        </p:txBody>
      </p:sp>
      <p:sp>
        <p:nvSpPr>
          <p:cNvPr id="16" name="Rounded Rectangle 15"/>
          <p:cNvSpPr/>
          <p:nvPr/>
        </p:nvSpPr>
        <p:spPr>
          <a:xfrm>
            <a:off x="8046719" y="4206240"/>
            <a:ext cx="3593592" cy="960120"/>
          </a:xfrm>
          <a:prstGeom prst="roundRect">
            <a:avLst>
              <a:gd name="adj" fmla="val 761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 alliance team, per customer</a:t>
            </a:r>
          </a:p>
        </p:txBody>
      </p:sp>
      <p:sp>
        <p:nvSpPr>
          <p:cNvPr id="17" name="Rounded Rectangle 16"/>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Specializations to confirm: AI Platform on Microsoft Azure; AI Apps on Microsoft Azure. No funding assumed in any price.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Decide today: which offerings, who owns them, what budget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LEADERSHIP PACK  ·  12 OF 12</a:t>
            </a:r>
          </a:p>
        </p:txBody>
      </p:sp>
      <p:sp>
        <p:nvSpPr>
          <p:cNvPr id="5" name="Status chip: INPUTS REQUIRED"/>
          <p:cNvSpPr/>
          <p:nvPr/>
        </p:nvSpPr>
        <p:spPr>
          <a:xfrm>
            <a:off x="375666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graphicFrame>
        <p:nvGraphicFramePr>
          <p:cNvPr id="8" name="Table"/>
          <p:cNvGraphicFramePr>
            <a:graphicFrameLocks noGrp="1"/>
          </p:cNvGraphicFramePr>
          <p:nvPr/>
        </p:nvGraphicFramePr>
        <p:xfrm>
          <a:off x="548640" y="1325880"/>
          <a:ext cx="11091672" cy="3291840"/>
        </p:xfrm>
        <a:graphic>
          <a:graphicData uri="http://schemas.openxmlformats.org/drawingml/2006/table">
            <a:tbl>
              <a:tblPr firstRow="1" bandRow="0">
                <a:tableStyleId>{5C22544A-7EE6-4342-B048-85BDC9FD1C3A}</a:tableStyleId>
              </a:tblPr>
              <a:tblGrid>
                <a:gridCol w="2194560"/>
                <a:gridCol w="1280160"/>
                <a:gridCol w="1600200"/>
                <a:gridCol w="2651760"/>
                <a:gridCol w="3364992"/>
              </a:tblGrid>
              <a:tr h="640080">
                <a:tc>
                  <a:txBody>
                    <a:bodyPr wrap="square" anchor="ctr">
                      <a:noAutofit/>
                    </a:bodyPr>
                    <a:lstStyle/>
                    <a:p>
                      <a:pPr algn="l"/>
                      <a:r>
                        <a:rPr sz="18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Budget</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Sponsor, owner</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Stop at day 45 if</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Success by day 90</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no data access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two assessments signed</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03 AI Gateway</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no qualified account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one readiness sold</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01 Landing Zone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lab build fails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lab built, one deal qualified</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02 Governance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PoC fails a K4 test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PoC passed, stop time measured</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05 Managed Ops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no tower agreements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agreements signed, one onboarding</a:t>
                      </a:r>
                    </a:p>
                  </a:txBody>
                  <a:tcPr marL="73152" marR="73152" marT="36576" marB="36576" anchor="ctr">
                    <a:solidFill>
                      <a:srgbClr val="FFFFFF"/>
                    </a:solidFill>
                  </a:tcPr>
                </a:tc>
              </a:tr>
            </a:tbl>
          </a:graphicData>
        </a:graphic>
      </p:graphicFrame>
      <p:sp>
        <p:nvSpPr>
          <p:cNvPr id="9" name="Rounded Rectangle 8"/>
          <p:cNvSpPr/>
          <p:nvPr/>
        </p:nvSpPr>
        <p:spPr>
          <a:xfrm>
            <a:off x="548640" y="557784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Input: budget and sponsor from leadership; headcount from the delivery lead. Day-30 checkpoint; deck 00 register D1.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FinOps assessment: a fast, low-risk start in 4 to 6 weeks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829560" cy="256032"/>
          </a:xfrm>
          <a:prstGeom prst="rect">
            <a:avLst/>
          </a:prstGeom>
          <a:noFill/>
        </p:spPr>
        <p:txBody>
          <a:bodyPr wrap="square" lIns="0" rIns="0" tIns="0" bIns="0" anchor="t">
            <a:noAutofit/>
          </a:bodyPr>
          <a:lstStyle/>
          <a:p>
            <a:pPr algn="l"/>
            <a:r>
              <a:rPr sz="1100" b="1" i="0">
                <a:solidFill>
                  <a:srgbClr val="2F78C4"/>
                </a:solidFill>
                <a:latin typeface="Arial"/>
              </a:rPr>
              <a:t>LEADERSHIP PACK  ·  7 OF 12</a:t>
            </a:r>
          </a:p>
        </p:txBody>
      </p:sp>
      <p:sp>
        <p:nvSpPr>
          <p:cNvPr id="5" name="Status chip: ESTIMATE, NOT APPROVED"/>
          <p:cNvSpPr/>
          <p:nvPr/>
        </p:nvSpPr>
        <p:spPr>
          <a:xfrm>
            <a:off x="356108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6675120" cy="1234440"/>
          </a:xfrm>
          <a:prstGeom prst="roundRect">
            <a:avLst>
              <a:gd name="adj" fmla="val 592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2000" b="0" i="0">
                <a:solidFill>
                  <a:srgbClr val="1E1E2E"/>
                </a:solidFill>
                <a:latin typeface="Arial"/>
              </a:rPr>
              <a:t>Measure real AI demand, then choose PAYG, PTU, hybrid or self-hosted capacity on evidence; check agent licence costs.</a:t>
            </a:r>
          </a:p>
        </p:txBody>
      </p:sp>
      <p:sp>
        <p:nvSpPr>
          <p:cNvPr id="9" name="TextBox 8"/>
          <p:cNvSpPr txBox="1"/>
          <p:nvPr/>
        </p:nvSpPr>
        <p:spPr>
          <a:xfrm>
            <a:off x="548640" y="2788920"/>
            <a:ext cx="6675120" cy="1188720"/>
          </a:xfrm>
          <a:prstGeom prst="rect">
            <a:avLst/>
          </a:prstGeom>
          <a:noFill/>
        </p:spPr>
        <p:txBody>
          <a:bodyPr wrap="square" lIns="0" rIns="0" tIns="0" bIns="0" anchor="t">
            <a:noAutofit/>
          </a:bodyPr>
          <a:lstStyle/>
          <a:p>
            <a:pPr algn="l">
              <a:spcAft>
                <a:spcPts val="600"/>
              </a:spcAft>
            </a:pPr>
            <a:r>
              <a:rPr sz="1900" b="1" i="0">
                <a:solidFill>
                  <a:srgbClr val="000048"/>
                </a:solidFill>
                <a:latin typeface="Arial"/>
              </a:rPr>
              <a:t>Buyer: </a:t>
            </a:r>
            <a:r>
              <a:rPr sz="1900" b="0" i="0">
                <a:solidFill>
                  <a:srgbClr val="1E1E2E"/>
                </a:solidFill>
                <a:latin typeface="Arial"/>
              </a:rPr>
              <a:t>FinOps lead or CFO delegate</a:t>
            </a:r>
          </a:p>
          <a:p>
            <a:pPr algn="l"/>
            <a:r>
              <a:rPr sz="1900" b="1" i="0">
                <a:solidFill>
                  <a:srgbClr val="000048"/>
                </a:solidFill>
                <a:latin typeface="Arial"/>
              </a:rPr>
              <a:t>Trigger: </a:t>
            </a:r>
            <a:r>
              <a:rPr sz="1900" b="0" i="0">
                <a:solidFill>
                  <a:srgbClr val="1E1E2E"/>
                </a:solidFill>
                <a:latin typeface="Arial"/>
              </a:rPr>
              <a:t>Spend growing faster than usage; PTU or licence decision due</a:t>
            </a:r>
          </a:p>
        </p:txBody>
      </p:sp>
      <p:sp>
        <p:nvSpPr>
          <p:cNvPr id="10" name="Rounded Rectangle 9"/>
          <p:cNvSpPr/>
          <p:nvPr/>
        </p:nvSpPr>
        <p:spPr>
          <a:xfrm>
            <a:off x="548640" y="4069080"/>
            <a:ext cx="6675120"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800" b="1" i="0">
                <a:solidFill>
                  <a:srgbClr val="000048"/>
                </a:solidFill>
                <a:latin typeface="Arial"/>
              </a:rPr>
              <a:t>Build first: </a:t>
            </a:r>
            <a:r>
              <a:rPr sz="1800" b="0" i="0">
                <a:solidFill>
                  <a:srgbClr val="1E1E2E"/>
                </a:solidFill>
                <a:latin typeface="Arial"/>
              </a:rPr>
              <a:t>Cost model and method (15 to 25 role days)</a:t>
            </a:r>
          </a:p>
          <a:p>
            <a:pPr algn="l"/>
            <a:r>
              <a:rPr sz="1800" b="1" i="0">
                <a:solidFill>
                  <a:srgbClr val="8A4B08"/>
                </a:solidFill>
                <a:latin typeface="Arial"/>
              </a:rPr>
              <a:t>Depends on: </a:t>
            </a:r>
            <a:r>
              <a:rPr sz="1800" b="0" i="0">
                <a:solidFill>
                  <a:srgbClr val="1E1E2E"/>
                </a:solidFill>
                <a:latin typeface="Arial"/>
              </a:rPr>
              <a:t>Customer cost data and agreement prices</a:t>
            </a:r>
          </a:p>
        </p:txBody>
      </p:sp>
      <p:sp>
        <p:nvSpPr>
          <p:cNvPr id="11" name="Rounded Rectangle 10"/>
          <p:cNvSpPr/>
          <p:nvPr/>
        </p:nvSpPr>
        <p:spPr>
          <a:xfrm>
            <a:off x="7498079" y="1371600"/>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sale</a:t>
            </a:r>
          </a:p>
          <a:p>
            <a:pPr algn="l"/>
            <a:r>
              <a:rPr sz="2100" b="1" i="0">
                <a:solidFill>
                  <a:srgbClr val="FFFFFF"/>
                </a:solidFill>
                <a:latin typeface="Arial"/>
              </a:rPr>
              <a:t>$20k to $40k</a:t>
            </a:r>
          </a:p>
        </p:txBody>
      </p:sp>
      <p:sp>
        <p:nvSpPr>
          <p:cNvPr id="12" name="Rounded Rectangle 11"/>
          <p:cNvSpPr/>
          <p:nvPr/>
        </p:nvSpPr>
        <p:spPr>
          <a:xfrm>
            <a:off x="7498079" y="2761488"/>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revenue</a:t>
            </a:r>
          </a:p>
          <a:p>
            <a:pPr algn="l"/>
            <a:r>
              <a:rPr sz="2100" b="1" i="0">
                <a:solidFill>
                  <a:srgbClr val="FFFFFF"/>
                </a:solidFill>
                <a:latin typeface="Arial"/>
              </a:rPr>
              <a:t>4 to 6 weeks</a:t>
            </a:r>
          </a:p>
        </p:txBody>
      </p:sp>
      <p:sp>
        <p:nvSpPr>
          <p:cNvPr id="13" name="Rounded Rectangle 12"/>
          <p:cNvSpPr/>
          <p:nvPr/>
        </p:nvSpPr>
        <p:spPr>
          <a:xfrm>
            <a:off x="7498079" y="4151376"/>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Value metric</a:t>
            </a:r>
          </a:p>
          <a:p>
            <a:pPr algn="l"/>
            <a:r>
              <a:rPr sz="2100" b="1" i="0">
                <a:solidFill>
                  <a:srgbClr val="FFFFFF"/>
                </a:solidFill>
                <a:latin typeface="Arial"/>
              </a:rPr>
              <a:t>Cost per useful AI task</a:t>
            </a:r>
          </a:p>
        </p:txBody>
      </p:sp>
      <p:sp>
        <p:nvSpPr>
          <p:cNvPr id="14" name="Rounded Rectangle 13"/>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Note:  </a:t>
            </a:r>
            <a:r>
              <a:rPr sz="1500" b="0" i="0">
                <a:solidFill>
                  <a:srgbClr val="1E1E2E"/>
                </a:solidFill>
                <a:latin typeface="Arial"/>
              </a:rPr>
              <a:t>Full detail: deck 04. Fee bands use an illustrative $1,000 per role day, not a Cognizant rate.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Landing zone: largest deals, on Microsoft’s accelerator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829560" cy="256032"/>
          </a:xfrm>
          <a:prstGeom prst="rect">
            <a:avLst/>
          </a:prstGeom>
          <a:noFill/>
        </p:spPr>
        <p:txBody>
          <a:bodyPr wrap="square" lIns="0" rIns="0" tIns="0" bIns="0" anchor="t">
            <a:noAutofit/>
          </a:bodyPr>
          <a:lstStyle/>
          <a:p>
            <a:pPr algn="l"/>
            <a:r>
              <a:rPr sz="1100" b="1" i="0">
                <a:solidFill>
                  <a:srgbClr val="2F78C4"/>
                </a:solidFill>
                <a:latin typeface="Arial"/>
              </a:rPr>
              <a:t>LEADERSHIP PACK  ·  8 OF 12</a:t>
            </a:r>
          </a:p>
        </p:txBody>
      </p:sp>
      <p:sp>
        <p:nvSpPr>
          <p:cNvPr id="5" name="Status chip: ESTIMATE, NOT APPROVED"/>
          <p:cNvSpPr/>
          <p:nvPr/>
        </p:nvSpPr>
        <p:spPr>
          <a:xfrm>
            <a:off x="356108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8" name="Rounded Rectangle 7"/>
          <p:cNvSpPr/>
          <p:nvPr/>
        </p:nvSpPr>
        <p:spPr>
          <a:xfrm>
            <a:off x="548640" y="1371600"/>
            <a:ext cx="6675120" cy="1234440"/>
          </a:xfrm>
          <a:prstGeom prst="roundRect">
            <a:avLst>
              <a:gd name="adj" fmla="val 592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2000" b="0" i="0">
                <a:solidFill>
                  <a:srgbClr val="1E1E2E"/>
                </a:solidFill>
                <a:latin typeface="Arial"/>
              </a:rPr>
              <a:t>Assess, extend or establish the Azure foundation for AI workloads on Microsoft’s AI Landing Zone accelerator.</a:t>
            </a:r>
          </a:p>
        </p:txBody>
      </p:sp>
      <p:sp>
        <p:nvSpPr>
          <p:cNvPr id="9" name="TextBox 8"/>
          <p:cNvSpPr txBox="1"/>
          <p:nvPr/>
        </p:nvSpPr>
        <p:spPr>
          <a:xfrm>
            <a:off x="548640" y="2788920"/>
            <a:ext cx="6675120" cy="1188720"/>
          </a:xfrm>
          <a:prstGeom prst="rect">
            <a:avLst/>
          </a:prstGeom>
          <a:noFill/>
        </p:spPr>
        <p:txBody>
          <a:bodyPr wrap="square" lIns="0" rIns="0" tIns="0" bIns="0" anchor="t">
            <a:noAutofit/>
          </a:bodyPr>
          <a:lstStyle/>
          <a:p>
            <a:pPr algn="l">
              <a:spcAft>
                <a:spcPts val="600"/>
              </a:spcAft>
            </a:pPr>
            <a:r>
              <a:rPr sz="1900" b="1" i="0">
                <a:solidFill>
                  <a:srgbClr val="000048"/>
                </a:solidFill>
                <a:latin typeface="Arial"/>
              </a:rPr>
              <a:t>Buyer: </a:t>
            </a:r>
            <a:r>
              <a:rPr sz="1900" b="0" i="0">
                <a:solidFill>
                  <a:srgbClr val="1E1E2E"/>
                </a:solidFill>
                <a:latin typeface="Arial"/>
              </a:rPr>
              <a:t>Cloud platform owner</a:t>
            </a:r>
          </a:p>
          <a:p>
            <a:pPr algn="l"/>
            <a:r>
              <a:rPr sz="1900" b="1" i="0">
                <a:solidFill>
                  <a:srgbClr val="000048"/>
                </a:solidFill>
                <a:latin typeface="Arial"/>
              </a:rPr>
              <a:t>Trigger: </a:t>
            </a:r>
            <a:r>
              <a:rPr sz="1900" b="0" i="0">
                <a:solidFill>
                  <a:srgbClr val="1E1E2E"/>
                </a:solidFill>
                <a:latin typeface="Arial"/>
              </a:rPr>
              <a:t>First production AI workload blocked by platform gaps</a:t>
            </a:r>
          </a:p>
        </p:txBody>
      </p:sp>
      <p:sp>
        <p:nvSpPr>
          <p:cNvPr id="10" name="Rounded Rectangle 9"/>
          <p:cNvSpPr/>
          <p:nvPr/>
        </p:nvSpPr>
        <p:spPr>
          <a:xfrm>
            <a:off x="548640" y="4069080"/>
            <a:ext cx="6675120"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800" b="1" i="0">
                <a:solidFill>
                  <a:srgbClr val="000048"/>
                </a:solidFill>
                <a:latin typeface="Arial"/>
              </a:rPr>
              <a:t>Build first: </a:t>
            </a:r>
            <a:r>
              <a:rPr sz="1800" b="0" i="0">
                <a:solidFill>
                  <a:srgbClr val="1E1E2E"/>
                </a:solidFill>
                <a:latin typeface="Arial"/>
              </a:rPr>
              <a:t>Lab build on Azure Verified Modules (30 to 50 role days)</a:t>
            </a:r>
          </a:p>
          <a:p>
            <a:pPr algn="l"/>
            <a:r>
              <a:rPr sz="1800" b="1" i="0">
                <a:solidFill>
                  <a:srgbClr val="8A4B08"/>
                </a:solidFill>
                <a:latin typeface="Arial"/>
              </a:rPr>
              <a:t>Depends on: </a:t>
            </a:r>
            <a:r>
              <a:rPr sz="1800" b="0" i="0">
                <a:solidFill>
                  <a:srgbClr val="1E1E2E"/>
                </a:solidFill>
                <a:latin typeface="Arial"/>
              </a:rPr>
              <a:t>DevOps owning Terraform; UK and Middle East residency gate</a:t>
            </a:r>
          </a:p>
        </p:txBody>
      </p:sp>
      <p:sp>
        <p:nvSpPr>
          <p:cNvPr id="11" name="Rounded Rectangle 10"/>
          <p:cNvSpPr/>
          <p:nvPr/>
        </p:nvSpPr>
        <p:spPr>
          <a:xfrm>
            <a:off x="7498079" y="1371600"/>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sale</a:t>
            </a:r>
          </a:p>
          <a:p>
            <a:pPr algn="l"/>
            <a:r>
              <a:rPr sz="2100" b="1" i="0">
                <a:solidFill>
                  <a:srgbClr val="FFFFFF"/>
                </a:solidFill>
                <a:latin typeface="Arial"/>
              </a:rPr>
              <a:t>$15k to $30k, then $140k to $220k</a:t>
            </a:r>
          </a:p>
        </p:txBody>
      </p:sp>
      <p:sp>
        <p:nvSpPr>
          <p:cNvPr id="12" name="Rounded Rectangle 11"/>
          <p:cNvSpPr/>
          <p:nvPr/>
        </p:nvSpPr>
        <p:spPr>
          <a:xfrm>
            <a:off x="7498079" y="2761488"/>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revenue</a:t>
            </a:r>
          </a:p>
          <a:p>
            <a:pPr algn="l"/>
            <a:r>
              <a:rPr sz="2100" b="1" i="0">
                <a:solidFill>
                  <a:srgbClr val="FFFFFF"/>
                </a:solidFill>
                <a:latin typeface="Arial"/>
              </a:rPr>
              <a:t>3 to 5 weeks</a:t>
            </a:r>
          </a:p>
        </p:txBody>
      </p:sp>
      <p:sp>
        <p:nvSpPr>
          <p:cNvPr id="13" name="Rounded Rectangle 12"/>
          <p:cNvSpPr/>
          <p:nvPr/>
        </p:nvSpPr>
        <p:spPr>
          <a:xfrm>
            <a:off x="7498079" y="4151376"/>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Value metric</a:t>
            </a:r>
          </a:p>
          <a:p>
            <a:pPr algn="l"/>
            <a:r>
              <a:rPr sz="2100" b="1" i="0">
                <a:solidFill>
                  <a:srgbClr val="FFFFFF"/>
                </a:solidFill>
                <a:latin typeface="Arial"/>
              </a:rPr>
              <a:t>Weeks to first production workload</a:t>
            </a:r>
          </a:p>
        </p:txBody>
      </p:sp>
      <p:sp>
        <p:nvSpPr>
          <p:cNvPr id="14" name="Rounded Rectangle 13"/>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Note:  </a:t>
            </a:r>
            <a:r>
              <a:rPr sz="1500" b="0" i="0">
                <a:solidFill>
                  <a:srgbClr val="1E1E2E"/>
                </a:solidFill>
                <a:latin typeface="Arial"/>
              </a:rPr>
              <a:t>Full detail: deck 01. Fee bands use an illustrative $1,000 per role day, not a Cognizant 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gateway: broad, repeatable demand with an MCP allow-list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829560" cy="256032"/>
          </a:xfrm>
          <a:prstGeom prst="rect">
            <a:avLst/>
          </a:prstGeom>
          <a:noFill/>
        </p:spPr>
        <p:txBody>
          <a:bodyPr wrap="square" lIns="0" rIns="0" tIns="0" bIns="0" anchor="t">
            <a:noAutofit/>
          </a:bodyPr>
          <a:lstStyle/>
          <a:p>
            <a:pPr algn="l"/>
            <a:r>
              <a:rPr sz="1100" b="1" i="0">
                <a:solidFill>
                  <a:srgbClr val="2F78C4"/>
                </a:solidFill>
                <a:latin typeface="Arial"/>
              </a:rPr>
              <a:t>LEADERSHIP PACK  ·  9 OF 12</a:t>
            </a:r>
          </a:p>
        </p:txBody>
      </p:sp>
      <p:sp>
        <p:nvSpPr>
          <p:cNvPr id="5" name="Status chip: ESTIMATE, NOT APPROVED"/>
          <p:cNvSpPr/>
          <p:nvPr/>
        </p:nvSpPr>
        <p:spPr>
          <a:xfrm>
            <a:off x="356108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8" name="Rounded Rectangle 7"/>
          <p:cNvSpPr/>
          <p:nvPr/>
        </p:nvSpPr>
        <p:spPr>
          <a:xfrm>
            <a:off x="548640" y="1371600"/>
            <a:ext cx="6675120" cy="1234440"/>
          </a:xfrm>
          <a:prstGeom prst="roundRect">
            <a:avLst>
              <a:gd name="adj" fmla="val 592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2000" b="0" i="0">
                <a:solidFill>
                  <a:srgbClr val="1E1E2E"/>
                </a:solidFill>
                <a:latin typeface="Arial"/>
              </a:rPr>
              <a:t>One governed path for every model and tool call: API Management for traffic, API Center for which tools exist.</a:t>
            </a:r>
          </a:p>
        </p:txBody>
      </p:sp>
      <p:sp>
        <p:nvSpPr>
          <p:cNvPr id="9" name="TextBox 8"/>
          <p:cNvSpPr txBox="1"/>
          <p:nvPr/>
        </p:nvSpPr>
        <p:spPr>
          <a:xfrm>
            <a:off x="548640" y="2788920"/>
            <a:ext cx="6675120" cy="1188720"/>
          </a:xfrm>
          <a:prstGeom prst="rect">
            <a:avLst/>
          </a:prstGeom>
          <a:noFill/>
        </p:spPr>
        <p:txBody>
          <a:bodyPr wrap="square" lIns="0" rIns="0" tIns="0" bIns="0" anchor="t">
            <a:noAutofit/>
          </a:bodyPr>
          <a:lstStyle/>
          <a:p>
            <a:pPr algn="l">
              <a:spcAft>
                <a:spcPts val="600"/>
              </a:spcAft>
            </a:pPr>
            <a:r>
              <a:rPr sz="1900" b="1" i="0">
                <a:solidFill>
                  <a:srgbClr val="000048"/>
                </a:solidFill>
                <a:latin typeface="Arial"/>
              </a:rPr>
              <a:t>Buyer: </a:t>
            </a:r>
            <a:r>
              <a:rPr sz="1900" b="0" i="0">
                <a:solidFill>
                  <a:srgbClr val="1E1E2E"/>
                </a:solidFill>
                <a:latin typeface="Arial"/>
              </a:rPr>
              <a:t>Platform or API owner</a:t>
            </a:r>
          </a:p>
          <a:p>
            <a:pPr algn="l"/>
            <a:r>
              <a:rPr sz="1900" b="1" i="0">
                <a:solidFill>
                  <a:srgbClr val="000048"/>
                </a:solidFill>
                <a:latin typeface="Arial"/>
              </a:rPr>
              <a:t>Trigger: </a:t>
            </a:r>
            <a:r>
              <a:rPr sz="1900" b="0" i="0">
                <a:solidFill>
                  <a:srgbClr val="1E1E2E"/>
                </a:solidFill>
                <a:latin typeface="Arial"/>
              </a:rPr>
              <a:t>Many teams calling models directly; keys found in apps</a:t>
            </a:r>
          </a:p>
        </p:txBody>
      </p:sp>
      <p:sp>
        <p:nvSpPr>
          <p:cNvPr id="10" name="Rounded Rectangle 9"/>
          <p:cNvSpPr/>
          <p:nvPr/>
        </p:nvSpPr>
        <p:spPr>
          <a:xfrm>
            <a:off x="548640" y="4069080"/>
            <a:ext cx="6675120"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800" b="1" i="0">
                <a:solidFill>
                  <a:srgbClr val="000048"/>
                </a:solidFill>
                <a:latin typeface="Arial"/>
              </a:rPr>
              <a:t>Build first: </a:t>
            </a:r>
            <a:r>
              <a:rPr sz="1800" b="0" i="0">
                <a:solidFill>
                  <a:srgbClr val="1E1E2E"/>
                </a:solidFill>
                <a:latin typeface="Arial"/>
              </a:rPr>
              <a:t>Policy library and test harness (25 to 40 role days)</a:t>
            </a:r>
          </a:p>
          <a:p>
            <a:pPr algn="l"/>
            <a:r>
              <a:rPr sz="1800" b="1" i="0">
                <a:solidFill>
                  <a:srgbClr val="8A4B08"/>
                </a:solidFill>
                <a:latin typeface="Arial"/>
              </a:rPr>
              <a:t>Depends on: </a:t>
            </a:r>
            <a:r>
              <a:rPr sz="1800" b="0" i="0">
                <a:solidFill>
                  <a:srgbClr val="1E1E2E"/>
                </a:solidFill>
                <a:latin typeface="Arial"/>
              </a:rPr>
              <a:t>Security identity design</a:t>
            </a:r>
          </a:p>
        </p:txBody>
      </p:sp>
      <p:sp>
        <p:nvSpPr>
          <p:cNvPr id="11" name="Rounded Rectangle 10"/>
          <p:cNvSpPr/>
          <p:nvPr/>
        </p:nvSpPr>
        <p:spPr>
          <a:xfrm>
            <a:off x="7498079" y="1371600"/>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sale</a:t>
            </a:r>
          </a:p>
          <a:p>
            <a:pPr algn="l"/>
            <a:r>
              <a:rPr sz="2100" b="1" i="0">
                <a:solidFill>
                  <a:srgbClr val="FFFFFF"/>
                </a:solidFill>
                <a:latin typeface="Arial"/>
              </a:rPr>
              <a:t>$10k to $20k, then $45k to $90k</a:t>
            </a:r>
          </a:p>
        </p:txBody>
      </p:sp>
      <p:sp>
        <p:nvSpPr>
          <p:cNvPr id="12" name="Rounded Rectangle 11"/>
          <p:cNvSpPr/>
          <p:nvPr/>
        </p:nvSpPr>
        <p:spPr>
          <a:xfrm>
            <a:off x="7498079" y="2761488"/>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revenue</a:t>
            </a:r>
          </a:p>
          <a:p>
            <a:pPr algn="l"/>
            <a:r>
              <a:rPr sz="2100" b="1" i="0">
                <a:solidFill>
                  <a:srgbClr val="FFFFFF"/>
                </a:solidFill>
                <a:latin typeface="Arial"/>
              </a:rPr>
              <a:t>2 to 4 weeks</a:t>
            </a:r>
          </a:p>
        </p:txBody>
      </p:sp>
      <p:sp>
        <p:nvSpPr>
          <p:cNvPr id="13" name="Rounded Rectangle 12"/>
          <p:cNvSpPr/>
          <p:nvPr/>
        </p:nvSpPr>
        <p:spPr>
          <a:xfrm>
            <a:off x="7498079" y="4151376"/>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Value metric</a:t>
            </a:r>
          </a:p>
          <a:p>
            <a:pPr algn="l"/>
            <a:r>
              <a:rPr sz="2100" b="1" i="0">
                <a:solidFill>
                  <a:srgbClr val="FFFFFF"/>
                </a:solidFill>
                <a:latin typeface="Arial"/>
              </a:rPr>
              <a:t>Share of AI calls governed</a:t>
            </a:r>
          </a:p>
        </p:txBody>
      </p:sp>
      <p:sp>
        <p:nvSpPr>
          <p:cNvPr id="14" name="Rounded Rectangle 13"/>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Note:  </a:t>
            </a:r>
            <a:r>
              <a:rPr sz="1500" b="0" i="0">
                <a:solidFill>
                  <a:srgbClr val="1E1E2E"/>
                </a:solidFill>
                <a:latin typeface="Arial"/>
              </a:rPr>
              <a:t>Full detail: deck 03. Fee bands use an illustrative $1,000 per role day, not a Cognizant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governance: our strongest edge, once the PoC proves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829560" cy="256032"/>
          </a:xfrm>
          <a:prstGeom prst="rect">
            <a:avLst/>
          </a:prstGeom>
          <a:noFill/>
        </p:spPr>
        <p:txBody>
          <a:bodyPr wrap="square" lIns="0" rIns="0" tIns="0" bIns="0" anchor="t">
            <a:noAutofit/>
          </a:bodyPr>
          <a:lstStyle/>
          <a:p>
            <a:pPr algn="l"/>
            <a:r>
              <a:rPr sz="1100" b="1" i="0">
                <a:solidFill>
                  <a:srgbClr val="2F78C4"/>
                </a:solidFill>
                <a:latin typeface="Arial"/>
              </a:rPr>
              <a:t>LEADERSHIP PACK  ·  10 OF 12</a:t>
            </a:r>
          </a:p>
        </p:txBody>
      </p:sp>
      <p:sp>
        <p:nvSpPr>
          <p:cNvPr id="5" name="Status chip: ESTIMATE, NOT APPROVED"/>
          <p:cNvSpPr/>
          <p:nvPr/>
        </p:nvSpPr>
        <p:spPr>
          <a:xfrm>
            <a:off x="356108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Rounded Rectangle 7"/>
          <p:cNvSpPr/>
          <p:nvPr/>
        </p:nvSpPr>
        <p:spPr>
          <a:xfrm>
            <a:off x="548640" y="1371600"/>
            <a:ext cx="6675120" cy="1234440"/>
          </a:xfrm>
          <a:prstGeom prst="roundRect">
            <a:avLst>
              <a:gd name="adj" fmla="val 592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2000" b="0" i="0">
                <a:solidFill>
                  <a:srgbClr val="1E1E2E"/>
                </a:solidFill>
                <a:latin typeface="Arial"/>
              </a:rPr>
              <a:t>Configure Agent 365 and the Foundry Control Plane first; add usage evidence and a stop proven in a pilot only where needed.</a:t>
            </a:r>
          </a:p>
        </p:txBody>
      </p:sp>
      <p:sp>
        <p:nvSpPr>
          <p:cNvPr id="9" name="TextBox 8"/>
          <p:cNvSpPr txBox="1"/>
          <p:nvPr/>
        </p:nvSpPr>
        <p:spPr>
          <a:xfrm>
            <a:off x="548640" y="2788920"/>
            <a:ext cx="6675120" cy="1188720"/>
          </a:xfrm>
          <a:prstGeom prst="rect">
            <a:avLst/>
          </a:prstGeom>
          <a:noFill/>
        </p:spPr>
        <p:txBody>
          <a:bodyPr wrap="square" lIns="0" rIns="0" tIns="0" bIns="0" anchor="t">
            <a:noAutofit/>
          </a:bodyPr>
          <a:lstStyle/>
          <a:p>
            <a:pPr algn="l">
              <a:spcAft>
                <a:spcPts val="600"/>
              </a:spcAft>
            </a:pPr>
            <a:r>
              <a:rPr sz="1900" b="1" i="0">
                <a:solidFill>
                  <a:srgbClr val="000048"/>
                </a:solidFill>
                <a:latin typeface="Arial"/>
              </a:rPr>
              <a:t>Buyer: </a:t>
            </a:r>
            <a:r>
              <a:rPr sz="1900" b="0" i="0">
                <a:solidFill>
                  <a:srgbClr val="1E1E2E"/>
                </a:solidFill>
                <a:latin typeface="Arial"/>
              </a:rPr>
              <a:t>AI platform leader with the CISO delegate</a:t>
            </a:r>
          </a:p>
          <a:p>
            <a:pPr algn="l"/>
            <a:r>
              <a:rPr sz="1900" b="1" i="0">
                <a:solidFill>
                  <a:srgbClr val="000048"/>
                </a:solidFill>
                <a:latin typeface="Arial"/>
              </a:rPr>
              <a:t>Trigger: </a:t>
            </a:r>
            <a:r>
              <a:rPr sz="1900" b="0" i="0">
                <a:solidFill>
                  <a:srgbClr val="1E1E2E"/>
                </a:solidFill>
                <a:latin typeface="Arial"/>
              </a:rPr>
              <a:t>Agent sprawl; audit request; an agent incident</a:t>
            </a:r>
          </a:p>
        </p:txBody>
      </p:sp>
      <p:sp>
        <p:nvSpPr>
          <p:cNvPr id="10" name="Rounded Rectangle 9"/>
          <p:cNvSpPr/>
          <p:nvPr/>
        </p:nvSpPr>
        <p:spPr>
          <a:xfrm>
            <a:off x="548640" y="4069080"/>
            <a:ext cx="6675120"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800" b="1" i="0">
                <a:solidFill>
                  <a:srgbClr val="000048"/>
                </a:solidFill>
                <a:latin typeface="Arial"/>
              </a:rPr>
              <a:t>Build first: </a:t>
            </a:r>
            <a:r>
              <a:rPr sz="1800" b="0" i="0">
                <a:solidFill>
                  <a:srgbClr val="1E1E2E"/>
                </a:solidFill>
                <a:latin typeface="Arial"/>
              </a:rPr>
              <a:t>Internal kill-switch PoC (25 to 45 role days) and catalogue</a:t>
            </a:r>
          </a:p>
          <a:p>
            <a:pPr algn="l"/>
            <a:r>
              <a:rPr sz="1800" b="1" i="0">
                <a:solidFill>
                  <a:srgbClr val="8A4B08"/>
                </a:solidFill>
                <a:latin typeface="Arial"/>
              </a:rPr>
              <a:t>Depends on: </a:t>
            </a:r>
            <a:r>
              <a:rPr sz="1800" b="0" i="0">
                <a:solidFill>
                  <a:srgbClr val="1E1E2E"/>
                </a:solidFill>
                <a:latin typeface="Arial"/>
              </a:rPr>
              <a:t>Agent 365 licensing; Security as policy owner</a:t>
            </a:r>
          </a:p>
        </p:txBody>
      </p:sp>
      <p:sp>
        <p:nvSpPr>
          <p:cNvPr id="11" name="Rounded Rectangle 10"/>
          <p:cNvSpPr/>
          <p:nvPr/>
        </p:nvSpPr>
        <p:spPr>
          <a:xfrm>
            <a:off x="7498079" y="1371600"/>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sale</a:t>
            </a:r>
          </a:p>
          <a:p>
            <a:pPr algn="l"/>
            <a:r>
              <a:rPr sz="2100" b="1" i="0">
                <a:solidFill>
                  <a:srgbClr val="FFFFFF"/>
                </a:solidFill>
                <a:latin typeface="Arial"/>
              </a:rPr>
              <a:t>$15k to $25k assessment</a:t>
            </a:r>
          </a:p>
        </p:txBody>
      </p:sp>
      <p:sp>
        <p:nvSpPr>
          <p:cNvPr id="12" name="Rounded Rectangle 11"/>
          <p:cNvSpPr/>
          <p:nvPr/>
        </p:nvSpPr>
        <p:spPr>
          <a:xfrm>
            <a:off x="7498079" y="2761488"/>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revenue</a:t>
            </a:r>
          </a:p>
          <a:p>
            <a:pPr algn="l"/>
            <a:r>
              <a:rPr sz="2100" b="1" i="0">
                <a:solidFill>
                  <a:srgbClr val="FFFFFF"/>
                </a:solidFill>
                <a:latin typeface="Arial"/>
              </a:rPr>
              <a:t>3 to 4 weeks</a:t>
            </a:r>
          </a:p>
        </p:txBody>
      </p:sp>
      <p:sp>
        <p:nvSpPr>
          <p:cNvPr id="13" name="Rounded Rectangle 12"/>
          <p:cNvSpPr/>
          <p:nvPr/>
        </p:nvSpPr>
        <p:spPr>
          <a:xfrm>
            <a:off x="7498079" y="4151376"/>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Value metric</a:t>
            </a:r>
          </a:p>
          <a:p>
            <a:pPr algn="l"/>
            <a:r>
              <a:rPr sz="2100" b="1" i="0">
                <a:solidFill>
                  <a:srgbClr val="FFFFFF"/>
                </a:solidFill>
                <a:latin typeface="Arial"/>
              </a:rPr>
              <a:t>Agents with an owner; stop time measured</a:t>
            </a:r>
          </a:p>
        </p:txBody>
      </p:sp>
      <p:sp>
        <p:nvSpPr>
          <p:cNvPr id="14" name="Rounded Rectangle 13"/>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Note:  </a:t>
            </a:r>
            <a:r>
              <a:rPr sz="1500" b="0" i="0">
                <a:solidFill>
                  <a:srgbClr val="1E1E2E"/>
                </a:solidFill>
                <a:latin typeface="Arial"/>
              </a:rPr>
              <a:t>Full detail: deck 02. Fee bands use an illustrative $1,000 per role day, not a Cognizant 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Managed operations: recurring revenue, priced from staffing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829560" cy="256032"/>
          </a:xfrm>
          <a:prstGeom prst="rect">
            <a:avLst/>
          </a:prstGeom>
          <a:noFill/>
        </p:spPr>
        <p:txBody>
          <a:bodyPr wrap="square" lIns="0" rIns="0" tIns="0" bIns="0" anchor="t">
            <a:noAutofit/>
          </a:bodyPr>
          <a:lstStyle/>
          <a:p>
            <a:pPr algn="l"/>
            <a:r>
              <a:rPr sz="1100" b="1" i="0">
                <a:solidFill>
                  <a:srgbClr val="2F78C4"/>
                </a:solidFill>
                <a:latin typeface="Arial"/>
              </a:rPr>
              <a:t>LEADERSHIP PACK  ·  11 OF 12</a:t>
            </a:r>
          </a:p>
        </p:txBody>
      </p:sp>
      <p:sp>
        <p:nvSpPr>
          <p:cNvPr id="5" name="Status chip: ESTIMATE, NOT APPROVED"/>
          <p:cNvSpPr/>
          <p:nvPr/>
        </p:nvSpPr>
        <p:spPr>
          <a:xfrm>
            <a:off x="356108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Leadership pack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11</a:t>
            </a:r>
          </a:p>
        </p:txBody>
      </p:sp>
      <p:sp>
        <p:nvSpPr>
          <p:cNvPr id="8" name="Rounded Rectangle 7"/>
          <p:cNvSpPr/>
          <p:nvPr/>
        </p:nvSpPr>
        <p:spPr>
          <a:xfrm>
            <a:off x="548640" y="1371600"/>
            <a:ext cx="6675120" cy="1234440"/>
          </a:xfrm>
          <a:prstGeom prst="roundRect">
            <a:avLst>
              <a:gd name="adj" fmla="val 592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2000" b="0" i="0">
                <a:solidFill>
                  <a:srgbClr val="1E1E2E"/>
                </a:solidFill>
                <a:latin typeface="Arial"/>
              </a:rPr>
              <a:t>Run the AI platform monthly: health, incidents, changes, agent reviews and cost reviews; drills once proven.</a:t>
            </a:r>
          </a:p>
        </p:txBody>
      </p:sp>
      <p:sp>
        <p:nvSpPr>
          <p:cNvPr id="9" name="TextBox 8"/>
          <p:cNvSpPr txBox="1"/>
          <p:nvPr/>
        </p:nvSpPr>
        <p:spPr>
          <a:xfrm>
            <a:off x="548640" y="2788920"/>
            <a:ext cx="6675120" cy="1188720"/>
          </a:xfrm>
          <a:prstGeom prst="rect">
            <a:avLst/>
          </a:prstGeom>
          <a:noFill/>
        </p:spPr>
        <p:txBody>
          <a:bodyPr wrap="square" lIns="0" rIns="0" tIns="0" bIns="0" anchor="t">
            <a:noAutofit/>
          </a:bodyPr>
          <a:lstStyle/>
          <a:p>
            <a:pPr algn="l">
              <a:spcAft>
                <a:spcPts val="600"/>
              </a:spcAft>
            </a:pPr>
            <a:r>
              <a:rPr sz="1900" b="1" i="0">
                <a:solidFill>
                  <a:srgbClr val="000048"/>
                </a:solidFill>
                <a:latin typeface="Arial"/>
              </a:rPr>
              <a:t>Buyer: </a:t>
            </a:r>
            <a:r>
              <a:rPr sz="1900" b="0" i="0">
                <a:solidFill>
                  <a:srgbClr val="1E1E2E"/>
                </a:solidFill>
                <a:latin typeface="Arial"/>
              </a:rPr>
              <a:t>IT service owner</a:t>
            </a:r>
          </a:p>
          <a:p>
            <a:pPr algn="l"/>
            <a:r>
              <a:rPr sz="1900" b="1" i="0">
                <a:solidFill>
                  <a:srgbClr val="000048"/>
                </a:solidFill>
                <a:latin typeface="Arial"/>
              </a:rPr>
              <a:t>Trigger: </a:t>
            </a:r>
            <a:r>
              <a:rPr sz="1900" b="0" i="0">
                <a:solidFill>
                  <a:srgbClr val="1E1E2E"/>
                </a:solidFill>
                <a:latin typeface="Arial"/>
              </a:rPr>
              <a:t>An AI workload entering production</a:t>
            </a:r>
          </a:p>
        </p:txBody>
      </p:sp>
      <p:sp>
        <p:nvSpPr>
          <p:cNvPr id="10" name="Rounded Rectangle 9"/>
          <p:cNvSpPr/>
          <p:nvPr/>
        </p:nvSpPr>
        <p:spPr>
          <a:xfrm>
            <a:off x="548640" y="4069080"/>
            <a:ext cx="6675120"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800" b="1" i="0">
                <a:solidFill>
                  <a:srgbClr val="000048"/>
                </a:solidFill>
                <a:latin typeface="Arial"/>
              </a:rPr>
              <a:t>Build first: </a:t>
            </a:r>
            <a:r>
              <a:rPr sz="1800" b="0" i="0">
                <a:solidFill>
                  <a:srgbClr val="1E1E2E"/>
                </a:solidFill>
                <a:latin typeface="Arial"/>
              </a:rPr>
              <a:t>Runbooks, tooling, roster (20 to 40 role days)</a:t>
            </a:r>
          </a:p>
          <a:p>
            <a:pPr algn="l"/>
            <a:r>
              <a:rPr sz="1800" b="1" i="0">
                <a:solidFill>
                  <a:srgbClr val="8A4B08"/>
                </a:solidFill>
                <a:latin typeface="Arial"/>
              </a:rPr>
              <a:t>Depends on: </a:t>
            </a:r>
            <a:r>
              <a:rPr sz="1800" b="0" i="0">
                <a:solidFill>
                  <a:srgbClr val="1E1E2E"/>
                </a:solidFill>
                <a:latin typeface="Arial"/>
              </a:rPr>
              <a:t>Signed tower agreements; funded 24x7 roster</a:t>
            </a:r>
          </a:p>
        </p:txBody>
      </p:sp>
      <p:sp>
        <p:nvSpPr>
          <p:cNvPr id="11" name="Rounded Rectangle 10"/>
          <p:cNvSpPr/>
          <p:nvPr/>
        </p:nvSpPr>
        <p:spPr>
          <a:xfrm>
            <a:off x="7498079" y="1371600"/>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sale</a:t>
            </a:r>
          </a:p>
          <a:p>
            <a:pPr algn="l"/>
            <a:r>
              <a:rPr sz="2100" b="1" i="0">
                <a:solidFill>
                  <a:srgbClr val="FFFFFF"/>
                </a:solidFill>
                <a:latin typeface="Arial"/>
              </a:rPr>
              <a:t>$30k to $60k a month</a:t>
            </a:r>
          </a:p>
        </p:txBody>
      </p:sp>
      <p:sp>
        <p:nvSpPr>
          <p:cNvPr id="12" name="Rounded Rectangle 11"/>
          <p:cNvSpPr/>
          <p:nvPr/>
        </p:nvSpPr>
        <p:spPr>
          <a:xfrm>
            <a:off x="7498079" y="2761488"/>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First revenue</a:t>
            </a:r>
          </a:p>
          <a:p>
            <a:pPr algn="l"/>
            <a:r>
              <a:rPr sz="2100" b="1" i="0">
                <a:solidFill>
                  <a:srgbClr val="FFFFFF"/>
                </a:solidFill>
                <a:latin typeface="Arial"/>
              </a:rPr>
              <a:t>4 to 8 weeks</a:t>
            </a:r>
          </a:p>
        </p:txBody>
      </p:sp>
      <p:sp>
        <p:nvSpPr>
          <p:cNvPr id="13" name="Rounded Rectangle 12"/>
          <p:cNvSpPr/>
          <p:nvPr/>
        </p:nvSpPr>
        <p:spPr>
          <a:xfrm>
            <a:off x="7498079" y="4151376"/>
            <a:ext cx="4142232" cy="1280160"/>
          </a:xfrm>
          <a:prstGeom prst="roundRect">
            <a:avLst>
              <a:gd name="adj" fmla="val 571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600" b="1" i="0">
                <a:solidFill>
                  <a:srgbClr val="26EFE9"/>
                </a:solidFill>
                <a:latin typeface="Arial"/>
              </a:rPr>
              <a:t>Value metric</a:t>
            </a:r>
          </a:p>
          <a:p>
            <a:pPr algn="l"/>
            <a:r>
              <a:rPr sz="2100" b="1" i="0">
                <a:solidFill>
                  <a:srgbClr val="FFFFFF"/>
                </a:solidFill>
                <a:latin typeface="Arial"/>
              </a:rPr>
              <a:t>Incidents resolved inside target</a:t>
            </a:r>
          </a:p>
        </p:txBody>
      </p:sp>
      <p:sp>
        <p:nvSpPr>
          <p:cNvPr id="14" name="Rounded Rectangle 13"/>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Note:  </a:t>
            </a:r>
            <a:r>
              <a:rPr sz="1500" b="0" i="0">
                <a:solidFill>
                  <a:srgbClr val="1E1E2E"/>
                </a:solidFill>
                <a:latin typeface="Arial"/>
              </a:rPr>
              <a:t>Full detail: deck 05. Fee bands use an illustrative $1,000 per role day, not a Cognizant rate.</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Azure AI Platform Portfolio: leadership pack v4.0</dc:title>
  <dcterms:created xsi:type="dcterms:W3CDTF">2026-10-10T13:56:28.3080000Z</dcterms:created>
  <dcterms:modified xsi:type="dcterms:W3CDTF">2026-10-10T13:56:28.3090000Z</dcterms:modified>
</coreProperties>
</file>