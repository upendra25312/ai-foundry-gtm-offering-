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Break-even USD per PTU-month</c:v>
                </c:pt>
              </c:strCache>
            </c:strRef>
          </c:tx>
          <c:spPr>
            <a:solidFill>
              <a:srgbClr val="000048"/>
            </a:solidFill>
          </c:spPr>
          <c:cat>
            <c:strRef>
              <c:f>Sheet1!$A$2:$A$9</c:f>
              <c:strCache>
                <c:ptCount val="8"/>
                <c:pt idx="0">
                  <c:v>30%</c:v>
                </c:pt>
                <c:pt idx="1">
                  <c:v>40%</c:v>
                </c:pt>
                <c:pt idx="2">
                  <c:v>50%</c:v>
                </c:pt>
                <c:pt idx="3">
                  <c:v>60%</c:v>
                </c:pt>
                <c:pt idx="4">
                  <c:v>70%</c:v>
                </c:pt>
                <c:pt idx="5">
                  <c:v>80%</c:v>
                </c:pt>
                <c:pt idx="6">
                  <c:v>90%</c:v>
                </c:pt>
                <c:pt idx="7">
                  <c:v>100%</c:v>
                </c:pt>
              </c:strCache>
            </c:strRef>
          </c:cat>
          <c:val>
            <c:numRef>
              <c:f>Sheet1!$B$2:$B$9</c:f>
              <c:numCache>
                <c:formatCode>General</c:formatCode>
                <c:ptCount val="8"/>
                <c:pt idx="0">
                  <c:v>79</c:v>
                </c:pt>
                <c:pt idx="1">
                  <c:v>105</c:v>
                </c:pt>
                <c:pt idx="2">
                  <c:v>131</c:v>
                </c:pt>
                <c:pt idx="3">
                  <c:v>158</c:v>
                </c:pt>
                <c:pt idx="4">
                  <c:v>184</c:v>
                </c:pt>
                <c:pt idx="5">
                  <c:v>210</c:v>
                </c:pt>
                <c:pt idx="6">
                  <c:v>237</c:v>
                </c:pt>
                <c:pt idx="7">
                  <c:v>263</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0D0CE"/>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3E3E3"/>
              </a:solidFill>
            </a:ln>
          </c:spPr>
        </c:majorGridlines>
        <c:numFmt formatCode="$#,##0" sourceLinked="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AI spend is the line CFOs now ask about. This offering is a short, fixed-scope assessment that measures real demand and tells the customer which way to buy model capacity, and what their agent licences really cost. It is also the quickest way into the rest of the portfolio.</a:t>
            </a:r>
          </a:p>
          <a:p/>
          <a:p>
            <a:r>
              <a:t>Likely question: Is this a FinOps tool?</a:t>
            </a:r>
          </a:p>
          <a:p>
            <a:r>
              <a:t>Answer: No. It uses native Azure data and a transparent cost model. The value is the method and the decision memo, not software.</a:t>
            </a:r>
          </a:p>
          <a:p/>
          <a:p>
            <a:r>
              <a:t>DETAIL AND CAVEATS</a:t>
            </a:r>
          </a:p>
          <a:p>
            <a:r>
              <a:t>Opening slide.</a:t>
            </a:r>
          </a:p>
          <a:p/>
          <a:p>
            <a:r>
              <a:t>No baseline deck for this offering was supplied with the original request; it was built new in v2.0 from the brief, the GTM proposal V3 and verified Microsoft sources. Version 4.0 moves the worked example to gpt-5.4 (gpt-4.1 is deprecated), adds licence economics for Agent 365 and Copilot Studio, and a FinOps operating model.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pitch is simple: measure before you commit. We do not tell customers to buy reserved capacity on a slide; we show the break-even price from their own data and their own agreement prices.</a:t>
            </a:r>
          </a:p>
          <a:p/>
          <a:p>
            <a:r>
              <a:t>Likely question: Why fixed scope?</a:t>
            </a:r>
          </a:p>
          <a:p>
            <a:r>
              <a:t>Answer: It is easy to buy, low risk, and it creates the evidence for the landing zone, gateway and managed service that follow.</a:t>
            </a:r>
          </a:p>
          <a:p/>
          <a:p>
            <a:r>
              <a:t>DETAIL AND CAVEATS</a:t>
            </a:r>
          </a:p>
          <a:p>
            <a:r>
              <a:t>The assessment does not recommend a real PTU or GPU commitment from illustrative economics; it produces evidence and pricing inputs for the customer to decide. Cognizant does not give financial advice.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facts make this urgent. Models retire inside reservation terms, list-price PTU rarely beats pay as you go, and agent licences add a new cost line nobody has modelled.</a:t>
            </a:r>
          </a:p>
          <a:p/>
          <a:p>
            <a:r>
              <a:t>Likely question: So is PTU a bad idea?</a:t>
            </a:r>
          </a:p>
          <a:p>
            <a:r>
              <a:t>Answer: Not always. It buys latency and guaranteed throughput, and a reservation price can change the answer. That is exactly what the assessment measures.</a:t>
            </a:r>
          </a:p>
          <a:p/>
          <a:p>
            <a:r>
              <a:t>DETAIL AND CAVEATS</a:t>
            </a:r>
          </a:p>
          <a:p>
            <a:r>
              <a:t>Drivers are sourced facts plus arithmetic from list prices. No customer or pipeline is claimed.</a:t>
            </a:r>
          </a:p>
          <a:p/>
          <a:p>
            <a:r>
              <a:t>Sources (checked 11 Oct 2026):</a:t>
            </a:r>
          </a:p>
          <a:p>
            <a:r>
              <a:t>Foundry Models retirement schedule: https://learn.microsoft.com/en-us/azure/foundry/openai/concepts/model-retirement-schedule</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Microsoft Agent 365 now generally available (Microsoft Security blog, 1 May 2026): https://www.microsoft.com/en-us/security/blog/2026/05/01/microsoft-agent-365-now-generally-available-expands-capabilities-and-integrations/</a:t>
            </a:r>
          </a:p>
          <a:p>
            <a:r>
              <a:t>Microsoft Copilot Studio licensing guidance (Microsoft Licensing): https://www.microsoft.com/licensing/guidance/Microsoft-Copilot-Studio</a:t>
            </a:r>
          </a:p>
          <a:p>
            <a:r>
              <a:t>Microsoft 365 E7 to launch 1 May for $99 per user per month (Directions on Microsoft, third party, 9 Mar 2026): https://www.directionsonmicrosoft.com/m365-e7-to-launch-may-1-for-99-per-user-per-month/</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entry point of the portfolio. Its outputs set the deployment types for the landing zone and the routing rules for the gateway, and it repeats every month inside managed operations.</a:t>
            </a:r>
          </a:p>
          <a:p/>
          <a:p>
            <a:r>
              <a:t>Likely question: Do we model Microsoft 365 Copilot licences?</a:t>
            </a:r>
          </a:p>
          <a:p>
            <a:r>
              <a:t>Answer: No. Those are owned by our M365 and D365 teams. We model Azure-billed items, Agent 365 and Copilot Studio credits where they affect the AI platform.</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measure, model and recommend gates. Purchases stay with the customer and procurement.</a:t>
            </a:r>
          </a:p>
          <a:p/>
          <a:p>
            <a:r>
              <a:t>Likely question: What does the customer need to provide?</a:t>
            </a:r>
          </a:p>
          <a:p>
            <a:r>
              <a:t>Answer: Access to cost data and metrics, their Microsoft agreement prices, and named workload owners.</a:t>
            </a:r>
          </a:p>
          <a:p/>
          <a:p>
            <a:r>
              <a:t>DETAIL AND CAVEATS</a:t>
            </a:r>
          </a:p>
          <a:p>
            <a:r>
              <a:t>Scope and pricing units. Implementation of telemetry or routing changes is priced in offerings 01 and 03.</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capacity choice is one of four. Pay as you go for uncertain demand, PTU for measured sustained load, hybrid for a baseline plus overflow, and self-hosted GPUs only when PaaS cannot meet a control need. Each has a main risk, shown in amber.</a:t>
            </a:r>
          </a:p>
          <a:p/>
          <a:p>
            <a:r>
              <a:t>Likely question: Which do most customers end up with?</a:t>
            </a:r>
          </a:p>
          <a:p>
            <a:r>
              <a:t>Answer: We do not assume. Many start on pay as you go; the assessment shows when a baseline justifies PTU.</a:t>
            </a:r>
          </a:p>
          <a:p/>
          <a:p>
            <a:r>
              <a:t>DETAIL AND CAVEATS</a:t>
            </a:r>
          </a:p>
          <a:p>
            <a:r>
              <a:t>PTU fits measured, sustained workloads with latency targets; hybrid fits an established baseline with governed overflow; self-hosted GPU fits only when control or workload requirements justify the operating burden. Detail in appendix A1. Telemetry architecture for the assessment: appendix A15.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number decides this: the price per PTU-month. In this example, PTU only beats pay as you go if it costs less than about $210 a month in a hybrid design. The hourly list price is 730 dollars. So the question for procurement is whether their reservation price closes that gap, and whether latency needs justify paying more.</a:t>
            </a:r>
          </a:p>
          <a:p/>
          <a:p>
            <a:r>
              <a:t>Likely question: Is this example realistic?</a:t>
            </a:r>
          </a:p>
          <a:p>
            <a:r>
              <a:t>Answer: The prices are real list prices; the workload is assumed. The assessment replaces the assumptions with measured traffic.</a:t>
            </a:r>
          </a:p>
          <a:p/>
          <a:p>
            <a:r>
              <a:t>DETAIL AND CAVEATS</a:t>
            </a:r>
          </a:p>
          <a:p>
            <a:r>
              <a:t>Worked example (appendix A8 to A11). Assumed workload: 100 tasks per minute on average, 3 model calls per task, 5% retries, 2000 input tokens (25% cached) and 400 output tokens per call, daily profile peaking at 1.66x the mean. Model gpt-5.4 Global Standard at East US 2 list prices ($2.50 input, $0.25 cached, $15.00 output per 1M tokens). PTU parameters for gpt-5.4: 2,400 input TPM per PTU, 1 output token = 6 input, minimum 15, increment 5. PAYG cost $136,245 a month. PTU sized to peak = 850 PTU; hybrid baseline = 425 PTU with 34% of calls overflowing. Break-even effective PTU price: $160 per PTU-month (peak-sized) and $210 (hybrid). Hourly list price for Global provisioned is $1.00 per PTU-hour = $730 per PTU-month. Reservation prices are not in the retail price API; they come from the customer agreement. Not a recommendation.</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assessment itself is four to six weeks. Benchmarks and the operating model are add-ons sold when the customer needs them. The monthly review moves into managed operations.</a:t>
            </a:r>
          </a:p>
          <a:p/>
          <a:p>
            <a:r>
              <a:t>Likely question: Can it be shorter?</a:t>
            </a:r>
          </a:p>
          <a:p>
            <a:r>
              <a:t>Answer: Only with existing telemetry. Without it we need at least two weeks of measured traffic.</a:t>
            </a:r>
          </a:p>
          <a:p/>
          <a:p>
            <a:r>
              <a:t>DETAIL AND CAVEATS</a:t>
            </a:r>
          </a:p>
          <a:p>
            <a:r>
              <a:t>Ranges across CIS Infra, AI and Finance support.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common failure is advice without data. Our rule is no commitment advice without measured traffic and the customer’s own prices.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Top risks for the assessment and for any capacity decision that follows.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Success is a decision taken on evidence, then tracked monthly. Today we ask leadership to approve the assessment as an option and to adopt the no-advice-without-data rule.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Measures are definitions.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Appendix divider. Use the index to navigate.</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"Decision criteria for PAYG, PTU, hybrid and self-hosted". Detailed decision criteria. Each criterion needs evidence from the assessment. A self-hosted model is a different model from a Foundry-hosted one, so cost comparisons are not like-for-like unless quality is re-evaluated.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Detailed decision criteria. Each criterion needs evidence from the assessment. A self-hosted model is a different model from a Foundry-hosted one, so cost comparisons are not like-for-like unless quality is re-evaluated.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"Workload characterisation inputs". Inputs collected in the assessment, with their usual source. Every assumed value is labelled in the memo.</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Inputs collected in the assessment, with their usual source. Every assumed value is labelled in the memo.</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"Agent loops, retries and tool calls multiply tokens". Illustration using the worked-example assumptions: one task drives 3 model calls, plus 5% retries, so about 3.15 calls per task. Tool results added to the prompt grow the context on later calls, which this simple example does not model.</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Illustration using the worked-example assumptions: one task drives 3 model calls, plus 5% retries, so about 3.15 calls per task. Tool results added to the prompt grow the context on later calls, which this simple example does not model.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"Quota, capacity and reservations are different things". 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Quoted from Microsoft Learn (provisioned throughput, updated 2026-07-15): "Having PTU quota doesn't guarantee that capacity is available." "Reservations don't guarantee capacity. First create deployments to confirm that capacity is available, then purchase the reservation." Deleting or scaling down releases capacity with no guarantee it can be regained.</a:t>
            </a:r>
          </a:p>
          <a:p/>
          <a:p>
            <a:r>
              <a:t>Sources (checked 11 Oct 2026):</a:t>
            </a:r>
          </a:p>
          <a:p>
            <a:r>
              <a:t>Provisioned throughput concepts: https://learn.microsoft.com/en-us/azure/foundry/openai/concepts/provisioned-throughput</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"PTU sizing method and current parameters". Formula and per-model values from Microsoft Learn PTU sizing (gpt-5.4 row checked 11 Oct 2026; other rows checked in v2, page updated 2026-09-24). Cached tokens are deducted 100% for these models. Microsoft recommends benchmarking against representative traffic for the most accurate sizing; the Foundry portal capacity calculator provides a guided estimate.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Formula and per-model values from Microsoft Learn PTU sizing (gpt-5.4 row checked 11 Oct 2026; other rows checked in v2, page updated 2026-09-24). Cached tokens are deducted 100% for these models. Microsoft recommends benchmarking against representative traffic for the most accurate sizing; the Foundry portal capacity calculator provides a guided estimate.</a:t>
            </a:r>
          </a:p>
          <a:p/>
          <a:p>
            <a:r>
              <a:t>Sources (checked 11 Oct 2026):</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"Commitment and model-lifecycle risk". 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Retirement dates from the Foundry Models retirement schedule (updated 2026-09-21). Provisioned deployments are not auto-upgraded and must be migrated manually; a successor model may need a different PTU count. Reservations apply to a deployment type, not a model, but sizing changes with the model.</a:t>
            </a:r>
          </a:p>
          <a:p/>
          <a:p>
            <a:r>
              <a:t>Sources (checked 11 Oct 2026):</a:t>
            </a:r>
          </a:p>
          <a:p>
            <a:r>
              <a:t>Foundry Models retirement schedule: https://learn.microsoft.com/en-us/azure/foundry/openai/concepts/model-retirement-schedule</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"Reservation coverage versus actual utilisation". Coverage measures how much of deployed PTU is billed at reserved rates. Utilisation measures how much of deployed capacity is actually used. High coverage with low utilisation wastes money; deployed PTUs above the reservation are billed hourly.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Coverage measures how much of deployed PTU is billed at reserved rates. Utilisation measures how much of deployed capacity is actually used. High coverage with low utilisation wastes money; deployed PTUs above the reservation are billed hourly.</a:t>
            </a:r>
          </a:p>
          <a:p/>
          <a:p>
            <a:r>
              <a:t>Sources (checked 11 Oct 2026):</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"Worked example inputs: verified prices, assumed load". Every assumed value is labelled. Prices are Azure Retail Prices API list prices, East US 2, USD, retrieved 11 Oct 2026; enterprise prices differ. Profile: 8 hours at 0.3, 10 business hours at 1.6, 6 evening hours at 0.8, normalised so the daily mean is 1.0.</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Every assumed value is labelled. Prices are Azure Retail Prices API list prices, East US 2, USD, retrieved 11 Oct 2026; enterprise prices differ. Profile: 8 hours at 0.3, 10 business hours at 1.6, 6 evening hours at 0.8, normalised so the daily mean is 1.0.</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"Worked example results". Calculation: average calls 315 per minute; monthly calls 13,797,000 (730 hours). Cost per call $0.00988. Normalised tokens per call 3900.</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Calculation: average calls 315 per minute; monthly calls 13,797,000 (730 hours). Cost per call $0.00988. Normalised tokens per call 3900. Peak calls 521 per minute need 850 PTU (rounded up to increment). Hybrid baseline sized to the evening level needs 425 PTU; 34.4% of calls overflow to PAYG, costing $46,828. Average utilisation: 60% peak-sized, 79% hybrid baseline. Break-even = PAYG cost avoided ÷ PTUs.</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"Sensitivity: break-even price rises with utilisation". Break-even effective PTU price per PTU-month = utilisation x 2,400 TPM x 60 x 730 / 1,000,000 x $2.50 (gpt-5.4 Global PAYG input price; output is weighted 6x in PTU accounting and priced 6x input in both PTU accounting and price). Cached tokens make PTU slightly more attractive because they consume no PTU capacity but cost $0.25 per 1M on PAYG; this line ignores that effect.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Break-even effective PTU price per PTU-month = utilisation x 2,400 TPM x 60 x 730 / 1,000,000 x $2.50 (gpt-5.4 Global PAYG input price; output is weighted 6x in PTU accounting and priced 6x input in both PTU accounting and price). Cached tokens make PTU slightly more attractive because they consume no PTU capacity but cost $0.25 per 1M on PAYG; this line ignores that effect.</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"Sensitivity: which assumptions move the answer". Each row changes one assumption from the base case and recomputes PAYG cost, PTU counts and break-even prices with the same method. Calls per task scale cost and PTUs together, so break-even barely moves; cache rate and output share change the balance.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Each row changes one assumption from the base case and recomputes PAYG cost, PTU counts and break-even prices with the same method. Calls per task scale cost and PTUs together, so break-even barely moves; cache rate and output share change the balance.</a:t>
            </a:r>
          </a:p>
          <a:p/>
          <a:p>
            <a:r>
              <a:t>Sources (checked 11 Oct 2026):</a:t>
            </a:r>
          </a:p>
          <a:p>
            <a:r>
              <a:t>Azure Retail Prices API: gpt-5.4, East US 2: https://prices.azure.com/api/retail/prices?$filter=armRegionName eq 'eastus2' and contains(meterName,'5.4')</a:t>
            </a:r>
          </a:p>
          <a:p>
            <a:r>
              <a:t>Provisioned throughput sizing and per-model values: https://learn.microsoft.com/en-us/azure/foundry/openai/how-to/provisioned-throughput-sizing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"Self-hosted GPU inference: what drives capacity". 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ND H100 v5 (verified): 8 NVIDIA H100 80 GB GPUs per VM, NVLink 4.0 within the VM, 3.2 Tbps InfiniBand per VM (8 x 400 Gbps), 96 vCPUs, 1,900 GiB memory. Throughput for a given open model depends on precision, batching, context length and the serving stack, and must be benchmarked.</a:t>
            </a:r>
          </a:p>
          <a:p/>
          <a:p>
            <a:r>
              <a:t>Sources (checked 11 Oct 2026):</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"Self-hosted GPU: break-even throughput, not GPU count". ND96isr H100 v5, Linux, East US 2 list: $98.32 per hour (about $71,774 a month at 730 hours); 1-year reservation listed at $551,221 for the term. To match the example’s blended PAYG cost of about $4.11 per 1M tokens, one VM must sustain about 6,638 tokens per second around the clock, before storage, network, licences, operations and engineering, and before an N+1 replica. A different model is not like-for-like; re-evaluate quality.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ND96isr H100 v5, Linux, East US 2 list: $98.32 per hour (about $71,774 a month at 730 hours); 1-year reservation listed at $551,221 for the term. To match the example’s blended PAYG cost of about $4.11 per 1M tokens, one VM must sustain about 6,638 tokens per second around the clock, before storage, network, licences, operations and engineering, and before an N+1 replica. A different model is not like-for-like; re-evaluate quality.</a:t>
            </a:r>
          </a:p>
          <a:p/>
          <a:p>
            <a:r>
              <a:t>Sources (checked 11 Oct 2026):</a:t>
            </a:r>
          </a:p>
          <a:p>
            <a:r>
              <a:t>Azure Retail Prices API: ND H100 v5, East US 2: https://prices.azure.com/api/retail/prices?$filter=serviceName eq 'Virtual Machines' and armRegionName eq 'eastus2' and contains(armSkuName,'H100')</a:t>
            </a:r>
          </a:p>
          <a:p>
            <a:r>
              <a:t>ND H100 v5 series VM sizes: https://learn.microsoft.com/en-us/azure/virtual-machines/sizes/gpu-accelerated/ndh100v5-series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"Compare options on the same cost boundary". Comparable total-cost boundaries. Each option must include the same lines, or an explicit zero with a reason.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Comparable total-cost boundaries. Each option must include the same lines, or an explicit zero with a reason.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Data comes from four places: gateway token metrics, deployment metrics, cost exports and reservation data. We join them in Log Analytics and a cost model, and the output is the decision memo.</a:t>
            </a:r>
          </a:p>
          <a:p/>
          <a:p>
            <a:r>
              <a:t>Likely question: Do we install a tool?</a:t>
            </a:r>
          </a:p>
          <a:p>
            <a:r>
              <a:t>Answer: No. Native Azure services plus a transparent model the customer keeps.</a:t>
            </a:r>
          </a:p>
          <a:p/>
          <a:p>
            <a:r>
              <a:t>DETAIL AND CAVEATS</a:t>
            </a:r>
          </a:p>
          <a:p>
            <a:r>
              <a:t>Rebuilt editable telemetry architecture (audit finding: rebuild the low-resolution telemetry diagram). Steps: (1) API Management emits token metrics per caller, agent and model; (2) Foundry deployments expose token and utilisation metrics in Azure Monitor; (3) Cost Management exports actual and amortised cost daily to a Storage account; (4) reservation and quota data are pulled on schedule; (5) a cost model joins usage to price by model, deployment type and token type; (6) the workbook shows unit cost, utilisation, coverage and overflow. Identity: read-only managed identity. Note Log Analytics ingestion is itself a cost.</a:t>
            </a:r>
          </a:p>
          <a:p/>
          <a:p>
            <a:r>
              <a:t>Sources (checked 11 Oct 2026):</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"Deployment type changes price and processing location". gpt-5.4 East US 2 retail list prices, USD, retrieved 11 Oct 2026. gpt-5.4 has no Standard (regional) pay-as-you-go row; Regional provisioned is available only in Germany West Central, Sweden Central and UK South. Provisioned hourly meters are per deployment type, carried from the v2 check.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gpt-5.4 East US 2 retail list prices, USD, retrieved 11 Oct 2026. gpt-5.4 has no Standard (regional) pay-as-you-go row; Regional provisioned is available only in Germany West Central, Sweden Central and UK South. Provisioned hourly meters are per deployment type, carried from the v2 check. Processing location per deployment type from the deployment types page (updated 2026-08-12). Data zones: US, EU, APAC; no UK or Middle East data zone.</a:t>
            </a:r>
          </a:p>
          <a:p/>
          <a:p>
            <a:r>
              <a:t>Sources (checked 11 Oct 2026):</a:t>
            </a:r>
          </a:p>
          <a:p>
            <a:r>
              <a:t>Azure Retail Prices API: gpt-5.4, East US 2: https://prices.azure.com/api/retail/prices?$filter=armRegionName eq 'eastus2' and contains(meterName,'5.4')</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"Assessment deliverables and acceptance". Proposed deliverables and acceptance. The memo states assumptions, sources and missing inputs; it does not commit the customer or Cognizant to a capacity purchase.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Proposed deliverables and acceptance. The memo states assumptions, sources and missing inputs; it does not commit the customer or Cognizant to a capacity purchase.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platforms add licence lines that sit outside the Azure bill. We check three: Agent 365 per user, Copilot Studio credits billed through Azure, and whether the customer already owns them through E7. Microsoft 365 Copilot seats stay with our M365 and D365 teams.</a:t>
            </a:r>
          </a:p>
          <a:p/>
          <a:p>
            <a:r>
              <a:t>Likely question: Should customers buy E7?</a:t>
            </a:r>
          </a:p>
          <a:p>
            <a:r>
              <a:t>Answer: That is their licensing decision with their Microsoft partner. We show the AI platform cost effect of each option.</a:t>
            </a:r>
          </a:p>
          <a:p/>
          <a:p>
            <a:r>
              <a:t>DETAIL AND CAVEATS</a:t>
            </a:r>
          </a:p>
          <a:p>
            <a:r>
              <a:t>Agent 365: GA 1 May 2026, $15 per user per month, or included in Microsoft 365 E7 (Microsoft Security blog). E7 contents per Microsoft Learn (includes Agent 365 and Entra Suite); E7 price of about $99 per user per month per Directions on Microsoft (third party). Copilot Studio prices per Microsoft licensing guidance: $0.01 per credit pay-as-you-go billed through Azure; $200 per 25,000-credit capacity pack a month (billed annually); pre-purchase plans available. Microsoft 365 Copilot licensing is owned by the Cognizant M365 and D365 teams and is outside this assessment. Advisory only; no licensing advice or resale.</a:t>
            </a:r>
          </a:p>
          <a:p/>
          <a:p>
            <a:r>
              <a:t>Sources (checked 11 Oct 2026):</a:t>
            </a:r>
          </a:p>
          <a:p>
            <a:r>
              <a:t>Microsoft Agent 365 now generally available (Microsoft Security blog, 1 May 2026): https://www.microsoft.com/en-us/security/blog/2026/05/01/microsoft-agent-365-now-generally-available-expands-capabilities-and-integrations/</a:t>
            </a:r>
          </a:p>
          <a:p>
            <a:r>
              <a:t>Microsoft Copilot Studio licensing guidance (Microsoft Licensing): https://www.microsoft.com/licensing/guidance/Microsoft-Copilot-Studio</a:t>
            </a:r>
          </a:p>
          <a:p>
            <a:r>
              <a:t>Conditional Access for agents (Microsoft Learn, updated 30 Sep 2026): https://learn.microsoft.com/en-us/entra/identity/conditional-access/agent-id</a:t>
            </a:r>
          </a:p>
          <a:p>
            <a:r>
              <a:t>Microsoft 365 E7 to launch 1 May for $99 per user per month (Directions on Microsoft, third party, 9 Mar 2026): https://www.directionsonmicrosoft.com/m365-e7-to-launch-may-1-for-99-per-user-per-month/</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After the memo, someone has to keep the numbers honest. This is the cadence we propose: weekly anomalies, monthly unit cost and utilisation, quarterly commitments and model retirements. We set it up here as an add-on, then offering 05 runs it every month.</a:t>
            </a:r>
          </a:p>
          <a:p/>
          <a:p>
            <a:r>
              <a:t>Likely question: Who owns it?</a:t>
            </a:r>
          </a:p>
          <a:p>
            <a:r>
              <a:t>Answer: The customer FinOps lead is accountable. We run the data and the reviews.</a:t>
            </a:r>
          </a:p>
          <a:p/>
          <a:p>
            <a:r>
              <a:t>DETAIL AND CAVEATS</a:t>
            </a:r>
          </a:p>
          <a:p>
            <a:r>
              <a:t>Proposed operating model after the assessment. Cost Management exports support the FOCUS format for standardised cost data. Showback first; chargeback only when Finance approves allocation rules. Cadence: weekly anomaly review, monthly unit-cost and utilisation review, quarterly commitment and lifecycle review. Roles follow the RACI in appendix R1. Optional add-on priced separately.</a:t>
            </a:r>
          </a:p>
          <a:p/>
          <a:p>
            <a:r>
              <a:t>Sources (checked 11 Oct 2026):</a:t>
            </a:r>
          </a:p>
          <a:p>
            <a:r>
              <a:t>Cost Management exports, including FOCUS format: https://learn.microsoft.com/en-us/azure/cost-management-billing/costs/tutorial-improved-exports</a:t>
            </a:r>
          </a:p>
          <a:p>
            <a:r>
              <a:t>AI gateway capabilities in API Management: https://learn.microsoft.com/en-us/azure/api-management/genai-gateway-capabilities</a:t>
            </a:r>
          </a:p>
          <a:p>
            <a:r>
              <a:t>Provisioned throughput billing (hourly and reservations): https://learn.microsoft.com/en-us/azure/foundry/openai/how-to/provisioned-throughput-onboarding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Customers will ask why they should pay when Microsoft sometimes funds assessments. Our answer: where funding is available we use it for discovery, and we charge for the deeper work that produces a buying decision with the customer’s own prices.</a:t>
            </a:r>
          </a:p>
          <a:p/>
          <a:p>
            <a:r>
              <a:t>Likely question: What if the customer already had a funded assessment?</a:t>
            </a:r>
          </a:p>
          <a:p>
            <a:r>
              <a:t>Answer: We reuse its findings and shrink our scope, which lowers the fee.</a:t>
            </a:r>
          </a:p>
          <a:p/>
          <a:p>
            <a:r>
              <a:t>DETAIL AND CAVEATS</a:t>
            </a:r>
          </a:p>
          <a:p>
            <a:r>
              <a:t>Positioning the paid assessment against Microsoft or partner-funded work. Azure Accelerate provides funding support and expert guidance; eligibility and amounts are per customer and confirmed by the Cognizant Microsoft alliance team. No funding is assumed in any price.</a:t>
            </a:r>
          </a:p>
          <a:p/>
          <a:p>
            <a:r>
              <a:t>Sources (checked 11 Oct 2026):</a:t>
            </a:r>
          </a:p>
          <a:p>
            <a:r>
              <a:t>What's new for partners, Jan 2026 (Microsoft Partner blog): https://partner.microsoft.com/blog/article/whats-new-for-partners-jan-2026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14 or more with no zero on funding, authority, sponsor or the data residency gate;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2026 (released 3 Aug 2026), plus the MCP tool trust boundary, supply chain and identity threats specific to this offering. CIS Infra implements platform controls; Security owns threat modelling, policy and security operations.</a:t>
            </a:r>
          </a:p>
          <a:p/>
          <a:p>
            <a:r>
              <a:t>Sources (checked 11 Oct 2026):</a:t>
            </a:r>
          </a:p>
          <a:p>
            <a:r>
              <a:t>OWASP Top 10 for LLM Applications 2026 (OWASP GenAI Security Project, released 3 Aug 2026): https://genai.owasp.org/resource/owasp-genai-llm-top-10-2026/</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decide the compliance conversation: what role the customer holds under the EU AI Act, and which sector rules apply. We help with evidence and controls; the customer and its lawyers decide.</a:t>
            </a:r>
          </a:p>
          <a:p/>
          <a:p>
            <a:r>
              <a:t>Likely question: Does SR 11-7 still apply to our US bank clients?</a:t>
            </a:r>
          </a:p>
          <a:p>
            <a:r>
              <a:t>Answer: It was replaced in April 2026 by risk-based interagency guidance, and generative and agentic AI are out of its scope. Banks still expect governance, so we position audit evidence, not model validation.</a:t>
            </a:r>
          </a:p>
          <a:p/>
          <a:p>
            <a:r>
              <a:t>DETAIL AND CAVEATS</a:t>
            </a:r>
          </a:p>
          <a:p>
            <a:r>
              <a:t>EU AI Act roles are indicative: the customer is usually the deployer of an AI system and becomes a provider only if it develops a system and places it on the market or puts it into service under its own name. Cognizant, delivering infrastructure services, is normally neither, unless a contract says otherwise. Sector rows: DORA applies from 17 Jan 2025 (Regulation (EU) 2022/2554); NIS2 transposition deadline 17 Oct 2024 (Directive (EU) 2022/2555); Saudi PDPL effective 14 Sep 2023 and enforceable from Sep 2024 (Baker McKenzie summary, third party); US interagency model risk guidance issued 17 Apr 2026 replaced SR 11-7 and puts generative and agentic AI out of scope (JD Supra summary, third party). UK and UAE rows are not re-verified and are marked so. Cognizant does not give legal advice; customers take their own.</a:t>
            </a:r>
          </a:p>
          <a:p/>
          <a:p>
            <a:r>
              <a:t>Sources (checked 11 Oct 2026):</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r>
              <a:t>Directive (EU) 2022/2555 (NIS2), EUR-Lex: https://eur-lex.europa.eu/eli/dir/2022/2555/oj</a:t>
            </a:r>
          </a:p>
          <a:p>
            <a:r>
              <a:t>Saudi Arabia key data and cybersecurity laws (Baker McKenzie, third party, reviewed 31 Dec 2024): https://resourcehub.bakermckenzie.com/en/resources/global-data-and-cyber-handbook/emea/saudi-arabia/topics/key-data-and-cybersecurity-laws</a:t>
            </a:r>
          </a:p>
          <a:p>
            <a:r>
              <a:t>Banking regulators replace SR 11-7 with revised model risk guidance (JD Supra law-firm summary, third party): https://www.jdsupra.com/legalnews/banking-regulators-replace-5649360/</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Deck 02 builds the containment design and deck 05 operates it. This slide shows the part this offering provides.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Enforcement point 4 is the identity layer. Entra Conditional Access for agents can block or limit agent access when tokens are issued or refreshed; it requires Microsoft 365 E7, or Agent 365 plus Entra P1 or Microsoft 365 E3 (Microsoft Learn, updated 30 Sep 2026), and live sessions are not cut immediately,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Delivery will ask who does the work, and sellers will ask what they can use. This slide answers both honestly: the roles and skills are defined, current bench numbers are an input we still need, and most of the sales kit is still to build.</a:t>
            </a:r>
          </a:p>
          <a:p/>
          <a:p>
            <a:r>
              <a:t>Likely question: How long to get ready?</a:t>
            </a:r>
          </a:p>
          <a:p>
            <a:r>
              <a:t>Answer: The ramp-up column gives our estimate per role. Leadership can shorten it by funding enablement in the validation.</a:t>
            </a:r>
          </a:p>
          <a:p/>
          <a:p>
            <a:r>
              <a:t>DETAIL AND CAVEATS</a:t>
            </a:r>
          </a:p>
          <a:p>
            <a:r>
              <a:t>Skills and bench plan (delivery) and presales kit (sellers). Bench numbers are an input required from the CIS Infra delivery lead; no staffing is asserted. Certifications listed are Microsoft role-based certifications or specializations to confirm with the Microsoft alliance team. Kit status reflects what exists today in this proposal: decks and talk tracks exist; everything else is to build.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Account teams want to know where this fits and how big it gets. The top row is the account play, including a story for a business buyer, not only IT. The table is what Legal and Finance will want settled before we sign.</a:t>
            </a:r>
          </a:p>
          <a:p/>
          <a:p>
            <a:r>
              <a:t>Likely question: Will this compete with our existing infrastructure contract?</a:t>
            </a:r>
          </a:p>
          <a:p>
            <a:r>
              <a:t>Answer: No. In existing accounts we add it through change control as an extension, and the account leader decides the route.</a:t>
            </a:r>
          </a:p>
          <a:p/>
          <a:p>
            <a:r>
              <a:t>DETAIL AND CAVEATS</a:t>
            </a:r>
          </a:p>
          <a:p>
            <a:r>
              <a:t>Account play (where the offering fits in an existing account plan, first deal, expansion path and a business-led entry story) and contract risk positions. Contract positions are proposals for Legal and Finance; Cognizant standard terms prevail. Deal sizes use the illustrative $1,000 per role day. In accounts where Cognizant already runs infrastructure or managed services, position this offering as an extension of the existing contract through change control, not a competing bid.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90-day validation.</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Any commitment is the customer’s decision; the memo informs it. The customer column here covers the customer sponsor and procurement.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chart" Target="../charts/chart1.xml"/><Relationship Id="rId5"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hyperlink" Target="https://prices.azure.com/api/retail/prices?$filter=armRegionName eq 'eastus2' and contains(meterName,'5.4')" TargetMode="External"/><Relationship Id="rId5" Type="http://schemas.openxmlformats.org/officeDocument/2006/relationships/hyperlink" Target="https://www.microsoft.com/en-us/security/blog/2026/05/01/microsoft-agent-365-now-generally-available-expands-capabilities-and-integrations/" TargetMode="External"/><Relationship Id="rId6" Type="http://schemas.openxmlformats.org/officeDocument/2006/relationships/hyperlink" Target="https://www.microsoft.com/licensing/guidance/Microsoft-Copilot-Studio" TargetMode="External"/><Relationship Id="rId7" Type="http://schemas.openxmlformats.org/officeDocument/2006/relationships/hyperlink" Target="https://learn.microsoft.com/en-us/azure/cost-management-billing/costs/tutorial-improved-exports" TargetMode="External"/><Relationship Id="rId8" Type="http://schemas.openxmlformats.org/officeDocument/2006/relationships/hyperlink" Target="https://learn.microsoft.com/en-us/azure/defender-for-cloud/ai-threat-protection" TargetMode="External"/><Relationship Id="rId9" Type="http://schemas.openxmlformats.org/officeDocument/2006/relationships/hyperlink" Target="https://learn.microsoft.com/en-us/purview/ai-microsoft-purview" TargetMode="External"/><Relationship Id="rId10" Type="http://schemas.openxmlformats.org/officeDocument/2006/relationships/hyperlink" Target="https://www.orrick.com/en/Insights/2026/07/EU-AI-Act-Update-Digital-Omnibus-Finalizes-8-Compliance-Changes" TargetMode="External"/><Relationship Id="rId11" Type="http://schemas.openxmlformats.org/officeDocument/2006/relationships/hyperlink" Target="https://learn.microsoft.com/en-us/azure/foundry/foundry-models/concepts/models-sold-directly-by-azure-region-availability"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learn.microsoft.com/en-us/azure/foundry/openai/how-to/provisioned-throughput-sizing" TargetMode="External"/><Relationship Id="rId14" Type="http://schemas.openxmlformats.org/officeDocument/2006/relationships/hyperlink" Target="https://learn.microsoft.com/en-us/azure/foundry/openai/how-to/provisioned-throughput-onboarding" TargetMode="External"/><Relationship Id="rId15" Type="http://schemas.openxmlformats.org/officeDocument/2006/relationships/hyperlink" Target="https://learn.microsoft.com/en-us/azure/foundry/foundry-models/concepts/deployment-types" TargetMode="External"/><Relationship Id="rId16" Type="http://schemas.openxmlformats.org/officeDocument/2006/relationships/hyperlink" Target="https://learn.microsoft.com/en-us/azure/foundry/openai/concepts/model-retirement-schedule" TargetMode="External"/><Relationship Id="rId17"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hyperlink" Target="https://learn.microsoft.com/en-us/azure/virtual-machines/sizes/gpu-accelerated/ndh100v5-series" TargetMode="External"/><Relationship Id="rId5" Type="http://schemas.openxmlformats.org/officeDocument/2006/relationships/hyperlink" Target="https://prices.azure.com/api/retail/prices?$filter=serviceName eq 'Virtual Machines' and armRegionName eq 'eastus2' and contains(armSkuName,'H100')" TargetMode="External"/><Relationship Id="rId6" Type="http://schemas.openxmlformats.org/officeDocument/2006/relationships/hyperlink" Target="https://prices.azure.com/api/retail/prices?$filter=serviceName eq 'Log Analytics' and armRegionName eq 'eastus2'" TargetMode="External"/><Relationship Id="rId7" Type="http://schemas.openxmlformats.org/officeDocument/2006/relationships/hyperlink" Target="https://learn.microsoft.com/en-us/azure/api-management/genai-gateway-capabilities" TargetMode="External"/><Relationship Id="rId8" Type="http://schemas.openxmlformats.org/officeDocument/2006/relationships/hyperlink" Target="https://learn.microsoft.com/en-us/azure/architecture/icons/" TargetMode="External"/><Relationship Id="rId9" Type="http://schemas.openxmlformats.org/officeDocument/2006/relationships/hyperlink" Target="https://github.com/upendra25312/AI-Foundry-GTM-offering-/blob/main/CIS_Infra_Azure_AI_Platform_GTM_Proposal_V3.docx" TargetMode="External"/><Relationship Id="rId10"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Capacity and FinOps Assessment</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Measure demand, then choose PAYG, PTU, hybrid or self-hosted capacity on evidence</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Fixed-scope assessment with transparent cost models and decision gates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Measure demand first, then buy capacity on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AI capacity is bought on guesses. Agent loops multiply tokens; PTU commitments outlive models; licences add new cost lines.</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A fixed-scope assessment: instrument usage, compare options on one cost boundary, check licence economics, set decision gates.</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A decision memo with measured demand, sizing, break-even points, sensitivity and the approvals still required.</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Cost per useful AI task; capacity bought on evidence, not guesses.</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Approve the assessment as a portfolio option</a:t>
            </a:r>
          </a:p>
          <a:p>
            <a:pPr algn="l" marL="201168" indent="-201168">
              <a:spcAft>
                <a:spcPts val="1000"/>
              </a:spcAft>
              <a:buFont typeface="Arial"/>
              <a:buChar char="•"/>
            </a:pPr>
            <a:r>
              <a:rPr sz="2000" b="0" i="0">
                <a:solidFill>
                  <a:srgbClr val="FFFFFF"/>
                </a:solidFill>
                <a:latin typeface="Arial"/>
              </a:rPr>
              <a:t>No commitment advice without measured data and customer prices</a:t>
            </a:r>
          </a:p>
          <a:p>
            <a:pPr algn="l" marL="201168" indent="-201168">
              <a:spcAft>
                <a:spcPts val="1000"/>
              </a:spcAft>
              <a:buFont typeface="Arial"/>
              <a:buChar char="•"/>
            </a:pPr>
            <a:r>
              <a:rPr sz="2000" b="0" i="0">
                <a:solidFill>
                  <a:srgbClr val="FFFFFF"/>
                </a:solidFill>
                <a:latin typeface="Arial"/>
              </a:rPr>
              <a:t>Name FinOps and AI owners per pilot</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 PTU is a unit of model throughput, not a fixed number of GPUs. We advise; the customer decides.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Models retire fast and list-price PTU rarely beats PAYG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retire fast</a:t>
            </a:r>
          </a:p>
          <a:p>
            <a:pPr algn="l">
              <a:spcAft>
                <a:spcPts val="400"/>
              </a:spcAft>
            </a:pPr>
            <a:r>
              <a:rPr sz="1800" b="0" i="0">
                <a:solidFill>
                  <a:srgbClr val="1E1E2E"/>
                </a:solidFill>
                <a:latin typeface="Arial"/>
              </a:rPr>
              <a:t>gpt-4.1 retires 14 Apr 2027 and gpt-5.4 on 2 Sep 2027, inside a 1-year reservation bought today.</a:t>
            </a:r>
          </a:p>
          <a:p>
            <a:pPr algn="l"/>
            <a:r>
              <a:rPr sz="1200" b="0" i="0">
                <a:solidFill>
                  <a:srgbClr val="53565A"/>
                </a:solidFill>
                <a:latin typeface="Arial"/>
              </a:rPr>
              <a:t>Source: Foundry retirement schedule</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List PTU rarely wins</a:t>
            </a:r>
          </a:p>
          <a:p>
            <a:pPr algn="l">
              <a:spcAft>
                <a:spcPts val="400"/>
              </a:spcAft>
            </a:pPr>
            <a:r>
              <a:rPr sz="1800" b="0" i="0">
                <a:solidFill>
                  <a:srgbClr val="1E1E2E"/>
                </a:solidFill>
                <a:latin typeface="Arial"/>
              </a:rPr>
              <a:t>At list price a PTU costs $730 a month; fully used, it replaces at most $263 of gpt-5.4 input spend.</a:t>
            </a:r>
          </a:p>
          <a:p>
            <a:pPr algn="l"/>
            <a:r>
              <a:rPr sz="1200" b="0" i="0">
                <a:solidFill>
                  <a:srgbClr val="53565A"/>
                </a:solidFill>
                <a:latin typeface="Arial"/>
              </a:rPr>
              <a:t>Source: Azure Retail Prices API, PTU sizing docs</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 licences arrive</a:t>
            </a:r>
          </a:p>
          <a:p>
            <a:pPr algn="l">
              <a:spcAft>
                <a:spcPts val="400"/>
              </a:spcAft>
            </a:pPr>
            <a:r>
              <a:rPr sz="1800" b="0" i="0">
                <a:solidFill>
                  <a:srgbClr val="1E1E2E"/>
                </a:solidFill>
                <a:latin typeface="Arial"/>
              </a:rPr>
              <a:t>Agent 365 is $15 per user per month or in E7; Copilot Studio credits bill through Azure.</a:t>
            </a:r>
          </a:p>
          <a:p>
            <a:pPr algn="l"/>
            <a:r>
              <a:rPr sz="1200" b="0" i="0">
                <a:solidFill>
                  <a:srgbClr val="53565A"/>
                </a:solidFill>
                <a:latin typeface="Arial"/>
              </a:rPr>
              <a:t>Source: Microsoft blog; Microsoft licensing guide</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FinOps lead or CFO delegate with the AI platform leader; procurement when a Microsoft offer is on the table.</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Model spend growing faster than usage; throttling; a PTU or licence renewal; a scale-up business case.</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04 is the quickest way into the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04  THIS OFFERING</a:t>
            </a:r>
          </a:p>
          <a:p>
            <a:pPr algn="l"/>
            <a:r>
              <a:rPr sz="1500" b="1" i="0">
                <a:solidFill>
                  <a:srgbClr val="FFFFFF"/>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01 Landing Zone</a:t>
            </a:r>
          </a:p>
          <a:p>
            <a:pPr algn="l"/>
            <a:r>
              <a:rPr sz="1600" b="0" i="0">
                <a:solidFill>
                  <a:srgbClr val="1E1E2E"/>
                </a:solidFill>
                <a:latin typeface="Arial"/>
              </a:rPr>
              <a:t>Deployment type, processing boundary, quota and capacity plan</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03 Gateway</a:t>
            </a:r>
          </a:p>
          <a:p>
            <a:pPr algn="l"/>
            <a:r>
              <a:rPr sz="1600" b="0" i="0">
                <a:solidFill>
                  <a:srgbClr val="1E1E2E"/>
                </a:solidFill>
                <a:latin typeface="Arial"/>
              </a:rPr>
              <a:t>PTU first, PAYG overflow routing, token budgets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05 Operations</a:t>
            </a:r>
          </a:p>
          <a:p>
            <a:pPr algn="l"/>
            <a:r>
              <a:rPr sz="1600" b="0" i="0">
                <a:solidFill>
                  <a:srgbClr val="1E1E2E"/>
                </a:solidFill>
                <a:latin typeface="Arial"/>
              </a:rPr>
              <a:t>Monthly usage, utilisation and cost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We measure and model; the customer decides and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Usage telemetry baseline</a:t>
            </a:r>
          </a:p>
          <a:p>
            <a:pPr algn="l" marL="201168" indent="-201168">
              <a:spcAft>
                <a:spcPts val="800"/>
              </a:spcAft>
              <a:buFont typeface="Arial"/>
              <a:buChar char="•"/>
            </a:pPr>
            <a:r>
              <a:rPr sz="1800" b="0" i="0">
                <a:solidFill>
                  <a:srgbClr val="1E1E2E"/>
                </a:solidFill>
                <a:latin typeface="Arial"/>
              </a:rPr>
              <a:t>Workload characterisation</a:t>
            </a:r>
          </a:p>
          <a:p>
            <a:pPr algn="l" marL="201168" indent="-201168">
              <a:spcAft>
                <a:spcPts val="800"/>
              </a:spcAft>
              <a:buFont typeface="Arial"/>
              <a:buChar char="•"/>
            </a:pPr>
            <a:r>
              <a:rPr sz="1800" b="0" i="0">
                <a:solidFill>
                  <a:srgbClr val="1E1E2E"/>
                </a:solidFill>
                <a:latin typeface="Arial"/>
              </a:rPr>
              <a:t>Option models, one cost boundary</a:t>
            </a:r>
          </a:p>
          <a:p>
            <a:pPr algn="l" marL="201168" indent="-201168">
              <a:spcAft>
                <a:spcPts val="800"/>
              </a:spcAft>
              <a:buFont typeface="Arial"/>
              <a:buChar char="•"/>
            </a:pPr>
            <a:r>
              <a:rPr sz="1800" b="0" i="0">
                <a:solidFill>
                  <a:srgbClr val="1E1E2E"/>
                </a:solidFill>
                <a:latin typeface="Arial"/>
              </a:rPr>
              <a:t>Licence economics check</a:t>
            </a:r>
          </a:p>
          <a:p>
            <a:pPr algn="l" marL="201168" indent="-201168">
              <a:spcAft>
                <a:spcPts val="800"/>
              </a:spcAft>
              <a:buFont typeface="Arial"/>
              <a:buChar char="•"/>
            </a:pPr>
            <a:r>
              <a:rPr sz="1800" b="0" i="0">
                <a:solidFill>
                  <a:srgbClr val="1E1E2E"/>
                </a:solidFill>
                <a:latin typeface="Arial"/>
              </a:rPr>
              <a:t>Decision memo and gates</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Load tests and PTU benchmark</a:t>
            </a:r>
          </a:p>
          <a:p>
            <a:pPr algn="l" marL="201168" indent="-201168">
              <a:spcAft>
                <a:spcPts val="800"/>
              </a:spcAft>
              <a:buFont typeface="Arial"/>
              <a:buChar char="•"/>
            </a:pPr>
            <a:r>
              <a:rPr sz="1800" b="0" i="0">
                <a:solidFill>
                  <a:srgbClr val="1E1E2E"/>
                </a:solidFill>
                <a:latin typeface="Arial"/>
              </a:rPr>
              <a:t>FinOps operating model setup</a:t>
            </a:r>
          </a:p>
          <a:p>
            <a:pPr algn="l" marL="201168" indent="-201168">
              <a:spcAft>
                <a:spcPts val="800"/>
              </a:spcAft>
              <a:buFont typeface="Arial"/>
              <a:buChar char="•"/>
            </a:pPr>
            <a:r>
              <a:rPr sz="1800" b="0" i="0">
                <a:solidFill>
                  <a:srgbClr val="1E1E2E"/>
                </a:solidFill>
                <a:latin typeface="Arial"/>
              </a:rPr>
              <a:t>GPU serving proof of concept</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AI: usage forecast, model choice</a:t>
            </a:r>
          </a:p>
          <a:p>
            <a:pPr algn="l" marL="201168" indent="-201168">
              <a:spcAft>
                <a:spcPts val="800"/>
              </a:spcAft>
              <a:buFont typeface="Arial"/>
              <a:buChar char="•"/>
            </a:pPr>
            <a:r>
              <a:rPr sz="1800" b="0" i="0">
                <a:solidFill>
                  <a:srgbClr val="1E1E2E"/>
                </a:solidFill>
                <a:latin typeface="Arial"/>
              </a:rPr>
              <a:t>Finance: commercial treatment</a:t>
            </a:r>
          </a:p>
          <a:p>
            <a:pPr algn="l" marL="201168" indent="-201168">
              <a:spcAft>
                <a:spcPts val="800"/>
              </a:spcAft>
              <a:buFont typeface="Arial"/>
              <a:buChar char="•"/>
            </a:pPr>
            <a:r>
              <a:rPr sz="1800" b="0" i="0">
                <a:solidFill>
                  <a:srgbClr val="1E1E2E"/>
                </a:solidFill>
                <a:latin typeface="Arial"/>
              </a:rPr>
              <a:t>Customer: agreement prices</a:t>
            </a:r>
          </a:p>
          <a:p>
            <a:pPr algn="l" marL="201168" indent="-201168">
              <a:spcAft>
                <a:spcPts val="800"/>
              </a:spcAft>
              <a:buFont typeface="Arial"/>
              <a:buChar char="•"/>
            </a:pPr>
            <a:r>
              <a:rPr sz="1800" b="0" i="0">
                <a:solidFill>
                  <a:srgbClr val="1E1E2E"/>
                </a:solidFill>
                <a:latin typeface="Arial"/>
              </a:rPr>
              <a:t>Procurement: commitments</a:t>
            </a:r>
          </a:p>
          <a:p>
            <a:pPr algn="l" marL="201168" indent="-201168">
              <a:spcAft>
                <a:spcPts val="800"/>
              </a:spcAft>
              <a:buFont typeface="Arial"/>
              <a:buChar char="•"/>
            </a:pPr>
            <a:r>
              <a:rPr sz="1800" b="0" i="0">
                <a:solidFill>
                  <a:srgbClr val="1E1E2E"/>
                </a:solidFill>
                <a:latin typeface="Arial"/>
              </a:rPr>
              <a:t>M365 and D365 teams: M365 Copilot</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We do not buy capacity or licences, and we give no financial advice. The customer decides.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Every capacity choice is one of four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FRAMEWORK"/>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548640"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PAYG</a:t>
            </a:r>
          </a:p>
        </p:txBody>
      </p:sp>
      <p:sp>
        <p:nvSpPr>
          <p:cNvPr id="9" name="TextBox 8"/>
          <p:cNvSpPr txBox="1"/>
          <p:nvPr/>
        </p:nvSpPr>
        <p:spPr>
          <a:xfrm>
            <a:off x="548640"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10" name="TextBox 9"/>
          <p:cNvSpPr txBox="1"/>
          <p:nvPr/>
        </p:nvSpPr>
        <p:spPr>
          <a:xfrm>
            <a:off x="548640"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Uncertain, variable or early demand</a:t>
            </a:r>
          </a:p>
        </p:txBody>
      </p:sp>
      <p:sp>
        <p:nvSpPr>
          <p:cNvPr id="11" name="Rounded Rectangle 10"/>
          <p:cNvSpPr/>
          <p:nvPr/>
        </p:nvSpPr>
        <p:spPr>
          <a:xfrm>
            <a:off x="548640"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Per-token cost; throttling at peaks</a:t>
            </a:r>
          </a:p>
        </p:txBody>
      </p:sp>
      <p:sp>
        <p:nvSpPr>
          <p:cNvPr id="12" name="Rounded Rectangle 11"/>
          <p:cNvSpPr/>
          <p:nvPr/>
        </p:nvSpPr>
        <p:spPr>
          <a:xfrm>
            <a:off x="3364992"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PTU</a:t>
            </a:r>
          </a:p>
        </p:txBody>
      </p:sp>
      <p:sp>
        <p:nvSpPr>
          <p:cNvPr id="13" name="TextBox 12"/>
          <p:cNvSpPr txBox="1"/>
          <p:nvPr/>
        </p:nvSpPr>
        <p:spPr>
          <a:xfrm>
            <a:off x="3364992"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14" name="TextBox 13"/>
          <p:cNvSpPr txBox="1"/>
          <p:nvPr/>
        </p:nvSpPr>
        <p:spPr>
          <a:xfrm>
            <a:off x="3364992"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Measured, sustained load with latency targets</a:t>
            </a:r>
          </a:p>
        </p:txBody>
      </p:sp>
      <p:sp>
        <p:nvSpPr>
          <p:cNvPr id="15" name="Rounded Rectangle 14"/>
          <p:cNvSpPr/>
          <p:nvPr/>
        </p:nvSpPr>
        <p:spPr>
          <a:xfrm>
            <a:off x="3364992"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Commitment and model-lifecycle risk</a:t>
            </a:r>
          </a:p>
        </p:txBody>
      </p:sp>
      <p:sp>
        <p:nvSpPr>
          <p:cNvPr id="16" name="Rounded Rectangle 15"/>
          <p:cNvSpPr/>
          <p:nvPr/>
        </p:nvSpPr>
        <p:spPr>
          <a:xfrm>
            <a:off x="6181344" y="1371600"/>
            <a:ext cx="2679192"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Hybrid</a:t>
            </a:r>
          </a:p>
        </p:txBody>
      </p:sp>
      <p:sp>
        <p:nvSpPr>
          <p:cNvPr id="17" name="TextBox 16"/>
          <p:cNvSpPr txBox="1"/>
          <p:nvPr/>
        </p:nvSpPr>
        <p:spPr>
          <a:xfrm>
            <a:off x="6181344"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18" name="TextBox 17"/>
          <p:cNvSpPr txBox="1"/>
          <p:nvPr/>
        </p:nvSpPr>
        <p:spPr>
          <a:xfrm>
            <a:off x="6181344"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Established baseline plus governed overflow</a:t>
            </a:r>
          </a:p>
        </p:txBody>
      </p:sp>
      <p:sp>
        <p:nvSpPr>
          <p:cNvPr id="19" name="Rounded Rectangle 18"/>
          <p:cNvSpPr/>
          <p:nvPr/>
        </p:nvSpPr>
        <p:spPr>
          <a:xfrm>
            <a:off x="6181344"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Overflow spend; two configs to run</a:t>
            </a:r>
          </a:p>
        </p:txBody>
      </p:sp>
      <p:sp>
        <p:nvSpPr>
          <p:cNvPr id="20" name="Rounded Rectangle 19"/>
          <p:cNvSpPr/>
          <p:nvPr/>
        </p:nvSpPr>
        <p:spPr>
          <a:xfrm>
            <a:off x="8997696" y="1371600"/>
            <a:ext cx="2679192" cy="685800"/>
          </a:xfrm>
          <a:prstGeom prst="roundRect">
            <a:avLst>
              <a:gd name="adj" fmla="val 10666"/>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200" b="1" i="0">
                <a:solidFill>
                  <a:srgbClr val="FFFFFF"/>
                </a:solidFill>
                <a:latin typeface="Arial"/>
              </a:rPr>
              <a:t>Self-hosted GPU</a:t>
            </a:r>
          </a:p>
        </p:txBody>
      </p:sp>
      <p:sp>
        <p:nvSpPr>
          <p:cNvPr id="21" name="TextBox 20"/>
          <p:cNvSpPr txBox="1"/>
          <p:nvPr/>
        </p:nvSpPr>
        <p:spPr>
          <a:xfrm>
            <a:off x="8997696" y="2194560"/>
            <a:ext cx="2679192" cy="274320"/>
          </a:xfrm>
          <a:prstGeom prst="rect">
            <a:avLst/>
          </a:prstGeom>
          <a:noFill/>
        </p:spPr>
        <p:txBody>
          <a:bodyPr wrap="square" lIns="0" rIns="0" tIns="0" bIns="0" anchor="t">
            <a:noAutofit/>
          </a:bodyPr>
          <a:lstStyle/>
          <a:p>
            <a:pPr algn="l"/>
            <a:r>
              <a:rPr sz="1600" b="1" i="0">
                <a:solidFill>
                  <a:srgbClr val="2F78C4"/>
                </a:solidFill>
                <a:latin typeface="Arial"/>
              </a:rPr>
              <a:t>Use when</a:t>
            </a:r>
          </a:p>
        </p:txBody>
      </p:sp>
      <p:sp>
        <p:nvSpPr>
          <p:cNvPr id="22" name="TextBox 21"/>
          <p:cNvSpPr txBox="1"/>
          <p:nvPr/>
        </p:nvSpPr>
        <p:spPr>
          <a:xfrm>
            <a:off x="8997696" y="2514600"/>
            <a:ext cx="2679192" cy="1371600"/>
          </a:xfrm>
          <a:prstGeom prst="rect">
            <a:avLst/>
          </a:prstGeom>
          <a:noFill/>
        </p:spPr>
        <p:txBody>
          <a:bodyPr wrap="square" lIns="0" rIns="0" tIns="0" bIns="0" anchor="t">
            <a:noAutofit/>
          </a:bodyPr>
          <a:lstStyle/>
          <a:p>
            <a:pPr algn="l"/>
            <a:r>
              <a:rPr sz="1900" b="0" i="0">
                <a:solidFill>
                  <a:srgbClr val="1E1E2E"/>
                </a:solidFill>
                <a:latin typeface="Arial"/>
              </a:rPr>
              <a:t>Model, data or control needs PaaS cannot meet</a:t>
            </a:r>
          </a:p>
        </p:txBody>
      </p:sp>
      <p:sp>
        <p:nvSpPr>
          <p:cNvPr id="23" name="Rounded Rectangle 22"/>
          <p:cNvSpPr/>
          <p:nvPr/>
        </p:nvSpPr>
        <p:spPr>
          <a:xfrm>
            <a:off x="8997696" y="3931920"/>
            <a:ext cx="2679192" cy="1417320"/>
          </a:xfrm>
          <a:prstGeom prst="roundRect">
            <a:avLst>
              <a:gd name="adj" fmla="val 516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600" b="1" i="0">
                <a:solidFill>
                  <a:srgbClr val="8A4B08"/>
                </a:solidFill>
                <a:latin typeface="Arial"/>
              </a:rPr>
              <a:t>Main risk</a:t>
            </a:r>
          </a:p>
          <a:p>
            <a:pPr algn="l"/>
            <a:r>
              <a:rPr sz="1800" b="0" i="0">
                <a:solidFill>
                  <a:srgbClr val="1E1E2E"/>
                </a:solidFill>
                <a:latin typeface="Arial"/>
              </a:rPr>
              <a:t>Operating burden and engineering</a:t>
            </a:r>
          </a:p>
        </p:txBody>
      </p:sp>
      <p:sp>
        <p:nvSpPr>
          <p:cNvPr id="24" name="Rounded Rectangle 23"/>
          <p:cNvSpPr/>
          <p:nvPr/>
        </p:nvSpPr>
        <p:spPr>
          <a:xfrm>
            <a:off x="548640" y="557784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Gate to PTU or GPU: measured traffic, benchmark, customer price, model lifecycle check, Finance approval.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only pays below a price; list is far above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ILLUSTRATIVE WORKLOAD"/>
          <p:cNvSpPr/>
          <p:nvPr/>
        </p:nvSpPr>
        <p:spPr>
          <a:xfrm>
            <a:off x="3658870" y="274320"/>
            <a:ext cx="20878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WORKLOAD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TextBox 7"/>
          <p:cNvSpPr txBox="1"/>
          <p:nvPr/>
        </p:nvSpPr>
        <p:spPr>
          <a:xfrm>
            <a:off x="548640" y="1600200"/>
            <a:ext cx="2743200" cy="731520"/>
          </a:xfrm>
          <a:prstGeom prst="rect">
            <a:avLst/>
          </a:prstGeom>
          <a:noFill/>
        </p:spPr>
        <p:txBody>
          <a:bodyPr wrap="square" lIns="0" rIns="0" tIns="0" bIns="0" anchor="ctr">
            <a:noAutofit/>
          </a:bodyPr>
          <a:lstStyle/>
          <a:p>
            <a:pPr algn="l"/>
            <a:r>
              <a:rPr sz="1900" b="1" i="0">
                <a:solidFill>
                  <a:srgbClr val="000048"/>
                </a:solidFill>
                <a:latin typeface="Arial"/>
              </a:rPr>
              <a:t>Hourly list price</a:t>
            </a:r>
          </a:p>
        </p:txBody>
      </p:sp>
      <p:sp>
        <p:nvSpPr>
          <p:cNvPr id="9" name="Rectangle 8"/>
          <p:cNvSpPr/>
          <p:nvPr/>
        </p:nvSpPr>
        <p:spPr>
          <a:xfrm>
            <a:off x="3291840" y="1691640"/>
            <a:ext cx="3838194" cy="548640"/>
          </a:xfrm>
          <a:prstGeom prst="rect">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0" name="TextBox 9"/>
          <p:cNvSpPr txBox="1"/>
          <p:nvPr/>
        </p:nvSpPr>
        <p:spPr>
          <a:xfrm>
            <a:off x="7221474" y="1600200"/>
            <a:ext cx="1371600" cy="731520"/>
          </a:xfrm>
          <a:prstGeom prst="rect">
            <a:avLst/>
          </a:prstGeom>
          <a:noFill/>
        </p:spPr>
        <p:txBody>
          <a:bodyPr wrap="square" lIns="0" rIns="0" tIns="0" bIns="0" anchor="ctr">
            <a:noAutofit/>
          </a:bodyPr>
          <a:lstStyle/>
          <a:p>
            <a:pPr algn="l"/>
            <a:r>
              <a:rPr sz="2200" b="1" i="0">
                <a:solidFill>
                  <a:srgbClr val="53565A"/>
                </a:solidFill>
                <a:latin typeface="Arial"/>
              </a:rPr>
              <a:t>$730</a:t>
            </a:r>
          </a:p>
        </p:txBody>
      </p:sp>
      <p:sp>
        <p:nvSpPr>
          <p:cNvPr id="11" name="TextBox 10"/>
          <p:cNvSpPr txBox="1"/>
          <p:nvPr/>
        </p:nvSpPr>
        <p:spPr>
          <a:xfrm>
            <a:off x="548640" y="2697480"/>
            <a:ext cx="2743200" cy="731520"/>
          </a:xfrm>
          <a:prstGeom prst="rect">
            <a:avLst/>
          </a:prstGeom>
          <a:noFill/>
        </p:spPr>
        <p:txBody>
          <a:bodyPr wrap="square" lIns="0" rIns="0" tIns="0" bIns="0" anchor="ctr">
            <a:noAutofit/>
          </a:bodyPr>
          <a:lstStyle/>
          <a:p>
            <a:pPr algn="l"/>
            <a:r>
              <a:rPr sz="1900" b="1" i="0">
                <a:solidFill>
                  <a:srgbClr val="000048"/>
                </a:solidFill>
                <a:latin typeface="Arial"/>
              </a:rPr>
              <a:t>Break-even, hybrid</a:t>
            </a:r>
          </a:p>
        </p:txBody>
      </p:sp>
      <p:sp>
        <p:nvSpPr>
          <p:cNvPr id="12" name="Rectangle 11"/>
          <p:cNvSpPr/>
          <p:nvPr/>
        </p:nvSpPr>
        <p:spPr>
          <a:xfrm>
            <a:off x="3291840" y="2788920"/>
            <a:ext cx="1104137" cy="548640"/>
          </a:xfrm>
          <a:prstGeom prst="rect">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3" name="TextBox 12"/>
          <p:cNvSpPr txBox="1"/>
          <p:nvPr/>
        </p:nvSpPr>
        <p:spPr>
          <a:xfrm>
            <a:off x="4487418" y="2697480"/>
            <a:ext cx="1371600" cy="731520"/>
          </a:xfrm>
          <a:prstGeom prst="rect">
            <a:avLst/>
          </a:prstGeom>
          <a:noFill/>
        </p:spPr>
        <p:txBody>
          <a:bodyPr wrap="square" lIns="0" rIns="0" tIns="0" bIns="0" anchor="ctr">
            <a:noAutofit/>
          </a:bodyPr>
          <a:lstStyle/>
          <a:p>
            <a:pPr algn="l"/>
            <a:r>
              <a:rPr sz="2200" b="1" i="0">
                <a:solidFill>
                  <a:srgbClr val="7373D8"/>
                </a:solidFill>
                <a:latin typeface="Arial"/>
              </a:rPr>
              <a:t>$210</a:t>
            </a:r>
          </a:p>
        </p:txBody>
      </p:sp>
      <p:sp>
        <p:nvSpPr>
          <p:cNvPr id="14" name="TextBox 13"/>
          <p:cNvSpPr txBox="1"/>
          <p:nvPr/>
        </p:nvSpPr>
        <p:spPr>
          <a:xfrm>
            <a:off x="548640" y="3794760"/>
            <a:ext cx="2743200" cy="731520"/>
          </a:xfrm>
          <a:prstGeom prst="rect">
            <a:avLst/>
          </a:prstGeom>
          <a:noFill/>
        </p:spPr>
        <p:txBody>
          <a:bodyPr wrap="square" lIns="0" rIns="0" tIns="0" bIns="0" anchor="ctr">
            <a:noAutofit/>
          </a:bodyPr>
          <a:lstStyle/>
          <a:p>
            <a:pPr algn="l"/>
            <a:r>
              <a:rPr sz="1900" b="1" i="0">
                <a:solidFill>
                  <a:srgbClr val="000048"/>
                </a:solidFill>
                <a:latin typeface="Arial"/>
              </a:rPr>
              <a:t>Break-even, peak-sized</a:t>
            </a:r>
          </a:p>
        </p:txBody>
      </p:sp>
      <p:sp>
        <p:nvSpPr>
          <p:cNvPr id="15" name="Rectangle 14"/>
          <p:cNvSpPr/>
          <p:nvPr/>
        </p:nvSpPr>
        <p:spPr>
          <a:xfrm>
            <a:off x="3291840" y="3886200"/>
            <a:ext cx="841248" cy="54864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16" name="TextBox 15"/>
          <p:cNvSpPr txBox="1"/>
          <p:nvPr/>
        </p:nvSpPr>
        <p:spPr>
          <a:xfrm>
            <a:off x="4224528" y="3794760"/>
            <a:ext cx="1371600" cy="731520"/>
          </a:xfrm>
          <a:prstGeom prst="rect">
            <a:avLst/>
          </a:prstGeom>
          <a:noFill/>
        </p:spPr>
        <p:txBody>
          <a:bodyPr wrap="square" lIns="0" rIns="0" tIns="0" bIns="0" anchor="ctr">
            <a:noAutofit/>
          </a:bodyPr>
          <a:lstStyle/>
          <a:p>
            <a:pPr algn="l"/>
            <a:r>
              <a:rPr sz="2200" b="1" i="0">
                <a:solidFill>
                  <a:srgbClr val="000048"/>
                </a:solidFill>
                <a:latin typeface="Arial"/>
              </a:rPr>
              <a:t>$160</a:t>
            </a:r>
          </a:p>
        </p:txBody>
      </p:sp>
      <p:sp>
        <p:nvSpPr>
          <p:cNvPr id="17" name="TextBox 16"/>
          <p:cNvSpPr txBox="1"/>
          <p:nvPr/>
        </p:nvSpPr>
        <p:spPr>
          <a:xfrm>
            <a:off x="3291840" y="4892040"/>
            <a:ext cx="4389120" cy="365760"/>
          </a:xfrm>
          <a:prstGeom prst="rect">
            <a:avLst/>
          </a:prstGeom>
          <a:noFill/>
        </p:spPr>
        <p:txBody>
          <a:bodyPr wrap="square" lIns="0" rIns="0" tIns="0" bIns="0" anchor="t">
            <a:noAutofit/>
          </a:bodyPr>
          <a:lstStyle/>
          <a:p>
            <a:pPr algn="l"/>
            <a:r>
              <a:rPr sz="1400" b="0" i="0">
                <a:solidFill>
                  <a:srgbClr val="53565A"/>
                </a:solidFill>
                <a:latin typeface="Arial"/>
              </a:rPr>
              <a:t>USD per PTU-month</a:t>
            </a:r>
          </a:p>
        </p:txBody>
      </p:sp>
      <p:sp>
        <p:nvSpPr>
          <p:cNvPr id="18" name="Rounded Rectangle 17"/>
          <p:cNvSpPr/>
          <p:nvPr/>
        </p:nvSpPr>
        <p:spPr>
          <a:xfrm>
            <a:off x="8229600" y="1463040"/>
            <a:ext cx="3410712" cy="3108960"/>
          </a:xfrm>
          <a:prstGeom prst="roundRect">
            <a:avLst>
              <a:gd name="adj" fmla="val 2352"/>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600"/>
              </a:spcAft>
            </a:pPr>
            <a:r>
              <a:rPr sz="1600" b="1" i="0">
                <a:solidFill>
                  <a:srgbClr val="26EFE9"/>
                </a:solidFill>
                <a:latin typeface="Arial"/>
              </a:rPr>
              <a:t>Read in 10 seconds</a:t>
            </a:r>
          </a:p>
          <a:p>
            <a:pPr algn="l">
              <a:spcAft>
                <a:spcPts val="800"/>
              </a:spcAft>
            </a:pPr>
            <a:r>
              <a:rPr sz="2100" b="1" i="0">
                <a:solidFill>
                  <a:srgbClr val="FFFFFF"/>
                </a:solidFill>
                <a:latin typeface="Arial"/>
              </a:rPr>
              <a:t>PTU must cost under $210 a month to beat PAYG here.</a:t>
            </a:r>
          </a:p>
          <a:p>
            <a:pPr algn="l"/>
            <a:r>
              <a:rPr sz="1700" b="0" i="0">
                <a:solidFill>
                  <a:srgbClr val="FFFFFF"/>
                </a:solidFill>
                <a:latin typeface="Arial"/>
              </a:rPr>
              <a:t>Hourly list is $730. Only a reservation price or a latency need can justify PTU.</a:t>
            </a:r>
          </a:p>
        </p:txBody>
      </p:sp>
      <p:sp>
        <p:nvSpPr>
          <p:cNvPr id="19" name="Rounded Rectangle 18"/>
          <p:cNvSpPr/>
          <p:nvPr/>
        </p:nvSpPr>
        <p:spPr>
          <a:xfrm>
            <a:off x="548640" y="5577840"/>
            <a:ext cx="11091672"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Assumed workload, gpt-5.4 list prices, PAYG $136,245 a month. Not a recommendation. Detail: appendix A8 to A11.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 4 to 6 week assessment, with add-ons when needed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143256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20 to 40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$20k to $40k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Benchmark add-on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10 to 20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 to 4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$10k to $20k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FinOps operating model</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bl>
          </a:graphicData>
        </a:graphic>
      </p:graphicFrame>
      <p:sp>
        <p:nvSpPr>
          <p:cNvPr id="9" name="Rounded Rectangle 8"/>
          <p:cNvSpPr/>
          <p:nvPr/>
        </p:nvSpPr>
        <p:spPr>
          <a:xfrm>
            <a:off x="548640" y="3078480"/>
            <a:ext cx="11091672" cy="2362200"/>
          </a:xfrm>
          <a:prstGeom prst="roundRect">
            <a:avLst>
              <a:gd name="adj" fmla="val 309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no existing telemetry, many workloads or regions, GPU benchmark, chargeback by team and agent.</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Advice without measured data is the main risk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measured traffic</a:t>
            </a:r>
          </a:p>
          <a:p>
            <a:pPr algn="l">
              <a:spcAft>
                <a:spcPts val="400"/>
              </a:spcAft>
            </a:pPr>
            <a:r>
              <a:rPr sz="1800" b="1" i="0">
                <a:solidFill>
                  <a:srgbClr val="8A4B08"/>
                </a:solidFill>
                <a:latin typeface="Arial"/>
              </a:rPr>
              <a:t>Effect: </a:t>
            </a:r>
            <a:r>
              <a:rPr sz="1800" b="0" i="0">
                <a:solidFill>
                  <a:srgbClr val="1E1E2E"/>
                </a:solidFill>
                <a:latin typeface="Arial"/>
              </a:rPr>
              <a:t>Sizing is guesswork</a:t>
            </a:r>
          </a:p>
          <a:p>
            <a:pPr algn="l">
              <a:spcAft>
                <a:spcPts val="400"/>
              </a:spcAft>
            </a:pPr>
            <a:r>
              <a:rPr sz="1800" b="1" i="0">
                <a:solidFill>
                  <a:srgbClr val="1D6B3A"/>
                </a:solidFill>
                <a:latin typeface="Arial"/>
              </a:rPr>
              <a:t>Handle: </a:t>
            </a:r>
            <a:r>
              <a:rPr sz="1800" b="0" i="0">
                <a:solidFill>
                  <a:srgbClr val="1E1E2E"/>
                </a:solidFill>
                <a:latin typeface="Arial"/>
              </a:rPr>
              <a:t>Pilot telemetry or load test first</a:t>
            </a:r>
          </a:p>
          <a:p>
            <a:pPr algn="l"/>
            <a:r>
              <a:rPr sz="1800" b="1" i="0">
                <a:solidFill>
                  <a:srgbClr val="2F78C4"/>
                </a:solidFill>
                <a:latin typeface="Arial"/>
              </a:rPr>
              <a:t>Owner: </a:t>
            </a:r>
            <a:r>
              <a:rPr sz="1800" b="0" i="0">
                <a:solidFill>
                  <a:srgbClr val="1E1E2E"/>
                </a:solidFill>
                <a:latin typeface="Arial"/>
              </a:rPr>
              <a:t>AI with CIS Infra</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Reservation price unknown</a:t>
            </a:r>
          </a:p>
          <a:p>
            <a:pPr algn="l">
              <a:spcAft>
                <a:spcPts val="400"/>
              </a:spcAft>
            </a:pPr>
            <a:r>
              <a:rPr sz="1800" b="1" i="0">
                <a:solidFill>
                  <a:srgbClr val="8A4B08"/>
                </a:solidFill>
                <a:latin typeface="Arial"/>
              </a:rPr>
              <a:t>Effect: </a:t>
            </a:r>
            <a:r>
              <a:rPr sz="1800" b="0" i="0">
                <a:solidFill>
                  <a:srgbClr val="1E1E2E"/>
                </a:solidFill>
                <a:latin typeface="Arial"/>
              </a:rPr>
              <a:t>Wrong break-even</a:t>
            </a:r>
          </a:p>
          <a:p>
            <a:pPr algn="l">
              <a:spcAft>
                <a:spcPts val="400"/>
              </a:spcAft>
            </a:pPr>
            <a:r>
              <a:rPr sz="1800" b="1" i="0">
                <a:solidFill>
                  <a:srgbClr val="1D6B3A"/>
                </a:solidFill>
                <a:latin typeface="Arial"/>
              </a:rPr>
              <a:t>Handle: </a:t>
            </a:r>
            <a:r>
              <a:rPr sz="1800" b="0" i="0">
                <a:solidFill>
                  <a:srgbClr val="1E1E2E"/>
                </a:solidFill>
                <a:latin typeface="Arial"/>
              </a:rPr>
              <a:t>Obtain the customer agreement price</a:t>
            </a:r>
          </a:p>
          <a:p>
            <a:pPr algn="l"/>
            <a:r>
              <a:rPr sz="1800" b="1" i="0">
                <a:solidFill>
                  <a:srgbClr val="2F78C4"/>
                </a:solidFill>
                <a:latin typeface="Arial"/>
              </a:rPr>
              <a:t>Owner: </a:t>
            </a:r>
            <a:r>
              <a:rPr sz="1800" b="0" i="0">
                <a:solidFill>
                  <a:srgbClr val="1E1E2E"/>
                </a:solidFill>
                <a:latin typeface="Arial"/>
              </a:rPr>
              <a:t>Customer procurement</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Model retires mid-term</a:t>
            </a:r>
          </a:p>
          <a:p>
            <a:pPr algn="l">
              <a:spcAft>
                <a:spcPts val="400"/>
              </a:spcAft>
            </a:pPr>
            <a:r>
              <a:rPr sz="1800" b="1" i="0">
                <a:solidFill>
                  <a:srgbClr val="8A4B08"/>
                </a:solidFill>
                <a:latin typeface="Arial"/>
              </a:rPr>
              <a:t>Effect: </a:t>
            </a:r>
            <a:r>
              <a:rPr sz="1800" b="0" i="0">
                <a:solidFill>
                  <a:srgbClr val="1E1E2E"/>
                </a:solidFill>
                <a:latin typeface="Arial"/>
              </a:rPr>
              <a:t>Re-benchmark and re-size</a:t>
            </a:r>
          </a:p>
          <a:p>
            <a:pPr algn="l">
              <a:spcAft>
                <a:spcPts val="400"/>
              </a:spcAft>
            </a:pPr>
            <a:r>
              <a:rPr sz="1800" b="1" i="0">
                <a:solidFill>
                  <a:srgbClr val="1D6B3A"/>
                </a:solidFill>
                <a:latin typeface="Arial"/>
              </a:rPr>
              <a:t>Handle: </a:t>
            </a:r>
            <a:r>
              <a:rPr sz="1800" b="0" i="0">
                <a:solidFill>
                  <a:srgbClr val="1E1E2E"/>
                </a:solidFill>
                <a:latin typeface="Arial"/>
              </a:rPr>
              <a:t>Check retirement dates; shorter terms</a:t>
            </a:r>
          </a:p>
          <a:p>
            <a:pPr algn="l"/>
            <a:r>
              <a:rPr sz="1800" b="1" i="0">
                <a:solidFill>
                  <a:srgbClr val="2F78C4"/>
                </a:solidFill>
                <a:latin typeface="Arial"/>
              </a:rPr>
              <a:t>Owner: </a:t>
            </a:r>
            <a:r>
              <a:rPr sz="1800" b="0" i="0">
                <a:solidFill>
                  <a:srgbClr val="1E1E2E"/>
                </a:solidFill>
                <a:latin typeface="Arial"/>
              </a:rPr>
              <a:t>AI tower</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Agent loops multiply tokens</a:t>
            </a:r>
          </a:p>
          <a:p>
            <a:pPr algn="l">
              <a:spcAft>
                <a:spcPts val="400"/>
              </a:spcAft>
            </a:pPr>
            <a:r>
              <a:rPr sz="1800" b="1" i="0">
                <a:solidFill>
                  <a:srgbClr val="8A4B08"/>
                </a:solidFill>
                <a:latin typeface="Arial"/>
              </a:rPr>
              <a:t>Effect: </a:t>
            </a:r>
            <a:r>
              <a:rPr sz="1800" b="0" i="0">
                <a:solidFill>
                  <a:srgbClr val="1E1E2E"/>
                </a:solidFill>
                <a:latin typeface="Arial"/>
              </a:rPr>
              <a:t>Cost per task explodes</a:t>
            </a:r>
          </a:p>
          <a:p>
            <a:pPr algn="l">
              <a:spcAft>
                <a:spcPts val="400"/>
              </a:spcAft>
            </a:pPr>
            <a:r>
              <a:rPr sz="1800" b="1" i="0">
                <a:solidFill>
                  <a:srgbClr val="1D6B3A"/>
                </a:solidFill>
                <a:latin typeface="Arial"/>
              </a:rPr>
              <a:t>Handle: </a:t>
            </a:r>
            <a:r>
              <a:rPr sz="1800" b="0" i="0">
                <a:solidFill>
                  <a:srgbClr val="1E1E2E"/>
                </a:solidFill>
                <a:latin typeface="Arial"/>
              </a:rPr>
              <a:t>Loop limits, per-agent budgets</a:t>
            </a:r>
          </a:p>
          <a:p>
            <a:pPr algn="l"/>
            <a:r>
              <a:rPr sz="1800" b="1" i="0">
                <a:solidFill>
                  <a:srgbClr val="2F78C4"/>
                </a:solidFill>
                <a:latin typeface="Arial"/>
              </a:rPr>
              <a:t>Owner: </a:t>
            </a:r>
            <a:r>
              <a:rPr sz="1800" b="0" i="0">
                <a:solidFill>
                  <a:srgbClr val="1E1E2E"/>
                </a:solidFill>
                <a:latin typeface="Arial"/>
              </a:rPr>
              <a:t>AI with offering 02</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follow evidence; adopt the no-data rule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Unit cost  </a:t>
            </a:r>
            <a:r>
              <a:rPr sz="1800" b="0" i="0">
                <a:solidFill>
                  <a:srgbClr val="1E1E2E"/>
                </a:solidFill>
                <a:latin typeface="Arial"/>
              </a:rPr>
              <a:t>cost per useful task, by workload</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Forecast error  </a:t>
            </a:r>
            <a:r>
              <a:rPr sz="1800" b="0" i="0">
                <a:solidFill>
                  <a:srgbClr val="1E1E2E"/>
                </a:solidFill>
                <a:latin typeface="Arial"/>
              </a:rPr>
              <a:t>forecast versus actual monthly spend</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Utilisation  </a:t>
            </a:r>
            <a:r>
              <a:rPr sz="1800" b="0" i="0">
                <a:solidFill>
                  <a:srgbClr val="1E1E2E"/>
                </a:solidFill>
                <a:latin typeface="Arial"/>
              </a:rPr>
              <a:t>PTU or GPU used versus paid for</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Throttling  </a:t>
            </a:r>
            <a:r>
              <a:rPr sz="1800" b="0" i="0">
                <a:solidFill>
                  <a:srgbClr val="1E1E2E"/>
                </a:solidFill>
                <a:latin typeface="Arial"/>
              </a:rPr>
              <a:t>share of calls returning 429</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Coverage  </a:t>
            </a:r>
            <a:r>
              <a:rPr sz="1800" b="0" i="0">
                <a:solidFill>
                  <a:srgbClr val="1E1E2E"/>
                </a:solidFill>
                <a:latin typeface="Arial"/>
              </a:rPr>
              <a:t>spend attributed to an owner</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Assessment as a portfolio option</a:t>
            </a:r>
          </a:p>
          <a:p>
            <a:pPr algn="l" marL="201168" indent="-201168">
              <a:spcAft>
                <a:spcPts val="400"/>
              </a:spcAft>
              <a:buFont typeface="Arial"/>
              <a:buChar char="•"/>
            </a:pPr>
            <a:r>
              <a:rPr sz="1900" b="0" i="0">
                <a:solidFill>
                  <a:srgbClr val="1E1E2E"/>
                </a:solidFill>
                <a:latin typeface="Arial"/>
              </a:rPr>
              <a:t>Rule: no commitment advice without data</a:t>
            </a:r>
          </a:p>
          <a:p>
            <a:pPr algn="l" marL="201168" indent="-201168">
              <a:spcAft>
                <a:spcPts val="400"/>
              </a:spcAft>
              <a:buFont typeface="Arial"/>
              <a:buChar char="•"/>
            </a:pPr>
            <a:r>
              <a:rPr sz="1900" b="0" i="0">
                <a:solidFill>
                  <a:srgbClr val="1E1E2E"/>
                </a:solidFill>
                <a:latin typeface="Arial"/>
              </a:rPr>
              <a:t>Owners for licence economics</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137160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Fixed fee level (Finance)</a:t>
            </a:r>
          </a:p>
          <a:p>
            <a:pPr algn="l" marL="201168" indent="-201168">
              <a:spcAft>
                <a:spcPts val="400"/>
              </a:spcAft>
              <a:buFont typeface="Arial"/>
              <a:buChar char="•"/>
            </a:pPr>
            <a:r>
              <a:rPr sz="1900" b="0" i="0">
                <a:solidFill>
                  <a:srgbClr val="1E1E2E"/>
                </a:solidFill>
                <a:latin typeface="Arial"/>
              </a:rPr>
              <a:t>Benchmark tooling (pilot)</a:t>
            </a:r>
          </a:p>
          <a:p>
            <a:pPr algn="l" marL="201168" indent="-201168">
              <a:spcAft>
                <a:spcPts val="400"/>
              </a:spcAft>
              <a:buFont typeface="Arial"/>
              <a:buChar char="•"/>
            </a:pPr>
            <a:r>
              <a:rPr sz="1900" b="0" i="0">
                <a:solidFill>
                  <a:srgbClr val="1E1E2E"/>
                </a:solidFill>
                <a:latin typeface="Arial"/>
              </a:rPr>
              <a:t>GPU proof of concept (AI tower)</a:t>
            </a:r>
          </a:p>
        </p:txBody>
      </p:sp>
      <p:sp>
        <p:nvSpPr>
          <p:cNvPr id="18" name="Rounded Rectangle 17"/>
          <p:cNvSpPr/>
          <p:nvPr/>
        </p:nvSpPr>
        <p:spPr>
          <a:xfrm>
            <a:off x="6675120" y="5532120"/>
            <a:ext cx="4965192" cy="777240"/>
          </a:xfrm>
          <a:prstGeom prst="roundRect">
            <a:avLst>
              <a:gd name="adj" fmla="val 941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90-day ask: </a:t>
            </a:r>
            <a:r>
              <a:rPr sz="1400" b="0" i="0">
                <a:solidFill>
                  <a:srgbClr val="1E1E2E"/>
                </a:solidFill>
                <a:latin typeface="Arial"/>
              </a:rPr>
              <a:t>budget and sponsor are inputs (deck 00 slide 10). Stop at day 45 if no account gives data access.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Decision criteria, demand inputs, PTU sizing, lifecycle risk, worked example, sensitivity, GPU economics, telemetry, licence economics, FinOps operating model, funded assessments, delivery bench, account play,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Decision criteria (detailed)</a:t>
            </a:r>
          </a:p>
        </p:txBody>
      </p:sp>
      <p:sp>
        <p:nvSpPr>
          <p:cNvPr id="8" name="TextBox 7">
            <a:hlinkClick action="ppaction://hlinksldjump" r:id="rId5"/>
          </p:cNvPr>
          <p:cNvSpPr txBox="1"/>
          <p:nvPr/>
        </p:nvSpPr>
        <p:spPr>
          <a:xfrm>
            <a:off x="54864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Demand and workload inputs</a:t>
            </a:r>
          </a:p>
        </p:txBody>
      </p:sp>
      <p:sp>
        <p:nvSpPr>
          <p:cNvPr id="9" name="TextBox 8">
            <a:hlinkClick action="ppaction://hlinksldjump" r:id="rId6"/>
          </p:cNvPr>
          <p:cNvSpPr txBox="1"/>
          <p:nvPr/>
        </p:nvSpPr>
        <p:spPr>
          <a:xfrm>
            <a:off x="54864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Token amplification</a:t>
            </a:r>
          </a:p>
        </p:txBody>
      </p:sp>
      <p:sp>
        <p:nvSpPr>
          <p:cNvPr id="10" name="TextBox 9">
            <a:hlinkClick action="ppaction://hlinksldjump" r:id="rId7"/>
          </p:cNvPr>
          <p:cNvSpPr txBox="1"/>
          <p:nvPr/>
        </p:nvSpPr>
        <p:spPr>
          <a:xfrm>
            <a:off x="54864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Quota versus capacity versus reservation</a:t>
            </a:r>
          </a:p>
        </p:txBody>
      </p:sp>
      <p:sp>
        <p:nvSpPr>
          <p:cNvPr id="11" name="TextBox 10">
            <a:hlinkClick action="ppaction://hlinksldjump" r:id="rId8"/>
          </p:cNvPr>
          <p:cNvSpPr txBox="1"/>
          <p:nvPr/>
        </p:nvSpPr>
        <p:spPr>
          <a:xfrm>
            <a:off x="54864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PTU sizing method</a:t>
            </a:r>
          </a:p>
        </p:txBody>
      </p:sp>
      <p:sp>
        <p:nvSpPr>
          <p:cNvPr id="12" name="TextBox 11">
            <a:hlinkClick action="ppaction://hlinksldjump" r:id="rId9"/>
          </p:cNvPr>
          <p:cNvSpPr txBox="1"/>
          <p:nvPr/>
        </p:nvSpPr>
        <p:spPr>
          <a:xfrm>
            <a:off x="54864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Model lifecycle and commitment risk</a:t>
            </a:r>
          </a:p>
        </p:txBody>
      </p:sp>
      <p:sp>
        <p:nvSpPr>
          <p:cNvPr id="13" name="TextBox 12">
            <a:hlinkClick action="ppaction://hlinksldjump" r:id="rId10"/>
          </p:cNvPr>
          <p:cNvSpPr txBox="1"/>
          <p:nvPr/>
        </p:nvSpPr>
        <p:spPr>
          <a:xfrm>
            <a:off x="54864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Coverage versus utilisation</a:t>
            </a:r>
          </a:p>
        </p:txBody>
      </p:sp>
      <p:sp>
        <p:nvSpPr>
          <p:cNvPr id="14" name="TextBox 13">
            <a:hlinkClick action="ppaction://hlinksldjump" r:id="rId11"/>
          </p:cNvPr>
          <p:cNvSpPr txBox="1"/>
          <p:nvPr/>
        </p:nvSpPr>
        <p:spPr>
          <a:xfrm>
            <a:off x="54864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A8  </a:t>
            </a:r>
            <a:r>
              <a:rPr sz="1300" b="0" i="0">
                <a:solidFill>
                  <a:srgbClr val="1E1E2E"/>
                </a:solidFill>
                <a:latin typeface="Arial"/>
              </a:rPr>
              <a:t>Worked example inputs</a:t>
            </a:r>
          </a:p>
        </p:txBody>
      </p:sp>
      <p:sp>
        <p:nvSpPr>
          <p:cNvPr id="15" name="TextBox 14">
            <a:hlinkClick action="ppaction://hlinksldjump" r:id="rId12"/>
          </p:cNvPr>
          <p:cNvSpPr txBox="1"/>
          <p:nvPr/>
        </p:nvSpPr>
        <p:spPr>
          <a:xfrm>
            <a:off x="54864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A9  </a:t>
            </a:r>
            <a:r>
              <a:rPr sz="1300" b="0" i="0">
                <a:solidFill>
                  <a:srgbClr val="1E1E2E"/>
                </a:solidFill>
                <a:latin typeface="Arial"/>
              </a:rPr>
              <a:t>Worked example results</a:t>
            </a:r>
          </a:p>
        </p:txBody>
      </p:sp>
      <p:sp>
        <p:nvSpPr>
          <p:cNvPr id="16" name="TextBox 15">
            <a:hlinkClick action="ppaction://hlinksldjump" r:id="rId13"/>
          </p:cNvPr>
          <p:cNvSpPr txBox="1"/>
          <p:nvPr/>
        </p:nvSpPr>
        <p:spPr>
          <a:xfrm>
            <a:off x="54864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A10  </a:t>
            </a:r>
            <a:r>
              <a:rPr sz="1300" b="0" i="0">
                <a:solidFill>
                  <a:srgbClr val="1E1E2E"/>
                </a:solidFill>
                <a:latin typeface="Arial"/>
              </a:rPr>
              <a:t>Sensitivity: utilisation</a:t>
            </a:r>
          </a:p>
        </p:txBody>
      </p:sp>
      <p:sp>
        <p:nvSpPr>
          <p:cNvPr id="17" name="TextBox 16">
            <a:hlinkClick action="ppaction://hlinksldjump" r:id="rId14"/>
          </p:cNvPr>
          <p:cNvSpPr txBox="1"/>
          <p:nvPr/>
        </p:nvSpPr>
        <p:spPr>
          <a:xfrm>
            <a:off x="54864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Sensitivity: workload assumptions</a:t>
            </a:r>
          </a:p>
        </p:txBody>
      </p:sp>
      <p:sp>
        <p:nvSpPr>
          <p:cNvPr id="18" name="TextBox 17">
            <a:hlinkClick action="ppaction://hlinksldjump" r:id="rId15"/>
          </p:cNvPr>
          <p:cNvSpPr txBox="1"/>
          <p:nvPr/>
        </p:nvSpPr>
        <p:spPr>
          <a:xfrm>
            <a:off x="54864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Self-hosted GPU technical factors</a:t>
            </a:r>
          </a:p>
        </p:txBody>
      </p:sp>
      <p:sp>
        <p:nvSpPr>
          <p:cNvPr id="19" name="TextBox 18">
            <a:hlinkClick action="ppaction://hlinksldjump" r:id="rId16"/>
          </p:cNvPr>
          <p:cNvSpPr txBox="1"/>
          <p:nvPr/>
        </p:nvSpPr>
        <p:spPr>
          <a:xfrm>
            <a:off x="54864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GPU break-even throughput</a:t>
            </a:r>
          </a:p>
        </p:txBody>
      </p:sp>
      <p:sp>
        <p:nvSpPr>
          <p:cNvPr id="20" name="TextBox 19">
            <a:hlinkClick action="ppaction://hlinksldjump" r:id="rId17"/>
          </p:cNvPr>
          <p:cNvSpPr txBox="1"/>
          <p:nvPr/>
        </p:nvSpPr>
        <p:spPr>
          <a:xfrm>
            <a:off x="54864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A14  </a:t>
            </a:r>
            <a:r>
              <a:rPr sz="1300" b="0" i="0">
                <a:solidFill>
                  <a:srgbClr val="1E1E2E"/>
                </a:solidFill>
                <a:latin typeface="Arial"/>
              </a:rPr>
              <a:t>Comparable total-cost boundaries</a:t>
            </a:r>
          </a:p>
        </p:txBody>
      </p:sp>
      <p:sp>
        <p:nvSpPr>
          <p:cNvPr id="21" name="TextBox 20">
            <a:hlinkClick action="ppaction://hlinksldjump" r:id="rId18"/>
          </p:cNvPr>
          <p:cNvSpPr txBox="1"/>
          <p:nvPr/>
        </p:nvSpPr>
        <p:spPr>
          <a:xfrm>
            <a:off x="54864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A15  </a:t>
            </a:r>
            <a:r>
              <a:rPr sz="1300" b="0" i="0">
                <a:solidFill>
                  <a:srgbClr val="1E1E2E"/>
                </a:solidFill>
                <a:latin typeface="Arial"/>
              </a:rPr>
              <a:t>Telemetry architecture (rebuilt)</a:t>
            </a:r>
          </a:p>
        </p:txBody>
      </p:sp>
      <p:sp>
        <p:nvSpPr>
          <p:cNvPr id="22" name="TextBox 21">
            <a:hlinkClick action="ppaction://hlinksldjump" r:id="rId19"/>
          </p:cNvPr>
          <p:cNvSpPr txBox="1"/>
          <p:nvPr/>
        </p:nvSpPr>
        <p:spPr>
          <a:xfrm>
            <a:off x="54864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A17  </a:t>
            </a:r>
            <a:r>
              <a:rPr sz="1300" b="0" i="0">
                <a:solidFill>
                  <a:srgbClr val="1E1E2E"/>
                </a:solidFill>
                <a:latin typeface="Arial"/>
              </a:rPr>
              <a:t>Deployment type price differences</a:t>
            </a:r>
          </a:p>
        </p:txBody>
      </p:sp>
      <p:sp>
        <p:nvSpPr>
          <p:cNvPr id="23" name="TextBox 22">
            <a:hlinkClick action="ppaction://hlinksldjump" r:id="rId20"/>
          </p:cNvPr>
          <p:cNvSpPr txBox="1"/>
          <p:nvPr/>
        </p:nvSpPr>
        <p:spPr>
          <a:xfrm>
            <a:off x="548640" y="5892501"/>
            <a:ext cx="5486400" cy="279698"/>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A18  </a:t>
            </a:r>
            <a:r>
              <a:rPr sz="1300" b="0" i="0">
                <a:solidFill>
                  <a:srgbClr val="1E1E2E"/>
                </a:solidFill>
                <a:latin typeface="Arial"/>
              </a:rPr>
              <a:t>Deliverables and acceptance</a:t>
            </a:r>
          </a:p>
        </p:txBody>
      </p:sp>
      <p:sp>
        <p:nvSpPr>
          <p:cNvPr id="24" name="TextBox 23">
            <a:hlinkClick action="ppaction://hlinksldjump" r:id="rId21"/>
          </p:cNvPr>
          <p:cNvSpPr txBox="1"/>
          <p:nvPr/>
        </p:nvSpPr>
        <p:spPr>
          <a:xfrm>
            <a:off x="621792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A19  </a:t>
            </a:r>
            <a:r>
              <a:rPr sz="1300" b="0" i="0">
                <a:solidFill>
                  <a:srgbClr val="1E1E2E"/>
                </a:solidFill>
                <a:latin typeface="Arial"/>
              </a:rPr>
              <a:t>Licence economics</a:t>
            </a:r>
          </a:p>
        </p:txBody>
      </p:sp>
      <p:sp>
        <p:nvSpPr>
          <p:cNvPr id="25" name="TextBox 24">
            <a:hlinkClick action="ppaction://hlinksldjump" r:id="rId22"/>
          </p:cNvPr>
          <p:cNvSpPr txBox="1"/>
          <p:nvPr/>
        </p:nvSpPr>
        <p:spPr>
          <a:xfrm>
            <a:off x="621792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A20  </a:t>
            </a:r>
            <a:r>
              <a:rPr sz="1300" b="0" i="0">
                <a:solidFill>
                  <a:srgbClr val="1E1E2E"/>
                </a:solidFill>
                <a:latin typeface="Arial"/>
              </a:rPr>
              <a:t>FinOps operating model</a:t>
            </a:r>
          </a:p>
        </p:txBody>
      </p:sp>
      <p:sp>
        <p:nvSpPr>
          <p:cNvPr id="26" name="TextBox 25">
            <a:hlinkClick action="ppaction://hlinksldjump" r:id="rId23"/>
          </p:cNvPr>
          <p:cNvSpPr txBox="1"/>
          <p:nvPr/>
        </p:nvSpPr>
        <p:spPr>
          <a:xfrm>
            <a:off x="621792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PF1  </a:t>
            </a:r>
            <a:r>
              <a:rPr sz="1300" b="0" i="0">
                <a:solidFill>
                  <a:srgbClr val="1E1E2E"/>
                </a:solidFill>
                <a:latin typeface="Arial"/>
              </a:rPr>
              <a:t>Paid versus funded assessments</a:t>
            </a:r>
          </a:p>
        </p:txBody>
      </p:sp>
      <p:sp>
        <p:nvSpPr>
          <p:cNvPr id="27" name="TextBox 26">
            <a:hlinkClick action="ppaction://hlinksldjump" r:id="rId24"/>
          </p:cNvPr>
          <p:cNvSpPr txBox="1"/>
          <p:nvPr/>
        </p:nvSpPr>
        <p:spPr>
          <a:xfrm>
            <a:off x="621792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28" name="TextBox 27">
            <a:hlinkClick action="ppaction://hlinksldjump" r:id="rId25"/>
          </p:cNvPr>
          <p:cNvSpPr txBox="1"/>
          <p:nvPr/>
        </p:nvSpPr>
        <p:spPr>
          <a:xfrm>
            <a:off x="621792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E1  </a:t>
            </a:r>
            <a:r>
              <a:rPr sz="1300" b="0" i="0">
                <a:solidFill>
                  <a:srgbClr val="1E1E2E"/>
                </a:solidFill>
                <a:latin typeface="Arial"/>
              </a:rPr>
              <a:t>Estimate assumptions</a:t>
            </a:r>
          </a:p>
        </p:txBody>
      </p:sp>
      <p:sp>
        <p:nvSpPr>
          <p:cNvPr id="29" name="TextBox 28">
            <a:hlinkClick action="ppaction://hlinksldjump" r:id="rId26"/>
          </p:cNvPr>
          <p:cNvSpPr txBox="1"/>
          <p:nvPr/>
        </p:nvSpPr>
        <p:spPr>
          <a:xfrm>
            <a:off x="621792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SEC1  </a:t>
            </a:r>
            <a:r>
              <a:rPr sz="1300" b="0" i="0">
                <a:solidFill>
                  <a:srgbClr val="1E1E2E"/>
                </a:solidFill>
                <a:latin typeface="Arial"/>
              </a:rPr>
              <a:t>AI threat model and controls</a:t>
            </a:r>
          </a:p>
        </p:txBody>
      </p:sp>
      <p:sp>
        <p:nvSpPr>
          <p:cNvPr id="30" name="TextBox 29">
            <a:hlinkClick action="ppaction://hlinksldjump" r:id="rId27"/>
          </p:cNvPr>
          <p:cNvSpPr txBox="1"/>
          <p:nvPr/>
        </p:nvSpPr>
        <p:spPr>
          <a:xfrm>
            <a:off x="621792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SEC2  </a:t>
            </a:r>
            <a:r>
              <a:rPr sz="1300" b="0" i="0">
                <a:solidFill>
                  <a:srgbClr val="1E1E2E"/>
                </a:solidFill>
                <a:latin typeface="Arial"/>
              </a:rPr>
              <a:t>Regulation and EU AI Act roles</a:t>
            </a:r>
          </a:p>
        </p:txBody>
      </p:sp>
      <p:sp>
        <p:nvSpPr>
          <p:cNvPr id="31" name="TextBox 30">
            <a:hlinkClick action="ppaction://hlinksldjump" r:id="rId28"/>
          </p:cNvPr>
          <p:cNvSpPr txBox="1"/>
          <p:nvPr/>
        </p:nvSpPr>
        <p:spPr>
          <a:xfrm>
            <a:off x="621792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G1  </a:t>
            </a:r>
            <a:r>
              <a:rPr sz="1300" b="0" i="0">
                <a:solidFill>
                  <a:srgbClr val="1E1E2E"/>
                </a:solidFill>
                <a:latin typeface="Arial"/>
              </a:rPr>
              <a:t>Glossary</a:t>
            </a:r>
          </a:p>
        </p:txBody>
      </p:sp>
      <p:sp>
        <p:nvSpPr>
          <p:cNvPr id="32" name="TextBox 31">
            <a:hlinkClick action="ppaction://hlinksldjump" r:id="rId29"/>
          </p:cNvPr>
          <p:cNvSpPr txBox="1"/>
          <p:nvPr/>
        </p:nvSpPr>
        <p:spPr>
          <a:xfrm>
            <a:off x="621792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K  </a:t>
            </a:r>
            <a:r>
              <a:rPr sz="1300" b="0" i="0">
                <a:solidFill>
                  <a:srgbClr val="1E1E2E"/>
                </a:solidFill>
                <a:latin typeface="Arial"/>
              </a:rPr>
              <a:t>Kill-switch cross-reference</a:t>
            </a:r>
          </a:p>
        </p:txBody>
      </p:sp>
      <p:sp>
        <p:nvSpPr>
          <p:cNvPr id="33" name="TextBox 32">
            <a:hlinkClick action="ppaction://hlinksldjump" r:id="rId30"/>
          </p:cNvPr>
          <p:cNvSpPr txBox="1"/>
          <p:nvPr/>
        </p:nvSpPr>
        <p:spPr>
          <a:xfrm>
            <a:off x="621792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DP1  </a:t>
            </a:r>
            <a:r>
              <a:rPr sz="1300" b="0" i="0">
                <a:solidFill>
                  <a:srgbClr val="1E1E2E"/>
                </a:solidFill>
                <a:latin typeface="Arial"/>
              </a:rPr>
              <a:t>Delivery bench and presales kit</a:t>
            </a:r>
          </a:p>
        </p:txBody>
      </p:sp>
      <p:sp>
        <p:nvSpPr>
          <p:cNvPr id="34" name="TextBox 33">
            <a:hlinkClick action="ppaction://hlinksldjump" r:id="rId31"/>
          </p:cNvPr>
          <p:cNvSpPr txBox="1"/>
          <p:nvPr/>
        </p:nvSpPr>
        <p:spPr>
          <a:xfrm>
            <a:off x="621792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AC1  </a:t>
            </a:r>
            <a:r>
              <a:rPr sz="1300" b="0" i="0">
                <a:solidFill>
                  <a:srgbClr val="1E1E2E"/>
                </a:solidFill>
                <a:latin typeface="Arial"/>
              </a:rPr>
              <a:t>Account play and contract risk</a:t>
            </a:r>
          </a:p>
        </p:txBody>
      </p:sp>
      <p:sp>
        <p:nvSpPr>
          <p:cNvPr id="35" name="TextBox 34">
            <a:hlinkClick action="ppaction://hlinksldjump" r:id="rId32"/>
          </p:cNvPr>
          <p:cNvSpPr txBox="1"/>
          <p:nvPr/>
        </p:nvSpPr>
        <p:spPr>
          <a:xfrm>
            <a:off x="621792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C1  </a:t>
            </a:r>
            <a:r>
              <a:rPr sz="1300" b="0" i="0">
                <a:solidFill>
                  <a:srgbClr val="1E1E2E"/>
                </a:solidFill>
                <a:latin typeface="Arial"/>
              </a:rPr>
              <a:t>Cost layers and pricing formula</a:t>
            </a:r>
          </a:p>
        </p:txBody>
      </p:sp>
      <p:sp>
        <p:nvSpPr>
          <p:cNvPr id="36" name="TextBox 35">
            <a:hlinkClick action="ppaction://hlinksldjump" r:id="rId33"/>
          </p:cNvPr>
          <p:cNvSpPr txBox="1"/>
          <p:nvPr/>
        </p:nvSpPr>
        <p:spPr>
          <a:xfrm>
            <a:off x="621792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R1  </a:t>
            </a:r>
            <a:r>
              <a:rPr sz="1300" b="0" i="0">
                <a:solidFill>
                  <a:srgbClr val="1E1E2E"/>
                </a:solidFill>
                <a:latin typeface="Arial"/>
              </a:rPr>
              <a:t>RACI matrix</a:t>
            </a:r>
          </a:p>
        </p:txBody>
      </p:sp>
      <p:sp>
        <p:nvSpPr>
          <p:cNvPr id="37" name="TextBox 36">
            <a:hlinkClick action="ppaction://hlinksldjump" r:id="rId34"/>
          </p:cNvPr>
          <p:cNvSpPr txBox="1"/>
          <p:nvPr/>
        </p:nvSpPr>
        <p:spPr>
          <a:xfrm>
            <a:off x="621792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R3  </a:t>
            </a:r>
            <a:r>
              <a:rPr sz="1300" b="0" i="0">
                <a:solidFill>
                  <a:srgbClr val="1E1E2E"/>
                </a:solidFill>
                <a:latin typeface="Arial"/>
              </a:rPr>
              <a:t>Delivery and commercial readiness</a:t>
            </a:r>
          </a:p>
        </p:txBody>
      </p:sp>
      <p:sp>
        <p:nvSpPr>
          <p:cNvPr id="38" name="TextBox 37">
            <a:hlinkClick action="ppaction://hlinksldjump" r:id="rId35"/>
          </p:cNvPr>
          <p:cNvSpPr txBox="1"/>
          <p:nvPr/>
        </p:nvSpPr>
        <p:spPr>
          <a:xfrm>
            <a:off x="621792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44  </a:t>
            </a:r>
            <a:r>
              <a:rPr sz="1300" b="1" i="0">
                <a:solidFill>
                  <a:srgbClr val="000048"/>
                </a:solidFill>
                <a:latin typeface="Arial"/>
              </a:rPr>
              <a:t>D1  </a:t>
            </a:r>
            <a:r>
              <a:rPr sz="1300" b="0" i="0">
                <a:solidFill>
                  <a:srgbClr val="1E1E2E"/>
                </a:solidFill>
                <a:latin typeface="Arial"/>
              </a:rPr>
              <a:t>Decision and approval register</a:t>
            </a:r>
          </a:p>
        </p:txBody>
      </p:sp>
      <p:sp>
        <p:nvSpPr>
          <p:cNvPr id="39" name="TextBox 38">
            <a:hlinkClick action="ppaction://hlinksldjump" r:id="rId36"/>
          </p:cNvPr>
          <p:cNvSpPr txBox="1"/>
          <p:nvPr/>
        </p:nvSpPr>
        <p:spPr>
          <a:xfrm>
            <a:off x="621792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45  </a:t>
            </a:r>
            <a:r>
              <a:rPr sz="1300" b="1" i="0">
                <a:solidFill>
                  <a:srgbClr val="000048"/>
                </a:solidFill>
                <a:latin typeface="Arial"/>
              </a:rPr>
              <a:t>S1  </a:t>
            </a:r>
            <a:r>
              <a:rPr sz="1300" b="0" i="0">
                <a:solidFill>
                  <a:srgbClr val="1E1E2E"/>
                </a:solidFill>
                <a:latin typeface="Arial"/>
              </a:rPr>
              <a:t>Sources and verification dates</a:t>
            </a:r>
          </a:p>
        </p:txBody>
      </p:sp>
      <p:sp>
        <p:nvSpPr>
          <p:cNvPr id="40" name="TextBox 39">
            <a:hlinkClick action="ppaction://hlinksldjump" r:id="rId37"/>
          </p:cNvPr>
          <p:cNvSpPr txBox="1"/>
          <p:nvPr/>
        </p:nvSpPr>
        <p:spPr>
          <a:xfrm>
            <a:off x="6217920" y="5892501"/>
            <a:ext cx="5486400" cy="279698"/>
          </a:xfrm>
          <a:prstGeom prst="rect">
            <a:avLst/>
          </a:prstGeom>
          <a:noFill/>
        </p:spPr>
        <p:txBody>
          <a:bodyPr wrap="square" lIns="0" rIns="0" tIns="0" bIns="0" anchor="t">
            <a:noAutofit/>
          </a:bodyPr>
          <a:lstStyle/>
          <a:p>
            <a:pPr algn="l"/>
            <a:r>
              <a:rPr sz="1300" b="1" i="0">
                <a:solidFill>
                  <a:srgbClr val="2F78C4"/>
                </a:solidFill>
                <a:latin typeface="Arial"/>
              </a:rPr>
              <a:t>46  </a:t>
            </a:r>
            <a:r>
              <a:rPr sz="1300" b="1" i="0">
                <a:solidFill>
                  <a:srgbClr val="000048"/>
                </a:solidFill>
                <a:latin typeface="Arial"/>
              </a:rPr>
              <a:t>S1b  </a:t>
            </a:r>
            <a:r>
              <a:rPr sz="1300" b="0" i="0">
                <a:solidFill>
                  <a:srgbClr val="1E1E2E"/>
                </a:solidFill>
                <a:latin typeface="Arial"/>
              </a:rPr>
              <a:t>Sources and verification dates (continued)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 criteria for PAYG, PTU, hybrid and self-hosted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03120"/>
                <a:gridCol w="2103120"/>
                <a:gridCol w="2286000"/>
                <a:gridCol w="2286000"/>
                <a:gridCol w="2313432"/>
              </a:tblGrid>
              <a:tr h="304800">
                <a:tc>
                  <a:txBody>
                    <a:bodyPr wrap="square" anchor="ctr">
                      <a:noAutofit/>
                    </a:bodyPr>
                    <a:lstStyle/>
                    <a:p>
                      <a:pPr algn="l"/>
                      <a:r>
                        <a:rPr sz="1400" b="1" i="0">
                          <a:solidFill>
                            <a:srgbClr val="FFFFFF"/>
                          </a:solidFill>
                          <a:latin typeface="Arial"/>
                        </a:rPr>
                        <a:t>Criterion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Self-hosted GPU</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Demand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sustained load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baseline and peaks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Measured load and model fit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Latency need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Best effort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Defined latency target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Target for baseline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Engineered by team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Commitment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Hourly or 1-month or 1-year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Smaller reservation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VM terms up to 5 years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Model lifecycle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Auto-upgrade possible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for PTU part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 owns upgrades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Operating burden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 to 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Medium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High</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Price input needed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prices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Reservation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Both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VM, licence, ops cost</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Workload characterisation inputs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ASSESSMENT CHECKLIST"/>
          <p:cNvSpPr/>
          <p:nvPr/>
        </p:nvSpPr>
        <p:spPr>
          <a:xfrm>
            <a:off x="189865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ASSESSMENT CHECKLIST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71600"/>
          <a:ext cx="11091672" cy="3169920"/>
        </p:xfrm>
        <a:graphic>
          <a:graphicData uri="http://schemas.openxmlformats.org/drawingml/2006/table">
            <a:tbl>
              <a:tblPr firstRow="1" bandRow="0">
                <a:tableStyleId>{5C22544A-7EE6-4342-B048-85BDC9FD1C3A}</a:tableStyleId>
              </a:tblPr>
              <a:tblGrid>
                <a:gridCol w="3474720"/>
                <a:gridCol w="4206240"/>
                <a:gridCol w="341071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Model, version,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throughput per PTU, processing boundary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tower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Input, output, cached, reasoning tokens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Price per token type; PTU weighting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deployment metrics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Context length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Prompt size and KV cache memory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Application design</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Concurrency and arrival pattern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sizing and overflow share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logs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Latency and throughput targets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Whether PTU or GPU is needed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loops, retries, tool calls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Calls per useful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Traces (offering 02)</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Peak demand and resilience headroom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Capacity margin and second region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Workload owner, AI</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Quota versus deployable capacity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the plan can be deployed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Portal or capacity API</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loops, retries and tool calls multiply tokens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8" name="Rounded Rectangle 7"/>
          <p:cNvSpPr/>
          <p:nvPr/>
        </p:nvSpPr>
        <p:spPr>
          <a:xfrm>
            <a:off x="548640"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1 task</a:t>
            </a:r>
          </a:p>
          <a:p>
            <a:pPr algn="ctr"/>
            <a:r>
              <a:rPr sz="1500" b="0" i="0">
                <a:solidFill>
                  <a:srgbClr val="53565A"/>
                </a:solidFill>
                <a:latin typeface="Arial"/>
              </a:rPr>
              <a:t>user request</a:t>
            </a:r>
          </a:p>
        </p:txBody>
      </p:sp>
      <p:cxnSp>
        <p:nvCxnSpPr>
          <p:cNvPr id="9" name="Connector (flow)"/>
          <p:cNvCxnSpPr/>
          <p:nvPr/>
        </p:nvCxnSpPr>
        <p:spPr>
          <a:xfrm>
            <a:off x="3108960"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64992"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 calls</a:t>
            </a:r>
          </a:p>
          <a:p>
            <a:pPr algn="ctr"/>
            <a:r>
              <a:rPr sz="1500" b="0" i="0">
                <a:solidFill>
                  <a:srgbClr val="53565A"/>
                </a:solidFill>
                <a:latin typeface="Arial"/>
              </a:rPr>
              <a:t>agent reasoning loop</a:t>
            </a:r>
          </a:p>
        </p:txBody>
      </p:sp>
      <p:cxnSp>
        <p:nvCxnSpPr>
          <p:cNvPr id="11" name="Connector (flow)"/>
          <p:cNvCxnSpPr/>
          <p:nvPr/>
        </p:nvCxnSpPr>
        <p:spPr>
          <a:xfrm>
            <a:off x="5925312" y="237744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81344"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+5%</a:t>
            </a:r>
          </a:p>
          <a:p>
            <a:pPr algn="ctr"/>
            <a:r>
              <a:rPr sz="1500" b="0" i="0">
                <a:solidFill>
                  <a:srgbClr val="53565A"/>
                </a:solidFill>
                <a:latin typeface="Arial"/>
              </a:rPr>
              <a:t>retries</a:t>
            </a:r>
          </a:p>
        </p:txBody>
      </p:sp>
      <p:cxnSp>
        <p:nvCxnSpPr>
          <p:cNvPr id="13" name="Connector (flow)"/>
          <p:cNvCxnSpPr/>
          <p:nvPr/>
        </p:nvCxnSpPr>
        <p:spPr>
          <a:xfrm>
            <a:off x="8741663" y="237744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997696" y="1554480"/>
            <a:ext cx="2560320"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3200" b="1" i="0">
                <a:solidFill>
                  <a:srgbClr val="000048"/>
                </a:solidFill>
                <a:latin typeface="Arial"/>
              </a:rPr>
              <a:t>3.15 calls</a:t>
            </a:r>
          </a:p>
          <a:p>
            <a:pPr algn="ctr"/>
            <a:r>
              <a:rPr sz="1500" b="0" i="0">
                <a:solidFill>
                  <a:srgbClr val="53565A"/>
                </a:solidFill>
                <a:latin typeface="Arial"/>
              </a:rPr>
              <a:t>per useful task</a:t>
            </a:r>
          </a:p>
        </p:txBody>
      </p:sp>
      <p:sp>
        <p:nvSpPr>
          <p:cNvPr id="15" name="TextBox 14"/>
          <p:cNvSpPr txBox="1"/>
          <p:nvPr/>
        </p:nvSpPr>
        <p:spPr>
          <a:xfrm>
            <a:off x="548640" y="3566160"/>
            <a:ext cx="11064240" cy="1097280"/>
          </a:xfrm>
          <a:prstGeom prst="rect">
            <a:avLst/>
          </a:prstGeom>
          <a:noFill/>
        </p:spPr>
        <p:txBody>
          <a:bodyPr wrap="square" lIns="0" rIns="0" tIns="0" bIns="0" anchor="t">
            <a:noAutofit/>
          </a:bodyPr>
          <a:lstStyle/>
          <a:p>
            <a:pPr algn="l"/>
            <a:r>
              <a:rPr sz="1800" b="0" i="0">
                <a:solidFill>
                  <a:srgbClr val="1E1E2E"/>
                </a:solidFill>
                <a:latin typeface="Arial"/>
              </a:rPr>
              <a:t>At the example’s prices each call costs about $0.0099, so a task costs about $0.0311. Tool results added to the context make later calls larger still.</a:t>
            </a:r>
          </a:p>
        </p:txBody>
      </p:sp>
      <p:sp>
        <p:nvSpPr>
          <p:cNvPr id="16" name="Rounded Rectangle 15"/>
          <p:cNvSpPr/>
          <p:nvPr/>
        </p:nvSpPr>
        <p:spPr>
          <a:xfrm>
            <a:off x="548640" y="49377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Cost per useful task, not cost per call, is the unit leaders should track.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Quota, capacity and reservations are different things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548640"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Quota</a:t>
            </a:r>
          </a:p>
        </p:txBody>
      </p:sp>
      <p:sp>
        <p:nvSpPr>
          <p:cNvPr id="10" name="TextBox 9"/>
          <p:cNvSpPr txBox="1"/>
          <p:nvPr/>
        </p:nvSpPr>
        <p:spPr>
          <a:xfrm>
            <a:off x="548640"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Policy limit per subscription, region and deployment type. No cost. Does not guarantee capacity.</a:t>
            </a:r>
          </a:p>
        </p:txBody>
      </p:sp>
      <p:sp>
        <p:nvSpPr>
          <p:cNvPr id="11" name="Rounded Rectangle 10"/>
          <p:cNvSpPr/>
          <p:nvPr/>
        </p:nvSpPr>
        <p:spPr>
          <a:xfrm>
            <a:off x="429767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Capacity</a:t>
            </a:r>
          </a:p>
        </p:txBody>
      </p:sp>
      <p:sp>
        <p:nvSpPr>
          <p:cNvPr id="12" name="TextBox 11"/>
          <p:cNvSpPr txBox="1"/>
          <p:nvPr/>
        </p:nvSpPr>
        <p:spPr>
          <a:xfrm>
            <a:off x="429767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PTUs actually available for a model version, allocated at deployment and held while it exists.</a:t>
            </a:r>
          </a:p>
        </p:txBody>
      </p:sp>
      <p:sp>
        <p:nvSpPr>
          <p:cNvPr id="13" name="Rounded Rectangle 12"/>
          <p:cNvSpPr/>
          <p:nvPr/>
        </p:nvSpPr>
        <p:spPr>
          <a:xfrm>
            <a:off x="8046719" y="141732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Reservation</a:t>
            </a:r>
          </a:p>
        </p:txBody>
      </p:sp>
      <p:sp>
        <p:nvSpPr>
          <p:cNvPr id="14" name="TextBox 13"/>
          <p:cNvSpPr txBox="1"/>
          <p:nvPr/>
        </p:nvSpPr>
        <p:spPr>
          <a:xfrm>
            <a:off x="8046719" y="2148840"/>
            <a:ext cx="3593592" cy="2011680"/>
          </a:xfrm>
          <a:prstGeom prst="rect">
            <a:avLst/>
          </a:prstGeom>
          <a:noFill/>
        </p:spPr>
        <p:txBody>
          <a:bodyPr wrap="square" lIns="0" rIns="0" tIns="0" bIns="0" anchor="t">
            <a:noAutofit/>
          </a:bodyPr>
          <a:lstStyle/>
          <a:p>
            <a:pPr algn="l"/>
            <a:r>
              <a:rPr sz="1700" b="0" i="0">
                <a:solidFill>
                  <a:srgbClr val="1E1E2E"/>
                </a:solidFill>
                <a:latin typeface="Arial"/>
              </a:rPr>
              <a:t>Billing discount for a 1-month or 1-year term. Does not guarantee capacity. Separate for Global, Data Zone, Regional.</a:t>
            </a:r>
          </a:p>
        </p:txBody>
      </p:sp>
      <p:sp>
        <p:nvSpPr>
          <p:cNvPr id="15" name="Rounded Rectangle 14"/>
          <p:cNvSpPr/>
          <p:nvPr/>
        </p:nvSpPr>
        <p:spPr>
          <a:xfrm>
            <a:off x="548640" y="438912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Order matters: confirm quota, create the deployment to secure capacity, then buy the reservation.</a:t>
            </a:r>
          </a:p>
        </p:txBody>
      </p:sp>
      <p:sp>
        <p:nvSpPr>
          <p:cNvPr id="16" name="Rounded Rectangle 15"/>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Scaling down releases capacity; there is no guarantee it can be regained later.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sizing method and current parameters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ARTLY CARRIED FROM v2"/>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PARTLY CARRIED FROM v2</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TextBox 8"/>
          <p:cNvSpPr txBox="1"/>
          <p:nvPr/>
        </p:nvSpPr>
        <p:spPr>
          <a:xfrm>
            <a:off x="548640" y="1371600"/>
            <a:ext cx="11064240" cy="1188720"/>
          </a:xfrm>
          <a:prstGeom prst="rect">
            <a:avLst/>
          </a:prstGeom>
          <a:noFill/>
        </p:spPr>
        <p:txBody>
          <a:bodyPr wrap="square" lIns="0" rIns="0" tIns="0" bIns="0" anchor="t">
            <a:noAutofit/>
          </a:bodyPr>
          <a:lstStyle/>
          <a:p>
            <a:pPr algn="l">
              <a:spcAft>
                <a:spcPts val="600"/>
              </a:spcAft>
            </a:pPr>
            <a:r>
              <a:rPr sz="1700" b="1" i="0">
                <a:solidFill>
                  <a:srgbClr val="000048"/>
                </a:solidFill>
                <a:latin typeface="Arial"/>
              </a:rPr>
              <a:t>Normalised TPM</a:t>
            </a:r>
            <a:r>
              <a:rPr sz="1700" b="0" i="0">
                <a:solidFill>
                  <a:srgbClr val="1E1E2E"/>
                </a:solidFill>
                <a:latin typeface="Arial"/>
              </a:rPr>
              <a:t> = input TPM x (1 − cache rate) + output-to-input ratio x output TPM</a:t>
            </a:r>
          </a:p>
          <a:p>
            <a:pPr algn="l"/>
            <a:r>
              <a:rPr sz="1700" b="1" i="0">
                <a:solidFill>
                  <a:srgbClr val="000048"/>
                </a:solidFill>
                <a:latin typeface="Arial"/>
              </a:rPr>
              <a:t>PTUs</a:t>
            </a:r>
            <a:r>
              <a:rPr sz="1700" b="0" i="0">
                <a:solidFill>
                  <a:srgbClr val="1E1E2E"/>
                </a:solidFill>
                <a:latin typeface="Arial"/>
              </a:rPr>
              <a:t> = normalised TPM ÷ input TPM per PTU, rounded up to the increment (and at least the minimum)</a:t>
            </a:r>
          </a:p>
        </p:txBody>
      </p:sp>
      <p:graphicFrame>
        <p:nvGraphicFramePr>
          <p:cNvPr id="10" name="Table"/>
          <p:cNvGraphicFramePr>
            <a:graphicFrameLocks noGrp="1"/>
          </p:cNvGraphicFramePr>
          <p:nvPr/>
        </p:nvGraphicFramePr>
        <p:xfrm>
          <a:off x="548640" y="2697480"/>
          <a:ext cx="11091672" cy="2316480"/>
        </p:xfrm>
        <a:graphic>
          <a:graphicData uri="http://schemas.openxmlformats.org/drawingml/2006/table">
            <a:tbl>
              <a:tblPr firstRow="1" bandRow="0">
                <a:tableStyleId>{5C22544A-7EE6-4342-B048-85BDC9FD1C3A}</a:tableStyleId>
              </a:tblPr>
              <a:tblGrid>
                <a:gridCol w="2743200"/>
                <a:gridCol w="2651760"/>
                <a:gridCol w="2011680"/>
                <a:gridCol w="1828800"/>
                <a:gridCol w="1856232"/>
              </a:tblGrid>
              <a:tr h="487680">
                <a:tc>
                  <a:txBody>
                    <a:bodyPr wrap="square" anchor="ctr">
                      <a:noAutofit/>
                    </a:bodyPr>
                    <a:lstStyle/>
                    <a:p>
                      <a:pPr algn="l"/>
                      <a:r>
                        <a:rPr sz="13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Global / Data Zone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Regional min, increment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Input TPM per PTU</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1 output token =</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gpt-5.4 (2026-03-05)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2,400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6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gpt-4.1 (2025-04-14)</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50, 25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3,000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gpt-4.1-mini (2025-04-14)</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14,900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gpt-5 (2025-08-07)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50, 50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4,750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gpt-5-mini (2025-08-07)</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23,750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8 input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o4-mini (2025-04-16)</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15, 5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5,400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 input</a:t>
                      </a:r>
                    </a:p>
                  </a:txBody>
                  <a:tcPr marL="73152" marR="73152" marT="36576" marB="36576" anchor="ctr">
                    <a:solidFill>
                      <a:srgbClr val="F5F5F2"/>
                    </a:solidFill>
                  </a:tcPr>
                </a:tc>
              </a:tr>
            </a:tbl>
          </a:graphicData>
        </a:graphic>
      </p:graphicFrame>
      <p:sp>
        <p:nvSpPr>
          <p:cNvPr id="11" name="Rounded Rectangle 10"/>
          <p:cNvSpPr/>
          <p:nvPr/>
        </p:nvSpPr>
        <p:spPr>
          <a:xfrm>
            <a:off x="548640" y="53492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with representative traffic before any commitment. A PTU is not a fixed number of GPUs.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Commitment and model-lifecycle risk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453640"/>
        </p:xfrm>
        <a:graphic>
          <a:graphicData uri="http://schemas.openxmlformats.org/drawingml/2006/table">
            <a:tbl>
              <a:tblPr firstRow="1" bandRow="0">
                <a:tableStyleId>{5C22544A-7EE6-4342-B048-85BDC9FD1C3A}</a:tableStyleId>
              </a:tblPr>
              <a:tblGrid>
                <a:gridCol w="2743200"/>
                <a:gridCol w="1828800"/>
                <a:gridCol w="1828800"/>
                <a:gridCol w="4690872"/>
              </a:tblGrid>
              <a:tr h="304800">
                <a:tc>
                  <a:txBody>
                    <a:bodyPr wrap="square" anchor="ctr">
                      <a:noAutofit/>
                    </a:bodyPr>
                    <a:lstStyle/>
                    <a:p>
                      <a:pPr algn="l"/>
                      <a:r>
                        <a:rPr sz="1400" b="1" i="0">
                          <a:solidFill>
                            <a:srgbClr val="FFFFFF"/>
                          </a:solidFill>
                          <a:latin typeface="Arial"/>
                        </a:rPr>
                        <a:t>Model (version)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Lifecycle 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Retirement date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Implication for a 1-year reservation bought now</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gpt-5.6</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2028-01-11</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Outlasts a 1-year term bought in October 2026</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gpt-5.4 (2026-03-05)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2027-09-02</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Retires before a 1-year term ends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gpt-4.1 (2025-04-14)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retires before term ends; re-size on successor</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gpt-4.1-mini (2025-04-14)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Deprecated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gpt-5 (2025-08-07)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2027-02-09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Retires before term ends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gpt-4o (2024-11-20)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Legacy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2027-04-14</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Replacement listed: gpt-5.1</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Provisioned deployments are not auto-upgraded. Budget a migration and re-benchmark inside any commitment term.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Reservation coverage versus actual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Coverage</a:t>
            </a:r>
          </a:p>
          <a:p>
            <a:pPr algn="l">
              <a:spcAft>
                <a:spcPts val="1000"/>
              </a:spcAft>
            </a:pPr>
            <a:r>
              <a:rPr sz="1600" b="1" i="0">
                <a:solidFill>
                  <a:srgbClr val="2F78C4"/>
                </a:solidFill>
                <a:latin typeface="Arial"/>
              </a:rPr>
              <a:t>Reserved PTUs ÷ deployed PTUs</a:t>
            </a:r>
          </a:p>
          <a:p>
            <a:pPr algn="l"/>
            <a:r>
              <a:rPr sz="1600" b="0" i="0">
                <a:solidFill>
                  <a:srgbClr val="1E1E2E"/>
                </a:solidFill>
                <a:latin typeface="Arial"/>
              </a:rPr>
              <a:t>Low: paying hourly list for PTUs that could be reserved</a:t>
            </a:r>
          </a:p>
        </p:txBody>
      </p:sp>
      <p:sp>
        <p:nvSpPr>
          <p:cNvPr id="9" name="Rounded Rectangle 8"/>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Utilisation</a:t>
            </a:r>
          </a:p>
          <a:p>
            <a:pPr algn="l">
              <a:spcAft>
                <a:spcPts val="1000"/>
              </a:spcAft>
            </a:pPr>
            <a:r>
              <a:rPr sz="1600" b="1" i="0">
                <a:solidFill>
                  <a:srgbClr val="2F78C4"/>
                </a:solidFill>
                <a:latin typeface="Arial"/>
              </a:rPr>
              <a:t>Normalised tokens used ÷ PTU capacity</a:t>
            </a:r>
          </a:p>
          <a:p>
            <a:pPr algn="l"/>
            <a:r>
              <a:rPr sz="1600" b="0" i="0">
                <a:solidFill>
                  <a:srgbClr val="1E1E2E"/>
                </a:solidFill>
                <a:latin typeface="Arial"/>
              </a:rPr>
              <a:t>Low: paying for idle capacity, reserved or not</a:t>
            </a:r>
          </a:p>
        </p:txBody>
      </p:sp>
      <p:sp>
        <p:nvSpPr>
          <p:cNvPr id="10" name="Rounded Rectangle 9"/>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2100" b="1" i="0">
                <a:solidFill>
                  <a:srgbClr val="000048"/>
                </a:solidFill>
                <a:latin typeface="Arial"/>
              </a:rPr>
              <a:t>Overflow share</a:t>
            </a:r>
          </a:p>
          <a:p>
            <a:pPr algn="l">
              <a:spcAft>
                <a:spcPts val="1000"/>
              </a:spcAft>
            </a:pPr>
            <a:r>
              <a:rPr sz="1600" b="1" i="0">
                <a:solidFill>
                  <a:srgbClr val="2F78C4"/>
                </a:solidFill>
                <a:latin typeface="Arial"/>
              </a:rPr>
              <a:t>Tokens served by PAYG ÷ total</a:t>
            </a:r>
          </a:p>
          <a:p>
            <a:pPr algn="l"/>
            <a:r>
              <a:rPr sz="1600" b="0" i="0">
                <a:solidFill>
                  <a:srgbClr val="1E1E2E"/>
                </a:solidFill>
                <a:latin typeface="Arial"/>
              </a:rPr>
              <a:t>High: baseline undersized or peaks unmanaged</a:t>
            </a:r>
          </a:p>
        </p:txBody>
      </p:sp>
      <p:sp>
        <p:nvSpPr>
          <p:cNvPr id="11" name="Rounded Rectangle 10"/>
          <p:cNvSpPr/>
          <p:nvPr/>
        </p:nvSpPr>
        <p:spPr>
          <a:xfrm>
            <a:off x="548640" y="47548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Report all three monthly. A single coverage number hides idle capacity.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inputs: verified prices, assumed load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SSUMED WORKLOAD"/>
          <p:cNvSpPr/>
          <p:nvPr/>
        </p:nvSpPr>
        <p:spPr>
          <a:xfrm>
            <a:off x="189865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ASSUMED WORKLOAD</a:t>
            </a:r>
          </a:p>
        </p:txBody>
      </p:sp>
      <p:sp>
        <p:nvSpPr>
          <p:cNvPr id="6" name="Status chip: VERIFIED PRICES"/>
          <p:cNvSpPr/>
          <p:nvPr/>
        </p:nvSpPr>
        <p:spPr>
          <a:xfrm>
            <a:off x="3646170" y="274320"/>
            <a:ext cx="156972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10" name="Table"/>
          <p:cNvGraphicFramePr>
            <a:graphicFrameLocks noGrp="1"/>
          </p:cNvGraphicFramePr>
          <p:nvPr/>
        </p:nvGraphicFramePr>
        <p:xfrm>
          <a:off x="548640" y="1371600"/>
          <a:ext cx="11091672" cy="3048000"/>
        </p:xfrm>
        <a:graphic>
          <a:graphicData uri="http://schemas.openxmlformats.org/drawingml/2006/table">
            <a:tbl>
              <a:tblPr firstRow="1" bandRow="0">
                <a:tableStyleId>{5C22544A-7EE6-4342-B048-85BDC9FD1C3A}</a:tableStyleId>
              </a:tblPr>
              <a:tblGrid>
                <a:gridCol w="3108960"/>
                <a:gridCol w="5120640"/>
                <a:gridCol w="2862072"/>
              </a:tblGrid>
              <a:tr h="304800">
                <a:tc>
                  <a:txBody>
                    <a:bodyPr wrap="square" anchor="ctr">
                      <a:noAutofit/>
                    </a:bodyPr>
                    <a:lstStyle/>
                    <a:p>
                      <a:pPr algn="l"/>
                      <a:r>
                        <a:rPr sz="1400" b="1" i="0">
                          <a:solidFill>
                            <a:srgbClr val="FFFFFF"/>
                          </a:solidFill>
                          <a:latin typeface="Arial"/>
                        </a:rPr>
                        <a:t>Input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Model and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gpt-5.4, Global Standard or Global Provisioned</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 choice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Input / cached / output price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$2.50 / $0.25 / $15.00 per 1M tokens</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Provisioned hourly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PTU-hour Global ($730 per PTU-month)</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Verified list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PTU parameters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min 15, increment 5, 2,400 input TPM per PTU, output x6</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Verified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Tasks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100 per minute average</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Calls per task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3 model calls plus 5% retries</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Tokens per call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2,000 input (25% cached), 400 output</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Daily profile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Peak 1.66x mean in business hours; night 0.31x</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Assumed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PTU reservation price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published in retail price API</a:t>
                      </a:r>
                    </a:p>
                  </a:txBody>
                  <a:tcPr marL="73152" marR="73152" marT="36576" marB="36576" anchor="ctr">
                    <a:solidFill>
                      <a:srgbClr val="FFFFFF"/>
                    </a:solidFill>
                  </a:tcPr>
                </a:tc>
                <a:tc>
                  <a:txBody>
                    <a:bodyPr wrap="square" anchor="ctr">
                      <a:noAutofit/>
                    </a:bodyPr>
                    <a:lstStyle/>
                    <a:p>
                      <a:pPr algn="l"/>
                      <a:r>
                        <a:rPr sz="1400" b="1" i="0">
                          <a:solidFill>
                            <a:srgbClr val="A4262C"/>
                          </a:solidFill>
                          <a:latin typeface="Arial"/>
                        </a:rPr>
                        <a:t>Missing: customer agreement</a:t>
                      </a:r>
                    </a:p>
                  </a:txBody>
                  <a:tcPr marL="73152" marR="73152" marT="36576" marB="36576"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Worked example results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ILLUSTRATIVE"/>
          <p:cNvSpPr/>
          <p:nvPr/>
        </p:nvSpPr>
        <p:spPr>
          <a:xfrm>
            <a:off x="189865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1478280"/>
        </p:xfrm>
        <a:graphic>
          <a:graphicData uri="http://schemas.openxmlformats.org/drawingml/2006/table">
            <a:tbl>
              <a:tblPr firstRow="1" bandRow="0">
                <a:tableStyleId>{5C22544A-7EE6-4342-B048-85BDC9FD1C3A}</a:tableStyleId>
              </a:tblPr>
              <a:tblGrid>
                <a:gridCol w="2194560"/>
                <a:gridCol w="2651760"/>
                <a:gridCol w="2377440"/>
                <a:gridCol w="2194560"/>
                <a:gridCol w="1673352"/>
              </a:tblGrid>
              <a:tr h="51816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Capacity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Monthly cost at hourly list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PTU price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Utilisation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PAYG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$136,245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PTU sized to peak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850 PTU</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$620,500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$160 per PTU-month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60%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Hybrid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425 PTU + PAYG overflow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$357,078</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 per PTU-month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79%</a:t>
                      </a:r>
                    </a:p>
                  </a:txBody>
                  <a:tcPr marL="73152" marR="73152" marT="36576" marB="36576" anchor="ctr">
                    <a:solidFill>
                      <a:srgbClr val="FFFFFF"/>
                    </a:solidFill>
                  </a:tcPr>
                </a:tc>
              </a:tr>
            </a:tbl>
          </a:graphicData>
        </a:graphic>
      </p:graphicFrame>
      <p:sp>
        <p:nvSpPr>
          <p:cNvPr id="10" name="TextBox 9"/>
          <p:cNvSpPr txBox="1"/>
          <p:nvPr/>
        </p:nvSpPr>
        <p:spPr>
          <a:xfrm>
            <a:off x="548640" y="3291840"/>
            <a:ext cx="11064240" cy="14630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Hourly provisioned at list ($730 per PTU-month) costs far more than PAYG here.</a:t>
            </a:r>
          </a:p>
          <a:p>
            <a:pPr algn="l" marL="201168" indent="-201168">
              <a:spcAft>
                <a:spcPts val="600"/>
              </a:spcAft>
              <a:buFont typeface="Arial"/>
              <a:buChar char="•"/>
            </a:pPr>
            <a:r>
              <a:rPr sz="1600" b="0" i="0">
                <a:solidFill>
                  <a:srgbClr val="1E1E2E"/>
                </a:solidFill>
                <a:latin typeface="Arial"/>
              </a:rPr>
              <a:t>Even at 100% utilisation one Global PTU replaces at most $263 of gpt-5.4 PAYG spend a month.</a:t>
            </a:r>
          </a:p>
          <a:p>
            <a:pPr algn="l" marL="201168" indent="-201168">
              <a:spcAft>
                <a:spcPts val="600"/>
              </a:spcAft>
              <a:buFont typeface="Arial"/>
              <a:buChar char="•"/>
            </a:pPr>
            <a:r>
              <a:rPr sz="1600" b="0" i="0">
                <a:solidFill>
                  <a:srgbClr val="1E1E2E"/>
                </a:solidFill>
                <a:latin typeface="Arial"/>
              </a:rPr>
              <a:t>So PTU is justified by latency targets and by a reservation price well below list, not by hourly pricing.</a:t>
            </a:r>
          </a:p>
        </p:txBody>
      </p:sp>
      <p:sp>
        <p:nvSpPr>
          <p:cNvPr id="11" name="Rounded Rectangle 10"/>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Illustrative only. Do not use these numbers to recommend a real commitment.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break-even price rises with utilisation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Chart"/>
          <p:cNvGraphicFramePr>
            <a:graphicFrameLocks noGrp="1"/>
          </p:cNvGraphicFramePr>
          <p:nvPr/>
        </p:nvGraphicFramePr>
        <p:xfrm>
          <a:off x="548640" y="1371600"/>
          <a:ext cx="7315200" cy="4206240"/>
        </p:xfrm>
        <a:graphic>
          <a:graphicData uri="http://schemas.openxmlformats.org/drawingml/2006/chart">
            <c:chart xmlns:c="http://schemas.openxmlformats.org/drawingml/2006/chart" r:id="rId4"/>
          </a:graphicData>
        </a:graphic>
      </p:graphicFrame>
      <p:sp>
        <p:nvSpPr>
          <p:cNvPr id="10" name="Rounded Rectangle 9"/>
          <p:cNvSpPr/>
          <p:nvPr/>
        </p:nvSpPr>
        <p:spPr>
          <a:xfrm>
            <a:off x="8138160" y="1371600"/>
            <a:ext cx="3502152" cy="4206240"/>
          </a:xfrm>
          <a:prstGeom prst="roundRect">
            <a:avLst>
              <a:gd name="adj" fmla="val 208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800"/>
              </a:spcAft>
            </a:pPr>
            <a:r>
              <a:rPr sz="1700" b="1" i="0">
                <a:solidFill>
                  <a:srgbClr val="000048"/>
                </a:solidFill>
                <a:latin typeface="Arial"/>
              </a:rPr>
              <a:t>Read the chart</a:t>
            </a:r>
          </a:p>
          <a:p>
            <a:pPr algn="l">
              <a:spcAft>
                <a:spcPts val="800"/>
              </a:spcAft>
            </a:pPr>
            <a:r>
              <a:rPr sz="1500" b="0" i="0">
                <a:solidFill>
                  <a:srgbClr val="1E1E2E"/>
                </a:solidFill>
                <a:latin typeface="Arial"/>
              </a:rPr>
              <a:t>At 70% average utilisation a PTU must cost under about </a:t>
            </a:r>
            <a:r>
              <a:rPr sz="1500" b="1" i="0">
                <a:solidFill>
                  <a:srgbClr val="1E1E2E"/>
                </a:solidFill>
                <a:latin typeface="Arial"/>
              </a:rPr>
              <a:t>$184</a:t>
            </a:r>
            <a:r>
              <a:rPr sz="1500" b="0" i="0">
                <a:solidFill>
                  <a:srgbClr val="1E1E2E"/>
                </a:solidFill>
                <a:latin typeface="Arial"/>
              </a:rPr>
              <a:t> a month to beat gpt-5.4 Global PAYG.</a:t>
            </a:r>
          </a:p>
          <a:p>
            <a:pPr algn="l"/>
            <a:r>
              <a:rPr sz="1500" b="0" i="0">
                <a:solidFill>
                  <a:srgbClr val="1E1E2E"/>
                </a:solidFill>
                <a:latin typeface="Arial"/>
              </a:rPr>
              <a:t>Hourly list is $730. The gap must come from the reservation price.</a:t>
            </a:r>
          </a:p>
        </p:txBody>
      </p:sp>
      <p:sp>
        <p:nvSpPr>
          <p:cNvPr id="11" name="Rounded Rectangle 10"/>
          <p:cNvSpPr/>
          <p:nvPr/>
        </p:nvSpPr>
        <p:spPr>
          <a:xfrm>
            <a:off x="548640" y="576072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Utilisation is average normalised load ÷ capacity. Peak sizing lowers it; hybrid raises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Sensitivity: which assumptions move the answer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ILLUSTRATIVE"/>
          <p:cNvSpPr/>
          <p:nvPr/>
        </p:nvSpPr>
        <p:spPr>
          <a:xfrm>
            <a:off x="1996440" y="274320"/>
            <a:ext cx="13106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71600"/>
          <a:ext cx="11091672" cy="1905000"/>
        </p:xfrm>
        <a:graphic>
          <a:graphicData uri="http://schemas.openxmlformats.org/drawingml/2006/table">
            <a:tbl>
              <a:tblPr firstRow="1" bandRow="0">
                <a:tableStyleId>{5C22544A-7EE6-4342-B048-85BDC9FD1C3A}</a:tableStyleId>
              </a:tblPr>
              <a:tblGrid>
                <a:gridCol w="2743200"/>
                <a:gridCol w="2103120"/>
                <a:gridCol w="2103120"/>
                <a:gridCol w="2011680"/>
                <a:gridCol w="2130552"/>
              </a:tblGrid>
              <a:tr h="304800">
                <a:tc>
                  <a:txBody>
                    <a:bodyPr wrap="square" anchor="ctr">
                      <a:noAutofit/>
                    </a:bodyPr>
                    <a:lstStyle/>
                    <a:p>
                      <a:pPr algn="l"/>
                      <a:r>
                        <a:rPr sz="1400" b="1" i="0">
                          <a:solidFill>
                            <a:srgbClr val="FFFFFF"/>
                          </a:solidFill>
                          <a:latin typeface="Arial"/>
                        </a:rPr>
                        <a:t>Variant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PAYG per month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PTU peak / hybrid</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peak</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Break-even hybrid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case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$136,245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850 / 425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No caching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$151,767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960 / 480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$158</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$208</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50% cached input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$120,724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740 / 370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$163</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$214</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5 calls per task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$227,076</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1415 / 710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800 output 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$219,027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1370 / 685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$160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$210</a:t>
                      </a:r>
                    </a:p>
                  </a:txBody>
                  <a:tcPr marL="73152" marR="73152" marT="36576" marB="36576" anchor="ctr">
                    <a:solidFill>
                      <a:srgbClr val="FFFFFF"/>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Volume changes cost but barely moves break-even. Demand shape and reservation price decide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inference: what drives capacity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Factor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matters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GPU memory and KV cache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Model weights plus per-request cache limit concurrency and context length</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Precision and quantisation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Lower precision fits more but can change quality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Batching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Raises throughput, adds latency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GPU SKU and interconnect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ND H100 v5: 8 x H100 80 GB, NVLink 4.0, 3.2 Tbps InfiniBand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Replicas and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N+1 for maintenance and failure; regional capacity varies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Serving stack and licences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Inference server, model licence terms, support</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Drivers, images, security fixes, upgrades: ongoing effort</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Self-hosted GPU: break-even throughput, not GPU count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VERIFIED VM PRICE"/>
          <p:cNvSpPr/>
          <p:nvPr/>
        </p:nvSpPr>
        <p:spPr>
          <a:xfrm>
            <a:off x="1996440" y="274320"/>
            <a:ext cx="174244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VM PRICE</a:t>
            </a:r>
          </a:p>
        </p:txBody>
      </p:sp>
      <p:sp>
        <p:nvSpPr>
          <p:cNvPr id="6" name="Status chip: ILLUSTRATIVE COMPARISON"/>
          <p:cNvSpPr/>
          <p:nvPr/>
        </p:nvSpPr>
        <p:spPr>
          <a:xfrm>
            <a:off x="3830320" y="274320"/>
            <a:ext cx="226060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COMPARISON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10"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3566160"/>
                <a:gridCol w="4754880"/>
                <a:gridCol w="277063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Value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VM price (ND96isr H100 v5, Linux)</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$98.32 per hour, about $71,774 a month</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Verified list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Blended PAYG price in the example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$4.11 per 1M tokens</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Break-even throughput, 1 VM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about 6,638 tokens per second, 24x7</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With N+1 (2 VMs)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13,275 tokens per second, 24x7</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Derived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Not included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Storage, network, licences, operations, engineering</a:t>
                      </a:r>
                    </a:p>
                  </a:txBody>
                  <a:tcPr marL="73152" marR="73152" marT="36576" marB="36576" anchor="ctr">
                    <a:solidFill>
                      <a:srgbClr val="FFFFFF"/>
                    </a:solidFill>
                  </a:tcPr>
                </a:tc>
                <a:tc>
                  <a:txBody>
                    <a:bodyPr wrap="square" anchor="ctr">
                      <a:noAutofit/>
                    </a:bodyPr>
                    <a:lstStyle/>
                    <a:p>
                      <a:pPr algn="l"/>
                      <a:r>
                        <a:rPr sz="1500" b="1" i="0">
                          <a:solidFill>
                            <a:srgbClr val="A4262C"/>
                          </a:solidFill>
                          <a:latin typeface="Arial"/>
                        </a:rPr>
                        <a:t>Must be added</a:t>
                      </a:r>
                    </a:p>
                  </a:txBody>
                  <a:tcPr marL="73152" marR="73152" marT="36576" marB="36576" anchor="ctr">
                    <a:solidFill>
                      <a:srgbClr val="FFFFFF"/>
                    </a:solidFill>
                  </a:tcPr>
                </a:tc>
              </a:tr>
            </a:tbl>
          </a:graphicData>
        </a:graphic>
      </p:graphicFrame>
      <p:sp>
        <p:nvSpPr>
          <p:cNvPr id="11" name="Rounded Rectangle 10"/>
          <p:cNvSpPr/>
          <p:nvPr/>
        </p:nvSpPr>
        <p:spPr>
          <a:xfrm>
            <a:off x="548640" y="411480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Benchmark the chosen open model on the chosen stack. A PTU does not equal a fixed number of GPUs.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Compare options on the same cost boundary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8" name="Table"/>
          <p:cNvGraphicFramePr>
            <a:graphicFrameLocks noGrp="1"/>
          </p:cNvGraphicFramePr>
          <p:nvPr/>
        </p:nvGraphicFramePr>
        <p:xfrm>
          <a:off x="548640" y="1371600"/>
          <a:ext cx="11091672" cy="2865120"/>
        </p:xfrm>
        <a:graphic>
          <a:graphicData uri="http://schemas.openxmlformats.org/drawingml/2006/table">
            <a:tbl>
              <a:tblPr firstRow="1" bandRow="0">
                <a:tableStyleId>{5C22544A-7EE6-4342-B048-85BDC9FD1C3A}</a:tableStyleId>
              </a:tblPr>
              <a:tblGrid>
                <a:gridCol w="3291840"/>
                <a:gridCol w="1920240"/>
                <a:gridCol w="1920240"/>
                <a:gridCol w="1920240"/>
                <a:gridCol w="2039112"/>
              </a:tblGrid>
              <a:tr h="304800">
                <a:tc>
                  <a:txBody>
                    <a:bodyPr wrap="square" anchor="ctr">
                      <a:noAutofit/>
                    </a:bodyPr>
                    <a:lstStyle/>
                    <a:p>
                      <a:pPr algn="l"/>
                      <a:r>
                        <a:rPr sz="1400" b="1" i="0">
                          <a:solidFill>
                            <a:srgbClr val="FFFFFF"/>
                          </a:solidFill>
                          <a:latin typeface="Arial"/>
                        </a:rPr>
                        <a:t>Cost line</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PAYG</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PTU</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Hybrid</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Self-hosted GPU</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Model tokens or capacity</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Included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GPU VMs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and routing</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Storage and network</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Monitoring and logs</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Serving stack, licences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Patching and engineering</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n/a</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Operations staffing</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Resilience headroom</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429 risk</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Add</a:t>
                      </a:r>
                    </a:p>
                  </a:txBody>
                  <a:tcPr marL="73152" marR="73152" marT="36576" marB="36576" anchor="ctr">
                    <a:solidFill>
                      <a:srgbClr val="F5F5F2"/>
                    </a:solidFill>
                  </a:tcPr>
                </a:tc>
                <a:tc>
                  <a:txBody>
                    <a:bodyPr wrap="square" anchor="ctr">
                      <a:noAutofit/>
                    </a:bodyPr>
                    <a:lstStyle/>
                    <a:p>
                      <a:pPr algn="ctr"/>
                      <a:r>
                        <a:rPr sz="1500" b="1" i="0">
                          <a:solidFill>
                            <a:srgbClr val="8A4B08"/>
                          </a:solidFill>
                          <a:latin typeface="Arial"/>
                        </a:rPr>
                        <a:t>N+1 replicas</a:t>
                      </a:r>
                    </a:p>
                  </a:txBody>
                  <a:tcPr marL="73152" marR="73152" marT="36576" marB="36576" anchor="ctr">
                    <a:solidFill>
                      <a:srgbClr val="F5F5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architecture for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371600"/>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577339"/>
            <a:ext cx="411480" cy="411480"/>
          </a:xfrm>
          <a:prstGeom prst="rect">
            <a:avLst/>
          </a:prstGeom>
        </p:spPr>
      </p:pic>
      <p:sp>
        <p:nvSpPr>
          <p:cNvPr id="11" name="TextBox 10"/>
          <p:cNvSpPr txBox="1"/>
          <p:nvPr/>
        </p:nvSpPr>
        <p:spPr>
          <a:xfrm>
            <a:off x="1106424" y="1408176"/>
            <a:ext cx="1783080" cy="749808"/>
          </a:xfrm>
          <a:prstGeom prst="rect">
            <a:avLst/>
          </a:prstGeom>
          <a:noFill/>
        </p:spPr>
        <p:txBody>
          <a:bodyPr wrap="square" lIns="0" rIns="0" tIns="0" bIns="0" anchor="ctr">
            <a:noAutofit/>
          </a:bodyPr>
          <a:lstStyle/>
          <a:p>
            <a:pPr algn="l"/>
            <a:r>
              <a:rPr sz="1300" b="1" i="0">
                <a:solidFill>
                  <a:srgbClr val="000048"/>
                </a:solidFill>
                <a:latin typeface="Arial"/>
              </a:rPr>
              <a:t>Gateway</a:t>
            </a:r>
          </a:p>
          <a:p>
            <a:pPr algn="l"/>
            <a:r>
              <a:rPr sz="1200" b="0" i="0">
                <a:solidFill>
                  <a:srgbClr val="53565A"/>
                </a:solidFill>
                <a:latin typeface="Arial"/>
              </a:rPr>
              <a:t>token metrics per caller</a:t>
            </a:r>
          </a:p>
        </p:txBody>
      </p:sp>
      <p:sp>
        <p:nvSpPr>
          <p:cNvPr id="12" name="Oval 11"/>
          <p:cNvSpPr/>
          <p:nvPr/>
        </p:nvSpPr>
        <p:spPr>
          <a:xfrm>
            <a:off x="3017520" y="16459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13" name="Rounded Rectangle 12"/>
          <p:cNvSpPr/>
          <p:nvPr/>
        </p:nvSpPr>
        <p:spPr>
          <a:xfrm>
            <a:off x="548640" y="2395728"/>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Models" descr="Official Azure icon: Foundry Model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01468"/>
            <a:ext cx="411480" cy="411480"/>
          </a:xfrm>
          <a:prstGeom prst="rect">
            <a:avLst/>
          </a:prstGeom>
        </p:spPr>
      </p:pic>
      <p:sp>
        <p:nvSpPr>
          <p:cNvPr id="15" name="TextBox 14"/>
          <p:cNvSpPr txBox="1"/>
          <p:nvPr/>
        </p:nvSpPr>
        <p:spPr>
          <a:xfrm>
            <a:off x="1106424" y="2432304"/>
            <a:ext cx="1783080" cy="749808"/>
          </a:xfrm>
          <a:prstGeom prst="rect">
            <a:avLst/>
          </a:prstGeom>
          <a:noFill/>
        </p:spPr>
        <p:txBody>
          <a:bodyPr wrap="square" lIns="0" rIns="0" tIns="0" bIns="0" anchor="ctr">
            <a:noAutofit/>
          </a:bodyPr>
          <a:lstStyle/>
          <a:p>
            <a:pPr algn="l"/>
            <a:r>
              <a:rPr sz="1300" b="1" i="0">
                <a:solidFill>
                  <a:srgbClr val="000048"/>
                </a:solidFill>
                <a:latin typeface="Arial"/>
              </a:rPr>
              <a:t>Deployments</a:t>
            </a:r>
          </a:p>
          <a:p>
            <a:pPr algn="l"/>
            <a:r>
              <a:rPr sz="1200" b="0" i="0">
                <a:solidFill>
                  <a:srgbClr val="53565A"/>
                </a:solidFill>
                <a:latin typeface="Arial"/>
              </a:rPr>
              <a:t>tokens, utilisation, 429</a:t>
            </a:r>
          </a:p>
        </p:txBody>
      </p:sp>
      <p:sp>
        <p:nvSpPr>
          <p:cNvPr id="16" name="Oval 15"/>
          <p:cNvSpPr/>
          <p:nvPr/>
        </p:nvSpPr>
        <p:spPr>
          <a:xfrm>
            <a:off x="3017520" y="2670048"/>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17" name="Rounded Rectangle 16"/>
          <p:cNvSpPr/>
          <p:nvPr/>
        </p:nvSpPr>
        <p:spPr>
          <a:xfrm>
            <a:off x="548640" y="3419856"/>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st Management" descr="Official Azure icon: Cost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25596"/>
            <a:ext cx="411480" cy="411480"/>
          </a:xfrm>
          <a:prstGeom prst="rect">
            <a:avLst/>
          </a:prstGeom>
        </p:spPr>
      </p:pic>
      <p:sp>
        <p:nvSpPr>
          <p:cNvPr id="19" name="TextBox 18"/>
          <p:cNvSpPr txBox="1"/>
          <p:nvPr/>
        </p:nvSpPr>
        <p:spPr>
          <a:xfrm>
            <a:off x="1106424" y="3456432"/>
            <a:ext cx="1783080" cy="749808"/>
          </a:xfrm>
          <a:prstGeom prst="rect">
            <a:avLst/>
          </a:prstGeom>
          <a:noFill/>
        </p:spPr>
        <p:txBody>
          <a:bodyPr wrap="square" lIns="0" rIns="0" tIns="0" bIns="0" anchor="ctr">
            <a:noAutofit/>
          </a:bodyPr>
          <a:lstStyle/>
          <a:p>
            <a:pPr algn="l"/>
            <a:r>
              <a:rPr sz="1300" b="1" i="0">
                <a:solidFill>
                  <a:srgbClr val="000048"/>
                </a:solidFill>
                <a:latin typeface="Arial"/>
              </a:rPr>
              <a:t>Cost exports</a:t>
            </a:r>
          </a:p>
          <a:p>
            <a:pPr algn="l"/>
            <a:r>
              <a:rPr sz="1200" b="0" i="0">
                <a:solidFill>
                  <a:srgbClr val="53565A"/>
                </a:solidFill>
                <a:latin typeface="Arial"/>
              </a:rPr>
              <a:t>actual, amortised</a:t>
            </a:r>
          </a:p>
        </p:txBody>
      </p:sp>
      <p:sp>
        <p:nvSpPr>
          <p:cNvPr id="20" name="Oval 19"/>
          <p:cNvSpPr/>
          <p:nvPr/>
        </p:nvSpPr>
        <p:spPr>
          <a:xfrm>
            <a:off x="3017520" y="3694176"/>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21" name="Rounded Rectangle 20"/>
          <p:cNvSpPr/>
          <p:nvPr/>
        </p:nvSpPr>
        <p:spPr>
          <a:xfrm>
            <a:off x="548640" y="4443984"/>
            <a:ext cx="237744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Reservations" descr="Official Azure icon: Reservation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649724"/>
            <a:ext cx="411480" cy="411480"/>
          </a:xfrm>
          <a:prstGeom prst="rect">
            <a:avLst/>
          </a:prstGeom>
        </p:spPr>
      </p:pic>
      <p:sp>
        <p:nvSpPr>
          <p:cNvPr id="23" name="TextBox 22"/>
          <p:cNvSpPr txBox="1"/>
          <p:nvPr/>
        </p:nvSpPr>
        <p:spPr>
          <a:xfrm>
            <a:off x="1106424" y="4480560"/>
            <a:ext cx="1783080" cy="749808"/>
          </a:xfrm>
          <a:prstGeom prst="rect">
            <a:avLst/>
          </a:prstGeom>
          <a:noFill/>
        </p:spPr>
        <p:txBody>
          <a:bodyPr wrap="square" lIns="0" rIns="0" tIns="0" bIns="0" anchor="ctr">
            <a:noAutofit/>
          </a:bodyPr>
          <a:lstStyle/>
          <a:p>
            <a:pPr algn="l"/>
            <a:r>
              <a:rPr sz="1300" b="1" i="0">
                <a:solidFill>
                  <a:srgbClr val="000048"/>
                </a:solidFill>
                <a:latin typeface="Arial"/>
              </a:rPr>
              <a:t>Reservations</a:t>
            </a:r>
          </a:p>
          <a:p>
            <a:pPr algn="l"/>
            <a:r>
              <a:rPr sz="1200" b="0" i="0">
                <a:solidFill>
                  <a:srgbClr val="53565A"/>
                </a:solidFill>
                <a:latin typeface="Arial"/>
              </a:rPr>
              <a:t>coverage, utilisation</a:t>
            </a:r>
          </a:p>
        </p:txBody>
      </p:sp>
      <p:sp>
        <p:nvSpPr>
          <p:cNvPr id="24" name="Oval 23"/>
          <p:cNvSpPr/>
          <p:nvPr/>
        </p:nvSpPr>
        <p:spPr>
          <a:xfrm>
            <a:off x="3017520" y="4718304"/>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sp>
        <p:nvSpPr>
          <p:cNvPr id="25" name="Rounded Rectangle 24"/>
          <p:cNvSpPr/>
          <p:nvPr/>
        </p:nvSpPr>
        <p:spPr>
          <a:xfrm>
            <a:off x="4023360" y="1371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Application Insights" descr="Official Azure icon: Application Insigh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96512" y="1577339"/>
            <a:ext cx="411480" cy="411480"/>
          </a:xfrm>
          <a:prstGeom prst="rect">
            <a:avLst/>
          </a:prstGeom>
        </p:spPr>
      </p:pic>
      <p:sp>
        <p:nvSpPr>
          <p:cNvPr id="27" name="TextBox 26"/>
          <p:cNvSpPr txBox="1"/>
          <p:nvPr/>
        </p:nvSpPr>
        <p:spPr>
          <a:xfrm>
            <a:off x="4581144" y="1408176"/>
            <a:ext cx="1508760" cy="74980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200" b="0" i="0">
                <a:solidFill>
                  <a:srgbClr val="53565A"/>
                </a:solidFill>
                <a:latin typeface="Arial"/>
              </a:rPr>
              <a:t>custom metrics</a:t>
            </a:r>
          </a:p>
        </p:txBody>
      </p:sp>
      <p:sp>
        <p:nvSpPr>
          <p:cNvPr id="28" name="Rounded Rectangle 27"/>
          <p:cNvSpPr/>
          <p:nvPr/>
        </p:nvSpPr>
        <p:spPr>
          <a:xfrm>
            <a:off x="4023360" y="2514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9" name="Azure icon: Log Analytics workspace" descr="Official Azure icon: Log Analytics workspace"/>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96512" y="2720340"/>
            <a:ext cx="411480" cy="411480"/>
          </a:xfrm>
          <a:prstGeom prst="rect">
            <a:avLst/>
          </a:prstGeom>
        </p:spPr>
      </p:pic>
      <p:sp>
        <p:nvSpPr>
          <p:cNvPr id="30" name="TextBox 29"/>
          <p:cNvSpPr txBox="1"/>
          <p:nvPr/>
        </p:nvSpPr>
        <p:spPr>
          <a:xfrm>
            <a:off x="4581144" y="2551176"/>
            <a:ext cx="1508760" cy="74980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200" b="0" i="0">
                <a:solidFill>
                  <a:srgbClr val="53565A"/>
                </a:solidFill>
                <a:latin typeface="Arial"/>
              </a:rPr>
              <a:t>joined usage</a:t>
            </a:r>
          </a:p>
        </p:txBody>
      </p:sp>
      <p:sp>
        <p:nvSpPr>
          <p:cNvPr id="31" name="Rounded Rectangle 30"/>
          <p:cNvSpPr/>
          <p:nvPr/>
        </p:nvSpPr>
        <p:spPr>
          <a:xfrm>
            <a:off x="4023360" y="3657600"/>
            <a:ext cx="210312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2" name="Azure icon: Storage account" descr="Official Azure icon: Storage account"/>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96512" y="3863340"/>
            <a:ext cx="411480" cy="411480"/>
          </a:xfrm>
          <a:prstGeom prst="rect">
            <a:avLst/>
          </a:prstGeom>
        </p:spPr>
      </p:pic>
      <p:sp>
        <p:nvSpPr>
          <p:cNvPr id="33" name="TextBox 32"/>
          <p:cNvSpPr txBox="1"/>
          <p:nvPr/>
        </p:nvSpPr>
        <p:spPr>
          <a:xfrm>
            <a:off x="4581144" y="3694176"/>
            <a:ext cx="1508760" cy="749808"/>
          </a:xfrm>
          <a:prstGeom prst="rect">
            <a:avLst/>
          </a:prstGeom>
          <a:noFill/>
        </p:spPr>
        <p:txBody>
          <a:bodyPr wrap="square" lIns="0" rIns="0" tIns="0" bIns="0" anchor="ctr">
            <a:noAutofit/>
          </a:bodyPr>
          <a:lstStyle/>
          <a:p>
            <a:pPr algn="l"/>
            <a:r>
              <a:rPr sz="1300" b="1" i="0">
                <a:solidFill>
                  <a:srgbClr val="000048"/>
                </a:solidFill>
                <a:latin typeface="Arial"/>
              </a:rPr>
              <a:t>Storage account</a:t>
            </a:r>
          </a:p>
          <a:p>
            <a:pPr algn="l"/>
            <a:r>
              <a:rPr sz="1200" b="0" i="0">
                <a:solidFill>
                  <a:srgbClr val="53565A"/>
                </a:solidFill>
                <a:latin typeface="Arial"/>
              </a:rPr>
              <a:t>cost files</a:t>
            </a:r>
          </a:p>
        </p:txBody>
      </p:sp>
      <p:sp>
        <p:nvSpPr>
          <p:cNvPr id="34" name="Rounded Rectangle 33"/>
          <p:cNvSpPr/>
          <p:nvPr/>
        </p:nvSpPr>
        <p:spPr>
          <a:xfrm>
            <a:off x="6766560" y="2514600"/>
            <a:ext cx="219456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Function App" descr="Official Azure icon: Function App"/>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839712" y="2720340"/>
            <a:ext cx="411480" cy="411480"/>
          </a:xfrm>
          <a:prstGeom prst="rect">
            <a:avLst/>
          </a:prstGeom>
        </p:spPr>
      </p:pic>
      <p:sp>
        <p:nvSpPr>
          <p:cNvPr id="36" name="TextBox 35"/>
          <p:cNvSpPr txBox="1"/>
          <p:nvPr/>
        </p:nvSpPr>
        <p:spPr>
          <a:xfrm>
            <a:off x="73243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Cost model job</a:t>
            </a:r>
          </a:p>
          <a:p>
            <a:pPr algn="l"/>
            <a:r>
              <a:rPr sz="1200" b="0" i="0">
                <a:solidFill>
                  <a:srgbClr val="53565A"/>
                </a:solidFill>
                <a:latin typeface="Arial"/>
              </a:rPr>
              <a:t>price table x usage</a:t>
            </a:r>
          </a:p>
        </p:txBody>
      </p:sp>
      <p:sp>
        <p:nvSpPr>
          <p:cNvPr id="37" name="Oval 36"/>
          <p:cNvSpPr/>
          <p:nvPr/>
        </p:nvSpPr>
        <p:spPr>
          <a:xfrm>
            <a:off x="66294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sp>
        <p:nvSpPr>
          <p:cNvPr id="38" name="Rounded Rectangle 37"/>
          <p:cNvSpPr/>
          <p:nvPr/>
        </p:nvSpPr>
        <p:spPr>
          <a:xfrm>
            <a:off x="9509760" y="2514600"/>
            <a:ext cx="2194560" cy="822960"/>
          </a:xfrm>
          <a:prstGeom prst="roundRect">
            <a:avLst>
              <a:gd name="adj" fmla="val 8888"/>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9" name="Azure icon: Azure Workbooks" descr="Official Azure icon: Azure Workbook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582912" y="2720340"/>
            <a:ext cx="411480" cy="411480"/>
          </a:xfrm>
          <a:prstGeom prst="rect">
            <a:avLst/>
          </a:prstGeom>
        </p:spPr>
      </p:pic>
      <p:sp>
        <p:nvSpPr>
          <p:cNvPr id="40" name="TextBox 39"/>
          <p:cNvSpPr txBox="1"/>
          <p:nvPr/>
        </p:nvSpPr>
        <p:spPr>
          <a:xfrm>
            <a:off x="10067544" y="2551176"/>
            <a:ext cx="1600200" cy="749808"/>
          </a:xfrm>
          <a:prstGeom prst="rect">
            <a:avLst/>
          </a:prstGeom>
          <a:noFill/>
        </p:spPr>
        <p:txBody>
          <a:bodyPr wrap="square" lIns="0" rIns="0" tIns="0" bIns="0" anchor="ctr">
            <a:noAutofit/>
          </a:bodyPr>
          <a:lstStyle/>
          <a:p>
            <a:pPr algn="l"/>
            <a:r>
              <a:rPr sz="1300" b="1" i="0">
                <a:solidFill>
                  <a:srgbClr val="000048"/>
                </a:solidFill>
                <a:latin typeface="Arial"/>
              </a:rPr>
              <a:t>FinOps workbook</a:t>
            </a:r>
          </a:p>
          <a:p>
            <a:pPr algn="l"/>
            <a:r>
              <a:rPr sz="1200" b="0" i="0">
                <a:solidFill>
                  <a:srgbClr val="53565A"/>
                </a:solidFill>
                <a:latin typeface="Arial"/>
              </a:rPr>
              <a:t>unit cost, utilisation</a:t>
            </a:r>
          </a:p>
        </p:txBody>
      </p:sp>
      <p:sp>
        <p:nvSpPr>
          <p:cNvPr id="41" name="Oval 40"/>
          <p:cNvSpPr/>
          <p:nvPr/>
        </p:nvSpPr>
        <p:spPr>
          <a:xfrm>
            <a:off x="93726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cxnSp>
        <p:nvCxnSpPr>
          <p:cNvPr id="42" name="Connector (telemetry)"/>
          <p:cNvCxnSpPr/>
          <p:nvPr/>
        </p:nvCxnSpPr>
        <p:spPr>
          <a:xfrm>
            <a:off x="2926080" y="1783080"/>
            <a:ext cx="109728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telemetry)"/>
          <p:cNvCxnSpPr/>
          <p:nvPr/>
        </p:nvCxnSpPr>
        <p:spPr>
          <a:xfrm>
            <a:off x="2926080" y="2807208"/>
            <a:ext cx="1097280" cy="7315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telemetry)"/>
          <p:cNvCxnSpPr/>
          <p:nvPr/>
        </p:nvCxnSpPr>
        <p:spPr>
          <a:xfrm>
            <a:off x="2926080" y="3840480"/>
            <a:ext cx="1097280" cy="2286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2926080" y="4206240"/>
            <a:ext cx="109728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telemetry)"/>
          <p:cNvCxnSpPr/>
          <p:nvPr/>
        </p:nvCxnSpPr>
        <p:spPr>
          <a:xfrm>
            <a:off x="5074920" y="2194560"/>
            <a:ext cx="0" cy="32004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flow)"/>
          <p:cNvCxnSpPr/>
          <p:nvPr/>
        </p:nvCxnSpPr>
        <p:spPr>
          <a:xfrm>
            <a:off x="6126480" y="29260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flow)"/>
          <p:cNvCxnSpPr/>
          <p:nvPr/>
        </p:nvCxnSpPr>
        <p:spPr>
          <a:xfrm flipV="1">
            <a:off x="6126480" y="3154680"/>
            <a:ext cx="640080" cy="9144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flow)"/>
          <p:cNvCxnSpPr/>
          <p:nvPr/>
        </p:nvCxnSpPr>
        <p:spPr>
          <a:xfrm>
            <a:off x="8961120" y="2926080"/>
            <a:ext cx="548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24128" y="5486400"/>
            <a:ext cx="1783080"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2" name="Connector (telemetry)"/>
          <p:cNvCxnSpPr/>
          <p:nvPr/>
        </p:nvCxnSpPr>
        <p:spPr>
          <a:xfrm>
            <a:off x="2834640" y="560527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10128" y="5486400"/>
            <a:ext cx="1783080"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54" name="TextBox 53"/>
          <p:cNvSpPr txBox="1"/>
          <p:nvPr/>
        </p:nvSpPr>
        <p:spPr>
          <a:xfrm>
            <a:off x="5486400" y="5486400"/>
            <a:ext cx="6126480" cy="274320"/>
          </a:xfrm>
          <a:prstGeom prst="rect">
            <a:avLst/>
          </a:prstGeom>
          <a:noFill/>
        </p:spPr>
        <p:txBody>
          <a:bodyPr wrap="square" lIns="0" rIns="0" tIns="0" bIns="0" anchor="t">
            <a:noAutofit/>
          </a:bodyPr>
          <a:lstStyle/>
          <a:p>
            <a:pPr algn="r"/>
            <a:r>
              <a:rPr sz="1200" b="0" i="0">
                <a:solidFill>
                  <a:srgbClr val="7373D8"/>
                </a:solidFill>
                <a:latin typeface="Arial"/>
              </a:rPr>
              <a:t>Purple outline = custom build</a:t>
            </a:r>
          </a:p>
        </p:txBody>
      </p:sp>
      <p:sp>
        <p:nvSpPr>
          <p:cNvPr id="55" name="TextBox 54"/>
          <p:cNvSpPr txBox="1"/>
          <p:nvPr/>
        </p:nvSpPr>
        <p:spPr>
          <a:xfrm>
            <a:off x="548640" y="585216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Deployment type changes price and processing 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PARTLY CARRIED FROM v2"/>
          <p:cNvSpPr/>
          <p:nvPr/>
        </p:nvSpPr>
        <p:spPr>
          <a:xfrm>
            <a:off x="199644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PARTLY CARRIED FROM v2</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1737360"/>
        </p:xfrm>
        <a:graphic>
          <a:graphicData uri="http://schemas.openxmlformats.org/drawingml/2006/table">
            <a:tbl>
              <a:tblPr firstRow="1" bandRow="0">
                <a:tableStyleId>{5C22544A-7EE6-4342-B048-85BDC9FD1C3A}</a:tableStyleId>
              </a:tblPr>
              <a:tblGrid>
                <a:gridCol w="2377440"/>
                <a:gridCol w="3108960"/>
                <a:gridCol w="2377440"/>
                <a:gridCol w="3227832"/>
              </a:tblGrid>
              <a:tr h="5486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Input / cached / output per 1M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Provisioned per PTU-hour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Processing location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Global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$2.50 / $0.25 / $15.00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$2.75 / $0.275 / $16.50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$1.10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US or EU zone (gpt-5.4)</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Regional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Standard PAYG for gpt-5.4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Germany West Central, Sweden Central, UK South only</a:t>
                      </a:r>
                    </a:p>
                  </a:txBody>
                  <a:tcPr marL="73152" marR="73152" marT="36576" marB="36576" anchor="ctr">
                    <a:solidFill>
                      <a:srgbClr val="FFFFFF"/>
                    </a:solidFill>
                  </a:tcPr>
                </a:tc>
              </a:tr>
            </a:tbl>
          </a:graphicData>
        </a:graphic>
      </p:graphicFrame>
      <p:sp>
        <p:nvSpPr>
          <p:cNvPr id="10" name="Rounded Rectangle 9"/>
          <p:cNvSpPr/>
          <p:nvPr/>
        </p:nvSpPr>
        <p:spPr>
          <a:xfrm>
            <a:off x="548640" y="384048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Residency is a cost driver: Data Zone adds 10% on tokens; Regional provisioned is twice Global per PTU-hour.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Assessment deliverables and acceptance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Deliverable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Acceptance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Telemetry baseline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Usage by workload and token type for the agreed period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Workload profiles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Inputs in A2 completed or marked assumed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workload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Option models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Same cost boundary for all options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Sensitivity and break-even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Drivers and missing prices stated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FinOps lead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Decision memo</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Gates, owners and approvals listed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sponsor</a:t>
                      </a:r>
                    </a:p>
                  </a:txBody>
                  <a:tcPr marL="73152" marR="73152" marT="36576" marB="3657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Licence economics: agent licences are a new cost 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1" cy="3093719"/>
        </p:xfrm>
        <a:graphic>
          <a:graphicData uri="http://schemas.openxmlformats.org/drawingml/2006/table">
            <a:tbl>
              <a:tblPr firstRow="1" bandRow="0">
                <a:tableStyleId>{5C22544A-7EE6-4342-B048-85BDC9FD1C3A}</a:tableStyleId>
              </a:tblPr>
              <a:tblGrid>
                <a:gridCol w="2468880"/>
                <a:gridCol w="2834640"/>
                <a:gridCol w="1920240"/>
                <a:gridCol w="2286000"/>
                <a:gridCol w="1581911"/>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Unit and list price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Billed through</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What we check</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Source status</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$15 per user per month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Users who need agent governance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GA</a:t>
                      </a:r>
                    </a:p>
                  </a:txBody>
                  <a:tcPr marL="73152" marR="73152" marT="36576" marB="36576" anchor="ctr">
                    <a:solidFill>
                      <a:srgbClr val="FFFFFF"/>
                    </a:solidFill>
                  </a:tcPr>
                </a:tc>
              </a:tr>
              <a:tr h="731519">
                <a:tc>
                  <a:txBody>
                    <a:bodyPr wrap="square" anchor="ctr">
                      <a:noAutofit/>
                    </a:bodyPr>
                    <a:lstStyle/>
                    <a:p>
                      <a:pPr algn="l"/>
                      <a:r>
                        <a:rPr sz="1400" b="1" i="0">
                          <a:solidFill>
                            <a:srgbClr val="1E1E2E"/>
                          </a:solidFill>
                          <a:latin typeface="Arial"/>
                        </a:rPr>
                        <a:t>Microsoft 365 E7</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About $99 per user per month; includes Agent 365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Whether already owned or planned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Contents: Microsoft Learn; price: third party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Copilot Studio credits (PAYG)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$0.01 per credit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Azure 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Credits per agent run, monthly trend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licensing guide</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capacity pack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$200 per 25,000 credits per month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Licence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Pack versus PAYG break-even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licensing guide</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Microsoft 365 Copilot seats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modelled here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Microsoft 365 licence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Owned by M365 and D365 teams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Handoff</a:t>
                      </a:r>
                    </a:p>
                  </a:txBody>
                  <a:tcPr marL="73152" marR="73152" marT="36576" marB="36576" anchor="ctr">
                    <a:solidFill>
                      <a:srgbClr val="FFFFFF"/>
                    </a:solidFill>
                  </a:tcPr>
                </a:tc>
              </a:tr>
            </a:tbl>
          </a:graphicData>
        </a:graphic>
      </p:graphicFrame>
      <p:sp>
        <p:nvSpPr>
          <p:cNvPr id="10" name="Rounded Rectangle 9"/>
          <p:cNvSpPr/>
          <p:nvPr/>
        </p:nvSpPr>
        <p:spPr>
          <a:xfrm>
            <a:off x="548640" y="4343400"/>
            <a:ext cx="11091672" cy="868680"/>
          </a:xfrm>
          <a:prstGeom prst="roundRect">
            <a:avLst>
              <a:gd name="adj" fmla="val 842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Example check (arithmetic only): </a:t>
            </a:r>
            <a:r>
              <a:rPr sz="1700" b="0" i="0">
                <a:solidFill>
                  <a:srgbClr val="1E1E2E"/>
                </a:solidFill>
                <a:latin typeface="Arial"/>
              </a:rPr>
              <a:t>a capacity pack beats PAYG credits when monthly use exceeds 20,000 credits ($200 ÷ $0.01).</a:t>
            </a:r>
          </a:p>
        </p:txBody>
      </p:sp>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Licence prices change and vary by agreement. Use the customer agreement; we give no licensing advice.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FinOps operating model for AI spend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Weekly</a:t>
            </a:r>
          </a:p>
          <a:p>
            <a:pPr algn="l"/>
            <a:r>
              <a:rPr sz="1500" b="0" i="0">
                <a:solidFill>
                  <a:srgbClr val="26EFE9"/>
                </a:solidFill>
                <a:latin typeface="Arial"/>
              </a:rPr>
              <a:t>Anomalies</a:t>
            </a:r>
          </a:p>
        </p:txBody>
      </p:sp>
      <p:sp>
        <p:nvSpPr>
          <p:cNvPr id="10" name="Rounded Rectangle 9"/>
          <p:cNvSpPr/>
          <p:nvPr/>
        </p:nvSpPr>
        <p:spPr>
          <a:xfrm>
            <a:off x="548640"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Spend spikes by agent</a:t>
            </a:r>
          </a:p>
          <a:p>
            <a:pPr algn="l" marL="201168" indent="-201168">
              <a:spcAft>
                <a:spcPts val="600"/>
              </a:spcAft>
              <a:buFont typeface="Arial"/>
              <a:buChar char="•"/>
            </a:pPr>
            <a:r>
              <a:rPr sz="1700" b="0" i="0">
                <a:solidFill>
                  <a:srgbClr val="1E1E2E"/>
                </a:solidFill>
                <a:latin typeface="Arial"/>
              </a:rPr>
              <a:t>Overflow above plan</a:t>
            </a:r>
          </a:p>
          <a:p>
            <a:pPr algn="l" marL="201168" indent="-201168">
              <a:spcAft>
                <a:spcPts val="600"/>
              </a:spcAft>
              <a:buFont typeface="Arial"/>
              <a:buChar char="•"/>
            </a:pPr>
            <a:r>
              <a:rPr sz="1700" b="0" i="0">
                <a:solidFill>
                  <a:srgbClr val="1E1E2E"/>
                </a:solidFill>
                <a:latin typeface="Arial"/>
              </a:rPr>
              <a:t>429 throttling trend</a:t>
            </a:r>
          </a:p>
        </p:txBody>
      </p:sp>
      <p:sp>
        <p:nvSpPr>
          <p:cNvPr id="11" name="Rounded Rectangle 10"/>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Monthly</a:t>
            </a:r>
          </a:p>
          <a:p>
            <a:pPr algn="l"/>
            <a:r>
              <a:rPr sz="1500" b="0" i="0">
                <a:solidFill>
                  <a:srgbClr val="26EFE9"/>
                </a:solidFill>
                <a:latin typeface="Arial"/>
              </a:rPr>
              <a:t>Unit cost and utilisation</a:t>
            </a:r>
          </a:p>
        </p:txBody>
      </p:sp>
      <p:sp>
        <p:nvSpPr>
          <p:cNvPr id="12" name="Rounded Rectangle 11"/>
          <p:cNvSpPr/>
          <p:nvPr/>
        </p:nvSpPr>
        <p:spPr>
          <a:xfrm>
            <a:off x="4297679"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Cost per useful task</a:t>
            </a:r>
          </a:p>
          <a:p>
            <a:pPr algn="l" marL="201168" indent="-201168">
              <a:spcAft>
                <a:spcPts val="600"/>
              </a:spcAft>
              <a:buFont typeface="Arial"/>
              <a:buChar char="•"/>
            </a:pPr>
            <a:r>
              <a:rPr sz="1700" b="0" i="0">
                <a:solidFill>
                  <a:srgbClr val="1E1E2E"/>
                </a:solidFill>
                <a:latin typeface="Arial"/>
              </a:rPr>
              <a:t>PTU coverage and utilisation</a:t>
            </a:r>
          </a:p>
          <a:p>
            <a:pPr algn="l" marL="201168" indent="-201168">
              <a:spcAft>
                <a:spcPts val="600"/>
              </a:spcAft>
              <a:buFont typeface="Arial"/>
              <a:buChar char="•"/>
            </a:pPr>
            <a:r>
              <a:rPr sz="1700" b="0" i="0">
                <a:solidFill>
                  <a:srgbClr val="1E1E2E"/>
                </a:solidFill>
                <a:latin typeface="Arial"/>
              </a:rPr>
              <a:t>Showback by team</a:t>
            </a:r>
          </a:p>
        </p:txBody>
      </p:sp>
      <p:sp>
        <p:nvSpPr>
          <p:cNvPr id="13" name="Rounded Rectangle 12"/>
          <p:cNvSpPr/>
          <p:nvPr/>
        </p:nvSpPr>
        <p:spPr>
          <a:xfrm>
            <a:off x="804671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Quarterly</a:t>
            </a:r>
          </a:p>
          <a:p>
            <a:pPr algn="l"/>
            <a:r>
              <a:rPr sz="1500" b="0" i="0">
                <a:solidFill>
                  <a:srgbClr val="26EFE9"/>
                </a:solidFill>
                <a:latin typeface="Arial"/>
              </a:rPr>
              <a:t>Commitments and lifecycle</a:t>
            </a:r>
          </a:p>
        </p:txBody>
      </p:sp>
      <p:sp>
        <p:nvSpPr>
          <p:cNvPr id="14" name="Rounded Rectangle 13"/>
          <p:cNvSpPr/>
          <p:nvPr/>
        </p:nvSpPr>
        <p:spPr>
          <a:xfrm>
            <a:off x="8046719" y="2331720"/>
            <a:ext cx="3593592" cy="1828800"/>
          </a:xfrm>
          <a:prstGeom prst="roundRect">
            <a:avLst>
              <a:gd name="adj" fmla="val 4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600"/>
              </a:spcAft>
              <a:buFont typeface="Arial"/>
              <a:buChar char="•"/>
            </a:pPr>
            <a:r>
              <a:rPr sz="1700" b="0" i="0">
                <a:solidFill>
                  <a:srgbClr val="1E1E2E"/>
                </a:solidFill>
                <a:latin typeface="Arial"/>
              </a:rPr>
              <a:t>Reservation renewals</a:t>
            </a:r>
          </a:p>
          <a:p>
            <a:pPr algn="l" marL="201168" indent="-201168">
              <a:spcAft>
                <a:spcPts val="600"/>
              </a:spcAft>
              <a:buFont typeface="Arial"/>
              <a:buChar char="•"/>
            </a:pPr>
            <a:r>
              <a:rPr sz="1700" b="0" i="0">
                <a:solidFill>
                  <a:srgbClr val="1E1E2E"/>
                </a:solidFill>
                <a:latin typeface="Arial"/>
              </a:rPr>
              <a:t>Model retirement dates</a:t>
            </a:r>
          </a:p>
          <a:p>
            <a:pPr algn="l" marL="201168" indent="-201168">
              <a:spcAft>
                <a:spcPts val="600"/>
              </a:spcAft>
              <a:buFont typeface="Arial"/>
              <a:buChar char="•"/>
            </a:pPr>
            <a:r>
              <a:rPr sz="1700" b="0" i="0">
                <a:solidFill>
                  <a:srgbClr val="1E1E2E"/>
                </a:solidFill>
                <a:latin typeface="Arial"/>
              </a:rPr>
              <a:t>Licence true-up</a:t>
            </a:r>
          </a:p>
        </p:txBody>
      </p:sp>
      <p:graphicFrame>
        <p:nvGraphicFramePr>
          <p:cNvPr id="15" name="Table"/>
          <p:cNvGraphicFramePr>
            <a:graphicFrameLocks noGrp="1"/>
          </p:cNvGraphicFramePr>
          <p:nvPr/>
        </p:nvGraphicFramePr>
        <p:xfrm>
          <a:off x="548640" y="4343400"/>
          <a:ext cx="11091672" cy="126492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Azure cost, FOCUS format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Cost Management exports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Tokens by caller and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token metrics (offering 03)</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Utilisation and 429s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Foundry deployment metrics</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Funded discovery and our paid assessment work together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PF1</a:t>
            </a:r>
          </a:p>
        </p:txBody>
      </p:sp>
      <p:sp>
        <p:nvSpPr>
          <p:cNvPr id="5" name="Status chip: ALLIANCE TEAM TO CONFIRM"/>
          <p:cNvSpPr/>
          <p:nvPr/>
        </p:nvSpPr>
        <p:spPr>
          <a:xfrm>
            <a:off x="1996440" y="274320"/>
            <a:ext cx="23469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ALLIANCE TEAM TO CONFIRM</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11091672" cy="2057400"/>
        </p:xfrm>
        <a:graphic>
          <a:graphicData uri="http://schemas.openxmlformats.org/drawingml/2006/table">
            <a:tbl>
              <a:tblPr firstRow="1" bandRow="0">
                <a:tableStyleId>{5C22544A-7EE6-4342-B048-85BDC9FD1C3A}</a:tableStyleId>
              </a:tblPr>
              <a:tblGrid>
                <a:gridCol w="3291840"/>
                <a:gridCol w="4754880"/>
                <a:gridCol w="3044952"/>
              </a:tblGrid>
              <a:tr h="320040">
                <a:tc>
                  <a:txBody>
                    <a:bodyPr wrap="square" anchor="ctr">
                      <a:noAutofit/>
                    </a:bodyPr>
                    <a:lstStyle/>
                    <a:p>
                      <a:pPr algn="l"/>
                      <a:r>
                        <a:rPr sz="1500" b="1" i="0">
                          <a:solidFill>
                            <a:srgbClr val="FFFFFF"/>
                          </a:solidFill>
                          <a:latin typeface="Arial"/>
                        </a:rPr>
                        <a:t>Situation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we do</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Who pays</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Customer eligible for Microsoft funding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Funded discovery first, then our decision memo on measured data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Microsoft (discovery), customer (assessment)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Customer not eligible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Paid assessment with scope sized to the decision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Earlier assessment exists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Reuse findings; smaller scope and fee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Large commitment pending (PTU, E7)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Benchmark add-on before the decision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a:t>
                      </a:r>
                    </a:p>
                  </a:txBody>
                  <a:tcPr marL="73152" marR="73152" marT="36576" marB="36576" anchor="ctr">
                    <a:solidFill>
                      <a:srgbClr val="F5F5F2"/>
                    </a:solidFill>
                  </a:tcPr>
                </a:tc>
              </a:tr>
            </a:tbl>
          </a:graphicData>
        </a:graphic>
      </p:graphicFrame>
      <p:sp>
        <p:nvSpPr>
          <p:cNvPr id="10" name="Rounded Rectangle 9"/>
          <p:cNvSpPr/>
          <p:nvPr/>
        </p:nvSpPr>
        <p:spPr>
          <a:xfrm>
            <a:off x="548640" y="51206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Funding eligibility is per customer and confirmed by the alliance team. No funding is assumed in any price.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6035039" cy="368808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residency 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UK or Middle East in-country need checked (deck 01)</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Regulated bank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risk and DORA position known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Measured traffic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Telemetry or a defined load test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Price inputs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Agreement prices available to us</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2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14+ with no zero on funding, authority, sponsor or residency. Otherwise sell the assessment.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1356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exists, two workloads,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telemetry, six workloads, three regions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Benchmark add-on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model, PTU benchmark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models and a GPU serving benchmark</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FinOps operating model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Showback by product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Chargeback by team and agent with FOCUS reconciliation</a:t>
                      </a:r>
                    </a:p>
                  </a:txBody>
                  <a:tcPr marL="73152" marR="73152" marT="36576" marB="36576" anchor="ctr">
                    <a:solidFill>
                      <a:srgbClr val="FFFFFF"/>
                    </a:solidFill>
                  </a:tcPr>
                </a:tc>
              </a:tr>
            </a:tbl>
          </a:graphicData>
        </a:graphic>
      </p:graphicFrame>
      <p:sp>
        <p:nvSpPr>
          <p:cNvPr id="10" name="Rounded Rectangle 9"/>
          <p:cNvSpPr/>
          <p:nvPr/>
        </p:nvSpPr>
        <p:spPr>
          <a:xfrm>
            <a:off x="548640" y="2910840"/>
            <a:ext cx="11091672" cy="1097280"/>
          </a:xfrm>
          <a:prstGeom prst="roundRect">
            <a:avLst>
              <a:gd name="adj" fmla="val 6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300"/>
              </a:spcAft>
            </a:pPr>
            <a:r>
              <a:rPr sz="1400" b="1" i="0">
                <a:solidFill>
                  <a:srgbClr val="000048"/>
                </a:solidFill>
                <a:latin typeface="Arial"/>
              </a:rPr>
              <a:t>Basis and recalibration plan</a:t>
            </a:r>
          </a:p>
          <a:p>
            <a:pPr algn="l"/>
            <a:r>
              <a:rPr sz="1400" b="0" i="0">
                <a:solidFill>
                  <a:srgbClr val="1E1E2E"/>
                </a:solidFill>
                <a:latin typeface="Arial"/>
              </a:rPr>
              <a:t>Basis: bottom-up author estimate. Assessment = 2 weeks of telemetry set-up and capture, workload profiling, cost model, sensitivity, memo and readout. Recalibrate after every pilot: record actual role days per package, compare with the band, and reset bands each quarter. Owner: integrated service owner with Finance.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330708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 quotas, budgets, anomaly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Cost data exposure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Spend data reveals business plans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Role-based access to exports and reports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Telemetry with personal data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Prompts captured in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Log token counts, not content; redaction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Unapproved model spend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Shadow deployments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Policy on deployment types, tag rules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Unvetted cost tool with broad read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 Cost Management exports; read-only roles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Agent identity misuse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Shared key hides which agent spends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Per-agent identity and token metrics (03)</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MCP tool trust boundary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Unapproved tool calls add hidden cost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Gateway-only tool routing (03); per-tool metrics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Regulation: who holds which duty, and where we help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10" name="Table"/>
          <p:cNvGraphicFramePr>
            <a:graphicFrameLocks noGrp="1"/>
          </p:cNvGraphicFramePr>
          <p:nvPr/>
        </p:nvGraphicFramePr>
        <p:xfrm>
          <a:off x="548640" y="1325880"/>
          <a:ext cx="11091672" cy="1280160"/>
        </p:xfrm>
        <a:graphic>
          <a:graphicData uri="http://schemas.openxmlformats.org/drawingml/2006/table">
            <a:tbl>
              <a:tblPr firstRow="1" bandRow="0">
                <a:tableStyleId>{5C22544A-7EE6-4342-B048-85BDC9FD1C3A}</a:tableStyleId>
              </a:tblPr>
              <a:tblGrid>
                <a:gridCol w="2377440"/>
                <a:gridCol w="3840480"/>
                <a:gridCol w="4873752"/>
              </a:tblGrid>
              <a:tr h="274320">
                <a:tc>
                  <a:txBody>
                    <a:bodyPr wrap="square" anchor="ctr">
                      <a:noAutofit/>
                    </a:bodyPr>
                    <a:lstStyle/>
                    <a:p>
                      <a:pPr algn="l"/>
                      <a:r>
                        <a:rPr sz="1200" b="1" i="0">
                          <a:solidFill>
                            <a:srgbClr val="FFFFFF"/>
                          </a:solidFill>
                          <a:latin typeface="Arial"/>
                        </a:rPr>
                        <a:t>Party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Likely EU AI Act role (indicative)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What this offering supports</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Customer deploying AI systems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Deployer (usually)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 and capacity records (limited AI Act relevance)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Customer building its own AI system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Provider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Resource and cost documentation inputs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Cognizant 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Usually neither: infrastructure service provider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stated in the contract; Legal confirms</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2788920"/>
          <a:ext cx="11091672" cy="2560320"/>
        </p:xfrm>
        <a:graphic>
          <a:graphicData uri="http://schemas.openxmlformats.org/drawingml/2006/table">
            <a:tbl>
              <a:tblPr firstRow="1" bandRow="0">
                <a:tableStyleId>{5C22544A-7EE6-4342-B048-85BDC9FD1C3A}</a:tableStyleId>
              </a:tblPr>
              <a:tblGrid>
                <a:gridCol w="1828800"/>
                <a:gridCol w="5486400"/>
                <a:gridCol w="3776472"/>
              </a:tblGrid>
              <a:tr h="274320">
                <a:tc>
                  <a:txBody>
                    <a:bodyPr wrap="square" anchor="ctr">
                      <a:noAutofit/>
                    </a:bodyPr>
                    <a:lstStyle/>
                    <a:p>
                      <a:pPr algn="l"/>
                      <a:r>
                        <a:rPr sz="1200" b="1" i="0">
                          <a:solidFill>
                            <a:srgbClr val="FFFFFF"/>
                          </a:solidFill>
                          <a:latin typeface="Arial"/>
                        </a:rPr>
                        <a:t>Area</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 AI Act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Annex III high-risk duties from 2 Dec 2027; Annex I from 2 Aug 2028</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Third-party summary (Orrick); EUR-Lex not verified</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EU DORA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ICT risk and ICT third-party contract terms for financial 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Applies from 17 Jan 2025 (EUR-Lex)</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EU 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Cyber risk management for essential and important entities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National laws; deadline 17 Oct 2024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Regulator-led AI principles;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re-verified: confirm current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Federal Decree-Law 45 of 2021 (personal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Executive regulations: verify status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Saudi Arabia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PDPL (enforceable Sep 2024); NCA cloud controls CCC-1:2020</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Third-party summary; verify transfer rules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US banks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Interagency model risk guidance (17 Apr 2026) replaced SR 11-7</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Generative and agentic AI out of scope; governance still expected</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3593592" cy="44805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Agent-to-agent protocol for agents calling other agents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registry for APIs and MCP servers; decides which tools exist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API Management; the gateway that controls traffic</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processing inside a Microsoft data zone (US, EU or APAC)</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DORA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Digital Operational Resilience Act for financial entities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FOCUS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FinOps Open Cost and Usage Specification for cost data exports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4297679" y="1325880"/>
          <a:ext cx="3593592" cy="374904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Foundry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Foundry: Azure platform for models and agents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FTE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Full-time equivalent person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Model Context Protocol: standard way for agents to call tools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MRM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risk management (banking supervision)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directive on cybersecurity for essential sectors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 as you go: pay per token used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PDPL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 (Saudi Arabia, UAE)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Privileged Identity Management: just-in-time admin access</a:t>
                      </a:r>
                    </a:p>
                  </a:txBody>
                  <a:tcPr marL="73152" marR="73152" marT="36576" marB="36576" anchor="ctr">
                    <a:solidFill>
                      <a:srgbClr val="F5F5F2"/>
                    </a:solidFill>
                  </a:tcPr>
                </a:tc>
              </a:tr>
            </a:tbl>
          </a:graphicData>
        </a:graphic>
      </p:graphicFrame>
      <p:graphicFrame>
        <p:nvGraphicFramePr>
          <p:cNvPr id="11" name="Table"/>
          <p:cNvGraphicFramePr>
            <a:graphicFrameLocks noGrp="1"/>
          </p:cNvGraphicFramePr>
          <p:nvPr/>
        </p:nvGraphicFramePr>
        <p:xfrm>
          <a:off x="8046719" y="1325880"/>
          <a:ext cx="3593592" cy="31089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Provisioned throughput unit: reserved model capacity, billed per hour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RACI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Responsible, Accountable, Consulted, Informed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RFP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for proposal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Recovery time objective / recovery point objective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Statement of work</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 of text a model reads or writes; the main pricing unit</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per minute</a:t>
                      </a:r>
                    </a:p>
                  </a:txBody>
                  <a:tcPr marL="73152" marR="73152" marT="36576" marB="36576" anchor="ctr">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Per-agent token budgets that cap runaway cost while containment acts</a:t>
            </a:r>
          </a:p>
          <a:p>
            <a:pPr algn="l" marL="201168" indent="-201168">
              <a:spcAft>
                <a:spcPts val="600"/>
              </a:spcAft>
              <a:buFont typeface="Arial"/>
              <a:buChar char="•"/>
            </a:pPr>
            <a:r>
              <a:rPr sz="1800" b="0" i="0">
                <a:solidFill>
                  <a:srgbClr val="1E1E2E"/>
                </a:solidFill>
                <a:latin typeface="Arial"/>
              </a:rPr>
              <a:t>Loop and retry amplification measured, so containment tests include cost impact</a:t>
            </a:r>
          </a:p>
          <a:p>
            <a:pPr algn="l" marL="201168" indent="-201168">
              <a:spcAft>
                <a:spcPts val="600"/>
              </a:spcAft>
              <a:buFont typeface="Arial"/>
              <a:buChar char="•"/>
            </a:pPr>
            <a:r>
              <a:rPr sz="1800" b="0" i="0">
                <a:solidFill>
                  <a:srgbClr val="1E1E2E"/>
                </a:solidFill>
                <a:latin typeface="Arial"/>
              </a:rPr>
              <a:t>Overflow alerts that flag abnormal agent usage early</a:t>
            </a:r>
          </a:p>
          <a:p>
            <a:pPr algn="l" marL="201168" indent="-201168">
              <a:spcAft>
                <a:spcPts val="600"/>
              </a:spcAft>
              <a:buFont typeface="Arial"/>
              <a:buChar char="•"/>
            </a:pPr>
            <a:r>
              <a:rPr sz="1800" b="0" i="0">
                <a:solidFill>
                  <a:srgbClr val="1E1E2E"/>
                </a:solidFill>
                <a:latin typeface="Arial"/>
              </a:rPr>
              <a:t>Full architecture: decks 02 and 05</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and the design is unproven until the PoC passes. Deck 02 builds it; deck 05 operates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delivers it, and what sellers need before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DP1</a:t>
            </a:r>
          </a:p>
        </p:txBody>
      </p:sp>
      <p:sp>
        <p:nvSpPr>
          <p:cNvPr id="5" name="Status chip: INPUT REQUIRED"/>
          <p:cNvSpPr/>
          <p:nvPr/>
        </p:nvSpPr>
        <p:spPr>
          <a:xfrm>
            <a:off x="199644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1828800"/>
        </p:xfrm>
        <a:graphic>
          <a:graphicData uri="http://schemas.openxmlformats.org/drawingml/2006/table">
            <a:tbl>
              <a:tblPr firstRow="1" bandRow="0">
                <a:tableStyleId>{5C22544A-7EE6-4342-B048-85BDC9FD1C3A}</a:tableStyleId>
              </a:tblPr>
              <a:tblGrid>
                <a:gridCol w="2011680"/>
                <a:gridCol w="3657600"/>
                <a:gridCol w="2468880"/>
                <a:gridCol w="1188720"/>
                <a:gridCol w="1764792"/>
              </a:tblGrid>
              <a:tr h="457200">
                <a:tc>
                  <a:txBody>
                    <a:bodyPr wrap="square" anchor="ctr">
                      <a:noAutofit/>
                    </a:bodyPr>
                    <a:lstStyle/>
                    <a:p>
                      <a:pPr algn="l"/>
                      <a:r>
                        <a:rPr sz="1200" b="1" i="0">
                          <a:solidFill>
                            <a:srgbClr val="FFFFFF"/>
                          </a:solidFill>
                          <a:latin typeface="Arial"/>
                        </a:rPr>
                        <a:t>Role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Skills needed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Certification (verify current)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Ramp-up (estimate)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Bench now</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FinOps analyst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 Management, FOCUS exports, showback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FinOps Certified Practitioner (FinOps Foundation)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Azure AI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PTU sizing, benchmarks, deployment types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AI Engineer Associate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Data analyst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KQL, workbooks, cost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None required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bl>
          </a:graphicData>
        </a:graphic>
      </p:graphicFrame>
      <p:graphicFrame>
        <p:nvGraphicFramePr>
          <p:cNvPr id="10" name="Table"/>
          <p:cNvGraphicFramePr>
            <a:graphicFrameLocks noGrp="1"/>
          </p:cNvGraphicFramePr>
          <p:nvPr/>
        </p:nvGraphicFramePr>
        <p:xfrm>
          <a:off x="548640" y="3337560"/>
          <a:ext cx="11091672" cy="1920240"/>
        </p:xfrm>
        <a:graphic>
          <a:graphicData uri="http://schemas.openxmlformats.org/drawingml/2006/table">
            <a:tbl>
              <a:tblPr firstRow="1" bandRow="0">
                <a:tableStyleId>{5C22544A-7EE6-4342-B048-85BDC9FD1C3A}</a:tableStyleId>
              </a:tblPr>
              <a:tblGrid>
                <a:gridCol w="5120640"/>
                <a:gridCol w="2377440"/>
                <a:gridCol w="3593592"/>
              </a:tblGrid>
              <a:tr h="274320">
                <a:tc>
                  <a:txBody>
                    <a:bodyPr wrap="square" anchor="ctr">
                      <a:noAutofit/>
                    </a:bodyPr>
                    <a:lstStyle/>
                    <a:p>
                      <a:pPr algn="l"/>
                      <a:r>
                        <a:rPr sz="1200" b="1" i="0">
                          <a:solidFill>
                            <a:srgbClr val="FFFFFF"/>
                          </a:solidFill>
                          <a:latin typeface="Arial"/>
                        </a:rPr>
                        <a:t>Presales kit 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Executive deck, talk tracks, customer pitch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Exists (v4.0 draft)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Demo environment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lab owner (input required)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 template and estimator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Presales lead with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RFP answer bank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Draft exists (register)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Presales lead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Case study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first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Account team</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Cost model workbook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Offering owner 04</a:t>
                      </a:r>
                    </a:p>
                  </a:txBody>
                  <a:tcPr marL="73152" marR="73152" marT="36576" marB="36576" anchor="ctr">
                    <a:solidFill>
                      <a:srgbClr val="F5F5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account teams use it, and the contract risks to manage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AC1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sp>
        <p:nvSpPr>
          <p:cNvPr id="9" name="Rounded Rectangle 8"/>
          <p:cNvSpPr/>
          <p:nvPr/>
        </p:nvSpPr>
        <p:spPr>
          <a:xfrm>
            <a:off x="548640"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Fits in the account plan</a:t>
            </a:r>
          </a:p>
          <a:p>
            <a:pPr algn="l"/>
            <a:r>
              <a:rPr sz="1400" b="0" i="0">
                <a:solidFill>
                  <a:srgbClr val="1E1E2E"/>
                </a:solidFill>
                <a:latin typeface="Arial"/>
              </a:rPr>
              <a:t>FinOps or cloud cost programme; renewal or PTU decision due.</a:t>
            </a:r>
          </a:p>
        </p:txBody>
      </p:sp>
      <p:sp>
        <p:nvSpPr>
          <p:cNvPr id="10" name="Rounded Rectangle 9"/>
          <p:cNvSpPr/>
          <p:nvPr/>
        </p:nvSpPr>
        <p:spPr>
          <a:xfrm>
            <a:off x="3355848"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First deal (illustrative)</a:t>
            </a:r>
          </a:p>
          <a:p>
            <a:pPr algn="l"/>
            <a:r>
              <a:rPr sz="1400" b="0" i="0">
                <a:solidFill>
                  <a:srgbClr val="1E1E2E"/>
                </a:solidFill>
                <a:latin typeface="Arial"/>
              </a:rPr>
              <a:t>$20k to $40k assessment.</a:t>
            </a:r>
          </a:p>
        </p:txBody>
      </p:sp>
      <p:sp>
        <p:nvSpPr>
          <p:cNvPr id="11" name="Rounded Rectangle 10"/>
          <p:cNvSpPr/>
          <p:nvPr/>
        </p:nvSpPr>
        <p:spPr>
          <a:xfrm>
            <a:off x="6163055"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Expansion path</a:t>
            </a:r>
          </a:p>
          <a:p>
            <a:pPr algn="l"/>
            <a:r>
              <a:rPr sz="1400" b="0" i="0">
                <a:solidFill>
                  <a:srgbClr val="1E1E2E"/>
                </a:solidFill>
                <a:latin typeface="Arial"/>
              </a:rPr>
              <a:t>Benchmark, FinOps operating model, then 01, 03 and 05.</a:t>
            </a:r>
          </a:p>
        </p:txBody>
      </p:sp>
      <p:sp>
        <p:nvSpPr>
          <p:cNvPr id="12" name="Rounded Rectangle 11"/>
          <p:cNvSpPr/>
          <p:nvPr/>
        </p:nvSpPr>
        <p:spPr>
          <a:xfrm>
            <a:off x="8970263"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Business-led entry</a:t>
            </a:r>
          </a:p>
          <a:p>
            <a:pPr algn="l"/>
            <a:r>
              <a:rPr sz="1400" b="0" i="0">
                <a:solidFill>
                  <a:srgbClr val="1E1E2E"/>
                </a:solidFill>
                <a:latin typeface="Arial"/>
              </a:rPr>
              <a:t>CFO: cost per useful AI task and a clear buying decision.</a:t>
            </a:r>
          </a:p>
        </p:txBody>
      </p:sp>
      <p:graphicFrame>
        <p:nvGraphicFramePr>
          <p:cNvPr id="13" name="Table"/>
          <p:cNvGraphicFramePr>
            <a:graphicFrameLocks noGrp="1"/>
          </p:cNvGraphicFramePr>
          <p:nvPr/>
        </p:nvGraphicFramePr>
        <p:xfrm>
          <a:off x="548640" y="3383280"/>
          <a:ext cx="11091672" cy="1828800"/>
        </p:xfrm>
        <a:graphic>
          <a:graphicData uri="http://schemas.openxmlformats.org/drawingml/2006/table">
            <a:tbl>
              <a:tblPr firstRow="1" bandRow="0">
                <a:tableStyleId>{5C22544A-7EE6-4342-B048-85BDC9FD1C3A}</a:tableStyleId>
              </a:tblPr>
              <a:tblGrid>
                <a:gridCol w="2377440"/>
                <a:gridCol w="6400800"/>
                <a:gridCol w="2313432"/>
              </a:tblGrid>
              <a:tr h="274320">
                <a:tc>
                  <a:txBody>
                    <a:bodyPr wrap="square" anchor="ctr">
                      <a:noAutofit/>
                    </a:bodyPr>
                    <a:lstStyle/>
                    <a:p>
                      <a:pPr algn="l"/>
                      <a:r>
                        <a:rPr sz="1200" b="1" i="0">
                          <a:solidFill>
                            <a:srgbClr val="FFFFFF"/>
                          </a:solidFill>
                          <a:latin typeface="Arial"/>
                        </a:rPr>
                        <a:t>Contract topic</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position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Liability cap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Cognizant standard terms; no uncapped liability for agent behaviour or customer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Service-level penalties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on response targets inside coverage hours; none on Azure availability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Legal with delivery</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IP of accelerators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Cognizant keeps reusable accelerators; customer owns its configuration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Change control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scope, regions or runtimes priced by change request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Delivery with Finance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Advice liability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Options and evidence, not financial advice; the customer decides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bl>
          </a:graphicData>
        </a:graphic>
      </p:graphicFrame>
      <p:sp>
        <p:nvSpPr>
          <p:cNvPr id="14" name="Rounded Rectangle 13"/>
          <p:cNvSpPr/>
          <p:nvPr/>
        </p:nvSpPr>
        <p:spPr>
          <a:xfrm>
            <a:off x="548640" y="5349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300" b="1" i="0">
                <a:solidFill>
                  <a:srgbClr val="000048"/>
                </a:solidFill>
                <a:latin typeface="Arial"/>
              </a:rPr>
              <a:t>Microsoft motion:  </a:t>
            </a:r>
            <a:r>
              <a:rPr sz="1300" b="0" i="0">
                <a:solidFill>
                  <a:srgbClr val="1E1E2E"/>
                </a:solidFill>
                <a:latin typeface="Arial"/>
              </a:rPr>
              <a:t>engage the Azure AI specialist and account team; helps customers commit to PTU and models with confidence.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and decision memo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per bounded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Fee level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usage forecast; Finance treatment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estimate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Monthly review runs in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Included in offering 05 packages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Logs, storage for exports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GB ingested, GB stored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What the customer buys after the decision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Reservation price (customer,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self-hosting is chosen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VMs x hours or reservation + ops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Benchmark (AI); VM terms (customer)</a:t>
                      </a:r>
                    </a:p>
                  </a:txBody>
                  <a:tcPr marL="73152" marR="73152" marT="36576" marB="36576" anchor="ctr">
                    <a:solidFill>
                      <a:srgbClr val="F5F5F2"/>
                    </a:solidFill>
                  </a:tcPr>
                </a:tc>
              </a:tr>
            </a:tbl>
          </a:graphicData>
        </a:graphic>
      </p:graphicFrame>
      <p:sp>
        <p:nvSpPr>
          <p:cNvPr id="10" name="Rounded Rectangle 9"/>
          <p:cNvSpPr/>
          <p:nvPr/>
        </p:nvSpPr>
        <p:spPr>
          <a:xfrm>
            <a:off x="548640" y="416052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Revenue recognition (Finance owns):  </a:t>
            </a:r>
            <a:r>
              <a:rPr sz="1400" b="0" i="0">
                <a:solidFill>
                  <a:srgbClr val="1E1E2E"/>
                </a:solidFill>
                <a:latin typeface="Arial"/>
              </a:rPr>
              <a:t>Fixed price, recognised on acceptance of the decision memo. Owner: Finance.</a:t>
            </a:r>
          </a:p>
        </p:txBody>
      </p:sp>
      <p:sp>
        <p:nvSpPr>
          <p:cNvPr id="11" name="Rounded Rectangle 1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11091671" cy="303276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2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CIS</a:t>
                      </a:r>
                    </a:p>
                    <a:p>
                      <a:pPr algn="ctr"/>
                      <a:r>
                        <a:rPr sz="12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Secu-</a:t>
                      </a:r>
                    </a:p>
                    <a:p>
                      <a:pPr algn="ctr"/>
                      <a:r>
                        <a:rPr sz="12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Dev-</a:t>
                      </a:r>
                    </a:p>
                    <a:p>
                      <a:pPr algn="ctr"/>
                      <a:r>
                        <a:rPr sz="12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p>
                      <a:pPr algn="ctr"/>
                      <a:r>
                        <a:rPr sz="12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Integr.</a:t>
                      </a:r>
                    </a:p>
                    <a:p>
                      <a:pPr algn="ctr"/>
                      <a:r>
                        <a:rPr sz="1200" b="1" i="0">
                          <a:solidFill>
                            <a:srgbClr val="FFFFFF"/>
                          </a:solidFill>
                          <a:latin typeface="Arial"/>
                        </a:rPr>
                        <a:t>service</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Cust.</a:t>
                      </a:r>
                    </a:p>
                    <a:p>
                      <a:pPr algn="ctr"/>
                      <a:r>
                        <a:rPr sz="1200" b="1" i="0">
                          <a:solidFill>
                            <a:srgbClr val="FFFFFF"/>
                          </a:solidFill>
                          <a:latin typeface="Arial"/>
                        </a:rPr>
                        <a:t>work-</a:t>
                      </a:r>
                    </a:p>
                    <a:p>
                      <a:pPr algn="ctr"/>
                      <a:r>
                        <a:rPr sz="1200" b="1" i="0">
                          <a:solidFill>
                            <a:srgbClr val="FFFFFF"/>
                          </a:solidFill>
                          <a:latin typeface="Arial"/>
                        </a:rPr>
                        <a:t>load</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Comm.</a:t>
                      </a:r>
                    </a:p>
                    <a:p>
                      <a:pPr algn="ctr"/>
                      <a:r>
                        <a:rPr sz="12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200" b="0" i="0">
                          <a:solidFill>
                            <a:srgbClr val="1E1E2E"/>
                          </a:solidFill>
                          <a:latin typeface="Arial"/>
                        </a:rPr>
                        <a:t>Assessment plan and scope</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Telemetry baseline design and build</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Usage forecast and model choice</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Load tests and benchmarks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Cost model and sensitivity</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Decision memo acceptance</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Capacity commitment decision</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Ongoing monthly review</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46836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At least one workload with telemetry or a defined load test; FinOps and AI owners named</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Inputs in A2; current bills; agreement prices; regions; latency targets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Baseline, profiles, option models, sensitivity, decision memo (A18)</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Agreed workloads, models and regions; no purchase or deployment changes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Access to cost data and metrics; AI forecast; customer price inputs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Instrument, measure, model,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66700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Appendix A18</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access, pricing inputs, workload owners, decision authority</a:t>
                      </a:r>
                    </a:p>
                  </a:txBody>
                  <a:tcPr marL="73152" marR="73152" marT="36576" marB="36576" anchor="ctr">
                    <a:solidFill>
                      <a:srgbClr val="F5F5F2"/>
                    </a:solidFill>
                  </a:tcPr>
                </a:tc>
              </a:tr>
              <a:tr h="259080">
                <a:tc>
                  <a:txBody>
                    <a:bodyPr wrap="square" anchor="ctr">
                      <a:noAutofit/>
                    </a:bodyPr>
                    <a:lstStyle/>
                    <a:p>
                      <a:pPr algn="l"/>
                      <a:r>
                        <a:rPr sz="12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per bounded scope</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More workloads, models or regions; GPU proof of concept</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Monthly review in offering 05; routing changes in offering 03</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Decision taken on evidence; forecast error tracked; unit cost visible</a:t>
                      </a:r>
                    </a:p>
                  </a:txBody>
                  <a:tcPr marL="73152" marR="73152" marT="36576" marB="36576" anchor="ctr">
                    <a:solidFill>
                      <a:srgbClr val="F5F5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2" cy="23774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Assessment as a portfolio option</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Deck 00 exec 4 and 10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commitment advice without measured data</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Fixed fee level and scope bands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Effort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Benchmark tooling and method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Pilot results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GPU proof-of-concept offer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Demand and skills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Customer PTU reservation prices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procurement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Licence economics scope with M365 and D365 teams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first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 with M365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Joint-motion rules (deck 00)</a:t>
                      </a:r>
                    </a:p>
                  </a:txBody>
                  <a:tcPr marL="73152" marR="73152" marT="36576" marB="36576"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Azure Retail Prices API: gpt-5.4, East US 2:  </a:t>
            </a:r>
            <a:r>
              <a:rPr sz="1200" b="0" i="0">
                <a:solidFill>
                  <a:srgbClr val="2F78C4"/>
                </a:solidFill>
                <a:latin typeface="Arial"/>
                <a:hlinkClick r:id="rId4"/>
              </a:rPr>
              <a:t>https://prices.azure.com/api/retail/prices?$filter=armRegionName eq 'eastus2' and contains(meterName,'5.4')</a:t>
            </a:r>
          </a:p>
          <a:p>
            <a:pPr algn="l">
              <a:spcAft>
                <a:spcPts val="4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5"/>
              </a:rPr>
              <a:t>https://www.microsoft.com/en-us/security/blog/2026/05/01/microsoft-agent-365-now-generally-available-expands-capabilities-and-integrations/</a:t>
            </a:r>
          </a:p>
          <a:p>
            <a:pPr algn="l">
              <a:spcAft>
                <a:spcPts val="400"/>
              </a:spcAft>
            </a:pPr>
            <a:r>
              <a:rPr sz="1200" b="1" i="0">
                <a:solidFill>
                  <a:srgbClr val="000048"/>
                </a:solidFill>
                <a:latin typeface="Arial"/>
              </a:rPr>
              <a:t>Microsoft Copilot Studio licensing guidance (Microsoft Licensing):  </a:t>
            </a:r>
            <a:r>
              <a:rPr sz="1200" b="0" i="0">
                <a:solidFill>
                  <a:srgbClr val="2F78C4"/>
                </a:solidFill>
                <a:latin typeface="Arial"/>
                <a:hlinkClick r:id="rId6"/>
              </a:rPr>
              <a:t>https://www.microsoft.com/licensing/guidance/Microsoft-Copilot-Studio</a:t>
            </a:r>
          </a:p>
          <a:p>
            <a:pPr algn="l">
              <a:spcAft>
                <a:spcPts val="400"/>
              </a:spcAft>
            </a:pPr>
            <a:r>
              <a:rPr sz="1200" b="1" i="0">
                <a:solidFill>
                  <a:srgbClr val="000048"/>
                </a:solidFill>
                <a:latin typeface="Arial"/>
              </a:rPr>
              <a:t>Cost Management exports, including FOCUS format:  </a:t>
            </a:r>
            <a:r>
              <a:rPr sz="1200" b="0" i="0">
                <a:solidFill>
                  <a:srgbClr val="2F78C4"/>
                </a:solidFill>
                <a:latin typeface="Arial"/>
                <a:hlinkClick r:id="rId7"/>
              </a:rPr>
              <a:t>https://learn.microsoft.com/en-us/azure/cost-management-billing/costs/tutorial-improved-exports</a:t>
            </a:r>
          </a:p>
          <a:p>
            <a:pPr algn="l">
              <a:spcAft>
                <a:spcPts val="400"/>
              </a:spcAft>
            </a:pPr>
            <a:r>
              <a:rPr sz="1200" b="1" i="0">
                <a:solidFill>
                  <a:srgbClr val="000048"/>
                </a:solidFill>
                <a:latin typeface="Arial"/>
              </a:rPr>
              <a:t>AI threat protection in Microsoft Defender for Cloud:  </a:t>
            </a:r>
            <a:r>
              <a:rPr sz="1200" b="0" i="0">
                <a:solidFill>
                  <a:srgbClr val="2F78C4"/>
                </a:solidFill>
                <a:latin typeface="Arial"/>
                <a:hlinkClick r:id="rId8"/>
              </a:rPr>
              <a:t>https://learn.microsoft.com/en-us/azure/defender-for-cloud/ai-threat-protection</a:t>
            </a:r>
          </a:p>
          <a:p>
            <a:pPr algn="l">
              <a:spcAft>
                <a:spcPts val="400"/>
              </a:spcAft>
            </a:pPr>
            <a:r>
              <a:rPr sz="1200" b="1" i="0">
                <a:solidFill>
                  <a:srgbClr val="000048"/>
                </a:solidFill>
                <a:latin typeface="Arial"/>
              </a:rPr>
              <a:t>Microsoft Purview data security and compliance for AI:  </a:t>
            </a:r>
            <a:r>
              <a:rPr sz="1200" b="0" i="0">
                <a:solidFill>
                  <a:srgbClr val="2F78C4"/>
                </a:solidFill>
                <a:latin typeface="Arial"/>
                <a:hlinkClick r:id="rId9"/>
              </a:rPr>
              <a:t>https://learn.microsoft.com/en-us/purview/ai-microsoft-purview</a:t>
            </a:r>
          </a:p>
          <a:p>
            <a:pPr algn="l">
              <a:spcAft>
                <a:spcPts val="400"/>
              </a:spcAft>
            </a:pPr>
            <a:r>
              <a:rPr sz="1200" b="1" i="0">
                <a:solidFill>
                  <a:srgbClr val="000048"/>
                </a:solidFill>
                <a:latin typeface="Arial"/>
              </a:rPr>
              <a:t>EU AI Act Update: Digital Omnibus finalises compliance changes (Orrick, third-party law-firm summary, 29 Jul 2026; EUR-Lex text not verified):  </a:t>
            </a:r>
            <a:r>
              <a:rPr sz="1200" b="0" i="0">
                <a:solidFill>
                  <a:srgbClr val="2F78C4"/>
                </a:solidFill>
                <a:latin typeface="Arial"/>
                <a:hlinkClick r:id="rId10"/>
              </a:rPr>
              <a:t>https://www.orrick.com/en/Insights/2026/07/EU-AI-Act-Update-Digital-Omnibus-Finalizes-8-Compliance-Changes</a:t>
            </a:r>
          </a:p>
          <a:p>
            <a:pPr algn="l">
              <a:spcAft>
                <a:spcPts val="400"/>
              </a:spcAft>
            </a:pPr>
            <a:r>
              <a:rPr sz="1200" b="1" i="0">
                <a:solidFill>
                  <a:srgbClr val="000048"/>
                </a:solidFill>
                <a:latin typeface="Arial"/>
              </a:rPr>
              <a:t>Foundry Models region availability (Europe and MEA tabs read in browser):  </a:t>
            </a:r>
            <a:r>
              <a:rPr sz="1200" b="0" i="0">
                <a:solidFill>
                  <a:srgbClr val="2F78C4"/>
                </a:solidFill>
                <a:latin typeface="Arial"/>
                <a:hlinkClick r:id="rId11"/>
              </a:rPr>
              <a:t>https://learn.microsoft.com/en-us/azure/foundry/foundry-models/concepts/models-sold-directly-by-azure-region-availability</a:t>
            </a:r>
          </a:p>
          <a:p>
            <a:pPr algn="l">
              <a:spcAft>
                <a:spcPts val="400"/>
              </a:spcAft>
            </a:pPr>
            <a:r>
              <a:rPr sz="1200" b="1" i="0">
                <a:solidFill>
                  <a:srgbClr val="000048"/>
                </a:solidFill>
                <a:latin typeface="Arial"/>
              </a:rPr>
              <a:t>Provisioned throughput concepts:  </a:t>
            </a:r>
            <a:r>
              <a:rPr sz="1200" b="0" i="0">
                <a:solidFill>
                  <a:srgbClr val="2F78C4"/>
                </a:solidFill>
                <a:latin typeface="Arial"/>
                <a:hlinkClick r:id="rId12"/>
              </a:rPr>
              <a:t>https://learn.microsoft.com/en-us/azure/foundry/openai/concepts/provisioned-throughput</a:t>
            </a:r>
          </a:p>
          <a:p>
            <a:pPr algn="l">
              <a:spcAft>
                <a:spcPts val="400"/>
              </a:spcAft>
            </a:pPr>
            <a:r>
              <a:rPr sz="1200" b="1" i="0">
                <a:solidFill>
                  <a:srgbClr val="000048"/>
                </a:solidFill>
                <a:latin typeface="Arial"/>
              </a:rPr>
              <a:t>Provisioned throughput sizing and per-model values:  </a:t>
            </a:r>
            <a:r>
              <a:rPr sz="1200" b="0" i="0">
                <a:solidFill>
                  <a:srgbClr val="2F78C4"/>
                </a:solidFill>
                <a:latin typeface="Arial"/>
                <a:hlinkClick r:id="rId13"/>
              </a:rPr>
              <a:t>https://learn.microsoft.com/en-us/azure/foundry/openai/how-to/provisioned-throughput-sizing</a:t>
            </a:r>
          </a:p>
          <a:p>
            <a:pPr algn="l">
              <a:spcAft>
                <a:spcPts val="400"/>
              </a:spcAft>
            </a:pPr>
            <a:r>
              <a:rPr sz="1200" b="1" i="0">
                <a:solidFill>
                  <a:srgbClr val="000048"/>
                </a:solidFill>
                <a:latin typeface="Arial"/>
              </a:rPr>
              <a:t>Provisioned throughput billing (hourly and reservations):  </a:t>
            </a:r>
            <a:r>
              <a:rPr sz="1200" b="0" i="0">
                <a:solidFill>
                  <a:srgbClr val="2F78C4"/>
                </a:solidFill>
                <a:latin typeface="Arial"/>
                <a:hlinkClick r:id="rId14"/>
              </a:rPr>
              <a:t>https://learn.microsoft.com/en-us/azure/foundry/openai/how-to/provisioned-throughput-onboarding</a:t>
            </a:r>
          </a:p>
          <a:p>
            <a:pPr algn="l">
              <a:spcAft>
                <a:spcPts val="400"/>
              </a:spcAft>
            </a:pPr>
            <a:r>
              <a:rPr sz="1200" b="1" i="0">
                <a:solidFill>
                  <a:srgbClr val="000048"/>
                </a:solidFill>
                <a:latin typeface="Arial"/>
              </a:rPr>
              <a:t>Foundry Models deployment types:  </a:t>
            </a:r>
            <a:r>
              <a:rPr sz="1200" b="0" i="0">
                <a:solidFill>
                  <a:srgbClr val="2F78C4"/>
                </a:solidFill>
                <a:latin typeface="Arial"/>
                <a:hlinkClick r:id="rId15"/>
              </a:rPr>
              <a:t>https://learn.microsoft.com/en-us/azure/foundry/foundry-models/concepts/deployment-types</a:t>
            </a:r>
          </a:p>
          <a:p>
            <a:pPr algn="l">
              <a:spcAft>
                <a:spcPts val="400"/>
              </a:spcAft>
            </a:pPr>
            <a:r>
              <a:rPr sz="1200" b="1" i="0">
                <a:solidFill>
                  <a:srgbClr val="000048"/>
                </a:solidFill>
                <a:latin typeface="Arial"/>
              </a:rPr>
              <a:t>Foundry Models retirement schedule:  </a:t>
            </a:r>
            <a:r>
              <a:rPr sz="1200" b="0" i="0">
                <a:solidFill>
                  <a:srgbClr val="2F78C4"/>
                </a:solidFill>
                <a:latin typeface="Arial"/>
                <a:hlinkClick r:id="rId16"/>
              </a:rPr>
              <a:t>https://learn.microsoft.com/en-us/azure/foundry/openai/concepts/model-retirement-schedule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 (continued)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S1B</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Capacity and FinOps Assessment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ND H100 v5 series VM sizes:  </a:t>
            </a:r>
            <a:r>
              <a:rPr sz="1200" b="0" i="0">
                <a:solidFill>
                  <a:srgbClr val="2F78C4"/>
                </a:solidFill>
                <a:latin typeface="Arial"/>
                <a:hlinkClick r:id="rId4"/>
              </a:rPr>
              <a:t>https://learn.microsoft.com/en-us/azure/virtual-machines/sizes/gpu-accelerated/ndh100v5-series</a:t>
            </a:r>
          </a:p>
          <a:p>
            <a:pPr algn="l">
              <a:spcAft>
                <a:spcPts val="400"/>
              </a:spcAft>
            </a:pPr>
            <a:r>
              <a:rPr sz="1200" b="1" i="0">
                <a:solidFill>
                  <a:srgbClr val="000048"/>
                </a:solidFill>
                <a:latin typeface="Arial"/>
              </a:rPr>
              <a:t>Azure Retail Prices API: ND H100 v5, East US 2:  </a:t>
            </a:r>
            <a:r>
              <a:rPr sz="1200" b="0" i="0">
                <a:solidFill>
                  <a:srgbClr val="2F78C4"/>
                </a:solidFill>
                <a:latin typeface="Arial"/>
                <a:hlinkClick r:id="rId5"/>
              </a:rPr>
              <a:t>https://prices.azure.com/api/retail/prices?$filter=serviceName eq 'Virtual Machines' and armRegionName eq 'eastus2' and contains(armSkuName,'H100')</a:t>
            </a:r>
          </a:p>
          <a:p>
            <a:pPr algn="l">
              <a:spcAft>
                <a:spcPts val="400"/>
              </a:spcAft>
            </a:pPr>
            <a:r>
              <a:rPr sz="1200" b="1" i="0">
                <a:solidFill>
                  <a:srgbClr val="000048"/>
                </a:solidFill>
                <a:latin typeface="Arial"/>
              </a:rPr>
              <a:t>Azure Retail Prices API: Log Analytics, East US 2:  </a:t>
            </a:r>
            <a:r>
              <a:rPr sz="1200" b="0" i="0">
                <a:solidFill>
                  <a:srgbClr val="2F78C4"/>
                </a:solidFill>
                <a:latin typeface="Arial"/>
                <a:hlinkClick r:id="rId6"/>
              </a:rPr>
              <a:t>https://prices.azure.com/api/retail/prices?$filter=serviceName eq 'Log Analytics' and armRegionName eq 'eastus2'</a:t>
            </a:r>
          </a:p>
          <a:p>
            <a:pPr algn="l">
              <a:spcAft>
                <a:spcPts val="400"/>
              </a:spcAft>
            </a:pPr>
            <a:r>
              <a:rPr sz="1200" b="1" i="0">
                <a:solidFill>
                  <a:srgbClr val="000048"/>
                </a:solidFill>
                <a:latin typeface="Arial"/>
              </a:rPr>
              <a:t>AI gateway capabilities in API Management:  </a:t>
            </a:r>
            <a:r>
              <a:rPr sz="1200" b="0" i="0">
                <a:solidFill>
                  <a:srgbClr val="2F78C4"/>
                </a:solidFill>
                <a:latin typeface="Arial"/>
                <a:hlinkClick r:id="rId7"/>
              </a:rPr>
              <a:t>https://learn.microsoft.com/en-us/azure/api-management/genai-gateway-capabilities</a:t>
            </a:r>
          </a:p>
          <a:p>
            <a:pPr algn="l">
              <a:spcAft>
                <a:spcPts val="400"/>
              </a:spcAft>
            </a:pPr>
            <a:r>
              <a:rPr sz="1200" b="1" i="0">
                <a:solidFill>
                  <a:srgbClr val="000048"/>
                </a:solidFill>
                <a:latin typeface="Arial"/>
              </a:rPr>
              <a:t>Azure Architecture Icons (V24):  </a:t>
            </a:r>
            <a:r>
              <a:rPr sz="1200" b="0" i="0">
                <a:solidFill>
                  <a:srgbClr val="2F78C4"/>
                </a:solidFill>
                <a:latin typeface="Arial"/>
                <a:hlinkClick r:id="rId8"/>
              </a:rPr>
              <a:t>https://learn.microsoft.com/en-us/azure/architecture/icons/</a:t>
            </a:r>
          </a:p>
          <a:p>
            <a:pPr algn="l">
              <a:spcAft>
                <a:spcPts val="400"/>
              </a:spcAft>
            </a:pPr>
            <a:r>
              <a:rPr sz="1200" b="1" i="0">
                <a:solidFill>
                  <a:srgbClr val="000048"/>
                </a:solidFill>
                <a:latin typeface="Arial"/>
              </a:rPr>
              <a:t>GTM proposal V3:  </a:t>
            </a:r>
            <a:r>
              <a:rPr sz="1200" b="0" i="0">
                <a:solidFill>
                  <a:srgbClr val="2F78C4"/>
                </a:solidFill>
                <a:latin typeface="Arial"/>
                <a:hlinkClick r:id="rId9"/>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AI Capacity and FinOps Assessment v4.0</dc:title>
  <dcterms:created xsi:type="dcterms:W3CDTF">2026-10-10T13:56:28.3080000Z</dcterms:created>
  <dcterms:modified xsi:type="dcterms:W3CDTF">2026-10-10T13:56:28.3090000Z</dcterms:modified>
  <dc:subject>Proposed CIS Infra GTM offering for internal leadership review</dc:subject>
</coreProperties>
</file>