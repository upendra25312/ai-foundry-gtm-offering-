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foundation offering. Customers cannot run AI agents safely until identity, network, environments and cost ownership are in place. We sell that foundation as a bounded package tied to one funded workload, not as open-ended consulting.</a:t>
            </a:r>
          </a:p>
          <a:p/>
          <a:p>
            <a:r>
              <a:t>Likely question: How does this relate to the other four decks?</a:t>
            </a:r>
          </a:p>
          <a:p>
            <a:r>
              <a:t>Answer: It is the base layer. The gateway, agent governance and managed operations all sit on it, and the FinOps assessment tells us how to size it.</a:t>
            </a:r>
          </a:p>
          <a:p/>
          <a:p>
            <a:r>
              <a:t>DETAIL AND CAVEATS</a:t>
            </a:r>
          </a:p>
          <a:p>
            <a:r>
              <a:t>Opening slide. Part of a six-deck portfolio; deck 00 is the master 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to take away. Pilots fail at the platform, not the model. We fix the platform for one funded workload using Microsoft’s own accelerator. And we ask for three decisions today: a sponsor, the three packages, and acceptance of estimate ranges.</a:t>
            </a:r>
          </a:p>
          <a:p/>
          <a:p>
            <a:r>
              <a:t>Likely question: Why lead with infrastructure rather than AI use cases?</a:t>
            </a:r>
          </a:p>
          <a:p>
            <a:r>
              <a:t>Answer: Because the AI tower and the business own the use case. Our edge is getting it into a governed production platform quickly and repeatably.</a:t>
            </a:r>
          </a:p>
          <a:p/>
          <a:p>
            <a:r>
              <a:t>DETAIL AND CAVEATS</a:t>
            </a:r>
          </a:p>
          <a:p>
            <a:r>
              <a:t>Answers the demand, outcome and decision questions. Source: CIS Infra Azure AI Platform GTM Proposal V3 (8 Oct 2026).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forces make this urgent: customers want pilots in production, models now retire within about a year so platforms must be repeatable, and EU regulation has firm dates. The buyer is the platform leader; the trigger is a stuck pilot.</a:t>
            </a:r>
          </a:p>
          <a:p/>
          <a:p>
            <a:r>
              <a:t>Likely question: Do we have customer demand evidence?</a:t>
            </a:r>
          </a:p>
          <a:p>
            <a:r>
              <a:t>Answer: Not yet. The 90-day validation asks account teams for three qualified candidates using the scorecard in appendix Q1.</a:t>
            </a:r>
          </a:p>
          <a:p/>
          <a:p>
            <a:r>
              <a:t>DETAIL AND CAVEATS</a:t>
            </a:r>
          </a:p>
          <a:p>
            <a:r>
              <a:t>Drivers are sourced public facts, not market statistics. No customer or pipeline is claimed.</a:t>
            </a:r>
          </a:p>
          <a:p/>
          <a:p>
            <a:r>
              <a:t>Sources (checked 11 Oct 2026):</a:t>
            </a:r>
          </a:p>
          <a:p>
            <a:r>
              <a:t>Cloud Adoption Framework: AI Ready: https://learn.microsoft.com/en-us/azure/cloud-adoption-framework/ai/ready</a:t>
            </a:r>
          </a:p>
          <a:p>
            <a:r>
              <a:t>Foundry Models retirement schedule: https://learn.microsoft.com/en-us/azure/foundry/openai/concepts/model-retirement-schedule</a:t>
            </a:r>
          </a:p>
          <a:p>
            <a:r>
              <a:t>EU AI Act Update: Digital Omnibus finalises compliance changes (Orrick, third-party law-firm summary, 29 Jul 2026; EUR-Lex text not verified):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foundation of five offerings. Around them sits the Microsoft ecosystem: Microsoft 365 Copilot stays with our M365 and D365 teams, while Copilot Studio agents, Agent 365 and API Center now run on or connect to the platform we build.</a:t>
            </a:r>
          </a:p>
          <a:p/>
          <a:p>
            <a:r>
              <a:t>Likely question: Why is M365 Copilot not ours?</a:t>
            </a:r>
          </a:p>
          <a:p>
            <a:r>
              <a:t>Answer: It is a SaaS licence and adoption motion owned by the M365 and D365 teams. We supply identity, network and data-protection readiness.</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column is what we sell and deliver. Middle is what we can add. Right is what other towers and the customer own; being explicit here prevents scope creep and protects margin.</a:t>
            </a:r>
          </a:p>
          <a:p/>
          <a:p>
            <a:r>
              <a:t>Likely question: Who owns Terraform?</a:t>
            </a:r>
          </a:p>
          <a:p>
            <a:r>
              <a:t>Answer: DevOps in this baseline, unless CIS Infra staffs and maintains the modules. That is a decision for today.</a:t>
            </a:r>
          </a:p>
          <a:p/>
          <a:p>
            <a:r>
              <a:t>DETAIL AND CAVEATS</a:t>
            </a:r>
          </a:p>
          <a:p>
            <a:r>
              <a:t>Scope boundaries from V3 proposal.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in three steps. Users come in through a web firewall to the app. The app calls the Foundry project and model over private links, with data in AI Search and a Storage account. Everything outbound goes through the hub firewall, and every resource reports to shared monitoring and budgets. Shared platform on the left, separate production and non-production subscriptions on the right.</a:t>
            </a:r>
          </a:p>
          <a:p/>
          <a:p>
            <a:r>
              <a:t>Likely question: Is this the Microsoft design?</a:t>
            </a:r>
          </a:p>
          <a:p>
            <a:r>
              <a:t>Answer: It is our simplified adaptation of Microsoft’s AI Landing Zone reference, marked as proposed. Detailed network views are in the appendix.</a:t>
            </a:r>
          </a:p>
          <a:p/>
          <a:p>
            <a:r>
              <a:t>DETAIL AND CAVEATS</a:t>
            </a:r>
          </a:p>
          <a:p>
            <a:r>
              <a:t>Simplified, editable executive view. Adapted from the AI Landing Zone with platform landing zone diagram (04_AI-Landing-Zone-with-platform.png, source https://github.com/Azure/AI-Landing-Zones) and the Foundry baseline landing zone architecture. Not the original; detailed network and egress diagrams are in the appendix.</a:t>
            </a:r>
          </a:p>
          <a:p/>
          <a:p>
            <a:r>
              <a:t>Reading order: (1) users reach the workload through Application Gateway with WAF; (2) the app host calls the Foundry project and model deployment through private endpoints; (3) retrieval and state use AI Search and a Storage account; secrets in Key Vault; (4) outbound traffic routes through the hub firewall; (5) all resources send telemetry to Log Analytics and Application Insights and are governed by management-group policy and budgets. Identity: managed identities for workloads, Entra PIM for privileged operators.</a:t>
            </a:r>
          </a:p>
          <a:p/>
          <a:p>
            <a:r>
              <a:t>Storage label: the icon is the Azure Storage account; blob containers live inside it.</a:t>
            </a:r>
          </a:p>
          <a:p/>
          <a:p>
            <a:r>
              <a:t>Sources (checked 11 Oct 2026):</a:t>
            </a:r>
          </a:p>
          <a:p>
            <a:r>
              <a:t>Adapted from https://github.com/upendra25312/AI-Foundry-GTM-offering-/blob/main/architectures/04_AI-Landing-Zone-with-platform.png</a:t>
            </a:r>
          </a:p>
          <a:p>
            <a:r>
              <a:t>https://github.com/Azure/AI-Landing-Zones</a:t>
            </a:r>
          </a:p>
          <a:p>
            <a:r>
              <a:t>https://learn.microsoft.com/en-us/azure/architecture/ai-ml/architecture/baseline-microsoft-foundry-landing-zone</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engagement starts in one of three places. If we do not know enough, we sell a fixed-fee assessment. If the customer has a mature landing zone, we extend it. If not, we establish the platform first. All three reuse Microsoft’s open-source AI Landing Zone, so we are not building from scratch.</a:t>
            </a:r>
          </a:p>
          <a:p/>
          <a:p>
            <a:r>
              <a:t>Likely question: How much does reuse save?</a:t>
            </a:r>
          </a:p>
          <a:p>
            <a:r>
              <a:t>Answer: We estimate 20 to 30 percent of platform engineering effort, to be proven in the pilot. See appendix A0.</a:t>
            </a:r>
          </a:p>
          <a:p/>
          <a:p>
            <a:r>
              <a:t>DETAIL AND CAVEATS</a:t>
            </a:r>
          </a:p>
          <a:p>
            <a:r>
              <a:t>Routes: assess first when access, connectivity or capacity is unknown; extend when a mature landing zone exists; establish when platform gaps or a new tenant scope exist. All three reuse the Microsoft AI Landing Zone accelerator (Agent Landing Zone and AI Gateway Landing Zone; Portal, Bicep and Terraform on Azure Verified Modules) to cut build effort. Transition hands over to operations.</a:t>
            </a:r>
          </a:p>
          <a:p/>
          <a:p>
            <a:r>
              <a:t>Sources (checked 11 Oct 2026):</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planning estimates, not quotes. An extension is around 70 to 110 role days across all towers, about two to three months. A new foundation roughly doubles that. The fee bands use a placeholder rate of 1,000 dollars a day so Finance can rescale them.</a:t>
            </a:r>
          </a:p>
          <a:p/>
          <a:p>
            <a:r>
              <a:t>Likely question: Where does 88 days come from?</a:t>
            </a:r>
          </a:p>
          <a:p>
            <a:r>
              <a:t>Answer: The V3 proposal’s worked example for a bounded extension; the mid-point of our extend range.</a:t>
            </a:r>
          </a:p>
          <a:p/>
          <a:p>
            <a:r>
              <a:t>DETAIL AND CAVEATS</a:t>
            </a:r>
          </a:p>
          <a:p>
            <a:r>
              <a:t>Ranges cover all towers (CIS Infra, Security, DevOps, Data, Data Engineering, AI). Extend anchored on the V3 worked example of 88 role days.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Four risks decide this offering. The biggest is selling a platform with no funded workload. Each risk has a handling approach and a named owner.</a:t>
            </a:r>
          </a:p>
          <a:p/>
          <a:p>
            <a:r>
              <a:t>Likely question: What about security?</a:t>
            </a:r>
          </a:p>
          <a:p>
            <a:r>
              <a:t>Answer: The threat model and regulatory checkpoints are in the design phase, owned by Security; see appendix SEC1 and SEC2.</a:t>
            </a:r>
          </a:p>
          <a:p/>
          <a:p>
            <a:r>
              <a:t>DETAIL AND CAVEATS</a:t>
            </a:r>
          </a:p>
          <a:p>
            <a:r>
              <a:t>Top risks. A critical dependency without a signed commitment blocks the implementation quote (V3 rule).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will measure success with five tests that a customer can witness. And we need three decisions today; the rest wait for pilot evidence or Finance.</a:t>
            </a:r>
          </a:p>
          <a:p/>
          <a:p>
            <a:r>
              <a:t>Likely question: When could we take this to customers?</a:t>
            </a:r>
          </a:p>
          <a:p>
            <a:r>
              <a:t>Answer: After the 90-day validation and one pilot, subject to Finance approving rates.</a:t>
            </a:r>
          </a:p>
          <a:p/>
          <a:p>
            <a:r>
              <a:t>DETAIL AND CAVEATS</a:t>
            </a:r>
          </a:p>
          <a:p>
            <a:r>
              <a:t>Platform acceptance and workload acceptance are separate milestones.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Appendix divider. All useful baseline content is retained here. Use the appendix index (next slide) to navigate.</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"Extending a landing zone versus building a new one". Audit finding: explain the difference between extending an existing landing zone and establishing a new foundation. Extending reuses an accepted platform after validation. Establishing builds the platform layer first.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Audit finding: explain the difference between extending an existing landing zone and establishing a new foundation. Extending reuses an accepted platform after validation. Establishing builds the platform layer first. New foundations are never included in the extension price.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"Management groups, subscriptions, policy and tags". 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Sources (checked 11 Oct 2026):</a:t>
            </a:r>
          </a:p>
          <a:p>
            <a:r>
              <a:t>https://github.com/upendra25312/AI-Foundry-GTM-offering-/blob/main/architectures/04_AI-Landing-Zone-with-platform.png</a:t>
            </a:r>
          </a:p>
          <a:p>
            <a:r>
              <a:t>Cloud Adoption Framework: AI Ready: https://learn.microsoft.com/en-us/azure/cloud-adoption-framework/ai/ready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"Identity, RBAC and privileged access". Identity baseline. Security designs and verifies identity controls; CIS Infra implements its allocated platform controls. Keys for Foundry, Search and Storage are disabled where the service supports it, so that identity is the only access path.</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Identity baseline. Security designs and verifies identity controls; CIS Infra implements its allocated platform controls. Keys for Foundry, Search and Storage are disabled where the service supports it, so that identity is the only access path.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"Hub connectivity, private endpoints and DNS". Editable reconstruction of 11_baseline-landing-zone-networking.png (Microsoft Foundry chat baseline in an Azure landing zone). The original PNG clips several labels ("Workload landing zo", "Azure Firewa") in its rendering, so it is kept only as a traceability reference in the original references pack. Subnet names follow the source.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11_baseline-landing-zone-networking.png (Microsoft Foundry chat baseline in an Azure landing zone). The original PNG clips several labels ("Workload landing zo", "Azure Firewa") in its rendering, so it is kept only as a traceability reference in the original references pack. Subnet names follow the source. Changes: simplified to one spoke, labels completed, flows numbered.</a:t>
            </a:r>
          </a:p>
          <a:p/>
          <a:p>
            <a:r>
              <a:t>Flows: (1) users reach Application Gateway with WAF in snet-appGateway; (2) App Service uses VNet integration (snet-appServicePlan) to reach private endpoints; (3) Foundry Agent Service egress uses snet-agentsEgress; (4) all private endpoints in snet-privateEndpoints resolve through hub-provided DNS (DNS Private Resolver and Private DNS zones for Private Link); (5) UDRs send workload egress to the hub firewall.</a:t>
            </a:r>
          </a:p>
          <a:p/>
          <a:p>
            <a:r>
              <a:t>Sources (checked 11 Oct 2026):</a:t>
            </a:r>
          </a:p>
          <a:p>
            <a:r>
              <a:t>https://github.com/upendra25312/AI-Foundry-GTM-offering-/blob/main/architectures/11_baseline-landing-zone-networking.png</a:t>
            </a:r>
          </a:p>
          <a:p>
            <a:r>
              <a:t>https://github.com/upendra25312/AI-Foundry-GTM-offering-/blob/main/architectures/05_baseline-landing-zone-networking.vsdx</a:t>
            </a:r>
          </a:p>
          <a:p>
            <a:r>
              <a:t>https://learn.microsoft.com/en-us/azure/architecture/ai-ml/architecture/baseline-microsoft-foundry-landing-zone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egress through the hub firewall". 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Sources (checked 11 Oct 2026):</a:t>
            </a:r>
          </a:p>
          <a:p>
            <a:r>
              <a:t>https://github.com/upendra25312/AI-Foundry-GTM-offering-/blob/main/architectures/12_baseline-landing-zone-networking-egress.png</a:t>
            </a:r>
          </a:p>
          <a:p>
            <a:r>
              <a:t>https://github.com/upendra25312/AI-Foundry-GTM-offering-/blob/main/architectures/06_baseline-landing-zone-networking-egress.vsdx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workload baseline: request flow". Simplified, editable adaptation of 07_baseline-microsoft-foundry.png (Microsoft Foundry baseline chat architecture). Original preserved in the original references pack. The source labels the model as "Azure OpenAI model"; here it is shown as a Foundry model deployment, which is the current product framing.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Simplified, editable adaptation of 07_baseline-microsoft-foundry.png (Microsoft Foundry baseline chat architecture). Original preserved in the original references pack. The source labels the model as "Azure OpenAI model"; here it is shown as a Foundry model deployment, which is the current product framing.</a:t>
            </a:r>
          </a:p>
          <a:p/>
          <a:p>
            <a:r>
              <a:t>Steps: (1) user to Application Gateway with WAF; (2) App Service calls the Foundry agent through the Foundry private endpoint; (3) Foundry Agent Service runs in the Foundry project; (4) agent reaches dependencies through the agent integration subnet and private endpoints; (5) outbound internet calls go through Azure Firewall; (6) the agent calls the model deployment; (7) Foundry Agent Service dependencies (AI Search, Cosmos DB, Storage) hold threads and files.</a:t>
            </a:r>
          </a:p>
          <a:p/>
          <a:p>
            <a:r>
              <a:t>Sources (checked 11 Oct 2026):</a:t>
            </a:r>
          </a:p>
          <a:p>
            <a:r>
              <a:t>https://github.com/upendra25312/AI-Foundry-GTM-offering-/blob/main/architectures/07_baseline-microsoft-foundry.png</a:t>
            </a:r>
          </a:p>
          <a:p>
            <a:r>
              <a:t>https://github.com/upendra25312/AI-Foundry-GTM-offering-/blob/main/architectures/03_baseline-microsoft-foundry.vsdx</a:t>
            </a:r>
          </a:p>
          <a:p>
            <a:r>
              <a:t>https://learn.microsoft.com/en-us/azure/architecture/ai-ml/architecture/baseline-microsoft-foundry-chat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projects, model endpoints and agent hosting". Hosting choices affect containment, observability and network design. Lifecycle actions per agent type are summarised from Microsoft Learn (Foundry Control Plane, updated 2026-07-15). The AI tower selects the runtime; CIS Infra provides the platform pattern.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Hosting choices affect containment, observability and network design. Lifecycle actions per agent type are summarised from Microsoft Learn (Foundry Control Plane, updated 2026-07-15). The AI tower selects the runtime; CIS Infra provides the platform pattern.</a:t>
            </a:r>
          </a:p>
          <a:p/>
          <a:p>
            <a:r>
              <a:t>Sources (checked 11 Oct 2026):</a:t>
            </a:r>
          </a:p>
          <a:p>
            <a:r>
              <a:t>Foundry Control Plane: manage agents: https://learn.microsoft.com/en-us/azure/foundry/control-plane/how-to-manage-agents</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"Search, storage and workload data dependencies". Separates platform endpoints (CIS Infra) from data architecture (Data), pipelines (Data Engineering) and data rights (customer). Storage label correction: the Azure resource is a Storage account; blob containers are inside it.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Separates platform endpoints (CIS Infra) from data architecture (Data), pipelines (Data Engineering) and data rights (customer). Storage label correction: the Azure resource is a Storage account; blob containers are inside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"Terraform, CI/CD, approvals and environment promotion". DevOps owns Terraform modules and pipelines in this baseline (V3 proposal). If CIS Infra staffs and maintains them, move accountability to CIS Infra. Promotion is the only change path to production.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DevOps owns Terraform modules and pipelines in this baseline (V3 proposal). If CIS Infra staffs and maintains them, move accountability to CIS Infra. Promotion is the only change path to production.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"Development, test and production separation". Baseline: one workload with development and production (V3 proposal). A test environment is an option that adds policy, release, test and support effort. Each extra environment is a change-control trigger.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Baseline: one workload with development and production (V3 proposal). A test environment is an option that adds policy, release, test and support effort. Each extra environment is a change-control trigger.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"Monitoring, budgets, containment and recovery". Operational controls built during implementation and handed to managed operations (offering 05). Recovery scope is per dependency; single-region restoration is not regional disaster recovery.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Operational controls built during implementation and handed to managed operations (offering 05). Recovery scope is per dependency; single-region restoration is not regional disaster recovery.</a:t>
            </a:r>
          </a:p>
          <a:p/>
          <a:p>
            <a:r>
              <a:t>Sources (checked 11 Oct 2026):</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"Processing location and residency are customer calls". Distinguish the resource region from the model processing geography. Data at rest stays in the designated geography; inferencing location depends on deployment type. Data zones published: US, EU, APAC.</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Distinguish the resource region from the model processing geography. Data at rest stays in the designated geography; inferencing location depends on deployment type. Data zones published: US, EU, APAC. No UK or Middle East data zone is published, so UK and Middle East pursuits use Standard (regional) or Regional Provisioned deployments, or an approved Global deployment.</a:t>
            </a:r>
          </a:p>
          <a:p/>
          <a:p>
            <a:r>
              <a:t>Sources (checked 11 Oct 2026):</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For gpt-5.4, Global deployments are listed in all our main regions including UK South and UAE North, but Data Zone is EU and US only, and Regional provisioned is only in Germany West Central, Sweden Central and UK South. That shapes UK and Middle East residency answers.</a:t>
            </a:r>
          </a:p>
          <a:p/>
          <a:p>
            <a:r>
              <a:t>Likely question: Can a UAE customer keep processing in the UAE?</a:t>
            </a:r>
          </a:p>
          <a:p>
            <a:r>
              <a:t>Answer: Not with gpt-5.4 today on the published table: UAE North is listed for Global only. That is a customer decision to take with this evidence.</a:t>
            </a:r>
          </a:p>
          <a:p/>
          <a:p>
            <a:r>
              <a:t>DETAIL AND CAVEATS</a:t>
            </a:r>
          </a:p>
          <a:p>
            <a:r>
              <a:t>Snapshot read on 11 Oct 2026 from the Microsoft Learn region availability page, Americas, Europe and Middle East tabs, for gpt-5.4 (2026-03-05, GA, retires 2027-09-02). gpt-5.4 has no Standard (regional pay-as-you-go) row in the table. Selected regions only. Listed means published support only; it does not confirm subscription quota or deployable capacity.</a:t>
            </a:r>
          </a:p>
          <a:p/>
          <a:p>
            <a:r>
              <a:t>Sources (checked 11 Oct 2026):</a:t>
            </a:r>
          </a:p>
          <a:p>
            <a:r>
              <a:t>Foundry Models region availability (Europe and MEA tabs read in browser): https://learn.microsoft.com/en-us/azure/foundry/foundry-models/concepts/models-sold-directly-by-azure-region-availability</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"Acceptance requires demonstrable evidence". Proposed acceptance gates from the V3 proposal. Passing a finite test set does not prove universal security or model accuracy. Agree test cases, thresholds and exception authority in the SOW.</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Proposed acceptance gates from the V3 proposal. Passing a finite test set does not prove universal security or model accuracy.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"Bill of materials checklist for a defensible quote". Every row needs region, quantity, environment, USD unit rate, meter source, pricing date and monthly total. Distinguish shared allocations from incremental spend.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Every row needs region, quantity, environment, USD unit rate, meter source, pricing date and monthly total. Distinguish shared allocations from incremental spend.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hand-build what Microsoft already publishes. The AI Landing Zone gives us tested Bicep and Terraform modules for both the agent platform and the AI gateway. Our value is adapting it to the customer’s estate, closing gaps and proving it works.</a:t>
            </a:r>
          </a:p>
          <a:p/>
          <a:p>
            <a:r>
              <a:t>Likely question: Does the accelerator use preview services?</a:t>
            </a:r>
          </a:p>
          <a:p>
            <a:r>
              <a:t>Answer: It can. We check every service it deploys against GA status and the customer’s policy before use.</a:t>
            </a:r>
          </a:p>
          <a:p/>
          <a:p>
            <a:r>
              <a:t>DETAIL AND CAVEATS</a:t>
            </a:r>
          </a:p>
          <a:p>
            <a:r>
              <a:t>The Microsoft AI Landing Zone (github.com/Azure/AI-Landing-Zones) is an application landing zone deployable with or without a platform landing zone, with Portal, Bicep and Terraform implementations based on Azure Verified Modules. It contains an Agent Landing Zone (Foundry) and an AI Gateway Landing Zone (API Management), plus a design checklist. It may use preview services. Reuse saving of 20 to 30 percent of platform engineering effort is a CIS Infra estimate to prove in the pilot.</a:t>
            </a:r>
          </a:p>
          <a:p/>
          <a:p>
            <a:r>
              <a:t>Sources (checked 11 Oct 2026):</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customers always ask: where does the data come from, and what happens if a region fails. The data path is owned by the Data towers; we provide the private connectivity. For recovery there are three options, and the customer chooses based on cost and recovery time.</a:t>
            </a:r>
          </a:p>
          <a:p/>
          <a:p>
            <a:r>
              <a:t>Likely question: Can we promise a recovery time?</a:t>
            </a:r>
          </a:p>
          <a:p>
            <a:r>
              <a:t>Answer: Only after a tested failover. Model capacity in the second region is the usual constraint.</a:t>
            </a:r>
          </a:p>
          <a:p/>
          <a:p>
            <a:r>
              <a:t>DETAIL AND CAVEATS</a:t>
            </a:r>
          </a:p>
          <a:p>
            <a:r>
              <a:t>Data paths: documents in a Storage account, retrieval in AI Search, enterprise data through Microsoft Fabric and OneLake where the customer uses Fabric (Data tower owns design). DR options are customer choices with cost drivers; RTO and RPO must be tested per dependency. Model deployments may not have capacity in a second region on demand.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Ask this before any UK or Middle East quote: must model processing stay in the country? For the UK, in-country processing is possible only with reserved capacity in UK South. For the UAE and Saudi Arabia, the current model is not available in-country, so we must say so plainly or choose a different model.</a:t>
            </a:r>
          </a:p>
          <a:p/>
          <a:p>
            <a:r>
              <a:t>Likely question: Can we promise UAE data residency?</a:t>
            </a:r>
          </a:p>
          <a:p>
            <a:r>
              <a:t>Answer: Not for gpt-5.4 today. Data at rest can stay in-region, but model processing would be Global. The customer and its regulator decide whether that is acceptable.</a:t>
            </a:r>
          </a:p>
          <a:p/>
          <a:p>
            <a:r>
              <a:t>DETAIL AND CAVEATS</a:t>
            </a:r>
          </a:p>
          <a:p>
            <a:r>
              <a:t>Data residency gate for UK and Middle East pursuits, verified against the Foundry Models region availability page (Europe and Middle East tabs read in browser, 11 Oct 2026) for gpt-5.4 (2026-03-05). Global Standard may process in any Azure region. Data Zone keeps processing within the US or EU data zone; there is no UK or Middle East data zone. Regional provisioned (PTU) for gpt-5.4 is offered only in Germany West Central, Sweden Central and UK South. UAE North offers gpt-5.4 only as Global Standard; no Saudi region was listed. Availability is not quota or capacity. Recheck for the model actually in scope.</a:t>
            </a:r>
          </a:p>
          <a:p/>
          <a:p>
            <a:r>
              <a:t>Sources (checked 11 Oct 2026):</a:t>
            </a:r>
          </a:p>
          <a:p>
            <a:r>
              <a:t>Foundry Models region availability (Europe and MEA tabs read in browser): https://learn.microsoft.com/en-us/azure/foundry/foundry-models/concepts/models-sold-directly-by-azure-region-availability</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Fixed price is where offerings lose money. Our rule: no fixed price without a short assessment first, named change triggers in the SOW, a contingency set by Finance and acceptance by evidence gates.</a:t>
            </a:r>
          </a:p>
          <a:p/>
          <a:p>
            <a:r>
              <a:t>Likely question: What contingency do we hold?</a:t>
            </a:r>
          </a:p>
          <a:p>
            <a:r>
              <a:t>Answer: Finance sets it. We show where the risk sits so they can size it.</a:t>
            </a:r>
          </a:p>
          <a:p/>
          <a:p>
            <a:r>
              <a:t>DETAIL AND CAVEATS</a:t>
            </a:r>
          </a:p>
          <a:p>
            <a:r>
              <a:t>Fixed-price risk controls for delivery. Assess before quoting; name the change triggers in the SOW; hold a contingency agreed with Finance (amount is an input required); accept by gates with evidence.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14 or more with no zero on funding, authority, sponsor or the data residency gate;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2026 (released 3 Aug 2026), plus the MCP tool trust boundary, supply chain and identity threats specific to this offering. CIS Infra implements platform controls; Security owns threat modelling, policy and security operations.</a:t>
            </a:r>
          </a:p>
          <a:p/>
          <a:p>
            <a:r>
              <a:t>Sources (checked 11 Oct 2026):</a:t>
            </a:r>
          </a:p>
          <a:p>
            <a:r>
              <a:t>OWASP Top 10 for LLM Applications 2026 (OWASP GenAI Security Project, released 3 Aug 2026): https://genai.owasp.org/resource/owasp-genai-llm-top-10-2026/</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decide the compliance conversation: what role the customer holds under the EU AI Act, and which sector rules apply. We help with evidence and controls; the customer and its lawyers decide.</a:t>
            </a:r>
          </a:p>
          <a:p/>
          <a:p>
            <a:r>
              <a:t>Likely question: Does SR 11-7 still apply to our US bank clients?</a:t>
            </a:r>
          </a:p>
          <a:p>
            <a:r>
              <a:t>Answer: It was replaced in April 2026 by risk-based interagency guidance, and generative and agentic AI are out of its scope. Banks still expect governance, so we position audit evidence, not model validation.</a:t>
            </a:r>
          </a:p>
          <a:p/>
          <a:p>
            <a:r>
              <a:t>DETAIL AND CAVEATS</a:t>
            </a:r>
          </a:p>
          <a:p>
            <a:r>
              <a:t>EU AI Act roles are indicative: the customer is usually the deployer of an AI system and becomes a provider only if it develops a system and places it on the market or puts it into service under its own name. Cognizant, delivering infrastructure services, is normally neither, unless a contract says otherwise. Sector rows: DORA applies from 17 Jan 2025 (Regulation (EU) 2022/2554); NIS2 transposition deadline 17 Oct 2024 (Directive (EU) 2022/2555); Saudi PDPL effective 14 Sep 2023 and enforceable from Sep 2024 (Baker McKenzie summary, third party); US interagency model risk guidance issued 17 Apr 2026 replaced SR 11-7 and puts generative and agentic AI out of scope (JD Supra summary, third party). UK and UAE rows are not re-verified and are marked so. Cognizant does not give legal advice; customers take their own.</a:t>
            </a:r>
          </a:p>
          <a:p/>
          <a:p>
            <a:r>
              <a:t>Sources (checked 11 Oct 2026):</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r>
              <a:t>Directive (EU) 2022/2555 (NIS2), EUR-Lex: https://eur-lex.europa.eu/eli/dir/2022/2555/oj</a:t>
            </a:r>
          </a:p>
          <a:p>
            <a:r>
              <a:t>Saudi Arabia key data and cybersecurity laws (Baker McKenzie, third party, reviewed 31 Dec 2024): https://resourcehub.bakermckenzie.com/en/resources/global-data-and-cyber-handbook/emea/saudi-arabia/topics/key-data-and-cybersecurity-laws</a:t>
            </a:r>
          </a:p>
          <a:p>
            <a:r>
              <a:t>Banking regulators replace SR 11-7 with revised model risk guidance (JD Supra law-firm summary, third party): https://www.jdsupra.com/legalnews/banking-regulators-replace-5649360/</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Delivery will ask who does the work, and sellers will ask what they can use. This slide answers both honestly: the roles and skills are defined, current bench numbers are an input we still need, and most of the sales kit is still to build.</a:t>
            </a:r>
          </a:p>
          <a:p/>
          <a:p>
            <a:r>
              <a:t>Likely question: How long to get ready?</a:t>
            </a:r>
          </a:p>
          <a:p>
            <a:r>
              <a:t>Answer: The ramp-up column gives our estimate per role. Leadership can shorten it by funding enablement in the validation.</a:t>
            </a:r>
          </a:p>
          <a:p/>
          <a:p>
            <a:r>
              <a:t>DETAIL AND CAVEATS</a:t>
            </a:r>
          </a:p>
          <a:p>
            <a:r>
              <a:t>Skills and bench plan (delivery) and presales kit (sellers). Bench numbers are an input required from the CIS Infra delivery lead; no staffing is asserted. Certifications listed are Microsoft role-based certifications or specializations to confirm with the Microsoft alliance team. Kit status reflects what exists today in this proposal: decks and talk tracks exist; everything else is to build.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Account teams want to know where this fits and how big it gets. The top row is the account play, including a story for a business buyer, not only IT. The table is what Legal and Finance will want settled before we sign.</a:t>
            </a:r>
          </a:p>
          <a:p/>
          <a:p>
            <a:r>
              <a:t>Likely question: Will this compete with our existing infrastructure contract?</a:t>
            </a:r>
          </a:p>
          <a:p>
            <a:r>
              <a:t>Answer: No. In existing accounts we add it through change control as an extension, and the account leader decides the route.</a:t>
            </a:r>
          </a:p>
          <a:p/>
          <a:p>
            <a:r>
              <a:t>DETAIL AND CAVEATS</a:t>
            </a:r>
          </a:p>
          <a:p>
            <a:r>
              <a:t>Account play (where the offering fits in an existing account plan, first deal, expansion path and a business-led entry story) and contract risk positions. Contract positions are proposals for Legal and Finance; Cognizant standard terms prevail. Deal sizes use the illustrative $1,000 per role day. In accounts where Cognizant already runs infrastructure or managed services, position this offering as an extension of the existing contract through change control, not a competing bid.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Deck 02 builds the containment design and deck 05 operates it. This slide shows the part this offering provides.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Enforcement point 4 is the identity layer. Entra Conditional Access for agents can block or limit agent access when tokens are issued or refreshed; it requires Microsoft 365 E7, or Agent 365 plus Entra P1 or Microsoft 365 E3 (Microsoft Learn, updated 30 Sep 2026), and live sessions are not cut immediately,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90-day validation.</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Platform service acceptance is accountable to the customer; Cognizant roles are responsible for evidence.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 Id="rId24" Type="http://schemas.openxmlformats.org/officeDocument/2006/relationships/image" Target="../media/image31.png"/><Relationship Id="rId25" Type="http://schemas.openxmlformats.org/officeDocument/2006/relationships/image" Target="../media/image34.svg"/><Relationship Id="rId26" Type="http://schemas.openxmlformats.org/officeDocument/2006/relationships/image" Target="../media/image33.png"/><Relationship Id="rId27" Type="http://schemas.openxmlformats.org/officeDocument/2006/relationships/image" Target="../media/image36.svg"/><Relationship Id="rId28" Type="http://schemas.openxmlformats.org/officeDocument/2006/relationships/image" Target="../media/image35.png"/><Relationship Id="rId29" Type="http://schemas.openxmlformats.org/officeDocument/2006/relationships/image" Target="../media/image38.svg"/><Relationship Id="rId30" Type="http://schemas.openxmlformats.org/officeDocument/2006/relationships/image" Target="../media/image37.png"/><Relationship Id="rId31" Type="http://schemas.openxmlformats.org/officeDocument/2006/relationships/image" Target="../media/image40.svg"/><Relationship Id="rId32" Type="http://schemas.openxmlformats.org/officeDocument/2006/relationships/image" Target="../media/image39.png"/><Relationship Id="rId33" Type="http://schemas.openxmlformats.org/officeDocument/2006/relationships/image" Target="../media/image42.svg"/><Relationship Id="rId34" Type="http://schemas.openxmlformats.org/officeDocument/2006/relationships/image" Target="../media/image41.png"/><Relationship Id="rId35" Type="http://schemas.openxmlformats.org/officeDocument/2006/relationships/image" Target="../media/image44.svg"/><Relationship Id="rId36" Type="http://schemas.openxmlformats.org/officeDocument/2006/relationships/image" Target="../media/image43.png"/><Relationship Id="rId37" Type="http://schemas.openxmlformats.org/officeDocument/2006/relationships/image" Target="../media/image46.svg"/><Relationship Id="rId38" Type="http://schemas.openxmlformats.org/officeDocument/2006/relationships/image" Target="../media/image45.png"/><Relationship Id="rId39" Type="http://schemas.openxmlformats.org/officeDocument/2006/relationships/image" Target="../media/image4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47.png"/><Relationship Id="rId7" Type="http://schemas.openxmlformats.org/officeDocument/2006/relationships/image" Target="../media/image50.svg"/><Relationship Id="rId8"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49.png"/><Relationship Id="rId5" Type="http://schemas.openxmlformats.org/officeDocument/2006/relationships/image" Target="../media/image52.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53.png"/><Relationship Id="rId9" Type="http://schemas.openxmlformats.org/officeDocument/2006/relationships/image" Target="../media/image56.svg"/><Relationship Id="rId10" Type="http://schemas.openxmlformats.org/officeDocument/2006/relationships/image" Target="../media/image37.png"/><Relationship Id="rId11" Type="http://schemas.openxmlformats.org/officeDocument/2006/relationships/image" Target="../media/image40.svg"/><Relationship Id="rId12" Type="http://schemas.openxmlformats.org/officeDocument/2006/relationships/image" Target="../media/image55.png"/><Relationship Id="rId13" Type="http://schemas.openxmlformats.org/officeDocument/2006/relationships/image" Target="../media/image58.svg"/><Relationship Id="rId14" Type="http://schemas.openxmlformats.org/officeDocument/2006/relationships/image" Target="../media/image15.png"/><Relationship Id="rId15" Type="http://schemas.openxmlformats.org/officeDocument/2006/relationships/image" Target="../media/image18.svg"/><Relationship Id="rId16" Type="http://schemas.openxmlformats.org/officeDocument/2006/relationships/image" Target="../media/image17.png"/><Relationship Id="rId17" Type="http://schemas.openxmlformats.org/officeDocument/2006/relationships/image" Target="../media/image20.svg"/><Relationship Id="rId18" Type="http://schemas.openxmlformats.org/officeDocument/2006/relationships/image" Target="../media/image19.png"/><Relationship Id="rId19" Type="http://schemas.openxmlformats.org/officeDocument/2006/relationships/image" Target="../media/image22.svg"/><Relationship Id="rId20" Type="http://schemas.openxmlformats.org/officeDocument/2006/relationships/image" Target="../media/image57.png"/><Relationship Id="rId21" Type="http://schemas.openxmlformats.org/officeDocument/2006/relationships/image" Target="../media/image60.svg"/><Relationship Id="rId22" Type="http://schemas.openxmlformats.org/officeDocument/2006/relationships/image" Target="../media/image59.png"/><Relationship Id="rId23" Type="http://schemas.openxmlformats.org/officeDocument/2006/relationships/image" Target="../media/image62.svg"/><Relationship Id="rId24" Type="http://schemas.openxmlformats.org/officeDocument/2006/relationships/image" Target="../media/image61.png"/><Relationship Id="rId25" Type="http://schemas.openxmlformats.org/officeDocument/2006/relationships/image" Target="../media/image64.svg"/><Relationship Id="rId2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53.png"/><Relationship Id="rId7" Type="http://schemas.openxmlformats.org/officeDocument/2006/relationships/image" Target="../media/image56.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59.png"/><Relationship Id="rId5" Type="http://schemas.openxmlformats.org/officeDocument/2006/relationships/image" Target="../media/image62.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51.png"/><Relationship Id="rId9" Type="http://schemas.openxmlformats.org/officeDocument/2006/relationships/image" Target="../media/image54.svg"/><Relationship Id="rId10" Type="http://schemas.openxmlformats.org/officeDocument/2006/relationships/image" Target="../media/image27.png"/><Relationship Id="rId11" Type="http://schemas.openxmlformats.org/officeDocument/2006/relationships/image" Target="../media/image30.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image" Target="../media/image29.png"/><Relationship Id="rId15" Type="http://schemas.openxmlformats.org/officeDocument/2006/relationships/image" Target="../media/image32.svg"/><Relationship Id="rId16" Type="http://schemas.openxmlformats.org/officeDocument/2006/relationships/image" Target="../media/image31.png"/><Relationship Id="rId17" Type="http://schemas.openxmlformats.org/officeDocument/2006/relationships/image" Target="../media/image34.svg"/><Relationship Id="rId18" Type="http://schemas.openxmlformats.org/officeDocument/2006/relationships/image" Target="../media/image63.png"/><Relationship Id="rId19" Type="http://schemas.openxmlformats.org/officeDocument/2006/relationships/image" Target="../media/image66.svg"/><Relationship Id="rId20" Type="http://schemas.openxmlformats.org/officeDocument/2006/relationships/image" Target="../media/image33.png"/><Relationship Id="rId21" Type="http://schemas.openxmlformats.org/officeDocument/2006/relationships/image" Target="../media/image36.svg"/><Relationship Id="rId22" Type="http://schemas.openxmlformats.org/officeDocument/2006/relationships/image" Target="../media/image37.png"/><Relationship Id="rId23" Type="http://schemas.openxmlformats.org/officeDocument/2006/relationships/image" Target="../media/image40.svg"/><Relationship Id="rId24" Type="http://schemas.openxmlformats.org/officeDocument/2006/relationships/image" Target="../media/image17.png"/><Relationship Id="rId25" Type="http://schemas.openxmlformats.org/officeDocument/2006/relationships/image" Target="../media/image20.svg"/><Relationship Id="rId26" Type="http://schemas.openxmlformats.org/officeDocument/2006/relationships/image" Target="../media/image35.png"/><Relationship Id="rId27" Type="http://schemas.openxmlformats.org/officeDocument/2006/relationships/image" Target="../media/image38.svg"/><Relationship Id="rId28" Type="http://schemas.openxmlformats.org/officeDocument/2006/relationships/image" Target="../media/image43.png"/><Relationship Id="rId29" Type="http://schemas.openxmlformats.org/officeDocument/2006/relationships/image" Target="../media/image46.svg"/><Relationship Id="rId30"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31.png"/><Relationship Id="rId5" Type="http://schemas.openxmlformats.org/officeDocument/2006/relationships/image" Target="../media/image34.svg"/><Relationship Id="rId6" Type="http://schemas.openxmlformats.org/officeDocument/2006/relationships/image" Target="../media/image33.png"/><Relationship Id="rId7" Type="http://schemas.openxmlformats.org/officeDocument/2006/relationships/image" Target="../media/image36.svg"/><Relationship Id="rId8" Type="http://schemas.openxmlformats.org/officeDocument/2006/relationships/image" Target="../media/image63.png"/><Relationship Id="rId9" Type="http://schemas.openxmlformats.org/officeDocument/2006/relationships/image" Target="../media/image66.svg"/><Relationship Id="rId10" Type="http://schemas.openxmlformats.org/officeDocument/2006/relationships/image" Target="../media/image35.png"/><Relationship Id="rId11" Type="http://schemas.openxmlformats.org/officeDocument/2006/relationships/image" Target="../media/image38.svg"/><Relationship Id="rId12"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39.png"/><Relationship Id="rId5" Type="http://schemas.openxmlformats.org/officeDocument/2006/relationships/image" Target="../media/image42.svg"/><Relationship Id="rId6" Type="http://schemas.openxmlformats.org/officeDocument/2006/relationships/image" Target="../media/image47.png"/><Relationship Id="rId7" Type="http://schemas.openxmlformats.org/officeDocument/2006/relationships/image" Target="../media/image50.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65.png"/><Relationship Id="rId5" Type="http://schemas.openxmlformats.org/officeDocument/2006/relationships/image" Target="../media/image68.svg"/><Relationship Id="rId6" Type="http://schemas.openxmlformats.org/officeDocument/2006/relationships/image" Target="../media/image45.png"/><Relationship Id="rId7" Type="http://schemas.openxmlformats.org/officeDocument/2006/relationships/image" Target="../media/image48.svg"/><Relationship Id="rId8" Type="http://schemas.openxmlformats.org/officeDocument/2006/relationships/image" Target="../media/image67.png"/><Relationship Id="rId9" Type="http://schemas.openxmlformats.org/officeDocument/2006/relationships/image" Target="../media/image70.svg"/><Relationship Id="rId10" Type="http://schemas.openxmlformats.org/officeDocument/2006/relationships/image" Target="../media/image69.png"/><Relationship Id="rId11" Type="http://schemas.openxmlformats.org/officeDocument/2006/relationships/image" Target="../media/image72.svg"/><Relationship Id="rId12"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71.png"/><Relationship Id="rId7" Type="http://schemas.openxmlformats.org/officeDocument/2006/relationships/image" Target="../media/image74.svg"/><Relationship Id="rId8" Type="http://schemas.openxmlformats.org/officeDocument/2006/relationships/image" Target="../media/image39.png"/><Relationship Id="rId9" Type="http://schemas.openxmlformats.org/officeDocument/2006/relationships/image" Target="../media/image42.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hyperlink" Target="https://learn.microsoft.com/en-us/azure/cloud-adoption-framework/ai/ready" TargetMode="External"/><Relationship Id="rId5" Type="http://schemas.openxmlformats.org/officeDocument/2006/relationships/hyperlink" Target="https://learn.microsoft.com/en-us/azure/foundry/foundry-models/concepts/deployment-types" TargetMode="External"/><Relationship Id="rId6" Type="http://schemas.openxmlformats.org/officeDocument/2006/relationships/hyperlink" Target="https://learn.microsoft.com/en-us/azure/foundry/foundry-models/concepts/models-sold-directly-by-azure-region-availability" TargetMode="External"/><Relationship Id="rId7" Type="http://schemas.openxmlformats.org/officeDocument/2006/relationships/hyperlink" Target="https://learn.microsoft.com/en-us/azure/foundry/openai/concepts/model-retirement-schedule" TargetMode="External"/><Relationship Id="rId8" Type="http://schemas.openxmlformats.org/officeDocument/2006/relationships/hyperlink" Target="https://learn.microsoft.com/en-us/azure/foundry/control-plane/how-to-manage-agents" TargetMode="External"/><Relationship Id="rId9" Type="http://schemas.openxmlformats.org/officeDocument/2006/relationships/hyperlink" Target="https://prices.azure.com/api/retail/prices?$filter=serviceName eq 'Log Analytics' and armRegionName eq 'eastus2'" TargetMode="External"/><Relationship Id="rId10" Type="http://schemas.openxmlformats.org/officeDocument/2006/relationships/hyperlink" Target="https://learn.microsoft.com/en-us/azure/architecture/icons/" TargetMode="External"/><Relationship Id="rId11" Type="http://schemas.openxmlformats.org/officeDocument/2006/relationships/hyperlink" Target="https://az-icons.com/" TargetMode="External"/><Relationship Id="rId12" Type="http://schemas.openxmlformats.org/officeDocument/2006/relationships/hyperlink" Target="https://learn.microsoft.com/en-us/azure/architecture/browse/" TargetMode="External"/><Relationship Id="rId13" Type="http://schemas.openxmlformats.org/officeDocument/2006/relationships/hyperlink" Target="https://github.com/upendra25312/AI-Foundry-GTM-offering-/blob/main/CIS_Infra_Azure_AI_Platform_GTM_Proposal_V3.docx" TargetMode="External"/><Relationship Id="rId14" Type="http://schemas.openxmlformats.org/officeDocument/2006/relationships/hyperlink" Target="https://github.com/Azure/AI-Landing-Zones" TargetMode="External"/><Relationship Id="rId15" Type="http://schemas.openxmlformats.org/officeDocument/2006/relationships/hyperlink" Target="https://learn.microsoft.com/en-us/azure/architecture/ai-ml/architecture/baseline-microsoft-foundry-landing-zone" TargetMode="External"/><Relationship Id="rId16" Type="http://schemas.openxmlformats.org/officeDocument/2006/relationships/hyperlink" Target="https://learn.microsoft.com/en-us/azure/app-service/overview-private-endpoint" TargetMode="External"/><Relationship Id="rId17"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hyperlink" Target="https://github.com/Azure/AI-Landing-Zones" TargetMode="External"/><Relationship Id="rId5" Type="http://schemas.openxmlformats.org/officeDocument/2006/relationships/hyperlink" Target="https://www.orrick.com/en/Insights/2026/07/EU-AI-Act-Update-Digital-Omnibus-Finalizes-8-Compliance-Changes" TargetMode="External"/><Relationship Id="rId6" Type="http://schemas.openxmlformats.org/officeDocument/2006/relationships/hyperlink" Target="https://learn.microsoft.com/en-us/azure/defender-for-cloud/ai-threat-protection" TargetMode="External"/><Relationship Id="rId7" Type="http://schemas.openxmlformats.org/officeDocument/2006/relationships/hyperlink" Target="https://learn.microsoft.com/en-us/purview/ai-microsoft-purview" TargetMode="External"/><Relationship Id="rId8" Type="http://schemas.openxmlformats.org/officeDocument/2006/relationships/hyperlink" Target="https://www.microsoft.com/en-us/security/blog/2026/05/01/microsoft-agent-365-now-generally-available-expands-capabilities-and-integrations/" TargetMode="External"/><Relationship Id="rId9" Type="http://schemas.openxmlformats.org/officeDocument/2006/relationships/hyperlink" Target="https://learn.microsoft.com/en-us/azure/api-center/register-discover-mcp-server" TargetMode="External"/><Relationship Id="rId10"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Platform / Landing Zone</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A governed Azure foundation for one funded AI workload, then the next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Assess, extend an existing landing zone, or establish a new foundation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An accepted AI platform in 12 to 20 weeks, not hours sold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AI pilots stall at the platform: network, identity, environments, capacity and support ownership are unresolved.</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CIS Infra assesses, extends or establishes the Azure foundation for one approved workload, reusing Microsoft’s AI Landing Zone accelerator.</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An accepted, repeatable environment with tested controls, cost visibility and a named operating owner.</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Weeks from approval to first production AI workload; governed Azure consumption for Microsoft.</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Nominate a sponsor and tower leads for a 90-day validation</a:t>
            </a:r>
          </a:p>
          <a:p>
            <a:pPr algn="l" marL="201168" indent="-201168">
              <a:spcAft>
                <a:spcPts val="1000"/>
              </a:spcAft>
              <a:buFont typeface="Arial"/>
              <a:buChar char="•"/>
            </a:pPr>
            <a:r>
              <a:rPr sz="2000" b="0" i="0">
                <a:solidFill>
                  <a:srgbClr val="FFFFFF"/>
                </a:solidFill>
                <a:latin typeface="Arial"/>
              </a:rPr>
              <a:t>Adopt assess, extend, establish and transition as the packages</a:t>
            </a:r>
          </a:p>
          <a:p>
            <a:pPr algn="l" marL="201168" indent="-201168">
              <a:spcAft>
                <a:spcPts val="1000"/>
              </a:spcAft>
              <a:buFont typeface="Arial"/>
              <a:buChar char="•"/>
            </a:pPr>
            <a:r>
              <a:rPr sz="2000" b="0" i="0">
                <a:solidFill>
                  <a:srgbClr val="FFFFFF"/>
                </a:solidFill>
                <a:latin typeface="Arial"/>
              </a:rPr>
              <a:t>Accept labelled estimate ranges for go or no-go</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Proposed offering. No approved rate card, staffing commitment or customer evidence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workloads reach production faster on a ready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Pilot to production</a:t>
            </a:r>
          </a:p>
          <a:p>
            <a:pPr algn="l">
              <a:spcAft>
                <a:spcPts val="400"/>
              </a:spcAft>
            </a:pPr>
            <a:r>
              <a:rPr sz="1800" b="0" i="0">
                <a:solidFill>
                  <a:srgbClr val="1E1E2E"/>
                </a:solidFill>
                <a:latin typeface="Arial"/>
              </a:rPr>
              <a:t>Microsoft guidance now expects AI workloads in governed landing zones with private networking.</a:t>
            </a:r>
          </a:p>
          <a:p>
            <a:pPr algn="l"/>
            <a:r>
              <a:rPr sz="1200" b="0" i="0">
                <a:solidFill>
                  <a:srgbClr val="53565A"/>
                </a:solidFill>
                <a:latin typeface="Arial"/>
              </a:rPr>
              <a:t>Source: Cloud Adoption Framework, AI Ready</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change yearly</a:t>
            </a:r>
          </a:p>
          <a:p>
            <a:pPr algn="l">
              <a:spcAft>
                <a:spcPts val="400"/>
              </a:spcAft>
            </a:pPr>
            <a:r>
              <a:rPr sz="1800" b="0" i="0">
                <a:solidFill>
                  <a:srgbClr val="1E1E2E"/>
                </a:solidFill>
                <a:latin typeface="Arial"/>
              </a:rPr>
              <a:t>gpt-4.1 retires 14 Apr 2027 and gpt-5.4 on 2 Sep 2027. Platforms must absorb model churn.</a:t>
            </a:r>
          </a:p>
          <a:p>
            <a:pPr algn="l"/>
            <a:r>
              <a:rPr sz="1200" b="0" i="0">
                <a:solidFill>
                  <a:srgbClr val="53565A"/>
                </a:solidFill>
                <a:latin typeface="Arial"/>
              </a:rPr>
              <a:t>Source: Foundry retirement schedule, checked 11 Oct 2026</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Regulation is landing</a:t>
            </a:r>
          </a:p>
          <a:p>
            <a:pPr algn="l">
              <a:spcAft>
                <a:spcPts val="400"/>
              </a:spcAft>
            </a:pPr>
            <a:r>
              <a:rPr sz="1800" b="0" i="0">
                <a:solidFill>
                  <a:srgbClr val="1E1E2E"/>
                </a:solidFill>
                <a:latin typeface="Arial"/>
              </a:rPr>
              <a:t>EU AI Act high-risk obligations apply from 2 Dec 2027 (Annex III).</a:t>
            </a:r>
          </a:p>
          <a:p>
            <a:pPr algn="l"/>
            <a:r>
              <a:rPr sz="1200" b="0" i="0">
                <a:solidFill>
                  <a:srgbClr val="53565A"/>
                </a:solidFill>
                <a:latin typeface="Arial"/>
              </a:rPr>
              <a:t>Source: Orrick (third party); EUR-Lex not verified</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Platform or infrastructure leader as sponsor, with CIO funding, the business workload owner and a CISO delegate.</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 pilot blocked by network, identity or environment gaps; repeated manual setup; unclear support ownership.</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01 builds the platform every other offering runs 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01  THIS OFFERING</a:t>
            </a:r>
          </a:p>
          <a:p>
            <a:pPr algn="l"/>
            <a:r>
              <a:rPr sz="1500" b="1" i="0">
                <a:solidFill>
                  <a:srgbClr val="FFFFFF"/>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04 Capacity and FinOps</a:t>
            </a:r>
          </a:p>
          <a:p>
            <a:pPr algn="l"/>
            <a:r>
              <a:rPr sz="1600" b="0" i="0">
                <a:solidFill>
                  <a:srgbClr val="1E1E2E"/>
                </a:solidFill>
                <a:latin typeface="Arial"/>
              </a:rPr>
              <a:t>Deployment type, processing boundary, quota plan</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03 Gateway and 02 Governance</a:t>
            </a:r>
          </a:p>
          <a:p>
            <a:pPr algn="l"/>
            <a:r>
              <a:rPr sz="1600" b="0" i="0">
                <a:solidFill>
                  <a:srgbClr val="1E1E2E"/>
                </a:solidFill>
                <a:latin typeface="Arial"/>
              </a:rPr>
              <a:t>Network, identities, hosting and telemetry</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05 Managed Operations</a:t>
            </a:r>
          </a:p>
          <a:p>
            <a:pPr algn="l"/>
            <a:r>
              <a:rPr sz="1600" b="0" i="0">
                <a:solidFill>
                  <a:srgbClr val="1E1E2E"/>
                </a:solidFill>
                <a:latin typeface="Arial"/>
              </a:rPr>
              <a:t>Accepted platform, runbooks and cost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We build and prove the platform; workload teams own the rest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Subscriptions, policy, tags</a:t>
            </a:r>
          </a:p>
          <a:p>
            <a:pPr algn="l" marL="201168" indent="-201168">
              <a:spcAft>
                <a:spcPts val="800"/>
              </a:spcAft>
              <a:buFont typeface="Arial"/>
              <a:buChar char="•"/>
            </a:pPr>
            <a:r>
              <a:rPr sz="1800" b="0" i="0">
                <a:solidFill>
                  <a:srgbClr val="1E1E2E"/>
                </a:solidFill>
                <a:latin typeface="Arial"/>
              </a:rPr>
              <a:t>Hub links, private endpoints, DNS</a:t>
            </a:r>
          </a:p>
          <a:p>
            <a:pPr algn="l" marL="201168" indent="-201168">
              <a:spcAft>
                <a:spcPts val="800"/>
              </a:spcAft>
              <a:buFont typeface="Arial"/>
              <a:buChar char="•"/>
            </a:pPr>
            <a:r>
              <a:rPr sz="1800" b="0" i="0">
                <a:solidFill>
                  <a:srgbClr val="1E1E2E"/>
                </a:solidFill>
                <a:latin typeface="Arial"/>
              </a:rPr>
              <a:t>Foundry project and model endpoint</a:t>
            </a:r>
          </a:p>
          <a:p>
            <a:pPr algn="l" marL="201168" indent="-201168">
              <a:spcAft>
                <a:spcPts val="800"/>
              </a:spcAft>
              <a:buFont typeface="Arial"/>
              <a:buChar char="•"/>
            </a:pPr>
            <a:r>
              <a:rPr sz="1800" b="0" i="0">
                <a:solidFill>
                  <a:srgbClr val="1E1E2E"/>
                </a:solidFill>
                <a:latin typeface="Arial"/>
              </a:rPr>
              <a:t>Monitoring, budgets, recovery</a:t>
            </a:r>
          </a:p>
          <a:p>
            <a:pPr algn="l" marL="201168" indent="-201168">
              <a:spcAft>
                <a:spcPts val="800"/>
              </a:spcAft>
              <a:buFont typeface="Arial"/>
              <a:buChar char="•"/>
            </a:pPr>
            <a:r>
              <a:rPr sz="1800" b="0" i="0">
                <a:solidFill>
                  <a:srgbClr val="1E1E2E"/>
                </a:solidFill>
                <a:latin typeface="Arial"/>
              </a:rPr>
              <a:t>Integrated plan and handover</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More workloads or regions</a:t>
            </a:r>
          </a:p>
          <a:p>
            <a:pPr algn="l" marL="201168" indent="-201168">
              <a:spcAft>
                <a:spcPts val="800"/>
              </a:spcAft>
              <a:buFont typeface="Arial"/>
              <a:buChar char="•"/>
            </a:pPr>
            <a:r>
              <a:rPr sz="1800" b="0" i="0">
                <a:solidFill>
                  <a:srgbClr val="1E1E2E"/>
                </a:solidFill>
                <a:latin typeface="Arial"/>
              </a:rPr>
              <a:t>Disaster recovery</a:t>
            </a:r>
          </a:p>
          <a:p>
            <a:pPr algn="l" marL="201168" indent="-201168">
              <a:spcAft>
                <a:spcPts val="800"/>
              </a:spcAft>
              <a:buFont typeface="Arial"/>
              <a:buChar char="•"/>
            </a:pPr>
            <a:r>
              <a:rPr sz="1800" b="0" i="0">
                <a:solidFill>
                  <a:srgbClr val="1E1E2E"/>
                </a:solidFill>
                <a:latin typeface="Arial"/>
              </a:rPr>
              <a:t>AI Gateway (offering 03)</a:t>
            </a:r>
          </a:p>
          <a:p>
            <a:pPr algn="l" marL="201168" indent="-201168">
              <a:spcAft>
                <a:spcPts val="800"/>
              </a:spcAft>
              <a:buFont typeface="Arial"/>
              <a:buChar char="•"/>
            </a:pPr>
            <a:r>
              <a:rPr sz="1800" b="0" i="0">
                <a:solidFill>
                  <a:srgbClr val="1E1E2E"/>
                </a:solidFill>
                <a:latin typeface="Arial"/>
              </a:rPr>
              <a:t>Agent governance (offering 02)</a:t>
            </a:r>
          </a:p>
          <a:p>
            <a:pPr algn="l" marL="201168" indent="-201168">
              <a:spcAft>
                <a:spcPts val="800"/>
              </a:spcAft>
              <a:buFont typeface="Arial"/>
              <a:buChar char="•"/>
            </a:pPr>
            <a:r>
              <a:rPr sz="1800" b="0" i="0">
                <a:solidFill>
                  <a:srgbClr val="1E1E2E"/>
                </a:solidFill>
                <a:latin typeface="Arial"/>
              </a:rPr>
              <a:t>Operations (offering 05)</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Security: control design</a:t>
            </a:r>
          </a:p>
          <a:p>
            <a:pPr algn="l" marL="201168" indent="-201168">
              <a:spcAft>
                <a:spcPts val="800"/>
              </a:spcAft>
              <a:buFont typeface="Arial"/>
              <a:buChar char="•"/>
            </a:pPr>
            <a:r>
              <a:rPr sz="1800" b="0" i="0">
                <a:solidFill>
                  <a:srgbClr val="1E1E2E"/>
                </a:solidFill>
                <a:latin typeface="Arial"/>
              </a:rPr>
              <a:t>DevOps: Terraform pipelines</a:t>
            </a:r>
          </a:p>
          <a:p>
            <a:pPr algn="l" marL="201168" indent="-201168">
              <a:spcAft>
                <a:spcPts val="800"/>
              </a:spcAft>
              <a:buFont typeface="Arial"/>
              <a:buChar char="•"/>
            </a:pPr>
            <a:r>
              <a:rPr sz="1800" b="0" i="0">
                <a:solidFill>
                  <a:srgbClr val="1E1E2E"/>
                </a:solidFill>
                <a:latin typeface="Arial"/>
              </a:rPr>
              <a:t>AI: models, agents, quality</a:t>
            </a:r>
          </a:p>
          <a:p>
            <a:pPr algn="l" marL="201168" indent="-201168">
              <a:spcAft>
                <a:spcPts val="800"/>
              </a:spcAft>
              <a:buFont typeface="Arial"/>
              <a:buChar char="•"/>
            </a:pPr>
            <a:r>
              <a:rPr sz="1800" b="0" i="0">
                <a:solidFill>
                  <a:srgbClr val="1E1E2E"/>
                </a:solidFill>
                <a:latin typeface="Arial"/>
              </a:rPr>
              <a:t>Data teams: data and ingestion</a:t>
            </a:r>
          </a:p>
          <a:p>
            <a:pPr algn="l" marL="201168" indent="-201168">
              <a:spcAft>
                <a:spcPts val="800"/>
              </a:spcAft>
              <a:buFont typeface="Arial"/>
              <a:buChar char="•"/>
            </a:pPr>
            <a:r>
              <a:rPr sz="1800" b="0" i="0">
                <a:solidFill>
                  <a:srgbClr val="1E1E2E"/>
                </a:solidFill>
                <a:latin typeface="Arial"/>
              </a:rPr>
              <a:t>Customer: data rights, risk</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CIS Infra does not own model quality, application behaviour, data quality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 shared platform keeps each AI workload private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063240" cy="4343400"/>
          </a:xfrm>
          <a:prstGeom prst="roundRect">
            <a:avLst>
              <a:gd name="adj" fmla="val 298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43784" cy="237744"/>
          </a:xfrm>
          <a:prstGeom prst="rect">
            <a:avLst/>
          </a:prstGeom>
          <a:noFill/>
        </p:spPr>
        <p:txBody>
          <a:bodyPr wrap="square" lIns="0" rIns="0" tIns="0" bIns="0" anchor="t">
            <a:noAutofit/>
          </a:bodyPr>
          <a:lstStyle/>
          <a:p>
            <a:pPr algn="l"/>
            <a:r>
              <a:rPr sz="1200" b="1" i="0">
                <a:solidFill>
                  <a:srgbClr val="000048"/>
                </a:solidFill>
                <a:latin typeface="Arial"/>
              </a:rPr>
              <a:t>PLATFORM LANDING ZONE (SHARED)</a:t>
            </a:r>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764792"/>
            <a:ext cx="384048" cy="384048"/>
          </a:xfrm>
          <a:prstGeom prst="rect">
            <a:avLst/>
          </a:prstGeom>
        </p:spPr>
      </p:pic>
      <p:sp>
        <p:nvSpPr>
          <p:cNvPr id="11" name="TextBox 10"/>
          <p:cNvSpPr txBox="1"/>
          <p:nvPr/>
        </p:nvSpPr>
        <p:spPr>
          <a:xfrm>
            <a:off x="1078992" y="1728216"/>
            <a:ext cx="2267712" cy="457199"/>
          </a:xfrm>
          <a:prstGeom prst="rect">
            <a:avLst/>
          </a:prstGeom>
          <a:noFill/>
        </p:spPr>
        <p:txBody>
          <a:bodyPr wrap="square" lIns="0" rIns="0" tIns="0" bIns="0" anchor="ctr">
            <a:noAutofit/>
          </a:bodyPr>
          <a:lstStyle/>
          <a:p>
            <a:pPr algn="l"/>
            <a:r>
              <a:rPr sz="1300" b="1" i="0">
                <a:solidFill>
                  <a:srgbClr val="000048"/>
                </a:solidFill>
                <a:latin typeface="Arial"/>
              </a:rPr>
              <a:t>Management groups</a:t>
            </a:r>
          </a:p>
          <a:p>
            <a:pPr algn="l"/>
            <a:r>
              <a:rPr sz="1200" b="0" i="0">
                <a:solidFill>
                  <a:srgbClr val="53565A"/>
                </a:solidFill>
                <a:latin typeface="Arial"/>
              </a:rPr>
              <a:t>policy and RBAC inheritance</a:t>
            </a:r>
          </a:p>
        </p:txBody>
      </p:sp>
      <p:pic>
        <p:nvPicPr>
          <p:cNvPr id="12" name="Azure icon: Azure Policy" descr="Official Azure icon: Azure Policy"/>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359152"/>
            <a:ext cx="384048" cy="384048"/>
          </a:xfrm>
          <a:prstGeom prst="rect">
            <a:avLst/>
          </a:prstGeom>
        </p:spPr>
      </p:pic>
      <p:sp>
        <p:nvSpPr>
          <p:cNvPr id="13" name="TextBox 12"/>
          <p:cNvSpPr txBox="1"/>
          <p:nvPr/>
        </p:nvSpPr>
        <p:spPr>
          <a:xfrm>
            <a:off x="1078992" y="232257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Policy</a:t>
            </a:r>
          </a:p>
          <a:p>
            <a:pPr algn="l"/>
            <a:r>
              <a:rPr sz="1200" b="0" i="0">
                <a:solidFill>
                  <a:srgbClr val="53565A"/>
                </a:solidFill>
                <a:latin typeface="Arial"/>
              </a:rPr>
              <a:t>guardrails and tags</a:t>
            </a:r>
          </a:p>
        </p:txBody>
      </p:sp>
      <p:pic>
        <p:nvPicPr>
          <p:cNvPr id="14" name="Azure icon: Virtual Networks" descr="Official Azure icon: Virtual Networ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2953512"/>
            <a:ext cx="384048" cy="384048"/>
          </a:xfrm>
          <a:prstGeom prst="rect">
            <a:avLst/>
          </a:prstGeom>
        </p:spPr>
      </p:pic>
      <p:sp>
        <p:nvSpPr>
          <p:cNvPr id="15" name="TextBox 14"/>
          <p:cNvSpPr txBox="1"/>
          <p:nvPr/>
        </p:nvSpPr>
        <p:spPr>
          <a:xfrm>
            <a:off x="1078992" y="2916936"/>
            <a:ext cx="2267712" cy="457199"/>
          </a:xfrm>
          <a:prstGeom prst="rect">
            <a:avLst/>
          </a:prstGeom>
          <a:noFill/>
        </p:spPr>
        <p:txBody>
          <a:bodyPr wrap="square" lIns="0" rIns="0" tIns="0" bIns="0" anchor="ctr">
            <a:noAutofit/>
          </a:bodyPr>
          <a:lstStyle/>
          <a:p>
            <a:pPr algn="l"/>
            <a:r>
              <a:rPr sz="1300" b="1" i="0">
                <a:solidFill>
                  <a:srgbClr val="000048"/>
                </a:solidFill>
                <a:latin typeface="Arial"/>
              </a:rPr>
              <a:t>Hub virtual network</a:t>
            </a:r>
          </a:p>
          <a:p>
            <a:pPr algn="l"/>
            <a:r>
              <a:rPr sz="1200" b="0" i="0">
                <a:solidFill>
                  <a:srgbClr val="53565A"/>
                </a:solidFill>
                <a:latin typeface="Arial"/>
              </a:rPr>
              <a:t>peering to spokes</a:t>
            </a:r>
          </a:p>
        </p:txBody>
      </p:sp>
      <p:pic>
        <p:nvPicPr>
          <p:cNvPr id="16"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547872"/>
            <a:ext cx="384048" cy="384048"/>
          </a:xfrm>
          <a:prstGeom prst="rect">
            <a:avLst/>
          </a:prstGeom>
        </p:spPr>
      </p:pic>
      <p:sp>
        <p:nvSpPr>
          <p:cNvPr id="17" name="TextBox 16"/>
          <p:cNvSpPr txBox="1"/>
          <p:nvPr/>
        </p:nvSpPr>
        <p:spPr>
          <a:xfrm>
            <a:off x="1078992" y="351129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Firewall</a:t>
            </a:r>
          </a:p>
          <a:p>
            <a:pPr algn="l"/>
            <a:r>
              <a:rPr sz="1200" b="0" i="0">
                <a:solidFill>
                  <a:srgbClr val="53565A"/>
                </a:solidFill>
                <a:latin typeface="Arial"/>
              </a:rPr>
              <a:t>controlled egress</a:t>
            </a:r>
          </a:p>
        </p:txBody>
      </p:sp>
      <p:pic>
        <p:nvPicPr>
          <p:cNvPr id="18" name="Azure icon: DNS Private Resolver" descr="Official Azure icon: DNS Private Resolve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142232"/>
            <a:ext cx="384048" cy="384048"/>
          </a:xfrm>
          <a:prstGeom prst="rect">
            <a:avLst/>
          </a:prstGeom>
        </p:spPr>
      </p:pic>
      <p:sp>
        <p:nvSpPr>
          <p:cNvPr id="19" name="TextBox 18"/>
          <p:cNvSpPr txBox="1"/>
          <p:nvPr/>
        </p:nvSpPr>
        <p:spPr>
          <a:xfrm>
            <a:off x="1078992" y="4105656"/>
            <a:ext cx="2267712" cy="457199"/>
          </a:xfrm>
          <a:prstGeom prst="rect">
            <a:avLst/>
          </a:prstGeom>
          <a:noFill/>
        </p:spPr>
        <p:txBody>
          <a:bodyPr wrap="square" lIns="0" rIns="0" tIns="0" bIns="0" anchor="ctr">
            <a:noAutofit/>
          </a:bodyPr>
          <a:lstStyle/>
          <a:p>
            <a:pPr algn="l"/>
            <a:r>
              <a:rPr sz="1300" b="1" i="0">
                <a:solidFill>
                  <a:srgbClr val="000048"/>
                </a:solidFill>
                <a:latin typeface="Arial"/>
              </a:rPr>
              <a:t>DNS Private Resolver</a:t>
            </a:r>
          </a:p>
          <a:p>
            <a:pPr algn="l"/>
            <a:r>
              <a:rPr sz="1200" b="0" i="0">
                <a:solidFill>
                  <a:srgbClr val="53565A"/>
                </a:solidFill>
                <a:latin typeface="Arial"/>
              </a:rPr>
              <a:t>private DNS zones</a:t>
            </a:r>
          </a:p>
        </p:txBody>
      </p:sp>
      <p:pic>
        <p:nvPicPr>
          <p:cNvPr id="20" name="Azure icon: Entra Privileged Identity Management" descr="Official Azure icon: Entra Privileged Identity Management"/>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1792" y="4736592"/>
            <a:ext cx="384048" cy="384048"/>
          </a:xfrm>
          <a:prstGeom prst="rect">
            <a:avLst/>
          </a:prstGeom>
        </p:spPr>
      </p:pic>
      <p:sp>
        <p:nvSpPr>
          <p:cNvPr id="21" name="TextBox 20"/>
          <p:cNvSpPr txBox="1"/>
          <p:nvPr/>
        </p:nvSpPr>
        <p:spPr>
          <a:xfrm>
            <a:off x="1078992" y="4700016"/>
            <a:ext cx="2267712" cy="457199"/>
          </a:xfrm>
          <a:prstGeom prst="rect">
            <a:avLst/>
          </a:prstGeom>
          <a:noFill/>
        </p:spPr>
        <p:txBody>
          <a:bodyPr wrap="square" lIns="0" rIns="0" tIns="0" bIns="0" anchor="ctr">
            <a:noAutofit/>
          </a:bodyPr>
          <a:lstStyle/>
          <a:p>
            <a:pPr algn="l"/>
            <a:r>
              <a:rPr sz="1300" b="1" i="0">
                <a:solidFill>
                  <a:srgbClr val="000048"/>
                </a:solidFill>
                <a:latin typeface="Arial"/>
              </a:rPr>
              <a:t>Entra PIM</a:t>
            </a:r>
          </a:p>
          <a:p>
            <a:pPr algn="l"/>
            <a:r>
              <a:rPr sz="1200" b="0" i="0">
                <a:solidFill>
                  <a:srgbClr val="53565A"/>
                </a:solidFill>
                <a:latin typeface="Arial"/>
              </a:rPr>
              <a:t>privileged operator access</a:t>
            </a:r>
          </a:p>
        </p:txBody>
      </p:sp>
      <p:sp>
        <p:nvSpPr>
          <p:cNvPr id="22" name="Rounded Rectangle 21"/>
          <p:cNvSpPr/>
          <p:nvPr/>
        </p:nvSpPr>
        <p:spPr>
          <a:xfrm>
            <a:off x="3886200" y="1325880"/>
            <a:ext cx="7909560" cy="2423160"/>
          </a:xfrm>
          <a:prstGeom prst="roundRect">
            <a:avLst>
              <a:gd name="adj" fmla="val 3773"/>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95928" y="1380744"/>
            <a:ext cx="7690104" cy="237744"/>
          </a:xfrm>
          <a:prstGeom prst="rect">
            <a:avLst/>
          </a:prstGeom>
          <a:noFill/>
        </p:spPr>
        <p:txBody>
          <a:bodyPr wrap="square" lIns="0" rIns="0" tIns="0" bIns="0" anchor="t">
            <a:noAutofit/>
          </a:bodyPr>
          <a:lstStyle/>
          <a:p>
            <a:pPr algn="l"/>
            <a:r>
              <a:rPr sz="1200" b="1" i="0">
                <a:solidFill>
                  <a:srgbClr val="000048"/>
                </a:solidFill>
                <a:latin typeface="Arial"/>
              </a:rPr>
              <a:t>PRODUCTION WORKLOAD SUBSCRIPTION</a:t>
            </a:r>
          </a:p>
        </p:txBody>
      </p:sp>
      <p:pic>
        <p:nvPicPr>
          <p:cNvPr id="24" name="Azure icon: Application Gateways" descr="Official Azure icon: Application Gateway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25112" y="1783080"/>
            <a:ext cx="420624" cy="420624"/>
          </a:xfrm>
          <a:prstGeom prst="rect">
            <a:avLst/>
          </a:prstGeom>
        </p:spPr>
      </p:pic>
      <p:sp>
        <p:nvSpPr>
          <p:cNvPr id="25" name="TextBox 24"/>
          <p:cNvSpPr txBox="1"/>
          <p:nvPr/>
        </p:nvSpPr>
        <p:spPr>
          <a:xfrm>
            <a:off x="401421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Gateway</a:t>
            </a:r>
          </a:p>
          <a:p>
            <a:pPr algn="ctr"/>
            <a:r>
              <a:rPr sz="1200" b="0" i="0">
                <a:solidFill>
                  <a:srgbClr val="53565A"/>
                </a:solidFill>
                <a:latin typeface="Arial"/>
              </a:rPr>
              <a:t>WAF ingress</a:t>
            </a:r>
          </a:p>
        </p:txBody>
      </p:sp>
      <p:cxnSp>
        <p:nvCxnSpPr>
          <p:cNvPr id="26" name="Connector (flow)"/>
          <p:cNvCxnSpPr/>
          <p:nvPr/>
        </p:nvCxnSpPr>
        <p:spPr>
          <a:xfrm>
            <a:off x="500176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7" name="Azure icon: Container Apps Environments" descr="Official Azure icon: Container Apps Environment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513831" y="1783080"/>
            <a:ext cx="420624" cy="420624"/>
          </a:xfrm>
          <a:prstGeom prst="rect">
            <a:avLst/>
          </a:prstGeom>
        </p:spPr>
      </p:pic>
      <p:sp>
        <p:nvSpPr>
          <p:cNvPr id="28" name="TextBox 27"/>
          <p:cNvSpPr txBox="1"/>
          <p:nvPr/>
        </p:nvSpPr>
        <p:spPr>
          <a:xfrm>
            <a:off x="5202936"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host</a:t>
            </a:r>
          </a:p>
          <a:p>
            <a:pPr algn="ctr"/>
            <a:r>
              <a:rPr sz="1200" b="0" i="0">
                <a:solidFill>
                  <a:srgbClr val="53565A"/>
                </a:solidFill>
                <a:latin typeface="Arial"/>
              </a:rPr>
              <a:t>Container Apps</a:t>
            </a:r>
          </a:p>
        </p:txBody>
      </p:sp>
      <p:cxnSp>
        <p:nvCxnSpPr>
          <p:cNvPr id="29" name="Connector (flow)"/>
          <p:cNvCxnSpPr/>
          <p:nvPr/>
        </p:nvCxnSpPr>
        <p:spPr>
          <a:xfrm>
            <a:off x="619048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0" name="Azure icon: Microsoft Foundry" descr="Official Azure icon: Microsoft Foundry"/>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02551" y="1783080"/>
            <a:ext cx="420624" cy="420624"/>
          </a:xfrm>
          <a:prstGeom prst="rect">
            <a:avLst/>
          </a:prstGeom>
        </p:spPr>
      </p:pic>
      <p:sp>
        <p:nvSpPr>
          <p:cNvPr id="31" name="TextBox 30"/>
          <p:cNvSpPr txBox="1"/>
          <p:nvPr/>
        </p:nvSpPr>
        <p:spPr>
          <a:xfrm>
            <a:off x="639165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Foundry project</a:t>
            </a:r>
          </a:p>
          <a:p>
            <a:pPr algn="ctr"/>
            <a:r>
              <a:rPr sz="1200" b="0" i="0">
                <a:solidFill>
                  <a:srgbClr val="53565A"/>
                </a:solidFill>
                <a:latin typeface="Arial"/>
              </a:rPr>
              <a:t>agents</a:t>
            </a:r>
          </a:p>
        </p:txBody>
      </p:sp>
      <p:cxnSp>
        <p:nvCxnSpPr>
          <p:cNvPr id="32" name="Connector (flow)"/>
          <p:cNvCxnSpPr/>
          <p:nvPr/>
        </p:nvCxnSpPr>
        <p:spPr>
          <a:xfrm>
            <a:off x="7379208" y="1938528"/>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Azure icon: Foundry Models" descr="Official Azure icon: Foundry Model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891271" y="1783080"/>
            <a:ext cx="420624" cy="420624"/>
          </a:xfrm>
          <a:prstGeom prst="rect">
            <a:avLst/>
          </a:prstGeom>
        </p:spPr>
      </p:pic>
      <p:sp>
        <p:nvSpPr>
          <p:cNvPr id="34" name="TextBox 33"/>
          <p:cNvSpPr txBox="1"/>
          <p:nvPr/>
        </p:nvSpPr>
        <p:spPr>
          <a:xfrm>
            <a:off x="758037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Model</a:t>
            </a:r>
          </a:p>
          <a:p>
            <a:pPr algn="ctr"/>
            <a:r>
              <a:rPr sz="1200" b="0" i="0">
                <a:solidFill>
                  <a:srgbClr val="53565A"/>
                </a:solidFill>
                <a:latin typeface="Arial"/>
              </a:rPr>
              <a:t>deployment</a:t>
            </a:r>
          </a:p>
        </p:txBody>
      </p:sp>
      <p:sp>
        <p:nvSpPr>
          <p:cNvPr id="35" name="Rounded Rectangle 34"/>
          <p:cNvSpPr/>
          <p:nvPr/>
        </p:nvSpPr>
        <p:spPr>
          <a:xfrm>
            <a:off x="8778240" y="1673352"/>
            <a:ext cx="2926080" cy="1371600"/>
          </a:xfrm>
          <a:prstGeom prst="roundRect">
            <a:avLst>
              <a:gd name="adj" fmla="val 66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51392" y="1691640"/>
            <a:ext cx="2743200" cy="228600"/>
          </a:xfrm>
          <a:prstGeom prst="rect">
            <a:avLst/>
          </a:prstGeom>
          <a:noFill/>
        </p:spPr>
        <p:txBody>
          <a:bodyPr wrap="square" lIns="0" rIns="0" tIns="0" bIns="0" anchor="t">
            <a:noAutofit/>
          </a:bodyPr>
          <a:lstStyle/>
          <a:p>
            <a:pPr algn="l"/>
            <a:r>
              <a:rPr sz="1200" b="1" i="0">
                <a:solidFill>
                  <a:srgbClr val="53565A"/>
                </a:solidFill>
                <a:latin typeface="Arial"/>
              </a:rPr>
              <a:t>DATA AND SECRETS</a:t>
            </a:r>
          </a:p>
        </p:txBody>
      </p:sp>
      <p:pic>
        <p:nvPicPr>
          <p:cNvPr id="37" name="Azure icon: AI Search (Cognitive Search icon)" descr="Official Azure icon: AI Search (Cognitive Search icon)"/>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84563" y="1947672"/>
            <a:ext cx="384048" cy="384048"/>
          </a:xfrm>
          <a:prstGeom prst="rect">
            <a:avLst/>
          </a:prstGeom>
        </p:spPr>
      </p:pic>
      <p:sp>
        <p:nvSpPr>
          <p:cNvPr id="38" name="TextBox 37"/>
          <p:cNvSpPr txBox="1"/>
          <p:nvPr/>
        </p:nvSpPr>
        <p:spPr>
          <a:xfrm>
            <a:off x="8833103" y="2368296"/>
            <a:ext cx="886968" cy="277133"/>
          </a:xfrm>
          <a:prstGeom prst="rect">
            <a:avLst/>
          </a:prstGeom>
          <a:noFill/>
        </p:spPr>
        <p:txBody>
          <a:bodyPr wrap="square" lIns="0" rIns="0" tIns="0" bIns="0" anchor="t">
            <a:noAutofit/>
          </a:bodyPr>
          <a:lstStyle/>
          <a:p>
            <a:pPr algn="ctr"/>
            <a:r>
              <a:rPr sz="1200" b="1" i="0">
                <a:solidFill>
                  <a:srgbClr val="000048"/>
                </a:solidFill>
                <a:latin typeface="Arial"/>
              </a:rPr>
              <a:t>AI Search</a:t>
            </a:r>
          </a:p>
        </p:txBody>
      </p:sp>
      <p:pic>
        <p:nvPicPr>
          <p:cNvPr id="39"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044684" y="1947672"/>
            <a:ext cx="384048" cy="384048"/>
          </a:xfrm>
          <a:prstGeom prst="rect">
            <a:avLst/>
          </a:prstGeom>
        </p:spPr>
      </p:pic>
      <p:sp>
        <p:nvSpPr>
          <p:cNvPr id="40" name="TextBox 39"/>
          <p:cNvSpPr txBox="1"/>
          <p:nvPr/>
        </p:nvSpPr>
        <p:spPr>
          <a:xfrm>
            <a:off x="9793224" y="2368296"/>
            <a:ext cx="886968" cy="277133"/>
          </a:xfrm>
          <a:prstGeom prst="rect">
            <a:avLst/>
          </a:prstGeom>
          <a:noFill/>
        </p:spPr>
        <p:txBody>
          <a:bodyPr wrap="square" lIns="0" rIns="0" tIns="0" bIns="0" anchor="t">
            <a:noAutofit/>
          </a:bodyPr>
          <a:lstStyle/>
          <a:p>
            <a:pPr algn="ctr"/>
            <a:r>
              <a:rPr sz="1200" b="1" i="0">
                <a:solidFill>
                  <a:srgbClr val="000048"/>
                </a:solidFill>
                <a:latin typeface="Arial"/>
              </a:rPr>
              <a:t>Storage account</a:t>
            </a:r>
          </a:p>
        </p:txBody>
      </p:sp>
      <p:pic>
        <p:nvPicPr>
          <p:cNvPr id="41" name="Azure icon: Key Vault" descr="Official Azure icon: Key Vault"/>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004803" y="1947672"/>
            <a:ext cx="384048" cy="384048"/>
          </a:xfrm>
          <a:prstGeom prst="rect">
            <a:avLst/>
          </a:prstGeom>
        </p:spPr>
      </p:pic>
      <p:sp>
        <p:nvSpPr>
          <p:cNvPr id="42" name="TextBox 41"/>
          <p:cNvSpPr txBox="1"/>
          <p:nvPr/>
        </p:nvSpPr>
        <p:spPr>
          <a:xfrm>
            <a:off x="10753343" y="2368296"/>
            <a:ext cx="886968" cy="277133"/>
          </a:xfrm>
          <a:prstGeom prst="rect">
            <a:avLst/>
          </a:prstGeom>
          <a:noFill/>
        </p:spPr>
        <p:txBody>
          <a:bodyPr wrap="square" lIns="0" rIns="0" tIns="0" bIns="0" anchor="t">
            <a:noAutofit/>
          </a:bodyPr>
          <a:lstStyle/>
          <a:p>
            <a:pPr algn="ctr"/>
            <a:r>
              <a:rPr sz="1200" b="1" i="0">
                <a:solidFill>
                  <a:srgbClr val="000048"/>
                </a:solidFill>
                <a:latin typeface="Arial"/>
              </a:rPr>
              <a:t>Key Vault</a:t>
            </a:r>
          </a:p>
        </p:txBody>
      </p:sp>
      <p:cxnSp>
        <p:nvCxnSpPr>
          <p:cNvPr id="43" name="Connector (data)"/>
          <p:cNvCxnSpPr/>
          <p:nvPr/>
        </p:nvCxnSpPr>
        <p:spPr>
          <a:xfrm>
            <a:off x="8321040" y="2258568"/>
            <a:ext cx="45720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023360" y="3136391"/>
            <a:ext cx="7635240" cy="438912"/>
          </a:xfrm>
          <a:prstGeom prst="roundRect">
            <a:avLst>
              <a:gd name="adj" fmla="val 1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000048"/>
                </a:solidFill>
                <a:latin typeface="Arial"/>
              </a:rPr>
              <a:t>Private endpoints for Foundry, AI Search, Storage and Key Vault  ·  managed identities, no shared keys</a:t>
            </a:r>
          </a:p>
        </p:txBody>
      </p:sp>
      <p:pic>
        <p:nvPicPr>
          <p:cNvPr id="45" name="Azure icon: Private Endpoints" descr="Official Azure icon: Private Endpoin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320272" y="3172968"/>
            <a:ext cx="347472" cy="347472"/>
          </a:xfrm>
          <a:prstGeom prst="rect">
            <a:avLst/>
          </a:prstGeom>
        </p:spPr>
      </p:pic>
      <p:sp>
        <p:nvSpPr>
          <p:cNvPr id="46" name="Rounded Rectangle 45"/>
          <p:cNvSpPr/>
          <p:nvPr/>
        </p:nvSpPr>
        <p:spPr>
          <a:xfrm>
            <a:off x="3886200" y="3931920"/>
            <a:ext cx="7909560" cy="914400"/>
          </a:xfrm>
          <a:prstGeom prst="roundRect">
            <a:avLst>
              <a:gd name="adj" fmla="val 10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995928" y="3986783"/>
            <a:ext cx="7690104" cy="237744"/>
          </a:xfrm>
          <a:prstGeom prst="rect">
            <a:avLst/>
          </a:prstGeom>
          <a:noFill/>
        </p:spPr>
        <p:txBody>
          <a:bodyPr wrap="square" lIns="0" rIns="0" tIns="0" bIns="0" anchor="t">
            <a:noAutofit/>
          </a:bodyPr>
          <a:lstStyle/>
          <a:p>
            <a:pPr algn="l"/>
            <a:r>
              <a:rPr sz="1200" b="1" i="0">
                <a:solidFill>
                  <a:srgbClr val="000048"/>
                </a:solidFill>
                <a:latin typeface="Arial"/>
              </a:rPr>
              <a:t>NON-PRODUCTION SUBSCRIPTION (DEV, TEST)</a:t>
            </a:r>
          </a:p>
        </p:txBody>
      </p:sp>
      <p:sp>
        <p:nvSpPr>
          <p:cNvPr id="48" name="TextBox 47"/>
          <p:cNvSpPr txBox="1"/>
          <p:nvPr/>
        </p:nvSpPr>
        <p:spPr>
          <a:xfrm>
            <a:off x="4023360" y="4279392"/>
            <a:ext cx="7680960" cy="502920"/>
          </a:xfrm>
          <a:prstGeom prst="rect">
            <a:avLst/>
          </a:prstGeom>
          <a:noFill/>
        </p:spPr>
        <p:txBody>
          <a:bodyPr wrap="square" lIns="0" rIns="0" tIns="0" bIns="0" anchor="t">
            <a:noAutofit/>
          </a:bodyPr>
          <a:lstStyle/>
          <a:p>
            <a:pPr algn="l"/>
            <a:r>
              <a:rPr sz="1300" b="0" i="0">
                <a:solidFill>
                  <a:srgbClr val="53565A"/>
                </a:solidFill>
                <a:latin typeface="Arial"/>
              </a:rPr>
              <a:t>Same pattern, separate subscription, policies and identities. Promotion only through the pipeline.</a:t>
            </a:r>
          </a:p>
        </p:txBody>
      </p:sp>
      <p:sp>
        <p:nvSpPr>
          <p:cNvPr id="49" name="Rounded Rectangle 48"/>
          <p:cNvSpPr/>
          <p:nvPr/>
        </p:nvSpPr>
        <p:spPr>
          <a:xfrm>
            <a:off x="3886200" y="4983480"/>
            <a:ext cx="7909560" cy="68580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Azure icon: Azure DevOps" descr="Official Azure icon: Azure DevOps"/>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050791" y="5138927"/>
            <a:ext cx="347472" cy="347472"/>
          </a:xfrm>
          <a:prstGeom prst="rect">
            <a:avLst/>
          </a:prstGeom>
        </p:spPr>
      </p:pic>
      <p:sp>
        <p:nvSpPr>
          <p:cNvPr id="51" name="TextBox 50"/>
          <p:cNvSpPr txBox="1"/>
          <p:nvPr/>
        </p:nvSpPr>
        <p:spPr>
          <a:xfrm>
            <a:off x="4471416" y="5065776"/>
            <a:ext cx="1389888" cy="493776"/>
          </a:xfrm>
          <a:prstGeom prst="rect">
            <a:avLst/>
          </a:prstGeom>
          <a:noFill/>
        </p:spPr>
        <p:txBody>
          <a:bodyPr wrap="square" lIns="0" rIns="0" tIns="0" bIns="0" anchor="ctr">
            <a:noAutofit/>
          </a:bodyPr>
          <a:lstStyle/>
          <a:p>
            <a:pPr algn="l"/>
            <a:r>
              <a:rPr sz="1200" b="1" i="0">
                <a:solidFill>
                  <a:srgbClr val="000048"/>
                </a:solidFill>
                <a:latin typeface="Arial"/>
              </a:rPr>
              <a:t>IaC pipelines</a:t>
            </a:r>
          </a:p>
          <a:p>
            <a:pPr algn="l"/>
            <a:r>
              <a:rPr sz="1200" b="0" i="0">
                <a:solidFill>
                  <a:srgbClr val="53565A"/>
                </a:solidFill>
                <a:latin typeface="Arial"/>
              </a:rPr>
              <a:t>approvals, promotion</a:t>
            </a:r>
          </a:p>
        </p:txBody>
      </p:sp>
      <p:pic>
        <p:nvPicPr>
          <p:cNvPr id="52" name="Azure icon: Log Analytics workspace" descr="Official Azure icon: Log Analytics workspace"/>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016752" y="5138927"/>
            <a:ext cx="347472" cy="347472"/>
          </a:xfrm>
          <a:prstGeom prst="rect">
            <a:avLst/>
          </a:prstGeom>
        </p:spPr>
      </p:pic>
      <p:sp>
        <p:nvSpPr>
          <p:cNvPr id="53" name="TextBox 52"/>
          <p:cNvSpPr txBox="1"/>
          <p:nvPr/>
        </p:nvSpPr>
        <p:spPr>
          <a:xfrm>
            <a:off x="6437376" y="5065776"/>
            <a:ext cx="1298448" cy="493776"/>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200" b="0" i="0">
                <a:solidFill>
                  <a:srgbClr val="53565A"/>
                </a:solidFill>
                <a:latin typeface="Arial"/>
              </a:rPr>
              <a:t>platform logs</a:t>
            </a:r>
          </a:p>
        </p:txBody>
      </p:sp>
      <p:pic>
        <p:nvPicPr>
          <p:cNvPr id="54" name="Azure icon: Application Insights" descr="Official Azure icon: Application Insights"/>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891272" y="5138927"/>
            <a:ext cx="347472" cy="347472"/>
          </a:xfrm>
          <a:prstGeom prst="rect">
            <a:avLst/>
          </a:prstGeom>
        </p:spPr>
      </p:pic>
      <p:sp>
        <p:nvSpPr>
          <p:cNvPr id="55" name="TextBox 54"/>
          <p:cNvSpPr txBox="1"/>
          <p:nvPr/>
        </p:nvSpPr>
        <p:spPr>
          <a:xfrm>
            <a:off x="8311896" y="5065776"/>
            <a:ext cx="1298448" cy="493776"/>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200" b="0" i="0">
                <a:solidFill>
                  <a:srgbClr val="53565A"/>
                </a:solidFill>
                <a:latin typeface="Arial"/>
              </a:rPr>
              <a:t>agent traces</a:t>
            </a:r>
          </a:p>
        </p:txBody>
      </p:sp>
      <p:pic>
        <p:nvPicPr>
          <p:cNvPr id="56" name="Azure icon: Cost Budgets" descr="Official Azure icon: Cost Budgets"/>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9765792" y="5138927"/>
            <a:ext cx="347472" cy="347472"/>
          </a:xfrm>
          <a:prstGeom prst="rect">
            <a:avLst/>
          </a:prstGeom>
        </p:spPr>
      </p:pic>
      <p:sp>
        <p:nvSpPr>
          <p:cNvPr id="57" name="TextBox 56"/>
          <p:cNvSpPr txBox="1"/>
          <p:nvPr/>
        </p:nvSpPr>
        <p:spPr>
          <a:xfrm>
            <a:off x="10186416" y="5065776"/>
            <a:ext cx="1481328" cy="493776"/>
          </a:xfrm>
          <a:prstGeom prst="rect">
            <a:avLst/>
          </a:prstGeom>
          <a:noFill/>
        </p:spPr>
        <p:txBody>
          <a:bodyPr wrap="square" lIns="0" rIns="0" tIns="0" bIns="0" anchor="ctr">
            <a:noAutofit/>
          </a:bodyPr>
          <a:lstStyle/>
          <a:p>
            <a:pPr algn="l"/>
            <a:r>
              <a:rPr sz="1200" b="1" i="0">
                <a:solidFill>
                  <a:srgbClr val="000048"/>
                </a:solidFill>
                <a:latin typeface="Arial"/>
              </a:rPr>
              <a:t>Budgets</a:t>
            </a:r>
          </a:p>
          <a:p>
            <a:pPr algn="l"/>
            <a:r>
              <a:rPr sz="1200" b="0" i="0">
                <a:solidFill>
                  <a:srgbClr val="53565A"/>
                </a:solidFill>
                <a:latin typeface="Arial"/>
              </a:rPr>
              <a:t>cost alerts</a:t>
            </a:r>
          </a:p>
        </p:txBody>
      </p:sp>
      <p:cxnSp>
        <p:nvCxnSpPr>
          <p:cNvPr id="58" name="Connector (flow)"/>
          <p:cNvCxnSpPr/>
          <p:nvPr/>
        </p:nvCxnSpPr>
        <p:spPr>
          <a:xfrm>
            <a:off x="3474720" y="2971800"/>
            <a:ext cx="411480"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data)"/>
          <p:cNvCxnSpPr/>
          <p:nvPr/>
        </p:nvCxnSpPr>
        <p:spPr>
          <a:xfrm flipH="1">
            <a:off x="3474720" y="3474720"/>
            <a:ext cx="411480" cy="2286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24128" y="5806440"/>
            <a:ext cx="169163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62" name="Connector (data)"/>
          <p:cNvCxnSpPr/>
          <p:nvPr/>
        </p:nvCxnSpPr>
        <p:spPr>
          <a:xfrm>
            <a:off x="2743200" y="592531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18688" y="5806440"/>
            <a:ext cx="1691639" cy="256032"/>
          </a:xfrm>
          <a:prstGeom prst="rect">
            <a:avLst/>
          </a:prstGeom>
          <a:noFill/>
        </p:spPr>
        <p:txBody>
          <a:bodyPr wrap="square" lIns="0" rIns="0" tIns="0" bIns="0" anchor="t">
            <a:noAutofit/>
          </a:bodyPr>
          <a:lstStyle/>
          <a:p>
            <a:pPr algn="l"/>
            <a:r>
              <a:rPr sz="1200" b="0" i="0">
                <a:solidFill>
                  <a:srgbClr val="53565A"/>
                </a:solidFill>
                <a:latin typeface="Arial"/>
              </a:rPr>
              <a:t>Data access</a:t>
            </a:r>
          </a:p>
        </p:txBody>
      </p:sp>
      <p:sp>
        <p:nvSpPr>
          <p:cNvPr id="64" name="TextBox 63"/>
          <p:cNvSpPr txBox="1"/>
          <p:nvPr/>
        </p:nvSpPr>
        <p:spPr>
          <a:xfrm>
            <a:off x="5120640" y="5806440"/>
            <a:ext cx="6492240" cy="274320"/>
          </a:xfrm>
          <a:prstGeom prst="rect">
            <a:avLst/>
          </a:prstGeom>
          <a:noFill/>
        </p:spPr>
        <p:txBody>
          <a:bodyPr wrap="square" lIns="0" rIns="0" tIns="0" bIns="0" anchor="t">
            <a:noAutofit/>
          </a:bodyPr>
          <a:lstStyle/>
          <a:p>
            <a:pPr algn="l"/>
            <a:r>
              <a:rPr sz="1200" b="0" i="0">
                <a:solidFill>
                  <a:srgbClr val="53565A"/>
                </a:solidFill>
                <a:latin typeface="Arial"/>
              </a:rPr>
              <a:t>Double arrow: hub peering. Blue arrow: egress to hub firewall. Detail: appendix A5, A6.</a:t>
            </a:r>
          </a:p>
        </p:txBody>
      </p:sp>
      <p:sp>
        <p:nvSpPr>
          <p:cNvPr id="65" name="TextBox 64"/>
          <p:cNvSpPr txBox="1"/>
          <p:nvPr/>
        </p:nvSpPr>
        <p:spPr>
          <a:xfrm>
            <a:off x="548640" y="6108192"/>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routes in, all on Microsoft’s landing zone accelerator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PACKAGES"/>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PACKAGES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3566160" cy="2377440"/>
          </a:xfrm>
          <a:prstGeom prst="roundRect">
            <a:avLst>
              <a:gd name="adj" fmla="val 3076"/>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800"/>
              </a:spcAft>
            </a:pPr>
            <a:r>
              <a:rPr sz="2400" b="1" i="0">
                <a:solidFill>
                  <a:srgbClr val="FFFFFF"/>
                </a:solidFill>
                <a:latin typeface="Arial"/>
              </a:rPr>
              <a:t>Assess first</a:t>
            </a:r>
          </a:p>
          <a:p>
            <a:pPr algn="l">
              <a:spcAft>
                <a:spcPts val="600"/>
              </a:spcAft>
            </a:pPr>
            <a:r>
              <a:rPr sz="1900" b="1" i="0">
                <a:solidFill>
                  <a:srgbClr val="26EFE9"/>
                </a:solidFill>
                <a:latin typeface="Arial"/>
              </a:rPr>
              <a:t>When: </a:t>
            </a:r>
            <a:r>
              <a:rPr sz="1900" b="0" i="0">
                <a:solidFill>
                  <a:srgbClr val="FFFFFF"/>
                </a:solidFill>
                <a:latin typeface="Arial"/>
              </a:rPr>
              <a:t>Unknown access, connectivity or capacity</a:t>
            </a:r>
          </a:p>
          <a:p>
            <a:pPr algn="l"/>
            <a:r>
              <a:rPr sz="1900" b="1" i="0">
                <a:solidFill>
                  <a:srgbClr val="26EFE9"/>
                </a:solidFill>
                <a:latin typeface="Arial"/>
              </a:rPr>
              <a:t>Result: </a:t>
            </a:r>
            <a:r>
              <a:rPr sz="1900" b="0" i="0">
                <a:solidFill>
                  <a:srgbClr val="FFFFFF"/>
                </a:solidFill>
                <a:latin typeface="Arial"/>
              </a:rPr>
              <a:t>Gap register and priced plan</a:t>
            </a:r>
          </a:p>
        </p:txBody>
      </p:sp>
      <p:cxnSp>
        <p:nvCxnSpPr>
          <p:cNvPr id="9" name="Connector (flow)"/>
          <p:cNvCxnSpPr/>
          <p:nvPr/>
        </p:nvCxnSpPr>
        <p:spPr>
          <a:xfrm>
            <a:off x="2331720" y="3749039"/>
            <a:ext cx="0" cy="411481"/>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97679" y="1371600"/>
            <a:ext cx="3566160" cy="2377440"/>
          </a:xfrm>
          <a:prstGeom prst="roundRect">
            <a:avLst>
              <a:gd name="adj" fmla="val 3076"/>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800"/>
              </a:spcAft>
            </a:pPr>
            <a:r>
              <a:rPr sz="2400" b="1" i="0">
                <a:solidFill>
                  <a:srgbClr val="FFFFFF"/>
                </a:solidFill>
                <a:latin typeface="Arial"/>
              </a:rPr>
              <a:t>Extend</a:t>
            </a:r>
          </a:p>
          <a:p>
            <a:pPr algn="l">
              <a:spcAft>
                <a:spcPts val="600"/>
              </a:spcAft>
            </a:pPr>
            <a:r>
              <a:rPr sz="1900" b="1" i="0">
                <a:solidFill>
                  <a:srgbClr val="26EFE9"/>
                </a:solidFill>
                <a:latin typeface="Arial"/>
              </a:rPr>
              <a:t>When: </a:t>
            </a:r>
            <a:r>
              <a:rPr sz="1900" b="0" i="0">
                <a:solidFill>
                  <a:srgbClr val="FFFFFF"/>
                </a:solidFill>
                <a:latin typeface="Arial"/>
              </a:rPr>
              <a:t>Mature landing zone in place</a:t>
            </a:r>
          </a:p>
          <a:p>
            <a:pPr algn="l"/>
            <a:r>
              <a:rPr sz="1900" b="1" i="0">
                <a:solidFill>
                  <a:srgbClr val="26EFE9"/>
                </a:solidFill>
                <a:latin typeface="Arial"/>
              </a:rPr>
              <a:t>Result: </a:t>
            </a:r>
            <a:r>
              <a:rPr sz="1900" b="0" i="0">
                <a:solidFill>
                  <a:srgbClr val="FFFFFF"/>
                </a:solidFill>
                <a:latin typeface="Arial"/>
              </a:rPr>
              <a:t>AI environments added to it</a:t>
            </a:r>
          </a:p>
        </p:txBody>
      </p:sp>
      <p:cxnSp>
        <p:nvCxnSpPr>
          <p:cNvPr id="11" name="Connector (flow)"/>
          <p:cNvCxnSpPr/>
          <p:nvPr/>
        </p:nvCxnSpPr>
        <p:spPr>
          <a:xfrm>
            <a:off x="6080759" y="3749039"/>
            <a:ext cx="0" cy="411481"/>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46719" y="1371600"/>
            <a:ext cx="3566160" cy="2377440"/>
          </a:xfrm>
          <a:prstGeom prst="roundRect">
            <a:avLst>
              <a:gd name="adj" fmla="val 3076"/>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800"/>
              </a:spcAft>
            </a:pPr>
            <a:r>
              <a:rPr sz="2400" b="1" i="0">
                <a:solidFill>
                  <a:srgbClr val="FFFFFF"/>
                </a:solidFill>
                <a:latin typeface="Arial"/>
              </a:rPr>
              <a:t>Establish</a:t>
            </a:r>
          </a:p>
          <a:p>
            <a:pPr algn="l">
              <a:spcAft>
                <a:spcPts val="600"/>
              </a:spcAft>
            </a:pPr>
            <a:r>
              <a:rPr sz="1900" b="1" i="0">
                <a:solidFill>
                  <a:srgbClr val="26EFE9"/>
                </a:solidFill>
                <a:latin typeface="Arial"/>
              </a:rPr>
              <a:t>When: </a:t>
            </a:r>
            <a:r>
              <a:rPr sz="1900" b="0" i="0">
                <a:solidFill>
                  <a:srgbClr val="FFFFFF"/>
                </a:solidFill>
                <a:latin typeface="Arial"/>
              </a:rPr>
              <a:t>Platform gaps or new tenant</a:t>
            </a:r>
          </a:p>
          <a:p>
            <a:pPr algn="l"/>
            <a:r>
              <a:rPr sz="1900" b="1" i="0">
                <a:solidFill>
                  <a:srgbClr val="26EFE9"/>
                </a:solidFill>
                <a:latin typeface="Arial"/>
              </a:rPr>
              <a:t>Result: </a:t>
            </a:r>
            <a:r>
              <a:rPr sz="1900" b="0" i="0">
                <a:solidFill>
                  <a:srgbClr val="FFFFFF"/>
                </a:solidFill>
                <a:latin typeface="Arial"/>
              </a:rPr>
              <a:t>Platform baseline plus AI environments</a:t>
            </a:r>
          </a:p>
        </p:txBody>
      </p:sp>
      <p:cxnSp>
        <p:nvCxnSpPr>
          <p:cNvPr id="13" name="Connector (flow)"/>
          <p:cNvCxnSpPr/>
          <p:nvPr/>
        </p:nvCxnSpPr>
        <p:spPr>
          <a:xfrm>
            <a:off x="9829799" y="3749039"/>
            <a:ext cx="0" cy="411481"/>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4160520"/>
            <a:ext cx="11091672" cy="868680"/>
          </a:xfrm>
          <a:prstGeom prst="roundRect">
            <a:avLst>
              <a:gd name="adj" fmla="val 8421"/>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000048"/>
                </a:solidFill>
                <a:latin typeface="Arial"/>
              </a:rPr>
              <a:t>Shared accelerator: </a:t>
            </a:r>
            <a:r>
              <a:rPr sz="1900" b="0" i="0">
                <a:solidFill>
                  <a:srgbClr val="1E1E2E"/>
                </a:solidFill>
                <a:latin typeface="Arial"/>
              </a:rPr>
              <a:t>Microsoft AI Landing Zone (Agent and AI Gateway landing zones, Bicep and Terraform on Azure Verified Modules)</a:t>
            </a:r>
          </a:p>
        </p:txBody>
      </p:sp>
      <p:sp>
        <p:nvSpPr>
          <p:cNvPr id="15" name="Rounded Rectangle 14"/>
          <p:cNvSpPr/>
          <p:nvPr/>
        </p:nvSpPr>
        <p:spPr>
          <a:xfrm>
            <a:off x="548640" y="5166360"/>
            <a:ext cx="11091672" cy="777240"/>
          </a:xfrm>
          <a:prstGeom prst="roundRect">
            <a:avLst>
              <a:gd name="adj" fmla="val 941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000048"/>
                </a:solidFill>
                <a:latin typeface="Arial"/>
              </a:rPr>
              <a:t>Then: </a:t>
            </a:r>
            <a:r>
              <a:rPr sz="1900" b="0" i="0">
                <a:solidFill>
                  <a:srgbClr val="1E1E2E"/>
                </a:solidFill>
                <a:latin typeface="Arial"/>
              </a:rPr>
              <a:t>Transition package hands an accepted platform to managed operations (offering 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Assess in 3 to 5 weeks; establish in 12 to 20 weeks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07264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Assess first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5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Extend existing landing zone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70 to 110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8 to 12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$70k to $110k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Establish new foundation</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140 to 220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12 to 20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$140k to $220k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Operational transition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5F5F2"/>
                    </a:solidFill>
                  </a:tcPr>
                </a:tc>
              </a:tr>
            </a:tbl>
          </a:graphicData>
        </a:graphic>
      </p:graphicFrame>
      <p:sp>
        <p:nvSpPr>
          <p:cNvPr id="9" name="Rounded Rectangle 8"/>
          <p:cNvSpPr/>
          <p:nvPr/>
        </p:nvSpPr>
        <p:spPr>
          <a:xfrm>
            <a:off x="548640" y="3718560"/>
            <a:ext cx="11091672" cy="1722120"/>
          </a:xfrm>
          <a:prstGeom prst="roundRect">
            <a:avLst>
              <a:gd name="adj" fmla="val 424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unvalidated hub or DNS, extra environments or regions, more data sources, regulated-industry controls and slow customer approvals.</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Access, capacity and ownership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funded workload</a:t>
            </a:r>
          </a:p>
          <a:p>
            <a:pPr algn="l">
              <a:spcAft>
                <a:spcPts val="400"/>
              </a:spcAft>
            </a:pPr>
            <a:r>
              <a:rPr sz="1800" b="1" i="0">
                <a:solidFill>
                  <a:srgbClr val="8A4B08"/>
                </a:solidFill>
                <a:latin typeface="Arial"/>
              </a:rPr>
              <a:t>Effect: </a:t>
            </a:r>
            <a:r>
              <a:rPr sz="1800" b="0" i="0">
                <a:solidFill>
                  <a:srgbClr val="1E1E2E"/>
                </a:solidFill>
                <a:latin typeface="Arial"/>
              </a:rPr>
              <a:t>An empty platform with weak value</a:t>
            </a:r>
          </a:p>
          <a:p>
            <a:pPr algn="l">
              <a:spcAft>
                <a:spcPts val="400"/>
              </a:spcAft>
            </a:pPr>
            <a:r>
              <a:rPr sz="1800" b="1" i="0">
                <a:solidFill>
                  <a:srgbClr val="1D6B3A"/>
                </a:solidFill>
                <a:latin typeface="Arial"/>
              </a:rPr>
              <a:t>Handle: </a:t>
            </a:r>
            <a:r>
              <a:rPr sz="1800" b="0" i="0">
                <a:solidFill>
                  <a:srgbClr val="1E1E2E"/>
                </a:solidFill>
                <a:latin typeface="Arial"/>
              </a:rPr>
              <a:t>Qualify with the scorecard; sell assessment only</a:t>
            </a:r>
          </a:p>
          <a:p>
            <a:pPr algn="l"/>
            <a:r>
              <a:rPr sz="1800" b="1" i="0">
                <a:solidFill>
                  <a:srgbClr val="2F78C4"/>
                </a:solidFill>
                <a:latin typeface="Arial"/>
              </a:rPr>
              <a:t>Owner: </a:t>
            </a:r>
            <a:r>
              <a:rPr sz="1800" b="0" i="0">
                <a:solidFill>
                  <a:srgbClr val="1E1E2E"/>
                </a:solidFill>
                <a:latin typeface="Arial"/>
              </a:rPr>
              <a:t>Account lead</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Model, region or capacity gaps</a:t>
            </a:r>
          </a:p>
          <a:p>
            <a:pPr algn="l">
              <a:spcAft>
                <a:spcPts val="400"/>
              </a:spcAft>
            </a:pPr>
            <a:r>
              <a:rPr sz="1800" b="1" i="0">
                <a:solidFill>
                  <a:srgbClr val="8A4B08"/>
                </a:solidFill>
                <a:latin typeface="Arial"/>
              </a:rPr>
              <a:t>Effect: </a:t>
            </a:r>
            <a:r>
              <a:rPr sz="1800" b="0" i="0">
                <a:solidFill>
                  <a:srgbClr val="1E1E2E"/>
                </a:solidFill>
                <a:latin typeface="Arial"/>
              </a:rPr>
              <a:t>Redesign or delay</a:t>
            </a:r>
          </a:p>
          <a:p>
            <a:pPr algn="l">
              <a:spcAft>
                <a:spcPts val="400"/>
              </a:spcAft>
            </a:pPr>
            <a:r>
              <a:rPr sz="1800" b="1" i="0">
                <a:solidFill>
                  <a:srgbClr val="1D6B3A"/>
                </a:solidFill>
                <a:latin typeface="Arial"/>
              </a:rPr>
              <a:t>Handle: </a:t>
            </a:r>
            <a:r>
              <a:rPr sz="1800" b="0" i="0">
                <a:solidFill>
                  <a:srgbClr val="1E1E2E"/>
                </a:solidFill>
                <a:latin typeface="Arial"/>
              </a:rPr>
              <a:t>Check deployment type, quota and capacity in assessment</a:t>
            </a:r>
          </a:p>
          <a:p>
            <a:pPr algn="l"/>
            <a:r>
              <a:rPr sz="1800" b="1" i="0">
                <a:solidFill>
                  <a:srgbClr val="2F78C4"/>
                </a:solidFill>
                <a:latin typeface="Arial"/>
              </a:rPr>
              <a:t>Owner: </a:t>
            </a:r>
            <a:r>
              <a:rPr sz="1800" b="0" i="0">
                <a:solidFill>
                  <a:srgbClr val="1E1E2E"/>
                </a:solidFill>
                <a:latin typeface="Arial"/>
              </a:rPr>
              <a:t>AI with CIS Infra</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Tower capacity not committed</a:t>
            </a:r>
          </a:p>
          <a:p>
            <a:pPr algn="l">
              <a:spcAft>
                <a:spcPts val="400"/>
              </a:spcAft>
            </a:pPr>
            <a:r>
              <a:rPr sz="1800" b="1" i="0">
                <a:solidFill>
                  <a:srgbClr val="8A4B08"/>
                </a:solidFill>
                <a:latin typeface="Arial"/>
              </a:rPr>
              <a:t>Effect: </a:t>
            </a:r>
            <a:r>
              <a:rPr sz="1800" b="0" i="0">
                <a:solidFill>
                  <a:srgbClr val="1E1E2E"/>
                </a:solidFill>
                <a:latin typeface="Arial"/>
              </a:rPr>
              <a:t>Critical path slips</a:t>
            </a:r>
          </a:p>
          <a:p>
            <a:pPr algn="l">
              <a:spcAft>
                <a:spcPts val="400"/>
              </a:spcAft>
            </a:pPr>
            <a:r>
              <a:rPr sz="1800" b="1" i="0">
                <a:solidFill>
                  <a:srgbClr val="1D6B3A"/>
                </a:solidFill>
                <a:latin typeface="Arial"/>
              </a:rPr>
              <a:t>Handle: </a:t>
            </a:r>
            <a:r>
              <a:rPr sz="1800" b="0" i="0">
                <a:solidFill>
                  <a:srgbClr val="1E1E2E"/>
                </a:solidFill>
                <a:latin typeface="Arial"/>
              </a:rPr>
              <a:t>Signed dependency register before quoting</a:t>
            </a:r>
          </a:p>
          <a:p>
            <a:pPr algn="l"/>
            <a:r>
              <a:rPr sz="1800" b="1" i="0">
                <a:solidFill>
                  <a:srgbClr val="2F78C4"/>
                </a:solidFill>
                <a:latin typeface="Arial"/>
              </a:rPr>
              <a:t>Owner: </a:t>
            </a:r>
            <a:r>
              <a:rPr sz="1800" b="0" i="0">
                <a:solidFill>
                  <a:srgbClr val="1E1E2E"/>
                </a:solidFill>
                <a:latin typeface="Arial"/>
              </a:rPr>
              <a:t>Integrated service owner</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Security and regulation late</a:t>
            </a:r>
          </a:p>
          <a:p>
            <a:pPr algn="l">
              <a:spcAft>
                <a:spcPts val="400"/>
              </a:spcAft>
            </a:pPr>
            <a:r>
              <a:rPr sz="1800" b="1" i="0">
                <a:solidFill>
                  <a:srgbClr val="8A4B08"/>
                </a:solidFill>
                <a:latin typeface="Arial"/>
              </a:rPr>
              <a:t>Effect: </a:t>
            </a:r>
            <a:r>
              <a:rPr sz="1800" b="0" i="0">
                <a:solidFill>
                  <a:srgbClr val="1E1E2E"/>
                </a:solidFill>
                <a:latin typeface="Arial"/>
              </a:rPr>
              <a:t>Rework before go-live</a:t>
            </a:r>
          </a:p>
          <a:p>
            <a:pPr algn="l">
              <a:spcAft>
                <a:spcPts val="400"/>
              </a:spcAft>
            </a:pPr>
            <a:r>
              <a:rPr sz="1800" b="1" i="0">
                <a:solidFill>
                  <a:srgbClr val="1D6B3A"/>
                </a:solidFill>
                <a:latin typeface="Arial"/>
              </a:rPr>
              <a:t>Handle: </a:t>
            </a:r>
            <a:r>
              <a:rPr sz="1800" b="0" i="0">
                <a:solidFill>
                  <a:srgbClr val="1E1E2E"/>
                </a:solidFill>
                <a:latin typeface="Arial"/>
              </a:rPr>
              <a:t>Threat model and checkpoints in design phase</a:t>
            </a:r>
          </a:p>
          <a:p>
            <a:pPr algn="l"/>
            <a:r>
              <a:rPr sz="1800" b="1" i="0">
                <a:solidFill>
                  <a:srgbClr val="2F78C4"/>
                </a:solidFill>
                <a:latin typeface="Arial"/>
              </a:rPr>
              <a:t>Owner: </a:t>
            </a:r>
            <a:r>
              <a:rPr sz="1800" b="0" i="0">
                <a:solidFill>
                  <a:srgbClr val="1E1E2E"/>
                </a:solidFill>
                <a:latin typeface="Arial"/>
              </a:rPr>
              <a:t>Security tower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Success is a reproducible build; choose the route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Reproducible build  </a:t>
            </a:r>
            <a:r>
              <a:rPr sz="1800" b="0" i="0">
                <a:solidFill>
                  <a:srgbClr val="1E1E2E"/>
                </a:solidFill>
                <a:latin typeface="Arial"/>
              </a:rPr>
              <a:t>redeploy from code, rollback passes</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Network controls  </a:t>
            </a:r>
            <a:r>
              <a:rPr sz="1800" b="0" i="0">
                <a:solidFill>
                  <a:srgbClr val="1E1E2E"/>
                </a:solidFill>
                <a:latin typeface="Arial"/>
              </a:rPr>
              <a:t>allowed paths pass, denied paths fail</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Cost visibility  </a:t>
            </a:r>
            <a:r>
              <a:rPr sz="1800" b="0" i="0">
                <a:solidFill>
                  <a:srgbClr val="1E1E2E"/>
                </a:solidFill>
                <a:latin typeface="Arial"/>
              </a:rPr>
              <a:t>resources tagged with owner and cost centre</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Operational readiness  </a:t>
            </a:r>
            <a:r>
              <a:rPr sz="1800" b="0" i="0">
                <a:solidFill>
                  <a:srgbClr val="1E1E2E"/>
                </a:solidFill>
                <a:latin typeface="Arial"/>
              </a:rPr>
              <a:t>restore and containment drills recorded</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Time to platform  </a:t>
            </a:r>
            <a:r>
              <a:rPr sz="1800" b="0" i="0">
                <a:solidFill>
                  <a:srgbClr val="1E1E2E"/>
                </a:solidFill>
                <a:latin typeface="Arial"/>
              </a:rPr>
              <a:t>weeks from start to accepted environment</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Sponsor and tower leads named</a:t>
            </a:r>
          </a:p>
          <a:p>
            <a:pPr algn="l" marL="201168" indent="-201168">
              <a:spcAft>
                <a:spcPts val="400"/>
              </a:spcAft>
              <a:buFont typeface="Arial"/>
              <a:buChar char="•"/>
            </a:pPr>
            <a:r>
              <a:rPr sz="1900" b="0" i="0">
                <a:solidFill>
                  <a:srgbClr val="1E1E2E"/>
                </a:solidFill>
                <a:latin typeface="Arial"/>
              </a:rPr>
              <a:t>Four packages as sales baseline</a:t>
            </a:r>
          </a:p>
          <a:p>
            <a:pPr algn="l" marL="201168" indent="-201168">
              <a:spcAft>
                <a:spcPts val="400"/>
              </a:spcAft>
              <a:buFont typeface="Arial"/>
              <a:buChar char="•"/>
            </a:pPr>
            <a:r>
              <a:rPr sz="1900" b="0" i="0">
                <a:solidFill>
                  <a:srgbClr val="1E1E2E"/>
                </a:solidFill>
                <a:latin typeface="Arial"/>
              </a:rPr>
              <a:t>Terraform owner: DevOps or CIS Infra</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137160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Approved rates and margin (Finance)</a:t>
            </a:r>
          </a:p>
          <a:p>
            <a:pPr algn="l" marL="201168" indent="-201168">
              <a:spcAft>
                <a:spcPts val="400"/>
              </a:spcAft>
              <a:buFont typeface="Arial"/>
              <a:buChar char="•"/>
            </a:pPr>
            <a:r>
              <a:rPr sz="1900" b="0" i="0">
                <a:solidFill>
                  <a:srgbClr val="1E1E2E"/>
                </a:solidFill>
                <a:latin typeface="Arial"/>
              </a:rPr>
              <a:t>Reuse saving from pilot</a:t>
            </a:r>
          </a:p>
          <a:p>
            <a:pPr algn="l" marL="201168" indent="-201168">
              <a:spcAft>
                <a:spcPts val="400"/>
              </a:spcAft>
              <a:buFont typeface="Arial"/>
              <a:buChar char="•"/>
            </a:pPr>
            <a:r>
              <a:rPr sz="1900" b="0" i="0">
                <a:solidFill>
                  <a:srgbClr val="1E1E2E"/>
                </a:solidFill>
                <a:latin typeface="Arial"/>
              </a:rPr>
              <a:t>External launch (after pilot)</a:t>
            </a:r>
          </a:p>
        </p:txBody>
      </p:sp>
      <p:sp>
        <p:nvSpPr>
          <p:cNvPr id="18" name="Rounded Rectangle 17"/>
          <p:cNvSpPr/>
          <p:nvPr/>
        </p:nvSpPr>
        <p:spPr>
          <a:xfrm>
            <a:off x="6675120" y="5532120"/>
            <a:ext cx="4965192" cy="777240"/>
          </a:xfrm>
          <a:prstGeom prst="roundRect">
            <a:avLst>
              <a:gd name="adj" fmla="val 941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90-day ask: </a:t>
            </a:r>
            <a:r>
              <a:rPr sz="1400" b="0" i="0">
                <a:solidFill>
                  <a:srgbClr val="1E1E2E"/>
                </a:solidFill>
                <a:latin typeface="Arial"/>
              </a:rPr>
              <a:t>budget and sponsor are inputs (deck 00 slide 10). Stop at day 45 if lab build not working.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Detailed architecture, networking, regional decisions, residency gate, delivery bench, account play, contract risk, RACI, cost layers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Extend versus establish: what changes</a:t>
            </a:r>
          </a:p>
        </p:txBody>
      </p:sp>
      <p:sp>
        <p:nvSpPr>
          <p:cNvPr id="8" name="TextBox 7">
            <a:hlinkClick action="ppaction://hlinksldjump" r:id="rId5"/>
          </p:cNvPr>
          <p:cNvSpPr txBox="1"/>
          <p:nvPr/>
        </p:nvSpPr>
        <p:spPr>
          <a:xfrm>
            <a:off x="54864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A3  </a:t>
            </a:r>
            <a:r>
              <a:rPr sz="1300" b="0" i="0">
                <a:solidFill>
                  <a:srgbClr val="1E1E2E"/>
                </a:solidFill>
                <a:latin typeface="Arial"/>
              </a:rPr>
              <a:t>Governance: management groups, policy, tags</a:t>
            </a:r>
          </a:p>
        </p:txBody>
      </p:sp>
      <p:sp>
        <p:nvSpPr>
          <p:cNvPr id="9" name="TextBox 8">
            <a:hlinkClick action="ppaction://hlinksldjump" r:id="rId6"/>
          </p:cNvPr>
          <p:cNvSpPr txBox="1"/>
          <p:nvPr/>
        </p:nvSpPr>
        <p:spPr>
          <a:xfrm>
            <a:off x="54864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A4  </a:t>
            </a:r>
            <a:r>
              <a:rPr sz="1300" b="0" i="0">
                <a:solidFill>
                  <a:srgbClr val="1E1E2E"/>
                </a:solidFill>
                <a:latin typeface="Arial"/>
              </a:rPr>
              <a:t>Identity, RBAC, managed identity, PIM</a:t>
            </a:r>
          </a:p>
        </p:txBody>
      </p:sp>
      <p:sp>
        <p:nvSpPr>
          <p:cNvPr id="10" name="TextBox 9">
            <a:hlinkClick action="ppaction://hlinksldjump" r:id="rId7"/>
          </p:cNvPr>
          <p:cNvSpPr txBox="1"/>
          <p:nvPr/>
        </p:nvSpPr>
        <p:spPr>
          <a:xfrm>
            <a:off x="54864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A5  </a:t>
            </a:r>
            <a:r>
              <a:rPr sz="1300" b="0" i="0">
                <a:solidFill>
                  <a:srgbClr val="1E1E2E"/>
                </a:solidFill>
                <a:latin typeface="Arial"/>
              </a:rPr>
              <a:t>Network: hub, spoke, private endpoints, DNS</a:t>
            </a:r>
          </a:p>
        </p:txBody>
      </p:sp>
      <p:sp>
        <p:nvSpPr>
          <p:cNvPr id="11" name="TextBox 10">
            <a:hlinkClick action="ppaction://hlinksldjump" r:id="rId8"/>
          </p:cNvPr>
          <p:cNvSpPr txBox="1"/>
          <p:nvPr/>
        </p:nvSpPr>
        <p:spPr>
          <a:xfrm>
            <a:off x="54864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A6  </a:t>
            </a:r>
            <a:r>
              <a:rPr sz="1300" b="0" i="0">
                <a:solidFill>
                  <a:srgbClr val="1E1E2E"/>
                </a:solidFill>
                <a:latin typeface="Arial"/>
              </a:rPr>
              <a:t>Controlled egress</a:t>
            </a:r>
          </a:p>
        </p:txBody>
      </p:sp>
      <p:sp>
        <p:nvSpPr>
          <p:cNvPr id="12" name="TextBox 11">
            <a:hlinkClick action="ppaction://hlinksldjump" r:id="rId9"/>
          </p:cNvPr>
          <p:cNvSpPr txBox="1"/>
          <p:nvPr/>
        </p:nvSpPr>
        <p:spPr>
          <a:xfrm>
            <a:off x="54864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A8  </a:t>
            </a:r>
            <a:r>
              <a:rPr sz="1300" b="0" i="0">
                <a:solidFill>
                  <a:srgbClr val="1E1E2E"/>
                </a:solidFill>
                <a:latin typeface="Arial"/>
              </a:rPr>
              <a:t>Foundry workload baseline (simplified)</a:t>
            </a:r>
          </a:p>
        </p:txBody>
      </p:sp>
      <p:sp>
        <p:nvSpPr>
          <p:cNvPr id="13" name="TextBox 12">
            <a:hlinkClick action="ppaction://hlinksldjump" r:id="rId10"/>
          </p:cNvPr>
          <p:cNvSpPr txBox="1"/>
          <p:nvPr/>
        </p:nvSpPr>
        <p:spPr>
          <a:xfrm>
            <a:off x="54864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A9  </a:t>
            </a:r>
            <a:r>
              <a:rPr sz="1300" b="0" i="0">
                <a:solidFill>
                  <a:srgbClr val="1E1E2E"/>
                </a:solidFill>
                <a:latin typeface="Arial"/>
              </a:rPr>
              <a:t>Foundry projects and agent hosting options</a:t>
            </a:r>
          </a:p>
        </p:txBody>
      </p:sp>
      <p:sp>
        <p:nvSpPr>
          <p:cNvPr id="14" name="TextBox 13">
            <a:hlinkClick action="ppaction://hlinksldjump" r:id="rId11"/>
          </p:cNvPr>
          <p:cNvSpPr txBox="1"/>
          <p:nvPr/>
        </p:nvSpPr>
        <p:spPr>
          <a:xfrm>
            <a:off x="54864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A10  </a:t>
            </a:r>
            <a:r>
              <a:rPr sz="1300" b="0" i="0">
                <a:solidFill>
                  <a:srgbClr val="1E1E2E"/>
                </a:solidFill>
                <a:latin typeface="Arial"/>
              </a:rPr>
              <a:t>Search, storage and data dependencies</a:t>
            </a:r>
          </a:p>
        </p:txBody>
      </p:sp>
      <p:sp>
        <p:nvSpPr>
          <p:cNvPr id="15" name="TextBox 14">
            <a:hlinkClick action="ppaction://hlinksldjump" r:id="rId12"/>
          </p:cNvPr>
          <p:cNvSpPr txBox="1"/>
          <p:nvPr/>
        </p:nvSpPr>
        <p:spPr>
          <a:xfrm>
            <a:off x="54864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A11  </a:t>
            </a:r>
            <a:r>
              <a:rPr sz="1300" b="0" i="0">
                <a:solidFill>
                  <a:srgbClr val="1E1E2E"/>
                </a:solidFill>
                <a:latin typeface="Arial"/>
              </a:rPr>
              <a:t>IaC, CI/CD and promotion</a:t>
            </a:r>
          </a:p>
        </p:txBody>
      </p:sp>
      <p:sp>
        <p:nvSpPr>
          <p:cNvPr id="16" name="TextBox 15">
            <a:hlinkClick action="ppaction://hlinksldjump" r:id="rId13"/>
          </p:cNvPr>
          <p:cNvSpPr txBox="1"/>
          <p:nvPr/>
        </p:nvSpPr>
        <p:spPr>
          <a:xfrm>
            <a:off x="54864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A12  </a:t>
            </a:r>
            <a:r>
              <a:rPr sz="1300" b="0" i="0">
                <a:solidFill>
                  <a:srgbClr val="1E1E2E"/>
                </a:solidFill>
                <a:latin typeface="Arial"/>
              </a:rPr>
              <a:t>Environment separation</a:t>
            </a:r>
          </a:p>
        </p:txBody>
      </p:sp>
      <p:sp>
        <p:nvSpPr>
          <p:cNvPr id="17" name="TextBox 16">
            <a:hlinkClick action="ppaction://hlinksldjump" r:id="rId14"/>
          </p:cNvPr>
          <p:cNvSpPr txBox="1"/>
          <p:nvPr/>
        </p:nvSpPr>
        <p:spPr>
          <a:xfrm>
            <a:off x="54864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A13  </a:t>
            </a:r>
            <a:r>
              <a:rPr sz="1300" b="0" i="0">
                <a:solidFill>
                  <a:srgbClr val="1E1E2E"/>
                </a:solidFill>
                <a:latin typeface="Arial"/>
              </a:rPr>
              <a:t>Monitoring, budgets, containment, recovery</a:t>
            </a:r>
          </a:p>
        </p:txBody>
      </p:sp>
      <p:sp>
        <p:nvSpPr>
          <p:cNvPr id="18" name="TextBox 17">
            <a:hlinkClick action="ppaction://hlinksldjump" r:id="rId15"/>
          </p:cNvPr>
          <p:cNvSpPr txBox="1"/>
          <p:nvPr/>
        </p:nvSpPr>
        <p:spPr>
          <a:xfrm>
            <a:off x="54864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A14  </a:t>
            </a:r>
            <a:r>
              <a:rPr sz="1300" b="0" i="0">
                <a:solidFill>
                  <a:srgbClr val="1E1E2E"/>
                </a:solidFill>
                <a:latin typeface="Arial"/>
              </a:rPr>
              <a:t>Deployment types and processing boundary</a:t>
            </a:r>
          </a:p>
        </p:txBody>
      </p:sp>
      <p:sp>
        <p:nvSpPr>
          <p:cNvPr id="19" name="TextBox 18">
            <a:hlinkClick action="ppaction://hlinksldjump" r:id="rId16"/>
          </p:cNvPr>
          <p:cNvSpPr txBox="1"/>
          <p:nvPr/>
        </p:nvSpPr>
        <p:spPr>
          <a:xfrm>
            <a:off x="54864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A15  </a:t>
            </a:r>
            <a:r>
              <a:rPr sz="1300" b="0" i="0">
                <a:solidFill>
                  <a:srgbClr val="1E1E2E"/>
                </a:solidFill>
                <a:latin typeface="Arial"/>
              </a:rPr>
              <a:t>Model availability snapshot by region</a:t>
            </a:r>
          </a:p>
        </p:txBody>
      </p:sp>
      <p:sp>
        <p:nvSpPr>
          <p:cNvPr id="20" name="TextBox 19">
            <a:hlinkClick action="ppaction://hlinksldjump" r:id="rId17"/>
          </p:cNvPr>
          <p:cNvSpPr txBox="1"/>
          <p:nvPr/>
        </p:nvSpPr>
        <p:spPr>
          <a:xfrm>
            <a:off x="54864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A17  </a:t>
            </a:r>
            <a:r>
              <a:rPr sz="1300" b="0" i="0">
                <a:solidFill>
                  <a:srgbClr val="1E1E2E"/>
                </a:solidFill>
                <a:latin typeface="Arial"/>
              </a:rPr>
              <a:t>Acceptance gates and evidence</a:t>
            </a:r>
          </a:p>
        </p:txBody>
      </p:sp>
      <p:sp>
        <p:nvSpPr>
          <p:cNvPr id="21" name="TextBox 20">
            <a:hlinkClick action="ppaction://hlinksldjump" r:id="rId18"/>
          </p:cNvPr>
          <p:cNvSpPr txBox="1"/>
          <p:nvPr/>
        </p:nvSpPr>
        <p:spPr>
          <a:xfrm>
            <a:off x="54864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A19  </a:t>
            </a:r>
            <a:r>
              <a:rPr sz="1300" b="0" i="0">
                <a:solidFill>
                  <a:srgbClr val="1E1E2E"/>
                </a:solidFill>
                <a:latin typeface="Arial"/>
              </a:rPr>
              <a:t>BOM checklist</a:t>
            </a:r>
          </a:p>
        </p:txBody>
      </p:sp>
      <p:sp>
        <p:nvSpPr>
          <p:cNvPr id="22" name="TextBox 21">
            <a:hlinkClick action="ppaction://hlinksldjump" r:id="rId19"/>
          </p:cNvPr>
          <p:cNvSpPr txBox="1"/>
          <p:nvPr/>
        </p:nvSpPr>
        <p:spPr>
          <a:xfrm>
            <a:off x="54864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A0  </a:t>
            </a:r>
            <a:r>
              <a:rPr sz="1300" b="0" i="0">
                <a:solidFill>
                  <a:srgbClr val="1E1E2E"/>
                </a:solidFill>
                <a:latin typeface="Arial"/>
              </a:rPr>
              <a:t>AI Landing Zone accelerator reuse</a:t>
            </a:r>
          </a:p>
        </p:txBody>
      </p:sp>
      <p:sp>
        <p:nvSpPr>
          <p:cNvPr id="23" name="TextBox 22">
            <a:hlinkClick action="ppaction://hlinksldjump" r:id="rId20"/>
          </p:cNvPr>
          <p:cNvSpPr txBox="1"/>
          <p:nvPr/>
        </p:nvSpPr>
        <p:spPr>
          <a:xfrm>
            <a:off x="548640" y="5892501"/>
            <a:ext cx="5486400" cy="279698"/>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A20  </a:t>
            </a:r>
            <a:r>
              <a:rPr sz="1300" b="0" i="0">
                <a:solidFill>
                  <a:srgbClr val="1E1E2E"/>
                </a:solidFill>
                <a:latin typeface="Arial"/>
              </a:rPr>
              <a:t>Data platform paths and DR options</a:t>
            </a:r>
          </a:p>
        </p:txBody>
      </p:sp>
      <p:sp>
        <p:nvSpPr>
          <p:cNvPr id="24" name="TextBox 23">
            <a:hlinkClick action="ppaction://hlinksldjump" r:id="rId21"/>
          </p:cNvPr>
          <p:cNvSpPr txBox="1"/>
          <p:nvPr/>
        </p:nvSpPr>
        <p:spPr>
          <a:xfrm>
            <a:off x="621792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RG1  </a:t>
            </a:r>
            <a:r>
              <a:rPr sz="1300" b="0" i="0">
                <a:solidFill>
                  <a:srgbClr val="1E1E2E"/>
                </a:solidFill>
                <a:latin typeface="Arial"/>
              </a:rPr>
              <a:t>Data residency qualification gate</a:t>
            </a:r>
          </a:p>
        </p:txBody>
      </p:sp>
      <p:sp>
        <p:nvSpPr>
          <p:cNvPr id="25" name="TextBox 24">
            <a:hlinkClick action="ppaction://hlinksldjump" r:id="rId22"/>
          </p:cNvPr>
          <p:cNvSpPr txBox="1"/>
          <p:nvPr/>
        </p:nvSpPr>
        <p:spPr>
          <a:xfrm>
            <a:off x="621792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FP1  </a:t>
            </a:r>
            <a:r>
              <a:rPr sz="1300" b="0" i="0">
                <a:solidFill>
                  <a:srgbClr val="1E1E2E"/>
                </a:solidFill>
                <a:latin typeface="Arial"/>
              </a:rPr>
              <a:t>Fixed-price risk controls</a:t>
            </a:r>
          </a:p>
        </p:txBody>
      </p:sp>
      <p:sp>
        <p:nvSpPr>
          <p:cNvPr id="26" name="TextBox 25">
            <a:hlinkClick action="ppaction://hlinksldjump" r:id="rId23"/>
          </p:cNvPr>
          <p:cNvSpPr txBox="1"/>
          <p:nvPr/>
        </p:nvSpPr>
        <p:spPr>
          <a:xfrm>
            <a:off x="621792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27" name="TextBox 26">
            <a:hlinkClick action="ppaction://hlinksldjump" r:id="rId24"/>
          </p:cNvPr>
          <p:cNvSpPr txBox="1"/>
          <p:nvPr/>
        </p:nvSpPr>
        <p:spPr>
          <a:xfrm>
            <a:off x="621792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E1  </a:t>
            </a:r>
            <a:r>
              <a:rPr sz="1300" b="0" i="0">
                <a:solidFill>
                  <a:srgbClr val="1E1E2E"/>
                </a:solidFill>
                <a:latin typeface="Arial"/>
              </a:rPr>
              <a:t>Estimate assumptions</a:t>
            </a:r>
          </a:p>
        </p:txBody>
      </p:sp>
      <p:sp>
        <p:nvSpPr>
          <p:cNvPr id="28" name="TextBox 27">
            <a:hlinkClick action="ppaction://hlinksldjump" r:id="rId25"/>
          </p:cNvPr>
          <p:cNvSpPr txBox="1"/>
          <p:nvPr/>
        </p:nvSpPr>
        <p:spPr>
          <a:xfrm>
            <a:off x="621792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SEC1  </a:t>
            </a:r>
            <a:r>
              <a:rPr sz="1300" b="0" i="0">
                <a:solidFill>
                  <a:srgbClr val="1E1E2E"/>
                </a:solidFill>
                <a:latin typeface="Arial"/>
              </a:rPr>
              <a:t>AI threat model and controls</a:t>
            </a:r>
          </a:p>
        </p:txBody>
      </p:sp>
      <p:sp>
        <p:nvSpPr>
          <p:cNvPr id="29" name="TextBox 28">
            <a:hlinkClick action="ppaction://hlinksldjump" r:id="rId26"/>
          </p:cNvPr>
          <p:cNvSpPr txBox="1"/>
          <p:nvPr/>
        </p:nvSpPr>
        <p:spPr>
          <a:xfrm>
            <a:off x="621792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SEC2  </a:t>
            </a:r>
            <a:r>
              <a:rPr sz="1300" b="0" i="0">
                <a:solidFill>
                  <a:srgbClr val="1E1E2E"/>
                </a:solidFill>
                <a:latin typeface="Arial"/>
              </a:rPr>
              <a:t>Regulation and EU AI Act roles</a:t>
            </a:r>
          </a:p>
        </p:txBody>
      </p:sp>
      <p:sp>
        <p:nvSpPr>
          <p:cNvPr id="30" name="TextBox 29">
            <a:hlinkClick action="ppaction://hlinksldjump" r:id="rId27"/>
          </p:cNvPr>
          <p:cNvSpPr txBox="1"/>
          <p:nvPr/>
        </p:nvSpPr>
        <p:spPr>
          <a:xfrm>
            <a:off x="621792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G1  </a:t>
            </a:r>
            <a:r>
              <a:rPr sz="1300" b="0" i="0">
                <a:solidFill>
                  <a:srgbClr val="1E1E2E"/>
                </a:solidFill>
                <a:latin typeface="Arial"/>
              </a:rPr>
              <a:t>Glossary</a:t>
            </a:r>
          </a:p>
        </p:txBody>
      </p:sp>
      <p:sp>
        <p:nvSpPr>
          <p:cNvPr id="31" name="TextBox 30">
            <a:hlinkClick action="ppaction://hlinksldjump" r:id="rId28"/>
          </p:cNvPr>
          <p:cNvSpPr txBox="1"/>
          <p:nvPr/>
        </p:nvSpPr>
        <p:spPr>
          <a:xfrm>
            <a:off x="621792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DP1  </a:t>
            </a:r>
            <a:r>
              <a:rPr sz="1300" b="0" i="0">
                <a:solidFill>
                  <a:srgbClr val="1E1E2E"/>
                </a:solidFill>
                <a:latin typeface="Arial"/>
              </a:rPr>
              <a:t>Delivery bench and presales kit</a:t>
            </a:r>
          </a:p>
        </p:txBody>
      </p:sp>
      <p:sp>
        <p:nvSpPr>
          <p:cNvPr id="32" name="TextBox 31">
            <a:hlinkClick action="ppaction://hlinksldjump" r:id="rId29"/>
          </p:cNvPr>
          <p:cNvSpPr txBox="1"/>
          <p:nvPr/>
        </p:nvSpPr>
        <p:spPr>
          <a:xfrm>
            <a:off x="621792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AC1  </a:t>
            </a:r>
            <a:r>
              <a:rPr sz="1300" b="0" i="0">
                <a:solidFill>
                  <a:srgbClr val="1E1E2E"/>
                </a:solidFill>
                <a:latin typeface="Arial"/>
              </a:rPr>
              <a:t>Account play and contract risk</a:t>
            </a:r>
          </a:p>
        </p:txBody>
      </p:sp>
      <p:sp>
        <p:nvSpPr>
          <p:cNvPr id="33" name="TextBox 32">
            <a:hlinkClick action="ppaction://hlinksldjump" r:id="rId30"/>
          </p:cNvPr>
          <p:cNvSpPr txBox="1"/>
          <p:nvPr/>
        </p:nvSpPr>
        <p:spPr>
          <a:xfrm>
            <a:off x="621792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C1  </a:t>
            </a:r>
            <a:r>
              <a:rPr sz="1300" b="0" i="0">
                <a:solidFill>
                  <a:srgbClr val="1E1E2E"/>
                </a:solidFill>
                <a:latin typeface="Arial"/>
              </a:rPr>
              <a:t>Cost layers and pricing formula</a:t>
            </a:r>
          </a:p>
        </p:txBody>
      </p:sp>
      <p:sp>
        <p:nvSpPr>
          <p:cNvPr id="34" name="TextBox 33">
            <a:hlinkClick action="ppaction://hlinksldjump" r:id="rId31"/>
          </p:cNvPr>
          <p:cNvSpPr txBox="1"/>
          <p:nvPr/>
        </p:nvSpPr>
        <p:spPr>
          <a:xfrm>
            <a:off x="621792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K  </a:t>
            </a:r>
            <a:r>
              <a:rPr sz="1300" b="0" i="0">
                <a:solidFill>
                  <a:srgbClr val="1E1E2E"/>
                </a:solidFill>
                <a:latin typeface="Arial"/>
              </a:rPr>
              <a:t>Kill-switch cross-reference</a:t>
            </a:r>
          </a:p>
        </p:txBody>
      </p:sp>
      <p:sp>
        <p:nvSpPr>
          <p:cNvPr id="35" name="TextBox 34">
            <a:hlinkClick action="ppaction://hlinksldjump" r:id="rId32"/>
          </p:cNvPr>
          <p:cNvSpPr txBox="1"/>
          <p:nvPr/>
        </p:nvSpPr>
        <p:spPr>
          <a:xfrm>
            <a:off x="621792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R1  </a:t>
            </a:r>
            <a:r>
              <a:rPr sz="1300" b="0" i="0">
                <a:solidFill>
                  <a:srgbClr val="1E1E2E"/>
                </a:solidFill>
                <a:latin typeface="Arial"/>
              </a:rPr>
              <a:t>RACI matrix</a:t>
            </a:r>
          </a:p>
        </p:txBody>
      </p:sp>
      <p:sp>
        <p:nvSpPr>
          <p:cNvPr id="36" name="TextBox 35">
            <a:hlinkClick action="ppaction://hlinksldjump" r:id="rId33"/>
          </p:cNvPr>
          <p:cNvSpPr txBox="1"/>
          <p:nvPr/>
        </p:nvSpPr>
        <p:spPr>
          <a:xfrm>
            <a:off x="621792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R3  </a:t>
            </a:r>
            <a:r>
              <a:rPr sz="1300" b="0" i="0">
                <a:solidFill>
                  <a:srgbClr val="1E1E2E"/>
                </a:solidFill>
                <a:latin typeface="Arial"/>
              </a:rPr>
              <a:t>Delivery and commercial readiness</a:t>
            </a:r>
          </a:p>
        </p:txBody>
      </p:sp>
      <p:sp>
        <p:nvSpPr>
          <p:cNvPr id="37" name="TextBox 36">
            <a:hlinkClick action="ppaction://hlinksldjump" r:id="rId34"/>
          </p:cNvPr>
          <p:cNvSpPr txBox="1"/>
          <p:nvPr/>
        </p:nvSpPr>
        <p:spPr>
          <a:xfrm>
            <a:off x="621792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D1  </a:t>
            </a:r>
            <a:r>
              <a:rPr sz="1300" b="0" i="0">
                <a:solidFill>
                  <a:srgbClr val="1E1E2E"/>
                </a:solidFill>
                <a:latin typeface="Arial"/>
              </a:rPr>
              <a:t>Decision and approval register</a:t>
            </a:r>
          </a:p>
        </p:txBody>
      </p:sp>
      <p:sp>
        <p:nvSpPr>
          <p:cNvPr id="38" name="TextBox 37">
            <a:hlinkClick action="ppaction://hlinksldjump" r:id="rId35"/>
          </p:cNvPr>
          <p:cNvSpPr txBox="1"/>
          <p:nvPr/>
        </p:nvSpPr>
        <p:spPr>
          <a:xfrm>
            <a:off x="621792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44  </a:t>
            </a:r>
            <a:r>
              <a:rPr sz="1300" b="1" i="0">
                <a:solidFill>
                  <a:srgbClr val="000048"/>
                </a:solidFill>
                <a:latin typeface="Arial"/>
              </a:rPr>
              <a:t>S1  </a:t>
            </a:r>
            <a:r>
              <a:rPr sz="1300" b="0" i="0">
                <a:solidFill>
                  <a:srgbClr val="1E1E2E"/>
                </a:solidFill>
                <a:latin typeface="Arial"/>
              </a:rPr>
              <a:t>Sources and verification dates</a:t>
            </a:r>
          </a:p>
        </p:txBody>
      </p:sp>
      <p:sp>
        <p:nvSpPr>
          <p:cNvPr id="39" name="TextBox 38">
            <a:hlinkClick action="ppaction://hlinksldjump" r:id="rId36"/>
          </p:cNvPr>
          <p:cNvSpPr txBox="1"/>
          <p:nvPr/>
        </p:nvSpPr>
        <p:spPr>
          <a:xfrm>
            <a:off x="621792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45  </a:t>
            </a:r>
            <a:r>
              <a:rPr sz="1300" b="1" i="0">
                <a:solidFill>
                  <a:srgbClr val="000048"/>
                </a:solidFill>
                <a:latin typeface="Arial"/>
              </a:rPr>
              <a:t>S1b  </a:t>
            </a:r>
            <a:r>
              <a:rPr sz="1300" b="0" i="0">
                <a:solidFill>
                  <a:srgbClr val="1E1E2E"/>
                </a:solidFill>
                <a:latin typeface="Arial"/>
              </a:rPr>
              <a:t>Sources and verification dates (continued)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Extending a landing zone versus building a new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8" name="Table"/>
          <p:cNvGraphicFramePr>
            <a:graphicFrameLocks noGrp="1"/>
          </p:cNvGraphicFramePr>
          <p:nvPr/>
        </p:nvGraphicFramePr>
        <p:xfrm>
          <a:off x="548640" y="1325880"/>
          <a:ext cx="11091672" cy="2987039"/>
        </p:xfrm>
        <a:graphic>
          <a:graphicData uri="http://schemas.openxmlformats.org/drawingml/2006/table">
            <a:tbl>
              <a:tblPr firstRow="1" bandRow="0">
                <a:tableStyleId>{5C22544A-7EE6-4342-B048-85BDC9FD1C3A}</a:tableStyleId>
              </a:tblPr>
              <a:tblGrid>
                <a:gridCol w="2103120"/>
                <a:gridCol w="4480560"/>
                <a:gridCol w="4507992"/>
              </a:tblGrid>
              <a:tr h="304800">
                <a:tc>
                  <a:txBody>
                    <a:bodyPr wrap="square" anchor="ctr">
                      <a:noAutofit/>
                    </a:bodyPr>
                    <a:lstStyle/>
                    <a:p>
                      <a:pPr algn="l"/>
                      <a:r>
                        <a:rPr sz="14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Extend an existing landing zone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Establish a new foundation</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Starting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Accepted management groups,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Gaps, no platform, or a new tenant or region</a:t>
                      </a:r>
                    </a:p>
                  </a:txBody>
                  <a:tcPr marL="73152" marR="73152" marT="36576" marB="36576" anchor="ctr">
                    <a:solidFill>
                      <a:srgbClr val="FFFFFF"/>
                    </a:solidFill>
                  </a:tcPr>
                </a:tc>
              </a:tr>
              <a:tr h="731519">
                <a:tc>
                  <a:txBody>
                    <a:bodyPr wrap="square" anchor="ctr">
                      <a:noAutofit/>
                    </a:bodyPr>
                    <a:lstStyle/>
                    <a:p>
                      <a:pPr algn="l"/>
                      <a:r>
                        <a:rPr sz="1400" b="1" i="0">
                          <a:solidFill>
                            <a:srgbClr val="1E1E2E"/>
                          </a:solidFill>
                          <a:latin typeface="Arial"/>
                        </a:rPr>
                        <a:t>CIS Infra builds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Workload subscriptions, spoke, private endpoints, AI resources, AI-specific policy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All of extend plus management groups, subscription vending, hub, DNS, firewall, identity integration</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Main risk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Hidden gaps in the existing platform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Larger change surface and customer decisions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Customer decisions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 workload placement and AI policies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design authority, connectivity, naming, policy baseline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Commercial basis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work packages only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Separate platform and AI work packages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Entry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Validation checklist passes in assessment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Assessment gap register approved</a:t>
                      </a:r>
                    </a:p>
                  </a:txBody>
                  <a:tcPr marL="73152" marR="73152" marT="36576" marB="36576" anchor="ctr">
                    <a:solidFill>
                      <a:srgbClr val="F5F5F2"/>
                    </a:solidFill>
                  </a:tcPr>
                </a:tc>
              </a:tr>
            </a:tbl>
          </a:graphicData>
        </a:graphic>
      </p:graphicFrame>
      <p:sp>
        <p:nvSpPr>
          <p:cNvPr id="9" name="Rounded Rectangle 8"/>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New foundations are not included in an extension price. Existing shared hubs are reused only after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Management groups, subscriptions, policy and tags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2194560" y="1371600"/>
            <a:ext cx="201168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67712" y="1444752"/>
            <a:ext cx="329184" cy="329184"/>
          </a:xfrm>
          <a:prstGeom prst="rect">
            <a:avLst/>
          </a:prstGeom>
        </p:spPr>
      </p:pic>
      <p:sp>
        <p:nvSpPr>
          <p:cNvPr id="11" name="TextBox 10"/>
          <p:cNvSpPr txBox="1"/>
          <p:nvPr/>
        </p:nvSpPr>
        <p:spPr>
          <a:xfrm>
            <a:off x="2670048" y="1408176"/>
            <a:ext cx="1499616" cy="402336"/>
          </a:xfrm>
          <a:prstGeom prst="rect">
            <a:avLst/>
          </a:prstGeom>
          <a:noFill/>
        </p:spPr>
        <p:txBody>
          <a:bodyPr wrap="square" lIns="0" rIns="0" tIns="0" bIns="0" anchor="ctr">
            <a:noAutofit/>
          </a:bodyPr>
          <a:lstStyle/>
          <a:p>
            <a:pPr algn="l"/>
            <a:r>
              <a:rPr sz="1200" b="1" i="0">
                <a:solidFill>
                  <a:srgbClr val="000048"/>
                </a:solidFill>
                <a:latin typeface="Arial"/>
              </a:rPr>
              <a:t>Tenant root group</a:t>
            </a:r>
          </a:p>
        </p:txBody>
      </p:sp>
      <p:sp>
        <p:nvSpPr>
          <p:cNvPr id="12" name="Rounded Rectangle 11"/>
          <p:cNvSpPr/>
          <p:nvPr/>
        </p:nvSpPr>
        <p:spPr>
          <a:xfrm>
            <a:off x="548640" y="219456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2267712"/>
            <a:ext cx="329184" cy="329184"/>
          </a:xfrm>
          <a:prstGeom prst="rect">
            <a:avLst/>
          </a:prstGeom>
        </p:spPr>
      </p:pic>
      <p:sp>
        <p:nvSpPr>
          <p:cNvPr id="14" name="TextBox 13"/>
          <p:cNvSpPr txBox="1"/>
          <p:nvPr/>
        </p:nvSpPr>
        <p:spPr>
          <a:xfrm>
            <a:off x="1024127" y="2231136"/>
            <a:ext cx="1591056" cy="402336"/>
          </a:xfrm>
          <a:prstGeom prst="rect">
            <a:avLst/>
          </a:prstGeom>
          <a:noFill/>
        </p:spPr>
        <p:txBody>
          <a:bodyPr wrap="square" lIns="0" rIns="0" tIns="0" bIns="0" anchor="ctr">
            <a:noAutofit/>
          </a:bodyPr>
          <a:lstStyle/>
          <a:p>
            <a:pPr algn="l"/>
            <a:r>
              <a:rPr sz="1200" b="1" i="0">
                <a:solidFill>
                  <a:srgbClr val="000048"/>
                </a:solidFill>
                <a:latin typeface="Arial"/>
              </a:rPr>
              <a:t>Platform</a:t>
            </a:r>
          </a:p>
        </p:txBody>
      </p:sp>
      <p:sp>
        <p:nvSpPr>
          <p:cNvPr id="15" name="Rounded Rectangle 14"/>
          <p:cNvSpPr/>
          <p:nvPr/>
        </p:nvSpPr>
        <p:spPr>
          <a:xfrm>
            <a:off x="3749039" y="2194560"/>
            <a:ext cx="228600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2191" y="2267712"/>
            <a:ext cx="329184" cy="329184"/>
          </a:xfrm>
          <a:prstGeom prst="rect">
            <a:avLst/>
          </a:prstGeom>
        </p:spPr>
      </p:pic>
      <p:sp>
        <p:nvSpPr>
          <p:cNvPr id="17" name="TextBox 16"/>
          <p:cNvSpPr txBox="1"/>
          <p:nvPr/>
        </p:nvSpPr>
        <p:spPr>
          <a:xfrm>
            <a:off x="4224528" y="2231136"/>
            <a:ext cx="1773936" cy="402336"/>
          </a:xfrm>
          <a:prstGeom prst="rect">
            <a:avLst/>
          </a:prstGeom>
          <a:noFill/>
        </p:spPr>
        <p:txBody>
          <a:bodyPr wrap="square" lIns="0" rIns="0" tIns="0" bIns="0" anchor="ctr">
            <a:noAutofit/>
          </a:bodyPr>
          <a:lstStyle/>
          <a:p>
            <a:pPr algn="l"/>
            <a:r>
              <a:rPr sz="1200" b="1" i="0">
                <a:solidFill>
                  <a:srgbClr val="000048"/>
                </a:solidFill>
                <a:latin typeface="Arial"/>
              </a:rPr>
              <a:t>Landing zones</a:t>
            </a:r>
          </a:p>
        </p:txBody>
      </p:sp>
      <p:sp>
        <p:nvSpPr>
          <p:cNvPr id="18" name="Rounded Rectangle 17"/>
          <p:cNvSpPr/>
          <p:nvPr/>
        </p:nvSpPr>
        <p:spPr>
          <a:xfrm>
            <a:off x="548640" y="301752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090671"/>
            <a:ext cx="329184" cy="329184"/>
          </a:xfrm>
          <a:prstGeom prst="rect">
            <a:avLst/>
          </a:prstGeom>
        </p:spPr>
      </p:pic>
      <p:sp>
        <p:nvSpPr>
          <p:cNvPr id="20" name="TextBox 19"/>
          <p:cNvSpPr txBox="1"/>
          <p:nvPr/>
        </p:nvSpPr>
        <p:spPr>
          <a:xfrm>
            <a:off x="1024127" y="3054096"/>
            <a:ext cx="1591056" cy="402336"/>
          </a:xfrm>
          <a:prstGeom prst="rect">
            <a:avLst/>
          </a:prstGeom>
          <a:noFill/>
        </p:spPr>
        <p:txBody>
          <a:bodyPr wrap="square" lIns="0" rIns="0" tIns="0" bIns="0" anchor="ctr">
            <a:noAutofit/>
          </a:bodyPr>
          <a:lstStyle/>
          <a:p>
            <a:pPr algn="l"/>
            <a:r>
              <a:rPr sz="1200" b="1" i="0">
                <a:solidFill>
                  <a:srgbClr val="000048"/>
                </a:solidFill>
                <a:latin typeface="Arial"/>
              </a:rPr>
              <a:t>Connectivity</a:t>
            </a:r>
          </a:p>
        </p:txBody>
      </p:sp>
      <p:sp>
        <p:nvSpPr>
          <p:cNvPr id="21" name="Rounded Rectangle 20"/>
          <p:cNvSpPr/>
          <p:nvPr/>
        </p:nvSpPr>
        <p:spPr>
          <a:xfrm>
            <a:off x="548640" y="361188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685032"/>
            <a:ext cx="329184" cy="329184"/>
          </a:xfrm>
          <a:prstGeom prst="rect">
            <a:avLst/>
          </a:prstGeom>
        </p:spPr>
      </p:pic>
      <p:sp>
        <p:nvSpPr>
          <p:cNvPr id="23" name="TextBox 22"/>
          <p:cNvSpPr txBox="1"/>
          <p:nvPr/>
        </p:nvSpPr>
        <p:spPr>
          <a:xfrm>
            <a:off x="1024127" y="3648456"/>
            <a:ext cx="1591056" cy="402336"/>
          </a:xfrm>
          <a:prstGeom prst="rect">
            <a:avLst/>
          </a:prstGeom>
          <a:noFill/>
        </p:spPr>
        <p:txBody>
          <a:bodyPr wrap="square" lIns="0" rIns="0" tIns="0" bIns="0" anchor="ctr">
            <a:noAutofit/>
          </a:bodyPr>
          <a:lstStyle/>
          <a:p>
            <a:pPr algn="l"/>
            <a:r>
              <a:rPr sz="1200" b="1" i="0">
                <a:solidFill>
                  <a:srgbClr val="000048"/>
                </a:solidFill>
                <a:latin typeface="Arial"/>
              </a:rPr>
              <a:t>Identity, management</a:t>
            </a:r>
          </a:p>
        </p:txBody>
      </p:sp>
      <p:sp>
        <p:nvSpPr>
          <p:cNvPr id="24" name="Rounded Rectangle 23"/>
          <p:cNvSpPr/>
          <p:nvPr/>
        </p:nvSpPr>
        <p:spPr>
          <a:xfrm>
            <a:off x="32004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3552" y="3090671"/>
            <a:ext cx="329184" cy="329184"/>
          </a:xfrm>
          <a:prstGeom prst="rect">
            <a:avLst/>
          </a:prstGeom>
        </p:spPr>
      </p:pic>
      <p:sp>
        <p:nvSpPr>
          <p:cNvPr id="26" name="TextBox 25"/>
          <p:cNvSpPr txBox="1"/>
          <p:nvPr/>
        </p:nvSpPr>
        <p:spPr>
          <a:xfrm>
            <a:off x="3675887"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Corp</a:t>
            </a:r>
          </a:p>
        </p:txBody>
      </p:sp>
      <p:sp>
        <p:nvSpPr>
          <p:cNvPr id="27" name="Rounded Rectangle 26"/>
          <p:cNvSpPr/>
          <p:nvPr/>
        </p:nvSpPr>
        <p:spPr>
          <a:xfrm>
            <a:off x="48006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73752" y="3090671"/>
            <a:ext cx="329184" cy="329184"/>
          </a:xfrm>
          <a:prstGeom prst="rect">
            <a:avLst/>
          </a:prstGeom>
        </p:spPr>
      </p:pic>
      <p:sp>
        <p:nvSpPr>
          <p:cNvPr id="29" name="TextBox 28"/>
          <p:cNvSpPr txBox="1"/>
          <p:nvPr/>
        </p:nvSpPr>
        <p:spPr>
          <a:xfrm>
            <a:off x="5276088"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Online</a:t>
            </a:r>
          </a:p>
        </p:txBody>
      </p:sp>
      <p:sp>
        <p:nvSpPr>
          <p:cNvPr id="30" name="Rounded Rectangle 29"/>
          <p:cNvSpPr/>
          <p:nvPr/>
        </p:nvSpPr>
        <p:spPr>
          <a:xfrm>
            <a:off x="3200400" y="384048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3913632"/>
            <a:ext cx="329184" cy="329184"/>
          </a:xfrm>
          <a:prstGeom prst="rect">
            <a:avLst/>
          </a:prstGeom>
        </p:spPr>
      </p:pic>
      <p:sp>
        <p:nvSpPr>
          <p:cNvPr id="32" name="TextBox 31"/>
          <p:cNvSpPr txBox="1"/>
          <p:nvPr/>
        </p:nvSpPr>
        <p:spPr>
          <a:xfrm>
            <a:off x="3675887" y="3877056"/>
            <a:ext cx="950976" cy="402336"/>
          </a:xfrm>
          <a:prstGeom prst="rect">
            <a:avLst/>
          </a:prstGeom>
          <a:noFill/>
        </p:spPr>
        <p:txBody>
          <a:bodyPr wrap="square" lIns="0" rIns="0" tIns="0" bIns="0" anchor="ctr">
            <a:noAutofit/>
          </a:bodyPr>
          <a:lstStyle/>
          <a:p>
            <a:pPr algn="l"/>
            <a:r>
              <a:rPr sz="1200" b="1" i="0">
                <a:solidFill>
                  <a:srgbClr val="000048"/>
                </a:solidFill>
                <a:latin typeface="Arial"/>
              </a:rPr>
              <a:t>AI prod</a:t>
            </a:r>
          </a:p>
        </p:txBody>
      </p:sp>
      <p:sp>
        <p:nvSpPr>
          <p:cNvPr id="33" name="Rounded Rectangle 32"/>
          <p:cNvSpPr/>
          <p:nvPr/>
        </p:nvSpPr>
        <p:spPr>
          <a:xfrm>
            <a:off x="3200400" y="443484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4507992"/>
            <a:ext cx="329184" cy="329184"/>
          </a:xfrm>
          <a:prstGeom prst="rect">
            <a:avLst/>
          </a:prstGeom>
        </p:spPr>
      </p:pic>
      <p:sp>
        <p:nvSpPr>
          <p:cNvPr id="35" name="TextBox 34"/>
          <p:cNvSpPr txBox="1"/>
          <p:nvPr/>
        </p:nvSpPr>
        <p:spPr>
          <a:xfrm>
            <a:off x="3675887" y="4471416"/>
            <a:ext cx="950976" cy="402336"/>
          </a:xfrm>
          <a:prstGeom prst="rect">
            <a:avLst/>
          </a:prstGeom>
          <a:noFill/>
        </p:spPr>
        <p:txBody>
          <a:bodyPr wrap="square" lIns="0" rIns="0" tIns="0" bIns="0" anchor="ctr">
            <a:noAutofit/>
          </a:bodyPr>
          <a:lstStyle/>
          <a:p>
            <a:pPr algn="l"/>
            <a:r>
              <a:rPr sz="1200" b="1" i="0">
                <a:solidFill>
                  <a:srgbClr val="000048"/>
                </a:solidFill>
                <a:latin typeface="Arial"/>
              </a:rPr>
              <a:t>AI non-prod</a:t>
            </a:r>
          </a:p>
        </p:txBody>
      </p:sp>
      <p:cxnSp>
        <p:nvCxnSpPr>
          <p:cNvPr id="36"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7" name="Connector (plain)"/>
          <p:cNvCxnSpPr/>
          <p:nvPr/>
        </p:nvCxnSpPr>
        <p:spPr>
          <a:xfrm flipH="1">
            <a:off x="1600200" y="2011680"/>
            <a:ext cx="160020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8" name="Connector (plain)"/>
          <p:cNvCxnSpPr/>
          <p:nvPr/>
        </p:nvCxnSpPr>
        <p:spPr>
          <a:xfrm>
            <a:off x="160020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9"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0" name="Connector (plain)"/>
          <p:cNvCxnSpPr/>
          <p:nvPr/>
        </p:nvCxnSpPr>
        <p:spPr>
          <a:xfrm>
            <a:off x="3200400" y="2011680"/>
            <a:ext cx="169164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1" name="Connector (plain)"/>
          <p:cNvCxnSpPr/>
          <p:nvPr/>
        </p:nvCxnSpPr>
        <p:spPr>
          <a:xfrm>
            <a:off x="489204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2" name="Connector (plain)"/>
          <p:cNvCxnSpPr/>
          <p:nvPr/>
        </p:nvCxnSpPr>
        <p:spPr>
          <a:xfrm>
            <a:off x="1600200" y="267004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3" name="Connector (plain)"/>
          <p:cNvCxnSpPr/>
          <p:nvPr/>
        </p:nvCxnSpPr>
        <p:spPr>
          <a:xfrm>
            <a:off x="640080" y="3255264"/>
            <a:ext cx="0" cy="59436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4" name="Connector (plain)"/>
          <p:cNvCxnSpPr/>
          <p:nvPr/>
        </p:nvCxnSpPr>
        <p:spPr>
          <a:xfrm>
            <a:off x="4892040" y="267004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5" name="Connector (plain)"/>
          <p:cNvCxnSpPr/>
          <p:nvPr/>
        </p:nvCxnSpPr>
        <p:spPr>
          <a:xfrm flipH="1">
            <a:off x="3931920" y="2834640"/>
            <a:ext cx="96012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6" name="Connector (plain)"/>
          <p:cNvCxnSpPr/>
          <p:nvPr/>
        </p:nvCxnSpPr>
        <p:spPr>
          <a:xfrm>
            <a:off x="39319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7" name="Connector (plain)"/>
          <p:cNvCxnSpPr/>
          <p:nvPr/>
        </p:nvCxnSpPr>
        <p:spPr>
          <a:xfrm>
            <a:off x="4892040" y="2834640"/>
            <a:ext cx="64008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8" name="Connector (plain)"/>
          <p:cNvCxnSpPr/>
          <p:nvPr/>
        </p:nvCxnSpPr>
        <p:spPr>
          <a:xfrm>
            <a:off x="55321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9" name="Connector (plain)"/>
          <p:cNvCxnSpPr/>
          <p:nvPr/>
        </p:nvCxnSpPr>
        <p:spPr>
          <a:xfrm>
            <a:off x="3931920" y="349300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0" name="Connector (plain)"/>
          <p:cNvCxnSpPr/>
          <p:nvPr/>
        </p:nvCxnSpPr>
        <p:spPr>
          <a:xfrm flipH="1">
            <a:off x="3127248" y="3493008"/>
            <a:ext cx="11887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1" name="Connector (plain)"/>
          <p:cNvCxnSpPr/>
          <p:nvPr/>
        </p:nvCxnSpPr>
        <p:spPr>
          <a:xfrm>
            <a:off x="3127248" y="3493008"/>
            <a:ext cx="0" cy="1179576"/>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2" name="Connector (plain)"/>
          <p:cNvCxnSpPr/>
          <p:nvPr/>
        </p:nvCxnSpPr>
        <p:spPr>
          <a:xfrm>
            <a:off x="3127248" y="4672584"/>
            <a:ext cx="7315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74920"/>
            <a:ext cx="5760720" cy="685800"/>
          </a:xfrm>
          <a:prstGeom prst="rect">
            <a:avLst/>
          </a:prstGeom>
          <a:noFill/>
        </p:spPr>
        <p:txBody>
          <a:bodyPr wrap="square" lIns="0" rIns="0" tIns="0" bIns="0" anchor="t">
            <a:noAutofit/>
          </a:bodyPr>
          <a:lstStyle/>
          <a:p>
            <a:pPr algn="l"/>
            <a:r>
              <a:rPr sz="1300" b="0" i="0">
                <a:solidFill>
                  <a:srgbClr val="53565A"/>
                </a:solidFill>
                <a:latin typeface="Arial"/>
              </a:rPr>
              <a:t>AI production and non-production are separate subscriptions under the Corp (or Online) group, inheriting platform policy.</a:t>
            </a:r>
          </a:p>
        </p:txBody>
      </p:sp>
      <p:graphicFrame>
        <p:nvGraphicFramePr>
          <p:cNvPr id="54" name="Table"/>
          <p:cNvGraphicFramePr>
            <a:graphicFrameLocks noGrp="1"/>
          </p:cNvGraphicFramePr>
          <p:nvPr/>
        </p:nvGraphicFramePr>
        <p:xfrm>
          <a:off x="6583680" y="1371600"/>
          <a:ext cx="5056632" cy="2743200"/>
        </p:xfrm>
        <a:graphic>
          <a:graphicData uri="http://schemas.openxmlformats.org/drawingml/2006/table">
            <a:tbl>
              <a:tblPr firstRow="1" bandRow="0">
                <a:tableStyleId>{5C22544A-7EE6-4342-B048-85BDC9FD1C3A}</a:tableStyleId>
              </a:tblPr>
              <a:tblGrid>
                <a:gridCol w="1463040"/>
                <a:gridCol w="3593592"/>
              </a:tblGrid>
              <a:tr h="274320">
                <a:tc>
                  <a:txBody>
                    <a:bodyPr wrap="square" anchor="ctr">
                      <a:noAutofit/>
                    </a:bodyPr>
                    <a:lstStyle/>
                    <a:p>
                      <a:pPr algn="l"/>
                      <a:r>
                        <a:rPr sz="12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Minimum baseline (proposed)</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Azure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Allowed regions and deployment types; deny public network access for AI, Search, Storage, Key Vault; require diagnostics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Tags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owner, workload, environment, cost-centre, data-classification, agent-id (where applicable)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Subscription vending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approval, naming and budget set at creation</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Cost ownership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Budget and alert per subscription and workload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Time-bound, approved by customer risk owner</a:t>
                      </a:r>
                    </a:p>
                  </a:txBody>
                  <a:tcPr marL="73152" marR="73152"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Identity, RBAC and privileged access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PROPOSED BASELINE"/>
          <p:cNvSpPr/>
          <p:nvPr/>
        </p:nvSpPr>
        <p:spPr>
          <a:xfrm>
            <a:off x="189865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BASELINE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2895600"/>
        </p:xfrm>
        <a:graphic>
          <a:graphicData uri="http://schemas.openxmlformats.org/drawingml/2006/table">
            <a:tbl>
              <a:tblPr firstRow="1" bandRow="0">
                <a:tableStyleId>{5C22544A-7EE6-4342-B048-85BDC9FD1C3A}</a:tableStyleId>
              </a:tblPr>
              <a:tblGrid>
                <a:gridCol w="2194560"/>
                <a:gridCol w="3017520"/>
                <a:gridCol w="3931920"/>
                <a:gridCol w="1947672"/>
              </a:tblGrid>
              <a:tr h="304800">
                <a:tc>
                  <a:txBody>
                    <a:bodyPr wrap="square" anchor="ctr">
                      <a:noAutofit/>
                    </a:bodyPr>
                    <a:lstStyle/>
                    <a:p>
                      <a:pPr algn="l"/>
                      <a:r>
                        <a:rPr sz="1400" b="1" i="0">
                          <a:solidFill>
                            <a:srgbClr val="FFFFFF"/>
                          </a:solidFill>
                          <a:latin typeface="Arial"/>
                        </a:rPr>
                        <a:t>Identity type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Implemented by</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Workload managed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 host to Foundry, Search, Storage, Key Vault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Least-privilege data-plane roles; local auth disabled where supported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Agent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Agent calls to models, tools and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Scoped per agent and version; mapped server-side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with Security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Deployment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Pipelines that create resources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Federated credentials; no long-lived secrets; scoped per environment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DevOps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Privileged operators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administration and containment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PIM, just-in-time, approval for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Security designs, CIS Infra operates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Break-glass accounts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Emergency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Monitored, tested, excluded from automation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with Security</a:t>
                      </a:r>
                    </a:p>
                  </a:txBody>
                  <a:tcPr marL="73152" marR="73152" marT="36576" marB="36576" anchor="ctr">
                    <a:solidFill>
                      <a:srgbClr val="FFFFFF"/>
                    </a:solidFill>
                  </a:tcPr>
                </a:tc>
              </a:tr>
            </a:tbl>
          </a:graphicData>
        </a:graphic>
      </p:graphicFrame>
      <p:pic>
        <p:nvPicPr>
          <p:cNvPr id="10" name="Azure icon: Managed Identities" descr="Official Azure icon: Managed Identiti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257800"/>
            <a:ext cx="457200" cy="457200"/>
          </a:xfrm>
          <a:prstGeom prst="rect">
            <a:avLst/>
          </a:prstGeom>
        </p:spPr>
      </p:pic>
      <p:pic>
        <p:nvPicPr>
          <p:cNvPr id="11" name="Azure icon: Entra Privileged Identity Management" descr="Official Azure icon: Entra Privileged Identity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8719" y="5257800"/>
            <a:ext cx="457200" cy="457200"/>
          </a:xfrm>
          <a:prstGeom prst="rect">
            <a:avLst/>
          </a:prstGeom>
        </p:spPr>
      </p:pic>
      <p:pic>
        <p:nvPicPr>
          <p:cNvPr id="12" name="Azure icon: Key Vault" descr="Official Azure icon: Key Vaul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5257800"/>
            <a:ext cx="457200" cy="457200"/>
          </a:xfrm>
          <a:prstGeom prst="rect">
            <a:avLst/>
          </a:prstGeom>
        </p:spPr>
      </p:pic>
      <p:sp>
        <p:nvSpPr>
          <p:cNvPr id="13" name="TextBox 12"/>
          <p:cNvSpPr txBox="1"/>
          <p:nvPr/>
        </p:nvSpPr>
        <p:spPr>
          <a:xfrm>
            <a:off x="2514600" y="5303520"/>
            <a:ext cx="9052560" cy="457200"/>
          </a:xfrm>
          <a:prstGeom prst="rect">
            <a:avLst/>
          </a:prstGeom>
          <a:noFill/>
        </p:spPr>
        <p:txBody>
          <a:bodyPr wrap="square" lIns="0" rIns="0" tIns="0" bIns="0" anchor="t">
            <a:noAutofit/>
          </a:bodyPr>
          <a:lstStyle/>
          <a:p>
            <a:pPr algn="l"/>
            <a:r>
              <a:rPr sz="1400" b="0" i="0">
                <a:solidFill>
                  <a:srgbClr val="53565A"/>
                </a:solidFill>
                <a:latin typeface="Arial"/>
              </a:rPr>
              <a:t>Managed Identities, Entra Privileged Identity Management and Key Vault are the core Azure services for this layer.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Hub connectivity, private endpoints and DNS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2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1920240" y="1325880"/>
            <a:ext cx="9875520" cy="269748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29968" y="1380744"/>
            <a:ext cx="9656064" cy="237744"/>
          </a:xfrm>
          <a:prstGeom prst="rect">
            <a:avLst/>
          </a:prstGeom>
          <a:noFill/>
        </p:spPr>
        <p:txBody>
          <a:bodyPr wrap="square" lIns="0" rIns="0" tIns="0" bIns="0" anchor="t">
            <a:noAutofit/>
          </a:bodyPr>
          <a:lstStyle/>
          <a:p>
            <a:pPr algn="l"/>
            <a:r>
              <a:rPr sz="1200" b="1" i="0">
                <a:solidFill>
                  <a:srgbClr val="000048"/>
                </a:solidFill>
                <a:latin typeface="Arial"/>
              </a:rPr>
              <a:t>WORKLOAD LANDING ZONE SUBSCRIPTION: SPOKE VIRTUAL NETWORK</a:t>
            </a:r>
          </a:p>
        </p:txBody>
      </p:sp>
      <p:sp>
        <p:nvSpPr>
          <p:cNvPr id="11" name="Rounded Rectangle 10"/>
          <p:cNvSpPr/>
          <p:nvPr/>
        </p:nvSpPr>
        <p:spPr>
          <a:xfrm>
            <a:off x="205740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30552" y="1719072"/>
            <a:ext cx="1828800" cy="237744"/>
          </a:xfrm>
          <a:prstGeom prst="rect">
            <a:avLst/>
          </a:prstGeom>
          <a:noFill/>
        </p:spPr>
        <p:txBody>
          <a:bodyPr wrap="square" lIns="0" rIns="0" tIns="0" bIns="0" anchor="t">
            <a:noAutofit/>
          </a:bodyPr>
          <a:lstStyle/>
          <a:p>
            <a:pPr algn="l"/>
            <a:r>
              <a:rPr sz="1200" b="1" i="0">
                <a:solidFill>
                  <a:srgbClr val="53565A"/>
                </a:solidFill>
                <a:latin typeface="Arial"/>
              </a:rPr>
              <a:t>snet-appGateway</a:t>
            </a:r>
          </a:p>
        </p:txBody>
      </p:sp>
      <p:pic>
        <p:nvPicPr>
          <p:cNvPr id="13"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94560" y="2057400"/>
            <a:ext cx="384048" cy="384048"/>
          </a:xfrm>
          <a:prstGeom prst="rect">
            <a:avLst/>
          </a:prstGeom>
        </p:spPr>
      </p:pic>
      <p:sp>
        <p:nvSpPr>
          <p:cNvPr id="14" name="TextBox 13"/>
          <p:cNvSpPr txBox="1"/>
          <p:nvPr/>
        </p:nvSpPr>
        <p:spPr>
          <a:xfrm>
            <a:off x="2651760" y="2057400"/>
            <a:ext cx="1280160" cy="548640"/>
          </a:xfrm>
          <a:prstGeom prst="rect">
            <a:avLst/>
          </a:prstGeom>
          <a:noFill/>
        </p:spPr>
        <p:txBody>
          <a:bodyPr wrap="square" lIns="0" rIns="0" tIns="0" bIns="0" anchor="t">
            <a:noAutofit/>
          </a:bodyPr>
          <a:lstStyle/>
          <a:p>
            <a:pPr algn="l"/>
            <a:r>
              <a:rPr sz="1200" b="1" i="0">
                <a:solidFill>
                  <a:srgbClr val="000048"/>
                </a:solidFill>
                <a:latin typeface="Arial"/>
              </a:rPr>
              <a:t>App Gateway + WAF</a:t>
            </a:r>
          </a:p>
        </p:txBody>
      </p:sp>
      <p:sp>
        <p:nvSpPr>
          <p:cNvPr id="15" name="Rounded Rectangle 14"/>
          <p:cNvSpPr/>
          <p:nvPr/>
        </p:nvSpPr>
        <p:spPr>
          <a:xfrm>
            <a:off x="406908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42232" y="1719072"/>
            <a:ext cx="1828800" cy="237744"/>
          </a:xfrm>
          <a:prstGeom prst="rect">
            <a:avLst/>
          </a:prstGeom>
          <a:noFill/>
        </p:spPr>
        <p:txBody>
          <a:bodyPr wrap="square" lIns="0" rIns="0" tIns="0" bIns="0" anchor="t">
            <a:noAutofit/>
          </a:bodyPr>
          <a:lstStyle/>
          <a:p>
            <a:pPr algn="l"/>
            <a:r>
              <a:rPr sz="1200" b="1" i="0">
                <a:solidFill>
                  <a:srgbClr val="53565A"/>
                </a:solidFill>
                <a:latin typeface="Arial"/>
              </a:rPr>
              <a:t>snet-appServicePlan</a:t>
            </a:r>
          </a:p>
        </p:txBody>
      </p:sp>
      <p:pic>
        <p:nvPicPr>
          <p:cNvPr id="17"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2057400"/>
            <a:ext cx="384048" cy="384048"/>
          </a:xfrm>
          <a:prstGeom prst="rect">
            <a:avLst/>
          </a:prstGeom>
        </p:spPr>
      </p:pic>
      <p:sp>
        <p:nvSpPr>
          <p:cNvPr id="18" name="TextBox 17"/>
          <p:cNvSpPr txBox="1"/>
          <p:nvPr/>
        </p:nvSpPr>
        <p:spPr>
          <a:xfrm>
            <a:off x="4663440" y="2057400"/>
            <a:ext cx="1280160" cy="548640"/>
          </a:xfrm>
          <a:prstGeom prst="rect">
            <a:avLst/>
          </a:prstGeom>
          <a:noFill/>
        </p:spPr>
        <p:txBody>
          <a:bodyPr wrap="square" lIns="0" rIns="0" tIns="0" bIns="0" anchor="t">
            <a:noAutofit/>
          </a:bodyPr>
          <a:lstStyle/>
          <a:p>
            <a:pPr algn="l"/>
            <a:r>
              <a:rPr sz="1200" b="1" i="0">
                <a:solidFill>
                  <a:srgbClr val="000048"/>
                </a:solidFill>
                <a:latin typeface="Arial"/>
              </a:rPr>
              <a:t>App Service integration</a:t>
            </a:r>
          </a:p>
        </p:txBody>
      </p:sp>
      <p:sp>
        <p:nvSpPr>
          <p:cNvPr id="19" name="Rounded Rectangle 18"/>
          <p:cNvSpPr/>
          <p:nvPr/>
        </p:nvSpPr>
        <p:spPr>
          <a:xfrm>
            <a:off x="608076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53912" y="1719072"/>
            <a:ext cx="1828800" cy="237744"/>
          </a:xfrm>
          <a:prstGeom prst="rect">
            <a:avLst/>
          </a:prstGeom>
          <a:noFill/>
        </p:spPr>
        <p:txBody>
          <a:bodyPr wrap="square" lIns="0" rIns="0" tIns="0" bIns="0" anchor="t">
            <a:noAutofit/>
          </a:bodyPr>
          <a:lstStyle/>
          <a:p>
            <a:pPr algn="l"/>
            <a:r>
              <a:rPr sz="1200" b="1" i="0">
                <a:solidFill>
                  <a:srgbClr val="53565A"/>
                </a:solidFill>
                <a:latin typeface="Arial"/>
              </a:rPr>
              <a:t>snet-agentsEgress</a:t>
            </a:r>
          </a:p>
        </p:txBody>
      </p:sp>
      <p:pic>
        <p:nvPicPr>
          <p:cNvPr id="21"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0" y="2057400"/>
            <a:ext cx="384048" cy="384048"/>
          </a:xfrm>
          <a:prstGeom prst="rect">
            <a:avLst/>
          </a:prstGeom>
        </p:spPr>
      </p:pic>
      <p:sp>
        <p:nvSpPr>
          <p:cNvPr id="22" name="TextBox 21"/>
          <p:cNvSpPr txBox="1"/>
          <p:nvPr/>
        </p:nvSpPr>
        <p:spPr>
          <a:xfrm>
            <a:off x="6675120" y="2057400"/>
            <a:ext cx="1280160" cy="548640"/>
          </a:xfrm>
          <a:prstGeom prst="rect">
            <a:avLst/>
          </a:prstGeom>
          <a:noFill/>
        </p:spPr>
        <p:txBody>
          <a:bodyPr wrap="square" lIns="0" rIns="0" tIns="0" bIns="0" anchor="t">
            <a:noAutofit/>
          </a:bodyPr>
          <a:lstStyle/>
          <a:p>
            <a:pPr algn="l"/>
            <a:r>
              <a:rPr sz="1200" b="1" i="0">
                <a:solidFill>
                  <a:srgbClr val="000048"/>
                </a:solidFill>
                <a:latin typeface="Arial"/>
              </a:rPr>
              <a:t>Agent Service integration</a:t>
            </a:r>
          </a:p>
        </p:txBody>
      </p:sp>
      <p:sp>
        <p:nvSpPr>
          <p:cNvPr id="23" name="Rounded Rectangle 22"/>
          <p:cNvSpPr/>
          <p:nvPr/>
        </p:nvSpPr>
        <p:spPr>
          <a:xfrm>
            <a:off x="8092440" y="1691640"/>
            <a:ext cx="3566160" cy="2194560"/>
          </a:xfrm>
          <a:prstGeom prst="roundRect">
            <a:avLst>
              <a:gd name="adj" fmla="val 41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65592" y="1719072"/>
            <a:ext cx="3474720" cy="237744"/>
          </a:xfrm>
          <a:prstGeom prst="rect">
            <a:avLst/>
          </a:prstGeom>
          <a:noFill/>
        </p:spPr>
        <p:txBody>
          <a:bodyPr wrap="square" lIns="0" rIns="0" tIns="0" bIns="0" anchor="t">
            <a:noAutofit/>
          </a:bodyPr>
          <a:lstStyle/>
          <a:p>
            <a:pPr algn="l"/>
            <a:r>
              <a:rPr sz="1200" b="1" i="0">
                <a:solidFill>
                  <a:srgbClr val="53565A"/>
                </a:solidFill>
                <a:latin typeface="Arial"/>
              </a:rPr>
              <a:t>snet-privateEndpoints</a:t>
            </a:r>
          </a:p>
        </p:txBody>
      </p:sp>
      <p:pic>
        <p:nvPicPr>
          <p:cNvPr id="2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011680"/>
            <a:ext cx="347472" cy="347472"/>
          </a:xfrm>
          <a:prstGeom prst="rect">
            <a:avLst/>
          </a:prstGeom>
        </p:spPr>
      </p:pic>
      <p:sp>
        <p:nvSpPr>
          <p:cNvPr id="26" name="TextBox 25"/>
          <p:cNvSpPr txBox="1"/>
          <p:nvPr/>
        </p:nvSpPr>
        <p:spPr>
          <a:xfrm>
            <a:off x="8183879" y="2377440"/>
            <a:ext cx="1143000" cy="457200"/>
          </a:xfrm>
          <a:prstGeom prst="rect">
            <a:avLst/>
          </a:prstGeom>
          <a:noFill/>
        </p:spPr>
        <p:txBody>
          <a:bodyPr wrap="square" lIns="0" rIns="0" tIns="0" bIns="0" anchor="t">
            <a:noAutofit/>
          </a:bodyPr>
          <a:lstStyle/>
          <a:p>
            <a:pPr algn="ctr"/>
            <a:r>
              <a:rPr sz="1200" b="0" i="0">
                <a:solidFill>
                  <a:srgbClr val="000048"/>
                </a:solidFill>
                <a:latin typeface="Arial"/>
              </a:rPr>
              <a:t>App Service</a:t>
            </a:r>
          </a:p>
        </p:txBody>
      </p:sp>
      <p:pic>
        <p:nvPicPr>
          <p:cNvPr id="27"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011680"/>
            <a:ext cx="347472" cy="347472"/>
          </a:xfrm>
          <a:prstGeom prst="rect">
            <a:avLst/>
          </a:prstGeom>
        </p:spPr>
      </p:pic>
      <p:sp>
        <p:nvSpPr>
          <p:cNvPr id="28" name="TextBox 27"/>
          <p:cNvSpPr txBox="1"/>
          <p:nvPr/>
        </p:nvSpPr>
        <p:spPr>
          <a:xfrm>
            <a:off x="9345167" y="2377440"/>
            <a:ext cx="1143000" cy="457200"/>
          </a:xfrm>
          <a:prstGeom prst="rect">
            <a:avLst/>
          </a:prstGeom>
          <a:noFill/>
        </p:spPr>
        <p:txBody>
          <a:bodyPr wrap="square" lIns="0" rIns="0" tIns="0" bIns="0" anchor="t">
            <a:noAutofit/>
          </a:bodyPr>
          <a:lstStyle/>
          <a:p>
            <a:pPr algn="ctr"/>
            <a:r>
              <a:rPr sz="1200" b="0" i="0">
                <a:solidFill>
                  <a:srgbClr val="000048"/>
                </a:solidFill>
                <a:latin typeface="Arial"/>
              </a:rPr>
              <a:t>Storage account</a:t>
            </a:r>
          </a:p>
        </p:txBody>
      </p:sp>
      <p:pic>
        <p:nvPicPr>
          <p:cNvPr id="29"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011680"/>
            <a:ext cx="347472" cy="347472"/>
          </a:xfrm>
          <a:prstGeom prst="rect">
            <a:avLst/>
          </a:prstGeom>
        </p:spPr>
      </p:pic>
      <p:sp>
        <p:nvSpPr>
          <p:cNvPr id="30" name="TextBox 29"/>
          <p:cNvSpPr txBox="1"/>
          <p:nvPr/>
        </p:nvSpPr>
        <p:spPr>
          <a:xfrm>
            <a:off x="10506455" y="2377440"/>
            <a:ext cx="1143000" cy="457200"/>
          </a:xfrm>
          <a:prstGeom prst="rect">
            <a:avLst/>
          </a:prstGeom>
          <a:noFill/>
        </p:spPr>
        <p:txBody>
          <a:bodyPr wrap="square" lIns="0" rIns="0" tIns="0" bIns="0" anchor="t">
            <a:noAutofit/>
          </a:bodyPr>
          <a:lstStyle/>
          <a:p>
            <a:pPr algn="ctr"/>
            <a:r>
              <a:rPr sz="1200" b="0" i="0">
                <a:solidFill>
                  <a:srgbClr val="000048"/>
                </a:solidFill>
                <a:latin typeface="Arial"/>
              </a:rPr>
              <a:t>Key Vault</a:t>
            </a:r>
          </a:p>
        </p:txBody>
      </p:sp>
      <p:pic>
        <p:nvPicPr>
          <p:cNvPr id="31"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926080"/>
            <a:ext cx="347472" cy="347472"/>
          </a:xfrm>
          <a:prstGeom prst="rect">
            <a:avLst/>
          </a:prstGeom>
        </p:spPr>
      </p:pic>
      <p:sp>
        <p:nvSpPr>
          <p:cNvPr id="32" name="TextBox 31"/>
          <p:cNvSpPr txBox="1"/>
          <p:nvPr/>
        </p:nvSpPr>
        <p:spPr>
          <a:xfrm>
            <a:off x="8183879" y="3291840"/>
            <a:ext cx="1143000" cy="457200"/>
          </a:xfrm>
          <a:prstGeom prst="rect">
            <a:avLst/>
          </a:prstGeom>
          <a:noFill/>
        </p:spPr>
        <p:txBody>
          <a:bodyPr wrap="square" lIns="0" rIns="0" tIns="0" bIns="0" anchor="t">
            <a:noAutofit/>
          </a:bodyPr>
          <a:lstStyle/>
          <a:p>
            <a:pPr algn="ctr"/>
            <a:r>
              <a:rPr sz="1200" b="0" i="0">
                <a:solidFill>
                  <a:srgbClr val="000048"/>
                </a:solidFill>
                <a:latin typeface="Arial"/>
              </a:rPr>
              <a:t>Foundry</a:t>
            </a:r>
          </a:p>
        </p:txBody>
      </p:sp>
      <p:pic>
        <p:nvPicPr>
          <p:cNvPr id="33"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926080"/>
            <a:ext cx="347472" cy="347472"/>
          </a:xfrm>
          <a:prstGeom prst="rect">
            <a:avLst/>
          </a:prstGeom>
        </p:spPr>
      </p:pic>
      <p:sp>
        <p:nvSpPr>
          <p:cNvPr id="34" name="TextBox 33"/>
          <p:cNvSpPr txBox="1"/>
          <p:nvPr/>
        </p:nvSpPr>
        <p:spPr>
          <a:xfrm>
            <a:off x="9345167" y="3291840"/>
            <a:ext cx="1143000" cy="457200"/>
          </a:xfrm>
          <a:prstGeom prst="rect">
            <a:avLst/>
          </a:prstGeom>
          <a:noFill/>
        </p:spPr>
        <p:txBody>
          <a:bodyPr wrap="square" lIns="0" rIns="0" tIns="0" bIns="0" anchor="t">
            <a:noAutofit/>
          </a:bodyPr>
          <a:lstStyle/>
          <a:p>
            <a:pPr algn="ctr"/>
            <a:r>
              <a:rPr sz="1200" b="0" i="0">
                <a:solidFill>
                  <a:srgbClr val="000048"/>
                </a:solidFill>
                <a:latin typeface="Arial"/>
              </a:rPr>
              <a:t>AI Search</a:t>
            </a:r>
          </a:p>
        </p:txBody>
      </p:sp>
      <p:pic>
        <p:nvPicPr>
          <p:cNvPr id="3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926080"/>
            <a:ext cx="347472" cy="347472"/>
          </a:xfrm>
          <a:prstGeom prst="rect">
            <a:avLst/>
          </a:prstGeom>
        </p:spPr>
      </p:pic>
      <p:sp>
        <p:nvSpPr>
          <p:cNvPr id="36" name="TextBox 35"/>
          <p:cNvSpPr txBox="1"/>
          <p:nvPr/>
        </p:nvSpPr>
        <p:spPr>
          <a:xfrm>
            <a:off x="10506455" y="3291840"/>
            <a:ext cx="1143000" cy="457200"/>
          </a:xfrm>
          <a:prstGeom prst="rect">
            <a:avLst/>
          </a:prstGeom>
          <a:noFill/>
        </p:spPr>
        <p:txBody>
          <a:bodyPr wrap="square" lIns="0" rIns="0" tIns="0" bIns="0" anchor="t">
            <a:noAutofit/>
          </a:bodyPr>
          <a:lstStyle/>
          <a:p>
            <a:pPr algn="ctr"/>
            <a:r>
              <a:rPr sz="1200" b="0" i="0">
                <a:solidFill>
                  <a:srgbClr val="000048"/>
                </a:solidFill>
                <a:latin typeface="Arial"/>
              </a:rPr>
              <a:t>Cosmos DB</a:t>
            </a:r>
          </a:p>
        </p:txBody>
      </p:sp>
      <p:sp>
        <p:nvSpPr>
          <p:cNvPr id="37" name="Rounded Rectangle 36"/>
          <p:cNvSpPr/>
          <p:nvPr/>
        </p:nvSpPr>
        <p:spPr>
          <a:xfrm>
            <a:off x="2057400" y="2926080"/>
            <a:ext cx="3931920" cy="960120"/>
          </a:xfrm>
          <a:prstGeom prst="roundRect">
            <a:avLst>
              <a:gd name="adj" fmla="val 9523"/>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30552" y="2953512"/>
            <a:ext cx="3840480" cy="237744"/>
          </a:xfrm>
          <a:prstGeom prst="rect">
            <a:avLst/>
          </a:prstGeom>
          <a:noFill/>
        </p:spPr>
        <p:txBody>
          <a:bodyPr wrap="square" lIns="0" rIns="0" tIns="0" bIns="0" anchor="t">
            <a:noAutofit/>
          </a:bodyPr>
          <a:lstStyle/>
          <a:p>
            <a:pPr algn="l"/>
            <a:r>
              <a:rPr sz="1200" b="1" i="0">
                <a:solidFill>
                  <a:srgbClr val="53565A"/>
                </a:solidFill>
                <a:latin typeface="Arial"/>
              </a:rPr>
              <a:t>snet-buildAgents, snet-jumpBoxes</a:t>
            </a:r>
          </a:p>
        </p:txBody>
      </p:sp>
      <p:pic>
        <p:nvPicPr>
          <p:cNvPr id="39" name="Azure icon: Virtual Machine" descr="Official Azure icon: Virtual Machin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40280" y="3246120"/>
            <a:ext cx="347472" cy="347472"/>
          </a:xfrm>
          <a:prstGeom prst="rect">
            <a:avLst/>
          </a:prstGeom>
        </p:spPr>
      </p:pic>
      <p:sp>
        <p:nvSpPr>
          <p:cNvPr id="40" name="TextBox 39"/>
          <p:cNvSpPr txBox="1"/>
          <p:nvPr/>
        </p:nvSpPr>
        <p:spPr>
          <a:xfrm>
            <a:off x="2651760" y="3273552"/>
            <a:ext cx="3291840" cy="457200"/>
          </a:xfrm>
          <a:prstGeom prst="rect">
            <a:avLst/>
          </a:prstGeom>
          <a:noFill/>
        </p:spPr>
        <p:txBody>
          <a:bodyPr wrap="square" lIns="0" rIns="0" tIns="0" bIns="0" anchor="t">
            <a:noAutofit/>
          </a:bodyPr>
          <a:lstStyle/>
          <a:p>
            <a:pPr algn="l"/>
            <a:r>
              <a:rPr sz="1200" b="0" i="0">
                <a:solidFill>
                  <a:srgbClr val="000048"/>
                </a:solidFill>
                <a:latin typeface="Arial"/>
              </a:rPr>
              <a:t>Build agents and jump boxes (via Bastion)</a:t>
            </a:r>
          </a:p>
        </p:txBody>
      </p:sp>
      <p:sp>
        <p:nvSpPr>
          <p:cNvPr id="41" name="TextBox 40"/>
          <p:cNvSpPr txBox="1"/>
          <p:nvPr/>
        </p:nvSpPr>
        <p:spPr>
          <a:xfrm>
            <a:off x="6126480" y="3017520"/>
            <a:ext cx="1920240" cy="868680"/>
          </a:xfrm>
          <a:prstGeom prst="rect">
            <a:avLst/>
          </a:prstGeom>
          <a:noFill/>
        </p:spPr>
        <p:txBody>
          <a:bodyPr wrap="square" lIns="0" rIns="0" tIns="0" bIns="0" anchor="t">
            <a:noAutofit/>
          </a:bodyPr>
          <a:lstStyle/>
          <a:p>
            <a:pPr algn="l"/>
            <a:r>
              <a:rPr sz="1200" b="0" i="0">
                <a:solidFill>
                  <a:srgbClr val="53565A"/>
                </a:solidFill>
                <a:latin typeface="Arial"/>
              </a:rPr>
              <a:t>All subnets: NSG and UDR 0.0.0.0/0 to hub firewall</a:t>
            </a:r>
          </a:p>
        </p:txBody>
      </p:sp>
      <p:sp>
        <p:nvSpPr>
          <p:cNvPr id="42" name="Rounded Rectangle 41"/>
          <p:cNvSpPr/>
          <p:nvPr/>
        </p:nvSpPr>
        <p:spPr>
          <a:xfrm>
            <a:off x="1920240" y="4343400"/>
            <a:ext cx="9875520" cy="1417320"/>
          </a:xfrm>
          <a:prstGeom prst="roundRect">
            <a:avLst>
              <a:gd name="adj" fmla="val 645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029968" y="4398264"/>
            <a:ext cx="9656064" cy="237744"/>
          </a:xfrm>
          <a:prstGeom prst="rect">
            <a:avLst/>
          </a:prstGeom>
          <a:noFill/>
        </p:spPr>
        <p:txBody>
          <a:bodyPr wrap="square" lIns="0" rIns="0" tIns="0" bIns="0" anchor="t">
            <a:noAutofit/>
          </a:bodyPr>
          <a:lstStyle/>
          <a:p>
            <a:pPr algn="l"/>
            <a:r>
              <a:rPr sz="1200" b="1" i="0">
                <a:solidFill>
                  <a:srgbClr val="000048"/>
                </a:solidFill>
                <a:latin typeface="Arial"/>
              </a:rPr>
              <a:t>PLATFORM LANDING ZONE: CONNECTIVITY SUBSCRIPTION</a:t>
            </a:r>
          </a:p>
        </p:txBody>
      </p:sp>
      <p:pic>
        <p:nvPicPr>
          <p:cNvPr id="44" name="Azure icon: Virtual Networks" descr="Official Azure icon: Virtual Network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30552" y="4782312"/>
            <a:ext cx="384048" cy="384048"/>
          </a:xfrm>
          <a:prstGeom prst="rect">
            <a:avLst/>
          </a:prstGeom>
        </p:spPr>
      </p:pic>
      <p:sp>
        <p:nvSpPr>
          <p:cNvPr id="45" name="TextBox 44"/>
          <p:cNvSpPr txBox="1"/>
          <p:nvPr/>
        </p:nvSpPr>
        <p:spPr>
          <a:xfrm>
            <a:off x="258775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Hub virtual network</a:t>
            </a:r>
          </a:p>
          <a:p>
            <a:pPr algn="l"/>
            <a:r>
              <a:rPr sz="1200" b="0" i="0">
                <a:solidFill>
                  <a:srgbClr val="53565A"/>
                </a:solidFill>
                <a:latin typeface="Arial"/>
              </a:rPr>
              <a:t>per region</a:t>
            </a:r>
          </a:p>
        </p:txBody>
      </p:sp>
      <p:pic>
        <p:nvPicPr>
          <p:cNvPr id="46" name="Azure icon: Firewalls" descr="Official Azure icon: Firewall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507992" y="4782312"/>
            <a:ext cx="384048" cy="384048"/>
          </a:xfrm>
          <a:prstGeom prst="rect">
            <a:avLst/>
          </a:prstGeom>
        </p:spPr>
      </p:pic>
      <p:sp>
        <p:nvSpPr>
          <p:cNvPr id="47" name="TextBox 46"/>
          <p:cNvSpPr txBox="1"/>
          <p:nvPr/>
        </p:nvSpPr>
        <p:spPr>
          <a:xfrm>
            <a:off x="496519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200" b="0" i="0">
                <a:solidFill>
                  <a:srgbClr val="53565A"/>
                </a:solidFill>
                <a:latin typeface="Arial"/>
              </a:rPr>
              <a:t>egress inspection</a:t>
            </a:r>
          </a:p>
        </p:txBody>
      </p:sp>
      <p:pic>
        <p:nvPicPr>
          <p:cNvPr id="48" name="Azure icon: DNS Private Resolver" descr="Official Azure icon: DNS Private Resolve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56832" y="4782312"/>
            <a:ext cx="384048" cy="384048"/>
          </a:xfrm>
          <a:prstGeom prst="rect">
            <a:avLst/>
          </a:prstGeom>
        </p:spPr>
      </p:pic>
      <p:sp>
        <p:nvSpPr>
          <p:cNvPr id="49" name="TextBox 48"/>
          <p:cNvSpPr txBox="1"/>
          <p:nvPr/>
        </p:nvSpPr>
        <p:spPr>
          <a:xfrm>
            <a:off x="711403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DNS Private Resolver</a:t>
            </a:r>
          </a:p>
          <a:p>
            <a:pPr algn="l"/>
            <a:r>
              <a:rPr sz="1200" b="0" i="0">
                <a:solidFill>
                  <a:srgbClr val="53565A"/>
                </a:solidFill>
                <a:latin typeface="Arial"/>
              </a:rPr>
              <a:t>linked rulesets</a:t>
            </a:r>
          </a:p>
        </p:txBody>
      </p:sp>
      <p:pic>
        <p:nvPicPr>
          <p:cNvPr id="50" name="Azure icon: DNS Zones" descr="Official Azure icon: DNS Zone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034272" y="4782312"/>
            <a:ext cx="384048" cy="384048"/>
          </a:xfrm>
          <a:prstGeom prst="rect">
            <a:avLst/>
          </a:prstGeom>
        </p:spPr>
      </p:pic>
      <p:sp>
        <p:nvSpPr>
          <p:cNvPr id="51" name="TextBox 50"/>
          <p:cNvSpPr txBox="1"/>
          <p:nvPr/>
        </p:nvSpPr>
        <p:spPr>
          <a:xfrm>
            <a:off x="949147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Private DNS zones</a:t>
            </a:r>
          </a:p>
          <a:p>
            <a:pPr algn="l"/>
            <a:r>
              <a:rPr sz="1200" b="0" i="0">
                <a:solidFill>
                  <a:srgbClr val="53565A"/>
                </a:solidFill>
                <a:latin typeface="Arial"/>
              </a:rPr>
              <a:t>for Private Link</a:t>
            </a:r>
          </a:p>
        </p:txBody>
      </p:sp>
      <p:pic>
        <p:nvPicPr>
          <p:cNvPr id="52" name="Azure icon: Users" descr="Official Azure icon: User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59536" y="1856231"/>
            <a:ext cx="384048" cy="384048"/>
          </a:xfrm>
          <a:prstGeom prst="rect">
            <a:avLst/>
          </a:prstGeom>
        </p:spPr>
      </p:pic>
      <p:sp>
        <p:nvSpPr>
          <p:cNvPr id="53" name="TextBox 52"/>
          <p:cNvSpPr txBox="1"/>
          <p:nvPr/>
        </p:nvSpPr>
        <p:spPr>
          <a:xfrm>
            <a:off x="448056" y="2276856"/>
            <a:ext cx="1207007" cy="310896"/>
          </a:xfrm>
          <a:prstGeom prst="rect">
            <a:avLst/>
          </a:prstGeom>
          <a:noFill/>
        </p:spPr>
        <p:txBody>
          <a:bodyPr wrap="square" lIns="0" rIns="0" tIns="0" bIns="0" anchor="t">
            <a:noAutofit/>
          </a:bodyPr>
          <a:lstStyle/>
          <a:p>
            <a:pPr algn="ctr"/>
            <a:r>
              <a:rPr sz="1300" b="1" i="0">
                <a:solidFill>
                  <a:srgbClr val="000048"/>
                </a:solidFill>
                <a:latin typeface="Arial"/>
              </a:rPr>
              <a:t>End users</a:t>
            </a:r>
          </a:p>
        </p:txBody>
      </p:sp>
      <p:pic>
        <p:nvPicPr>
          <p:cNvPr id="54" name="Azure icon: Virtual Network Gateways" descr="Official Azure icon: Virtual Network Gateway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5256" y="4507992"/>
            <a:ext cx="384048" cy="384048"/>
          </a:xfrm>
          <a:prstGeom prst="rect">
            <a:avLst/>
          </a:prstGeom>
        </p:spPr>
      </p:pic>
      <p:sp>
        <p:nvSpPr>
          <p:cNvPr id="55" name="TextBox 54"/>
          <p:cNvSpPr txBox="1"/>
          <p:nvPr/>
        </p:nvSpPr>
        <p:spPr>
          <a:xfrm>
            <a:off x="448056" y="4928616"/>
            <a:ext cx="1298448" cy="512064"/>
          </a:xfrm>
          <a:prstGeom prst="rect">
            <a:avLst/>
          </a:prstGeom>
          <a:noFill/>
        </p:spPr>
        <p:txBody>
          <a:bodyPr wrap="square" lIns="0" rIns="0" tIns="0" bIns="0" anchor="t">
            <a:noAutofit/>
          </a:bodyPr>
          <a:lstStyle/>
          <a:p>
            <a:pPr algn="ctr"/>
            <a:r>
              <a:rPr sz="1300" b="1" i="0">
                <a:solidFill>
                  <a:srgbClr val="000048"/>
                </a:solidFill>
                <a:latin typeface="Arial"/>
              </a:rPr>
              <a:t>On-premises</a:t>
            </a:r>
          </a:p>
          <a:p>
            <a:pPr algn="ctr"/>
            <a:r>
              <a:rPr sz="1200" b="0" i="0">
                <a:solidFill>
                  <a:srgbClr val="53565A"/>
                </a:solidFill>
                <a:latin typeface="Arial"/>
              </a:rPr>
              <a:t>VPN or ExpressRoute</a:t>
            </a:r>
          </a:p>
        </p:txBody>
      </p:sp>
      <p:cxnSp>
        <p:nvCxnSpPr>
          <p:cNvPr id="56" name="Connector (flow)"/>
          <p:cNvCxnSpPr/>
          <p:nvPr/>
        </p:nvCxnSpPr>
        <p:spPr>
          <a:xfrm>
            <a:off x="1463040" y="2011680"/>
            <a:ext cx="5943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554480" y="1600200"/>
            <a:ext cx="310896" cy="310896"/>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58" name="Connector (flow)"/>
          <p:cNvCxnSpPr/>
          <p:nvPr/>
        </p:nvCxnSpPr>
        <p:spPr>
          <a:xfrm>
            <a:off x="1783080" y="4754880"/>
            <a:ext cx="274320" cy="137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flow)"/>
          <p:cNvCxnSpPr/>
          <p:nvPr/>
        </p:nvCxnSpPr>
        <p:spPr>
          <a:xfrm>
            <a:off x="3017520" y="4023360"/>
            <a:ext cx="0" cy="32004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08960" y="4050791"/>
            <a:ext cx="1371600" cy="274320"/>
          </a:xfrm>
          <a:prstGeom prst="rect">
            <a:avLst/>
          </a:prstGeom>
          <a:noFill/>
        </p:spPr>
        <p:txBody>
          <a:bodyPr wrap="square" lIns="0" rIns="0" tIns="0" bIns="0" anchor="t">
            <a:noAutofit/>
          </a:bodyPr>
          <a:lstStyle/>
          <a:p>
            <a:pPr algn="l"/>
            <a:r>
              <a:rPr sz="1200" b="0" i="0">
                <a:solidFill>
                  <a:srgbClr val="000048"/>
                </a:solidFill>
                <a:latin typeface="Arial"/>
              </a:rPr>
              <a:t>VNet peering</a:t>
            </a:r>
          </a:p>
        </p:txBody>
      </p:sp>
      <p:cxnSp>
        <p:nvCxnSpPr>
          <p:cNvPr id="61" name="Connector (data)"/>
          <p:cNvCxnSpPr/>
          <p:nvPr/>
        </p:nvCxnSpPr>
        <p:spPr>
          <a:xfrm flipH="1">
            <a:off x="5486400" y="3886200"/>
            <a:ext cx="1463040" cy="8229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269480" y="4069080"/>
            <a:ext cx="1463040" cy="274320"/>
          </a:xfrm>
          <a:prstGeom prst="rect">
            <a:avLst/>
          </a:prstGeom>
          <a:noFill/>
        </p:spPr>
        <p:txBody>
          <a:bodyPr wrap="square" lIns="0" rIns="0" tIns="0" bIns="0" anchor="t">
            <a:noAutofit/>
          </a:bodyPr>
          <a:lstStyle/>
          <a:p>
            <a:pPr algn="l"/>
            <a:r>
              <a:rPr sz="1200" b="0" i="0">
                <a:solidFill>
                  <a:srgbClr val="2F78C4"/>
                </a:solidFill>
                <a:latin typeface="Arial"/>
              </a:rPr>
              <a:t>egress via UDR</a:t>
            </a:r>
          </a:p>
        </p:txBody>
      </p:sp>
      <p:sp>
        <p:nvSpPr>
          <p:cNvPr id="63" name="Oval 62"/>
          <p:cNvSpPr/>
          <p:nvPr/>
        </p:nvSpPr>
        <p:spPr>
          <a:xfrm>
            <a:off x="6967728" y="3950208"/>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cxnSp>
        <p:nvCxnSpPr>
          <p:cNvPr id="64" name="Connector (telemetry)"/>
          <p:cNvCxnSpPr/>
          <p:nvPr/>
        </p:nvCxnSpPr>
        <p:spPr>
          <a:xfrm flipH="1">
            <a:off x="10058400" y="3886200"/>
            <a:ext cx="118872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144000" y="4069080"/>
            <a:ext cx="1325880" cy="274320"/>
          </a:xfrm>
          <a:prstGeom prst="rect">
            <a:avLst/>
          </a:prstGeom>
          <a:noFill/>
        </p:spPr>
        <p:txBody>
          <a:bodyPr wrap="square" lIns="0" rIns="0" tIns="0" bIns="0" anchor="t">
            <a:noAutofit/>
          </a:bodyPr>
          <a:lstStyle/>
          <a:p>
            <a:pPr algn="r"/>
            <a:r>
              <a:rPr sz="1200" b="0" i="0">
                <a:solidFill>
                  <a:srgbClr val="53565A"/>
                </a:solidFill>
                <a:latin typeface="Arial"/>
              </a:rPr>
              <a:t>DNS from hub</a:t>
            </a:r>
          </a:p>
        </p:txBody>
      </p:sp>
      <p:sp>
        <p:nvSpPr>
          <p:cNvPr id="66" name="Oval 65"/>
          <p:cNvSpPr/>
          <p:nvPr/>
        </p:nvSpPr>
        <p:spPr>
          <a:xfrm>
            <a:off x="11292840" y="3950208"/>
            <a:ext cx="256032" cy="256032"/>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67" name="Connector (flow)"/>
          <p:cNvCxnSpPr/>
          <p:nvPr/>
        </p:nvCxnSpPr>
        <p:spPr>
          <a:xfrm>
            <a:off x="4114800" y="2724912"/>
            <a:ext cx="3977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680960" y="2450592"/>
            <a:ext cx="256032" cy="256032"/>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69" name="Connector (flow)"/>
          <p:cNvCxnSpPr/>
          <p:nvPr/>
        </p:nvCxnSpPr>
        <p:spPr>
          <a:xfrm>
            <a:off x="548640" y="59893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024128" y="5870448"/>
            <a:ext cx="169163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71" name="Connector (data)"/>
          <p:cNvCxnSpPr/>
          <p:nvPr/>
        </p:nvCxnSpPr>
        <p:spPr>
          <a:xfrm>
            <a:off x="2743200" y="5989320"/>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18688" y="5870448"/>
            <a:ext cx="1691639" cy="256032"/>
          </a:xfrm>
          <a:prstGeom prst="rect">
            <a:avLst/>
          </a:prstGeom>
          <a:noFill/>
        </p:spPr>
        <p:txBody>
          <a:bodyPr wrap="square" lIns="0" rIns="0" tIns="0" bIns="0" anchor="t">
            <a:noAutofit/>
          </a:bodyPr>
          <a:lstStyle/>
          <a:p>
            <a:pPr algn="l"/>
            <a:r>
              <a:rPr sz="1200" b="0" i="0">
                <a:solidFill>
                  <a:srgbClr val="53565A"/>
                </a:solidFill>
                <a:latin typeface="Arial"/>
              </a:rPr>
              <a:t>Data access</a:t>
            </a:r>
          </a:p>
        </p:txBody>
      </p:sp>
      <p:cxnSp>
        <p:nvCxnSpPr>
          <p:cNvPr id="73" name="Connector (telemetry)"/>
          <p:cNvCxnSpPr/>
          <p:nvPr/>
        </p:nvCxnSpPr>
        <p:spPr>
          <a:xfrm>
            <a:off x="4937759" y="5989320"/>
            <a:ext cx="411481"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13248" y="5870448"/>
            <a:ext cx="169163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75" name="TextBox 74"/>
          <p:cNvSpPr txBox="1"/>
          <p:nvPr/>
        </p:nvSpPr>
        <p:spPr>
          <a:xfrm>
            <a:off x="7223760" y="5870448"/>
            <a:ext cx="4389120" cy="274320"/>
          </a:xfrm>
          <a:prstGeom prst="rect">
            <a:avLst/>
          </a:prstGeom>
          <a:noFill/>
        </p:spPr>
        <p:txBody>
          <a:bodyPr wrap="square" lIns="0" rIns="0" tIns="0" bIns="0" anchor="t">
            <a:noAutofit/>
          </a:bodyPr>
          <a:lstStyle/>
          <a:p>
            <a:pPr algn="r"/>
            <a:r>
              <a:rPr sz="1200" b="0" i="0">
                <a:solidFill>
                  <a:srgbClr val="53565A"/>
                </a:solidFill>
                <a:latin typeface="Arial"/>
              </a:rPr>
              <a:t>Adapted from 11_baseline-landing-zone-networking.png</a:t>
            </a:r>
          </a:p>
        </p:txBody>
      </p:sp>
      <p:sp>
        <p:nvSpPr>
          <p:cNvPr id="76" name="TextBox 75"/>
          <p:cNvSpPr txBox="1"/>
          <p:nvPr/>
        </p:nvSpPr>
        <p:spPr>
          <a:xfrm>
            <a:off x="548640" y="6144768"/>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simplified from Microsoft source; validate subnets, DNS and routes per customer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egress through the hub firewall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Rounded Rectangle 8"/>
          <p:cNvSpPr/>
          <p:nvPr/>
        </p:nvSpPr>
        <p:spPr>
          <a:xfrm>
            <a:off x="411480" y="1325880"/>
            <a:ext cx="3931920" cy="4023360"/>
          </a:xfrm>
          <a:prstGeom prst="roundRect">
            <a:avLst>
              <a:gd name="adj" fmla="val 232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380744"/>
            <a:ext cx="3712463" cy="237744"/>
          </a:xfrm>
          <a:prstGeom prst="rect">
            <a:avLst/>
          </a:prstGeom>
          <a:noFill/>
        </p:spPr>
        <p:txBody>
          <a:bodyPr wrap="square" lIns="0" rIns="0" tIns="0" bIns="0" anchor="t">
            <a:noAutofit/>
          </a:bodyPr>
          <a:lstStyle/>
          <a:p>
            <a:pPr algn="l"/>
            <a:r>
              <a:rPr sz="1200" b="1" i="0">
                <a:solidFill>
                  <a:srgbClr val="000048"/>
                </a:solidFill>
                <a:latin typeface="Arial"/>
              </a:rPr>
              <a:t>SPOKE SUBNETS WITH UDR TO HUB</a:t>
            </a:r>
          </a:p>
        </p:txBody>
      </p:sp>
      <p:sp>
        <p:nvSpPr>
          <p:cNvPr id="11" name="Rounded Rectangle 10"/>
          <p:cNvSpPr/>
          <p:nvPr/>
        </p:nvSpPr>
        <p:spPr>
          <a:xfrm>
            <a:off x="548640" y="16916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65376"/>
            <a:ext cx="384048" cy="384048"/>
          </a:xfrm>
          <a:prstGeom prst="rect">
            <a:avLst/>
          </a:prstGeom>
        </p:spPr>
      </p:pic>
      <p:sp>
        <p:nvSpPr>
          <p:cNvPr id="13" name="TextBox 12"/>
          <p:cNvSpPr txBox="1"/>
          <p:nvPr/>
        </p:nvSpPr>
        <p:spPr>
          <a:xfrm>
            <a:off x="1078992" y="1728216"/>
            <a:ext cx="3090672" cy="658368"/>
          </a:xfrm>
          <a:prstGeom prst="rect">
            <a:avLst/>
          </a:prstGeom>
          <a:noFill/>
        </p:spPr>
        <p:txBody>
          <a:bodyPr wrap="square" lIns="0" rIns="0" tIns="0" bIns="0" anchor="ctr">
            <a:noAutofit/>
          </a:bodyPr>
          <a:lstStyle/>
          <a:p>
            <a:pPr algn="l"/>
            <a:r>
              <a:rPr sz="1200" b="1" i="0">
                <a:solidFill>
                  <a:srgbClr val="000048"/>
                </a:solidFill>
                <a:latin typeface="Arial"/>
              </a:rPr>
              <a:t>App Service integration</a:t>
            </a:r>
          </a:p>
          <a:p>
            <a:pPr algn="l"/>
            <a:r>
              <a:rPr sz="1200" b="0" i="0">
                <a:solidFill>
                  <a:srgbClr val="53565A"/>
                </a:solidFill>
                <a:latin typeface="Arial"/>
              </a:rPr>
              <a:t>route 0.0.0.0/0 to firewall</a:t>
            </a:r>
          </a:p>
        </p:txBody>
      </p:sp>
      <p:cxnSp>
        <p:nvCxnSpPr>
          <p:cNvPr id="14" name="Connector (data)"/>
          <p:cNvCxnSpPr/>
          <p:nvPr/>
        </p:nvCxnSpPr>
        <p:spPr>
          <a:xfrm>
            <a:off x="4206240" y="2057400"/>
            <a:ext cx="914400" cy="12801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56032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Foundry Agent Service" descr="Official Azure icon: Foundry Agent Servic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734056"/>
            <a:ext cx="384048" cy="384048"/>
          </a:xfrm>
          <a:prstGeom prst="rect">
            <a:avLst/>
          </a:prstGeom>
        </p:spPr>
      </p:pic>
      <p:sp>
        <p:nvSpPr>
          <p:cNvPr id="17" name="TextBox 16"/>
          <p:cNvSpPr txBox="1"/>
          <p:nvPr/>
        </p:nvSpPr>
        <p:spPr>
          <a:xfrm>
            <a:off x="1078992" y="2596896"/>
            <a:ext cx="3090672" cy="658368"/>
          </a:xfrm>
          <a:prstGeom prst="rect">
            <a:avLst/>
          </a:prstGeom>
          <a:noFill/>
        </p:spPr>
        <p:txBody>
          <a:bodyPr wrap="square" lIns="0" rIns="0" tIns="0" bIns="0" anchor="ctr">
            <a:noAutofit/>
          </a:bodyPr>
          <a:lstStyle/>
          <a:p>
            <a:pPr algn="l"/>
            <a:r>
              <a:rPr sz="1200" b="1" i="0">
                <a:solidFill>
                  <a:srgbClr val="000048"/>
                </a:solidFill>
                <a:latin typeface="Arial"/>
              </a:rPr>
              <a:t>Agent Service integration</a:t>
            </a:r>
          </a:p>
          <a:p>
            <a:pPr algn="l"/>
            <a:r>
              <a:rPr sz="1200" b="0" i="0">
                <a:solidFill>
                  <a:srgbClr val="53565A"/>
                </a:solidFill>
                <a:latin typeface="Arial"/>
              </a:rPr>
              <a:t>route 0.0.0.0/0 to firewall</a:t>
            </a:r>
          </a:p>
        </p:txBody>
      </p:sp>
      <p:cxnSp>
        <p:nvCxnSpPr>
          <p:cNvPr id="18" name="Connector (data)"/>
          <p:cNvCxnSpPr/>
          <p:nvPr/>
        </p:nvCxnSpPr>
        <p:spPr>
          <a:xfrm>
            <a:off x="4206240" y="2926080"/>
            <a:ext cx="914400" cy="4114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42900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02736"/>
            <a:ext cx="384048" cy="384048"/>
          </a:xfrm>
          <a:prstGeom prst="rect">
            <a:avLst/>
          </a:prstGeom>
        </p:spPr>
      </p:pic>
      <p:sp>
        <p:nvSpPr>
          <p:cNvPr id="21" name="TextBox 20"/>
          <p:cNvSpPr txBox="1"/>
          <p:nvPr/>
        </p:nvSpPr>
        <p:spPr>
          <a:xfrm>
            <a:off x="1078992" y="3465576"/>
            <a:ext cx="3090672" cy="658368"/>
          </a:xfrm>
          <a:prstGeom prst="rect">
            <a:avLst/>
          </a:prstGeom>
          <a:noFill/>
        </p:spPr>
        <p:txBody>
          <a:bodyPr wrap="square" lIns="0" rIns="0" tIns="0" bIns="0" anchor="ctr">
            <a:noAutofit/>
          </a:bodyPr>
          <a:lstStyle/>
          <a:p>
            <a:pPr algn="l"/>
            <a:r>
              <a:rPr sz="1200" b="1" i="0">
                <a:solidFill>
                  <a:srgbClr val="000048"/>
                </a:solidFill>
                <a:latin typeface="Arial"/>
              </a:rPr>
              <a:t>Build agents</a:t>
            </a:r>
          </a:p>
          <a:p>
            <a:pPr algn="l"/>
            <a:r>
              <a:rPr sz="1200" b="0" i="0">
                <a:solidFill>
                  <a:srgbClr val="53565A"/>
                </a:solidFill>
                <a:latin typeface="Arial"/>
              </a:rPr>
              <a:t>route 0.0.0.0/0 to firewall</a:t>
            </a:r>
          </a:p>
        </p:txBody>
      </p:sp>
      <p:cxnSp>
        <p:nvCxnSpPr>
          <p:cNvPr id="22" name="Connector (data)"/>
          <p:cNvCxnSpPr/>
          <p:nvPr/>
        </p:nvCxnSpPr>
        <p:spPr>
          <a:xfrm flipV="1">
            <a:off x="4206240" y="3337560"/>
            <a:ext cx="914400" cy="4572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297679"/>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4471416"/>
            <a:ext cx="384048" cy="384048"/>
          </a:xfrm>
          <a:prstGeom prst="rect">
            <a:avLst/>
          </a:prstGeom>
        </p:spPr>
      </p:pic>
      <p:sp>
        <p:nvSpPr>
          <p:cNvPr id="25" name="TextBox 24"/>
          <p:cNvSpPr txBox="1"/>
          <p:nvPr/>
        </p:nvSpPr>
        <p:spPr>
          <a:xfrm>
            <a:off x="1078992" y="4334255"/>
            <a:ext cx="3090672" cy="658368"/>
          </a:xfrm>
          <a:prstGeom prst="rect">
            <a:avLst/>
          </a:prstGeom>
          <a:noFill/>
        </p:spPr>
        <p:txBody>
          <a:bodyPr wrap="square" lIns="0" rIns="0" tIns="0" bIns="0" anchor="ctr">
            <a:noAutofit/>
          </a:bodyPr>
          <a:lstStyle/>
          <a:p>
            <a:pPr algn="l"/>
            <a:r>
              <a:rPr sz="1200" b="1" i="0">
                <a:solidFill>
                  <a:srgbClr val="000048"/>
                </a:solidFill>
                <a:latin typeface="Arial"/>
              </a:rPr>
              <a:t>Jump boxes</a:t>
            </a:r>
          </a:p>
          <a:p>
            <a:pPr algn="l"/>
            <a:r>
              <a:rPr sz="1200" b="0" i="0">
                <a:solidFill>
                  <a:srgbClr val="53565A"/>
                </a:solidFill>
                <a:latin typeface="Arial"/>
              </a:rPr>
              <a:t>route 0.0.0.0/0 to firewall</a:t>
            </a:r>
          </a:p>
        </p:txBody>
      </p:sp>
      <p:cxnSp>
        <p:nvCxnSpPr>
          <p:cNvPr id="26" name="Connector (data)"/>
          <p:cNvCxnSpPr/>
          <p:nvPr/>
        </p:nvCxnSpPr>
        <p:spPr>
          <a:xfrm flipV="1">
            <a:off x="4206240" y="3337560"/>
            <a:ext cx="914400" cy="13258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20640" y="2103120"/>
            <a:ext cx="3017520" cy="2468880"/>
          </a:xfrm>
          <a:prstGeom prst="roundRect">
            <a:avLst>
              <a:gd name="adj" fmla="val 370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230368" y="2157984"/>
            <a:ext cx="2798063" cy="237744"/>
          </a:xfrm>
          <a:prstGeom prst="rect">
            <a:avLst/>
          </a:prstGeom>
          <a:noFill/>
        </p:spPr>
        <p:txBody>
          <a:bodyPr wrap="square" lIns="0" rIns="0" tIns="0" bIns="0" anchor="t">
            <a:noAutofit/>
          </a:bodyPr>
          <a:lstStyle/>
          <a:p>
            <a:pPr algn="l"/>
            <a:r>
              <a:rPr sz="1200" b="1" i="0">
                <a:solidFill>
                  <a:srgbClr val="000048"/>
                </a:solidFill>
                <a:latin typeface="Arial"/>
              </a:rPr>
              <a:t>HUB (CONNECTIVITY SUBSCRIPTION)</a:t>
            </a:r>
          </a:p>
        </p:txBody>
      </p:sp>
      <p:pic>
        <p:nvPicPr>
          <p:cNvPr id="29"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7940" y="2633472"/>
            <a:ext cx="502920" cy="502920"/>
          </a:xfrm>
          <a:prstGeom prst="rect">
            <a:avLst/>
          </a:prstGeom>
        </p:spPr>
      </p:pic>
      <p:sp>
        <p:nvSpPr>
          <p:cNvPr id="30" name="TextBox 29"/>
          <p:cNvSpPr txBox="1"/>
          <p:nvPr/>
        </p:nvSpPr>
        <p:spPr>
          <a:xfrm>
            <a:off x="5385816" y="3172968"/>
            <a:ext cx="2487168" cy="512063"/>
          </a:xfrm>
          <a:prstGeom prst="rect">
            <a:avLst/>
          </a:prstGeom>
          <a:noFill/>
        </p:spPr>
        <p:txBody>
          <a:bodyPr wrap="square" lIns="0" rIns="0" tIns="0" bIns="0" anchor="t">
            <a:noAutofit/>
          </a:bodyPr>
          <a:lstStyle/>
          <a:p>
            <a:pPr algn="ctr"/>
            <a:r>
              <a:rPr sz="1300" b="1" i="0">
                <a:solidFill>
                  <a:srgbClr val="000048"/>
                </a:solidFill>
                <a:latin typeface="Arial"/>
              </a:rPr>
              <a:t>Azure Firewall</a:t>
            </a:r>
          </a:p>
          <a:p>
            <a:pPr algn="ctr"/>
            <a:r>
              <a:rPr sz="1200" b="0" i="0">
                <a:solidFill>
                  <a:srgbClr val="53565A"/>
                </a:solidFill>
                <a:latin typeface="Arial"/>
              </a:rPr>
              <a:t>application and network rules, logging</a:t>
            </a:r>
          </a:p>
        </p:txBody>
      </p:sp>
      <p:sp>
        <p:nvSpPr>
          <p:cNvPr id="31" name="Rounded Rectangle 30"/>
          <p:cNvSpPr/>
          <p:nvPr/>
        </p:nvSpPr>
        <p:spPr>
          <a:xfrm>
            <a:off x="8778240" y="2651760"/>
            <a:ext cx="1828800" cy="1097280"/>
          </a:xfrm>
          <a:prstGeom prst="roundRect">
            <a:avLst>
              <a:gd name="adj" fmla="val 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Internet and partner endpoints</a:t>
            </a:r>
          </a:p>
          <a:p>
            <a:pPr algn="ctr"/>
            <a:r>
              <a:rPr sz="1200" b="0" i="0">
                <a:solidFill>
                  <a:srgbClr val="53565A"/>
                </a:solidFill>
                <a:latin typeface="Arial"/>
              </a:rPr>
              <a:t>allow-listed FQDNs</a:t>
            </a:r>
          </a:p>
        </p:txBody>
      </p:sp>
      <p:cxnSp>
        <p:nvCxnSpPr>
          <p:cNvPr id="32" name="Connector (data)"/>
          <p:cNvCxnSpPr/>
          <p:nvPr/>
        </p:nvCxnSpPr>
        <p:spPr>
          <a:xfrm>
            <a:off x="8138160" y="3200400"/>
            <a:ext cx="6400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83879" y="3291840"/>
            <a:ext cx="640080" cy="411480"/>
          </a:xfrm>
          <a:prstGeom prst="rect">
            <a:avLst/>
          </a:prstGeom>
          <a:noFill/>
        </p:spPr>
        <p:txBody>
          <a:bodyPr wrap="square" lIns="0" rIns="0" tIns="0" bIns="0" anchor="t">
            <a:noAutofit/>
          </a:bodyPr>
          <a:lstStyle/>
          <a:p>
            <a:pPr algn="ctr"/>
            <a:r>
              <a:rPr sz="1200" b="0" i="0">
                <a:solidFill>
                  <a:srgbClr val="2F78C4"/>
                </a:solidFill>
                <a:latin typeface="Arial"/>
              </a:rPr>
              <a:t>allowed only</a:t>
            </a:r>
          </a:p>
        </p:txBody>
      </p:sp>
      <p:sp>
        <p:nvSpPr>
          <p:cNvPr id="34" name="TextBox 33"/>
          <p:cNvSpPr txBox="1"/>
          <p:nvPr/>
        </p:nvSpPr>
        <p:spPr>
          <a:xfrm>
            <a:off x="8595360" y="1463040"/>
            <a:ext cx="3108960" cy="1005840"/>
          </a:xfrm>
          <a:prstGeom prst="rect">
            <a:avLst/>
          </a:prstGeom>
          <a:noFill/>
        </p:spPr>
        <p:txBody>
          <a:bodyPr wrap="square" lIns="0" rIns="0" tIns="0" bIns="0" anchor="t">
            <a:noAutofit/>
          </a:bodyPr>
          <a:lstStyle/>
          <a:p>
            <a:pPr algn="l"/>
            <a:r>
              <a:rPr sz="1300" b="0" i="0">
                <a:solidFill>
                  <a:srgbClr val="53565A"/>
                </a:solidFill>
                <a:latin typeface="Arial"/>
              </a:rPr>
              <a:t>Private endpoints keep Azure PaaS traffic off the internet path; firewall handles the rest.</a:t>
            </a:r>
          </a:p>
        </p:txBody>
      </p:sp>
      <p:sp>
        <p:nvSpPr>
          <p:cNvPr id="35" name="Rounded Rectangle 34"/>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Validate effective routes and each managed service’s egress support before enforcing forced tunnelling.</a:t>
            </a:r>
          </a:p>
        </p:txBody>
      </p:sp>
      <p:sp>
        <p:nvSpPr>
          <p:cNvPr id="36" name="TextBox 35"/>
          <p:cNvSpPr txBox="1"/>
          <p:nvPr/>
        </p:nvSpPr>
        <p:spPr>
          <a:xfrm>
            <a:off x="548640" y="617220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simplified from Microsoft source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workload baseline: request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 y="2084832"/>
            <a:ext cx="411480" cy="411480"/>
          </a:xfrm>
          <a:prstGeom prst="rect">
            <a:avLst/>
          </a:prstGeom>
        </p:spPr>
      </p:pic>
      <p:sp>
        <p:nvSpPr>
          <p:cNvPr id="10" name="TextBox 9"/>
          <p:cNvSpPr txBox="1"/>
          <p:nvPr/>
        </p:nvSpPr>
        <p:spPr>
          <a:xfrm>
            <a:off x="493776" y="2532888"/>
            <a:ext cx="841248" cy="310896"/>
          </a:xfrm>
          <a:prstGeom prst="rect">
            <a:avLst/>
          </a:prstGeom>
          <a:noFill/>
        </p:spPr>
        <p:txBody>
          <a:bodyPr wrap="square" lIns="0" rIns="0" tIns="0" bIns="0" anchor="t">
            <a:noAutofit/>
          </a:bodyPr>
          <a:lstStyle/>
          <a:p>
            <a:pPr algn="ctr"/>
            <a:r>
              <a:rPr sz="1300" b="1" i="0">
                <a:solidFill>
                  <a:srgbClr val="000048"/>
                </a:solidFill>
                <a:latin typeface="Arial"/>
              </a:rPr>
              <a:t>User</a:t>
            </a:r>
          </a:p>
        </p:txBody>
      </p:sp>
      <p:sp>
        <p:nvSpPr>
          <p:cNvPr id="11" name="Rounded Rectangle 10"/>
          <p:cNvSpPr/>
          <p:nvPr/>
        </p:nvSpPr>
        <p:spPr>
          <a:xfrm>
            <a:off x="155448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lication Gateways" descr="Official Azure icon: Application Gateway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57400" y="1901952"/>
            <a:ext cx="457200" cy="457200"/>
          </a:xfrm>
          <a:prstGeom prst="rect">
            <a:avLst/>
          </a:prstGeom>
        </p:spPr>
      </p:pic>
      <p:sp>
        <p:nvSpPr>
          <p:cNvPr id="13" name="TextBox 12"/>
          <p:cNvSpPr txBox="1"/>
          <p:nvPr/>
        </p:nvSpPr>
        <p:spPr>
          <a:xfrm>
            <a:off x="159105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Gateway</a:t>
            </a:r>
          </a:p>
          <a:p>
            <a:pPr algn="ctr"/>
            <a:r>
              <a:rPr sz="1200" b="0" i="0">
                <a:solidFill>
                  <a:srgbClr val="53565A"/>
                </a:solidFill>
                <a:latin typeface="Arial"/>
              </a:rPr>
              <a:t>WAF</a:t>
            </a:r>
          </a:p>
        </p:txBody>
      </p:sp>
      <p:sp>
        <p:nvSpPr>
          <p:cNvPr id="14" name="Rounded Rectangle 13"/>
          <p:cNvSpPr/>
          <p:nvPr/>
        </p:nvSpPr>
        <p:spPr>
          <a:xfrm>
            <a:off x="342900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5"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1920" y="1901952"/>
            <a:ext cx="457200" cy="457200"/>
          </a:xfrm>
          <a:prstGeom prst="rect">
            <a:avLst/>
          </a:prstGeom>
        </p:spPr>
      </p:pic>
      <p:sp>
        <p:nvSpPr>
          <p:cNvPr id="16" name="TextBox 15"/>
          <p:cNvSpPr txBox="1"/>
          <p:nvPr/>
        </p:nvSpPr>
        <p:spPr>
          <a:xfrm>
            <a:off x="346557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Service</a:t>
            </a:r>
          </a:p>
          <a:p>
            <a:pPr algn="ctr"/>
            <a:r>
              <a:rPr sz="1200" b="0" i="0">
                <a:solidFill>
                  <a:srgbClr val="53565A"/>
                </a:solidFill>
                <a:latin typeface="Arial"/>
              </a:rPr>
              <a:t>zone-redundant</a:t>
            </a:r>
          </a:p>
        </p:txBody>
      </p:sp>
      <p:sp>
        <p:nvSpPr>
          <p:cNvPr id="17" name="Rounded Rectangle 16"/>
          <p:cNvSpPr/>
          <p:nvPr/>
        </p:nvSpPr>
        <p:spPr>
          <a:xfrm>
            <a:off x="5257800" y="1325880"/>
            <a:ext cx="3703320" cy="2148840"/>
          </a:xfrm>
          <a:prstGeom prst="roundRect">
            <a:avLst>
              <a:gd name="adj" fmla="val 425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67528" y="1380744"/>
            <a:ext cx="3483863" cy="237744"/>
          </a:xfrm>
          <a:prstGeom prst="rect">
            <a:avLst/>
          </a:prstGeom>
          <a:noFill/>
        </p:spPr>
        <p:txBody>
          <a:bodyPr wrap="square" lIns="0" rIns="0" tIns="0" bIns="0" anchor="t">
            <a:noAutofit/>
          </a:bodyPr>
          <a:lstStyle/>
          <a:p>
            <a:pPr algn="l"/>
            <a:r>
              <a:rPr sz="1200" b="1" i="0">
                <a:solidFill>
                  <a:srgbClr val="000048"/>
                </a:solidFill>
                <a:latin typeface="Arial"/>
              </a:rPr>
              <a:t>MICROSOFT FOUNDRY</a:t>
            </a:r>
          </a:p>
        </p:txBody>
      </p:sp>
      <p:pic>
        <p:nvPicPr>
          <p:cNvPr id="19"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83580" y="1856231"/>
            <a:ext cx="411480" cy="411480"/>
          </a:xfrm>
          <a:prstGeom prst="rect">
            <a:avLst/>
          </a:prstGeom>
        </p:spPr>
      </p:pic>
      <p:sp>
        <p:nvSpPr>
          <p:cNvPr id="20" name="TextBox 19"/>
          <p:cNvSpPr txBox="1"/>
          <p:nvPr/>
        </p:nvSpPr>
        <p:spPr>
          <a:xfrm>
            <a:off x="543153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Foundry project</a:t>
            </a:r>
          </a:p>
        </p:txBody>
      </p:sp>
      <p:pic>
        <p:nvPicPr>
          <p:cNvPr id="21" name="Azure icon: Foundry Agent Service" descr="Official Azure icon: Foundry Agent Servi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72300" y="1856231"/>
            <a:ext cx="411480" cy="411480"/>
          </a:xfrm>
          <a:prstGeom prst="rect">
            <a:avLst/>
          </a:prstGeom>
        </p:spPr>
      </p:pic>
      <p:sp>
        <p:nvSpPr>
          <p:cNvPr id="22" name="TextBox 21"/>
          <p:cNvSpPr txBox="1"/>
          <p:nvPr/>
        </p:nvSpPr>
        <p:spPr>
          <a:xfrm>
            <a:off x="662025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Agent Service</a:t>
            </a:r>
          </a:p>
        </p:txBody>
      </p:sp>
      <p:pic>
        <p:nvPicPr>
          <p:cNvPr id="23" name="Azure icon: Foundry Models" descr="Official Azure icon: Foundry Model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15300" y="1856231"/>
            <a:ext cx="411480" cy="411480"/>
          </a:xfrm>
          <a:prstGeom prst="rect">
            <a:avLst/>
          </a:prstGeom>
        </p:spPr>
      </p:pic>
      <p:sp>
        <p:nvSpPr>
          <p:cNvPr id="24" name="TextBox 23"/>
          <p:cNvSpPr txBox="1"/>
          <p:nvPr/>
        </p:nvSpPr>
        <p:spPr>
          <a:xfrm>
            <a:off x="7763255"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Model deployment</a:t>
            </a:r>
          </a:p>
        </p:txBody>
      </p:sp>
      <p:sp>
        <p:nvSpPr>
          <p:cNvPr id="25" name="Rounded Rectangle 24"/>
          <p:cNvSpPr/>
          <p:nvPr/>
        </p:nvSpPr>
        <p:spPr>
          <a:xfrm>
            <a:off x="9235440" y="1325880"/>
            <a:ext cx="2560320" cy="2148840"/>
          </a:xfrm>
          <a:prstGeom prst="roundRect">
            <a:avLst>
              <a:gd name="adj" fmla="val 4255"/>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45167" y="1380744"/>
            <a:ext cx="2340863" cy="237744"/>
          </a:xfrm>
          <a:prstGeom prst="rect">
            <a:avLst/>
          </a:prstGeom>
          <a:noFill/>
        </p:spPr>
        <p:txBody>
          <a:bodyPr wrap="square" lIns="0" rIns="0" tIns="0" bIns="0" anchor="t">
            <a:noAutofit/>
          </a:bodyPr>
          <a:lstStyle/>
          <a:p>
            <a:pPr algn="l"/>
            <a:r>
              <a:rPr sz="1200" b="1" i="0">
                <a:solidFill>
                  <a:srgbClr val="000048"/>
                </a:solidFill>
                <a:latin typeface="Arial"/>
              </a:rPr>
              <a:t>AGENT DEPENDENCIES</a:t>
            </a:r>
          </a:p>
        </p:txBody>
      </p:sp>
      <p:pic>
        <p:nvPicPr>
          <p:cNvPr id="27"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47504" y="1764792"/>
            <a:ext cx="347472" cy="347472"/>
          </a:xfrm>
          <a:prstGeom prst="rect">
            <a:avLst/>
          </a:prstGeom>
        </p:spPr>
      </p:pic>
      <p:sp>
        <p:nvSpPr>
          <p:cNvPr id="28" name="TextBox 27"/>
          <p:cNvSpPr txBox="1"/>
          <p:nvPr/>
        </p:nvSpPr>
        <p:spPr>
          <a:xfrm>
            <a:off x="9363455" y="2148840"/>
            <a:ext cx="1115568" cy="277133"/>
          </a:xfrm>
          <a:prstGeom prst="rect">
            <a:avLst/>
          </a:prstGeom>
          <a:noFill/>
        </p:spPr>
        <p:txBody>
          <a:bodyPr wrap="square" lIns="0" rIns="0" tIns="0" bIns="0" anchor="t">
            <a:noAutofit/>
          </a:bodyPr>
          <a:lstStyle/>
          <a:p>
            <a:pPr algn="ctr"/>
            <a:r>
              <a:rPr sz="1200" b="1" i="0">
                <a:solidFill>
                  <a:srgbClr val="000048"/>
                </a:solidFill>
                <a:latin typeface="Arial"/>
              </a:rPr>
              <a:t>AI Search</a:t>
            </a:r>
          </a:p>
        </p:txBody>
      </p:sp>
      <p:pic>
        <p:nvPicPr>
          <p:cNvPr id="29" name="Azure icon: Azure Cosmos DB" descr="Official Azure icon: Azure Cosmos DB"/>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936224" y="1764792"/>
            <a:ext cx="347472" cy="347472"/>
          </a:xfrm>
          <a:prstGeom prst="rect">
            <a:avLst/>
          </a:prstGeom>
        </p:spPr>
      </p:pic>
      <p:sp>
        <p:nvSpPr>
          <p:cNvPr id="30" name="TextBox 29"/>
          <p:cNvSpPr txBox="1"/>
          <p:nvPr/>
        </p:nvSpPr>
        <p:spPr>
          <a:xfrm>
            <a:off x="10552176" y="2148840"/>
            <a:ext cx="1115568" cy="277133"/>
          </a:xfrm>
          <a:prstGeom prst="rect">
            <a:avLst/>
          </a:prstGeom>
          <a:noFill/>
        </p:spPr>
        <p:txBody>
          <a:bodyPr wrap="square" lIns="0" rIns="0" tIns="0" bIns="0" anchor="t">
            <a:noAutofit/>
          </a:bodyPr>
          <a:lstStyle/>
          <a:p>
            <a:pPr algn="ctr"/>
            <a:r>
              <a:rPr sz="1200" b="1" i="0">
                <a:solidFill>
                  <a:srgbClr val="000048"/>
                </a:solidFill>
                <a:latin typeface="Arial"/>
              </a:rPr>
              <a:t>Cosmos DB</a:t>
            </a:r>
          </a:p>
        </p:txBody>
      </p:sp>
      <p:pic>
        <p:nvPicPr>
          <p:cNvPr id="31" name="Azure icon: Storage account" descr="Official Azure icon: Storage accou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387584" y="2633472"/>
            <a:ext cx="347472" cy="347472"/>
          </a:xfrm>
          <a:prstGeom prst="rect">
            <a:avLst/>
          </a:prstGeom>
        </p:spPr>
      </p:pic>
      <p:sp>
        <p:nvSpPr>
          <p:cNvPr id="32" name="TextBox 31"/>
          <p:cNvSpPr txBox="1"/>
          <p:nvPr/>
        </p:nvSpPr>
        <p:spPr>
          <a:xfrm>
            <a:off x="9957815" y="3017520"/>
            <a:ext cx="1207007" cy="277133"/>
          </a:xfrm>
          <a:prstGeom prst="rect">
            <a:avLst/>
          </a:prstGeom>
          <a:noFill/>
        </p:spPr>
        <p:txBody>
          <a:bodyPr wrap="square" lIns="0" rIns="0" tIns="0" bIns="0" anchor="t">
            <a:noAutofit/>
          </a:bodyPr>
          <a:lstStyle/>
          <a:p>
            <a:pPr algn="ctr"/>
            <a:r>
              <a:rPr sz="1200" b="1" i="0">
                <a:solidFill>
                  <a:srgbClr val="000048"/>
                </a:solidFill>
                <a:latin typeface="Arial"/>
              </a:rPr>
              <a:t>Storage account</a:t>
            </a:r>
          </a:p>
        </p:txBody>
      </p:sp>
      <p:cxnSp>
        <p:nvCxnSpPr>
          <p:cNvPr id="33" name="Connector (flow)"/>
          <p:cNvCxnSpPr/>
          <p:nvPr/>
        </p:nvCxnSpPr>
        <p:spPr>
          <a:xfrm>
            <a:off x="1280160" y="22402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61872"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35" name="Connector (flow)"/>
          <p:cNvCxnSpPr/>
          <p:nvPr/>
        </p:nvCxnSpPr>
        <p:spPr>
          <a:xfrm>
            <a:off x="30175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489204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937760" y="187451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38" name="Connector (flow)"/>
          <p:cNvCxnSpPr/>
          <p:nvPr/>
        </p:nvCxnSpPr>
        <p:spPr>
          <a:xfrm>
            <a:off x="6446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cxnSp>
        <p:nvCxnSpPr>
          <p:cNvPr id="40" name="Connector (flow)"/>
          <p:cNvCxnSpPr/>
          <p:nvPr/>
        </p:nvCxnSpPr>
        <p:spPr>
          <a:xfrm>
            <a:off x="7589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6352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cxnSp>
        <p:nvCxnSpPr>
          <p:cNvPr id="42" name="Connector (flow)"/>
          <p:cNvCxnSpPr/>
          <p:nvPr/>
        </p:nvCxnSpPr>
        <p:spPr>
          <a:xfrm>
            <a:off x="8961120" y="237744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96112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7</a:t>
            </a:r>
          </a:p>
        </p:txBody>
      </p:sp>
      <p:sp>
        <p:nvSpPr>
          <p:cNvPr id="44" name="Rounded Rectangle 43"/>
          <p:cNvSpPr/>
          <p:nvPr/>
        </p:nvSpPr>
        <p:spPr>
          <a:xfrm>
            <a:off x="1463040" y="3794760"/>
            <a:ext cx="10332720" cy="1417320"/>
          </a:xfrm>
          <a:prstGeom prst="roundRect">
            <a:avLst>
              <a:gd name="adj" fmla="val 64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72768" y="3849624"/>
            <a:ext cx="10113264" cy="237744"/>
          </a:xfrm>
          <a:prstGeom prst="rect">
            <a:avLst/>
          </a:prstGeom>
          <a:noFill/>
        </p:spPr>
        <p:txBody>
          <a:bodyPr wrap="square" lIns="0" rIns="0" tIns="0" bIns="0" anchor="t">
            <a:noAutofit/>
          </a:bodyPr>
          <a:lstStyle/>
          <a:p>
            <a:pPr algn="l"/>
            <a:r>
              <a:rPr sz="1200" b="1" i="0">
                <a:solidFill>
                  <a:srgbClr val="000048"/>
                </a:solidFill>
                <a:latin typeface="Arial"/>
              </a:rPr>
              <a:t>SPOKE VIRTUAL NETWORK</a:t>
            </a:r>
          </a:p>
        </p:txBody>
      </p:sp>
      <p:pic>
        <p:nvPicPr>
          <p:cNvPr id="46" name="Azure icon: Private Endpoints" descr="Official Azure icon: Private Endpoint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673352" y="4233672"/>
            <a:ext cx="384048" cy="384048"/>
          </a:xfrm>
          <a:prstGeom prst="rect">
            <a:avLst/>
          </a:prstGeom>
        </p:spPr>
      </p:pic>
      <p:sp>
        <p:nvSpPr>
          <p:cNvPr id="47" name="TextBox 46"/>
          <p:cNvSpPr txBox="1"/>
          <p:nvPr/>
        </p:nvSpPr>
        <p:spPr>
          <a:xfrm>
            <a:off x="2130552" y="4197096"/>
            <a:ext cx="2724912" cy="457199"/>
          </a:xfrm>
          <a:prstGeom prst="rect">
            <a:avLst/>
          </a:prstGeom>
          <a:noFill/>
        </p:spPr>
        <p:txBody>
          <a:bodyPr wrap="square" lIns="0" rIns="0" tIns="0" bIns="0" anchor="ctr">
            <a:noAutofit/>
          </a:bodyPr>
          <a:lstStyle/>
          <a:p>
            <a:pPr algn="l"/>
            <a:r>
              <a:rPr sz="1200" b="1" i="0">
                <a:solidFill>
                  <a:srgbClr val="000048"/>
                </a:solidFill>
                <a:latin typeface="Arial"/>
              </a:rPr>
              <a:t>Private endpoints</a:t>
            </a:r>
          </a:p>
          <a:p>
            <a:pPr algn="l"/>
            <a:r>
              <a:rPr sz="1200" b="0" i="0">
                <a:solidFill>
                  <a:srgbClr val="53565A"/>
                </a:solidFill>
                <a:latin typeface="Arial"/>
              </a:rPr>
              <a:t>Foundry, Search, Storage, Key Vault, Cosmos DB</a:t>
            </a:r>
          </a:p>
        </p:txBody>
      </p:sp>
      <p:pic>
        <p:nvPicPr>
          <p:cNvPr id="48"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93792" y="4233672"/>
            <a:ext cx="384048" cy="384048"/>
          </a:xfrm>
          <a:prstGeom prst="rect">
            <a:avLst/>
          </a:prstGeom>
        </p:spPr>
      </p:pic>
      <p:sp>
        <p:nvSpPr>
          <p:cNvPr id="49" name="TextBox 48"/>
          <p:cNvSpPr txBox="1"/>
          <p:nvPr/>
        </p:nvSpPr>
        <p:spPr>
          <a:xfrm>
            <a:off x="5650992" y="4197096"/>
            <a:ext cx="171907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200" b="0" i="0">
                <a:solidFill>
                  <a:srgbClr val="53565A"/>
                </a:solidFill>
                <a:latin typeface="Arial"/>
              </a:rPr>
              <a:t>outbound internet (5)</a:t>
            </a:r>
          </a:p>
        </p:txBody>
      </p:sp>
      <p:pic>
        <p:nvPicPr>
          <p:cNvPr id="50" name="Azure icon: Key Vault" descr="Official Azure icon: Key Vaul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662672" y="4233672"/>
            <a:ext cx="384048" cy="384048"/>
          </a:xfrm>
          <a:prstGeom prst="rect">
            <a:avLst/>
          </a:prstGeom>
        </p:spPr>
      </p:pic>
      <p:sp>
        <p:nvSpPr>
          <p:cNvPr id="51" name="TextBox 50"/>
          <p:cNvSpPr txBox="1"/>
          <p:nvPr/>
        </p:nvSpPr>
        <p:spPr>
          <a:xfrm>
            <a:off x="8119872" y="4197096"/>
            <a:ext cx="1353312" cy="457199"/>
          </a:xfrm>
          <a:prstGeom prst="rect">
            <a:avLst/>
          </a:prstGeom>
          <a:noFill/>
        </p:spPr>
        <p:txBody>
          <a:bodyPr wrap="square" lIns="0" rIns="0" tIns="0" bIns="0" anchor="ctr">
            <a:noAutofit/>
          </a:bodyPr>
          <a:lstStyle/>
          <a:p>
            <a:pPr algn="l"/>
            <a:r>
              <a:rPr sz="1200" b="1" i="0">
                <a:solidFill>
                  <a:srgbClr val="000048"/>
                </a:solidFill>
                <a:latin typeface="Arial"/>
              </a:rPr>
              <a:t>Key Vault</a:t>
            </a:r>
          </a:p>
          <a:p>
            <a:pPr algn="l"/>
            <a:r>
              <a:rPr sz="1200" b="0" i="0">
                <a:solidFill>
                  <a:srgbClr val="53565A"/>
                </a:solidFill>
                <a:latin typeface="Arial"/>
              </a:rPr>
              <a:t>certificates, secrets</a:t>
            </a:r>
          </a:p>
        </p:txBody>
      </p:sp>
      <p:pic>
        <p:nvPicPr>
          <p:cNvPr id="52"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674352" y="4233672"/>
            <a:ext cx="384048" cy="384048"/>
          </a:xfrm>
          <a:prstGeom prst="rect">
            <a:avLst/>
          </a:prstGeom>
        </p:spPr>
      </p:pic>
      <p:sp>
        <p:nvSpPr>
          <p:cNvPr id="53" name="TextBox 52"/>
          <p:cNvSpPr txBox="1"/>
          <p:nvPr/>
        </p:nvSpPr>
        <p:spPr>
          <a:xfrm>
            <a:off x="10131552" y="4197096"/>
            <a:ext cx="1536192" cy="457199"/>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200" b="0" i="0">
                <a:solidFill>
                  <a:srgbClr val="53565A"/>
                </a:solidFill>
                <a:latin typeface="Arial"/>
              </a:rPr>
              <a:t>monitoring</a:t>
            </a:r>
          </a:p>
        </p:txBody>
      </p:sp>
      <p:cxnSp>
        <p:nvCxnSpPr>
          <p:cNvPr id="54" name="Connector (data)"/>
          <p:cNvCxnSpPr/>
          <p:nvPr/>
        </p:nvCxnSpPr>
        <p:spPr>
          <a:xfrm flipH="1">
            <a:off x="6400800" y="3474720"/>
            <a:ext cx="777240" cy="6858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7269480" y="3520440"/>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56"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24128" y="5486400"/>
            <a:ext cx="169163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8" name="Connector (data)"/>
          <p:cNvCxnSpPr/>
          <p:nvPr/>
        </p:nvCxnSpPr>
        <p:spPr>
          <a:xfrm>
            <a:off x="2743200" y="560527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18688" y="5486400"/>
            <a:ext cx="1691639" cy="256032"/>
          </a:xfrm>
          <a:prstGeom prst="rect">
            <a:avLst/>
          </a:prstGeom>
          <a:noFill/>
        </p:spPr>
        <p:txBody>
          <a:bodyPr wrap="square" lIns="0" rIns="0" tIns="0" bIns="0" anchor="t">
            <a:noAutofit/>
          </a:bodyPr>
          <a:lstStyle/>
          <a:p>
            <a:pPr algn="l"/>
            <a:r>
              <a:rPr sz="1200" b="0" i="0">
                <a:solidFill>
                  <a:srgbClr val="53565A"/>
                </a:solidFill>
                <a:latin typeface="Arial"/>
              </a:rPr>
              <a:t>Data access</a:t>
            </a:r>
          </a:p>
        </p:txBody>
      </p:sp>
      <p:sp>
        <p:nvSpPr>
          <p:cNvPr id="60" name="TextBox 59"/>
          <p:cNvSpPr txBox="1"/>
          <p:nvPr/>
        </p:nvSpPr>
        <p:spPr>
          <a:xfrm>
            <a:off x="5120640" y="5486400"/>
            <a:ext cx="6492240" cy="274320"/>
          </a:xfrm>
          <a:prstGeom prst="rect">
            <a:avLst/>
          </a:prstGeom>
          <a:noFill/>
        </p:spPr>
        <p:txBody>
          <a:bodyPr wrap="square" lIns="0" rIns="0" tIns="0" bIns="0" anchor="t">
            <a:noAutofit/>
          </a:bodyPr>
          <a:lstStyle/>
          <a:p>
            <a:pPr algn="r"/>
            <a:r>
              <a:rPr sz="1200" b="0" i="0">
                <a:solidFill>
                  <a:srgbClr val="53565A"/>
                </a:solidFill>
                <a:latin typeface="Arial"/>
              </a:rPr>
              <a:t>Numbers follow the source diagram. Original: the original references pack.</a:t>
            </a:r>
          </a:p>
        </p:txBody>
      </p:sp>
      <p:sp>
        <p:nvSpPr>
          <p:cNvPr id="61" name="TextBox 60"/>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simplified from Microsoft source; not a validated customer implementation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projects, model endpoints and agent hosting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VERIFY PER ENGAGEMENT"/>
          <p:cNvSpPr/>
          <p:nvPr/>
        </p:nvSpPr>
        <p:spPr>
          <a:xfrm>
            <a:off x="1898650" y="274320"/>
            <a:ext cx="20878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VERIFY PER ENGAGEMENT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2468880"/>
                <a:gridCol w="3108960"/>
                <a:gridCol w="3017520"/>
                <a:gridCol w="2496312"/>
              </a:tblGrid>
              <a:tr h="289560">
                <a:tc>
                  <a:txBody>
                    <a:bodyPr wrap="square" anchor="ctr">
                      <a:noAutofit/>
                    </a:bodyPr>
                    <a:lstStyle/>
                    <a:p>
                      <a:pPr algn="l"/>
                      <a:r>
                        <a:rPr sz="1300" b="1" i="0">
                          <a:solidFill>
                            <a:srgbClr val="FFFFFF"/>
                          </a:solidFill>
                          <a:latin typeface="Arial"/>
                        </a:rPr>
                        <a:t>Hosting route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Platform pattern 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Lifecycle control (verified)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Watch-outs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agents and workflows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project, private endpoints, agent subnet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when published; unpublished must be deleted to stop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does not end existing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 hosted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As above, plus compute quota</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Start and stop; stop deallocates compute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Check region support</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Customer-hosted (Container Apps, AKS)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Spoke subnet, identity, registry, ingress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Register as custom agent: Block or Unblock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Block covers proxy path, not host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Logic Apps with VNet integration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 the Logic Apps resource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Stops every workflow in it; no traces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4892040"/>
          <a:ext cx="11091672" cy="777240"/>
        </p:xfrm>
        <a:graphic>
          <a:graphicData uri="http://schemas.openxmlformats.org/drawingml/2006/table">
            <a:tbl>
              <a:tblPr firstRow="1" bandRow="0">
                <a:tableStyleId>{5C22544A-7EE6-4342-B048-85BDC9FD1C3A}</a:tableStyleId>
              </a:tblPr>
              <a:tblGrid>
                <a:gridCol w="2468880"/>
                <a:gridCol w="8622792"/>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Model endpoint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deployment type and model version per environment; quota checked; processing boundary approved (appendix A14)</a:t>
                      </a:r>
                    </a:p>
                  </a:txBody>
                  <a:tcPr marL="73152" marR="73152" marT="36576" marB="36576"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Search, storage and workload data dependencies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8" name="Table"/>
          <p:cNvGraphicFramePr>
            <a:graphicFrameLocks noGrp="1"/>
          </p:cNvGraphicFramePr>
          <p:nvPr/>
        </p:nvGraphicFramePr>
        <p:xfrm>
          <a:off x="548640" y="1371600"/>
          <a:ext cx="11091672" cy="2727960"/>
        </p:xfrm>
        <a:graphic>
          <a:graphicData uri="http://schemas.openxmlformats.org/drawingml/2006/table">
            <a:tbl>
              <a:tblPr firstRow="1" bandRow="0">
                <a:tableStyleId>{5C22544A-7EE6-4342-B048-85BDC9FD1C3A}</a:tableStyleId>
              </a:tblPr>
              <a:tblGrid>
                <a:gridCol w="2011680"/>
                <a:gridCol w="2377440"/>
                <a:gridCol w="3566160"/>
                <a:gridCol w="3136392"/>
              </a:tblGrid>
              <a:tr h="289560">
                <a:tc>
                  <a:txBody>
                    <a:bodyPr wrap="square" anchor="ctr">
                      <a:noAutofit/>
                    </a:bodyPr>
                    <a:lstStyle/>
                    <a:p>
                      <a:pPr algn="l"/>
                      <a:r>
                        <a:rPr sz="1300" b="1" i="0">
                          <a:solidFill>
                            <a:srgbClr val="FFFFFF"/>
                          </a:solidFill>
                          <a:latin typeface="Arial"/>
                        </a:rPr>
                        <a:t>Dependency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Azure service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Owned elsewhere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Retrieval index</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AI Search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Service, private endpoint, identity, diagnostics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Index design (Data); indexing pipelines (Data Eng.)</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Documents and files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Storage account (blob containers)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Account, private endpoint, network rules, lifecycle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Classification and retention (Data); loads (Data Eng.)</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Agent threads and 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Cosmos DB</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Account for Agent Service standard setup, backup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model (AI)</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Secrets and certificates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Vault, RBAC, rotation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Secret content (workload team)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Source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Network path and DNS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rights and access (customer source owner)</a:t>
                      </a:r>
                    </a:p>
                  </a:txBody>
                  <a:tcPr marL="73152" marR="73152" marT="36576" marB="36576" anchor="ctr">
                    <a:solidFill>
                      <a:srgbClr val="FFFFFF"/>
                    </a:solidFill>
                  </a:tcPr>
                </a:tc>
              </a:tr>
            </a:tbl>
          </a:graphicData>
        </a:graphic>
      </p:graphicFrame>
      <p:pic>
        <p:nvPicPr>
          <p:cNvPr id="9" name="Azure icon: AI Search (Cognitive Search icon)" descr="Official Azure icon: AI Search (Cognitive Search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303520"/>
            <a:ext cx="411480" cy="411480"/>
          </a:xfrm>
          <a:prstGeom prst="rect">
            <a:avLst/>
          </a:prstGeom>
        </p:spPr>
      </p:pic>
      <p:pic>
        <p:nvPicPr>
          <p:cNvPr id="10" name="Azure icon: Storage account" descr="Official Azure icon: Storage accou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3000" y="5303520"/>
            <a:ext cx="411480" cy="411480"/>
          </a:xfrm>
          <a:prstGeom prst="rect">
            <a:avLst/>
          </a:prstGeom>
        </p:spPr>
      </p:pic>
      <p:pic>
        <p:nvPicPr>
          <p:cNvPr id="11" name="Azure icon: Azure Cosmos DB" descr="Official Azure icon: Azure Cosmos DB"/>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37360" y="5303520"/>
            <a:ext cx="411480" cy="411480"/>
          </a:xfrm>
          <a:prstGeom prst="rect">
            <a:avLst/>
          </a:prstGeom>
        </p:spPr>
      </p:pic>
      <p:pic>
        <p:nvPicPr>
          <p:cNvPr id="12" name="Azure icon: Key Vault" descr="Official Azure icon: Key Vault"/>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31720" y="5303520"/>
            <a:ext cx="411480" cy="411480"/>
          </a:xfrm>
          <a:prstGeom prst="rect">
            <a:avLst/>
          </a:prstGeom>
        </p:spPr>
      </p:pic>
      <p:sp>
        <p:nvSpPr>
          <p:cNvPr id="13" name="TextBox 12"/>
          <p:cNvSpPr txBox="1"/>
          <p:nvPr/>
        </p:nvSpPr>
        <p:spPr>
          <a:xfrm>
            <a:off x="3017520" y="5321808"/>
            <a:ext cx="8595360" cy="457200"/>
          </a:xfrm>
          <a:prstGeom prst="rect">
            <a:avLst/>
          </a:prstGeom>
          <a:noFill/>
        </p:spPr>
        <p:txBody>
          <a:bodyPr wrap="square" lIns="0" rIns="0" tIns="0" bIns="0" anchor="t">
            <a:noAutofit/>
          </a:bodyPr>
          <a:lstStyle/>
          <a:p>
            <a:pPr algn="l"/>
            <a:r>
              <a:rPr sz="1400" b="0" i="0">
                <a:solidFill>
                  <a:srgbClr val="53565A"/>
                </a:solidFill>
                <a:latin typeface="Arial"/>
              </a:rPr>
              <a:t>Platform readiness does not imply data quality or permission propagation; those are separate acceptance gates.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Terraform, CI/CD, approvals and environment promotion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3020" y="1627632"/>
            <a:ext cx="502920" cy="502920"/>
          </a:xfrm>
          <a:prstGeom prst="rect">
            <a:avLst/>
          </a:prstGeom>
        </p:spPr>
      </p:pic>
      <p:sp>
        <p:nvSpPr>
          <p:cNvPr id="11" name="TextBox 10"/>
          <p:cNvSpPr txBox="1"/>
          <p:nvPr/>
        </p:nvSpPr>
        <p:spPr>
          <a:xfrm>
            <a:off x="585216"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Pull request</a:t>
            </a:r>
          </a:p>
          <a:p>
            <a:pPr algn="ctr"/>
            <a:r>
              <a:rPr sz="1200" b="0" i="0">
                <a:solidFill>
                  <a:srgbClr val="53565A"/>
                </a:solidFill>
                <a:latin typeface="Arial"/>
              </a:rPr>
              <a:t>plan, policy and security scans</a:t>
            </a:r>
          </a:p>
        </p:txBody>
      </p:sp>
      <p:cxnSp>
        <p:nvCxnSpPr>
          <p:cNvPr id="12" name="Connector (flow)"/>
          <p:cNvCxnSpPr/>
          <p:nvPr/>
        </p:nvCxnSpPr>
        <p:spPr>
          <a:xfrm>
            <a:off x="2560320"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70732" y="1627632"/>
            <a:ext cx="502920" cy="502920"/>
          </a:xfrm>
          <a:prstGeom prst="rect">
            <a:avLst/>
          </a:prstGeom>
        </p:spPr>
      </p:pic>
      <p:sp>
        <p:nvSpPr>
          <p:cNvPr id="15" name="TextBox 14"/>
          <p:cNvSpPr txBox="1"/>
          <p:nvPr/>
        </p:nvSpPr>
        <p:spPr>
          <a:xfrm>
            <a:off x="2852928"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Dev</a:t>
            </a:r>
          </a:p>
          <a:p>
            <a:pPr algn="ctr"/>
            <a:r>
              <a:rPr sz="1200" b="0" i="0">
                <a:solidFill>
                  <a:srgbClr val="53565A"/>
                </a:solidFill>
                <a:latin typeface="Arial"/>
              </a:rPr>
              <a:t>auto-apply after review</a:t>
            </a:r>
          </a:p>
        </p:txBody>
      </p:sp>
      <p:cxnSp>
        <p:nvCxnSpPr>
          <p:cNvPr id="16" name="Connector (flow)"/>
          <p:cNvCxnSpPr/>
          <p:nvPr/>
        </p:nvCxnSpPr>
        <p:spPr>
          <a:xfrm>
            <a:off x="4828032"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44" y="1627632"/>
            <a:ext cx="502920" cy="502920"/>
          </a:xfrm>
          <a:prstGeom prst="rect">
            <a:avLst/>
          </a:prstGeom>
        </p:spPr>
      </p:pic>
      <p:sp>
        <p:nvSpPr>
          <p:cNvPr id="19" name="TextBox 18"/>
          <p:cNvSpPr txBox="1"/>
          <p:nvPr/>
        </p:nvSpPr>
        <p:spPr>
          <a:xfrm>
            <a:off x="5120640"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Test</a:t>
            </a:r>
          </a:p>
          <a:p>
            <a:pPr algn="ctr"/>
            <a:r>
              <a:rPr sz="1200" b="0" i="0">
                <a:solidFill>
                  <a:srgbClr val="53565A"/>
                </a:solidFill>
                <a:latin typeface="Arial"/>
              </a:rPr>
              <a:t>integration and network tests</a:t>
            </a:r>
          </a:p>
        </p:txBody>
      </p:sp>
      <p:cxnSp>
        <p:nvCxnSpPr>
          <p:cNvPr id="20" name="Connector (flow)"/>
          <p:cNvCxnSpPr/>
          <p:nvPr/>
        </p:nvCxnSpPr>
        <p:spPr>
          <a:xfrm>
            <a:off x="7095744" y="2331720"/>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51775" y="1554480"/>
            <a:ext cx="2011680" cy="1600200"/>
          </a:xfrm>
          <a:prstGeom prst="roundRect">
            <a:avLst>
              <a:gd name="adj" fmla="val 4571"/>
            </a:avLst>
          </a:prstGeom>
          <a:solidFill>
            <a:srgbClr val="EFEFFC"/>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6155" y="1627632"/>
            <a:ext cx="502920" cy="502920"/>
          </a:xfrm>
          <a:prstGeom prst="rect">
            <a:avLst/>
          </a:prstGeom>
        </p:spPr>
      </p:pic>
      <p:sp>
        <p:nvSpPr>
          <p:cNvPr id="23" name="TextBox 22"/>
          <p:cNvSpPr txBox="1"/>
          <p:nvPr/>
        </p:nvSpPr>
        <p:spPr>
          <a:xfrm>
            <a:off x="7388351"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Approval</a:t>
            </a:r>
          </a:p>
          <a:p>
            <a:pPr algn="ctr"/>
            <a:r>
              <a:rPr sz="1200" b="0" i="0">
                <a:solidFill>
                  <a:srgbClr val="53565A"/>
                </a:solidFill>
                <a:latin typeface="Arial"/>
              </a:rPr>
              <a:t>customer change authority</a:t>
            </a:r>
          </a:p>
        </p:txBody>
      </p:sp>
      <p:cxnSp>
        <p:nvCxnSpPr>
          <p:cNvPr id="24" name="Connector (flow)"/>
          <p:cNvCxnSpPr/>
          <p:nvPr/>
        </p:nvCxnSpPr>
        <p:spPr>
          <a:xfrm>
            <a:off x="9363455" y="233172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19488"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73867" y="1627632"/>
            <a:ext cx="502920" cy="502920"/>
          </a:xfrm>
          <a:prstGeom prst="rect">
            <a:avLst/>
          </a:prstGeom>
        </p:spPr>
      </p:pic>
      <p:sp>
        <p:nvSpPr>
          <p:cNvPr id="27" name="TextBox 26"/>
          <p:cNvSpPr txBox="1"/>
          <p:nvPr/>
        </p:nvSpPr>
        <p:spPr>
          <a:xfrm>
            <a:off x="9656063"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Production</a:t>
            </a:r>
          </a:p>
          <a:p>
            <a:pPr algn="ctr"/>
            <a:r>
              <a:rPr sz="1200" b="0" i="0">
                <a:solidFill>
                  <a:srgbClr val="53565A"/>
                </a:solidFill>
                <a:latin typeface="Arial"/>
              </a:rPr>
              <a:t>apply; drift check; rollback ready</a:t>
            </a:r>
          </a:p>
        </p:txBody>
      </p:sp>
      <p:graphicFrame>
        <p:nvGraphicFramePr>
          <p:cNvPr id="28" name="Table"/>
          <p:cNvGraphicFramePr>
            <a:graphicFrameLocks noGrp="1"/>
          </p:cNvGraphicFramePr>
          <p:nvPr/>
        </p:nvGraphicFramePr>
        <p:xfrm>
          <a:off x="548640" y="3520440"/>
          <a:ext cx="11091672" cy="1524000"/>
        </p:xfrm>
        <a:graphic>
          <a:graphicData uri="http://schemas.openxmlformats.org/drawingml/2006/table">
            <a:tbl>
              <a:tblPr firstRow="1" bandRow="0">
                <a:tableStyleId>{5C22544A-7EE6-4342-B048-85BDC9FD1C3A}</a:tableStyleId>
              </a:tblPr>
              <a:tblGrid>
                <a:gridCol w="1828800"/>
                <a:gridCol w="9262872"/>
              </a:tblGrid>
              <a:tr h="304800">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Rule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Remote state per environment; locked; access by deployment identity only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Federated pipeline identity per environment; no stored secrets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Plan output, test results and approval stored with each release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Rollback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Previous version redeployable; tested before acceptance</a:t>
                      </a:r>
                    </a:p>
                  </a:txBody>
                  <a:tcPr marL="73152" marR="73152" marT="36576" marB="36576" anchor="ctr">
                    <a:solidFill>
                      <a:srgbClr val="F5F5F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Development, test and production separation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8"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94560"/>
                <a:gridCol w="2834640"/>
                <a:gridCol w="2834640"/>
                <a:gridCol w="3227832"/>
              </a:tblGrid>
              <a:tr h="304800">
                <a:tc>
                  <a:txBody>
                    <a:bodyPr wrap="square" anchor="ctr">
                      <a:noAutofit/>
                    </a:bodyPr>
                    <a:lstStyle/>
                    <a:p>
                      <a:pPr algn="l"/>
                      <a:r>
                        <a:rPr sz="14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Development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Test (optional)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Production</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separate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Synthetic or masked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Approved test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Live, per data owner approval</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Standard, low quota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Same type as 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Approved type and processing boundary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Access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PIM optional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via pipeline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Pipeline only; PIM for operators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Network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WAF, egress firewall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Telemetry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Short retention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Agreed retention; alerts routed</a:t>
                      </a:r>
                    </a:p>
                  </a:txBody>
                  <a:tcPr marL="73152" marR="73152" marT="36576" marB="36576" anchor="ctr">
                    <a:solidFill>
                      <a:srgbClr val="F5F5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Monitoring, budgets, containment and recovery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8" name="Rounded Rectangle 7"/>
          <p:cNvSpPr/>
          <p:nvPr/>
        </p:nvSpPr>
        <p:spPr>
          <a:xfrm>
            <a:off x="54864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417319"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Monitoring</a:t>
            </a:r>
          </a:p>
        </p:txBody>
      </p:sp>
      <p:sp>
        <p:nvSpPr>
          <p:cNvPr id="11" name="TextBox 10"/>
          <p:cNvSpPr txBox="1"/>
          <p:nvPr/>
        </p:nvSpPr>
        <p:spPr>
          <a:xfrm>
            <a:off x="1417319"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Diagnostics to Log Analytics; Application Insights per Foundry project; alert rules with named owners</a:t>
            </a:r>
          </a:p>
        </p:txBody>
      </p:sp>
      <p:sp>
        <p:nvSpPr>
          <p:cNvPr id="12" name="Rounded Rectangle 11"/>
          <p:cNvSpPr/>
          <p:nvPr/>
        </p:nvSpPr>
        <p:spPr>
          <a:xfrm>
            <a:off x="617220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st Budgets" descr="Official Azure icon: Cost Budge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554480"/>
            <a:ext cx="502920" cy="502920"/>
          </a:xfrm>
          <a:prstGeom prst="rect">
            <a:avLst/>
          </a:prstGeom>
        </p:spPr>
      </p:pic>
      <p:sp>
        <p:nvSpPr>
          <p:cNvPr id="14" name="TextBox 13"/>
          <p:cNvSpPr txBox="1"/>
          <p:nvPr/>
        </p:nvSpPr>
        <p:spPr>
          <a:xfrm>
            <a:off x="7040880"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Budgets</a:t>
            </a:r>
          </a:p>
        </p:txBody>
      </p:sp>
      <p:sp>
        <p:nvSpPr>
          <p:cNvPr id="15" name="TextBox 14"/>
          <p:cNvSpPr txBox="1"/>
          <p:nvPr/>
        </p:nvSpPr>
        <p:spPr>
          <a:xfrm>
            <a:off x="7040880"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Budget and alert per subscription and workload; model usage reported separately from platform cost</a:t>
            </a:r>
          </a:p>
        </p:txBody>
      </p:sp>
      <p:sp>
        <p:nvSpPr>
          <p:cNvPr id="16" name="Rounded Rectangle 15"/>
          <p:cNvSpPr/>
          <p:nvPr/>
        </p:nvSpPr>
        <p:spPr>
          <a:xfrm>
            <a:off x="54864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unction App" descr="Official Azure icon: Function App"/>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657600"/>
            <a:ext cx="502920" cy="502920"/>
          </a:xfrm>
          <a:prstGeom prst="rect">
            <a:avLst/>
          </a:prstGeom>
        </p:spPr>
      </p:pic>
      <p:sp>
        <p:nvSpPr>
          <p:cNvPr id="18" name="TextBox 17"/>
          <p:cNvSpPr txBox="1"/>
          <p:nvPr/>
        </p:nvSpPr>
        <p:spPr>
          <a:xfrm>
            <a:off x="1417319"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Containment hooks</a:t>
            </a:r>
          </a:p>
        </p:txBody>
      </p:sp>
      <p:sp>
        <p:nvSpPr>
          <p:cNvPr id="19" name="TextBox 18"/>
          <p:cNvSpPr txBox="1"/>
          <p:nvPr/>
        </p:nvSpPr>
        <p:spPr>
          <a:xfrm>
            <a:off x="1417319"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Network and identity design that lets offering 02 block, cancel and deny (see appendix K)</a:t>
            </a:r>
          </a:p>
        </p:txBody>
      </p:sp>
      <p:sp>
        <p:nvSpPr>
          <p:cNvPr id="20" name="Rounded Rectangle 19"/>
          <p:cNvSpPr/>
          <p:nvPr/>
        </p:nvSpPr>
        <p:spPr>
          <a:xfrm>
            <a:off x="617220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Recovery Services Vaults" descr="Official Azure icon: Recovery Services Vaul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657600"/>
            <a:ext cx="502920" cy="502920"/>
          </a:xfrm>
          <a:prstGeom prst="rect">
            <a:avLst/>
          </a:prstGeom>
        </p:spPr>
      </p:pic>
      <p:sp>
        <p:nvSpPr>
          <p:cNvPr id="22" name="TextBox 21"/>
          <p:cNvSpPr txBox="1"/>
          <p:nvPr/>
        </p:nvSpPr>
        <p:spPr>
          <a:xfrm>
            <a:off x="7040880"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Recovery</a:t>
            </a:r>
          </a:p>
        </p:txBody>
      </p:sp>
      <p:sp>
        <p:nvSpPr>
          <p:cNvPr id="23" name="TextBox 22"/>
          <p:cNvSpPr txBox="1"/>
          <p:nvPr/>
        </p:nvSpPr>
        <p:spPr>
          <a:xfrm>
            <a:off x="7040880"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IaC redeploy, backups for stateful stores, restore drill recorded; RTO and RPO agreed per dependency</a:t>
            </a:r>
          </a:p>
        </p:txBody>
      </p:sp>
      <p:sp>
        <p:nvSpPr>
          <p:cNvPr id="24" name="Rounded Rectangle 23"/>
          <p:cNvSpPr/>
          <p:nvPr/>
        </p:nvSpPr>
        <p:spPr>
          <a:xfrm>
            <a:off x="548640" y="5715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Log Analytics ingestion is a material consumption cost (East US 2 list: $2.76 per GB after the free allowance). Agree retention.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Processing location and residency are customer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3291840"/>
                <a:gridCol w="5120640"/>
                <a:gridCol w="2679192"/>
              </a:tblGrid>
              <a:tr h="3200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Where prompts and responses are processed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Billing</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Global Standard / Global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 where the model is deployed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 Standard / Provisioned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the Microsoft data zone: US, EU or APAC</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Standard (regional) / Regional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Within the customer-selected Azure geography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Global or Data Zone Batch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As Global or Data Zone; 24-hour target, no real-time SLA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50% discount on tokens</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UK or Middle East data zone is published. Those pursuits need regional deployments or an approved Global boundary.</a:t>
            </a:r>
          </a:p>
        </p:txBody>
      </p:sp>
      <p:sp>
        <p:nvSpPr>
          <p:cNvPr id="11" name="TextBox 10"/>
          <p:cNvSpPr txBox="1"/>
          <p:nvPr/>
        </p:nvSpPr>
        <p:spPr>
          <a:xfrm>
            <a:off x="548640" y="4983480"/>
            <a:ext cx="11064240" cy="822960"/>
          </a:xfrm>
          <a:prstGeom prst="rect">
            <a:avLst/>
          </a:prstGeom>
          <a:noFill/>
        </p:spPr>
        <p:txBody>
          <a:bodyPr wrap="square" lIns="0" rIns="0" tIns="0" bIns="0" anchor="t">
            <a:noAutofit/>
          </a:bodyPr>
          <a:lstStyle/>
          <a:p>
            <a:pPr algn="l"/>
            <a:r>
              <a:rPr sz="1600" b="0" i="0">
                <a:solidFill>
                  <a:srgbClr val="1E1E2E"/>
                </a:solidFill>
                <a:latin typeface="Arial"/>
              </a:rPr>
              <a:t>Approve both the resource region and the model processing boundary. Then verify model support, subscription quota and deployable capacity, which are three different things.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availability snapshot: gpt-5.4, selected regions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NOT EXHAUSTIVE"/>
          <p:cNvSpPr/>
          <p:nvPr/>
        </p:nvSpPr>
        <p:spPr>
          <a:xfrm>
            <a:off x="408940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EXHAUSTIVE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10" name="Table"/>
          <p:cNvGraphicFramePr>
            <a:graphicFrameLocks noGrp="1"/>
          </p:cNvGraphicFramePr>
          <p:nvPr/>
        </p:nvGraphicFramePr>
        <p:xfrm>
          <a:off x="548640" y="1371600"/>
          <a:ext cx="11091671" cy="2194560"/>
        </p:xfrm>
        <a:graphic>
          <a:graphicData uri="http://schemas.openxmlformats.org/drawingml/2006/table">
            <a:tbl>
              <a:tblPr firstRow="1" bandRow="0">
                <a:tableStyleId>{5C22544A-7EE6-4342-B048-85BDC9FD1C3A}</a:tableStyleId>
              </a:tblPr>
              <a:tblGrid>
                <a:gridCol w="2379401"/>
                <a:gridCol w="1244610"/>
                <a:gridCol w="1244610"/>
                <a:gridCol w="1244610"/>
                <a:gridCol w="1244610"/>
                <a:gridCol w="1244610"/>
                <a:gridCol w="1244610"/>
                <a:gridCol w="1244610"/>
              </a:tblGrid>
              <a:tr h="457200">
                <a:tc>
                  <a:txBody>
                    <a:bodyPr wrap="square" anchor="ctr">
                      <a:noAutofit/>
                    </a:bodyPr>
                    <a:lstStyle/>
                    <a:p>
                      <a:pPr algn="l"/>
                      <a:r>
                        <a:rPr sz="12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East US 2</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Sweden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West Europe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Germany W.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France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UK South</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UAE North</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Global Standard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Standard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Standard (regional)</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Global Provisioned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Provisioned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Regional Provisioned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bl>
          </a:graphicData>
        </a:graphic>
      </p:graphicFrame>
      <p:sp>
        <p:nvSpPr>
          <p:cNvPr id="11" name="Rounded Rectangle 10"/>
          <p:cNvSpPr/>
          <p:nvPr/>
        </p:nvSpPr>
        <p:spPr>
          <a:xfrm>
            <a:off x="548640" y="48463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UK or Middle East data zone exists. UAE North lists gpt-5.4 for Global only. Published support is not quota or capacity.</a:t>
            </a:r>
          </a:p>
        </p:txBody>
      </p:sp>
      <p:sp>
        <p:nvSpPr>
          <p:cNvPr id="12" name="TextBox 11"/>
          <p:cNvSpPr txBox="1"/>
          <p:nvPr/>
        </p:nvSpPr>
        <p:spPr>
          <a:xfrm>
            <a:off x="548640" y="5532120"/>
            <a:ext cx="11064240" cy="548640"/>
          </a:xfrm>
          <a:prstGeom prst="rect">
            <a:avLst/>
          </a:prstGeom>
          <a:noFill/>
        </p:spPr>
        <p:txBody>
          <a:bodyPr wrap="square" lIns="0" rIns="0" tIns="0" bIns="0" anchor="t">
            <a:noAutofit/>
          </a:bodyPr>
          <a:lstStyle/>
          <a:p>
            <a:pPr algn="l"/>
            <a:r>
              <a:rPr sz="1300" b="0" i="0">
                <a:solidFill>
                  <a:srgbClr val="53565A"/>
                </a:solidFill>
                <a:latin typeface="Arial"/>
              </a:rPr>
              <a:t>Regions chosen: East US 2 for US; Sweden Central, West Europe, Germany West Central, France Central for EU; UK South for UK; UAE North for Middle East.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2468880"/>
                <a:gridCol w="5943599"/>
                <a:gridCol w="267919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Reproducible build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Deployed from versioned IaC; drift explained; rollback passes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platform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Approved paths pass; prohibited paths fail; DNS and egress recorded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with CIS Infra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Access controls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Agreed positive and negative permission tests pass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Scoped restore demonstrated; limitations documented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Integrated service owner</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Costs and handover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Allocation and budget alerts tested; runbooks accepted by named owners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service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Workload quality (separate)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Business-approved evaluation set meets thresholds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workload owner</a:t>
                      </a:r>
                    </a:p>
                  </a:txBody>
                  <a:tcPr marL="73152" marR="73152" marT="36576" marB="36576" anchor="ctr">
                    <a:solidFill>
                      <a:srgbClr val="F5F5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Bill of materials checklist for a defensible quote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8"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377440"/>
                <a:gridCol w="8714232"/>
              </a:tblGrid>
              <a:tr h="335280">
                <a:tc>
                  <a:txBody>
                    <a:bodyPr wrap="square" anchor="ctr">
                      <a:noAutofit/>
                    </a:bodyPr>
                    <a:lstStyle/>
                    <a:p>
                      <a:pPr algn="l"/>
                      <a:r>
                        <a:rPr sz="1600" b="1" i="0">
                          <a:solidFill>
                            <a:srgbClr val="FFFFFF"/>
                          </a:solidFill>
                          <a:latin typeface="Arial"/>
                        </a:rPr>
                        <a:t>Resource group</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pricing fields</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Firewall and gateway SKU, data processed, DNS resolver, private endpoints, egress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Model, version, deployment type, token volumes or PTU; AI Search tier and replicas; storage and retention</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Hosting and release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App or container compute SKU, replicas, registry, build agents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Log ingestion and retention, alerts, backup, Defender plans in scope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Every 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Region, quantity, environment, USD unit rate, meter, pricing date, monthly total</a:t>
                      </a:r>
                    </a:p>
                  </a:txBody>
                  <a:tcPr marL="73152" marR="73152" marT="36576" marB="36576"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Reuse Microsoft’s AI Landing Zone accelerator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ESTIMATE, NOT PROVEN"/>
          <p:cNvSpPr/>
          <p:nvPr/>
        </p:nvSpPr>
        <p:spPr>
          <a:xfrm>
            <a:off x="189865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PROVEN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sp>
        <p:nvSpPr>
          <p:cNvPr id="9" name="Rounded Rectangle 8"/>
          <p:cNvSpPr/>
          <p:nvPr/>
        </p:nvSpPr>
        <p:spPr>
          <a:xfrm>
            <a:off x="548640" y="13716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icrosoft Foundry" descr="Official Azure icon: Microsoft Foundr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45920"/>
            <a:ext cx="548640" cy="548640"/>
          </a:xfrm>
          <a:prstGeom prst="rect">
            <a:avLst/>
          </a:prstGeom>
        </p:spPr>
      </p:pic>
      <p:sp>
        <p:nvSpPr>
          <p:cNvPr id="11" name="TextBox 10"/>
          <p:cNvSpPr txBox="1"/>
          <p:nvPr/>
        </p:nvSpPr>
        <p:spPr>
          <a:xfrm>
            <a:off x="1463040" y="1554480"/>
            <a:ext cx="4389120" cy="365760"/>
          </a:xfrm>
          <a:prstGeom prst="rect">
            <a:avLst/>
          </a:prstGeom>
          <a:noFill/>
        </p:spPr>
        <p:txBody>
          <a:bodyPr wrap="square" lIns="0" rIns="0" tIns="0" bIns="0" anchor="t">
            <a:noAutofit/>
          </a:bodyPr>
          <a:lstStyle/>
          <a:p>
            <a:pPr algn="l"/>
            <a:r>
              <a:rPr sz="1900" b="1" i="0">
                <a:solidFill>
                  <a:srgbClr val="000048"/>
                </a:solidFill>
                <a:latin typeface="Arial"/>
              </a:rPr>
              <a:t>Agent Landing Zone</a:t>
            </a:r>
          </a:p>
        </p:txBody>
      </p:sp>
      <p:sp>
        <p:nvSpPr>
          <p:cNvPr id="12" name="TextBox 11"/>
          <p:cNvSpPr txBox="1"/>
          <p:nvPr/>
        </p:nvSpPr>
        <p:spPr>
          <a:xfrm>
            <a:off x="1463040" y="1965960"/>
            <a:ext cx="4389120" cy="731520"/>
          </a:xfrm>
          <a:prstGeom prst="rect">
            <a:avLst/>
          </a:prstGeom>
          <a:noFill/>
        </p:spPr>
        <p:txBody>
          <a:bodyPr wrap="square" lIns="0" rIns="0" tIns="0" bIns="0" anchor="t">
            <a:noAutofit/>
          </a:bodyPr>
          <a:lstStyle/>
          <a:p>
            <a:pPr algn="l"/>
            <a:r>
              <a:rPr sz="1600" b="0" i="0">
                <a:solidFill>
                  <a:srgbClr val="1E1E2E"/>
                </a:solidFill>
                <a:latin typeface="Arial"/>
              </a:rPr>
              <a:t>Foundry-based agent platform with private networking</a:t>
            </a:r>
          </a:p>
        </p:txBody>
      </p:sp>
      <p:sp>
        <p:nvSpPr>
          <p:cNvPr id="13" name="Rounded Rectangle 12"/>
          <p:cNvSpPr/>
          <p:nvPr/>
        </p:nvSpPr>
        <p:spPr>
          <a:xfrm>
            <a:off x="6172200" y="13716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645920"/>
            <a:ext cx="548640" cy="548640"/>
          </a:xfrm>
          <a:prstGeom prst="rect">
            <a:avLst/>
          </a:prstGeom>
        </p:spPr>
      </p:pic>
      <p:sp>
        <p:nvSpPr>
          <p:cNvPr id="15" name="TextBox 14"/>
          <p:cNvSpPr txBox="1"/>
          <p:nvPr/>
        </p:nvSpPr>
        <p:spPr>
          <a:xfrm>
            <a:off x="7086600" y="1554480"/>
            <a:ext cx="4389120" cy="365760"/>
          </a:xfrm>
          <a:prstGeom prst="rect">
            <a:avLst/>
          </a:prstGeom>
          <a:noFill/>
        </p:spPr>
        <p:txBody>
          <a:bodyPr wrap="square" lIns="0" rIns="0" tIns="0" bIns="0" anchor="t">
            <a:noAutofit/>
          </a:bodyPr>
          <a:lstStyle/>
          <a:p>
            <a:pPr algn="l"/>
            <a:r>
              <a:rPr sz="1900" b="1" i="0">
                <a:solidFill>
                  <a:srgbClr val="000048"/>
                </a:solidFill>
                <a:latin typeface="Arial"/>
              </a:rPr>
              <a:t>AI Gateway Landing Zone</a:t>
            </a:r>
          </a:p>
        </p:txBody>
      </p:sp>
      <p:sp>
        <p:nvSpPr>
          <p:cNvPr id="16" name="TextBox 15"/>
          <p:cNvSpPr txBox="1"/>
          <p:nvPr/>
        </p:nvSpPr>
        <p:spPr>
          <a:xfrm>
            <a:off x="7086600" y="1965960"/>
            <a:ext cx="4389120" cy="731520"/>
          </a:xfrm>
          <a:prstGeom prst="rect">
            <a:avLst/>
          </a:prstGeom>
          <a:noFill/>
        </p:spPr>
        <p:txBody>
          <a:bodyPr wrap="square" lIns="0" rIns="0" tIns="0" bIns="0" anchor="t">
            <a:noAutofit/>
          </a:bodyPr>
          <a:lstStyle/>
          <a:p>
            <a:pPr algn="l"/>
            <a:r>
              <a:rPr sz="1600" b="0" i="0">
                <a:solidFill>
                  <a:srgbClr val="1E1E2E"/>
                </a:solidFill>
                <a:latin typeface="Arial"/>
              </a:rPr>
              <a:t>API Management as AI gateway for Foundry models</a:t>
            </a:r>
          </a:p>
        </p:txBody>
      </p:sp>
      <p:sp>
        <p:nvSpPr>
          <p:cNvPr id="17" name="Rounded Rectangle 16"/>
          <p:cNvSpPr/>
          <p:nvPr/>
        </p:nvSpPr>
        <p:spPr>
          <a:xfrm>
            <a:off x="548640" y="29718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Azure DevOps" descr="Official Azure icon: Azure DevOp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246120"/>
            <a:ext cx="548640" cy="548640"/>
          </a:xfrm>
          <a:prstGeom prst="rect">
            <a:avLst/>
          </a:prstGeom>
        </p:spPr>
      </p:pic>
      <p:sp>
        <p:nvSpPr>
          <p:cNvPr id="19" name="TextBox 18"/>
          <p:cNvSpPr txBox="1"/>
          <p:nvPr/>
        </p:nvSpPr>
        <p:spPr>
          <a:xfrm>
            <a:off x="1463040" y="3154680"/>
            <a:ext cx="4389120" cy="365760"/>
          </a:xfrm>
          <a:prstGeom prst="rect">
            <a:avLst/>
          </a:prstGeom>
          <a:noFill/>
        </p:spPr>
        <p:txBody>
          <a:bodyPr wrap="square" lIns="0" rIns="0" tIns="0" bIns="0" anchor="t">
            <a:noAutofit/>
          </a:bodyPr>
          <a:lstStyle/>
          <a:p>
            <a:pPr algn="l"/>
            <a:r>
              <a:rPr sz="1900" b="1" i="0">
                <a:solidFill>
                  <a:srgbClr val="000048"/>
                </a:solidFill>
                <a:latin typeface="Arial"/>
              </a:rPr>
              <a:t>Azure Verified Modules</a:t>
            </a:r>
          </a:p>
        </p:txBody>
      </p:sp>
      <p:sp>
        <p:nvSpPr>
          <p:cNvPr id="20" name="TextBox 19"/>
          <p:cNvSpPr txBox="1"/>
          <p:nvPr/>
        </p:nvSpPr>
        <p:spPr>
          <a:xfrm>
            <a:off x="1463040" y="3566160"/>
            <a:ext cx="4389120" cy="731520"/>
          </a:xfrm>
          <a:prstGeom prst="rect">
            <a:avLst/>
          </a:prstGeom>
          <a:noFill/>
        </p:spPr>
        <p:txBody>
          <a:bodyPr wrap="square" lIns="0" rIns="0" tIns="0" bIns="0" anchor="t">
            <a:noAutofit/>
          </a:bodyPr>
          <a:lstStyle/>
          <a:p>
            <a:pPr algn="l"/>
            <a:r>
              <a:rPr sz="1600" b="0" i="0">
                <a:solidFill>
                  <a:srgbClr val="1E1E2E"/>
                </a:solidFill>
                <a:latin typeface="Arial"/>
              </a:rPr>
              <a:t>Bicep and Terraform modules Microsoft maintains</a:t>
            </a:r>
          </a:p>
        </p:txBody>
      </p:sp>
      <p:sp>
        <p:nvSpPr>
          <p:cNvPr id="21" name="Rounded Rectangle 20"/>
          <p:cNvSpPr/>
          <p:nvPr/>
        </p:nvSpPr>
        <p:spPr>
          <a:xfrm>
            <a:off x="6172200" y="29718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Policy" descr="Official Azure icon: Azure Polic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246120"/>
            <a:ext cx="548640" cy="548640"/>
          </a:xfrm>
          <a:prstGeom prst="rect">
            <a:avLst/>
          </a:prstGeom>
        </p:spPr>
      </p:pic>
      <p:sp>
        <p:nvSpPr>
          <p:cNvPr id="23" name="TextBox 22"/>
          <p:cNvSpPr txBox="1"/>
          <p:nvPr/>
        </p:nvSpPr>
        <p:spPr>
          <a:xfrm>
            <a:off x="7086600" y="3154680"/>
            <a:ext cx="4389120" cy="365760"/>
          </a:xfrm>
          <a:prstGeom prst="rect">
            <a:avLst/>
          </a:prstGeom>
          <a:noFill/>
        </p:spPr>
        <p:txBody>
          <a:bodyPr wrap="square" lIns="0" rIns="0" tIns="0" bIns="0" anchor="t">
            <a:noAutofit/>
          </a:bodyPr>
          <a:lstStyle/>
          <a:p>
            <a:pPr algn="l"/>
            <a:r>
              <a:rPr sz="1900" b="1" i="0">
                <a:solidFill>
                  <a:srgbClr val="000048"/>
                </a:solidFill>
                <a:latin typeface="Arial"/>
              </a:rPr>
              <a:t>Design checklist</a:t>
            </a:r>
          </a:p>
        </p:txBody>
      </p:sp>
      <p:sp>
        <p:nvSpPr>
          <p:cNvPr id="24" name="TextBox 23"/>
          <p:cNvSpPr txBox="1"/>
          <p:nvPr/>
        </p:nvSpPr>
        <p:spPr>
          <a:xfrm>
            <a:off x="7086600" y="3566160"/>
            <a:ext cx="4389120" cy="731520"/>
          </a:xfrm>
          <a:prstGeom prst="rect">
            <a:avLst/>
          </a:prstGeom>
          <a:noFill/>
        </p:spPr>
        <p:txBody>
          <a:bodyPr wrap="square" lIns="0" rIns="0" tIns="0" bIns="0" anchor="t">
            <a:noAutofit/>
          </a:bodyPr>
          <a:lstStyle/>
          <a:p>
            <a:pPr algn="l"/>
            <a:r>
              <a:rPr sz="1600" b="0" i="0">
                <a:solidFill>
                  <a:srgbClr val="1E1E2E"/>
                </a:solidFill>
                <a:latin typeface="Arial"/>
              </a:rPr>
              <a:t>Assesses brownfield estates against CAF and WAF</a:t>
            </a:r>
          </a:p>
        </p:txBody>
      </p:sp>
      <p:graphicFrame>
        <p:nvGraphicFramePr>
          <p:cNvPr id="25" name="Table"/>
          <p:cNvGraphicFramePr>
            <a:graphicFrameLocks noGrp="1"/>
          </p:cNvGraphicFramePr>
          <p:nvPr/>
        </p:nvGraphicFramePr>
        <p:xfrm>
          <a:off x="548640" y="4663440"/>
          <a:ext cx="11091672" cy="1219200"/>
        </p:xfrm>
        <a:graphic>
          <a:graphicData uri="http://schemas.openxmlformats.org/drawingml/2006/table">
            <a:tbl>
              <a:tblPr firstRow="1" bandRow="0">
                <a:tableStyleId>{5C22544A-7EE6-4342-B048-85BDC9FD1C3A}</a:tableStyleId>
              </a:tblPr>
              <a:tblGrid>
                <a:gridCol w="5943600"/>
                <a:gridCol w="5148072"/>
              </a:tblGrid>
              <a:tr h="304800">
                <a:tc>
                  <a:txBody>
                    <a:bodyPr wrap="square" anchor="ctr">
                      <a:noAutofit/>
                    </a:bodyPr>
                    <a:lstStyle/>
                    <a:p>
                      <a:pPr algn="l"/>
                      <a:r>
                        <a:rPr sz="1400" b="1" i="0">
                          <a:solidFill>
                            <a:srgbClr val="FFFFFF"/>
                          </a:solidFill>
                          <a:latin typeface="Arial"/>
                        </a:rPr>
                        <a:t>Where CIS Infra adds 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Estimated effort effect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Fit to existing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Main effort driver; not reduced by reuse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Deploy modules through customer pipelines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Reduced: modules exist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Close gaps (preview services, policy exceptions)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Adds effort; varies by customer</a:t>
                      </a:r>
                    </a:p>
                  </a:txBody>
                  <a:tcPr marL="73152" marR="73152" marT="36576" marB="36576"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Data paths and disaster recovery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OPTION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OPTIONS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25880"/>
          <a:ext cx="11091672" cy="1219200"/>
        </p:xfrm>
        <a:graphic>
          <a:graphicData uri="http://schemas.openxmlformats.org/drawingml/2006/table">
            <a:tbl>
              <a:tblPr firstRow="1" bandRow="0">
                <a:tableStyleId>{5C22544A-7EE6-4342-B048-85BDC9FD1C3A}</a:tableStyleId>
              </a:tblPr>
              <a:tblGrid>
                <a:gridCol w="3108960"/>
                <a:gridCol w="4023360"/>
                <a:gridCol w="3959352"/>
              </a:tblGrid>
              <a:tr h="304800">
                <a:tc>
                  <a:txBody>
                    <a:bodyPr wrap="square" anchor="ctr">
                      <a:noAutofit/>
                    </a:bodyPr>
                    <a:lstStyle/>
                    <a:p>
                      <a:pPr algn="l"/>
                      <a:r>
                        <a:rPr sz="1400" b="1" i="0">
                          <a:solidFill>
                            <a:srgbClr val="FFFFFF"/>
                          </a:solidFill>
                          <a:latin typeface="Arial"/>
                        </a:rPr>
                        <a:t>Data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Azure services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role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Documents and files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Storage account, AI Search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identity, lifecycle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Enterprise analytics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Fabric, OneLake (if used)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Network and identity integration only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Operational systems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sources via connectors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Network path and DNS</a:t>
                      </a:r>
                    </a:p>
                  </a:txBody>
                  <a:tcPr marL="73152" marR="73152" marT="36576" marB="36576" anchor="ctr">
                    <a:solidFill>
                      <a:srgbClr val="FFFFFF"/>
                    </a:solidFill>
                  </a:tcPr>
                </a:tc>
              </a:tr>
            </a:tbl>
          </a:graphicData>
        </a:graphic>
      </p:graphicFrame>
      <p:graphicFrame>
        <p:nvGraphicFramePr>
          <p:cNvPr id="10" name="Table"/>
          <p:cNvGraphicFramePr>
            <a:graphicFrameLocks noGrp="1"/>
          </p:cNvGraphicFramePr>
          <p:nvPr/>
        </p:nvGraphicFramePr>
        <p:xfrm>
          <a:off x="548640" y="3383280"/>
          <a:ext cx="11091672" cy="1645920"/>
        </p:xfrm>
        <a:graphic>
          <a:graphicData uri="http://schemas.openxmlformats.org/drawingml/2006/table">
            <a:tbl>
              <a:tblPr firstRow="1" bandRow="0">
                <a:tableStyleId>{5C22544A-7EE6-4342-B048-85BDC9FD1C3A}</a:tableStyleId>
              </a:tblPr>
              <a:tblGrid>
                <a:gridCol w="2377440"/>
                <a:gridCol w="3474720"/>
                <a:gridCol w="3108960"/>
                <a:gridCol w="2130552"/>
              </a:tblGrid>
              <a:tr h="304800">
                <a:tc>
                  <a:txBody>
                    <a:bodyPr wrap="square" anchor="ctr">
                      <a:noAutofit/>
                    </a:bodyPr>
                    <a:lstStyle/>
                    <a:p>
                      <a:pPr algn="l"/>
                      <a:r>
                        <a:rPr sz="1400" b="1" i="0">
                          <a:solidFill>
                            <a:srgbClr val="FFFFFF"/>
                          </a:solidFill>
                          <a:latin typeface="Arial"/>
                        </a:rPr>
                        <a:t>DR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How it works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Cost driver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Recovery</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Single region, rebuild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Redeploy from code; restore data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Lowest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Hours to days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Warm standby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pre-built, scaled down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baseline, data replication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Hours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Active-active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Two regions serving traffic</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Double capacity, global routing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Minutes, if capacity exists</a:t>
                      </a:r>
                    </a:p>
                  </a:txBody>
                  <a:tcPr marL="73152" marR="73152" marT="36576" marB="36576" anchor="ctr">
                    <a:solidFill>
                      <a:srgbClr val="FFFFFF"/>
                    </a:solidFill>
                  </a:tcPr>
                </a:tc>
              </a:tr>
            </a:tbl>
          </a:graphicData>
        </a:graphic>
      </p:graphicFrame>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Model capacity in a second region is not guaranteed on demand. Test failover before quoting a recovery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UK and Middle East residency: check before you quote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RG1</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25880"/>
          <a:ext cx="11091671" cy="2514600"/>
        </p:xfrm>
        <a:graphic>
          <a:graphicData uri="http://schemas.openxmlformats.org/drawingml/2006/table">
            <a:tbl>
              <a:tblPr firstRow="1" bandRow="0">
                <a:tableStyleId>{5C22544A-7EE6-4342-B048-85BDC9FD1C3A}</a:tableStyleId>
              </a:tblPr>
              <a:tblGrid>
                <a:gridCol w="2926080"/>
                <a:gridCol w="2743200"/>
                <a:gridCol w="2834640"/>
                <a:gridCol w="2587751"/>
              </a:tblGrid>
              <a:tr h="320040">
                <a:tc>
                  <a:txBody>
                    <a:bodyPr wrap="square" anchor="ctr">
                      <a:noAutofit/>
                    </a:bodyPr>
                    <a:lstStyle/>
                    <a:p>
                      <a:pPr algn="l"/>
                      <a:r>
                        <a:rPr sz="1500" b="1" i="0">
                          <a:solidFill>
                            <a:srgbClr val="FFFFFF"/>
                          </a:solidFill>
                          <a:latin typeface="Arial"/>
                        </a:rPr>
                        <a:t>Need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UAE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Saudi Arabia</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Model processing in country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Regional PTU in UK South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Not available for gpt-5.4 (Global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Not listed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Processing within a data zone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 UK data zone (EU zone differs)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 Middle East data zone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 Middle East data zone</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Pay-as-you-go processing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Global Standard (any region)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Global Standard (any region)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Not listed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Data at rest in region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Yes, with UK South resources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Yes, with UAE North resources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Check region services</a:t>
                      </a:r>
                    </a:p>
                  </a:txBody>
                  <a:tcPr marL="73152" marR="73152" marT="36576" marB="36576" anchor="ctr">
                    <a:solidFill>
                      <a:srgbClr val="F5F5F2"/>
                    </a:solidFill>
                  </a:tcPr>
                </a:tc>
              </a:tr>
            </a:tbl>
          </a:graphicData>
        </a:graphic>
      </p:graphicFrame>
      <p:sp>
        <p:nvSpPr>
          <p:cNvPr id="10" name="Rounded Rectangle 9"/>
          <p:cNvSpPr/>
          <p:nvPr/>
        </p:nvSpPr>
        <p:spPr>
          <a:xfrm>
            <a:off x="548640" y="5303520"/>
            <a:ext cx="11091672" cy="685800"/>
          </a:xfrm>
          <a:prstGeom prst="roundRect">
            <a:avLst>
              <a:gd name="adj" fmla="val 10666"/>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Gate: if in-country model processing is required and not available, stop and agree an option with the customer before quoting.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Fixed price only after an assessment, with change triggers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FP1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1  Assess first</a:t>
            </a:r>
          </a:p>
          <a:p>
            <a:pPr algn="l"/>
            <a:r>
              <a:rPr sz="1400" b="0" i="0">
                <a:solidFill>
                  <a:srgbClr val="FFFFFF"/>
                </a:solidFill>
                <a:latin typeface="Arial"/>
              </a:rPr>
              <a:t>Short paid assessment before any fixed price</a:t>
            </a:r>
          </a:p>
        </p:txBody>
      </p:sp>
      <p:sp>
        <p:nvSpPr>
          <p:cNvPr id="10" name="Rounded Rectangle 9"/>
          <p:cNvSpPr/>
          <p:nvPr/>
        </p:nvSpPr>
        <p:spPr>
          <a:xfrm>
            <a:off x="3355848"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2  Name the triggers</a:t>
            </a:r>
          </a:p>
          <a:p>
            <a:pPr algn="l"/>
            <a:r>
              <a:rPr sz="1400" b="0" i="0">
                <a:solidFill>
                  <a:srgbClr val="FFFFFF"/>
                </a:solidFill>
                <a:latin typeface="Arial"/>
              </a:rPr>
              <a:t>Change triggers written into the SOW</a:t>
            </a:r>
          </a:p>
        </p:txBody>
      </p:sp>
      <p:sp>
        <p:nvSpPr>
          <p:cNvPr id="11" name="Rounded Rectangle 10"/>
          <p:cNvSpPr/>
          <p:nvPr/>
        </p:nvSpPr>
        <p:spPr>
          <a:xfrm>
            <a:off x="6163055"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3  Hold contingency</a:t>
            </a:r>
          </a:p>
          <a:p>
            <a:pPr algn="l"/>
            <a:r>
              <a:rPr sz="1400" b="0" i="0">
                <a:solidFill>
                  <a:srgbClr val="FFFFFF"/>
                </a:solidFill>
                <a:latin typeface="Arial"/>
              </a:rPr>
              <a:t>Amount set by Finance (input required)</a:t>
            </a:r>
          </a:p>
        </p:txBody>
      </p:sp>
      <p:sp>
        <p:nvSpPr>
          <p:cNvPr id="12" name="Rounded Rectangle 11"/>
          <p:cNvSpPr/>
          <p:nvPr/>
        </p:nvSpPr>
        <p:spPr>
          <a:xfrm>
            <a:off x="8970263"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4  Accept by gates</a:t>
            </a:r>
          </a:p>
          <a:p>
            <a:pPr algn="l"/>
            <a:r>
              <a:rPr sz="1400" b="0" i="0">
                <a:solidFill>
                  <a:srgbClr val="FFFFFF"/>
                </a:solidFill>
                <a:latin typeface="Arial"/>
              </a:rPr>
              <a:t>Evidence-based acceptance at each gate</a:t>
            </a:r>
          </a:p>
        </p:txBody>
      </p:sp>
      <p:graphicFrame>
        <p:nvGraphicFramePr>
          <p:cNvPr id="13" name="Table"/>
          <p:cNvGraphicFramePr>
            <a:graphicFrameLocks noGrp="1"/>
          </p:cNvGraphicFramePr>
          <p:nvPr/>
        </p:nvGraphicFramePr>
        <p:xfrm>
          <a:off x="548640" y="2880360"/>
          <a:ext cx="11091672" cy="1447800"/>
        </p:xfrm>
        <a:graphic>
          <a:graphicData uri="http://schemas.openxmlformats.org/drawingml/2006/table">
            <a:tbl>
              <a:tblPr firstRow="1" bandRow="0">
                <a:tableStyleId>{5C22544A-7EE6-4342-B048-85BDC9FD1C3A}</a:tableStyleId>
              </a:tblPr>
              <a:tblGrid>
                <a:gridCol w="4572000"/>
                <a:gridCol w="6519672"/>
              </a:tblGrid>
              <a:tr h="289560">
                <a:tc>
                  <a:txBody>
                    <a:bodyPr wrap="square" anchor="ctr">
                      <a:noAutofit/>
                    </a:bodyPr>
                    <a:lstStyle/>
                    <a:p>
                      <a:pPr algn="l"/>
                      <a:r>
                        <a:rPr sz="1300" b="1" i="0">
                          <a:solidFill>
                            <a:srgbClr val="FFFFFF"/>
                          </a:solidFill>
                          <a:latin typeface="Arial"/>
                        </a:rPr>
                        <a:t>Change trigger for this 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Why it changes effort</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New region or data residency need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Network, DNS, policy and capacity work per region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Inherited landing zone gaps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Remediation beyond the assessed baseline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Late access or approvals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Idle team and re-planning</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More workloads than scoped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Extra spokes, identities and tests</a:t>
                      </a:r>
                    </a:p>
                  </a:txBody>
                  <a:tcPr marL="73152" marR="73152" marT="36576" marB="36576" anchor="ctr">
                    <a:solidFill>
                      <a:srgbClr val="F5F5F2"/>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6035039" cy="339852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residency 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UK or Middle East in-country need checked (deck 01)</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Regulated bank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risk and DORA position known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Existing landing zone maturity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Design docs, policy, hub in place</a:t>
                      </a:r>
                    </a:p>
                  </a:txBody>
                  <a:tcPr marL="73152" marR="73152" marT="36576" marB="36576" anchor="ctr">
                    <a:solidFill>
                      <a:srgbClr val="F5F5F2"/>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2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14+ with no zero on funding, authority, sponsor or residency. Otherwise sell the assessment.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Assess first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workload, one region, access granted in week 1</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workloads, unclear ownership, slow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Extend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Mature hub, DNS and policy; accelerator fits; one data 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Gaps found in hub or DNS; extra environment; two data sources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Establish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Single region, standard policy baseline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tenant, new connectivity, regulated industry controls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Transition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operations team ready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New operations model, offering 05 onboarding</a:t>
                      </a:r>
                    </a:p>
                  </a:txBody>
                  <a:tcPr marL="73152" marR="73152" marT="36576" marB="36576" anchor="ctr">
                    <a:solidFill>
                      <a:srgbClr val="F5F5F2"/>
                    </a:solidFill>
                  </a:tcPr>
                </a:tc>
              </a:tr>
            </a:tbl>
          </a:graphicData>
        </a:graphic>
      </p:graphicFrame>
      <p:sp>
        <p:nvSpPr>
          <p:cNvPr id="10" name="Rounded Rectangle 9"/>
          <p:cNvSpPr/>
          <p:nvPr/>
        </p:nvSpPr>
        <p:spPr>
          <a:xfrm>
            <a:off x="548640" y="3596640"/>
            <a:ext cx="11091672" cy="1097280"/>
          </a:xfrm>
          <a:prstGeom prst="roundRect">
            <a:avLst>
              <a:gd name="adj" fmla="val 6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300"/>
              </a:spcAft>
            </a:pPr>
            <a:r>
              <a:rPr sz="1400" b="1" i="0">
                <a:solidFill>
                  <a:srgbClr val="000048"/>
                </a:solidFill>
                <a:latin typeface="Arial"/>
              </a:rPr>
              <a:t>Basis and recalibration plan</a:t>
            </a:r>
          </a:p>
          <a:p>
            <a:pPr algn="l"/>
            <a:r>
              <a:rPr sz="1400" b="0" i="0">
                <a:solidFill>
                  <a:srgbClr val="1E1E2E"/>
                </a:solidFill>
                <a:latin typeface="Arial"/>
              </a:rPr>
              <a:t>Basis: the GTM proposal V3 worked example (88 role days for a bounded landing zone extension), scaled by the drivers above. Recalibrate after every pilot: record actual role days per package, compare with the band, and reset bands each quarter. Owner: integrated service owner with Finance.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419100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Data exfiltration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sends data to an external site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firewall egress allow-list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Credential theft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Keys in code or config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Managed identity, local auth off, 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Privilege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Standing admin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PIM, approval for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designs, CIS Infra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Unvetted modules or images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Verified modules, registry scanning, pipeline gates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DevOps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Malicious content in retrieved documents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Content Safety, Prompt Shields, retrieval permissions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Logging gaps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evidence during an incident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Diagnostics to Log Analytics, retention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MCP tool trust boundary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reaches an unapproved tool host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tools only via the gateway (03)</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identity misuse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identity with broad rights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Managed identities, least privilege, Conditional Access for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Regulation: who holds which duty, and where we help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10" name="Table"/>
          <p:cNvGraphicFramePr>
            <a:graphicFrameLocks noGrp="1"/>
          </p:cNvGraphicFramePr>
          <p:nvPr/>
        </p:nvGraphicFramePr>
        <p:xfrm>
          <a:off x="548640" y="1325880"/>
          <a:ext cx="11091672" cy="1280160"/>
        </p:xfrm>
        <a:graphic>
          <a:graphicData uri="http://schemas.openxmlformats.org/drawingml/2006/table">
            <a:tbl>
              <a:tblPr firstRow="1" bandRow="0">
                <a:tableStyleId>{5C22544A-7EE6-4342-B048-85BDC9FD1C3A}</a:tableStyleId>
              </a:tblPr>
              <a:tblGrid>
                <a:gridCol w="2377440"/>
                <a:gridCol w="3840480"/>
                <a:gridCol w="4873752"/>
              </a:tblGrid>
              <a:tr h="274320">
                <a:tc>
                  <a:txBody>
                    <a:bodyPr wrap="square" anchor="ctr">
                      <a:noAutofit/>
                    </a:bodyPr>
                    <a:lstStyle/>
                    <a:p>
                      <a:pPr algn="l"/>
                      <a:r>
                        <a:rPr sz="1200" b="1" i="0">
                          <a:solidFill>
                            <a:srgbClr val="FFFFFF"/>
                          </a:solidFill>
                          <a:latin typeface="Arial"/>
                        </a:rPr>
                        <a:t>Party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Likely EU AI Act role (indicative)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What this offering supports</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Customer deploying AI systems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Deployer (usually)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Network isolation, logging and access records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Customer building its own AI system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Provider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Platform documentation inputs for the technical file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Cognizant 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Usually neither: infrastructure service provider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stated in the contract; Legal confirms</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2788920"/>
          <a:ext cx="11091672" cy="2560320"/>
        </p:xfrm>
        <a:graphic>
          <a:graphicData uri="http://schemas.openxmlformats.org/drawingml/2006/table">
            <a:tbl>
              <a:tblPr firstRow="1" bandRow="0">
                <a:tableStyleId>{5C22544A-7EE6-4342-B048-85BDC9FD1C3A}</a:tableStyleId>
              </a:tblPr>
              <a:tblGrid>
                <a:gridCol w="1828800"/>
                <a:gridCol w="5486400"/>
                <a:gridCol w="3776472"/>
              </a:tblGrid>
              <a:tr h="274320">
                <a:tc>
                  <a:txBody>
                    <a:bodyPr wrap="square" anchor="ctr">
                      <a:noAutofit/>
                    </a:bodyPr>
                    <a:lstStyle/>
                    <a:p>
                      <a:pPr algn="l"/>
                      <a:r>
                        <a:rPr sz="1200" b="1" i="0">
                          <a:solidFill>
                            <a:srgbClr val="FFFFFF"/>
                          </a:solidFill>
                          <a:latin typeface="Arial"/>
                        </a:rPr>
                        <a:t>Area</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 AI Act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Annex III high-risk duties from 2 Dec 2027; Annex I from 2 Aug 2028</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Third-party summary (Orrick); EUR-Lex not verified</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EU DORA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ICT risk and ICT third-party contract terms for financial 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Applies from 17 Jan 2025 (EUR-Lex)</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EU 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Cyber risk management for essential and important entities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National laws; deadline 17 Oct 2024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Regulator-led AI principles;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re-verified: confirm current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Federal Decree-Law 45 of 2021 (personal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Executive regulations: verify status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Saudi Arabia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PDPL (enforceable Sep 2024); NCA cloud controls CCC-1:2020</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Third-party summary; verify transfer rules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US banks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Interagency model risk guidance (17 Apr 2026) replaced SR 11-7</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Generative and agentic AI out of scope; governance still expected</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3593592" cy="44805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Agent-to-agent protocol for agents calling other agents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registry for APIs and MCP servers; decides which tools exist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API Management; the gateway that controls traffic</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processing inside a Microsoft data zone (US, EU or APAC)</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DORA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Digital Operational Resilience Act for financial entities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FOCUS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FinOps Open Cost and Usage Specification for cost data exports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4297679" y="1325880"/>
          <a:ext cx="3593592" cy="374904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Foundry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Foundry: Azure platform for models and agents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FTE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Full-time equivalent person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Model Context Protocol: standard way for agents to call tools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MRM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risk management (banking supervision)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directive on cybersecurity for essential sectors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 as you go: pay per token used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PDPL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 (Saudi Arabia, UAE)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Privileged Identity Management: just-in-time admin access</a:t>
                      </a:r>
                    </a:p>
                  </a:txBody>
                  <a:tcPr marL="73152" marR="73152" marT="36576" marB="36576" anchor="ctr">
                    <a:solidFill>
                      <a:srgbClr val="F5F5F2"/>
                    </a:solidFill>
                  </a:tcPr>
                </a:tc>
              </a:tr>
            </a:tbl>
          </a:graphicData>
        </a:graphic>
      </p:graphicFrame>
      <p:graphicFrame>
        <p:nvGraphicFramePr>
          <p:cNvPr id="11" name="Table"/>
          <p:cNvGraphicFramePr>
            <a:graphicFrameLocks noGrp="1"/>
          </p:cNvGraphicFramePr>
          <p:nvPr/>
        </p:nvGraphicFramePr>
        <p:xfrm>
          <a:off x="8046719" y="1325880"/>
          <a:ext cx="3593592" cy="31089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Provisioned throughput unit: reserved model capacity, billed per hour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RACI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Responsible, Accountable, Consulted, Informed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RFP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for proposal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Recovery time objective / recovery point objective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Statement of work</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 of text a model reads or writes; the main pricing unit</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per minute</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delivers it, and what sellers need before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DP1</a:t>
            </a:r>
          </a:p>
        </p:txBody>
      </p:sp>
      <p:sp>
        <p:nvSpPr>
          <p:cNvPr id="5" name="Status chip: INPUT REQUIRED"/>
          <p:cNvSpPr/>
          <p:nvPr/>
        </p:nvSpPr>
        <p:spPr>
          <a:xfrm>
            <a:off x="199644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2011680"/>
                <a:gridCol w="3657600"/>
                <a:gridCol w="2468880"/>
                <a:gridCol w="1188720"/>
                <a:gridCol w="1764792"/>
              </a:tblGrid>
              <a:tr h="457200">
                <a:tc>
                  <a:txBody>
                    <a:bodyPr wrap="square" anchor="ctr">
                      <a:noAutofit/>
                    </a:bodyPr>
                    <a:lstStyle/>
                    <a:p>
                      <a:pPr algn="l"/>
                      <a:r>
                        <a:rPr sz="1200" b="1" i="0">
                          <a:solidFill>
                            <a:srgbClr val="FFFFFF"/>
                          </a:solidFill>
                          <a:latin typeface="Arial"/>
                        </a:rPr>
                        <a:t>Role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Skills needed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Certification (verify current)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Ramp-up (estimate)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Bench now</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Platform architect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landing zones, Foundry, networking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Solutions Architect Expert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IaC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Terraform or Bicep, Azure Verified Modules, CI/CD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DevOps Engineer Expert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Network engineer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Hub, private endpoints, DNS, firewall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Network Engineer Associate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Identity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PIM, managed identities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Identity and Access Administrator Associate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3794760"/>
          <a:ext cx="11091672" cy="1920240"/>
        </p:xfrm>
        <a:graphic>
          <a:graphicData uri="http://schemas.openxmlformats.org/drawingml/2006/table">
            <a:tbl>
              <a:tblPr firstRow="1" bandRow="0">
                <a:tableStyleId>{5C22544A-7EE6-4342-B048-85BDC9FD1C3A}</a:tableStyleId>
              </a:tblPr>
              <a:tblGrid>
                <a:gridCol w="5120640"/>
                <a:gridCol w="2377440"/>
                <a:gridCol w="3593592"/>
              </a:tblGrid>
              <a:tr h="274320">
                <a:tc>
                  <a:txBody>
                    <a:bodyPr wrap="square" anchor="ctr">
                      <a:noAutofit/>
                    </a:bodyPr>
                    <a:lstStyle/>
                    <a:p>
                      <a:pPr algn="l"/>
                      <a:r>
                        <a:rPr sz="1200" b="1" i="0">
                          <a:solidFill>
                            <a:srgbClr val="FFFFFF"/>
                          </a:solidFill>
                          <a:latin typeface="Arial"/>
                        </a:rPr>
                        <a:t>Presales kit 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Executive deck, talk tracks, customer pitch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Exists (v4.0 draft)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Demo environment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lab owner (input required)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 template and estimator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Presales lead with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RFP answer bank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Draft exists (register)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Presales lead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Case study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first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Account team</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Lab landing zone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lab owner</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account teams use it, and the contract risks to manage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AC1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sp>
        <p:nvSpPr>
          <p:cNvPr id="9" name="Rounded Rectangle 8"/>
          <p:cNvSpPr/>
          <p:nvPr/>
        </p:nvSpPr>
        <p:spPr>
          <a:xfrm>
            <a:off x="548640"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Fits in the account plan</a:t>
            </a:r>
          </a:p>
          <a:p>
            <a:pPr algn="l"/>
            <a:r>
              <a:rPr sz="1400" b="0" i="0">
                <a:solidFill>
                  <a:srgbClr val="1E1E2E"/>
                </a:solidFill>
                <a:latin typeface="Arial"/>
              </a:rPr>
              <a:t>Next step after a cloud or data platform programme in the account plan.</a:t>
            </a:r>
          </a:p>
        </p:txBody>
      </p:sp>
      <p:sp>
        <p:nvSpPr>
          <p:cNvPr id="10" name="Rounded Rectangle 9"/>
          <p:cNvSpPr/>
          <p:nvPr/>
        </p:nvSpPr>
        <p:spPr>
          <a:xfrm>
            <a:off x="3355848"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First deal (illustrative)</a:t>
            </a:r>
          </a:p>
          <a:p>
            <a:pPr algn="l"/>
            <a:r>
              <a:rPr sz="1400" b="0" i="0">
                <a:solidFill>
                  <a:srgbClr val="1E1E2E"/>
                </a:solidFill>
                <a:latin typeface="Arial"/>
              </a:rPr>
              <a:t>Assess $15k to $30k; establish $140k to $220k.</a:t>
            </a:r>
          </a:p>
        </p:txBody>
      </p:sp>
      <p:sp>
        <p:nvSpPr>
          <p:cNvPr id="11" name="Rounded Rectangle 10"/>
          <p:cNvSpPr/>
          <p:nvPr/>
        </p:nvSpPr>
        <p:spPr>
          <a:xfrm>
            <a:off x="6163055"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Expansion path</a:t>
            </a:r>
          </a:p>
          <a:p>
            <a:pPr algn="l"/>
            <a:r>
              <a:rPr sz="1400" b="0" i="0">
                <a:solidFill>
                  <a:srgbClr val="1E1E2E"/>
                </a:solidFill>
                <a:latin typeface="Arial"/>
              </a:rPr>
              <a:t>Gateway (03), agent governance (02), then managed operations (05).</a:t>
            </a:r>
          </a:p>
        </p:txBody>
      </p:sp>
      <p:sp>
        <p:nvSpPr>
          <p:cNvPr id="12" name="Rounded Rectangle 11"/>
          <p:cNvSpPr/>
          <p:nvPr/>
        </p:nvSpPr>
        <p:spPr>
          <a:xfrm>
            <a:off x="8970263"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Business-led entry</a:t>
            </a:r>
          </a:p>
          <a:p>
            <a:pPr algn="l"/>
            <a:r>
              <a:rPr sz="1400" b="0" i="0">
                <a:solidFill>
                  <a:srgbClr val="1E1E2E"/>
                </a:solidFill>
                <a:latin typeface="Arial"/>
              </a:rPr>
              <a:t>Head of operations: first AI workload live in weeks, not quarters.</a:t>
            </a:r>
          </a:p>
        </p:txBody>
      </p:sp>
      <p:graphicFrame>
        <p:nvGraphicFramePr>
          <p:cNvPr id="13" name="Table"/>
          <p:cNvGraphicFramePr>
            <a:graphicFrameLocks noGrp="1"/>
          </p:cNvGraphicFramePr>
          <p:nvPr/>
        </p:nvGraphicFramePr>
        <p:xfrm>
          <a:off x="548640" y="3383280"/>
          <a:ext cx="11091672" cy="1828800"/>
        </p:xfrm>
        <a:graphic>
          <a:graphicData uri="http://schemas.openxmlformats.org/drawingml/2006/table">
            <a:tbl>
              <a:tblPr firstRow="1" bandRow="0">
                <a:tableStyleId>{5C22544A-7EE6-4342-B048-85BDC9FD1C3A}</a:tableStyleId>
              </a:tblPr>
              <a:tblGrid>
                <a:gridCol w="2377440"/>
                <a:gridCol w="6400800"/>
                <a:gridCol w="2313432"/>
              </a:tblGrid>
              <a:tr h="274320">
                <a:tc>
                  <a:txBody>
                    <a:bodyPr wrap="square" anchor="ctr">
                      <a:noAutofit/>
                    </a:bodyPr>
                    <a:lstStyle/>
                    <a:p>
                      <a:pPr algn="l"/>
                      <a:r>
                        <a:rPr sz="1200" b="1" i="0">
                          <a:solidFill>
                            <a:srgbClr val="FFFFFF"/>
                          </a:solidFill>
                          <a:latin typeface="Arial"/>
                        </a:rPr>
                        <a:t>Contract topic</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position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Liability cap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Cognizant standard terms; no uncapped liability for agent behaviour or customer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Service-level penalties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on response targets inside coverage hours; none on Azure availability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Legal with delivery</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IP of accelerators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Cognizant keeps reusable accelerators; customer owns its configuration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Change control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scope, regions or runtimes priced by change request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Delivery with Finance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Fixed price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Only after an assessment; change triggers in the SOW (FP1)</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with Finance</a:t>
                      </a:r>
                    </a:p>
                  </a:txBody>
                  <a:tcPr marL="73152" marR="73152" marT="36576" marB="36576" anchor="ctr">
                    <a:solidFill>
                      <a:srgbClr val="FFFFFF"/>
                    </a:solidFill>
                  </a:tcPr>
                </a:tc>
              </a:tr>
            </a:tbl>
          </a:graphicData>
        </a:graphic>
      </p:graphicFrame>
      <p:sp>
        <p:nvSpPr>
          <p:cNvPr id="14" name="Rounded Rectangle 13"/>
          <p:cNvSpPr/>
          <p:nvPr/>
        </p:nvSpPr>
        <p:spPr>
          <a:xfrm>
            <a:off x="548640" y="5349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300" b="1" i="0">
                <a:solidFill>
                  <a:srgbClr val="000048"/>
                </a:solidFill>
                <a:latin typeface="Arial"/>
              </a:rPr>
              <a:t>Microsoft motion:  </a:t>
            </a:r>
            <a:r>
              <a:rPr sz="1300" b="0" i="0">
                <a:solidFill>
                  <a:srgbClr val="1E1E2E"/>
                </a:solidFill>
                <a:latin typeface="Arial"/>
              </a:rPr>
              <a:t>engage the Azure specialist and cloud solution architect (Cloud and AI Platforms); drives Foundry, networking and monitoring consumption.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283464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implementation, transition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DevOps, AI, Data, Data Eng. work packages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Optional,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assets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Network, hosting, Search, Storage, logs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meters x quantity, dated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 for the workload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tower); PTU rates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in baseline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 inference is chosen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434340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Revenue recognition (Finance owns):  </a:t>
            </a:r>
            <a:r>
              <a:rPr sz="1400" b="0" i="0">
                <a:solidFill>
                  <a:srgbClr val="1E1E2E"/>
                </a:solidFill>
                <a:latin typeface="Arial"/>
              </a:rPr>
              <a:t>Fixed-price milestones per gate (assess, design, build, acceptance). Owner: Finance.</a:t>
            </a:r>
          </a:p>
        </p:txBody>
      </p:sp>
      <p:sp>
        <p:nvSpPr>
          <p:cNvPr id="11" name="Rounded Rectangle 1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Private endpoints and disabled local auth so agents cannot bypass the gateway</a:t>
            </a:r>
          </a:p>
          <a:p>
            <a:pPr algn="l" marL="201168" indent="-201168">
              <a:spcAft>
                <a:spcPts val="600"/>
              </a:spcAft>
              <a:buFont typeface="Arial"/>
              <a:buChar char="•"/>
            </a:pPr>
            <a:r>
              <a:rPr sz="1800" b="0" i="0">
                <a:solidFill>
                  <a:srgbClr val="1E1E2E"/>
                </a:solidFill>
                <a:latin typeface="Arial"/>
              </a:rPr>
              <a:t>Separate subnets and identities so a runtime can be isolated without affecting the hub</a:t>
            </a:r>
          </a:p>
          <a:p>
            <a:pPr algn="l" marL="201168" indent="-201168">
              <a:spcAft>
                <a:spcPts val="600"/>
              </a:spcAft>
              <a:buFont typeface="Arial"/>
              <a:buChar char="•"/>
            </a:pPr>
            <a:r>
              <a:rPr sz="1800" b="0" i="0">
                <a:solidFill>
                  <a:srgbClr val="1E1E2E"/>
                </a:solidFill>
                <a:latin typeface="Arial"/>
              </a:rPr>
              <a:t>Telemetry plumbing (Log Analytics, Application Insights) that containment verification depends on</a:t>
            </a:r>
          </a:p>
          <a:p>
            <a:pPr algn="l" marL="201168" indent="-201168">
              <a:spcAft>
                <a:spcPts val="600"/>
              </a:spcAft>
              <a:buFont typeface="Arial"/>
              <a:buChar char="•"/>
            </a:pPr>
            <a:r>
              <a:rPr sz="1800" b="0" i="0">
                <a:solidFill>
                  <a:srgbClr val="1E1E2E"/>
                </a:solidFill>
                <a:latin typeface="Arial"/>
              </a:rPr>
              <a:t>A restricted management boundary for the containment control plane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and the design is unproven until the PoC passes. Deck 02 builds it; deck 05 operates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2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CIS</a:t>
                      </a:r>
                    </a:p>
                    <a:p>
                      <a:pPr algn="ctr"/>
                      <a:r>
                        <a:rPr sz="12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Secu-</a:t>
                      </a:r>
                    </a:p>
                    <a:p>
                      <a:pPr algn="ctr"/>
                      <a:r>
                        <a:rPr sz="12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Dev-</a:t>
                      </a:r>
                    </a:p>
                    <a:p>
                      <a:pPr algn="ctr"/>
                      <a:r>
                        <a:rPr sz="12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p>
                      <a:pPr algn="ctr"/>
                      <a:r>
                        <a:rPr sz="12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Integr.</a:t>
                      </a:r>
                    </a:p>
                    <a:p>
                      <a:pPr algn="ctr"/>
                      <a:r>
                        <a:rPr sz="1200" b="1" i="0">
                          <a:solidFill>
                            <a:srgbClr val="FFFFFF"/>
                          </a:solidFill>
                          <a:latin typeface="Arial"/>
                        </a:rPr>
                        <a:t>service</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Cust.</a:t>
                      </a:r>
                    </a:p>
                    <a:p>
                      <a:pPr algn="ctr"/>
                      <a:r>
                        <a:rPr sz="1200" b="1" i="0">
                          <a:solidFill>
                            <a:srgbClr val="FFFFFF"/>
                          </a:solidFill>
                          <a:latin typeface="Arial"/>
                        </a:rPr>
                        <a:t>work-</a:t>
                      </a:r>
                    </a:p>
                    <a:p>
                      <a:pPr algn="ctr"/>
                      <a:r>
                        <a:rPr sz="1200" b="1" i="0">
                          <a:solidFill>
                            <a:srgbClr val="FFFFFF"/>
                          </a:solidFill>
                          <a:latin typeface="Arial"/>
                        </a:rPr>
                        <a:t>load</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Comm.</a:t>
                      </a:r>
                    </a:p>
                    <a:p>
                      <a:pPr algn="ctr"/>
                      <a:r>
                        <a:rPr sz="12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200" b="0" i="0">
                          <a:solidFill>
                            <a:srgbClr val="1E1E2E"/>
                          </a:solidFill>
                          <a:latin typeface="Arial"/>
                        </a:rPr>
                        <a:t>Platform design and integrated plan</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Subscriptions, network, DNS, egress</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Security control design and verification</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Terraform modules and pipelines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Foundry project, model endpoint hosting</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Data architecture and ingestion</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Platform testing (build, network, access)</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Platform service acceptance</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Workload acceptance (quality)</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Operational handover and runbooks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Containment hooks and recovery drill</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Funded workload, platform sponsor, data owner, deployment authority, tower commitments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Landing zone design, subscriptions, hub, DNS, identity, policy, region and model needs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Design, IaC, configured environments, test evidence, runbooks, handover pack</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One workload, dev and prod, one region, one data pattern (reference)</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DevOps, AI, Data, Data Eng. work packages; customer approvals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Assess, design, build, prove, transition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Gates in appendix A17, agreed in the SOW</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Access, approvals, data rights, risk acceptance, named owners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assessment fee; role days per work package; capped transition fee</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Environments, regions, connectivity, data sources, model or boundary change</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05 or customer operations; runbooks and alert routing accepted</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Gates passed first time; time to accepted environment; tag coverage</a:t>
                      </a:r>
                    </a:p>
                  </a:txBody>
                  <a:tcPr marL="73152" marR="73152" marT="36576" marB="36576" anchor="ctr">
                    <a:solidFill>
                      <a:srgbClr val="F5F5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2" cy="219456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Nominate Infra sponsor and tower leads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Named people and effort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Adopt three routes and scope boundaries</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ownership: DevOps or CIS Infra</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and DevOps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Who staffs and maintains modules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margin and attribution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Reference estimate for extension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effort from validation</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Approved demo environment and IaC assets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Working deployment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External launch and Microsoft alliance positioning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 card, evidence pack</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Cloud Adoption Framework: AI Ready:  </a:t>
            </a:r>
            <a:r>
              <a:rPr sz="1200" b="0" i="0">
                <a:solidFill>
                  <a:srgbClr val="2F78C4"/>
                </a:solidFill>
                <a:latin typeface="Arial"/>
                <a:hlinkClick r:id="rId4"/>
              </a:rPr>
              <a:t>https://learn.microsoft.com/en-us/azure/cloud-adoption-framework/ai/ready</a:t>
            </a:r>
          </a:p>
          <a:p>
            <a:pPr algn="l">
              <a:spcAft>
                <a:spcPts val="400"/>
              </a:spcAft>
            </a:pPr>
            <a:r>
              <a:rPr sz="1200" b="1" i="0">
                <a:solidFill>
                  <a:srgbClr val="000048"/>
                </a:solidFill>
                <a:latin typeface="Arial"/>
              </a:rPr>
              <a:t>Foundry Models deployment types:  </a:t>
            </a:r>
            <a:r>
              <a:rPr sz="1200" b="0" i="0">
                <a:solidFill>
                  <a:srgbClr val="2F78C4"/>
                </a:solidFill>
                <a:latin typeface="Arial"/>
                <a:hlinkClick r:id="rId5"/>
              </a:rPr>
              <a:t>https://learn.microsoft.com/en-us/azure/foundry/foundry-models/concepts/deployment-types</a:t>
            </a:r>
          </a:p>
          <a:p>
            <a:pPr algn="l">
              <a:spcAft>
                <a:spcPts val="400"/>
              </a:spcAft>
            </a:pPr>
            <a:r>
              <a:rPr sz="1200" b="1" i="0">
                <a:solidFill>
                  <a:srgbClr val="000048"/>
                </a:solidFill>
                <a:latin typeface="Arial"/>
              </a:rPr>
              <a:t>Foundry Models region availability (Europe and MEA tabs read in browser):  </a:t>
            </a:r>
            <a:r>
              <a:rPr sz="1200" b="0" i="0">
                <a:solidFill>
                  <a:srgbClr val="2F78C4"/>
                </a:solidFill>
                <a:latin typeface="Arial"/>
                <a:hlinkClick r:id="rId6"/>
              </a:rPr>
              <a:t>https://learn.microsoft.com/en-us/azure/foundry/foundry-models/concepts/models-sold-directly-by-azure-region-availability</a:t>
            </a:r>
          </a:p>
          <a:p>
            <a:pPr algn="l">
              <a:spcAft>
                <a:spcPts val="400"/>
              </a:spcAft>
            </a:pPr>
            <a:r>
              <a:rPr sz="1200" b="1" i="0">
                <a:solidFill>
                  <a:srgbClr val="000048"/>
                </a:solidFill>
                <a:latin typeface="Arial"/>
              </a:rPr>
              <a:t>Foundry Models retirement schedule:  </a:t>
            </a:r>
            <a:r>
              <a:rPr sz="1200" b="0" i="0">
                <a:solidFill>
                  <a:srgbClr val="2F78C4"/>
                </a:solidFill>
                <a:latin typeface="Arial"/>
                <a:hlinkClick r:id="rId7"/>
              </a:rPr>
              <a:t>https://learn.microsoft.com/en-us/azure/foundry/openai/concepts/model-retirement-schedule</a:t>
            </a:r>
          </a:p>
          <a:p>
            <a:pPr algn="l">
              <a:spcAft>
                <a:spcPts val="400"/>
              </a:spcAft>
            </a:pPr>
            <a:r>
              <a:rPr sz="1200" b="1" i="0">
                <a:solidFill>
                  <a:srgbClr val="000048"/>
                </a:solidFill>
                <a:latin typeface="Arial"/>
              </a:rPr>
              <a:t>Foundry Control Plane: manage agents:  </a:t>
            </a:r>
            <a:r>
              <a:rPr sz="1200" b="0" i="0">
                <a:solidFill>
                  <a:srgbClr val="2F78C4"/>
                </a:solidFill>
                <a:latin typeface="Arial"/>
                <a:hlinkClick r:id="rId8"/>
              </a:rPr>
              <a:t>https://learn.microsoft.com/en-us/azure/foundry/control-plane/how-to-manage-agents</a:t>
            </a:r>
          </a:p>
          <a:p>
            <a:pPr algn="l">
              <a:spcAft>
                <a:spcPts val="400"/>
              </a:spcAft>
            </a:pPr>
            <a:r>
              <a:rPr sz="1200" b="1" i="0">
                <a:solidFill>
                  <a:srgbClr val="000048"/>
                </a:solidFill>
                <a:latin typeface="Arial"/>
              </a:rPr>
              <a:t>Azure Retail Prices API: Log Analytics, East US 2:  </a:t>
            </a:r>
            <a:r>
              <a:rPr sz="1200" b="0" i="0">
                <a:solidFill>
                  <a:srgbClr val="2F78C4"/>
                </a:solidFill>
                <a:latin typeface="Arial"/>
                <a:hlinkClick r:id="rId9"/>
              </a:rPr>
              <a:t>https://prices.azure.com/api/retail/prices?$filter=serviceName eq 'Log Analytics' and armRegionName eq 'eastus2'</a:t>
            </a:r>
          </a:p>
          <a:p>
            <a:pPr algn="l">
              <a:spcAft>
                <a:spcPts val="400"/>
              </a:spcAft>
            </a:pPr>
            <a:r>
              <a:rPr sz="1200" b="1" i="0">
                <a:solidFill>
                  <a:srgbClr val="000048"/>
                </a:solidFill>
                <a:latin typeface="Arial"/>
              </a:rPr>
              <a:t>Azure Architecture Icons (V24):  </a:t>
            </a:r>
            <a:r>
              <a:rPr sz="1200" b="0" i="0">
                <a:solidFill>
                  <a:srgbClr val="2F78C4"/>
                </a:solidFill>
                <a:latin typeface="Arial"/>
                <a:hlinkClick r:id="rId10"/>
              </a:rPr>
              <a:t>https://learn.microsoft.com/en-us/azure/architecture/icons/</a:t>
            </a:r>
          </a:p>
          <a:p>
            <a:pPr algn="l">
              <a:spcAft>
                <a:spcPts val="400"/>
              </a:spcAft>
            </a:pPr>
            <a:r>
              <a:rPr sz="1200" b="1" i="0">
                <a:solidFill>
                  <a:srgbClr val="000048"/>
                </a:solidFill>
                <a:latin typeface="Arial"/>
              </a:rPr>
              <a:t>az-icons.com catalogue of official Azure icons (July 2026 set):  </a:t>
            </a:r>
            <a:r>
              <a:rPr sz="1200" b="0" i="0">
                <a:solidFill>
                  <a:srgbClr val="2F78C4"/>
                </a:solidFill>
                <a:latin typeface="Arial"/>
                <a:hlinkClick r:id="rId11"/>
              </a:rPr>
              <a:t>https://az-icons.com/</a:t>
            </a:r>
          </a:p>
          <a:p>
            <a:pPr algn="l">
              <a:spcAft>
                <a:spcPts val="400"/>
              </a:spcAft>
            </a:pPr>
            <a:r>
              <a:rPr sz="1200" b="1" i="0">
                <a:solidFill>
                  <a:srgbClr val="000048"/>
                </a:solidFill>
                <a:latin typeface="Arial"/>
              </a:rPr>
              <a:t>Azure Architecture Center browse:  </a:t>
            </a:r>
            <a:r>
              <a:rPr sz="1200" b="0" i="0">
                <a:solidFill>
                  <a:srgbClr val="2F78C4"/>
                </a:solidFill>
                <a:latin typeface="Arial"/>
                <a:hlinkClick r:id="rId12"/>
              </a:rPr>
              <a:t>https://learn.microsoft.com/en-us/azure/architecture/browse/</a:t>
            </a:r>
          </a:p>
          <a:p>
            <a:pPr algn="l">
              <a:spcAft>
                <a:spcPts val="400"/>
              </a:spcAft>
            </a:pPr>
            <a:r>
              <a:rPr sz="1200" b="1" i="0">
                <a:solidFill>
                  <a:srgbClr val="000048"/>
                </a:solidFill>
                <a:latin typeface="Arial"/>
              </a:rPr>
              <a:t>GTM proposal V3:  </a:t>
            </a:r>
            <a:r>
              <a:rPr sz="1200" b="0" i="0">
                <a:solidFill>
                  <a:srgbClr val="2F78C4"/>
                </a:solidFill>
                <a:latin typeface="Arial"/>
                <a:hlinkClick r:id="rId13"/>
              </a:rPr>
              <a:t>https://github.com/upendra25312/AI-Foundry-GTM-offering-/blob/main/CIS_Infra_Azure_AI_Platform_GTM_Proposal_V3.docx</a:t>
            </a:r>
          </a:p>
          <a:p>
            <a:pPr algn="l">
              <a:spcAft>
                <a:spcPts val="400"/>
              </a:spcAft>
            </a:pPr>
            <a:r>
              <a:rPr sz="1200" b="1" i="0">
                <a:solidFill>
                  <a:srgbClr val="000048"/>
                </a:solidFill>
                <a:latin typeface="Arial"/>
              </a:rPr>
              <a:t>Azure AI Landing Zones:  </a:t>
            </a:r>
            <a:r>
              <a:rPr sz="1200" b="0" i="0">
                <a:solidFill>
                  <a:srgbClr val="2F78C4"/>
                </a:solidFill>
                <a:latin typeface="Arial"/>
                <a:hlinkClick r:id="rId14"/>
              </a:rPr>
              <a:t>https://github.com/Azure/AI-Landing-Zones</a:t>
            </a:r>
          </a:p>
          <a:p>
            <a:pPr algn="l">
              <a:spcAft>
                <a:spcPts val="400"/>
              </a:spcAft>
            </a:pPr>
            <a:r>
              <a:rPr sz="1200" b="1" i="0">
                <a:solidFill>
                  <a:srgbClr val="000048"/>
                </a:solidFill>
                <a:latin typeface="Arial"/>
              </a:rPr>
              <a:t>Foundry baseline in a landing zone:  </a:t>
            </a:r>
            <a:r>
              <a:rPr sz="1200" b="0" i="0">
                <a:solidFill>
                  <a:srgbClr val="2F78C4"/>
                </a:solidFill>
                <a:latin typeface="Arial"/>
                <a:hlinkClick r:id="rId15"/>
              </a:rPr>
              <a:t>https://learn.microsoft.com/en-us/azure/architecture/ai-ml/architecture/baseline-microsoft-foundry-landing-zone</a:t>
            </a:r>
          </a:p>
          <a:p>
            <a:pPr algn="l">
              <a:spcAft>
                <a:spcPts val="400"/>
              </a:spcAft>
            </a:pPr>
            <a:r>
              <a:rPr sz="1200" b="1" i="0">
                <a:solidFill>
                  <a:srgbClr val="000048"/>
                </a:solidFill>
                <a:latin typeface="Arial"/>
              </a:rPr>
              <a:t>App Service private endpoint:  </a:t>
            </a:r>
            <a:r>
              <a:rPr sz="1200" b="0" i="0">
                <a:solidFill>
                  <a:srgbClr val="2F78C4"/>
                </a:solidFill>
                <a:latin typeface="Arial"/>
                <a:hlinkClick r:id="rId16"/>
              </a:rPr>
              <a:t>https://learn.microsoft.com/en-us/azure/app-service/overview-private-endpoint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 (continued)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S1B</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Azure AI Landing Zones (GitHub):  </a:t>
            </a:r>
            <a:r>
              <a:rPr sz="1200" b="0" i="0">
                <a:solidFill>
                  <a:srgbClr val="2F78C4"/>
                </a:solidFill>
                <a:latin typeface="Arial"/>
                <a:hlinkClick r:id="rId4"/>
              </a:rPr>
              <a:t>https://github.com/Azure/AI-Landing-Zones</a:t>
            </a:r>
          </a:p>
          <a:p>
            <a:pPr algn="l">
              <a:spcAft>
                <a:spcPts val="400"/>
              </a:spcAft>
            </a:pPr>
            <a:r>
              <a:rPr sz="1200" b="1" i="0">
                <a:solidFill>
                  <a:srgbClr val="000048"/>
                </a:solidFill>
                <a:latin typeface="Arial"/>
              </a:rPr>
              <a:t>EU AI Act Update: Digital Omnibus finalises compliance changes (Orrick, third-party law-firm summary, 29 Jul 2026; EUR-Lex text not verified):  </a:t>
            </a:r>
            <a:r>
              <a:rPr sz="1200" b="0" i="0">
                <a:solidFill>
                  <a:srgbClr val="2F78C4"/>
                </a:solidFill>
                <a:latin typeface="Arial"/>
                <a:hlinkClick r:id="rId5"/>
              </a:rPr>
              <a:t>https://www.orrick.com/en/Insights/2026/07/EU-AI-Act-Update-Digital-Omnibus-Finalizes-8-Compliance-Changes</a:t>
            </a:r>
          </a:p>
          <a:p>
            <a:pPr algn="l">
              <a:spcAft>
                <a:spcPts val="400"/>
              </a:spcAft>
            </a:pPr>
            <a:r>
              <a:rPr sz="1200" b="1" i="0">
                <a:solidFill>
                  <a:srgbClr val="000048"/>
                </a:solidFill>
                <a:latin typeface="Arial"/>
              </a:rPr>
              <a:t>AI threat protection in Microsoft Defender for Cloud:  </a:t>
            </a:r>
            <a:r>
              <a:rPr sz="1200" b="0" i="0">
                <a:solidFill>
                  <a:srgbClr val="2F78C4"/>
                </a:solidFill>
                <a:latin typeface="Arial"/>
                <a:hlinkClick r:id="rId6"/>
              </a:rPr>
              <a:t>https://learn.microsoft.com/en-us/azure/defender-for-cloud/ai-threat-protection</a:t>
            </a:r>
          </a:p>
          <a:p>
            <a:pPr algn="l">
              <a:spcAft>
                <a:spcPts val="400"/>
              </a:spcAft>
            </a:pPr>
            <a:r>
              <a:rPr sz="1200" b="1" i="0">
                <a:solidFill>
                  <a:srgbClr val="000048"/>
                </a:solidFill>
                <a:latin typeface="Arial"/>
              </a:rPr>
              <a:t>Microsoft Purview data security and compliance for AI:  </a:t>
            </a:r>
            <a:r>
              <a:rPr sz="1200" b="0" i="0">
                <a:solidFill>
                  <a:srgbClr val="2F78C4"/>
                </a:solidFill>
                <a:latin typeface="Arial"/>
                <a:hlinkClick r:id="rId7"/>
              </a:rPr>
              <a:t>https://learn.microsoft.com/en-us/purview/ai-microsoft-purview</a:t>
            </a:r>
          </a:p>
          <a:p>
            <a:pPr algn="l">
              <a:spcAft>
                <a:spcPts val="4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8"/>
              </a:rPr>
              <a:t>https://www.microsoft.com/en-us/security/blog/2026/05/01/microsoft-agent-365-now-generally-available-expands-capabilities-and-integrations/</a:t>
            </a:r>
          </a:p>
          <a:p>
            <a:pPr algn="l">
              <a:spcAft>
                <a:spcPts val="400"/>
              </a:spcAft>
            </a:pPr>
            <a:r>
              <a:rPr sz="1200" b="1" i="0">
                <a:solidFill>
                  <a:srgbClr val="000048"/>
                </a:solidFill>
                <a:latin typeface="Arial"/>
              </a:rPr>
              <a:t>Register and discover MCP servers in Azure API Center:  </a:t>
            </a:r>
            <a:r>
              <a:rPr sz="1200" b="0" i="0">
                <a:solidFill>
                  <a:srgbClr val="2F78C4"/>
                </a:solidFill>
                <a:latin typeface="Arial"/>
                <a:hlinkClick r:id="rId9"/>
              </a:rPr>
              <a:t>https://learn.microsoft.com/en-us/azure/api-center/register-discover-mcp-server</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AI Platform / Landing Zone v4.0</dc:title>
  <dcterms:created xsi:type="dcterms:W3CDTF">2026-10-10T13:56:28.3080000Z</dcterms:created>
  <dcterms:modified xsi:type="dcterms:W3CDTF">2026-10-10T13:56:28.3090000Z</dcterms:modified>
  <dc:subject>Proposed CIS Infra GTM offering for internal leadership review</dc:subject>
</coreProperties>
</file>