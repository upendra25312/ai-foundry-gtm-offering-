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offering answers three questions every CIO now asks: what agents do we have, are they actually used, and can we stop one that misbehaves. Microsoft now sells Agent 365 as the control plane, so we configure that first and build only what it does not cover.</a:t>
            </a:r>
          </a:p>
          <a:p/>
          <a:p>
            <a:r>
              <a:t>Likely question: Did Agent 365 make this offering redundant?</a:t>
            </a:r>
          </a:p>
          <a:p>
            <a:r>
              <a:t>Answer: No. It gives the registry and policy layer. Customers still need it configured, joined to runtime evidence, operated, and backed by a tested containment path across several layers.</a:t>
            </a:r>
          </a:p>
          <a:p/>
          <a:p>
            <a:r>
              <a:t>DETAIL AND CAVEATS</a:t>
            </a:r>
          </a:p>
          <a:p>
            <a:r>
              <a:t>Opening slide. Version 3.0 rebuilds this offering on a configure-before-build principle after Microsoft Agent 365 became generally available on 1 May 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Version 2 proposed building our own agent registry. Microsoft has since shipped Agent 365, so the honest position is: configure Microsoft’s control plane first, then add what it lacks, mainly usage evidence and a cross-layer stop path that we prove before we sell it.</a:t>
            </a:r>
          </a:p>
          <a:p/>
          <a:p>
            <a:r>
              <a:t>Likely question: What do customers need to buy from Microsoft?</a:t>
            </a:r>
          </a:p>
          <a:p>
            <a:r>
              <a:t>Answer: Agent 365 at 15 dollars per user per month, or Microsoft 365 E7 which includes it. Basic inventory is included with any Microsoft cloud subscription. We check this in the assessment.</a:t>
            </a:r>
          </a:p>
          <a:p/>
          <a:p>
            <a:r>
              <a:t>DETAIL AND CAVEATS</a:t>
            </a:r>
          </a:p>
          <a:p>
            <a:r>
              <a:t>Answers demand, outcome and decision questions. Agent 365 facts: Microsoft Security blog, 1 May 2026.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things changed this year. Microsoft shipped a real agent control plane, and its own documentation confirms stopping an agent does not end work already running. That combination creates demand for configuration plus a tested stop path.</a:t>
            </a:r>
          </a:p>
          <a:p/>
          <a:p>
            <a:r>
              <a:t>Likely question: Is there market evidence?</a:t>
            </a:r>
          </a:p>
          <a:p>
            <a:r>
              <a:t>Answer: These are sourced product and regulatory facts, not demand statistics. The validation asks account teams for three qualified candidates.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EU AI Act Update: Digital Omnibus finalises compliance changes (Orrick, 29 Jul 2026):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governance sits between the gateway and managed operations. Copilot Studio agents are now in scope as a covered runtime, governed through Agent 365; Microsoft 365 Copilot itself stays with our M365 and D365 teams.</a:t>
            </a:r>
          </a:p>
          <a:p/>
          <a:p>
            <a:r>
              <a:t>Likely question: Who administers Copilot Studio?</a:t>
            </a:r>
          </a:p>
          <a:p>
            <a:r>
              <a:t>Answer: The Power Platform team keeps environment administration. We bring its agents into the catalogue, containment and cost views.</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configure and integrate; we do not own agent behaviour or security operations. Note the Power Platform team keeps Copilot Studio administration.</a:t>
            </a:r>
          </a:p>
          <a:p/>
          <a:p>
            <a:r>
              <a:t>Likely question: What if the customer has no Agent 365 licence?</a:t>
            </a:r>
          </a:p>
          <a:p>
            <a:r>
              <a:t>Answer: Then the custom gap layer carries more of the catalogue, and the assessment shows the cost trade-off of licensing versus building.</a:t>
            </a:r>
          </a:p>
          <a:p/>
          <a:p>
            <a:r>
              <a:t>DETAIL AND CAVEATS</a:t>
            </a:r>
          </a:p>
          <a:p>
            <a:r>
              <a:t>Coverage depends on Agent 365 licensing, supported runtimes and telemetry.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bottom-up. The runtimes are where agents live, including Copilot Studio. Layer one is Microsoft’s control plane: Agent 365, the Foundry Control Plane, Entra agent identities, Defender and Purview. Layer two is the runtime evidence. Only layer three, in purple, is what we build: reconciliation, the usage catalogue and the containment orchestrator.</a:t>
            </a:r>
          </a:p>
          <a:p/>
          <a:p>
            <a:r>
              <a:t>Likely question: Why still build layer three?</a:t>
            </a:r>
          </a:p>
          <a:p>
            <a:r>
              <a:t>Answer: Because the native tools do not join deployment records to usage evidence across all runtimes, and none claims a cross-layer stop with verification. We prove that in the proof of concept.</a:t>
            </a:r>
          </a:p>
          <a:p/>
          <a:p>
            <a:r>
              <a:t>DETAIL AND CAVEATS</a:t>
            </a:r>
          </a:p>
          <a:p>
            <a:r>
              <a:t>Layered architecture. Runtimes: Copilot Studio agents, Foundry agents, customer-hosted agents (Container Apps or AKS), Logic Apps agent loops, and AWS Bedrock or Google agents through Agent 365 registry sync (preview). Layer 1, native Microsoft control plane: Agent 365 (registry, policies; lifecycle actions announced), Foundry Control Plane (supported agents, runs, errors, tokens), Entra Agent ID and Conditional Access for agents, Defender and Purview. Layer 2, evidence: Application Insights, Log Analytics, Resource Graph and deployment pipelines. Layer 3, CIS Infra custom gap layer: reconciliation job, registry, catalogue workbook and the containment orchestrator. Agent 365 and Entra Agent ID licensing per Microsoft and third-party sources; verify per customer.</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Entra Agent ID change tracker (third party, entradiff.merill.net): https://entradiff.merill.net/products/agent-id/</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is what Microsoft provides once licensed and configured. Right is what we still add. The rule for every customer: if a native feature covers it, we configure it; we only build the right-hand column.</a:t>
            </a:r>
          </a:p>
          <a:p/>
          <a:p>
            <a:r>
              <a:t>Likely question: Will the right-hand column shrink over time?</a:t>
            </a:r>
          </a:p>
          <a:p>
            <a:r>
              <a:t>Answer: Yes, as Microsoft adds lifecycle actions. That is why we keep the custom layer thin and replaceable.</a:t>
            </a:r>
          </a:p>
          <a:p/>
          <a:p>
            <a:r>
              <a:t>DETAIL AND CAVEATS</a:t>
            </a:r>
          </a:p>
          <a:p>
            <a:r>
              <a:t>Build-versus-buy summary. Agent 365: GA 1 May 2026; registry covers Microsoft, Copilot Studio, Foundry and partner agents; AWS and Google registry sync preview; lifecycle start, stop and delete announced as coming. Foundry Control Plane: inventory of supported agents with last-month runs, errors and tokens; Stop does not terminate existing runs. Entra Conditional Access for agents: licensing tied to Agent 365 (third-party tracker; verify). Custom gap layer exists only where these do not reach.</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Entra Agent ID change tracker (third party, entradiff.merill.net): https://entradiff.merill.net/products/agent-id/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Five packages, sold in sequence. Most customers start with the assessment and the configuration package. The proof of concept is a gate: we do not sell the containment build until it passes.</a:t>
            </a:r>
          </a:p>
          <a:p/>
          <a:p>
            <a:r>
              <a:t>Likely question: Why so wide?</a:t>
            </a:r>
          </a:p>
          <a:p>
            <a:r>
              <a:t>Answer: Number of runtimes and clouds, licence position and telemetry quality drive the range.</a:t>
            </a:r>
          </a:p>
          <a:p/>
          <a:p>
            <a:r>
              <a:t>DETAIL AND CAVEATS</a:t>
            </a:r>
          </a:p>
          <a:p>
            <a:r>
              <a:t>Ranges across CIS Infra, AI, Security and DevOps.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biggest risk is promising a stop we have not tested, which is why the proof of concept is a gate.</a:t>
            </a:r>
          </a:p>
          <a:p/>
          <a:p>
            <a:r>
              <a:t>DETAIL AND CAVEATS</a:t>
            </a:r>
          </a:p>
          <a:p>
            <a:r>
              <a:t>Top risks. Measured stop time, not assumed stop time, sets any target.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Success is measurable and witnessable. Today we need the design rule, funding for the proof of concept, and clarity on who may stop an agent.</a:t>
            </a:r>
          </a:p>
          <a:p/>
          <a:p>
            <a:r>
              <a:t>DETAIL AND CAVEATS</a:t>
            </a:r>
          </a:p>
          <a:p>
            <a:r>
              <a:t>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catalogue sorts every agent into one of six states. The key rule: missing telemetry is its own state and never counts as dormant, so we never delete a live agent by mistake.</a:t>
            </a:r>
          </a:p>
          <a:p/>
          <a:p>
            <a:r>
              <a:t>Likely question: Who decides to retire an agent?</a:t>
            </a:r>
          </a:p>
          <a:p>
            <a:r>
              <a:t>Answer: The business owner, after review. Never automatic.</a:t>
            </a:r>
          </a:p>
          <a:p/>
          <a:p>
            <a:r>
              <a:t>DETAIL AND CAVEATS</a:t>
            </a:r>
          </a:p>
          <a:p>
            <a:r>
              <a:t>Classification separates deployment inventory from runtime evidence. The 30-day threshold is a suggested policy, not a Microsoft default; seasonal and standby agents need exceptions. Health probes are excluded from business usage. Never auto-delete on zero sampled telemetry. Orphaned means the record has no valid owner or the hosting resource no longer maps to a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"Custom gap layer: detailed reference architecture". 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DETAIL AND CAVEATS</a:t>
            </a:r>
          </a:p>
          <a:p>
            <a:r>
              <a:t>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Microsoft Agent 365 now generally available (Microsoft Security blog, 1 May 2026): https://www.microsoft.com/en-us/security/blog/2026/05/01/microsoft-agent-365-now-generally-available-expands-capabilities-and-integrations/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"How each source contributes, and where it stops". Native behaviour verified against Microsoft Learn (Foundry Control Plane manage agents, updated 2026-07-15). Inventory columns cover the last month. Metrics and traces are collected only after observability is configured, with up to 15 minutes propagation.</a:t>
            </a:r>
          </a:p>
          <a:p/>
          <a:p>
            <a:r>
              <a:t>DETAIL AND CAVEATS</a:t>
            </a:r>
          </a:p>
          <a:p>
            <a:r>
              <a:t>Native behaviour verified against Microsoft Learn (Foundry Control Plane manage agents, updated 2026-07-15). Inventory columns cover the last month. Metrics and traces are collected only after observability is configured, with up to 15 minutes propagation.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"Minimum catalogue record for each agent". Maintain this record at deployment. Extend native inventory with a controlled register only where fields or coverage are missing. An API or tool catalogue (for example Azure API Center) and the operational agent catalogue serve different purposes.</a:t>
            </a:r>
          </a:p>
          <a:p/>
          <a:p>
            <a:r>
              <a:t>DETAIL AND CAVEATS</a:t>
            </a:r>
          </a:p>
          <a:p>
            <a:r>
              <a:t>Maintain this record at deployment. Extend native inventory with a controlled register only where fields or coverage are missing. An API or tool catalogue (for example Azure API Center) and the operational agent catalogue serve different purposes.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"Inventory and runtime evidence answer different things". Do not equate no telemetry with unused. Inventory says what exists and who owns it. Runtime evidence says what ran, when and at what cost.</a:t>
            </a:r>
          </a:p>
          <a:p/>
          <a:p>
            <a:r>
              <a:t>DETAIL AND CAVEATS</a:t>
            </a:r>
          </a:p>
          <a:p>
            <a:r>
              <a:t>Do not equate no telemetry with unused. Inventory says what exists and who owns it. Runtime evidence says what ran, when and at what cost. Both are needed to classify.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"Usage classification rules". Thresholds are suggestions for customer policy, not Microsoft defaults. Exclude health probes and synthetic monitoring from business usage. Seasonal, standby and break-glass agents carry an exception with a review date.</a:t>
            </a:r>
          </a:p>
          <a:p/>
          <a:p>
            <a:r>
              <a:t>DETAIL AND CAVEATS</a:t>
            </a:r>
          </a:p>
          <a:p>
            <a:r>
              <a:t>Thresholds are suggestions for customer policy, not Microsoft defaults. Exclude health probes and synthetic monitoring from business usage. Seasonal, standby and break-glass agents carry an exception with a review date.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"Inventory coverage by agent type". Version 3.0: Copilot Studio agents are now covered through Agent 365 (GA 1 May 2026) and Purview DSPM; AWS and Google via registry sync (preview). Native coverage verified on Microsoft Learn and the Microsoft Security blog. Custom integration means the agent can be brought in through registration and instrumentation built in this offering.</a:t>
            </a:r>
          </a:p>
          <a:p/>
          <a:p>
            <a:r>
              <a:t>DETAIL AND CAVEATS</a:t>
            </a:r>
          </a:p>
          <a:p>
            <a:r>
              <a:t>Version 3.0: Copilot Studio agents are now covered through Agent 365 (GA 1 May 2026) and Purview DSPM; AWS and Google via registry sync (preview). Native coverage verified on Microsoft Learn and the Microsoft Security blog. Custom integration means the agent can be brought in through registration and instrumentation built in this offering. Outside coverage means the offering cannot see the agent until it is onboarded; the catalogue reports it as a known gap only if someone declares it.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"Agent estate view: what the workbook shows". ILLUSTRATIVE MOCK-UP with invented sample agents and counts. Not customer evidence. Deployed and observed counts are shown separately.</a:t>
            </a:r>
          </a:p>
          <a:p/>
          <a:p>
            <a:r>
              <a:t>DETAIL AND CAVEATS</a:t>
            </a:r>
          </a:p>
          <a:p>
            <a:r>
              <a:t>ILLUSTRATIVE MOCK-UP with invented sample agents and counts. Not customer evidence. Deployed and observed counts are shown separately. Each row links to traces, owner, tools, access and containment record in the real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this left to right. Requests pass through four enforcement points: block new requests at the gateway, stop running work in the runtime, deny model and tool calls on the way out, and block the agent identity. The purple box underneath is a separate, locked-down control plane that an authorised person or an alert can trigger.</a:t>
            </a:r>
          </a:p>
          <a:p/>
          <a:p>
            <a:r>
              <a:t>Likely question: Is this a Microsoft product?</a:t>
            </a:r>
          </a:p>
          <a:p>
            <a:r>
              <a:t>Answer: No. It is our proposed design built from Azure services. Microsoft provides pieces such as Foundry Stop and Agent 365, but no single universal stop button.</a:t>
            </a:r>
          </a:p>
          <a:p/>
          <a:p>
            <a:r>
              <a:t>DETAIL AND CAVEATS</a:t>
            </a:r>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Stopping an agent is three different jobs: stop new work, stop work in progress, and stop it from doing anything else. Each uses a different mechanism and each has a gap the others cover.</a:t>
            </a:r>
          </a:p>
          <a:p/>
          <a:p>
            <a:r>
              <a:t>Likely question: Why not just revoke its credentials?</a:t>
            </a:r>
          </a:p>
          <a:p>
            <a:r>
              <a:t>Answer: Revocation can take time to propagate and does not end work already running, so it is one layer, not the answer.</a:t>
            </a:r>
          </a:p>
          <a:p/>
          <a:p>
            <a:r>
              <a:t>DETAIL AND CAVEATS</a:t>
            </a:r>
          </a:p>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 candid about these limits; it builds trust with security buyers. The first row is verified Microsoft behaviour: stopping a Foundry agent does not end runs already in progress.</a:t>
            </a:r>
          </a:p>
          <a:p/>
          <a:p>
            <a:r>
              <a:t>Likely question: So can we guarantee a stop within a time?</a:t>
            </a:r>
          </a:p>
          <a:p>
            <a:r>
              <a:t>Answer: Only after the proof of concept measures it, and only for the runtimes tested.</a:t>
            </a:r>
          </a:p>
          <a:p/>
          <a:p>
            <a:r>
              <a:t>DETAIL AND CAVEATS</a:t>
            </a:r>
          </a:p>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tests that must pass before anyone calls this production ready, starting with the bypass test.</a:t>
            </a:r>
          </a:p>
          <a:p/>
          <a:p>
            <a:r>
              <a:t>Likely question: Who signs these off?</a:t>
            </a:r>
          </a:p>
          <a:p>
            <a:r>
              <a:t>Answer: The customer security owner, with evidence from CIS Infra, AI and Security.</a:t>
            </a:r>
          </a:p>
          <a:p/>
          <a:p>
            <a:r>
              <a:t>DETAIL AND CAVEATS</a:t>
            </a:r>
          </a:p>
          <a:p>
            <a:r>
              <a:t>Run with synthetic agents in a non-production environment first, then as a scheduled production drill with business approval. Record timestamps at each step to measure actual stop time; set any target only after measurement.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sell a kill switch on paper. A four to six week proof of concept with synthetic agents measures how fast each layer actually stops work, and that number becomes the target.</a:t>
            </a:r>
          </a:p>
          <a:p/>
          <a:p>
            <a:r>
              <a:t>Likely question: What if the stop time is slow?</a:t>
            </a:r>
          </a:p>
          <a:p>
            <a:r>
              <a:t>Answer: Then we tighten checkpoints, shorten cache times or narrow the fail-closed scope, and we tell the customer the real number.</a:t>
            </a:r>
          </a:p>
          <a:p/>
          <a:p>
            <a:r>
              <a:t>DETAIL AND CAVEATS</a:t>
            </a:r>
          </a:p>
          <a:p>
            <a:r>
              <a:t>The containment design is unproven until this proof of concept runs. Scope: two runtimes (Foundry Agent Service and one customer-hosted runtime on Container Apps), synthetic agents with a tool that writes to a test system, API Management ingress and outbound policies, the orchestrator and registry, Entra Conditional Access for agents where licensed. Effort estimate 25 to 45 role days across CIS Infra, AI and Security; elapsed 4 to 6 weeks. Evidence pack: timestamps per step, measured worst-case stop time per runtime, bypass test results, failure-mode results, restart approval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lifecycle actions differ by agent type". Native behaviour as documented on Microsoft Learn, Foundry Control Plane manage agents (updated 2026-07-15). Custom agents do not gain infrastructure stop controls by registering. Prevent proxy bypass through network and identity design.</a:t>
            </a:r>
          </a:p>
          <a:p/>
          <a:p>
            <a:r>
              <a:t>DETAIL AND CAVEATS</a:t>
            </a:r>
          </a:p>
          <a:p>
            <a:r>
              <a:t>Native behaviour as documented on Microsoft Learn, Foundry Control Plane manage agents (updated 2026-07-15). Custom agents do not gain infrastructure stop controls by registering. Prevent proxy bypass through network and identity design. Deletion is not a routine emergency strategy.</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"Bound the work before a runaway needs detecting". The AI team implements runtime loop budgets and tool validation. Security defines risk classes and permissions. CIS Infra provides isolation and monitoring.</a:t>
            </a:r>
          </a:p>
          <a:p/>
          <a:p>
            <a:r>
              <a:t>DETAIL AND CAVEATS</a:t>
            </a:r>
          </a:p>
          <a:p>
            <a:r>
              <a:t>The AI team implements runtime loop budgets and tool validation. Security defines risk classes and permissions. CIS Infra provides isolation and monitoring. Validate cancellation semantics, retries, queue visibility and safe compensation for completed side effects.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"Where an agentic loop amplifies calls". 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a:t>
            </a:r>
          </a:p>
          <a:p/>
          <a:p>
            <a:r>
              <a:t>DETAIL AND CAVEATS</a:t>
            </a:r>
          </a:p>
          <a:p>
            <a:r>
              <a:t>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 This image does not show an implemented kill switch.</a:t>
            </a:r>
          </a:p>
          <a:p/>
          <a:p>
            <a:r>
              <a:t>Sources (checked 11 Oct 2026):</a:t>
            </a:r>
          </a:p>
          <a:p>
            <a:r>
              <a:t>https://github.com/upendra25312/AI-Foundry-GTM-offering-/blob/main/architectures/14_agentic-rag.png</a:t>
            </a:r>
          </a:p>
          <a:p>
            <a:r>
              <a:t>https://github.com/upendra25312/AI-Foundry-GTM-offering-/blob/main/architectures/07_agentic-rag.vsdx</a:t>
            </a:r>
          </a:p>
          <a:p>
            <a:r>
              <a:t>https://learn.microsoft.com/en-us/azure/architecture/ai-ml/guide/rag/rag-agentic</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"Multi-agent workload: owners and stop points". 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a:t>
            </a:r>
          </a:p>
          <a:p/>
          <a:p>
            <a:r>
              <a:t>DETAIL AND CAVEATS</a:t>
            </a:r>
          </a:p>
          <a:p>
            <a:r>
              <a:t>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 GitHub and Docker in the source are non-Azure tools and are shown as conceptual boxes without Azure icons.</a:t>
            </a:r>
          </a:p>
          <a:p/>
          <a:p>
            <a:r>
              <a:t>Sources (checked 11 Oct 2026):</a:t>
            </a:r>
          </a:p>
          <a:p>
            <a:r>
              <a:t>https://github.com/upendra25312/AI-Foundry-GTM-offering-/blob/main/architectures/15_multiple-agent-workflow-automation.png</a:t>
            </a:r>
          </a:p>
          <a:p>
            <a:r>
              <a:t>https://github.com/upendra25312/AI-Foundry-GTM-offering-/blob/main/architectures/08_multiple-agent-workflow-automation.vsdx</a:t>
            </a:r>
          </a:p>
          <a:p>
            <a:r>
              <a:t>https://learn.microsoft.com/en-us/azure/architecture/ai-ml/idea/multiple-agent-workflow-automation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"Monitor behaviour as well as technical success". Configure Application Insights per project and instrument custom code with OpenTelemetry conventions. Preview monitoring and evaluation features need explicit acceptance. Define business success separately from HTTP success.</a:t>
            </a:r>
          </a:p>
          <a:p/>
          <a:p>
            <a:r>
              <a:t>DETAIL AND CAVEATS</a:t>
            </a:r>
          </a:p>
          <a:p>
            <a:r>
              <a:t>Configure Application Insights per project and instrument custom code with OpenTelemetry conventions. Preview monitoring and evaluation features need explicit acceptance. Define business success separately from HTTP success. Redact sensitive payloads and control trace retention.</a:t>
            </a:r>
          </a:p>
          <a:p/>
          <a:p>
            <a:r>
              <a:t>Sources (checked 11 Oct 2026):</a:t>
            </a:r>
          </a:p>
          <a:p>
            <a:r>
              <a:t>https://learn.microsoft.com/en-us/azure/foundry/observability/how-to/how-to-monitor-agents-dashboard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"Containment runbook sequence". Runbook outline. Preserve audit evidence and isolate the affected agent before broader service impact. Never undo containment automatically when an alert clears.</a:t>
            </a:r>
          </a:p>
          <a:p/>
          <a:p>
            <a:r>
              <a:t>DETAIL AND CAVEATS</a:t>
            </a:r>
          </a:p>
          <a:p>
            <a:r>
              <a:t>Runbook outline. Preserve audit evidence and isolate the affected agent before broader service impact. Never undo containment automatically when an alert clears. Set detection and containment targets only after measuring propagation and runtime behaviour.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"Delivery gates and acceptance evidence". Proposed acceptance criteria. Agree test cases, thresholds and exception authority in the SOW.</a:t>
            </a:r>
          </a:p>
          <a:p/>
          <a:p>
            <a:r>
              <a:t>DETAIL AND CAVEATS</a:t>
            </a:r>
          </a:p>
          <a:p>
            <a:r>
              <a:t>Proposed acceptance criteria.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"Dormant-agent review and retirement". Monthly review cadence (proposed). Retirement removes identities, secrets, endpoints, schedules and hosting resources, then confirms through Resource Graph that nothing remains. Owner approval is required; orphaned agents go to the service owner.</a:t>
            </a:r>
          </a:p>
          <a:p/>
          <a:p>
            <a:r>
              <a:t>DETAIL AND CAVEATS</a:t>
            </a:r>
          </a:p>
          <a:p>
            <a:r>
              <a:t>Monthly review cadence (proposed). Retirement removes identities, secrets, endpoints, schedules and hosting resources, then confirms through Resource Graph that nothing remains. Owner approval is required; orphaned agents go to the service owner.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Walk the customer through each capability and tick configure or build. The aim is the thinnest possible custom layer.</a:t>
            </a:r>
          </a:p>
          <a:p/>
          <a:p>
            <a:r>
              <a:t>DETAIL AND CAVEATS</a:t>
            </a:r>
          </a:p>
          <a:p>
            <a:r>
              <a:t>Capability-by-capability decision. Re-check at each engagement because Microsoft is adding Agent 365 lifecycle actions.</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AI threat protection in Microsoft Defender for Cloud: https://learn.microsoft.com/en-us/azure/defender-for-cloud/ai-threat-protection</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Before we design anything, we check what the customer already licenses. Agent 365 is per user, not per agent, and it also unlocks Entra controls for agents.</a:t>
            </a:r>
          </a:p>
          <a:p/>
          <a:p>
            <a:r>
              <a:t>Likely question: Who gives licensing advice?</a:t>
            </a:r>
          </a:p>
          <a:p>
            <a:r>
              <a:t>Answer: We flag prerequisites; licensing decisions go through the customer’s Microsoft licensing partner and offering 04 for the cost view.</a:t>
            </a:r>
          </a:p>
          <a:p/>
          <a:p>
            <a:r>
              <a:t>DETAIL AND CAVEATS</a:t>
            </a:r>
          </a:p>
          <a:p>
            <a:r>
              <a:t>Licensing facts: Agent 365 $15 per user per month standalone or included in Microsoft 365 E7 (Microsoft Security blog). E7 at $99 per user per month and the qualifying base-licence rule come from SAMexpert (third party, Jun 2026). Entra Conditional Access and ID Protection for agents tied to Agent 365 from Jul to Aug 2026 per a third-party tracker of Microsoft docs. Basic inventory included with Microsoft Cloud subscriptions per SAMexpert. Verify with Microsoft licensing before advice; Cognizant does not resell licences under this offering.</a:t>
            </a:r>
          </a:p>
          <a:p/>
          <a:p>
            <a:r>
              <a:t>Sources (checked 11 Oct 2026):</a:t>
            </a:r>
          </a:p>
          <a:p>
            <a:r>
              <a:t>Microsoft Agent 365 now generally available (Microsoft Security blog, 1 May 2026): https://www.microsoft.com/en-us/security/blog/2026/05/01/microsoft-agent-365-now-generally-available-expands-capabilities-and-integrations/</a:t>
            </a:r>
          </a:p>
          <a:p>
            <a:r>
              <a:t>Agent 365 licensing analysis (SAMexpert, third party, updated 12 Jun 2026): https://samexpert.com/agent-365/</a:t>
            </a:r>
          </a:p>
          <a:p>
            <a:r>
              <a:t>Entra Agent ID change tracker (third party, entradiff.merill.net): https://entradiff.merill.net/products/agent-id/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is where business users build most agents, so leaving it out would leave most of the estate ungoverned. The Power Platform team still owns its environments; we add catalogue, gateway routing, telemetry and containment.</a:t>
            </a:r>
          </a:p>
          <a:p/>
          <a:p>
            <a:r>
              <a:t>DETAIL AND CAVEATS</a:t>
            </a:r>
          </a:p>
          <a:p>
            <a:r>
              <a:t>Copilot Studio is a covered runtime. Environment administration and data loss prevention policies stay with the Power Platform team. CIS Infra brings agents into the catalogue, routes custom connectors to Azure APIs through API Management, wires telemetry and executes containment on Azure-side components. Entra network controls now extend to Copilot Studio agents (Microsoft Security blog).</a:t>
            </a:r>
          </a:p>
          <a:p/>
          <a:p>
            <a:r>
              <a:t>Sources (checked 11 Oct 2026):</a:t>
            </a:r>
          </a:p>
          <a:p>
            <a:r>
              <a:t>Microsoft Agent 365 now generally available (Microsoft Security blog, 1 May 2026): https://www.microsoft.com/en-us/security/blog/2026/05/01/microsoft-agent-365-now-generally-available-expands-capabilities-and-integrations/</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Containment authority and restart approval are customer decisions; Cognizant roles execute and evidence them. If a contracted security service exists, live containment authority may move to that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https://github.com/upendra25312/AI-Foundry-GTM-offering-/blob/main/architectures/15_multiple-agent-workflow-automation.png</a:t>
            </a:r>
          </a:p>
          <a:p>
            <a:r>
              <a:t>Editable Visio: https://github.com/upendra25312/AI-Foundry-GTM-offering-/blob/main/architectures/08_multiple-agent-workflow-automation.vsdx</a:t>
            </a:r>
          </a:p>
          <a:p>
            <a:r>
              <a:t>Microsoft source: https://learn.microsoft.com/en-us/azure/architecture/ai-ml/idea/multiple-agent-workflow-automation</a:t>
            </a:r>
          </a:p>
          <a:p/>
          <a:p>
            <a:r>
              <a:t>Source labels the model GPT-4.1, which retires 2027-04-14; adapted view (A11) uses a generic model deployment.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https://github.com/upendra25312/AI-Foundry-GTM-offering-/blob/main/architectures/14_agentic-rag.png</a:t>
            </a:r>
          </a:p>
          <a:p>
            <a:r>
              <a:t>Editable Visio: https://github.com/upendra25312/AI-Foundry-GTM-offering-/blob/main/architectures/07_agentic-rag.vsdx</a:t>
            </a:r>
          </a:p>
          <a:p>
            <a:r>
              <a:t>Microsoft source: https://learn.microsoft.com/en-us/azure/architecture/ai-ml/guide/rag/rag-agentic</a:t>
            </a:r>
          </a:p>
          <a:p/>
          <a:p>
            <a:r>
              <a:t>Reasoning loop only; it does not show an implemented kill switch.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map agent registrations, runtime, search, storage and network to monitored assets.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image" Target="../media/image11.png"/><Relationship Id="rId11" Type="http://schemas.openxmlformats.org/officeDocument/2006/relationships/image" Target="../media/image14.svg"/><Relationship Id="rId12" Type="http://schemas.openxmlformats.org/officeDocument/2006/relationships/image" Target="../media/image13.png"/><Relationship Id="rId13" Type="http://schemas.openxmlformats.org/officeDocument/2006/relationships/image" Target="../media/image16.svg"/><Relationship Id="rId14" Type="http://schemas.openxmlformats.org/officeDocument/2006/relationships/image" Target="../media/image17.png"/><Relationship Id="rId15" Type="http://schemas.openxmlformats.org/officeDocument/2006/relationships/image" Target="../media/image20.svg"/><Relationship Id="rId16" Type="http://schemas.openxmlformats.org/officeDocument/2006/relationships/image" Target="../media/image19.png"/><Relationship Id="rId17" Type="http://schemas.openxmlformats.org/officeDocument/2006/relationships/image" Target="../media/image22.svg"/><Relationship Id="rId18" Type="http://schemas.openxmlformats.org/officeDocument/2006/relationships/image" Target="../media/image15.png"/><Relationship Id="rId19" Type="http://schemas.openxmlformats.org/officeDocument/2006/relationships/image" Target="../media/image18.svg"/><Relationship Id="rId20" Type="http://schemas.openxmlformats.org/officeDocument/2006/relationships/image" Target="../media/image31.png"/><Relationship Id="rId21" Type="http://schemas.openxmlformats.org/officeDocument/2006/relationships/image" Target="../media/image34.svg"/><Relationship Id="rId22"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33.png"/><Relationship Id="rId5" Type="http://schemas.openxmlformats.org/officeDocument/2006/relationships/image" Target="../media/image36.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1.png"/><Relationship Id="rId13" Type="http://schemas.openxmlformats.org/officeDocument/2006/relationships/image" Target="../media/image44.svg"/><Relationship Id="rId14" Type="http://schemas.openxmlformats.org/officeDocument/2006/relationships/image" Target="../media/image11.png"/><Relationship Id="rId15" Type="http://schemas.openxmlformats.org/officeDocument/2006/relationships/image" Target="../media/image14.svg"/><Relationship Id="rId16" Type="http://schemas.openxmlformats.org/officeDocument/2006/relationships/image" Target="../media/image43.png"/><Relationship Id="rId17" Type="http://schemas.openxmlformats.org/officeDocument/2006/relationships/image" Target="../media/image46.svg"/><Relationship Id="rId18" Type="http://schemas.openxmlformats.org/officeDocument/2006/relationships/image" Target="../media/image27.png"/><Relationship Id="rId19" Type="http://schemas.openxmlformats.org/officeDocument/2006/relationships/image" Target="../media/image30.svg"/><Relationship Id="rId20" Type="http://schemas.openxmlformats.org/officeDocument/2006/relationships/image" Target="../media/image45.png"/><Relationship Id="rId21" Type="http://schemas.openxmlformats.org/officeDocument/2006/relationships/image" Target="../media/image48.svg"/><Relationship Id="rId22" Type="http://schemas.openxmlformats.org/officeDocument/2006/relationships/image" Target="../media/image47.png"/><Relationship Id="rId23" Type="http://schemas.openxmlformats.org/officeDocument/2006/relationships/image" Target="../media/image50.svg"/><Relationship Id="rId24" Type="http://schemas.openxmlformats.org/officeDocument/2006/relationships/image" Target="../media/image13.png"/><Relationship Id="rId25" Type="http://schemas.openxmlformats.org/officeDocument/2006/relationships/image" Target="../media/image16.svg"/><Relationship Id="rId26" Type="http://schemas.openxmlformats.org/officeDocument/2006/relationships/image" Target="../media/image49.png"/><Relationship Id="rId27" Type="http://schemas.openxmlformats.org/officeDocument/2006/relationships/image" Target="../media/image52.svg"/><Relationship Id="rId28" Type="http://schemas.openxmlformats.org/officeDocument/2006/relationships/image" Target="../media/image17.png"/><Relationship Id="rId29" Type="http://schemas.openxmlformats.org/officeDocument/2006/relationships/image" Target="../media/image20.svg"/><Relationship Id="rId30"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45.png"/><Relationship Id="rId9" Type="http://schemas.openxmlformats.org/officeDocument/2006/relationships/image" Target="../media/image48.svg"/><Relationship Id="rId10"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image" Target="../media/image37.png"/><Relationship Id="rId5" Type="http://schemas.openxmlformats.org/officeDocument/2006/relationships/image" Target="../media/image40.svg"/><Relationship Id="rId6" Type="http://schemas.openxmlformats.org/officeDocument/2006/relationships/image" Target="../media/image43.png"/><Relationship Id="rId7" Type="http://schemas.openxmlformats.org/officeDocument/2006/relationships/image" Target="../media/image46.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39.png"/><Relationship Id="rId7" Type="http://schemas.openxmlformats.org/officeDocument/2006/relationships/image" Target="../media/image42.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image" Target="../media/image17.png"/><Relationship Id="rId5" Type="http://schemas.openxmlformats.org/officeDocument/2006/relationships/image" Target="../media/image20.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image" Target="../media/image57.png"/><Relationship Id="rId5" Type="http://schemas.openxmlformats.org/officeDocument/2006/relationships/hyperlink" Target="https://github.com/upendra25312/AI-Foundry-GTM-offering-/blob/main/architectures/15_multiple-agent-workflow-automation.png" TargetMode="External"/><Relationship Id="rId6" Type="http://schemas.openxmlformats.org/officeDocument/2006/relationships/hyperlink" Target="https://learn.microsoft.com/en-us/azure/architecture/ai-ml/idea/multiple-agent-workflow-automation" TargetMode="External"/><Relationship Id="rId7"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image" Target="../media/image59.png"/><Relationship Id="rId5" Type="http://schemas.openxmlformats.org/officeDocument/2006/relationships/hyperlink" Target="https://github.com/upendra25312/AI-Foundry-GTM-offering-/blob/main/architectures/14_agentic-rag.png" TargetMode="External"/><Relationship Id="rId6" Type="http://schemas.openxmlformats.org/officeDocument/2006/relationships/hyperlink" Target="https://learn.microsoft.com/en-us/azure/architecture/ai-ml/guide/rag/rag-agentic" TargetMode="External"/><Relationship Id="rId7"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image" Target="../media/image60.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hyperlink" Target="https://www.microsoft.com/en-us/security/blog/2026/05/01/microsoft-agent-365-now-generally-available-expands-capabilities-and-integrations/" TargetMode="External"/><Relationship Id="rId5" Type="http://schemas.openxmlformats.org/officeDocument/2006/relationships/hyperlink" Target="https://samexpert.com/agent-365/" TargetMode="External"/><Relationship Id="rId6" Type="http://schemas.openxmlformats.org/officeDocument/2006/relationships/hyperlink" Target="https://entradiff.merill.net/products/agent-id/" TargetMode="External"/><Relationship Id="rId7" Type="http://schemas.openxmlformats.org/officeDocument/2006/relationships/hyperlink" Target="https://learn.microsoft.com/en-us/azure/foundry/control-plane/how-to-manage-agents" TargetMode="External"/><Relationship Id="rId8" Type="http://schemas.openxmlformats.org/officeDocument/2006/relationships/hyperlink" Target="https://learn.microsoft.com/en-us/azure/foundry/control-plane/register-custom-agent" TargetMode="External"/><Relationship Id="rId9" Type="http://schemas.openxmlformats.org/officeDocument/2006/relationships/hyperlink" Target="https://learn.microsoft.com/en-us/azure/defender-for-cloud/ai-threat-protection" TargetMode="External"/><Relationship Id="rId10" Type="http://schemas.openxmlformats.org/officeDocument/2006/relationships/hyperlink" Target="https://learn.microsoft.com/en-us/purview/ai-microsoft-purview" TargetMode="External"/><Relationship Id="rId11" Type="http://schemas.openxmlformats.org/officeDocument/2006/relationships/hyperlink" Target="https://www.orrick.com/en/Insights/2026/07/EU-AI-Act-Update-Digital-Omnibus-Finalizes-8-Compliance-Changes" TargetMode="External"/><Relationship Id="rId12" Type="http://schemas.openxmlformats.org/officeDocument/2006/relationships/hyperlink" Target="https://learn.microsoft.com/en-us/azure/architecture/icons/" TargetMode="External"/><Relationship Id="rId13" Type="http://schemas.openxmlformats.org/officeDocument/2006/relationships/hyperlink" Target="https://az-icons.com/" TargetMode="External"/><Relationship Id="rId14" Type="http://schemas.openxmlformats.org/officeDocument/2006/relationships/hyperlink" Target="https://learn.microsoft.com/en-us/azure/foundry/observability/how-to/how-to-monitor-agents-dashboard" TargetMode="External"/><Relationship Id="rId15" Type="http://schemas.openxmlformats.org/officeDocument/2006/relationships/hyperlink" Target="https://learn.microsoft.com/en-us/azure/api-management/send-request-policy" TargetMode="External"/><Relationship Id="rId16" Type="http://schemas.openxmlformats.org/officeDocument/2006/relationships/hyperlink" Target="https://learn.microsoft.com/en-us/azure/api-management/authentication-managed-identity-policy" TargetMode="External"/><Relationship Id="rId17" Type="http://schemas.openxmlformats.org/officeDocument/2006/relationships/hyperlink" Target="https://learn.microsoft.com/en-us/azure/architecture/ai-ml/guide/rag/rag-agentic" TargetMode="External"/><Relationship Id="rId18" Type="http://schemas.openxmlformats.org/officeDocument/2006/relationships/hyperlink" Target="https://learn.microsoft.com/en-us/azure/architecture/ai-ml/idea/multiple-agent-workflow-automation" TargetMode="External"/><Relationship Id="rId19" Type="http://schemas.openxmlformats.org/officeDocument/2006/relationships/hyperlink" Target="https://github.com/upendra25312/AI-Foundry-GTM-offering-/blob/main/CIS_Infra_Azure_AI_Platform_GTM_Proposal_V3.docx" TargetMode="External"/><Relationship Id="rId20"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Agent Governance and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Know every agent, prove how it is used, and stop it safely when needed</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Configure Agent 365 and the Foundry Control Plane first, then build only the gaps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configure the control plane, then fill gaps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325880"/>
          </a:xfrm>
          <a:prstGeom prst="rect">
            <a:avLst/>
          </a:prstGeom>
          <a:noFill/>
        </p:spPr>
        <p:txBody>
          <a:bodyPr wrap="square" lIns="0" rIns="0" tIns="0" bIns="0" anchor="t">
            <a:noAutofit/>
          </a:bodyPr>
          <a:lstStyle/>
          <a:p>
            <a:pPr algn="l"/>
            <a:r>
              <a:rPr sz="2000" b="0" i="0">
                <a:solidFill>
                  <a:srgbClr val="1E1E2E"/>
                </a:solidFill>
                <a:latin typeface="Arial"/>
              </a:rPr>
              <a:t>Agents spread across Copilot Studio, Foundry, custom hosts and other clouds. Few customers can list, own or stop them.</a:t>
            </a:r>
          </a:p>
        </p:txBody>
      </p:sp>
      <p:sp>
        <p:nvSpPr>
          <p:cNvPr id="10" name="TextBox 9"/>
          <p:cNvSpPr txBox="1"/>
          <p:nvPr/>
        </p:nvSpPr>
        <p:spPr>
          <a:xfrm>
            <a:off x="548640" y="2743200"/>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743200"/>
            <a:ext cx="5120640" cy="1325880"/>
          </a:xfrm>
          <a:prstGeom prst="rect">
            <a:avLst/>
          </a:prstGeom>
          <a:noFill/>
        </p:spPr>
        <p:txBody>
          <a:bodyPr wrap="square" lIns="0" rIns="0" tIns="0" bIns="0" anchor="t">
            <a:noAutofit/>
          </a:bodyPr>
          <a:lstStyle/>
          <a:p>
            <a:pPr algn="l"/>
            <a:r>
              <a:rPr sz="2000" b="0" i="0">
                <a:solidFill>
                  <a:srgbClr val="1E1E2E"/>
                </a:solidFill>
                <a:latin typeface="Arial"/>
              </a:rPr>
              <a:t>Configure Agent 365, Foundry Control Plane and Entra agent identities; add usage evidence and a tested stop path where they fall short.</a:t>
            </a:r>
          </a:p>
        </p:txBody>
      </p:sp>
      <p:sp>
        <p:nvSpPr>
          <p:cNvPr id="12" name="TextBox 11"/>
          <p:cNvSpPr txBox="1"/>
          <p:nvPr/>
        </p:nvSpPr>
        <p:spPr>
          <a:xfrm>
            <a:off x="548640" y="4114800"/>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4114800"/>
            <a:ext cx="5120640" cy="1325880"/>
          </a:xfrm>
          <a:prstGeom prst="rect">
            <a:avLst/>
          </a:prstGeom>
          <a:noFill/>
        </p:spPr>
        <p:txBody>
          <a:bodyPr wrap="square" lIns="0" rIns="0" tIns="0" bIns="0" anchor="t">
            <a:noAutofit/>
          </a:bodyPr>
          <a:lstStyle/>
          <a:p>
            <a:pPr algn="l"/>
            <a:r>
              <a:rPr sz="2000" b="0" i="0">
                <a:solidFill>
                  <a:srgbClr val="1E1E2E"/>
                </a:solidFill>
                <a:latin typeface="Arial"/>
              </a:rPr>
              <a:t>Every in-scope agent has an owner, a usage status, a risk class and a rehearsed way to stop it.</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Adopt configure-before-build as the design rule</a:t>
            </a:r>
          </a:p>
          <a:p>
            <a:pPr algn="l" marL="201168" indent="-201168">
              <a:spcAft>
                <a:spcPts val="1000"/>
              </a:spcAft>
              <a:buFont typeface="Arial"/>
              <a:buChar char="•"/>
            </a:pPr>
            <a:r>
              <a:rPr sz="2000" b="0" i="0">
                <a:solidFill>
                  <a:srgbClr val="FFFFFF"/>
                </a:solidFill>
                <a:latin typeface="Arial"/>
              </a:rPr>
              <a:t>Fund a 4 to 6 week kill-switch proof of concept</a:t>
            </a:r>
          </a:p>
          <a:p>
            <a:pPr algn="l" marL="201168" indent="-201168">
              <a:spcAft>
                <a:spcPts val="1000"/>
              </a:spcAft>
              <a:buFont typeface="Arial"/>
              <a:buChar char="•"/>
            </a:pPr>
            <a:r>
              <a:rPr sz="2000" b="0" i="0">
                <a:solidFill>
                  <a:srgbClr val="FFFFFF"/>
                </a:solidFill>
                <a:latin typeface="Arial"/>
              </a:rPr>
              <a:t>Name who may stop and who may restart an agent</a:t>
            </a:r>
          </a:p>
        </p:txBody>
      </p:sp>
      <p:sp>
        <p:nvSpPr>
          <p:cNvPr id="15" name="Rounded Rectangle 14"/>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No universal instant stop and no complete inventory are claimed. Coverage depends on licences, runtimes and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Why now, and who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365 is GA</a:t>
            </a:r>
          </a:p>
          <a:p>
            <a:pPr algn="l">
              <a:spcAft>
                <a:spcPts val="400"/>
              </a:spcAft>
            </a:pPr>
            <a:r>
              <a:rPr sz="1800" b="0" i="0">
                <a:solidFill>
                  <a:srgbClr val="1E1E2E"/>
                </a:solidFill>
                <a:latin typeface="Arial"/>
              </a:rPr>
              <a:t>Since 1 May 2026 Microsoft offers one registry for Copilot Studio, Foundry and partner agents.</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Stop is not instant</a:t>
            </a:r>
          </a:p>
          <a:p>
            <a:pPr algn="l">
              <a:spcAft>
                <a:spcPts val="400"/>
              </a:spcAft>
            </a:pPr>
            <a:r>
              <a:rPr sz="1800" b="0" i="0">
                <a:solidFill>
                  <a:srgbClr val="1E1E2E"/>
                </a:solidFill>
                <a:latin typeface="Arial"/>
              </a:rPr>
              <a:t>Stopping a Foundry agent does not end runs already in progress.</a:t>
            </a:r>
          </a:p>
          <a:p>
            <a:pPr algn="l"/>
            <a:r>
              <a:rPr sz="1200" b="0" i="0">
                <a:solidFill>
                  <a:srgbClr val="53565A"/>
                </a:solidFill>
                <a:latin typeface="Arial"/>
              </a:rPr>
              <a:t>Source: Foundry Control Plane docs, updated 15 Jul 2026</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Audit questions arrive</a:t>
            </a:r>
          </a:p>
          <a:p>
            <a:pPr algn="l">
              <a:spcAft>
                <a:spcPts val="400"/>
              </a:spcAft>
            </a:pPr>
            <a:r>
              <a:rPr sz="1800" b="0" i="0">
                <a:solidFill>
                  <a:srgbClr val="1E1E2E"/>
                </a:solidFill>
                <a:latin typeface="Arial"/>
              </a:rPr>
              <a:t>EU AI Act and internal audit ask for an AI system inventory with owners.</a:t>
            </a:r>
          </a:p>
          <a:p>
            <a:pPr algn="l"/>
            <a:r>
              <a:rPr sz="1200" b="0" i="0">
                <a:solidFill>
                  <a:srgbClr val="53565A"/>
                </a:solidFill>
                <a:latin typeface="Arial"/>
              </a:rPr>
              <a:t>Source: Orrick summary of Reg. (EU) 2026/1744</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AI platform leader with the CISO delegate and IT service owner; internal audit often triggers the budget.</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Agent count growing faster than review; an incident or near miss; an audit request for an AI inventory.</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and the Microsoft ecosystem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26EFE9"/>
                </a:solidFill>
                <a:latin typeface="Arial"/>
              </a:rPr>
              <a:t>02  THIS OFFERING</a:t>
            </a:r>
          </a:p>
          <a:p>
            <a:pPr algn="l"/>
            <a:r>
              <a:rPr sz="1500" b="1" i="0">
                <a:solidFill>
                  <a:srgbClr val="FFFFFF"/>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01 Landing Zone</a:t>
            </a:r>
          </a:p>
          <a:p>
            <a:pPr algn="l"/>
            <a:r>
              <a:rPr sz="1600" b="0" i="0">
                <a:solidFill>
                  <a:srgbClr val="1E1E2E"/>
                </a:solidFill>
                <a:latin typeface="Arial"/>
              </a:rPr>
              <a:t>Identities, private network, telemetry</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03 Gateway</a:t>
            </a:r>
          </a:p>
          <a:p>
            <a:pPr algn="l"/>
            <a:r>
              <a:rPr sz="1600" b="0" i="0">
                <a:solidFill>
                  <a:srgbClr val="1E1E2E"/>
                </a:solidFill>
                <a:latin typeface="Arial"/>
              </a:rPr>
              <a:t>Enforcement points, per-agent token metrics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05 Managed Operations</a:t>
            </a:r>
          </a:p>
          <a:p>
            <a:pPr algn="l"/>
            <a:r>
              <a:rPr sz="1600" b="0" i="0">
                <a:solidFill>
                  <a:srgbClr val="1E1E2E"/>
                </a:solidFill>
                <a:latin typeface="Arial"/>
              </a:rPr>
              <a:t>Catalogue, reviews, containment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CIS Infra provides,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Agent 365 and Foundry setup</a:t>
            </a:r>
          </a:p>
          <a:p>
            <a:pPr algn="l" marL="201168" indent="-201168">
              <a:spcAft>
                <a:spcPts val="800"/>
              </a:spcAft>
              <a:buFont typeface="Arial"/>
              <a:buChar char="•"/>
            </a:pPr>
            <a:r>
              <a:rPr sz="1800" b="0" i="0">
                <a:solidFill>
                  <a:srgbClr val="1E1E2E"/>
                </a:solidFill>
                <a:latin typeface="Arial"/>
              </a:rPr>
              <a:t>Entra agent identity plumbing</a:t>
            </a:r>
          </a:p>
          <a:p>
            <a:pPr algn="l" marL="201168" indent="-201168">
              <a:spcAft>
                <a:spcPts val="800"/>
              </a:spcAft>
              <a:buFont typeface="Arial"/>
              <a:buChar char="•"/>
            </a:pPr>
            <a:r>
              <a:rPr sz="1800" b="0" i="0">
                <a:solidFill>
                  <a:srgbClr val="1E1E2E"/>
                </a:solidFill>
                <a:latin typeface="Arial"/>
              </a:rPr>
              <a:t>Usage evidence and reconciliation</a:t>
            </a:r>
          </a:p>
          <a:p>
            <a:pPr algn="l" marL="201168" indent="-201168">
              <a:spcAft>
                <a:spcPts val="800"/>
              </a:spcAft>
              <a:buFont typeface="Arial"/>
              <a:buChar char="•"/>
            </a:pPr>
            <a:r>
              <a:rPr sz="1800" b="0" i="0">
                <a:solidFill>
                  <a:srgbClr val="1E1E2E"/>
                </a:solidFill>
                <a:latin typeface="Arial"/>
              </a:rPr>
              <a:t>Containment plane and adapters</a:t>
            </a:r>
          </a:p>
          <a:p>
            <a:pPr algn="l" marL="201168" indent="-201168">
              <a:spcAft>
                <a:spcPts val="800"/>
              </a:spcAft>
              <a:buFont typeface="Arial"/>
              <a:buChar char="•"/>
            </a:pPr>
            <a:r>
              <a:rPr sz="1800" b="0" i="0">
                <a:solidFill>
                  <a:srgbClr val="1E1E2E"/>
                </a:solidFill>
                <a:latin typeface="Arial"/>
              </a:rPr>
              <a:t>Runbooks and two drills</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Kill-switch proof of concept</a:t>
            </a:r>
          </a:p>
          <a:p>
            <a:pPr algn="l" marL="201168" indent="-201168">
              <a:spcAft>
                <a:spcPts val="800"/>
              </a:spcAft>
              <a:buFont typeface="Arial"/>
              <a:buChar char="•"/>
            </a:pPr>
            <a:r>
              <a:rPr sz="1800" b="0" i="0">
                <a:solidFill>
                  <a:srgbClr val="1E1E2E"/>
                </a:solidFill>
                <a:latin typeface="Arial"/>
              </a:rPr>
              <a:t>More runtimes or clouds</a:t>
            </a:r>
          </a:p>
          <a:p>
            <a:pPr algn="l" marL="201168" indent="-201168">
              <a:spcAft>
                <a:spcPts val="800"/>
              </a:spcAft>
              <a:buFont typeface="Arial"/>
              <a:buChar char="•"/>
            </a:pPr>
            <a:r>
              <a:rPr sz="1800" b="0" i="0">
                <a:solidFill>
                  <a:srgbClr val="1E1E2E"/>
                </a:solidFill>
                <a:latin typeface="Arial"/>
              </a:rPr>
              <a:t>Gateway enforcement (03)</a:t>
            </a:r>
          </a:p>
          <a:p>
            <a:pPr algn="l" marL="201168" indent="-201168">
              <a:spcAft>
                <a:spcPts val="800"/>
              </a:spcAft>
              <a:buFont typeface="Arial"/>
              <a:buChar char="•"/>
            </a:pPr>
            <a:r>
              <a:rPr sz="1800" b="0" i="0">
                <a:solidFill>
                  <a:srgbClr val="1E1E2E"/>
                </a:solidFill>
                <a:latin typeface="Arial"/>
              </a:rPr>
              <a:t>Operation (offering 05)</a:t>
            </a:r>
          </a:p>
          <a:p>
            <a:pPr algn="l" marL="201168" indent="-201168">
              <a:spcAft>
                <a:spcPts val="800"/>
              </a:spcAft>
              <a:buFont typeface="Arial"/>
              <a:buChar char="•"/>
            </a:pPr>
            <a:r>
              <a:rPr sz="1800" b="0" i="0">
                <a:solidFill>
                  <a:srgbClr val="1E1E2E"/>
                </a:solidFill>
                <a:latin typeface="Arial"/>
              </a:rPr>
              <a:t>Licence advisory (offering 04)</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AI: runtime limits, evaluations</a:t>
            </a:r>
          </a:p>
          <a:p>
            <a:pPr algn="l" marL="201168" indent="-201168">
              <a:spcAft>
                <a:spcPts val="800"/>
              </a:spcAft>
              <a:buFont typeface="Arial"/>
              <a:buChar char="•"/>
            </a:pPr>
            <a:r>
              <a:rPr sz="1800" b="0" i="0">
                <a:solidFill>
                  <a:srgbClr val="1E1E2E"/>
                </a:solidFill>
                <a:latin typeface="Arial"/>
              </a:rPr>
              <a:t>Security: policy, authority</a:t>
            </a:r>
          </a:p>
          <a:p>
            <a:pPr algn="l" marL="201168" indent="-201168">
              <a:spcAft>
                <a:spcPts val="800"/>
              </a:spcAft>
              <a:buFont typeface="Arial"/>
              <a:buChar char="•"/>
            </a:pPr>
            <a:r>
              <a:rPr sz="1800" b="0" i="0">
                <a:solidFill>
                  <a:srgbClr val="1E1E2E"/>
                </a:solidFill>
                <a:latin typeface="Arial"/>
              </a:rPr>
              <a:t>Power Platform: Copilot Studio admin</a:t>
            </a:r>
          </a:p>
          <a:p>
            <a:pPr algn="l" marL="201168" indent="-201168">
              <a:spcAft>
                <a:spcPts val="800"/>
              </a:spcAft>
              <a:buFont typeface="Arial"/>
              <a:buChar char="•"/>
            </a:pPr>
            <a:r>
              <a:rPr sz="1800" b="0" i="0">
                <a:solidFill>
                  <a:srgbClr val="1E1E2E"/>
                </a:solidFill>
                <a:latin typeface="Arial"/>
              </a:rPr>
              <a:t>DevOps: deployment registration</a:t>
            </a:r>
          </a:p>
          <a:p>
            <a:pPr algn="l" marL="201168" indent="-201168">
              <a:spcAft>
                <a:spcPts val="800"/>
              </a:spcAft>
              <a:buFont typeface="Arial"/>
              <a:buChar char="•"/>
            </a:pPr>
            <a:r>
              <a:rPr sz="1800" b="0" i="0">
                <a:solidFill>
                  <a:srgbClr val="1E1E2E"/>
                </a:solidFill>
                <a:latin typeface="Arial"/>
              </a:rPr>
              <a:t>Customer: restart approval</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Agents outside supported platforms and licences stay invisible until registered and instrumented.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native first, custom only for gaps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11384280" cy="1325880"/>
          </a:xfrm>
          <a:prstGeom prst="roundRect">
            <a:avLst>
              <a:gd name="adj" fmla="val 6896"/>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11164824" cy="237744"/>
          </a:xfrm>
          <a:prstGeom prst="rect">
            <a:avLst/>
          </a:prstGeom>
          <a:noFill/>
        </p:spPr>
        <p:txBody>
          <a:bodyPr wrap="square" lIns="0" rIns="0" tIns="0" bIns="0" anchor="t">
            <a:noAutofit/>
          </a:bodyPr>
          <a:lstStyle/>
          <a:p>
            <a:pPr algn="l"/>
            <a:r>
              <a:rPr sz="1100" b="1" i="0">
                <a:solidFill>
                  <a:srgbClr val="4B4BA8"/>
                </a:solidFill>
                <a:latin typeface="Arial"/>
              </a:rPr>
              <a:t>LAYER 3: CIS INFRA CUSTOM GAP LAYER</a:t>
            </a:r>
          </a:p>
        </p:txBody>
      </p:sp>
      <p:sp>
        <p:nvSpPr>
          <p:cNvPr id="10" name="Rounded Rectangle 9"/>
          <p:cNvSpPr/>
          <p:nvPr/>
        </p:nvSpPr>
        <p:spPr>
          <a:xfrm>
            <a:off x="548640"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1"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88236"/>
            <a:ext cx="384048" cy="384048"/>
          </a:xfrm>
          <a:prstGeom prst="rect">
            <a:avLst/>
          </a:prstGeom>
        </p:spPr>
      </p:pic>
      <p:sp>
        <p:nvSpPr>
          <p:cNvPr id="12" name="TextBox 11"/>
          <p:cNvSpPr txBox="1"/>
          <p:nvPr/>
        </p:nvSpPr>
        <p:spPr>
          <a:xfrm>
            <a:off x="1078992"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Reconciliation</a:t>
            </a:r>
          </a:p>
          <a:p>
            <a:pPr algn="l"/>
            <a:r>
              <a:rPr sz="1100" b="0" i="0">
                <a:solidFill>
                  <a:srgbClr val="53565A"/>
                </a:solidFill>
                <a:latin typeface="Arial"/>
              </a:rPr>
              <a:t>joins inventory to usage</a:t>
            </a:r>
          </a:p>
        </p:txBody>
      </p:sp>
      <p:sp>
        <p:nvSpPr>
          <p:cNvPr id="13" name="Rounded Rectangle 12"/>
          <p:cNvSpPr/>
          <p:nvPr/>
        </p:nvSpPr>
        <p:spPr>
          <a:xfrm>
            <a:off x="3355848"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zure Cosmos DB" descr="Official Azure icon: Azure Cosmos D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29000" y="1888236"/>
            <a:ext cx="384048" cy="384048"/>
          </a:xfrm>
          <a:prstGeom prst="rect">
            <a:avLst/>
          </a:prstGeom>
        </p:spPr>
      </p:pic>
      <p:sp>
        <p:nvSpPr>
          <p:cNvPr id="15" name="TextBox 14"/>
          <p:cNvSpPr txBox="1"/>
          <p:nvPr/>
        </p:nvSpPr>
        <p:spPr>
          <a:xfrm>
            <a:off x="3886200"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Usage catalogue</a:t>
            </a:r>
          </a:p>
          <a:p>
            <a:pPr algn="l"/>
            <a:r>
              <a:rPr sz="1100" b="0" i="0">
                <a:solidFill>
                  <a:srgbClr val="53565A"/>
                </a:solidFill>
                <a:latin typeface="Arial"/>
              </a:rPr>
              <a:t>status, owner, risk</a:t>
            </a:r>
          </a:p>
        </p:txBody>
      </p:sp>
      <p:sp>
        <p:nvSpPr>
          <p:cNvPr id="16" name="Rounded Rectangle 15"/>
          <p:cNvSpPr/>
          <p:nvPr/>
        </p:nvSpPr>
        <p:spPr>
          <a:xfrm>
            <a:off x="6163055"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Azure Workbooks" descr="Official Azure icon: Azure Workboo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36207" y="1888236"/>
            <a:ext cx="384048" cy="384048"/>
          </a:xfrm>
          <a:prstGeom prst="rect">
            <a:avLst/>
          </a:prstGeom>
        </p:spPr>
      </p:pic>
      <p:sp>
        <p:nvSpPr>
          <p:cNvPr id="18" name="TextBox 17"/>
          <p:cNvSpPr txBox="1"/>
          <p:nvPr/>
        </p:nvSpPr>
        <p:spPr>
          <a:xfrm>
            <a:off x="6693407"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Workbook views</a:t>
            </a:r>
          </a:p>
          <a:p>
            <a:pPr algn="l"/>
            <a:r>
              <a:rPr sz="1100" b="0" i="0">
                <a:solidFill>
                  <a:srgbClr val="53565A"/>
                </a:solidFill>
                <a:latin typeface="Arial"/>
              </a:rPr>
              <a:t>reviews and queues</a:t>
            </a:r>
          </a:p>
        </p:txBody>
      </p:sp>
      <p:sp>
        <p:nvSpPr>
          <p:cNvPr id="19" name="Rounded Rectangle 18"/>
          <p:cNvSpPr/>
          <p:nvPr/>
        </p:nvSpPr>
        <p:spPr>
          <a:xfrm>
            <a:off x="8970263"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43415" y="1888236"/>
            <a:ext cx="384048" cy="384048"/>
          </a:xfrm>
          <a:prstGeom prst="rect">
            <a:avLst/>
          </a:prstGeom>
        </p:spPr>
      </p:pic>
      <p:sp>
        <p:nvSpPr>
          <p:cNvPr id="21" name="TextBox 20"/>
          <p:cNvSpPr txBox="1"/>
          <p:nvPr/>
        </p:nvSpPr>
        <p:spPr>
          <a:xfrm>
            <a:off x="9500615"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Containment orchestrator</a:t>
            </a:r>
          </a:p>
          <a:p>
            <a:pPr algn="l"/>
            <a:r>
              <a:rPr sz="1100" b="0" i="0">
                <a:solidFill>
                  <a:srgbClr val="53565A"/>
                </a:solidFill>
                <a:latin typeface="Arial"/>
              </a:rPr>
              <a:t>block, cancel, deny, verify</a:t>
            </a:r>
          </a:p>
        </p:txBody>
      </p:sp>
      <p:sp>
        <p:nvSpPr>
          <p:cNvPr id="22" name="Rounded Rectangle 21"/>
          <p:cNvSpPr/>
          <p:nvPr/>
        </p:nvSpPr>
        <p:spPr>
          <a:xfrm>
            <a:off x="411480" y="2788920"/>
            <a:ext cx="11384280" cy="1325880"/>
          </a:xfrm>
          <a:prstGeom prst="roundRect">
            <a:avLst>
              <a:gd name="adj" fmla="val 689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1208" y="2843784"/>
            <a:ext cx="11164824" cy="237744"/>
          </a:xfrm>
          <a:prstGeom prst="rect">
            <a:avLst/>
          </a:prstGeom>
          <a:noFill/>
        </p:spPr>
        <p:txBody>
          <a:bodyPr wrap="square" lIns="0" rIns="0" tIns="0" bIns="0" anchor="t">
            <a:noAutofit/>
          </a:bodyPr>
          <a:lstStyle/>
          <a:p>
            <a:pPr algn="l"/>
            <a:r>
              <a:rPr sz="1100" b="1" i="0">
                <a:solidFill>
                  <a:srgbClr val="000048"/>
                </a:solidFill>
                <a:latin typeface="Arial"/>
              </a:rPr>
              <a:t>LAYER 2: RUNTIME EVIDENCE (NATIVE SERVICES)</a:t>
            </a:r>
          </a:p>
        </p:txBody>
      </p:sp>
      <p:pic>
        <p:nvPicPr>
          <p:cNvPr id="24" name="Azure icon: Application Insights" descr="Official Azure icon: Application Insigh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351276"/>
            <a:ext cx="384048" cy="384048"/>
          </a:xfrm>
          <a:prstGeom prst="rect">
            <a:avLst/>
          </a:prstGeom>
        </p:spPr>
      </p:pic>
      <p:sp>
        <p:nvSpPr>
          <p:cNvPr id="25" name="TextBox 24"/>
          <p:cNvSpPr txBox="1"/>
          <p:nvPr/>
        </p:nvSpPr>
        <p:spPr>
          <a:xfrm>
            <a:off x="1078992"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Application Insights</a:t>
            </a:r>
          </a:p>
          <a:p>
            <a:pPr algn="l"/>
            <a:r>
              <a:rPr sz="1100" b="0" i="0">
                <a:solidFill>
                  <a:srgbClr val="53565A"/>
                </a:solidFill>
                <a:latin typeface="Arial"/>
              </a:rPr>
              <a:t>runs, traces, tokens</a:t>
            </a:r>
          </a:p>
        </p:txBody>
      </p:sp>
      <p:pic>
        <p:nvPicPr>
          <p:cNvPr id="26" name="Azure icon: Log Analytics workspace" descr="Official Azure icon: Log Analytics workspa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429000" y="3351276"/>
            <a:ext cx="384048" cy="384048"/>
          </a:xfrm>
          <a:prstGeom prst="rect">
            <a:avLst/>
          </a:prstGeom>
        </p:spPr>
      </p:pic>
      <p:sp>
        <p:nvSpPr>
          <p:cNvPr id="27" name="TextBox 26"/>
          <p:cNvSpPr txBox="1"/>
          <p:nvPr/>
        </p:nvSpPr>
        <p:spPr>
          <a:xfrm>
            <a:off x="3886200"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Log Analytics</a:t>
            </a:r>
          </a:p>
          <a:p>
            <a:pPr algn="l"/>
            <a:r>
              <a:rPr sz="1100" b="0" i="0">
                <a:solidFill>
                  <a:srgbClr val="53565A"/>
                </a:solidFill>
                <a:latin typeface="Arial"/>
              </a:rPr>
              <a:t>gateway and platform logs</a:t>
            </a:r>
          </a:p>
        </p:txBody>
      </p:sp>
      <p:pic>
        <p:nvPicPr>
          <p:cNvPr id="28" name="Azure icon: Resource Graph Explorer" descr="Official Azure icon: Resource Graph Explore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36207" y="3351276"/>
            <a:ext cx="384048" cy="384048"/>
          </a:xfrm>
          <a:prstGeom prst="rect">
            <a:avLst/>
          </a:prstGeom>
        </p:spPr>
      </p:pic>
      <p:sp>
        <p:nvSpPr>
          <p:cNvPr id="29" name="TextBox 28"/>
          <p:cNvSpPr txBox="1"/>
          <p:nvPr/>
        </p:nvSpPr>
        <p:spPr>
          <a:xfrm>
            <a:off x="6693407"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Resource Graph</a:t>
            </a:r>
          </a:p>
          <a:p>
            <a:pPr algn="l"/>
            <a:r>
              <a:rPr sz="1100" b="0" i="0">
                <a:solidFill>
                  <a:srgbClr val="53565A"/>
                </a:solidFill>
                <a:latin typeface="Arial"/>
              </a:rPr>
              <a:t>hosting resources, tags</a:t>
            </a:r>
          </a:p>
        </p:txBody>
      </p:sp>
      <p:pic>
        <p:nvPicPr>
          <p:cNvPr id="30" name="Azure icon: Azure DevOps" descr="Official Azure icon: Azure DevOp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043415" y="3351276"/>
            <a:ext cx="384048" cy="384048"/>
          </a:xfrm>
          <a:prstGeom prst="rect">
            <a:avLst/>
          </a:prstGeom>
        </p:spPr>
      </p:pic>
      <p:sp>
        <p:nvSpPr>
          <p:cNvPr id="31" name="TextBox 30"/>
          <p:cNvSpPr txBox="1"/>
          <p:nvPr/>
        </p:nvSpPr>
        <p:spPr>
          <a:xfrm>
            <a:off x="9500615"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Deployment pipelines</a:t>
            </a:r>
          </a:p>
          <a:p>
            <a:pPr algn="l"/>
            <a:r>
              <a:rPr sz="1100" b="0" i="0">
                <a:solidFill>
                  <a:srgbClr val="53565A"/>
                </a:solidFill>
                <a:latin typeface="Arial"/>
              </a:rPr>
              <a:t>agent ID, version, owner</a:t>
            </a:r>
          </a:p>
        </p:txBody>
      </p:sp>
      <p:sp>
        <p:nvSpPr>
          <p:cNvPr id="32" name="Rounded Rectangle 31"/>
          <p:cNvSpPr/>
          <p:nvPr/>
        </p:nvSpPr>
        <p:spPr>
          <a:xfrm>
            <a:off x="411480" y="4251960"/>
            <a:ext cx="11384280" cy="1325880"/>
          </a:xfrm>
          <a:prstGeom prst="roundRect">
            <a:avLst>
              <a:gd name="adj" fmla="val 6896"/>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21208" y="4306824"/>
            <a:ext cx="11164824" cy="237744"/>
          </a:xfrm>
          <a:prstGeom prst="rect">
            <a:avLst/>
          </a:prstGeom>
          <a:noFill/>
        </p:spPr>
        <p:txBody>
          <a:bodyPr wrap="square" lIns="0" rIns="0" tIns="0" bIns="0" anchor="t">
            <a:noAutofit/>
          </a:bodyPr>
          <a:lstStyle/>
          <a:p>
            <a:pPr algn="l"/>
            <a:r>
              <a:rPr sz="1100" b="1" i="0">
                <a:solidFill>
                  <a:srgbClr val="000048"/>
                </a:solidFill>
                <a:latin typeface="Arial"/>
              </a:rPr>
              <a:t>LAYER 1: MICROSOFT CONTROL PLANE (CONFIGURE FIRST)</a:t>
            </a:r>
          </a:p>
        </p:txBody>
      </p:sp>
      <p:sp>
        <p:nvSpPr>
          <p:cNvPr id="34" name="Rounded Rectangle 33"/>
          <p:cNvSpPr/>
          <p:nvPr/>
        </p:nvSpPr>
        <p:spPr>
          <a:xfrm>
            <a:off x="548640" y="4617720"/>
            <a:ext cx="2194560" cy="822960"/>
          </a:xfrm>
          <a:prstGeom prst="roundRect">
            <a:avLst>
              <a:gd name="adj" fmla="val 8888"/>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Agent 365</a:t>
            </a:r>
          </a:p>
          <a:p>
            <a:pPr algn="ctr"/>
            <a:r>
              <a:rPr sz="1100" b="0" i="0">
                <a:solidFill>
                  <a:srgbClr val="53565A"/>
                </a:solidFill>
                <a:latin typeface="Arial"/>
              </a:rPr>
              <a:t>registry and policy</a:t>
            </a:r>
          </a:p>
        </p:txBody>
      </p:sp>
      <p:pic>
        <p:nvPicPr>
          <p:cNvPr id="35" name="Azure icon: Foundry Control Plane" descr="Official Azure icon: Foundry Control Plane"/>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953512" y="4814316"/>
            <a:ext cx="384048" cy="384048"/>
          </a:xfrm>
          <a:prstGeom prst="rect">
            <a:avLst/>
          </a:prstGeom>
        </p:spPr>
      </p:pic>
      <p:sp>
        <p:nvSpPr>
          <p:cNvPr id="36" name="TextBox 35"/>
          <p:cNvSpPr txBox="1"/>
          <p:nvPr/>
        </p:nvSpPr>
        <p:spPr>
          <a:xfrm>
            <a:off x="3410712" y="4654296"/>
            <a:ext cx="2039112" cy="704088"/>
          </a:xfrm>
          <a:prstGeom prst="rect">
            <a:avLst/>
          </a:prstGeom>
          <a:noFill/>
        </p:spPr>
        <p:txBody>
          <a:bodyPr wrap="square" lIns="0" rIns="0" tIns="0" bIns="0" anchor="ctr">
            <a:noAutofit/>
          </a:bodyPr>
          <a:lstStyle/>
          <a:p>
            <a:pPr algn="l"/>
            <a:r>
              <a:rPr sz="1400" b="1" i="0">
                <a:solidFill>
                  <a:srgbClr val="000048"/>
                </a:solidFill>
                <a:latin typeface="Arial"/>
              </a:rPr>
              <a:t>Foundry Control Plane</a:t>
            </a:r>
          </a:p>
          <a:p>
            <a:pPr algn="l"/>
            <a:r>
              <a:rPr sz="1100" b="0" i="0">
                <a:solidFill>
                  <a:srgbClr val="53565A"/>
                </a:solidFill>
                <a:latin typeface="Arial"/>
              </a:rPr>
              <a:t>Foundry agents</a:t>
            </a:r>
          </a:p>
        </p:txBody>
      </p:sp>
      <p:pic>
        <p:nvPicPr>
          <p:cNvPr id="37" name="Azure icon: Conditional Access" descr="Official Azure icon: Conditional Acces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696712" y="4814316"/>
            <a:ext cx="384048" cy="384048"/>
          </a:xfrm>
          <a:prstGeom prst="rect">
            <a:avLst/>
          </a:prstGeom>
        </p:spPr>
      </p:pic>
      <p:sp>
        <p:nvSpPr>
          <p:cNvPr id="38" name="TextBox 37"/>
          <p:cNvSpPr txBox="1"/>
          <p:nvPr/>
        </p:nvSpPr>
        <p:spPr>
          <a:xfrm>
            <a:off x="6153912" y="4654296"/>
            <a:ext cx="2039112" cy="704088"/>
          </a:xfrm>
          <a:prstGeom prst="rect">
            <a:avLst/>
          </a:prstGeom>
          <a:noFill/>
        </p:spPr>
        <p:txBody>
          <a:bodyPr wrap="square" lIns="0" rIns="0" tIns="0" bIns="0" anchor="ctr">
            <a:noAutofit/>
          </a:bodyPr>
          <a:lstStyle/>
          <a:p>
            <a:pPr algn="l"/>
            <a:r>
              <a:rPr sz="1400" b="1" i="0">
                <a:solidFill>
                  <a:srgbClr val="000048"/>
                </a:solidFill>
                <a:latin typeface="Arial"/>
              </a:rPr>
              <a:t>Entra agent identity</a:t>
            </a:r>
          </a:p>
          <a:p>
            <a:pPr algn="l"/>
            <a:r>
              <a:rPr sz="1100" b="0" i="0">
                <a:solidFill>
                  <a:srgbClr val="53565A"/>
                </a:solidFill>
                <a:latin typeface="Arial"/>
              </a:rPr>
              <a:t>Conditional Access</a:t>
            </a:r>
          </a:p>
        </p:txBody>
      </p:sp>
      <p:pic>
        <p:nvPicPr>
          <p:cNvPr id="39" name="Azure icon: Microsoft Defender for Cloud" descr="Official Azure icon: Microsoft Defender for Cloud"/>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439912" y="4814316"/>
            <a:ext cx="384048" cy="384048"/>
          </a:xfrm>
          <a:prstGeom prst="rect">
            <a:avLst/>
          </a:prstGeom>
        </p:spPr>
      </p:pic>
      <p:sp>
        <p:nvSpPr>
          <p:cNvPr id="40" name="TextBox 39"/>
          <p:cNvSpPr txBox="1"/>
          <p:nvPr/>
        </p:nvSpPr>
        <p:spPr>
          <a:xfrm>
            <a:off x="8897112" y="4654296"/>
            <a:ext cx="2724912" cy="704088"/>
          </a:xfrm>
          <a:prstGeom prst="rect">
            <a:avLst/>
          </a:prstGeom>
          <a:noFill/>
        </p:spPr>
        <p:txBody>
          <a:bodyPr wrap="square" lIns="0" rIns="0" tIns="0" bIns="0" anchor="ctr">
            <a:noAutofit/>
          </a:bodyPr>
          <a:lstStyle/>
          <a:p>
            <a:pPr algn="l"/>
            <a:r>
              <a:rPr sz="1400" b="1" i="0">
                <a:solidFill>
                  <a:srgbClr val="000048"/>
                </a:solidFill>
                <a:latin typeface="Arial"/>
              </a:rPr>
              <a:t>Defender and Purview</a:t>
            </a:r>
          </a:p>
          <a:p>
            <a:pPr algn="l"/>
            <a:r>
              <a:rPr sz="1100" b="0" i="0">
                <a:solidFill>
                  <a:srgbClr val="53565A"/>
                </a:solidFill>
                <a:latin typeface="Arial"/>
              </a:rPr>
              <a:t>threats, data security</a:t>
            </a:r>
          </a:p>
        </p:txBody>
      </p:sp>
      <p:sp>
        <p:nvSpPr>
          <p:cNvPr id="41" name="Rounded Rectangle 40"/>
          <p:cNvSpPr/>
          <p:nvPr/>
        </p:nvSpPr>
        <p:spPr>
          <a:xfrm>
            <a:off x="411480" y="5669280"/>
            <a:ext cx="11384280" cy="411480"/>
          </a:xfrm>
          <a:prstGeom prst="roundRect">
            <a:avLst>
              <a:gd name="adj" fmla="val 1777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300" b="1" i="0">
                <a:solidFill>
                  <a:srgbClr val="000048"/>
                </a:solidFill>
                <a:latin typeface="Arial"/>
              </a:rPr>
              <a:t>Runtimes covered: Copilot Studio  ·  Foundry agents  ·  Container Apps or AKS hosts  ·  Logic Apps  ·  AWS and Google via registry sync (preview)</a:t>
            </a:r>
          </a:p>
        </p:txBody>
      </p:sp>
      <p:sp>
        <p:nvSpPr>
          <p:cNvPr id="42" name="TextBox 41"/>
          <p:cNvSpPr txBox="1"/>
          <p:nvPr/>
        </p:nvSpPr>
        <p:spPr>
          <a:xfrm>
            <a:off x="548640" y="6144768"/>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Agent 365 shown as a concept box (Microsoft 365 product, no Azure icon)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Configure first: what Microsoft gives, what we add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CHECKED 11 OCT 2026"/>
          <p:cNvSpPr/>
          <p:nvPr/>
        </p:nvSpPr>
        <p:spPr>
          <a:xfrm>
            <a:off x="365887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5394960"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Configure: Microsoft provides</a:t>
            </a:r>
          </a:p>
        </p:txBody>
      </p:sp>
      <p:sp>
        <p:nvSpPr>
          <p:cNvPr id="9" name="TextBox 8"/>
          <p:cNvSpPr txBox="1"/>
          <p:nvPr/>
        </p:nvSpPr>
        <p:spPr>
          <a:xfrm>
            <a:off x="548640" y="2057400"/>
            <a:ext cx="5394960" cy="3474720"/>
          </a:xfrm>
          <a:prstGeom prst="rect">
            <a:avLst/>
          </a:prstGeom>
          <a:noFill/>
        </p:spPr>
        <p:txBody>
          <a:bodyPr wrap="square" lIns="0" rIns="0" tIns="0" bIns="0" anchor="t">
            <a:noAutofit/>
          </a:bodyPr>
          <a:lstStyle/>
          <a:p>
            <a:pPr algn="l" marL="201168" indent="-201168">
              <a:spcAft>
                <a:spcPts val="800"/>
              </a:spcAft>
              <a:buFont typeface="Arial"/>
              <a:buChar char="•"/>
            </a:pPr>
            <a:r>
              <a:rPr sz="1900" b="0" i="0">
                <a:solidFill>
                  <a:srgbClr val="1E1E2E"/>
                </a:solidFill>
                <a:latin typeface="Arial"/>
              </a:rPr>
              <a:t>Agent registry across Microsoft, Copilot Studio, Foundry and partner agents</a:t>
            </a:r>
          </a:p>
          <a:p>
            <a:pPr algn="l" marL="201168" indent="-201168">
              <a:spcAft>
                <a:spcPts val="800"/>
              </a:spcAft>
              <a:buFont typeface="Arial"/>
              <a:buChar char="•"/>
            </a:pPr>
            <a:r>
              <a:rPr sz="1900" b="0" i="0">
                <a:solidFill>
                  <a:srgbClr val="1E1E2E"/>
                </a:solidFill>
                <a:latin typeface="Arial"/>
              </a:rPr>
              <a:t>Foundry runs, errors and token use per agent</a:t>
            </a:r>
          </a:p>
          <a:p>
            <a:pPr algn="l" marL="201168" indent="-201168">
              <a:spcAft>
                <a:spcPts val="800"/>
              </a:spcAft>
              <a:buFont typeface="Arial"/>
              <a:buChar char="•"/>
            </a:pPr>
            <a:r>
              <a:rPr sz="1900" b="0" i="0">
                <a:solidFill>
                  <a:srgbClr val="1E1E2E"/>
                </a:solidFill>
                <a:latin typeface="Arial"/>
              </a:rPr>
              <a:t>Agent identities and sign-in blocking (Entra)</a:t>
            </a:r>
          </a:p>
          <a:p>
            <a:pPr algn="l" marL="201168" indent="-201168">
              <a:spcAft>
                <a:spcPts val="800"/>
              </a:spcAft>
              <a:buFont typeface="Arial"/>
              <a:buChar char="•"/>
            </a:pPr>
            <a:r>
              <a:rPr sz="1900" b="0" i="0">
                <a:solidFill>
                  <a:srgbClr val="1E1E2E"/>
                </a:solidFill>
                <a:latin typeface="Arial"/>
              </a:rPr>
              <a:t>Threat alerts and data-security posture</a:t>
            </a:r>
          </a:p>
        </p:txBody>
      </p:sp>
      <p:sp>
        <p:nvSpPr>
          <p:cNvPr id="10" name="Rounded Rectangle 9"/>
          <p:cNvSpPr/>
          <p:nvPr/>
        </p:nvSpPr>
        <p:spPr>
          <a:xfrm>
            <a:off x="6245352" y="1371600"/>
            <a:ext cx="5394960" cy="566928"/>
          </a:xfrm>
          <a:prstGeom prst="roundRect">
            <a:avLst>
              <a:gd name="adj" fmla="val 1290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Build: CIS Infra adds only where needed</a:t>
            </a:r>
          </a:p>
        </p:txBody>
      </p:sp>
      <p:sp>
        <p:nvSpPr>
          <p:cNvPr id="11" name="TextBox 10"/>
          <p:cNvSpPr txBox="1"/>
          <p:nvPr/>
        </p:nvSpPr>
        <p:spPr>
          <a:xfrm>
            <a:off x="6245352" y="2057400"/>
            <a:ext cx="5394960" cy="3474720"/>
          </a:xfrm>
          <a:prstGeom prst="rect">
            <a:avLst/>
          </a:prstGeom>
          <a:noFill/>
        </p:spPr>
        <p:txBody>
          <a:bodyPr wrap="square" lIns="0" rIns="0" tIns="0" bIns="0" anchor="t">
            <a:noAutofit/>
          </a:bodyPr>
          <a:lstStyle/>
          <a:p>
            <a:pPr algn="l" marL="201168" indent="-201168">
              <a:spcAft>
                <a:spcPts val="800"/>
              </a:spcAft>
              <a:buFont typeface="Arial"/>
              <a:buChar char="•"/>
            </a:pPr>
            <a:r>
              <a:rPr sz="1900" b="0" i="0">
                <a:solidFill>
                  <a:srgbClr val="1E1E2E"/>
                </a:solidFill>
                <a:latin typeface="Arial"/>
              </a:rPr>
              <a:t>Usage evidence joined to deployment records, all runtimes</a:t>
            </a:r>
          </a:p>
          <a:p>
            <a:pPr algn="l" marL="201168" indent="-201168">
              <a:spcAft>
                <a:spcPts val="800"/>
              </a:spcAft>
              <a:buFont typeface="Arial"/>
              <a:buChar char="•"/>
            </a:pPr>
            <a:r>
              <a:rPr sz="1900" b="0" i="0">
                <a:solidFill>
                  <a:srgbClr val="1E1E2E"/>
                </a:solidFill>
                <a:latin typeface="Arial"/>
              </a:rPr>
              <a:t>Dormant and orphaned agent reviews with owners</a:t>
            </a:r>
          </a:p>
          <a:p>
            <a:pPr algn="l" marL="201168" indent="-201168">
              <a:spcAft>
                <a:spcPts val="800"/>
              </a:spcAft>
              <a:buFont typeface="Arial"/>
              <a:buChar char="•"/>
            </a:pPr>
            <a:r>
              <a:rPr sz="1900" b="0" i="0">
                <a:solidFill>
                  <a:srgbClr val="1E1E2E"/>
                </a:solidFill>
                <a:latin typeface="Arial"/>
              </a:rPr>
              <a:t>Cross-layer stop: block, cancel, deny, verify</a:t>
            </a:r>
          </a:p>
          <a:p>
            <a:pPr algn="l" marL="201168" indent="-201168">
              <a:spcAft>
                <a:spcPts val="800"/>
              </a:spcAft>
              <a:buFont typeface="Arial"/>
              <a:buChar char="•"/>
            </a:pPr>
            <a:r>
              <a:rPr sz="1900" b="0" i="0">
                <a:solidFill>
                  <a:srgbClr val="1E1E2E"/>
                </a:solidFill>
                <a:latin typeface="Arial"/>
              </a:rPr>
              <a:t>Coverage where licences or runtimes fall short</a:t>
            </a:r>
          </a:p>
        </p:txBody>
      </p:sp>
      <p:sp>
        <p:nvSpPr>
          <p:cNvPr id="12" name="Rounded Rectangle 11"/>
          <p:cNvSpPr/>
          <p:nvPr/>
        </p:nvSpPr>
        <p:spPr>
          <a:xfrm>
            <a:off x="548640" y="56692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Licence prerequisite: Agent 365 ($15 per user per month, or in Microsoft 365 E7). Checked in the assessment, not assumed.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it takes: effort, time and fee bands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71272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Coverage 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25</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4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$25k</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Configure control plane and evidence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30 to 60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6 to 10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$30k to $60k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Custom gap layer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 to 60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6 to 10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$30k to $60k</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Kill-switch proof of concept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25 to 45</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$25k to $45k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Containment build after PoC</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40 to 80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8 to 12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$40k to $80k</a:t>
                      </a:r>
                    </a:p>
                  </a:txBody>
                  <a:tcPr marL="73152" marR="73152" marT="36576" marB="36576" anchor="ctr">
                    <a:solidFill>
                      <a:srgbClr val="FFFFFF"/>
                    </a:solidFill>
                  </a:tcPr>
                </a:tc>
              </a:tr>
            </a:tbl>
          </a:graphicData>
        </a:graphic>
      </p:graphicFrame>
      <p:sp>
        <p:nvSpPr>
          <p:cNvPr id="9" name="Rounded Rectangle 8"/>
          <p:cNvSpPr/>
          <p:nvPr/>
        </p:nvSpPr>
        <p:spPr>
          <a:xfrm>
            <a:off x="548640" y="4358640"/>
            <a:ext cx="11091672" cy="1082040"/>
          </a:xfrm>
          <a:prstGeom prst="roundRect">
            <a:avLst>
              <a:gd name="adj" fmla="val 676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several runtimes or clouds, no Agent 365 licence, poor telemetry, many tool integrations.</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Risks that decide success,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Agents outside coverage</a:t>
            </a:r>
          </a:p>
          <a:p>
            <a:pPr algn="l">
              <a:spcAft>
                <a:spcPts val="400"/>
              </a:spcAft>
            </a:pPr>
            <a:r>
              <a:rPr sz="1800" b="1" i="0">
                <a:solidFill>
                  <a:srgbClr val="8A4B08"/>
                </a:solidFill>
                <a:latin typeface="Arial"/>
              </a:rPr>
              <a:t>Effect: </a:t>
            </a:r>
            <a:r>
              <a:rPr sz="1800" b="0" i="0">
                <a:solidFill>
                  <a:srgbClr val="1E1E2E"/>
                </a:solidFill>
                <a:latin typeface="Arial"/>
              </a:rPr>
              <a:t>Catalogue looks complete but is not</a:t>
            </a:r>
          </a:p>
          <a:p>
            <a:pPr algn="l">
              <a:spcAft>
                <a:spcPts val="400"/>
              </a:spcAft>
            </a:pPr>
            <a:r>
              <a:rPr sz="1800" b="1" i="0">
                <a:solidFill>
                  <a:srgbClr val="1D6B3A"/>
                </a:solidFill>
                <a:latin typeface="Arial"/>
              </a:rPr>
              <a:t>Handle: </a:t>
            </a:r>
            <a:r>
              <a:rPr sz="1800" b="0" i="0">
                <a:solidFill>
                  <a:srgbClr val="1E1E2E"/>
                </a:solidFill>
                <a:latin typeface="Arial"/>
              </a:rPr>
              <a:t>Coverage report with stated denominator</a:t>
            </a:r>
          </a:p>
          <a:p>
            <a:pPr algn="l"/>
            <a:r>
              <a:rPr sz="1800" b="1" i="0">
                <a:solidFill>
                  <a:srgbClr val="2F78C4"/>
                </a:solidFill>
                <a:latin typeface="Arial"/>
              </a:rPr>
              <a:t>Owner: </a:t>
            </a:r>
            <a:r>
              <a:rPr sz="1800" b="0" i="0">
                <a:solidFill>
                  <a:srgbClr val="1E1E2E"/>
                </a:solidFill>
                <a:latin typeface="Arial"/>
              </a:rPr>
              <a:t>CIS Infra with DevOps</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Licence not in place</a:t>
            </a:r>
          </a:p>
          <a:p>
            <a:pPr algn="l">
              <a:spcAft>
                <a:spcPts val="400"/>
              </a:spcAft>
            </a:pPr>
            <a:r>
              <a:rPr sz="1800" b="1" i="0">
                <a:solidFill>
                  <a:srgbClr val="8A4B08"/>
                </a:solidFill>
                <a:latin typeface="Arial"/>
              </a:rPr>
              <a:t>Effect: </a:t>
            </a:r>
            <a:r>
              <a:rPr sz="1800" b="0" i="0">
                <a:solidFill>
                  <a:srgbClr val="1E1E2E"/>
                </a:solidFill>
                <a:latin typeface="Arial"/>
              </a:rPr>
              <a:t>Native features unavailable</a:t>
            </a:r>
          </a:p>
          <a:p>
            <a:pPr algn="l">
              <a:spcAft>
                <a:spcPts val="400"/>
              </a:spcAft>
            </a:pPr>
            <a:r>
              <a:rPr sz="1800" b="1" i="0">
                <a:solidFill>
                  <a:srgbClr val="1D6B3A"/>
                </a:solidFill>
                <a:latin typeface="Arial"/>
              </a:rPr>
              <a:t>Handle: </a:t>
            </a:r>
            <a:r>
              <a:rPr sz="1800" b="0" i="0">
                <a:solidFill>
                  <a:srgbClr val="1E1E2E"/>
                </a:solidFill>
                <a:latin typeface="Arial"/>
              </a:rPr>
              <a:t>Licence check in assessment; custom fallback priced</a:t>
            </a:r>
          </a:p>
          <a:p>
            <a:pPr algn="l"/>
            <a:r>
              <a:rPr sz="1800" b="1" i="0">
                <a:solidFill>
                  <a:srgbClr val="2F78C4"/>
                </a:solidFill>
                <a:latin typeface="Arial"/>
              </a:rPr>
              <a:t>Owner: </a:t>
            </a:r>
            <a:r>
              <a:rPr sz="1800" b="0" i="0">
                <a:solidFill>
                  <a:srgbClr val="1E1E2E"/>
                </a:solidFill>
                <a:latin typeface="Arial"/>
              </a:rPr>
              <a:t>Customer, advised by offering 04</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Stop path unproven</a:t>
            </a:r>
          </a:p>
          <a:p>
            <a:pPr algn="l">
              <a:spcAft>
                <a:spcPts val="400"/>
              </a:spcAft>
            </a:pPr>
            <a:r>
              <a:rPr sz="1800" b="1" i="0">
                <a:solidFill>
                  <a:srgbClr val="8A4B08"/>
                </a:solidFill>
                <a:latin typeface="Arial"/>
              </a:rPr>
              <a:t>Effect: </a:t>
            </a:r>
            <a:r>
              <a:rPr sz="1800" b="0" i="0">
                <a:solidFill>
                  <a:srgbClr val="1E1E2E"/>
                </a:solidFill>
                <a:latin typeface="Arial"/>
              </a:rPr>
              <a:t>Agent keeps acting after a block</a:t>
            </a:r>
          </a:p>
          <a:p>
            <a:pPr algn="l">
              <a:spcAft>
                <a:spcPts val="400"/>
              </a:spcAft>
            </a:pPr>
            <a:r>
              <a:rPr sz="1800" b="1" i="0">
                <a:solidFill>
                  <a:srgbClr val="1D6B3A"/>
                </a:solidFill>
                <a:latin typeface="Arial"/>
              </a:rPr>
              <a:t>Handle: </a:t>
            </a:r>
            <a:r>
              <a:rPr sz="1800" b="0" i="0">
                <a:solidFill>
                  <a:srgbClr val="1E1E2E"/>
                </a:solidFill>
                <a:latin typeface="Arial"/>
              </a:rPr>
              <a:t>Proof of concept before selling containment</a:t>
            </a:r>
          </a:p>
          <a:p>
            <a:pPr algn="l"/>
            <a:r>
              <a:rPr sz="1800" b="1" i="0">
                <a:solidFill>
                  <a:srgbClr val="2F78C4"/>
                </a:solidFill>
                <a:latin typeface="Arial"/>
              </a:rPr>
              <a:t>Owner: </a:t>
            </a:r>
            <a:r>
              <a:rPr sz="1800" b="0" i="0">
                <a:solidFill>
                  <a:srgbClr val="1E1E2E"/>
                </a:solidFill>
                <a:latin typeface="Arial"/>
              </a:rPr>
              <a:t>CIS Infra, AI, Security</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Containment authority unclear</a:t>
            </a:r>
          </a:p>
          <a:p>
            <a:pPr algn="l">
              <a:spcAft>
                <a:spcPts val="400"/>
              </a:spcAft>
            </a:pPr>
            <a:r>
              <a:rPr sz="1800" b="1" i="0">
                <a:solidFill>
                  <a:srgbClr val="8A4B08"/>
                </a:solidFill>
                <a:latin typeface="Arial"/>
              </a:rPr>
              <a:t>Effect: </a:t>
            </a:r>
            <a:r>
              <a:rPr sz="1800" b="0" i="0">
                <a:solidFill>
                  <a:srgbClr val="1E1E2E"/>
                </a:solidFill>
                <a:latin typeface="Arial"/>
              </a:rPr>
              <a:t>Slow or contested stop</a:t>
            </a:r>
          </a:p>
          <a:p>
            <a:pPr algn="l">
              <a:spcAft>
                <a:spcPts val="400"/>
              </a:spcAft>
            </a:pPr>
            <a:r>
              <a:rPr sz="1800" b="1" i="0">
                <a:solidFill>
                  <a:srgbClr val="1D6B3A"/>
                </a:solidFill>
                <a:latin typeface="Arial"/>
              </a:rPr>
              <a:t>Handle: </a:t>
            </a:r>
            <a:r>
              <a:rPr sz="1800" b="0" i="0">
                <a:solidFill>
                  <a:srgbClr val="1E1E2E"/>
                </a:solidFill>
                <a:latin typeface="Arial"/>
              </a:rPr>
              <a:t>Named authority and restart approver</a:t>
            </a:r>
          </a:p>
          <a:p>
            <a:pPr algn="l"/>
            <a:r>
              <a:rPr sz="1800" b="1" i="0">
                <a:solidFill>
                  <a:srgbClr val="2F78C4"/>
                </a:solidFill>
                <a:latin typeface="Arial"/>
              </a:rPr>
              <a:t>Owner: </a:t>
            </a:r>
            <a:r>
              <a:rPr sz="1800" b="0" i="0">
                <a:solidFill>
                  <a:srgbClr val="1E1E2E"/>
                </a:solidFill>
                <a:latin typeface="Arial"/>
              </a:rPr>
              <a:t>Customer risk owner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we measure success, and what to decide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Coverage  </a:t>
            </a:r>
            <a:r>
              <a:rPr sz="1800" b="0" i="0">
                <a:solidFill>
                  <a:srgbClr val="1E1E2E"/>
                </a:solidFill>
                <a:latin typeface="Arial"/>
              </a:rPr>
              <a:t>agents reconciled; gaps listed by reason</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Ownership  </a:t>
            </a:r>
            <a:r>
              <a:rPr sz="1800" b="0" i="0">
                <a:solidFill>
                  <a:srgbClr val="1E1E2E"/>
                </a:solidFill>
                <a:latin typeface="Arial"/>
              </a:rPr>
              <a:t>agents with a valid business and technical owner</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Classification  </a:t>
            </a:r>
            <a:r>
              <a:rPr sz="1800" b="0" i="0">
                <a:solidFill>
                  <a:srgbClr val="1E1E2E"/>
                </a:solidFill>
                <a:latin typeface="Arial"/>
              </a:rPr>
              <a:t>test agents classified in all six states</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Containment  </a:t>
            </a:r>
            <a:r>
              <a:rPr sz="1800" b="0" i="0">
                <a:solidFill>
                  <a:srgbClr val="1E1E2E"/>
                </a:solidFill>
                <a:latin typeface="Arial"/>
              </a:rPr>
              <a:t>block, cancel, deny and identity pass drills</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Stop time  </a:t>
            </a:r>
            <a:r>
              <a:rPr sz="1800" b="0" i="0">
                <a:solidFill>
                  <a:srgbClr val="1E1E2E"/>
                </a:solidFill>
                <a:latin typeface="Arial"/>
              </a:rPr>
              <a:t>measured worst case per runtime</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Configure-before-build rule</a:t>
            </a:r>
          </a:p>
          <a:p>
            <a:pPr algn="l" marL="201168" indent="-201168">
              <a:spcAft>
                <a:spcPts val="400"/>
              </a:spcAft>
              <a:buFont typeface="Arial"/>
              <a:buChar char="•"/>
            </a:pPr>
            <a:r>
              <a:rPr sz="1900" b="0" i="0">
                <a:solidFill>
                  <a:srgbClr val="1E1E2E"/>
                </a:solidFill>
                <a:latin typeface="Arial"/>
              </a:rPr>
              <a:t>Fund the kill-switch proof of concept</a:t>
            </a:r>
          </a:p>
          <a:p>
            <a:pPr algn="l" marL="201168" indent="-201168">
              <a:spcAft>
                <a:spcPts val="400"/>
              </a:spcAft>
              <a:buFont typeface="Arial"/>
              <a:buChar char="•"/>
            </a:pPr>
            <a:r>
              <a:rPr sz="1900" b="0" i="0">
                <a:solidFill>
                  <a:srgbClr val="1E1E2E"/>
                </a:solidFill>
                <a:latin typeface="Arial"/>
              </a:rPr>
              <a:t>Containment and restart authority</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201168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Stop-time targets (after PoC)</a:t>
            </a:r>
          </a:p>
          <a:p>
            <a:pPr algn="l" marL="201168" indent="-201168">
              <a:spcAft>
                <a:spcPts val="400"/>
              </a:spcAft>
              <a:buFont typeface="Arial"/>
              <a:buChar char="•"/>
            </a:pPr>
            <a:r>
              <a:rPr sz="1900" b="0" i="0">
                <a:solidFill>
                  <a:srgbClr val="1E1E2E"/>
                </a:solidFill>
                <a:latin typeface="Arial"/>
              </a:rPr>
              <a:t>Sell rates (Finance)</a:t>
            </a:r>
          </a:p>
          <a:p>
            <a:pPr algn="l" marL="201168" indent="-201168">
              <a:spcAft>
                <a:spcPts val="400"/>
              </a:spcAft>
              <a:buFont typeface="Arial"/>
              <a:buChar char="•"/>
            </a:pPr>
            <a:r>
              <a:rPr sz="1900" b="0" i="0">
                <a:solidFill>
                  <a:srgbClr val="1E1E2E"/>
                </a:solidFill>
                <a:latin typeface="Arial"/>
              </a:rPr>
              <a:t>AI tower commitment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Catalogue design, coverage, classification, kill-switch architecture, runtime controls, original references, RACI, revenue attribution, cost layers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A0  </a:t>
            </a:r>
            <a:r>
              <a:rPr sz="1100" b="0" i="0">
                <a:solidFill>
                  <a:srgbClr val="1E1E2E"/>
                </a:solidFill>
                <a:latin typeface="Arial"/>
              </a:rPr>
              <a:t>Usage states: no telemetry is not no usage</a:t>
            </a:r>
          </a:p>
        </p:txBody>
      </p:sp>
      <p:sp>
        <p:nvSpPr>
          <p:cNvPr id="8" name="TextBox 7">
            <a:hlinkClick action="ppaction://hlinksldjump" r:id="rId5"/>
          </p:cNvPr>
          <p:cNvSpPr txBox="1"/>
          <p:nvPr/>
        </p:nvSpPr>
        <p:spPr>
          <a:xfrm>
            <a:off x="54864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A1  </a:t>
            </a:r>
            <a:r>
              <a:rPr sz="1100" b="0" i="0">
                <a:solidFill>
                  <a:srgbClr val="1E1E2E"/>
                </a:solidFill>
                <a:latin typeface="Arial"/>
              </a:rPr>
              <a:t>Catalogue architecture (detailed)</a:t>
            </a:r>
          </a:p>
        </p:txBody>
      </p:sp>
      <p:sp>
        <p:nvSpPr>
          <p:cNvPr id="9" name="TextBox 8">
            <a:hlinkClick action="ppaction://hlinksldjump" r:id="rId6"/>
          </p:cNvPr>
          <p:cNvSpPr txBox="1"/>
          <p:nvPr/>
        </p:nvSpPr>
        <p:spPr>
          <a:xfrm>
            <a:off x="54864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A2  </a:t>
            </a:r>
            <a:r>
              <a:rPr sz="1100" b="0" i="0">
                <a:solidFill>
                  <a:srgbClr val="1E1E2E"/>
                </a:solidFill>
                <a:latin typeface="Arial"/>
              </a:rPr>
              <a:t>Native versus custom capabilities</a:t>
            </a:r>
          </a:p>
        </p:txBody>
      </p:sp>
      <p:sp>
        <p:nvSpPr>
          <p:cNvPr id="10" name="TextBox 9">
            <a:hlinkClick action="ppaction://hlinksldjump" r:id="rId7"/>
          </p:cNvPr>
          <p:cNvSpPr txBox="1"/>
          <p:nvPr/>
        </p:nvSpPr>
        <p:spPr>
          <a:xfrm>
            <a:off x="54864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A3  </a:t>
            </a:r>
            <a:r>
              <a:rPr sz="1100" b="0" i="0">
                <a:solidFill>
                  <a:srgbClr val="1E1E2E"/>
                </a:solidFill>
                <a:latin typeface="Arial"/>
              </a:rPr>
              <a:t>Minimum catalogue record</a:t>
            </a:r>
          </a:p>
        </p:txBody>
      </p:sp>
      <p:sp>
        <p:nvSpPr>
          <p:cNvPr id="11" name="TextBox 10">
            <a:hlinkClick action="ppaction://hlinksldjump" r:id="rId8"/>
          </p:cNvPr>
          <p:cNvSpPr txBox="1"/>
          <p:nvPr/>
        </p:nvSpPr>
        <p:spPr>
          <a:xfrm>
            <a:off x="54864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A4  </a:t>
            </a:r>
            <a:r>
              <a:rPr sz="1100" b="0" i="0">
                <a:solidFill>
                  <a:srgbClr val="1E1E2E"/>
                </a:solidFill>
                <a:latin typeface="Arial"/>
              </a:rPr>
              <a:t>Inventory versus runtime evidence</a:t>
            </a:r>
          </a:p>
        </p:txBody>
      </p:sp>
      <p:sp>
        <p:nvSpPr>
          <p:cNvPr id="12" name="TextBox 11">
            <a:hlinkClick action="ppaction://hlinksldjump" r:id="rId9"/>
          </p:cNvPr>
          <p:cNvSpPr txBox="1"/>
          <p:nvPr/>
        </p:nvSpPr>
        <p:spPr>
          <a:xfrm>
            <a:off x="54864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A5  </a:t>
            </a:r>
            <a:r>
              <a:rPr sz="1100" b="0" i="0">
                <a:solidFill>
                  <a:srgbClr val="1E1E2E"/>
                </a:solidFill>
                <a:latin typeface="Arial"/>
              </a:rPr>
              <a:t>Usage classification rules</a:t>
            </a:r>
          </a:p>
        </p:txBody>
      </p:sp>
      <p:sp>
        <p:nvSpPr>
          <p:cNvPr id="13" name="TextBox 12">
            <a:hlinkClick action="ppaction://hlinksldjump" r:id="rId10"/>
          </p:cNvPr>
          <p:cNvSpPr txBox="1"/>
          <p:nvPr/>
        </p:nvSpPr>
        <p:spPr>
          <a:xfrm>
            <a:off x="54864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A6  </a:t>
            </a:r>
            <a:r>
              <a:rPr sz="1100" b="0" i="0">
                <a:solidFill>
                  <a:srgbClr val="1E1E2E"/>
                </a:solidFill>
                <a:latin typeface="Arial"/>
              </a:rPr>
              <a:t>Coverage: native, custom, outside</a:t>
            </a:r>
          </a:p>
        </p:txBody>
      </p:sp>
      <p:sp>
        <p:nvSpPr>
          <p:cNvPr id="14" name="TextBox 13">
            <a:hlinkClick action="ppaction://hlinksldjump" r:id="rId11"/>
          </p:cNvPr>
          <p:cNvSpPr txBox="1"/>
          <p:nvPr/>
        </p:nvSpPr>
        <p:spPr>
          <a:xfrm>
            <a:off x="54864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A7  </a:t>
            </a:r>
            <a:r>
              <a:rPr sz="1100" b="0" i="0">
                <a:solidFill>
                  <a:srgbClr val="1E1E2E"/>
                </a:solidFill>
                <a:latin typeface="Arial"/>
              </a:rPr>
              <a:t>Illustrative catalogue dashboard</a:t>
            </a:r>
          </a:p>
        </p:txBody>
      </p:sp>
      <p:sp>
        <p:nvSpPr>
          <p:cNvPr id="15" name="TextBox 14">
            <a:hlinkClick action="ppaction://hlinksldjump" r:id="rId12"/>
          </p:cNvPr>
          <p:cNvSpPr txBox="1"/>
          <p:nvPr/>
        </p:nvSpPr>
        <p:spPr>
          <a:xfrm>
            <a:off x="54864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K1  </a:t>
            </a:r>
            <a:r>
              <a:rPr sz="1100" b="0" i="0">
                <a:solidFill>
                  <a:srgbClr val="1E1E2E"/>
                </a:solidFill>
                <a:latin typeface="Arial"/>
              </a:rPr>
              <a:t>Kill-switch reference architecture</a:t>
            </a:r>
          </a:p>
        </p:txBody>
      </p:sp>
      <p:sp>
        <p:nvSpPr>
          <p:cNvPr id="16" name="TextBox 15">
            <a:hlinkClick action="ppaction://hlinksldjump" r:id="rId13"/>
          </p:cNvPr>
          <p:cNvSpPr txBox="1"/>
          <p:nvPr/>
        </p:nvSpPr>
        <p:spPr>
          <a:xfrm>
            <a:off x="54864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K2  </a:t>
            </a:r>
            <a:r>
              <a:rPr sz="1100" b="0" i="0">
                <a:solidFill>
                  <a:srgbClr val="1E1E2E"/>
                </a:solidFill>
                <a:latin typeface="Arial"/>
              </a:rPr>
              <a:t>Block, cancel, deny: what each layer does</a:t>
            </a:r>
          </a:p>
        </p:txBody>
      </p:sp>
      <p:sp>
        <p:nvSpPr>
          <p:cNvPr id="17" name="TextBox 16">
            <a:hlinkClick action="ppaction://hlinksldjump" r:id="rId14"/>
          </p:cNvPr>
          <p:cNvSpPr txBox="1"/>
          <p:nvPr/>
        </p:nvSpPr>
        <p:spPr>
          <a:xfrm>
            <a:off x="54864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K3  </a:t>
            </a:r>
            <a:r>
              <a:rPr sz="1100" b="0" i="0">
                <a:solidFill>
                  <a:srgbClr val="1E1E2E"/>
                </a:solidFill>
                <a:latin typeface="Arial"/>
              </a:rPr>
              <a:t>Containment limits</a:t>
            </a:r>
          </a:p>
        </p:txBody>
      </p:sp>
      <p:sp>
        <p:nvSpPr>
          <p:cNvPr id="18" name="TextBox 17">
            <a:hlinkClick action="ppaction://hlinksldjump" r:id="rId15"/>
          </p:cNvPr>
          <p:cNvSpPr txBox="1"/>
          <p:nvPr/>
        </p:nvSpPr>
        <p:spPr>
          <a:xfrm>
            <a:off x="54864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K4  </a:t>
            </a:r>
            <a:r>
              <a:rPr sz="1100" b="0" i="0">
                <a:solidFill>
                  <a:srgbClr val="1E1E2E"/>
                </a:solidFill>
                <a:latin typeface="Arial"/>
              </a:rPr>
              <a:t>Containment test scenarios</a:t>
            </a:r>
          </a:p>
        </p:txBody>
      </p:sp>
      <p:sp>
        <p:nvSpPr>
          <p:cNvPr id="19" name="TextBox 18">
            <a:hlinkClick action="ppaction://hlinksldjump" r:id="rId16"/>
          </p:cNvPr>
          <p:cNvSpPr txBox="1"/>
          <p:nvPr/>
        </p:nvSpPr>
        <p:spPr>
          <a:xfrm>
            <a:off x="54864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K5  </a:t>
            </a:r>
            <a:r>
              <a:rPr sz="1100" b="0" i="0">
                <a:solidFill>
                  <a:srgbClr val="1E1E2E"/>
                </a:solidFill>
                <a:latin typeface="Arial"/>
              </a:rPr>
              <a:t>Kill-switch proof-of-concept plan</a:t>
            </a:r>
          </a:p>
        </p:txBody>
      </p:sp>
      <p:sp>
        <p:nvSpPr>
          <p:cNvPr id="20" name="TextBox 19">
            <a:hlinkClick action="ppaction://hlinksldjump" r:id="rId17"/>
          </p:cNvPr>
          <p:cNvSpPr txBox="1"/>
          <p:nvPr/>
        </p:nvSpPr>
        <p:spPr>
          <a:xfrm>
            <a:off x="54864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A8  </a:t>
            </a:r>
            <a:r>
              <a:rPr sz="1100" b="0" i="0">
                <a:solidFill>
                  <a:srgbClr val="1E1E2E"/>
                </a:solidFill>
                <a:latin typeface="Arial"/>
              </a:rPr>
              <a:t>Foundry lifecycle actions by agent type</a:t>
            </a:r>
          </a:p>
        </p:txBody>
      </p:sp>
      <p:sp>
        <p:nvSpPr>
          <p:cNvPr id="21" name="TextBox 20">
            <a:hlinkClick action="ppaction://hlinksldjump" r:id="rId18"/>
          </p:cNvPr>
          <p:cNvSpPr txBox="1"/>
          <p:nvPr/>
        </p:nvSpPr>
        <p:spPr>
          <a:xfrm>
            <a:off x="54864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A9  </a:t>
            </a:r>
            <a:r>
              <a:rPr sz="1100" b="0" i="0">
                <a:solidFill>
                  <a:srgbClr val="1E1E2E"/>
                </a:solidFill>
                <a:latin typeface="Arial"/>
              </a:rPr>
              <a:t>Runtime limits and approvals</a:t>
            </a:r>
          </a:p>
        </p:txBody>
      </p:sp>
      <p:sp>
        <p:nvSpPr>
          <p:cNvPr id="22" name="TextBox 21">
            <a:hlinkClick action="ppaction://hlinksldjump" r:id="rId19"/>
          </p:cNvPr>
          <p:cNvSpPr txBox="1"/>
          <p:nvPr/>
        </p:nvSpPr>
        <p:spPr>
          <a:xfrm>
            <a:off x="54864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A10  </a:t>
            </a:r>
            <a:r>
              <a:rPr sz="1100" b="0" i="0">
                <a:solidFill>
                  <a:srgbClr val="1E1E2E"/>
                </a:solidFill>
                <a:latin typeface="Arial"/>
              </a:rPr>
              <a:t>Agentic retrieval loop (adapted)</a:t>
            </a:r>
          </a:p>
        </p:txBody>
      </p:sp>
      <p:sp>
        <p:nvSpPr>
          <p:cNvPr id="23" name="TextBox 22">
            <a:hlinkClick action="ppaction://hlinksldjump" r:id="rId20"/>
          </p:cNvPr>
          <p:cNvSpPr txBox="1"/>
          <p:nvPr/>
        </p:nvSpPr>
        <p:spPr>
          <a:xfrm>
            <a:off x="54864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A11  </a:t>
            </a:r>
            <a:r>
              <a:rPr sz="1100" b="0" i="0">
                <a:solidFill>
                  <a:srgbClr val="1E1E2E"/>
                </a:solidFill>
                <a:latin typeface="Arial"/>
              </a:rPr>
              <a:t>Multi-agent workload (adapted)</a:t>
            </a:r>
          </a:p>
        </p:txBody>
      </p:sp>
      <p:sp>
        <p:nvSpPr>
          <p:cNvPr id="24" name="TextBox 23">
            <a:hlinkClick action="ppaction://hlinksldjump" r:id="rId21"/>
          </p:cNvPr>
          <p:cNvSpPr txBox="1"/>
          <p:nvPr/>
        </p:nvSpPr>
        <p:spPr>
          <a:xfrm>
            <a:off x="54864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A12  </a:t>
            </a:r>
            <a:r>
              <a:rPr sz="1100" b="0" i="0">
                <a:solidFill>
                  <a:srgbClr val="1E1E2E"/>
                </a:solidFill>
                <a:latin typeface="Arial"/>
              </a:rPr>
              <a:t>Operations, quality and economics signals</a:t>
            </a:r>
          </a:p>
        </p:txBody>
      </p:sp>
      <p:sp>
        <p:nvSpPr>
          <p:cNvPr id="25" name="TextBox 24">
            <a:hlinkClick action="ppaction://hlinksldjump" r:id="rId22"/>
          </p:cNvPr>
          <p:cNvSpPr txBox="1"/>
          <p:nvPr/>
        </p:nvSpPr>
        <p:spPr>
          <a:xfrm>
            <a:off x="548640" y="5921943"/>
            <a:ext cx="5486400" cy="250256"/>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A13  </a:t>
            </a:r>
            <a:r>
              <a:rPr sz="1100" b="0" i="0">
                <a:solidFill>
                  <a:srgbClr val="1E1E2E"/>
                </a:solidFill>
                <a:latin typeface="Arial"/>
              </a:rPr>
              <a:t>Containment runbook</a:t>
            </a:r>
          </a:p>
        </p:txBody>
      </p:sp>
      <p:sp>
        <p:nvSpPr>
          <p:cNvPr id="26" name="TextBox 25">
            <a:hlinkClick action="ppaction://hlinksldjump" r:id="rId23"/>
          </p:cNvPr>
          <p:cNvSpPr txBox="1"/>
          <p:nvPr/>
        </p:nvSpPr>
        <p:spPr>
          <a:xfrm>
            <a:off x="621792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A14  </a:t>
            </a:r>
            <a:r>
              <a:rPr sz="1100" b="0" i="0">
                <a:solidFill>
                  <a:srgbClr val="1E1E2E"/>
                </a:solidFill>
                <a:latin typeface="Arial"/>
              </a:rPr>
              <a:t>Delivery gates and acceptance</a:t>
            </a:r>
          </a:p>
        </p:txBody>
      </p:sp>
      <p:sp>
        <p:nvSpPr>
          <p:cNvPr id="27" name="TextBox 26">
            <a:hlinkClick action="ppaction://hlinksldjump" r:id="rId24"/>
          </p:cNvPr>
          <p:cNvSpPr txBox="1"/>
          <p:nvPr/>
        </p:nvSpPr>
        <p:spPr>
          <a:xfrm>
            <a:off x="621792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A15  </a:t>
            </a:r>
            <a:r>
              <a:rPr sz="1100" b="0" i="0">
                <a:solidFill>
                  <a:srgbClr val="1E1E2E"/>
                </a:solidFill>
                <a:latin typeface="Arial"/>
              </a:rPr>
              <a:t>Dormant review and retirement</a:t>
            </a:r>
          </a:p>
        </p:txBody>
      </p:sp>
      <p:sp>
        <p:nvSpPr>
          <p:cNvPr id="28" name="TextBox 27">
            <a:hlinkClick action="ppaction://hlinksldjump" r:id="rId25"/>
          </p:cNvPr>
          <p:cNvSpPr txBox="1"/>
          <p:nvPr/>
        </p:nvSpPr>
        <p:spPr>
          <a:xfrm>
            <a:off x="621792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A16  </a:t>
            </a:r>
            <a:r>
              <a:rPr sz="1100" b="0" i="0">
                <a:solidFill>
                  <a:srgbClr val="1E1E2E"/>
                </a:solidFill>
                <a:latin typeface="Arial"/>
              </a:rPr>
              <a:t>Build versus buy detail</a:t>
            </a:r>
          </a:p>
        </p:txBody>
      </p:sp>
      <p:sp>
        <p:nvSpPr>
          <p:cNvPr id="29" name="TextBox 28">
            <a:hlinkClick action="ppaction://hlinksldjump" r:id="rId26"/>
          </p:cNvPr>
          <p:cNvSpPr txBox="1"/>
          <p:nvPr/>
        </p:nvSpPr>
        <p:spPr>
          <a:xfrm>
            <a:off x="621792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A17  </a:t>
            </a:r>
            <a:r>
              <a:rPr sz="1100" b="0" i="0">
                <a:solidFill>
                  <a:srgbClr val="1E1E2E"/>
                </a:solidFill>
                <a:latin typeface="Arial"/>
              </a:rPr>
              <a:t>Licence prerequisites</a:t>
            </a:r>
          </a:p>
        </p:txBody>
      </p:sp>
      <p:sp>
        <p:nvSpPr>
          <p:cNvPr id="30" name="TextBox 29">
            <a:hlinkClick action="ppaction://hlinksldjump" r:id="rId27"/>
          </p:cNvPr>
          <p:cNvSpPr txBox="1"/>
          <p:nvPr/>
        </p:nvSpPr>
        <p:spPr>
          <a:xfrm>
            <a:off x="621792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A18  </a:t>
            </a:r>
            <a:r>
              <a:rPr sz="1100" b="0" i="0">
                <a:solidFill>
                  <a:srgbClr val="1E1E2E"/>
                </a:solidFill>
                <a:latin typeface="Arial"/>
              </a:rPr>
              <a:t>Copilot Studio governance roles</a:t>
            </a:r>
          </a:p>
        </p:txBody>
      </p:sp>
      <p:sp>
        <p:nvSpPr>
          <p:cNvPr id="31" name="TextBox 30">
            <a:hlinkClick action="ppaction://hlinksldjump" r:id="rId28"/>
          </p:cNvPr>
          <p:cNvSpPr txBox="1"/>
          <p:nvPr/>
        </p:nvSpPr>
        <p:spPr>
          <a:xfrm>
            <a:off x="621792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2" name="TextBox 31">
            <a:hlinkClick action="ppaction://hlinksldjump" r:id="rId29"/>
          </p:cNvPr>
          <p:cNvSpPr txBox="1"/>
          <p:nvPr/>
        </p:nvSpPr>
        <p:spPr>
          <a:xfrm>
            <a:off x="621792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E1  </a:t>
            </a:r>
            <a:r>
              <a:rPr sz="1100" b="0" i="0">
                <a:solidFill>
                  <a:srgbClr val="1E1E2E"/>
                </a:solidFill>
                <a:latin typeface="Arial"/>
              </a:rPr>
              <a:t>Estimate assumptions</a:t>
            </a:r>
          </a:p>
        </p:txBody>
      </p:sp>
      <p:sp>
        <p:nvSpPr>
          <p:cNvPr id="33" name="TextBox 32">
            <a:hlinkClick action="ppaction://hlinksldjump" r:id="rId30"/>
          </p:cNvPr>
          <p:cNvSpPr txBox="1"/>
          <p:nvPr/>
        </p:nvSpPr>
        <p:spPr>
          <a:xfrm>
            <a:off x="621792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SEC1  </a:t>
            </a:r>
            <a:r>
              <a:rPr sz="1100" b="0" i="0">
                <a:solidFill>
                  <a:srgbClr val="1E1E2E"/>
                </a:solidFill>
                <a:latin typeface="Arial"/>
              </a:rPr>
              <a:t>AI threat model and controls</a:t>
            </a:r>
          </a:p>
        </p:txBody>
      </p:sp>
      <p:sp>
        <p:nvSpPr>
          <p:cNvPr id="34" name="TextBox 33">
            <a:hlinkClick action="ppaction://hlinksldjump" r:id="rId31"/>
          </p:cNvPr>
          <p:cNvSpPr txBox="1"/>
          <p:nvPr/>
        </p:nvSpPr>
        <p:spPr>
          <a:xfrm>
            <a:off x="621792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SEC2  </a:t>
            </a:r>
            <a:r>
              <a:rPr sz="1100" b="0" i="0">
                <a:solidFill>
                  <a:srgbClr val="1E1E2E"/>
                </a:solidFill>
                <a:latin typeface="Arial"/>
              </a:rPr>
              <a:t>Security services and regulation</a:t>
            </a:r>
          </a:p>
        </p:txBody>
      </p:sp>
      <p:sp>
        <p:nvSpPr>
          <p:cNvPr id="35" name="TextBox 34">
            <a:hlinkClick action="ppaction://hlinksldjump" r:id="rId32"/>
          </p:cNvPr>
          <p:cNvSpPr txBox="1"/>
          <p:nvPr/>
        </p:nvSpPr>
        <p:spPr>
          <a:xfrm>
            <a:off x="621792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G1  </a:t>
            </a:r>
            <a:r>
              <a:rPr sz="1100" b="0" i="0">
                <a:solidFill>
                  <a:srgbClr val="1E1E2E"/>
                </a:solidFill>
                <a:latin typeface="Arial"/>
              </a:rPr>
              <a:t>Glossary</a:t>
            </a:r>
          </a:p>
        </p:txBody>
      </p:sp>
      <p:sp>
        <p:nvSpPr>
          <p:cNvPr id="36" name="TextBox 35">
            <a:hlinkClick action="ppaction://hlinksldjump" r:id="rId33"/>
          </p:cNvPr>
          <p:cNvSpPr txBox="1"/>
          <p:nvPr/>
        </p:nvSpPr>
        <p:spPr>
          <a:xfrm>
            <a:off x="621792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C1  </a:t>
            </a:r>
            <a:r>
              <a:rPr sz="1100" b="0" i="0">
                <a:solidFill>
                  <a:srgbClr val="1E1E2E"/>
                </a:solidFill>
                <a:latin typeface="Arial"/>
              </a:rPr>
              <a:t>Cost layers and pricing formula</a:t>
            </a:r>
          </a:p>
        </p:txBody>
      </p:sp>
      <p:sp>
        <p:nvSpPr>
          <p:cNvPr id="37" name="TextBox 36">
            <a:hlinkClick action="ppaction://hlinksldjump" r:id="rId34"/>
          </p:cNvPr>
          <p:cNvSpPr txBox="1"/>
          <p:nvPr/>
        </p:nvSpPr>
        <p:spPr>
          <a:xfrm>
            <a:off x="621792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R1  </a:t>
            </a:r>
            <a:r>
              <a:rPr sz="1100" b="0" i="0">
                <a:solidFill>
                  <a:srgbClr val="1E1E2E"/>
                </a:solidFill>
                <a:latin typeface="Arial"/>
              </a:rPr>
              <a:t>RACI matrix</a:t>
            </a:r>
          </a:p>
        </p:txBody>
      </p:sp>
      <p:sp>
        <p:nvSpPr>
          <p:cNvPr id="38" name="TextBox 37">
            <a:hlinkClick action="ppaction://hlinksldjump" r:id="rId35"/>
          </p:cNvPr>
          <p:cNvSpPr txBox="1"/>
          <p:nvPr/>
        </p:nvSpPr>
        <p:spPr>
          <a:xfrm>
            <a:off x="621792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R2  </a:t>
            </a:r>
            <a:r>
              <a:rPr sz="1100" b="0" i="0">
                <a:solidFill>
                  <a:srgbClr val="1E1E2E"/>
                </a:solidFill>
                <a:latin typeface="Arial"/>
              </a:rPr>
              <a:t>Revenue attribution framework</a:t>
            </a:r>
          </a:p>
        </p:txBody>
      </p:sp>
      <p:sp>
        <p:nvSpPr>
          <p:cNvPr id="39" name="TextBox 38">
            <a:hlinkClick action="ppaction://hlinksldjump" r:id="rId36"/>
          </p:cNvPr>
          <p:cNvSpPr txBox="1"/>
          <p:nvPr/>
        </p:nvSpPr>
        <p:spPr>
          <a:xfrm>
            <a:off x="621792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R3  </a:t>
            </a:r>
            <a:r>
              <a:rPr sz="1100" b="0" i="0">
                <a:solidFill>
                  <a:srgbClr val="1E1E2E"/>
                </a:solidFill>
                <a:latin typeface="Arial"/>
              </a:rPr>
              <a:t>Delivery and commercial readiness</a:t>
            </a:r>
          </a:p>
        </p:txBody>
      </p:sp>
      <p:sp>
        <p:nvSpPr>
          <p:cNvPr id="40" name="TextBox 39">
            <a:hlinkClick action="ppaction://hlinksldjump" r:id="rId37"/>
          </p:cNvPr>
          <p:cNvSpPr txBox="1"/>
          <p:nvPr/>
        </p:nvSpPr>
        <p:spPr>
          <a:xfrm>
            <a:off x="621792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D1  </a:t>
            </a:r>
            <a:r>
              <a:rPr sz="1100" b="0" i="0">
                <a:solidFill>
                  <a:srgbClr val="1E1E2E"/>
                </a:solidFill>
                <a:latin typeface="Arial"/>
              </a:rPr>
              <a:t>Decision and approval register</a:t>
            </a:r>
          </a:p>
        </p:txBody>
      </p:sp>
      <p:sp>
        <p:nvSpPr>
          <p:cNvPr id="41" name="TextBox 40">
            <a:hlinkClick action="ppaction://hlinksldjump" r:id="rId38"/>
          </p:cNvPr>
          <p:cNvSpPr txBox="1"/>
          <p:nvPr/>
        </p:nvSpPr>
        <p:spPr>
          <a:xfrm>
            <a:off x="621792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O1  </a:t>
            </a:r>
            <a:r>
              <a:rPr sz="1100" b="0" i="0">
                <a:solidFill>
                  <a:srgbClr val="1E1E2E"/>
                </a:solidFill>
                <a:latin typeface="Arial"/>
              </a:rPr>
              <a:t>Original: multiple-agent workflow</a:t>
            </a:r>
          </a:p>
        </p:txBody>
      </p:sp>
      <p:sp>
        <p:nvSpPr>
          <p:cNvPr id="42" name="TextBox 41">
            <a:hlinkClick action="ppaction://hlinksldjump" r:id="rId39"/>
          </p:cNvPr>
          <p:cNvSpPr txBox="1"/>
          <p:nvPr/>
        </p:nvSpPr>
        <p:spPr>
          <a:xfrm>
            <a:off x="621792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O2  </a:t>
            </a:r>
            <a:r>
              <a:rPr sz="1100" b="0" i="0">
                <a:solidFill>
                  <a:srgbClr val="1E1E2E"/>
                </a:solidFill>
                <a:latin typeface="Arial"/>
              </a:rPr>
              <a:t>Original: agentic RAG loop</a:t>
            </a:r>
          </a:p>
        </p:txBody>
      </p:sp>
      <p:sp>
        <p:nvSpPr>
          <p:cNvPr id="43" name="TextBox 42">
            <a:hlinkClick action="ppaction://hlinksldjump" r:id="rId40"/>
          </p:cNvPr>
          <p:cNvSpPr txBox="1"/>
          <p:nvPr/>
        </p:nvSpPr>
        <p:spPr>
          <a:xfrm>
            <a:off x="621792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O3  </a:t>
            </a:r>
            <a:r>
              <a:rPr sz="1100" b="0" i="0">
                <a:solidFill>
                  <a:srgbClr val="1E1E2E"/>
                </a:solidFill>
                <a:latin typeface="Arial"/>
              </a:rPr>
              <a:t>Original: Foundry baseline</a:t>
            </a:r>
          </a:p>
        </p:txBody>
      </p:sp>
      <p:sp>
        <p:nvSpPr>
          <p:cNvPr id="44" name="TextBox 43">
            <a:hlinkClick action="ppaction://hlinksldjump" r:id="rId41"/>
          </p:cNvPr>
          <p:cNvSpPr txBox="1"/>
          <p:nvPr/>
        </p:nvSpPr>
        <p:spPr>
          <a:xfrm>
            <a:off x="6217920" y="5921943"/>
            <a:ext cx="5486400" cy="250256"/>
          </a:xfrm>
          <a:prstGeom prst="rect">
            <a:avLst/>
          </a:prstGeom>
          <a:noFill/>
        </p:spPr>
        <p:txBody>
          <a:bodyPr wrap="square" lIns="0" rIns="0" tIns="0" bIns="0" anchor="t">
            <a:noAutofit/>
          </a:bodyPr>
          <a:lstStyle/>
          <a:p>
            <a:pPr algn="l"/>
            <a:r>
              <a:rPr sz="1100" b="1" i="0">
                <a:solidFill>
                  <a:srgbClr val="2F78C4"/>
                </a:solidFill>
                <a:latin typeface="Arial"/>
              </a:rPr>
              <a:t>50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No telemetry is not proof of no usage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PROPOSED RULE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RULES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371600"/>
            <a:ext cx="2743200" cy="603504"/>
          </a:xfrm>
          <a:prstGeom prst="roundRect">
            <a:avLst>
              <a:gd name="adj" fmla="val 1212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1D6B3A"/>
                </a:solidFill>
                <a:latin typeface="Arial"/>
              </a:rPr>
              <a:t>Active</a:t>
            </a:r>
          </a:p>
        </p:txBody>
      </p:sp>
      <p:sp>
        <p:nvSpPr>
          <p:cNvPr id="10" name="TextBox 9"/>
          <p:cNvSpPr txBox="1"/>
          <p:nvPr/>
        </p:nvSpPr>
        <p:spPr>
          <a:xfrm>
            <a:off x="3520440" y="1481328"/>
            <a:ext cx="5120640" cy="457200"/>
          </a:xfrm>
          <a:prstGeom prst="rect">
            <a:avLst/>
          </a:prstGeom>
          <a:noFill/>
        </p:spPr>
        <p:txBody>
          <a:bodyPr wrap="square" lIns="0" rIns="0" tIns="0" bIns="0" anchor="t">
            <a:noAutofit/>
          </a:bodyPr>
          <a:lstStyle/>
          <a:p>
            <a:pPr algn="l"/>
            <a:r>
              <a:rPr sz="1700" b="0" i="0">
                <a:solidFill>
                  <a:srgbClr val="1E1E2E"/>
                </a:solidFill>
                <a:latin typeface="Arial"/>
              </a:rPr>
              <a:t>Qualifying runs in the last 30 days</a:t>
            </a:r>
          </a:p>
        </p:txBody>
      </p:sp>
      <p:sp>
        <p:nvSpPr>
          <p:cNvPr id="11" name="TextBox 10"/>
          <p:cNvSpPr txBox="1"/>
          <p:nvPr/>
        </p:nvSpPr>
        <p:spPr>
          <a:xfrm>
            <a:off x="8778240" y="148132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Monitor outcomes</a:t>
            </a:r>
          </a:p>
        </p:txBody>
      </p:sp>
      <p:sp>
        <p:nvSpPr>
          <p:cNvPr id="12" name="Rounded Rectangle 11"/>
          <p:cNvSpPr/>
          <p:nvPr/>
        </p:nvSpPr>
        <p:spPr>
          <a:xfrm>
            <a:off x="548640" y="2084832"/>
            <a:ext cx="2743200" cy="603504"/>
          </a:xfrm>
          <a:prstGeom prst="roundRect">
            <a:avLst>
              <a:gd name="adj" fmla="val 121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Never observed</a:t>
            </a:r>
          </a:p>
        </p:txBody>
      </p:sp>
      <p:sp>
        <p:nvSpPr>
          <p:cNvPr id="13" name="TextBox 12"/>
          <p:cNvSpPr txBox="1"/>
          <p:nvPr/>
        </p:nvSpPr>
        <p:spPr>
          <a:xfrm>
            <a:off x="3520440" y="2194560"/>
            <a:ext cx="5120640" cy="457200"/>
          </a:xfrm>
          <a:prstGeom prst="rect">
            <a:avLst/>
          </a:prstGeom>
          <a:noFill/>
        </p:spPr>
        <p:txBody>
          <a:bodyPr wrap="square" lIns="0" rIns="0" tIns="0" bIns="0" anchor="t">
            <a:noAutofit/>
          </a:bodyPr>
          <a:lstStyle/>
          <a:p>
            <a:pPr algn="l"/>
            <a:r>
              <a:rPr sz="1700" b="0" i="0">
                <a:solidFill>
                  <a:srgbClr val="1E1E2E"/>
                </a:solidFill>
                <a:latin typeface="Arial"/>
              </a:rPr>
              <a:t>Deployed; no run recorded since onboarding</a:t>
            </a:r>
          </a:p>
        </p:txBody>
      </p:sp>
      <p:sp>
        <p:nvSpPr>
          <p:cNvPr id="14" name="TextBox 13"/>
          <p:cNvSpPr txBox="1"/>
          <p:nvPr/>
        </p:nvSpPr>
        <p:spPr>
          <a:xfrm>
            <a:off x="8778240" y="2194560"/>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Validate onboarding</a:t>
            </a:r>
          </a:p>
        </p:txBody>
      </p:sp>
      <p:sp>
        <p:nvSpPr>
          <p:cNvPr id="15" name="Rounded Rectangle 14"/>
          <p:cNvSpPr/>
          <p:nvPr/>
        </p:nvSpPr>
        <p:spPr>
          <a:xfrm>
            <a:off x="548640" y="2798064"/>
            <a:ext cx="2743200" cy="603504"/>
          </a:xfrm>
          <a:prstGeom prst="roundRect">
            <a:avLst>
              <a:gd name="adj" fmla="val 1212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8A4B08"/>
                </a:solidFill>
                <a:latin typeface="Arial"/>
              </a:rPr>
              <a:t>Dormant candidate</a:t>
            </a:r>
          </a:p>
        </p:txBody>
      </p:sp>
      <p:sp>
        <p:nvSpPr>
          <p:cNvPr id="16" name="TextBox 15"/>
          <p:cNvSpPr txBox="1"/>
          <p:nvPr/>
        </p:nvSpPr>
        <p:spPr>
          <a:xfrm>
            <a:off x="3520440" y="2907792"/>
            <a:ext cx="5120640" cy="457200"/>
          </a:xfrm>
          <a:prstGeom prst="rect">
            <a:avLst/>
          </a:prstGeom>
          <a:noFill/>
        </p:spPr>
        <p:txBody>
          <a:bodyPr wrap="square" lIns="0" rIns="0" tIns="0" bIns="0" anchor="t">
            <a:noAutofit/>
          </a:bodyPr>
          <a:lstStyle/>
          <a:p>
            <a:pPr algn="l"/>
            <a:r>
              <a:rPr sz="1700" b="0" i="0">
                <a:solidFill>
                  <a:srgbClr val="1E1E2E"/>
                </a:solidFill>
                <a:latin typeface="Arial"/>
              </a:rPr>
              <a:t>No runs for 30 days; telemetry healthy</a:t>
            </a:r>
          </a:p>
        </p:txBody>
      </p:sp>
      <p:sp>
        <p:nvSpPr>
          <p:cNvPr id="17" name="TextBox 16"/>
          <p:cNvSpPr txBox="1"/>
          <p:nvPr/>
        </p:nvSpPr>
        <p:spPr>
          <a:xfrm>
            <a:off x="8778240" y="2907792"/>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Owner review</a:t>
            </a:r>
          </a:p>
        </p:txBody>
      </p:sp>
      <p:sp>
        <p:nvSpPr>
          <p:cNvPr id="18" name="Rounded Rectangle 17"/>
          <p:cNvSpPr/>
          <p:nvPr/>
        </p:nvSpPr>
        <p:spPr>
          <a:xfrm>
            <a:off x="548640" y="3511296"/>
            <a:ext cx="2743200" cy="603504"/>
          </a:xfrm>
          <a:prstGeom prst="roundRect">
            <a:avLst>
              <a:gd name="adj" fmla="val 12121"/>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53565A"/>
                </a:solidFill>
                <a:latin typeface="Arial"/>
              </a:rPr>
              <a:t>Telemetry unknown</a:t>
            </a:r>
          </a:p>
        </p:txBody>
      </p:sp>
      <p:sp>
        <p:nvSpPr>
          <p:cNvPr id="19" name="TextBox 18"/>
          <p:cNvSpPr txBox="1"/>
          <p:nvPr/>
        </p:nvSpPr>
        <p:spPr>
          <a:xfrm>
            <a:off x="3520440" y="3621024"/>
            <a:ext cx="5120640" cy="457200"/>
          </a:xfrm>
          <a:prstGeom prst="rect">
            <a:avLst/>
          </a:prstGeom>
          <a:noFill/>
        </p:spPr>
        <p:txBody>
          <a:bodyPr wrap="square" lIns="0" rIns="0" tIns="0" bIns="0" anchor="t">
            <a:noAutofit/>
          </a:bodyPr>
          <a:lstStyle/>
          <a:p>
            <a:pPr algn="l"/>
            <a:r>
              <a:rPr sz="1700" b="0" i="0">
                <a:solidFill>
                  <a:srgbClr val="1E1E2E"/>
                </a:solidFill>
                <a:latin typeface="Arial"/>
              </a:rPr>
              <a:t>Telemetry missing, stale or unhealthy</a:t>
            </a:r>
          </a:p>
        </p:txBody>
      </p:sp>
      <p:sp>
        <p:nvSpPr>
          <p:cNvPr id="20" name="TextBox 19"/>
          <p:cNvSpPr txBox="1"/>
          <p:nvPr/>
        </p:nvSpPr>
        <p:spPr>
          <a:xfrm>
            <a:off x="8778240" y="3621024"/>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Repair monitoring</a:t>
            </a:r>
          </a:p>
        </p:txBody>
      </p:sp>
      <p:sp>
        <p:nvSpPr>
          <p:cNvPr id="21" name="Rounded Rectangle 20"/>
          <p:cNvSpPr/>
          <p:nvPr/>
        </p:nvSpPr>
        <p:spPr>
          <a:xfrm>
            <a:off x="548640" y="4224528"/>
            <a:ext cx="2743200" cy="603504"/>
          </a:xfrm>
          <a:prstGeom prst="roundRect">
            <a:avLst>
              <a:gd name="adj" fmla="val 1212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Orphaned</a:t>
            </a:r>
          </a:p>
        </p:txBody>
      </p:sp>
      <p:sp>
        <p:nvSpPr>
          <p:cNvPr id="22" name="TextBox 21"/>
          <p:cNvSpPr txBox="1"/>
          <p:nvPr/>
        </p:nvSpPr>
        <p:spPr>
          <a:xfrm>
            <a:off x="3520440" y="4334256"/>
            <a:ext cx="5120640" cy="457200"/>
          </a:xfrm>
          <a:prstGeom prst="rect">
            <a:avLst/>
          </a:prstGeom>
          <a:noFill/>
        </p:spPr>
        <p:txBody>
          <a:bodyPr wrap="square" lIns="0" rIns="0" tIns="0" bIns="0" anchor="t">
            <a:noAutofit/>
          </a:bodyPr>
          <a:lstStyle/>
          <a:p>
            <a:pPr algn="l"/>
            <a:r>
              <a:rPr sz="1700" b="0" i="0">
                <a:solidFill>
                  <a:srgbClr val="1E1E2E"/>
                </a:solidFill>
                <a:latin typeface="Arial"/>
              </a:rPr>
              <a:t>No valid owner, or resource without record</a:t>
            </a:r>
          </a:p>
        </p:txBody>
      </p:sp>
      <p:sp>
        <p:nvSpPr>
          <p:cNvPr id="23" name="TextBox 22"/>
          <p:cNvSpPr txBox="1"/>
          <p:nvPr/>
        </p:nvSpPr>
        <p:spPr>
          <a:xfrm>
            <a:off x="8778240" y="4334256"/>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Assign or retire</a:t>
            </a:r>
          </a:p>
        </p:txBody>
      </p:sp>
      <p:sp>
        <p:nvSpPr>
          <p:cNvPr id="24" name="Rounded Rectangle 23"/>
          <p:cNvSpPr/>
          <p:nvPr/>
        </p:nvSpPr>
        <p:spPr>
          <a:xfrm>
            <a:off x="548640" y="4937760"/>
            <a:ext cx="2743200" cy="603504"/>
          </a:xfrm>
          <a:prstGeom prst="roundRect">
            <a:avLst>
              <a:gd name="adj" fmla="val 1212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Blocked or retired</a:t>
            </a:r>
          </a:p>
        </p:txBody>
      </p:sp>
      <p:sp>
        <p:nvSpPr>
          <p:cNvPr id="25" name="TextBox 24"/>
          <p:cNvSpPr txBox="1"/>
          <p:nvPr/>
        </p:nvSpPr>
        <p:spPr>
          <a:xfrm>
            <a:off x="3520440" y="5047488"/>
            <a:ext cx="5120640" cy="457200"/>
          </a:xfrm>
          <a:prstGeom prst="rect">
            <a:avLst/>
          </a:prstGeom>
          <a:noFill/>
        </p:spPr>
        <p:txBody>
          <a:bodyPr wrap="square" lIns="0" rIns="0" tIns="0" bIns="0" anchor="t">
            <a:noAutofit/>
          </a:bodyPr>
          <a:lstStyle/>
          <a:p>
            <a:pPr algn="l"/>
            <a:r>
              <a:rPr sz="1700" b="0" i="0">
                <a:solidFill>
                  <a:srgbClr val="1E1E2E"/>
                </a:solidFill>
                <a:latin typeface="Arial"/>
              </a:rPr>
              <a:t>Recorded lifecycle decision</a:t>
            </a:r>
          </a:p>
        </p:txBody>
      </p:sp>
      <p:sp>
        <p:nvSpPr>
          <p:cNvPr id="26" name="TextBox 25"/>
          <p:cNvSpPr txBox="1"/>
          <p:nvPr/>
        </p:nvSpPr>
        <p:spPr>
          <a:xfrm>
            <a:off x="8778240" y="504748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Verify residual resources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Custom gap layer: detailed reference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548640" y="1600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6463" y="1673352"/>
            <a:ext cx="438912" cy="438912"/>
          </a:xfrm>
          <a:prstGeom prst="rect">
            <a:avLst/>
          </a:prstGeom>
        </p:spPr>
      </p:pic>
      <p:sp>
        <p:nvSpPr>
          <p:cNvPr id="11" name="TextBox 10"/>
          <p:cNvSpPr txBox="1"/>
          <p:nvPr/>
        </p:nvSpPr>
        <p:spPr>
          <a:xfrm>
            <a:off x="585216" y="2148840"/>
            <a:ext cx="2121408" cy="512064"/>
          </a:xfrm>
          <a:prstGeom prst="rect">
            <a:avLst/>
          </a:prstGeom>
          <a:noFill/>
        </p:spPr>
        <p:txBody>
          <a:bodyPr wrap="square" lIns="0" rIns="0" tIns="0" bIns="0" anchor="t">
            <a:noAutofit/>
          </a:bodyPr>
          <a:lstStyle/>
          <a:p>
            <a:pPr algn="ctr"/>
            <a:r>
              <a:rPr sz="1300" b="1" i="0">
                <a:solidFill>
                  <a:srgbClr val="000048"/>
                </a:solidFill>
                <a:latin typeface="Arial"/>
              </a:rPr>
              <a:t>Pipelines and Agent 365</a:t>
            </a:r>
          </a:p>
          <a:p>
            <a:pPr algn="ctr"/>
            <a:r>
              <a:rPr sz="1100" b="0" i="0">
                <a:solidFill>
                  <a:srgbClr val="53565A"/>
                </a:solidFill>
                <a:latin typeface="Arial"/>
              </a:rPr>
              <a:t>release record, registry export*</a:t>
            </a:r>
          </a:p>
        </p:txBody>
      </p:sp>
      <p:sp>
        <p:nvSpPr>
          <p:cNvPr id="12" name="Rounded Rectangle 11"/>
          <p:cNvSpPr/>
          <p:nvPr/>
        </p:nvSpPr>
        <p:spPr>
          <a:xfrm>
            <a:off x="548640" y="2743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6463" y="2816352"/>
            <a:ext cx="438912" cy="438912"/>
          </a:xfrm>
          <a:prstGeom prst="rect">
            <a:avLst/>
          </a:prstGeom>
        </p:spPr>
      </p:pic>
      <p:sp>
        <p:nvSpPr>
          <p:cNvPr id="14" name="TextBox 13"/>
          <p:cNvSpPr txBox="1"/>
          <p:nvPr/>
        </p:nvSpPr>
        <p:spPr>
          <a:xfrm>
            <a:off x="585216" y="3291840"/>
            <a:ext cx="2121408" cy="512064"/>
          </a:xfrm>
          <a:prstGeom prst="rect">
            <a:avLst/>
          </a:prstGeom>
          <a:noFill/>
        </p:spPr>
        <p:txBody>
          <a:bodyPr wrap="square" lIns="0" rIns="0" tIns="0" bIns="0" anchor="t">
            <a:noAutofit/>
          </a:bodyPr>
          <a:lstStyle/>
          <a:p>
            <a:pPr algn="ctr"/>
            <a:r>
              <a:rPr sz="1300" b="1" i="0">
                <a:solidFill>
                  <a:srgbClr val="000048"/>
                </a:solidFill>
                <a:latin typeface="Arial"/>
              </a:rPr>
              <a:t>Foundry Control Plane</a:t>
            </a:r>
          </a:p>
          <a:p>
            <a:pPr algn="ctr"/>
            <a:r>
              <a:rPr sz="1100" b="0" i="0">
                <a:solidFill>
                  <a:srgbClr val="53565A"/>
                </a:solidFill>
                <a:latin typeface="Arial"/>
              </a:rPr>
              <a:t>Foundry, SRE Agent, Logic Apps, custom</a:t>
            </a:r>
          </a:p>
        </p:txBody>
      </p:sp>
      <p:sp>
        <p:nvSpPr>
          <p:cNvPr id="15" name="Rounded Rectangle 14"/>
          <p:cNvSpPr/>
          <p:nvPr/>
        </p:nvSpPr>
        <p:spPr>
          <a:xfrm>
            <a:off x="548640" y="416052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Resource Graph Explorer" descr="Official Azure icon: Resource Graph Explore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6463" y="4233672"/>
            <a:ext cx="438912" cy="438912"/>
          </a:xfrm>
          <a:prstGeom prst="rect">
            <a:avLst/>
          </a:prstGeom>
        </p:spPr>
      </p:pic>
      <p:sp>
        <p:nvSpPr>
          <p:cNvPr id="17" name="TextBox 16"/>
          <p:cNvSpPr txBox="1"/>
          <p:nvPr/>
        </p:nvSpPr>
        <p:spPr>
          <a:xfrm>
            <a:off x="585216" y="4709159"/>
            <a:ext cx="2121408" cy="512064"/>
          </a:xfrm>
          <a:prstGeom prst="rect">
            <a:avLst/>
          </a:prstGeom>
          <a:noFill/>
        </p:spPr>
        <p:txBody>
          <a:bodyPr wrap="square" lIns="0" rIns="0" tIns="0" bIns="0" anchor="t">
            <a:noAutofit/>
          </a:bodyPr>
          <a:lstStyle/>
          <a:p>
            <a:pPr algn="ctr"/>
            <a:r>
              <a:rPr sz="1300" b="1" i="0">
                <a:solidFill>
                  <a:srgbClr val="000048"/>
                </a:solidFill>
                <a:latin typeface="Arial"/>
              </a:rPr>
              <a:t>Resource Graph</a:t>
            </a:r>
          </a:p>
          <a:p>
            <a:pPr algn="ctr"/>
            <a:r>
              <a:rPr sz="1100" b="0" i="0">
                <a:solidFill>
                  <a:srgbClr val="53565A"/>
                </a:solidFill>
                <a:latin typeface="Arial"/>
              </a:rPr>
              <a:t>hosting resources, tags</a:t>
            </a:r>
          </a:p>
        </p:txBody>
      </p:sp>
      <p:sp>
        <p:nvSpPr>
          <p:cNvPr id="18" name="Rounded Rectangle 17"/>
          <p:cNvSpPr/>
          <p:nvPr/>
        </p:nvSpPr>
        <p:spPr>
          <a:xfrm>
            <a:off x="3657600" y="2743200"/>
            <a:ext cx="237744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Function App" descr="Official Azure icon: Function App"/>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4859" y="2816352"/>
            <a:ext cx="502920" cy="502920"/>
          </a:xfrm>
          <a:prstGeom prst="rect">
            <a:avLst/>
          </a:prstGeom>
        </p:spPr>
      </p:pic>
      <p:sp>
        <p:nvSpPr>
          <p:cNvPr id="20" name="TextBox 19"/>
          <p:cNvSpPr txBox="1"/>
          <p:nvPr/>
        </p:nvSpPr>
        <p:spPr>
          <a:xfrm>
            <a:off x="3694176" y="3355848"/>
            <a:ext cx="2304288" cy="528945"/>
          </a:xfrm>
          <a:prstGeom prst="rect">
            <a:avLst/>
          </a:prstGeom>
          <a:noFill/>
        </p:spPr>
        <p:txBody>
          <a:bodyPr wrap="square" lIns="0" rIns="0" tIns="0" bIns="0" anchor="t">
            <a:noAutofit/>
          </a:bodyPr>
          <a:lstStyle/>
          <a:p>
            <a:pPr algn="ctr"/>
            <a:r>
              <a:rPr sz="1400" b="1" i="0">
                <a:solidFill>
                  <a:srgbClr val="000048"/>
                </a:solidFill>
                <a:latin typeface="Arial"/>
              </a:rPr>
              <a:t>Reconciliation job</a:t>
            </a:r>
          </a:p>
          <a:p>
            <a:pPr algn="ctr"/>
            <a:r>
              <a:rPr sz="1100" b="0" i="0">
                <a:solidFill>
                  <a:srgbClr val="53565A"/>
                </a:solidFill>
                <a:latin typeface="Arial"/>
              </a:rPr>
              <a:t>Function App, managed identity, read-only</a:t>
            </a:r>
          </a:p>
        </p:txBody>
      </p:sp>
      <p:sp>
        <p:nvSpPr>
          <p:cNvPr id="21" name="Rounded Rectangle 20"/>
          <p:cNvSpPr/>
          <p:nvPr/>
        </p:nvSpPr>
        <p:spPr>
          <a:xfrm>
            <a:off x="6675120" y="2743200"/>
            <a:ext cx="201168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Cosmos DB" descr="Official Azure icon: Azure Cosmos DB"/>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9500" y="2816352"/>
            <a:ext cx="502920" cy="502920"/>
          </a:xfrm>
          <a:prstGeom prst="rect">
            <a:avLst/>
          </a:prstGeom>
        </p:spPr>
      </p:pic>
      <p:sp>
        <p:nvSpPr>
          <p:cNvPr id="23" name="TextBox 22"/>
          <p:cNvSpPr txBox="1"/>
          <p:nvPr/>
        </p:nvSpPr>
        <p:spPr>
          <a:xfrm>
            <a:off x="6711696" y="3355848"/>
            <a:ext cx="1938528" cy="528945"/>
          </a:xfrm>
          <a:prstGeom prst="rect">
            <a:avLst/>
          </a:prstGeom>
          <a:noFill/>
        </p:spPr>
        <p:txBody>
          <a:bodyPr wrap="square" lIns="0" rIns="0" tIns="0" bIns="0" anchor="t">
            <a:noAutofit/>
          </a:bodyPr>
          <a:lstStyle/>
          <a:p>
            <a:pPr algn="ctr"/>
            <a:r>
              <a:rPr sz="1400" b="1" i="0">
                <a:solidFill>
                  <a:srgbClr val="000048"/>
                </a:solidFill>
                <a:latin typeface="Arial"/>
              </a:rPr>
              <a:t>Agent registry</a:t>
            </a:r>
          </a:p>
          <a:p>
            <a:pPr algn="ctr"/>
            <a:r>
              <a:rPr sz="1100" b="0" i="0">
                <a:solidFill>
                  <a:srgbClr val="53565A"/>
                </a:solidFill>
                <a:latin typeface="Arial"/>
              </a:rPr>
              <a:t>Cosmos DB</a:t>
            </a:r>
          </a:p>
        </p:txBody>
      </p:sp>
      <p:sp>
        <p:nvSpPr>
          <p:cNvPr id="24" name="Rounded Rectangle 23"/>
          <p:cNvSpPr/>
          <p:nvPr/>
        </p:nvSpPr>
        <p:spPr>
          <a:xfrm>
            <a:off x="3657600" y="1536192"/>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Application Insights" descr="Official Azure icon: Application Insigh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0752" y="1687067"/>
            <a:ext cx="384048" cy="384048"/>
          </a:xfrm>
          <a:prstGeom prst="rect">
            <a:avLst/>
          </a:prstGeom>
        </p:spPr>
      </p:pic>
      <p:sp>
        <p:nvSpPr>
          <p:cNvPr id="26" name="TextBox 25"/>
          <p:cNvSpPr txBox="1"/>
          <p:nvPr/>
        </p:nvSpPr>
        <p:spPr>
          <a:xfrm>
            <a:off x="4187952" y="1572768"/>
            <a:ext cx="1810512" cy="612648"/>
          </a:xfrm>
          <a:prstGeom prst="rect">
            <a:avLst/>
          </a:prstGeom>
          <a:noFill/>
        </p:spPr>
        <p:txBody>
          <a:bodyPr wrap="square" lIns="0" rIns="0" tIns="0" bIns="0" anchor="ctr">
            <a:noAutofit/>
          </a:bodyPr>
          <a:lstStyle/>
          <a:p>
            <a:pPr algn="l"/>
            <a:r>
              <a:rPr sz="1200" b="1" i="0">
                <a:solidFill>
                  <a:srgbClr val="000048"/>
                </a:solidFill>
                <a:latin typeface="Arial"/>
              </a:rPr>
              <a:t>Application Insights</a:t>
            </a:r>
          </a:p>
          <a:p>
            <a:pPr algn="l"/>
            <a:r>
              <a:rPr sz="1000" b="0" i="0">
                <a:solidFill>
                  <a:srgbClr val="53565A"/>
                </a:solidFill>
                <a:latin typeface="Arial"/>
              </a:rPr>
              <a:t>per Foundry project or app</a:t>
            </a:r>
          </a:p>
        </p:txBody>
      </p:sp>
      <p:sp>
        <p:nvSpPr>
          <p:cNvPr id="27" name="Rounded Rectangle 26"/>
          <p:cNvSpPr/>
          <p:nvPr/>
        </p:nvSpPr>
        <p:spPr>
          <a:xfrm>
            <a:off x="3657600" y="4572000"/>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Log Analytics workspace" descr="Official Azure icon: Log Analytics workspace"/>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30752" y="4722876"/>
            <a:ext cx="384048" cy="384048"/>
          </a:xfrm>
          <a:prstGeom prst="rect">
            <a:avLst/>
          </a:prstGeom>
        </p:spPr>
      </p:pic>
      <p:sp>
        <p:nvSpPr>
          <p:cNvPr id="29" name="TextBox 28"/>
          <p:cNvSpPr txBox="1"/>
          <p:nvPr/>
        </p:nvSpPr>
        <p:spPr>
          <a:xfrm>
            <a:off x="4187952" y="4608576"/>
            <a:ext cx="1810512" cy="612648"/>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000" b="0" i="0">
                <a:solidFill>
                  <a:srgbClr val="53565A"/>
                </a:solidFill>
                <a:latin typeface="Arial"/>
              </a:rPr>
              <a:t>gateway, platform logs</a:t>
            </a:r>
          </a:p>
        </p:txBody>
      </p:sp>
      <p:sp>
        <p:nvSpPr>
          <p:cNvPr id="30" name="Rounded Rectangle 29"/>
          <p:cNvSpPr/>
          <p:nvPr/>
        </p:nvSpPr>
        <p:spPr>
          <a:xfrm>
            <a:off x="9372600" y="160020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96144" y="1673352"/>
            <a:ext cx="438912" cy="438912"/>
          </a:xfrm>
          <a:prstGeom prst="rect">
            <a:avLst/>
          </a:prstGeom>
        </p:spPr>
      </p:pic>
      <p:sp>
        <p:nvSpPr>
          <p:cNvPr id="32" name="TextBox 31"/>
          <p:cNvSpPr txBox="1"/>
          <p:nvPr/>
        </p:nvSpPr>
        <p:spPr>
          <a:xfrm>
            <a:off x="9409176" y="2148840"/>
            <a:ext cx="2212848" cy="512064"/>
          </a:xfrm>
          <a:prstGeom prst="rect">
            <a:avLst/>
          </a:prstGeom>
          <a:noFill/>
        </p:spPr>
        <p:txBody>
          <a:bodyPr wrap="square" lIns="0" rIns="0" tIns="0" bIns="0" anchor="t">
            <a:noAutofit/>
          </a:bodyPr>
          <a:lstStyle/>
          <a:p>
            <a:pPr algn="ctr"/>
            <a:r>
              <a:rPr sz="1300" b="1" i="0">
                <a:solidFill>
                  <a:srgbClr val="000048"/>
                </a:solidFill>
                <a:latin typeface="Arial"/>
              </a:rPr>
              <a:t>Catalogue workbook</a:t>
            </a:r>
          </a:p>
          <a:p>
            <a:pPr algn="ctr"/>
            <a:r>
              <a:rPr sz="1100" b="0" i="0">
                <a:solidFill>
                  <a:srgbClr val="53565A"/>
                </a:solidFill>
                <a:latin typeface="Arial"/>
              </a:rPr>
              <a:t>status, owner, usage, risk</a:t>
            </a:r>
          </a:p>
        </p:txBody>
      </p:sp>
      <p:sp>
        <p:nvSpPr>
          <p:cNvPr id="33" name="Rounded Rectangle 32"/>
          <p:cNvSpPr/>
          <p:nvPr/>
        </p:nvSpPr>
        <p:spPr>
          <a:xfrm>
            <a:off x="9372600" y="402336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Alerts" descr="Official Azure icon: Aler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296144" y="4096512"/>
            <a:ext cx="438912" cy="438912"/>
          </a:xfrm>
          <a:prstGeom prst="rect">
            <a:avLst/>
          </a:prstGeom>
        </p:spPr>
      </p:pic>
      <p:sp>
        <p:nvSpPr>
          <p:cNvPr id="35" name="TextBox 34"/>
          <p:cNvSpPr txBox="1"/>
          <p:nvPr/>
        </p:nvSpPr>
        <p:spPr>
          <a:xfrm>
            <a:off x="9409176" y="4572000"/>
            <a:ext cx="2212848" cy="512064"/>
          </a:xfrm>
          <a:prstGeom prst="rect">
            <a:avLst/>
          </a:prstGeom>
          <a:noFill/>
        </p:spPr>
        <p:txBody>
          <a:bodyPr wrap="square" lIns="0" rIns="0" tIns="0" bIns="0" anchor="t">
            <a:noAutofit/>
          </a:bodyPr>
          <a:lstStyle/>
          <a:p>
            <a:pPr algn="ctr"/>
            <a:r>
              <a:rPr sz="1300" b="1" i="0">
                <a:solidFill>
                  <a:srgbClr val="000048"/>
                </a:solidFill>
                <a:latin typeface="Arial"/>
              </a:rPr>
              <a:t>Review alerts</a:t>
            </a:r>
          </a:p>
          <a:p>
            <a:pPr algn="ctr"/>
            <a:r>
              <a:rPr sz="1100" b="0" i="0">
                <a:solidFill>
                  <a:srgbClr val="53565A"/>
                </a:solidFill>
                <a:latin typeface="Arial"/>
              </a:rPr>
              <a:t>dormancy, telemetry health, orphan</a:t>
            </a:r>
          </a:p>
        </p:txBody>
      </p:sp>
      <p:cxnSp>
        <p:nvCxnSpPr>
          <p:cNvPr id="36" name="Connector (flow)"/>
          <p:cNvCxnSpPr/>
          <p:nvPr/>
        </p:nvCxnSpPr>
        <p:spPr>
          <a:xfrm>
            <a:off x="2743200" y="201168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3108960" y="1389888"/>
            <a:ext cx="0" cy="621792"/>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3108960" y="1389888"/>
            <a:ext cx="45720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680960" y="1389888"/>
            <a:ext cx="0" cy="135331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3182112"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41" name="Connector (telemetry)"/>
          <p:cNvCxnSpPr/>
          <p:nvPr/>
        </p:nvCxnSpPr>
        <p:spPr>
          <a:xfrm>
            <a:off x="2743200" y="3200400"/>
            <a:ext cx="91440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telemetry)"/>
          <p:cNvCxnSpPr/>
          <p:nvPr/>
        </p:nvCxnSpPr>
        <p:spPr>
          <a:xfrm flipV="1">
            <a:off x="2743200" y="3520440"/>
            <a:ext cx="914400" cy="96012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63240" y="361188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44" name="Connector (telemetry)"/>
          <p:cNvCxnSpPr/>
          <p:nvPr/>
        </p:nvCxnSpPr>
        <p:spPr>
          <a:xfrm>
            <a:off x="4846320" y="2221992"/>
            <a:ext cx="0" cy="5212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4846320" y="4114800"/>
            <a:ext cx="0" cy="4572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9834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7" name="Connector (flow)"/>
          <p:cNvCxnSpPr/>
          <p:nvPr/>
        </p:nvCxnSpPr>
        <p:spPr>
          <a:xfrm>
            <a:off x="6035040" y="33832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217920" y="2971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cxnSp>
        <p:nvCxnSpPr>
          <p:cNvPr id="49" name="Connector (flow)"/>
          <p:cNvCxnSpPr/>
          <p:nvPr/>
        </p:nvCxnSpPr>
        <p:spPr>
          <a:xfrm>
            <a:off x="8686800" y="310896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flipV="1">
            <a:off x="9006840" y="192024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1" name="Connector (flow)"/>
          <p:cNvCxnSpPr/>
          <p:nvPr/>
        </p:nvCxnSpPr>
        <p:spPr>
          <a:xfrm>
            <a:off x="9006840" y="192024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0982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cxnSp>
        <p:nvCxnSpPr>
          <p:cNvPr id="53" name="Connector (flow)"/>
          <p:cNvCxnSpPr/>
          <p:nvPr/>
        </p:nvCxnSpPr>
        <p:spPr>
          <a:xfrm>
            <a:off x="8686800" y="365760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4" name="Connector (flow)"/>
          <p:cNvCxnSpPr/>
          <p:nvPr/>
        </p:nvCxnSpPr>
        <p:spPr>
          <a:xfrm>
            <a:off x="9006840" y="3657600"/>
            <a:ext cx="0" cy="8686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5" name="Connector (flow)"/>
          <p:cNvCxnSpPr/>
          <p:nvPr/>
        </p:nvCxnSpPr>
        <p:spPr>
          <a:xfrm>
            <a:off x="9006840" y="4526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098280" y="3886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57" name="Connector (flow)"/>
          <p:cNvCxnSpPr/>
          <p:nvPr/>
        </p:nvCxnSpPr>
        <p:spPr>
          <a:xfrm>
            <a:off x="548640" y="571500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02412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9" name="Connector (telemetry)"/>
          <p:cNvCxnSpPr/>
          <p:nvPr/>
        </p:nvCxnSpPr>
        <p:spPr>
          <a:xfrm>
            <a:off x="2926080" y="5715000"/>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40156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61" name="TextBox 60"/>
          <p:cNvSpPr txBox="1"/>
          <p:nvPr/>
        </p:nvSpPr>
        <p:spPr>
          <a:xfrm>
            <a:off x="5486400" y="5596128"/>
            <a:ext cx="612648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 Others are native Azure capabilities.</a:t>
            </a:r>
          </a:p>
        </p:txBody>
      </p:sp>
      <p:sp>
        <p:nvSpPr>
          <p:cNvPr id="62" name="TextBox 61"/>
          <p:cNvSpPr txBox="1"/>
          <p:nvPr/>
        </p:nvSpPr>
        <p:spPr>
          <a:xfrm>
            <a:off x="548640" y="594360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each source contributes, and where it stops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2910840"/>
        </p:xfrm>
        <a:graphic>
          <a:graphicData uri="http://schemas.openxmlformats.org/drawingml/2006/table">
            <a:tbl>
              <a:tblPr firstRow="1" bandRow="0">
                <a:tableStyleId>{5C22544A-7EE6-4342-B048-85BDC9FD1C3A}</a:tableStyleId>
              </a:tblPr>
              <a:tblGrid>
                <a:gridCol w="2194560"/>
                <a:gridCol w="3931920"/>
                <a:gridCol w="2011680"/>
                <a:gridCol w="2953512"/>
              </a:tblGrid>
              <a:tr h="289560">
                <a:tc>
                  <a:txBody>
                    <a:bodyPr wrap="square" anchor="ctr">
                      <a:noAutofit/>
                    </a:bodyPr>
                    <a:lstStyle/>
                    <a:p>
                      <a:pPr algn="l"/>
                      <a:r>
                        <a:rPr sz="13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Proves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Native or custom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Stops at</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Registered agents across Microsoft, Copilot Studio, Foundry, partners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 licensed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Licence needed; lifecycle actions announced, not all GA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 Control Plane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Supported agents exist; runs, errors, tokens, estimated cost (last month)</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Native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Classic agents and Azure OpenAI assistants not supported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Azure Resource Graph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Hosting resources and tags exist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Not a logical agent list</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Deployment pipelines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ID, version, owner at release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 integration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Agents deployed outside pipelines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Application Insights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Runs, traces, errors per agent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 needs instrumentation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Only runs after configuration; sampling</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Log Analytics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Gateway and platform activity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Native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Needs agent ID in logs to join</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Registry and workbook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Reconciled status and ownership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 good as the joins feeding it</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Minimum catalogue record for each agent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SCHEMA"/>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SCHEMA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54864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Identity</a:t>
            </a:r>
          </a:p>
        </p:txBody>
      </p:sp>
      <p:sp>
        <p:nvSpPr>
          <p:cNvPr id="10" name="Rounded Rectangle 9"/>
          <p:cNvSpPr/>
          <p:nvPr/>
        </p:nvSpPr>
        <p:spPr>
          <a:xfrm>
            <a:off x="54864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Agent ID and version</a:t>
            </a:r>
          </a:p>
          <a:p>
            <a:pPr algn="l" marL="201168" indent="-201168">
              <a:spcAft>
                <a:spcPts val="800"/>
              </a:spcAft>
              <a:buFont typeface="Arial"/>
              <a:buChar char="•"/>
            </a:pPr>
            <a:r>
              <a:rPr sz="1500" b="0" i="0">
                <a:solidFill>
                  <a:srgbClr val="1E1E2E"/>
                </a:solidFill>
                <a:latin typeface="Arial"/>
              </a:rPr>
              <a:t>Environment and hosting platform</a:t>
            </a:r>
          </a:p>
          <a:p>
            <a:pPr algn="l" marL="201168" indent="-201168">
              <a:spcAft>
                <a:spcPts val="800"/>
              </a:spcAft>
              <a:buFont typeface="Arial"/>
              <a:buChar char="•"/>
            </a:pPr>
            <a:r>
              <a:rPr sz="1500" b="0" i="0">
                <a:solidFill>
                  <a:srgbClr val="1E1E2E"/>
                </a:solidFill>
                <a:latin typeface="Arial"/>
              </a:rPr>
              <a:t>Deployment location and endpoint</a:t>
            </a:r>
          </a:p>
        </p:txBody>
      </p:sp>
      <p:sp>
        <p:nvSpPr>
          <p:cNvPr id="11" name="Rounded Rectangle 10"/>
          <p:cNvSpPr/>
          <p:nvPr/>
        </p:nvSpPr>
        <p:spPr>
          <a:xfrm>
            <a:off x="278892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Accountability</a:t>
            </a:r>
          </a:p>
        </p:txBody>
      </p:sp>
      <p:sp>
        <p:nvSpPr>
          <p:cNvPr id="12" name="Rounded Rectangle 11"/>
          <p:cNvSpPr/>
          <p:nvPr/>
        </p:nvSpPr>
        <p:spPr>
          <a:xfrm>
            <a:off x="278892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Business owner</a:t>
            </a:r>
          </a:p>
          <a:p>
            <a:pPr algn="l" marL="201168" indent="-201168">
              <a:spcAft>
                <a:spcPts val="800"/>
              </a:spcAft>
              <a:buFont typeface="Arial"/>
              <a:buChar char="•"/>
            </a:pPr>
            <a:r>
              <a:rPr sz="1500" b="0" i="0">
                <a:solidFill>
                  <a:srgbClr val="1E1E2E"/>
                </a:solidFill>
                <a:latin typeface="Arial"/>
              </a:rPr>
              <a:t>Technical owner and responder</a:t>
            </a:r>
          </a:p>
          <a:p>
            <a:pPr algn="l" marL="201168" indent="-201168">
              <a:spcAft>
                <a:spcPts val="800"/>
              </a:spcAft>
              <a:buFont typeface="Arial"/>
              <a:buChar char="•"/>
            </a:pPr>
            <a:r>
              <a:rPr sz="1500" b="0" i="0">
                <a:solidFill>
                  <a:srgbClr val="1E1E2E"/>
                </a:solidFill>
                <a:latin typeface="Arial"/>
              </a:rPr>
              <a:t>Review date</a:t>
            </a:r>
          </a:p>
        </p:txBody>
      </p:sp>
      <p:sp>
        <p:nvSpPr>
          <p:cNvPr id="13" name="Rounded Rectangle 12"/>
          <p:cNvSpPr/>
          <p:nvPr/>
        </p:nvSpPr>
        <p:spPr>
          <a:xfrm>
            <a:off x="502920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Exposure</a:t>
            </a:r>
          </a:p>
        </p:txBody>
      </p:sp>
      <p:sp>
        <p:nvSpPr>
          <p:cNvPr id="14" name="Rounded Rectangle 13"/>
          <p:cNvSpPr/>
          <p:nvPr/>
        </p:nvSpPr>
        <p:spPr>
          <a:xfrm>
            <a:off x="502920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Identity and permissions</a:t>
            </a:r>
          </a:p>
          <a:p>
            <a:pPr algn="l" marL="201168" indent="-201168">
              <a:spcAft>
                <a:spcPts val="800"/>
              </a:spcAft>
              <a:buFont typeface="Arial"/>
              <a:buChar char="•"/>
            </a:pPr>
            <a:r>
              <a:rPr sz="1500" b="0" i="0">
                <a:solidFill>
                  <a:srgbClr val="1E1E2E"/>
                </a:solidFill>
                <a:latin typeface="Arial"/>
              </a:rPr>
              <a:t>Models, tools and data dependencies</a:t>
            </a:r>
          </a:p>
          <a:p>
            <a:pPr algn="l" marL="201168" indent="-201168">
              <a:spcAft>
                <a:spcPts val="800"/>
              </a:spcAft>
              <a:buFont typeface="Arial"/>
              <a:buChar char="•"/>
            </a:pPr>
            <a:r>
              <a:rPr sz="1500" b="0" i="0">
                <a:solidFill>
                  <a:srgbClr val="1E1E2E"/>
                </a:solidFill>
                <a:latin typeface="Arial"/>
              </a:rPr>
              <a:t>Risk classification</a:t>
            </a:r>
          </a:p>
        </p:txBody>
      </p:sp>
      <p:sp>
        <p:nvSpPr>
          <p:cNvPr id="15" name="Rounded Rectangle 14"/>
          <p:cNvSpPr/>
          <p:nvPr/>
        </p:nvSpPr>
        <p:spPr>
          <a:xfrm>
            <a:off x="726948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Activity</a:t>
            </a:r>
          </a:p>
        </p:txBody>
      </p:sp>
      <p:sp>
        <p:nvSpPr>
          <p:cNvPr id="16" name="Rounded Rectangle 15"/>
          <p:cNvSpPr/>
          <p:nvPr/>
        </p:nvSpPr>
        <p:spPr>
          <a:xfrm>
            <a:off x="726948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Last observed run</a:t>
            </a:r>
          </a:p>
          <a:p>
            <a:pPr algn="l" marL="201168" indent="-201168">
              <a:spcAft>
                <a:spcPts val="800"/>
              </a:spcAft>
              <a:buFont typeface="Arial"/>
              <a:buChar char="•"/>
            </a:pPr>
            <a:r>
              <a:rPr sz="1500" b="0" i="0">
                <a:solidFill>
                  <a:srgbClr val="1E1E2E"/>
                </a:solidFill>
                <a:latin typeface="Arial"/>
              </a:rPr>
              <a:t>Usage, error and cost indicators</a:t>
            </a:r>
          </a:p>
          <a:p>
            <a:pPr algn="l" marL="201168" indent="-201168">
              <a:spcAft>
                <a:spcPts val="800"/>
              </a:spcAft>
              <a:buFont typeface="Arial"/>
              <a:buChar char="•"/>
            </a:pPr>
            <a:r>
              <a:rPr sz="1500" b="0" i="0">
                <a:solidFill>
                  <a:srgbClr val="1E1E2E"/>
                </a:solidFill>
                <a:latin typeface="Arial"/>
              </a:rPr>
              <a:t>Telemetry health</a:t>
            </a:r>
          </a:p>
        </p:txBody>
      </p:sp>
      <p:sp>
        <p:nvSpPr>
          <p:cNvPr id="17" name="Rounded Rectangle 16"/>
          <p:cNvSpPr/>
          <p:nvPr/>
        </p:nvSpPr>
        <p:spPr>
          <a:xfrm>
            <a:off x="950976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Control</a:t>
            </a:r>
          </a:p>
        </p:txBody>
      </p:sp>
      <p:sp>
        <p:nvSpPr>
          <p:cNvPr id="18" name="Rounded Rectangle 17"/>
          <p:cNvSpPr/>
          <p:nvPr/>
        </p:nvSpPr>
        <p:spPr>
          <a:xfrm>
            <a:off x="950976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Containment mechanism per layer</a:t>
            </a:r>
          </a:p>
          <a:p>
            <a:pPr algn="l" marL="201168" indent="-201168">
              <a:spcAft>
                <a:spcPts val="800"/>
              </a:spcAft>
              <a:buFont typeface="Arial"/>
              <a:buChar char="•"/>
            </a:pPr>
            <a:r>
              <a:rPr sz="1500" b="0" i="0">
                <a:solidFill>
                  <a:srgbClr val="1E1E2E"/>
                </a:solidFill>
                <a:latin typeface="Arial"/>
              </a:rPr>
              <a:t>Lifecycle status</a:t>
            </a:r>
          </a:p>
          <a:p>
            <a:pPr algn="l" marL="201168" indent="-201168">
              <a:spcAft>
                <a:spcPts val="800"/>
              </a:spcAft>
              <a:buFont typeface="Arial"/>
              <a:buChar char="•"/>
            </a:pPr>
            <a:r>
              <a:rPr sz="1500" b="0" i="0">
                <a:solidFill>
                  <a:srgbClr val="1E1E2E"/>
                </a:solidFill>
                <a:latin typeface="Arial"/>
              </a:rPr>
              <a:t>State version (quarantine)</a:t>
            </a:r>
          </a:p>
        </p:txBody>
      </p:sp>
      <p:sp>
        <p:nvSpPr>
          <p:cNvPr id="19" name="Rounded Rectangle 18"/>
          <p:cNvSpPr/>
          <p:nvPr/>
        </p:nvSpPr>
        <p:spPr>
          <a:xfrm>
            <a:off x="548640" y="53949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A record with no owner or no containment mechanism is a finding, not a pass.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and runtime evidence answer different things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8" name="Rounded Rectangle 7"/>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Deployment inventory: what exists</a:t>
            </a:r>
          </a:p>
        </p:txBody>
      </p:sp>
      <p:sp>
        <p:nvSpPr>
          <p:cNvPr id="9" name="TextBox 8"/>
          <p:cNvSpPr txBox="1"/>
          <p:nvPr/>
        </p:nvSpPr>
        <p:spPr>
          <a:xfrm>
            <a:off x="548640" y="2057400"/>
            <a:ext cx="5394960" cy="301752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Sources: Foundry Control Plane, Resource Graph, pipelines</a:t>
            </a:r>
          </a:p>
          <a:p>
            <a:pPr algn="l" marL="201168" indent="-201168">
              <a:spcAft>
                <a:spcPts val="800"/>
              </a:spcAft>
              <a:buFont typeface="Arial"/>
              <a:buChar char="•"/>
            </a:pPr>
            <a:r>
              <a:rPr sz="1700" b="0" i="0">
                <a:solidFill>
                  <a:srgbClr val="1E1E2E"/>
                </a:solidFill>
                <a:latin typeface="Arial"/>
              </a:rPr>
              <a:t>Answers: does it exist, where, who owns it</a:t>
            </a:r>
          </a:p>
          <a:p>
            <a:pPr algn="l" marL="201168" indent="-201168">
              <a:spcAft>
                <a:spcPts val="800"/>
              </a:spcAft>
              <a:buFont typeface="Arial"/>
              <a:buChar char="•"/>
            </a:pPr>
            <a:r>
              <a:rPr sz="1700" b="0" i="0">
                <a:solidFill>
                  <a:srgbClr val="1E1E2E"/>
                </a:solidFill>
                <a:latin typeface="Arial"/>
              </a:rPr>
              <a:t>Fails when: deployed outside pipelines or platforms</a:t>
            </a:r>
          </a:p>
          <a:p>
            <a:pPr algn="l" marL="201168" indent="-201168">
              <a:spcAft>
                <a:spcPts val="800"/>
              </a:spcAft>
              <a:buFont typeface="Arial"/>
              <a:buChar char="•"/>
            </a:pPr>
            <a:r>
              <a:rPr sz="1700" b="0" i="0">
                <a:solidFill>
                  <a:srgbClr val="1E1E2E"/>
                </a:solidFill>
                <a:latin typeface="Arial"/>
              </a:rPr>
              <a:t>Freshness: at deployment and on schedule</a:t>
            </a:r>
          </a:p>
        </p:txBody>
      </p:sp>
      <p:sp>
        <p:nvSpPr>
          <p:cNvPr id="10" name="Rounded Rectangle 9"/>
          <p:cNvSpPr/>
          <p:nvPr/>
        </p:nvSpPr>
        <p:spPr>
          <a:xfrm>
            <a:off x="6245352" y="1371600"/>
            <a:ext cx="5394960"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Runtime evidence: what runs</a:t>
            </a:r>
          </a:p>
        </p:txBody>
      </p:sp>
      <p:sp>
        <p:nvSpPr>
          <p:cNvPr id="11" name="TextBox 10"/>
          <p:cNvSpPr txBox="1"/>
          <p:nvPr/>
        </p:nvSpPr>
        <p:spPr>
          <a:xfrm>
            <a:off x="6245352" y="2057400"/>
            <a:ext cx="5394960" cy="301752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Sources: Application Insights, Log Analytics, gateway logs</a:t>
            </a:r>
          </a:p>
          <a:p>
            <a:pPr algn="l" marL="201168" indent="-201168">
              <a:spcAft>
                <a:spcPts val="800"/>
              </a:spcAft>
              <a:buFont typeface="Arial"/>
              <a:buChar char="•"/>
            </a:pPr>
            <a:r>
              <a:rPr sz="1700" b="0" i="0">
                <a:solidFill>
                  <a:srgbClr val="1E1E2E"/>
                </a:solidFill>
                <a:latin typeface="Arial"/>
              </a:rPr>
              <a:t>Answers: when it last ran, how often, errors, cost</a:t>
            </a:r>
          </a:p>
          <a:p>
            <a:pPr algn="l" marL="201168" indent="-201168">
              <a:spcAft>
                <a:spcPts val="800"/>
              </a:spcAft>
              <a:buFont typeface="Arial"/>
              <a:buChar char="•"/>
            </a:pPr>
            <a:r>
              <a:rPr sz="1700" b="0" i="0">
                <a:solidFill>
                  <a:srgbClr val="1E1E2E"/>
                </a:solidFill>
                <a:latin typeface="Arial"/>
              </a:rPr>
              <a:t>Fails when: not instrumented, sampled or misconfigured</a:t>
            </a:r>
          </a:p>
          <a:p>
            <a:pPr algn="l" marL="201168" indent="-201168">
              <a:spcAft>
                <a:spcPts val="800"/>
              </a:spcAft>
              <a:buFont typeface="Arial"/>
              <a:buChar char="•"/>
            </a:pPr>
            <a:r>
              <a:rPr sz="1700" b="0" i="0">
                <a:solidFill>
                  <a:srgbClr val="1E1E2E"/>
                </a:solidFill>
                <a:latin typeface="Arial"/>
              </a:rPr>
              <a:t>Freshness: minutes; only after configuration</a:t>
            </a:r>
          </a:p>
        </p:txBody>
      </p:sp>
      <p:sp>
        <p:nvSpPr>
          <p:cNvPr id="12" name="Rounded Rectangle 11"/>
          <p:cNvSpPr/>
          <p:nvPr/>
        </p:nvSpPr>
        <p:spPr>
          <a:xfrm>
            <a:off x="548640" y="53035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Missing telemetry produces "telemetry unknown", never "dormant". Never auto-delete on zero sampled telemetry.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Usage classification rules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OLICY"/>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POLICY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3307080"/>
        </p:xfrm>
        <a:graphic>
          <a:graphicData uri="http://schemas.openxmlformats.org/drawingml/2006/table">
            <a:tbl>
              <a:tblPr firstRow="1" bandRow="0">
                <a:tableStyleId>{5C22544A-7EE6-4342-B048-85BDC9FD1C3A}</a:tableStyleId>
              </a:tblPr>
              <a:tblGrid>
                <a:gridCol w="1828800"/>
                <a:gridCol w="3474720"/>
                <a:gridCol w="2834640"/>
                <a:gridCol w="2953512"/>
              </a:tblGrid>
              <a:tr h="289560">
                <a:tc>
                  <a:txBody>
                    <a:bodyPr wrap="square" anchor="ctr">
                      <a:noAutofit/>
                    </a:bodyPr>
                    <a:lstStyle/>
                    <a:p>
                      <a:pPr algn="l"/>
                      <a:r>
                        <a:rPr sz="13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 used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Action and 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Active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 least one qualifying production run in 30 days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Insights or Control Plane runs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Monitor; agent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Never observed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Deployed, no run since 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Pipeline record, no runs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Validate onboarding; technical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Dormant candidate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runs for 30 days and telemetry healthy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heartbeat present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 in 14 days; business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Telemetry unknown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Missing, stale or unhealthy telemetry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heartbeat; config drift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Repair monitoring; 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Orphaned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invalid, or resource without record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Directory lookup; Resource Graph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Assign or retire; service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Blocked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or policy decision recorded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Registry state version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Verify enforcement;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Retired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Lifecycle decision; resources removed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Resource Graph shows none left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Verify residual resources; CIS Infra</a:t>
                      </a:r>
                    </a:p>
                  </a:txBody>
                  <a:tcPr marL="73152" marR="73152" marT="36576" marB="3657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coverage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3002280"/>
        </p:xfrm>
        <a:graphic>
          <a:graphicData uri="http://schemas.openxmlformats.org/drawingml/2006/table">
            <a:tbl>
              <a:tblPr firstRow="1" bandRow="0">
                <a:tableStyleId>{5C22544A-7EE6-4342-B048-85BDC9FD1C3A}</a:tableStyleId>
              </a:tblPr>
              <a:tblGrid>
                <a:gridCol w="3291840"/>
                <a:gridCol w="2377440"/>
                <a:gridCol w="2651760"/>
                <a:gridCol w="2770632"/>
              </a:tblGrid>
              <a:tr h="289560">
                <a:tc>
                  <a:txBody>
                    <a:bodyPr wrap="square" anchor="ctr">
                      <a:noAutofit/>
                    </a:bodyPr>
                    <a:lstStyle/>
                    <a:p>
                      <a:pPr algn="l"/>
                      <a:r>
                        <a:rPr sz="1300" b="1" i="0">
                          <a:solidFill>
                            <a:srgbClr val="FFFFFF"/>
                          </a:solidFill>
                          <a:latin typeface="Arial"/>
                        </a:rPr>
                        <a:t>Agent type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Inventory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Usage telemetry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Containment</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workflow, hosted</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 once configured</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Stop when published; custom for in-flight</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Azure SRE Agent</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Native runs count</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Start or stop</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300" b="1" i="0">
                          <a:solidFill>
                            <a:srgbClr val="A4262C"/>
                          </a:solidFill>
                          <a:latin typeface="Arial"/>
                        </a:rPr>
                        <a:t>No traces or metrics</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Stop resource: all workflows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Custom agents on Container Apps or AKS</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Register manually</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Custom instrumentation</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Block proxy; custom adapter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Classic agents, Azure OpenAI assistants</a:t>
                      </a:r>
                    </a:p>
                  </a:txBody>
                  <a:tcPr marL="73152" marR="73152" marT="36576" marB="36576" anchor="ctr">
                    <a:solidFill>
                      <a:srgbClr val="FFFFFF"/>
                    </a:solidFill>
                  </a:tcPr>
                </a:tc>
                <a:tc>
                  <a:txBody>
                    <a:bodyPr wrap="square" anchor="ctr">
                      <a:noAutofit/>
                    </a:bodyPr>
                    <a:lstStyle/>
                    <a:p>
                      <a:pPr algn="l"/>
                      <a:r>
                        <a:rPr sz="1300" b="1" i="0">
                          <a:solidFill>
                            <a:srgbClr val="A4262C"/>
                          </a:solidFill>
                          <a:latin typeface="Arial"/>
                        </a:rPr>
                        <a:t>Not supported</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Copilot Studio agents</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Agent 365</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Agent 365 and Purview</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Entra controls; custom</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AWS Bedrock, Google agents</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Agent 365 sync (preview)</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Unregistered SaaS or local agents</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r>
            </a:tbl>
          </a:graphicData>
        </a:graphic>
      </p:graphicFrame>
      <p:sp>
        <p:nvSpPr>
          <p:cNvPr id="10" name="Rounded Rectangle 9"/>
          <p:cNvSpPr/>
          <p:nvPr/>
        </p:nvSpPr>
        <p:spPr>
          <a:xfrm>
            <a:off x="548640" y="53949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Outside coverage means invisible until onboarded. Report coverage percentage with the denominator stated.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estate view: what the workbook shows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ILLUSTRATIVE, NO CUSTOMER DATA"/>
          <p:cNvSpPr/>
          <p:nvPr/>
        </p:nvSpPr>
        <p:spPr>
          <a:xfrm>
            <a:off x="1898650" y="274320"/>
            <a:ext cx="28651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NO CUSTOMER DATA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ILLUSTRATIVE MOCK-UP  ·  invented sample data  ·  not customer evidence</a:t>
            </a:r>
          </a:p>
        </p:txBody>
      </p:sp>
      <p:sp>
        <p:nvSpPr>
          <p:cNvPr id="10" name="Rounded Rectangle 9"/>
          <p:cNvSpPr/>
          <p:nvPr/>
        </p:nvSpPr>
        <p:spPr>
          <a:xfrm>
            <a:off x="54864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24</a:t>
            </a:r>
          </a:p>
          <a:p>
            <a:pPr algn="l"/>
            <a:r>
              <a:rPr sz="1300" b="0" i="0">
                <a:solidFill>
                  <a:srgbClr val="53565A"/>
                </a:solidFill>
                <a:latin typeface="Arial"/>
              </a:rPr>
              <a:t>Registered</a:t>
            </a:r>
          </a:p>
        </p:txBody>
      </p:sp>
      <p:sp>
        <p:nvSpPr>
          <p:cNvPr id="11" name="Rounded Rectangle 10"/>
          <p:cNvSpPr/>
          <p:nvPr/>
        </p:nvSpPr>
        <p:spPr>
          <a:xfrm>
            <a:off x="278892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17</a:t>
            </a:r>
          </a:p>
          <a:p>
            <a:pPr algn="l"/>
            <a:r>
              <a:rPr sz="1300" b="0" i="0">
                <a:solidFill>
                  <a:srgbClr val="53565A"/>
                </a:solidFill>
                <a:latin typeface="Arial"/>
              </a:rPr>
              <a:t>Active, 30 days</a:t>
            </a:r>
          </a:p>
        </p:txBody>
      </p:sp>
      <p:sp>
        <p:nvSpPr>
          <p:cNvPr id="12" name="Rounded Rectangle 11"/>
          <p:cNvSpPr/>
          <p:nvPr/>
        </p:nvSpPr>
        <p:spPr>
          <a:xfrm>
            <a:off x="502920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4</a:t>
            </a:r>
          </a:p>
          <a:p>
            <a:pPr algn="l"/>
            <a:r>
              <a:rPr sz="1300" b="0" i="0">
                <a:solidFill>
                  <a:srgbClr val="53565A"/>
                </a:solidFill>
                <a:latin typeface="Arial"/>
              </a:rPr>
              <a:t>Dormant review</a:t>
            </a:r>
          </a:p>
        </p:txBody>
      </p:sp>
      <p:sp>
        <p:nvSpPr>
          <p:cNvPr id="13" name="Rounded Rectangle 12"/>
          <p:cNvSpPr/>
          <p:nvPr/>
        </p:nvSpPr>
        <p:spPr>
          <a:xfrm>
            <a:off x="726948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3</a:t>
            </a:r>
          </a:p>
          <a:p>
            <a:pPr algn="l"/>
            <a:r>
              <a:rPr sz="1300" b="0" i="0">
                <a:solidFill>
                  <a:srgbClr val="53565A"/>
                </a:solidFill>
                <a:latin typeface="Arial"/>
              </a:rPr>
              <a:t>Telemetry unknown</a:t>
            </a:r>
          </a:p>
        </p:txBody>
      </p:sp>
      <p:sp>
        <p:nvSpPr>
          <p:cNvPr id="14" name="Rounded Rectangle 13"/>
          <p:cNvSpPr/>
          <p:nvPr/>
        </p:nvSpPr>
        <p:spPr>
          <a:xfrm>
            <a:off x="950976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a:t>
            </a:r>
          </a:p>
          <a:p>
            <a:pPr algn="l"/>
            <a:r>
              <a:rPr sz="1300" b="0" i="0">
                <a:solidFill>
                  <a:srgbClr val="53565A"/>
                </a:solidFill>
                <a:latin typeface="Arial"/>
              </a:rPr>
              <a:t>Orphaned</a:t>
            </a:r>
          </a:p>
        </p:txBody>
      </p:sp>
      <p:graphicFrame>
        <p:nvGraphicFramePr>
          <p:cNvPr id="15" name="Table"/>
          <p:cNvGraphicFramePr>
            <a:graphicFrameLocks noGrp="1"/>
          </p:cNvGraphicFramePr>
          <p:nvPr/>
        </p:nvGraphicFramePr>
        <p:xfrm>
          <a:off x="548640" y="3291840"/>
          <a:ext cx="11091672" cy="1524000"/>
        </p:xfrm>
        <a:graphic>
          <a:graphicData uri="http://schemas.openxmlformats.org/drawingml/2006/table">
            <a:tbl>
              <a:tblPr firstRow="1" bandRow="0">
                <a:tableStyleId>{5C22544A-7EE6-4342-B048-85BDC9FD1C3A}</a:tableStyleId>
              </a:tblPr>
              <a:tblGrid>
                <a:gridCol w="2926080"/>
                <a:gridCol w="1828800"/>
                <a:gridCol w="2194560"/>
                <a:gridCol w="1463040"/>
                <a:gridCol w="2679192"/>
              </a:tblGrid>
              <a:tr h="304800">
                <a:tc>
                  <a:txBody>
                    <a:bodyPr wrap="square" anchor="ctr">
                      <a:noAutofit/>
                    </a:bodyPr>
                    <a:lstStyle/>
                    <a:p>
                      <a:pPr algn="l"/>
                      <a:r>
                        <a:rPr sz="1400" b="1" i="0">
                          <a:solidFill>
                            <a:srgbClr val="FFFFFF"/>
                          </a:solidFill>
                          <a:latin typeface="Arial"/>
                        </a:rPr>
                        <a:t>Agent (sample)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Last run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Containment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Knowledge assistant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Workplace</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Today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Block, cancel, deny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Invoice triage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Dormant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42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Block tested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Ops helper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Platform</a:t>
                      </a:r>
                    </a:p>
                  </a:txBody>
                  <a:tcPr marL="73152" marR="73152" marT="36576" marB="36576" anchor="ctr">
                    <a:solidFill>
                      <a:srgbClr val="FFFFFF"/>
                    </a:solidFill>
                  </a:tcPr>
                </a:tc>
                <a:tc>
                  <a:txBody>
                    <a:bodyPr wrap="square" anchor="ctr">
                      <a:noAutofit/>
                    </a:bodyPr>
                    <a:lstStyle/>
                    <a:p>
                      <a:pPr algn="l"/>
                      <a:r>
                        <a:rPr sz="1400" b="1" i="0">
                          <a:solidFill>
                            <a:srgbClr val="53565A"/>
                          </a:solidFill>
                          <a:latin typeface="Arial"/>
                        </a:rPr>
                        <a:t>Telemetry 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Legacy summariser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Orphaned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96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recorded</a:t>
                      </a:r>
                    </a:p>
                  </a:txBody>
                  <a:tcPr marL="73152" marR="73152" marT="36576" marB="36576" anchor="ctr">
                    <a:solidFill>
                      <a:srgbClr val="F5F5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1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1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0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0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0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0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0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0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900" b="0" i="0">
                <a:solidFill>
                  <a:srgbClr val="A4262C"/>
                </a:solidFill>
                <a:latin typeface="Arial"/>
              </a:rPr>
              <a:t>Direct calls that bypass the gateway are denied by network and identity design</a:t>
            </a:r>
          </a:p>
        </p:txBody>
      </p:sp>
      <p:sp>
        <p:nvSpPr>
          <p:cNvPr id="48" name="Rounded Rectangle 47"/>
          <p:cNvSpPr/>
          <p:nvPr/>
        </p:nvSpPr>
        <p:spPr>
          <a:xfrm>
            <a:off x="457200" y="2816352"/>
            <a:ext cx="1600200" cy="566928"/>
          </a:xfrm>
          <a:prstGeom prst="roundRect">
            <a:avLst>
              <a:gd name="adj" fmla="val 12903"/>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9" name="Azure icon: Conditional Access" descr="Official Azure icon: Conditional Acces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30352" y="2953512"/>
            <a:ext cx="292608" cy="292608"/>
          </a:xfrm>
          <a:prstGeom prst="rect">
            <a:avLst/>
          </a:prstGeom>
        </p:spPr>
      </p:pic>
      <p:sp>
        <p:nvSpPr>
          <p:cNvPr id="50" name="TextBox 49"/>
          <p:cNvSpPr txBox="1"/>
          <p:nvPr/>
        </p:nvSpPr>
        <p:spPr>
          <a:xfrm>
            <a:off x="896112" y="2852928"/>
            <a:ext cx="1124712" cy="493776"/>
          </a:xfrm>
          <a:prstGeom prst="rect">
            <a:avLst/>
          </a:prstGeom>
          <a:noFill/>
        </p:spPr>
        <p:txBody>
          <a:bodyPr wrap="square" lIns="0" rIns="0" tIns="0" bIns="0" anchor="ctr">
            <a:noAutofit/>
          </a:bodyPr>
          <a:lstStyle/>
          <a:p>
            <a:pPr algn="l"/>
            <a:r>
              <a:rPr sz="1000" b="1" i="0">
                <a:solidFill>
                  <a:srgbClr val="000048"/>
                </a:solidFill>
                <a:latin typeface="Arial"/>
              </a:rPr>
              <a:t>Entra CA for agents</a:t>
            </a:r>
          </a:p>
          <a:p>
            <a:pPr algn="l"/>
            <a:r>
              <a:rPr sz="900" b="0" i="0">
                <a:solidFill>
                  <a:srgbClr val="53565A"/>
                </a:solidFill>
                <a:latin typeface="Arial"/>
              </a:rPr>
              <a:t>identity-layer block</a:t>
            </a:r>
          </a:p>
        </p:txBody>
      </p:sp>
      <p:sp>
        <p:nvSpPr>
          <p:cNvPr id="51" name="Oval 50"/>
          <p:cNvSpPr/>
          <p:nvPr/>
        </p:nvSpPr>
        <p:spPr>
          <a:xfrm>
            <a:off x="1920240" y="2724912"/>
            <a:ext cx="256032" cy="256032"/>
          </a:xfrm>
          <a:prstGeom prst="ellipse">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sp>
        <p:nvSpPr>
          <p:cNvPr id="52" name="Rounded Rectangle 51"/>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21207" y="5861304"/>
            <a:ext cx="8229600" cy="237744"/>
          </a:xfrm>
          <a:prstGeom prst="rect">
            <a:avLst/>
          </a:prstGeom>
          <a:noFill/>
        </p:spPr>
        <p:txBody>
          <a:bodyPr wrap="square" lIns="0" rIns="0" tIns="0" bIns="0" anchor="t">
            <a:noAutofit/>
          </a:bodyPr>
          <a:lstStyle/>
          <a:p>
            <a:pPr algn="l"/>
            <a:r>
              <a:rPr sz="1100" b="1" i="0">
                <a:solidFill>
                  <a:srgbClr val="4B4BA8"/>
                </a:solidFill>
                <a:latin typeface="Arial"/>
              </a:rPr>
              <a:t>RESTRICTED CONTAINMENT CONTROL PLANE (SEPARATE SUBSCRIPTION OR MANAGEMENT BOUNDARY)</a:t>
            </a:r>
          </a:p>
        </p:txBody>
      </p:sp>
      <p:sp>
        <p:nvSpPr>
          <p:cNvPr id="54" name="Rounded Rectangle 53"/>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5" name="Azure icon: Entra Privileged Identity Management" descr="Official Azure icon: Entra Privileged Identity Manageme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4366260"/>
            <a:ext cx="384048" cy="384048"/>
          </a:xfrm>
          <a:prstGeom prst="rect">
            <a:avLst/>
          </a:prstGeom>
        </p:spPr>
      </p:pic>
      <p:sp>
        <p:nvSpPr>
          <p:cNvPr id="56" name="TextBox 55"/>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000" b="0" i="0">
                <a:solidFill>
                  <a:srgbClr val="53565A"/>
                </a:solidFill>
                <a:latin typeface="Arial"/>
              </a:rPr>
              <a:t>Entra PIM, approval</a:t>
            </a:r>
          </a:p>
        </p:txBody>
      </p:sp>
      <p:sp>
        <p:nvSpPr>
          <p:cNvPr id="57" name="Rounded Rectangle 56"/>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8" name="Azure icon: Azure Monitor" descr="Official Azure icon: Azure Monito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1792" y="5189220"/>
            <a:ext cx="384048" cy="384048"/>
          </a:xfrm>
          <a:prstGeom prst="rect">
            <a:avLst/>
          </a:prstGeom>
        </p:spPr>
      </p:pic>
      <p:sp>
        <p:nvSpPr>
          <p:cNvPr id="59" name="TextBox 58"/>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000" b="0" i="0">
                <a:solidFill>
                  <a:srgbClr val="53565A"/>
                </a:solidFill>
                <a:latin typeface="Arial"/>
              </a:rPr>
              <a:t>Monitor alert, action group</a:t>
            </a:r>
          </a:p>
        </p:txBody>
      </p:sp>
      <p:sp>
        <p:nvSpPr>
          <p:cNvPr id="60" name="Rounded Rectangle 59"/>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1"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62" name="TextBox 61"/>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000" b="0" i="0">
                <a:solidFill>
                  <a:srgbClr val="53565A"/>
                </a:solidFill>
                <a:latin typeface="Arial"/>
              </a:rPr>
              <a:t>Durable Functions, custom code</a:t>
            </a:r>
          </a:p>
        </p:txBody>
      </p:sp>
      <p:sp>
        <p:nvSpPr>
          <p:cNvPr id="63" name="Rounded Rectangle 62"/>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4" name="Azure icon: Azure Cosmos DB" descr="Official Azure icon: Azure Cosmos DB"/>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4357116"/>
            <a:ext cx="365760" cy="365760"/>
          </a:xfrm>
          <a:prstGeom prst="rect">
            <a:avLst/>
          </a:prstGeom>
        </p:spPr>
      </p:pic>
      <p:sp>
        <p:nvSpPr>
          <p:cNvPr id="65" name="TextBox 64"/>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000" b="0" i="0">
                <a:solidFill>
                  <a:srgbClr val="53565A"/>
                </a:solidFill>
                <a:latin typeface="Arial"/>
              </a:rPr>
              <a:t>agent ID, version, state version</a:t>
            </a:r>
          </a:p>
        </p:txBody>
      </p:sp>
      <p:sp>
        <p:nvSpPr>
          <p:cNvPr id="66" name="Rounded Rectangle 65"/>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7"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13832" y="5216652"/>
            <a:ext cx="365760" cy="365760"/>
          </a:xfrm>
          <a:prstGeom prst="rect">
            <a:avLst/>
          </a:prstGeom>
        </p:spPr>
      </p:pic>
      <p:sp>
        <p:nvSpPr>
          <p:cNvPr id="68" name="TextBox 67"/>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000" b="0" i="0">
                <a:solidFill>
                  <a:srgbClr val="53565A"/>
                </a:solidFill>
                <a:latin typeface="Arial"/>
              </a:rPr>
              <a:t>Storage account, immutability policy</a:t>
            </a:r>
          </a:p>
        </p:txBody>
      </p:sp>
      <p:sp>
        <p:nvSpPr>
          <p:cNvPr id="69" name="Rounded Rectangle 68"/>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70"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74152" y="4764024"/>
            <a:ext cx="365760" cy="365760"/>
          </a:xfrm>
          <a:prstGeom prst="rect">
            <a:avLst/>
          </a:prstGeom>
        </p:spPr>
      </p:pic>
      <p:sp>
        <p:nvSpPr>
          <p:cNvPr id="71" name="TextBox 70"/>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000" b="0" i="0">
                <a:solidFill>
                  <a:srgbClr val="53565A"/>
                </a:solidFill>
                <a:latin typeface="Arial"/>
              </a:rPr>
              <a:t>traces confirm no new actions</a:t>
            </a:r>
          </a:p>
        </p:txBody>
      </p:sp>
      <p:sp>
        <p:nvSpPr>
          <p:cNvPr id="72" name="Rounded Rectangle 71"/>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000" b="0" i="0">
                <a:solidFill>
                  <a:srgbClr val="53565A"/>
                </a:solidFill>
                <a:latin typeface="Arial"/>
              </a:rPr>
              <a:t>root cause, canary, two-person approval</a:t>
            </a:r>
          </a:p>
        </p:txBody>
      </p:sp>
      <p:cxnSp>
        <p:nvCxnSpPr>
          <p:cNvPr id="73"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979408" y="3639312"/>
            <a:ext cx="1097280" cy="237744"/>
          </a:xfrm>
          <a:prstGeom prst="rect">
            <a:avLst/>
          </a:prstGeom>
          <a:noFill/>
        </p:spPr>
        <p:txBody>
          <a:bodyPr wrap="square" lIns="0" rIns="0" tIns="0" bIns="0" anchor="t">
            <a:noAutofit/>
          </a:bodyPr>
          <a:lstStyle/>
          <a:p>
            <a:pPr algn="l"/>
            <a:r>
              <a:rPr sz="1000" b="0" i="0">
                <a:solidFill>
                  <a:srgbClr val="53565A"/>
                </a:solidFill>
                <a:latin typeface="Arial"/>
              </a:rPr>
              <a:t>traces</a:t>
            </a:r>
          </a:p>
        </p:txBody>
      </p:sp>
      <p:sp>
        <p:nvSpPr>
          <p:cNvPr id="87" name="TextBox 86"/>
          <p:cNvSpPr txBox="1"/>
          <p:nvPr/>
        </p:nvSpPr>
        <p:spPr>
          <a:xfrm>
            <a:off x="548640" y="3694176"/>
            <a:ext cx="2423160" cy="274320"/>
          </a:xfrm>
          <a:prstGeom prst="rect">
            <a:avLst/>
          </a:prstGeom>
          <a:noFill/>
        </p:spPr>
        <p:txBody>
          <a:bodyPr wrap="square" lIns="0" rIns="0" tIns="0" bIns="0" anchor="t">
            <a:noAutofit/>
          </a:bodyPr>
          <a:lstStyle/>
          <a:p>
            <a:pPr algn="r"/>
            <a:r>
              <a:rPr sz="1000" b="0" i="0">
                <a:solidFill>
                  <a:srgbClr val="6363C9"/>
                </a:solidFill>
                <a:latin typeface="Arial"/>
              </a:rPr>
              <a:t>deny-state checks and runtime adapters</a:t>
            </a:r>
          </a:p>
        </p:txBody>
      </p:sp>
      <p:cxnSp>
        <p:nvCxnSpPr>
          <p:cNvPr id="88"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2412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90"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40156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92"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7900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94" name="TextBox 93"/>
          <p:cNvSpPr txBox="1"/>
          <p:nvPr/>
        </p:nvSpPr>
        <p:spPr>
          <a:xfrm>
            <a:off x="6766560" y="6163056"/>
            <a:ext cx="4937760" cy="274320"/>
          </a:xfrm>
          <a:prstGeom prst="rect">
            <a:avLst/>
          </a:prstGeom>
          <a:noFill/>
        </p:spPr>
        <p:txBody>
          <a:bodyPr wrap="square" lIns="0" rIns="0" tIns="0" bIns="0" anchor="t">
            <a:noAutofit/>
          </a:bodyPr>
          <a:lstStyle/>
          <a:p>
            <a:pPr algn="r"/>
            <a:r>
              <a:rPr sz="1100" b="1" i="0">
                <a:solidFill>
                  <a:srgbClr val="A4262C"/>
                </a:solidFill>
                <a:latin typeface="Arial"/>
              </a:rPr>
              <a:t>1</a:t>
            </a:r>
            <a:r>
              <a:rPr sz="1100" b="0" i="0">
                <a:solidFill>
                  <a:srgbClr val="53565A"/>
                </a:solidFill>
                <a:latin typeface="Arial"/>
              </a:rPr>
              <a:t> block new requests  </a:t>
            </a:r>
            <a:r>
              <a:rPr sz="1100" b="1" i="0">
                <a:solidFill>
                  <a:srgbClr val="A4262C"/>
                </a:solidFill>
                <a:latin typeface="Arial"/>
              </a:rPr>
              <a:t>2</a:t>
            </a:r>
            <a:r>
              <a:rPr sz="1100" b="0" i="0">
                <a:solidFill>
                  <a:srgbClr val="53565A"/>
                </a:solidFill>
                <a:latin typeface="Arial"/>
              </a:rPr>
              <a:t> cancel or isolate  </a:t>
            </a:r>
            <a:r>
              <a:rPr sz="1100" b="1" i="0">
                <a:solidFill>
                  <a:srgbClr val="A4262C"/>
                </a:solidFill>
                <a:latin typeface="Arial"/>
              </a:rPr>
              <a:t>3</a:t>
            </a:r>
            <a:r>
              <a:rPr sz="1100" b="0" i="0">
                <a:solidFill>
                  <a:srgbClr val="53565A"/>
                </a:solidFill>
                <a:latin typeface="Arial"/>
              </a:rPr>
              <a:t> deny actions  </a:t>
            </a:r>
            <a:r>
              <a:rPr sz="1100" b="1" i="0">
                <a:solidFill>
                  <a:srgbClr val="7373D8"/>
                </a:solidFill>
                <a:latin typeface="Arial"/>
              </a:rPr>
              <a:t>4</a:t>
            </a:r>
            <a:r>
              <a:rPr sz="1100" b="0" i="0">
                <a:solidFill>
                  <a:srgbClr val="53565A"/>
                </a:solidFill>
                <a:latin typeface="Arial"/>
              </a:rPr>
              <a:t> identity block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25880"/>
          <a:ext cx="11091672" cy="3749040"/>
        </p:xfrm>
        <a:graphic>
          <a:graphicData uri="http://schemas.openxmlformats.org/drawingml/2006/table">
            <a:tbl>
              <a:tblPr firstRow="1" bandRow="0">
                <a:tableStyleId>{5C22544A-7EE6-4342-B048-85BDC9FD1C3A}</a:tableStyleId>
              </a:tblPr>
              <a:tblGrid>
                <a:gridCol w="3291840"/>
                <a:gridCol w="4023360"/>
                <a:gridCol w="3776472"/>
              </a:tblGrid>
              <a:tr h="274320">
                <a:tc>
                  <a:txBody>
                    <a:bodyPr wrap="square" anchor="ctr">
                      <a:noAutofit/>
                    </a:bodyPr>
                    <a:lstStyle/>
                    <a:p>
                      <a:pPr algn="l"/>
                      <a:r>
                        <a:rPr sz="12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Design response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 checkpoint guard plus outbound denial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Resource-side deny check; short token lifetimes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Runtime-specific adapters, tested per platform</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Private endpoints, disable local auth, no shared keys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Separate quarantine state keyed by agent ID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Bounded freshness contract; no caching of allow on high-impact tools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Agree fail-closed scope per risk class with the business owner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Identity block depends on licence and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CA for agents needs Agent 365; sign-in blocks do not end live sessions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Use as layer 4, never the only stop</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Kill-switch proof of concept: prove it, then sell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K5</a:t>
            </a:r>
          </a:p>
        </p:txBody>
      </p:sp>
      <p:sp>
        <p:nvSpPr>
          <p:cNvPr id="5" name="Status chip: UNPROVEN DESIGN"/>
          <p:cNvSpPr/>
          <p:nvPr/>
        </p:nvSpPr>
        <p:spPr>
          <a:xfrm>
            <a:off x="189865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UNPROVEN DESIGN</a:t>
            </a:r>
          </a:p>
        </p:txBody>
      </p:sp>
      <p:sp>
        <p:nvSpPr>
          <p:cNvPr id="6" name="Status chip: PROPOSED PLAN"/>
          <p:cNvSpPr/>
          <p:nvPr/>
        </p:nvSpPr>
        <p:spPr>
          <a:xfrm>
            <a:off x="355981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PLAN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10" name="Rounded Rectangle 9"/>
          <p:cNvSpPr/>
          <p:nvPr/>
        </p:nvSpPr>
        <p:spPr>
          <a:xfrm>
            <a:off x="548640"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1  Set up</a:t>
            </a:r>
          </a:p>
          <a:p>
            <a:pPr algn="l"/>
            <a:r>
              <a:rPr sz="1500" b="0" i="0">
                <a:solidFill>
                  <a:srgbClr val="1E1E2E"/>
                </a:solidFill>
                <a:latin typeface="Arial"/>
              </a:rPr>
              <a:t>Two runtimes, synthetic agents, test tool, gateway policies</a:t>
            </a:r>
          </a:p>
        </p:txBody>
      </p:sp>
      <p:cxnSp>
        <p:nvCxnSpPr>
          <p:cNvPr id="11"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07208"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2  Instrument</a:t>
            </a:r>
          </a:p>
          <a:p>
            <a:pPr algn="l"/>
            <a:r>
              <a:rPr sz="1500" b="0" i="0">
                <a:solidFill>
                  <a:srgbClr val="1E1E2E"/>
                </a:solidFill>
                <a:latin typeface="Arial"/>
              </a:rPr>
              <a:t>Timestamps at alert, state write, each enforcement point</a:t>
            </a:r>
          </a:p>
        </p:txBody>
      </p:sp>
      <p:cxnSp>
        <p:nvCxnSpPr>
          <p:cNvPr id="13"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65776"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3  Exercise</a:t>
            </a:r>
          </a:p>
          <a:p>
            <a:pPr algn="l"/>
            <a:r>
              <a:rPr sz="1500" b="0" i="0">
                <a:solidFill>
                  <a:srgbClr val="1E1E2E"/>
                </a:solidFill>
                <a:latin typeface="Arial"/>
              </a:rPr>
              <a:t>All K4 scenarios, three runs each</a:t>
            </a:r>
          </a:p>
        </p:txBody>
      </p:sp>
      <p:cxnSp>
        <p:nvCxnSpPr>
          <p:cNvPr id="15"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24344"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4  Measure</a:t>
            </a:r>
          </a:p>
          <a:p>
            <a:pPr algn="l"/>
            <a:r>
              <a:rPr sz="1500" b="0" i="0">
                <a:solidFill>
                  <a:srgbClr val="1E1E2E"/>
                </a:solidFill>
                <a:latin typeface="Arial"/>
              </a:rPr>
              <a:t>Worst-case stop time per runtime and layer</a:t>
            </a:r>
          </a:p>
        </p:txBody>
      </p:sp>
      <p:cxnSp>
        <p:nvCxnSpPr>
          <p:cNvPr id="17"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5  Report</a:t>
            </a:r>
          </a:p>
          <a:p>
            <a:pPr algn="l"/>
            <a:r>
              <a:rPr sz="1500" b="0" i="0">
                <a:solidFill>
                  <a:srgbClr val="1E1E2E"/>
                </a:solidFill>
                <a:latin typeface="Arial"/>
              </a:rPr>
              <a:t>Evidence pack; targets proposed from data</a:t>
            </a:r>
          </a:p>
        </p:txBody>
      </p:sp>
      <p:graphicFrame>
        <p:nvGraphicFramePr>
          <p:cNvPr id="19" name="Table"/>
          <p:cNvGraphicFramePr>
            <a:graphicFrameLocks noGrp="1"/>
          </p:cNvGraphicFramePr>
          <p:nvPr/>
        </p:nvGraphicFramePr>
        <p:xfrm>
          <a:off x="548640" y="3977639"/>
          <a:ext cx="11091672" cy="1264920"/>
        </p:xfrm>
        <a:graphic>
          <a:graphicData uri="http://schemas.openxmlformats.org/drawingml/2006/table">
            <a:tbl>
              <a:tblPr firstRow="1" bandRow="0">
                <a:tableStyleId>{5C22544A-7EE6-4342-B048-85BDC9FD1C3A}</a:tableStyleId>
              </a:tblPr>
              <a:tblGrid>
                <a:gridCol w="2743200"/>
                <a:gridCol w="8348472"/>
              </a:tblGrid>
              <a:tr h="304800">
                <a:tc>
                  <a:txBody>
                    <a:bodyPr wrap="square" anchor="ctr">
                      <a:noAutofit/>
                    </a:bodyPr>
                    <a:lstStyle/>
                    <a:p>
                      <a:pPr algn="l"/>
                      <a:r>
                        <a:rPr sz="14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Effort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 to 45 role days (CIS Infra, AI, 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Elapsed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 to 6 weeks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Exit evidence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Measured stop time per runtime; all K4 tests recorded</a:t>
                      </a:r>
                    </a:p>
                  </a:txBody>
                  <a:tcPr marL="73152" marR="73152" marT="36576" marB="36576"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lifecycle actions differ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651760"/>
                <a:gridCol w="2011680"/>
                <a:gridCol w="3383280"/>
                <a:gridCol w="3044952"/>
              </a:tblGrid>
              <a:tr h="320040">
                <a:tc>
                  <a:txBody>
                    <a:bodyPr wrap="square" anchor="ctr">
                      <a:noAutofit/>
                    </a:bodyPr>
                    <a:lstStyle/>
                    <a:p>
                      <a:pPr algn="l"/>
                      <a:r>
                        <a:rPr sz="1500" b="1" i="0">
                          <a:solidFill>
                            <a:srgbClr val="FFFFFF"/>
                          </a:solidFill>
                          <a:latin typeface="Arial"/>
                        </a:rPr>
                        <a:t>Agent route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Native action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Effect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Residual risk</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Published Foundry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Unpublished prompt or workflow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None (delete to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Deletion is the only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 designed containment path</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Hosted agent (unpublished)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Registered custom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Block or unblock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Agent runs but cannot take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Host and direct endpoints remain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Logic Apps agent loop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all workflows in the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Collateral impact; no traces</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Bound the work before a runaway needs detecting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8" name="Rounded Rectangle 7"/>
          <p:cNvSpPr/>
          <p:nvPr/>
        </p:nvSpPr>
        <p:spPr>
          <a:xfrm>
            <a:off x="548640" y="146304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240" y="1755648"/>
            <a:ext cx="548640" cy="548640"/>
          </a:xfrm>
          <a:prstGeom prst="rect">
            <a:avLst/>
          </a:prstGeom>
        </p:spPr>
      </p:pic>
      <p:sp>
        <p:nvSpPr>
          <p:cNvPr id="10" name="TextBox 9"/>
          <p:cNvSpPr txBox="1"/>
          <p:nvPr/>
        </p:nvSpPr>
        <p:spPr>
          <a:xfrm>
            <a:off x="1554480" y="1627632"/>
            <a:ext cx="2194560" cy="457200"/>
          </a:xfrm>
          <a:prstGeom prst="rect">
            <a:avLst/>
          </a:prstGeom>
          <a:noFill/>
        </p:spPr>
        <p:txBody>
          <a:bodyPr wrap="square" lIns="0" rIns="0" tIns="0" bIns="0" anchor="t">
            <a:noAutofit/>
          </a:bodyPr>
          <a:lstStyle/>
          <a:p>
            <a:pPr algn="l"/>
            <a:r>
              <a:rPr sz="2200" b="1" i="0">
                <a:solidFill>
                  <a:srgbClr val="000048"/>
                </a:solidFill>
                <a:latin typeface="Arial"/>
              </a:rPr>
              <a:t>Execution</a:t>
            </a:r>
          </a:p>
        </p:txBody>
      </p:sp>
      <p:sp>
        <p:nvSpPr>
          <p:cNvPr id="11" name="TextBox 10"/>
          <p:cNvSpPr txBox="1"/>
          <p:nvPr/>
        </p:nvSpPr>
        <p:spPr>
          <a:xfrm>
            <a:off x="3749039" y="1737360"/>
            <a:ext cx="7680960" cy="731520"/>
          </a:xfrm>
          <a:prstGeom prst="rect">
            <a:avLst/>
          </a:prstGeom>
          <a:noFill/>
        </p:spPr>
        <p:txBody>
          <a:bodyPr wrap="square" lIns="0" rIns="0" tIns="0" bIns="0" anchor="t">
            <a:noAutofit/>
          </a:bodyPr>
          <a:lstStyle/>
          <a:p>
            <a:pPr algn="l"/>
            <a:r>
              <a:rPr sz="1900" b="0" i="0">
                <a:solidFill>
                  <a:srgbClr val="1E1E2E"/>
                </a:solidFill>
                <a:latin typeface="Arial"/>
              </a:rPr>
              <a:t>Maximum runtime, iterations, tokens and concurrent runs per agent version</a:t>
            </a:r>
          </a:p>
        </p:txBody>
      </p:sp>
      <p:sp>
        <p:nvSpPr>
          <p:cNvPr id="12" name="Rounded Rectangle 11"/>
          <p:cNvSpPr/>
          <p:nvPr/>
        </p:nvSpPr>
        <p:spPr>
          <a:xfrm>
            <a:off x="548640" y="278892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7240" y="3081527"/>
            <a:ext cx="548640" cy="548640"/>
          </a:xfrm>
          <a:prstGeom prst="rect">
            <a:avLst/>
          </a:prstGeom>
        </p:spPr>
      </p:pic>
      <p:sp>
        <p:nvSpPr>
          <p:cNvPr id="14" name="TextBox 13"/>
          <p:cNvSpPr txBox="1"/>
          <p:nvPr/>
        </p:nvSpPr>
        <p:spPr>
          <a:xfrm>
            <a:off x="1554480" y="2953512"/>
            <a:ext cx="2194560" cy="457200"/>
          </a:xfrm>
          <a:prstGeom prst="rect">
            <a:avLst/>
          </a:prstGeom>
          <a:noFill/>
        </p:spPr>
        <p:txBody>
          <a:bodyPr wrap="square" lIns="0" rIns="0" tIns="0" bIns="0" anchor="t">
            <a:noAutofit/>
          </a:bodyPr>
          <a:lstStyle/>
          <a:p>
            <a:pPr algn="l"/>
            <a:r>
              <a:rPr sz="2200" b="1" i="0">
                <a:solidFill>
                  <a:srgbClr val="000048"/>
                </a:solidFill>
                <a:latin typeface="Arial"/>
              </a:rPr>
              <a:t>Tools</a:t>
            </a:r>
          </a:p>
        </p:txBody>
      </p:sp>
      <p:sp>
        <p:nvSpPr>
          <p:cNvPr id="15" name="TextBox 14"/>
          <p:cNvSpPr txBox="1"/>
          <p:nvPr/>
        </p:nvSpPr>
        <p:spPr>
          <a:xfrm>
            <a:off x="3749039" y="3063239"/>
            <a:ext cx="7680960" cy="731520"/>
          </a:xfrm>
          <a:prstGeom prst="rect">
            <a:avLst/>
          </a:prstGeom>
          <a:noFill/>
        </p:spPr>
        <p:txBody>
          <a:bodyPr wrap="square" lIns="0" rIns="0" tIns="0" bIns="0" anchor="t">
            <a:noAutofit/>
          </a:bodyPr>
          <a:lstStyle/>
          <a:p>
            <a:pPr algn="l"/>
            <a:r>
              <a:rPr sz="1900" b="0" i="0">
                <a:solidFill>
                  <a:srgbClr val="1E1E2E"/>
                </a:solidFill>
                <a:latin typeface="Arial"/>
              </a:rPr>
              <a:t>Allow-list, scoped identity, transaction limits, idempotency keys</a:t>
            </a:r>
          </a:p>
        </p:txBody>
      </p:sp>
      <p:sp>
        <p:nvSpPr>
          <p:cNvPr id="16" name="Rounded Rectangle 15"/>
          <p:cNvSpPr/>
          <p:nvPr/>
        </p:nvSpPr>
        <p:spPr>
          <a:xfrm>
            <a:off x="548640" y="411480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 y="4407408"/>
            <a:ext cx="548640" cy="548640"/>
          </a:xfrm>
          <a:prstGeom prst="rect">
            <a:avLst/>
          </a:prstGeom>
        </p:spPr>
      </p:pic>
      <p:sp>
        <p:nvSpPr>
          <p:cNvPr id="18" name="TextBox 17"/>
          <p:cNvSpPr txBox="1"/>
          <p:nvPr/>
        </p:nvSpPr>
        <p:spPr>
          <a:xfrm>
            <a:off x="1554480" y="4279392"/>
            <a:ext cx="2194560" cy="457200"/>
          </a:xfrm>
          <a:prstGeom prst="rect">
            <a:avLst/>
          </a:prstGeom>
          <a:noFill/>
        </p:spPr>
        <p:txBody>
          <a:bodyPr wrap="square" lIns="0" rIns="0" tIns="0" bIns="0" anchor="t">
            <a:noAutofit/>
          </a:bodyPr>
          <a:lstStyle/>
          <a:p>
            <a:pPr algn="l"/>
            <a:r>
              <a:rPr sz="2200" b="1" i="0">
                <a:solidFill>
                  <a:srgbClr val="000048"/>
                </a:solidFill>
                <a:latin typeface="Arial"/>
              </a:rPr>
              <a:t>Approval</a:t>
            </a:r>
          </a:p>
        </p:txBody>
      </p:sp>
      <p:sp>
        <p:nvSpPr>
          <p:cNvPr id="19" name="TextBox 18"/>
          <p:cNvSpPr txBox="1"/>
          <p:nvPr/>
        </p:nvSpPr>
        <p:spPr>
          <a:xfrm>
            <a:off x="3749039" y="4389120"/>
            <a:ext cx="7680960" cy="731520"/>
          </a:xfrm>
          <a:prstGeom prst="rect">
            <a:avLst/>
          </a:prstGeom>
          <a:noFill/>
        </p:spPr>
        <p:txBody>
          <a:bodyPr wrap="square" lIns="0" rIns="0" tIns="0" bIns="0" anchor="t">
            <a:noAutofit/>
          </a:bodyPr>
          <a:lstStyle/>
          <a:p>
            <a:pPr algn="l"/>
            <a:r>
              <a:rPr sz="1900" b="0" i="0">
                <a:solidFill>
                  <a:srgbClr val="1E1E2E"/>
                </a:solidFill>
                <a:latin typeface="Arial"/>
              </a:rPr>
              <a:t>Human approval before high-impact or irreversible actions</a:t>
            </a:r>
          </a:p>
        </p:txBody>
      </p:sp>
      <p:sp>
        <p:nvSpPr>
          <p:cNvPr id="20" name="Rounded Rectangle 19"/>
          <p:cNvSpPr/>
          <p:nvPr/>
        </p:nvSpPr>
        <p:spPr>
          <a:xfrm>
            <a:off x="548640" y="55778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Limits reduce blast radius; they do not replace containment. Owner: AI tower, with Security.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an agentic loop amplifies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sp>
        <p:nvSpPr>
          <p:cNvPr id="9" name="Rounded Rectangle 8"/>
          <p:cNvSpPr/>
          <p:nvPr/>
        </p:nvSpPr>
        <p:spPr>
          <a:xfrm>
            <a:off x="50292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User query</a:t>
            </a:r>
          </a:p>
        </p:txBody>
      </p:sp>
      <p:cxnSp>
        <p:nvCxnSpPr>
          <p:cNvPr id="10" name="Connector (flow)"/>
          <p:cNvCxnSpPr/>
          <p:nvPr/>
        </p:nvCxnSpPr>
        <p:spPr>
          <a:xfrm>
            <a:off x="176479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0195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Foundry Agent Service" descr="Official Azure icon: Foundry Agent Servi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7148" y="1901952"/>
            <a:ext cx="411480" cy="411480"/>
          </a:xfrm>
          <a:prstGeom prst="rect">
            <a:avLst/>
          </a:prstGeom>
        </p:spPr>
      </p:pic>
      <p:sp>
        <p:nvSpPr>
          <p:cNvPr id="13" name="TextBox 12"/>
          <p:cNvSpPr txBox="1"/>
          <p:nvPr/>
        </p:nvSpPr>
        <p:spPr>
          <a:xfrm>
            <a:off x="193852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Agent reasoning loop</a:t>
            </a:r>
          </a:p>
        </p:txBody>
      </p:sp>
      <p:cxnSp>
        <p:nvCxnSpPr>
          <p:cNvPr id="14" name="Connector (flow)"/>
          <p:cNvCxnSpPr/>
          <p:nvPr/>
        </p:nvCxnSpPr>
        <p:spPr>
          <a:xfrm>
            <a:off x="316382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00984"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6180" y="1901952"/>
            <a:ext cx="411480" cy="411480"/>
          </a:xfrm>
          <a:prstGeom prst="rect">
            <a:avLst/>
          </a:prstGeom>
        </p:spPr>
      </p:pic>
      <p:sp>
        <p:nvSpPr>
          <p:cNvPr id="17" name="TextBox 16"/>
          <p:cNvSpPr txBox="1"/>
          <p:nvPr/>
        </p:nvSpPr>
        <p:spPr>
          <a:xfrm>
            <a:off x="3337560"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A</a:t>
            </a:r>
          </a:p>
        </p:txBody>
      </p:sp>
      <p:cxnSp>
        <p:nvCxnSpPr>
          <p:cNvPr id="18" name="Connector (flow)"/>
          <p:cNvCxnSpPr/>
          <p:nvPr/>
        </p:nvCxnSpPr>
        <p:spPr>
          <a:xfrm>
            <a:off x="4562856"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700016"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Evaluate results</a:t>
            </a:r>
          </a:p>
        </p:txBody>
      </p:sp>
      <p:cxnSp>
        <p:nvCxnSpPr>
          <p:cNvPr id="20" name="Connector (flow)"/>
          <p:cNvCxnSpPr/>
          <p:nvPr/>
        </p:nvCxnSpPr>
        <p:spPr>
          <a:xfrm>
            <a:off x="5961888"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99048"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24244" y="1901952"/>
            <a:ext cx="411480" cy="411480"/>
          </a:xfrm>
          <a:prstGeom prst="rect">
            <a:avLst/>
          </a:prstGeom>
        </p:spPr>
      </p:pic>
      <p:sp>
        <p:nvSpPr>
          <p:cNvPr id="23" name="TextBox 22"/>
          <p:cNvSpPr txBox="1"/>
          <p:nvPr/>
        </p:nvSpPr>
        <p:spPr>
          <a:xfrm>
            <a:off x="6135624"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B</a:t>
            </a:r>
          </a:p>
        </p:txBody>
      </p:sp>
      <p:cxnSp>
        <p:nvCxnSpPr>
          <p:cNvPr id="24" name="Connector (flow)"/>
          <p:cNvCxnSpPr/>
          <p:nvPr/>
        </p:nvCxnSpPr>
        <p:spPr>
          <a:xfrm>
            <a:off x="7360920" y="242316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9808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Build prompt</a:t>
            </a:r>
          </a:p>
        </p:txBody>
      </p:sp>
      <p:cxnSp>
        <p:nvCxnSpPr>
          <p:cNvPr id="26" name="Connector (flow)"/>
          <p:cNvCxnSpPr/>
          <p:nvPr/>
        </p:nvCxnSpPr>
        <p:spPr>
          <a:xfrm>
            <a:off x="875995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89711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22308" y="1901952"/>
            <a:ext cx="411480" cy="411480"/>
          </a:xfrm>
          <a:prstGeom prst="rect">
            <a:avLst/>
          </a:prstGeom>
        </p:spPr>
      </p:pic>
      <p:sp>
        <p:nvSpPr>
          <p:cNvPr id="29" name="TextBox 28"/>
          <p:cNvSpPr txBox="1"/>
          <p:nvPr/>
        </p:nvSpPr>
        <p:spPr>
          <a:xfrm>
            <a:off x="893368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Model call</a:t>
            </a:r>
          </a:p>
        </p:txBody>
      </p:sp>
      <p:cxnSp>
        <p:nvCxnSpPr>
          <p:cNvPr id="30" name="Connector (flow)"/>
          <p:cNvCxnSpPr/>
          <p:nvPr/>
        </p:nvCxnSpPr>
        <p:spPr>
          <a:xfrm>
            <a:off x="1015898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96144"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Response</a:t>
            </a:r>
          </a:p>
        </p:txBody>
      </p:sp>
      <p:cxnSp>
        <p:nvCxnSpPr>
          <p:cNvPr id="32" name="Connector (flow)"/>
          <p:cNvCxnSpPr/>
          <p:nvPr/>
        </p:nvCxnSpPr>
        <p:spPr>
          <a:xfrm>
            <a:off x="4059935" y="301752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flipH="1">
            <a:off x="2532888" y="3429000"/>
            <a:ext cx="1527047"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flipV="1">
            <a:off x="2532888" y="3017520"/>
            <a:ext cx="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377440" y="3474720"/>
            <a:ext cx="2194560" cy="274320"/>
          </a:xfrm>
          <a:prstGeom prst="rect">
            <a:avLst/>
          </a:prstGeom>
          <a:noFill/>
        </p:spPr>
        <p:txBody>
          <a:bodyPr wrap="square" lIns="0" rIns="0" tIns="0" bIns="0" anchor="t">
            <a:noAutofit/>
          </a:bodyPr>
          <a:lstStyle/>
          <a:p>
            <a:pPr algn="ctr"/>
            <a:r>
              <a:rPr sz="1100" b="0" i="0">
                <a:solidFill>
                  <a:srgbClr val="000048"/>
                </a:solidFill>
                <a:latin typeface="Arial"/>
              </a:rPr>
              <a:t>repeat until sufficient</a:t>
            </a:r>
          </a:p>
        </p:txBody>
      </p:sp>
      <p:sp>
        <p:nvSpPr>
          <p:cNvPr id="36" name="Rounded Rectangle 35"/>
          <p:cNvSpPr/>
          <p:nvPr/>
        </p:nvSpPr>
        <p:spPr>
          <a:xfrm>
            <a:off x="185623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Iteration and time limit</a:t>
            </a:r>
          </a:p>
        </p:txBody>
      </p:sp>
      <p:cxnSp>
        <p:nvCxnSpPr>
          <p:cNvPr id="37" name="Connector (control)"/>
          <p:cNvCxnSpPr/>
          <p:nvPr/>
        </p:nvCxnSpPr>
        <p:spPr>
          <a:xfrm flipV="1">
            <a:off x="254203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255264"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Tool allow-list</a:t>
            </a:r>
          </a:p>
        </p:txBody>
      </p:sp>
      <p:cxnSp>
        <p:nvCxnSpPr>
          <p:cNvPr id="39" name="Connector (control)"/>
          <p:cNvCxnSpPr/>
          <p:nvPr/>
        </p:nvCxnSpPr>
        <p:spPr>
          <a:xfrm flipV="1">
            <a:off x="3941063"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053328"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Checkpoint deny-state check</a:t>
            </a:r>
          </a:p>
        </p:txBody>
      </p:sp>
      <p:cxnSp>
        <p:nvCxnSpPr>
          <p:cNvPr id="41" name="Connector (control)"/>
          <p:cNvCxnSpPr/>
          <p:nvPr/>
        </p:nvCxnSpPr>
        <p:spPr>
          <a:xfrm flipV="1">
            <a:off x="6739128"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85139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Token budget</a:t>
            </a:r>
          </a:p>
        </p:txBody>
      </p:sp>
      <p:cxnSp>
        <p:nvCxnSpPr>
          <p:cNvPr id="43" name="Connector (control)"/>
          <p:cNvCxnSpPr/>
          <p:nvPr/>
        </p:nvCxnSpPr>
        <p:spPr>
          <a:xfrm flipV="1">
            <a:off x="953719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4892040"/>
            <a:ext cx="11064240" cy="731520"/>
          </a:xfrm>
          <a:prstGeom prst="rect">
            <a:avLst/>
          </a:prstGeom>
          <a:noFill/>
        </p:spPr>
        <p:txBody>
          <a:bodyPr wrap="square" lIns="0" rIns="0" tIns="0" bIns="0" anchor="t">
            <a:noAutofit/>
          </a:bodyPr>
          <a:lstStyle/>
          <a:p>
            <a:pPr algn="l"/>
            <a:r>
              <a:rPr sz="1600" b="0" i="0">
                <a:solidFill>
                  <a:srgbClr val="1E1E2E"/>
                </a:solidFill>
                <a:latin typeface="Arial"/>
              </a:rPr>
              <a:t>Each loop multiplies model and tool calls. One user question can drive many backend calls, so budgets and stop checks belong at every checkpoint.</a:t>
            </a:r>
          </a:p>
        </p:txBody>
      </p:sp>
      <p:sp>
        <p:nvSpPr>
          <p:cNvPr id="45" name="TextBox 44"/>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from Microsoft source; control points are proposed additions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Multi-agent workload: owners and stop 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sp>
        <p:nvSpPr>
          <p:cNvPr id="9" name="Rounded Rectangle 8"/>
          <p:cNvSpPr/>
          <p:nvPr/>
        </p:nvSpPr>
        <p:spPr>
          <a:xfrm>
            <a:off x="548640" y="155448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0160" y="1627632"/>
            <a:ext cx="457200" cy="457200"/>
          </a:xfrm>
          <a:prstGeom prst="rect">
            <a:avLst/>
          </a:prstGeom>
        </p:spPr>
      </p:pic>
      <p:sp>
        <p:nvSpPr>
          <p:cNvPr id="11" name="TextBox 10"/>
          <p:cNvSpPr txBox="1"/>
          <p:nvPr/>
        </p:nvSpPr>
        <p:spPr>
          <a:xfrm>
            <a:off x="585216" y="2121408"/>
            <a:ext cx="1847088" cy="512064"/>
          </a:xfrm>
          <a:prstGeom prst="rect">
            <a:avLst/>
          </a:prstGeom>
          <a:noFill/>
        </p:spPr>
        <p:txBody>
          <a:bodyPr wrap="square" lIns="0" rIns="0" tIns="0" bIns="0" anchor="t">
            <a:noAutofit/>
          </a:bodyPr>
          <a:lstStyle/>
          <a:p>
            <a:pPr algn="ctr"/>
            <a:r>
              <a:rPr sz="1300" b="1" i="0">
                <a:solidFill>
                  <a:srgbClr val="000048"/>
                </a:solidFill>
                <a:latin typeface="Arial"/>
              </a:rPr>
              <a:t>Web front end</a:t>
            </a:r>
          </a:p>
          <a:p>
            <a:pPr algn="ctr"/>
            <a:r>
              <a:rPr sz="1100" b="0" i="0">
                <a:solidFill>
                  <a:srgbClr val="53565A"/>
                </a:solidFill>
                <a:latin typeface="Arial"/>
              </a:rPr>
              <a:t>App Service</a:t>
            </a:r>
          </a:p>
        </p:txBody>
      </p:sp>
      <p:sp>
        <p:nvSpPr>
          <p:cNvPr id="12" name="Rounded Rectangle 11"/>
          <p:cNvSpPr/>
          <p:nvPr/>
        </p:nvSpPr>
        <p:spPr>
          <a:xfrm>
            <a:off x="3108960" y="1554480"/>
            <a:ext cx="2286000" cy="1097280"/>
          </a:xfrm>
          <a:prstGeom prst="roundRect">
            <a:avLst>
              <a:gd name="adj" fmla="val 6666"/>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ntainer Apps Environments" descr="Official Azure icon: Container Apps Environmen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23360" y="1627632"/>
            <a:ext cx="457200" cy="457200"/>
          </a:xfrm>
          <a:prstGeom prst="rect">
            <a:avLst/>
          </a:prstGeom>
        </p:spPr>
      </p:pic>
      <p:sp>
        <p:nvSpPr>
          <p:cNvPr id="14" name="TextBox 13"/>
          <p:cNvSpPr txBox="1"/>
          <p:nvPr/>
        </p:nvSpPr>
        <p:spPr>
          <a:xfrm>
            <a:off x="3145536" y="2121408"/>
            <a:ext cx="2212848" cy="512064"/>
          </a:xfrm>
          <a:prstGeom prst="rect">
            <a:avLst/>
          </a:prstGeom>
          <a:noFill/>
        </p:spPr>
        <p:txBody>
          <a:bodyPr wrap="square" lIns="0" rIns="0" tIns="0" bIns="0" anchor="t">
            <a:noAutofit/>
          </a:bodyPr>
          <a:lstStyle/>
          <a:p>
            <a:pPr algn="ctr"/>
            <a:r>
              <a:rPr sz="1300" b="1" i="0">
                <a:solidFill>
                  <a:srgbClr val="000048"/>
                </a:solidFill>
                <a:latin typeface="Arial"/>
              </a:rPr>
              <a:t>Agent orchestration API</a:t>
            </a:r>
          </a:p>
          <a:p>
            <a:pPr algn="ctr"/>
            <a:r>
              <a:rPr sz="1100" b="0" i="0">
                <a:solidFill>
                  <a:srgbClr val="53565A"/>
                </a:solidFill>
                <a:latin typeface="Arial"/>
              </a:rPr>
              <a:t>Container Apps</a:t>
            </a:r>
          </a:p>
        </p:txBody>
      </p:sp>
      <p:sp>
        <p:nvSpPr>
          <p:cNvPr id="15" name="Rounded Rectangle 14"/>
          <p:cNvSpPr/>
          <p:nvPr/>
        </p:nvSpPr>
        <p:spPr>
          <a:xfrm>
            <a:off x="6035040" y="1554480"/>
            <a:ext cx="2103120"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Knowledge sources and tools</a:t>
            </a:r>
          </a:p>
          <a:p>
            <a:pPr algn="ctr"/>
            <a:r>
              <a:rPr sz="1100" b="0" i="0">
                <a:solidFill>
                  <a:srgbClr val="53565A"/>
                </a:solidFill>
                <a:latin typeface="Arial"/>
              </a:rPr>
              <a:t>per workload</a:t>
            </a:r>
          </a:p>
        </p:txBody>
      </p:sp>
      <p:sp>
        <p:nvSpPr>
          <p:cNvPr id="16" name="Rounded Rectangle 15"/>
          <p:cNvSpPr/>
          <p:nvPr/>
        </p:nvSpPr>
        <p:spPr>
          <a:xfrm>
            <a:off x="3108960" y="33375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23360" y="3410712"/>
            <a:ext cx="457200" cy="457200"/>
          </a:xfrm>
          <a:prstGeom prst="rect">
            <a:avLst/>
          </a:prstGeom>
        </p:spPr>
      </p:pic>
      <p:sp>
        <p:nvSpPr>
          <p:cNvPr id="18" name="TextBox 17"/>
          <p:cNvSpPr txBox="1"/>
          <p:nvPr/>
        </p:nvSpPr>
        <p:spPr>
          <a:xfrm>
            <a:off x="3145536" y="3904488"/>
            <a:ext cx="22128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Microsoft Foundry</a:t>
            </a:r>
          </a:p>
        </p:txBody>
      </p:sp>
      <p:sp>
        <p:nvSpPr>
          <p:cNvPr id="19" name="Rounded Rectangle 18"/>
          <p:cNvSpPr/>
          <p:nvPr/>
        </p:nvSpPr>
        <p:spPr>
          <a:xfrm>
            <a:off x="6035040" y="333756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Azure Cosmos DB" descr="Official Azure icon: Azure Cosmos DB"/>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58000" y="3410712"/>
            <a:ext cx="457200" cy="457200"/>
          </a:xfrm>
          <a:prstGeom prst="rect">
            <a:avLst/>
          </a:prstGeom>
        </p:spPr>
      </p:pic>
      <p:sp>
        <p:nvSpPr>
          <p:cNvPr id="21" name="TextBox 20"/>
          <p:cNvSpPr txBox="1"/>
          <p:nvPr/>
        </p:nvSpPr>
        <p:spPr>
          <a:xfrm>
            <a:off x="6071616" y="3904488"/>
            <a:ext cx="2029967" cy="512064"/>
          </a:xfrm>
          <a:prstGeom prst="rect">
            <a:avLst/>
          </a:prstGeom>
          <a:noFill/>
        </p:spPr>
        <p:txBody>
          <a:bodyPr wrap="square" lIns="0" rIns="0" tIns="0" bIns="0" anchor="t">
            <a:noAutofit/>
          </a:bodyPr>
          <a:lstStyle/>
          <a:p>
            <a:pPr algn="ctr"/>
            <a:r>
              <a:rPr sz="1300" b="1" i="0">
                <a:solidFill>
                  <a:srgbClr val="000048"/>
                </a:solidFill>
                <a:latin typeface="Arial"/>
              </a:rPr>
              <a:t>Plans and state</a:t>
            </a:r>
          </a:p>
          <a:p>
            <a:pPr algn="ctr"/>
            <a:r>
              <a:rPr sz="1100" b="0" i="0">
                <a:solidFill>
                  <a:srgbClr val="53565A"/>
                </a:solidFill>
                <a:latin typeface="Arial"/>
              </a:rPr>
              <a:t>Azure Cosmos DB</a:t>
            </a:r>
          </a:p>
        </p:txBody>
      </p:sp>
      <p:sp>
        <p:nvSpPr>
          <p:cNvPr id="22" name="Rounded Rectangle 21"/>
          <p:cNvSpPr/>
          <p:nvPr/>
        </p:nvSpPr>
        <p:spPr>
          <a:xfrm>
            <a:off x="548640" y="333756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3" name="Azure icon: Container Registries" descr="Official Azure icon: Container Registrie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80160" y="3410712"/>
            <a:ext cx="457200" cy="457200"/>
          </a:xfrm>
          <a:prstGeom prst="rect">
            <a:avLst/>
          </a:prstGeom>
        </p:spPr>
      </p:pic>
      <p:sp>
        <p:nvSpPr>
          <p:cNvPr id="24" name="TextBox 23"/>
          <p:cNvSpPr txBox="1"/>
          <p:nvPr/>
        </p:nvSpPr>
        <p:spPr>
          <a:xfrm>
            <a:off x="585216" y="3904488"/>
            <a:ext cx="1847088" cy="512064"/>
          </a:xfrm>
          <a:prstGeom prst="rect">
            <a:avLst/>
          </a:prstGeom>
          <a:noFill/>
        </p:spPr>
        <p:txBody>
          <a:bodyPr wrap="square" lIns="0" rIns="0" tIns="0" bIns="0" anchor="t">
            <a:noAutofit/>
          </a:bodyPr>
          <a:lstStyle/>
          <a:p>
            <a:pPr algn="ctr"/>
            <a:r>
              <a:rPr sz="1300" b="1" i="0">
                <a:solidFill>
                  <a:srgbClr val="000048"/>
                </a:solidFill>
                <a:latin typeface="Arial"/>
              </a:rPr>
              <a:t>Images</a:t>
            </a:r>
          </a:p>
          <a:p>
            <a:pPr algn="ctr"/>
            <a:r>
              <a:rPr sz="1100" b="0" i="0">
                <a:solidFill>
                  <a:srgbClr val="53565A"/>
                </a:solidFill>
                <a:latin typeface="Arial"/>
              </a:rPr>
              <a:t>Container Registry</a:t>
            </a:r>
          </a:p>
        </p:txBody>
      </p:sp>
      <p:cxnSp>
        <p:nvCxnSpPr>
          <p:cNvPr id="25" name="Connector (flow)"/>
          <p:cNvCxnSpPr/>
          <p:nvPr/>
        </p:nvCxnSpPr>
        <p:spPr>
          <a:xfrm>
            <a:off x="246888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539496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a:off x="4251960" y="2743200"/>
            <a:ext cx="0" cy="5943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5394960" y="251460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5760720" y="251460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5760720" y="38404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1" name="Table"/>
          <p:cNvGraphicFramePr>
            <a:graphicFrameLocks noGrp="1"/>
          </p:cNvGraphicFramePr>
          <p:nvPr/>
        </p:nvGraphicFramePr>
        <p:xfrm>
          <a:off x="8503920" y="1554480"/>
          <a:ext cx="3136392" cy="2392680"/>
        </p:xfrm>
        <a:graphic>
          <a:graphicData uri="http://schemas.openxmlformats.org/drawingml/2006/table">
            <a:tbl>
              <a:tblPr firstRow="1" bandRow="0">
                <a:tableStyleId>{5C22544A-7EE6-4342-B048-85BDC9FD1C3A}</a:tableStyleId>
              </a:tblPr>
              <a:tblGrid>
                <a:gridCol w="1143000"/>
                <a:gridCol w="914400"/>
                <a:gridCol w="1078992"/>
              </a:tblGrid>
              <a:tr h="259080">
                <a:tc>
                  <a:txBody>
                    <a:bodyPr wrap="square" anchor="ctr">
                      <a:noAutofit/>
                    </a:bodyPr>
                    <a:lstStyle/>
                    <a:p>
                      <a:pPr algn="l"/>
                      <a:r>
                        <a:rPr sz="11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1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100" b="1" i="0">
                          <a:solidFill>
                            <a:srgbClr val="FFFFFF"/>
                          </a:solidFill>
                          <a:latin typeface="Arial"/>
                        </a:rPr>
                        <a:t>Stop action</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Front end</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 app team</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Block at ingress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Orchestration API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Scale to zero or isolate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Tools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Tool owners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Deny at tool side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Model</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Deny at gateway</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with Data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Freeze writes</a:t>
                      </a:r>
                    </a:p>
                  </a:txBody>
                  <a:tcPr marL="73152" marR="73152" marT="36576" marB="36576" anchor="ctr">
                    <a:solidFill>
                      <a:srgbClr val="FFFFFF"/>
                    </a:solidFill>
                  </a:tcPr>
                </a:tc>
              </a:tr>
            </a:tbl>
          </a:graphicData>
        </a:graphic>
      </p:graphicFrame>
      <p:sp>
        <p:nvSpPr>
          <p:cNvPr id="32" name="TextBox 31"/>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from Microsoft source; owners and stop actions are proposed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 behaviour as well as technical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sp>
        <p:nvSpPr>
          <p:cNvPr id="8" name="Rounded Rectangle 7"/>
          <p:cNvSpPr/>
          <p:nvPr/>
        </p:nvSpPr>
        <p:spPr>
          <a:xfrm>
            <a:off x="548640"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Insights" descr="Official Azure icon: Application Insigh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37160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Operations</a:t>
            </a:r>
          </a:p>
        </p:txBody>
      </p:sp>
      <p:sp>
        <p:nvSpPr>
          <p:cNvPr id="11" name="TextBox 10"/>
          <p:cNvSpPr txBox="1"/>
          <p:nvPr/>
        </p:nvSpPr>
        <p:spPr>
          <a:xfrm>
            <a:off x="731520"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Errors and latency</a:t>
            </a:r>
          </a:p>
          <a:p>
            <a:pPr algn="l" marL="201168" indent="-201168">
              <a:spcAft>
                <a:spcPts val="800"/>
              </a:spcAft>
              <a:buFont typeface="Arial"/>
              <a:buChar char="•"/>
            </a:pPr>
            <a:r>
              <a:rPr sz="1700" b="0" i="0">
                <a:solidFill>
                  <a:srgbClr val="1E1E2E"/>
                </a:solidFill>
                <a:latin typeface="Arial"/>
              </a:rPr>
              <a:t>Tool failures</a:t>
            </a:r>
          </a:p>
          <a:p>
            <a:pPr algn="l" marL="201168" indent="-201168">
              <a:spcAft>
                <a:spcPts val="800"/>
              </a:spcAft>
              <a:buFont typeface="Arial"/>
              <a:buChar char="•"/>
            </a:pPr>
            <a:r>
              <a:rPr sz="1700" b="0" i="0">
                <a:solidFill>
                  <a:srgbClr val="1E1E2E"/>
                </a:solidFill>
                <a:latin typeface="Arial"/>
              </a:rPr>
              <a:t>Telemetry health</a:t>
            </a:r>
          </a:p>
        </p:txBody>
      </p:sp>
      <p:sp>
        <p:nvSpPr>
          <p:cNvPr id="12" name="TextBox 11"/>
          <p:cNvSpPr txBox="1"/>
          <p:nvPr/>
        </p:nvSpPr>
        <p:spPr>
          <a:xfrm>
            <a:off x="731520"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a:t>
            </a:r>
          </a:p>
        </p:txBody>
      </p:sp>
      <p:sp>
        <p:nvSpPr>
          <p:cNvPr id="13" name="Rounded Rectangle 12"/>
          <p:cNvSpPr/>
          <p:nvPr/>
        </p:nvSpPr>
        <p:spPr>
          <a:xfrm>
            <a:off x="429767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554480"/>
            <a:ext cx="502920" cy="502920"/>
          </a:xfrm>
          <a:prstGeom prst="rect">
            <a:avLst/>
          </a:prstGeom>
        </p:spPr>
      </p:pic>
      <p:sp>
        <p:nvSpPr>
          <p:cNvPr id="15" name="TextBox 14"/>
          <p:cNvSpPr txBox="1"/>
          <p:nvPr/>
        </p:nvSpPr>
        <p:spPr>
          <a:xfrm>
            <a:off x="512064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Quality</a:t>
            </a:r>
          </a:p>
        </p:txBody>
      </p:sp>
      <p:sp>
        <p:nvSpPr>
          <p:cNvPr id="16" name="TextBox 15"/>
          <p:cNvSpPr txBox="1"/>
          <p:nvPr/>
        </p:nvSpPr>
        <p:spPr>
          <a:xfrm>
            <a:off x="448055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Task outcome</a:t>
            </a:r>
          </a:p>
          <a:p>
            <a:pPr algn="l" marL="201168" indent="-201168">
              <a:spcAft>
                <a:spcPts val="800"/>
              </a:spcAft>
              <a:buFont typeface="Arial"/>
              <a:buChar char="•"/>
            </a:pPr>
            <a:r>
              <a:rPr sz="1700" b="0" i="0">
                <a:solidFill>
                  <a:srgbClr val="1E1E2E"/>
                </a:solidFill>
                <a:latin typeface="Arial"/>
              </a:rPr>
              <a:t>Evaluation scores</a:t>
            </a:r>
          </a:p>
          <a:p>
            <a:pPr algn="l" marL="201168" indent="-201168">
              <a:spcAft>
                <a:spcPts val="800"/>
              </a:spcAft>
              <a:buFont typeface="Arial"/>
              <a:buChar char="•"/>
            </a:pPr>
            <a:r>
              <a:rPr sz="1700" b="0" i="0">
                <a:solidFill>
                  <a:srgbClr val="1E1E2E"/>
                </a:solidFill>
                <a:latin typeface="Arial"/>
              </a:rPr>
              <a:t>Escalation rate</a:t>
            </a:r>
          </a:p>
        </p:txBody>
      </p:sp>
      <p:sp>
        <p:nvSpPr>
          <p:cNvPr id="17" name="TextBox 16"/>
          <p:cNvSpPr txBox="1"/>
          <p:nvPr/>
        </p:nvSpPr>
        <p:spPr>
          <a:xfrm>
            <a:off x="448055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AI tower</a:t>
            </a:r>
          </a:p>
        </p:txBody>
      </p:sp>
      <p:sp>
        <p:nvSpPr>
          <p:cNvPr id="18" name="Rounded Rectangle 17"/>
          <p:cNvSpPr/>
          <p:nvPr/>
        </p:nvSpPr>
        <p:spPr>
          <a:xfrm>
            <a:off x="804671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Cost Analysis" descr="Official Azure icon: Cost Analysi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554480"/>
            <a:ext cx="502920" cy="502920"/>
          </a:xfrm>
          <a:prstGeom prst="rect">
            <a:avLst/>
          </a:prstGeom>
        </p:spPr>
      </p:pic>
      <p:sp>
        <p:nvSpPr>
          <p:cNvPr id="20" name="TextBox 19"/>
          <p:cNvSpPr txBox="1"/>
          <p:nvPr/>
        </p:nvSpPr>
        <p:spPr>
          <a:xfrm>
            <a:off x="886968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Economics</a:t>
            </a:r>
          </a:p>
        </p:txBody>
      </p:sp>
      <p:sp>
        <p:nvSpPr>
          <p:cNvPr id="21" name="TextBox 20"/>
          <p:cNvSpPr txBox="1"/>
          <p:nvPr/>
        </p:nvSpPr>
        <p:spPr>
          <a:xfrm>
            <a:off x="822959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Tokens per task</a:t>
            </a:r>
          </a:p>
          <a:p>
            <a:pPr algn="l" marL="201168" indent="-201168">
              <a:spcAft>
                <a:spcPts val="800"/>
              </a:spcAft>
              <a:buFont typeface="Arial"/>
              <a:buChar char="•"/>
            </a:pPr>
            <a:r>
              <a:rPr sz="1700" b="0" i="0">
                <a:solidFill>
                  <a:srgbClr val="1E1E2E"/>
                </a:solidFill>
                <a:latin typeface="Arial"/>
              </a:rPr>
              <a:t>Cost per useful task</a:t>
            </a:r>
          </a:p>
          <a:p>
            <a:pPr algn="l" marL="201168" indent="-201168">
              <a:spcAft>
                <a:spcPts val="800"/>
              </a:spcAft>
              <a:buFont typeface="Arial"/>
              <a:buChar char="•"/>
            </a:pPr>
            <a:r>
              <a:rPr sz="1700" b="0" i="0">
                <a:solidFill>
                  <a:srgbClr val="1E1E2E"/>
                </a:solidFill>
                <a:latin typeface="Arial"/>
              </a:rPr>
              <a:t>Retry and loop amplification</a:t>
            </a:r>
          </a:p>
        </p:txBody>
      </p:sp>
      <p:sp>
        <p:nvSpPr>
          <p:cNvPr id="22" name="TextBox 21"/>
          <p:cNvSpPr txBox="1"/>
          <p:nvPr/>
        </p:nvSpPr>
        <p:spPr>
          <a:xfrm>
            <a:off x="822959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 with AI</a:t>
            </a:r>
          </a:p>
        </p:txBody>
      </p:sp>
      <p:sp>
        <p:nvSpPr>
          <p:cNvPr id="23" name="Rounded Rectangle 22"/>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Quality scoring needs approved test data and evaluators. It is not automatic proof of safety.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runbook sequence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Detect</a:t>
            </a:r>
          </a:p>
        </p:txBody>
      </p:sp>
      <p:sp>
        <p:nvSpPr>
          <p:cNvPr id="10" name="TextBox 9"/>
          <p:cNvSpPr txBox="1"/>
          <p:nvPr/>
        </p:nvSpPr>
        <p:spPr>
          <a:xfrm>
            <a:off x="5486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Alert or report names agent ID and version</a:t>
            </a:r>
          </a:p>
        </p:txBody>
      </p:sp>
      <p:cxnSp>
        <p:nvCxnSpPr>
          <p:cNvPr id="11" name="Connector (flow)"/>
          <p:cNvCxnSpPr/>
          <p:nvPr/>
        </p:nvCxnSpPr>
        <p:spPr>
          <a:xfrm>
            <a:off x="2286000"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316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Triage</a:t>
            </a:r>
          </a:p>
        </p:txBody>
      </p:sp>
      <p:sp>
        <p:nvSpPr>
          <p:cNvPr id="13" name="TextBox 12"/>
          <p:cNvSpPr txBox="1"/>
          <p:nvPr/>
        </p:nvSpPr>
        <p:spPr>
          <a:xfrm>
            <a:off x="242316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Responder confirms scope and risk class</a:t>
            </a:r>
          </a:p>
        </p:txBody>
      </p:sp>
      <p:cxnSp>
        <p:nvCxnSpPr>
          <p:cNvPr id="14" name="Connector (flow)"/>
          <p:cNvCxnSpPr/>
          <p:nvPr/>
        </p:nvCxnSpPr>
        <p:spPr>
          <a:xfrm>
            <a:off x="416052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767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Quarantine</a:t>
            </a:r>
          </a:p>
        </p:txBody>
      </p:sp>
      <p:sp>
        <p:nvSpPr>
          <p:cNvPr id="16" name="TextBox 15"/>
          <p:cNvSpPr txBox="1"/>
          <p:nvPr/>
        </p:nvSpPr>
        <p:spPr>
          <a:xfrm>
            <a:off x="429767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Write state; block, cancel, deny</a:t>
            </a:r>
          </a:p>
        </p:txBody>
      </p:sp>
      <p:cxnSp>
        <p:nvCxnSpPr>
          <p:cNvPr id="17" name="Connector (flow)"/>
          <p:cNvCxnSpPr/>
          <p:nvPr/>
        </p:nvCxnSpPr>
        <p:spPr>
          <a:xfrm>
            <a:off x="603504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219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4  Verify</a:t>
            </a:r>
          </a:p>
        </p:txBody>
      </p:sp>
      <p:sp>
        <p:nvSpPr>
          <p:cNvPr id="19" name="TextBox 18"/>
          <p:cNvSpPr txBox="1"/>
          <p:nvPr/>
        </p:nvSpPr>
        <p:spPr>
          <a:xfrm>
            <a:off x="617219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Traces show no new actions</a:t>
            </a:r>
          </a:p>
        </p:txBody>
      </p:sp>
      <p:cxnSp>
        <p:nvCxnSpPr>
          <p:cNvPr id="20" name="Connector (flow)"/>
          <p:cNvCxnSpPr/>
          <p:nvPr/>
        </p:nvCxnSpPr>
        <p:spPr>
          <a:xfrm>
            <a:off x="7909559"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4671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5  Preserve</a:t>
            </a:r>
          </a:p>
        </p:txBody>
      </p:sp>
      <p:sp>
        <p:nvSpPr>
          <p:cNvPr id="22" name="TextBox 21"/>
          <p:cNvSpPr txBox="1"/>
          <p:nvPr/>
        </p:nvSpPr>
        <p:spPr>
          <a:xfrm>
            <a:off x="804671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Evidence stored with retention</a:t>
            </a:r>
          </a:p>
        </p:txBody>
      </p:sp>
      <p:cxnSp>
        <p:nvCxnSpPr>
          <p:cNvPr id="23" name="Connector (flow)"/>
          <p:cNvCxnSpPr/>
          <p:nvPr/>
        </p:nvCxnSpPr>
        <p:spPr>
          <a:xfrm>
            <a:off x="978408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212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6  Recover</a:t>
            </a:r>
          </a:p>
        </p:txBody>
      </p:sp>
      <p:sp>
        <p:nvSpPr>
          <p:cNvPr id="25" name="TextBox 24"/>
          <p:cNvSpPr txBox="1"/>
          <p:nvPr/>
        </p:nvSpPr>
        <p:spPr>
          <a:xfrm>
            <a:off x="99212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Root cause, approval, canary</a:t>
            </a:r>
          </a:p>
        </p:txBody>
      </p:sp>
      <p:graphicFrame>
        <p:nvGraphicFramePr>
          <p:cNvPr id="26" name="Table"/>
          <p:cNvGraphicFramePr>
            <a:graphicFrameLocks noGrp="1"/>
          </p:cNvGraphicFramePr>
          <p:nvPr/>
        </p:nvGraphicFramePr>
        <p:xfrm>
          <a:off x="548640" y="3749039"/>
          <a:ext cx="11091672" cy="182880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Partial failure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Required behaviour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Proxy blocked, direct endpoint open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Bypass denied by network and identity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Worker continues after stop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Checkpoint guard and tool denial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 revocation delayed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Resource-side denial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Monitoring unavailable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containment path</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Restart triggers retries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Idempotency and queue handling</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gates and acceptance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71600"/>
          <a:ext cx="11091672" cy="2011680"/>
        </p:xfrm>
        <a:graphic>
          <a:graphicData uri="http://schemas.openxmlformats.org/drawingml/2006/table">
            <a:tbl>
              <a:tblPr firstRow="1" bandRow="0">
                <a:tableStyleId>{5C22544A-7EE6-4342-B048-85BDC9FD1C3A}</a:tableStyleId>
              </a:tblPr>
              <a:tblGrid>
                <a:gridCol w="2194560"/>
                <a:gridCol w="5943600"/>
                <a:gridCol w="295351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All in-scope agents reconciled; gaps listed by reason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Usage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Test agents correctly classified in every state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service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in-flight and tool paths each tested separately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Controlled restart with two-person approval and evidence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business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Runbooks, alert routing and review queues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Flag</a:t>
            </a:r>
          </a:p>
          <a:p>
            <a:pPr algn="l"/>
            <a:r>
              <a:rPr sz="1600" b="0" i="0">
                <a:solidFill>
                  <a:srgbClr val="1E1E2E"/>
                </a:solidFill>
                <a:latin typeface="Arial"/>
              </a:rPr>
              <a:t>Dormant candidate or orphaned state</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Notify</a:t>
            </a:r>
          </a:p>
          <a:p>
            <a:pPr algn="l"/>
            <a:r>
              <a:rPr sz="1600" b="0" i="0">
                <a:solidFill>
                  <a:srgbClr val="1E1E2E"/>
                </a:solidFill>
                <a:latin typeface="Arial"/>
              </a:rPr>
              <a:t>Owner asked to confirm need</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Decide</a:t>
            </a:r>
          </a:p>
          <a:p>
            <a:pPr algn="l"/>
            <a:r>
              <a:rPr sz="1600" b="0" i="0">
                <a:solidFill>
                  <a:srgbClr val="1E1E2E"/>
                </a:solidFill>
                <a:latin typeface="Arial"/>
              </a:rPr>
              <a:t>Keep with reason, or retire</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Retire</a:t>
            </a:r>
          </a:p>
          <a:p>
            <a:pPr algn="l"/>
            <a:r>
              <a:rPr sz="1600" b="0" i="0">
                <a:solidFill>
                  <a:srgbClr val="1E1E2E"/>
                </a:solidFill>
                <a:latin typeface="Arial"/>
              </a:rPr>
              <a:t>Remove identity, secrets, endpoints, compute</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Confirm</a:t>
            </a:r>
          </a:p>
          <a:p>
            <a:pPr algn="l"/>
            <a:r>
              <a:rPr sz="1600" b="0" i="0">
                <a:solidFill>
                  <a:srgbClr val="1E1E2E"/>
                </a:solidFill>
                <a:latin typeface="Arial"/>
              </a:rPr>
              <a:t>Resource Graph shows nothing left</a:t>
            </a:r>
          </a:p>
        </p:txBody>
      </p:sp>
      <p:sp>
        <p:nvSpPr>
          <p:cNvPr id="18" name="Rounded Rectangle 17"/>
          <p:cNvSpPr/>
          <p:nvPr/>
        </p:nvSpPr>
        <p:spPr>
          <a:xfrm>
            <a:off x="548640" y="39319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automatic deletion. Seasonal and standby agents keep an exception with a review date.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Build versus buy, capability by capability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2773680"/>
        </p:xfrm>
        <a:graphic>
          <a:graphicData uri="http://schemas.openxmlformats.org/drawingml/2006/table">
            <a:tbl>
              <a:tblPr firstRow="1" bandRow="0">
                <a:tableStyleId>{5C22544A-7EE6-4342-B048-85BDC9FD1C3A}</a:tableStyleId>
              </a:tblPr>
              <a:tblGrid>
                <a:gridCol w="2377440"/>
                <a:gridCol w="3291840"/>
                <a:gridCol w="2103120"/>
                <a:gridCol w="331927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Native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Decision rule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Build if</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Agent registry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365; Foundry Control Plane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licence, or runtime not covered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Usage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Foundry runs (last month); App Insights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Configure plus join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Need cross-runtime join to deployment records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Ownership and reviews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365 sponsor; Entra lifecycle (preview)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Review queues across runtimes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 block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Conditional Access for agents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Never build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Threat detection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Defender AI threat protection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 (Security)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Never build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Cross-layer stop and verify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claims this end to 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Build after PoC</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Always, if containment is in scope</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Licence prerequisites to check in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THIRD-PARTY CONTEXT, VERIFY"/>
          <p:cNvSpPr/>
          <p:nvPr/>
        </p:nvSpPr>
        <p:spPr>
          <a:xfrm>
            <a:off x="1996440" y="274320"/>
            <a:ext cx="26060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THIRD-PARTY CONTEXT, VERIFY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2148840"/>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to check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Source 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 per user per month, or included in Microsoft 365 E7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Microsoft blog (verified)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Microsoft 365 E7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$99 per user per month; includes Agent 365 and Copilot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Third party, verify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Base licence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Qualifying plan needed for Agent 365 add-on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Third party, verify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Entra agent controls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Conditional Access and ID Protection need Agent 365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Third-party tracker, verify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Copilot Studio usage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Copilot credits, billed separately (offering 04)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Third party, verify</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agents: who does what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3200400"/>
                <a:gridCol w="2011680"/>
                <a:gridCol w="2103120"/>
                <a:gridCol w="1828800"/>
                <a:gridCol w="1947672"/>
              </a:tblGrid>
              <a:tr h="304800">
                <a:tc>
                  <a:txBody>
                    <a:bodyPr wrap="square" anchor="ctr">
                      <a:noAutofit/>
                    </a:bodyPr>
                    <a:lstStyle/>
                    <a:p>
                      <a:pPr algn="l"/>
                      <a:r>
                        <a:rPr sz="1400" b="1" i="0">
                          <a:solidFill>
                            <a:srgbClr val="FFFFFF"/>
                          </a:solidFill>
                          <a:latin typeface="Arial"/>
                        </a:rPr>
                        <a:t>Activity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Power Platform team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Security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AI tower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Environments and data policies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inventory in Agent 365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Custom connectors to Azure APIs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 (via APIM)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 security posture (Purview)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Containment of a Copilot Studio agent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Agent estate size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Count and runtimes, even rough</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Licence position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or E7 owned or planned</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Coverage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runtimes, licence in place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Four or more runtimes, no licence, poor telemetry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Configure control plane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already licensed; one tenant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tenants; Entra controls new to customer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Custom gap layer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runtimes to join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Multi-cloud and many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Kill-switch PoC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runtimes, synthetic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Three runtimes, regulated test environment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Containment build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PoC design carries over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PoC shows gaps needing redesign</a:t>
                      </a:r>
                    </a:p>
                  </a:txBody>
                  <a:tcPr marL="73152" marR="73152" marT="36576" marB="36576"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281940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Agent sprawl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Unknown agents with live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registry, coverage report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Excessive agency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acts beyond its purpose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Tool allow-lists, approvals, runtime limits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Identity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credentials reused or stolen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agent identity, Conditional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designs, CIS Infra implements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Instructions hidden in documents or tools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Prompt Shields, tool-side checks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Orphaned agents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owner after staff leave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reviews, retirement process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service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Containment bypass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Direct calls avoid the gateway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Private endpoints, no shared keys, layer 4 identity block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catalogue build, containment plumbing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runtime limits; Security policy; DevOps registration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Catalogue operation and drills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agents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Functions, Cosmos DB, Log Analytics, App Insights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 log GB is the main driver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Not changed by 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applicable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Catalogue and registry design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Reconciliation and workbook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Deployment registration in pipelines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instrumentation (traces)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Risk classes and containment authority</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control plane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Runtime limits and tool guards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drills (testing)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Live containment (operations)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Restart and recovery approval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8346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Assessment and control-plane configuration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$80,000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Gap layer and containment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$90,000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Runtime limits and instrumentation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$45,000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Risk policy and drill verification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Pipeline registration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FFFFF"/>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r"/>
                      <a:r>
                        <a:rPr sz="1200" b="1" i="0">
                          <a:solidFill>
                            <a:srgbClr val="000048"/>
                          </a:solidFill>
                          <a:latin typeface="Arial"/>
                        </a:rPr>
                        <a:t>$260,000</a:t>
                      </a:r>
                    </a:p>
                  </a:txBody>
                  <a:tcPr marL="73152" marR="73152" marT="36576" marB="36576" anchor="ctr">
                    <a:solidFill>
                      <a:srgbClr val="F5F5F2"/>
                    </a:solidFill>
                  </a:tcPr>
                </a:tc>
              </a:tr>
            </a:tbl>
          </a:graphicData>
        </a:graphic>
      </p:graphicFrame>
      <p:sp>
        <p:nvSpPr>
          <p:cNvPr id="16" name="TextBox 15"/>
          <p:cNvSpPr txBox="1"/>
          <p:nvPr/>
        </p:nvSpPr>
        <p:spPr>
          <a:xfrm>
            <a:off x="6629400" y="46177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Named agent cohort, runtimes, containment authority, access to subscriptions and workspaces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Agent list (any form), runtimes, identities, tools, telemetry setup, incident process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Registry, reconciliation, workbook, classification rules, containment plane, runbooks, drill records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runtimes and subscriptions; outside-coverage agents listed, not managed</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instrumentation, DevOps registration, Security policy, offering 01 network design</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Inventory, instrument, control, exercise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A14 gates and K4 tests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Owners per agent, authority decisions, approvals for drills and restarts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assessment; role days per work package; recurring via offering 05</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runtime family, subscriptions, agents above cohort, new tool classes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operations; review queues and drills scheduled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Coverage with stated denominator; owners; drills passed; measured stop time</a:t>
                      </a:r>
                    </a:p>
                  </a:txBody>
                  <a:tcPr marL="73152" marR="73152" marT="36576" marB="36576" anchor="ctr">
                    <a:solidFill>
                      <a:srgbClr val="F5F5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9" name="Table"/>
          <p:cNvGraphicFramePr>
            <a:graphicFrameLocks noGrp="1"/>
          </p:cNvGraphicFramePr>
          <p:nvPr/>
        </p:nvGraphicFramePr>
        <p:xfrm>
          <a:off x="548640" y="1325880"/>
          <a:ext cx="11091672" cy="19202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Pilot agent cohort and runtimes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AI platform leader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 list and runtimes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Containment and restart authority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Customer risk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roles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Dormancy threshold and 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Usage patterns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Stop-time targets per runtime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drills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Measured drill timings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AI tower commitment for runtime limits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Effort and owner</a:t>
                      </a:r>
                    </a:p>
                  </a:txBody>
                  <a:tcPr marL="73152" marR="73152" marT="36576" marB="36576" anchor="ctr">
                    <a:solidFill>
                      <a:srgbClr val="F5F5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multiple-agent workflow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pic>
        <p:nvPicPr>
          <p:cNvPr id="9" name="Original reference image: 15_multiple-agent-workflow-automation.png" descr="15_multiple-agent-workflow-automation.png"/>
          <p:cNvPicPr>
            <a:picLocks noChangeAspect="1"/>
          </p:cNvPicPr>
          <p:nvPr/>
        </p:nvPicPr>
        <p:blipFill>
          <a:blip r:embed="rId4"/>
          <a:stretch>
            <a:fillRect/>
          </a:stretch>
        </p:blipFill>
        <p:spPr>
          <a:xfrm>
            <a:off x="3160776" y="1280160"/>
            <a:ext cx="5867400"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15_multiple-agent-workflow-automation.png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the model GPT-4.1, which retires 2027-04-14; adapted view (A11) uses a generic model deployment.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agentic RAG loop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pic>
        <p:nvPicPr>
          <p:cNvPr id="9" name="Original reference image: 14_agentic-rag.png" descr="14_agentic-rag.png"/>
          <p:cNvPicPr>
            <a:picLocks noChangeAspect="1"/>
          </p:cNvPicPr>
          <p:nvPr/>
        </p:nvPicPr>
        <p:blipFill>
          <a:blip r:embed="rId4"/>
          <a:stretch>
            <a:fillRect/>
          </a:stretch>
        </p:blipFill>
        <p:spPr>
          <a:xfrm>
            <a:off x="548640" y="1280160"/>
            <a:ext cx="11091672" cy="2852144"/>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14_agentic-rag.png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Reasoning loop only; it does not show an implemented kill switch.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monitoring scope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07_baseline-microsoft-foundry.png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Use to map agent registrations, runtime, search, storage and network to monitored assets.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2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4"/>
              </a:rPr>
              <a:t>https://www.microsoft.com/en-us/security/blog/2026/05/01/microsoft-agent-365-now-generally-available-expands-capabilities-and-integrations/</a:t>
            </a:r>
          </a:p>
          <a:p>
            <a:pPr algn="l">
              <a:spcAft>
                <a:spcPts val="300"/>
              </a:spcAft>
            </a:pPr>
            <a:r>
              <a:rPr sz="1200" b="1" i="0">
                <a:solidFill>
                  <a:srgbClr val="000048"/>
                </a:solidFill>
                <a:latin typeface="Arial"/>
              </a:rPr>
              <a:t>Agent 365 licensing analysis (SAMexpert, third party, updated 12 Jun 2026):  </a:t>
            </a:r>
            <a:r>
              <a:rPr sz="1200" b="0" i="0">
                <a:solidFill>
                  <a:srgbClr val="2F78C4"/>
                </a:solidFill>
                <a:latin typeface="Arial"/>
                <a:hlinkClick r:id="rId5"/>
              </a:rPr>
              <a:t>https://samexpert.com/agent-365/</a:t>
            </a:r>
          </a:p>
          <a:p>
            <a:pPr algn="l">
              <a:spcAft>
                <a:spcPts val="300"/>
              </a:spcAft>
            </a:pPr>
            <a:r>
              <a:rPr sz="1200" b="1" i="0">
                <a:solidFill>
                  <a:srgbClr val="000048"/>
                </a:solidFill>
                <a:latin typeface="Arial"/>
              </a:rPr>
              <a:t>Entra Agent ID change tracker (third party, entradiff.merill.net):  </a:t>
            </a:r>
            <a:r>
              <a:rPr sz="1200" b="0" i="0">
                <a:solidFill>
                  <a:srgbClr val="2F78C4"/>
                </a:solidFill>
                <a:latin typeface="Arial"/>
                <a:hlinkClick r:id="rId6"/>
              </a:rPr>
              <a:t>https://entradiff.merill.net/products/agent-id/</a:t>
            </a:r>
          </a:p>
          <a:p>
            <a:pPr algn="l">
              <a:spcAft>
                <a:spcPts val="300"/>
              </a:spcAft>
            </a:pPr>
            <a:r>
              <a:rPr sz="1200" b="1" i="0">
                <a:solidFill>
                  <a:srgbClr val="000048"/>
                </a:solidFill>
                <a:latin typeface="Arial"/>
              </a:rPr>
              <a:t>Foundry Control Plane: manage agents:  </a:t>
            </a:r>
            <a:r>
              <a:rPr sz="1200" b="0" i="0">
                <a:solidFill>
                  <a:srgbClr val="2F78C4"/>
                </a:solidFill>
                <a:latin typeface="Arial"/>
                <a:hlinkClick r:id="rId7"/>
              </a:rPr>
              <a:t>https://learn.microsoft.com/en-us/azure/foundry/control-plane/how-to-manage-agents</a:t>
            </a:r>
          </a:p>
          <a:p>
            <a:pPr algn="l">
              <a:spcAft>
                <a:spcPts val="300"/>
              </a:spcAft>
            </a:pPr>
            <a:r>
              <a:rPr sz="1200" b="1" i="0">
                <a:solidFill>
                  <a:srgbClr val="000048"/>
                </a:solidFill>
                <a:latin typeface="Arial"/>
              </a:rPr>
              <a:t>Foundry Control Plane: register custom agent:  </a:t>
            </a:r>
            <a:r>
              <a:rPr sz="1200" b="0" i="0">
                <a:solidFill>
                  <a:srgbClr val="2F78C4"/>
                </a:solidFill>
                <a:latin typeface="Arial"/>
                <a:hlinkClick r:id="rId8"/>
              </a:rPr>
              <a:t>https://learn.microsoft.com/en-us/azure/foundry/control-plane/register-custom-agent</a:t>
            </a:r>
          </a:p>
          <a:p>
            <a:pPr algn="l">
              <a:spcAft>
                <a:spcPts val="300"/>
              </a:spcAft>
            </a:pPr>
            <a:r>
              <a:rPr sz="1200" b="1" i="0">
                <a:solidFill>
                  <a:srgbClr val="000048"/>
                </a:solidFill>
                <a:latin typeface="Arial"/>
              </a:rPr>
              <a:t>AI threat protection in Microsoft Defender for Cloud:  </a:t>
            </a:r>
            <a:r>
              <a:rPr sz="1200" b="0" i="0">
                <a:solidFill>
                  <a:srgbClr val="2F78C4"/>
                </a:solidFill>
                <a:latin typeface="Arial"/>
                <a:hlinkClick r:id="rId9"/>
              </a:rPr>
              <a:t>https://learn.microsoft.com/en-us/azure/defender-for-cloud/ai-threat-protection</a:t>
            </a:r>
          </a:p>
          <a:p>
            <a:pPr algn="l">
              <a:spcAft>
                <a:spcPts val="300"/>
              </a:spcAft>
            </a:pPr>
            <a:r>
              <a:rPr sz="1200" b="1" i="0">
                <a:solidFill>
                  <a:srgbClr val="000048"/>
                </a:solidFill>
                <a:latin typeface="Arial"/>
              </a:rPr>
              <a:t>Microsoft Purview data security and compliance for AI:  </a:t>
            </a:r>
            <a:r>
              <a:rPr sz="1200" b="0" i="0">
                <a:solidFill>
                  <a:srgbClr val="2F78C4"/>
                </a:solidFill>
                <a:latin typeface="Arial"/>
                <a:hlinkClick r:id="rId10"/>
              </a:rPr>
              <a:t>https://learn.microsoft.com/en-us/purview/ai-microsoft-purview</a:t>
            </a:r>
          </a:p>
          <a:p>
            <a:pPr algn="l">
              <a:spcAft>
                <a:spcPts val="300"/>
              </a:spcAft>
            </a:pPr>
            <a:r>
              <a:rPr sz="1200" b="1" i="0">
                <a:solidFill>
                  <a:srgbClr val="000048"/>
                </a:solidFill>
                <a:latin typeface="Arial"/>
              </a:rPr>
              <a:t>EU AI Act Update: Digital Omnibus finalises compliance changes (Orrick, 29 Jul 2026):  </a:t>
            </a:r>
            <a:r>
              <a:rPr sz="1200" b="0" i="0">
                <a:solidFill>
                  <a:srgbClr val="2F78C4"/>
                </a:solidFill>
                <a:latin typeface="Arial"/>
                <a:hlinkClick r:id="rId11"/>
              </a:rPr>
              <a:t>https://www.orrick.com/en/Insights/2026/07/EU-AI-Act-Update-Digital-Omnibus-Finalizes-8-Compliance-Changes</a:t>
            </a:r>
          </a:p>
          <a:p>
            <a:pPr algn="l">
              <a:spcAft>
                <a:spcPts val="300"/>
              </a:spcAft>
            </a:pPr>
            <a:r>
              <a:rPr sz="1200" b="1" i="0">
                <a:solidFill>
                  <a:srgbClr val="000048"/>
                </a:solidFill>
                <a:latin typeface="Arial"/>
              </a:rPr>
              <a:t>Azure Architecture Icons (V24):  </a:t>
            </a:r>
            <a:r>
              <a:rPr sz="1200" b="0" i="0">
                <a:solidFill>
                  <a:srgbClr val="2F78C4"/>
                </a:solidFill>
                <a:latin typeface="Arial"/>
                <a:hlinkClick r:id="rId12"/>
              </a:rPr>
              <a:t>https://learn.microsoft.com/en-us/azure/architecture/icons/</a:t>
            </a:r>
          </a:p>
          <a:p>
            <a:pPr algn="l">
              <a:spcAft>
                <a:spcPts val="300"/>
              </a:spcAft>
            </a:pPr>
            <a:r>
              <a:rPr sz="1200" b="1" i="0">
                <a:solidFill>
                  <a:srgbClr val="000048"/>
                </a:solidFill>
                <a:latin typeface="Arial"/>
              </a:rPr>
              <a:t>az-icons.com catalogue of official Azure icons (July 2026 set):  </a:t>
            </a:r>
            <a:r>
              <a:rPr sz="1200" b="0" i="0">
                <a:solidFill>
                  <a:srgbClr val="2F78C4"/>
                </a:solidFill>
                <a:latin typeface="Arial"/>
                <a:hlinkClick r:id="rId13"/>
              </a:rPr>
              <a:t>https://az-icons.com/</a:t>
            </a:r>
          </a:p>
          <a:p>
            <a:pPr algn="l">
              <a:spcAft>
                <a:spcPts val="300"/>
              </a:spcAft>
            </a:pPr>
            <a:r>
              <a:rPr sz="1200" b="1" i="0">
                <a:solidFill>
                  <a:srgbClr val="000048"/>
                </a:solidFill>
                <a:latin typeface="Arial"/>
              </a:rPr>
              <a:t>Foundry agent monitoring dashboard:  </a:t>
            </a:r>
            <a:r>
              <a:rPr sz="1200" b="0" i="0">
                <a:solidFill>
                  <a:srgbClr val="2F78C4"/>
                </a:solidFill>
                <a:latin typeface="Arial"/>
                <a:hlinkClick r:id="rId14"/>
              </a:rPr>
              <a:t>https://learn.microsoft.com/en-us/azure/foundry/observability/how-to/how-to-monitor-agents-dashboard</a:t>
            </a:r>
          </a:p>
          <a:p>
            <a:pPr algn="l">
              <a:spcAft>
                <a:spcPts val="300"/>
              </a:spcAft>
            </a:pPr>
            <a:r>
              <a:rPr sz="1200" b="1" i="0">
                <a:solidFill>
                  <a:srgbClr val="000048"/>
                </a:solidFill>
                <a:latin typeface="Arial"/>
              </a:rPr>
              <a:t>APIM send-request policy:  </a:t>
            </a:r>
            <a:r>
              <a:rPr sz="1200" b="0" i="0">
                <a:solidFill>
                  <a:srgbClr val="2F78C4"/>
                </a:solidFill>
                <a:latin typeface="Arial"/>
                <a:hlinkClick r:id="rId15"/>
              </a:rPr>
              <a:t>https://learn.microsoft.com/en-us/azure/api-management/send-request-policy</a:t>
            </a:r>
          </a:p>
          <a:p>
            <a:pPr algn="l">
              <a:spcAft>
                <a:spcPts val="300"/>
              </a:spcAft>
            </a:pPr>
            <a:r>
              <a:rPr sz="1200" b="1" i="0">
                <a:solidFill>
                  <a:srgbClr val="000048"/>
                </a:solidFill>
                <a:latin typeface="Arial"/>
              </a:rPr>
              <a:t>APIM managed identity authentication:  </a:t>
            </a:r>
            <a:r>
              <a:rPr sz="1200" b="0" i="0">
                <a:solidFill>
                  <a:srgbClr val="2F78C4"/>
                </a:solidFill>
                <a:latin typeface="Arial"/>
                <a:hlinkClick r:id="rId16"/>
              </a:rPr>
              <a:t>https://learn.microsoft.com/en-us/azure/api-management/authentication-managed-identity-policy</a:t>
            </a:r>
          </a:p>
          <a:p>
            <a:pPr algn="l">
              <a:spcAft>
                <a:spcPts val="300"/>
              </a:spcAft>
            </a:pPr>
            <a:r>
              <a:rPr sz="1200" b="1" i="0">
                <a:solidFill>
                  <a:srgbClr val="000048"/>
                </a:solidFill>
                <a:latin typeface="Arial"/>
              </a:rPr>
              <a:t>Agentic RAG guide:  </a:t>
            </a:r>
            <a:r>
              <a:rPr sz="1200" b="0" i="0">
                <a:solidFill>
                  <a:srgbClr val="2F78C4"/>
                </a:solidFill>
                <a:latin typeface="Arial"/>
                <a:hlinkClick r:id="rId17"/>
              </a:rPr>
              <a:t>https://learn.microsoft.com/en-us/azure/architecture/ai-ml/guide/rag/rag-agentic</a:t>
            </a:r>
          </a:p>
          <a:p>
            <a:pPr algn="l">
              <a:spcAft>
                <a:spcPts val="300"/>
              </a:spcAft>
            </a:pPr>
            <a:r>
              <a:rPr sz="1200" b="1" i="0">
                <a:solidFill>
                  <a:srgbClr val="000048"/>
                </a:solidFill>
                <a:latin typeface="Arial"/>
              </a:rPr>
              <a:t>Multiple-agent workflow automation:  </a:t>
            </a:r>
            <a:r>
              <a:rPr sz="1200" b="0" i="0">
                <a:solidFill>
                  <a:srgbClr val="2F78C4"/>
                </a:solidFill>
                <a:latin typeface="Arial"/>
                <a:hlinkClick r:id="rId18"/>
              </a:rPr>
              <a:t>https://learn.microsoft.com/en-us/azure/architecture/ai-ml/idea/multiple-agent-workflow-automation</a:t>
            </a:r>
          </a:p>
          <a:p>
            <a:pPr algn="l">
              <a:spcAft>
                <a:spcPts val="300"/>
              </a:spcAft>
            </a:pPr>
            <a:r>
              <a:rPr sz="1200" b="1" i="0">
                <a:solidFill>
                  <a:srgbClr val="000048"/>
                </a:solidFill>
                <a:latin typeface="Arial"/>
              </a:rPr>
              <a:t>GTM proposal V3:  </a:t>
            </a:r>
            <a:r>
              <a:rPr sz="1200" b="0" i="0">
                <a:solidFill>
                  <a:srgbClr val="2F78C4"/>
                </a:solidFill>
                <a:latin typeface="Arial"/>
                <a:hlinkClick r:id="rId19"/>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Agent Governance and Operations v3.0</dc:title>
  <dcterms:created xsi:type="dcterms:W3CDTF">2026-10-10T13:56:28.3080000Z</dcterms:created>
  <dcterms:modified xsi:type="dcterms:W3CDTF">2026-10-10T13:56:28.3090000Z</dcterms:modified>
  <dc:subject>Proposed CIS Infra GTM offering for internal leadership review</dc:subject>
</coreProperties>
</file>