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 xmlns:ns0="http://schemas.openxmlformats.org/officeDocument/2006/relationships" id="293" ns0:id="rId46"/>
    <p:sldId xmlns:ns0="http://schemas.openxmlformats.org/officeDocument/2006/relationships" id="294" ns0:id="rId47"/>
    <p:sldId xmlns:ns0="http://schemas.openxmlformats.org/officeDocument/2006/relationships" id="295" ns0:id="rId48"/>
    <p:sldId xmlns:ns0="http://schemas.openxmlformats.org/officeDocument/2006/relationships" id="296" ns0:id="rId49"/>
    <p:sldId xmlns:ns0="http://schemas.openxmlformats.org/officeDocument/2006/relationships" id="297" ns0:id="rId50"/>
    <p:sldId xmlns:ns0="http://schemas.openxmlformats.org/officeDocument/2006/relationships" id="298" ns0:id="rId51"/>
    <p:sldId xmlns:ns0="http://schemas.openxmlformats.org/officeDocument/2006/relationships" id="299" ns0:id="rId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Break-even USD per PTU-month</c:v>
                </c:pt>
              </c:strCache>
            </c:strRef>
          </c:tx>
          <c:spPr>
            <a:solidFill>
              <a:srgbClr val="000048"/>
            </a:solidFill>
          </c:spPr>
          <c:cat>
            <c:strRef>
              <c:f>Sheet1!$A$2:$A$9</c:f>
              <c:strCache>
                <c:ptCount val="8"/>
                <c:pt idx="0">
                  <c:v>30%</c:v>
                </c:pt>
                <c:pt idx="1">
                  <c:v>40%</c:v>
                </c:pt>
                <c:pt idx="2">
                  <c:v>50%</c:v>
                </c:pt>
                <c:pt idx="3">
                  <c:v>60%</c:v>
                </c:pt>
                <c:pt idx="4">
                  <c:v>70%</c:v>
                </c:pt>
                <c:pt idx="5">
                  <c:v>80%</c:v>
                </c:pt>
                <c:pt idx="6">
                  <c:v>90%</c:v>
                </c:pt>
                <c:pt idx="7">
                  <c:v>100%</c:v>
                </c:pt>
              </c:strCache>
            </c:strRef>
          </c:cat>
          <c:val>
            <c:numRef>
              <c:f>Sheet1!$B$2:$B$9</c:f>
              <c:numCache>
                <c:formatCode>General</c:formatCode>
                <c:ptCount val="8"/>
                <c:pt idx="0">
                  <c:v>79</c:v>
                </c:pt>
                <c:pt idx="1">
                  <c:v>105</c:v>
                </c:pt>
                <c:pt idx="2">
                  <c:v>131</c:v>
                </c:pt>
                <c:pt idx="3">
                  <c:v>158</c:v>
                </c:pt>
                <c:pt idx="4">
                  <c:v>184</c:v>
                </c:pt>
                <c:pt idx="5">
                  <c:v>210</c:v>
                </c:pt>
                <c:pt idx="6">
                  <c:v>237</c:v>
                </c:pt>
                <c:pt idx="7">
                  <c:v>263</c:v>
                </c:pt>
              </c:numCache>
            </c:numRef>
          </c:val>
        </c:ser>
        <c:dLbls>
          <c:numFmt formatCode="$#,##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0D0CE"/>
            </a:solidFill>
          </a:ln>
        </c:spPr>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E3E3E3"/>
              </a:solidFill>
            </a:ln>
          </c:spPr>
        </c:majorGridlines>
        <c:numFmt formatCode="$#,##0" sourceLinked="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1E1E2E"/>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AI spend is the line CFOs now ask about. This offering is a short, fixed-scope assessment that measures real demand and tells the customer which way to buy model capacity, and what their agent licences really cost. It is also our entry offer into the rest of the portfolio.</a:t>
            </a:r>
          </a:p>
          <a:p/>
          <a:p>
            <a:r>
              <a:t>Likely question: Is this a FinOps tool?</a:t>
            </a:r>
          </a:p>
          <a:p>
            <a:r>
              <a:t>Answer: No. It uses native Azure data and a transparent cost model. The value is the method and the decision memo, not software.</a:t>
            </a:r>
          </a:p>
          <a:p/>
          <a:p>
            <a:r>
              <a:t>DETAIL AND CAVEATS</a:t>
            </a:r>
          </a:p>
          <a:p>
            <a:r>
              <a:t>Opening slide.</a:t>
            </a:r>
          </a:p>
          <a:p/>
          <a:p>
            <a:r>
              <a:t>No baseline deck for this offering was supplied with the original request; it was built new in v2.0 from the brief, the GTM proposal V3 and verified Microsoft sources. Version 3.0 moves the worked example to gpt-5.4 (gpt-4.1 is deprecated), adds licence economics for Agent 365 and Copilot Studio, and a FinOps operating model.</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pitch is simple: measure before you commit. We do not tell customers to buy reserved capacity on a slide; we show the break-even price from their own data and their own agreement prices.</a:t>
            </a:r>
          </a:p>
          <a:p/>
          <a:p>
            <a:r>
              <a:t>Likely question: Why fixed scope?</a:t>
            </a:r>
          </a:p>
          <a:p>
            <a:r>
              <a:t>Answer: It is easy to buy, low risk, and it creates the evidence for the landing zone, gateway and managed service that follow.</a:t>
            </a:r>
          </a:p>
          <a:p/>
          <a:p>
            <a:r>
              <a:t>DETAIL AND CAVEATS</a:t>
            </a:r>
          </a:p>
          <a:p>
            <a:r>
              <a:t>The assessment does not recommend a real PTU or GPU commitment from illustrative economics; it produces evidence and pricing inputs for the customer to decide. Cognizant does not give financial advice.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Three facts make this urgent. Models retire inside reservation terms, list-price PTU rarely beats pay as you go, and agent licences add a new cost line nobody has modelled.</a:t>
            </a:r>
          </a:p>
          <a:p/>
          <a:p>
            <a:r>
              <a:t>Likely question: So is PTU a bad idea?</a:t>
            </a:r>
          </a:p>
          <a:p>
            <a:r>
              <a:t>Answer: Not always. It buys latency and guaranteed throughput, and a reservation price can change the answer. That is exactly what the assessment measures.</a:t>
            </a:r>
          </a:p>
          <a:p/>
          <a:p>
            <a:r>
              <a:t>DETAIL AND CAVEATS</a:t>
            </a:r>
          </a:p>
          <a:p>
            <a:r>
              <a:t>Drivers are sourced facts plus arithmetic from list prices. No customer or pipeline is claimed.</a:t>
            </a:r>
          </a:p>
          <a:p/>
          <a:p>
            <a:r>
              <a:t>Sources (checked 11 Oct 2026):</a:t>
            </a:r>
          </a:p>
          <a:p>
            <a:r>
              <a:t>Foundry Models retirement schedule: https://learn.microsoft.com/en-us/azure/foundry/openai/concepts/model-retirement-schedule</a:t>
            </a:r>
          </a:p>
          <a:p>
            <a:r>
              <a:t>Azure Retail Prices API: gpt-5.4, East US 2: https://prices.azure.com/api/retail/prices?$filter=armRegionName eq 'eastus2' and contains(meterName,'5.4')</a:t>
            </a:r>
          </a:p>
          <a:p>
            <a:r>
              <a:t>Provisioned throughput sizing and per-model values: https://learn.microsoft.com/en-us/azure/foundry/openai/how-to/provisioned-throughput-sizing</a:t>
            </a:r>
          </a:p>
          <a:p>
            <a:r>
              <a:t>Microsoft Agent 365 now generally available (Microsoft Security blog, 1 May 2026): https://www.microsoft.com/en-us/security/blog/2026/05/01/microsoft-agent-365-now-generally-available-expands-capabilities-and-integrations/</a:t>
            </a:r>
          </a:p>
          <a:p>
            <a:r>
              <a:t>Agent 365 licensing analysis (SAMexpert, third party, updated 12 Jun 2026): https://samexpert.com/agent-365/</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entry point of the portfolio. Its outputs set the deployment types for the landing zone and the routing rules for the gateway, and it repeats every month inside managed operations.</a:t>
            </a:r>
          </a:p>
          <a:p/>
          <a:p>
            <a:r>
              <a:t>Likely question: Do we model Microsoft 365 Copilot licences?</a:t>
            </a:r>
          </a:p>
          <a:p>
            <a:r>
              <a:t>Answer: No. Those are owned by our M365 and D365 teams. We model Azure-billed items, Agent 365 and Copilot Studio credits where they affect the AI platform.</a:t>
            </a:r>
          </a:p>
          <a:p/>
          <a:p>
            <a:r>
              <a:t>DETAIL AND CAVEATS</a:t>
            </a:r>
          </a:p>
          <a:p>
            <a:r>
              <a:t>Portfolio of five CIS Infra offerings plus the Microsoft ecosystem around them. Microsoft 365 Copilot is owned by the Cognizant M365 and D365 teams; the split between them and joint-deal leadership are open decisions. Copilot Studio agents are a covered runtime. Agent 365 is configured before any custom build. API Center is the tool registry CIS Infra builds alongside API Management. Master view: deck 00.</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measure, model and recommend gates. Purchases stay with the customer and procurement.</a:t>
            </a:r>
          </a:p>
          <a:p/>
          <a:p>
            <a:r>
              <a:t>Likely question: What does the customer need to provide?</a:t>
            </a:r>
          </a:p>
          <a:p>
            <a:r>
              <a:t>Answer: Access to cost data and metrics, their Microsoft agreement prices, and named workload owners.</a:t>
            </a:r>
          </a:p>
          <a:p/>
          <a:p>
            <a:r>
              <a:t>DETAIL AND CAVEATS</a:t>
            </a:r>
          </a:p>
          <a:p>
            <a:r>
              <a:t>Scope and pricing units. Implementation of telemetry or routing changes is priced in offerings 01 and 03.</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capacity choice is one of four. Pay as you go for uncertain demand, PTU for measured sustained load, hybrid for a baseline plus overflow, and self-hosted GPUs only when PaaS cannot meet a control need. Each has a main risk, shown in amber.</a:t>
            </a:r>
          </a:p>
          <a:p/>
          <a:p>
            <a:r>
              <a:t>Likely question: Which do most customers end up with?</a:t>
            </a:r>
          </a:p>
          <a:p>
            <a:r>
              <a:t>Answer: We do not assume. Many start on pay as you go; the assessment shows when a baseline justifies PTU.</a:t>
            </a:r>
          </a:p>
          <a:p/>
          <a:p>
            <a:r>
              <a:t>DETAIL AND CAVEATS</a:t>
            </a:r>
          </a:p>
          <a:p>
            <a:r>
              <a:t>PTU fits measured, sustained workloads with latency targets; hybrid fits an established baseline with governed overflow; self-hosted GPU fits only when control or workload requirements justify the operating burden. Detail in appendix A1. Telemetry architecture for the assessment: appendix A15.</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One number decides this: the price per PTU-month. In this example, PTU only beats pay as you go if it costs less than about $210 a month in a hybrid design. The hourly list price is 730 dollars. So the question for procurement is whether their reservation price closes that gap, and whether latency needs justify paying more.</a:t>
            </a:r>
          </a:p>
          <a:p/>
          <a:p>
            <a:r>
              <a:t>Likely question: Is this example realistic?</a:t>
            </a:r>
          </a:p>
          <a:p>
            <a:r>
              <a:t>Answer: The prices are real list prices; the workload is assumed. The assessment replaces the assumptions with measured traffic.</a:t>
            </a:r>
          </a:p>
          <a:p/>
          <a:p>
            <a:r>
              <a:t>DETAIL AND CAVEATS</a:t>
            </a:r>
          </a:p>
          <a:p>
            <a:r>
              <a:t>Worked example (appendix A8 to A11). Assumed workload: 100 tasks per minute on average, 3 model calls per task, 5% retries, 2000 input tokens (25% cached) and 400 output tokens per call, daily profile peaking at 1.66x the mean. Model gpt-5.4 Global Standard at East US 2 list prices ($2.50 input, $0.25 cached, $15.00 output per 1M tokens). PTU parameters for gpt-5.4: 2,400 input TPM per PTU, 1 output token = 6 input, minimum 15, increment 5. PAYG cost $136,245 a month. PTU sized to peak = 850 PTU; hybrid baseline = 425 PTU with 34% of calls overflowing. Break-even effective PTU price: $160 per PTU-month (peak-sized) and $210 (hybrid). Hourly list price for Global provisioned is $1.00 per PTU-hour = $730 per PTU-month. Reservation prices are not in the retail price API; they come from the customer agreement. Not a recommendation.</a:t>
            </a:r>
          </a:p>
          <a:p/>
          <a:p>
            <a:r>
              <a:t>Sources (checked 11 Oct 2026):</a:t>
            </a:r>
          </a:p>
          <a:p>
            <a:r>
              <a:t>Azure Retail Prices API: gpt-5.4, East US 2: https://prices.azure.com/api/retail/prices?$filter=armRegionName eq 'eastus2' and contains(meterName,'5.4')</a:t>
            </a:r>
          </a:p>
          <a:p>
            <a:r>
              <a:t>Provisioned throughput sizing and per-model values: https://learn.microsoft.com/en-us/azure/foundry/openai/how-to/provisioned-throughput-sizing</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assessment itself is four to six weeks. Benchmarks, licence checks and the operating model are add-ons sold when the customer needs them. The monthly review moves into managed operations.</a:t>
            </a:r>
          </a:p>
          <a:p/>
          <a:p>
            <a:r>
              <a:t>Likely question: Can it be shorter?</a:t>
            </a:r>
          </a:p>
          <a:p>
            <a:r>
              <a:t>Answer: Only with existing telemetry. Without it we need at least two weeks of measured traffic.</a:t>
            </a:r>
          </a:p>
          <a:p/>
          <a:p>
            <a:r>
              <a:t>DETAIL AND CAVEATS</a:t>
            </a:r>
          </a:p>
          <a:p>
            <a:r>
              <a:t>Ranges across CIS Infra, AI and Finance support. Assumptions in appendix E1.</a:t>
            </a:r>
          </a:p>
          <a:p/>
          <a:p>
            <a:r>
              <a:t>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common failure is advice without data. Our rule is no commitment advice without measured traffic and the customer’s own prices.</a:t>
            </a:r>
          </a:p>
          <a:p/>
          <a:p>
            <a:r>
              <a:t>DETAIL AND CAVEATS</a:t>
            </a:r>
          </a:p>
          <a:p>
            <a:r>
              <a:t>Top risks for the assessment and for any capacity decision that follows.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Success is a decision taken on evidence, then tracked monthly. Today we ask for the entry-offer status and the no-advice-without-data rule.</a:t>
            </a:r>
          </a:p>
          <a:p/>
          <a:p>
            <a:r>
              <a:t>DETAIL AND CAVEATS</a:t>
            </a:r>
          </a:p>
          <a:p>
            <a:r>
              <a:t>Measures are definitions. Full register in appendix D1.</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now move into the appendix. Everything from here supports the executive section and is for architecture, presales and commercial workshops. Use the index on the next slide to jump to a topic when a question comes up.</a:t>
            </a:r>
          </a:p>
          <a:p/>
          <a:p>
            <a:r>
              <a:t>DETAIL AND CAVEATS</a:t>
            </a:r>
          </a:p>
          <a:p>
            <a:r>
              <a:t>Appendix divider. Use the index to navigate.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index lists every appendix topic. Click a line to jump to it, and use the Appendix index link in the footer to come back.</a:t>
            </a:r>
          </a:p>
          <a:p/>
          <a:p>
            <a:r>
              <a:t>DETAIL AND CAVEATS</a:t>
            </a:r>
          </a:p>
          <a:p>
            <a:r>
              <a:t>Navigation slide. Each entry links to the appendix slide. Use the Index link in the footer of any appendix slide to return here.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"Decision criteria for PAYG, PTU, hybrid and self-hosted". Detailed decision criteria. Each criterion needs evidence from the assessment. A self-hosted model is a different model from a Foundry-hosted one, so cost comparisons are not like-for-like unless quality is re-evaluated.</a:t>
            </a:r>
          </a:p>
          <a:p/>
          <a:p>
            <a:r>
              <a:t>DETAIL AND CAVEATS</a:t>
            </a:r>
          </a:p>
          <a:p>
            <a:r>
              <a:t>Detailed decision criteria. Each criterion needs evidence from the assessment. A self-hosted model is a different model from a Foundry-hosted one, so cost comparisons are not like-for-like unless quality is re-evaluated.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"Workload characterisation inputs". Inputs collected in the assessment, with their usual source. Every assumed value is labelled in the memo.</a:t>
            </a:r>
          </a:p>
          <a:p/>
          <a:p>
            <a:r>
              <a:t>DETAIL AND CAVEATS</a:t>
            </a:r>
          </a:p>
          <a:p>
            <a:r>
              <a:t>Inputs collected in the assessment, with their usual source. Every assumed value is labelled in the memo.</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"Agent loops, retries and tool calls multiply tokens". Illustration using the worked-example assumptions: one task drives 3 model calls, plus 5% retries, so about 3.15 calls per task. Tool results added to the prompt grow the context on later calls, which this simple example does not model.</a:t>
            </a:r>
          </a:p>
          <a:p/>
          <a:p>
            <a:r>
              <a:t>DETAIL AND CAVEATS</a:t>
            </a:r>
          </a:p>
          <a:p>
            <a:r>
              <a:t>Illustration using the worked-example assumptions: one task drives 3 model calls, plus 5% retries, so about 3.15 calls per task. Tool results added to the prompt grow the context on later calls, which this simple example does not model.</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"Quota, capacity and reservations are different things". Quoted from Microsoft Learn (provisioned throughput, updated 2026-07-15): "Having PTU quota doesn't guarantee that capacity is available." "Reservations don't guarantee capacity. First create deployments to confirm that capacity is available, then purchase the reservation." Deleting or scaling down releases capacity with no guarantee it can be regained.</a:t>
            </a:r>
          </a:p>
          <a:p/>
          <a:p>
            <a:r>
              <a:t>DETAIL AND CAVEATS</a:t>
            </a:r>
          </a:p>
          <a:p>
            <a:r>
              <a:t>Quoted from Microsoft Learn (provisioned throughput, updated 2026-07-15): "Having PTU quota doesn't guarantee that capacity is available." "Reservations don't guarantee capacity. First create deployments to confirm that capacity is available, then purchase the reservation." Deleting or scaling down releases capacity with no guarantee it can be regained.</a:t>
            </a:r>
          </a:p>
          <a:p/>
          <a:p>
            <a:r>
              <a:t>Sources (checked 11 Oct 2026):</a:t>
            </a:r>
          </a:p>
          <a:p>
            <a:r>
              <a:t>Provisioned throughput concepts: https://learn.microsoft.com/en-us/azure/foundry/openai/concepts/provisioned-throughput</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"PTU sizing method and current parameters". Formula and per-model values from Microsoft Learn PTU sizing (gpt-5.4 row checked 11 Oct 2026; other rows checked in v2, page updated 2026-09-24). Cached tokens are deducted 100% for these models. Microsoft recommends benchmarking against representative traffic for the most accurate sizing; the Foundry portal capacity calculator provides a guided estimate.</a:t>
            </a:r>
          </a:p>
          <a:p/>
          <a:p>
            <a:r>
              <a:t>DETAIL AND CAVEATS</a:t>
            </a:r>
          </a:p>
          <a:p>
            <a:r>
              <a:t>Formula and per-model values from Microsoft Learn PTU sizing (gpt-5.4 row checked 11 Oct 2026; other rows checked in v2, page updated 2026-09-24). Cached tokens are deducted 100% for these models. Microsoft recommends benchmarking against representative traffic for the most accurate sizing; the Foundry portal capacity calculator provides a guided estimate.</a:t>
            </a:r>
          </a:p>
          <a:p/>
          <a:p>
            <a:r>
              <a:t>Sources (checked 11 Oct 2026):</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"Commitment and model-lifecycle risk". Retirement dates from the Foundry Models retirement schedule (updated 2026-09-21). Provisioned deployments are not auto-upgraded and must be migrated manually; a successor model may need a different PTU count. Reservations apply to a deployment type, not a model, but sizing changes with the model.</a:t>
            </a:r>
          </a:p>
          <a:p/>
          <a:p>
            <a:r>
              <a:t>DETAIL AND CAVEATS</a:t>
            </a:r>
          </a:p>
          <a:p>
            <a:r>
              <a:t>Retirement dates from the Foundry Models retirement schedule (updated 2026-09-21). Provisioned deployments are not auto-upgraded and must be migrated manually; a successor model may need a different PTU count. Reservations apply to a deployment type, not a model, but sizing changes with the model.</a:t>
            </a:r>
          </a:p>
          <a:p/>
          <a:p>
            <a:r>
              <a:t>Sources (checked 11 Oct 2026):</a:t>
            </a:r>
          </a:p>
          <a:p>
            <a:r>
              <a:t>Foundry Models retirement schedule: https://learn.microsoft.com/en-us/azure/foundry/openai/concepts/model-retirement-schedule</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"Reservation coverage versus actual utilisation". Coverage measures how much of deployed PTU is billed at reserved rates. Utilisation measures how much of deployed capacity is actually used. High coverage with low utilisation wastes money; deployed PTUs above the reservation are billed hourly.</a:t>
            </a:r>
          </a:p>
          <a:p/>
          <a:p>
            <a:r>
              <a:t>DETAIL AND CAVEATS</a:t>
            </a:r>
          </a:p>
          <a:p>
            <a:r>
              <a:t>Coverage measures how much of deployed PTU is billed at reserved rates. Utilisation measures how much of deployed capacity is actually used. High coverage with low utilisation wastes money; deployed PTUs above the reservation are billed hourly.</a:t>
            </a:r>
          </a:p>
          <a:p/>
          <a:p>
            <a:r>
              <a:t>Sources (checked 11 Oct 2026):</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"Worked example inputs: verified prices, assumed load". Every assumed value is labelled. Prices are Azure Retail Prices API list prices, East US 2, USD, retrieved 11 Oct 2026; enterprise prices differ. Profile: 8 hours at 0.3, 10 business hours at 1.6, 6 evening hours at 0.8, normalised so the daily mean is 1.0.</a:t>
            </a:r>
          </a:p>
          <a:p/>
          <a:p>
            <a:r>
              <a:t>DETAIL AND CAVEATS</a:t>
            </a:r>
          </a:p>
          <a:p>
            <a:r>
              <a:t>Every assumed value is labelled. Prices are Azure Retail Prices API list prices, East US 2, USD, retrieved 11 Oct 2026; enterprise prices differ. Profile: 8 hours at 0.3, 10 business hours at 1.6, 6 evening hours at 0.8, normalised so the daily mean is 1.0.</a:t>
            </a:r>
          </a:p>
          <a:p/>
          <a:p>
            <a:r>
              <a:t>Sources (checked 11 Oct 2026):</a:t>
            </a:r>
          </a:p>
          <a:p>
            <a:r>
              <a:t>Azure Retail Prices API: gpt-5.4, East US 2: https://prices.azure.com/api/retail/prices?$filter=armRegionName eq 'eastus2' and contains(meterName,'5.4')</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"Worked example results". Calculation: average calls 315 per minute; monthly calls 13,797,000 (730 hours). Cost per call $0.00988. Normalised tokens per call 3900.</a:t>
            </a:r>
          </a:p>
          <a:p/>
          <a:p>
            <a:r>
              <a:t>DETAIL AND CAVEATS</a:t>
            </a:r>
          </a:p>
          <a:p>
            <a:r>
              <a:t>Calculation: average calls 315 per minute; monthly calls 13,797,000 (730 hours). Cost per call $0.00988. Normalised tokens per call 3900. Peak calls 521 per minute need 850 PTU (rounded up to increment). Hybrid baseline sized to the evening level needs 425 PTU; 34.4% of calls overflow to PAYG, costing $46,828. Average utilisation: 60% peak-sized, 79% hybrid baseline. Break-even = PAYG cost avoided ÷ PTUs.</a:t>
            </a:r>
          </a:p>
          <a:p/>
          <a:p>
            <a:r>
              <a:t>Sources (checked 11 Oct 2026):</a:t>
            </a:r>
          </a:p>
          <a:p>
            <a:r>
              <a:t>Azure Retail Prices API: gpt-5.4, East US 2: https://prices.azure.com/api/retail/prices?$filter=armRegionName eq 'eastus2' and contains(meterName,'5.4')</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"Sensitivity: break-even price rises with utilisation". Break-even effective PTU price per PTU-month = utilisation x 2,400 TPM x 60 x 730 / 1,000,000 x $2.50 (gpt-5.4 Global PAYG input price; output is weighted 6x in PTU accounting and priced 6x input in both PTU accounting and price). Cached tokens make PTU slightly more attractive because they consume no PTU capacity but cost $0.25 per 1M on PAYG; this line ignores that effect.</a:t>
            </a:r>
          </a:p>
          <a:p/>
          <a:p>
            <a:r>
              <a:t>DETAIL AND CAVEATS</a:t>
            </a:r>
          </a:p>
          <a:p>
            <a:r>
              <a:t>Break-even effective PTU price per PTU-month = utilisation x 2,400 TPM x 60 x 730 / 1,000,000 x $2.50 (gpt-5.4 Global PAYG input price; output is weighted 6x in PTU accounting and priced 6x input in both PTU accounting and price). Cached tokens make PTU slightly more attractive because they consume no PTU capacity but cost $0.25 per 1M on PAYG; this line ignores that effect.</a:t>
            </a:r>
          </a:p>
          <a:p/>
          <a:p>
            <a:r>
              <a:t>Sources (checked 11 Oct 2026):</a:t>
            </a:r>
          </a:p>
          <a:p>
            <a:r>
              <a:t>Azure Retail Prices API: gpt-5.4, East US 2: https://prices.azure.com/api/retail/prices?$filter=armRegionName eq 'eastus2' and contains(meterName,'5.4')</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"Sensitivity: which assumptions move the answer". Each row changes one assumption from the base case and recomputes PAYG cost, PTU counts and break-even prices with the same method. Calls per task scale cost and PTUs together, so break-even barely moves; cache rate and output share change the balance.</a:t>
            </a:r>
          </a:p>
          <a:p/>
          <a:p>
            <a:r>
              <a:t>DETAIL AND CAVEATS</a:t>
            </a:r>
          </a:p>
          <a:p>
            <a:r>
              <a:t>Each row changes one assumption from the base case and recomputes PAYG cost, PTU counts and break-even prices with the same method. Calls per task scale cost and PTUs together, so break-even barely moves; cache rate and output share change the balance.</a:t>
            </a:r>
          </a:p>
          <a:p/>
          <a:p>
            <a:r>
              <a:t>Sources (checked 11 Oct 2026):</a:t>
            </a:r>
          </a:p>
          <a:p>
            <a:r>
              <a:t>Azure Retail Prices API: gpt-5.4, East US 2: https://prices.azure.com/api/retail/prices?$filter=armRegionName eq 'eastus2' and contains(meterName,'5.4')</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"Self-hosted GPU inference: what drives capacity". ND H100 v5 (verified): 8 NVIDIA H100 80 GB GPUs per VM, NVLink 4.0 within the VM, 3.2 Tbps InfiniBand per VM (8 x 400 Gbps), 96 vCPUs, 1,900 GiB memory. Throughput for a given open model depends on precision, batching, context length and the serving stack, and must be benchmarked.</a:t>
            </a:r>
          </a:p>
          <a:p/>
          <a:p>
            <a:r>
              <a:t>DETAIL AND CAVEATS</a:t>
            </a:r>
          </a:p>
          <a:p>
            <a:r>
              <a:t>ND H100 v5 (verified): 8 NVIDIA H100 80 GB GPUs per VM, NVLink 4.0 within the VM, 3.2 Tbps InfiniBand per VM (8 x 400 Gbps), 96 vCPUs, 1,900 GiB memory. Throughput for a given open model depends on precision, batching, context length and the serving stack, and must be benchmarked.</a:t>
            </a:r>
          </a:p>
          <a:p/>
          <a:p>
            <a:r>
              <a:t>Sources (checked 11 Oct 2026):</a:t>
            </a:r>
          </a:p>
          <a:p>
            <a:r>
              <a:t>ND H100 v5 series VM sizes: https://learn.microsoft.com/en-us/azure/virtual-machines/sizes/gpu-accelerated/ndh100v5-series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"Self-hosted GPU: break-even throughput, not GPU count". ND96isr H100 v5, Linux, East US 2 list: $98.32 per hour (about $71,774 a month at 730 hours); 1-year reservation listed at $551,221 for the term. To match the example’s blended PAYG cost of about $4.11 per 1M tokens, one VM must sustain about 6,638 tokens per second around the clock, before storage, network, licences, operations and engineering, and before an N+1 replica. A different model is not like-for-like; re-evaluate quality.</a:t>
            </a:r>
          </a:p>
          <a:p/>
          <a:p>
            <a:r>
              <a:t>DETAIL AND CAVEATS</a:t>
            </a:r>
          </a:p>
          <a:p>
            <a:r>
              <a:t>ND96isr H100 v5, Linux, East US 2 list: $98.32 per hour (about $71,774 a month at 730 hours); 1-year reservation listed at $551,221 for the term. To match the example’s blended PAYG cost of about $4.11 per 1M tokens, one VM must sustain about 6,638 tokens per second around the clock, before storage, network, licences, operations and engineering, and before an N+1 replica. A different model is not like-for-like; re-evaluate quality.</a:t>
            </a:r>
          </a:p>
          <a:p/>
          <a:p>
            <a:r>
              <a:t>Sources (checked 11 Oct 2026):</a:t>
            </a:r>
          </a:p>
          <a:p>
            <a:r>
              <a:t>Azure Retail Prices API: ND H100 v5, East US 2: https://prices.azure.com/api/retail/prices?$filter=serviceName eq 'Virtual Machines' and armRegionName eq 'eastus2' and contains(armSkuName,'H100')</a:t>
            </a:r>
          </a:p>
          <a:p>
            <a:r>
              <a:t>ND H100 v5 series VM sizes: https://learn.microsoft.com/en-us/azure/virtual-machines/sizes/gpu-accelerated/ndh100v5-series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"Compare options on the same cost boundary". Comparable total-cost boundaries. Each option must include the same lines, or an explicit zero with a reason.</a:t>
            </a:r>
          </a:p>
          <a:p/>
          <a:p>
            <a:r>
              <a:t>DETAIL AND CAVEATS</a:t>
            </a:r>
          </a:p>
          <a:p>
            <a:r>
              <a:t>Comparable total-cost boundaries. Each option must include the same lines, or an explicit zero with a reason.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Data comes from four places: gateway token metrics, deployment metrics, cost exports and reservation data. We join them in Log Analytics and a cost model, and the output is the decision memo.</a:t>
            </a:r>
          </a:p>
          <a:p/>
          <a:p>
            <a:r>
              <a:t>Likely question: Do we install a tool?</a:t>
            </a:r>
          </a:p>
          <a:p>
            <a:r>
              <a:t>Answer: No. Native Azure services plus a transparent model the customer keeps.</a:t>
            </a:r>
          </a:p>
          <a:p/>
          <a:p>
            <a:r>
              <a:t>DETAIL AND CAVEATS</a:t>
            </a:r>
          </a:p>
          <a:p>
            <a:r>
              <a:t>Rebuilt editable telemetry architecture (audit finding: rebuild the low-resolution telemetry diagram). Steps: (1) API Management emits token metrics per caller, agent and model; (2) Foundry deployments expose token and utilisation metrics in Azure Monitor; (3) Cost Management exports actual and amortised cost daily to a Storage account; (4) reservation and quota data are pulled on schedule; (5) a cost model joins usage to price by model, deployment type and token type; (6) the workbook shows unit cost, utilisation, coverage and overflow. Identity: read-only managed identity. Note Log Analytics ingestion is itself a cost.</a:t>
            </a:r>
          </a:p>
          <a:p/>
          <a:p>
            <a:r>
              <a:t>Sources (checked 11 Oct 2026):</a:t>
            </a:r>
          </a:p>
          <a:p>
            <a:r>
              <a:t>AI gateway capabilities in API Management: https://learn.microsoft.com/en-us/azure/api-management/genai-gateway-capabilities</a:t>
            </a:r>
          </a:p>
          <a:p>
            <a:r>
              <a:t>Azure Retail Prices API: Log Analytics, East US 2: https://prices.azure.com/api/retail/prices?$filter=serviceName eq 'Log Analytics' and armRegionName eq 'eastus2'</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"Cost allocation and showback". Allocation uses identity-derived dimensions from the gateway and tags from Azure resources. Shared platform costs are allocated once by an agreed key.</a:t>
            </a:r>
          </a:p>
          <a:p/>
          <a:p>
            <a:r>
              <a:t>DETAIL AND CAVEATS</a:t>
            </a:r>
          </a:p>
          <a:p>
            <a:r>
              <a:t>Allocation uses identity-derived dimensions from the gateway and tags from Azure resources. Shared platform costs are allocated once by an agreed key.</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"Deployment type changes price and processing location". gpt-5.4 East US 2 retail list prices, USD, retrieved 11 Oct 2026. gpt-5.4 has no Standard (regional) pay-as-you-go row; Regional provisioned is available only in Germany West Central, Sweden Central and UK South. Provisioned hourly meters are per deployment type, carried from the v2 check.</a:t>
            </a:r>
          </a:p>
          <a:p/>
          <a:p>
            <a:r>
              <a:t>DETAIL AND CAVEATS</a:t>
            </a:r>
          </a:p>
          <a:p>
            <a:r>
              <a:t>gpt-5.4 East US 2 retail list prices, USD, retrieved 11 Oct 2026. gpt-5.4 has no Standard (regional) pay-as-you-go row; Regional provisioned is available only in Germany West Central, Sweden Central and UK South. Provisioned hourly meters are per deployment type, carried from the v2 check. Processing location per deployment type from the deployment types page (updated 2026-08-12). Data zones: US, EU, APAC; no UK or Middle East data zone.</a:t>
            </a:r>
          </a:p>
          <a:p/>
          <a:p>
            <a:r>
              <a:t>Sources (checked 11 Oct 2026):</a:t>
            </a:r>
          </a:p>
          <a:p>
            <a:r>
              <a:t>Azure Retail Prices API: gpt-5.4, East US 2: https://prices.azure.com/api/retail/prices?$filter=armRegionName eq 'eastus2' and contains(meterName,'5.4')</a:t>
            </a:r>
          </a:p>
          <a:p>
            <a:r>
              <a:t>Foundry Models deployment types: https://learn.microsoft.com/en-us/azure/foundry/foundry-models/concepts/deployment-types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"Assessment deliverables and acceptance". Proposed deliverables and acceptance. The memo states assumptions, sources and missing inputs; it does not commit the customer or Cognizant to a capacity purchase.</a:t>
            </a:r>
          </a:p>
          <a:p/>
          <a:p>
            <a:r>
              <a:t>DETAIL AND CAVEATS</a:t>
            </a:r>
          </a:p>
          <a:p>
            <a:r>
              <a:t>Proposed deliverables and acceptance. The memo states assumptions, sources and missing inputs; it does not commit the customer or Cognizant to a capacity purchase.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 platforms add licence lines that sit outside the Azure bill. We check three: Agent 365 per user, Copilot Studio credits billed through Azure, and whether the customer already owns them through E7. Microsoft 365 Copilot seats stay with our M365 and D365 teams.</a:t>
            </a:r>
          </a:p>
          <a:p/>
          <a:p>
            <a:r>
              <a:t>Likely question: Should customers buy E7?</a:t>
            </a:r>
          </a:p>
          <a:p>
            <a:r>
              <a:t>Answer: That is their licensing decision with their Microsoft partner. We show the AI platform cost effect of each option.</a:t>
            </a:r>
          </a:p>
          <a:p/>
          <a:p>
            <a:r>
              <a:t>DETAIL AND CAVEATS</a:t>
            </a:r>
          </a:p>
          <a:p>
            <a:r>
              <a:t>Agent 365: GA 1 May 2026, $15 per user per month, or included in Microsoft 365 E7 (Microsoft Security blog). E7 list of about $99 per user per month and Copilot Studio credit prices ($0.01 per credit pay-as-you-go billed through Azure; capacity pack $200 per 25,000 credits a month) come from SAMexpert, a third-party licensing analyst, updated 12 Jun 2026; verify against the customer agreement. Microsoft 365 Copilot licensing is owned by the Cognizant M365 and D365 teams and is outside this assessment, except as an input when the customer asks for a combined view. Cognizant does not resell or advise on licence purchase in this offering.</a:t>
            </a:r>
          </a:p>
          <a:p/>
          <a:p>
            <a:r>
              <a:t>Sources (checked 11 Oct 2026):</a:t>
            </a:r>
          </a:p>
          <a:p>
            <a:r>
              <a:t>Microsoft Agent 365 now generally available (Microsoft Security blog, 1 May 2026): https://www.microsoft.com/en-us/security/blog/2026/05/01/microsoft-agent-365-now-generally-available-expands-capabilities-and-integrations/</a:t>
            </a:r>
          </a:p>
          <a:p>
            <a:r>
              <a:t>Agent 365 licensing analysis (SAMexpert, third party, updated 12 Jun 2026): https://samexpert.com/agent-365/</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After the memo, someone has to keep the numbers honest. This is the cadence we propose: weekly anomalies, monthly unit cost and utilisation, quarterly commitments and model retirements. It runs inside managed operations.</a:t>
            </a:r>
          </a:p>
          <a:p/>
          <a:p>
            <a:r>
              <a:t>Likely question: Who owns it?</a:t>
            </a:r>
          </a:p>
          <a:p>
            <a:r>
              <a:t>Answer: The customer FinOps lead is accountable. We run the data and the reviews.</a:t>
            </a:r>
          </a:p>
          <a:p/>
          <a:p>
            <a:r>
              <a:t>DETAIL AND CAVEATS</a:t>
            </a:r>
          </a:p>
          <a:p>
            <a:r>
              <a:t>Proposed operating model after the assessment. Cost Management exports support the FOCUS format for standardised cost data. Showback first; chargeback only when Finance approves allocation rules. Cadence: weekly anomaly review, monthly unit-cost and utilisation review, quarterly commitment and lifecycle review. Roles follow the RACI in appendix R1. Optional add-on priced separately.</a:t>
            </a:r>
          </a:p>
          <a:p/>
          <a:p>
            <a:r>
              <a:t>Sources (checked 11 Oct 2026):</a:t>
            </a:r>
          </a:p>
          <a:p>
            <a:r>
              <a:t>Cost Management exports, including FOCUS format: https://learn.microsoft.com/en-us/azure/cost-management-billing/costs/tutorial-improved-exports</a:t>
            </a:r>
          </a:p>
          <a:p>
            <a:r>
              <a:t>AI gateway capabilities in API Management: https://learn.microsoft.com/en-us/azure/api-management/genai-gateway-capabilities</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decide quickly whether to quote implementation or sell the assessment first. Any zero on funding, authority or sponsor means assessment first.</a:t>
            </a:r>
          </a:p>
          <a:p/>
          <a:p>
            <a:r>
              <a:t>Likely question: Why not quote straight away?</a:t>
            </a:r>
          </a:p>
          <a:p>
            <a:r>
              <a:t>Answer: Unknown access, capacity or ownership is where fixed-price AI platform work loses money.</a:t>
            </a:r>
          </a:p>
          <a:p/>
          <a:p>
            <a:r>
              <a:t>DETAIL AND CAVEATS</a:t>
            </a:r>
          </a:p>
          <a:p>
            <a:r>
              <a:t>Score each criterion 0 (absent), 1 (partial) or 2 (evidenced). Proceed to an implementation quote at 12 or more with no zero on funding, authority or sponsor; otherwise sell the assessment. Thresholds are proposals to calibrate after the first pilots. The shortlist is an empty template: no customer demand is asserted.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ranges let leadership size the opportunity. The anchor is the 88 role-day example in the V3 proposal; everything else scales from it with stated drivers.</a:t>
            </a:r>
          </a:p>
          <a:p/>
          <a:p>
            <a:r>
              <a:t>Likely question: Can we quote these numbers?</a:t>
            </a:r>
          </a:p>
          <a:p>
            <a:r>
              <a:t>Answer: No. They are estimates for a go or no-go decision. A quote needs approved rates and a scoped assessment.</a:t>
            </a:r>
          </a:p>
          <a:p/>
          <a:p>
            <a:r>
              <a:t>DETAIL AND CAVEATS</a:t>
            </a:r>
          </a:p>
          <a:p>
            <a:r>
              <a:t>Ranges are planning estimates for leadership, built from the GTM proposal V3 worked example (88 role days for a bounded landing zone extension across six towers) and scaled by scope drivers. They are not staffing commitments. Replace with actual pilot effort.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security view a CISO will ask for. Each threat has a control and an owner, and CIS Infra only owns the platform controls.</a:t>
            </a:r>
          </a:p>
          <a:p/>
          <a:p>
            <a:r>
              <a:t>Likely question: Does CIS Infra run security operations?</a:t>
            </a:r>
          </a:p>
          <a:p>
            <a:r>
              <a:t>Answer: No. A contracted security service or the Security tower does. We provide the telemetry and execute containment on our components.</a:t>
            </a:r>
          </a:p>
          <a:p/>
          <a:p>
            <a:r>
              <a:t>DETAIL AND CAVEATS</a:t>
            </a:r>
          </a:p>
          <a:p>
            <a:r>
              <a:t>Threats mapped to controls and owning towers for this offering. Categories align with the OWASP Top 10 for LLM Applications (2025 edition; confirm the current version before customer use). CIS Infra implements platform controls; Security owns threat modelling, policy and security operations.</a:t>
            </a:r>
          </a:p>
          <a:p/>
          <a:p>
            <a:r>
              <a:t>Sources (checked 11 Oct 2026):</a:t>
            </a:r>
          </a:p>
          <a:p>
            <a:r>
              <a:t>OWASP Top 10 for LLM Applications: https://genai.owasp.org/llm-top-10/</a:t>
            </a:r>
          </a:p>
          <a:p>
            <a:r>
              <a:t>AI threat protection in Microsoft Defender for Cloud: https://learn.microsoft.com/en-us/azure/defender-for-cloud/ai-threat-protection</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Security tools are owned by the Security tower; we wire in their telemetry. On regulation, the EU AI Act high-risk deadlines moved to December 2027 and August 2028, which gives customers time but not an excuse.</a:t>
            </a:r>
          </a:p>
          <a:p/>
          <a:p>
            <a:r>
              <a:t>Likely question: Does the EU AI Act apply to our customers?</a:t>
            </a:r>
          </a:p>
          <a:p>
            <a:r>
              <a:t>Answer: It depends on the use case and role. We flag the checkpoint; the customer takes legal advice and decides.</a:t>
            </a:r>
          </a:p>
          <a:p/>
          <a:p>
            <a:r>
              <a:t>DETAIL AND CAVEATS</a:t>
            </a:r>
          </a:p>
          <a:p>
            <a:r>
              <a:t>Microsoft security services positioned with owners, plus regulatory checkpoints for EU, UK and Middle East pursuits. EU AI Act dates come from a law-firm summary of the Digital Omnibus amendments, Regulation (EU) 2026/1744; Annex III high-risk obligations now apply from 2 Dec 2027 and Annex I from 2 Aug 2028. UK: no single AI statute; principles-based regulator guidance (verify current position). UAE Federal Decree-Law 45 of 2021 and Saudi PDPL govern personal data (verify current executive regulations). ISO/IEC 42001 is an optional AI management system standard. Cognizant does not give legal advice; customers take legal advice.</a:t>
            </a:r>
          </a:p>
          <a:p/>
          <a:p>
            <a:r>
              <a:t>Sources (checked 11 Oct 2026):</a:t>
            </a:r>
          </a:p>
          <a:p>
            <a:r>
              <a:t>AI threat protection in Microsoft Defender for Cloud: https://learn.microsoft.com/en-us/azure/defender-for-cloud/ai-threat-protection</a:t>
            </a:r>
          </a:p>
          <a:p>
            <a:r>
              <a:t>Microsoft Purview data security and compliance for AI: https://learn.microsoft.com/en-us/purview/ai-microsoft-purview</a:t>
            </a:r>
          </a:p>
          <a:p>
            <a:r>
              <a:t>Entra Agent ID change tracker (third party, entradiff.merill.net): https://entradiff.merill.net/products/agent-id/</a:t>
            </a:r>
          </a:p>
          <a:p>
            <a:r>
              <a:t>EU AI Act Update: Digital Omnibus finalises compliance changes (Orrick, 29 Jul 2026): https://www.orrick.com/en/Insights/2026/07/EU-AI-Act-Update-Digital-Omnibus-Finalizes-8-Compliance-Changes</a:t>
            </a:r>
          </a:p>
          <a:p>
            <a:r>
              <a:t>ISO/IEC 42001 AI management systems: https://www.iso.org/standard/81230.html</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anyone in the room is unsure of a term, point here. The two that matter most for leaders are PTU (reserved model capacity) and PAYG (pay per use).</a:t>
            </a:r>
          </a:p>
          <a:p/>
          <a:p>
            <a:r>
              <a:t>Likely question: What is the difference between Agent 365 and API Center?</a:t>
            </a:r>
          </a:p>
          <a:p>
            <a:r>
              <a:t>Answer: Agent 365 governs agents; API Center registers the tools and APIs agents may call. They complement each other.</a:t>
            </a:r>
          </a:p>
          <a:p/>
          <a:p>
            <a:r>
              <a:t>DETAIL AND CAVEATS</a:t>
            </a:r>
          </a:p>
          <a:p>
            <a:r>
              <a:t>Plain-English definitions for every acronym used. Expand an acronym the first time you say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 containment spans several offerings. This slide shows the part this offering provides; the full design and its limits are in decks 02 and 05.</a:t>
            </a:r>
          </a:p>
          <a:p/>
          <a:p>
            <a:r>
              <a:t>DETAIL AND CAVEATS</a:t>
            </a:r>
          </a:p>
          <a:p>
            <a:r>
              <a:t>Concise cross-reference. The full rogue-agent kill-switch reference architecture, limits and test scenarios are in the Agent Governance and Operations deck (02) and the Managed AI Platform Operations deck (05).</a:t>
            </a:r>
          </a:p>
          <a:p/>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Version 3.0 additions: enforcement point 4 is the identity layer. Entra Conditional Access for agents can block agent sign-ins; it requires Agent 365 licensing (per third-party tracker of Microsoft docs, verify) and token revocation can lag, so it is defence in depth. Agent 365 (GA 1 May 2026) registers agents and has announced start, stop and delete lifecycle actions; Defender can block some coding agents at runtime (preview from June 2026). None of these is a universal instant stop.</a:t>
            </a:r>
          </a:p>
          <a:p/>
          <a:p>
            <a:r>
              <a:t>Icons: official Azure icons. Container Apps is shown as one example of a customer-hosted runtime; AKS is equivalent. Function App represents an example tool host.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Six cost layers, priced and owned separately. Only the first three are Cognizant services revenue; the other three are the customer’s Azure, model and GPU spend.</a:t>
            </a:r>
          </a:p>
          <a:p/>
          <a:p>
            <a:r>
              <a:t>Likely question: Do we resell Azure?</a:t>
            </a:r>
          </a:p>
          <a:p>
            <a:r>
              <a:t>Answer: Only if a resale agreement says so. Otherwise Azure spend is the customer’s and is not CIS Infra revenue.</a:t>
            </a:r>
          </a:p>
          <a:p/>
          <a:p>
            <a:r>
              <a:t>DETAIL AND CAVEATS</a:t>
            </a:r>
          </a:p>
          <a:p>
            <a:r>
              <a:t>Separates Cognizant services revenue from customer-paid Azure consumption. Where internal sell rates or enterprise Azure rates are unavailable, the formula and the missing input owner are shown instead of a number. </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activity has exactly one accountable role, shown in dark blue. The integrated service owner is the named Cognizant lead for the end-to-end outcome; the customer is accountable for acceptance.</a:t>
            </a:r>
          </a:p>
          <a:p/>
          <a:p>
            <a:r>
              <a:t>Likely question: Is this agreed with the towers?</a:t>
            </a:r>
          </a:p>
          <a:p>
            <a:r>
              <a:t>Answer: Not yet. It is a proposal to validate in the 30-day exercise.</a:t>
            </a:r>
          </a:p>
          <a:p/>
          <a:p>
            <a:r>
              <a:t>DETAIL AND CAVEATS</a:t>
            </a:r>
          </a:p>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Any commitment is the customer’s decision; the memo informs it. The customer column here covers the customer sponsor and procurement.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Revenue follows priced work packages and the tower that delivers them. We keep sales credit, booked revenue, delivery cost and margin as four separate views so nothing is double counted.</a:t>
            </a:r>
          </a:p>
          <a:p/>
          <a:p>
            <a:r>
              <a:t>Likely question: Why no fixed percentage split?</a:t>
            </a:r>
          </a:p>
          <a:p>
            <a:r>
              <a:t>Answer: Fixed splits drift from reality as scope changes. Work-package attribution stays tied to who actually delivers, and Finance approves the rules.</a:t>
            </a:r>
          </a:p>
          <a:p/>
          <a:p>
            <a:r>
              <a:t>DETAIL AND CAVEATS</a:t>
            </a:r>
          </a:p>
          <a:p>
            <a:r>
              <a:t>Framework for Finance approval. No fixed tower percentages are proposed. Attribution follows priced work packages and the tower that delivers and carries the cost. Sales credit, booked revenue, delivery cost and margin ownership are separate views and must not be double counted. Azure consumption resold or passed through is recorded separately from services revenue. The worked example uses round hypothetical numbers only to show the mechanics; it is not a quote, rate or split.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qualification and statement-of-work checklist. If any of these twelve items is blank, the deal is not ready to price.</a:t>
            </a:r>
          </a:p>
          <a:p/>
          <a:p>
            <a:r>
              <a:t>DETAIL AND CAVEATS</a:t>
            </a:r>
          </a:p>
          <a:p>
            <a:r>
              <a:t>Readiness criteria for this offering. Timelines and staffing are estimates only and require named tower commitments. Use this as the qualification and SOW checklist.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Green rows can be decided today. The rest wait for pilot evidence, Finance approval or a tower agreement, and each has a proposed owner.</a:t>
            </a:r>
          </a:p>
          <a:p/>
          <a:p>
            <a:r>
              <a:t>DETAIL AND CAVEATS</a:t>
            </a:r>
          </a:p>
          <a:p>
            <a:r>
              <a:t>Unresolved decisions for this offering. "Now" means leadership can decide at this review. Other items depend on pilot evidence, Finance approval or specialist tower agreement. The consolidated register is delivered as a separate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Recheck prices and regions before any customer quote.</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1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 Id="rId29" Type="http://schemas.openxmlformats.org/officeDocument/2006/relationships/slide" Target="slide38.xml"/><Relationship Id="rId30" Type="http://schemas.openxmlformats.org/officeDocument/2006/relationships/slide" Target="slide39.xml"/><Relationship Id="rId31" Type="http://schemas.openxmlformats.org/officeDocument/2006/relationships/slide" Target="slide40.xml"/><Relationship Id="rId32" Type="http://schemas.openxmlformats.org/officeDocument/2006/relationships/slide" Target="slide41.xml"/><Relationship Id="rId33" Type="http://schemas.openxmlformats.org/officeDocument/2006/relationships/slide" Target="slide42.xml"/><Relationship Id="rId34" Type="http://schemas.openxmlformats.org/officeDocument/2006/relationships/slide" Target="slide43.xml"/><Relationship Id="rId35" Type="http://schemas.openxmlformats.org/officeDocument/2006/relationships/slide" Target="slide4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chart" Target="../charts/chart1.xml"/><Relationship Id="rId5"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 Id="rId18" Type="http://schemas.openxmlformats.org/officeDocument/2006/relationships/image" Target="../media/image25.png"/><Relationship Id="rId19" Type="http://schemas.openxmlformats.org/officeDocument/2006/relationships/image" Target="../media/image28.svg"/><Relationship Id="rId20" Type="http://schemas.openxmlformats.org/officeDocument/2006/relationships/image" Target="../media/image27.png"/><Relationship Id="rId21" Type="http://schemas.openxmlformats.org/officeDocument/2006/relationships/image" Target="../media/image30.svg"/><Relationship Id="rId22"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slide" Target="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8.xml"/><Relationship Id="rId4" Type="http://schemas.openxmlformats.org/officeDocument/2006/relationships/slide" Target="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9.xml"/><Relationship Id="rId4" Type="http://schemas.openxmlformats.org/officeDocument/2006/relationships/slide" Target="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0.xml"/><Relationship Id="rId4" Type="http://schemas.openxmlformats.org/officeDocument/2006/relationships/slide" Target="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1.xml"/><Relationship Id="rId4" Type="http://schemas.openxmlformats.org/officeDocument/2006/relationships/slide" Target="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2.xml"/><Relationship Id="rId4" Type="http://schemas.openxmlformats.org/officeDocument/2006/relationships/slide" Target="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3.xml"/><Relationship Id="rId4" Type="http://schemas.openxmlformats.org/officeDocument/2006/relationships/slide" Target="slid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4.xml"/><Relationship Id="rId4" Type="http://schemas.openxmlformats.org/officeDocument/2006/relationships/hyperlink" Target="https://prices.azure.com/api/retail/prices?$filter=armRegionName eq 'eastus2' and contains(meterName,'5.4')" TargetMode="External"/><Relationship Id="rId5" Type="http://schemas.openxmlformats.org/officeDocument/2006/relationships/hyperlink" Target="https://www.microsoft.com/en-us/security/blog/2026/05/01/microsoft-agent-365-now-generally-available-expands-capabilities-and-integrations/" TargetMode="External"/><Relationship Id="rId6" Type="http://schemas.openxmlformats.org/officeDocument/2006/relationships/hyperlink" Target="https://samexpert.com/agent-365/" TargetMode="External"/><Relationship Id="rId7" Type="http://schemas.openxmlformats.org/officeDocument/2006/relationships/hyperlink" Target="https://learn.microsoft.com/en-us/azure/cost-management-billing/costs/tutorial-improved-exports" TargetMode="External"/><Relationship Id="rId8" Type="http://schemas.openxmlformats.org/officeDocument/2006/relationships/hyperlink" Target="https://learn.microsoft.com/en-us/azure/defender-for-cloud/ai-threat-protection" TargetMode="External"/><Relationship Id="rId9" Type="http://schemas.openxmlformats.org/officeDocument/2006/relationships/hyperlink" Target="https://learn.microsoft.com/en-us/purview/ai-microsoft-purview" TargetMode="External"/><Relationship Id="rId10" Type="http://schemas.openxmlformats.org/officeDocument/2006/relationships/hyperlink" Target="https://www.orrick.com/en/Insights/2026/07/EU-AI-Act-Update-Digital-Omnibus-Finalizes-8-Compliance-Changes" TargetMode="External"/><Relationship Id="rId11" Type="http://schemas.openxmlformats.org/officeDocument/2006/relationships/hyperlink" Target="https://learn.microsoft.com/en-us/azure/foundry/foundry-models/concepts/models-sold-directly-by-azure-region-availability" TargetMode="External"/><Relationship Id="rId12" Type="http://schemas.openxmlformats.org/officeDocument/2006/relationships/hyperlink" Target="https://learn.microsoft.com/en-us/azure/foundry/openai/concepts/provisioned-throughput" TargetMode="External"/><Relationship Id="rId13" Type="http://schemas.openxmlformats.org/officeDocument/2006/relationships/hyperlink" Target="https://learn.microsoft.com/en-us/azure/foundry/openai/how-to/provisioned-throughput-sizing" TargetMode="External"/><Relationship Id="rId14" Type="http://schemas.openxmlformats.org/officeDocument/2006/relationships/hyperlink" Target="https://learn.microsoft.com/en-us/azure/foundry/openai/how-to/provisioned-throughput-onboarding" TargetMode="External"/><Relationship Id="rId15" Type="http://schemas.openxmlformats.org/officeDocument/2006/relationships/hyperlink" Target="https://learn.microsoft.com/en-us/azure/foundry/foundry-models/concepts/deployment-types" TargetMode="External"/><Relationship Id="rId16" Type="http://schemas.openxmlformats.org/officeDocument/2006/relationships/hyperlink" Target="https://learn.microsoft.com/en-us/azure/foundry/openai/concepts/model-retirement-schedule" TargetMode="External"/><Relationship Id="rId17" Type="http://schemas.openxmlformats.org/officeDocument/2006/relationships/hyperlink" Target="https://learn.microsoft.com/en-us/azure/virtual-machines/sizes/gpu-accelerated/ndh100v5-series" TargetMode="External"/><Relationship Id="rId18" Type="http://schemas.openxmlformats.org/officeDocument/2006/relationships/hyperlink" Target="https://prices.azure.com/api/retail/prices?$filter=serviceName eq 'Virtual Machines' and armRegionName eq 'eastus2' and contains(armSkuName,'H100')" TargetMode="External"/><Relationship Id="rId19" Type="http://schemas.openxmlformats.org/officeDocument/2006/relationships/hyperlink" Target="https://prices.azure.com/api/retail/prices?$filter=serviceName eq 'Log Analytics' and armRegionName eq 'eastus2'" TargetMode="External"/><Relationship Id="rId20" Type="http://schemas.openxmlformats.org/officeDocument/2006/relationships/hyperlink" Target="https://learn.microsoft.com/en-us/azure/api-management/genai-gateway-capabilities" TargetMode="External"/><Relationship Id="rId21" Type="http://schemas.openxmlformats.org/officeDocument/2006/relationships/hyperlink" Target="https://learn.microsoft.com/en-us/azure/architecture/icons/" TargetMode="External"/><Relationship Id="rId22" Type="http://schemas.openxmlformats.org/officeDocument/2006/relationships/hyperlink" Target="https://github.com/upendra25312/AI-Foundry-GTM-offering-/blob/main/CIS_Infra_Azure_AI_Platform_GTM_Proposal_V3.docx" TargetMode="External"/><Relationship Id="rId23"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AI Capacity and FinOps Assessment</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Measure demand, then choose PAYG, PTU, hybrid or self-hosted capacity on evidence</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Fixed-scope assessment with transparent cost models and decision gates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3.0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Summary: buy capacity on measured demand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2 OF 10</a:t>
            </a:r>
          </a:p>
        </p:txBody>
      </p:sp>
      <p:sp>
        <p:nvSpPr>
          <p:cNvPr id="5" name="Status chip: PROPOSED OFFERING"/>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OFFERING</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02</a:t>
            </a:r>
          </a:p>
        </p:txBody>
      </p:sp>
      <p:sp>
        <p:nvSpPr>
          <p:cNvPr id="8" name="TextBox 7"/>
          <p:cNvSpPr txBox="1"/>
          <p:nvPr/>
        </p:nvSpPr>
        <p:spPr>
          <a:xfrm>
            <a:off x="548640" y="1371600"/>
            <a:ext cx="1600200" cy="457200"/>
          </a:xfrm>
          <a:prstGeom prst="rect">
            <a:avLst/>
          </a:prstGeom>
          <a:noFill/>
        </p:spPr>
        <p:txBody>
          <a:bodyPr wrap="square" lIns="0" rIns="0" tIns="0" bIns="0" anchor="t">
            <a:noAutofit/>
          </a:bodyPr>
          <a:lstStyle/>
          <a:p>
            <a:pPr algn="l"/>
            <a:r>
              <a:rPr sz="2200" b="1" i="0">
                <a:solidFill>
                  <a:srgbClr val="2F78C4"/>
                </a:solidFill>
                <a:latin typeface="Arial"/>
              </a:rPr>
              <a:t>Problem</a:t>
            </a:r>
          </a:p>
        </p:txBody>
      </p:sp>
      <p:sp>
        <p:nvSpPr>
          <p:cNvPr id="9" name="TextBox 8"/>
          <p:cNvSpPr txBox="1"/>
          <p:nvPr/>
        </p:nvSpPr>
        <p:spPr>
          <a:xfrm>
            <a:off x="2148840" y="1371600"/>
            <a:ext cx="5120640" cy="1325880"/>
          </a:xfrm>
          <a:prstGeom prst="rect">
            <a:avLst/>
          </a:prstGeom>
          <a:noFill/>
        </p:spPr>
        <p:txBody>
          <a:bodyPr wrap="square" lIns="0" rIns="0" tIns="0" bIns="0" anchor="t">
            <a:noAutofit/>
          </a:bodyPr>
          <a:lstStyle/>
          <a:p>
            <a:pPr algn="l"/>
            <a:r>
              <a:rPr sz="2000" b="0" i="0">
                <a:solidFill>
                  <a:srgbClr val="1E1E2E"/>
                </a:solidFill>
                <a:latin typeface="Arial"/>
              </a:rPr>
              <a:t>AI capacity is bought on guesses. Agent loops multiply tokens; PTU commitments outlive models; licences add new cost lines.</a:t>
            </a:r>
          </a:p>
        </p:txBody>
      </p:sp>
      <p:sp>
        <p:nvSpPr>
          <p:cNvPr id="10" name="TextBox 9"/>
          <p:cNvSpPr txBox="1"/>
          <p:nvPr/>
        </p:nvSpPr>
        <p:spPr>
          <a:xfrm>
            <a:off x="548640" y="2743200"/>
            <a:ext cx="1600200" cy="457200"/>
          </a:xfrm>
          <a:prstGeom prst="rect">
            <a:avLst/>
          </a:prstGeom>
          <a:noFill/>
        </p:spPr>
        <p:txBody>
          <a:bodyPr wrap="square" lIns="0" rIns="0" tIns="0" bIns="0" anchor="t">
            <a:noAutofit/>
          </a:bodyPr>
          <a:lstStyle/>
          <a:p>
            <a:pPr algn="l"/>
            <a:r>
              <a:rPr sz="2200" b="1" i="0">
                <a:solidFill>
                  <a:srgbClr val="2F78C4"/>
                </a:solidFill>
                <a:latin typeface="Arial"/>
              </a:rPr>
              <a:t>Offer</a:t>
            </a:r>
          </a:p>
        </p:txBody>
      </p:sp>
      <p:sp>
        <p:nvSpPr>
          <p:cNvPr id="11" name="TextBox 10"/>
          <p:cNvSpPr txBox="1"/>
          <p:nvPr/>
        </p:nvSpPr>
        <p:spPr>
          <a:xfrm>
            <a:off x="2148840" y="2743200"/>
            <a:ext cx="5120640" cy="1325880"/>
          </a:xfrm>
          <a:prstGeom prst="rect">
            <a:avLst/>
          </a:prstGeom>
          <a:noFill/>
        </p:spPr>
        <p:txBody>
          <a:bodyPr wrap="square" lIns="0" rIns="0" tIns="0" bIns="0" anchor="t">
            <a:noAutofit/>
          </a:bodyPr>
          <a:lstStyle/>
          <a:p>
            <a:pPr algn="l"/>
            <a:r>
              <a:rPr sz="2000" b="0" i="0">
                <a:solidFill>
                  <a:srgbClr val="1E1E2E"/>
                </a:solidFill>
                <a:latin typeface="Arial"/>
              </a:rPr>
              <a:t>A fixed-scope assessment: instrument usage, compare options on one cost boundary, check licence economics, set decision gates.</a:t>
            </a:r>
          </a:p>
        </p:txBody>
      </p:sp>
      <p:sp>
        <p:nvSpPr>
          <p:cNvPr id="12" name="TextBox 11"/>
          <p:cNvSpPr txBox="1"/>
          <p:nvPr/>
        </p:nvSpPr>
        <p:spPr>
          <a:xfrm>
            <a:off x="548640" y="4114800"/>
            <a:ext cx="1600200" cy="457200"/>
          </a:xfrm>
          <a:prstGeom prst="rect">
            <a:avLst/>
          </a:prstGeom>
          <a:noFill/>
        </p:spPr>
        <p:txBody>
          <a:bodyPr wrap="square" lIns="0" rIns="0" tIns="0" bIns="0" anchor="t">
            <a:noAutofit/>
          </a:bodyPr>
          <a:lstStyle/>
          <a:p>
            <a:pPr algn="l"/>
            <a:r>
              <a:rPr sz="2200" b="1" i="0">
                <a:solidFill>
                  <a:srgbClr val="2F78C4"/>
                </a:solidFill>
                <a:latin typeface="Arial"/>
              </a:rPr>
              <a:t>Outcome</a:t>
            </a:r>
          </a:p>
        </p:txBody>
      </p:sp>
      <p:sp>
        <p:nvSpPr>
          <p:cNvPr id="13" name="TextBox 12"/>
          <p:cNvSpPr txBox="1"/>
          <p:nvPr/>
        </p:nvSpPr>
        <p:spPr>
          <a:xfrm>
            <a:off x="2148840" y="4114800"/>
            <a:ext cx="5120640" cy="1325880"/>
          </a:xfrm>
          <a:prstGeom prst="rect">
            <a:avLst/>
          </a:prstGeom>
          <a:noFill/>
        </p:spPr>
        <p:txBody>
          <a:bodyPr wrap="square" lIns="0" rIns="0" tIns="0" bIns="0" anchor="t">
            <a:noAutofit/>
          </a:bodyPr>
          <a:lstStyle/>
          <a:p>
            <a:pPr algn="l"/>
            <a:r>
              <a:rPr sz="2000" b="0" i="0">
                <a:solidFill>
                  <a:srgbClr val="1E1E2E"/>
                </a:solidFill>
                <a:latin typeface="Arial"/>
              </a:rPr>
              <a:t>A decision memo with measured demand, sizing, break-even points, sensitivity and the approvals still required.</a:t>
            </a:r>
          </a:p>
        </p:txBody>
      </p:sp>
      <p:sp>
        <p:nvSpPr>
          <p:cNvPr id="14" name="Rounded Rectangle 13"/>
          <p:cNvSpPr/>
          <p:nvPr/>
        </p:nvSpPr>
        <p:spPr>
          <a:xfrm>
            <a:off x="7543800" y="1371600"/>
            <a:ext cx="4096512" cy="4206240"/>
          </a:xfrm>
          <a:prstGeom prst="roundRect">
            <a:avLst>
              <a:gd name="adj" fmla="val 178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1000"/>
              </a:spcAft>
            </a:pPr>
            <a:r>
              <a:rPr sz="2200" b="1" i="0">
                <a:solidFill>
                  <a:srgbClr val="FFFFFF"/>
                </a:solidFill>
                <a:latin typeface="Arial"/>
              </a:rPr>
              <a:t>Decision requested</a:t>
            </a:r>
          </a:p>
          <a:p>
            <a:pPr algn="l" marL="201168" indent="-201168">
              <a:spcAft>
                <a:spcPts val="1000"/>
              </a:spcAft>
              <a:buFont typeface="Arial"/>
              <a:buChar char="•"/>
            </a:pPr>
            <a:r>
              <a:rPr sz="2000" b="0" i="0">
                <a:solidFill>
                  <a:srgbClr val="FFFFFF"/>
                </a:solidFill>
                <a:latin typeface="Arial"/>
              </a:rPr>
              <a:t>Approve the assessment as the portfolio entry offer</a:t>
            </a:r>
          </a:p>
          <a:p>
            <a:pPr algn="l" marL="201168" indent="-201168">
              <a:spcAft>
                <a:spcPts val="1000"/>
              </a:spcAft>
              <a:buFont typeface="Arial"/>
              <a:buChar char="•"/>
            </a:pPr>
            <a:r>
              <a:rPr sz="2000" b="0" i="0">
                <a:solidFill>
                  <a:srgbClr val="FFFFFF"/>
                </a:solidFill>
                <a:latin typeface="Arial"/>
              </a:rPr>
              <a:t>No commitment advice without measured data and customer prices</a:t>
            </a:r>
          </a:p>
          <a:p>
            <a:pPr algn="l" marL="201168" indent="-201168">
              <a:spcAft>
                <a:spcPts val="1000"/>
              </a:spcAft>
              <a:buFont typeface="Arial"/>
              <a:buChar char="•"/>
            </a:pPr>
            <a:r>
              <a:rPr sz="2000" b="0" i="0">
                <a:solidFill>
                  <a:srgbClr val="FFFFFF"/>
                </a:solidFill>
                <a:latin typeface="Arial"/>
              </a:rPr>
              <a:t>Name FinOps and AI owners per pilot</a:t>
            </a:r>
          </a:p>
        </p:txBody>
      </p:sp>
      <p:sp>
        <p:nvSpPr>
          <p:cNvPr id="15" name="Rounded Rectangle 14"/>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A PTU is a unit of model throughput, not a fixed number of GPUs. We advise; the customer decides.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Why now, and who buys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3 OF 10</a:t>
            </a:r>
          </a:p>
        </p:txBody>
      </p:sp>
      <p:sp>
        <p:nvSpPr>
          <p:cNvPr id="5" name="Status chip: DRIVERS SOURCED, DEMAND TO VALIDATE"/>
          <p:cNvSpPr/>
          <p:nvPr/>
        </p:nvSpPr>
        <p:spPr>
          <a:xfrm>
            <a:off x="3658870" y="274320"/>
            <a:ext cx="32969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DRIVERS SOURCED, DEMAND TO VALIDATE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03</a:t>
            </a:r>
          </a:p>
        </p:txBody>
      </p:sp>
      <p:sp>
        <p:nvSpPr>
          <p:cNvPr id="8" name="Rounded Rectangle 7"/>
          <p:cNvSpPr/>
          <p:nvPr/>
        </p:nvSpPr>
        <p:spPr>
          <a:xfrm>
            <a:off x="548640"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Models retire fast</a:t>
            </a:r>
          </a:p>
          <a:p>
            <a:pPr algn="l">
              <a:spcAft>
                <a:spcPts val="400"/>
              </a:spcAft>
            </a:pPr>
            <a:r>
              <a:rPr sz="1800" b="0" i="0">
                <a:solidFill>
                  <a:srgbClr val="1E1E2E"/>
                </a:solidFill>
                <a:latin typeface="Arial"/>
              </a:rPr>
              <a:t>gpt-4.1 retires 14 Apr 2027 and gpt-5.4 on 2 Sep 2027, inside a 1-year reservation bought today.</a:t>
            </a:r>
          </a:p>
          <a:p>
            <a:pPr algn="l"/>
            <a:r>
              <a:rPr sz="1200" b="0" i="0">
                <a:solidFill>
                  <a:srgbClr val="53565A"/>
                </a:solidFill>
                <a:latin typeface="Arial"/>
              </a:rPr>
              <a:t>Source: Foundry retirement schedule</a:t>
            </a:r>
          </a:p>
        </p:txBody>
      </p:sp>
      <p:sp>
        <p:nvSpPr>
          <p:cNvPr id="9" name="Rounded Rectangle 8"/>
          <p:cNvSpPr/>
          <p:nvPr/>
        </p:nvSpPr>
        <p:spPr>
          <a:xfrm>
            <a:off x="429767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List PTU rarely wins</a:t>
            </a:r>
          </a:p>
          <a:p>
            <a:pPr algn="l">
              <a:spcAft>
                <a:spcPts val="400"/>
              </a:spcAft>
            </a:pPr>
            <a:r>
              <a:rPr sz="1800" b="0" i="0">
                <a:solidFill>
                  <a:srgbClr val="1E1E2E"/>
                </a:solidFill>
                <a:latin typeface="Arial"/>
              </a:rPr>
              <a:t>At list price a PTU costs $730 a month; fully used, it replaces at most $263 of gpt-5.4 input spend.</a:t>
            </a:r>
          </a:p>
          <a:p>
            <a:pPr algn="l"/>
            <a:r>
              <a:rPr sz="1200" b="0" i="0">
                <a:solidFill>
                  <a:srgbClr val="53565A"/>
                </a:solidFill>
                <a:latin typeface="Arial"/>
              </a:rPr>
              <a:t>Source: Azure Retail Prices API, PTU sizing docs</a:t>
            </a:r>
          </a:p>
        </p:txBody>
      </p:sp>
      <p:sp>
        <p:nvSpPr>
          <p:cNvPr id="10" name="Rounded Rectangle 9"/>
          <p:cNvSpPr/>
          <p:nvPr/>
        </p:nvSpPr>
        <p:spPr>
          <a:xfrm>
            <a:off x="804671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Agent licences arrive</a:t>
            </a:r>
          </a:p>
          <a:p>
            <a:pPr algn="l">
              <a:spcAft>
                <a:spcPts val="400"/>
              </a:spcAft>
            </a:pPr>
            <a:r>
              <a:rPr sz="1800" b="0" i="0">
                <a:solidFill>
                  <a:srgbClr val="1E1E2E"/>
                </a:solidFill>
                <a:latin typeface="Arial"/>
              </a:rPr>
              <a:t>Agent 365 is $15 per user per month or in E7; Copilot Studio credits bill through Azure.</a:t>
            </a:r>
          </a:p>
          <a:p>
            <a:pPr algn="l"/>
            <a:r>
              <a:rPr sz="1200" b="0" i="0">
                <a:solidFill>
                  <a:srgbClr val="53565A"/>
                </a:solidFill>
                <a:latin typeface="Arial"/>
              </a:rPr>
              <a:t>Source: Microsoft blog; SAMexpert (third party)</a:t>
            </a:r>
          </a:p>
        </p:txBody>
      </p:sp>
      <p:sp>
        <p:nvSpPr>
          <p:cNvPr id="11" name="Rounded Rectangle 10"/>
          <p:cNvSpPr/>
          <p:nvPr/>
        </p:nvSpPr>
        <p:spPr>
          <a:xfrm>
            <a:off x="548640" y="4069080"/>
            <a:ext cx="5468112" cy="1691640"/>
          </a:xfrm>
          <a:prstGeom prst="roundRect">
            <a:avLst>
              <a:gd name="adj" fmla="val 432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26EFE9"/>
                </a:solidFill>
                <a:latin typeface="Arial"/>
              </a:rPr>
              <a:t>Who buys</a:t>
            </a:r>
          </a:p>
          <a:p>
            <a:pPr algn="l"/>
            <a:r>
              <a:rPr sz="1900" b="0" i="0">
                <a:solidFill>
                  <a:srgbClr val="FFFFFF"/>
                </a:solidFill>
                <a:latin typeface="Arial"/>
              </a:rPr>
              <a:t>FinOps lead or CFO delegate with the AI platform leader; procurement when a Microsoft offer is on the table.</a:t>
            </a:r>
          </a:p>
        </p:txBody>
      </p:sp>
      <p:sp>
        <p:nvSpPr>
          <p:cNvPr id="12" name="Rounded Rectangle 11"/>
          <p:cNvSpPr/>
          <p:nvPr/>
        </p:nvSpPr>
        <p:spPr>
          <a:xfrm>
            <a:off x="6172200" y="4069080"/>
            <a:ext cx="5468112" cy="1691640"/>
          </a:xfrm>
          <a:prstGeom prst="roundRect">
            <a:avLst>
              <a:gd name="adj" fmla="val 4324"/>
            </a:avLst>
          </a:prstGeom>
          <a:solidFill>
            <a:srgbClr val="DDFBFA"/>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000048"/>
                </a:solidFill>
                <a:latin typeface="Arial"/>
              </a:rPr>
              <a:t>What triggers the purchase</a:t>
            </a:r>
          </a:p>
          <a:p>
            <a:pPr algn="l"/>
            <a:r>
              <a:rPr sz="1900" b="0" i="0">
                <a:solidFill>
                  <a:srgbClr val="1E1E2E"/>
                </a:solidFill>
                <a:latin typeface="Arial"/>
              </a:rPr>
              <a:t>Model spend growing faster than usage; throttling; a PTU or licence renewal; a scale-up business case.</a:t>
            </a:r>
          </a:p>
        </p:txBody>
      </p:sp>
      <p:sp>
        <p:nvSpPr>
          <p:cNvPr id="13" name="TextBox 12"/>
          <p:cNvSpPr txBox="1"/>
          <p:nvPr/>
        </p:nvSpPr>
        <p:spPr>
          <a:xfrm>
            <a:off x="548640" y="5870448"/>
            <a:ext cx="11064240" cy="457200"/>
          </a:xfrm>
          <a:prstGeom prst="rect">
            <a:avLst/>
          </a:prstGeom>
          <a:noFill/>
        </p:spPr>
        <p:txBody>
          <a:bodyPr wrap="square" lIns="0" rIns="0" tIns="0" bIns="0" anchor="t">
            <a:noAutofit/>
          </a:bodyPr>
          <a:lstStyle/>
          <a:p>
            <a:pPr algn="l"/>
            <a:r>
              <a:rPr sz="1400" b="0" i="0">
                <a:solidFill>
                  <a:srgbClr val="53565A"/>
                </a:solidFill>
                <a:latin typeface="Arial"/>
              </a:rPr>
              <a:t>No pipeline or customer demand is claimed. Account shortlist and qualification scorecard: appendix Q1.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Where this offering sits, and the Microsoft ecosystem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4 OF 10</a:t>
            </a:r>
          </a:p>
        </p:txBody>
      </p:sp>
      <p:sp>
        <p:nvSpPr>
          <p:cNvPr id="5" name="Status chip: PROPOSED PORTFOLIO"/>
          <p:cNvSpPr/>
          <p:nvPr/>
        </p:nvSpPr>
        <p:spPr>
          <a:xfrm>
            <a:off x="365887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PORTFOLIO</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04</a:t>
            </a:r>
          </a:p>
        </p:txBody>
      </p:sp>
      <p:sp>
        <p:nvSpPr>
          <p:cNvPr id="8" name="Rounded Rectangle 7"/>
          <p:cNvSpPr/>
          <p:nvPr/>
        </p:nvSpPr>
        <p:spPr>
          <a:xfrm>
            <a:off x="548640" y="1298448"/>
            <a:ext cx="2011680" cy="1188720"/>
          </a:xfrm>
          <a:prstGeom prst="roundRect">
            <a:avLst>
              <a:gd name="adj" fmla="val 6153"/>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26EFE9"/>
                </a:solidFill>
                <a:latin typeface="Arial"/>
              </a:rPr>
              <a:t>04  THIS OFFERING</a:t>
            </a:r>
          </a:p>
          <a:p>
            <a:pPr algn="l"/>
            <a:r>
              <a:rPr sz="1500" b="1" i="0">
                <a:solidFill>
                  <a:srgbClr val="FFFFFF"/>
                </a:solidFill>
                <a:latin typeface="Arial"/>
              </a:rPr>
              <a:t>AI Capacity and FinOps Assessment</a:t>
            </a:r>
          </a:p>
        </p:txBody>
      </p:sp>
      <p:cxnSp>
        <p:nvCxnSpPr>
          <p:cNvPr id="9" name="Connector (flow)"/>
          <p:cNvCxnSpPr/>
          <p:nvPr/>
        </p:nvCxnSpPr>
        <p:spPr>
          <a:xfrm>
            <a:off x="258775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19095"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01</a:t>
            </a:r>
          </a:p>
          <a:p>
            <a:pPr algn="l"/>
            <a:r>
              <a:rPr sz="1500" b="1" i="0">
                <a:solidFill>
                  <a:srgbClr val="000048"/>
                </a:solidFill>
                <a:latin typeface="Arial"/>
              </a:rPr>
              <a:t>AI Platform / Landing Zone</a:t>
            </a:r>
          </a:p>
        </p:txBody>
      </p:sp>
      <p:cxnSp>
        <p:nvCxnSpPr>
          <p:cNvPr id="11" name="Connector (flow)"/>
          <p:cNvCxnSpPr/>
          <p:nvPr/>
        </p:nvCxnSpPr>
        <p:spPr>
          <a:xfrm>
            <a:off x="485820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8955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03</a:t>
            </a:r>
          </a:p>
          <a:p>
            <a:pPr algn="l"/>
            <a:r>
              <a:rPr sz="1500" b="1" i="0">
                <a:solidFill>
                  <a:srgbClr val="000048"/>
                </a:solidFill>
                <a:latin typeface="Arial"/>
              </a:rPr>
              <a:t>AI Gateway Implementation</a:t>
            </a:r>
          </a:p>
        </p:txBody>
      </p:sp>
      <p:cxnSp>
        <p:nvCxnSpPr>
          <p:cNvPr id="13" name="Connector (flow)"/>
          <p:cNvCxnSpPr/>
          <p:nvPr/>
        </p:nvCxnSpPr>
        <p:spPr>
          <a:xfrm>
            <a:off x="712866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60005"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02</a:t>
            </a:r>
          </a:p>
          <a:p>
            <a:pPr algn="l"/>
            <a:r>
              <a:rPr sz="1500" b="1" i="0">
                <a:solidFill>
                  <a:srgbClr val="000048"/>
                </a:solidFill>
                <a:latin typeface="Arial"/>
              </a:rPr>
              <a:t>Agent Governance and Operations</a:t>
            </a:r>
          </a:p>
        </p:txBody>
      </p:sp>
      <p:cxnSp>
        <p:nvCxnSpPr>
          <p:cNvPr id="15" name="Connector (flow)"/>
          <p:cNvCxnSpPr/>
          <p:nvPr/>
        </p:nvCxnSpPr>
        <p:spPr>
          <a:xfrm>
            <a:off x="939911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3046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05</a:t>
            </a:r>
          </a:p>
          <a:p>
            <a:pPr algn="l"/>
            <a:r>
              <a:rPr sz="1500" b="1" i="0">
                <a:solidFill>
                  <a:srgbClr val="000048"/>
                </a:solidFill>
                <a:latin typeface="Arial"/>
              </a:rPr>
              <a:t>Managed AI Platform Operations</a:t>
            </a:r>
          </a:p>
        </p:txBody>
      </p:sp>
      <p:cxnSp>
        <p:nvCxnSpPr>
          <p:cNvPr id="17" name="Connector (control)"/>
          <p:cNvCxnSpPr/>
          <p:nvPr/>
        </p:nvCxnSpPr>
        <p:spPr>
          <a:xfrm>
            <a:off x="10636300" y="2487168"/>
            <a:ext cx="0" cy="256032"/>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control)"/>
          <p:cNvCxnSpPr/>
          <p:nvPr/>
        </p:nvCxnSpPr>
        <p:spPr>
          <a:xfrm flipH="1">
            <a:off x="1554480" y="2743200"/>
            <a:ext cx="908182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control)"/>
          <p:cNvCxnSpPr/>
          <p:nvPr/>
        </p:nvCxnSpPr>
        <p:spPr>
          <a:xfrm flipV="1">
            <a:off x="1554480" y="2487168"/>
            <a:ext cx="0" cy="2560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926080" y="2761488"/>
            <a:ext cx="6400800" cy="256032"/>
          </a:xfrm>
          <a:prstGeom prst="rect">
            <a:avLst/>
          </a:prstGeom>
          <a:noFill/>
        </p:spPr>
        <p:txBody>
          <a:bodyPr wrap="square" lIns="0" rIns="0" tIns="0" bIns="0" anchor="t">
            <a:noAutofit/>
          </a:bodyPr>
          <a:lstStyle/>
          <a:p>
            <a:pPr algn="ctr"/>
            <a:r>
              <a:rPr sz="1200" b="0" i="0">
                <a:solidFill>
                  <a:srgbClr val="6363C9"/>
                </a:solidFill>
                <a:latin typeface="Arial"/>
              </a:rPr>
              <a:t>Monthly operations evidence feeds the next capacity and cost decision</a:t>
            </a:r>
          </a:p>
        </p:txBody>
      </p:sp>
      <p:sp>
        <p:nvSpPr>
          <p:cNvPr id="21" name="TextBox 20"/>
          <p:cNvSpPr txBox="1"/>
          <p:nvPr/>
        </p:nvSpPr>
        <p:spPr>
          <a:xfrm>
            <a:off x="548640" y="3090672"/>
            <a:ext cx="11064240" cy="292608"/>
          </a:xfrm>
          <a:prstGeom prst="rect">
            <a:avLst/>
          </a:prstGeom>
          <a:noFill/>
        </p:spPr>
        <p:txBody>
          <a:bodyPr wrap="square" lIns="0" rIns="0" tIns="0" bIns="0" anchor="t">
            <a:noAutofit/>
          </a:bodyPr>
          <a:lstStyle/>
          <a:p>
            <a:pPr algn="l"/>
            <a:r>
              <a:rPr sz="1500" b="1" i="0">
                <a:solidFill>
                  <a:srgbClr val="000048"/>
                </a:solidFill>
                <a:latin typeface="Arial"/>
              </a:rPr>
              <a:t>Microsoft ecosystem around the portfolio</a:t>
            </a:r>
          </a:p>
        </p:txBody>
      </p:sp>
      <p:sp>
        <p:nvSpPr>
          <p:cNvPr id="22" name="Rounded Rectangle 21"/>
          <p:cNvSpPr/>
          <p:nvPr/>
        </p:nvSpPr>
        <p:spPr>
          <a:xfrm>
            <a:off x="548640" y="3438144"/>
            <a:ext cx="2681478" cy="1051560"/>
          </a:xfrm>
          <a:prstGeom prst="roundRect">
            <a:avLst>
              <a:gd name="adj" fmla="val 6956"/>
            </a:avLst>
          </a:prstGeom>
          <a:solidFill>
            <a:srgbClr val="F1EFFA"/>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3" name="TextBox 22"/>
          <p:cNvSpPr txBox="1"/>
          <p:nvPr/>
        </p:nvSpPr>
        <p:spPr>
          <a:xfrm>
            <a:off x="704088"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M365 Copilot</a:t>
            </a:r>
          </a:p>
        </p:txBody>
      </p:sp>
      <p:sp>
        <p:nvSpPr>
          <p:cNvPr id="24" name="TextBox 23"/>
          <p:cNvSpPr txBox="1"/>
          <p:nvPr/>
        </p:nvSpPr>
        <p:spPr>
          <a:xfrm>
            <a:off x="704088"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Owned by Cognizant M365 and D365 teams; CIS Infra supplies readiness</a:t>
            </a:r>
          </a:p>
        </p:txBody>
      </p:sp>
      <p:sp>
        <p:nvSpPr>
          <p:cNvPr id="25" name="Status chip: HANDOFF"/>
          <p:cNvSpPr/>
          <p:nvPr/>
        </p:nvSpPr>
        <p:spPr>
          <a:xfrm>
            <a:off x="704088" y="4187952"/>
            <a:ext cx="818388" cy="237744"/>
          </a:xfrm>
          <a:prstGeom prst="roundRect">
            <a:avLst>
              <a:gd name="adj" fmla="val 30769"/>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53565A"/>
                </a:solidFill>
                <a:latin typeface="Arial"/>
              </a:rPr>
              <a:t>HANDOFF</a:t>
            </a:r>
          </a:p>
        </p:txBody>
      </p:sp>
      <p:sp>
        <p:nvSpPr>
          <p:cNvPr id="26" name="Rounded Rectangle 25"/>
          <p:cNvSpPr/>
          <p:nvPr/>
        </p:nvSpPr>
        <p:spPr>
          <a:xfrm>
            <a:off x="3367278"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7" name="TextBox 26"/>
          <p:cNvSpPr txBox="1"/>
          <p:nvPr/>
        </p:nvSpPr>
        <p:spPr>
          <a:xfrm>
            <a:off x="3477006"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Copilot Studio</a:t>
            </a:r>
          </a:p>
        </p:txBody>
      </p:sp>
      <p:sp>
        <p:nvSpPr>
          <p:cNvPr id="28" name="TextBox 27"/>
          <p:cNvSpPr txBox="1"/>
          <p:nvPr/>
        </p:nvSpPr>
        <p:spPr>
          <a:xfrm>
            <a:off x="3477006"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Agents covered as a runtime in offerings 02 to 05</a:t>
            </a:r>
          </a:p>
        </p:txBody>
      </p:sp>
      <p:sp>
        <p:nvSpPr>
          <p:cNvPr id="29" name="Status chip: COVERED RUNTIME"/>
          <p:cNvSpPr/>
          <p:nvPr/>
        </p:nvSpPr>
        <p:spPr>
          <a:xfrm>
            <a:off x="3477006"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COVERED RUNTIME</a:t>
            </a:r>
          </a:p>
        </p:txBody>
      </p:sp>
      <p:sp>
        <p:nvSpPr>
          <p:cNvPr id="30" name="Rounded Rectangle 29"/>
          <p:cNvSpPr/>
          <p:nvPr/>
        </p:nvSpPr>
        <p:spPr>
          <a:xfrm>
            <a:off x="6140196"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31" name="TextBox 30"/>
          <p:cNvSpPr txBox="1"/>
          <p:nvPr/>
        </p:nvSpPr>
        <p:spPr>
          <a:xfrm>
            <a:off x="6249924"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Agent 365</a:t>
            </a:r>
          </a:p>
        </p:txBody>
      </p:sp>
      <p:sp>
        <p:nvSpPr>
          <p:cNvPr id="32" name="TextBox 31"/>
          <p:cNvSpPr txBox="1"/>
          <p:nvPr/>
        </p:nvSpPr>
        <p:spPr>
          <a:xfrm>
            <a:off x="6249924"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Microsoft agent control plane; configure before any custom build</a:t>
            </a:r>
          </a:p>
        </p:txBody>
      </p:sp>
      <p:sp>
        <p:nvSpPr>
          <p:cNvPr id="33" name="Status chip: CONFIGURE FIRST"/>
          <p:cNvSpPr/>
          <p:nvPr/>
        </p:nvSpPr>
        <p:spPr>
          <a:xfrm>
            <a:off x="6249924"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CONFIGURE FIRST</a:t>
            </a:r>
          </a:p>
        </p:txBody>
      </p:sp>
      <p:sp>
        <p:nvSpPr>
          <p:cNvPr id="34" name="Rounded Rectangle 33"/>
          <p:cNvSpPr/>
          <p:nvPr/>
        </p:nvSpPr>
        <p:spPr>
          <a:xfrm>
            <a:off x="8913114"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5" name="Azure icon: API Center" descr="Official Azure icon: API Cente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22842" y="3520439"/>
            <a:ext cx="274320" cy="274320"/>
          </a:xfrm>
          <a:prstGeom prst="rect">
            <a:avLst/>
          </a:prstGeom>
        </p:spPr>
      </p:pic>
      <p:sp>
        <p:nvSpPr>
          <p:cNvPr id="36" name="TextBox 35"/>
          <p:cNvSpPr txBox="1"/>
          <p:nvPr/>
        </p:nvSpPr>
        <p:spPr>
          <a:xfrm>
            <a:off x="9352026" y="3502152"/>
            <a:ext cx="2013966" cy="274320"/>
          </a:xfrm>
          <a:prstGeom prst="rect">
            <a:avLst/>
          </a:prstGeom>
          <a:noFill/>
        </p:spPr>
        <p:txBody>
          <a:bodyPr wrap="square" lIns="0" rIns="0" tIns="0" bIns="0" anchor="t">
            <a:noAutofit/>
          </a:bodyPr>
          <a:lstStyle/>
          <a:p>
            <a:pPr algn="l"/>
            <a:r>
              <a:rPr sz="1400" b="1" i="0">
                <a:solidFill>
                  <a:srgbClr val="000048"/>
                </a:solidFill>
                <a:latin typeface="Arial"/>
              </a:rPr>
              <a:t>API Center</a:t>
            </a:r>
          </a:p>
        </p:txBody>
      </p:sp>
      <p:sp>
        <p:nvSpPr>
          <p:cNvPr id="37" name="TextBox 36"/>
          <p:cNvSpPr txBox="1"/>
          <p:nvPr/>
        </p:nvSpPr>
        <p:spPr>
          <a:xfrm>
            <a:off x="9022842"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Registry for APIs and MCP tools, beside API Management</a:t>
            </a:r>
          </a:p>
        </p:txBody>
      </p:sp>
      <p:sp>
        <p:nvSpPr>
          <p:cNvPr id="38" name="Status chip: CIS INFRA BUILDS"/>
          <p:cNvSpPr/>
          <p:nvPr/>
        </p:nvSpPr>
        <p:spPr>
          <a:xfrm>
            <a:off x="9022842" y="4187952"/>
            <a:ext cx="1517904"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CIS INFRA BUILDS</a:t>
            </a:r>
          </a:p>
        </p:txBody>
      </p:sp>
      <p:sp>
        <p:nvSpPr>
          <p:cNvPr id="39" name="Rounded Rectangle 38"/>
          <p:cNvSpPr/>
          <p:nvPr/>
        </p:nvSpPr>
        <p:spPr>
          <a:xfrm>
            <a:off x="5486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Hands to 01 Landing Zone</a:t>
            </a:r>
          </a:p>
          <a:p>
            <a:pPr algn="l"/>
            <a:r>
              <a:rPr sz="1600" b="0" i="0">
                <a:solidFill>
                  <a:srgbClr val="1E1E2E"/>
                </a:solidFill>
                <a:latin typeface="Arial"/>
              </a:rPr>
              <a:t>Deployment type, processing boundary, quota and capacity plan</a:t>
            </a:r>
          </a:p>
        </p:txBody>
      </p:sp>
      <p:sp>
        <p:nvSpPr>
          <p:cNvPr id="40" name="Rounded Rectangle 39"/>
          <p:cNvSpPr/>
          <p:nvPr/>
        </p:nvSpPr>
        <p:spPr>
          <a:xfrm>
            <a:off x="4319016"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Hands to 03 Gateway</a:t>
            </a:r>
          </a:p>
          <a:p>
            <a:pPr algn="l"/>
            <a:r>
              <a:rPr sz="1600" b="0" i="0">
                <a:solidFill>
                  <a:srgbClr val="1E1E2E"/>
                </a:solidFill>
                <a:latin typeface="Arial"/>
              </a:rPr>
              <a:t>PTU first, PAYG overflow routing, token budgets</a:t>
            </a:r>
          </a:p>
        </p:txBody>
      </p:sp>
      <p:sp>
        <p:nvSpPr>
          <p:cNvPr id="41" name="Rounded Rectangle 40"/>
          <p:cNvSpPr/>
          <p:nvPr/>
        </p:nvSpPr>
        <p:spPr>
          <a:xfrm>
            <a:off x="80162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Receives from 05 Operations</a:t>
            </a:r>
          </a:p>
          <a:p>
            <a:pPr algn="l"/>
            <a:r>
              <a:rPr sz="1600" b="0" i="0">
                <a:solidFill>
                  <a:srgbClr val="1E1E2E"/>
                </a:solidFill>
                <a:latin typeface="Arial"/>
              </a:rPr>
              <a:t>Monthly usage, utilisation and cost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What the assessment delivers, and what it does not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5 OF 10</a:t>
            </a:r>
          </a:p>
        </p:txBody>
      </p:sp>
      <p:sp>
        <p:nvSpPr>
          <p:cNvPr id="5" name="Status chip: PROPOSED SCOPE"/>
          <p:cNvSpPr/>
          <p:nvPr/>
        </p:nvSpPr>
        <p:spPr>
          <a:xfrm>
            <a:off x="365887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SCOPE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sp>
        <p:nvSpPr>
          <p:cNvPr id="8" name="Rounded Rectangle 7"/>
          <p:cNvSpPr/>
          <p:nvPr/>
        </p:nvSpPr>
        <p:spPr>
          <a:xfrm>
            <a:off x="548640" y="1371600"/>
            <a:ext cx="3593592" cy="566928"/>
          </a:xfrm>
          <a:prstGeom prst="roundRect">
            <a:avLst>
              <a:gd name="adj" fmla="val 1290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Included: CIS Infra delivers</a:t>
            </a:r>
          </a:p>
        </p:txBody>
      </p:sp>
      <p:sp>
        <p:nvSpPr>
          <p:cNvPr id="9" name="Rounded Rectangle 8"/>
          <p:cNvSpPr/>
          <p:nvPr/>
        </p:nvSpPr>
        <p:spPr>
          <a:xfrm>
            <a:off x="548640" y="1984248"/>
            <a:ext cx="3593592" cy="3611880"/>
          </a:xfrm>
          <a:prstGeom prst="roundRect">
            <a:avLst>
              <a:gd name="adj" fmla="val 203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Usage telemetry baseline</a:t>
            </a:r>
          </a:p>
          <a:p>
            <a:pPr algn="l" marL="201168" indent="-201168">
              <a:spcAft>
                <a:spcPts val="800"/>
              </a:spcAft>
              <a:buFont typeface="Arial"/>
              <a:buChar char="•"/>
            </a:pPr>
            <a:r>
              <a:rPr sz="1800" b="0" i="0">
                <a:solidFill>
                  <a:srgbClr val="1E1E2E"/>
                </a:solidFill>
                <a:latin typeface="Arial"/>
              </a:rPr>
              <a:t>Workload characterisation</a:t>
            </a:r>
          </a:p>
          <a:p>
            <a:pPr algn="l" marL="201168" indent="-201168">
              <a:spcAft>
                <a:spcPts val="800"/>
              </a:spcAft>
              <a:buFont typeface="Arial"/>
              <a:buChar char="•"/>
            </a:pPr>
            <a:r>
              <a:rPr sz="1800" b="0" i="0">
                <a:solidFill>
                  <a:srgbClr val="1E1E2E"/>
                </a:solidFill>
                <a:latin typeface="Arial"/>
              </a:rPr>
              <a:t>Option models, one cost boundary</a:t>
            </a:r>
          </a:p>
          <a:p>
            <a:pPr algn="l" marL="201168" indent="-201168">
              <a:spcAft>
                <a:spcPts val="800"/>
              </a:spcAft>
              <a:buFont typeface="Arial"/>
              <a:buChar char="•"/>
            </a:pPr>
            <a:r>
              <a:rPr sz="1800" b="0" i="0">
                <a:solidFill>
                  <a:srgbClr val="1E1E2E"/>
                </a:solidFill>
                <a:latin typeface="Arial"/>
              </a:rPr>
              <a:t>Licence economics check</a:t>
            </a:r>
          </a:p>
          <a:p>
            <a:pPr algn="l" marL="201168" indent="-201168">
              <a:spcAft>
                <a:spcPts val="800"/>
              </a:spcAft>
              <a:buFont typeface="Arial"/>
              <a:buChar char="•"/>
            </a:pPr>
            <a:r>
              <a:rPr sz="1800" b="0" i="0">
                <a:solidFill>
                  <a:srgbClr val="1E1E2E"/>
                </a:solidFill>
                <a:latin typeface="Arial"/>
              </a:rPr>
              <a:t>Decision memo and gates</a:t>
            </a:r>
          </a:p>
        </p:txBody>
      </p:sp>
      <p:sp>
        <p:nvSpPr>
          <p:cNvPr id="10" name="Rounded Rectangle 9"/>
          <p:cNvSpPr/>
          <p:nvPr/>
        </p:nvSpPr>
        <p:spPr>
          <a:xfrm>
            <a:off x="4297679" y="1371600"/>
            <a:ext cx="3593592" cy="566928"/>
          </a:xfrm>
          <a:prstGeom prst="roundRect">
            <a:avLst>
              <a:gd name="adj" fmla="val 12903"/>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Optional: priced separately</a:t>
            </a:r>
          </a:p>
        </p:txBody>
      </p:sp>
      <p:sp>
        <p:nvSpPr>
          <p:cNvPr id="11" name="Rounded Rectangle 10"/>
          <p:cNvSpPr/>
          <p:nvPr/>
        </p:nvSpPr>
        <p:spPr>
          <a:xfrm>
            <a:off x="4297679" y="1984248"/>
            <a:ext cx="3593592" cy="361188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Load tests and PTU benchmark</a:t>
            </a:r>
          </a:p>
          <a:p>
            <a:pPr algn="l" marL="201168" indent="-201168">
              <a:spcAft>
                <a:spcPts val="800"/>
              </a:spcAft>
              <a:buFont typeface="Arial"/>
              <a:buChar char="•"/>
            </a:pPr>
            <a:r>
              <a:rPr sz="1800" b="0" i="0">
                <a:solidFill>
                  <a:srgbClr val="1E1E2E"/>
                </a:solidFill>
                <a:latin typeface="Arial"/>
              </a:rPr>
              <a:t>FinOps operating model setup</a:t>
            </a:r>
          </a:p>
          <a:p>
            <a:pPr algn="l" marL="201168" indent="-201168">
              <a:spcAft>
                <a:spcPts val="800"/>
              </a:spcAft>
              <a:buFont typeface="Arial"/>
              <a:buChar char="•"/>
            </a:pPr>
            <a:r>
              <a:rPr sz="1800" b="0" i="0">
                <a:solidFill>
                  <a:srgbClr val="1E1E2E"/>
                </a:solidFill>
                <a:latin typeface="Arial"/>
              </a:rPr>
              <a:t>GPU serving proof of concept</a:t>
            </a:r>
          </a:p>
          <a:p>
            <a:pPr algn="l" marL="201168" indent="-201168">
              <a:spcAft>
                <a:spcPts val="800"/>
              </a:spcAft>
              <a:buFont typeface="Arial"/>
              <a:buChar char="•"/>
            </a:pPr>
            <a:r>
              <a:rPr sz="1800" b="0" i="0">
                <a:solidFill>
                  <a:srgbClr val="1E1E2E"/>
                </a:solidFill>
                <a:latin typeface="Arial"/>
              </a:rPr>
              <a:t>Monthly review (offering 05)</a:t>
            </a:r>
          </a:p>
        </p:txBody>
      </p:sp>
      <p:sp>
        <p:nvSpPr>
          <p:cNvPr id="12" name="Rounded Rectangle 11"/>
          <p:cNvSpPr/>
          <p:nvPr/>
        </p:nvSpPr>
        <p:spPr>
          <a:xfrm>
            <a:off x="8046719" y="1371600"/>
            <a:ext cx="3593592" cy="566928"/>
          </a:xfrm>
          <a:prstGeom prst="roundRect">
            <a:avLst>
              <a:gd name="adj" fmla="val 12903"/>
            </a:avLst>
          </a:prstGeom>
          <a:solidFill>
            <a:srgbClr val="53565A"/>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Other owners</a:t>
            </a:r>
          </a:p>
        </p:txBody>
      </p:sp>
      <p:sp>
        <p:nvSpPr>
          <p:cNvPr id="13" name="Rounded Rectangle 12"/>
          <p:cNvSpPr/>
          <p:nvPr/>
        </p:nvSpPr>
        <p:spPr>
          <a:xfrm>
            <a:off x="8046719" y="1984248"/>
            <a:ext cx="3593592" cy="361188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AI: usage forecast, model choice</a:t>
            </a:r>
          </a:p>
          <a:p>
            <a:pPr algn="l" marL="201168" indent="-201168">
              <a:spcAft>
                <a:spcPts val="800"/>
              </a:spcAft>
              <a:buFont typeface="Arial"/>
              <a:buChar char="•"/>
            </a:pPr>
            <a:r>
              <a:rPr sz="1800" b="0" i="0">
                <a:solidFill>
                  <a:srgbClr val="1E1E2E"/>
                </a:solidFill>
                <a:latin typeface="Arial"/>
              </a:rPr>
              <a:t>Finance: commercial treatment</a:t>
            </a:r>
          </a:p>
          <a:p>
            <a:pPr algn="l" marL="201168" indent="-201168">
              <a:spcAft>
                <a:spcPts val="800"/>
              </a:spcAft>
              <a:buFont typeface="Arial"/>
              <a:buChar char="•"/>
            </a:pPr>
            <a:r>
              <a:rPr sz="1800" b="0" i="0">
                <a:solidFill>
                  <a:srgbClr val="1E1E2E"/>
                </a:solidFill>
                <a:latin typeface="Arial"/>
              </a:rPr>
              <a:t>Customer: agreement prices</a:t>
            </a:r>
          </a:p>
          <a:p>
            <a:pPr algn="l" marL="201168" indent="-201168">
              <a:spcAft>
                <a:spcPts val="800"/>
              </a:spcAft>
              <a:buFont typeface="Arial"/>
              <a:buChar char="•"/>
            </a:pPr>
            <a:r>
              <a:rPr sz="1800" b="0" i="0">
                <a:solidFill>
                  <a:srgbClr val="1E1E2E"/>
                </a:solidFill>
                <a:latin typeface="Arial"/>
              </a:rPr>
              <a:t>Procurement: commitments</a:t>
            </a:r>
          </a:p>
          <a:p>
            <a:pPr algn="l" marL="201168" indent="-201168">
              <a:spcAft>
                <a:spcPts val="800"/>
              </a:spcAft>
              <a:buFont typeface="Arial"/>
              <a:buChar char="•"/>
            </a:pPr>
            <a:r>
              <a:rPr sz="1800" b="0" i="0">
                <a:solidFill>
                  <a:srgbClr val="1E1E2E"/>
                </a:solidFill>
                <a:latin typeface="Arial"/>
              </a:rPr>
              <a:t>M365 and D365 teams: M365 Copilot</a:t>
            </a:r>
          </a:p>
        </p:txBody>
      </p:sp>
      <p:sp>
        <p:nvSpPr>
          <p:cNvPr id="14" name="Rounded Rectangle 13"/>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We do not buy capacity or licences, and we give no financial advice. The customer decides.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 framework: four capacity options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FRAMEWORK"/>
          <p:cNvSpPr/>
          <p:nvPr/>
        </p:nvSpPr>
        <p:spPr>
          <a:xfrm>
            <a:off x="365887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FRAMEWORK</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sp>
        <p:nvSpPr>
          <p:cNvPr id="8" name="Rounded Rectangle 7"/>
          <p:cNvSpPr/>
          <p:nvPr/>
        </p:nvSpPr>
        <p:spPr>
          <a:xfrm>
            <a:off x="548640" y="1371600"/>
            <a:ext cx="2679192"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200" b="1" i="0">
                <a:solidFill>
                  <a:srgbClr val="FFFFFF"/>
                </a:solidFill>
                <a:latin typeface="Arial"/>
              </a:rPr>
              <a:t>PAYG</a:t>
            </a:r>
          </a:p>
        </p:txBody>
      </p:sp>
      <p:sp>
        <p:nvSpPr>
          <p:cNvPr id="9" name="TextBox 8"/>
          <p:cNvSpPr txBox="1"/>
          <p:nvPr/>
        </p:nvSpPr>
        <p:spPr>
          <a:xfrm>
            <a:off x="548640" y="2194560"/>
            <a:ext cx="2679192" cy="274320"/>
          </a:xfrm>
          <a:prstGeom prst="rect">
            <a:avLst/>
          </a:prstGeom>
          <a:noFill/>
        </p:spPr>
        <p:txBody>
          <a:bodyPr wrap="square" lIns="0" rIns="0" tIns="0" bIns="0" anchor="t">
            <a:noAutofit/>
          </a:bodyPr>
          <a:lstStyle/>
          <a:p>
            <a:pPr algn="l"/>
            <a:r>
              <a:rPr sz="1600" b="1" i="0">
                <a:solidFill>
                  <a:srgbClr val="2F78C4"/>
                </a:solidFill>
                <a:latin typeface="Arial"/>
              </a:rPr>
              <a:t>Use when</a:t>
            </a:r>
          </a:p>
        </p:txBody>
      </p:sp>
      <p:sp>
        <p:nvSpPr>
          <p:cNvPr id="10" name="TextBox 9"/>
          <p:cNvSpPr txBox="1"/>
          <p:nvPr/>
        </p:nvSpPr>
        <p:spPr>
          <a:xfrm>
            <a:off x="548640" y="2514600"/>
            <a:ext cx="2679192" cy="1371600"/>
          </a:xfrm>
          <a:prstGeom prst="rect">
            <a:avLst/>
          </a:prstGeom>
          <a:noFill/>
        </p:spPr>
        <p:txBody>
          <a:bodyPr wrap="square" lIns="0" rIns="0" tIns="0" bIns="0" anchor="t">
            <a:noAutofit/>
          </a:bodyPr>
          <a:lstStyle/>
          <a:p>
            <a:pPr algn="l"/>
            <a:r>
              <a:rPr sz="1900" b="0" i="0">
                <a:solidFill>
                  <a:srgbClr val="1E1E2E"/>
                </a:solidFill>
                <a:latin typeface="Arial"/>
              </a:rPr>
              <a:t>Uncertain, variable or early demand</a:t>
            </a:r>
          </a:p>
        </p:txBody>
      </p:sp>
      <p:sp>
        <p:nvSpPr>
          <p:cNvPr id="11" name="Rounded Rectangle 10"/>
          <p:cNvSpPr/>
          <p:nvPr/>
        </p:nvSpPr>
        <p:spPr>
          <a:xfrm>
            <a:off x="548640" y="3931920"/>
            <a:ext cx="2679192" cy="1417320"/>
          </a:xfrm>
          <a:prstGeom prst="roundRect">
            <a:avLst>
              <a:gd name="adj" fmla="val 516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600" b="1" i="0">
                <a:solidFill>
                  <a:srgbClr val="8A4B08"/>
                </a:solidFill>
                <a:latin typeface="Arial"/>
              </a:rPr>
              <a:t>Main risk</a:t>
            </a:r>
          </a:p>
          <a:p>
            <a:pPr algn="l"/>
            <a:r>
              <a:rPr sz="1800" b="0" i="0">
                <a:solidFill>
                  <a:srgbClr val="1E1E2E"/>
                </a:solidFill>
                <a:latin typeface="Arial"/>
              </a:rPr>
              <a:t>Per-token cost; throttling at peaks</a:t>
            </a:r>
          </a:p>
        </p:txBody>
      </p:sp>
      <p:sp>
        <p:nvSpPr>
          <p:cNvPr id="12" name="Rounded Rectangle 11"/>
          <p:cNvSpPr/>
          <p:nvPr/>
        </p:nvSpPr>
        <p:spPr>
          <a:xfrm>
            <a:off x="3364992" y="1371600"/>
            <a:ext cx="2679192"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200" b="1" i="0">
                <a:solidFill>
                  <a:srgbClr val="FFFFFF"/>
                </a:solidFill>
                <a:latin typeface="Arial"/>
              </a:rPr>
              <a:t>PTU</a:t>
            </a:r>
          </a:p>
        </p:txBody>
      </p:sp>
      <p:sp>
        <p:nvSpPr>
          <p:cNvPr id="13" name="TextBox 12"/>
          <p:cNvSpPr txBox="1"/>
          <p:nvPr/>
        </p:nvSpPr>
        <p:spPr>
          <a:xfrm>
            <a:off x="3364992" y="2194560"/>
            <a:ext cx="2679192" cy="274320"/>
          </a:xfrm>
          <a:prstGeom prst="rect">
            <a:avLst/>
          </a:prstGeom>
          <a:noFill/>
        </p:spPr>
        <p:txBody>
          <a:bodyPr wrap="square" lIns="0" rIns="0" tIns="0" bIns="0" anchor="t">
            <a:noAutofit/>
          </a:bodyPr>
          <a:lstStyle/>
          <a:p>
            <a:pPr algn="l"/>
            <a:r>
              <a:rPr sz="1600" b="1" i="0">
                <a:solidFill>
                  <a:srgbClr val="2F78C4"/>
                </a:solidFill>
                <a:latin typeface="Arial"/>
              </a:rPr>
              <a:t>Use when</a:t>
            </a:r>
          </a:p>
        </p:txBody>
      </p:sp>
      <p:sp>
        <p:nvSpPr>
          <p:cNvPr id="14" name="TextBox 13"/>
          <p:cNvSpPr txBox="1"/>
          <p:nvPr/>
        </p:nvSpPr>
        <p:spPr>
          <a:xfrm>
            <a:off x="3364992" y="2514600"/>
            <a:ext cx="2679192" cy="1371600"/>
          </a:xfrm>
          <a:prstGeom prst="rect">
            <a:avLst/>
          </a:prstGeom>
          <a:noFill/>
        </p:spPr>
        <p:txBody>
          <a:bodyPr wrap="square" lIns="0" rIns="0" tIns="0" bIns="0" anchor="t">
            <a:noAutofit/>
          </a:bodyPr>
          <a:lstStyle/>
          <a:p>
            <a:pPr algn="l"/>
            <a:r>
              <a:rPr sz="1900" b="0" i="0">
                <a:solidFill>
                  <a:srgbClr val="1E1E2E"/>
                </a:solidFill>
                <a:latin typeface="Arial"/>
              </a:rPr>
              <a:t>Measured, sustained load with latency targets</a:t>
            </a:r>
          </a:p>
        </p:txBody>
      </p:sp>
      <p:sp>
        <p:nvSpPr>
          <p:cNvPr id="15" name="Rounded Rectangle 14"/>
          <p:cNvSpPr/>
          <p:nvPr/>
        </p:nvSpPr>
        <p:spPr>
          <a:xfrm>
            <a:off x="3364992" y="3931920"/>
            <a:ext cx="2679192" cy="1417320"/>
          </a:xfrm>
          <a:prstGeom prst="roundRect">
            <a:avLst>
              <a:gd name="adj" fmla="val 516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600" b="1" i="0">
                <a:solidFill>
                  <a:srgbClr val="8A4B08"/>
                </a:solidFill>
                <a:latin typeface="Arial"/>
              </a:rPr>
              <a:t>Main risk</a:t>
            </a:r>
          </a:p>
          <a:p>
            <a:pPr algn="l"/>
            <a:r>
              <a:rPr sz="1800" b="0" i="0">
                <a:solidFill>
                  <a:srgbClr val="1E1E2E"/>
                </a:solidFill>
                <a:latin typeface="Arial"/>
              </a:rPr>
              <a:t>Commitment and model-lifecycle risk</a:t>
            </a:r>
          </a:p>
        </p:txBody>
      </p:sp>
      <p:sp>
        <p:nvSpPr>
          <p:cNvPr id="16" name="Rounded Rectangle 15"/>
          <p:cNvSpPr/>
          <p:nvPr/>
        </p:nvSpPr>
        <p:spPr>
          <a:xfrm>
            <a:off x="6181344" y="1371600"/>
            <a:ext cx="2679192"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200" b="1" i="0">
                <a:solidFill>
                  <a:srgbClr val="FFFFFF"/>
                </a:solidFill>
                <a:latin typeface="Arial"/>
              </a:rPr>
              <a:t>Hybrid</a:t>
            </a:r>
          </a:p>
        </p:txBody>
      </p:sp>
      <p:sp>
        <p:nvSpPr>
          <p:cNvPr id="17" name="TextBox 16"/>
          <p:cNvSpPr txBox="1"/>
          <p:nvPr/>
        </p:nvSpPr>
        <p:spPr>
          <a:xfrm>
            <a:off x="6181344" y="2194560"/>
            <a:ext cx="2679192" cy="274320"/>
          </a:xfrm>
          <a:prstGeom prst="rect">
            <a:avLst/>
          </a:prstGeom>
          <a:noFill/>
        </p:spPr>
        <p:txBody>
          <a:bodyPr wrap="square" lIns="0" rIns="0" tIns="0" bIns="0" anchor="t">
            <a:noAutofit/>
          </a:bodyPr>
          <a:lstStyle/>
          <a:p>
            <a:pPr algn="l"/>
            <a:r>
              <a:rPr sz="1600" b="1" i="0">
                <a:solidFill>
                  <a:srgbClr val="2F78C4"/>
                </a:solidFill>
                <a:latin typeface="Arial"/>
              </a:rPr>
              <a:t>Use when</a:t>
            </a:r>
          </a:p>
        </p:txBody>
      </p:sp>
      <p:sp>
        <p:nvSpPr>
          <p:cNvPr id="18" name="TextBox 17"/>
          <p:cNvSpPr txBox="1"/>
          <p:nvPr/>
        </p:nvSpPr>
        <p:spPr>
          <a:xfrm>
            <a:off x="6181344" y="2514600"/>
            <a:ext cx="2679192" cy="1371600"/>
          </a:xfrm>
          <a:prstGeom prst="rect">
            <a:avLst/>
          </a:prstGeom>
          <a:noFill/>
        </p:spPr>
        <p:txBody>
          <a:bodyPr wrap="square" lIns="0" rIns="0" tIns="0" bIns="0" anchor="t">
            <a:noAutofit/>
          </a:bodyPr>
          <a:lstStyle/>
          <a:p>
            <a:pPr algn="l"/>
            <a:r>
              <a:rPr sz="1900" b="0" i="0">
                <a:solidFill>
                  <a:srgbClr val="1E1E2E"/>
                </a:solidFill>
                <a:latin typeface="Arial"/>
              </a:rPr>
              <a:t>Established baseline plus governed overflow</a:t>
            </a:r>
          </a:p>
        </p:txBody>
      </p:sp>
      <p:sp>
        <p:nvSpPr>
          <p:cNvPr id="19" name="Rounded Rectangle 18"/>
          <p:cNvSpPr/>
          <p:nvPr/>
        </p:nvSpPr>
        <p:spPr>
          <a:xfrm>
            <a:off x="6181344" y="3931920"/>
            <a:ext cx="2679192" cy="1417320"/>
          </a:xfrm>
          <a:prstGeom prst="roundRect">
            <a:avLst>
              <a:gd name="adj" fmla="val 516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600" b="1" i="0">
                <a:solidFill>
                  <a:srgbClr val="8A4B08"/>
                </a:solidFill>
                <a:latin typeface="Arial"/>
              </a:rPr>
              <a:t>Main risk</a:t>
            </a:r>
          </a:p>
          <a:p>
            <a:pPr algn="l"/>
            <a:r>
              <a:rPr sz="1800" b="0" i="0">
                <a:solidFill>
                  <a:srgbClr val="1E1E2E"/>
                </a:solidFill>
                <a:latin typeface="Arial"/>
              </a:rPr>
              <a:t>Overflow spend; two configs to run</a:t>
            </a:r>
          </a:p>
        </p:txBody>
      </p:sp>
      <p:sp>
        <p:nvSpPr>
          <p:cNvPr id="20" name="Rounded Rectangle 19"/>
          <p:cNvSpPr/>
          <p:nvPr/>
        </p:nvSpPr>
        <p:spPr>
          <a:xfrm>
            <a:off x="8997696" y="1371600"/>
            <a:ext cx="2679192" cy="685800"/>
          </a:xfrm>
          <a:prstGeom prst="roundRect">
            <a:avLst>
              <a:gd name="adj" fmla="val 10666"/>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200" b="1" i="0">
                <a:solidFill>
                  <a:srgbClr val="FFFFFF"/>
                </a:solidFill>
                <a:latin typeface="Arial"/>
              </a:rPr>
              <a:t>Self-hosted GPU</a:t>
            </a:r>
          </a:p>
        </p:txBody>
      </p:sp>
      <p:sp>
        <p:nvSpPr>
          <p:cNvPr id="21" name="TextBox 20"/>
          <p:cNvSpPr txBox="1"/>
          <p:nvPr/>
        </p:nvSpPr>
        <p:spPr>
          <a:xfrm>
            <a:off x="8997696" y="2194560"/>
            <a:ext cx="2679192" cy="274320"/>
          </a:xfrm>
          <a:prstGeom prst="rect">
            <a:avLst/>
          </a:prstGeom>
          <a:noFill/>
        </p:spPr>
        <p:txBody>
          <a:bodyPr wrap="square" lIns="0" rIns="0" tIns="0" bIns="0" anchor="t">
            <a:noAutofit/>
          </a:bodyPr>
          <a:lstStyle/>
          <a:p>
            <a:pPr algn="l"/>
            <a:r>
              <a:rPr sz="1600" b="1" i="0">
                <a:solidFill>
                  <a:srgbClr val="2F78C4"/>
                </a:solidFill>
                <a:latin typeface="Arial"/>
              </a:rPr>
              <a:t>Use when</a:t>
            </a:r>
          </a:p>
        </p:txBody>
      </p:sp>
      <p:sp>
        <p:nvSpPr>
          <p:cNvPr id="22" name="TextBox 21"/>
          <p:cNvSpPr txBox="1"/>
          <p:nvPr/>
        </p:nvSpPr>
        <p:spPr>
          <a:xfrm>
            <a:off x="8997696" y="2514600"/>
            <a:ext cx="2679192" cy="1371600"/>
          </a:xfrm>
          <a:prstGeom prst="rect">
            <a:avLst/>
          </a:prstGeom>
          <a:noFill/>
        </p:spPr>
        <p:txBody>
          <a:bodyPr wrap="square" lIns="0" rIns="0" tIns="0" bIns="0" anchor="t">
            <a:noAutofit/>
          </a:bodyPr>
          <a:lstStyle/>
          <a:p>
            <a:pPr algn="l"/>
            <a:r>
              <a:rPr sz="1900" b="0" i="0">
                <a:solidFill>
                  <a:srgbClr val="1E1E2E"/>
                </a:solidFill>
                <a:latin typeface="Arial"/>
              </a:rPr>
              <a:t>Model, data or control needs PaaS cannot meet</a:t>
            </a:r>
          </a:p>
        </p:txBody>
      </p:sp>
      <p:sp>
        <p:nvSpPr>
          <p:cNvPr id="23" name="Rounded Rectangle 22"/>
          <p:cNvSpPr/>
          <p:nvPr/>
        </p:nvSpPr>
        <p:spPr>
          <a:xfrm>
            <a:off x="8997696" y="3931920"/>
            <a:ext cx="2679192" cy="1417320"/>
          </a:xfrm>
          <a:prstGeom prst="roundRect">
            <a:avLst>
              <a:gd name="adj" fmla="val 516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600" b="1" i="0">
                <a:solidFill>
                  <a:srgbClr val="8A4B08"/>
                </a:solidFill>
                <a:latin typeface="Arial"/>
              </a:rPr>
              <a:t>Main risk</a:t>
            </a:r>
          </a:p>
          <a:p>
            <a:pPr algn="l"/>
            <a:r>
              <a:rPr sz="1800" b="0" i="0">
                <a:solidFill>
                  <a:srgbClr val="1E1E2E"/>
                </a:solidFill>
                <a:latin typeface="Arial"/>
              </a:rPr>
              <a:t>Operating burden and engineering</a:t>
            </a:r>
          </a:p>
        </p:txBody>
      </p:sp>
      <p:sp>
        <p:nvSpPr>
          <p:cNvPr id="24" name="Rounded Rectangle 23"/>
          <p:cNvSpPr/>
          <p:nvPr/>
        </p:nvSpPr>
        <p:spPr>
          <a:xfrm>
            <a:off x="548640" y="5577840"/>
            <a:ext cx="11091672" cy="640080"/>
          </a:xfrm>
          <a:prstGeom prst="roundRect">
            <a:avLst>
              <a:gd name="adj" fmla="val 11428"/>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Decision:  </a:t>
            </a:r>
            <a:r>
              <a:rPr sz="1600" b="0" i="0">
                <a:solidFill>
                  <a:srgbClr val="1E1E2E"/>
                </a:solidFill>
                <a:latin typeface="Arial"/>
              </a:rPr>
              <a:t>Gate to PTU or GPU: measured traffic, benchmark, customer price, model lifecycle check, Finance approval.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PTU only pays below a price; list is far above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7 OF 10</a:t>
            </a:r>
          </a:p>
        </p:txBody>
      </p:sp>
      <p:sp>
        <p:nvSpPr>
          <p:cNvPr id="5" name="Status chip: ILLUSTRATIVE WORKLOAD"/>
          <p:cNvSpPr/>
          <p:nvPr/>
        </p:nvSpPr>
        <p:spPr>
          <a:xfrm>
            <a:off x="3658870" y="274320"/>
            <a:ext cx="20878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 WORKLOAD</a:t>
            </a:r>
          </a:p>
        </p:txBody>
      </p:sp>
      <p:sp>
        <p:nvSpPr>
          <p:cNvPr id="6" name="Status chip: VERIFIED LIST PRICES"/>
          <p:cNvSpPr/>
          <p:nvPr/>
        </p:nvSpPr>
        <p:spPr>
          <a:xfrm>
            <a:off x="583819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LIST PRICES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sp>
        <p:nvSpPr>
          <p:cNvPr id="9" name="TextBox 8"/>
          <p:cNvSpPr txBox="1"/>
          <p:nvPr/>
        </p:nvSpPr>
        <p:spPr>
          <a:xfrm>
            <a:off x="548640" y="1600200"/>
            <a:ext cx="2743200" cy="731520"/>
          </a:xfrm>
          <a:prstGeom prst="rect">
            <a:avLst/>
          </a:prstGeom>
          <a:noFill/>
        </p:spPr>
        <p:txBody>
          <a:bodyPr wrap="square" lIns="0" rIns="0" tIns="0" bIns="0" anchor="ctr">
            <a:noAutofit/>
          </a:bodyPr>
          <a:lstStyle/>
          <a:p>
            <a:pPr algn="l"/>
            <a:r>
              <a:rPr sz="1900" b="1" i="0">
                <a:solidFill>
                  <a:srgbClr val="000048"/>
                </a:solidFill>
                <a:latin typeface="Arial"/>
              </a:rPr>
              <a:t>Hourly list price</a:t>
            </a:r>
          </a:p>
        </p:txBody>
      </p:sp>
      <p:sp>
        <p:nvSpPr>
          <p:cNvPr id="10" name="Rectangle 9"/>
          <p:cNvSpPr/>
          <p:nvPr/>
        </p:nvSpPr>
        <p:spPr>
          <a:xfrm>
            <a:off x="3291840" y="1691640"/>
            <a:ext cx="3838194" cy="548640"/>
          </a:xfrm>
          <a:prstGeom prst="rect">
            <a:avLst/>
          </a:prstGeom>
          <a:solidFill>
            <a:srgbClr val="53565A"/>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11" name="TextBox 10"/>
          <p:cNvSpPr txBox="1"/>
          <p:nvPr/>
        </p:nvSpPr>
        <p:spPr>
          <a:xfrm>
            <a:off x="7221474" y="1600200"/>
            <a:ext cx="1371600" cy="731520"/>
          </a:xfrm>
          <a:prstGeom prst="rect">
            <a:avLst/>
          </a:prstGeom>
          <a:noFill/>
        </p:spPr>
        <p:txBody>
          <a:bodyPr wrap="square" lIns="0" rIns="0" tIns="0" bIns="0" anchor="ctr">
            <a:noAutofit/>
          </a:bodyPr>
          <a:lstStyle/>
          <a:p>
            <a:pPr algn="l"/>
            <a:r>
              <a:rPr sz="2200" b="1" i="0">
                <a:solidFill>
                  <a:srgbClr val="53565A"/>
                </a:solidFill>
                <a:latin typeface="Arial"/>
              </a:rPr>
              <a:t>$730</a:t>
            </a:r>
          </a:p>
        </p:txBody>
      </p:sp>
      <p:sp>
        <p:nvSpPr>
          <p:cNvPr id="12" name="TextBox 11"/>
          <p:cNvSpPr txBox="1"/>
          <p:nvPr/>
        </p:nvSpPr>
        <p:spPr>
          <a:xfrm>
            <a:off x="548640" y="2697480"/>
            <a:ext cx="2743200" cy="731520"/>
          </a:xfrm>
          <a:prstGeom prst="rect">
            <a:avLst/>
          </a:prstGeom>
          <a:noFill/>
        </p:spPr>
        <p:txBody>
          <a:bodyPr wrap="square" lIns="0" rIns="0" tIns="0" bIns="0" anchor="ctr">
            <a:noAutofit/>
          </a:bodyPr>
          <a:lstStyle/>
          <a:p>
            <a:pPr algn="l"/>
            <a:r>
              <a:rPr sz="1900" b="1" i="0">
                <a:solidFill>
                  <a:srgbClr val="000048"/>
                </a:solidFill>
                <a:latin typeface="Arial"/>
              </a:rPr>
              <a:t>Break-even, hybrid</a:t>
            </a:r>
          </a:p>
        </p:txBody>
      </p:sp>
      <p:sp>
        <p:nvSpPr>
          <p:cNvPr id="13" name="Rectangle 12"/>
          <p:cNvSpPr/>
          <p:nvPr/>
        </p:nvSpPr>
        <p:spPr>
          <a:xfrm>
            <a:off x="3291840" y="2788920"/>
            <a:ext cx="1104137" cy="548640"/>
          </a:xfrm>
          <a:prstGeom prst="rect">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14" name="TextBox 13"/>
          <p:cNvSpPr txBox="1"/>
          <p:nvPr/>
        </p:nvSpPr>
        <p:spPr>
          <a:xfrm>
            <a:off x="4487418" y="2697480"/>
            <a:ext cx="1371600" cy="731520"/>
          </a:xfrm>
          <a:prstGeom prst="rect">
            <a:avLst/>
          </a:prstGeom>
          <a:noFill/>
        </p:spPr>
        <p:txBody>
          <a:bodyPr wrap="square" lIns="0" rIns="0" tIns="0" bIns="0" anchor="ctr">
            <a:noAutofit/>
          </a:bodyPr>
          <a:lstStyle/>
          <a:p>
            <a:pPr algn="l"/>
            <a:r>
              <a:rPr sz="2200" b="1" i="0">
                <a:solidFill>
                  <a:srgbClr val="7373D8"/>
                </a:solidFill>
                <a:latin typeface="Arial"/>
              </a:rPr>
              <a:t>$210</a:t>
            </a:r>
          </a:p>
        </p:txBody>
      </p:sp>
      <p:sp>
        <p:nvSpPr>
          <p:cNvPr id="15" name="TextBox 14"/>
          <p:cNvSpPr txBox="1"/>
          <p:nvPr/>
        </p:nvSpPr>
        <p:spPr>
          <a:xfrm>
            <a:off x="548640" y="3794760"/>
            <a:ext cx="2743200" cy="731520"/>
          </a:xfrm>
          <a:prstGeom prst="rect">
            <a:avLst/>
          </a:prstGeom>
          <a:noFill/>
        </p:spPr>
        <p:txBody>
          <a:bodyPr wrap="square" lIns="0" rIns="0" tIns="0" bIns="0" anchor="ctr">
            <a:noAutofit/>
          </a:bodyPr>
          <a:lstStyle/>
          <a:p>
            <a:pPr algn="l"/>
            <a:r>
              <a:rPr sz="1900" b="1" i="0">
                <a:solidFill>
                  <a:srgbClr val="000048"/>
                </a:solidFill>
                <a:latin typeface="Arial"/>
              </a:rPr>
              <a:t>Break-even, peak-sized</a:t>
            </a:r>
          </a:p>
        </p:txBody>
      </p:sp>
      <p:sp>
        <p:nvSpPr>
          <p:cNvPr id="16" name="Rectangle 15"/>
          <p:cNvSpPr/>
          <p:nvPr/>
        </p:nvSpPr>
        <p:spPr>
          <a:xfrm>
            <a:off x="3291840" y="3886200"/>
            <a:ext cx="841248" cy="54864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17" name="TextBox 16"/>
          <p:cNvSpPr txBox="1"/>
          <p:nvPr/>
        </p:nvSpPr>
        <p:spPr>
          <a:xfrm>
            <a:off x="4224528" y="3794760"/>
            <a:ext cx="1371600" cy="731520"/>
          </a:xfrm>
          <a:prstGeom prst="rect">
            <a:avLst/>
          </a:prstGeom>
          <a:noFill/>
        </p:spPr>
        <p:txBody>
          <a:bodyPr wrap="square" lIns="0" rIns="0" tIns="0" bIns="0" anchor="ctr">
            <a:noAutofit/>
          </a:bodyPr>
          <a:lstStyle/>
          <a:p>
            <a:pPr algn="l"/>
            <a:r>
              <a:rPr sz="2200" b="1" i="0">
                <a:solidFill>
                  <a:srgbClr val="000048"/>
                </a:solidFill>
                <a:latin typeface="Arial"/>
              </a:rPr>
              <a:t>$160</a:t>
            </a:r>
          </a:p>
        </p:txBody>
      </p:sp>
      <p:sp>
        <p:nvSpPr>
          <p:cNvPr id="18" name="TextBox 17"/>
          <p:cNvSpPr txBox="1"/>
          <p:nvPr/>
        </p:nvSpPr>
        <p:spPr>
          <a:xfrm>
            <a:off x="3291840" y="4892040"/>
            <a:ext cx="4389120" cy="365760"/>
          </a:xfrm>
          <a:prstGeom prst="rect">
            <a:avLst/>
          </a:prstGeom>
          <a:noFill/>
        </p:spPr>
        <p:txBody>
          <a:bodyPr wrap="square" lIns="0" rIns="0" tIns="0" bIns="0" anchor="t">
            <a:noAutofit/>
          </a:bodyPr>
          <a:lstStyle/>
          <a:p>
            <a:pPr algn="l"/>
            <a:r>
              <a:rPr sz="1400" b="0" i="0">
                <a:solidFill>
                  <a:srgbClr val="53565A"/>
                </a:solidFill>
                <a:latin typeface="Arial"/>
              </a:rPr>
              <a:t>USD per PTU-month</a:t>
            </a:r>
          </a:p>
        </p:txBody>
      </p:sp>
      <p:sp>
        <p:nvSpPr>
          <p:cNvPr id="19" name="Rounded Rectangle 18"/>
          <p:cNvSpPr/>
          <p:nvPr/>
        </p:nvSpPr>
        <p:spPr>
          <a:xfrm>
            <a:off x="8229600" y="1463040"/>
            <a:ext cx="3410712" cy="3108960"/>
          </a:xfrm>
          <a:prstGeom prst="roundRect">
            <a:avLst>
              <a:gd name="adj" fmla="val 2352"/>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73152" bIns="73152" wrap="square">
            <a:noAutofit/>
          </a:bodyPr>
          <a:lstStyle/>
          <a:p>
            <a:pPr algn="l">
              <a:spcAft>
                <a:spcPts val="600"/>
              </a:spcAft>
            </a:pPr>
            <a:r>
              <a:rPr sz="1600" b="1" i="0">
                <a:solidFill>
                  <a:srgbClr val="26EFE9"/>
                </a:solidFill>
                <a:latin typeface="Arial"/>
              </a:rPr>
              <a:t>Read in 10 seconds</a:t>
            </a:r>
          </a:p>
          <a:p>
            <a:pPr algn="l">
              <a:spcAft>
                <a:spcPts val="800"/>
              </a:spcAft>
            </a:pPr>
            <a:r>
              <a:rPr sz="2100" b="1" i="0">
                <a:solidFill>
                  <a:srgbClr val="FFFFFF"/>
                </a:solidFill>
                <a:latin typeface="Arial"/>
              </a:rPr>
              <a:t>PTU must cost under $210 a month to beat PAYG here.</a:t>
            </a:r>
          </a:p>
          <a:p>
            <a:pPr algn="l"/>
            <a:r>
              <a:rPr sz="1700" b="0" i="0">
                <a:solidFill>
                  <a:srgbClr val="FFFFFF"/>
                </a:solidFill>
                <a:latin typeface="Arial"/>
              </a:rPr>
              <a:t>Hourly list is $730. Only a reservation price or a latency need can justify PTU.</a:t>
            </a:r>
          </a:p>
        </p:txBody>
      </p:sp>
      <p:sp>
        <p:nvSpPr>
          <p:cNvPr id="20" name="Rounded Rectangle 19"/>
          <p:cNvSpPr/>
          <p:nvPr/>
        </p:nvSpPr>
        <p:spPr>
          <a:xfrm>
            <a:off x="548640" y="5577840"/>
            <a:ext cx="11091672" cy="640080"/>
          </a:xfrm>
          <a:prstGeom prst="roundRect">
            <a:avLst>
              <a:gd name="adj" fmla="val 11428"/>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Assumed workload, gpt-5.4 list prices, PAYG $136,245 a month. Not a recommendation. Detail: appendix A8 to A11.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What it takes: effort, time and fee bands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8 OF 10</a:t>
            </a:r>
          </a:p>
        </p:txBody>
      </p:sp>
      <p:sp>
        <p:nvSpPr>
          <p:cNvPr id="5" name="Status chip: ESTIMATE, NOT APPROVED"/>
          <p:cNvSpPr/>
          <p:nvPr/>
        </p:nvSpPr>
        <p:spPr>
          <a:xfrm>
            <a:off x="365887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08</a:t>
            </a:r>
          </a:p>
        </p:txBody>
      </p:sp>
      <p:graphicFrame>
        <p:nvGraphicFramePr>
          <p:cNvPr id="8" name="Table"/>
          <p:cNvGraphicFramePr>
            <a:graphicFrameLocks noGrp="1"/>
          </p:cNvGraphicFramePr>
          <p:nvPr/>
        </p:nvGraphicFramePr>
        <p:xfrm>
          <a:off x="548640" y="1371600"/>
          <a:ext cx="11091672" cy="2438400"/>
        </p:xfrm>
        <a:graphic>
          <a:graphicData uri="http://schemas.openxmlformats.org/drawingml/2006/table">
            <a:tbl>
              <a:tblPr firstRow="1" bandRow="0">
                <a:tableStyleId>{5C22544A-7EE6-4342-B048-85BDC9FD1C3A}</a:tableStyleId>
              </a:tblPr>
              <a:tblGrid>
                <a:gridCol w="3291840"/>
                <a:gridCol w="2560320"/>
                <a:gridCol w="2194560"/>
                <a:gridCol w="3044952"/>
              </a:tblGrid>
              <a:tr h="335280">
                <a:tc>
                  <a:txBody>
                    <a:bodyPr wrap="square" anchor="ctr">
                      <a:noAutofit/>
                    </a:bodyPr>
                    <a:lstStyle/>
                    <a:p>
                      <a:pPr algn="l"/>
                      <a:r>
                        <a:rPr sz="16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Effort (role days)</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Elapsed time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Indicative fee band*</a:t>
                      </a:r>
                    </a:p>
                  </a:txBody>
                  <a:tcPr marL="73152" marR="73152" marT="36576" marB="36576" anchor="ctr">
                    <a:solidFill>
                      <a:srgbClr val="000048"/>
                    </a:solidFill>
                  </a:tcPr>
                </a:tc>
              </a:tr>
              <a:tr h="365760">
                <a:tc>
                  <a:txBody>
                    <a:bodyPr wrap="square" anchor="ctr">
                      <a:noAutofit/>
                    </a:bodyPr>
                    <a:lstStyle/>
                    <a:p>
                      <a:pPr algn="l"/>
                      <a:r>
                        <a:rPr sz="1800" b="1" i="0">
                          <a:solidFill>
                            <a:srgbClr val="1E1E2E"/>
                          </a:solidFill>
                          <a:latin typeface="Arial"/>
                        </a:rPr>
                        <a:t>Assessment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20 to 40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4 to 6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$20k to $40k</a:t>
                      </a:r>
                    </a:p>
                  </a:txBody>
                  <a:tcPr marL="73152" marR="73152" marT="36576" marB="36576" anchor="ctr">
                    <a:solidFill>
                      <a:srgbClr val="FFFFFF"/>
                    </a:solidFill>
                  </a:tcPr>
                </a:tc>
              </a:tr>
              <a:tr h="365760">
                <a:tc>
                  <a:txBody>
                    <a:bodyPr wrap="square" anchor="ctr">
                      <a:noAutofit/>
                    </a:bodyPr>
                    <a:lstStyle/>
                    <a:p>
                      <a:pPr algn="l"/>
                      <a:r>
                        <a:rPr sz="1800" b="1" i="0">
                          <a:solidFill>
                            <a:srgbClr val="1E1E2E"/>
                          </a:solidFill>
                          <a:latin typeface="Arial"/>
                        </a:rPr>
                        <a:t>Benchmark add-on</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10 to 20</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2 to 4 weeks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$10k to $20k</a:t>
                      </a:r>
                    </a:p>
                  </a:txBody>
                  <a:tcPr marL="73152" marR="73152" marT="36576" marB="36576" anchor="ctr">
                    <a:solidFill>
                      <a:srgbClr val="F5F5F2"/>
                    </a:solidFill>
                  </a:tcPr>
                </a:tc>
              </a:tr>
              <a:tr h="365760">
                <a:tc>
                  <a:txBody>
                    <a:bodyPr wrap="square" anchor="ctr">
                      <a:noAutofit/>
                    </a:bodyPr>
                    <a:lstStyle/>
                    <a:p>
                      <a:pPr algn="l"/>
                      <a:r>
                        <a:rPr sz="1800" b="1" i="0">
                          <a:solidFill>
                            <a:srgbClr val="1E1E2E"/>
                          </a:solidFill>
                          <a:latin typeface="Arial"/>
                        </a:rPr>
                        <a:t>Licence economics check</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5 to 10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 to 2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$5k to $10k</a:t>
                      </a:r>
                    </a:p>
                  </a:txBody>
                  <a:tcPr marL="73152" marR="73152" marT="36576" marB="36576" anchor="ctr">
                    <a:solidFill>
                      <a:srgbClr val="FFFFFF"/>
                    </a:solidFill>
                  </a:tcPr>
                </a:tc>
              </a:tr>
              <a:tr h="365760">
                <a:tc>
                  <a:txBody>
                    <a:bodyPr wrap="square" anchor="ctr">
                      <a:noAutofit/>
                    </a:bodyPr>
                    <a:lstStyle/>
                    <a:p>
                      <a:pPr algn="l"/>
                      <a:r>
                        <a:rPr sz="1800" b="1" i="0">
                          <a:solidFill>
                            <a:srgbClr val="1E1E2E"/>
                          </a:solidFill>
                          <a:latin typeface="Arial"/>
                        </a:rPr>
                        <a:t>FinOps operating model</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15 to 30</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4 to 6 weeks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$15k to $30k</a:t>
                      </a:r>
                    </a:p>
                  </a:txBody>
                  <a:tcPr marL="73152" marR="73152" marT="36576" marB="36576" anchor="ctr">
                    <a:solidFill>
                      <a:srgbClr val="F5F5F2"/>
                    </a:solidFill>
                  </a:tcPr>
                </a:tc>
              </a:tr>
              <a:tr h="640080">
                <a:tc>
                  <a:txBody>
                    <a:bodyPr wrap="square" anchor="ctr">
                      <a:noAutofit/>
                    </a:bodyPr>
                    <a:lstStyle/>
                    <a:p>
                      <a:pPr algn="l"/>
                      <a:r>
                        <a:rPr sz="1800" b="1" i="0">
                          <a:solidFill>
                            <a:srgbClr val="1E1E2E"/>
                          </a:solidFill>
                          <a:latin typeface="Arial"/>
                        </a:rPr>
                        <a:t>Monthly review (offering 05)</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3 to 6 per month</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ongoing</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$3k to $6k per month</a:t>
                      </a:r>
                    </a:p>
                  </a:txBody>
                  <a:tcPr marL="73152" marR="73152" marT="36576" marB="36576" anchor="ctr">
                    <a:solidFill>
                      <a:srgbClr val="FFFFFF"/>
                    </a:solidFill>
                  </a:tcPr>
                </a:tc>
              </a:tr>
            </a:tbl>
          </a:graphicData>
        </a:graphic>
      </p:graphicFrame>
      <p:sp>
        <p:nvSpPr>
          <p:cNvPr id="9" name="Rounded Rectangle 8"/>
          <p:cNvSpPr/>
          <p:nvPr/>
        </p:nvSpPr>
        <p:spPr>
          <a:xfrm>
            <a:off x="548640" y="4084320"/>
            <a:ext cx="11091672" cy="1356360"/>
          </a:xfrm>
          <a:prstGeom prst="roundRect">
            <a:avLst>
              <a:gd name="adj" fmla="val 539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800" b="1" i="0">
                <a:solidFill>
                  <a:srgbClr val="000048"/>
                </a:solidFill>
                <a:latin typeface="Arial"/>
              </a:rPr>
              <a:t>What moves an engagement to the high end: </a:t>
            </a:r>
            <a:r>
              <a:rPr sz="1800" b="0" i="0">
                <a:solidFill>
                  <a:srgbClr val="1E1E2E"/>
                </a:solidFill>
                <a:latin typeface="Arial"/>
              </a:rPr>
              <a:t>no existing telemetry, many workloads or regions, GPU benchmark, chargeback by team and agent.</a:t>
            </a:r>
          </a:p>
        </p:txBody>
      </p:sp>
      <p:sp>
        <p:nvSpPr>
          <p:cNvPr id="10" name="Rounded Rectangle 9"/>
          <p:cNvSpPr/>
          <p:nvPr/>
        </p:nvSpPr>
        <p:spPr>
          <a:xfrm>
            <a:off x="548640" y="5577840"/>
            <a:ext cx="11091672" cy="731520"/>
          </a:xfrm>
          <a:prstGeom prst="roundRect">
            <a:avLst>
              <a:gd name="adj" fmla="val 10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Note:  </a:t>
            </a:r>
            <a:r>
              <a:rPr sz="1600" b="0" i="0">
                <a:solidFill>
                  <a:srgbClr val="1E1E2E"/>
                </a:solidFill>
                <a:latin typeface="Arial"/>
              </a:rPr>
              <a:t>*Fee band = role days x illustrative $1,000 per day. Not a Cognizant rate or quote. Azure and licence spend are separate.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Risks that decide success, and how we handle them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9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09</a:t>
            </a:r>
          </a:p>
        </p:txBody>
      </p:sp>
      <p:sp>
        <p:nvSpPr>
          <p:cNvPr id="7" name="Rounded Rectangle 6"/>
          <p:cNvSpPr/>
          <p:nvPr/>
        </p:nvSpPr>
        <p:spPr>
          <a:xfrm>
            <a:off x="54864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No measured traffic</a:t>
            </a:r>
          </a:p>
          <a:p>
            <a:pPr algn="l">
              <a:spcAft>
                <a:spcPts val="400"/>
              </a:spcAft>
            </a:pPr>
            <a:r>
              <a:rPr sz="1800" b="1" i="0">
                <a:solidFill>
                  <a:srgbClr val="8A4B08"/>
                </a:solidFill>
                <a:latin typeface="Arial"/>
              </a:rPr>
              <a:t>Effect: </a:t>
            </a:r>
            <a:r>
              <a:rPr sz="1800" b="0" i="0">
                <a:solidFill>
                  <a:srgbClr val="1E1E2E"/>
                </a:solidFill>
                <a:latin typeface="Arial"/>
              </a:rPr>
              <a:t>Sizing is guesswork</a:t>
            </a:r>
          </a:p>
          <a:p>
            <a:pPr algn="l">
              <a:spcAft>
                <a:spcPts val="400"/>
              </a:spcAft>
            </a:pPr>
            <a:r>
              <a:rPr sz="1800" b="1" i="0">
                <a:solidFill>
                  <a:srgbClr val="1D6B3A"/>
                </a:solidFill>
                <a:latin typeface="Arial"/>
              </a:rPr>
              <a:t>Handle: </a:t>
            </a:r>
            <a:r>
              <a:rPr sz="1800" b="0" i="0">
                <a:solidFill>
                  <a:srgbClr val="1E1E2E"/>
                </a:solidFill>
                <a:latin typeface="Arial"/>
              </a:rPr>
              <a:t>Pilot telemetry or load test first</a:t>
            </a:r>
          </a:p>
          <a:p>
            <a:pPr algn="l"/>
            <a:r>
              <a:rPr sz="1800" b="1" i="0">
                <a:solidFill>
                  <a:srgbClr val="2F78C4"/>
                </a:solidFill>
                <a:latin typeface="Arial"/>
              </a:rPr>
              <a:t>Owner: </a:t>
            </a:r>
            <a:r>
              <a:rPr sz="1800" b="0" i="0">
                <a:solidFill>
                  <a:srgbClr val="1E1E2E"/>
                </a:solidFill>
                <a:latin typeface="Arial"/>
              </a:rPr>
              <a:t>AI with CIS Infra</a:t>
            </a:r>
          </a:p>
        </p:txBody>
      </p:sp>
      <p:sp>
        <p:nvSpPr>
          <p:cNvPr id="8" name="Rounded Rectangle 7"/>
          <p:cNvSpPr/>
          <p:nvPr/>
        </p:nvSpPr>
        <p:spPr>
          <a:xfrm>
            <a:off x="617220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Reservation price unknown</a:t>
            </a:r>
          </a:p>
          <a:p>
            <a:pPr algn="l">
              <a:spcAft>
                <a:spcPts val="400"/>
              </a:spcAft>
            </a:pPr>
            <a:r>
              <a:rPr sz="1800" b="1" i="0">
                <a:solidFill>
                  <a:srgbClr val="8A4B08"/>
                </a:solidFill>
                <a:latin typeface="Arial"/>
              </a:rPr>
              <a:t>Effect: </a:t>
            </a:r>
            <a:r>
              <a:rPr sz="1800" b="0" i="0">
                <a:solidFill>
                  <a:srgbClr val="1E1E2E"/>
                </a:solidFill>
                <a:latin typeface="Arial"/>
              </a:rPr>
              <a:t>Wrong break-even</a:t>
            </a:r>
          </a:p>
          <a:p>
            <a:pPr algn="l">
              <a:spcAft>
                <a:spcPts val="400"/>
              </a:spcAft>
            </a:pPr>
            <a:r>
              <a:rPr sz="1800" b="1" i="0">
                <a:solidFill>
                  <a:srgbClr val="1D6B3A"/>
                </a:solidFill>
                <a:latin typeface="Arial"/>
              </a:rPr>
              <a:t>Handle: </a:t>
            </a:r>
            <a:r>
              <a:rPr sz="1800" b="0" i="0">
                <a:solidFill>
                  <a:srgbClr val="1E1E2E"/>
                </a:solidFill>
                <a:latin typeface="Arial"/>
              </a:rPr>
              <a:t>Obtain the customer agreement price</a:t>
            </a:r>
          </a:p>
          <a:p>
            <a:pPr algn="l"/>
            <a:r>
              <a:rPr sz="1800" b="1" i="0">
                <a:solidFill>
                  <a:srgbClr val="2F78C4"/>
                </a:solidFill>
                <a:latin typeface="Arial"/>
              </a:rPr>
              <a:t>Owner: </a:t>
            </a:r>
            <a:r>
              <a:rPr sz="1800" b="0" i="0">
                <a:solidFill>
                  <a:srgbClr val="1E1E2E"/>
                </a:solidFill>
                <a:latin typeface="Arial"/>
              </a:rPr>
              <a:t>Customer procurement</a:t>
            </a:r>
          </a:p>
        </p:txBody>
      </p:sp>
      <p:sp>
        <p:nvSpPr>
          <p:cNvPr id="9" name="Rounded Rectangle 8"/>
          <p:cNvSpPr/>
          <p:nvPr/>
        </p:nvSpPr>
        <p:spPr>
          <a:xfrm>
            <a:off x="54864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Model retires mid-term</a:t>
            </a:r>
          </a:p>
          <a:p>
            <a:pPr algn="l">
              <a:spcAft>
                <a:spcPts val="400"/>
              </a:spcAft>
            </a:pPr>
            <a:r>
              <a:rPr sz="1800" b="1" i="0">
                <a:solidFill>
                  <a:srgbClr val="8A4B08"/>
                </a:solidFill>
                <a:latin typeface="Arial"/>
              </a:rPr>
              <a:t>Effect: </a:t>
            </a:r>
            <a:r>
              <a:rPr sz="1800" b="0" i="0">
                <a:solidFill>
                  <a:srgbClr val="1E1E2E"/>
                </a:solidFill>
                <a:latin typeface="Arial"/>
              </a:rPr>
              <a:t>Re-benchmark and re-size</a:t>
            </a:r>
          </a:p>
          <a:p>
            <a:pPr algn="l">
              <a:spcAft>
                <a:spcPts val="400"/>
              </a:spcAft>
            </a:pPr>
            <a:r>
              <a:rPr sz="1800" b="1" i="0">
                <a:solidFill>
                  <a:srgbClr val="1D6B3A"/>
                </a:solidFill>
                <a:latin typeface="Arial"/>
              </a:rPr>
              <a:t>Handle: </a:t>
            </a:r>
            <a:r>
              <a:rPr sz="1800" b="0" i="0">
                <a:solidFill>
                  <a:srgbClr val="1E1E2E"/>
                </a:solidFill>
                <a:latin typeface="Arial"/>
              </a:rPr>
              <a:t>Check retirement dates; shorter terms</a:t>
            </a:r>
          </a:p>
          <a:p>
            <a:pPr algn="l"/>
            <a:r>
              <a:rPr sz="1800" b="1" i="0">
                <a:solidFill>
                  <a:srgbClr val="2F78C4"/>
                </a:solidFill>
                <a:latin typeface="Arial"/>
              </a:rPr>
              <a:t>Owner: </a:t>
            </a:r>
            <a:r>
              <a:rPr sz="1800" b="0" i="0">
                <a:solidFill>
                  <a:srgbClr val="1E1E2E"/>
                </a:solidFill>
                <a:latin typeface="Arial"/>
              </a:rPr>
              <a:t>AI tower</a:t>
            </a:r>
          </a:p>
        </p:txBody>
      </p:sp>
      <p:sp>
        <p:nvSpPr>
          <p:cNvPr id="10" name="Rounded Rectangle 9"/>
          <p:cNvSpPr/>
          <p:nvPr/>
        </p:nvSpPr>
        <p:spPr>
          <a:xfrm>
            <a:off x="617220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Agent loops multiply tokens</a:t>
            </a:r>
          </a:p>
          <a:p>
            <a:pPr algn="l">
              <a:spcAft>
                <a:spcPts val="400"/>
              </a:spcAft>
            </a:pPr>
            <a:r>
              <a:rPr sz="1800" b="1" i="0">
                <a:solidFill>
                  <a:srgbClr val="8A4B08"/>
                </a:solidFill>
                <a:latin typeface="Arial"/>
              </a:rPr>
              <a:t>Effect: </a:t>
            </a:r>
            <a:r>
              <a:rPr sz="1800" b="0" i="0">
                <a:solidFill>
                  <a:srgbClr val="1E1E2E"/>
                </a:solidFill>
                <a:latin typeface="Arial"/>
              </a:rPr>
              <a:t>Cost per task explodes</a:t>
            </a:r>
          </a:p>
          <a:p>
            <a:pPr algn="l">
              <a:spcAft>
                <a:spcPts val="400"/>
              </a:spcAft>
            </a:pPr>
            <a:r>
              <a:rPr sz="1800" b="1" i="0">
                <a:solidFill>
                  <a:srgbClr val="1D6B3A"/>
                </a:solidFill>
                <a:latin typeface="Arial"/>
              </a:rPr>
              <a:t>Handle: </a:t>
            </a:r>
            <a:r>
              <a:rPr sz="1800" b="0" i="0">
                <a:solidFill>
                  <a:srgbClr val="1E1E2E"/>
                </a:solidFill>
                <a:latin typeface="Arial"/>
              </a:rPr>
              <a:t>Loop limits, per-agent budgets</a:t>
            </a:r>
          </a:p>
          <a:p>
            <a:pPr algn="l"/>
            <a:r>
              <a:rPr sz="1800" b="1" i="0">
                <a:solidFill>
                  <a:srgbClr val="2F78C4"/>
                </a:solidFill>
                <a:latin typeface="Arial"/>
              </a:rPr>
              <a:t>Owner: </a:t>
            </a:r>
            <a:r>
              <a:rPr sz="1800" b="0" i="0">
                <a:solidFill>
                  <a:srgbClr val="1E1E2E"/>
                </a:solidFill>
                <a:latin typeface="Arial"/>
              </a:rPr>
              <a:t>AI with offering 02</a:t>
            </a:r>
          </a:p>
        </p:txBody>
      </p:sp>
      <p:sp>
        <p:nvSpPr>
          <p:cNvPr id="11" name="TextBox 10"/>
          <p:cNvSpPr txBox="1"/>
          <p:nvPr/>
        </p:nvSpPr>
        <p:spPr>
          <a:xfrm>
            <a:off x="548640" y="5897880"/>
            <a:ext cx="11064240" cy="411480"/>
          </a:xfrm>
          <a:prstGeom prst="rect">
            <a:avLst/>
          </a:prstGeom>
          <a:noFill/>
        </p:spPr>
        <p:txBody>
          <a:bodyPr wrap="square" lIns="0" rIns="0" tIns="0" bIns="0" anchor="t">
            <a:noAutofit/>
          </a:bodyPr>
          <a:lstStyle/>
          <a:p>
            <a:pPr algn="l"/>
            <a:r>
              <a:rPr sz="1500" b="0" i="0">
                <a:solidFill>
                  <a:srgbClr val="53565A"/>
                </a:solidFill>
                <a:latin typeface="Arial"/>
              </a:rPr>
              <a:t>Security threat model and regulatory notes: appendix SEC1 and SEC2.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we measure success, and what to decide today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3025140" cy="256032"/>
          </a:xfrm>
          <a:prstGeom prst="rect">
            <a:avLst/>
          </a:prstGeom>
          <a:noFill/>
        </p:spPr>
        <p:txBody>
          <a:bodyPr wrap="square" lIns="0" rIns="0" tIns="0" bIns="0" anchor="t">
            <a:noAutofit/>
          </a:bodyPr>
          <a:lstStyle/>
          <a:p>
            <a:pPr algn="l"/>
            <a:r>
              <a:rPr sz="1100" b="1" i="0">
                <a:solidFill>
                  <a:srgbClr val="2F78C4"/>
                </a:solidFill>
                <a:latin typeface="Arial"/>
              </a:rPr>
              <a:t>EXECUTIVE SUMMARY  ·  10 OF 10</a:t>
            </a:r>
          </a:p>
        </p:txBody>
      </p:sp>
      <p:sp>
        <p:nvSpPr>
          <p:cNvPr id="5" name="Status chip: TARGETS AFTER PILOT"/>
          <p:cNvSpPr/>
          <p:nvPr/>
        </p:nvSpPr>
        <p:spPr>
          <a:xfrm>
            <a:off x="3756660" y="274320"/>
            <a:ext cx="19151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TARGETS AFTER PILOT</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10</a:t>
            </a:r>
          </a:p>
        </p:txBody>
      </p:sp>
      <p:sp>
        <p:nvSpPr>
          <p:cNvPr id="8" name="TextBox 7"/>
          <p:cNvSpPr txBox="1"/>
          <p:nvPr/>
        </p:nvSpPr>
        <p:spPr>
          <a:xfrm>
            <a:off x="548640" y="1325880"/>
            <a:ext cx="5852160" cy="365760"/>
          </a:xfrm>
          <a:prstGeom prst="rect">
            <a:avLst/>
          </a:prstGeom>
          <a:noFill/>
        </p:spPr>
        <p:txBody>
          <a:bodyPr wrap="square" lIns="0" rIns="0" tIns="0" bIns="0" anchor="t">
            <a:noAutofit/>
          </a:bodyPr>
          <a:lstStyle/>
          <a:p>
            <a:pPr algn="l"/>
            <a:r>
              <a:rPr sz="1900" b="1" i="0">
                <a:solidFill>
                  <a:srgbClr val="000048"/>
                </a:solidFill>
                <a:latin typeface="Arial"/>
              </a:rPr>
              <a:t>Success measures</a:t>
            </a:r>
          </a:p>
        </p:txBody>
      </p:sp>
      <p:sp>
        <p:nvSpPr>
          <p:cNvPr id="9" name="Rounded Rectangle 8"/>
          <p:cNvSpPr/>
          <p:nvPr/>
        </p:nvSpPr>
        <p:spPr>
          <a:xfrm>
            <a:off x="548640" y="178308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Unit cost  </a:t>
            </a:r>
            <a:r>
              <a:rPr sz="1800" b="0" i="0">
                <a:solidFill>
                  <a:srgbClr val="1E1E2E"/>
                </a:solidFill>
                <a:latin typeface="Arial"/>
              </a:rPr>
              <a:t>cost per useful task, by workload</a:t>
            </a:r>
          </a:p>
        </p:txBody>
      </p:sp>
      <p:sp>
        <p:nvSpPr>
          <p:cNvPr id="10" name="Rounded Rectangle 9"/>
          <p:cNvSpPr/>
          <p:nvPr/>
        </p:nvSpPr>
        <p:spPr>
          <a:xfrm>
            <a:off x="548640" y="256032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Forecast error  </a:t>
            </a:r>
            <a:r>
              <a:rPr sz="1800" b="0" i="0">
                <a:solidFill>
                  <a:srgbClr val="1E1E2E"/>
                </a:solidFill>
                <a:latin typeface="Arial"/>
              </a:rPr>
              <a:t>forecast versus actual monthly spend</a:t>
            </a:r>
          </a:p>
        </p:txBody>
      </p:sp>
      <p:sp>
        <p:nvSpPr>
          <p:cNvPr id="11" name="Rounded Rectangle 10"/>
          <p:cNvSpPr/>
          <p:nvPr/>
        </p:nvSpPr>
        <p:spPr>
          <a:xfrm>
            <a:off x="548640" y="333756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Utilisation  </a:t>
            </a:r>
            <a:r>
              <a:rPr sz="1800" b="0" i="0">
                <a:solidFill>
                  <a:srgbClr val="1E1E2E"/>
                </a:solidFill>
                <a:latin typeface="Arial"/>
              </a:rPr>
              <a:t>PTU or GPU used versus paid for</a:t>
            </a:r>
          </a:p>
        </p:txBody>
      </p:sp>
      <p:sp>
        <p:nvSpPr>
          <p:cNvPr id="12" name="Rounded Rectangle 11"/>
          <p:cNvSpPr/>
          <p:nvPr/>
        </p:nvSpPr>
        <p:spPr>
          <a:xfrm>
            <a:off x="548640" y="411480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Throttling  </a:t>
            </a:r>
            <a:r>
              <a:rPr sz="1800" b="0" i="0">
                <a:solidFill>
                  <a:srgbClr val="1E1E2E"/>
                </a:solidFill>
                <a:latin typeface="Arial"/>
              </a:rPr>
              <a:t>share of calls returning 429</a:t>
            </a:r>
          </a:p>
        </p:txBody>
      </p:sp>
      <p:sp>
        <p:nvSpPr>
          <p:cNvPr id="13" name="Rounded Rectangle 12"/>
          <p:cNvSpPr/>
          <p:nvPr/>
        </p:nvSpPr>
        <p:spPr>
          <a:xfrm>
            <a:off x="548640" y="489204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Coverage  </a:t>
            </a:r>
            <a:r>
              <a:rPr sz="1800" b="0" i="0">
                <a:solidFill>
                  <a:srgbClr val="1E1E2E"/>
                </a:solidFill>
                <a:latin typeface="Arial"/>
              </a:rPr>
              <a:t>spend attributed to an owner</a:t>
            </a:r>
          </a:p>
        </p:txBody>
      </p:sp>
      <p:sp>
        <p:nvSpPr>
          <p:cNvPr id="14" name="Rounded Rectangle 13"/>
          <p:cNvSpPr/>
          <p:nvPr/>
        </p:nvSpPr>
        <p:spPr>
          <a:xfrm>
            <a:off x="6675120" y="1325880"/>
            <a:ext cx="4965192" cy="530352"/>
          </a:xfrm>
          <a:prstGeom prst="roundRect">
            <a:avLst>
              <a:gd name="adj" fmla="val 1379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today</a:t>
            </a:r>
          </a:p>
        </p:txBody>
      </p:sp>
      <p:sp>
        <p:nvSpPr>
          <p:cNvPr id="15" name="TextBox 14"/>
          <p:cNvSpPr txBox="1"/>
          <p:nvPr/>
        </p:nvSpPr>
        <p:spPr>
          <a:xfrm>
            <a:off x="6675120" y="1920240"/>
            <a:ext cx="4965192" cy="164592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Assessment as the entry offer</a:t>
            </a:r>
          </a:p>
          <a:p>
            <a:pPr algn="l" marL="201168" indent="-201168">
              <a:spcAft>
                <a:spcPts val="400"/>
              </a:spcAft>
              <a:buFont typeface="Arial"/>
              <a:buChar char="•"/>
            </a:pPr>
            <a:r>
              <a:rPr sz="1900" b="0" i="0">
                <a:solidFill>
                  <a:srgbClr val="1E1E2E"/>
                </a:solidFill>
                <a:latin typeface="Arial"/>
              </a:rPr>
              <a:t>Rule: no commitment advice without data</a:t>
            </a:r>
          </a:p>
          <a:p>
            <a:pPr algn="l" marL="201168" indent="-201168">
              <a:spcAft>
                <a:spcPts val="400"/>
              </a:spcAft>
              <a:buFont typeface="Arial"/>
              <a:buChar char="•"/>
            </a:pPr>
            <a:r>
              <a:rPr sz="1900" b="0" i="0">
                <a:solidFill>
                  <a:srgbClr val="1E1E2E"/>
                </a:solidFill>
                <a:latin typeface="Arial"/>
              </a:rPr>
              <a:t>Owners for licence economics</a:t>
            </a:r>
          </a:p>
        </p:txBody>
      </p:sp>
      <p:sp>
        <p:nvSpPr>
          <p:cNvPr id="16" name="Rounded Rectangle 15"/>
          <p:cNvSpPr/>
          <p:nvPr/>
        </p:nvSpPr>
        <p:spPr>
          <a:xfrm>
            <a:off x="6675120" y="3520440"/>
            <a:ext cx="4965192" cy="530352"/>
          </a:xfrm>
          <a:prstGeom prst="roundRect">
            <a:avLst>
              <a:gd name="adj" fmla="val 13793"/>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after evidence or approval</a:t>
            </a:r>
          </a:p>
        </p:txBody>
      </p:sp>
      <p:sp>
        <p:nvSpPr>
          <p:cNvPr id="17" name="TextBox 16"/>
          <p:cNvSpPr txBox="1"/>
          <p:nvPr/>
        </p:nvSpPr>
        <p:spPr>
          <a:xfrm>
            <a:off x="6675120" y="4114800"/>
            <a:ext cx="4965192" cy="201168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Fixed fee level (Finance)</a:t>
            </a:r>
          </a:p>
          <a:p>
            <a:pPr algn="l" marL="201168" indent="-201168">
              <a:spcAft>
                <a:spcPts val="400"/>
              </a:spcAft>
              <a:buFont typeface="Arial"/>
              <a:buChar char="•"/>
            </a:pPr>
            <a:r>
              <a:rPr sz="1900" b="0" i="0">
                <a:solidFill>
                  <a:srgbClr val="1E1E2E"/>
                </a:solidFill>
                <a:latin typeface="Arial"/>
              </a:rPr>
              <a:t>Benchmark tooling (pilot)</a:t>
            </a:r>
          </a:p>
          <a:p>
            <a:pPr algn="l" marL="201168" indent="-201168">
              <a:spcAft>
                <a:spcPts val="400"/>
              </a:spcAft>
              <a:buFont typeface="Arial"/>
              <a:buChar char="•"/>
            </a:pPr>
            <a:r>
              <a:rPr sz="1900" b="0" i="0">
                <a:solidFill>
                  <a:srgbClr val="1E1E2E"/>
                </a:solidFill>
                <a:latin typeface="Arial"/>
              </a:rPr>
              <a:t>GPU proof of concept (AI tower)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Decision criteria, demand inputs, PTU sizing, lifecycle risk, worked example, sensitivity, GPU economics, telemetry, licence economics, FinOps operating model, RACI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1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297180"/>
          </a:xfrm>
          <a:prstGeom prst="rect">
            <a:avLst/>
          </a:prstGeom>
          <a:noFill/>
        </p:spPr>
        <p:txBody>
          <a:bodyPr wrap="square" lIns="0" rIns="0" tIns="0" bIns="0" anchor="t">
            <a:noAutofit/>
          </a:bodyPr>
          <a:lstStyle/>
          <a:p>
            <a:pPr algn="l"/>
            <a:r>
              <a:rPr sz="1300" b="1" i="0">
                <a:solidFill>
                  <a:srgbClr val="2F78C4"/>
                </a:solidFill>
                <a:latin typeface="Arial"/>
              </a:rPr>
              <a:t>13  </a:t>
            </a:r>
            <a:r>
              <a:rPr sz="1300" b="1" i="0">
                <a:solidFill>
                  <a:srgbClr val="000048"/>
                </a:solidFill>
                <a:latin typeface="Arial"/>
              </a:rPr>
              <a:t>A1  </a:t>
            </a:r>
            <a:r>
              <a:rPr sz="1300" b="0" i="0">
                <a:solidFill>
                  <a:srgbClr val="1E1E2E"/>
                </a:solidFill>
                <a:latin typeface="Arial"/>
              </a:rPr>
              <a:t>Decision criteria (detailed)</a:t>
            </a:r>
          </a:p>
        </p:txBody>
      </p:sp>
      <p:sp>
        <p:nvSpPr>
          <p:cNvPr id="8" name="TextBox 7">
            <a:hlinkClick action="ppaction://hlinksldjump" r:id="rId5"/>
          </p:cNvPr>
          <p:cNvSpPr txBox="1"/>
          <p:nvPr/>
        </p:nvSpPr>
        <p:spPr>
          <a:xfrm>
            <a:off x="548640" y="1714500"/>
            <a:ext cx="5486400" cy="297180"/>
          </a:xfrm>
          <a:prstGeom prst="rect">
            <a:avLst/>
          </a:prstGeom>
          <a:noFill/>
        </p:spPr>
        <p:txBody>
          <a:bodyPr wrap="square" lIns="0" rIns="0" tIns="0" bIns="0" anchor="t">
            <a:noAutofit/>
          </a:bodyPr>
          <a:lstStyle/>
          <a:p>
            <a:pPr algn="l"/>
            <a:r>
              <a:rPr sz="1300" b="1" i="0">
                <a:solidFill>
                  <a:srgbClr val="2F78C4"/>
                </a:solidFill>
                <a:latin typeface="Arial"/>
              </a:rPr>
              <a:t>14  </a:t>
            </a:r>
            <a:r>
              <a:rPr sz="1300" b="1" i="0">
                <a:solidFill>
                  <a:srgbClr val="000048"/>
                </a:solidFill>
                <a:latin typeface="Arial"/>
              </a:rPr>
              <a:t>A2  </a:t>
            </a:r>
            <a:r>
              <a:rPr sz="1300" b="0" i="0">
                <a:solidFill>
                  <a:srgbClr val="1E1E2E"/>
                </a:solidFill>
                <a:latin typeface="Arial"/>
              </a:rPr>
              <a:t>Demand and workload inputs</a:t>
            </a:r>
          </a:p>
        </p:txBody>
      </p:sp>
      <p:sp>
        <p:nvSpPr>
          <p:cNvPr id="9" name="TextBox 8">
            <a:hlinkClick action="ppaction://hlinksldjump" r:id="rId6"/>
          </p:cNvPr>
          <p:cNvSpPr txBox="1"/>
          <p:nvPr/>
        </p:nvSpPr>
        <p:spPr>
          <a:xfrm>
            <a:off x="548640" y="2011680"/>
            <a:ext cx="5486400" cy="297180"/>
          </a:xfrm>
          <a:prstGeom prst="rect">
            <a:avLst/>
          </a:prstGeom>
          <a:noFill/>
        </p:spPr>
        <p:txBody>
          <a:bodyPr wrap="square" lIns="0" rIns="0" tIns="0" bIns="0" anchor="t">
            <a:noAutofit/>
          </a:bodyPr>
          <a:lstStyle/>
          <a:p>
            <a:pPr algn="l"/>
            <a:r>
              <a:rPr sz="1300" b="1" i="0">
                <a:solidFill>
                  <a:srgbClr val="2F78C4"/>
                </a:solidFill>
                <a:latin typeface="Arial"/>
              </a:rPr>
              <a:t>15  </a:t>
            </a:r>
            <a:r>
              <a:rPr sz="1300" b="1" i="0">
                <a:solidFill>
                  <a:srgbClr val="000048"/>
                </a:solidFill>
                <a:latin typeface="Arial"/>
              </a:rPr>
              <a:t>A3  </a:t>
            </a:r>
            <a:r>
              <a:rPr sz="1300" b="0" i="0">
                <a:solidFill>
                  <a:srgbClr val="1E1E2E"/>
                </a:solidFill>
                <a:latin typeface="Arial"/>
              </a:rPr>
              <a:t>Token amplification</a:t>
            </a:r>
          </a:p>
        </p:txBody>
      </p:sp>
      <p:sp>
        <p:nvSpPr>
          <p:cNvPr id="10" name="TextBox 9">
            <a:hlinkClick action="ppaction://hlinksldjump" r:id="rId7"/>
          </p:cNvPr>
          <p:cNvSpPr txBox="1"/>
          <p:nvPr/>
        </p:nvSpPr>
        <p:spPr>
          <a:xfrm>
            <a:off x="548640" y="2308860"/>
            <a:ext cx="5486400" cy="297180"/>
          </a:xfrm>
          <a:prstGeom prst="rect">
            <a:avLst/>
          </a:prstGeom>
          <a:noFill/>
        </p:spPr>
        <p:txBody>
          <a:bodyPr wrap="square" lIns="0" rIns="0" tIns="0" bIns="0" anchor="t">
            <a:noAutofit/>
          </a:bodyPr>
          <a:lstStyle/>
          <a:p>
            <a:pPr algn="l"/>
            <a:r>
              <a:rPr sz="1300" b="1" i="0">
                <a:solidFill>
                  <a:srgbClr val="2F78C4"/>
                </a:solidFill>
                <a:latin typeface="Arial"/>
              </a:rPr>
              <a:t>16  </a:t>
            </a:r>
            <a:r>
              <a:rPr sz="1300" b="1" i="0">
                <a:solidFill>
                  <a:srgbClr val="000048"/>
                </a:solidFill>
                <a:latin typeface="Arial"/>
              </a:rPr>
              <a:t>A4  </a:t>
            </a:r>
            <a:r>
              <a:rPr sz="1300" b="0" i="0">
                <a:solidFill>
                  <a:srgbClr val="1E1E2E"/>
                </a:solidFill>
                <a:latin typeface="Arial"/>
              </a:rPr>
              <a:t>Quota versus capacity versus reservation</a:t>
            </a:r>
          </a:p>
        </p:txBody>
      </p:sp>
      <p:sp>
        <p:nvSpPr>
          <p:cNvPr id="11" name="TextBox 10">
            <a:hlinkClick action="ppaction://hlinksldjump" r:id="rId8"/>
          </p:cNvPr>
          <p:cNvSpPr txBox="1"/>
          <p:nvPr/>
        </p:nvSpPr>
        <p:spPr>
          <a:xfrm>
            <a:off x="548640" y="2606040"/>
            <a:ext cx="5486400" cy="297180"/>
          </a:xfrm>
          <a:prstGeom prst="rect">
            <a:avLst/>
          </a:prstGeom>
          <a:noFill/>
        </p:spPr>
        <p:txBody>
          <a:bodyPr wrap="square" lIns="0" rIns="0" tIns="0" bIns="0" anchor="t">
            <a:noAutofit/>
          </a:bodyPr>
          <a:lstStyle/>
          <a:p>
            <a:pPr algn="l"/>
            <a:r>
              <a:rPr sz="1300" b="1" i="0">
                <a:solidFill>
                  <a:srgbClr val="2F78C4"/>
                </a:solidFill>
                <a:latin typeface="Arial"/>
              </a:rPr>
              <a:t>17  </a:t>
            </a:r>
            <a:r>
              <a:rPr sz="1300" b="1" i="0">
                <a:solidFill>
                  <a:srgbClr val="000048"/>
                </a:solidFill>
                <a:latin typeface="Arial"/>
              </a:rPr>
              <a:t>A5  </a:t>
            </a:r>
            <a:r>
              <a:rPr sz="1300" b="0" i="0">
                <a:solidFill>
                  <a:srgbClr val="1E1E2E"/>
                </a:solidFill>
                <a:latin typeface="Arial"/>
              </a:rPr>
              <a:t>PTU sizing method</a:t>
            </a:r>
          </a:p>
        </p:txBody>
      </p:sp>
      <p:sp>
        <p:nvSpPr>
          <p:cNvPr id="12" name="TextBox 11">
            <a:hlinkClick action="ppaction://hlinksldjump" r:id="rId9"/>
          </p:cNvPr>
          <p:cNvSpPr txBox="1"/>
          <p:nvPr/>
        </p:nvSpPr>
        <p:spPr>
          <a:xfrm>
            <a:off x="548640" y="2903220"/>
            <a:ext cx="5486400" cy="297180"/>
          </a:xfrm>
          <a:prstGeom prst="rect">
            <a:avLst/>
          </a:prstGeom>
          <a:noFill/>
        </p:spPr>
        <p:txBody>
          <a:bodyPr wrap="square" lIns="0" rIns="0" tIns="0" bIns="0" anchor="t">
            <a:noAutofit/>
          </a:bodyPr>
          <a:lstStyle/>
          <a:p>
            <a:pPr algn="l"/>
            <a:r>
              <a:rPr sz="1300" b="1" i="0">
                <a:solidFill>
                  <a:srgbClr val="2F78C4"/>
                </a:solidFill>
                <a:latin typeface="Arial"/>
              </a:rPr>
              <a:t>18  </a:t>
            </a:r>
            <a:r>
              <a:rPr sz="1300" b="1" i="0">
                <a:solidFill>
                  <a:srgbClr val="000048"/>
                </a:solidFill>
                <a:latin typeface="Arial"/>
              </a:rPr>
              <a:t>A6  </a:t>
            </a:r>
            <a:r>
              <a:rPr sz="1300" b="0" i="0">
                <a:solidFill>
                  <a:srgbClr val="1E1E2E"/>
                </a:solidFill>
                <a:latin typeface="Arial"/>
              </a:rPr>
              <a:t>Model lifecycle and commitment risk</a:t>
            </a:r>
          </a:p>
        </p:txBody>
      </p:sp>
      <p:sp>
        <p:nvSpPr>
          <p:cNvPr id="13" name="TextBox 12">
            <a:hlinkClick action="ppaction://hlinksldjump" r:id="rId10"/>
          </p:cNvPr>
          <p:cNvSpPr txBox="1"/>
          <p:nvPr/>
        </p:nvSpPr>
        <p:spPr>
          <a:xfrm>
            <a:off x="548640" y="3200400"/>
            <a:ext cx="5486400" cy="297180"/>
          </a:xfrm>
          <a:prstGeom prst="rect">
            <a:avLst/>
          </a:prstGeom>
          <a:noFill/>
        </p:spPr>
        <p:txBody>
          <a:bodyPr wrap="square" lIns="0" rIns="0" tIns="0" bIns="0" anchor="t">
            <a:noAutofit/>
          </a:bodyPr>
          <a:lstStyle/>
          <a:p>
            <a:pPr algn="l"/>
            <a:r>
              <a:rPr sz="1300" b="1" i="0">
                <a:solidFill>
                  <a:srgbClr val="2F78C4"/>
                </a:solidFill>
                <a:latin typeface="Arial"/>
              </a:rPr>
              <a:t>19  </a:t>
            </a:r>
            <a:r>
              <a:rPr sz="1300" b="1" i="0">
                <a:solidFill>
                  <a:srgbClr val="000048"/>
                </a:solidFill>
                <a:latin typeface="Arial"/>
              </a:rPr>
              <a:t>A7  </a:t>
            </a:r>
            <a:r>
              <a:rPr sz="1300" b="0" i="0">
                <a:solidFill>
                  <a:srgbClr val="1E1E2E"/>
                </a:solidFill>
                <a:latin typeface="Arial"/>
              </a:rPr>
              <a:t>Coverage versus utilisation</a:t>
            </a:r>
          </a:p>
        </p:txBody>
      </p:sp>
      <p:sp>
        <p:nvSpPr>
          <p:cNvPr id="14" name="TextBox 13">
            <a:hlinkClick action="ppaction://hlinksldjump" r:id="rId11"/>
          </p:cNvPr>
          <p:cNvSpPr txBox="1"/>
          <p:nvPr/>
        </p:nvSpPr>
        <p:spPr>
          <a:xfrm>
            <a:off x="548640" y="3497580"/>
            <a:ext cx="5486400" cy="297180"/>
          </a:xfrm>
          <a:prstGeom prst="rect">
            <a:avLst/>
          </a:prstGeom>
          <a:noFill/>
        </p:spPr>
        <p:txBody>
          <a:bodyPr wrap="square" lIns="0" rIns="0" tIns="0" bIns="0" anchor="t">
            <a:noAutofit/>
          </a:bodyPr>
          <a:lstStyle/>
          <a:p>
            <a:pPr algn="l"/>
            <a:r>
              <a:rPr sz="1300" b="1" i="0">
                <a:solidFill>
                  <a:srgbClr val="2F78C4"/>
                </a:solidFill>
                <a:latin typeface="Arial"/>
              </a:rPr>
              <a:t>20  </a:t>
            </a:r>
            <a:r>
              <a:rPr sz="1300" b="1" i="0">
                <a:solidFill>
                  <a:srgbClr val="000048"/>
                </a:solidFill>
                <a:latin typeface="Arial"/>
              </a:rPr>
              <a:t>A8  </a:t>
            </a:r>
            <a:r>
              <a:rPr sz="1300" b="0" i="0">
                <a:solidFill>
                  <a:srgbClr val="1E1E2E"/>
                </a:solidFill>
                <a:latin typeface="Arial"/>
              </a:rPr>
              <a:t>Worked example inputs</a:t>
            </a:r>
          </a:p>
        </p:txBody>
      </p:sp>
      <p:sp>
        <p:nvSpPr>
          <p:cNvPr id="15" name="TextBox 14">
            <a:hlinkClick action="ppaction://hlinksldjump" r:id="rId12"/>
          </p:cNvPr>
          <p:cNvSpPr txBox="1"/>
          <p:nvPr/>
        </p:nvSpPr>
        <p:spPr>
          <a:xfrm>
            <a:off x="548640" y="3794760"/>
            <a:ext cx="5486400" cy="297180"/>
          </a:xfrm>
          <a:prstGeom prst="rect">
            <a:avLst/>
          </a:prstGeom>
          <a:noFill/>
        </p:spPr>
        <p:txBody>
          <a:bodyPr wrap="square" lIns="0" rIns="0" tIns="0" bIns="0" anchor="t">
            <a:noAutofit/>
          </a:bodyPr>
          <a:lstStyle/>
          <a:p>
            <a:pPr algn="l"/>
            <a:r>
              <a:rPr sz="1300" b="1" i="0">
                <a:solidFill>
                  <a:srgbClr val="2F78C4"/>
                </a:solidFill>
                <a:latin typeface="Arial"/>
              </a:rPr>
              <a:t>21  </a:t>
            </a:r>
            <a:r>
              <a:rPr sz="1300" b="1" i="0">
                <a:solidFill>
                  <a:srgbClr val="000048"/>
                </a:solidFill>
                <a:latin typeface="Arial"/>
              </a:rPr>
              <a:t>A9  </a:t>
            </a:r>
            <a:r>
              <a:rPr sz="1300" b="0" i="0">
                <a:solidFill>
                  <a:srgbClr val="1E1E2E"/>
                </a:solidFill>
                <a:latin typeface="Arial"/>
              </a:rPr>
              <a:t>Worked example results</a:t>
            </a:r>
          </a:p>
        </p:txBody>
      </p:sp>
      <p:sp>
        <p:nvSpPr>
          <p:cNvPr id="16" name="TextBox 15">
            <a:hlinkClick action="ppaction://hlinksldjump" r:id="rId13"/>
          </p:cNvPr>
          <p:cNvSpPr txBox="1"/>
          <p:nvPr/>
        </p:nvSpPr>
        <p:spPr>
          <a:xfrm>
            <a:off x="548640" y="4091940"/>
            <a:ext cx="5486400" cy="297180"/>
          </a:xfrm>
          <a:prstGeom prst="rect">
            <a:avLst/>
          </a:prstGeom>
          <a:noFill/>
        </p:spPr>
        <p:txBody>
          <a:bodyPr wrap="square" lIns="0" rIns="0" tIns="0" bIns="0" anchor="t">
            <a:noAutofit/>
          </a:bodyPr>
          <a:lstStyle/>
          <a:p>
            <a:pPr algn="l"/>
            <a:r>
              <a:rPr sz="1300" b="1" i="0">
                <a:solidFill>
                  <a:srgbClr val="2F78C4"/>
                </a:solidFill>
                <a:latin typeface="Arial"/>
              </a:rPr>
              <a:t>22  </a:t>
            </a:r>
            <a:r>
              <a:rPr sz="1300" b="1" i="0">
                <a:solidFill>
                  <a:srgbClr val="000048"/>
                </a:solidFill>
                <a:latin typeface="Arial"/>
              </a:rPr>
              <a:t>A10  </a:t>
            </a:r>
            <a:r>
              <a:rPr sz="1300" b="0" i="0">
                <a:solidFill>
                  <a:srgbClr val="1E1E2E"/>
                </a:solidFill>
                <a:latin typeface="Arial"/>
              </a:rPr>
              <a:t>Sensitivity: utilisation</a:t>
            </a:r>
          </a:p>
        </p:txBody>
      </p:sp>
      <p:sp>
        <p:nvSpPr>
          <p:cNvPr id="17" name="TextBox 16">
            <a:hlinkClick action="ppaction://hlinksldjump" r:id="rId14"/>
          </p:cNvPr>
          <p:cNvSpPr txBox="1"/>
          <p:nvPr/>
        </p:nvSpPr>
        <p:spPr>
          <a:xfrm>
            <a:off x="548640" y="4389120"/>
            <a:ext cx="5486400" cy="297180"/>
          </a:xfrm>
          <a:prstGeom prst="rect">
            <a:avLst/>
          </a:prstGeom>
          <a:noFill/>
        </p:spPr>
        <p:txBody>
          <a:bodyPr wrap="square" lIns="0" rIns="0" tIns="0" bIns="0" anchor="t">
            <a:noAutofit/>
          </a:bodyPr>
          <a:lstStyle/>
          <a:p>
            <a:pPr algn="l"/>
            <a:r>
              <a:rPr sz="1300" b="1" i="0">
                <a:solidFill>
                  <a:srgbClr val="2F78C4"/>
                </a:solidFill>
                <a:latin typeface="Arial"/>
              </a:rPr>
              <a:t>23  </a:t>
            </a:r>
            <a:r>
              <a:rPr sz="1300" b="1" i="0">
                <a:solidFill>
                  <a:srgbClr val="000048"/>
                </a:solidFill>
                <a:latin typeface="Arial"/>
              </a:rPr>
              <a:t>A11  </a:t>
            </a:r>
            <a:r>
              <a:rPr sz="1300" b="0" i="0">
                <a:solidFill>
                  <a:srgbClr val="1E1E2E"/>
                </a:solidFill>
                <a:latin typeface="Arial"/>
              </a:rPr>
              <a:t>Sensitivity: workload assumptions</a:t>
            </a:r>
          </a:p>
        </p:txBody>
      </p:sp>
      <p:sp>
        <p:nvSpPr>
          <p:cNvPr id="18" name="TextBox 17">
            <a:hlinkClick action="ppaction://hlinksldjump" r:id="rId15"/>
          </p:cNvPr>
          <p:cNvSpPr txBox="1"/>
          <p:nvPr/>
        </p:nvSpPr>
        <p:spPr>
          <a:xfrm>
            <a:off x="548640" y="4686300"/>
            <a:ext cx="5486400" cy="297180"/>
          </a:xfrm>
          <a:prstGeom prst="rect">
            <a:avLst/>
          </a:prstGeom>
          <a:noFill/>
        </p:spPr>
        <p:txBody>
          <a:bodyPr wrap="square" lIns="0" rIns="0" tIns="0" bIns="0" anchor="t">
            <a:noAutofit/>
          </a:bodyPr>
          <a:lstStyle/>
          <a:p>
            <a:pPr algn="l"/>
            <a:r>
              <a:rPr sz="1300" b="1" i="0">
                <a:solidFill>
                  <a:srgbClr val="2F78C4"/>
                </a:solidFill>
                <a:latin typeface="Arial"/>
              </a:rPr>
              <a:t>24  </a:t>
            </a:r>
            <a:r>
              <a:rPr sz="1300" b="1" i="0">
                <a:solidFill>
                  <a:srgbClr val="000048"/>
                </a:solidFill>
                <a:latin typeface="Arial"/>
              </a:rPr>
              <a:t>A12  </a:t>
            </a:r>
            <a:r>
              <a:rPr sz="1300" b="0" i="0">
                <a:solidFill>
                  <a:srgbClr val="1E1E2E"/>
                </a:solidFill>
                <a:latin typeface="Arial"/>
              </a:rPr>
              <a:t>Self-hosted GPU technical factors</a:t>
            </a:r>
          </a:p>
        </p:txBody>
      </p:sp>
      <p:sp>
        <p:nvSpPr>
          <p:cNvPr id="19" name="TextBox 18">
            <a:hlinkClick action="ppaction://hlinksldjump" r:id="rId16"/>
          </p:cNvPr>
          <p:cNvSpPr txBox="1"/>
          <p:nvPr/>
        </p:nvSpPr>
        <p:spPr>
          <a:xfrm>
            <a:off x="548640" y="4983480"/>
            <a:ext cx="5486400" cy="297180"/>
          </a:xfrm>
          <a:prstGeom prst="rect">
            <a:avLst/>
          </a:prstGeom>
          <a:noFill/>
        </p:spPr>
        <p:txBody>
          <a:bodyPr wrap="square" lIns="0" rIns="0" tIns="0" bIns="0" anchor="t">
            <a:noAutofit/>
          </a:bodyPr>
          <a:lstStyle/>
          <a:p>
            <a:pPr algn="l"/>
            <a:r>
              <a:rPr sz="1300" b="1" i="0">
                <a:solidFill>
                  <a:srgbClr val="2F78C4"/>
                </a:solidFill>
                <a:latin typeface="Arial"/>
              </a:rPr>
              <a:t>25  </a:t>
            </a:r>
            <a:r>
              <a:rPr sz="1300" b="1" i="0">
                <a:solidFill>
                  <a:srgbClr val="000048"/>
                </a:solidFill>
                <a:latin typeface="Arial"/>
              </a:rPr>
              <a:t>A13  </a:t>
            </a:r>
            <a:r>
              <a:rPr sz="1300" b="0" i="0">
                <a:solidFill>
                  <a:srgbClr val="1E1E2E"/>
                </a:solidFill>
                <a:latin typeface="Arial"/>
              </a:rPr>
              <a:t>GPU break-even throughput</a:t>
            </a:r>
          </a:p>
        </p:txBody>
      </p:sp>
      <p:sp>
        <p:nvSpPr>
          <p:cNvPr id="20" name="TextBox 19">
            <a:hlinkClick action="ppaction://hlinksldjump" r:id="rId17"/>
          </p:cNvPr>
          <p:cNvSpPr txBox="1"/>
          <p:nvPr/>
        </p:nvSpPr>
        <p:spPr>
          <a:xfrm>
            <a:off x="548640" y="5280660"/>
            <a:ext cx="5486400" cy="297180"/>
          </a:xfrm>
          <a:prstGeom prst="rect">
            <a:avLst/>
          </a:prstGeom>
          <a:noFill/>
        </p:spPr>
        <p:txBody>
          <a:bodyPr wrap="square" lIns="0" rIns="0" tIns="0" bIns="0" anchor="t">
            <a:noAutofit/>
          </a:bodyPr>
          <a:lstStyle/>
          <a:p>
            <a:pPr algn="l"/>
            <a:r>
              <a:rPr sz="1300" b="1" i="0">
                <a:solidFill>
                  <a:srgbClr val="2F78C4"/>
                </a:solidFill>
                <a:latin typeface="Arial"/>
              </a:rPr>
              <a:t>26  </a:t>
            </a:r>
            <a:r>
              <a:rPr sz="1300" b="1" i="0">
                <a:solidFill>
                  <a:srgbClr val="000048"/>
                </a:solidFill>
                <a:latin typeface="Arial"/>
              </a:rPr>
              <a:t>A14  </a:t>
            </a:r>
            <a:r>
              <a:rPr sz="1300" b="0" i="0">
                <a:solidFill>
                  <a:srgbClr val="1E1E2E"/>
                </a:solidFill>
                <a:latin typeface="Arial"/>
              </a:rPr>
              <a:t>Comparable total-cost boundaries</a:t>
            </a:r>
          </a:p>
        </p:txBody>
      </p:sp>
      <p:sp>
        <p:nvSpPr>
          <p:cNvPr id="21" name="TextBox 20">
            <a:hlinkClick action="ppaction://hlinksldjump" r:id="rId18"/>
          </p:cNvPr>
          <p:cNvSpPr txBox="1"/>
          <p:nvPr/>
        </p:nvSpPr>
        <p:spPr>
          <a:xfrm>
            <a:off x="548640" y="5577840"/>
            <a:ext cx="5486400" cy="297180"/>
          </a:xfrm>
          <a:prstGeom prst="rect">
            <a:avLst/>
          </a:prstGeom>
          <a:noFill/>
        </p:spPr>
        <p:txBody>
          <a:bodyPr wrap="square" lIns="0" rIns="0" tIns="0" bIns="0" anchor="t">
            <a:noAutofit/>
          </a:bodyPr>
          <a:lstStyle/>
          <a:p>
            <a:pPr algn="l"/>
            <a:r>
              <a:rPr sz="1300" b="1" i="0">
                <a:solidFill>
                  <a:srgbClr val="2F78C4"/>
                </a:solidFill>
                <a:latin typeface="Arial"/>
              </a:rPr>
              <a:t>27  </a:t>
            </a:r>
            <a:r>
              <a:rPr sz="1300" b="1" i="0">
                <a:solidFill>
                  <a:srgbClr val="000048"/>
                </a:solidFill>
                <a:latin typeface="Arial"/>
              </a:rPr>
              <a:t>A15  </a:t>
            </a:r>
            <a:r>
              <a:rPr sz="1300" b="0" i="0">
                <a:solidFill>
                  <a:srgbClr val="1E1E2E"/>
                </a:solidFill>
                <a:latin typeface="Arial"/>
              </a:rPr>
              <a:t>Telemetry architecture (rebuilt)</a:t>
            </a:r>
          </a:p>
        </p:txBody>
      </p:sp>
      <p:sp>
        <p:nvSpPr>
          <p:cNvPr id="22" name="TextBox 21">
            <a:hlinkClick action="ppaction://hlinksldjump" r:id="rId19"/>
          </p:cNvPr>
          <p:cNvSpPr txBox="1"/>
          <p:nvPr/>
        </p:nvSpPr>
        <p:spPr>
          <a:xfrm>
            <a:off x="548640" y="5875020"/>
            <a:ext cx="5486400" cy="297180"/>
          </a:xfrm>
          <a:prstGeom prst="rect">
            <a:avLst/>
          </a:prstGeom>
          <a:noFill/>
        </p:spPr>
        <p:txBody>
          <a:bodyPr wrap="square" lIns="0" rIns="0" tIns="0" bIns="0" anchor="t">
            <a:noAutofit/>
          </a:bodyPr>
          <a:lstStyle/>
          <a:p>
            <a:pPr algn="l"/>
            <a:r>
              <a:rPr sz="1300" b="1" i="0">
                <a:solidFill>
                  <a:srgbClr val="2F78C4"/>
                </a:solidFill>
                <a:latin typeface="Arial"/>
              </a:rPr>
              <a:t>28  </a:t>
            </a:r>
            <a:r>
              <a:rPr sz="1300" b="1" i="0">
                <a:solidFill>
                  <a:srgbClr val="000048"/>
                </a:solidFill>
                <a:latin typeface="Arial"/>
              </a:rPr>
              <a:t>A16  </a:t>
            </a:r>
            <a:r>
              <a:rPr sz="1300" b="0" i="0">
                <a:solidFill>
                  <a:srgbClr val="1E1E2E"/>
                </a:solidFill>
                <a:latin typeface="Arial"/>
              </a:rPr>
              <a:t>Cost allocation and showback</a:t>
            </a:r>
          </a:p>
        </p:txBody>
      </p:sp>
      <p:sp>
        <p:nvSpPr>
          <p:cNvPr id="23" name="TextBox 22">
            <a:hlinkClick action="ppaction://hlinksldjump" r:id="rId20"/>
          </p:cNvPr>
          <p:cNvSpPr txBox="1"/>
          <p:nvPr/>
        </p:nvSpPr>
        <p:spPr>
          <a:xfrm>
            <a:off x="6217920" y="1417320"/>
            <a:ext cx="5486400" cy="297180"/>
          </a:xfrm>
          <a:prstGeom prst="rect">
            <a:avLst/>
          </a:prstGeom>
          <a:noFill/>
        </p:spPr>
        <p:txBody>
          <a:bodyPr wrap="square" lIns="0" rIns="0" tIns="0" bIns="0" anchor="t">
            <a:noAutofit/>
          </a:bodyPr>
          <a:lstStyle/>
          <a:p>
            <a:pPr algn="l"/>
            <a:r>
              <a:rPr sz="1300" b="1" i="0">
                <a:solidFill>
                  <a:srgbClr val="2F78C4"/>
                </a:solidFill>
                <a:latin typeface="Arial"/>
              </a:rPr>
              <a:t>29  </a:t>
            </a:r>
            <a:r>
              <a:rPr sz="1300" b="1" i="0">
                <a:solidFill>
                  <a:srgbClr val="000048"/>
                </a:solidFill>
                <a:latin typeface="Arial"/>
              </a:rPr>
              <a:t>A17  </a:t>
            </a:r>
            <a:r>
              <a:rPr sz="1300" b="0" i="0">
                <a:solidFill>
                  <a:srgbClr val="1E1E2E"/>
                </a:solidFill>
                <a:latin typeface="Arial"/>
              </a:rPr>
              <a:t>Deployment type price differences</a:t>
            </a:r>
          </a:p>
        </p:txBody>
      </p:sp>
      <p:sp>
        <p:nvSpPr>
          <p:cNvPr id="24" name="TextBox 23">
            <a:hlinkClick action="ppaction://hlinksldjump" r:id="rId21"/>
          </p:cNvPr>
          <p:cNvSpPr txBox="1"/>
          <p:nvPr/>
        </p:nvSpPr>
        <p:spPr>
          <a:xfrm>
            <a:off x="6217920" y="1714500"/>
            <a:ext cx="5486400" cy="297180"/>
          </a:xfrm>
          <a:prstGeom prst="rect">
            <a:avLst/>
          </a:prstGeom>
          <a:noFill/>
        </p:spPr>
        <p:txBody>
          <a:bodyPr wrap="square" lIns="0" rIns="0" tIns="0" bIns="0" anchor="t">
            <a:noAutofit/>
          </a:bodyPr>
          <a:lstStyle/>
          <a:p>
            <a:pPr algn="l"/>
            <a:r>
              <a:rPr sz="1300" b="1" i="0">
                <a:solidFill>
                  <a:srgbClr val="2F78C4"/>
                </a:solidFill>
                <a:latin typeface="Arial"/>
              </a:rPr>
              <a:t>30  </a:t>
            </a:r>
            <a:r>
              <a:rPr sz="1300" b="1" i="0">
                <a:solidFill>
                  <a:srgbClr val="000048"/>
                </a:solidFill>
                <a:latin typeface="Arial"/>
              </a:rPr>
              <a:t>A18  </a:t>
            </a:r>
            <a:r>
              <a:rPr sz="1300" b="0" i="0">
                <a:solidFill>
                  <a:srgbClr val="1E1E2E"/>
                </a:solidFill>
                <a:latin typeface="Arial"/>
              </a:rPr>
              <a:t>Deliverables and acceptance</a:t>
            </a:r>
          </a:p>
        </p:txBody>
      </p:sp>
      <p:sp>
        <p:nvSpPr>
          <p:cNvPr id="25" name="TextBox 24">
            <a:hlinkClick action="ppaction://hlinksldjump" r:id="rId22"/>
          </p:cNvPr>
          <p:cNvSpPr txBox="1"/>
          <p:nvPr/>
        </p:nvSpPr>
        <p:spPr>
          <a:xfrm>
            <a:off x="6217920" y="2011680"/>
            <a:ext cx="5486400" cy="297180"/>
          </a:xfrm>
          <a:prstGeom prst="rect">
            <a:avLst/>
          </a:prstGeom>
          <a:noFill/>
        </p:spPr>
        <p:txBody>
          <a:bodyPr wrap="square" lIns="0" rIns="0" tIns="0" bIns="0" anchor="t">
            <a:noAutofit/>
          </a:bodyPr>
          <a:lstStyle/>
          <a:p>
            <a:pPr algn="l"/>
            <a:r>
              <a:rPr sz="1300" b="1" i="0">
                <a:solidFill>
                  <a:srgbClr val="2F78C4"/>
                </a:solidFill>
                <a:latin typeface="Arial"/>
              </a:rPr>
              <a:t>31  </a:t>
            </a:r>
            <a:r>
              <a:rPr sz="1300" b="1" i="0">
                <a:solidFill>
                  <a:srgbClr val="000048"/>
                </a:solidFill>
                <a:latin typeface="Arial"/>
              </a:rPr>
              <a:t>A19  </a:t>
            </a:r>
            <a:r>
              <a:rPr sz="1300" b="0" i="0">
                <a:solidFill>
                  <a:srgbClr val="1E1E2E"/>
                </a:solidFill>
                <a:latin typeface="Arial"/>
              </a:rPr>
              <a:t>Licence economics</a:t>
            </a:r>
          </a:p>
        </p:txBody>
      </p:sp>
      <p:sp>
        <p:nvSpPr>
          <p:cNvPr id="26" name="TextBox 25">
            <a:hlinkClick action="ppaction://hlinksldjump" r:id="rId23"/>
          </p:cNvPr>
          <p:cNvSpPr txBox="1"/>
          <p:nvPr/>
        </p:nvSpPr>
        <p:spPr>
          <a:xfrm>
            <a:off x="6217920" y="2308860"/>
            <a:ext cx="5486400" cy="297180"/>
          </a:xfrm>
          <a:prstGeom prst="rect">
            <a:avLst/>
          </a:prstGeom>
          <a:noFill/>
        </p:spPr>
        <p:txBody>
          <a:bodyPr wrap="square" lIns="0" rIns="0" tIns="0" bIns="0" anchor="t">
            <a:noAutofit/>
          </a:bodyPr>
          <a:lstStyle/>
          <a:p>
            <a:pPr algn="l"/>
            <a:r>
              <a:rPr sz="1300" b="1" i="0">
                <a:solidFill>
                  <a:srgbClr val="2F78C4"/>
                </a:solidFill>
                <a:latin typeface="Arial"/>
              </a:rPr>
              <a:t>32  </a:t>
            </a:r>
            <a:r>
              <a:rPr sz="1300" b="1" i="0">
                <a:solidFill>
                  <a:srgbClr val="000048"/>
                </a:solidFill>
                <a:latin typeface="Arial"/>
              </a:rPr>
              <a:t>A20  </a:t>
            </a:r>
            <a:r>
              <a:rPr sz="1300" b="0" i="0">
                <a:solidFill>
                  <a:srgbClr val="1E1E2E"/>
                </a:solidFill>
                <a:latin typeface="Arial"/>
              </a:rPr>
              <a:t>FinOps operating model</a:t>
            </a:r>
          </a:p>
        </p:txBody>
      </p:sp>
      <p:sp>
        <p:nvSpPr>
          <p:cNvPr id="27" name="TextBox 26">
            <a:hlinkClick action="ppaction://hlinksldjump" r:id="rId24"/>
          </p:cNvPr>
          <p:cNvSpPr txBox="1"/>
          <p:nvPr/>
        </p:nvSpPr>
        <p:spPr>
          <a:xfrm>
            <a:off x="6217920" y="2606040"/>
            <a:ext cx="5486400" cy="297180"/>
          </a:xfrm>
          <a:prstGeom prst="rect">
            <a:avLst/>
          </a:prstGeom>
          <a:noFill/>
        </p:spPr>
        <p:txBody>
          <a:bodyPr wrap="square" lIns="0" rIns="0" tIns="0" bIns="0" anchor="t">
            <a:noAutofit/>
          </a:bodyPr>
          <a:lstStyle/>
          <a:p>
            <a:pPr algn="l"/>
            <a:r>
              <a:rPr sz="1300" b="1" i="0">
                <a:solidFill>
                  <a:srgbClr val="2F78C4"/>
                </a:solidFill>
                <a:latin typeface="Arial"/>
              </a:rPr>
              <a:t>33  </a:t>
            </a:r>
            <a:r>
              <a:rPr sz="1300" b="1" i="0">
                <a:solidFill>
                  <a:srgbClr val="000048"/>
                </a:solidFill>
                <a:latin typeface="Arial"/>
              </a:rPr>
              <a:t>Q1  </a:t>
            </a:r>
            <a:r>
              <a:rPr sz="1300" b="0" i="0">
                <a:solidFill>
                  <a:srgbClr val="1E1E2E"/>
                </a:solidFill>
                <a:latin typeface="Arial"/>
              </a:rPr>
              <a:t>Qualification scorecard and account shortlist</a:t>
            </a:r>
          </a:p>
        </p:txBody>
      </p:sp>
      <p:sp>
        <p:nvSpPr>
          <p:cNvPr id="28" name="TextBox 27">
            <a:hlinkClick action="ppaction://hlinksldjump" r:id="rId25"/>
          </p:cNvPr>
          <p:cNvSpPr txBox="1"/>
          <p:nvPr/>
        </p:nvSpPr>
        <p:spPr>
          <a:xfrm>
            <a:off x="6217920" y="2903220"/>
            <a:ext cx="5486400" cy="297180"/>
          </a:xfrm>
          <a:prstGeom prst="rect">
            <a:avLst/>
          </a:prstGeom>
          <a:noFill/>
        </p:spPr>
        <p:txBody>
          <a:bodyPr wrap="square" lIns="0" rIns="0" tIns="0" bIns="0" anchor="t">
            <a:noAutofit/>
          </a:bodyPr>
          <a:lstStyle/>
          <a:p>
            <a:pPr algn="l"/>
            <a:r>
              <a:rPr sz="1300" b="1" i="0">
                <a:solidFill>
                  <a:srgbClr val="2F78C4"/>
                </a:solidFill>
                <a:latin typeface="Arial"/>
              </a:rPr>
              <a:t>34  </a:t>
            </a:r>
            <a:r>
              <a:rPr sz="1300" b="1" i="0">
                <a:solidFill>
                  <a:srgbClr val="000048"/>
                </a:solidFill>
                <a:latin typeface="Arial"/>
              </a:rPr>
              <a:t>E1  </a:t>
            </a:r>
            <a:r>
              <a:rPr sz="1300" b="0" i="0">
                <a:solidFill>
                  <a:srgbClr val="1E1E2E"/>
                </a:solidFill>
                <a:latin typeface="Arial"/>
              </a:rPr>
              <a:t>Estimate assumptions</a:t>
            </a:r>
          </a:p>
        </p:txBody>
      </p:sp>
      <p:sp>
        <p:nvSpPr>
          <p:cNvPr id="29" name="TextBox 28">
            <a:hlinkClick action="ppaction://hlinksldjump" r:id="rId26"/>
          </p:cNvPr>
          <p:cNvSpPr txBox="1"/>
          <p:nvPr/>
        </p:nvSpPr>
        <p:spPr>
          <a:xfrm>
            <a:off x="6217920" y="3200400"/>
            <a:ext cx="5486400" cy="297180"/>
          </a:xfrm>
          <a:prstGeom prst="rect">
            <a:avLst/>
          </a:prstGeom>
          <a:noFill/>
        </p:spPr>
        <p:txBody>
          <a:bodyPr wrap="square" lIns="0" rIns="0" tIns="0" bIns="0" anchor="t">
            <a:noAutofit/>
          </a:bodyPr>
          <a:lstStyle/>
          <a:p>
            <a:pPr algn="l"/>
            <a:r>
              <a:rPr sz="1300" b="1" i="0">
                <a:solidFill>
                  <a:srgbClr val="2F78C4"/>
                </a:solidFill>
                <a:latin typeface="Arial"/>
              </a:rPr>
              <a:t>35  </a:t>
            </a:r>
            <a:r>
              <a:rPr sz="1300" b="1" i="0">
                <a:solidFill>
                  <a:srgbClr val="000048"/>
                </a:solidFill>
                <a:latin typeface="Arial"/>
              </a:rPr>
              <a:t>SEC1  </a:t>
            </a:r>
            <a:r>
              <a:rPr sz="1300" b="0" i="0">
                <a:solidFill>
                  <a:srgbClr val="1E1E2E"/>
                </a:solidFill>
                <a:latin typeface="Arial"/>
              </a:rPr>
              <a:t>AI threat model and controls</a:t>
            </a:r>
          </a:p>
        </p:txBody>
      </p:sp>
      <p:sp>
        <p:nvSpPr>
          <p:cNvPr id="30" name="TextBox 29">
            <a:hlinkClick action="ppaction://hlinksldjump" r:id="rId27"/>
          </p:cNvPr>
          <p:cNvSpPr txBox="1"/>
          <p:nvPr/>
        </p:nvSpPr>
        <p:spPr>
          <a:xfrm>
            <a:off x="6217920" y="3497580"/>
            <a:ext cx="5486400" cy="297180"/>
          </a:xfrm>
          <a:prstGeom prst="rect">
            <a:avLst/>
          </a:prstGeom>
          <a:noFill/>
        </p:spPr>
        <p:txBody>
          <a:bodyPr wrap="square" lIns="0" rIns="0" tIns="0" bIns="0" anchor="t">
            <a:noAutofit/>
          </a:bodyPr>
          <a:lstStyle/>
          <a:p>
            <a:pPr algn="l"/>
            <a:r>
              <a:rPr sz="1300" b="1" i="0">
                <a:solidFill>
                  <a:srgbClr val="2F78C4"/>
                </a:solidFill>
                <a:latin typeface="Arial"/>
              </a:rPr>
              <a:t>36  </a:t>
            </a:r>
            <a:r>
              <a:rPr sz="1300" b="1" i="0">
                <a:solidFill>
                  <a:srgbClr val="000048"/>
                </a:solidFill>
                <a:latin typeface="Arial"/>
              </a:rPr>
              <a:t>SEC2  </a:t>
            </a:r>
            <a:r>
              <a:rPr sz="1300" b="0" i="0">
                <a:solidFill>
                  <a:srgbClr val="1E1E2E"/>
                </a:solidFill>
                <a:latin typeface="Arial"/>
              </a:rPr>
              <a:t>Security services and regulation</a:t>
            </a:r>
          </a:p>
        </p:txBody>
      </p:sp>
      <p:sp>
        <p:nvSpPr>
          <p:cNvPr id="31" name="TextBox 30">
            <a:hlinkClick action="ppaction://hlinksldjump" r:id="rId28"/>
          </p:cNvPr>
          <p:cNvSpPr txBox="1"/>
          <p:nvPr/>
        </p:nvSpPr>
        <p:spPr>
          <a:xfrm>
            <a:off x="6217920" y="3794760"/>
            <a:ext cx="5486400" cy="297180"/>
          </a:xfrm>
          <a:prstGeom prst="rect">
            <a:avLst/>
          </a:prstGeom>
          <a:noFill/>
        </p:spPr>
        <p:txBody>
          <a:bodyPr wrap="square" lIns="0" rIns="0" tIns="0" bIns="0" anchor="t">
            <a:noAutofit/>
          </a:bodyPr>
          <a:lstStyle/>
          <a:p>
            <a:pPr algn="l"/>
            <a:r>
              <a:rPr sz="1300" b="1" i="0">
                <a:solidFill>
                  <a:srgbClr val="2F78C4"/>
                </a:solidFill>
                <a:latin typeface="Arial"/>
              </a:rPr>
              <a:t>37  </a:t>
            </a:r>
            <a:r>
              <a:rPr sz="1300" b="1" i="0">
                <a:solidFill>
                  <a:srgbClr val="000048"/>
                </a:solidFill>
                <a:latin typeface="Arial"/>
              </a:rPr>
              <a:t>G1  </a:t>
            </a:r>
            <a:r>
              <a:rPr sz="1300" b="0" i="0">
                <a:solidFill>
                  <a:srgbClr val="1E1E2E"/>
                </a:solidFill>
                <a:latin typeface="Arial"/>
              </a:rPr>
              <a:t>Glossary</a:t>
            </a:r>
          </a:p>
        </p:txBody>
      </p:sp>
      <p:sp>
        <p:nvSpPr>
          <p:cNvPr id="32" name="TextBox 31">
            <a:hlinkClick action="ppaction://hlinksldjump" r:id="rId29"/>
          </p:cNvPr>
          <p:cNvSpPr txBox="1"/>
          <p:nvPr/>
        </p:nvSpPr>
        <p:spPr>
          <a:xfrm>
            <a:off x="6217920" y="4091940"/>
            <a:ext cx="5486400" cy="297180"/>
          </a:xfrm>
          <a:prstGeom prst="rect">
            <a:avLst/>
          </a:prstGeom>
          <a:noFill/>
        </p:spPr>
        <p:txBody>
          <a:bodyPr wrap="square" lIns="0" rIns="0" tIns="0" bIns="0" anchor="t">
            <a:noAutofit/>
          </a:bodyPr>
          <a:lstStyle/>
          <a:p>
            <a:pPr algn="l"/>
            <a:r>
              <a:rPr sz="1300" b="1" i="0">
                <a:solidFill>
                  <a:srgbClr val="2F78C4"/>
                </a:solidFill>
                <a:latin typeface="Arial"/>
              </a:rPr>
              <a:t>38  </a:t>
            </a:r>
            <a:r>
              <a:rPr sz="1300" b="1" i="0">
                <a:solidFill>
                  <a:srgbClr val="000048"/>
                </a:solidFill>
                <a:latin typeface="Arial"/>
              </a:rPr>
              <a:t>K  </a:t>
            </a:r>
            <a:r>
              <a:rPr sz="1300" b="0" i="0">
                <a:solidFill>
                  <a:srgbClr val="1E1E2E"/>
                </a:solidFill>
                <a:latin typeface="Arial"/>
              </a:rPr>
              <a:t>Kill-switch cross-reference</a:t>
            </a:r>
          </a:p>
        </p:txBody>
      </p:sp>
      <p:sp>
        <p:nvSpPr>
          <p:cNvPr id="33" name="TextBox 32">
            <a:hlinkClick action="ppaction://hlinksldjump" r:id="rId30"/>
          </p:cNvPr>
          <p:cNvSpPr txBox="1"/>
          <p:nvPr/>
        </p:nvSpPr>
        <p:spPr>
          <a:xfrm>
            <a:off x="6217920" y="4389120"/>
            <a:ext cx="5486400" cy="297180"/>
          </a:xfrm>
          <a:prstGeom prst="rect">
            <a:avLst/>
          </a:prstGeom>
          <a:noFill/>
        </p:spPr>
        <p:txBody>
          <a:bodyPr wrap="square" lIns="0" rIns="0" tIns="0" bIns="0" anchor="t">
            <a:noAutofit/>
          </a:bodyPr>
          <a:lstStyle/>
          <a:p>
            <a:pPr algn="l"/>
            <a:r>
              <a:rPr sz="1300" b="1" i="0">
                <a:solidFill>
                  <a:srgbClr val="2F78C4"/>
                </a:solidFill>
                <a:latin typeface="Arial"/>
              </a:rPr>
              <a:t>39  </a:t>
            </a:r>
            <a:r>
              <a:rPr sz="1300" b="1" i="0">
                <a:solidFill>
                  <a:srgbClr val="000048"/>
                </a:solidFill>
                <a:latin typeface="Arial"/>
              </a:rPr>
              <a:t>C1  </a:t>
            </a:r>
            <a:r>
              <a:rPr sz="1300" b="0" i="0">
                <a:solidFill>
                  <a:srgbClr val="1E1E2E"/>
                </a:solidFill>
                <a:latin typeface="Arial"/>
              </a:rPr>
              <a:t>Cost layers and pricing formula</a:t>
            </a:r>
          </a:p>
        </p:txBody>
      </p:sp>
      <p:sp>
        <p:nvSpPr>
          <p:cNvPr id="34" name="TextBox 33">
            <a:hlinkClick action="ppaction://hlinksldjump" r:id="rId31"/>
          </p:cNvPr>
          <p:cNvSpPr txBox="1"/>
          <p:nvPr/>
        </p:nvSpPr>
        <p:spPr>
          <a:xfrm>
            <a:off x="6217920" y="4686300"/>
            <a:ext cx="5486400" cy="297180"/>
          </a:xfrm>
          <a:prstGeom prst="rect">
            <a:avLst/>
          </a:prstGeom>
          <a:noFill/>
        </p:spPr>
        <p:txBody>
          <a:bodyPr wrap="square" lIns="0" rIns="0" tIns="0" bIns="0" anchor="t">
            <a:noAutofit/>
          </a:bodyPr>
          <a:lstStyle/>
          <a:p>
            <a:pPr algn="l"/>
            <a:r>
              <a:rPr sz="1300" b="1" i="0">
                <a:solidFill>
                  <a:srgbClr val="2F78C4"/>
                </a:solidFill>
                <a:latin typeface="Arial"/>
              </a:rPr>
              <a:t>40  </a:t>
            </a:r>
            <a:r>
              <a:rPr sz="1300" b="1" i="0">
                <a:solidFill>
                  <a:srgbClr val="000048"/>
                </a:solidFill>
                <a:latin typeface="Arial"/>
              </a:rPr>
              <a:t>R1  </a:t>
            </a:r>
            <a:r>
              <a:rPr sz="1300" b="0" i="0">
                <a:solidFill>
                  <a:srgbClr val="1E1E2E"/>
                </a:solidFill>
                <a:latin typeface="Arial"/>
              </a:rPr>
              <a:t>RACI matrix</a:t>
            </a:r>
          </a:p>
        </p:txBody>
      </p:sp>
      <p:sp>
        <p:nvSpPr>
          <p:cNvPr id="35" name="TextBox 34">
            <a:hlinkClick action="ppaction://hlinksldjump" r:id="rId32"/>
          </p:cNvPr>
          <p:cNvSpPr txBox="1"/>
          <p:nvPr/>
        </p:nvSpPr>
        <p:spPr>
          <a:xfrm>
            <a:off x="6217920" y="4983480"/>
            <a:ext cx="5486400" cy="297180"/>
          </a:xfrm>
          <a:prstGeom prst="rect">
            <a:avLst/>
          </a:prstGeom>
          <a:noFill/>
        </p:spPr>
        <p:txBody>
          <a:bodyPr wrap="square" lIns="0" rIns="0" tIns="0" bIns="0" anchor="t">
            <a:noAutofit/>
          </a:bodyPr>
          <a:lstStyle/>
          <a:p>
            <a:pPr algn="l"/>
            <a:r>
              <a:rPr sz="1300" b="1" i="0">
                <a:solidFill>
                  <a:srgbClr val="2F78C4"/>
                </a:solidFill>
                <a:latin typeface="Arial"/>
              </a:rPr>
              <a:t>41  </a:t>
            </a:r>
            <a:r>
              <a:rPr sz="1300" b="1" i="0">
                <a:solidFill>
                  <a:srgbClr val="000048"/>
                </a:solidFill>
                <a:latin typeface="Arial"/>
              </a:rPr>
              <a:t>R2  </a:t>
            </a:r>
            <a:r>
              <a:rPr sz="1300" b="0" i="0">
                <a:solidFill>
                  <a:srgbClr val="1E1E2E"/>
                </a:solidFill>
                <a:latin typeface="Arial"/>
              </a:rPr>
              <a:t>Revenue attribution framework</a:t>
            </a:r>
          </a:p>
        </p:txBody>
      </p:sp>
      <p:sp>
        <p:nvSpPr>
          <p:cNvPr id="36" name="TextBox 35">
            <a:hlinkClick action="ppaction://hlinksldjump" r:id="rId33"/>
          </p:cNvPr>
          <p:cNvSpPr txBox="1"/>
          <p:nvPr/>
        </p:nvSpPr>
        <p:spPr>
          <a:xfrm>
            <a:off x="6217920" y="5280660"/>
            <a:ext cx="5486400" cy="297180"/>
          </a:xfrm>
          <a:prstGeom prst="rect">
            <a:avLst/>
          </a:prstGeom>
          <a:noFill/>
        </p:spPr>
        <p:txBody>
          <a:bodyPr wrap="square" lIns="0" rIns="0" tIns="0" bIns="0" anchor="t">
            <a:noAutofit/>
          </a:bodyPr>
          <a:lstStyle/>
          <a:p>
            <a:pPr algn="l"/>
            <a:r>
              <a:rPr sz="1300" b="1" i="0">
                <a:solidFill>
                  <a:srgbClr val="2F78C4"/>
                </a:solidFill>
                <a:latin typeface="Arial"/>
              </a:rPr>
              <a:t>42  </a:t>
            </a:r>
            <a:r>
              <a:rPr sz="1300" b="1" i="0">
                <a:solidFill>
                  <a:srgbClr val="000048"/>
                </a:solidFill>
                <a:latin typeface="Arial"/>
              </a:rPr>
              <a:t>R3  </a:t>
            </a:r>
            <a:r>
              <a:rPr sz="1300" b="0" i="0">
                <a:solidFill>
                  <a:srgbClr val="1E1E2E"/>
                </a:solidFill>
                <a:latin typeface="Arial"/>
              </a:rPr>
              <a:t>Delivery and commercial readiness</a:t>
            </a:r>
          </a:p>
        </p:txBody>
      </p:sp>
      <p:sp>
        <p:nvSpPr>
          <p:cNvPr id="37" name="TextBox 36">
            <a:hlinkClick action="ppaction://hlinksldjump" r:id="rId34"/>
          </p:cNvPr>
          <p:cNvSpPr txBox="1"/>
          <p:nvPr/>
        </p:nvSpPr>
        <p:spPr>
          <a:xfrm>
            <a:off x="6217920" y="5577840"/>
            <a:ext cx="5486400" cy="297180"/>
          </a:xfrm>
          <a:prstGeom prst="rect">
            <a:avLst/>
          </a:prstGeom>
          <a:noFill/>
        </p:spPr>
        <p:txBody>
          <a:bodyPr wrap="square" lIns="0" rIns="0" tIns="0" bIns="0" anchor="t">
            <a:noAutofit/>
          </a:bodyPr>
          <a:lstStyle/>
          <a:p>
            <a:pPr algn="l"/>
            <a:r>
              <a:rPr sz="1300" b="1" i="0">
                <a:solidFill>
                  <a:srgbClr val="2F78C4"/>
                </a:solidFill>
                <a:latin typeface="Arial"/>
              </a:rPr>
              <a:t>43  </a:t>
            </a:r>
            <a:r>
              <a:rPr sz="1300" b="1" i="0">
                <a:solidFill>
                  <a:srgbClr val="000048"/>
                </a:solidFill>
                <a:latin typeface="Arial"/>
              </a:rPr>
              <a:t>D1  </a:t>
            </a:r>
            <a:r>
              <a:rPr sz="1300" b="0" i="0">
                <a:solidFill>
                  <a:srgbClr val="1E1E2E"/>
                </a:solidFill>
                <a:latin typeface="Arial"/>
              </a:rPr>
              <a:t>Decision and approval register</a:t>
            </a:r>
          </a:p>
        </p:txBody>
      </p:sp>
      <p:sp>
        <p:nvSpPr>
          <p:cNvPr id="38" name="TextBox 37">
            <a:hlinkClick action="ppaction://hlinksldjump" r:id="rId35"/>
          </p:cNvPr>
          <p:cNvSpPr txBox="1"/>
          <p:nvPr/>
        </p:nvSpPr>
        <p:spPr>
          <a:xfrm>
            <a:off x="6217920" y="5875020"/>
            <a:ext cx="5486400" cy="297180"/>
          </a:xfrm>
          <a:prstGeom prst="rect">
            <a:avLst/>
          </a:prstGeom>
          <a:noFill/>
        </p:spPr>
        <p:txBody>
          <a:bodyPr wrap="square" lIns="0" rIns="0" tIns="0" bIns="0" anchor="t">
            <a:noAutofit/>
          </a:bodyPr>
          <a:lstStyle/>
          <a:p>
            <a:pPr algn="l"/>
            <a:r>
              <a:rPr sz="1300" b="1" i="0">
                <a:solidFill>
                  <a:srgbClr val="2F78C4"/>
                </a:solidFill>
                <a:latin typeface="Arial"/>
              </a:rPr>
              <a:t>44  </a:t>
            </a:r>
            <a:r>
              <a:rPr sz="1300" b="1" i="0">
                <a:solidFill>
                  <a:srgbClr val="000048"/>
                </a:solidFill>
                <a:latin typeface="Arial"/>
              </a:rPr>
              <a:t>S1  </a:t>
            </a:r>
            <a:r>
              <a:rPr sz="1300" b="0" i="0">
                <a:solidFill>
                  <a:srgbClr val="1E1E2E"/>
                </a:solidFill>
                <a:latin typeface="Arial"/>
              </a:rPr>
              <a:t>Sources and verification 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 criteria for PAYG, PTU, hybrid and self-hosted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graphicFrame>
        <p:nvGraphicFramePr>
          <p:cNvPr id="9" name="Table"/>
          <p:cNvGraphicFramePr>
            <a:graphicFrameLocks noGrp="1"/>
          </p:cNvGraphicFramePr>
          <p:nvPr/>
        </p:nvGraphicFramePr>
        <p:xfrm>
          <a:off x="548640" y="1371600"/>
          <a:ext cx="11091672" cy="2560320"/>
        </p:xfrm>
        <a:graphic>
          <a:graphicData uri="http://schemas.openxmlformats.org/drawingml/2006/table">
            <a:tbl>
              <a:tblPr firstRow="1" bandRow="0">
                <a:tableStyleId>{5C22544A-7EE6-4342-B048-85BDC9FD1C3A}</a:tableStyleId>
              </a:tblPr>
              <a:tblGrid>
                <a:gridCol w="2103120"/>
                <a:gridCol w="2103120"/>
                <a:gridCol w="2286000"/>
                <a:gridCol w="2286000"/>
                <a:gridCol w="2313432"/>
              </a:tblGrid>
              <a:tr h="304800">
                <a:tc>
                  <a:txBody>
                    <a:bodyPr wrap="square" anchor="ctr">
                      <a:noAutofit/>
                    </a:bodyPr>
                    <a:lstStyle/>
                    <a:p>
                      <a:pPr algn="l"/>
                      <a:r>
                        <a:rPr sz="1400" b="1" i="0">
                          <a:solidFill>
                            <a:srgbClr val="FFFFFF"/>
                          </a:solidFill>
                          <a:latin typeface="Arial"/>
                        </a:rPr>
                        <a:t>Criterion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PAYG</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PTU</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Hybrid</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Self-hosted GPU</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Demand evidence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None needed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Measured sustained load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Measured baseline and peaks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Measured load and model fit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Latency need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Best effort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Defined latency target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Target for baseline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Engineered by team</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Commitment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None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Hourly or 1-month or 1-year</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Smaller reservation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VM terms up to 5 years</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Model lifecycle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Auto-upgrade possible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Manual migration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Manual for PTU part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Team owns upgrades</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Operating burden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Low</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Low to medium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Medium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High</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Price input needed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Token prices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Reservation price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Both</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VM, licence, ops cost</a:t>
                      </a:r>
                    </a:p>
                  </a:txBody>
                  <a:tcPr marL="73152" marR="73152" marT="36576" marB="36576" anchor="ctr">
                    <a:solidFill>
                      <a:srgbClr val="F5F5F2"/>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Workload characterisation inputs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Status chip: ASSESSMENT CHECKLIST"/>
          <p:cNvSpPr/>
          <p:nvPr/>
        </p:nvSpPr>
        <p:spPr>
          <a:xfrm>
            <a:off x="1898650" y="274320"/>
            <a:ext cx="2001519"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ASSESSMENT CHECKLIST</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graphicFrame>
        <p:nvGraphicFramePr>
          <p:cNvPr id="9" name="Table"/>
          <p:cNvGraphicFramePr>
            <a:graphicFrameLocks noGrp="1"/>
          </p:cNvGraphicFramePr>
          <p:nvPr/>
        </p:nvGraphicFramePr>
        <p:xfrm>
          <a:off x="548640" y="1371600"/>
          <a:ext cx="11091672" cy="3169920"/>
        </p:xfrm>
        <a:graphic>
          <a:graphicData uri="http://schemas.openxmlformats.org/drawingml/2006/table">
            <a:tbl>
              <a:tblPr firstRow="1" bandRow="0">
                <a:tableStyleId>{5C22544A-7EE6-4342-B048-85BDC9FD1C3A}</a:tableStyleId>
              </a:tblPr>
              <a:tblGrid>
                <a:gridCol w="3474720"/>
                <a:gridCol w="4206240"/>
                <a:gridCol w="3410712"/>
              </a:tblGrid>
              <a:tr h="304800">
                <a:tc>
                  <a:txBody>
                    <a:bodyPr wrap="square" anchor="ctr">
                      <a:noAutofit/>
                    </a:bodyPr>
                    <a:lstStyle/>
                    <a:p>
                      <a:pPr algn="l"/>
                      <a:r>
                        <a:rPr sz="1400" b="1" i="0">
                          <a:solidFill>
                            <a:srgbClr val="FFFFFF"/>
                          </a:solidFill>
                          <a:latin typeface="Arial"/>
                        </a:rPr>
                        <a:t>Input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Why it matters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Source</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Model, version, deployment type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Price, throughput per PTU, processing boundary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AI tower</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Input, output, cached, reasoning tokens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Price per token type; PTU weighting</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Gateway and deployment metrics</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Context length</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Prompt size and KV cache memory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Application design</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Concurrency and arrival pattern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Peak sizing and overflow share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Gateway logs</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Latency and throughput targets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Whether PTU or GPU is needed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Workload owner</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Agent loops, retries, tool calls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Calls per useful task</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Traces (offering 02)</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Peak demand and resilience headroom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Capacity margin and second region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Workload owner, AI</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Quota versus deployable capacity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Whether the plan can be deployed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Portal or capacity API</a:t>
                      </a:r>
                    </a:p>
                  </a:txBody>
                  <a:tcPr marL="73152" marR="73152" marT="36576" marB="36576" anchor="ctr">
                    <a:solidFill>
                      <a:srgbClr val="F5F5F2"/>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loops, retries and tool calls multiply tokens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sp>
        <p:nvSpPr>
          <p:cNvPr id="8" name="Rounded Rectangle 7"/>
          <p:cNvSpPr/>
          <p:nvPr/>
        </p:nvSpPr>
        <p:spPr>
          <a:xfrm>
            <a:off x="548640" y="1554480"/>
            <a:ext cx="2560320"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3200" b="1" i="0">
                <a:solidFill>
                  <a:srgbClr val="000048"/>
                </a:solidFill>
                <a:latin typeface="Arial"/>
              </a:rPr>
              <a:t>1 task</a:t>
            </a:r>
          </a:p>
          <a:p>
            <a:pPr algn="ctr"/>
            <a:r>
              <a:rPr sz="1500" b="0" i="0">
                <a:solidFill>
                  <a:srgbClr val="53565A"/>
                </a:solidFill>
                <a:latin typeface="Arial"/>
              </a:rPr>
              <a:t>user request</a:t>
            </a:r>
          </a:p>
        </p:txBody>
      </p:sp>
      <p:cxnSp>
        <p:nvCxnSpPr>
          <p:cNvPr id="9" name="Connector (flow)"/>
          <p:cNvCxnSpPr/>
          <p:nvPr/>
        </p:nvCxnSpPr>
        <p:spPr>
          <a:xfrm>
            <a:off x="3108960" y="2377440"/>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364992" y="1554480"/>
            <a:ext cx="2560320"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3200" b="1" i="0">
                <a:solidFill>
                  <a:srgbClr val="000048"/>
                </a:solidFill>
                <a:latin typeface="Arial"/>
              </a:rPr>
              <a:t>3 calls</a:t>
            </a:r>
          </a:p>
          <a:p>
            <a:pPr algn="ctr"/>
            <a:r>
              <a:rPr sz="1500" b="0" i="0">
                <a:solidFill>
                  <a:srgbClr val="53565A"/>
                </a:solidFill>
                <a:latin typeface="Arial"/>
              </a:rPr>
              <a:t>agent reasoning loop</a:t>
            </a:r>
          </a:p>
        </p:txBody>
      </p:sp>
      <p:cxnSp>
        <p:nvCxnSpPr>
          <p:cNvPr id="11" name="Connector (flow)"/>
          <p:cNvCxnSpPr/>
          <p:nvPr/>
        </p:nvCxnSpPr>
        <p:spPr>
          <a:xfrm>
            <a:off x="5925312" y="2377440"/>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181344" y="1554480"/>
            <a:ext cx="2560320"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3200" b="1" i="0">
                <a:solidFill>
                  <a:srgbClr val="000048"/>
                </a:solidFill>
                <a:latin typeface="Arial"/>
              </a:rPr>
              <a:t>+5%</a:t>
            </a:r>
          </a:p>
          <a:p>
            <a:pPr algn="ctr"/>
            <a:r>
              <a:rPr sz="1500" b="0" i="0">
                <a:solidFill>
                  <a:srgbClr val="53565A"/>
                </a:solidFill>
                <a:latin typeface="Arial"/>
              </a:rPr>
              <a:t>retries</a:t>
            </a:r>
          </a:p>
        </p:txBody>
      </p:sp>
      <p:cxnSp>
        <p:nvCxnSpPr>
          <p:cNvPr id="13" name="Connector (flow)"/>
          <p:cNvCxnSpPr/>
          <p:nvPr/>
        </p:nvCxnSpPr>
        <p:spPr>
          <a:xfrm>
            <a:off x="8741663" y="2377440"/>
            <a:ext cx="256033"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997696" y="1554480"/>
            <a:ext cx="2560320"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3200" b="1" i="0">
                <a:solidFill>
                  <a:srgbClr val="000048"/>
                </a:solidFill>
                <a:latin typeface="Arial"/>
              </a:rPr>
              <a:t>3.15 calls</a:t>
            </a:r>
          </a:p>
          <a:p>
            <a:pPr algn="ctr"/>
            <a:r>
              <a:rPr sz="1500" b="0" i="0">
                <a:solidFill>
                  <a:srgbClr val="53565A"/>
                </a:solidFill>
                <a:latin typeface="Arial"/>
              </a:rPr>
              <a:t>per useful task</a:t>
            </a:r>
          </a:p>
        </p:txBody>
      </p:sp>
      <p:sp>
        <p:nvSpPr>
          <p:cNvPr id="15" name="TextBox 14"/>
          <p:cNvSpPr txBox="1"/>
          <p:nvPr/>
        </p:nvSpPr>
        <p:spPr>
          <a:xfrm>
            <a:off x="548640" y="3566160"/>
            <a:ext cx="11064240" cy="1097280"/>
          </a:xfrm>
          <a:prstGeom prst="rect">
            <a:avLst/>
          </a:prstGeom>
          <a:noFill/>
        </p:spPr>
        <p:txBody>
          <a:bodyPr wrap="square" lIns="0" rIns="0" tIns="0" bIns="0" anchor="t">
            <a:noAutofit/>
          </a:bodyPr>
          <a:lstStyle/>
          <a:p>
            <a:pPr algn="l"/>
            <a:r>
              <a:rPr sz="1800" b="0" i="0">
                <a:solidFill>
                  <a:srgbClr val="1E1E2E"/>
                </a:solidFill>
                <a:latin typeface="Arial"/>
              </a:rPr>
              <a:t>At the example’s prices each call costs about $0.0099, so a task costs about $0.0311. Tool results added to the context make later calls larger still.</a:t>
            </a:r>
          </a:p>
        </p:txBody>
      </p:sp>
      <p:sp>
        <p:nvSpPr>
          <p:cNvPr id="16" name="Rounded Rectangle 15"/>
          <p:cNvSpPr/>
          <p:nvPr/>
        </p:nvSpPr>
        <p:spPr>
          <a:xfrm>
            <a:off x="548640" y="493776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Cost per useful task, not cost per call, is the unit leaders should track.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Quota, capacity and reservations are different things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sp>
        <p:nvSpPr>
          <p:cNvPr id="9" name="Rounded Rectangle 8"/>
          <p:cNvSpPr/>
          <p:nvPr/>
        </p:nvSpPr>
        <p:spPr>
          <a:xfrm>
            <a:off x="548640" y="141732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Quota</a:t>
            </a:r>
          </a:p>
        </p:txBody>
      </p:sp>
      <p:sp>
        <p:nvSpPr>
          <p:cNvPr id="10" name="TextBox 9"/>
          <p:cNvSpPr txBox="1"/>
          <p:nvPr/>
        </p:nvSpPr>
        <p:spPr>
          <a:xfrm>
            <a:off x="548640" y="2148840"/>
            <a:ext cx="3593592" cy="2011680"/>
          </a:xfrm>
          <a:prstGeom prst="rect">
            <a:avLst/>
          </a:prstGeom>
          <a:noFill/>
        </p:spPr>
        <p:txBody>
          <a:bodyPr wrap="square" lIns="0" rIns="0" tIns="0" bIns="0" anchor="t">
            <a:noAutofit/>
          </a:bodyPr>
          <a:lstStyle/>
          <a:p>
            <a:pPr algn="l"/>
            <a:r>
              <a:rPr sz="1700" b="0" i="0">
                <a:solidFill>
                  <a:srgbClr val="1E1E2E"/>
                </a:solidFill>
                <a:latin typeface="Arial"/>
              </a:rPr>
              <a:t>Policy limit per subscription, region and deployment type. No cost. Does not guarantee capacity.</a:t>
            </a:r>
          </a:p>
        </p:txBody>
      </p:sp>
      <p:sp>
        <p:nvSpPr>
          <p:cNvPr id="11" name="Rounded Rectangle 10"/>
          <p:cNvSpPr/>
          <p:nvPr/>
        </p:nvSpPr>
        <p:spPr>
          <a:xfrm>
            <a:off x="4297679" y="141732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Capacity</a:t>
            </a:r>
          </a:p>
        </p:txBody>
      </p:sp>
      <p:sp>
        <p:nvSpPr>
          <p:cNvPr id="12" name="TextBox 11"/>
          <p:cNvSpPr txBox="1"/>
          <p:nvPr/>
        </p:nvSpPr>
        <p:spPr>
          <a:xfrm>
            <a:off x="4297679" y="2148840"/>
            <a:ext cx="3593592" cy="2011680"/>
          </a:xfrm>
          <a:prstGeom prst="rect">
            <a:avLst/>
          </a:prstGeom>
          <a:noFill/>
        </p:spPr>
        <p:txBody>
          <a:bodyPr wrap="square" lIns="0" rIns="0" tIns="0" bIns="0" anchor="t">
            <a:noAutofit/>
          </a:bodyPr>
          <a:lstStyle/>
          <a:p>
            <a:pPr algn="l"/>
            <a:r>
              <a:rPr sz="1700" b="0" i="0">
                <a:solidFill>
                  <a:srgbClr val="1E1E2E"/>
                </a:solidFill>
                <a:latin typeface="Arial"/>
              </a:rPr>
              <a:t>PTUs actually available for a model version, allocated at deployment and held while it exists.</a:t>
            </a:r>
          </a:p>
        </p:txBody>
      </p:sp>
      <p:sp>
        <p:nvSpPr>
          <p:cNvPr id="13" name="Rounded Rectangle 12"/>
          <p:cNvSpPr/>
          <p:nvPr/>
        </p:nvSpPr>
        <p:spPr>
          <a:xfrm>
            <a:off x="8046719" y="141732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Reservation</a:t>
            </a:r>
          </a:p>
        </p:txBody>
      </p:sp>
      <p:sp>
        <p:nvSpPr>
          <p:cNvPr id="14" name="TextBox 13"/>
          <p:cNvSpPr txBox="1"/>
          <p:nvPr/>
        </p:nvSpPr>
        <p:spPr>
          <a:xfrm>
            <a:off x="8046719" y="2148840"/>
            <a:ext cx="3593592" cy="2011680"/>
          </a:xfrm>
          <a:prstGeom prst="rect">
            <a:avLst/>
          </a:prstGeom>
          <a:noFill/>
        </p:spPr>
        <p:txBody>
          <a:bodyPr wrap="square" lIns="0" rIns="0" tIns="0" bIns="0" anchor="t">
            <a:noAutofit/>
          </a:bodyPr>
          <a:lstStyle/>
          <a:p>
            <a:pPr algn="l"/>
            <a:r>
              <a:rPr sz="1700" b="0" i="0">
                <a:solidFill>
                  <a:srgbClr val="1E1E2E"/>
                </a:solidFill>
                <a:latin typeface="Arial"/>
              </a:rPr>
              <a:t>Billing discount for a 1-month or 1-year term. Does not guarantee capacity. Separate for Global, Data Zone, Regional.</a:t>
            </a:r>
          </a:p>
        </p:txBody>
      </p:sp>
      <p:sp>
        <p:nvSpPr>
          <p:cNvPr id="15" name="Rounded Rectangle 14"/>
          <p:cNvSpPr/>
          <p:nvPr/>
        </p:nvSpPr>
        <p:spPr>
          <a:xfrm>
            <a:off x="548640" y="438912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Order matters: confirm quota, create the deployment to secure capacity, then buy the reservation.</a:t>
            </a:r>
          </a:p>
        </p:txBody>
      </p:sp>
      <p:sp>
        <p:nvSpPr>
          <p:cNvPr id="16" name="Rounded Rectangle 15"/>
          <p:cNvSpPr/>
          <p:nvPr/>
        </p:nvSpPr>
        <p:spPr>
          <a:xfrm>
            <a:off x="548640" y="51206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Scaling down releases capacity; there is no guarantee it can be regained later.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PTU sizing method and current parameters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sp>
        <p:nvSpPr>
          <p:cNvPr id="9" name="TextBox 8"/>
          <p:cNvSpPr txBox="1"/>
          <p:nvPr/>
        </p:nvSpPr>
        <p:spPr>
          <a:xfrm>
            <a:off x="548640" y="1371600"/>
            <a:ext cx="11064240" cy="1188720"/>
          </a:xfrm>
          <a:prstGeom prst="rect">
            <a:avLst/>
          </a:prstGeom>
          <a:noFill/>
        </p:spPr>
        <p:txBody>
          <a:bodyPr wrap="square" lIns="0" rIns="0" tIns="0" bIns="0" anchor="t">
            <a:noAutofit/>
          </a:bodyPr>
          <a:lstStyle/>
          <a:p>
            <a:pPr algn="l">
              <a:spcAft>
                <a:spcPts val="600"/>
              </a:spcAft>
            </a:pPr>
            <a:r>
              <a:rPr sz="1700" b="1" i="0">
                <a:solidFill>
                  <a:srgbClr val="000048"/>
                </a:solidFill>
                <a:latin typeface="Arial"/>
              </a:rPr>
              <a:t>Normalised TPM</a:t>
            </a:r>
            <a:r>
              <a:rPr sz="1700" b="0" i="0">
                <a:solidFill>
                  <a:srgbClr val="1E1E2E"/>
                </a:solidFill>
                <a:latin typeface="Arial"/>
              </a:rPr>
              <a:t> = input TPM x (1 − cache rate) + output-to-input ratio x output TPM</a:t>
            </a:r>
          </a:p>
          <a:p>
            <a:pPr algn="l"/>
            <a:r>
              <a:rPr sz="1700" b="1" i="0">
                <a:solidFill>
                  <a:srgbClr val="000048"/>
                </a:solidFill>
                <a:latin typeface="Arial"/>
              </a:rPr>
              <a:t>PTUs</a:t>
            </a:r>
            <a:r>
              <a:rPr sz="1700" b="0" i="0">
                <a:solidFill>
                  <a:srgbClr val="1E1E2E"/>
                </a:solidFill>
                <a:latin typeface="Arial"/>
              </a:rPr>
              <a:t> = normalised TPM ÷ input TPM per PTU, rounded up to the increment (and at least the minimum)</a:t>
            </a:r>
          </a:p>
        </p:txBody>
      </p:sp>
      <p:graphicFrame>
        <p:nvGraphicFramePr>
          <p:cNvPr id="10" name="Table"/>
          <p:cNvGraphicFramePr>
            <a:graphicFrameLocks noGrp="1"/>
          </p:cNvGraphicFramePr>
          <p:nvPr/>
        </p:nvGraphicFramePr>
        <p:xfrm>
          <a:off x="548640" y="2697480"/>
          <a:ext cx="11091672" cy="2316480"/>
        </p:xfrm>
        <a:graphic>
          <a:graphicData uri="http://schemas.openxmlformats.org/drawingml/2006/table">
            <a:tbl>
              <a:tblPr firstRow="1" bandRow="0">
                <a:tableStyleId>{5C22544A-7EE6-4342-B048-85BDC9FD1C3A}</a:tableStyleId>
              </a:tblPr>
              <a:tblGrid>
                <a:gridCol w="2743200"/>
                <a:gridCol w="2651760"/>
                <a:gridCol w="2011680"/>
                <a:gridCol w="1828800"/>
                <a:gridCol w="1856232"/>
              </a:tblGrid>
              <a:tr h="487680">
                <a:tc>
                  <a:txBody>
                    <a:bodyPr wrap="square" anchor="ctr">
                      <a:noAutofit/>
                    </a:bodyPr>
                    <a:lstStyle/>
                    <a:p>
                      <a:pPr algn="l"/>
                      <a:r>
                        <a:rPr sz="1300" b="1" i="0">
                          <a:solidFill>
                            <a:srgbClr val="FFFFFF"/>
                          </a:solidFill>
                          <a:latin typeface="Arial"/>
                        </a:rPr>
                        <a:t>Model (version)</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Global / Data Zone min, increment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Regional min, increment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Input TPM per PTU</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1 output token =</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gpt-5.4 (2026-03-05)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50, 50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2,400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6 input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gpt-4.1 (2025-04-14)</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50, 25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3,000</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4 input</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gpt-4.1-mini (2025-04-14)</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25, 25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14,900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4 input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gpt-5 (2025-08-07)</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50, 50</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4,750</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8 input</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gpt-5-mini (2025-08-07)</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25, 25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23,750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8 input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o4-mini (2025-04-16)</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25, 25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5,400</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4 input</a:t>
                      </a:r>
                    </a:p>
                  </a:txBody>
                  <a:tcPr marL="73152" marR="73152" marT="36576" marB="36576" anchor="ctr">
                    <a:solidFill>
                      <a:srgbClr val="F5F5F2"/>
                    </a:solidFill>
                  </a:tcPr>
                </a:tc>
              </a:tr>
            </a:tbl>
          </a:graphicData>
        </a:graphic>
      </p:graphicFrame>
      <p:sp>
        <p:nvSpPr>
          <p:cNvPr id="11" name="Rounded Rectangle 10"/>
          <p:cNvSpPr/>
          <p:nvPr/>
        </p:nvSpPr>
        <p:spPr>
          <a:xfrm>
            <a:off x="548640" y="53492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Benchmark with representative traffic before any commitment. A PTU is not a fixed number of GPUs.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Commitment and model-lifecycle risk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graphicFrame>
        <p:nvGraphicFramePr>
          <p:cNvPr id="9" name="Table"/>
          <p:cNvGraphicFramePr>
            <a:graphicFrameLocks noGrp="1"/>
          </p:cNvGraphicFramePr>
          <p:nvPr/>
        </p:nvGraphicFramePr>
        <p:xfrm>
          <a:off x="548640" y="1371600"/>
          <a:ext cx="11091672" cy="2453640"/>
        </p:xfrm>
        <a:graphic>
          <a:graphicData uri="http://schemas.openxmlformats.org/drawingml/2006/table">
            <a:tbl>
              <a:tblPr firstRow="1" bandRow="0">
                <a:tableStyleId>{5C22544A-7EE6-4342-B048-85BDC9FD1C3A}</a:tableStyleId>
              </a:tblPr>
              <a:tblGrid>
                <a:gridCol w="2743200"/>
                <a:gridCol w="1828800"/>
                <a:gridCol w="1828800"/>
                <a:gridCol w="4690872"/>
              </a:tblGrid>
              <a:tr h="304800">
                <a:tc>
                  <a:txBody>
                    <a:bodyPr wrap="square" anchor="ctr">
                      <a:noAutofit/>
                    </a:bodyPr>
                    <a:lstStyle/>
                    <a:p>
                      <a:pPr algn="l"/>
                      <a:r>
                        <a:rPr sz="1400" b="1" i="0">
                          <a:solidFill>
                            <a:srgbClr val="FFFFFF"/>
                          </a:solidFill>
                          <a:latin typeface="Arial"/>
                        </a:rPr>
                        <a:t>Model (version)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Lifecycle status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Retirement date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Implication for a 1-year reservation bought now</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gpt-5.6</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2028-01-11</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Outlasts a 1-year term bought in October 2026</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gpt-5.4 (2026-03-05)</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GA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2027-09-02</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Retires before a 1-year term ends</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gpt-4.1 (2025-04-14)</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Deprecated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2027-04-14</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Model retires before term ends; re-size on successor</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gpt-4.1-mini (2025-04-14)</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Deprecated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2027-04-14</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Same</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gpt-5 (2025-08-07)</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2027-02-09</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Retires before term ends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gpt-4o (2024-11-20)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Legacy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2027-04-14</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Replacement listed: gpt-5.1</a:t>
                      </a:r>
                    </a:p>
                  </a:txBody>
                  <a:tcPr marL="73152" marR="73152" marT="36576" marB="36576" anchor="ctr">
                    <a:solidFill>
                      <a:srgbClr val="F5F5F2"/>
                    </a:solidFill>
                  </a:tcPr>
                </a:tc>
              </a:tr>
            </a:tbl>
          </a:graphicData>
        </a:graphic>
      </p:graphicFrame>
      <p:sp>
        <p:nvSpPr>
          <p:cNvPr id="10" name="Rounded Rectangle 9"/>
          <p:cNvSpPr/>
          <p:nvPr/>
        </p:nvSpPr>
        <p:spPr>
          <a:xfrm>
            <a:off x="548640" y="402336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Provisioned deployments are not auto-upgraded. Budget a migration and re-benchmark inside any commitment term.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Reservation coverage versus actual utilisation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sp>
        <p:nvSpPr>
          <p:cNvPr id="8" name="Rounded Rectangle 7"/>
          <p:cNvSpPr/>
          <p:nvPr/>
        </p:nvSpPr>
        <p:spPr>
          <a:xfrm>
            <a:off x="548640"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800"/>
              </a:spcAft>
            </a:pPr>
            <a:r>
              <a:rPr sz="2100" b="1" i="0">
                <a:solidFill>
                  <a:srgbClr val="000048"/>
                </a:solidFill>
                <a:latin typeface="Arial"/>
              </a:rPr>
              <a:t>Coverage</a:t>
            </a:r>
          </a:p>
          <a:p>
            <a:pPr algn="l">
              <a:spcAft>
                <a:spcPts val="1000"/>
              </a:spcAft>
            </a:pPr>
            <a:r>
              <a:rPr sz="1600" b="1" i="0">
                <a:solidFill>
                  <a:srgbClr val="2F78C4"/>
                </a:solidFill>
                <a:latin typeface="Arial"/>
              </a:rPr>
              <a:t>Reserved PTUs ÷ deployed PTUs</a:t>
            </a:r>
          </a:p>
          <a:p>
            <a:pPr algn="l"/>
            <a:r>
              <a:rPr sz="1600" b="0" i="0">
                <a:solidFill>
                  <a:srgbClr val="1E1E2E"/>
                </a:solidFill>
                <a:latin typeface="Arial"/>
              </a:rPr>
              <a:t>Low: paying hourly list for PTUs that could be reserved</a:t>
            </a:r>
          </a:p>
        </p:txBody>
      </p:sp>
      <p:sp>
        <p:nvSpPr>
          <p:cNvPr id="9" name="Rounded Rectangle 8"/>
          <p:cNvSpPr/>
          <p:nvPr/>
        </p:nvSpPr>
        <p:spPr>
          <a:xfrm>
            <a:off x="4297679"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800"/>
              </a:spcAft>
            </a:pPr>
            <a:r>
              <a:rPr sz="2100" b="1" i="0">
                <a:solidFill>
                  <a:srgbClr val="000048"/>
                </a:solidFill>
                <a:latin typeface="Arial"/>
              </a:rPr>
              <a:t>Utilisation</a:t>
            </a:r>
          </a:p>
          <a:p>
            <a:pPr algn="l">
              <a:spcAft>
                <a:spcPts val="1000"/>
              </a:spcAft>
            </a:pPr>
            <a:r>
              <a:rPr sz="1600" b="1" i="0">
                <a:solidFill>
                  <a:srgbClr val="2F78C4"/>
                </a:solidFill>
                <a:latin typeface="Arial"/>
              </a:rPr>
              <a:t>Normalised tokens used ÷ PTU capacity</a:t>
            </a:r>
          </a:p>
          <a:p>
            <a:pPr algn="l"/>
            <a:r>
              <a:rPr sz="1600" b="0" i="0">
                <a:solidFill>
                  <a:srgbClr val="1E1E2E"/>
                </a:solidFill>
                <a:latin typeface="Arial"/>
              </a:rPr>
              <a:t>Low: paying for idle capacity, reserved or not</a:t>
            </a:r>
          </a:p>
        </p:txBody>
      </p:sp>
      <p:sp>
        <p:nvSpPr>
          <p:cNvPr id="10" name="Rounded Rectangle 9"/>
          <p:cNvSpPr/>
          <p:nvPr/>
        </p:nvSpPr>
        <p:spPr>
          <a:xfrm>
            <a:off x="8046719"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800"/>
              </a:spcAft>
            </a:pPr>
            <a:r>
              <a:rPr sz="2100" b="1" i="0">
                <a:solidFill>
                  <a:srgbClr val="000048"/>
                </a:solidFill>
                <a:latin typeface="Arial"/>
              </a:rPr>
              <a:t>Overflow share</a:t>
            </a:r>
          </a:p>
          <a:p>
            <a:pPr algn="l">
              <a:spcAft>
                <a:spcPts val="1000"/>
              </a:spcAft>
            </a:pPr>
            <a:r>
              <a:rPr sz="1600" b="1" i="0">
                <a:solidFill>
                  <a:srgbClr val="2F78C4"/>
                </a:solidFill>
                <a:latin typeface="Arial"/>
              </a:rPr>
              <a:t>Tokens served by PAYG ÷ total</a:t>
            </a:r>
          </a:p>
          <a:p>
            <a:pPr algn="l"/>
            <a:r>
              <a:rPr sz="1600" b="0" i="0">
                <a:solidFill>
                  <a:srgbClr val="1E1E2E"/>
                </a:solidFill>
                <a:latin typeface="Arial"/>
              </a:rPr>
              <a:t>High: baseline undersized or peaks unmanaged</a:t>
            </a:r>
          </a:p>
        </p:txBody>
      </p:sp>
      <p:sp>
        <p:nvSpPr>
          <p:cNvPr id="11" name="Rounded Rectangle 10"/>
          <p:cNvSpPr/>
          <p:nvPr/>
        </p:nvSpPr>
        <p:spPr>
          <a:xfrm>
            <a:off x="548640" y="475488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Report all three monthly. A single coverage number hides idle capacity.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Worked example inputs: verified prices, assumed load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ASSUMED WORKLOAD"/>
          <p:cNvSpPr/>
          <p:nvPr/>
        </p:nvSpPr>
        <p:spPr>
          <a:xfrm>
            <a:off x="189865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ASSUMED WORKLOAD</a:t>
            </a:r>
          </a:p>
        </p:txBody>
      </p:sp>
      <p:sp>
        <p:nvSpPr>
          <p:cNvPr id="6" name="Status chip: VERIFIED PRICES"/>
          <p:cNvSpPr/>
          <p:nvPr/>
        </p:nvSpPr>
        <p:spPr>
          <a:xfrm>
            <a:off x="3646170" y="274320"/>
            <a:ext cx="156972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PRICES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graphicFrame>
        <p:nvGraphicFramePr>
          <p:cNvPr id="10" name="Table"/>
          <p:cNvGraphicFramePr>
            <a:graphicFrameLocks noGrp="1"/>
          </p:cNvGraphicFramePr>
          <p:nvPr/>
        </p:nvGraphicFramePr>
        <p:xfrm>
          <a:off x="548640" y="1371600"/>
          <a:ext cx="11091672" cy="3048000"/>
        </p:xfrm>
        <a:graphic>
          <a:graphicData uri="http://schemas.openxmlformats.org/drawingml/2006/table">
            <a:tbl>
              <a:tblPr firstRow="1" bandRow="0">
                <a:tableStyleId>{5C22544A-7EE6-4342-B048-85BDC9FD1C3A}</a:tableStyleId>
              </a:tblPr>
              <a:tblGrid>
                <a:gridCol w="3108960"/>
                <a:gridCol w="5120640"/>
                <a:gridCol w="2862072"/>
              </a:tblGrid>
              <a:tr h="304800">
                <a:tc>
                  <a:txBody>
                    <a:bodyPr wrap="square" anchor="ctr">
                      <a:noAutofit/>
                    </a:bodyPr>
                    <a:lstStyle/>
                    <a:p>
                      <a:pPr algn="l"/>
                      <a:r>
                        <a:rPr sz="1400" b="1" i="0">
                          <a:solidFill>
                            <a:srgbClr val="FFFFFF"/>
                          </a:solidFill>
                          <a:latin typeface="Arial"/>
                        </a:rPr>
                        <a:t>Input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Value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Status</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Model and deployment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gpt-5.4, Global Standard or Global Provisioned</a:t>
                      </a:r>
                    </a:p>
                  </a:txBody>
                  <a:tcPr marL="73152" marR="73152" marT="36576" marB="36576" anchor="ctr">
                    <a:solidFill>
                      <a:srgbClr val="FFFFFF"/>
                    </a:solidFill>
                  </a:tcPr>
                </a:tc>
                <a:tc>
                  <a:txBody>
                    <a:bodyPr wrap="square" anchor="ctr">
                      <a:noAutofit/>
                    </a:bodyPr>
                    <a:lstStyle/>
                    <a:p>
                      <a:pPr algn="l"/>
                      <a:r>
                        <a:rPr sz="1400" b="1" i="0">
                          <a:solidFill>
                            <a:srgbClr val="8A4B08"/>
                          </a:solidFill>
                          <a:latin typeface="Arial"/>
                        </a:rPr>
                        <a:t>Assumed choice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Input / cached / output price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$2.50 / $0.25 / $15.00 per 1M tokens</a:t>
                      </a:r>
                    </a:p>
                  </a:txBody>
                  <a:tcPr marL="73152" marR="73152" marT="36576" marB="36576" anchor="ctr">
                    <a:solidFill>
                      <a:srgbClr val="F5F5F2"/>
                    </a:solidFill>
                  </a:tcPr>
                </a:tc>
                <a:tc>
                  <a:txBody>
                    <a:bodyPr wrap="square" anchor="ctr">
                      <a:noAutofit/>
                    </a:bodyPr>
                    <a:lstStyle/>
                    <a:p>
                      <a:pPr algn="l"/>
                      <a:r>
                        <a:rPr sz="1400" b="1" i="0">
                          <a:solidFill>
                            <a:srgbClr val="1D6B3A"/>
                          </a:solidFill>
                          <a:latin typeface="Arial"/>
                        </a:rPr>
                        <a:t>Verified list</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Provisioned hourly price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$1.00 per PTU-hour Global ($730 per PTU-month)</a:t>
                      </a:r>
                    </a:p>
                  </a:txBody>
                  <a:tcPr marL="73152" marR="73152" marT="36576" marB="36576" anchor="ctr">
                    <a:solidFill>
                      <a:srgbClr val="FFFFFF"/>
                    </a:solidFill>
                  </a:tcPr>
                </a:tc>
                <a:tc>
                  <a:txBody>
                    <a:bodyPr wrap="square" anchor="ctr">
                      <a:noAutofit/>
                    </a:bodyPr>
                    <a:lstStyle/>
                    <a:p>
                      <a:pPr algn="l"/>
                      <a:r>
                        <a:rPr sz="1400" b="1" i="0">
                          <a:solidFill>
                            <a:srgbClr val="1D6B3A"/>
                          </a:solidFill>
                          <a:latin typeface="Arial"/>
                        </a:rPr>
                        <a:t>Verified list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PTU parameters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min 15, increment 5, 2,400 input TPM per PTU, output x6</a:t>
                      </a:r>
                    </a:p>
                  </a:txBody>
                  <a:tcPr marL="73152" marR="73152" marT="36576" marB="36576" anchor="ctr">
                    <a:solidFill>
                      <a:srgbClr val="F5F5F2"/>
                    </a:solidFill>
                  </a:tcPr>
                </a:tc>
                <a:tc>
                  <a:txBody>
                    <a:bodyPr wrap="square" anchor="ctr">
                      <a:noAutofit/>
                    </a:bodyPr>
                    <a:lstStyle/>
                    <a:p>
                      <a:pPr algn="l"/>
                      <a:r>
                        <a:rPr sz="1400" b="1" i="0">
                          <a:solidFill>
                            <a:srgbClr val="1D6B3A"/>
                          </a:solidFill>
                          <a:latin typeface="Arial"/>
                        </a:rPr>
                        <a:t>Verified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Tasks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100 per minute average</a:t>
                      </a:r>
                    </a:p>
                  </a:txBody>
                  <a:tcPr marL="73152" marR="73152" marT="36576" marB="36576" anchor="ctr">
                    <a:solidFill>
                      <a:srgbClr val="FFFFFF"/>
                    </a:solidFill>
                  </a:tcPr>
                </a:tc>
                <a:tc>
                  <a:txBody>
                    <a:bodyPr wrap="square" anchor="ctr">
                      <a:noAutofit/>
                    </a:bodyPr>
                    <a:lstStyle/>
                    <a:p>
                      <a:pPr algn="l"/>
                      <a:r>
                        <a:rPr sz="1400" b="1" i="0">
                          <a:solidFill>
                            <a:srgbClr val="8A4B08"/>
                          </a:solidFill>
                          <a:latin typeface="Arial"/>
                        </a:rPr>
                        <a:t>Assumed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Calls per task</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3 model calls plus 5% retries</a:t>
                      </a:r>
                    </a:p>
                  </a:txBody>
                  <a:tcPr marL="73152" marR="73152" marT="36576" marB="36576" anchor="ctr">
                    <a:solidFill>
                      <a:srgbClr val="F5F5F2"/>
                    </a:solidFill>
                  </a:tcPr>
                </a:tc>
                <a:tc>
                  <a:txBody>
                    <a:bodyPr wrap="square" anchor="ctr">
                      <a:noAutofit/>
                    </a:bodyPr>
                    <a:lstStyle/>
                    <a:p>
                      <a:pPr algn="l"/>
                      <a:r>
                        <a:rPr sz="1400" b="1" i="0">
                          <a:solidFill>
                            <a:srgbClr val="8A4B08"/>
                          </a:solidFill>
                          <a:latin typeface="Arial"/>
                        </a:rPr>
                        <a:t>Assumed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Tokens per call</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2,000 input (25% cached), 400 output</a:t>
                      </a:r>
                    </a:p>
                  </a:txBody>
                  <a:tcPr marL="73152" marR="73152" marT="36576" marB="36576" anchor="ctr">
                    <a:solidFill>
                      <a:srgbClr val="FFFFFF"/>
                    </a:solidFill>
                  </a:tcPr>
                </a:tc>
                <a:tc>
                  <a:txBody>
                    <a:bodyPr wrap="square" anchor="ctr">
                      <a:noAutofit/>
                    </a:bodyPr>
                    <a:lstStyle/>
                    <a:p>
                      <a:pPr algn="l"/>
                      <a:r>
                        <a:rPr sz="1400" b="1" i="0">
                          <a:solidFill>
                            <a:srgbClr val="8A4B08"/>
                          </a:solidFill>
                          <a:latin typeface="Arial"/>
                        </a:rPr>
                        <a:t>Assumed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Daily profile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Peak 1.66x mean in business hours; night 0.31x</a:t>
                      </a:r>
                    </a:p>
                  </a:txBody>
                  <a:tcPr marL="73152" marR="73152" marT="36576" marB="36576" anchor="ctr">
                    <a:solidFill>
                      <a:srgbClr val="F5F5F2"/>
                    </a:solidFill>
                  </a:tcPr>
                </a:tc>
                <a:tc>
                  <a:txBody>
                    <a:bodyPr wrap="square" anchor="ctr">
                      <a:noAutofit/>
                    </a:bodyPr>
                    <a:lstStyle/>
                    <a:p>
                      <a:pPr algn="l"/>
                      <a:r>
                        <a:rPr sz="1400" b="1" i="0">
                          <a:solidFill>
                            <a:srgbClr val="8A4B08"/>
                          </a:solidFill>
                          <a:latin typeface="Arial"/>
                        </a:rPr>
                        <a:t>Assumed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PTU reservation price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Not published in retail price API</a:t>
                      </a:r>
                    </a:p>
                  </a:txBody>
                  <a:tcPr marL="73152" marR="73152" marT="36576" marB="36576" anchor="ctr">
                    <a:solidFill>
                      <a:srgbClr val="FFFFFF"/>
                    </a:solidFill>
                  </a:tcPr>
                </a:tc>
                <a:tc>
                  <a:txBody>
                    <a:bodyPr wrap="square" anchor="ctr">
                      <a:noAutofit/>
                    </a:bodyPr>
                    <a:lstStyle/>
                    <a:p>
                      <a:pPr algn="l"/>
                      <a:r>
                        <a:rPr sz="1400" b="1" i="0">
                          <a:solidFill>
                            <a:srgbClr val="A4262C"/>
                          </a:solidFill>
                          <a:latin typeface="Arial"/>
                        </a:rPr>
                        <a:t>Missing: customer agreement</a:t>
                      </a:r>
                    </a:p>
                  </a:txBody>
                  <a:tcPr marL="73152" marR="73152" marT="36576" marB="36576"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Worked example results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Status chip: ILLUSTRATIVE"/>
          <p:cNvSpPr/>
          <p:nvPr/>
        </p:nvSpPr>
        <p:spPr>
          <a:xfrm>
            <a:off x="1898650" y="274320"/>
            <a:ext cx="13106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graphicFrame>
        <p:nvGraphicFramePr>
          <p:cNvPr id="9" name="Table"/>
          <p:cNvGraphicFramePr>
            <a:graphicFrameLocks noGrp="1"/>
          </p:cNvGraphicFramePr>
          <p:nvPr/>
        </p:nvGraphicFramePr>
        <p:xfrm>
          <a:off x="548640" y="1371600"/>
          <a:ext cx="11091672" cy="1478280"/>
        </p:xfrm>
        <a:graphic>
          <a:graphicData uri="http://schemas.openxmlformats.org/drawingml/2006/table">
            <a:tbl>
              <a:tblPr firstRow="1" bandRow="0">
                <a:tableStyleId>{5C22544A-7EE6-4342-B048-85BDC9FD1C3A}</a:tableStyleId>
              </a:tblPr>
              <a:tblGrid>
                <a:gridCol w="2194560"/>
                <a:gridCol w="2651760"/>
                <a:gridCol w="2377440"/>
                <a:gridCol w="2194560"/>
                <a:gridCol w="1673352"/>
              </a:tblGrid>
              <a:tr h="518160">
                <a:tc>
                  <a:txBody>
                    <a:bodyPr wrap="square" anchor="ctr">
                      <a:noAutofit/>
                    </a:bodyPr>
                    <a:lstStyle/>
                    <a:p>
                      <a:pPr algn="l"/>
                      <a:r>
                        <a:rPr sz="1400" b="1" i="0">
                          <a:solidFill>
                            <a:srgbClr val="FFFFFF"/>
                          </a:solidFill>
                          <a:latin typeface="Arial"/>
                        </a:rPr>
                        <a:t>Option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Capacity</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Monthly cost at hourly list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Break-even PTU price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Utilisation</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PAYG only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$136,245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PTU sized to peak</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850 PTU</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$620,500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$160 per PTU-month</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60%</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Hybrid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425 PTU + PAYG overflow</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$357,078</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$210 per PTU-month</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79%</a:t>
                      </a:r>
                    </a:p>
                  </a:txBody>
                  <a:tcPr marL="73152" marR="73152" marT="36576" marB="36576" anchor="ctr">
                    <a:solidFill>
                      <a:srgbClr val="FFFFFF"/>
                    </a:solidFill>
                  </a:tcPr>
                </a:tc>
              </a:tr>
            </a:tbl>
          </a:graphicData>
        </a:graphic>
      </p:graphicFrame>
      <p:sp>
        <p:nvSpPr>
          <p:cNvPr id="10" name="TextBox 9"/>
          <p:cNvSpPr txBox="1"/>
          <p:nvPr/>
        </p:nvSpPr>
        <p:spPr>
          <a:xfrm>
            <a:off x="548640" y="3291840"/>
            <a:ext cx="11064240" cy="1463040"/>
          </a:xfrm>
          <a:prstGeom prst="rect">
            <a:avLst/>
          </a:prstGeom>
          <a:noFill/>
        </p:spPr>
        <p:txBody>
          <a:bodyPr wrap="square" lIns="0" rIns="0" tIns="0" bIns="0" anchor="t">
            <a:noAutofit/>
          </a:bodyPr>
          <a:lstStyle/>
          <a:p>
            <a:pPr algn="l" marL="201168" indent="-201168">
              <a:spcAft>
                <a:spcPts val="600"/>
              </a:spcAft>
              <a:buFont typeface="Arial"/>
              <a:buChar char="•"/>
            </a:pPr>
            <a:r>
              <a:rPr sz="1600" b="0" i="0">
                <a:solidFill>
                  <a:srgbClr val="1E1E2E"/>
                </a:solidFill>
                <a:latin typeface="Arial"/>
              </a:rPr>
              <a:t>Hourly provisioned at list ($730 per PTU-month) costs far more than PAYG here.</a:t>
            </a:r>
          </a:p>
          <a:p>
            <a:pPr algn="l" marL="201168" indent="-201168">
              <a:spcAft>
                <a:spcPts val="600"/>
              </a:spcAft>
              <a:buFont typeface="Arial"/>
              <a:buChar char="•"/>
            </a:pPr>
            <a:r>
              <a:rPr sz="1600" b="0" i="0">
                <a:solidFill>
                  <a:srgbClr val="1E1E2E"/>
                </a:solidFill>
                <a:latin typeface="Arial"/>
              </a:rPr>
              <a:t>Even at 100% utilisation one Global PTU replaces at most $263 of gpt-5.4 PAYG spend a month.</a:t>
            </a:r>
          </a:p>
          <a:p>
            <a:pPr algn="l" marL="201168" indent="-201168">
              <a:spcAft>
                <a:spcPts val="600"/>
              </a:spcAft>
              <a:buFont typeface="Arial"/>
              <a:buChar char="•"/>
            </a:pPr>
            <a:r>
              <a:rPr sz="1600" b="0" i="0">
                <a:solidFill>
                  <a:srgbClr val="1E1E2E"/>
                </a:solidFill>
                <a:latin typeface="Arial"/>
              </a:rPr>
              <a:t>So PTU is justified by latency targets and by a reservation price well below list, not by hourly pricing.</a:t>
            </a:r>
          </a:p>
        </p:txBody>
      </p:sp>
      <p:sp>
        <p:nvSpPr>
          <p:cNvPr id="11" name="Rounded Rectangle 10"/>
          <p:cNvSpPr/>
          <p:nvPr/>
        </p:nvSpPr>
        <p:spPr>
          <a:xfrm>
            <a:off x="548640" y="50292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Illustrative only. Do not use these numbers to recommend a real commitment.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Sensitivity: break-even price rises with utilisation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Status chip: ILLUSTRATIVE"/>
          <p:cNvSpPr/>
          <p:nvPr/>
        </p:nvSpPr>
        <p:spPr>
          <a:xfrm>
            <a:off x="1996440" y="274320"/>
            <a:ext cx="13106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5"/>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graphicFrame>
        <p:nvGraphicFramePr>
          <p:cNvPr id="9" name="Chart"/>
          <p:cNvGraphicFramePr>
            <a:graphicFrameLocks noGrp="1"/>
          </p:cNvGraphicFramePr>
          <p:nvPr/>
        </p:nvGraphicFramePr>
        <p:xfrm>
          <a:off x="548640" y="1371600"/>
          <a:ext cx="7315200" cy="4206240"/>
        </p:xfrm>
        <a:graphic>
          <a:graphicData uri="http://schemas.openxmlformats.org/drawingml/2006/chart">
            <c:chart xmlns:c="http://schemas.openxmlformats.org/drawingml/2006/chart" r:id="rId4"/>
          </a:graphicData>
        </a:graphic>
      </p:graphicFrame>
      <p:sp>
        <p:nvSpPr>
          <p:cNvPr id="10" name="Rounded Rectangle 9"/>
          <p:cNvSpPr/>
          <p:nvPr/>
        </p:nvSpPr>
        <p:spPr>
          <a:xfrm>
            <a:off x="8138160" y="1371600"/>
            <a:ext cx="3502152" cy="4206240"/>
          </a:xfrm>
          <a:prstGeom prst="roundRect">
            <a:avLst>
              <a:gd name="adj" fmla="val 208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800"/>
              </a:spcAft>
            </a:pPr>
            <a:r>
              <a:rPr sz="1700" b="1" i="0">
                <a:solidFill>
                  <a:srgbClr val="000048"/>
                </a:solidFill>
                <a:latin typeface="Arial"/>
              </a:rPr>
              <a:t>Read the chart</a:t>
            </a:r>
          </a:p>
          <a:p>
            <a:pPr algn="l">
              <a:spcAft>
                <a:spcPts val="800"/>
              </a:spcAft>
            </a:pPr>
            <a:r>
              <a:rPr sz="1500" b="0" i="0">
                <a:solidFill>
                  <a:srgbClr val="1E1E2E"/>
                </a:solidFill>
                <a:latin typeface="Arial"/>
              </a:rPr>
              <a:t>At 70% average utilisation a PTU must cost under about </a:t>
            </a:r>
            <a:r>
              <a:rPr sz="1500" b="1" i="0">
                <a:solidFill>
                  <a:srgbClr val="1E1E2E"/>
                </a:solidFill>
                <a:latin typeface="Arial"/>
              </a:rPr>
              <a:t>$184</a:t>
            </a:r>
            <a:r>
              <a:rPr sz="1500" b="0" i="0">
                <a:solidFill>
                  <a:srgbClr val="1E1E2E"/>
                </a:solidFill>
                <a:latin typeface="Arial"/>
              </a:rPr>
              <a:t> a month to beat gpt-5.4 Global PAYG.</a:t>
            </a:r>
          </a:p>
          <a:p>
            <a:pPr algn="l"/>
            <a:r>
              <a:rPr sz="1500" b="0" i="0">
                <a:solidFill>
                  <a:srgbClr val="1E1E2E"/>
                </a:solidFill>
                <a:latin typeface="Arial"/>
              </a:rPr>
              <a:t>Hourly list is $730. The gap must come from the reservation price.</a:t>
            </a:r>
          </a:p>
        </p:txBody>
      </p:sp>
      <p:sp>
        <p:nvSpPr>
          <p:cNvPr id="11" name="Rounded Rectangle 10"/>
          <p:cNvSpPr/>
          <p:nvPr/>
        </p:nvSpPr>
        <p:spPr>
          <a:xfrm>
            <a:off x="548640" y="5760720"/>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Utilisation is average normalised load ÷ capacity. Peak sizing lowers it; hybrid raises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Sensitivity: which assumptions move the answer</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ILLUSTRATIVE"/>
          <p:cNvSpPr/>
          <p:nvPr/>
        </p:nvSpPr>
        <p:spPr>
          <a:xfrm>
            <a:off x="1996440" y="274320"/>
            <a:ext cx="13106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graphicFrame>
        <p:nvGraphicFramePr>
          <p:cNvPr id="9" name="Table"/>
          <p:cNvGraphicFramePr>
            <a:graphicFrameLocks noGrp="1"/>
          </p:cNvGraphicFramePr>
          <p:nvPr/>
        </p:nvGraphicFramePr>
        <p:xfrm>
          <a:off x="548640" y="1371600"/>
          <a:ext cx="11091672" cy="1905000"/>
        </p:xfrm>
        <a:graphic>
          <a:graphicData uri="http://schemas.openxmlformats.org/drawingml/2006/table">
            <a:tbl>
              <a:tblPr firstRow="1" bandRow="0">
                <a:tableStyleId>{5C22544A-7EE6-4342-B048-85BDC9FD1C3A}</a:tableStyleId>
              </a:tblPr>
              <a:tblGrid>
                <a:gridCol w="2743200"/>
                <a:gridCol w="2103120"/>
                <a:gridCol w="2103120"/>
                <a:gridCol w="2011680"/>
                <a:gridCol w="2130552"/>
              </a:tblGrid>
              <a:tr h="304800">
                <a:tc>
                  <a:txBody>
                    <a:bodyPr wrap="square" anchor="ctr">
                      <a:noAutofit/>
                    </a:bodyPr>
                    <a:lstStyle/>
                    <a:p>
                      <a:pPr algn="l"/>
                      <a:r>
                        <a:rPr sz="1400" b="1" i="0">
                          <a:solidFill>
                            <a:srgbClr val="FFFFFF"/>
                          </a:solidFill>
                          <a:latin typeface="Arial"/>
                        </a:rPr>
                        <a:t>Variant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PAYG per month</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PTU peak / hybrid</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Break-even peak</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Break-even hybrid</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Base case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$136,245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850 / 425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$160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$210</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No caching</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$151,767</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960 / 480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$158</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$208</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50% cached input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$120,724</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740 / 370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$163</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$214</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5 calls per task</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$227,076</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1415 / 710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$160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$210</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800 output tokens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$219,027</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1370 / 685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$160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$210</a:t>
                      </a:r>
                    </a:p>
                  </a:txBody>
                  <a:tcPr marL="73152" marR="73152" marT="36576" marB="36576" anchor="ctr">
                    <a:solidFill>
                      <a:srgbClr val="FFFFFF"/>
                    </a:solidFill>
                  </a:tcPr>
                </a:tc>
              </a:tr>
            </a:tbl>
          </a:graphicData>
        </a:graphic>
      </p:graphicFrame>
      <p:sp>
        <p:nvSpPr>
          <p:cNvPr id="10" name="Rounded Rectangle 9"/>
          <p:cNvSpPr/>
          <p:nvPr/>
        </p:nvSpPr>
        <p:spPr>
          <a:xfrm>
            <a:off x="548640" y="420624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Volume changes cost but barely moves break-even. Demand shape and reservation price decide the answer.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Self-hosted GPU inference: what drives capacity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graphicFrame>
        <p:nvGraphicFramePr>
          <p:cNvPr id="9" name="Table"/>
          <p:cNvGraphicFramePr>
            <a:graphicFrameLocks noGrp="1"/>
          </p:cNvGraphicFramePr>
          <p:nvPr/>
        </p:nvGraphicFramePr>
        <p:xfrm>
          <a:off x="548640" y="1371600"/>
          <a:ext cx="11091672" cy="2560320"/>
        </p:xfrm>
        <a:graphic>
          <a:graphicData uri="http://schemas.openxmlformats.org/drawingml/2006/table">
            <a:tbl>
              <a:tblPr firstRow="1" bandRow="0">
                <a:tableStyleId>{5C22544A-7EE6-4342-B048-85BDC9FD1C3A}</a:tableStyleId>
              </a:tblPr>
              <a:tblGrid>
                <a:gridCol w="3291840"/>
                <a:gridCol w="7799832"/>
              </a:tblGrid>
              <a:tr h="320040">
                <a:tc>
                  <a:txBody>
                    <a:bodyPr wrap="square" anchor="ctr">
                      <a:noAutofit/>
                    </a:bodyPr>
                    <a:lstStyle/>
                    <a:p>
                      <a:pPr algn="l"/>
                      <a:r>
                        <a:rPr sz="1500" b="1" i="0">
                          <a:solidFill>
                            <a:srgbClr val="FFFFFF"/>
                          </a:solidFill>
                          <a:latin typeface="Arial"/>
                        </a:rPr>
                        <a:t>Factor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Why it matters</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GPU memory and KV cache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Model weights plus per-request cache limit concurrency and context length</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Precision and quantisation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Lower precision fits more but can change quality</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Batching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Raises throughput, adds latency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GPU SKU and interconnect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ND H100 v5: 8 x H100 80 GB, NVLink 4.0, 3.2 Tbps InfiniBand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Replicas and availability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N+1 for maintenance and failure; regional capacity varies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Serving stack and licences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Inference server, model licence terms, support</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Patching and engineering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Drivers, images, security fixes, upgrades: ongoing effort</a:t>
                      </a:r>
                    </a:p>
                  </a:txBody>
                  <a:tcPr marL="73152" marR="73152" marT="36576" marB="36576" anchor="ctr">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Self-hosted GPU: break-even throughput, not GPU count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Status chip: VERIFIED VM PRICE"/>
          <p:cNvSpPr/>
          <p:nvPr/>
        </p:nvSpPr>
        <p:spPr>
          <a:xfrm>
            <a:off x="1996440" y="274320"/>
            <a:ext cx="174244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VM PRICE</a:t>
            </a:r>
          </a:p>
        </p:txBody>
      </p:sp>
      <p:sp>
        <p:nvSpPr>
          <p:cNvPr id="6" name="Status chip: ILLUSTRATIVE COMPARISON"/>
          <p:cNvSpPr/>
          <p:nvPr/>
        </p:nvSpPr>
        <p:spPr>
          <a:xfrm>
            <a:off x="3830320" y="274320"/>
            <a:ext cx="226060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 COMPARISON</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graphicFrame>
        <p:nvGraphicFramePr>
          <p:cNvPr id="10" name="Table"/>
          <p:cNvGraphicFramePr>
            <a:graphicFrameLocks noGrp="1"/>
          </p:cNvGraphicFramePr>
          <p:nvPr/>
        </p:nvGraphicFramePr>
        <p:xfrm>
          <a:off x="548640" y="1371600"/>
          <a:ext cx="11091672" cy="2148840"/>
        </p:xfrm>
        <a:graphic>
          <a:graphicData uri="http://schemas.openxmlformats.org/drawingml/2006/table">
            <a:tbl>
              <a:tblPr firstRow="1" bandRow="0">
                <a:tableStyleId>{5C22544A-7EE6-4342-B048-85BDC9FD1C3A}</a:tableStyleId>
              </a:tblPr>
              <a:tblGrid>
                <a:gridCol w="3566160"/>
                <a:gridCol w="4754880"/>
                <a:gridCol w="2770632"/>
              </a:tblGrid>
              <a:tr h="320040">
                <a:tc>
                  <a:txBody>
                    <a:bodyPr wrap="square" anchor="ctr">
                      <a:noAutofit/>
                    </a:bodyPr>
                    <a:lstStyle/>
                    <a:p>
                      <a:pPr algn="l"/>
                      <a:r>
                        <a:rPr sz="15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Value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Status</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VM price (ND96isr H100 v5, Linux)</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$98.32 per hour, about $71,774 a month</a:t>
                      </a:r>
                    </a:p>
                  </a:txBody>
                  <a:tcPr marL="73152" marR="73152" marT="36576" marB="36576" anchor="ctr">
                    <a:solidFill>
                      <a:srgbClr val="FFFFFF"/>
                    </a:solidFill>
                  </a:tcPr>
                </a:tc>
                <a:tc>
                  <a:txBody>
                    <a:bodyPr wrap="square" anchor="ctr">
                      <a:noAutofit/>
                    </a:bodyPr>
                    <a:lstStyle/>
                    <a:p>
                      <a:pPr algn="l"/>
                      <a:r>
                        <a:rPr sz="1500" b="1" i="0">
                          <a:solidFill>
                            <a:srgbClr val="1D6B3A"/>
                          </a:solidFill>
                          <a:latin typeface="Arial"/>
                        </a:rPr>
                        <a:t>Verified list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Blended PAYG price in the example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about $4.11 per 1M tokens</a:t>
                      </a:r>
                    </a:p>
                  </a:txBody>
                  <a:tcPr marL="73152" marR="73152" marT="36576" marB="36576" anchor="ctr">
                    <a:solidFill>
                      <a:srgbClr val="F5F5F2"/>
                    </a:solidFill>
                  </a:tcPr>
                </a:tc>
                <a:tc>
                  <a:txBody>
                    <a:bodyPr wrap="square" anchor="ctr">
                      <a:noAutofit/>
                    </a:bodyPr>
                    <a:lstStyle/>
                    <a:p>
                      <a:pPr algn="l"/>
                      <a:r>
                        <a:rPr sz="1500" b="1" i="0">
                          <a:solidFill>
                            <a:srgbClr val="8A4B08"/>
                          </a:solidFill>
                          <a:latin typeface="Arial"/>
                        </a:rPr>
                        <a:t>Derived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Break-even throughput, 1 VM</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about 6,638 tokens per second, 24x7</a:t>
                      </a:r>
                    </a:p>
                  </a:txBody>
                  <a:tcPr marL="73152" marR="73152" marT="36576" marB="36576" anchor="ctr">
                    <a:solidFill>
                      <a:srgbClr val="FFFFFF"/>
                    </a:solidFill>
                  </a:tcPr>
                </a:tc>
                <a:tc>
                  <a:txBody>
                    <a:bodyPr wrap="square" anchor="ctr">
                      <a:noAutofit/>
                    </a:bodyPr>
                    <a:lstStyle/>
                    <a:p>
                      <a:pPr algn="l"/>
                      <a:r>
                        <a:rPr sz="1500" b="1" i="0">
                          <a:solidFill>
                            <a:srgbClr val="8A4B08"/>
                          </a:solidFill>
                          <a:latin typeface="Arial"/>
                        </a:rPr>
                        <a:t>Derived</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With N+1 (2 VMs)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about 13,275 tokens per second, 24x7</a:t>
                      </a:r>
                    </a:p>
                  </a:txBody>
                  <a:tcPr marL="73152" marR="73152" marT="36576" marB="36576" anchor="ctr">
                    <a:solidFill>
                      <a:srgbClr val="F5F5F2"/>
                    </a:solidFill>
                  </a:tcPr>
                </a:tc>
                <a:tc>
                  <a:txBody>
                    <a:bodyPr wrap="square" anchor="ctr">
                      <a:noAutofit/>
                    </a:bodyPr>
                    <a:lstStyle/>
                    <a:p>
                      <a:pPr algn="l"/>
                      <a:r>
                        <a:rPr sz="1500" b="1" i="0">
                          <a:solidFill>
                            <a:srgbClr val="8A4B08"/>
                          </a:solidFill>
                          <a:latin typeface="Arial"/>
                        </a:rPr>
                        <a:t>Derived</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Not included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Storage, network, licences, operations, engineering</a:t>
                      </a:r>
                    </a:p>
                  </a:txBody>
                  <a:tcPr marL="73152" marR="73152" marT="36576" marB="36576" anchor="ctr">
                    <a:solidFill>
                      <a:srgbClr val="FFFFFF"/>
                    </a:solidFill>
                  </a:tcPr>
                </a:tc>
                <a:tc>
                  <a:txBody>
                    <a:bodyPr wrap="square" anchor="ctr">
                      <a:noAutofit/>
                    </a:bodyPr>
                    <a:lstStyle/>
                    <a:p>
                      <a:pPr algn="l"/>
                      <a:r>
                        <a:rPr sz="1500" b="1" i="0">
                          <a:solidFill>
                            <a:srgbClr val="A4262C"/>
                          </a:solidFill>
                          <a:latin typeface="Arial"/>
                        </a:rPr>
                        <a:t>Must be added</a:t>
                      </a:r>
                    </a:p>
                  </a:txBody>
                  <a:tcPr marL="73152" marR="73152" marT="36576" marB="36576" anchor="ctr">
                    <a:solidFill>
                      <a:srgbClr val="FFFFFF"/>
                    </a:solidFill>
                  </a:tcPr>
                </a:tc>
              </a:tr>
            </a:tbl>
          </a:graphicData>
        </a:graphic>
      </p:graphicFrame>
      <p:sp>
        <p:nvSpPr>
          <p:cNvPr id="11" name="Rounded Rectangle 10"/>
          <p:cNvSpPr/>
          <p:nvPr/>
        </p:nvSpPr>
        <p:spPr>
          <a:xfrm>
            <a:off x="548640" y="411480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Benchmark the chosen open model on the chosen stack. A PTU does not equal a fixed number of GPUs.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Compare options on the same cost boundary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graphicFrame>
        <p:nvGraphicFramePr>
          <p:cNvPr id="8" name="Table"/>
          <p:cNvGraphicFramePr>
            <a:graphicFrameLocks noGrp="1"/>
          </p:cNvGraphicFramePr>
          <p:nvPr/>
        </p:nvGraphicFramePr>
        <p:xfrm>
          <a:off x="548640" y="1371600"/>
          <a:ext cx="11091672" cy="2865120"/>
        </p:xfrm>
        <a:graphic>
          <a:graphicData uri="http://schemas.openxmlformats.org/drawingml/2006/table">
            <a:tbl>
              <a:tblPr firstRow="1" bandRow="0">
                <a:tableStyleId>{5C22544A-7EE6-4342-B048-85BDC9FD1C3A}</a:tableStyleId>
              </a:tblPr>
              <a:tblGrid>
                <a:gridCol w="3291840"/>
                <a:gridCol w="1920240"/>
                <a:gridCol w="1920240"/>
                <a:gridCol w="1920240"/>
                <a:gridCol w="2039112"/>
              </a:tblGrid>
              <a:tr h="304800">
                <a:tc>
                  <a:txBody>
                    <a:bodyPr wrap="square" anchor="ctr">
                      <a:noAutofit/>
                    </a:bodyPr>
                    <a:lstStyle/>
                    <a:p>
                      <a:pPr algn="l"/>
                      <a:r>
                        <a:rPr sz="1400" b="1" i="0">
                          <a:solidFill>
                            <a:srgbClr val="FFFFFF"/>
                          </a:solidFill>
                          <a:latin typeface="Arial"/>
                        </a:rPr>
                        <a:t>Cost line</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PAYG</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PTU</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Hybrid</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Self-hosted GPU</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Model tokens or capacity</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Included</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Included</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Included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GPU VMs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Gateway and routing</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Storage and network</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Monitoring and logs</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Serving stack, licences</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Patching and engineering</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Operations staffing</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Resilience headroom</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429 risk</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N+1 replicas</a:t>
                      </a:r>
                    </a:p>
                  </a:txBody>
                  <a:tcPr marL="73152" marR="73152" marT="36576" marB="36576" anchor="ctr">
                    <a:solidFill>
                      <a:srgbClr val="F5F5F2"/>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Telemetry architecture for the assessment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Status chip: PROPOSED REFERENCE ARCHITECTURE"/>
          <p:cNvSpPr/>
          <p:nvPr/>
        </p:nvSpPr>
        <p:spPr>
          <a:xfrm>
            <a:off x="199644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2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sp>
        <p:nvSpPr>
          <p:cNvPr id="9" name="Rounded Rectangle 8"/>
          <p:cNvSpPr/>
          <p:nvPr/>
        </p:nvSpPr>
        <p:spPr>
          <a:xfrm>
            <a:off x="548640" y="1371600"/>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577339"/>
            <a:ext cx="411480" cy="411480"/>
          </a:xfrm>
          <a:prstGeom prst="rect">
            <a:avLst/>
          </a:prstGeom>
        </p:spPr>
      </p:pic>
      <p:sp>
        <p:nvSpPr>
          <p:cNvPr id="11" name="TextBox 10"/>
          <p:cNvSpPr txBox="1"/>
          <p:nvPr/>
        </p:nvSpPr>
        <p:spPr>
          <a:xfrm>
            <a:off x="1106424" y="1408176"/>
            <a:ext cx="1783080" cy="749808"/>
          </a:xfrm>
          <a:prstGeom prst="rect">
            <a:avLst/>
          </a:prstGeom>
          <a:noFill/>
        </p:spPr>
        <p:txBody>
          <a:bodyPr wrap="square" lIns="0" rIns="0" tIns="0" bIns="0" anchor="ctr">
            <a:noAutofit/>
          </a:bodyPr>
          <a:lstStyle/>
          <a:p>
            <a:pPr algn="l"/>
            <a:r>
              <a:rPr sz="1300" b="1" i="0">
                <a:solidFill>
                  <a:srgbClr val="000048"/>
                </a:solidFill>
                <a:latin typeface="Arial"/>
              </a:rPr>
              <a:t>Gateway</a:t>
            </a:r>
          </a:p>
          <a:p>
            <a:pPr algn="l"/>
            <a:r>
              <a:rPr sz="1100" b="0" i="0">
                <a:solidFill>
                  <a:srgbClr val="53565A"/>
                </a:solidFill>
                <a:latin typeface="Arial"/>
              </a:rPr>
              <a:t>token metrics per caller</a:t>
            </a:r>
          </a:p>
        </p:txBody>
      </p:sp>
      <p:sp>
        <p:nvSpPr>
          <p:cNvPr id="12" name="Oval 11"/>
          <p:cNvSpPr/>
          <p:nvPr/>
        </p:nvSpPr>
        <p:spPr>
          <a:xfrm>
            <a:off x="3017520" y="16459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1</a:t>
            </a:r>
          </a:p>
        </p:txBody>
      </p:sp>
      <p:sp>
        <p:nvSpPr>
          <p:cNvPr id="13" name="Rounded Rectangle 12"/>
          <p:cNvSpPr/>
          <p:nvPr/>
        </p:nvSpPr>
        <p:spPr>
          <a:xfrm>
            <a:off x="548640" y="2395728"/>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Foundry Models" descr="Official Azure icon: Foundry Model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601468"/>
            <a:ext cx="411480" cy="411480"/>
          </a:xfrm>
          <a:prstGeom prst="rect">
            <a:avLst/>
          </a:prstGeom>
        </p:spPr>
      </p:pic>
      <p:sp>
        <p:nvSpPr>
          <p:cNvPr id="15" name="TextBox 14"/>
          <p:cNvSpPr txBox="1"/>
          <p:nvPr/>
        </p:nvSpPr>
        <p:spPr>
          <a:xfrm>
            <a:off x="1106424" y="2432304"/>
            <a:ext cx="1783080" cy="749808"/>
          </a:xfrm>
          <a:prstGeom prst="rect">
            <a:avLst/>
          </a:prstGeom>
          <a:noFill/>
        </p:spPr>
        <p:txBody>
          <a:bodyPr wrap="square" lIns="0" rIns="0" tIns="0" bIns="0" anchor="ctr">
            <a:noAutofit/>
          </a:bodyPr>
          <a:lstStyle/>
          <a:p>
            <a:pPr algn="l"/>
            <a:r>
              <a:rPr sz="1300" b="1" i="0">
                <a:solidFill>
                  <a:srgbClr val="000048"/>
                </a:solidFill>
                <a:latin typeface="Arial"/>
              </a:rPr>
              <a:t>Deployments</a:t>
            </a:r>
          </a:p>
          <a:p>
            <a:pPr algn="l"/>
            <a:r>
              <a:rPr sz="1100" b="0" i="0">
                <a:solidFill>
                  <a:srgbClr val="53565A"/>
                </a:solidFill>
                <a:latin typeface="Arial"/>
              </a:rPr>
              <a:t>tokens, utilisation, 429</a:t>
            </a:r>
          </a:p>
        </p:txBody>
      </p:sp>
      <p:sp>
        <p:nvSpPr>
          <p:cNvPr id="16" name="Oval 15"/>
          <p:cNvSpPr/>
          <p:nvPr/>
        </p:nvSpPr>
        <p:spPr>
          <a:xfrm>
            <a:off x="3017520" y="2670048"/>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2</a:t>
            </a:r>
          </a:p>
        </p:txBody>
      </p:sp>
      <p:sp>
        <p:nvSpPr>
          <p:cNvPr id="17" name="Rounded Rectangle 16"/>
          <p:cNvSpPr/>
          <p:nvPr/>
        </p:nvSpPr>
        <p:spPr>
          <a:xfrm>
            <a:off x="548640" y="3419856"/>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Cost Management" descr="Official Azure icon: Cost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3625596"/>
            <a:ext cx="411480" cy="411480"/>
          </a:xfrm>
          <a:prstGeom prst="rect">
            <a:avLst/>
          </a:prstGeom>
        </p:spPr>
      </p:pic>
      <p:sp>
        <p:nvSpPr>
          <p:cNvPr id="19" name="TextBox 18"/>
          <p:cNvSpPr txBox="1"/>
          <p:nvPr/>
        </p:nvSpPr>
        <p:spPr>
          <a:xfrm>
            <a:off x="1106424" y="3456432"/>
            <a:ext cx="1783080" cy="749808"/>
          </a:xfrm>
          <a:prstGeom prst="rect">
            <a:avLst/>
          </a:prstGeom>
          <a:noFill/>
        </p:spPr>
        <p:txBody>
          <a:bodyPr wrap="square" lIns="0" rIns="0" tIns="0" bIns="0" anchor="ctr">
            <a:noAutofit/>
          </a:bodyPr>
          <a:lstStyle/>
          <a:p>
            <a:pPr algn="l"/>
            <a:r>
              <a:rPr sz="1300" b="1" i="0">
                <a:solidFill>
                  <a:srgbClr val="000048"/>
                </a:solidFill>
                <a:latin typeface="Arial"/>
              </a:rPr>
              <a:t>Cost exports</a:t>
            </a:r>
          </a:p>
          <a:p>
            <a:pPr algn="l"/>
            <a:r>
              <a:rPr sz="1100" b="0" i="0">
                <a:solidFill>
                  <a:srgbClr val="53565A"/>
                </a:solidFill>
                <a:latin typeface="Arial"/>
              </a:rPr>
              <a:t>actual, amortised</a:t>
            </a:r>
          </a:p>
        </p:txBody>
      </p:sp>
      <p:sp>
        <p:nvSpPr>
          <p:cNvPr id="20" name="Oval 19"/>
          <p:cNvSpPr/>
          <p:nvPr/>
        </p:nvSpPr>
        <p:spPr>
          <a:xfrm>
            <a:off x="3017520" y="3694176"/>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3</a:t>
            </a:r>
          </a:p>
        </p:txBody>
      </p:sp>
      <p:sp>
        <p:nvSpPr>
          <p:cNvPr id="21" name="Rounded Rectangle 20"/>
          <p:cNvSpPr/>
          <p:nvPr/>
        </p:nvSpPr>
        <p:spPr>
          <a:xfrm>
            <a:off x="548640" y="4443984"/>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Reservations" descr="Official Azure icon: Reservation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 y="4649724"/>
            <a:ext cx="411480" cy="411480"/>
          </a:xfrm>
          <a:prstGeom prst="rect">
            <a:avLst/>
          </a:prstGeom>
        </p:spPr>
      </p:pic>
      <p:sp>
        <p:nvSpPr>
          <p:cNvPr id="23" name="TextBox 22"/>
          <p:cNvSpPr txBox="1"/>
          <p:nvPr/>
        </p:nvSpPr>
        <p:spPr>
          <a:xfrm>
            <a:off x="1106424" y="4480560"/>
            <a:ext cx="1783080" cy="749808"/>
          </a:xfrm>
          <a:prstGeom prst="rect">
            <a:avLst/>
          </a:prstGeom>
          <a:noFill/>
        </p:spPr>
        <p:txBody>
          <a:bodyPr wrap="square" lIns="0" rIns="0" tIns="0" bIns="0" anchor="ctr">
            <a:noAutofit/>
          </a:bodyPr>
          <a:lstStyle/>
          <a:p>
            <a:pPr algn="l"/>
            <a:r>
              <a:rPr sz="1300" b="1" i="0">
                <a:solidFill>
                  <a:srgbClr val="000048"/>
                </a:solidFill>
                <a:latin typeface="Arial"/>
              </a:rPr>
              <a:t>Reservations</a:t>
            </a:r>
          </a:p>
          <a:p>
            <a:pPr algn="l"/>
            <a:r>
              <a:rPr sz="1100" b="0" i="0">
                <a:solidFill>
                  <a:srgbClr val="53565A"/>
                </a:solidFill>
                <a:latin typeface="Arial"/>
              </a:rPr>
              <a:t>coverage, utilisation</a:t>
            </a:r>
          </a:p>
        </p:txBody>
      </p:sp>
      <p:sp>
        <p:nvSpPr>
          <p:cNvPr id="24" name="Oval 23"/>
          <p:cNvSpPr/>
          <p:nvPr/>
        </p:nvSpPr>
        <p:spPr>
          <a:xfrm>
            <a:off x="3017520" y="4718304"/>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4</a:t>
            </a:r>
          </a:p>
        </p:txBody>
      </p:sp>
      <p:sp>
        <p:nvSpPr>
          <p:cNvPr id="25" name="Rounded Rectangle 24"/>
          <p:cNvSpPr/>
          <p:nvPr/>
        </p:nvSpPr>
        <p:spPr>
          <a:xfrm>
            <a:off x="4023360" y="1371600"/>
            <a:ext cx="210312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6" name="Azure icon: Application Insights" descr="Official Azure icon: Application Insight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096512" y="1577339"/>
            <a:ext cx="411480" cy="411480"/>
          </a:xfrm>
          <a:prstGeom prst="rect">
            <a:avLst/>
          </a:prstGeom>
        </p:spPr>
      </p:pic>
      <p:sp>
        <p:nvSpPr>
          <p:cNvPr id="27" name="TextBox 26"/>
          <p:cNvSpPr txBox="1"/>
          <p:nvPr/>
        </p:nvSpPr>
        <p:spPr>
          <a:xfrm>
            <a:off x="4581144" y="1408176"/>
            <a:ext cx="1508760" cy="749808"/>
          </a:xfrm>
          <a:prstGeom prst="rect">
            <a:avLst/>
          </a:prstGeom>
          <a:noFill/>
        </p:spPr>
        <p:txBody>
          <a:bodyPr wrap="square" lIns="0" rIns="0" tIns="0" bIns="0" anchor="ctr">
            <a:noAutofit/>
          </a:bodyPr>
          <a:lstStyle/>
          <a:p>
            <a:pPr algn="l"/>
            <a:r>
              <a:rPr sz="1300" b="1" i="0">
                <a:solidFill>
                  <a:srgbClr val="000048"/>
                </a:solidFill>
                <a:latin typeface="Arial"/>
              </a:rPr>
              <a:t>App Insights</a:t>
            </a:r>
          </a:p>
          <a:p>
            <a:pPr algn="l"/>
            <a:r>
              <a:rPr sz="1100" b="0" i="0">
                <a:solidFill>
                  <a:srgbClr val="53565A"/>
                </a:solidFill>
                <a:latin typeface="Arial"/>
              </a:rPr>
              <a:t>custom metrics</a:t>
            </a:r>
          </a:p>
        </p:txBody>
      </p:sp>
      <p:sp>
        <p:nvSpPr>
          <p:cNvPr id="28" name="Rounded Rectangle 27"/>
          <p:cNvSpPr/>
          <p:nvPr/>
        </p:nvSpPr>
        <p:spPr>
          <a:xfrm>
            <a:off x="4023360" y="2514600"/>
            <a:ext cx="210312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9" name="Azure icon: Log Analytics workspace" descr="Official Azure icon: Log Analytics workspace"/>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096512" y="2720340"/>
            <a:ext cx="411480" cy="411480"/>
          </a:xfrm>
          <a:prstGeom prst="rect">
            <a:avLst/>
          </a:prstGeom>
        </p:spPr>
      </p:pic>
      <p:sp>
        <p:nvSpPr>
          <p:cNvPr id="30" name="TextBox 29"/>
          <p:cNvSpPr txBox="1"/>
          <p:nvPr/>
        </p:nvSpPr>
        <p:spPr>
          <a:xfrm>
            <a:off x="4581144" y="2551176"/>
            <a:ext cx="1508760" cy="749808"/>
          </a:xfrm>
          <a:prstGeom prst="rect">
            <a:avLst/>
          </a:prstGeom>
          <a:noFill/>
        </p:spPr>
        <p:txBody>
          <a:bodyPr wrap="square" lIns="0" rIns="0" tIns="0" bIns="0" anchor="ctr">
            <a:noAutofit/>
          </a:bodyPr>
          <a:lstStyle/>
          <a:p>
            <a:pPr algn="l"/>
            <a:r>
              <a:rPr sz="1300" b="1" i="0">
                <a:solidFill>
                  <a:srgbClr val="000048"/>
                </a:solidFill>
                <a:latin typeface="Arial"/>
              </a:rPr>
              <a:t>Log Analytics</a:t>
            </a:r>
          </a:p>
          <a:p>
            <a:pPr algn="l"/>
            <a:r>
              <a:rPr sz="1100" b="0" i="0">
                <a:solidFill>
                  <a:srgbClr val="53565A"/>
                </a:solidFill>
                <a:latin typeface="Arial"/>
              </a:rPr>
              <a:t>joined usage</a:t>
            </a:r>
          </a:p>
        </p:txBody>
      </p:sp>
      <p:sp>
        <p:nvSpPr>
          <p:cNvPr id="31" name="Rounded Rectangle 30"/>
          <p:cNvSpPr/>
          <p:nvPr/>
        </p:nvSpPr>
        <p:spPr>
          <a:xfrm>
            <a:off x="4023360" y="3657600"/>
            <a:ext cx="210312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2" name="Azure icon: Storage account" descr="Official Azure icon: Storage account"/>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096512" y="3863340"/>
            <a:ext cx="411480" cy="411480"/>
          </a:xfrm>
          <a:prstGeom prst="rect">
            <a:avLst/>
          </a:prstGeom>
        </p:spPr>
      </p:pic>
      <p:sp>
        <p:nvSpPr>
          <p:cNvPr id="33" name="TextBox 32"/>
          <p:cNvSpPr txBox="1"/>
          <p:nvPr/>
        </p:nvSpPr>
        <p:spPr>
          <a:xfrm>
            <a:off x="4581144" y="3694176"/>
            <a:ext cx="1508760" cy="749808"/>
          </a:xfrm>
          <a:prstGeom prst="rect">
            <a:avLst/>
          </a:prstGeom>
          <a:noFill/>
        </p:spPr>
        <p:txBody>
          <a:bodyPr wrap="square" lIns="0" rIns="0" tIns="0" bIns="0" anchor="ctr">
            <a:noAutofit/>
          </a:bodyPr>
          <a:lstStyle/>
          <a:p>
            <a:pPr algn="l"/>
            <a:r>
              <a:rPr sz="1300" b="1" i="0">
                <a:solidFill>
                  <a:srgbClr val="000048"/>
                </a:solidFill>
                <a:latin typeface="Arial"/>
              </a:rPr>
              <a:t>Storage account</a:t>
            </a:r>
          </a:p>
          <a:p>
            <a:pPr algn="l"/>
            <a:r>
              <a:rPr sz="1100" b="0" i="0">
                <a:solidFill>
                  <a:srgbClr val="53565A"/>
                </a:solidFill>
                <a:latin typeface="Arial"/>
              </a:rPr>
              <a:t>cost files</a:t>
            </a:r>
          </a:p>
        </p:txBody>
      </p:sp>
      <p:sp>
        <p:nvSpPr>
          <p:cNvPr id="34" name="Rounded Rectangle 33"/>
          <p:cNvSpPr/>
          <p:nvPr/>
        </p:nvSpPr>
        <p:spPr>
          <a:xfrm>
            <a:off x="6766560" y="2514600"/>
            <a:ext cx="2194560" cy="822960"/>
          </a:xfrm>
          <a:prstGeom prst="roundRect">
            <a:avLst>
              <a:gd name="adj" fmla="val 8888"/>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5" name="Azure icon: Function App" descr="Official Azure icon: Function App"/>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839712" y="2720340"/>
            <a:ext cx="411480" cy="411480"/>
          </a:xfrm>
          <a:prstGeom prst="rect">
            <a:avLst/>
          </a:prstGeom>
        </p:spPr>
      </p:pic>
      <p:sp>
        <p:nvSpPr>
          <p:cNvPr id="36" name="TextBox 35"/>
          <p:cNvSpPr txBox="1"/>
          <p:nvPr/>
        </p:nvSpPr>
        <p:spPr>
          <a:xfrm>
            <a:off x="7324344" y="2551176"/>
            <a:ext cx="1600200" cy="749808"/>
          </a:xfrm>
          <a:prstGeom prst="rect">
            <a:avLst/>
          </a:prstGeom>
          <a:noFill/>
        </p:spPr>
        <p:txBody>
          <a:bodyPr wrap="square" lIns="0" rIns="0" tIns="0" bIns="0" anchor="ctr">
            <a:noAutofit/>
          </a:bodyPr>
          <a:lstStyle/>
          <a:p>
            <a:pPr algn="l"/>
            <a:r>
              <a:rPr sz="1300" b="1" i="0">
                <a:solidFill>
                  <a:srgbClr val="000048"/>
                </a:solidFill>
                <a:latin typeface="Arial"/>
              </a:rPr>
              <a:t>Cost model job</a:t>
            </a:r>
          </a:p>
          <a:p>
            <a:pPr algn="l"/>
            <a:r>
              <a:rPr sz="1100" b="0" i="0">
                <a:solidFill>
                  <a:srgbClr val="53565A"/>
                </a:solidFill>
                <a:latin typeface="Arial"/>
              </a:rPr>
              <a:t>price table x usage</a:t>
            </a:r>
          </a:p>
        </p:txBody>
      </p:sp>
      <p:sp>
        <p:nvSpPr>
          <p:cNvPr id="37" name="Oval 36"/>
          <p:cNvSpPr/>
          <p:nvPr/>
        </p:nvSpPr>
        <p:spPr>
          <a:xfrm>
            <a:off x="662940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5</a:t>
            </a:r>
          </a:p>
        </p:txBody>
      </p:sp>
      <p:sp>
        <p:nvSpPr>
          <p:cNvPr id="38" name="Rounded Rectangle 37"/>
          <p:cNvSpPr/>
          <p:nvPr/>
        </p:nvSpPr>
        <p:spPr>
          <a:xfrm>
            <a:off x="9509760" y="2514600"/>
            <a:ext cx="219456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9" name="Azure icon: Azure Workbooks" descr="Official Azure icon: Azure Workbook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9582912" y="2720340"/>
            <a:ext cx="411480" cy="411480"/>
          </a:xfrm>
          <a:prstGeom prst="rect">
            <a:avLst/>
          </a:prstGeom>
        </p:spPr>
      </p:pic>
      <p:sp>
        <p:nvSpPr>
          <p:cNvPr id="40" name="TextBox 39"/>
          <p:cNvSpPr txBox="1"/>
          <p:nvPr/>
        </p:nvSpPr>
        <p:spPr>
          <a:xfrm>
            <a:off x="10067544" y="2551176"/>
            <a:ext cx="1600200" cy="749808"/>
          </a:xfrm>
          <a:prstGeom prst="rect">
            <a:avLst/>
          </a:prstGeom>
          <a:noFill/>
        </p:spPr>
        <p:txBody>
          <a:bodyPr wrap="square" lIns="0" rIns="0" tIns="0" bIns="0" anchor="ctr">
            <a:noAutofit/>
          </a:bodyPr>
          <a:lstStyle/>
          <a:p>
            <a:pPr algn="l"/>
            <a:r>
              <a:rPr sz="1300" b="1" i="0">
                <a:solidFill>
                  <a:srgbClr val="000048"/>
                </a:solidFill>
                <a:latin typeface="Arial"/>
              </a:rPr>
              <a:t>FinOps workbook</a:t>
            </a:r>
          </a:p>
          <a:p>
            <a:pPr algn="l"/>
            <a:r>
              <a:rPr sz="1100" b="0" i="0">
                <a:solidFill>
                  <a:srgbClr val="53565A"/>
                </a:solidFill>
                <a:latin typeface="Arial"/>
              </a:rPr>
              <a:t>unit cost, utilisation</a:t>
            </a:r>
          </a:p>
        </p:txBody>
      </p:sp>
      <p:sp>
        <p:nvSpPr>
          <p:cNvPr id="41" name="Oval 40"/>
          <p:cNvSpPr/>
          <p:nvPr/>
        </p:nvSpPr>
        <p:spPr>
          <a:xfrm>
            <a:off x="937260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6</a:t>
            </a:r>
          </a:p>
        </p:txBody>
      </p:sp>
      <p:cxnSp>
        <p:nvCxnSpPr>
          <p:cNvPr id="42" name="Connector (telemetry)"/>
          <p:cNvCxnSpPr/>
          <p:nvPr/>
        </p:nvCxnSpPr>
        <p:spPr>
          <a:xfrm>
            <a:off x="2926080" y="1783080"/>
            <a:ext cx="109728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telemetry)"/>
          <p:cNvCxnSpPr/>
          <p:nvPr/>
        </p:nvCxnSpPr>
        <p:spPr>
          <a:xfrm>
            <a:off x="2926080" y="2807208"/>
            <a:ext cx="1097280" cy="73152"/>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telemetry)"/>
          <p:cNvCxnSpPr/>
          <p:nvPr/>
        </p:nvCxnSpPr>
        <p:spPr>
          <a:xfrm>
            <a:off x="2926080" y="3840480"/>
            <a:ext cx="1097280" cy="22860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telemetry)"/>
          <p:cNvCxnSpPr/>
          <p:nvPr/>
        </p:nvCxnSpPr>
        <p:spPr>
          <a:xfrm flipV="1">
            <a:off x="2926080" y="4206240"/>
            <a:ext cx="1097280" cy="64008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telemetry)"/>
          <p:cNvCxnSpPr/>
          <p:nvPr/>
        </p:nvCxnSpPr>
        <p:spPr>
          <a:xfrm>
            <a:off x="5074920" y="2194560"/>
            <a:ext cx="0" cy="32004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flow)"/>
          <p:cNvCxnSpPr/>
          <p:nvPr/>
        </p:nvCxnSpPr>
        <p:spPr>
          <a:xfrm>
            <a:off x="6126480" y="292608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flow)"/>
          <p:cNvCxnSpPr/>
          <p:nvPr/>
        </p:nvCxnSpPr>
        <p:spPr>
          <a:xfrm flipV="1">
            <a:off x="6126480" y="3154680"/>
            <a:ext cx="640080" cy="9144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flow)"/>
          <p:cNvCxnSpPr/>
          <p:nvPr/>
        </p:nvCxnSpPr>
        <p:spPr>
          <a:xfrm>
            <a:off x="8961120" y="2926080"/>
            <a:ext cx="54864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flow)"/>
          <p:cNvCxnSpPr/>
          <p:nvPr/>
        </p:nvCxnSpPr>
        <p:spPr>
          <a:xfrm>
            <a:off x="548640" y="560527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24128" y="5486400"/>
            <a:ext cx="1783080"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52" name="Connector (telemetry)"/>
          <p:cNvCxnSpPr/>
          <p:nvPr/>
        </p:nvCxnSpPr>
        <p:spPr>
          <a:xfrm>
            <a:off x="2834640" y="5605272"/>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310128" y="5486400"/>
            <a:ext cx="1783080"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54" name="TextBox 53"/>
          <p:cNvSpPr txBox="1"/>
          <p:nvPr/>
        </p:nvSpPr>
        <p:spPr>
          <a:xfrm>
            <a:off x="5486400" y="5486400"/>
            <a:ext cx="6126480" cy="274320"/>
          </a:xfrm>
          <a:prstGeom prst="rect">
            <a:avLst/>
          </a:prstGeom>
          <a:noFill/>
        </p:spPr>
        <p:txBody>
          <a:bodyPr wrap="square" lIns="0" rIns="0" tIns="0" bIns="0" anchor="t">
            <a:noAutofit/>
          </a:bodyPr>
          <a:lstStyle/>
          <a:p>
            <a:pPr algn="r"/>
            <a:r>
              <a:rPr sz="1100" b="0" i="0">
                <a:solidFill>
                  <a:srgbClr val="7373D8"/>
                </a:solidFill>
                <a:latin typeface="Arial"/>
              </a:rPr>
              <a:t>Purple outline = custom build</a:t>
            </a:r>
          </a:p>
        </p:txBody>
      </p:sp>
      <p:sp>
        <p:nvSpPr>
          <p:cNvPr id="55" name="TextBox 54"/>
          <p:cNvSpPr txBox="1"/>
          <p:nvPr/>
        </p:nvSpPr>
        <p:spPr>
          <a:xfrm>
            <a:off x="548640" y="5852160"/>
            <a:ext cx="11064240" cy="256032"/>
          </a:xfrm>
          <a:prstGeom prst="rect">
            <a:avLst/>
          </a:prstGeom>
          <a:noFill/>
        </p:spPr>
        <p:txBody>
          <a:bodyPr wrap="square" lIns="0" rIns="0" tIns="0" bIns="0" anchor="t">
            <a:noAutofit/>
          </a:bodyPr>
          <a:lstStyle/>
          <a:p>
            <a:pPr algn="l"/>
            <a:r>
              <a:rPr sz="11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Cost allocation and showback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A16</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graphicFrame>
        <p:nvGraphicFramePr>
          <p:cNvPr id="8" name="Table"/>
          <p:cNvGraphicFramePr>
            <a:graphicFrameLocks noGrp="1"/>
          </p:cNvGraphicFramePr>
          <p:nvPr/>
        </p:nvGraphicFramePr>
        <p:xfrm>
          <a:off x="548640" y="1371600"/>
          <a:ext cx="11091672" cy="1996440"/>
        </p:xfrm>
        <a:graphic>
          <a:graphicData uri="http://schemas.openxmlformats.org/drawingml/2006/table">
            <a:tbl>
              <a:tblPr firstRow="1" bandRow="0">
                <a:tableStyleId>{5C22544A-7EE6-4342-B048-85BDC9FD1C3A}</a:tableStyleId>
              </a:tblPr>
              <a:tblGrid>
                <a:gridCol w="2743200"/>
                <a:gridCol w="4572000"/>
                <a:gridCol w="3776472"/>
              </a:tblGrid>
              <a:tr h="320040">
                <a:tc>
                  <a:txBody>
                    <a:bodyPr wrap="square" anchor="ctr">
                      <a:noAutofit/>
                    </a:bodyPr>
                    <a:lstStyle/>
                    <a:p>
                      <a:pPr algn="l"/>
                      <a:r>
                        <a:rPr sz="1500" b="1" i="0">
                          <a:solidFill>
                            <a:srgbClr val="FFFFFF"/>
                          </a:solidFill>
                          <a:latin typeface="Arial"/>
                        </a:rPr>
                        <a:t>Cost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Allocation key</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Data source</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Model tokens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Tokens by caller, agent, model, token type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Gateway token metrics</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PTU capacity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Share of normalised tokens served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Gateway metrics plus deployment</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Gateway and logs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Share of calls or fixed split</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Gateway logs</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Hosting and data</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Resource tags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Cost exports</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Shared platform</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Agreed key, allocated once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Finance rule</a:t>
                      </a:r>
                    </a:p>
                  </a:txBody>
                  <a:tcPr marL="73152" marR="73152" marT="36576" marB="36576" anchor="ctr">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Deployment type changes price and processing location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A17</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graphicFrame>
        <p:nvGraphicFramePr>
          <p:cNvPr id="9" name="Table"/>
          <p:cNvGraphicFramePr>
            <a:graphicFrameLocks noGrp="1"/>
          </p:cNvGraphicFramePr>
          <p:nvPr/>
        </p:nvGraphicFramePr>
        <p:xfrm>
          <a:off x="548640" y="1371600"/>
          <a:ext cx="11091672" cy="1737360"/>
        </p:xfrm>
        <a:graphic>
          <a:graphicData uri="http://schemas.openxmlformats.org/drawingml/2006/table">
            <a:tbl>
              <a:tblPr firstRow="1" bandRow="0">
                <a:tableStyleId>{5C22544A-7EE6-4342-B048-85BDC9FD1C3A}</a:tableStyleId>
              </a:tblPr>
              <a:tblGrid>
                <a:gridCol w="2377440"/>
                <a:gridCol w="3108960"/>
                <a:gridCol w="2377440"/>
                <a:gridCol w="3227832"/>
              </a:tblGrid>
              <a:tr h="548640">
                <a:tc>
                  <a:txBody>
                    <a:bodyPr wrap="square" anchor="ctr">
                      <a:noAutofit/>
                    </a:bodyPr>
                    <a:lstStyle/>
                    <a:p>
                      <a:pPr algn="l"/>
                      <a:r>
                        <a:rPr sz="1500" b="1" i="0">
                          <a:solidFill>
                            <a:srgbClr val="FFFFFF"/>
                          </a:solidFill>
                          <a:latin typeface="Arial"/>
                        </a:rPr>
                        <a:t>Deployment type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Input / cached / output per 1M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Provisioned per PTU-hour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Processing location</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Global</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$2.50 / $0.25 / $15.00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$1.00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Any Azure region</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$2.75 / $0.275 / $16.50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$1.10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Within US or EU zone (gpt-5.4)</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Regional</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No Standard PAYG for gpt-5.4</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$2.00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Germany West Central, Sweden Central, UK South only</a:t>
                      </a:r>
                    </a:p>
                  </a:txBody>
                  <a:tcPr marL="73152" marR="73152" marT="36576" marB="36576" anchor="ctr">
                    <a:solidFill>
                      <a:srgbClr val="FFFFFF"/>
                    </a:solidFill>
                  </a:tcPr>
                </a:tc>
              </a:tr>
            </a:tbl>
          </a:graphicData>
        </a:graphic>
      </p:graphicFrame>
      <p:sp>
        <p:nvSpPr>
          <p:cNvPr id="10" name="Rounded Rectangle 9"/>
          <p:cNvSpPr/>
          <p:nvPr/>
        </p:nvSpPr>
        <p:spPr>
          <a:xfrm>
            <a:off x="548640" y="384048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Residency is a cost driver: Data Zone adds 10% on tokens; Regional provisioned is twice Global per PTU-hour.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Assessment deliverables and acceptance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A18</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graphicFrame>
        <p:nvGraphicFramePr>
          <p:cNvPr id="9" name="Table"/>
          <p:cNvGraphicFramePr>
            <a:graphicFrameLocks noGrp="1"/>
          </p:cNvGraphicFramePr>
          <p:nvPr/>
        </p:nvGraphicFramePr>
        <p:xfrm>
          <a:off x="548640" y="1371600"/>
          <a:ext cx="11091672" cy="2484120"/>
        </p:xfrm>
        <a:graphic>
          <a:graphicData uri="http://schemas.openxmlformats.org/drawingml/2006/table">
            <a:tbl>
              <a:tblPr firstRow="1" bandRow="0">
                <a:tableStyleId>{5C22544A-7EE6-4342-B048-85BDC9FD1C3A}</a:tableStyleId>
              </a:tblPr>
              <a:tblGrid>
                <a:gridCol w="2743200"/>
                <a:gridCol w="5120640"/>
                <a:gridCol w="3227832"/>
              </a:tblGrid>
              <a:tr h="320040">
                <a:tc>
                  <a:txBody>
                    <a:bodyPr wrap="square" anchor="ctr">
                      <a:noAutofit/>
                    </a:bodyPr>
                    <a:lstStyle/>
                    <a:p>
                      <a:pPr algn="l"/>
                      <a:r>
                        <a:rPr sz="1500" b="1" i="0">
                          <a:solidFill>
                            <a:srgbClr val="FFFFFF"/>
                          </a:solidFill>
                          <a:latin typeface="Arial"/>
                        </a:rPr>
                        <a:t>Deliverable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Acceptance evidence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Approver</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Telemetry baseline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Usage by workload and token type for the agreed period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platform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Workload profiles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Inputs in A2 completed or marked assumed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workload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Option models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Same cost boundary for all options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FinOps lead</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Sensitivity and break-even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Drivers and missing prices stated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FinOps lead</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Decision memo</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Gates, owners and approvals listed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sponsor</a:t>
                      </a:r>
                    </a:p>
                  </a:txBody>
                  <a:tcPr marL="73152" marR="73152" marT="36576" marB="36576" anchor="ctr">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Licence economics: agent licences are a new cost line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A19</a:t>
            </a:r>
          </a:p>
        </p:txBody>
      </p:sp>
      <p:sp>
        <p:nvSpPr>
          <p:cNvPr id="5" name="Status chip: THIRD-PARTY CONTEXT, VERIFY"/>
          <p:cNvSpPr/>
          <p:nvPr/>
        </p:nvSpPr>
        <p:spPr>
          <a:xfrm>
            <a:off x="1996440" y="274320"/>
            <a:ext cx="26060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THIRD-PARTY CONTEXT, VERIFY</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graphicFrame>
        <p:nvGraphicFramePr>
          <p:cNvPr id="9" name="Table"/>
          <p:cNvGraphicFramePr>
            <a:graphicFrameLocks noGrp="1"/>
          </p:cNvGraphicFramePr>
          <p:nvPr/>
        </p:nvGraphicFramePr>
        <p:xfrm>
          <a:off x="548640" y="1371600"/>
          <a:ext cx="11091671" cy="2880360"/>
        </p:xfrm>
        <a:graphic>
          <a:graphicData uri="http://schemas.openxmlformats.org/drawingml/2006/table">
            <a:tbl>
              <a:tblPr firstRow="1" bandRow="0">
                <a:tableStyleId>{5C22544A-7EE6-4342-B048-85BDC9FD1C3A}</a:tableStyleId>
              </a:tblPr>
              <a:tblGrid>
                <a:gridCol w="2468880"/>
                <a:gridCol w="2834640"/>
                <a:gridCol w="1920240"/>
                <a:gridCol w="2286000"/>
                <a:gridCol w="1581911"/>
              </a:tblGrid>
              <a:tr h="289560">
                <a:tc>
                  <a:txBody>
                    <a:bodyPr wrap="square" anchor="ctr">
                      <a:noAutofit/>
                    </a:bodyPr>
                    <a:lstStyle/>
                    <a:p>
                      <a:pPr algn="l"/>
                      <a:r>
                        <a:rPr sz="13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Unit and list price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Billed through</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What we check</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Source status</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Agent 365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$15 per user per month</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Microsoft 365 licence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Users who need agent governance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Microsoft, GA</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Microsoft 365 E7</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About $99 per user per month; includes Agent 365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Microsoft 365 licence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Whether already owned or planned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Third party, verify</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Copilot Studio credits (PAYG)</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$0.01 per credit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Azure subscription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Credits per agent run, monthly trend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Third party, verify</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Copilot Studio capacity pack</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$200 per 25,000 credits per month</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Licence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Pack versus PAYG break-even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Third party, verify</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Microsoft 365 Copilot seats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Not modelled here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Microsoft 365 licence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Owned by M365 and D365 teams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Handoff</a:t>
                      </a:r>
                    </a:p>
                  </a:txBody>
                  <a:tcPr marL="73152" marR="73152" marT="36576" marB="36576" anchor="ctr">
                    <a:solidFill>
                      <a:srgbClr val="FFFFFF"/>
                    </a:solidFill>
                  </a:tcPr>
                </a:tc>
              </a:tr>
            </a:tbl>
          </a:graphicData>
        </a:graphic>
      </p:graphicFrame>
      <p:sp>
        <p:nvSpPr>
          <p:cNvPr id="10" name="Rounded Rectangle 9"/>
          <p:cNvSpPr/>
          <p:nvPr/>
        </p:nvSpPr>
        <p:spPr>
          <a:xfrm>
            <a:off x="548640" y="4343400"/>
            <a:ext cx="11091672" cy="868680"/>
          </a:xfrm>
          <a:prstGeom prst="roundRect">
            <a:avLst>
              <a:gd name="adj" fmla="val 842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700" b="1" i="0">
                <a:solidFill>
                  <a:srgbClr val="000048"/>
                </a:solidFill>
                <a:latin typeface="Arial"/>
              </a:rPr>
              <a:t>Example check (arithmetic only): </a:t>
            </a:r>
            <a:r>
              <a:rPr sz="1700" b="0" i="0">
                <a:solidFill>
                  <a:srgbClr val="1E1E2E"/>
                </a:solidFill>
                <a:latin typeface="Arial"/>
              </a:rPr>
              <a:t>a capacity pack beats PAYG credits when monthly use exceeds 20,000 credits ($200 ÷ $0.01).</a:t>
            </a:r>
          </a:p>
        </p:txBody>
      </p:sp>
      <p:sp>
        <p:nvSpPr>
          <p:cNvPr id="11" name="Rounded Rectangle 10"/>
          <p:cNvSpPr/>
          <p:nvPr/>
        </p:nvSpPr>
        <p:spPr>
          <a:xfrm>
            <a:off x="548640" y="54864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Licence prices change and vary by agreement. Use the customer agreement; we give no licensing advice.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FinOps operating model for AI spend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A20</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sp>
        <p:nvSpPr>
          <p:cNvPr id="9" name="Rounded Rectangle 8"/>
          <p:cNvSpPr/>
          <p:nvPr/>
        </p:nvSpPr>
        <p:spPr>
          <a:xfrm>
            <a:off x="548640"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Weekly</a:t>
            </a:r>
          </a:p>
          <a:p>
            <a:pPr algn="l"/>
            <a:r>
              <a:rPr sz="1500" b="0" i="0">
                <a:solidFill>
                  <a:srgbClr val="26EFE9"/>
                </a:solidFill>
                <a:latin typeface="Arial"/>
              </a:rPr>
              <a:t>Anomalies</a:t>
            </a:r>
          </a:p>
        </p:txBody>
      </p:sp>
      <p:sp>
        <p:nvSpPr>
          <p:cNvPr id="10" name="Rounded Rectangle 9"/>
          <p:cNvSpPr/>
          <p:nvPr/>
        </p:nvSpPr>
        <p:spPr>
          <a:xfrm>
            <a:off x="548640" y="2331720"/>
            <a:ext cx="3593592" cy="1828800"/>
          </a:xfrm>
          <a:prstGeom prst="roundRect">
            <a:avLst>
              <a:gd name="adj" fmla="val 4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600"/>
              </a:spcAft>
              <a:buFont typeface="Arial"/>
              <a:buChar char="•"/>
            </a:pPr>
            <a:r>
              <a:rPr sz="1700" b="0" i="0">
                <a:solidFill>
                  <a:srgbClr val="1E1E2E"/>
                </a:solidFill>
                <a:latin typeface="Arial"/>
              </a:rPr>
              <a:t>Spend spikes by agent</a:t>
            </a:r>
          </a:p>
          <a:p>
            <a:pPr algn="l" marL="201168" indent="-201168">
              <a:spcAft>
                <a:spcPts val="600"/>
              </a:spcAft>
              <a:buFont typeface="Arial"/>
              <a:buChar char="•"/>
            </a:pPr>
            <a:r>
              <a:rPr sz="1700" b="0" i="0">
                <a:solidFill>
                  <a:srgbClr val="1E1E2E"/>
                </a:solidFill>
                <a:latin typeface="Arial"/>
              </a:rPr>
              <a:t>Overflow above plan</a:t>
            </a:r>
          </a:p>
          <a:p>
            <a:pPr algn="l" marL="201168" indent="-201168">
              <a:spcAft>
                <a:spcPts val="600"/>
              </a:spcAft>
              <a:buFont typeface="Arial"/>
              <a:buChar char="•"/>
            </a:pPr>
            <a:r>
              <a:rPr sz="1700" b="0" i="0">
                <a:solidFill>
                  <a:srgbClr val="1E1E2E"/>
                </a:solidFill>
                <a:latin typeface="Arial"/>
              </a:rPr>
              <a:t>429 throttling trend</a:t>
            </a:r>
          </a:p>
        </p:txBody>
      </p:sp>
      <p:sp>
        <p:nvSpPr>
          <p:cNvPr id="11" name="Rounded Rectangle 10"/>
          <p:cNvSpPr/>
          <p:nvPr/>
        </p:nvSpPr>
        <p:spPr>
          <a:xfrm>
            <a:off x="4297679"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Monthly</a:t>
            </a:r>
          </a:p>
          <a:p>
            <a:pPr algn="l"/>
            <a:r>
              <a:rPr sz="1500" b="0" i="0">
                <a:solidFill>
                  <a:srgbClr val="26EFE9"/>
                </a:solidFill>
                <a:latin typeface="Arial"/>
              </a:rPr>
              <a:t>Unit cost and utilisation</a:t>
            </a:r>
          </a:p>
        </p:txBody>
      </p:sp>
      <p:sp>
        <p:nvSpPr>
          <p:cNvPr id="12" name="Rounded Rectangle 11"/>
          <p:cNvSpPr/>
          <p:nvPr/>
        </p:nvSpPr>
        <p:spPr>
          <a:xfrm>
            <a:off x="4297679" y="2331720"/>
            <a:ext cx="3593592" cy="1828800"/>
          </a:xfrm>
          <a:prstGeom prst="roundRect">
            <a:avLst>
              <a:gd name="adj" fmla="val 4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600"/>
              </a:spcAft>
              <a:buFont typeface="Arial"/>
              <a:buChar char="•"/>
            </a:pPr>
            <a:r>
              <a:rPr sz="1700" b="0" i="0">
                <a:solidFill>
                  <a:srgbClr val="1E1E2E"/>
                </a:solidFill>
                <a:latin typeface="Arial"/>
              </a:rPr>
              <a:t>Cost per useful task</a:t>
            </a:r>
          </a:p>
          <a:p>
            <a:pPr algn="l" marL="201168" indent="-201168">
              <a:spcAft>
                <a:spcPts val="600"/>
              </a:spcAft>
              <a:buFont typeface="Arial"/>
              <a:buChar char="•"/>
            </a:pPr>
            <a:r>
              <a:rPr sz="1700" b="0" i="0">
                <a:solidFill>
                  <a:srgbClr val="1E1E2E"/>
                </a:solidFill>
                <a:latin typeface="Arial"/>
              </a:rPr>
              <a:t>PTU coverage and utilisation</a:t>
            </a:r>
          </a:p>
          <a:p>
            <a:pPr algn="l" marL="201168" indent="-201168">
              <a:spcAft>
                <a:spcPts val="600"/>
              </a:spcAft>
              <a:buFont typeface="Arial"/>
              <a:buChar char="•"/>
            </a:pPr>
            <a:r>
              <a:rPr sz="1700" b="0" i="0">
                <a:solidFill>
                  <a:srgbClr val="1E1E2E"/>
                </a:solidFill>
                <a:latin typeface="Arial"/>
              </a:rPr>
              <a:t>Showback by team</a:t>
            </a:r>
          </a:p>
        </p:txBody>
      </p:sp>
      <p:sp>
        <p:nvSpPr>
          <p:cNvPr id="13" name="Rounded Rectangle 12"/>
          <p:cNvSpPr/>
          <p:nvPr/>
        </p:nvSpPr>
        <p:spPr>
          <a:xfrm>
            <a:off x="8046719"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Quarterly</a:t>
            </a:r>
          </a:p>
          <a:p>
            <a:pPr algn="l"/>
            <a:r>
              <a:rPr sz="1500" b="0" i="0">
                <a:solidFill>
                  <a:srgbClr val="26EFE9"/>
                </a:solidFill>
                <a:latin typeface="Arial"/>
              </a:rPr>
              <a:t>Commitments and lifecycle</a:t>
            </a:r>
          </a:p>
        </p:txBody>
      </p:sp>
      <p:sp>
        <p:nvSpPr>
          <p:cNvPr id="14" name="Rounded Rectangle 13"/>
          <p:cNvSpPr/>
          <p:nvPr/>
        </p:nvSpPr>
        <p:spPr>
          <a:xfrm>
            <a:off x="8046719" y="2331720"/>
            <a:ext cx="3593592" cy="1828800"/>
          </a:xfrm>
          <a:prstGeom prst="roundRect">
            <a:avLst>
              <a:gd name="adj" fmla="val 4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600"/>
              </a:spcAft>
              <a:buFont typeface="Arial"/>
              <a:buChar char="•"/>
            </a:pPr>
            <a:r>
              <a:rPr sz="1700" b="0" i="0">
                <a:solidFill>
                  <a:srgbClr val="1E1E2E"/>
                </a:solidFill>
                <a:latin typeface="Arial"/>
              </a:rPr>
              <a:t>Reservation renewals</a:t>
            </a:r>
          </a:p>
          <a:p>
            <a:pPr algn="l" marL="201168" indent="-201168">
              <a:spcAft>
                <a:spcPts val="600"/>
              </a:spcAft>
              <a:buFont typeface="Arial"/>
              <a:buChar char="•"/>
            </a:pPr>
            <a:r>
              <a:rPr sz="1700" b="0" i="0">
                <a:solidFill>
                  <a:srgbClr val="1E1E2E"/>
                </a:solidFill>
                <a:latin typeface="Arial"/>
              </a:rPr>
              <a:t>Model retirement dates</a:t>
            </a:r>
          </a:p>
          <a:p>
            <a:pPr algn="l" marL="201168" indent="-201168">
              <a:spcAft>
                <a:spcPts val="600"/>
              </a:spcAft>
              <a:buFont typeface="Arial"/>
              <a:buChar char="•"/>
            </a:pPr>
            <a:r>
              <a:rPr sz="1700" b="0" i="0">
                <a:solidFill>
                  <a:srgbClr val="1E1E2E"/>
                </a:solidFill>
                <a:latin typeface="Arial"/>
              </a:rPr>
              <a:t>Licence true-up</a:t>
            </a:r>
          </a:p>
        </p:txBody>
      </p:sp>
      <p:graphicFrame>
        <p:nvGraphicFramePr>
          <p:cNvPr id="15" name="Table"/>
          <p:cNvGraphicFramePr>
            <a:graphicFrameLocks noGrp="1"/>
          </p:cNvGraphicFramePr>
          <p:nvPr/>
        </p:nvGraphicFramePr>
        <p:xfrm>
          <a:off x="548640" y="4343400"/>
          <a:ext cx="11091672" cy="1264920"/>
        </p:xfrm>
        <a:graphic>
          <a:graphicData uri="http://schemas.openxmlformats.org/drawingml/2006/table">
            <a:tbl>
              <a:tblPr firstRow="1" bandRow="0">
                <a:tableStyleId>{5C22544A-7EE6-4342-B048-85BDC9FD1C3A}</a:tableStyleId>
              </a:tblPr>
              <a:tblGrid>
                <a:gridCol w="4572000"/>
                <a:gridCol w="6519672"/>
              </a:tblGrid>
              <a:tr h="304800">
                <a:tc>
                  <a:txBody>
                    <a:bodyPr wrap="square" anchor="ctr">
                      <a:noAutofit/>
                    </a:bodyPr>
                    <a:lstStyle/>
                    <a:p>
                      <a:pPr algn="l"/>
                      <a:r>
                        <a:rPr sz="14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Source</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Azure cost, FOCUS format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Cost Management exports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Tokens by caller and agent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Gateway token metrics (offering 03)</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Utilisation and 429s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Foundry deployment metrics</a:t>
                      </a:r>
                    </a:p>
                  </a:txBody>
                  <a:tcPr marL="73152" marR="73152" marT="36576" marB="36576" anchor="ctr">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Qualification scorecard and account shortlist template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Q1</a:t>
            </a:r>
          </a:p>
        </p:txBody>
      </p:sp>
      <p:sp>
        <p:nvSpPr>
          <p:cNvPr id="5" name="Status chip: PROPOSED TOOL"/>
          <p:cNvSpPr/>
          <p:nvPr/>
        </p:nvSpPr>
        <p:spPr>
          <a:xfrm>
            <a:off x="189865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TOOL</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graphicFrame>
        <p:nvGraphicFramePr>
          <p:cNvPr id="9" name="Table"/>
          <p:cNvGraphicFramePr>
            <a:graphicFrameLocks noGrp="1"/>
          </p:cNvGraphicFramePr>
          <p:nvPr/>
        </p:nvGraphicFramePr>
        <p:xfrm>
          <a:off x="548640" y="1325880"/>
          <a:ext cx="6035039" cy="2910840"/>
        </p:xfrm>
        <a:graphic>
          <a:graphicData uri="http://schemas.openxmlformats.org/drawingml/2006/table">
            <a:tbl>
              <a:tblPr firstRow="1" bandRow="0">
                <a:tableStyleId>{5C22544A-7EE6-4342-B048-85BDC9FD1C3A}</a:tableStyleId>
              </a:tblPr>
              <a:tblGrid>
                <a:gridCol w="2743199"/>
                <a:gridCol w="3291840"/>
              </a:tblGrid>
              <a:tr h="289560">
                <a:tc>
                  <a:txBody>
                    <a:bodyPr wrap="square" anchor="ctr">
                      <a:noAutofit/>
                    </a:bodyPr>
                    <a:lstStyle/>
                    <a:p>
                      <a:pPr algn="l"/>
                      <a:r>
                        <a:rPr sz="1300" b="1" i="0">
                          <a:solidFill>
                            <a:srgbClr val="FFFFFF"/>
                          </a:solidFill>
                          <a:latin typeface="Arial"/>
                        </a:rPr>
                        <a:t>Criterion (score 0, 1 or 2)</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Funded workload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owner, budget route, decision date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Platform authority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Who can approve tenant and network changes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Executive sponsor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and engaged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Source owner and rights confirmed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Region and capacity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deployment type and quota checked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Measured traffic</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Telemetry or a defined load test</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Price inputs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Agreement prices available to us</a:t>
                      </a:r>
                    </a:p>
                  </a:txBody>
                  <a:tcPr marL="73152" marR="73152" marT="36576" marB="36576" anchor="ctr">
                    <a:solidFill>
                      <a:srgbClr val="FFFFFF"/>
                    </a:solidFill>
                  </a:tcPr>
                </a:tc>
              </a:tr>
            </a:tbl>
          </a:graphicData>
        </a:graphic>
      </p:graphicFrame>
      <p:sp>
        <p:nvSpPr>
          <p:cNvPr id="10" name="TextBox 9"/>
          <p:cNvSpPr txBox="1"/>
          <p:nvPr/>
        </p:nvSpPr>
        <p:spPr>
          <a:xfrm>
            <a:off x="6812280" y="1325880"/>
            <a:ext cx="4846320" cy="320040"/>
          </a:xfrm>
          <a:prstGeom prst="rect">
            <a:avLst/>
          </a:prstGeom>
          <a:noFill/>
        </p:spPr>
        <p:txBody>
          <a:bodyPr wrap="square" lIns="0" rIns="0" tIns="0" bIns="0" anchor="t">
            <a:noAutofit/>
          </a:bodyPr>
          <a:lstStyle/>
          <a:p>
            <a:pPr algn="l"/>
            <a:r>
              <a:rPr sz="1500" b="1" i="0">
                <a:solidFill>
                  <a:srgbClr val="000048"/>
                </a:solidFill>
                <a:latin typeface="Arial"/>
              </a:rPr>
              <a:t>Account shortlist (template, empty)</a:t>
            </a:r>
          </a:p>
        </p:txBody>
      </p:sp>
      <p:graphicFrame>
        <p:nvGraphicFramePr>
          <p:cNvPr id="11" name="Table"/>
          <p:cNvGraphicFramePr>
            <a:graphicFrameLocks noGrp="1"/>
          </p:cNvGraphicFramePr>
          <p:nvPr/>
        </p:nvGraphicFramePr>
        <p:xfrm>
          <a:off x="6812280" y="1691640"/>
          <a:ext cx="4828032" cy="2011680"/>
        </p:xfrm>
        <a:graphic>
          <a:graphicData uri="http://schemas.openxmlformats.org/drawingml/2006/table">
            <a:tbl>
              <a:tblPr firstRow="1" bandRow="0">
                <a:tableStyleId>{5C22544A-7EE6-4342-B048-85BDC9FD1C3A}</a:tableStyleId>
              </a:tblPr>
              <a:tblGrid>
                <a:gridCol w="914400"/>
                <a:gridCol w="777240"/>
                <a:gridCol w="868680"/>
                <a:gridCol w="777240"/>
                <a:gridCol w="594360"/>
                <a:gridCol w="896112"/>
              </a:tblGrid>
              <a:tr h="365760">
                <a:tc>
                  <a:txBody>
                    <a:bodyPr wrap="square" anchor="ctr">
                      <a:noAutofit/>
                    </a:bodyPr>
                    <a:lstStyle/>
                    <a:p>
                      <a:pPr algn="l"/>
                      <a:r>
                        <a:rPr sz="1000" b="1" i="0">
                          <a:solidFill>
                            <a:srgbClr val="FFFFFF"/>
                          </a:solidFill>
                          <a:latin typeface="Arial"/>
                        </a:rPr>
                        <a:t>Account</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Sponsor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Workload</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Blocker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Score</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Next action</a:t>
                      </a:r>
                    </a:p>
                  </a:txBody>
                  <a:tcPr marL="73152" marR="73152" marT="36576" marB="36576" anchor="ctr">
                    <a:solidFill>
                      <a:srgbClr val="000048"/>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bl>
          </a:graphicData>
        </a:graphic>
      </p:graphicFrame>
      <p:sp>
        <p:nvSpPr>
          <p:cNvPr id="12" name="Rounded Rectangle 11"/>
          <p:cNvSpPr/>
          <p:nvPr/>
        </p:nvSpPr>
        <p:spPr>
          <a:xfrm>
            <a:off x="548640" y="539496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Quote implementation at 12+ with no zero on funding, authority or sponsor. Otherwise sell the assessment.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the effort and duration ranges were built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E1</a:t>
            </a:r>
          </a:p>
        </p:txBody>
      </p:sp>
      <p:sp>
        <p:nvSpPr>
          <p:cNvPr id="5" name="Status chip: ESTIMATE, NOT APPROVED"/>
          <p:cNvSpPr/>
          <p:nvPr/>
        </p:nvSpPr>
        <p:spPr>
          <a:xfrm>
            <a:off x="189865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graphicFrame>
        <p:nvGraphicFramePr>
          <p:cNvPr id="9" name="Table"/>
          <p:cNvGraphicFramePr>
            <a:graphicFrameLocks noGrp="1"/>
          </p:cNvGraphicFramePr>
          <p:nvPr/>
        </p:nvGraphicFramePr>
        <p:xfrm>
          <a:off x="548640" y="1325880"/>
          <a:ext cx="11091672" cy="1935480"/>
        </p:xfrm>
        <a:graphic>
          <a:graphicData uri="http://schemas.openxmlformats.org/drawingml/2006/table">
            <a:tbl>
              <a:tblPr firstRow="1" bandRow="0">
                <a:tableStyleId>{5C22544A-7EE6-4342-B048-85BDC9FD1C3A}</a:tableStyleId>
              </a:tblPr>
              <a:tblGrid>
                <a:gridCol w="2560320"/>
                <a:gridCol w="4261104"/>
                <a:gridCol w="4270248"/>
              </a:tblGrid>
              <a:tr h="289560">
                <a:tc>
                  <a:txBody>
                    <a:bodyPr wrap="square" anchor="ctr">
                      <a:noAutofit/>
                    </a:bodyPr>
                    <a:lstStyle/>
                    <a:p>
                      <a:pPr algn="l"/>
                      <a:r>
                        <a:rPr sz="13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Low case assumes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High case assumes</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Assessment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Telemetry exists, two workloads, one region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No telemetry, six workloads, three regions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Benchmark add-on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One model, PTU benchmark only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Several models and a GPU serving benchmark</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Licence economics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365 and credits only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Several tenants and licence mixes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FinOps operating model</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Showback by product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Chargeback by team and agent with FOCUS reconciliation</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Monthly review</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Two workloads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Ten workloads with commitments</a:t>
                      </a:r>
                    </a:p>
                  </a:txBody>
                  <a:tcPr marL="73152" marR="73152" marT="36576" marB="36576" anchor="ctr">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threat model: what can go wrong, and who controls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SEC1</a:t>
            </a:r>
          </a:p>
        </p:txBody>
      </p:sp>
      <p:sp>
        <p:nvSpPr>
          <p:cNvPr id="5" name="Status chip: PROPOSED"/>
          <p:cNvSpPr/>
          <p:nvPr/>
        </p:nvSpPr>
        <p:spPr>
          <a:xfrm>
            <a:off x="209423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graphicFrame>
        <p:nvGraphicFramePr>
          <p:cNvPr id="9" name="Table"/>
          <p:cNvGraphicFramePr>
            <a:graphicFrameLocks noGrp="1"/>
          </p:cNvGraphicFramePr>
          <p:nvPr/>
        </p:nvGraphicFramePr>
        <p:xfrm>
          <a:off x="548640" y="1325880"/>
          <a:ext cx="11091672" cy="2042160"/>
        </p:xfrm>
        <a:graphic>
          <a:graphicData uri="http://schemas.openxmlformats.org/drawingml/2006/table">
            <a:tbl>
              <a:tblPr firstRow="1" bandRow="0">
                <a:tableStyleId>{5C22544A-7EE6-4342-B048-85BDC9FD1C3A}</a:tableStyleId>
              </a:tblPr>
              <a:tblGrid>
                <a:gridCol w="2377440"/>
                <a:gridCol w="3108960"/>
                <a:gridCol w="3566160"/>
                <a:gridCol w="2039112"/>
              </a:tblGrid>
              <a:tr h="289560">
                <a:tc>
                  <a:txBody>
                    <a:bodyPr wrap="square" anchor="ctr">
                      <a:noAutofit/>
                    </a:bodyPr>
                    <a:lstStyle/>
                    <a:p>
                      <a:pPr algn="l"/>
                      <a:r>
                        <a:rPr sz="1300" b="1" i="0">
                          <a:solidFill>
                            <a:srgbClr val="FFFFFF"/>
                          </a:solidFill>
                          <a:latin typeface="Arial"/>
                        </a:rPr>
                        <a:t>Threat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Denial of wallet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Runaway agent burns tokens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Token quotas, budgets, anomaly alerts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 budget owner</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Cost data exposure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Spend data reveals business plans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Role-based access to exports and reports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Telemetry with personal data</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Prompts captured in logs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Log token counts, not content; redaction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Unapproved model spend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Shadow deployments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Policy on deployment types, tag rules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 with Security</a:t>
                      </a:r>
                    </a:p>
                  </a:txBody>
                  <a:tcPr marL="73152" marR="73152" marT="36576" marB="36576" anchor="ctr">
                    <a:solidFill>
                      <a:srgbClr val="F5F5F2"/>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Security services and regulatory checkpoints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SEC2</a:t>
            </a:r>
          </a:p>
        </p:txBody>
      </p:sp>
      <p:sp>
        <p:nvSpPr>
          <p:cNvPr id="5" name="Status chip: CHECKED 11 OCT 2026"/>
          <p:cNvSpPr/>
          <p:nvPr/>
        </p:nvSpPr>
        <p:spPr>
          <a:xfrm>
            <a:off x="209423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Status chip: NOT LEGAL ADVICE"/>
          <p:cNvSpPr/>
          <p:nvPr/>
        </p:nvSpPr>
        <p:spPr>
          <a:xfrm>
            <a:off x="410083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LEGAL ADVICE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graphicFrame>
        <p:nvGraphicFramePr>
          <p:cNvPr id="10" name="Table"/>
          <p:cNvGraphicFramePr>
            <a:graphicFrameLocks noGrp="1"/>
          </p:cNvGraphicFramePr>
          <p:nvPr/>
        </p:nvGraphicFramePr>
        <p:xfrm>
          <a:off x="548640" y="1325880"/>
          <a:ext cx="11091672" cy="2743200"/>
        </p:xfrm>
        <a:graphic>
          <a:graphicData uri="http://schemas.openxmlformats.org/drawingml/2006/table">
            <a:tbl>
              <a:tblPr firstRow="1" bandRow="0">
                <a:tableStyleId>{5C22544A-7EE6-4342-B048-85BDC9FD1C3A}</a:tableStyleId>
              </a:tblPr>
              <a:tblGrid>
                <a:gridCol w="2926080"/>
                <a:gridCol w="4023360"/>
                <a:gridCol w="2103120"/>
                <a:gridCol w="2039112"/>
              </a:tblGrid>
              <a:tr h="457200">
                <a:tc>
                  <a:txBody>
                    <a:bodyPr wrap="square" anchor="ctr">
                      <a:noAutofit/>
                    </a:bodyPr>
                    <a:lstStyle/>
                    <a:p>
                      <a:pPr algn="l"/>
                      <a:r>
                        <a:rPr sz="1200" b="1" i="0">
                          <a:solidFill>
                            <a:srgbClr val="FFFFFF"/>
                          </a:solidFill>
                          <a:latin typeface="Arial"/>
                        </a:rPr>
                        <a:t>Service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Role in AI security</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(checked 11 Oct 2026)</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Defender for Cloud AI threat protection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Alerts on jailbreak, data leakage, credential theft for Foundry and Azure OpenAI models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text tokens only</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Purview DSPM (and DSPM for AI)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Data security posture for Copilot, Copilot Studio, Foundry and third-party AI apps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with Data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Mixed current and preview</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Microsoft Sentinel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SIEM correlation of AI, identity and gateway signals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(not re-verified)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Entra Agent ID and Conditional Access for agents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Agent identities; block or restrict agent sign-ins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designs, CIS Infra implements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Partly preview; needs Agent 365 licence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Content Safety and Prompt Shields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Prompt-attack and harm filtering at gateway or model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 configures, Security sets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(via APIM policy)</a:t>
                      </a:r>
                    </a:p>
                  </a:txBody>
                  <a:tcPr marL="73152" marR="73152" marT="36576" marB="36576" anchor="ctr">
                    <a:solidFill>
                      <a:srgbClr val="FFFFFF"/>
                    </a:solidFill>
                  </a:tcPr>
                </a:tc>
              </a:tr>
            </a:tbl>
          </a:graphicData>
        </a:graphic>
      </p:graphicFrame>
      <p:graphicFrame>
        <p:nvGraphicFramePr>
          <p:cNvPr id="11" name="Table"/>
          <p:cNvGraphicFramePr>
            <a:graphicFrameLocks noGrp="1"/>
          </p:cNvGraphicFramePr>
          <p:nvPr/>
        </p:nvGraphicFramePr>
        <p:xfrm>
          <a:off x="548640" y="4206240"/>
          <a:ext cx="11091672" cy="1554480"/>
        </p:xfrm>
        <a:graphic>
          <a:graphicData uri="http://schemas.openxmlformats.org/drawingml/2006/table">
            <a:tbl>
              <a:tblPr firstRow="1" bandRow="0">
                <a:tableStyleId>{5C22544A-7EE6-4342-B048-85BDC9FD1C3A}</a:tableStyleId>
              </a:tblPr>
              <a:tblGrid>
                <a:gridCol w="2194560"/>
                <a:gridCol w="5486400"/>
                <a:gridCol w="3410712"/>
              </a:tblGrid>
              <a:tr h="274320">
                <a:tc>
                  <a:txBody>
                    <a:bodyPr wrap="square" anchor="ctr">
                      <a:noAutofit/>
                    </a:bodyPr>
                    <a:lstStyle/>
                    <a:p>
                      <a:pPr algn="l"/>
                      <a:r>
                        <a:rPr sz="1200" b="1" i="0">
                          <a:solidFill>
                            <a:srgbClr val="FFFFFF"/>
                          </a:solidFill>
                          <a:latin typeface="Arial"/>
                        </a:rPr>
                        <a:t>Jurisdiction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Checkpoint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to verify</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EU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Act: Annex III high-risk from 2 Dec 2027; Annex I from 2 Aug 2028; GDPR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Orrick summary of Reg. (EU) 2026/1744</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UK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Principles-based regulator guidance; UK GDPR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Verify current government position</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UAE and Saudi Arabia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Personal data protection laws; data residency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Verify sector rules and residency</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Any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ISO/IEC 42001 AI management system (optional)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decision</a:t>
                      </a:r>
                    </a:p>
                  </a:txBody>
                  <a:tcPr marL="73152" marR="73152" marT="36576" marB="36576" anchor="ctr">
                    <a:solidFill>
                      <a:srgbClr val="F5F5F2"/>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Glossary of terms used in this deck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G1</a:t>
            </a:r>
          </a:p>
        </p:txBody>
      </p:sp>
      <p:sp>
        <p:nvSpPr>
          <p:cNvPr id="5" name="Status chip: REFERENCE"/>
          <p:cNvSpPr/>
          <p:nvPr/>
        </p:nvSpPr>
        <p:spPr>
          <a:xfrm>
            <a:off x="1898650" y="274320"/>
            <a:ext cx="10515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graphicFrame>
        <p:nvGraphicFramePr>
          <p:cNvPr id="9" name="Table"/>
          <p:cNvGraphicFramePr>
            <a:graphicFrameLocks noGrp="1"/>
          </p:cNvGraphicFramePr>
          <p:nvPr/>
        </p:nvGraphicFramePr>
        <p:xfrm>
          <a:off x="548640" y="1325880"/>
          <a:ext cx="5468112" cy="419100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A2A</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Agent-to-agent protocol for agents calling other agents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Agent 365</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control plane to register, observe and govern agents (per-user licence)</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API Center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registry for APIs and MCP servers; decides which tools exist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APIM</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Azure API Management; the gateway that controls traffic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Copilot Studio</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Microsoft low-code tool to build agents; consumption in Copilot credits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Model processing inside a Microsoft data zone (US, EU or APAC)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FOCUS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FinOps Open Cost and Usage Specification for cost data exports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Foundry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Foundry: Azure platform for models and agents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2" cy="359664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MCP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Context Protocol: standard way for agents to call tools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PAYG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Pay as you go: pay per token used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PIM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Privileged Identity Management: just-in-time admin access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PTU</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Provisioned throughput unit: reserved model capacity, billed per hour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RACI</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Responsible, Accountable, Consulted, Informed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RTO / RPO</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Recovery time objective / recovery point objective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TPM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Tokens per minute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Token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Unit of text a model reads or writes; the main pricing unit</a:t>
                      </a:r>
                    </a:p>
                  </a:txBody>
                  <a:tcPr marL="73152" marR="73152" marT="36576" marB="36576" anchor="ctr">
                    <a:solidFill>
                      <a:srgbClr val="F5F5F2"/>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containment: how this offering contributes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069340" cy="256032"/>
          </a:xfrm>
          <a:prstGeom prst="rect">
            <a:avLst/>
          </a:prstGeom>
          <a:noFill/>
        </p:spPr>
        <p:txBody>
          <a:bodyPr wrap="square" lIns="0" rIns="0" tIns="0" bIns="0" anchor="t">
            <a:noAutofit/>
          </a:bodyPr>
          <a:lstStyle/>
          <a:p>
            <a:pPr algn="l"/>
            <a:r>
              <a:rPr sz="1100" b="1" i="0">
                <a:solidFill>
                  <a:srgbClr val="2F78C4"/>
                </a:solidFill>
                <a:latin typeface="Arial"/>
              </a:rPr>
              <a:t>APPENDIX K</a:t>
            </a:r>
          </a:p>
        </p:txBody>
      </p:sp>
      <p:sp>
        <p:nvSpPr>
          <p:cNvPr id="5" name="Status chip: CROSS-REFERENCE"/>
          <p:cNvSpPr/>
          <p:nvPr/>
        </p:nvSpPr>
        <p:spPr>
          <a:xfrm>
            <a:off x="1800860" y="274320"/>
            <a:ext cx="15697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CROSS-REFERENCE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38</a:t>
            </a:r>
          </a:p>
        </p:txBody>
      </p:sp>
      <p:sp>
        <p:nvSpPr>
          <p:cNvPr id="9" name="Rounded Rectangle 8"/>
          <p:cNvSpPr/>
          <p:nvPr/>
        </p:nvSpPr>
        <p:spPr>
          <a:xfrm>
            <a:off x="548640"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Block new requests</a:t>
            </a:r>
          </a:p>
          <a:p>
            <a:pPr algn="l"/>
            <a:r>
              <a:rPr sz="1300" b="0" i="0">
                <a:solidFill>
                  <a:srgbClr val="53565A"/>
                </a:solidFill>
                <a:latin typeface="Arial"/>
              </a:rPr>
              <a:t>API Management ingress</a:t>
            </a:r>
          </a:p>
        </p:txBody>
      </p:sp>
      <p:sp>
        <p:nvSpPr>
          <p:cNvPr id="10" name="Oval 9"/>
          <p:cNvSpPr/>
          <p:nvPr/>
        </p:nvSpPr>
        <p:spPr>
          <a:xfrm>
            <a:off x="658368"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11" name="Connector (flow)"/>
          <p:cNvCxnSpPr/>
          <p:nvPr/>
        </p:nvCxnSpPr>
        <p:spPr>
          <a:xfrm>
            <a:off x="411480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Cancel or isolate</a:t>
            </a:r>
          </a:p>
          <a:p>
            <a:pPr algn="l"/>
            <a:r>
              <a:rPr sz="1300" b="0" i="0">
                <a:solidFill>
                  <a:srgbClr val="53565A"/>
                </a:solidFill>
                <a:latin typeface="Arial"/>
              </a:rPr>
              <a:t>runtime adapter</a:t>
            </a:r>
          </a:p>
        </p:txBody>
      </p:sp>
      <p:sp>
        <p:nvSpPr>
          <p:cNvPr id="13" name="Oval 12"/>
          <p:cNvSpPr/>
          <p:nvPr/>
        </p:nvSpPr>
        <p:spPr>
          <a:xfrm>
            <a:off x="440740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14" name="Connector (flow)"/>
          <p:cNvCxnSpPr/>
          <p:nvPr/>
        </p:nvCxnSpPr>
        <p:spPr>
          <a:xfrm>
            <a:off x="786384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1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Deny actions</a:t>
            </a:r>
          </a:p>
          <a:p>
            <a:pPr algn="l"/>
            <a:r>
              <a:rPr sz="1300" b="0" i="0">
                <a:solidFill>
                  <a:srgbClr val="53565A"/>
                </a:solidFill>
                <a:latin typeface="Arial"/>
              </a:rPr>
              <a:t>outbound gateway, tool guard</a:t>
            </a:r>
          </a:p>
        </p:txBody>
      </p:sp>
      <p:sp>
        <p:nvSpPr>
          <p:cNvPr id="16" name="Oval 15"/>
          <p:cNvSpPr/>
          <p:nvPr/>
        </p:nvSpPr>
        <p:spPr>
          <a:xfrm>
            <a:off x="815644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17" name="TextBox 16"/>
          <p:cNvSpPr txBox="1"/>
          <p:nvPr/>
        </p:nvSpPr>
        <p:spPr>
          <a:xfrm>
            <a:off x="548640" y="2560320"/>
            <a:ext cx="11064240" cy="320040"/>
          </a:xfrm>
          <a:prstGeom prst="rect">
            <a:avLst/>
          </a:prstGeom>
          <a:noFill/>
        </p:spPr>
        <p:txBody>
          <a:bodyPr wrap="square" lIns="0" rIns="0" tIns="0" bIns="0" anchor="t">
            <a:noAutofit/>
          </a:bodyPr>
          <a:lstStyle/>
          <a:p>
            <a:pPr algn="l"/>
            <a:r>
              <a:rPr sz="1700" b="1" i="0">
                <a:solidFill>
                  <a:srgbClr val="000048"/>
                </a:solidFill>
                <a:latin typeface="Arial"/>
              </a:rPr>
              <a:t>What this offering provides</a:t>
            </a:r>
          </a:p>
        </p:txBody>
      </p:sp>
      <p:sp>
        <p:nvSpPr>
          <p:cNvPr id="18" name="TextBox 17"/>
          <p:cNvSpPr txBox="1"/>
          <p:nvPr/>
        </p:nvSpPr>
        <p:spPr>
          <a:xfrm>
            <a:off x="548640" y="2926080"/>
            <a:ext cx="11064240" cy="2651760"/>
          </a:xfrm>
          <a:prstGeom prst="rect">
            <a:avLst/>
          </a:prstGeom>
          <a:noFill/>
        </p:spPr>
        <p:txBody>
          <a:bodyPr wrap="square" lIns="0" rIns="0" tIns="0" bIns="0" anchor="t">
            <a:noAutofit/>
          </a:bodyPr>
          <a:lstStyle/>
          <a:p>
            <a:pPr algn="l" marL="201168" indent="-201168">
              <a:spcAft>
                <a:spcPts val="600"/>
              </a:spcAft>
              <a:buFont typeface="Arial"/>
              <a:buChar char="•"/>
            </a:pPr>
            <a:r>
              <a:rPr sz="1800" b="0" i="0">
                <a:solidFill>
                  <a:srgbClr val="1E1E2E"/>
                </a:solidFill>
                <a:latin typeface="Arial"/>
              </a:rPr>
              <a:t>Per-agent token budgets that cap runaway cost while containment acts</a:t>
            </a:r>
          </a:p>
          <a:p>
            <a:pPr algn="l" marL="201168" indent="-201168">
              <a:spcAft>
                <a:spcPts val="600"/>
              </a:spcAft>
              <a:buFont typeface="Arial"/>
              <a:buChar char="•"/>
            </a:pPr>
            <a:r>
              <a:rPr sz="1800" b="0" i="0">
                <a:solidFill>
                  <a:srgbClr val="1E1E2E"/>
                </a:solidFill>
                <a:latin typeface="Arial"/>
              </a:rPr>
              <a:t>Loop and retry amplification measured, so containment tests include cost impact</a:t>
            </a:r>
          </a:p>
          <a:p>
            <a:pPr algn="l" marL="201168" indent="-201168">
              <a:spcAft>
                <a:spcPts val="600"/>
              </a:spcAft>
              <a:buFont typeface="Arial"/>
              <a:buChar char="•"/>
            </a:pPr>
            <a:r>
              <a:rPr sz="1800" b="0" i="0">
                <a:solidFill>
                  <a:srgbClr val="1E1E2E"/>
                </a:solidFill>
                <a:latin typeface="Arial"/>
              </a:rPr>
              <a:t>Overflow alerts that flag abnormal agent usage early</a:t>
            </a:r>
          </a:p>
          <a:p>
            <a:pPr algn="l" marL="201168" indent="-201168">
              <a:spcAft>
                <a:spcPts val="600"/>
              </a:spcAft>
              <a:buFont typeface="Arial"/>
              <a:buChar char="•"/>
            </a:pPr>
            <a:r>
              <a:rPr sz="1800" b="0" i="0">
                <a:solidFill>
                  <a:srgbClr val="1E1E2E"/>
                </a:solidFill>
                <a:latin typeface="Arial"/>
              </a:rPr>
              <a:t>Full architecture: decks 02 and 05</a:t>
            </a:r>
          </a:p>
        </p:txBody>
      </p:sp>
      <p:sp>
        <p:nvSpPr>
          <p:cNvPr id="19" name="Rounded Rectangle 18"/>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No universal instant stop. Full architecture, limits and tests: deck 02 (Agent Governance) and deck 05 (Managed Operations).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39</a:t>
            </a:r>
          </a:p>
        </p:txBody>
      </p:sp>
      <p:graphicFrame>
        <p:nvGraphicFramePr>
          <p:cNvPr id="9" name="Table"/>
          <p:cNvGraphicFramePr>
            <a:graphicFrameLocks noGrp="1"/>
          </p:cNvGraphicFramePr>
          <p:nvPr/>
        </p:nvGraphicFramePr>
        <p:xfrm>
          <a:off x="548640" y="1325880"/>
          <a:ext cx="11091672" cy="265176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Assessment and decision memo</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Fixed fee per bounded scope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Fee level (Finance)</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usage forecast; Finance treatment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role days x rate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tower estimate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Monthly review (offering 05)</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Included in service base or add-on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Service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Logs, storage for exports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GB ingested, GB stored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Volumes (CIS Infra)</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What the customer buys after the decision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x price; PTU x hours or reservation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Reservation price (customer, Microsoft)</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if self-hosting is chosen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VMs x hours or reservation + ops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Benchmark (AI); VM terms (customer)</a:t>
                      </a:r>
                    </a:p>
                  </a:txBody>
                  <a:tcPr marL="73152" marR="73152" marT="36576" marB="36576" anchor="ctr">
                    <a:solidFill>
                      <a:srgbClr val="F5F5F2"/>
                    </a:solidFill>
                  </a:tcPr>
                </a:tc>
              </a:tr>
            </a:tbl>
          </a:graphicData>
        </a:graphic>
      </p:graphicFrame>
      <p:sp>
        <p:nvSpPr>
          <p:cNvPr id="10" name="Rounded Rectangle 9"/>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40</a:t>
            </a:r>
          </a:p>
        </p:txBody>
      </p:sp>
      <p:graphicFrame>
        <p:nvGraphicFramePr>
          <p:cNvPr id="9" name="Table"/>
          <p:cNvGraphicFramePr>
            <a:graphicFrameLocks noGrp="1"/>
          </p:cNvGraphicFramePr>
          <p:nvPr/>
        </p:nvGraphicFramePr>
        <p:xfrm>
          <a:off x="548640" y="1325880"/>
          <a:ext cx="11091671" cy="303276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0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CIS</a:t>
                      </a:r>
                    </a:p>
                    <a:p>
                      <a:pPr algn="ctr"/>
                      <a:r>
                        <a:rPr sz="10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Secu-</a:t>
                      </a:r>
                    </a:p>
                    <a:p>
                      <a:pPr algn="ctr"/>
                      <a:r>
                        <a:rPr sz="10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Dev-</a:t>
                      </a:r>
                    </a:p>
                    <a:p>
                      <a:pPr algn="ctr"/>
                      <a:r>
                        <a:rPr sz="10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p>
                      <a:pPr algn="ctr"/>
                      <a:r>
                        <a:rPr sz="10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Integr.</a:t>
                      </a:r>
                    </a:p>
                    <a:p>
                      <a:pPr algn="ctr"/>
                      <a:r>
                        <a:rPr sz="1000" b="1" i="0">
                          <a:solidFill>
                            <a:srgbClr val="FFFFFF"/>
                          </a:solidFill>
                          <a:latin typeface="Arial"/>
                        </a:rPr>
                        <a:t>service</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Cust.</a:t>
                      </a:r>
                    </a:p>
                    <a:p>
                      <a:pPr algn="ctr"/>
                      <a:r>
                        <a:rPr sz="1000" b="1" i="0">
                          <a:solidFill>
                            <a:srgbClr val="FFFFFF"/>
                          </a:solidFill>
                          <a:latin typeface="Arial"/>
                        </a:rPr>
                        <a:t>work-</a:t>
                      </a:r>
                    </a:p>
                    <a:p>
                      <a:pPr algn="ctr"/>
                      <a:r>
                        <a:rPr sz="1000" b="1" i="0">
                          <a:solidFill>
                            <a:srgbClr val="FFFFFF"/>
                          </a:solidFill>
                          <a:latin typeface="Arial"/>
                        </a:rPr>
                        <a:t>load</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Comm.</a:t>
                      </a:r>
                    </a:p>
                    <a:p>
                      <a:pPr algn="ctr"/>
                      <a:r>
                        <a:rPr sz="1000" b="1" i="0">
                          <a:solidFill>
                            <a:srgbClr val="FFFFFF"/>
                          </a:solidFill>
                          <a:latin typeface="Arial"/>
                        </a:rPr>
                        <a:t>/ fin.</a:t>
                      </a:r>
                    </a:p>
                  </a:txBody>
                  <a:tcPr marL="73152" marR="73152" marT="36576" marB="36576" anchor="ctr">
                    <a:solidFill>
                      <a:srgbClr val="000048"/>
                    </a:solidFill>
                  </a:tcPr>
                </a:tc>
              </a:tr>
              <a:tr h="259080">
                <a:tc>
                  <a:txBody>
                    <a:bodyPr wrap="square" anchor="ctr">
                      <a:noAutofit/>
                    </a:bodyPr>
                    <a:lstStyle/>
                    <a:p>
                      <a:pPr algn="l"/>
                      <a:r>
                        <a:rPr sz="1100" b="0" i="0">
                          <a:solidFill>
                            <a:srgbClr val="1E1E2E"/>
                          </a:solidFill>
                          <a:latin typeface="Arial"/>
                        </a:rPr>
                        <a:t>Assessment plan and scope</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Telemetry baseline design and build</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Usage forecast and model choice</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Load tests and benchmarks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Cost model and sensitivity</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Decision memo acceptance</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Capacity commitment decision</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Ongoing monthly review</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Pricing, attribution and quote</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446836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Revenue attribution follows contracted work packages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R2</a:t>
            </a:r>
          </a:p>
        </p:txBody>
      </p:sp>
      <p:sp>
        <p:nvSpPr>
          <p:cNvPr id="5" name="Status chip: PROPOSED FRAMEWORK"/>
          <p:cNvSpPr/>
          <p:nvPr/>
        </p:nvSpPr>
        <p:spPr>
          <a:xfrm>
            <a:off x="189865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FRAMEWORK</a:t>
            </a:r>
          </a:p>
        </p:txBody>
      </p:sp>
      <p:sp>
        <p:nvSpPr>
          <p:cNvPr id="6" name="Status chip: HYPOTHETICAL EXAMPLE"/>
          <p:cNvSpPr/>
          <p:nvPr/>
        </p:nvSpPr>
        <p:spPr>
          <a:xfrm>
            <a:off x="3818890" y="274320"/>
            <a:ext cx="2001519"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HYPOTHETICAL EXAMPLE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41</a:t>
            </a:r>
          </a:p>
        </p:txBody>
      </p:sp>
      <p:sp>
        <p:nvSpPr>
          <p:cNvPr id="10" name="TextBox 9"/>
          <p:cNvSpPr txBox="1"/>
          <p:nvPr/>
        </p:nvSpPr>
        <p:spPr>
          <a:xfrm>
            <a:off x="548640" y="1325880"/>
            <a:ext cx="5760720" cy="320040"/>
          </a:xfrm>
          <a:prstGeom prst="rect">
            <a:avLst/>
          </a:prstGeom>
          <a:noFill/>
        </p:spPr>
        <p:txBody>
          <a:bodyPr wrap="square" lIns="0" rIns="0" tIns="0" bIns="0" anchor="t">
            <a:noAutofit/>
          </a:bodyPr>
          <a:lstStyle/>
          <a:p>
            <a:pPr algn="l"/>
            <a:r>
              <a:rPr sz="1600" b="1" i="0">
                <a:solidFill>
                  <a:srgbClr val="000048"/>
                </a:solidFill>
                <a:latin typeface="Arial"/>
              </a:rPr>
              <a:t>Four separate views</a:t>
            </a:r>
          </a:p>
        </p:txBody>
      </p:sp>
      <p:graphicFrame>
        <p:nvGraphicFramePr>
          <p:cNvPr id="11" name="Table"/>
          <p:cNvGraphicFramePr>
            <a:graphicFrameLocks noGrp="1"/>
          </p:cNvGraphicFramePr>
          <p:nvPr/>
        </p:nvGraphicFramePr>
        <p:xfrm>
          <a:off x="548640" y="1691640"/>
          <a:ext cx="5760717" cy="2468880"/>
        </p:xfrm>
        <a:graphic>
          <a:graphicData uri="http://schemas.openxmlformats.org/drawingml/2006/table">
            <a:tbl>
              <a:tblPr firstRow="1" bandRow="0">
                <a:tableStyleId>{5C22544A-7EE6-4342-B048-85BDC9FD1C3A}</a:tableStyleId>
              </a:tblPr>
              <a:tblGrid>
                <a:gridCol w="1234439"/>
                <a:gridCol w="2834639"/>
                <a:gridCol w="1691639"/>
              </a:tblGrid>
              <a:tr h="274320">
                <a:tc>
                  <a:txBody>
                    <a:bodyPr wrap="square" anchor="ctr">
                      <a:noAutofit/>
                    </a:bodyPr>
                    <a:lstStyle/>
                    <a:p>
                      <a:pPr algn="l"/>
                      <a:r>
                        <a:rPr sz="1200" b="1" i="0">
                          <a:solidFill>
                            <a:srgbClr val="FFFFFF"/>
                          </a:solidFill>
                          <a:latin typeface="Arial"/>
                        </a:rPr>
                        <a:t>View</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Basis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 of the rule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Sales credit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Origination and pursuit role, per internal sales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Sales leadership</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Booked revenue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Priced work package in the signed SOW, credited to the delivering tower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Delivery cost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Actual role days at approved loaded cost, per work package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Delivering tower</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Margin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Work package revenue minus its delivery cost; shared costs allocated once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with integrated service owner</a:t>
                      </a:r>
                    </a:p>
                  </a:txBody>
                  <a:tcPr marL="73152" marR="73152" marT="36576" marB="36576" anchor="ctr">
                    <a:solidFill>
                      <a:srgbClr val="F5F5F2"/>
                    </a:solidFill>
                  </a:tcPr>
                </a:tc>
              </a:tr>
            </a:tbl>
          </a:graphicData>
        </a:graphic>
      </p:graphicFrame>
      <p:sp>
        <p:nvSpPr>
          <p:cNvPr id="12" name="TextBox 11"/>
          <p:cNvSpPr txBox="1"/>
          <p:nvPr/>
        </p:nvSpPr>
        <p:spPr>
          <a:xfrm>
            <a:off x="548640" y="4297680"/>
            <a:ext cx="5760720" cy="320040"/>
          </a:xfrm>
          <a:prstGeom prst="rect">
            <a:avLst/>
          </a:prstGeom>
          <a:noFill/>
        </p:spPr>
        <p:txBody>
          <a:bodyPr wrap="square" lIns="0" rIns="0" tIns="0" bIns="0" anchor="t">
            <a:noAutofit/>
          </a:bodyPr>
          <a:lstStyle/>
          <a:p>
            <a:pPr algn="l"/>
            <a:r>
              <a:rPr sz="1600" b="1" i="0">
                <a:solidFill>
                  <a:srgbClr val="000048"/>
                </a:solidFill>
                <a:latin typeface="Arial"/>
              </a:rPr>
              <a:t>Approval mechanism</a:t>
            </a:r>
          </a:p>
        </p:txBody>
      </p:sp>
      <p:sp>
        <p:nvSpPr>
          <p:cNvPr id="13" name="TextBox 12"/>
          <p:cNvSpPr txBox="1"/>
          <p:nvPr/>
        </p:nvSpPr>
        <p:spPr>
          <a:xfrm>
            <a:off x="548640" y="4636008"/>
            <a:ext cx="5760720" cy="1097280"/>
          </a:xfrm>
          <a:prstGeom prst="rect">
            <a:avLst/>
          </a:prstGeom>
          <a:noFill/>
        </p:spPr>
        <p:txBody>
          <a:bodyPr wrap="square" lIns="0" rIns="0" tIns="0" bIns="0" anchor="t">
            <a:noAutofit/>
          </a:bodyPr>
          <a:lstStyle/>
          <a:p>
            <a:pPr algn="l" marL="201168" indent="-201168">
              <a:spcAft>
                <a:spcPts val="300"/>
              </a:spcAft>
              <a:buFont typeface="Arial"/>
              <a:buChar char="•"/>
            </a:pPr>
            <a:r>
              <a:rPr sz="1400" b="0" i="0">
                <a:solidFill>
                  <a:srgbClr val="1E1E2E"/>
                </a:solidFill>
                <a:latin typeface="Arial"/>
              </a:rPr>
              <a:t>Tower leads agree the work package ledger before pricing</a:t>
            </a:r>
          </a:p>
          <a:p>
            <a:pPr algn="l" marL="201168" indent="-201168">
              <a:spcAft>
                <a:spcPts val="300"/>
              </a:spcAft>
              <a:buFont typeface="Arial"/>
              <a:buChar char="•"/>
            </a:pPr>
            <a:r>
              <a:rPr sz="1400" b="0" i="0">
                <a:solidFill>
                  <a:srgbClr val="1E1E2E"/>
                </a:solidFill>
                <a:latin typeface="Arial"/>
              </a:rPr>
              <a:t>Finance approves attribution, shared-cost and pass-through treatment</a:t>
            </a:r>
          </a:p>
          <a:p>
            <a:pPr algn="l" marL="201168" indent="-201168">
              <a:spcAft>
                <a:spcPts val="300"/>
              </a:spcAft>
              <a:buFont typeface="Arial"/>
              <a:buChar char="•"/>
            </a:pPr>
            <a:r>
              <a:rPr sz="1400" b="0" i="0">
                <a:solidFill>
                  <a:srgbClr val="1E1E2E"/>
                </a:solidFill>
                <a:latin typeface="Arial"/>
              </a:rPr>
              <a:t>Changes in scope rebaseline the ledger through change control</a:t>
            </a:r>
          </a:p>
        </p:txBody>
      </p:sp>
      <p:sp>
        <p:nvSpPr>
          <p:cNvPr id="14" name="TextBox 13"/>
          <p:cNvSpPr txBox="1"/>
          <p:nvPr/>
        </p:nvSpPr>
        <p:spPr>
          <a:xfrm>
            <a:off x="6629400" y="1325880"/>
            <a:ext cx="5029200" cy="320040"/>
          </a:xfrm>
          <a:prstGeom prst="rect">
            <a:avLst/>
          </a:prstGeom>
          <a:noFill/>
        </p:spPr>
        <p:txBody>
          <a:bodyPr wrap="square" lIns="0" rIns="0" tIns="0" bIns="0" anchor="t">
            <a:noAutofit/>
          </a:bodyPr>
          <a:lstStyle/>
          <a:p>
            <a:pPr algn="l"/>
            <a:r>
              <a:rPr sz="1600" b="1" i="0">
                <a:solidFill>
                  <a:srgbClr val="000048"/>
                </a:solidFill>
                <a:latin typeface="Arial"/>
              </a:rPr>
              <a:t>Hypothetical worked example</a:t>
            </a:r>
          </a:p>
        </p:txBody>
      </p:sp>
      <p:graphicFrame>
        <p:nvGraphicFramePr>
          <p:cNvPr id="15" name="Table"/>
          <p:cNvGraphicFramePr>
            <a:graphicFrameLocks noGrp="1"/>
          </p:cNvGraphicFramePr>
          <p:nvPr/>
        </p:nvGraphicFramePr>
        <p:xfrm>
          <a:off x="6629400" y="1691640"/>
          <a:ext cx="5010912" cy="1920240"/>
        </p:xfrm>
        <a:graphic>
          <a:graphicData uri="http://schemas.openxmlformats.org/drawingml/2006/table">
            <a:tbl>
              <a:tblPr firstRow="1" bandRow="0">
                <a:tableStyleId>{5C22544A-7EE6-4342-B048-85BDC9FD1C3A}</a:tableStyleId>
              </a:tblPr>
              <a:tblGrid>
                <a:gridCol w="2377440"/>
                <a:gridCol w="1417320"/>
                <a:gridCol w="1216152"/>
              </a:tblGrid>
              <a:tr h="457200">
                <a:tc>
                  <a:txBody>
                    <a:bodyPr wrap="square" anchor="ctr">
                      <a:noAutofit/>
                    </a:bodyPr>
                    <a:lstStyle/>
                    <a:p>
                      <a:pPr algn="l"/>
                      <a:r>
                        <a:rPr sz="1200" b="1" i="0">
                          <a:solidFill>
                            <a:srgbClr val="FFFFFF"/>
                          </a:solidFill>
                          <a:latin typeface="Arial"/>
                        </a:rPr>
                        <a:t>Work package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Delivering tower</a:t>
                      </a:r>
                    </a:p>
                  </a:txBody>
                  <a:tcPr marL="73152" marR="73152" marT="36576" marB="36576" anchor="ctr">
                    <a:solidFill>
                      <a:srgbClr val="000048"/>
                    </a:solidFill>
                  </a:tcPr>
                </a:tc>
                <a:tc>
                  <a:txBody>
                    <a:bodyPr wrap="square" anchor="ctr">
                      <a:noAutofit/>
                    </a:bodyPr>
                    <a:lstStyle/>
                    <a:p>
                      <a:pPr algn="r"/>
                      <a:r>
                        <a:rPr sz="1200" b="1" i="0">
                          <a:solidFill>
                            <a:srgbClr val="FFFFFF"/>
                          </a:solidFill>
                          <a:latin typeface="Arial"/>
                        </a:rPr>
                        <a:t>Hypothetical fee</a:t>
                      </a:r>
                    </a:p>
                  </a:txBody>
                  <a:tcPr marL="73152" marR="73152" marT="36576" marB="36576" anchor="ctr">
                    <a:solidFill>
                      <a:srgbClr val="000048"/>
                    </a:solidFill>
                  </a:tcPr>
                </a:tc>
              </a:tr>
              <a:tr h="457200">
                <a:tc>
                  <a:txBody>
                    <a:bodyPr wrap="square" anchor="ctr">
                      <a:noAutofit/>
                    </a:bodyPr>
                    <a:lstStyle/>
                    <a:p>
                      <a:pPr algn="l"/>
                      <a:r>
                        <a:rPr sz="1200" b="0" i="0">
                          <a:solidFill>
                            <a:srgbClr val="1E1E2E"/>
                          </a:solidFill>
                          <a:latin typeface="Arial"/>
                        </a:rPr>
                        <a:t>Assessment, telemetry and cost model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$60,000</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Usage forecast and benchmarks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$25,000</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Data source review (if needed)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Data</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$5,000</a:t>
                      </a:r>
                    </a:p>
                  </a:txBody>
                  <a:tcPr marL="73152" marR="73152" marT="36576" marB="36576" anchor="ctr">
                    <a:solidFill>
                      <a:srgbClr val="FFFFFF"/>
                    </a:solidFill>
                  </a:tcPr>
                </a:tc>
              </a:tr>
              <a:tr h="274320">
                <a:tc>
                  <a:txBody>
                    <a:bodyPr wrap="square" anchor="ctr">
                      <a:noAutofit/>
                    </a:bodyPr>
                    <a:lstStyle/>
                    <a:p>
                      <a:pPr algn="l"/>
                      <a:r>
                        <a:rPr sz="1200" b="1" i="0">
                          <a:solidFill>
                            <a:srgbClr val="000048"/>
                          </a:solidFill>
                          <a:latin typeface="Arial"/>
                        </a:rPr>
                        <a:t>Services total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r"/>
                      <a:r>
                        <a:rPr sz="1200" b="1" i="0">
                          <a:solidFill>
                            <a:srgbClr val="000048"/>
                          </a:solidFill>
                          <a:latin typeface="Arial"/>
                        </a:rPr>
                        <a:t>$90,000</a:t>
                      </a:r>
                    </a:p>
                  </a:txBody>
                  <a:tcPr marL="73152" marR="73152" marT="36576" marB="36576" anchor="ctr">
                    <a:solidFill>
                      <a:srgbClr val="F5F5F2"/>
                    </a:solidFill>
                  </a:tcPr>
                </a:tc>
              </a:tr>
            </a:tbl>
          </a:graphicData>
        </a:graphic>
      </p:graphicFrame>
      <p:sp>
        <p:nvSpPr>
          <p:cNvPr id="16" name="TextBox 15"/>
          <p:cNvSpPr txBox="1"/>
          <p:nvPr/>
        </p:nvSpPr>
        <p:spPr>
          <a:xfrm>
            <a:off x="6629400" y="3703320"/>
            <a:ext cx="5010912" cy="914400"/>
          </a:xfrm>
          <a:prstGeom prst="rect">
            <a:avLst/>
          </a:prstGeom>
          <a:noFill/>
        </p:spPr>
        <p:txBody>
          <a:bodyPr wrap="square" lIns="0" rIns="0" tIns="0" bIns="0" anchor="t">
            <a:noAutofit/>
          </a:bodyPr>
          <a:lstStyle/>
          <a:p>
            <a:pPr algn="l"/>
            <a:r>
              <a:rPr sz="1200" b="0" i="0">
                <a:solidFill>
                  <a:srgbClr val="8A4B08"/>
                </a:solidFill>
                <a:latin typeface="Arial"/>
              </a:rPr>
              <a:t>Round numbers to show mechanics only. Not a rate card, quote or tower split. Azure consumption excluded.</a:t>
            </a:r>
          </a:p>
        </p:txBody>
      </p:sp>
      <p:sp>
        <p:nvSpPr>
          <p:cNvPr id="17" name="Rounded Rectangle 16"/>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fixed tower percentages. Attribution is derived from priced work packages and approved by Finance.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42</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At least one workload with telemetry or a defined load test; FinOps and AI owners named</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Inputs in A2; current bills; agreement prices; regions; latency targets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Baseline, profiles, option models, sensitivity, decision memo (A18)</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Agreed workloads, models and regions; no purchase or deployment changes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Access to cost data and metrics; AI forecast; customer price inputs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Instrument, measure, model, review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66700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Appendix A18</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Data access, pricing inputs, workload owners, decision authority</a:t>
                      </a:r>
                    </a:p>
                  </a:txBody>
                  <a:tcPr marL="73152" marR="73152" marT="36576" marB="36576" anchor="ctr">
                    <a:solidFill>
                      <a:srgbClr val="F5F5F2"/>
                    </a:solidFill>
                  </a:tcPr>
                </a:tc>
              </a:tr>
              <a:tr h="259080">
                <a:tc>
                  <a:txBody>
                    <a:bodyPr wrap="square" anchor="ctr">
                      <a:noAutofit/>
                    </a:bodyPr>
                    <a:lstStyle/>
                    <a:p>
                      <a:pPr algn="l"/>
                      <a:r>
                        <a:rPr sz="11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Fixed fee per bounded scope</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More workloads, models or regions; GPU proof of concept</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Monthly review in offering 05; routing changes in offering 03</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Decision taken on evidence; forecast error tracked; unit cost visible</a:t>
                      </a:r>
                    </a:p>
                  </a:txBody>
                  <a:tcPr marL="73152" marR="73152" marT="36576" marB="36576" anchor="ctr">
                    <a:solidFill>
                      <a:srgbClr val="F5F5F2"/>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43</a:t>
            </a:r>
          </a:p>
        </p:txBody>
      </p:sp>
      <p:graphicFrame>
        <p:nvGraphicFramePr>
          <p:cNvPr id="9" name="Table"/>
          <p:cNvGraphicFramePr>
            <a:graphicFrameLocks noGrp="1"/>
          </p:cNvGraphicFramePr>
          <p:nvPr/>
        </p:nvGraphicFramePr>
        <p:xfrm>
          <a:off x="548640" y="1325880"/>
          <a:ext cx="11091672" cy="237744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Assessment as the entry offer</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Offering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This deck</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No commitment advice without measured data</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CIS Infra leadership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Policy statement</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Fixed fee level and scope bands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Effort from pilot</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Benchmark tooling and method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tower lead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Pilot results</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GPU proof-of-concept offer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Tower agreement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tower lead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Demand and skills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Customer PTU reservation prices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Per engagement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procurement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agreement</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Licence economics scope with M365 and D365 teams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Before first pursuit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Offering owner with M365 lead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Joint-motion rules (deck 00)</a:t>
                      </a:r>
                    </a:p>
                  </a:txBody>
                  <a:tcPr marL="73152" marR="73152" marT="36576" marB="36576" anchor="ctr">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v3.0  ·  11 Oct 2026  ·  Working proposal, not approved terms</a:t>
            </a:r>
          </a:p>
        </p:txBody>
      </p:sp>
      <p:sp>
        <p:nvSpPr>
          <p:cNvPr id="7" name="IndexLink">
            <a:hlinkClick action="ppaction://hlinksldjump" r:id="rId23"/>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44</a:t>
            </a:r>
          </a:p>
        </p:txBody>
      </p:sp>
      <p:sp>
        <p:nvSpPr>
          <p:cNvPr id="9" name="TextBox 8"/>
          <p:cNvSpPr txBox="1"/>
          <p:nvPr/>
        </p:nvSpPr>
        <p:spPr>
          <a:xfrm>
            <a:off x="548640" y="1325880"/>
            <a:ext cx="11091672" cy="4937760"/>
          </a:xfrm>
          <a:prstGeom prst="rect">
            <a:avLst/>
          </a:prstGeom>
          <a:noFill/>
        </p:spPr>
        <p:txBody>
          <a:bodyPr wrap="square" lIns="0" rIns="0" tIns="0" bIns="0" anchor="t">
            <a:noAutofit/>
          </a:bodyPr>
          <a:lstStyle/>
          <a:p>
            <a:pPr algn="l">
              <a:spcAft>
                <a:spcPts val="300"/>
              </a:spcAft>
            </a:pPr>
            <a:r>
              <a:rPr sz="1100" b="1" i="0">
                <a:solidFill>
                  <a:srgbClr val="000048"/>
                </a:solidFill>
                <a:latin typeface="Arial"/>
              </a:rPr>
              <a:t>Azure Retail Prices API: gpt-5.4, East US 2:  </a:t>
            </a:r>
            <a:r>
              <a:rPr sz="1100" b="0" i="0">
                <a:solidFill>
                  <a:srgbClr val="2F78C4"/>
                </a:solidFill>
                <a:latin typeface="Arial"/>
                <a:hlinkClick r:id="rId4"/>
              </a:rPr>
              <a:t>https://prices.azure.com/api/retail/prices?$filter=armRegionName eq 'eastus2' and contains(meterName,'5.4')</a:t>
            </a:r>
          </a:p>
          <a:p>
            <a:pPr algn="l">
              <a:spcAft>
                <a:spcPts val="300"/>
              </a:spcAft>
            </a:pPr>
            <a:r>
              <a:rPr sz="1100" b="1" i="0">
                <a:solidFill>
                  <a:srgbClr val="000048"/>
                </a:solidFill>
                <a:latin typeface="Arial"/>
              </a:rPr>
              <a:t>Microsoft Agent 365 now generally available (Microsoft Security blog, 1 May 2026):  </a:t>
            </a:r>
            <a:r>
              <a:rPr sz="1100" b="0" i="0">
                <a:solidFill>
                  <a:srgbClr val="2F78C4"/>
                </a:solidFill>
                <a:latin typeface="Arial"/>
                <a:hlinkClick r:id="rId5"/>
              </a:rPr>
              <a:t>https://www.microsoft.com/en-us/security/blog/2026/05/01/microsoft-agent-365-now-generally-available-expands-capabilities-and-integrations/</a:t>
            </a:r>
          </a:p>
          <a:p>
            <a:pPr algn="l">
              <a:spcAft>
                <a:spcPts val="300"/>
              </a:spcAft>
            </a:pPr>
            <a:r>
              <a:rPr sz="1100" b="1" i="0">
                <a:solidFill>
                  <a:srgbClr val="000048"/>
                </a:solidFill>
                <a:latin typeface="Arial"/>
              </a:rPr>
              <a:t>Agent 365 licensing analysis (SAMexpert, third party, updated 12 Jun 2026):  </a:t>
            </a:r>
            <a:r>
              <a:rPr sz="1100" b="0" i="0">
                <a:solidFill>
                  <a:srgbClr val="2F78C4"/>
                </a:solidFill>
                <a:latin typeface="Arial"/>
                <a:hlinkClick r:id="rId6"/>
              </a:rPr>
              <a:t>https://samexpert.com/agent-365/</a:t>
            </a:r>
          </a:p>
          <a:p>
            <a:pPr algn="l">
              <a:spcAft>
                <a:spcPts val="300"/>
              </a:spcAft>
            </a:pPr>
            <a:r>
              <a:rPr sz="1100" b="1" i="0">
                <a:solidFill>
                  <a:srgbClr val="000048"/>
                </a:solidFill>
                <a:latin typeface="Arial"/>
              </a:rPr>
              <a:t>Cost Management exports, including FOCUS format:  </a:t>
            </a:r>
            <a:r>
              <a:rPr sz="1100" b="0" i="0">
                <a:solidFill>
                  <a:srgbClr val="2F78C4"/>
                </a:solidFill>
                <a:latin typeface="Arial"/>
                <a:hlinkClick r:id="rId7"/>
              </a:rPr>
              <a:t>https://learn.microsoft.com/en-us/azure/cost-management-billing/costs/tutorial-improved-exports</a:t>
            </a:r>
          </a:p>
          <a:p>
            <a:pPr algn="l">
              <a:spcAft>
                <a:spcPts val="300"/>
              </a:spcAft>
            </a:pPr>
            <a:r>
              <a:rPr sz="1100" b="1" i="0">
                <a:solidFill>
                  <a:srgbClr val="000048"/>
                </a:solidFill>
                <a:latin typeface="Arial"/>
              </a:rPr>
              <a:t>AI threat protection in Microsoft Defender for Cloud:  </a:t>
            </a:r>
            <a:r>
              <a:rPr sz="1100" b="0" i="0">
                <a:solidFill>
                  <a:srgbClr val="2F78C4"/>
                </a:solidFill>
                <a:latin typeface="Arial"/>
                <a:hlinkClick r:id="rId8"/>
              </a:rPr>
              <a:t>https://learn.microsoft.com/en-us/azure/defender-for-cloud/ai-threat-protection</a:t>
            </a:r>
          </a:p>
          <a:p>
            <a:pPr algn="l">
              <a:spcAft>
                <a:spcPts val="300"/>
              </a:spcAft>
            </a:pPr>
            <a:r>
              <a:rPr sz="1100" b="1" i="0">
                <a:solidFill>
                  <a:srgbClr val="000048"/>
                </a:solidFill>
                <a:latin typeface="Arial"/>
              </a:rPr>
              <a:t>Microsoft Purview data security and compliance for AI:  </a:t>
            </a:r>
            <a:r>
              <a:rPr sz="1100" b="0" i="0">
                <a:solidFill>
                  <a:srgbClr val="2F78C4"/>
                </a:solidFill>
                <a:latin typeface="Arial"/>
                <a:hlinkClick r:id="rId9"/>
              </a:rPr>
              <a:t>https://learn.microsoft.com/en-us/purview/ai-microsoft-purview</a:t>
            </a:r>
          </a:p>
          <a:p>
            <a:pPr algn="l">
              <a:spcAft>
                <a:spcPts val="300"/>
              </a:spcAft>
            </a:pPr>
            <a:r>
              <a:rPr sz="1100" b="1" i="0">
                <a:solidFill>
                  <a:srgbClr val="000048"/>
                </a:solidFill>
                <a:latin typeface="Arial"/>
              </a:rPr>
              <a:t>EU AI Act Update: Digital Omnibus finalises compliance changes (Orrick, 29 Jul 2026):  </a:t>
            </a:r>
            <a:r>
              <a:rPr sz="1100" b="0" i="0">
                <a:solidFill>
                  <a:srgbClr val="2F78C4"/>
                </a:solidFill>
                <a:latin typeface="Arial"/>
                <a:hlinkClick r:id="rId10"/>
              </a:rPr>
              <a:t>https://www.orrick.com/en/Insights/2026/07/EU-AI-Act-Update-Digital-Omnibus-Finalizes-8-Compliance-Changes</a:t>
            </a:r>
          </a:p>
          <a:p>
            <a:pPr algn="l">
              <a:spcAft>
                <a:spcPts val="300"/>
              </a:spcAft>
            </a:pPr>
            <a:r>
              <a:rPr sz="1100" b="1" i="0">
                <a:solidFill>
                  <a:srgbClr val="000048"/>
                </a:solidFill>
                <a:latin typeface="Arial"/>
              </a:rPr>
              <a:t>Foundry Models region availability (Europe and MEA tabs read in browser):  </a:t>
            </a:r>
            <a:r>
              <a:rPr sz="1100" b="0" i="0">
                <a:solidFill>
                  <a:srgbClr val="2F78C4"/>
                </a:solidFill>
                <a:latin typeface="Arial"/>
                <a:hlinkClick r:id="rId11"/>
              </a:rPr>
              <a:t>https://learn.microsoft.com/en-us/azure/foundry/foundry-models/concepts/models-sold-directly-by-azure-region-availability</a:t>
            </a:r>
          </a:p>
          <a:p>
            <a:pPr algn="l">
              <a:spcAft>
                <a:spcPts val="300"/>
              </a:spcAft>
            </a:pPr>
            <a:r>
              <a:rPr sz="1100" b="1" i="0">
                <a:solidFill>
                  <a:srgbClr val="000048"/>
                </a:solidFill>
                <a:latin typeface="Arial"/>
              </a:rPr>
              <a:t>Provisioned throughput concepts:  </a:t>
            </a:r>
            <a:r>
              <a:rPr sz="1100" b="0" i="0">
                <a:solidFill>
                  <a:srgbClr val="2F78C4"/>
                </a:solidFill>
                <a:latin typeface="Arial"/>
                <a:hlinkClick r:id="rId12"/>
              </a:rPr>
              <a:t>https://learn.microsoft.com/en-us/azure/foundry/openai/concepts/provisioned-throughput</a:t>
            </a:r>
          </a:p>
          <a:p>
            <a:pPr algn="l">
              <a:spcAft>
                <a:spcPts val="300"/>
              </a:spcAft>
            </a:pPr>
            <a:r>
              <a:rPr sz="1100" b="1" i="0">
                <a:solidFill>
                  <a:srgbClr val="000048"/>
                </a:solidFill>
                <a:latin typeface="Arial"/>
              </a:rPr>
              <a:t>Provisioned throughput sizing and per-model values:  </a:t>
            </a:r>
            <a:r>
              <a:rPr sz="1100" b="0" i="0">
                <a:solidFill>
                  <a:srgbClr val="2F78C4"/>
                </a:solidFill>
                <a:latin typeface="Arial"/>
                <a:hlinkClick r:id="rId13"/>
              </a:rPr>
              <a:t>https://learn.microsoft.com/en-us/azure/foundry/openai/how-to/provisioned-throughput-sizing</a:t>
            </a:r>
          </a:p>
          <a:p>
            <a:pPr algn="l">
              <a:spcAft>
                <a:spcPts val="300"/>
              </a:spcAft>
            </a:pPr>
            <a:r>
              <a:rPr sz="1100" b="1" i="0">
                <a:solidFill>
                  <a:srgbClr val="000048"/>
                </a:solidFill>
                <a:latin typeface="Arial"/>
              </a:rPr>
              <a:t>Provisioned throughput billing (hourly and reservations):  </a:t>
            </a:r>
            <a:r>
              <a:rPr sz="1100" b="0" i="0">
                <a:solidFill>
                  <a:srgbClr val="2F78C4"/>
                </a:solidFill>
                <a:latin typeface="Arial"/>
                <a:hlinkClick r:id="rId14"/>
              </a:rPr>
              <a:t>https://learn.microsoft.com/en-us/azure/foundry/openai/how-to/provisioned-throughput-onboarding</a:t>
            </a:r>
          </a:p>
          <a:p>
            <a:pPr algn="l">
              <a:spcAft>
                <a:spcPts val="300"/>
              </a:spcAft>
            </a:pPr>
            <a:r>
              <a:rPr sz="1100" b="1" i="0">
                <a:solidFill>
                  <a:srgbClr val="000048"/>
                </a:solidFill>
                <a:latin typeface="Arial"/>
              </a:rPr>
              <a:t>Foundry Models deployment types:  </a:t>
            </a:r>
            <a:r>
              <a:rPr sz="1100" b="0" i="0">
                <a:solidFill>
                  <a:srgbClr val="2F78C4"/>
                </a:solidFill>
                <a:latin typeface="Arial"/>
                <a:hlinkClick r:id="rId15"/>
              </a:rPr>
              <a:t>https://learn.microsoft.com/en-us/azure/foundry/foundry-models/concepts/deployment-types</a:t>
            </a:r>
          </a:p>
          <a:p>
            <a:pPr algn="l">
              <a:spcAft>
                <a:spcPts val="300"/>
              </a:spcAft>
            </a:pPr>
            <a:r>
              <a:rPr sz="1100" b="1" i="0">
                <a:solidFill>
                  <a:srgbClr val="000048"/>
                </a:solidFill>
                <a:latin typeface="Arial"/>
              </a:rPr>
              <a:t>Foundry Models retirement schedule:  </a:t>
            </a:r>
            <a:r>
              <a:rPr sz="1100" b="0" i="0">
                <a:solidFill>
                  <a:srgbClr val="2F78C4"/>
                </a:solidFill>
                <a:latin typeface="Arial"/>
                <a:hlinkClick r:id="rId16"/>
              </a:rPr>
              <a:t>https://learn.microsoft.com/en-us/azure/foundry/openai/concepts/model-retirement-schedule</a:t>
            </a:r>
          </a:p>
          <a:p>
            <a:pPr algn="l">
              <a:spcAft>
                <a:spcPts val="300"/>
              </a:spcAft>
            </a:pPr>
            <a:r>
              <a:rPr sz="1100" b="1" i="0">
                <a:solidFill>
                  <a:srgbClr val="000048"/>
                </a:solidFill>
                <a:latin typeface="Arial"/>
              </a:rPr>
              <a:t>ND H100 v5 series VM sizes:  </a:t>
            </a:r>
            <a:r>
              <a:rPr sz="1100" b="0" i="0">
                <a:solidFill>
                  <a:srgbClr val="2F78C4"/>
                </a:solidFill>
                <a:latin typeface="Arial"/>
                <a:hlinkClick r:id="rId17"/>
              </a:rPr>
              <a:t>https://learn.microsoft.com/en-us/azure/virtual-machines/sizes/gpu-accelerated/ndh100v5-series</a:t>
            </a:r>
          </a:p>
          <a:p>
            <a:pPr algn="l">
              <a:spcAft>
                <a:spcPts val="300"/>
              </a:spcAft>
            </a:pPr>
            <a:r>
              <a:rPr sz="1100" b="1" i="0">
                <a:solidFill>
                  <a:srgbClr val="000048"/>
                </a:solidFill>
                <a:latin typeface="Arial"/>
              </a:rPr>
              <a:t>Azure Retail Prices API: ND H100 v5, East US 2:  </a:t>
            </a:r>
            <a:r>
              <a:rPr sz="1100" b="0" i="0">
                <a:solidFill>
                  <a:srgbClr val="2F78C4"/>
                </a:solidFill>
                <a:latin typeface="Arial"/>
                <a:hlinkClick r:id="rId18"/>
              </a:rPr>
              <a:t>https://prices.azure.com/api/retail/prices?$filter=serviceName eq 'Virtual Machines' and armRegionName eq 'eastus2' and contains(armSkuName,'H100')</a:t>
            </a:r>
          </a:p>
          <a:p>
            <a:pPr algn="l">
              <a:spcAft>
                <a:spcPts val="300"/>
              </a:spcAft>
            </a:pPr>
            <a:r>
              <a:rPr sz="1100" b="1" i="0">
                <a:solidFill>
                  <a:srgbClr val="000048"/>
                </a:solidFill>
                <a:latin typeface="Arial"/>
              </a:rPr>
              <a:t>Azure Retail Prices API: Log Analytics, East US 2:  </a:t>
            </a:r>
            <a:r>
              <a:rPr sz="1100" b="0" i="0">
                <a:solidFill>
                  <a:srgbClr val="2F78C4"/>
                </a:solidFill>
                <a:latin typeface="Arial"/>
                <a:hlinkClick r:id="rId19"/>
              </a:rPr>
              <a:t>https://prices.azure.com/api/retail/prices?$filter=serviceName eq 'Log Analytics' and armRegionName eq 'eastus2'</a:t>
            </a:r>
          </a:p>
          <a:p>
            <a:pPr algn="l">
              <a:spcAft>
                <a:spcPts val="300"/>
              </a:spcAft>
            </a:pPr>
            <a:r>
              <a:rPr sz="1100" b="1" i="0">
                <a:solidFill>
                  <a:srgbClr val="000048"/>
                </a:solidFill>
                <a:latin typeface="Arial"/>
              </a:rPr>
              <a:t>AI gateway capabilities in API Management:  </a:t>
            </a:r>
            <a:r>
              <a:rPr sz="1100" b="0" i="0">
                <a:solidFill>
                  <a:srgbClr val="2F78C4"/>
                </a:solidFill>
                <a:latin typeface="Arial"/>
                <a:hlinkClick r:id="rId20"/>
              </a:rPr>
              <a:t>https://learn.microsoft.com/en-us/azure/api-management/genai-gateway-capabilities</a:t>
            </a:r>
          </a:p>
          <a:p>
            <a:pPr algn="l">
              <a:spcAft>
                <a:spcPts val="300"/>
              </a:spcAft>
            </a:pPr>
            <a:r>
              <a:rPr sz="1100" b="1" i="0">
                <a:solidFill>
                  <a:srgbClr val="000048"/>
                </a:solidFill>
                <a:latin typeface="Arial"/>
              </a:rPr>
              <a:t>Azure Architecture Icons (V24):  </a:t>
            </a:r>
            <a:r>
              <a:rPr sz="1100" b="0" i="0">
                <a:solidFill>
                  <a:srgbClr val="2F78C4"/>
                </a:solidFill>
                <a:latin typeface="Arial"/>
                <a:hlinkClick r:id="rId21"/>
              </a:rPr>
              <a:t>https://learn.microsoft.com/en-us/azure/architecture/icons/</a:t>
            </a:r>
          </a:p>
          <a:p>
            <a:pPr algn="l">
              <a:spcAft>
                <a:spcPts val="300"/>
              </a:spcAft>
            </a:pPr>
            <a:r>
              <a:rPr sz="1100" b="1" i="0">
                <a:solidFill>
                  <a:srgbClr val="000048"/>
                </a:solidFill>
                <a:latin typeface="Arial"/>
              </a:rPr>
              <a:t>GTM proposal V3:  </a:t>
            </a:r>
            <a:r>
              <a:rPr sz="1100" b="0" i="0">
                <a:solidFill>
                  <a:srgbClr val="2F78C4"/>
                </a:solidFill>
                <a:latin typeface="Arial"/>
                <a:hlinkClick r:id="rId22"/>
              </a:rPr>
              <a:t>https://github.com/upendra25312/AI-Foundry-GTM-offering-/blob/main/CIS_Infra_Azure_AI_Platform_GTM_Proposal_V3.docx</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CIS Infra offering team (prepared with Claude)</dc:creator>
  <lastModifiedBy>Walnut Exporter</lastModifiedBy>
  <dc:title>AI Capacity and FinOps Assessment v3.0</dc:title>
  <dcterms:created xsi:type="dcterms:W3CDTF">2026-10-10T13:56:28.3080000Z</dcterms:created>
  <dcterms:modified xsi:type="dcterms:W3CDTF">2026-10-10T13:56:28.3090000Z</dcterms:modified>
  <dc:subject>Proposed CIS Infra GTM offering for internal leadership review</dc:subject>
</coreProperties>
</file>