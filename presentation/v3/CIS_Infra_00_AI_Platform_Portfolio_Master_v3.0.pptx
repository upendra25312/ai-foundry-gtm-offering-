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Services, USD thousands</c:v>
                </c:pt>
              </c:strCache>
            </c:strRef>
          </c:tx>
          <c:spPr>
            <a:solidFill>
              <a:srgbClr val="7373D8"/>
            </a:solidFill>
          </c:spPr>
          <c:cat>
            <c:strRef>
              <c:f>Sheet1!$A$2:$A$6</c:f>
              <c:strCache>
                <c:ptCount val="5"/>
                <c:pt idx="0">
                  <c:v>05 Onboarding + 6 months</c:v>
                </c:pt>
                <c:pt idx="1">
                  <c:v>02 Governance and PoC</c:v>
                </c:pt>
                <c:pt idx="2">
                  <c:v>03 Gateway build</c:v>
                </c:pt>
                <c:pt idx="3">
                  <c:v>01 Platform build</c:v>
                </c:pt>
                <c:pt idx="4">
                  <c:v>04 Assessment</c:v>
                </c:pt>
              </c:strCache>
            </c:strRef>
          </c:cat>
          <c:val>
            <c:numRef>
              <c:f>Sheet1!$B$2:$B$6</c:f>
              <c:numCache>
                <c:formatCode>General</c:formatCode>
                <c:ptCount val="5"/>
                <c:pt idx="0">
                  <c:v>300</c:v>
                </c:pt>
                <c:pt idx="1">
                  <c:v>80</c:v>
                </c:pt>
                <c:pt idx="2">
                  <c:v>70</c:v>
                </c:pt>
                <c:pt idx="3">
                  <c:v>180</c:v>
                </c:pt>
                <c:pt idx="4">
                  <c:v>30</c:v>
                </c:pt>
              </c:numCache>
            </c:numRef>
          </c:val>
        </c:ser>
        <c:dLbls>
          <c:numFmt formatCode="$#,##0&quot;k&quot;" sourceLinked="0"/>
          <c:txPr>
            <a:bodyPr/>
            <a:lstStyle/>
            <a:p>
              <a:pPr>
                <a:defRPr sz="13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0D0CE"/>
            </a:solidFill>
          </a:ln>
        </c:spPr>
        <c:txPr>
          <a:bodyPr/>
          <a:lstStyle/>
          <a:p>
            <a:pPr>
              <a:defRPr sz="1300"/>
            </a:pPr>
          </a:p>
        </c:txPr>
        <c:crossAx val="-2113994440"/>
        <c:crosses val="autoZero"/>
        <c:auto val="1"/>
        <c:lblAlgn val="ctr"/>
        <c:lblOffset val="100"/>
        <c:noMultiLvlLbl val="0"/>
      </c:catAx>
      <c:valAx>
        <c:axId val="-2113994440"/>
        <c:scaling/>
        <c:delete val="0"/>
        <c:axPos val="b"/>
        <c:majorGridlines>
          <c:spPr>
            <a:ln>
              <a:solidFill>
                <a:srgbClr val="E3E3E3"/>
              </a:solidFill>
            </a:ln>
          </c:spPr>
        </c:majorGridlines>
        <c:numFmt formatCode="$#,##0&quot;k&quot;" sourceLinked="0"/>
        <c:majorTickMark val="out"/>
        <c:minorTickMark val="none"/>
        <c:tickLblPos val="nextTo"/>
        <c:spPr>
          <a:ln>
            <a:noFill/>
          </a:ln>
        </c:spPr>
        <c:txPr>
          <a:bodyPr/>
          <a:lstStyle/>
          <a:p>
            <a:pPr>
              <a:defRPr sz="1300"/>
            </a:pPr>
          </a:p>
        </c:txPr>
        <c:crossAx val="-2068027336"/>
        <c:crosses val="autoZero"/>
      </c:valAx>
    </c:plotArea>
    <c:dispBlanksAs val="gap"/>
  </c:chart>
  <c:txPr>
    <a:bodyPr/>
    <a:lstStyle/>
    <a:p>
      <a:pPr>
        <a:defRPr sz="14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deck is the one-page story for the whole portfolio. Five offerings, one entry point, one path from assessment to a platform we run every month. The detailed decks 01 to 05 sit behind it.</a:t>
            </a:r>
          </a:p>
          <a:p/>
          <a:p>
            <a:r>
              <a:t>Likely question: Is this approved?</a:t>
            </a:r>
          </a:p>
          <a:p>
            <a:r>
              <a:t>Answer: No. It is a working proposal. We are asking for decisions and a 30-day validation, not a launch.</a:t>
            </a:r>
          </a:p>
          <a:p/>
          <a:p>
            <a:r>
              <a:t>DETAIL AND CAVEATS</a:t>
            </a:r>
          </a:p>
          <a:p>
            <a:r>
              <a:t>Opening slide of the master deck added in v3.0 (PDCA item P1). It frames the five offering decks, the entry offer, combined economics, the Microsoft ecosystem and the decisions requested.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portfolio exists because customers are buying AI faster than they can run it. We enter with a short assessment, then sell the platform, the gateway and agent governance, and finally a monthly run service that carries the recurring revenue.</a:t>
            </a:r>
          </a:p>
          <a:p/>
          <a:p>
            <a:r>
              <a:t>Likely question: Why five offerings, not one?</a:t>
            </a:r>
          </a:p>
          <a:p>
            <a:r>
              <a:t>Answer: Different buyers and triggers. Each can be sold alone, but each one creates the next.</a:t>
            </a:r>
          </a:p>
          <a:p/>
          <a:p>
            <a:r>
              <a:t>DETAIL AND CAVEATS</a:t>
            </a:r>
          </a:p>
          <a:p>
            <a:r>
              <a:t>Portfolio summary. Offerings are proposals; none is an approved Cognizant offering.</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changed in 2026: Microsoft shipped agent control planes, models now retire inside commitment terms, and EU AI Act dates are fixed. Each one creates a reason to buy.</a:t>
            </a:r>
          </a:p>
          <a:p/>
          <a:p>
            <a:r>
              <a:t>Likely question: Where is the demand evidence?</a:t>
            </a:r>
          </a:p>
          <a:p>
            <a:r>
              <a:t>Answer: We do not claim pipeline. The 30-day validation asks account teams for three qualified candidates.</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Models retirement schedule: https://learn.microsoft.com/en-us/azure/foundry/openai/concepts/model-retirement-schedule</a:t>
            </a:r>
          </a:p>
          <a:p>
            <a:r>
              <a:t>EU AI Act Update: Digital Omnibus finalises compliance changes (Orrick, 29 Jul 2026): https://www.orrick.com/en/Insights/2026/07/EU-AI-Act-Update-Digital-Omnibus-Finalizes-8-Compliance-Changes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left to right. We enter with the capacity and FinOps assessment, build the platform, put the gateway in front of AI traffic, govern the agents, and then run it all monthly. Customers can also enter at any offering through its own short assessment.</a:t>
            </a:r>
          </a:p>
          <a:p/>
          <a:p>
            <a:r>
              <a:t>Likely question: What if the customer already has a landing zone?</a:t>
            </a:r>
          </a:p>
          <a:p>
            <a:r>
              <a:t>Answer: Then we start at the gateway or agent governance. The assessment tells us where the gaps are.</a:t>
            </a:r>
          </a:p>
          <a:p/>
          <a:p>
            <a:r>
              <a:t>DETAIL AND CAVEATS</a:t>
            </a:r>
          </a:p>
          <a:p>
            <a:r>
              <a:t>Typical sequence. Offering 04 is the proposed entry offer because it is short, fixed-scope and creates evidence for the platform, gateway and operations decisions. Each offering also has its own entry package (01 assessment, 02 coverage assessment, 03 readiness assessment). Monthly evidence from 05 feeds back into 04. Durations and effort are planning estimates from each deck.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slide to settle internal ownership. Microsoft 365 Copilot belongs to our M365 and D365 teams. We own the Azure side: Foundry, the landing zone, the gateway, the tool registry and agent governance. Copilot Studio sits in the middle: Power Platform administers it, we govern and run its agents. Joint deals need a named lead.</a:t>
            </a:r>
          </a:p>
          <a:p/>
          <a:p>
            <a:r>
              <a:t>Likely question: Who leads a deal that has both?</a:t>
            </a:r>
          </a:p>
          <a:p>
            <a:r>
              <a:t>Answer: That is a decision we are asking for. The proposal is: whoever owns the larger first work package leads, and the other team is attributed its packages.</a:t>
            </a:r>
          </a:p>
          <a:p/>
          <a:p>
            <a:r>
              <a:t>DETAIL AND CAVEATS</a:t>
            </a:r>
          </a:p>
          <a:p>
            <a:r>
              <a:t>Ownership map (PDCA item M1). Microsoft 365 Copilot is owned by the Cognizant M365 and D365 teams, not CIS Infra. The split between them (for example Copilot in Microsoft 365 apps for the M365 team and Copilot in Dynamics 365 for the D365 team) and who leads a joint deal are open decisions in the register. Copilot Studio administration stays with the customer Power Platform team; CIS Infra covers Copilot Studio agents as a runtime in the catalogue, gateway and containment. Agent 365 is configured by CIS Infra with Security inside offering 02. API Center is built by CIS Infra in offering 03.</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one customer bought everything in year one, services would be roughly 660 thousand dollars at our illustrative rate, and the run service would carry about 540 thousand a year from year two. Azure, model and licence spend is the customer paying Microsoft, so it is not in these bars.</a:t>
            </a:r>
          </a:p>
          <a:p/>
          <a:p>
            <a:r>
              <a:t>Likely question: What is the margin?</a:t>
            </a:r>
          </a:p>
          <a:p>
            <a:r>
              <a:t>Answer: Not shown. We have no approved rates or delivery costs yet; Finance sets both in the validation.</a:t>
            </a:r>
          </a:p>
          <a:p/>
          <a:p>
            <a:r>
              <a:t>DETAIL AND CAVEATS</a:t>
            </a:r>
          </a:p>
          <a:p>
            <a:r>
              <a:t>HYPOTHETICAL first-year deal for one customer, built from mid-points of each deck: 04 assessment 30 role days; 01 Establish 180; 03 single-region build 70; 02 configure 45 plus kill-switch PoC 35; 05 onboarding 30 plus Foundation at 45 role days a month for 6 months (270). Total 660 role days = $660k at the illustrative $1,000 per role day. Year two recurring at Foundation mid-point: 45 x 12 = 540 role days, about $540k. Customer Azure consumption, model tokens and licences are paid to Microsoft and are not CIS Infra revenue. No margin is shown because no approved cost or rate exists.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Most large partners lead with industry outcomes, Copilot rollouts or broad transformation. Our angle is narrower and more concrete: the infrastructure underneath agents, built from Microsoft accelerators, with tested containment and a clear run model. These are claims we still have to prove with evidence.</a:t>
            </a:r>
          </a:p>
          <a:p/>
          <a:p>
            <a:r>
              <a:t>Likely question: Are we better than Accenture?</a:t>
            </a:r>
          </a:p>
          <a:p>
            <a:r>
              <a:t>Answer: We do not claim that. We claim a specific, testable infrastructure package, and we validate it before using it externally.</a:t>
            </a:r>
          </a:p>
          <a:p/>
          <a:p>
            <a:r>
              <a:t>DETAIL AND CAVEATS</a:t>
            </a:r>
          </a:p>
          <a:p>
            <a:r>
              <a:t>Benchmark carried from the GTM proposal V3 (eight firms, public positioning reviewed 7 Oct 2026): Accenture and Avanade, TCS, KPMG, EPAM, EY, PwC, Deloitte, Wipro. Public positioning is not proof of delivery quality, scope or price, and silence is not absence. The right-hand column lists CIS Infra differentiators as claims to validate with evidence before external use. Full battlecard in appendix A2.</a:t>
            </a:r>
          </a:p>
          <a:p/>
          <a:p>
            <a:r>
              <a:t>Sources (checked 11 Oct 2026):</a:t>
            </a:r>
          </a:p>
          <a:p>
            <a:r>
              <a:t>CIS Infra Azure AI Platform GTM Proposal V3 (competitor benchmark reviewed 7 Oct 2026): https://github.com/upendra25312/AI-Foundry-GTM-offering-/blob/main/CIS_Infra_Azure_AI_Platform_GTM_Proposal_V3.docx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Microsoft offers three levers. Azure Accelerate can fund parts of Azure deployments. Co-sell gets Microsoft sellers to bring us in, but the IP co-sell route now needs a certified software designation, so services may follow a different route. Marketplace lets customers spend committed Azure budget. Our alliance team confirms what we qualify for.</a:t>
            </a:r>
          </a:p>
          <a:p/>
          <a:p>
            <a:r>
              <a:t>Likely question: Can we count on Microsoft funding?</a:t>
            </a:r>
          </a:p>
          <a:p>
            <a:r>
              <a:t>Answer: No. Funding is case by case. We never put it in a price until it is approved for the specific customer.</a:t>
            </a:r>
          </a:p>
          <a:p/>
          <a:p>
            <a:r>
              <a:t>DETAIL AND CAVEATS</a:t>
            </a:r>
          </a:p>
          <a:p>
            <a:r>
              <a:t>Microsoft Partner blog, January 2026: Azure Accelerate is described as bringing expert guidance, funding support and streamlined deployment across Azure (no eligibility criteria stated on that page). From 1 January 2026, access to Azure IP co-sell benefits requires a Solutions Partner with certified software designation; this applies to packaged IP and software, so the route for a services offering must be confirmed with the Cognizant Microsoft alliance team. Marketplace resale-enabled offers let software companies authorise channel partners to resell, and customers can use eligible cloud-commitment budgets. No funding amount or eligibility is assumed in any deck.</a:t>
            </a:r>
          </a:p>
          <a:p/>
          <a:p>
            <a:r>
              <a:t>Sources (checked 11 Oct 2026):</a:t>
            </a:r>
          </a:p>
          <a:p>
            <a:r>
              <a:t>What's new for partners, Jan 2026 (Microsoft Partner blog): https://partner.microsoft.com/blog/article/whats-new-for-partners-jan-2026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risks are mostly internal: tower commitments, overlap with our M365 and D365 colleagues, and rates. The 30-day validation is designed to close them.</a:t>
            </a:r>
          </a:p>
          <a:p/>
          <a:p>
            <a:r>
              <a:t>DETAIL AND CAVEATS</a:t>
            </a:r>
          </a:p>
          <a:p>
            <a:r>
              <a:t>Portfolio-level risks. Offering-level risks are in each deck.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decisions today, then thirty days to prove it. By day thirty we want three qualified accounts, signed tower commitments, an approved rate for the entry offer and agreed rules with the M365 and D365 teams.</a:t>
            </a:r>
          </a:p>
          <a:p/>
          <a:p>
            <a:r>
              <a:t>Likely question: What happens if validation fails?</a:t>
            </a:r>
          </a:p>
          <a:p>
            <a:r>
              <a:t>Answer: We keep the assessment as a standalone offer and stop the rest. The cost of finding out is thirty days.</a:t>
            </a:r>
          </a:p>
          <a:p/>
          <a:p>
            <a:r>
              <a:t>DETAIL AND CAVEATS</a:t>
            </a:r>
          </a:p>
          <a:p>
            <a:r>
              <a:t>Decisions and a 30-day validation plan. Exit of validation: three qualified accounts with sponsors, signed tower commitments, Finance-approved rate card for the entry offer, and the M365 and D365 joint-motion rules agreed.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Sellers can use this as the one-page menu: who buys each offering, what triggers it, and the first package to sell.</a:t>
            </a:r>
          </a:p>
          <a:p/>
          <a:p>
            <a:r>
              <a:t>DETAIL AND CAVEATS</a:t>
            </a:r>
          </a:p>
          <a:p>
            <a:r>
              <a:t>One line per offering, from decks 01 to 05. Effort ranges are planning estimates.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prepare, not to attack. Each firm has a public message; the lesson column tells us what to show in our own pitch.</a:t>
            </a:r>
          </a:p>
          <a:p/>
          <a:p>
            <a:r>
              <a:t>Likely question: Can we name competitors to customers?</a:t>
            </a:r>
          </a:p>
          <a:p>
            <a:r>
              <a:t>Answer: Only with approved messaging. This is internal.</a:t>
            </a:r>
          </a:p>
          <a:p/>
          <a:p>
            <a:r>
              <a:t>DETAIL AND CAVEATS</a:t>
            </a:r>
          </a:p>
          <a:p>
            <a:r>
              <a:t>Firms and packaging lessons from the GTM proposal V3 public benchmark (sources B1 to B8 in that document, reviewed 7 Oct 2026). Public positioning is not proof of delivery quality, scope or price. Do not infer absence from silence.</a:t>
            </a:r>
          </a:p>
          <a:p/>
          <a:p>
            <a:r>
              <a:t>Sources (checked 11 Oct 2026):</a:t>
            </a:r>
          </a:p>
          <a:p>
            <a:r>
              <a:t>CIS Infra Azure AI Platform GTM Proposal V3 (competitor benchmark reviewed 7 Oct 2026): https://github.com/upendra25312/AI-Foundry-GTM-offering-/blob/main/CIS_Infra_Azure_AI_Platform_GTM_Proposal_V3.docx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Copilot deals and platform deals will meet in the same accounts. These rules stop us competing with our own colleagues: one named lead, clear handoffs, and attribution by priced work package.</a:t>
            </a:r>
          </a:p>
          <a:p/>
          <a:p>
            <a:r>
              <a:t>Likely question: Who decides the lead?</a:t>
            </a:r>
          </a:p>
          <a:p>
            <a:r>
              <a:t>Answer: Proposal: the team with the largest first work package, confirmed by the account leader.</a:t>
            </a:r>
          </a:p>
          <a:p/>
          <a:p>
            <a:r>
              <a:t>DETAIL AND CAVEATS</a:t>
            </a:r>
          </a:p>
          <a:p>
            <a:r>
              <a:t>Proposed rules for deals that include Microsoft 365 Copilot or Copilot in Dynamics 365 alongside CIS Infra offerings. To be agreed by practice leads. Revenue attribution follows priced work packages (appendix R2 in each deck); no fixed percentages.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hyperlink" Target="https://www.microsoft.com/en-us/security/blog/2026/05/01/microsoft-agent-365-now-generally-available-expands-capabilities-and-integrations/" TargetMode="External"/><Relationship Id="rId5" Type="http://schemas.openxmlformats.org/officeDocument/2006/relationships/hyperlink" Target="https://samexpert.com/agent-365/" TargetMode="External"/><Relationship Id="rId6" Type="http://schemas.openxmlformats.org/officeDocument/2006/relationships/hyperlink" Target="https://learn.microsoft.com/en-us/azure/foundry/openai/concepts/model-retirement-schedule" TargetMode="External"/><Relationship Id="rId7" Type="http://schemas.openxmlformats.org/officeDocument/2006/relationships/hyperlink" Target="https://www.orrick.com/en/Insights/2026/07/EU-AI-Act-Update-Digital-Omnibus-Finalizes-8-Compliance-Changes" TargetMode="External"/><Relationship Id="rId8" Type="http://schemas.openxmlformats.org/officeDocument/2006/relationships/hyperlink" Target="https://learn.microsoft.com/en-us/azure/api-center/register-discover-mcp-server" TargetMode="External"/><Relationship Id="rId9" Type="http://schemas.openxmlformats.org/officeDocument/2006/relationships/hyperlink" Target="https://partner.microsoft.com/blog/article/whats-new-for-partners-jan-2026" TargetMode="External"/><Relationship Id="rId10" Type="http://schemas.openxmlformats.org/officeDocument/2006/relationships/hyperlink" Target="https://github.com/Azure/AI-Landing-Zones" TargetMode="External"/><Relationship Id="rId11" Type="http://schemas.openxmlformats.org/officeDocument/2006/relationships/hyperlink" Target="https://learn.microsoft.com/en-us/azure/defender-for-cloud/ai-threat-protection" TargetMode="External"/><Relationship Id="rId12" Type="http://schemas.openxmlformats.org/officeDocument/2006/relationships/hyperlink" Target="https://learn.microsoft.com/en-us/purview/ai-microsoft-purview" TargetMode="External"/><Relationship Id="rId13" Type="http://schemas.openxmlformats.org/officeDocument/2006/relationships/hyperlink" Target="https://www.iso.org/standard/81230.html" TargetMode="External"/><Relationship Id="rId14" Type="http://schemas.openxmlformats.org/officeDocument/2006/relationships/hyperlink" Target="https://github.com/upendra25312/AI-Foundry-GTM-offering-/blob/main/CIS_Infra_Azure_AI_Platform_GTM_Proposal_V3.docx" TargetMode="External"/><Relationship Id="rId15" Type="http://schemas.openxmlformats.org/officeDocument/2006/relationships/hyperlink" Target="See S1 in each deck" TargetMode="External"/><Relationship Id="rId16"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Azure AI Platform Portfolio</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Five CIS Infra offerings that take a customer from first assessment to a governed, operated AI platform</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Master portfolio view for decks 01 to 05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enter with an assessment, grow to a run service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325880"/>
          </a:xfrm>
          <a:prstGeom prst="rect">
            <a:avLst/>
          </a:prstGeom>
          <a:noFill/>
        </p:spPr>
        <p:txBody>
          <a:bodyPr wrap="square" lIns="0" rIns="0" tIns="0" bIns="0" anchor="t">
            <a:noAutofit/>
          </a:bodyPr>
          <a:lstStyle/>
          <a:p>
            <a:pPr algn="l"/>
            <a:r>
              <a:rPr sz="2000" b="0" i="0">
                <a:solidFill>
                  <a:srgbClr val="1E1E2E"/>
                </a:solidFill>
                <a:latin typeface="Arial"/>
              </a:rPr>
              <a:t>Customers are scaling AI agents on platforms nobody owns end to end: unclear capacity, cost, control and operations.</a:t>
            </a:r>
          </a:p>
        </p:txBody>
      </p:sp>
      <p:sp>
        <p:nvSpPr>
          <p:cNvPr id="10" name="TextBox 9"/>
          <p:cNvSpPr txBox="1"/>
          <p:nvPr/>
        </p:nvSpPr>
        <p:spPr>
          <a:xfrm>
            <a:off x="548640" y="2743200"/>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743200"/>
            <a:ext cx="5120640" cy="1325880"/>
          </a:xfrm>
          <a:prstGeom prst="rect">
            <a:avLst/>
          </a:prstGeom>
          <a:noFill/>
        </p:spPr>
        <p:txBody>
          <a:bodyPr wrap="square" lIns="0" rIns="0" tIns="0" bIns="0" anchor="t">
            <a:noAutofit/>
          </a:bodyPr>
          <a:lstStyle/>
          <a:p>
            <a:pPr algn="l"/>
            <a:r>
              <a:rPr sz="2000" b="0" i="0">
                <a:solidFill>
                  <a:srgbClr val="1E1E2E"/>
                </a:solidFill>
                <a:latin typeface="Arial"/>
              </a:rPr>
              <a:t>Five linked CIS Infra offerings: assess, build, control traffic, govern agents and run, each sold alone or in sequence.</a:t>
            </a:r>
          </a:p>
        </p:txBody>
      </p:sp>
      <p:sp>
        <p:nvSpPr>
          <p:cNvPr id="12" name="TextBox 11"/>
          <p:cNvSpPr txBox="1"/>
          <p:nvPr/>
        </p:nvSpPr>
        <p:spPr>
          <a:xfrm>
            <a:off x="548640" y="4114800"/>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4114800"/>
            <a:ext cx="5120640" cy="1325880"/>
          </a:xfrm>
          <a:prstGeom prst="rect">
            <a:avLst/>
          </a:prstGeom>
          <a:noFill/>
        </p:spPr>
        <p:txBody>
          <a:bodyPr wrap="square" lIns="0" rIns="0" tIns="0" bIns="0" anchor="t">
            <a:noAutofit/>
          </a:bodyPr>
          <a:lstStyle/>
          <a:p>
            <a:pPr algn="l"/>
            <a:r>
              <a:rPr sz="2000" b="0" i="0">
                <a:solidFill>
                  <a:srgbClr val="1E1E2E"/>
                </a:solidFill>
                <a:latin typeface="Arial"/>
              </a:rPr>
              <a:t>A governed Azure AI platform with measured cost, tested containment and recurring CIS Infra revenue.</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Approve the five-offering portfolio for validation</a:t>
            </a:r>
          </a:p>
          <a:p>
            <a:pPr algn="l" marL="201168" indent="-201168">
              <a:spcAft>
                <a:spcPts val="1000"/>
              </a:spcAft>
              <a:buFont typeface="Arial"/>
              <a:buChar char="•"/>
            </a:pPr>
            <a:r>
              <a:rPr sz="2000" b="0" i="0">
                <a:solidFill>
                  <a:srgbClr val="FFFFFF"/>
                </a:solidFill>
                <a:latin typeface="Arial"/>
              </a:rPr>
              <a:t>Make the FinOps assessment the entry offer</a:t>
            </a:r>
          </a:p>
          <a:p>
            <a:pPr algn="l" marL="201168" indent="-201168">
              <a:spcAft>
                <a:spcPts val="1000"/>
              </a:spcAft>
              <a:buFont typeface="Arial"/>
              <a:buChar char="•"/>
            </a:pPr>
            <a:r>
              <a:rPr sz="2000" b="0" i="0">
                <a:solidFill>
                  <a:srgbClr val="FFFFFF"/>
                </a:solidFill>
                <a:latin typeface="Arial"/>
              </a:rPr>
              <a:t>Fund a 30-day validation with three accounts</a:t>
            </a:r>
          </a:p>
        </p:txBody>
      </p:sp>
      <p:sp>
        <p:nvSpPr>
          <p:cNvPr id="15" name="Rounded Rectangle 14"/>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All figures are estimates at an illustrative rate. No approved offer, rate, pipeline or customer result is claimed.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Why now, and who buys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Agent control planes are GA</a:t>
            </a:r>
          </a:p>
          <a:p>
            <a:pPr algn="l">
              <a:spcAft>
                <a:spcPts val="400"/>
              </a:spcAft>
            </a:pPr>
            <a:r>
              <a:rPr sz="1800" b="0" i="0">
                <a:solidFill>
                  <a:srgbClr val="1E1E2E"/>
                </a:solidFill>
                <a:latin typeface="Arial"/>
              </a:rPr>
              <a:t>Agent 365 has been generally available since 1 May 2026, so agent governance is now a budget line.</a:t>
            </a:r>
          </a:p>
          <a:p>
            <a:pPr algn="l"/>
            <a:r>
              <a:rPr sz="1200" b="0" i="0">
                <a:solidFill>
                  <a:srgbClr val="53565A"/>
                </a:solidFill>
                <a:latin typeface="Arial"/>
              </a:rPr>
              <a:t>Source: Microsoft Security blog</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Models retire every few months</a:t>
            </a:r>
          </a:p>
          <a:p>
            <a:pPr algn="l">
              <a:spcAft>
                <a:spcPts val="400"/>
              </a:spcAft>
            </a:pPr>
            <a:r>
              <a:rPr sz="1800" b="0" i="0">
                <a:solidFill>
                  <a:srgbClr val="1E1E2E"/>
                </a:solidFill>
                <a:latin typeface="Arial"/>
              </a:rPr>
              <a:t>gpt-4.1 retires 14 Apr 2027 and gpt-5.4 on 2 Sep 2027. Capacity and routing must keep moving.</a:t>
            </a:r>
          </a:p>
          <a:p>
            <a:pPr algn="l"/>
            <a:r>
              <a:rPr sz="1200" b="0" i="0">
                <a:solidFill>
                  <a:srgbClr val="53565A"/>
                </a:solidFill>
                <a:latin typeface="Arial"/>
              </a:rPr>
              <a:t>Source: Foundry retirement schedule</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Regulation has dates</a:t>
            </a:r>
          </a:p>
          <a:p>
            <a:pPr algn="l">
              <a:spcAft>
                <a:spcPts val="400"/>
              </a:spcAft>
            </a:pPr>
            <a:r>
              <a:rPr sz="1800" b="0" i="0">
                <a:solidFill>
                  <a:srgbClr val="1E1E2E"/>
                </a:solidFill>
                <a:latin typeface="Arial"/>
              </a:rPr>
              <a:t>EU AI Act high-risk duties apply from 2 Dec 2027 (Annex III) after the Digital Omnibus.</a:t>
            </a:r>
          </a:p>
          <a:p>
            <a:pPr algn="l"/>
            <a:r>
              <a:rPr sz="1200" b="0" i="0">
                <a:solidFill>
                  <a:srgbClr val="53565A"/>
                </a:solidFill>
                <a:latin typeface="Arial"/>
              </a:rPr>
              <a:t>Source: Orrick summary of Reg. (EU) 2026/1744</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CIO or AI platform leader with the CISO delegate, FinOps lead and IT service owner.</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Agents moving to production; unexplained AI spend; an audit or incident; a Microsoft licence or capacity decision.</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Five offerings, one path: assess, build, control, run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371600"/>
            <a:ext cx="2121408"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FFFFFF"/>
                </a:solidFill>
                <a:latin typeface="Arial"/>
              </a:rPr>
              <a:t>Assess</a:t>
            </a:r>
          </a:p>
        </p:txBody>
      </p:sp>
      <p:sp>
        <p:nvSpPr>
          <p:cNvPr id="9" name="Rounded Rectangle 8"/>
          <p:cNvSpPr/>
          <p:nvPr/>
        </p:nvSpPr>
        <p:spPr>
          <a:xfrm>
            <a:off x="548640" y="2103120"/>
            <a:ext cx="2121408" cy="1508760"/>
          </a:xfrm>
          <a:prstGeom prst="roundRect">
            <a:avLst>
              <a:gd name="adj" fmla="val 484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r>
              <a:rPr sz="1500" b="1" i="0">
                <a:solidFill>
                  <a:srgbClr val="2F78C4"/>
                </a:solidFill>
                <a:latin typeface="Arial"/>
              </a:rPr>
              <a:t>04</a:t>
            </a:r>
          </a:p>
          <a:p>
            <a:pPr algn="l"/>
            <a:r>
              <a:rPr sz="1700" b="1" i="0">
                <a:solidFill>
                  <a:srgbClr val="000048"/>
                </a:solidFill>
                <a:latin typeface="Arial"/>
              </a:rPr>
              <a:t>AI Capacity and FinOps Assessment</a:t>
            </a:r>
          </a:p>
        </p:txBody>
      </p:sp>
      <p:sp>
        <p:nvSpPr>
          <p:cNvPr id="10" name="Rounded Rectangle 9"/>
          <p:cNvSpPr/>
          <p:nvPr/>
        </p:nvSpPr>
        <p:spPr>
          <a:xfrm>
            <a:off x="548640" y="3703320"/>
            <a:ext cx="2121408" cy="457200"/>
          </a:xfrm>
          <a:prstGeom prst="roundRect">
            <a:avLst>
              <a:gd name="adj" fmla="val 16000"/>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000048"/>
                </a:solidFill>
                <a:latin typeface="Arial"/>
              </a:rPr>
              <a:t>Entry offer</a:t>
            </a:r>
          </a:p>
        </p:txBody>
      </p:sp>
      <p:cxnSp>
        <p:nvCxnSpPr>
          <p:cNvPr id="11" name="Connector (flow)"/>
          <p:cNvCxnSpPr/>
          <p:nvPr/>
        </p:nvCxnSpPr>
        <p:spPr>
          <a:xfrm>
            <a:off x="2670048" y="1691640"/>
            <a:ext cx="128016"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98064" y="1371600"/>
            <a:ext cx="2121408" cy="640080"/>
          </a:xfrm>
          <a:prstGeom prst="roundRect">
            <a:avLst>
              <a:gd name="adj" fmla="val 11428"/>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FFFFFF"/>
                </a:solidFill>
                <a:latin typeface="Arial"/>
              </a:rPr>
              <a:t>Build</a:t>
            </a:r>
          </a:p>
        </p:txBody>
      </p:sp>
      <p:sp>
        <p:nvSpPr>
          <p:cNvPr id="13" name="Rounded Rectangle 12"/>
          <p:cNvSpPr/>
          <p:nvPr/>
        </p:nvSpPr>
        <p:spPr>
          <a:xfrm>
            <a:off x="2798064" y="2103120"/>
            <a:ext cx="2121408" cy="1508760"/>
          </a:xfrm>
          <a:prstGeom prst="roundRect">
            <a:avLst>
              <a:gd name="adj" fmla="val 484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r>
              <a:rPr sz="1500" b="1" i="0">
                <a:solidFill>
                  <a:srgbClr val="2F78C4"/>
                </a:solidFill>
                <a:latin typeface="Arial"/>
              </a:rPr>
              <a:t>01</a:t>
            </a:r>
          </a:p>
          <a:p>
            <a:pPr algn="l"/>
            <a:r>
              <a:rPr sz="1700" b="1" i="0">
                <a:solidFill>
                  <a:srgbClr val="000048"/>
                </a:solidFill>
                <a:latin typeface="Arial"/>
              </a:rPr>
              <a:t>AI Platform / Landing Zone</a:t>
            </a:r>
          </a:p>
        </p:txBody>
      </p:sp>
      <p:sp>
        <p:nvSpPr>
          <p:cNvPr id="14" name="Rounded Rectangle 13"/>
          <p:cNvSpPr/>
          <p:nvPr/>
        </p:nvSpPr>
        <p:spPr>
          <a:xfrm>
            <a:off x="2798064" y="3703320"/>
            <a:ext cx="2121408" cy="457200"/>
          </a:xfrm>
          <a:prstGeom prst="roundRect">
            <a:avLst>
              <a:gd name="adj" fmla="val 1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0" i="0">
                <a:solidFill>
                  <a:srgbClr val="000048"/>
                </a:solidFill>
                <a:latin typeface="Arial"/>
              </a:rPr>
              <a:t>Platform</a:t>
            </a:r>
          </a:p>
        </p:txBody>
      </p:sp>
      <p:cxnSp>
        <p:nvCxnSpPr>
          <p:cNvPr id="15" name="Connector (flow)"/>
          <p:cNvCxnSpPr/>
          <p:nvPr/>
        </p:nvCxnSpPr>
        <p:spPr>
          <a:xfrm>
            <a:off x="4919472" y="1691640"/>
            <a:ext cx="128016"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47488" y="1371600"/>
            <a:ext cx="2121408" cy="640080"/>
          </a:xfrm>
          <a:prstGeom prst="roundRect">
            <a:avLst>
              <a:gd name="adj" fmla="val 11428"/>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FFFFFF"/>
                </a:solidFill>
                <a:latin typeface="Arial"/>
              </a:rPr>
              <a:t>Control traffic</a:t>
            </a:r>
          </a:p>
        </p:txBody>
      </p:sp>
      <p:sp>
        <p:nvSpPr>
          <p:cNvPr id="17" name="Rounded Rectangle 16"/>
          <p:cNvSpPr/>
          <p:nvPr/>
        </p:nvSpPr>
        <p:spPr>
          <a:xfrm>
            <a:off x="5047488" y="2103120"/>
            <a:ext cx="2121408" cy="1508760"/>
          </a:xfrm>
          <a:prstGeom prst="roundRect">
            <a:avLst>
              <a:gd name="adj" fmla="val 484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r>
              <a:rPr sz="1500" b="1" i="0">
                <a:solidFill>
                  <a:srgbClr val="2F78C4"/>
                </a:solidFill>
                <a:latin typeface="Arial"/>
              </a:rPr>
              <a:t>03</a:t>
            </a:r>
          </a:p>
          <a:p>
            <a:pPr algn="l"/>
            <a:r>
              <a:rPr sz="1700" b="1" i="0">
                <a:solidFill>
                  <a:srgbClr val="000048"/>
                </a:solidFill>
                <a:latin typeface="Arial"/>
              </a:rPr>
              <a:t>AI Gateway Implementation</a:t>
            </a:r>
          </a:p>
        </p:txBody>
      </p:sp>
      <p:sp>
        <p:nvSpPr>
          <p:cNvPr id="18" name="Rounded Rectangle 17"/>
          <p:cNvSpPr/>
          <p:nvPr/>
        </p:nvSpPr>
        <p:spPr>
          <a:xfrm>
            <a:off x="5047488" y="3703320"/>
            <a:ext cx="2121408" cy="457200"/>
          </a:xfrm>
          <a:prstGeom prst="roundRect">
            <a:avLst>
              <a:gd name="adj" fmla="val 1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0" i="0">
                <a:solidFill>
                  <a:srgbClr val="000048"/>
                </a:solidFill>
                <a:latin typeface="Arial"/>
              </a:rPr>
              <a:t>Enforcement</a:t>
            </a:r>
          </a:p>
        </p:txBody>
      </p:sp>
      <p:cxnSp>
        <p:nvCxnSpPr>
          <p:cNvPr id="19" name="Connector (flow)"/>
          <p:cNvCxnSpPr/>
          <p:nvPr/>
        </p:nvCxnSpPr>
        <p:spPr>
          <a:xfrm>
            <a:off x="7168896" y="1691640"/>
            <a:ext cx="128016"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6912" y="1371600"/>
            <a:ext cx="2121408" cy="640080"/>
          </a:xfrm>
          <a:prstGeom prst="roundRect">
            <a:avLst>
              <a:gd name="adj" fmla="val 11428"/>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FFFFFF"/>
                </a:solidFill>
                <a:latin typeface="Arial"/>
              </a:rPr>
              <a:t>Govern agents</a:t>
            </a:r>
          </a:p>
        </p:txBody>
      </p:sp>
      <p:sp>
        <p:nvSpPr>
          <p:cNvPr id="21" name="Rounded Rectangle 20"/>
          <p:cNvSpPr/>
          <p:nvPr/>
        </p:nvSpPr>
        <p:spPr>
          <a:xfrm>
            <a:off x="7296912" y="2103120"/>
            <a:ext cx="2121408" cy="1508760"/>
          </a:xfrm>
          <a:prstGeom prst="roundRect">
            <a:avLst>
              <a:gd name="adj" fmla="val 484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r>
              <a:rPr sz="1500" b="1" i="0">
                <a:solidFill>
                  <a:srgbClr val="2F78C4"/>
                </a:solidFill>
                <a:latin typeface="Arial"/>
              </a:rPr>
              <a:t>02</a:t>
            </a:r>
          </a:p>
          <a:p>
            <a:pPr algn="l"/>
            <a:r>
              <a:rPr sz="1700" b="1" i="0">
                <a:solidFill>
                  <a:srgbClr val="000048"/>
                </a:solidFill>
                <a:latin typeface="Arial"/>
              </a:rPr>
              <a:t>Agent Governance and Operations</a:t>
            </a:r>
          </a:p>
        </p:txBody>
      </p:sp>
      <p:sp>
        <p:nvSpPr>
          <p:cNvPr id="22" name="Rounded Rectangle 21"/>
          <p:cNvSpPr/>
          <p:nvPr/>
        </p:nvSpPr>
        <p:spPr>
          <a:xfrm>
            <a:off x="7296912" y="3703320"/>
            <a:ext cx="2121408" cy="457200"/>
          </a:xfrm>
          <a:prstGeom prst="roundRect">
            <a:avLst>
              <a:gd name="adj" fmla="val 1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0" i="0">
                <a:solidFill>
                  <a:srgbClr val="000048"/>
                </a:solidFill>
                <a:latin typeface="Arial"/>
              </a:rPr>
              <a:t>Governance</a:t>
            </a:r>
          </a:p>
        </p:txBody>
      </p:sp>
      <p:cxnSp>
        <p:nvCxnSpPr>
          <p:cNvPr id="23" name="Connector (flow)"/>
          <p:cNvCxnSpPr/>
          <p:nvPr/>
        </p:nvCxnSpPr>
        <p:spPr>
          <a:xfrm>
            <a:off x="9418319" y="1691640"/>
            <a:ext cx="128017"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546336" y="1371600"/>
            <a:ext cx="2121408" cy="640080"/>
          </a:xfrm>
          <a:prstGeom prst="roundRect">
            <a:avLst>
              <a:gd name="adj" fmla="val 11428"/>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FFFFFF"/>
                </a:solidFill>
                <a:latin typeface="Arial"/>
              </a:rPr>
              <a:t>Run</a:t>
            </a:r>
          </a:p>
        </p:txBody>
      </p:sp>
      <p:sp>
        <p:nvSpPr>
          <p:cNvPr id="25" name="Rounded Rectangle 24"/>
          <p:cNvSpPr/>
          <p:nvPr/>
        </p:nvSpPr>
        <p:spPr>
          <a:xfrm>
            <a:off x="9546336" y="2103120"/>
            <a:ext cx="2121408" cy="1508760"/>
          </a:xfrm>
          <a:prstGeom prst="roundRect">
            <a:avLst>
              <a:gd name="adj" fmla="val 484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r>
              <a:rPr sz="1500" b="1" i="0">
                <a:solidFill>
                  <a:srgbClr val="2F78C4"/>
                </a:solidFill>
                <a:latin typeface="Arial"/>
              </a:rPr>
              <a:t>05</a:t>
            </a:r>
          </a:p>
          <a:p>
            <a:pPr algn="l"/>
            <a:r>
              <a:rPr sz="1700" b="1" i="0">
                <a:solidFill>
                  <a:srgbClr val="000048"/>
                </a:solidFill>
                <a:latin typeface="Arial"/>
              </a:rPr>
              <a:t>Managed AI Platform Operations</a:t>
            </a:r>
          </a:p>
        </p:txBody>
      </p:sp>
      <p:sp>
        <p:nvSpPr>
          <p:cNvPr id="26" name="Rounded Rectangle 25"/>
          <p:cNvSpPr/>
          <p:nvPr/>
        </p:nvSpPr>
        <p:spPr>
          <a:xfrm>
            <a:off x="9546336" y="3703320"/>
            <a:ext cx="2121408" cy="457200"/>
          </a:xfrm>
          <a:prstGeom prst="roundRect">
            <a:avLst>
              <a:gd name="adj" fmla="val 1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0" i="0">
                <a:solidFill>
                  <a:srgbClr val="000048"/>
                </a:solidFill>
                <a:latin typeface="Arial"/>
              </a:rPr>
              <a:t>Recurring</a:t>
            </a:r>
          </a:p>
        </p:txBody>
      </p:sp>
      <p:cxnSp>
        <p:nvCxnSpPr>
          <p:cNvPr id="27" name="Connector (control)"/>
          <p:cNvCxnSpPr/>
          <p:nvPr/>
        </p:nvCxnSpPr>
        <p:spPr>
          <a:xfrm>
            <a:off x="10607040" y="4160520"/>
            <a:ext cx="0" cy="27432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control)"/>
          <p:cNvCxnSpPr/>
          <p:nvPr/>
        </p:nvCxnSpPr>
        <p:spPr>
          <a:xfrm flipH="1">
            <a:off x="1609344" y="4434840"/>
            <a:ext cx="8997696"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control)"/>
          <p:cNvCxnSpPr/>
          <p:nvPr/>
        </p:nvCxnSpPr>
        <p:spPr>
          <a:xfrm flipV="1">
            <a:off x="1609344" y="4160520"/>
            <a:ext cx="0" cy="27432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926080" y="4462272"/>
            <a:ext cx="6400800" cy="320040"/>
          </a:xfrm>
          <a:prstGeom prst="rect">
            <a:avLst/>
          </a:prstGeom>
          <a:noFill/>
        </p:spPr>
        <p:txBody>
          <a:bodyPr wrap="square" lIns="0" rIns="0" tIns="0" bIns="0" anchor="t">
            <a:noAutofit/>
          </a:bodyPr>
          <a:lstStyle/>
          <a:p>
            <a:pPr algn="ctr"/>
            <a:r>
              <a:rPr sz="1400" b="0" i="0">
                <a:solidFill>
                  <a:srgbClr val="6363C9"/>
                </a:solidFill>
                <a:latin typeface="Arial"/>
              </a:rPr>
              <a:t>Monthly evidence from operations feeds the next capacity and cost decision</a:t>
            </a:r>
          </a:p>
        </p:txBody>
      </p:sp>
      <p:sp>
        <p:nvSpPr>
          <p:cNvPr id="31" name="Rounded Rectangle 30"/>
          <p:cNvSpPr/>
          <p:nvPr/>
        </p:nvSpPr>
        <p:spPr>
          <a:xfrm>
            <a:off x="548640" y="4983480"/>
            <a:ext cx="11091672" cy="777240"/>
          </a:xfrm>
          <a:prstGeom prst="roundRect">
            <a:avLst>
              <a:gd name="adj" fmla="val 94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700" b="1" i="0">
                <a:solidFill>
                  <a:srgbClr val="000048"/>
                </a:solidFill>
                <a:latin typeface="Arial"/>
              </a:rPr>
              <a:t>Other ways in: </a:t>
            </a:r>
            <a:r>
              <a:rPr sz="1700" b="0" i="0">
                <a:solidFill>
                  <a:srgbClr val="1E1E2E"/>
                </a:solidFill>
                <a:latin typeface="Arial"/>
              </a:rPr>
              <a:t>01 platform assessment (3 to 5 weeks)  ·  02 agent coverage assessment (3 to 4 weeks)  ·  03 gateway readiness assessment (2 to 4 weeks)</a:t>
            </a:r>
          </a:p>
        </p:txBody>
      </p:sp>
      <p:sp>
        <p:nvSpPr>
          <p:cNvPr id="32" name="Rounded Rectangle 31"/>
          <p:cNvSpPr/>
          <p:nvPr/>
        </p:nvSpPr>
        <p:spPr>
          <a:xfrm>
            <a:off x="548640" y="5852160"/>
            <a:ext cx="11091672" cy="457200"/>
          </a:xfrm>
          <a:prstGeom prst="roundRect">
            <a:avLst>
              <a:gd name="adj" fmla="val 16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500" b="1" i="0">
                <a:solidFill>
                  <a:srgbClr val="000048"/>
                </a:solidFill>
                <a:latin typeface="Arial"/>
              </a:rPr>
              <a:t>Note:  </a:t>
            </a:r>
            <a:r>
              <a:rPr sz="1500" b="0" i="0">
                <a:solidFill>
                  <a:srgbClr val="1E1E2E"/>
                </a:solidFill>
                <a:latin typeface="Arial"/>
              </a:rPr>
              <a:t>Sequence is typical, not mandatory. Each offering is sold and accepted on its 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owns what in the Microsoft AI ecosystem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BOUNDARIES"/>
          <p:cNvSpPr/>
          <p:nvPr/>
        </p:nvSpPr>
        <p:spPr>
          <a:xfrm>
            <a:off x="365887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BOUNDARIES</a:t>
            </a:r>
          </a:p>
        </p:txBody>
      </p:sp>
      <p:sp>
        <p:nvSpPr>
          <p:cNvPr id="6" name="Status chip: SPLIT TO CONFIRM"/>
          <p:cNvSpPr/>
          <p:nvPr/>
        </p:nvSpPr>
        <p:spPr>
          <a:xfrm>
            <a:off x="566547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SPLIT TO CONFIRM</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9" name="Rounded Rectangle 8"/>
          <p:cNvSpPr/>
          <p:nvPr/>
        </p:nvSpPr>
        <p:spPr>
          <a:xfrm>
            <a:off x="548640" y="1371600"/>
            <a:ext cx="3593592" cy="640080"/>
          </a:xfrm>
          <a:prstGeom prst="roundRect">
            <a:avLst>
              <a:gd name="adj" fmla="val 11428"/>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Cognizant M365 and D365 teams</a:t>
            </a:r>
          </a:p>
        </p:txBody>
      </p:sp>
      <p:sp>
        <p:nvSpPr>
          <p:cNvPr id="10" name="Rounded Rectangle 9"/>
          <p:cNvSpPr/>
          <p:nvPr/>
        </p:nvSpPr>
        <p:spPr>
          <a:xfrm>
            <a:off x="548640" y="2103120"/>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Microsoft 365 Copilot</a:t>
            </a:r>
          </a:p>
          <a:p>
            <a:pPr algn="l"/>
            <a:r>
              <a:rPr sz="1500" b="0" i="0">
                <a:solidFill>
                  <a:srgbClr val="1E1E2E"/>
                </a:solidFill>
                <a:latin typeface="Arial"/>
              </a:rPr>
              <a:t>in Microsoft 365 apps (M365 team, to confirm)</a:t>
            </a:r>
          </a:p>
        </p:txBody>
      </p:sp>
      <p:sp>
        <p:nvSpPr>
          <p:cNvPr id="11" name="Rounded Rectangle 10"/>
          <p:cNvSpPr/>
          <p:nvPr/>
        </p:nvSpPr>
        <p:spPr>
          <a:xfrm>
            <a:off x="548640" y="3154679"/>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Copilot in Dynamics 365</a:t>
            </a:r>
          </a:p>
          <a:p>
            <a:pPr algn="l"/>
            <a:r>
              <a:rPr sz="1500" b="0" i="0">
                <a:solidFill>
                  <a:srgbClr val="1E1E2E"/>
                </a:solidFill>
                <a:latin typeface="Arial"/>
              </a:rPr>
              <a:t>D365 team, to confirm</a:t>
            </a:r>
          </a:p>
        </p:txBody>
      </p:sp>
      <p:sp>
        <p:nvSpPr>
          <p:cNvPr id="12" name="Rounded Rectangle 11"/>
          <p:cNvSpPr/>
          <p:nvPr/>
        </p:nvSpPr>
        <p:spPr>
          <a:xfrm>
            <a:off x="548640" y="4206240"/>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Adoption and change</a:t>
            </a:r>
          </a:p>
          <a:p>
            <a:pPr algn="l"/>
            <a:r>
              <a:rPr sz="1500" b="0" i="0">
                <a:solidFill>
                  <a:srgbClr val="1E1E2E"/>
                </a:solidFill>
                <a:latin typeface="Arial"/>
              </a:rPr>
              <a:t>licences, rollout, training</a:t>
            </a:r>
          </a:p>
        </p:txBody>
      </p:sp>
      <p:sp>
        <p:nvSpPr>
          <p:cNvPr id="13" name="Rounded Rectangle 12"/>
          <p:cNvSpPr/>
          <p:nvPr/>
        </p:nvSpPr>
        <p:spPr>
          <a:xfrm>
            <a:off x="4297679" y="1371600"/>
            <a:ext cx="3593592" cy="640080"/>
          </a:xfrm>
          <a:prstGeom prst="roundRect">
            <a:avLst>
              <a:gd name="adj" fmla="val 11428"/>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Shared: joint rules apply</a:t>
            </a:r>
          </a:p>
        </p:txBody>
      </p:sp>
      <p:sp>
        <p:nvSpPr>
          <p:cNvPr id="14" name="Rounded Rectangle 13"/>
          <p:cNvSpPr/>
          <p:nvPr/>
        </p:nvSpPr>
        <p:spPr>
          <a:xfrm>
            <a:off x="4297679" y="2103120"/>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Copilot Studio</a:t>
            </a:r>
          </a:p>
          <a:p>
            <a:pPr algn="l"/>
            <a:r>
              <a:rPr sz="1500" b="0" i="0">
                <a:solidFill>
                  <a:srgbClr val="1E1E2E"/>
                </a:solidFill>
                <a:latin typeface="Arial"/>
              </a:rPr>
              <a:t>Power Platform admins it; CIS Infra governs its agents</a:t>
            </a:r>
          </a:p>
        </p:txBody>
      </p:sp>
      <p:sp>
        <p:nvSpPr>
          <p:cNvPr id="15" name="Rounded Rectangle 14"/>
          <p:cNvSpPr/>
          <p:nvPr/>
        </p:nvSpPr>
        <p:spPr>
          <a:xfrm>
            <a:off x="4297679" y="3154679"/>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Agent 365</a:t>
            </a:r>
          </a:p>
          <a:p>
            <a:pPr algn="l"/>
            <a:r>
              <a:rPr sz="1500" b="0" i="0">
                <a:solidFill>
                  <a:srgbClr val="1E1E2E"/>
                </a:solidFill>
                <a:latin typeface="Arial"/>
              </a:rPr>
              <a:t>CIS Infra configures with Security</a:t>
            </a:r>
          </a:p>
        </p:txBody>
      </p:sp>
      <p:sp>
        <p:nvSpPr>
          <p:cNvPr id="16" name="Rounded Rectangle 15"/>
          <p:cNvSpPr/>
          <p:nvPr/>
        </p:nvSpPr>
        <p:spPr>
          <a:xfrm>
            <a:off x="4297679" y="4206240"/>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Purview readiness</a:t>
            </a:r>
          </a:p>
          <a:p>
            <a:pPr algn="l"/>
            <a:r>
              <a:rPr sz="1500" b="0" i="0">
                <a:solidFill>
                  <a:srgbClr val="1E1E2E"/>
                </a:solidFill>
                <a:latin typeface="Arial"/>
              </a:rPr>
              <a:t>Security leads; CIS Infra supplies inputs</a:t>
            </a:r>
          </a:p>
        </p:txBody>
      </p:sp>
      <p:sp>
        <p:nvSpPr>
          <p:cNvPr id="17" name="Rounded Rectangle 16"/>
          <p:cNvSpPr/>
          <p:nvPr/>
        </p:nvSpPr>
        <p:spPr>
          <a:xfrm>
            <a:off x="804671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CIS Infra offerings 01 to 05</a:t>
            </a:r>
          </a:p>
        </p:txBody>
      </p:sp>
      <p:sp>
        <p:nvSpPr>
          <p:cNvPr id="18" name="Rounded Rectangle 17"/>
          <p:cNvSpPr/>
          <p:nvPr/>
        </p:nvSpPr>
        <p:spPr>
          <a:xfrm>
            <a:off x="8046719" y="2103120"/>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Foundry and AI landing zone</a:t>
            </a:r>
          </a:p>
          <a:p>
            <a:pPr algn="l"/>
            <a:r>
              <a:rPr sz="1500" b="0" i="0">
                <a:solidFill>
                  <a:srgbClr val="1E1E2E"/>
                </a:solidFill>
                <a:latin typeface="Arial"/>
              </a:rPr>
              <a:t>offering 01</a:t>
            </a:r>
          </a:p>
        </p:txBody>
      </p:sp>
      <p:sp>
        <p:nvSpPr>
          <p:cNvPr id="19" name="Rounded Rectangle 18"/>
          <p:cNvSpPr/>
          <p:nvPr/>
        </p:nvSpPr>
        <p:spPr>
          <a:xfrm>
            <a:off x="8046719" y="3154679"/>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API Management and API Center</a:t>
            </a:r>
          </a:p>
          <a:p>
            <a:pPr algn="l"/>
            <a:r>
              <a:rPr sz="1500" b="0" i="0">
                <a:solidFill>
                  <a:srgbClr val="1E1E2E"/>
                </a:solidFill>
                <a:latin typeface="Arial"/>
              </a:rPr>
              <a:t>offering 03</a:t>
            </a:r>
          </a:p>
        </p:txBody>
      </p:sp>
      <p:sp>
        <p:nvSpPr>
          <p:cNvPr id="20" name="Rounded Rectangle 19"/>
          <p:cNvSpPr/>
          <p:nvPr/>
        </p:nvSpPr>
        <p:spPr>
          <a:xfrm>
            <a:off x="8046719" y="4206240"/>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Agent governance, FinOps, operations</a:t>
            </a:r>
          </a:p>
          <a:p>
            <a:pPr algn="l"/>
            <a:r>
              <a:rPr sz="1500" b="0" i="0">
                <a:solidFill>
                  <a:srgbClr val="1E1E2E"/>
                </a:solidFill>
                <a:latin typeface="Arial"/>
              </a:rPr>
              <a:t>offerings 02, 04, 05</a:t>
            </a:r>
          </a:p>
        </p:txBody>
      </p:sp>
      <p:cxnSp>
        <p:nvCxnSpPr>
          <p:cNvPr id="21" name="Connector (flow)"/>
          <p:cNvCxnSpPr/>
          <p:nvPr/>
        </p:nvCxnSpPr>
        <p:spPr>
          <a:xfrm>
            <a:off x="4142232" y="3108960"/>
            <a:ext cx="155448"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flow)"/>
          <p:cNvCxnSpPr/>
          <p:nvPr/>
        </p:nvCxnSpPr>
        <p:spPr>
          <a:xfrm>
            <a:off x="7891272" y="3108960"/>
            <a:ext cx="155448"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54406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Open decisions: M365 versus D365 split of Copilot ownership, and who leads a joint deal (register D1).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 typical first-year deal, services only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HYPOTHETICAL"/>
          <p:cNvSpPr/>
          <p:nvPr/>
        </p:nvSpPr>
        <p:spPr>
          <a:xfrm>
            <a:off x="365887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a:t>
            </a:r>
          </a:p>
        </p:txBody>
      </p:sp>
      <p:sp>
        <p:nvSpPr>
          <p:cNvPr id="6" name="Status chip: ILLUSTRATIVE RATE"/>
          <p:cNvSpPr/>
          <p:nvPr/>
        </p:nvSpPr>
        <p:spPr>
          <a:xfrm>
            <a:off x="50609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RATE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graphicFrame>
        <p:nvGraphicFramePr>
          <p:cNvPr id="9" name="Chart"/>
          <p:cNvGraphicFramePr>
            <a:graphicFrameLocks noGrp="1"/>
          </p:cNvGraphicFramePr>
          <p:nvPr/>
        </p:nvGraphicFramePr>
        <p:xfrm>
          <a:off x="548640" y="1371600"/>
          <a:ext cx="6949440" cy="4023360"/>
        </p:xfrm>
        <a:graphic>
          <a:graphicData uri="http://schemas.openxmlformats.org/drawingml/2006/chart">
            <c:chart xmlns:c="http://schemas.openxmlformats.org/drawingml/2006/chart" r:id="rId4"/>
          </a:graphicData>
        </a:graphic>
      </p:graphicFrame>
      <p:sp>
        <p:nvSpPr>
          <p:cNvPr id="10" name="Rounded Rectangle 9"/>
          <p:cNvSpPr/>
          <p:nvPr/>
        </p:nvSpPr>
        <p:spPr>
          <a:xfrm>
            <a:off x="7772400" y="1371600"/>
            <a:ext cx="3867912" cy="4023360"/>
          </a:xfrm>
          <a:prstGeom prst="roundRect">
            <a:avLst>
              <a:gd name="adj" fmla="val 189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r>
              <a:rPr sz="1700" b="1" i="0">
                <a:solidFill>
                  <a:srgbClr val="26EFE9"/>
                </a:solidFill>
                <a:latin typeface="Arial"/>
              </a:rPr>
              <a:t>Year one services</a:t>
            </a:r>
          </a:p>
          <a:p>
            <a:pPr algn="l">
              <a:spcAft>
                <a:spcPts val="1000"/>
              </a:spcAft>
            </a:pPr>
            <a:r>
              <a:rPr sz="3400" b="1" i="0">
                <a:solidFill>
                  <a:srgbClr val="FFFFFF"/>
                </a:solidFill>
                <a:latin typeface="Arial"/>
              </a:rPr>
              <a:t>about $660k</a:t>
            </a:r>
          </a:p>
          <a:p>
            <a:pPr algn="l"/>
            <a:r>
              <a:rPr sz="1700" b="1" i="0">
                <a:solidFill>
                  <a:srgbClr val="26EFE9"/>
                </a:solidFill>
                <a:latin typeface="Arial"/>
              </a:rPr>
              <a:t>Year two recurring</a:t>
            </a:r>
          </a:p>
          <a:p>
            <a:pPr algn="l">
              <a:spcAft>
                <a:spcPts val="1000"/>
              </a:spcAft>
            </a:pPr>
            <a:r>
              <a:rPr sz="3400" b="1" i="0">
                <a:solidFill>
                  <a:srgbClr val="FFFFFF"/>
                </a:solidFill>
                <a:latin typeface="Arial"/>
              </a:rPr>
              <a:t>about $540k</a:t>
            </a:r>
          </a:p>
          <a:p>
            <a:pPr algn="l"/>
            <a:r>
              <a:rPr sz="1500" b="0" i="0">
                <a:solidFill>
                  <a:srgbClr val="FFFFFF"/>
                </a:solidFill>
                <a:latin typeface="Arial"/>
              </a:rPr>
              <a:t>Customer Azure, model and licence spend is separate and goes to Microsoft.</a:t>
            </a:r>
          </a:p>
        </p:txBody>
      </p:sp>
      <p:sp>
        <p:nvSpPr>
          <p:cNvPr id="11" name="Rounded Rectangle 10"/>
          <p:cNvSpPr/>
          <p:nvPr/>
        </p:nvSpPr>
        <p:spPr>
          <a:xfrm>
            <a:off x="548640" y="5577840"/>
            <a:ext cx="11091672"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Hypothetical deal at an illustrative $1,000 per role day. Not a forecast, quote or Cognizant rate.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we position against other Microsoft partners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UBLIC POSITIONING ONLY"/>
          <p:cNvSpPr/>
          <p:nvPr/>
        </p:nvSpPr>
        <p:spPr>
          <a:xfrm>
            <a:off x="3658870" y="274320"/>
            <a:ext cx="226060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PUBLIC POSITIONING ONLY</a:t>
            </a:r>
          </a:p>
        </p:txBody>
      </p:sp>
      <p:sp>
        <p:nvSpPr>
          <p:cNvPr id="6" name="Status chip: CLAIMS TO VALIDATE"/>
          <p:cNvSpPr/>
          <p:nvPr/>
        </p:nvSpPr>
        <p:spPr>
          <a:xfrm>
            <a:off x="6010910" y="274320"/>
            <a:ext cx="182880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CLAIMS TO VALIDATE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9" name="Rounded Rectangle 8"/>
          <p:cNvSpPr/>
          <p:nvPr/>
        </p:nvSpPr>
        <p:spPr>
          <a:xfrm>
            <a:off x="548640" y="1371600"/>
            <a:ext cx="5468112" cy="566928"/>
          </a:xfrm>
          <a:prstGeom prst="roundRect">
            <a:avLst>
              <a:gd name="adj" fmla="val 1290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What others publicly emphasise</a:t>
            </a:r>
          </a:p>
        </p:txBody>
      </p:sp>
      <p:sp>
        <p:nvSpPr>
          <p:cNvPr id="10" name="Rounded Rectangle 9"/>
          <p:cNvSpPr/>
          <p:nvPr/>
        </p:nvSpPr>
        <p:spPr>
          <a:xfrm>
            <a:off x="548640" y="2029968"/>
            <a:ext cx="5468112" cy="777240"/>
          </a:xfrm>
          <a:prstGeom prst="roundRect">
            <a:avLst>
              <a:gd name="adj" fmla="val 941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Industry outcomes</a:t>
            </a:r>
          </a:p>
          <a:p>
            <a:pPr algn="l"/>
            <a:r>
              <a:rPr sz="1500" b="0" i="0">
                <a:solidFill>
                  <a:srgbClr val="53565A"/>
                </a:solidFill>
                <a:latin typeface="Arial"/>
              </a:rPr>
              <a:t>Accenture and Avanade, EY, Wipro</a:t>
            </a:r>
          </a:p>
        </p:txBody>
      </p:sp>
      <p:sp>
        <p:nvSpPr>
          <p:cNvPr id="11" name="Rounded Rectangle 10"/>
          <p:cNvSpPr/>
          <p:nvPr/>
        </p:nvSpPr>
        <p:spPr>
          <a:xfrm>
            <a:off x="548640" y="2898648"/>
            <a:ext cx="5468112" cy="777240"/>
          </a:xfrm>
          <a:prstGeom prst="roundRect">
            <a:avLst>
              <a:gd name="adj" fmla="val 941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Copilot rollout at scale</a:t>
            </a:r>
          </a:p>
          <a:p>
            <a:pPr algn="l"/>
            <a:r>
              <a:rPr sz="1500" b="0" i="0">
                <a:solidFill>
                  <a:srgbClr val="53565A"/>
                </a:solidFill>
                <a:latin typeface="Arial"/>
              </a:rPr>
              <a:t>TCS, KPMG</a:t>
            </a:r>
          </a:p>
        </p:txBody>
      </p:sp>
      <p:sp>
        <p:nvSpPr>
          <p:cNvPr id="12" name="Rounded Rectangle 11"/>
          <p:cNvSpPr/>
          <p:nvPr/>
        </p:nvSpPr>
        <p:spPr>
          <a:xfrm>
            <a:off x="548640" y="3767328"/>
            <a:ext cx="5468112" cy="777240"/>
          </a:xfrm>
          <a:prstGeom prst="roundRect">
            <a:avLst>
              <a:gd name="adj" fmla="val 941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Engineering assets and factories</a:t>
            </a:r>
          </a:p>
          <a:p>
            <a:pPr algn="l"/>
            <a:r>
              <a:rPr sz="1500" b="0" i="0">
                <a:solidFill>
                  <a:srgbClr val="53565A"/>
                </a:solidFill>
                <a:latin typeface="Arial"/>
              </a:rPr>
              <a:t>EPAM, PwC</a:t>
            </a:r>
          </a:p>
        </p:txBody>
      </p:sp>
      <p:sp>
        <p:nvSpPr>
          <p:cNvPr id="13" name="Rounded Rectangle 12"/>
          <p:cNvSpPr/>
          <p:nvPr/>
        </p:nvSpPr>
        <p:spPr>
          <a:xfrm>
            <a:off x="548640" y="4636008"/>
            <a:ext cx="5468112" cy="777240"/>
          </a:xfrm>
          <a:prstGeom prst="roundRect">
            <a:avLst>
              <a:gd name="adj" fmla="val 941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End-to-end transformation</a:t>
            </a:r>
          </a:p>
          <a:p>
            <a:pPr algn="l"/>
            <a:r>
              <a:rPr sz="1500" b="0" i="0">
                <a:solidFill>
                  <a:srgbClr val="53565A"/>
                </a:solidFill>
                <a:latin typeface="Arial"/>
              </a:rPr>
              <a:t>Deloitte</a:t>
            </a:r>
          </a:p>
        </p:txBody>
      </p:sp>
      <p:sp>
        <p:nvSpPr>
          <p:cNvPr id="14" name="Rounded Rectangle 13"/>
          <p:cNvSpPr/>
          <p:nvPr/>
        </p:nvSpPr>
        <p:spPr>
          <a:xfrm>
            <a:off x="6172200" y="1371600"/>
            <a:ext cx="5468112" cy="566928"/>
          </a:xfrm>
          <a:prstGeom prst="roundRect">
            <a:avLst>
              <a:gd name="adj" fmla="val 1290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Where CIS Infra can stand out (to validate)</a:t>
            </a:r>
          </a:p>
        </p:txBody>
      </p:sp>
      <p:sp>
        <p:nvSpPr>
          <p:cNvPr id="15" name="TextBox 14"/>
          <p:cNvSpPr txBox="1"/>
          <p:nvPr/>
        </p:nvSpPr>
        <p:spPr>
          <a:xfrm>
            <a:off x="6172200" y="2103120"/>
            <a:ext cx="5468112" cy="3291840"/>
          </a:xfrm>
          <a:prstGeom prst="rect">
            <a:avLst/>
          </a:prstGeom>
          <a:noFill/>
        </p:spPr>
        <p:txBody>
          <a:bodyPr wrap="square" lIns="0" rIns="0" tIns="0" bIns="0" anchor="t">
            <a:noAutofit/>
          </a:bodyPr>
          <a:lstStyle/>
          <a:p>
            <a:pPr algn="l" marL="201168" indent="-201168">
              <a:spcAft>
                <a:spcPts val="800"/>
              </a:spcAft>
              <a:buFont typeface="Arial"/>
              <a:buChar char="•"/>
            </a:pPr>
            <a:r>
              <a:rPr sz="1800" b="0" i="0">
                <a:solidFill>
                  <a:srgbClr val="1E1E2E"/>
                </a:solidFill>
                <a:latin typeface="Arial"/>
              </a:rPr>
              <a:t>Builds on Microsoft AI Landing Zone accelerators, not bespoke code</a:t>
            </a:r>
          </a:p>
          <a:p>
            <a:pPr algn="l" marL="201168" indent="-201168">
              <a:spcAft>
                <a:spcPts val="800"/>
              </a:spcAft>
              <a:buFont typeface="Arial"/>
              <a:buChar char="•"/>
            </a:pPr>
            <a:r>
              <a:rPr sz="1800" b="0" i="0">
                <a:solidFill>
                  <a:srgbClr val="1E1E2E"/>
                </a:solidFill>
                <a:latin typeface="Arial"/>
              </a:rPr>
              <a:t>Configure-before-build on Agent 365 and Foundry</a:t>
            </a:r>
          </a:p>
          <a:p>
            <a:pPr algn="l" marL="201168" indent="-201168">
              <a:spcAft>
                <a:spcPts val="800"/>
              </a:spcAft>
              <a:buFont typeface="Arial"/>
              <a:buChar char="•"/>
            </a:pPr>
            <a:r>
              <a:rPr sz="1800" b="0" i="0">
                <a:solidFill>
                  <a:srgbClr val="1E1E2E"/>
                </a:solidFill>
                <a:latin typeface="Arial"/>
              </a:rPr>
              <a:t>Kill switch proven in a PoC before it is sold</a:t>
            </a:r>
          </a:p>
          <a:p>
            <a:pPr algn="l" marL="201168" indent="-201168">
              <a:spcAft>
                <a:spcPts val="800"/>
              </a:spcAft>
              <a:buFont typeface="Arial"/>
              <a:buChar char="•"/>
            </a:pPr>
            <a:r>
              <a:rPr sz="1800" b="0" i="0">
                <a:solidFill>
                  <a:srgbClr val="1E1E2E"/>
                </a:solidFill>
                <a:latin typeface="Arial"/>
              </a:rPr>
              <a:t>One run model with clear tower lanes</a:t>
            </a:r>
          </a:p>
          <a:p>
            <a:pPr algn="l" marL="201168" indent="-201168">
              <a:spcAft>
                <a:spcPts val="800"/>
              </a:spcAft>
              <a:buFont typeface="Arial"/>
              <a:buChar char="•"/>
            </a:pPr>
            <a:r>
              <a:rPr sz="1800" b="0" i="0">
                <a:solidFill>
                  <a:srgbClr val="1E1E2E"/>
                </a:solidFill>
                <a:latin typeface="Arial"/>
              </a:rPr>
              <a:t>Cost evidence from day one (entry offer 04)</a:t>
            </a:r>
          </a:p>
        </p:txBody>
      </p:sp>
      <p:sp>
        <p:nvSpPr>
          <p:cNvPr id="16" name="Rounded Rectangle 15"/>
          <p:cNvSpPr/>
          <p:nvPr/>
        </p:nvSpPr>
        <p:spPr>
          <a:xfrm>
            <a:off x="548640" y="5577840"/>
            <a:ext cx="11091672"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Benchmark is public positioning, not proof of quality or price. Differentiators need evidence before external 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Microsoft partner motion: funding, co-sell, Marketplace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CHECKED 11 OCT 2026"/>
          <p:cNvSpPr/>
          <p:nvPr/>
        </p:nvSpPr>
        <p:spPr>
          <a:xfrm>
            <a:off x="365887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ELIGIBILITY TO CONFIRM"/>
          <p:cNvSpPr/>
          <p:nvPr/>
        </p:nvSpPr>
        <p:spPr>
          <a:xfrm>
            <a:off x="56654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ELIGIBILITY TO CONFIRM</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sp>
        <p:nvSpPr>
          <p:cNvPr id="9" name="Rounded Rectangle 8"/>
          <p:cNvSpPr/>
          <p:nvPr/>
        </p:nvSpPr>
        <p:spPr>
          <a:xfrm>
            <a:off x="548640"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Azure Accelerate</a:t>
            </a:r>
          </a:p>
        </p:txBody>
      </p:sp>
      <p:sp>
        <p:nvSpPr>
          <p:cNvPr id="10" name="Rounded Rectangle 9"/>
          <p:cNvSpPr/>
          <p:nvPr/>
        </p:nvSpPr>
        <p:spPr>
          <a:xfrm>
            <a:off x="548640" y="2103120"/>
            <a:ext cx="3593592" cy="1737360"/>
          </a:xfrm>
          <a:prstGeom prst="roundRect">
            <a:avLst>
              <a:gd name="adj" fmla="val 421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r>
              <a:rPr sz="1800" b="0" i="0">
                <a:solidFill>
                  <a:srgbClr val="1E1E2E"/>
                </a:solidFill>
                <a:latin typeface="Arial"/>
              </a:rPr>
              <a:t>Funding support and expert guidance for Azure deployments</a:t>
            </a:r>
          </a:p>
        </p:txBody>
      </p:sp>
      <p:sp>
        <p:nvSpPr>
          <p:cNvPr id="11" name="Rounded Rectangle 10"/>
          <p:cNvSpPr/>
          <p:nvPr/>
        </p:nvSpPr>
        <p:spPr>
          <a:xfrm>
            <a:off x="548640" y="3931920"/>
            <a:ext cx="3593592" cy="1234440"/>
          </a:xfrm>
          <a:prstGeom prst="roundRect">
            <a:avLst>
              <a:gd name="adj" fmla="val 592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r>
              <a:rPr sz="1600" b="1" i="0">
                <a:solidFill>
                  <a:srgbClr val="8A4B08"/>
                </a:solidFill>
                <a:latin typeface="Arial"/>
              </a:rPr>
              <a:t>Check: </a:t>
            </a:r>
            <a:r>
              <a:rPr sz="1600" b="0" i="0">
                <a:solidFill>
                  <a:srgbClr val="1E1E2E"/>
                </a:solidFill>
                <a:latin typeface="Arial"/>
              </a:rPr>
              <a:t>Eligibility per customer: confirm with alliance team</a:t>
            </a:r>
          </a:p>
        </p:txBody>
      </p:sp>
      <p:sp>
        <p:nvSpPr>
          <p:cNvPr id="12" name="Rounded Rectangle 11"/>
          <p:cNvSpPr/>
          <p:nvPr/>
        </p:nvSpPr>
        <p:spPr>
          <a:xfrm>
            <a:off x="429767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Co-sell</a:t>
            </a:r>
          </a:p>
        </p:txBody>
      </p:sp>
      <p:sp>
        <p:nvSpPr>
          <p:cNvPr id="13" name="Rounded Rectangle 12"/>
          <p:cNvSpPr/>
          <p:nvPr/>
        </p:nvSpPr>
        <p:spPr>
          <a:xfrm>
            <a:off x="4297679" y="2103120"/>
            <a:ext cx="3593592" cy="1737360"/>
          </a:xfrm>
          <a:prstGeom prst="roundRect">
            <a:avLst>
              <a:gd name="adj" fmla="val 421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r>
              <a:rPr sz="1800" b="0" i="0">
                <a:solidFill>
                  <a:srgbClr val="1E1E2E"/>
                </a:solidFill>
                <a:latin typeface="Arial"/>
              </a:rPr>
              <a:t>Microsoft sellers engage partners on qualified deals</a:t>
            </a:r>
          </a:p>
        </p:txBody>
      </p:sp>
      <p:sp>
        <p:nvSpPr>
          <p:cNvPr id="14" name="Rounded Rectangle 13"/>
          <p:cNvSpPr/>
          <p:nvPr/>
        </p:nvSpPr>
        <p:spPr>
          <a:xfrm>
            <a:off x="4297679" y="3931920"/>
            <a:ext cx="3593592" cy="1234440"/>
          </a:xfrm>
          <a:prstGeom prst="roundRect">
            <a:avLst>
              <a:gd name="adj" fmla="val 592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r>
              <a:rPr sz="1600" b="1" i="0">
                <a:solidFill>
                  <a:srgbClr val="8A4B08"/>
                </a:solidFill>
                <a:latin typeface="Arial"/>
              </a:rPr>
              <a:t>Check: </a:t>
            </a:r>
            <a:r>
              <a:rPr sz="1600" b="0" i="0">
                <a:solidFill>
                  <a:srgbClr val="1E1E2E"/>
                </a:solidFill>
                <a:latin typeface="Arial"/>
              </a:rPr>
              <a:t>Azure IP co-sell needs a certified software designation from 1 Jan 2026</a:t>
            </a:r>
          </a:p>
        </p:txBody>
      </p:sp>
      <p:sp>
        <p:nvSpPr>
          <p:cNvPr id="15" name="Rounded Rectangle 14"/>
          <p:cNvSpPr/>
          <p:nvPr/>
        </p:nvSpPr>
        <p:spPr>
          <a:xfrm>
            <a:off x="804671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Azure Marketplace</a:t>
            </a:r>
          </a:p>
        </p:txBody>
      </p:sp>
      <p:sp>
        <p:nvSpPr>
          <p:cNvPr id="16" name="Rounded Rectangle 15"/>
          <p:cNvSpPr/>
          <p:nvPr/>
        </p:nvSpPr>
        <p:spPr>
          <a:xfrm>
            <a:off x="8046719" y="2103120"/>
            <a:ext cx="3593592" cy="1737360"/>
          </a:xfrm>
          <a:prstGeom prst="roundRect">
            <a:avLst>
              <a:gd name="adj" fmla="val 421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r>
              <a:rPr sz="1800" b="0" i="0">
                <a:solidFill>
                  <a:srgbClr val="1E1E2E"/>
                </a:solidFill>
                <a:latin typeface="Arial"/>
              </a:rPr>
              <a:t>Customers buy through Marketplace; committed budgets may apply where eligible</a:t>
            </a:r>
          </a:p>
        </p:txBody>
      </p:sp>
      <p:sp>
        <p:nvSpPr>
          <p:cNvPr id="17" name="Rounded Rectangle 16"/>
          <p:cNvSpPr/>
          <p:nvPr/>
        </p:nvSpPr>
        <p:spPr>
          <a:xfrm>
            <a:off x="8046719" y="3931920"/>
            <a:ext cx="3593592" cy="1234440"/>
          </a:xfrm>
          <a:prstGeom prst="roundRect">
            <a:avLst>
              <a:gd name="adj" fmla="val 592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r>
              <a:rPr sz="1600" b="1" i="0">
                <a:solidFill>
                  <a:srgbClr val="8A4B08"/>
                </a:solidFill>
                <a:latin typeface="Arial"/>
              </a:rPr>
              <a:t>Check: </a:t>
            </a:r>
            <a:r>
              <a:rPr sz="1600" b="0" i="0">
                <a:solidFill>
                  <a:srgbClr val="1E1E2E"/>
                </a:solidFill>
                <a:latin typeface="Arial"/>
              </a:rPr>
              <a:t>Fit for packaged accelerators, if any</a:t>
            </a:r>
          </a:p>
        </p:txBody>
      </p:sp>
      <p:sp>
        <p:nvSpPr>
          <p:cNvPr id="18" name="Rounded Rectangle 17"/>
          <p:cNvSpPr/>
          <p:nvPr/>
        </p:nvSpPr>
        <p:spPr>
          <a:xfrm>
            <a:off x="548640" y="54406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Owner: Cognizant Microsoft alliance team. No funding or co-sell benefit is assumed in any price.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Risks that decide success, and how we handle them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Tower commitments unsigned</a:t>
            </a:r>
          </a:p>
          <a:p>
            <a:pPr algn="l">
              <a:spcAft>
                <a:spcPts val="400"/>
              </a:spcAft>
            </a:pPr>
            <a:r>
              <a:rPr sz="1800" b="1" i="0">
                <a:solidFill>
                  <a:srgbClr val="8A4B08"/>
                </a:solidFill>
                <a:latin typeface="Arial"/>
              </a:rPr>
              <a:t>Effect: </a:t>
            </a:r>
            <a:r>
              <a:rPr sz="1800" b="0" i="0">
                <a:solidFill>
                  <a:srgbClr val="1E1E2E"/>
                </a:solidFill>
                <a:latin typeface="Arial"/>
              </a:rPr>
              <a:t>Offers cannot be delivered end to end</a:t>
            </a:r>
          </a:p>
          <a:p>
            <a:pPr algn="l">
              <a:spcAft>
                <a:spcPts val="400"/>
              </a:spcAft>
            </a:pPr>
            <a:r>
              <a:rPr sz="1800" b="1" i="0">
                <a:solidFill>
                  <a:srgbClr val="1D6B3A"/>
                </a:solidFill>
                <a:latin typeface="Arial"/>
              </a:rPr>
              <a:t>Handle: </a:t>
            </a:r>
            <a:r>
              <a:rPr sz="1800" b="0" i="0">
                <a:solidFill>
                  <a:srgbClr val="1E1E2E"/>
                </a:solidFill>
                <a:latin typeface="Arial"/>
              </a:rPr>
              <a:t>Signed tower agreements in the 30-day validation</a:t>
            </a:r>
          </a:p>
          <a:p>
            <a:pPr algn="l"/>
            <a:r>
              <a:rPr sz="1800" b="1" i="0">
                <a:solidFill>
                  <a:srgbClr val="2F78C4"/>
                </a:solidFill>
                <a:latin typeface="Arial"/>
              </a:rPr>
              <a:t>Owner: </a:t>
            </a:r>
            <a:r>
              <a:rPr sz="1800" b="0" i="0">
                <a:solidFill>
                  <a:srgbClr val="1E1E2E"/>
                </a:solidFill>
                <a:latin typeface="Arial"/>
              </a:rPr>
              <a:t>CIS Infra leadership</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Overlap with M365 and D365</a:t>
            </a:r>
          </a:p>
          <a:p>
            <a:pPr algn="l">
              <a:spcAft>
                <a:spcPts val="400"/>
              </a:spcAft>
            </a:pPr>
            <a:r>
              <a:rPr sz="1800" b="1" i="0">
                <a:solidFill>
                  <a:srgbClr val="8A4B08"/>
                </a:solidFill>
                <a:latin typeface="Arial"/>
              </a:rPr>
              <a:t>Effect: </a:t>
            </a:r>
            <a:r>
              <a:rPr sz="1800" b="0" i="0">
                <a:solidFill>
                  <a:srgbClr val="1E1E2E"/>
                </a:solidFill>
                <a:latin typeface="Arial"/>
              </a:rPr>
              <a:t>Two teams pitch the same customer</a:t>
            </a:r>
          </a:p>
          <a:p>
            <a:pPr algn="l">
              <a:spcAft>
                <a:spcPts val="400"/>
              </a:spcAft>
            </a:pPr>
            <a:r>
              <a:rPr sz="1800" b="1" i="0">
                <a:solidFill>
                  <a:srgbClr val="1D6B3A"/>
                </a:solidFill>
                <a:latin typeface="Arial"/>
              </a:rPr>
              <a:t>Handle: </a:t>
            </a:r>
            <a:r>
              <a:rPr sz="1800" b="0" i="0">
                <a:solidFill>
                  <a:srgbClr val="1E1E2E"/>
                </a:solidFill>
                <a:latin typeface="Arial"/>
              </a:rPr>
              <a:t>Joint-motion rules and a named deal lead</a:t>
            </a:r>
          </a:p>
          <a:p>
            <a:pPr algn="l"/>
            <a:r>
              <a:rPr sz="1800" b="1" i="0">
                <a:solidFill>
                  <a:srgbClr val="2F78C4"/>
                </a:solidFill>
                <a:latin typeface="Arial"/>
              </a:rPr>
              <a:t>Owner: </a:t>
            </a:r>
            <a:r>
              <a:rPr sz="1800" b="0" i="0">
                <a:solidFill>
                  <a:srgbClr val="1E1E2E"/>
                </a:solidFill>
                <a:latin typeface="Arial"/>
              </a:rPr>
              <a:t>Practice leads</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No approved rates</a:t>
            </a:r>
          </a:p>
          <a:p>
            <a:pPr algn="l">
              <a:spcAft>
                <a:spcPts val="400"/>
              </a:spcAft>
            </a:pPr>
            <a:r>
              <a:rPr sz="1800" b="1" i="0">
                <a:solidFill>
                  <a:srgbClr val="8A4B08"/>
                </a:solidFill>
                <a:latin typeface="Arial"/>
              </a:rPr>
              <a:t>Effect: </a:t>
            </a:r>
            <a:r>
              <a:rPr sz="1800" b="0" i="0">
                <a:solidFill>
                  <a:srgbClr val="1E1E2E"/>
                </a:solidFill>
                <a:latin typeface="Arial"/>
              </a:rPr>
              <a:t>Bands cannot become quotes</a:t>
            </a:r>
          </a:p>
          <a:p>
            <a:pPr algn="l">
              <a:spcAft>
                <a:spcPts val="400"/>
              </a:spcAft>
            </a:pPr>
            <a:r>
              <a:rPr sz="1800" b="1" i="0">
                <a:solidFill>
                  <a:srgbClr val="1D6B3A"/>
                </a:solidFill>
                <a:latin typeface="Arial"/>
              </a:rPr>
              <a:t>Handle: </a:t>
            </a:r>
            <a:r>
              <a:rPr sz="1800" b="0" i="0">
                <a:solidFill>
                  <a:srgbClr val="1E1E2E"/>
                </a:solidFill>
                <a:latin typeface="Arial"/>
              </a:rPr>
              <a:t>Finance sets rates and attribution</a:t>
            </a:r>
          </a:p>
          <a:p>
            <a:pPr algn="l"/>
            <a:r>
              <a:rPr sz="1800" b="1" i="0">
                <a:solidFill>
                  <a:srgbClr val="2F78C4"/>
                </a:solidFill>
                <a:latin typeface="Arial"/>
              </a:rPr>
              <a:t>Owner: </a:t>
            </a:r>
            <a:r>
              <a:rPr sz="1800" b="0" i="0">
                <a:solidFill>
                  <a:srgbClr val="1E1E2E"/>
                </a:solidFill>
                <a:latin typeface="Arial"/>
              </a:rPr>
              <a:t>Finance</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Microsoft features change</a:t>
            </a:r>
          </a:p>
          <a:p>
            <a:pPr algn="l">
              <a:spcAft>
                <a:spcPts val="400"/>
              </a:spcAft>
            </a:pPr>
            <a:r>
              <a:rPr sz="1800" b="1" i="0">
                <a:solidFill>
                  <a:srgbClr val="8A4B08"/>
                </a:solidFill>
                <a:latin typeface="Arial"/>
              </a:rPr>
              <a:t>Effect: </a:t>
            </a:r>
            <a:r>
              <a:rPr sz="1800" b="0" i="0">
                <a:solidFill>
                  <a:srgbClr val="1E1E2E"/>
                </a:solidFill>
                <a:latin typeface="Arial"/>
              </a:rPr>
              <a:t>Preview features shift or slip</a:t>
            </a:r>
          </a:p>
          <a:p>
            <a:pPr algn="l">
              <a:spcAft>
                <a:spcPts val="400"/>
              </a:spcAft>
            </a:pPr>
            <a:r>
              <a:rPr sz="1800" b="1" i="0">
                <a:solidFill>
                  <a:srgbClr val="1D6B3A"/>
                </a:solidFill>
                <a:latin typeface="Arial"/>
              </a:rPr>
              <a:t>Handle: </a:t>
            </a:r>
            <a:r>
              <a:rPr sz="1800" b="0" i="0">
                <a:solidFill>
                  <a:srgbClr val="1E1E2E"/>
                </a:solidFill>
                <a:latin typeface="Arial"/>
              </a:rPr>
              <a:t>GA for production; recheck before quotes</a:t>
            </a:r>
          </a:p>
          <a:p>
            <a:pPr algn="l"/>
            <a:r>
              <a:rPr sz="1800" b="1" i="0">
                <a:solidFill>
                  <a:srgbClr val="2F78C4"/>
                </a:solidFill>
                <a:latin typeface="Arial"/>
              </a:rPr>
              <a:t>Owner: </a:t>
            </a:r>
            <a:r>
              <a:rPr sz="1800" b="0" i="0">
                <a:solidFill>
                  <a:srgbClr val="1E1E2E"/>
                </a:solidFill>
                <a:latin typeface="Arial"/>
              </a:rPr>
              <a:t>Offering owners</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to decide today, and the 30-day validation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PROPOSED PLAN"/>
          <p:cNvSpPr/>
          <p:nvPr/>
        </p:nvSpPr>
        <p:spPr>
          <a:xfrm>
            <a:off x="375666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PLAN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Rounded Rectangle 7"/>
          <p:cNvSpPr/>
          <p:nvPr/>
        </p:nvSpPr>
        <p:spPr>
          <a:xfrm>
            <a:off x="548640" y="1371600"/>
            <a:ext cx="4480560"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9" name="TextBox 8"/>
          <p:cNvSpPr txBox="1"/>
          <p:nvPr/>
        </p:nvSpPr>
        <p:spPr>
          <a:xfrm>
            <a:off x="548640" y="2011680"/>
            <a:ext cx="4480560" cy="1828800"/>
          </a:xfrm>
          <a:prstGeom prst="rect">
            <a:avLst/>
          </a:prstGeom>
          <a:noFill/>
        </p:spPr>
        <p:txBody>
          <a:bodyPr wrap="square" lIns="0" rIns="0" tIns="0" bIns="0" anchor="t">
            <a:noAutofit/>
          </a:bodyPr>
          <a:lstStyle/>
          <a:p>
            <a:pPr algn="l" marL="201168" indent="-201168">
              <a:spcAft>
                <a:spcPts val="600"/>
              </a:spcAft>
              <a:buFont typeface="Arial"/>
              <a:buChar char="•"/>
            </a:pPr>
            <a:r>
              <a:rPr sz="1900" b="0" i="0">
                <a:solidFill>
                  <a:srgbClr val="1E1E2E"/>
                </a:solidFill>
                <a:latin typeface="Arial"/>
              </a:rPr>
              <a:t>Portfolio of five for validation</a:t>
            </a:r>
          </a:p>
          <a:p>
            <a:pPr algn="l" marL="201168" indent="-201168">
              <a:spcAft>
                <a:spcPts val="600"/>
              </a:spcAft>
              <a:buFont typeface="Arial"/>
              <a:buChar char="•"/>
            </a:pPr>
            <a:r>
              <a:rPr sz="1900" b="0" i="0">
                <a:solidFill>
                  <a:srgbClr val="1E1E2E"/>
                </a:solidFill>
                <a:latin typeface="Arial"/>
              </a:rPr>
              <a:t>Assessment 04 as entry offer</a:t>
            </a:r>
          </a:p>
          <a:p>
            <a:pPr algn="l" marL="201168" indent="-201168">
              <a:spcAft>
                <a:spcPts val="600"/>
              </a:spcAft>
              <a:buFont typeface="Arial"/>
              <a:buChar char="•"/>
            </a:pPr>
            <a:r>
              <a:rPr sz="1900" b="0" i="0">
                <a:solidFill>
                  <a:srgbClr val="1E1E2E"/>
                </a:solidFill>
                <a:latin typeface="Arial"/>
              </a:rPr>
              <a:t>Named owner per offering</a:t>
            </a:r>
          </a:p>
        </p:txBody>
      </p:sp>
      <p:sp>
        <p:nvSpPr>
          <p:cNvPr id="10" name="Rounded Rectangle 9"/>
          <p:cNvSpPr/>
          <p:nvPr/>
        </p:nvSpPr>
        <p:spPr>
          <a:xfrm>
            <a:off x="548640" y="3566160"/>
            <a:ext cx="4480560" cy="548640"/>
          </a:xfrm>
          <a:prstGeom prst="roundRect">
            <a:avLst>
              <a:gd name="adj" fmla="val 1333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validation</a:t>
            </a:r>
          </a:p>
        </p:txBody>
      </p:sp>
      <p:sp>
        <p:nvSpPr>
          <p:cNvPr id="11" name="TextBox 10"/>
          <p:cNvSpPr txBox="1"/>
          <p:nvPr/>
        </p:nvSpPr>
        <p:spPr>
          <a:xfrm>
            <a:off x="548640" y="4206240"/>
            <a:ext cx="4480560" cy="1828800"/>
          </a:xfrm>
          <a:prstGeom prst="rect">
            <a:avLst/>
          </a:prstGeom>
          <a:noFill/>
        </p:spPr>
        <p:txBody>
          <a:bodyPr wrap="square" lIns="0" rIns="0" tIns="0" bIns="0" anchor="t">
            <a:noAutofit/>
          </a:bodyPr>
          <a:lstStyle/>
          <a:p>
            <a:pPr algn="l" marL="201168" indent="-201168">
              <a:spcAft>
                <a:spcPts val="600"/>
              </a:spcAft>
              <a:buFont typeface="Arial"/>
              <a:buChar char="•"/>
            </a:pPr>
            <a:r>
              <a:rPr sz="1900" b="0" i="0">
                <a:solidFill>
                  <a:srgbClr val="1E1E2E"/>
                </a:solidFill>
                <a:latin typeface="Arial"/>
              </a:rPr>
              <a:t>Rates and attribution (Finance)</a:t>
            </a:r>
          </a:p>
          <a:p>
            <a:pPr algn="l" marL="201168" indent="-201168">
              <a:spcAft>
                <a:spcPts val="600"/>
              </a:spcAft>
              <a:buFont typeface="Arial"/>
              <a:buChar char="•"/>
            </a:pPr>
            <a:r>
              <a:rPr sz="1900" b="0" i="0">
                <a:solidFill>
                  <a:srgbClr val="1E1E2E"/>
                </a:solidFill>
                <a:latin typeface="Arial"/>
              </a:rPr>
              <a:t>M365 and D365 split, deal lead</a:t>
            </a:r>
          </a:p>
          <a:p>
            <a:pPr algn="l" marL="201168" indent="-201168">
              <a:spcAft>
                <a:spcPts val="600"/>
              </a:spcAft>
              <a:buFont typeface="Arial"/>
              <a:buChar char="•"/>
            </a:pPr>
            <a:r>
              <a:rPr sz="1900" b="0" i="0">
                <a:solidFill>
                  <a:srgbClr val="1E1E2E"/>
                </a:solidFill>
                <a:latin typeface="Arial"/>
              </a:rPr>
              <a:t>External launch</a:t>
            </a:r>
          </a:p>
        </p:txBody>
      </p:sp>
      <p:sp>
        <p:nvSpPr>
          <p:cNvPr id="12" name="Rounded Rectangle 11"/>
          <p:cNvSpPr/>
          <p:nvPr/>
        </p:nvSpPr>
        <p:spPr>
          <a:xfrm>
            <a:off x="5303520" y="1371600"/>
            <a:ext cx="1463040" cy="960120"/>
          </a:xfrm>
          <a:prstGeom prst="roundRect">
            <a:avLst>
              <a:gd name="adj" fmla="val 7619"/>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Week 1</a:t>
            </a:r>
          </a:p>
        </p:txBody>
      </p:sp>
      <p:sp>
        <p:nvSpPr>
          <p:cNvPr id="13" name="Rounded Rectangle 12"/>
          <p:cNvSpPr/>
          <p:nvPr/>
        </p:nvSpPr>
        <p:spPr>
          <a:xfrm>
            <a:off x="6858000" y="1371600"/>
            <a:ext cx="4782312" cy="960120"/>
          </a:xfrm>
          <a:prstGeom prst="roundRect">
            <a:avLst>
              <a:gd name="adj" fmla="val 761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Owners named; tower leads briefed; account teams asked for candidates</a:t>
            </a:r>
          </a:p>
        </p:txBody>
      </p:sp>
      <p:sp>
        <p:nvSpPr>
          <p:cNvPr id="14" name="Rounded Rectangle 13"/>
          <p:cNvSpPr/>
          <p:nvPr/>
        </p:nvSpPr>
        <p:spPr>
          <a:xfrm>
            <a:off x="5303520" y="2468880"/>
            <a:ext cx="1463040" cy="960120"/>
          </a:xfrm>
          <a:prstGeom prst="roundRect">
            <a:avLst>
              <a:gd name="adj" fmla="val 7619"/>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Week 2</a:t>
            </a:r>
          </a:p>
        </p:txBody>
      </p:sp>
      <p:sp>
        <p:nvSpPr>
          <p:cNvPr id="15" name="Rounded Rectangle 14"/>
          <p:cNvSpPr/>
          <p:nvPr/>
        </p:nvSpPr>
        <p:spPr>
          <a:xfrm>
            <a:off x="6858000" y="2468880"/>
            <a:ext cx="4782312" cy="960120"/>
          </a:xfrm>
          <a:prstGeom prst="roundRect">
            <a:avLst>
              <a:gd name="adj" fmla="val 761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Qualification scorecards on shortlisted accounts</a:t>
            </a:r>
          </a:p>
        </p:txBody>
      </p:sp>
      <p:sp>
        <p:nvSpPr>
          <p:cNvPr id="16" name="Rounded Rectangle 15"/>
          <p:cNvSpPr/>
          <p:nvPr/>
        </p:nvSpPr>
        <p:spPr>
          <a:xfrm>
            <a:off x="5303520" y="3566160"/>
            <a:ext cx="1463040" cy="960120"/>
          </a:xfrm>
          <a:prstGeom prst="roundRect">
            <a:avLst>
              <a:gd name="adj" fmla="val 7619"/>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Week 3</a:t>
            </a:r>
          </a:p>
        </p:txBody>
      </p:sp>
      <p:sp>
        <p:nvSpPr>
          <p:cNvPr id="17" name="Rounded Rectangle 16"/>
          <p:cNvSpPr/>
          <p:nvPr/>
        </p:nvSpPr>
        <p:spPr>
          <a:xfrm>
            <a:off x="6858000" y="3566160"/>
            <a:ext cx="4782312" cy="960120"/>
          </a:xfrm>
          <a:prstGeom prst="roundRect">
            <a:avLst>
              <a:gd name="adj" fmla="val 761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Finance rates for entry offer; joint rules with M365 and D365</a:t>
            </a:r>
          </a:p>
        </p:txBody>
      </p:sp>
      <p:sp>
        <p:nvSpPr>
          <p:cNvPr id="18" name="Rounded Rectangle 17"/>
          <p:cNvSpPr/>
          <p:nvPr/>
        </p:nvSpPr>
        <p:spPr>
          <a:xfrm>
            <a:off x="5303520" y="4663440"/>
            <a:ext cx="1463040" cy="960120"/>
          </a:xfrm>
          <a:prstGeom prst="roundRect">
            <a:avLst>
              <a:gd name="adj" fmla="val 7619"/>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Week 4</a:t>
            </a:r>
          </a:p>
        </p:txBody>
      </p:sp>
      <p:sp>
        <p:nvSpPr>
          <p:cNvPr id="19" name="Rounded Rectangle 18"/>
          <p:cNvSpPr/>
          <p:nvPr/>
        </p:nvSpPr>
        <p:spPr>
          <a:xfrm>
            <a:off x="6858000" y="4663440"/>
            <a:ext cx="4782312" cy="960120"/>
          </a:xfrm>
          <a:prstGeom prst="roundRect">
            <a:avLst>
              <a:gd name="adj" fmla="val 761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Go or no-go with evidence pack</a:t>
            </a:r>
          </a:p>
        </p:txBody>
      </p:sp>
      <p:sp>
        <p:nvSpPr>
          <p:cNvPr id="20" name="Rounded Rectangle 19"/>
          <p:cNvSpPr/>
          <p:nvPr/>
        </p:nvSpPr>
        <p:spPr>
          <a:xfrm>
            <a:off x="548640" y="5806440"/>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500" b="1" i="0">
                <a:solidFill>
                  <a:srgbClr val="000048"/>
                </a:solidFill>
                <a:latin typeface="Arial"/>
              </a:rPr>
              <a:t>Decision:  </a:t>
            </a:r>
            <a:r>
              <a:rPr sz="1500" b="0" i="0">
                <a:solidFill>
                  <a:srgbClr val="1E1E2E"/>
                </a:solidFill>
                <a:latin typeface="Arial"/>
              </a:rPr>
              <a:t>Exit: three qualified accounts, signed tower commitments, approved entry rate, agreed joint rules.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Portfolio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Offering cards, competitor battlecard, joint-motion rules with M365 and D365 teams, combined ranges, qualification, security and regulation, glossary, decisions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Offering cards</a:t>
            </a:r>
          </a:p>
        </p:txBody>
      </p:sp>
      <p:sp>
        <p:nvSpPr>
          <p:cNvPr id="8" name="TextBox 7">
            <a:hlinkClick action="ppaction://hlinksldjump" r:id="rId5"/>
          </p:cNvPr>
          <p:cNvSpPr txBox="1"/>
          <p:nvPr/>
        </p:nvSpPr>
        <p:spPr>
          <a:xfrm>
            <a:off x="54864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Competitor battlecard</a:t>
            </a:r>
          </a:p>
        </p:txBody>
      </p:sp>
      <p:sp>
        <p:nvSpPr>
          <p:cNvPr id="9" name="TextBox 8">
            <a:hlinkClick action="ppaction://hlinksldjump" r:id="rId6"/>
          </p:cNvPr>
          <p:cNvSpPr txBox="1"/>
          <p:nvPr/>
        </p:nvSpPr>
        <p:spPr>
          <a:xfrm>
            <a:off x="54864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Joint-motion rules</a:t>
            </a:r>
          </a:p>
        </p:txBody>
      </p:sp>
      <p:sp>
        <p:nvSpPr>
          <p:cNvPr id="10" name="TextBox 9">
            <a:hlinkClick action="ppaction://hlinksldjump" r:id="rId7"/>
          </p:cNvPr>
          <p:cNvSpPr txBox="1"/>
          <p:nvPr/>
        </p:nvSpPr>
        <p:spPr>
          <a:xfrm>
            <a:off x="54864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E1  </a:t>
            </a:r>
            <a:r>
              <a:rPr sz="1300" b="0" i="0">
                <a:solidFill>
                  <a:srgbClr val="1E1E2E"/>
                </a:solidFill>
                <a:latin typeface="Arial"/>
              </a:rPr>
              <a:t>Combined estimate assumptions</a:t>
            </a:r>
          </a:p>
        </p:txBody>
      </p:sp>
      <p:sp>
        <p:nvSpPr>
          <p:cNvPr id="11" name="TextBox 10">
            <a:hlinkClick action="ppaction://hlinksldjump" r:id="rId8"/>
          </p:cNvPr>
          <p:cNvSpPr txBox="1"/>
          <p:nvPr/>
        </p:nvSpPr>
        <p:spPr>
          <a:xfrm>
            <a:off x="54864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Q1  </a:t>
            </a:r>
            <a:r>
              <a:rPr sz="1300" b="0" i="0">
                <a:solidFill>
                  <a:srgbClr val="1E1E2E"/>
                </a:solidFill>
                <a:latin typeface="Arial"/>
              </a:rPr>
              <a:t>Qualification scorecard and account shortlist</a:t>
            </a:r>
          </a:p>
        </p:txBody>
      </p:sp>
      <p:sp>
        <p:nvSpPr>
          <p:cNvPr id="12" name="TextBox 11">
            <a:hlinkClick action="ppaction://hlinksldjump" r:id="rId9"/>
          </p:cNvPr>
          <p:cNvSpPr txBox="1"/>
          <p:nvPr/>
        </p:nvSpPr>
        <p:spPr>
          <a:xfrm>
            <a:off x="621792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SEC1  </a:t>
            </a:r>
            <a:r>
              <a:rPr sz="1300" b="0" i="0">
                <a:solidFill>
                  <a:srgbClr val="1E1E2E"/>
                </a:solidFill>
                <a:latin typeface="Arial"/>
              </a:rPr>
              <a:t>AI threat model and controls</a:t>
            </a:r>
          </a:p>
        </p:txBody>
      </p:sp>
      <p:sp>
        <p:nvSpPr>
          <p:cNvPr id="13" name="TextBox 12">
            <a:hlinkClick action="ppaction://hlinksldjump" r:id="rId10"/>
          </p:cNvPr>
          <p:cNvSpPr txBox="1"/>
          <p:nvPr/>
        </p:nvSpPr>
        <p:spPr>
          <a:xfrm>
            <a:off x="621792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SEC2  </a:t>
            </a:r>
            <a:r>
              <a:rPr sz="1300" b="0" i="0">
                <a:solidFill>
                  <a:srgbClr val="1E1E2E"/>
                </a:solidFill>
                <a:latin typeface="Arial"/>
              </a:rPr>
              <a:t>Security services and regulation</a:t>
            </a:r>
          </a:p>
        </p:txBody>
      </p:sp>
      <p:sp>
        <p:nvSpPr>
          <p:cNvPr id="14" name="TextBox 13">
            <a:hlinkClick action="ppaction://hlinksldjump" r:id="rId11"/>
          </p:cNvPr>
          <p:cNvSpPr txBox="1"/>
          <p:nvPr/>
        </p:nvSpPr>
        <p:spPr>
          <a:xfrm>
            <a:off x="621792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G1  </a:t>
            </a:r>
            <a:r>
              <a:rPr sz="1300" b="0" i="0">
                <a:solidFill>
                  <a:srgbClr val="1E1E2E"/>
                </a:solidFill>
                <a:latin typeface="Arial"/>
              </a:rPr>
              <a:t>Glossary</a:t>
            </a:r>
          </a:p>
        </p:txBody>
      </p:sp>
      <p:sp>
        <p:nvSpPr>
          <p:cNvPr id="15" name="TextBox 14">
            <a:hlinkClick action="ppaction://hlinksldjump" r:id="rId12"/>
          </p:cNvPr>
          <p:cNvSpPr txBox="1"/>
          <p:nvPr/>
        </p:nvSpPr>
        <p:spPr>
          <a:xfrm>
            <a:off x="621792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D1  </a:t>
            </a:r>
            <a:r>
              <a:rPr sz="1300" b="0" i="0">
                <a:solidFill>
                  <a:srgbClr val="1E1E2E"/>
                </a:solidFill>
                <a:latin typeface="Arial"/>
              </a:rPr>
              <a:t>Decision and approval register</a:t>
            </a:r>
          </a:p>
        </p:txBody>
      </p:sp>
      <p:sp>
        <p:nvSpPr>
          <p:cNvPr id="16" name="TextBox 15">
            <a:hlinkClick action="ppaction://hlinksldjump" r:id="rId13"/>
          </p:cNvPr>
          <p:cNvSpPr txBox="1"/>
          <p:nvPr/>
        </p:nvSpPr>
        <p:spPr>
          <a:xfrm>
            <a:off x="621792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S1  </a:t>
            </a:r>
            <a:r>
              <a:rPr sz="13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Offering cards: buyer, trigger, entry package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865120"/>
        </p:xfrm>
        <a:graphic>
          <a:graphicData uri="http://schemas.openxmlformats.org/drawingml/2006/table">
            <a:tbl>
              <a:tblPr firstRow="1" bandRow="0">
                <a:tableStyleId>{5C22544A-7EE6-4342-B048-85BDC9FD1C3A}</a:tableStyleId>
              </a:tblPr>
              <a:tblGrid>
                <a:gridCol w="3291840"/>
                <a:gridCol w="2377440"/>
                <a:gridCol w="2651760"/>
                <a:gridCol w="2103120"/>
                <a:gridCol w="667512"/>
              </a:tblGrid>
              <a:tr h="487680">
                <a:tc>
                  <a:txBody>
                    <a:bodyPr wrap="square" anchor="ctr">
                      <a:noAutofit/>
                    </a:bodyPr>
                    <a:lstStyle/>
                    <a:p>
                      <a:pPr algn="l"/>
                      <a:r>
                        <a:rPr sz="13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Main buyer</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Trigger</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Entry package (role days)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Deck</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04 AI Capacity and FinOps Assessment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FinOps lead, AI platform leader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Spend growing; PTU or licence decision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Assessment, 20 to 40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04</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01 AI Platform / Landing Zone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Cloud platform owner</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First production AI workload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Assess, 15 to 30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01</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03 AI Gateway Implementation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Platform or API owner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Many teams calling models; keys in apps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Readiness assessment, 10 to 20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03</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02 Agent Governance and Operations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AI platform leader, CISO delegate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Agent sprawl; audit request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Coverage assessment, 15 to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02</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05 Managed AI Platform Operations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IT service owner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workload entering 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Onboarding, 20 to 40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05</a:t>
                      </a:r>
                    </a:p>
                  </a:txBody>
                  <a:tcPr marL="73152" marR="73152" marT="36576" marB="36576"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Competitor battlecard and objection responses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PUBLIC POSITIONING ONLY"/>
          <p:cNvSpPr/>
          <p:nvPr/>
        </p:nvSpPr>
        <p:spPr>
          <a:xfrm>
            <a:off x="1898650" y="274320"/>
            <a:ext cx="226060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PUBLIC POSITIONING ONLY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9" name="Table"/>
          <p:cNvGraphicFramePr>
            <a:graphicFrameLocks noGrp="1"/>
          </p:cNvGraphicFramePr>
          <p:nvPr/>
        </p:nvGraphicFramePr>
        <p:xfrm>
          <a:off x="548640" y="1325880"/>
          <a:ext cx="6949439" cy="3931920"/>
        </p:xfrm>
        <a:graphic>
          <a:graphicData uri="http://schemas.openxmlformats.org/drawingml/2006/table">
            <a:tbl>
              <a:tblPr firstRow="1" bandRow="0">
                <a:tableStyleId>{5C22544A-7EE6-4342-B048-85BDC9FD1C3A}</a:tableStyleId>
              </a:tblPr>
              <a:tblGrid>
                <a:gridCol w="2011679"/>
                <a:gridCol w="2651760"/>
                <a:gridCol w="2286000"/>
              </a:tblGrid>
              <a:tr h="274320">
                <a:tc>
                  <a:txBody>
                    <a:bodyPr wrap="square" anchor="ctr">
                      <a:noAutofit/>
                    </a:bodyPr>
                    <a:lstStyle/>
                    <a:p>
                      <a:pPr algn="l"/>
                      <a:r>
                        <a:rPr sz="1200" b="1" i="0">
                          <a:solidFill>
                            <a:srgbClr val="FFFFFF"/>
                          </a:solidFill>
                          <a:latin typeface="Arial"/>
                        </a:rPr>
                        <a:t>Firm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Public positioning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Lesson for our pitch</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Accenture and Avanade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Agentic factory with industry workflows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Tie assets to an operational buyer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TCS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Persona-based Copilot rollout, managed support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Repeatable role and integration patterns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KPMG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Copilot, custom agents, governance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Connect trust controls to value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EPAM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AI/Run, agentic engineering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Show reusable assets and test evidence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EY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Industry engineering, change management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Include process change and value owners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PwC</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quickstart, responsible AI, AI factory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Named packages need real assets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Deloitte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End-to-end Microsoft transformation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Connect technology to operating model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Wipro</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Industry IP, agent marketplace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Make integration reuse visible</a:t>
                      </a:r>
                    </a:p>
                  </a:txBody>
                  <a:tcPr marL="73152" marR="73152" marT="36576" marB="36576" anchor="ctr">
                    <a:solidFill>
                      <a:srgbClr val="F5F5F2"/>
                    </a:solidFill>
                  </a:tcPr>
                </a:tc>
              </a:tr>
            </a:tbl>
          </a:graphicData>
        </a:graphic>
      </p:graphicFrame>
      <p:sp>
        <p:nvSpPr>
          <p:cNvPr id="10" name="Rounded Rectangle 9"/>
          <p:cNvSpPr/>
          <p:nvPr/>
        </p:nvSpPr>
        <p:spPr>
          <a:xfrm>
            <a:off x="7726679" y="1325880"/>
            <a:ext cx="391363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000048"/>
                </a:solidFill>
                <a:latin typeface="Arial"/>
              </a:rPr>
              <a:t>"You are only infrastructure."</a:t>
            </a:r>
          </a:p>
          <a:p>
            <a:pPr algn="l"/>
            <a:r>
              <a:rPr sz="1300" b="0" i="0">
                <a:solidFill>
                  <a:srgbClr val="1E1E2E"/>
                </a:solidFill>
                <a:latin typeface="Arial"/>
              </a:rPr>
              <a:t>Agents fail on identity, network, cost and stop paths. That is our scope, and it is testable.</a:t>
            </a:r>
          </a:p>
        </p:txBody>
      </p:sp>
      <p:sp>
        <p:nvSpPr>
          <p:cNvPr id="11" name="Rounded Rectangle 10"/>
          <p:cNvSpPr/>
          <p:nvPr/>
        </p:nvSpPr>
        <p:spPr>
          <a:xfrm>
            <a:off x="7726679" y="2788920"/>
            <a:ext cx="391363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000048"/>
                </a:solidFill>
                <a:latin typeface="Arial"/>
              </a:rPr>
              <a:t>"Microsoft does this for free."</a:t>
            </a:r>
          </a:p>
          <a:p>
            <a:pPr algn="l"/>
            <a:r>
              <a:rPr sz="1300" b="0" i="0">
                <a:solidFill>
                  <a:srgbClr val="1E1E2E"/>
                </a:solidFill>
                <a:latin typeface="Arial"/>
              </a:rPr>
              <a:t>Native tools need configuring, joining and running. We configure first, build only gaps.</a:t>
            </a:r>
          </a:p>
        </p:txBody>
      </p:sp>
      <p:sp>
        <p:nvSpPr>
          <p:cNvPr id="12" name="Rounded Rectangle 11"/>
          <p:cNvSpPr/>
          <p:nvPr/>
        </p:nvSpPr>
        <p:spPr>
          <a:xfrm>
            <a:off x="7726679" y="4251960"/>
            <a:ext cx="391363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000048"/>
                </a:solidFill>
                <a:latin typeface="Arial"/>
              </a:rPr>
              <a:t>"Big SIs have more references."</a:t>
            </a:r>
          </a:p>
          <a:p>
            <a:pPr algn="l"/>
            <a:r>
              <a:rPr sz="1300" b="0" i="0">
                <a:solidFill>
                  <a:srgbClr val="1E1E2E"/>
                </a:solidFill>
                <a:latin typeface="Arial"/>
              </a:rPr>
              <a:t>Start with a 4 to 6 week assessment and judge us on its evidence.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Joint-motion rules with the M365 and D365 teams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TO AGREE"/>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 AGREE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graphicFrame>
        <p:nvGraphicFramePr>
          <p:cNvPr id="9" name="Table"/>
          <p:cNvGraphicFramePr>
            <a:graphicFrameLocks noGrp="1"/>
          </p:cNvGraphicFramePr>
          <p:nvPr/>
        </p:nvGraphicFramePr>
        <p:xfrm>
          <a:off x="548640" y="1371600"/>
          <a:ext cx="11091672" cy="3200400"/>
        </p:xfrm>
        <a:graphic>
          <a:graphicData uri="http://schemas.openxmlformats.org/drawingml/2006/table">
            <a:tbl>
              <a:tblPr firstRow="1" bandRow="0">
                <a:tableStyleId>{5C22544A-7EE6-4342-B048-85BDC9FD1C3A}</a:tableStyleId>
              </a:tblPr>
              <a:tblGrid>
                <a:gridCol w="2377440"/>
                <a:gridCol w="6217920"/>
                <a:gridCol w="2496312"/>
              </a:tblGrid>
              <a:tr h="304800">
                <a:tc>
                  <a:txBody>
                    <a:bodyPr wrap="square" anchor="ctr">
                      <a:noAutofit/>
                    </a:bodyPr>
                    <a:lstStyle/>
                    <a:p>
                      <a:pPr algn="l"/>
                      <a:r>
                        <a:rPr sz="1400" b="1" i="0">
                          <a:solidFill>
                            <a:srgbClr val="FFFFFF"/>
                          </a:solidFill>
                          <a:latin typeface="Arial"/>
                        </a:rPr>
                        <a:t>Topic</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Proposed rule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 to agree</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Deal lead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Team with the largest first priced work package leads; account leader confirms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Practice leads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ownership split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M365 team: Copilot in Microsoft 365 apps; D365 team: Copilot in Dynamics 365 (to confirm)</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M365 and D365 leads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Handoff to CIS Infra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Identity, network, Purview readiness inputs, Azure-hosted agents and backends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CIS Infra with M365 lead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Studio</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Power Platform admin with M365 or D365 team; agent governance and gateway with CIS Infra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Joint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Revenue attribution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By priced work package per team; shared costs allocated once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Finance</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Joint RACI rows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Copilot rollout (M365/D365 A), Azure backends (CIS Infra A), agent containment (customer risk owner 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Integrated service owner</a:t>
                      </a:r>
                    </a:p>
                  </a:txBody>
                  <a:tcPr marL="73152" marR="73152" marT="36576" marB="36576" anchor="ctr">
                    <a:solidFill>
                      <a:srgbClr val="F5F5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25880"/>
          <a:ext cx="11091672" cy="202692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04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20 days: telemetry exists, two workloads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40 days: no telemetry, six workloads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01 Establish</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140 days: greenfield, one region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220 days: hub constraints, three regions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03 Build, one region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45 days: five consumers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90 days: twenty consumers, complex hub</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02 Configure and PoC</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55 days: two runtimes, licence owned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105 days: several clouds, no licence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05 Foundation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30 days a month: one environment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60 days a month: three environments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Hypothetical year 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About 660 role days (exec slide 6)</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Not a forecast</a:t>
                      </a:r>
                    </a:p>
                  </a:txBody>
                  <a:tcPr marL="73152" marR="73152" marT="36576" marB="36576" anchor="ctr">
                    <a:solidFill>
                      <a:srgbClr val="F5F5F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graphicFrame>
        <p:nvGraphicFramePr>
          <p:cNvPr id="9" name="Table"/>
          <p:cNvGraphicFramePr>
            <a:graphicFrameLocks noGrp="1"/>
          </p:cNvGraphicFramePr>
          <p:nvPr/>
        </p:nvGraphicFramePr>
        <p:xfrm>
          <a:off x="548640" y="1325880"/>
          <a:ext cx="6035039" cy="291084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Microsoft context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365, E7 or Copilot plans known</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Joint deal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M365 or D365 team engaged, lead agreed</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25880"/>
          <a:ext cx="11091672" cy="233172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Inconsistent controls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Each offering secures agents differently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Shared threat model and SEC services per deck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with offering owners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Unowned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one can stop an agent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Catalogue, owners and containment (02, 05)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with customer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Bypass of controls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Direct calls around the 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Private endpoints, bypass tests (03)</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exposure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Sensitive data in prompts or logs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Purview, Defender, log redaction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Denial of wallet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Runaway token spend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Budgets and quotas (03, 04)</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budget owner</a:t>
                      </a:r>
                    </a:p>
                  </a:txBody>
                  <a:tcPr marL="73152" marR="73152" marT="36576" marB="36576"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25880"/>
          <a:ext cx="11091672" cy="256032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Portfolio of five offerings for validation</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Assessment 04 as entry offer</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Deck 04</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M365 versus D365 split of Copilot ownership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Within 30 days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M365 and D365 practice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Current account coverage</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Joint-deal lead and attribution rules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Within 30 days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Practice leads with 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Appendix A3</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Rates, attribution and margin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Partner programme eligibility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Before first quote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Microsoft alliance team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Programme terms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External launch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validation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Evidence pack</a:t>
                      </a:r>
                    </a:p>
                  </a:txBody>
                  <a:tcPr marL="73152" marR="73152" marT="36576" marB="36576"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1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300" b="1" i="0">
                <a:solidFill>
                  <a:srgbClr val="000048"/>
                </a:solidFill>
                <a:latin typeface="Arial"/>
              </a:rPr>
              <a:t>Microsoft Agent 365 now generally available (Microsoft Security blog, 1 May 2026):  </a:t>
            </a:r>
            <a:r>
              <a:rPr sz="1300" b="0" i="0">
                <a:solidFill>
                  <a:srgbClr val="2F78C4"/>
                </a:solidFill>
                <a:latin typeface="Arial"/>
                <a:hlinkClick r:id="rId4"/>
              </a:rPr>
              <a:t>https://www.microsoft.com/en-us/security/blog/2026/05/01/microsoft-agent-365-now-generally-available-expands-capabilities-and-integrations/</a:t>
            </a:r>
          </a:p>
          <a:p>
            <a:pPr algn="l">
              <a:spcAft>
                <a:spcPts val="300"/>
              </a:spcAft>
            </a:pPr>
            <a:r>
              <a:rPr sz="1300" b="1" i="0">
                <a:solidFill>
                  <a:srgbClr val="000048"/>
                </a:solidFill>
                <a:latin typeface="Arial"/>
              </a:rPr>
              <a:t>Agent 365 licensing analysis (SAMexpert, third party, updated 12 Jun 2026):  </a:t>
            </a:r>
            <a:r>
              <a:rPr sz="1300" b="0" i="0">
                <a:solidFill>
                  <a:srgbClr val="2F78C4"/>
                </a:solidFill>
                <a:latin typeface="Arial"/>
                <a:hlinkClick r:id="rId5"/>
              </a:rPr>
              <a:t>https://samexpert.com/agent-365/</a:t>
            </a:r>
          </a:p>
          <a:p>
            <a:pPr algn="l">
              <a:spcAft>
                <a:spcPts val="300"/>
              </a:spcAft>
            </a:pPr>
            <a:r>
              <a:rPr sz="1300" b="1" i="0">
                <a:solidFill>
                  <a:srgbClr val="000048"/>
                </a:solidFill>
                <a:latin typeface="Arial"/>
              </a:rPr>
              <a:t>Foundry Models retirement schedule:  </a:t>
            </a:r>
            <a:r>
              <a:rPr sz="1300" b="0" i="0">
                <a:solidFill>
                  <a:srgbClr val="2F78C4"/>
                </a:solidFill>
                <a:latin typeface="Arial"/>
                <a:hlinkClick r:id="rId6"/>
              </a:rPr>
              <a:t>https://learn.microsoft.com/en-us/azure/foundry/openai/concepts/model-retirement-schedule</a:t>
            </a:r>
          </a:p>
          <a:p>
            <a:pPr algn="l">
              <a:spcAft>
                <a:spcPts val="300"/>
              </a:spcAft>
            </a:pPr>
            <a:r>
              <a:rPr sz="1300" b="1" i="0">
                <a:solidFill>
                  <a:srgbClr val="000048"/>
                </a:solidFill>
                <a:latin typeface="Arial"/>
              </a:rPr>
              <a:t>EU AI Act Update: Digital Omnibus finalises compliance changes (Orrick, 29 Jul 2026):  </a:t>
            </a:r>
            <a:r>
              <a:rPr sz="1300" b="0" i="0">
                <a:solidFill>
                  <a:srgbClr val="2F78C4"/>
                </a:solidFill>
                <a:latin typeface="Arial"/>
                <a:hlinkClick r:id="rId7"/>
              </a:rPr>
              <a:t>https://www.orrick.com/en/Insights/2026/07/EU-AI-Act-Update-Digital-Omnibus-Finalizes-8-Compliance-Changes</a:t>
            </a:r>
          </a:p>
          <a:p>
            <a:pPr algn="l">
              <a:spcAft>
                <a:spcPts val="300"/>
              </a:spcAft>
            </a:pPr>
            <a:r>
              <a:rPr sz="1300" b="1" i="0">
                <a:solidFill>
                  <a:srgbClr val="000048"/>
                </a:solidFill>
                <a:latin typeface="Arial"/>
              </a:rPr>
              <a:t>Register and discover MCP servers in Azure API Center:  </a:t>
            </a:r>
            <a:r>
              <a:rPr sz="1300" b="0" i="0">
                <a:solidFill>
                  <a:srgbClr val="2F78C4"/>
                </a:solidFill>
                <a:latin typeface="Arial"/>
                <a:hlinkClick r:id="rId8"/>
              </a:rPr>
              <a:t>https://learn.microsoft.com/en-us/azure/api-center/register-discover-mcp-server</a:t>
            </a:r>
          </a:p>
          <a:p>
            <a:pPr algn="l">
              <a:spcAft>
                <a:spcPts val="300"/>
              </a:spcAft>
            </a:pPr>
            <a:r>
              <a:rPr sz="1300" b="1" i="0">
                <a:solidFill>
                  <a:srgbClr val="000048"/>
                </a:solidFill>
                <a:latin typeface="Arial"/>
              </a:rPr>
              <a:t>What's new for partners, Jan 2026 (Microsoft Partner blog):  </a:t>
            </a:r>
            <a:r>
              <a:rPr sz="1300" b="0" i="0">
                <a:solidFill>
                  <a:srgbClr val="2F78C4"/>
                </a:solidFill>
                <a:latin typeface="Arial"/>
                <a:hlinkClick r:id="rId9"/>
              </a:rPr>
              <a:t>https://partner.microsoft.com/blog/article/whats-new-for-partners-jan-2026</a:t>
            </a:r>
          </a:p>
          <a:p>
            <a:pPr algn="l">
              <a:spcAft>
                <a:spcPts val="300"/>
              </a:spcAft>
            </a:pPr>
            <a:r>
              <a:rPr sz="1300" b="1" i="0">
                <a:solidFill>
                  <a:srgbClr val="000048"/>
                </a:solidFill>
                <a:latin typeface="Arial"/>
              </a:rPr>
              <a:t>Azure AI Landing Zones (GitHub):  </a:t>
            </a:r>
            <a:r>
              <a:rPr sz="1300" b="0" i="0">
                <a:solidFill>
                  <a:srgbClr val="2F78C4"/>
                </a:solidFill>
                <a:latin typeface="Arial"/>
                <a:hlinkClick r:id="rId10"/>
              </a:rPr>
              <a:t>https://github.com/Azure/AI-Landing-Zones</a:t>
            </a:r>
          </a:p>
          <a:p>
            <a:pPr algn="l">
              <a:spcAft>
                <a:spcPts val="300"/>
              </a:spcAft>
            </a:pPr>
            <a:r>
              <a:rPr sz="1300" b="1" i="0">
                <a:solidFill>
                  <a:srgbClr val="000048"/>
                </a:solidFill>
                <a:latin typeface="Arial"/>
              </a:rPr>
              <a:t>AI threat protection in Microsoft Defender for Cloud:  </a:t>
            </a:r>
            <a:r>
              <a:rPr sz="1300" b="0" i="0">
                <a:solidFill>
                  <a:srgbClr val="2F78C4"/>
                </a:solidFill>
                <a:latin typeface="Arial"/>
                <a:hlinkClick r:id="rId11"/>
              </a:rPr>
              <a:t>https://learn.microsoft.com/en-us/azure/defender-for-cloud/ai-threat-protection</a:t>
            </a:r>
          </a:p>
          <a:p>
            <a:pPr algn="l">
              <a:spcAft>
                <a:spcPts val="300"/>
              </a:spcAft>
            </a:pPr>
            <a:r>
              <a:rPr sz="1300" b="1" i="0">
                <a:solidFill>
                  <a:srgbClr val="000048"/>
                </a:solidFill>
                <a:latin typeface="Arial"/>
              </a:rPr>
              <a:t>Microsoft Purview data security and compliance for AI:  </a:t>
            </a:r>
            <a:r>
              <a:rPr sz="1300" b="0" i="0">
                <a:solidFill>
                  <a:srgbClr val="2F78C4"/>
                </a:solidFill>
                <a:latin typeface="Arial"/>
                <a:hlinkClick r:id="rId12"/>
              </a:rPr>
              <a:t>https://learn.microsoft.com/en-us/purview/ai-microsoft-purview</a:t>
            </a:r>
          </a:p>
          <a:p>
            <a:pPr algn="l">
              <a:spcAft>
                <a:spcPts val="300"/>
              </a:spcAft>
            </a:pPr>
            <a:r>
              <a:rPr sz="1300" b="1" i="0">
                <a:solidFill>
                  <a:srgbClr val="000048"/>
                </a:solidFill>
                <a:latin typeface="Arial"/>
              </a:rPr>
              <a:t>ISO/IEC 42001 AI management systems:  </a:t>
            </a:r>
            <a:r>
              <a:rPr sz="1300" b="0" i="0">
                <a:solidFill>
                  <a:srgbClr val="2F78C4"/>
                </a:solidFill>
                <a:latin typeface="Arial"/>
                <a:hlinkClick r:id="rId13"/>
              </a:rPr>
              <a:t>https://www.iso.org/standard/81230.html</a:t>
            </a:r>
          </a:p>
          <a:p>
            <a:pPr algn="l">
              <a:spcAft>
                <a:spcPts val="300"/>
              </a:spcAft>
            </a:pPr>
            <a:r>
              <a:rPr sz="1300" b="1" i="0">
                <a:solidFill>
                  <a:srgbClr val="000048"/>
                </a:solidFill>
                <a:latin typeface="Arial"/>
              </a:rPr>
              <a:t>CIS Infra Azure AI Platform GTM Proposal V3 (competitor benchmark reviewed 7 Oct 2026):  </a:t>
            </a:r>
            <a:r>
              <a:rPr sz="1300" b="0" i="0">
                <a:solidFill>
                  <a:srgbClr val="2F78C4"/>
                </a:solidFill>
                <a:latin typeface="Arial"/>
                <a:hlinkClick r:id="rId14"/>
              </a:rPr>
              <a:t>https://github.com/upendra25312/AI-Foundry-GTM-offering-/blob/main/CIS_Infra_Azure_AI_Platform_GTM_Proposal_V3.docx</a:t>
            </a:r>
          </a:p>
          <a:p>
            <a:pPr algn="l">
              <a:spcAft>
                <a:spcPts val="300"/>
              </a:spcAft>
            </a:pPr>
            <a:r>
              <a:rPr sz="1300" b="1" i="0">
                <a:solidFill>
                  <a:srgbClr val="000048"/>
                </a:solidFill>
                <a:latin typeface="Arial"/>
              </a:rPr>
              <a:t>Deck 01 to 05 v3.0 source registers:  </a:t>
            </a:r>
            <a:r>
              <a:rPr sz="1300" b="0" i="0">
                <a:solidFill>
                  <a:srgbClr val="2F78C4"/>
                </a:solidFill>
                <a:latin typeface="Arial"/>
                <a:hlinkClick r:id="rId15"/>
              </a:rPr>
              <a:t>See S1 in each deck</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Azure AI Platform Portfolio v3.0</dc:title>
  <dcterms:created xsi:type="dcterms:W3CDTF">2026-10-10T13:56:28.3080000Z</dcterms:created>
  <dcterms:modified xsi:type="dcterms:W3CDTF">2026-10-10T13:56:28.3090000Z</dcterms:modified>
  <dc:subject>Proposed CIS Infra GTM offering for internal leadership review</dc:subject>
</coreProperties>
</file>