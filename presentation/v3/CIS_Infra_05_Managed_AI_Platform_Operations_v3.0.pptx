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Once AI workloads are live, someone has to run them. This is the recurring service that keeps the platform healthy, routes incidents to the right tower, reviews cost monthly and can stop an agent when told to. It is where the portfolio earns recurring revenue.</a:t>
            </a:r>
          </a:p>
          <a:p/>
          <a:p>
            <a:r>
              <a:t>Likely question: Is this just managed Azure?</a:t>
            </a:r>
          </a:p>
          <a:p>
            <a:r>
              <a:t>Answer: It adds AI-specific work: agent inventory, containment drills, model retirements, token cost reviews and Agent 365 operations.</a:t>
            </a:r>
          </a:p>
          <a:p/>
          <a:p>
            <a:r>
              <a:t>DETAIL AND CAVEATS</a:t>
            </a:r>
          </a:p>
          <a:p>
            <a:r>
              <a:t>Opening slide.</a:t>
            </a:r>
          </a:p>
          <a:p/>
          <a:p>
            <a:r>
              <a:t>No baseline deck for this offering was supplied with the original request; it was built new in v2.0 from the brief, the GTM proposal V3 (managed operations section) and verified Microsoft sources. Version 3.0 links staffing to price, adds ITSM and AIOps integration, Agent 365 and Copilot Studio operations, a kill-switch proof of concept and an exit plan.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operator, three lanes, monthly evidence. The price is now tied to staffing, so leadership can see what each package costs to deliver.</a:t>
            </a:r>
          </a:p>
          <a:p/>
          <a:p>
            <a:r>
              <a:t>Likely question: Can we sell 24x7 now?</a:t>
            </a:r>
          </a:p>
          <a:p>
            <a:r>
              <a:t>Answer: Only with a funded on-call roster and signed tower agreements. That is a decision on this slide.</a:t>
            </a:r>
          </a:p>
          <a:p/>
          <a:p>
            <a:r>
              <a:t>DETAIL AND CAVEATS</a:t>
            </a:r>
          </a:p>
          <a:p>
            <a:r>
              <a:t>Quote recurring platform services separately from build revenue (V3 proposal). Specialist tower support needs an internal agreement or a separate customer work package.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Agents are now a managed estate, stopping one is not instant, and models retire every few months. Each of those is recurring work, which is what a managed service is for.</a:t>
            </a:r>
          </a:p>
          <a:p/>
          <a:p>
            <a:r>
              <a:t>Likely question: Will customers run this themselves?</a:t>
            </a:r>
          </a:p>
          <a:p>
            <a:r>
              <a:t>Answer: Some will. We qualify on whether they have on-call capacity and AI platform skills.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other offering hands over to this one. In return it feeds monthly evidence back into the capacity and cost decisions.</a:t>
            </a:r>
          </a:p>
          <a:p/>
          <a:p>
            <a:r>
              <a:t>Likely question: Do we operate Microsoft 365 Copilot?</a:t>
            </a:r>
          </a:p>
          <a:p>
            <a:r>
              <a:t>Answer: No. Our M365 and D365 teams own it. We operate Copilot Studio agents only where they are in the agent catalogue.</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ticket lands in one of three lanes. We own platform availability. The AI tower owns whether an agent gives good answers. Security owns attacks and data exposure. We still execute containment on our components when Security directs it.</a:t>
            </a:r>
          </a:p>
          <a:p/>
          <a:p>
            <a:r>
              <a:t>Likely question: What if a ticket fits two lanes?</a:t>
            </a:r>
          </a:p>
          <a:p>
            <a:r>
              <a:t>Answer: The service desk routes it to the most likely lane and the integrated service owner arbitrates. That rule is in the runbook.</a:t>
            </a:r>
          </a:p>
          <a:p/>
          <a:p>
            <a:r>
              <a:t>DETAIL AND CAVEATS</a:t>
            </a:r>
          </a:p>
          <a:p>
            <a:r>
              <a:t>Separates platform availability, agent task quality and security incident response. CIS Infra is accountable for the platform lane. AI is accountable for agent quality. A contracted security resolver is accountable for security incidents. CIS Infra executes containment on its allocated components when directed.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are the signals: Azure Monitor, Service Health, Application Insights with agent traces, logs and budgets. Alert rules with named owners send them to one service desk, which routes to the right resolver lane. Containment is a separate plane, covered in the appendix.</a:t>
            </a:r>
          </a:p>
          <a:p/>
          <a:p>
            <a:r>
              <a:t>Likely question: Which service desk tools do we support?</a:t>
            </a:r>
          </a:p>
          <a:p>
            <a:r>
              <a:t>Answer: Azure Monitor sends alerts to ServiceNow ITOM and BMC Helix through a secure webhook. Others use generic webhooks or Logic Apps. We confirm per customer.</a:t>
            </a:r>
          </a:p>
          <a:p/>
          <a:p>
            <a:r>
              <a:t>DETAIL AND CAVEATS</a:t>
            </a:r>
          </a:p>
          <a:p>
            <a:r>
              <a:t>Improved executive operations architecture (replaces the original architecture slides 5, 7 and 13, which were not supplied). Signals: Azure Monitor and Service Health for platform health, Application Insights and Foundry traces for agents, Log Analytics for logs, cost budgets for spend. Alert rules and action groups route to the customer service desk (ITSM tool, conceptual, not an Azure service) which assigns the lane resolver. The containment control plane (appendix K1) is invoked by authorised operators. A workbook provides monthly reporting.</a:t>
            </a:r>
          </a:p>
          <a:p/>
          <a:p>
            <a:r>
              <a:t>Sources (checked 11 Oct 2026):</a:t>
            </a:r>
          </a:p>
          <a:p>
            <a:r>
              <a:t>Foundry Control Plane: manage agents: https://learn.microsoft.com/en-us/azure/foundry/control-plane/how-to-manage-agents</a:t>
            </a:r>
          </a:p>
          <a:p>
            <a:r>
              <a:t>IT Service Management integration (Azure Monitor): https://learn.microsoft.com/en-us/azure/azure-monitor/alerts/itsmc-overview</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Price now follows staffing. Foundation is one and a half to three people, Extended three to five, Continuous six to ten because a 24 by 7 seat needs about five people. Onboarding and exit are one-time packages, so the customer knows the way out on day one.</a:t>
            </a:r>
          </a:p>
          <a:p/>
          <a:p>
            <a:r>
              <a:t>Likely question: Why is Continuous so much more?</a:t>
            </a:r>
          </a:p>
          <a:p>
            <a:r>
              <a:t>Answer: A single always-staffed seat needs roughly 8,760 hours a year, about five people. That cost is real before any tickets arrive.</a:t>
            </a:r>
          </a:p>
          <a:p/>
          <a:p>
            <a:r>
              <a:t>DETAIL AND CAVEATS</a:t>
            </a:r>
          </a:p>
          <a:p>
            <a:r>
              <a:t>Role days per month assume about 20 productive days per FTE. Staffing is a planning estimate, not a commitment; validate with delivery leadership. Continuous coverage is offered only with a funded on-call roster and agreed specialist escalation. Pricing formula in appendix A16; staffing detail in A13 and A20.</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response targets for discussion, not a contract. A P1, such as a platform outage or a containment request, gets a response in 30 minutes inside coverage hours. We do not propose restore times until dependencies are tested.</a:t>
            </a:r>
          </a:p>
          <a:p/>
          <a:p>
            <a:r>
              <a:t>Likely question: Why no availability SLA?</a:t>
            </a:r>
          </a:p>
          <a:p>
            <a:r>
              <a:t>Answer: The platform depends on Azure services we do not control. We report availability for contracted components where meaningful.</a:t>
            </a:r>
          </a:p>
          <a:p/>
          <a:p>
            <a:r>
              <a:t>DETAIL AND CAVEATS</a:t>
            </a:r>
          </a:p>
          <a:p>
            <a:r>
              <a:t>Response targets are PROPOSED until approved by delivery leadership, Finance and the customer, and validated against staffing. They apply only inside the package coverage hours and only to contracted components. Restore targets are not proposed because they depend on dependency-specific testing and Microsoft service health.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Managed services fail at the seams between towers. The fix is signed internal agreements and a hard onboarding gate before we accept anything.</a:t>
            </a:r>
          </a:p>
          <a:p/>
          <a:p>
            <a:r>
              <a:t>DETAIL AND CAVEATS</a:t>
            </a:r>
          </a:p>
          <a:p>
            <a:r>
              <a:t>Top dependencies and risks. Alert noise is managed through alert ownership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measure what a customer can audit. Today we ask to approve the packages for pilots and the no-24x7-without-roster rule.</a:t>
            </a:r>
          </a:p>
          <a:p/>
          <a:p>
            <a:r>
              <a:t>DETAIL AND CAVEATS</a:t>
            </a:r>
          </a:p>
          <a:p>
            <a:r>
              <a:t>Measures are definitions. Targets after pilot data.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onboarding and readiness gates". A platform enters managed operations only after these gates. Gaps become a remediation plan priced separately.</a:t>
            </a:r>
          </a:p>
          <a:p/>
          <a:p>
            <a:r>
              <a:t>DETAIL AND CAVEATS</a:t>
            </a:r>
          </a:p>
          <a:p>
            <a:r>
              <a:t>A platform enters managed operations only after these gates. Gaps become a remediation plan priced separately.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"Managed asset and agent inventory". Managed scope is defined by an inventory, not by a description. Agent inventory uses the catalogue from offering 02, with the same coverage limits.</a:t>
            </a:r>
          </a:p>
          <a:p/>
          <a:p>
            <a:r>
              <a:t>DETAIL AND CAVEATS</a:t>
            </a:r>
          </a:p>
          <a:p>
            <a:r>
              <a:t>Managed scope is defined by an inventory, not by a description. Agent inventory uses the catalogue from offering 02, with the same coverage limits.</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"Platform health and dependency monitoring". Detailed monitoring architecture. Each monitored dependency maps to an alert rule with an owner. Dependency map derived from the Foundry baseline network flows (appendix O1).</a:t>
            </a:r>
          </a:p>
          <a:p/>
          <a:p>
            <a:r>
              <a:t>DETAIL AND CAVEATS</a:t>
            </a:r>
          </a:p>
          <a:p>
            <a:r>
              <a:t>Detailed monitoring architecture. Each monitored dependency maps to an alert rule with an owner. Dependency map derived from the Foundry baseline network flows (appendix O1). Service Health covers Azure-side incidents and planned maintenance. Application Insights availability tests check the user path end to 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observability and agent traces". 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DETAIL AND CAVEATS</a:t>
            </a:r>
          </a:p>
          <a:p>
            <a:r>
              <a:t>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"Alert ownership and service desk integration". Resolver routing from the V3 proposal managed operations table. A single customer incident entry point routes internally. Unexpected spend: CIS Infra coordinates; AI explains calls and tokens; towers fix attributable causes.</a:t>
            </a:r>
          </a:p>
          <a:p/>
          <a:p>
            <a:r>
              <a:t>DETAIL AND CAVEATS</a:t>
            </a:r>
          </a:p>
          <a:p>
            <a:r>
              <a:t>Resolver routing from the V3 proposal managed operations table. A single customer incident entry point routes internally. Unexpected spend: CIS Infra coordinates; AI explains calls and tokens; towers fix attributable causes.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"Incident, problem and change management". Processes follow the customer ITSM framework; CIS Infra operates within it. Containment is a P1 incident type with its own runbook (appendix A8 and K).</a:t>
            </a:r>
          </a:p>
          <a:p/>
          <a:p>
            <a:r>
              <a:t>DETAIL AND CAVEATS</a:t>
            </a:r>
          </a:p>
          <a:p>
            <a:r>
              <a:t>Processes follow the customer ITSM framework; CIS Infra operates within it. Containment is a P1 incident type with its own runbook (appendix A8 and 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"Lane boundaries in detail". Detailed lane boundaries. Measures are separate: platform availability is measured where meaningful; agent quality and data freshness are separately owned measures; security incident handling follows the contracted security service.</a:t>
            </a:r>
          </a:p>
          <a:p/>
          <a:p>
            <a:r>
              <a:t>DETAIL AND CAVEATS</a:t>
            </a:r>
          </a:p>
          <a:p>
            <a:r>
              <a:t>Detailed lane boundaries. Measures are separate: platform availability is measured where meaningful; agent quality and data freshness are separately owned measures; security incident handling follows the contracted security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Stopping an agent is three different jobs: stop new work, stop work in progress, and stop it from doing anything else. Each uses a different mechanism and each has a gap the others cover.</a:t>
            </a:r>
          </a:p>
          <a:p/>
          <a:p>
            <a:r>
              <a:t>Likely question: Why not just revoke its credentials?</a:t>
            </a:r>
          </a:p>
          <a:p>
            <a:r>
              <a:t>Answer: Revocation can take time to propagate and does not end work already running, so it is one layer, not the answer.</a:t>
            </a:r>
          </a:p>
          <a:p/>
          <a:p>
            <a:r>
              <a:t>DETAIL AND CAVEATS</a:t>
            </a:r>
          </a:p>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 candid about these limits; it builds trust with security buyers. The first row is verified Microsoft behaviour: stopping a Foundry agent does not end runs already in progress.</a:t>
            </a:r>
          </a:p>
          <a:p/>
          <a:p>
            <a:r>
              <a:t>Likely question: So can we guarantee a stop within a time?</a:t>
            </a:r>
          </a:p>
          <a:p>
            <a:r>
              <a:t>Answer: Only after the proof of concept measures it, and only for the runtimes tested.</a:t>
            </a:r>
          </a:p>
          <a:p/>
          <a:p>
            <a:r>
              <a:t>DETAIL AND CAVEATS</a:t>
            </a:r>
          </a:p>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tests that must pass before anyone calls this production ready, starting with the bypass test.</a:t>
            </a:r>
          </a:p>
          <a:p/>
          <a:p>
            <a:r>
              <a:t>Likely question: Who signs these off?</a:t>
            </a:r>
          </a:p>
          <a:p>
            <a:r>
              <a:t>Answer: The customer security owner, with evidence from CIS Infra, AI and Security.</a:t>
            </a:r>
          </a:p>
          <a:p/>
          <a:p>
            <a:r>
              <a:t>DETAIL AND CAVEATS</a:t>
            </a:r>
          </a:p>
          <a:p>
            <a:r>
              <a:t>Run with synthetic agents in a non-production environment first, then as a scheduled production drill with business approval. Record timestamps at each step to measure actual stop time; set any target only after measurement.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sell a kill switch on paper. A four to six week proof of concept with synthetic agents measures how fast each layer actually stops work, and that number becomes the target.</a:t>
            </a:r>
          </a:p>
          <a:p/>
          <a:p>
            <a:r>
              <a:t>Likely question: What if the stop time is slow?</a:t>
            </a:r>
          </a:p>
          <a:p>
            <a:r>
              <a:t>Answer: Then we tighten checkpoints, shorten cache times or narrow the fail-closed scope, and we tell the customer the real number.</a:t>
            </a:r>
          </a:p>
          <a:p/>
          <a:p>
            <a:r>
              <a:t>DETAIL AND CAVEATS</a:t>
            </a:r>
          </a:p>
          <a:p>
            <a:r>
              <a:t>The containment design is unproven until this proof of concept runs. Scope: two runtimes (Foundry Agent Service and one customer-hosted runtime on Container Apps), synthetic agents with a tool that writes to a test system, API Management ingress and outbound policies, the orchestrator and registry, Entra Conditional Access for agents where licensed. Effort estimate 25 to 45 role days across CIS Infra, AI and Security; elapsed 4 to 6 weeks. Evidence pack: timestamps per step, measured worst-case stop time per runtime, bypass test results, failure-mode results, restart approval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recovery after containment". Recovery is never automatic when an alert clears. The state version is advanced on release so stale approvals are rejected.</a:t>
            </a:r>
          </a:p>
          <a:p/>
          <a:p>
            <a:r>
              <a:t>DETAIL AND CAVEATS</a:t>
            </a:r>
          </a:p>
          <a:p>
            <a:r>
              <a:t>Recovery is never automatic when an alert clears. The state version is advanced on release so stale approvals are rejected.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"Capacity, quota and cost review". Monthly review inputs come from the FinOps telemetry (offering 04). Quota does not guarantee capacity; scaling down releases capacity with no guarantee of return.</a:t>
            </a:r>
          </a:p>
          <a:p/>
          <a:p>
            <a:r>
              <a:t>DETAIL AND CAVEATS</a:t>
            </a:r>
          </a:p>
          <a:p>
            <a:r>
              <a:t>Monthly review inputs come from the FinOps telemetry (offering 04). Quota does not guarantee capacity; scaling down releases capacity with no guarantee of return.</a:t>
            </a:r>
          </a:p>
          <a:p/>
          <a:p>
            <a:r>
              <a:t>Sources (checked 11 Oct 2026):</a:t>
            </a:r>
          </a:p>
          <a:p>
            <a:r>
              <a:t>Provisioned throughput concepts: https://learn.microsoft.com/en-us/azure/foundry/openai/concepts/provisioned-throughput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"Dormant-agent review and retirement". Uses the offering 02 classification. No automatic deletion; owner confirmation required; orphaned agents go to the service owner.</a:t>
            </a:r>
          </a:p>
          <a:p/>
          <a:p>
            <a:r>
              <a:t>DETAIL AND CAVEATS</a:t>
            </a:r>
          </a:p>
          <a:p>
            <a:r>
              <a:t>Uses the offering 02 classification. No automatic deletion; owner confirmation required; orphaned agents go to the service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"Backup and recovery responsibilities". Recovery responsibility per component. Single-region restoration is not regional disaster recovery. RTO and RPO require dependency-specific testing.</a:t>
            </a:r>
          </a:p>
          <a:p/>
          <a:p>
            <a:r>
              <a:t>DETAIL AND CAVEATS</a:t>
            </a:r>
          </a:p>
          <a:p>
            <a:r>
              <a:t>Recovery responsibility per component. Single-region restoration is not regional disaster recovery. RTO and RPO require dependency-specific testing.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"Runbooks, escalation and tower agreements". Internal support agreement fields from the V3 proposal: lead and backup, hours, response and restore expectations, escalation, access, warranty, maintenance releases, enhancement limits and charging. Align internal targets to customer obligations.</a:t>
            </a:r>
          </a:p>
          <a:p/>
          <a:p>
            <a:r>
              <a:t>DETAIL AND CAVEATS</a:t>
            </a:r>
          </a:p>
          <a:p>
            <a:r>
              <a:t>Internal support agreement fields from the V3 proposal: lead and backup, hours, response and restore expectations, escalation, access, warranty, maintenance releases, enhancement limits and charging. Align internal targets to customer obligations.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hours, on-call and effort allowances". 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DETAIL AND CAVEATS</a:t>
            </a:r>
          </a:p>
          <a:p>
            <a:r>
              <a:t>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"Proposed service objectives and reporting". Proposed objectives remain proposals until approved and validated against staffing and dependencies. Report monthly.</a:t>
            </a:r>
          </a:p>
          <a:p/>
          <a:p>
            <a:r>
              <a:t>DETAIL AND CAVEATS</a:t>
            </a:r>
          </a:p>
          <a:p>
            <a:r>
              <a:t>Proposed objectives remain proposals until approved and validated against staffing and dependencies. Report monthly.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"Monthly governance and optimisation". Monthly governance agenda. Outputs feed the capacity and FinOps assessment (offering 04) and change backlog.</a:t>
            </a:r>
          </a:p>
          <a:p/>
          <a:p>
            <a:r>
              <a:t>DETAIL AND CAVEATS</a:t>
            </a:r>
          </a:p>
          <a:p>
            <a:r>
              <a:t>Monthly governance agenda. Outputs feed the capacity and FinOps assessment (offering 04) and change backlog.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"Pricing logic for the recurring service". Recurring fee formula. No approved rates exist; each term names its missing input and owner. Specialist tower support is either inside the fee through internal agreements or a separate work package.</a:t>
            </a:r>
          </a:p>
          <a:p/>
          <a:p>
            <a:r>
              <a:t>DETAIL AND CAVEATS</a:t>
            </a:r>
          </a:p>
          <a:p>
            <a:r>
              <a:t>Recurring fee formula. No approved rates exist; each term names its missing input and owner. Specialist tower support is either inside the fee through internal agreements or a separate work package. Azure consumption is outside the fee unless a resale agreement says otherwise.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Alerts must land in the customer service desk, not in our inbox. For ServiceNow and BMC, Azure Monitor has a secure webhook path. The older ServiceNow connector is being retired, so we do not design new work on it.</a:t>
            </a:r>
          </a:p>
          <a:p/>
          <a:p>
            <a:r>
              <a:t>Likely question: Do we sell an AIOps tool?</a:t>
            </a:r>
          </a:p>
          <a:p>
            <a:r>
              <a:t>Answer: No. We use native correlation and automation, and integrate with the customer tool if they have one.</a:t>
            </a:r>
          </a:p>
          <a:p/>
          <a:p>
            <a:r>
              <a:t>DETAIL AND CAVEATS</a:t>
            </a:r>
          </a:p>
          <a:p>
            <a:r>
              <a:t>Azure Monitor IT Service Management integration (page updated 16 Oct 2025): Secure Webhook action groups with Secure Export support ServiceNow ITOM and BMC Helix. Using ITSM actions to send alerts to ServiceNow has been in a three-year deprecation since September 2022 and new connectors cannot be created in the portal since October 2023. Other tools: generic webhook or Logic Apps. AIOps here means alert correlation, noise reduction and runbook automation using native features (alert processing rules, dynamic thresholds, Azure Automation or Logic Apps); any third-party AIOps tooling is the customer choice.</a:t>
            </a:r>
          </a:p>
          <a:p/>
          <a:p>
            <a:r>
              <a:t>Sources (checked 11 Oct 2026):</a:t>
            </a:r>
          </a:p>
          <a:p>
            <a:r>
              <a:t>IT Service Management integration (Azure Monitor): https://learn.microsoft.com/en-us/azure/azure-monitor/alerts/itsmc-overview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recurring tasks for agent platforms. We keep the registry and catalogue current, run reviews and drills, and support Copilot Studio agents through the gateway. The Power Platform team keeps Copilot Studio administration, and Microsoft 365 Copilot stays with our M365 and D365 teams.</a:t>
            </a:r>
          </a:p>
          <a:p/>
          <a:p>
            <a:r>
              <a:t>Likely question: Is this included in Foundation?</a:t>
            </a:r>
          </a:p>
          <a:p>
            <a:r>
              <a:t>Answer: Registry and catalogue upkeep yes; drills and Copilot Studio connector work scale with the number of agents.</a:t>
            </a:r>
          </a:p>
          <a:p/>
          <a:p>
            <a:r>
              <a:t>DETAIL AND CAVEATS</a:t>
            </a:r>
          </a:p>
          <a:p>
            <a:r>
              <a:t>Service catalogue items for agent platforms. Agent 365 is GA (1 May 2026) with registry, policies and Entra agent identities; lifecycle actions announced as coming. Copilot Studio environment administration and DLP policies remain with the customer Power Platform team; CIS Infra operates the catalogue, gateway connectors, telemetry and containment for Copilot Studio agents that are in scope. Microsoft 365 Copilot is owned by the Cognizant M365 and D365 teams and is outside this service.</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Procurement always asks how they leave. Everything we build lives in the customer tenant and repositories, and the exit package is priced up front.</a:t>
            </a:r>
          </a:p>
          <a:p/>
          <a:p>
            <a:r>
              <a:t>Likely question: Do we keep any IP?</a:t>
            </a:r>
          </a:p>
          <a:p>
            <a:r>
              <a:t>Answer: Our internal accelerators and methods, yes, as agreed in the contract. Customer configuration and data stay with the customer.</a:t>
            </a:r>
          </a:p>
          <a:p/>
          <a:p>
            <a:r>
              <a:t>DETAIL AND CAVEATS</a:t>
            </a:r>
          </a:p>
          <a:p>
            <a:r>
              <a:t>Exit plan agreed at contract start and refreshed yearly. One-time exit package of 15 to 30 role days over 4 to 6 weeks (estimate). All runbooks, infrastructure as code, alert rules, dashboards and catalogue data remain customer property in customer tenants and repositories.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shows what sits behind each fee band, so Finance can test the margin. Continuous is mainly the cost of an always-staffed seat.</a:t>
            </a:r>
          </a:p>
          <a:p/>
          <a:p>
            <a:r>
              <a:t>Likely question: Can offshore delivery lower it?</a:t>
            </a:r>
          </a:p>
          <a:p>
            <a:r>
              <a:t>Answer: Yes, location mix changes the rate, not the role days. Finance sets the rates.</a:t>
            </a:r>
          </a:p>
          <a:p/>
          <a:p>
            <a:r>
              <a:t>DETAIL AND CAVEATS</a:t>
            </a:r>
          </a:p>
          <a:p>
            <a:r>
              <a:t>Planning estimates. About 20 productive role days per FTE per month. One continuously staffed seat is about 8,760 hours a year divided by about 1,700 productive hours per person, about 5 people. Role mix is indicative; validate with delivery leadership.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Security incidents: Security is shown accountable as the contracted security resolver; if the customer or a third party provides security operations, that party is accountable instead.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https://github.com/upendra25312/AI-Foundry-GTM-offering-/blob/main/architectures/08_baseline-microsoft-foundry-network-flow.png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derive the monitored dependency map (A3). Source labels the model "Azure OpenAI model".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5.png"/><Relationship Id="rId5" Type="http://schemas.openxmlformats.org/officeDocument/2006/relationships/image" Target="../media/image28.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35.png"/><Relationship Id="rId15" Type="http://schemas.openxmlformats.org/officeDocument/2006/relationships/image" Target="../media/image38.svg"/><Relationship Id="rId16" Type="http://schemas.openxmlformats.org/officeDocument/2006/relationships/image" Target="../media/image37.png"/><Relationship Id="rId17" Type="http://schemas.openxmlformats.org/officeDocument/2006/relationships/image" Target="../media/image40.svg"/><Relationship Id="rId18" Type="http://schemas.openxmlformats.org/officeDocument/2006/relationships/image" Target="../media/image39.png"/><Relationship Id="rId19" Type="http://schemas.openxmlformats.org/officeDocument/2006/relationships/image" Target="../media/image42.svg"/><Relationship Id="rId20" Type="http://schemas.openxmlformats.org/officeDocument/2006/relationships/image" Target="../media/image41.png"/><Relationship Id="rId21" Type="http://schemas.openxmlformats.org/officeDocument/2006/relationships/image" Target="../media/image44.svg"/><Relationship Id="rId22" Type="http://schemas.openxmlformats.org/officeDocument/2006/relationships/image" Target="../media/image43.png"/><Relationship Id="rId23" Type="http://schemas.openxmlformats.org/officeDocument/2006/relationships/image" Target="../media/image46.svg"/><Relationship Id="rId24" Type="http://schemas.openxmlformats.org/officeDocument/2006/relationships/image" Target="../media/image45.png"/><Relationship Id="rId25" Type="http://schemas.openxmlformats.org/officeDocument/2006/relationships/image" Target="../media/image48.svg"/><Relationship Id="rId26" Type="http://schemas.openxmlformats.org/officeDocument/2006/relationships/image" Target="../media/image11.png"/><Relationship Id="rId27" Type="http://schemas.openxmlformats.org/officeDocument/2006/relationships/image" Target="../media/image14.svg"/><Relationship Id="rId28" Type="http://schemas.openxmlformats.org/officeDocument/2006/relationships/image" Target="../media/image13.png"/><Relationship Id="rId29" Type="http://schemas.openxmlformats.org/officeDocument/2006/relationships/image" Target="../media/image16.svg"/><Relationship Id="rId30" Type="http://schemas.openxmlformats.org/officeDocument/2006/relationships/image" Target="../media/image15.png"/><Relationship Id="rId31" Type="http://schemas.openxmlformats.org/officeDocument/2006/relationships/image" Target="../media/image18.svg"/><Relationship Id="rId32"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47.png"/><Relationship Id="rId5" Type="http://schemas.openxmlformats.org/officeDocument/2006/relationships/image" Target="../media/image50.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31.png"/><Relationship Id="rId9" Type="http://schemas.openxmlformats.org/officeDocument/2006/relationships/image" Target="../media/image34.svg"/><Relationship Id="rId10" Type="http://schemas.openxmlformats.org/officeDocument/2006/relationships/image" Target="../media/image49.png"/><Relationship Id="rId11" Type="http://schemas.openxmlformats.org/officeDocument/2006/relationships/image" Target="../media/image52.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51.png"/><Relationship Id="rId15" Type="http://schemas.openxmlformats.org/officeDocument/2006/relationships/image" Target="../media/image54.svg"/><Relationship Id="rId16" Type="http://schemas.openxmlformats.org/officeDocument/2006/relationships/image" Target="../media/image35.png"/><Relationship Id="rId17" Type="http://schemas.openxmlformats.org/officeDocument/2006/relationships/image" Target="../media/image38.svg"/><Relationship Id="rId18" Type="http://schemas.openxmlformats.org/officeDocument/2006/relationships/image" Target="../media/image53.png"/><Relationship Id="rId19" Type="http://schemas.openxmlformats.org/officeDocument/2006/relationships/image" Target="../media/image56.svg"/><Relationship Id="rId20" Type="http://schemas.openxmlformats.org/officeDocument/2006/relationships/image" Target="../media/image55.png"/><Relationship Id="rId21" Type="http://schemas.openxmlformats.org/officeDocument/2006/relationships/image" Target="../media/image58.svg"/><Relationship Id="rId22" Type="http://schemas.openxmlformats.org/officeDocument/2006/relationships/image" Target="../media/image11.png"/><Relationship Id="rId23" Type="http://schemas.openxmlformats.org/officeDocument/2006/relationships/image" Target="../media/image14.svg"/><Relationship Id="rId24" Type="http://schemas.openxmlformats.org/officeDocument/2006/relationships/image" Target="../media/image37.png"/><Relationship Id="rId25" Type="http://schemas.openxmlformats.org/officeDocument/2006/relationships/image" Target="../media/image40.svg"/><Relationship Id="rId26" Type="http://schemas.openxmlformats.org/officeDocument/2006/relationships/image" Target="../media/image39.png"/><Relationship Id="rId27" Type="http://schemas.openxmlformats.org/officeDocument/2006/relationships/image" Target="../media/image42.svg"/><Relationship Id="rId28" Type="http://schemas.openxmlformats.org/officeDocument/2006/relationships/image" Target="../media/image15.png"/><Relationship Id="rId29" Type="http://schemas.openxmlformats.org/officeDocument/2006/relationships/image" Target="../media/image18.svg"/><Relationship Id="rId3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57.png"/><Relationship Id="rId5" Type="http://schemas.openxmlformats.org/officeDocument/2006/relationships/hyperlink" Target="https://github.com/upendra25312/AI-Foundry-GTM-offering-/blob/main/architectures/08_baseline-microsoft-foundry-network-flow.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hyperlink" Target="https://learn.microsoft.com/en-us/azure/foundry/control-plane/how-to-manage-agents" TargetMode="External"/><Relationship Id="rId5" Type="http://schemas.openxmlformats.org/officeDocument/2006/relationships/hyperlink" Target="https://learn.microsoft.com/en-us/azure/foundry/control-plane/register-custom-agent" TargetMode="External"/><Relationship Id="rId6" Type="http://schemas.openxmlformats.org/officeDocument/2006/relationships/hyperlink" Target="https://www.microsoft.com/en-us/security/blog/2026/05/01/microsoft-agent-365-now-generally-available-expands-capabilities-and-integrations/" TargetMode="External"/><Relationship Id="rId7" Type="http://schemas.openxmlformats.org/officeDocument/2006/relationships/hyperlink" Target="https://entradiff.merill.net/products/agent-id/" TargetMode="External"/><Relationship Id="rId8" Type="http://schemas.openxmlformats.org/officeDocument/2006/relationships/hyperlink" Target="https://learn.microsoft.com/en-us/azure/azure-monitor/alerts/itsmc-overview" TargetMode="External"/><Relationship Id="rId9" Type="http://schemas.openxmlformats.org/officeDocument/2006/relationships/hyperlink" Target="https://learn.microsoft.com/en-us/azure/foundry/openai/concepts/model-retirement-schedule" TargetMode="External"/><Relationship Id="rId10" Type="http://schemas.openxmlformats.org/officeDocument/2006/relationships/hyperlink" Target="https://learn.microsoft.com/en-us/azure/foundry/openai/concepts/provisioned-throughput" TargetMode="External"/><Relationship Id="rId11" Type="http://schemas.openxmlformats.org/officeDocument/2006/relationships/hyperlink" Target="https://prices.azure.com/api/retail/prices?$filter=serviceName eq 'Log Analytics' and armRegionName eq 'eastus2'" TargetMode="External"/><Relationship Id="rId12" Type="http://schemas.openxmlformats.org/officeDocument/2006/relationships/hyperlink" Target="https://learn.microsoft.com/en-us/azure/api-management/genai-gateway-capabilities" TargetMode="External"/><Relationship Id="rId13" Type="http://schemas.openxmlformats.org/officeDocument/2006/relationships/hyperlink" Target="https://learn.microsoft.com/en-us/azure/defender-for-cloud/ai-threat-protection" TargetMode="External"/><Relationship Id="rId14" Type="http://schemas.openxmlformats.org/officeDocument/2006/relationships/hyperlink" Target="https://learn.microsoft.com/en-us/purview/ai-microsoft-purview" TargetMode="External"/><Relationship Id="rId15" Type="http://schemas.openxmlformats.org/officeDocument/2006/relationships/hyperlink" Target="https://www.orrick.com/en/Insights/2026/07/EU-AI-Act-Update-Digital-Omnibus-Finalizes-8-Compliance-Changes" TargetMode="External"/><Relationship Id="rId16" Type="http://schemas.openxmlformats.org/officeDocument/2006/relationships/hyperlink" Target="https://genai.owasp.org/llm-top-10/" TargetMode="External"/><Relationship Id="rId17" Type="http://schemas.openxmlformats.org/officeDocument/2006/relationships/hyperlink" Target="https://learn.microsoft.com/en-us/azure/architecture/icons/" TargetMode="External"/><Relationship Id="rId18" Type="http://schemas.openxmlformats.org/officeDocument/2006/relationships/hyperlink" Target="https://az-icons.com/" TargetMode="External"/><Relationship Id="rId19" Type="http://schemas.openxmlformats.org/officeDocument/2006/relationships/hyperlink" Target="https://github.com/upendra25312/AI-Foundry-GTM-offering-/blob/main/CIS_Infra_Azure_AI_Platform_GTM_Proposal_V3.docx" TargetMode="External"/><Relationship Id="rId20" Type="http://schemas.openxmlformats.org/officeDocument/2006/relationships/hyperlink" Target="https://learn.microsoft.com/en-us/azure/foundry/observability/how-to/how-to-monitor-agents-dashboard" TargetMode="External"/><Relationship Id="rId21"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Managed AI Platform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Run the Azure AI platform with clear ownership, proposed service objectives and tested containment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Recurring CIS Infra service with defined handoffs to AI, Data and Security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one accountable operator for the AI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AI workloads reach production with unowned alerts, unclear tower handoffs, drifting costs and no rehearsed way to stop an agent.</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A recurring service: platform health, incidents, changes, agent inventory, containment, monthly cost and lifecycle reviews.</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One service entry point, named resolvers per lane, proposed objectives, monthly evidence and a staffed price.</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Approve three proposed coverage packages for pilots</a:t>
            </a:r>
          </a:p>
          <a:p>
            <a:pPr algn="l" marL="201168" indent="-201168">
              <a:spcAft>
                <a:spcPts val="1000"/>
              </a:spcAft>
              <a:buFont typeface="Arial"/>
              <a:buChar char="•"/>
            </a:pPr>
            <a:r>
              <a:rPr sz="2000" b="0" i="0">
                <a:solidFill>
                  <a:srgbClr val="FFFFFF"/>
                </a:solidFill>
                <a:latin typeface="Arial"/>
              </a:rPr>
              <a:t>No 24x7 offer without a funded roster</a:t>
            </a:r>
          </a:p>
          <a:p>
            <a:pPr algn="l" marL="201168" indent="-201168">
              <a:spcAft>
                <a:spcPts val="1000"/>
              </a:spcAft>
              <a:buFont typeface="Arial"/>
              <a:buChar char="•"/>
            </a:pPr>
            <a:r>
              <a:rPr sz="2000" b="0" i="0">
                <a:solidFill>
                  <a:srgbClr val="FFFFFF"/>
                </a:solidFill>
                <a:latin typeface="Arial"/>
              </a:rPr>
              <a:t>Sponsor internal support agreements with towers</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Platform operations are not AI quality management or security operations. Those stay with their towers.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Agents need operating</a:t>
            </a:r>
          </a:p>
          <a:p>
            <a:pPr algn="l">
              <a:spcAft>
                <a:spcPts val="400"/>
              </a:spcAft>
            </a:pPr>
            <a:r>
              <a:rPr sz="1800" b="0" i="0">
                <a:solidFill>
                  <a:srgbClr val="1E1E2E"/>
                </a:solidFill>
                <a:latin typeface="Arial"/>
              </a:rPr>
              <a:t>Agent 365 is GA since 1 May 2026; registries, policies and identities need day-to-day owners.</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Stop needs a runbook</a:t>
            </a:r>
          </a:p>
          <a:p>
            <a:pPr algn="l">
              <a:spcAft>
                <a:spcPts val="400"/>
              </a:spcAft>
            </a:pPr>
            <a:r>
              <a:rPr sz="1800" b="0" i="0">
                <a:solidFill>
                  <a:srgbClr val="1E1E2E"/>
                </a:solidFill>
                <a:latin typeface="Arial"/>
              </a:rPr>
              <a:t>Stopping a Foundry agent does not end runs already in progress, so containment must be drilled.</a:t>
            </a:r>
          </a:p>
          <a:p>
            <a:pPr algn="l"/>
            <a:r>
              <a:rPr sz="1200" b="0" i="0">
                <a:solidFill>
                  <a:srgbClr val="53565A"/>
                </a:solidFill>
                <a:latin typeface="Arial"/>
              </a:rPr>
              <a:t>Source: Foundry Control Plane docs</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keep retiring</a:t>
            </a:r>
          </a:p>
          <a:p>
            <a:pPr algn="l">
              <a:spcAft>
                <a:spcPts val="400"/>
              </a:spcAft>
            </a:pPr>
            <a:r>
              <a:rPr sz="1800" b="0" i="0">
                <a:solidFill>
                  <a:srgbClr val="1E1E2E"/>
                </a:solidFill>
                <a:latin typeface="Arial"/>
              </a:rPr>
              <a:t>gpt-4.1 retires 14 Apr 2027; provisioned deployments are not auto-upgraded.</a:t>
            </a:r>
          </a:p>
          <a:p>
            <a:pPr algn="l"/>
            <a:r>
              <a:rPr sz="1200" b="0" i="0">
                <a:solidFill>
                  <a:srgbClr val="53565A"/>
                </a:solidFill>
                <a:latin typeface="Arial"/>
              </a:rPr>
              <a:t>Source: Foundry retirement schedule</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IT service owner with the AI platform leader; CISO delegate for containment; FinOps lead for reviews.</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An AI workload entering production; an agent incident; engineering firefighting the platform; unplanned spend.</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and the Microsoft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26EFE9"/>
                </a:solidFill>
                <a:latin typeface="Arial"/>
              </a:rPr>
              <a:t>05  THIS OFFERING</a:t>
            </a:r>
          </a:p>
          <a:p>
            <a:pPr algn="l"/>
            <a:r>
              <a:rPr sz="1500" b="1" i="0">
                <a:solidFill>
                  <a:srgbClr val="FFFFFF"/>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and 03</a:t>
            </a:r>
          </a:p>
          <a:p>
            <a:pPr algn="l"/>
            <a:r>
              <a:rPr sz="1600" b="0" i="0">
                <a:solidFill>
                  <a:srgbClr val="1E1E2E"/>
                </a:solidFill>
                <a:latin typeface="Arial"/>
              </a:rPr>
              <a:t>Accepted platform, gateway, runbooks, alert routing</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02 Governance</a:t>
            </a:r>
          </a:p>
          <a:p>
            <a:pPr algn="l"/>
            <a:r>
              <a:rPr sz="1600" b="0" i="0">
                <a:solidFill>
                  <a:srgbClr val="1E1E2E"/>
                </a:solidFill>
                <a:latin typeface="Arial"/>
              </a:rPr>
              <a:t>Catalogue, containment plane and drills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04 FinOps</a:t>
            </a:r>
          </a:p>
          <a:p>
            <a:pPr algn="l"/>
            <a:r>
              <a:rPr sz="1600" b="0" i="0">
                <a:solidFill>
                  <a:srgbClr val="1E1E2E"/>
                </a:solidFill>
                <a:latin typeface="Arial"/>
              </a:rPr>
              <a:t>Monthly utilisation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lanes: platform, agent quality and security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960120"/>
          </a:xfrm>
          <a:prstGeom prst="roundRect">
            <a:avLst>
              <a:gd name="adj" fmla="val 7619"/>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Platform availability</a:t>
            </a:r>
          </a:p>
          <a:p>
            <a:pPr algn="l"/>
            <a:r>
              <a:rPr sz="1500" b="0" i="0">
                <a:solidFill>
                  <a:srgbClr val="26EFE9"/>
                </a:solidFill>
                <a:latin typeface="Arial"/>
              </a:rPr>
              <a:t>Accountable: CIS Infra</a:t>
            </a:r>
          </a:p>
        </p:txBody>
      </p:sp>
      <p:sp>
        <p:nvSpPr>
          <p:cNvPr id="9" name="Rounded Rectangle 8"/>
          <p:cNvSpPr/>
          <p:nvPr/>
        </p:nvSpPr>
        <p:spPr>
          <a:xfrm>
            <a:off x="548640"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Resource health, dependencies</a:t>
            </a:r>
          </a:p>
          <a:p>
            <a:pPr algn="l" marL="201168" indent="-201168">
              <a:spcAft>
                <a:spcPts val="1000"/>
              </a:spcAft>
              <a:buFont typeface="Arial"/>
              <a:buChar char="•"/>
            </a:pPr>
            <a:r>
              <a:rPr sz="1900" b="0" i="0">
                <a:solidFill>
                  <a:srgbClr val="1E1E2E"/>
                </a:solidFill>
                <a:latin typeface="Arial"/>
              </a:rPr>
              <a:t>Network, DNS, identity plumbing</a:t>
            </a:r>
          </a:p>
          <a:p>
            <a:pPr algn="l" marL="201168" indent="-201168">
              <a:spcAft>
                <a:spcPts val="1000"/>
              </a:spcAft>
              <a:buFont typeface="Arial"/>
              <a:buChar char="•"/>
            </a:pPr>
            <a:r>
              <a:rPr sz="1900" b="0" i="0">
                <a:solidFill>
                  <a:srgbClr val="1E1E2E"/>
                </a:solidFill>
                <a:latin typeface="Arial"/>
              </a:rPr>
              <a:t>Gateway and capacity</a:t>
            </a:r>
          </a:p>
          <a:p>
            <a:pPr algn="l" marL="201168" indent="-201168">
              <a:spcAft>
                <a:spcPts val="1000"/>
              </a:spcAft>
              <a:buFont typeface="Arial"/>
              <a:buChar char="•"/>
            </a:pPr>
            <a:r>
              <a:rPr sz="1900" b="0" i="0">
                <a:solidFill>
                  <a:srgbClr val="1E1E2E"/>
                </a:solidFill>
                <a:latin typeface="Arial"/>
              </a:rPr>
              <a:t>Platform recovery</a:t>
            </a:r>
          </a:p>
        </p:txBody>
      </p:sp>
      <p:sp>
        <p:nvSpPr>
          <p:cNvPr id="10" name="Rounded Rectangle 9"/>
          <p:cNvSpPr/>
          <p:nvPr/>
        </p:nvSpPr>
        <p:spPr>
          <a:xfrm>
            <a:off x="4297679" y="1371600"/>
            <a:ext cx="3593592" cy="960120"/>
          </a:xfrm>
          <a:prstGeom prst="roundRect">
            <a:avLst>
              <a:gd name="adj" fmla="val 7619"/>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Agent task quality</a:t>
            </a:r>
          </a:p>
          <a:p>
            <a:pPr algn="l"/>
            <a:r>
              <a:rPr sz="1500" b="0" i="0">
                <a:solidFill>
                  <a:srgbClr val="26EFE9"/>
                </a:solidFill>
                <a:latin typeface="Arial"/>
              </a:rPr>
              <a:t>Accountable: AI tower</a:t>
            </a:r>
          </a:p>
        </p:txBody>
      </p:sp>
      <p:sp>
        <p:nvSpPr>
          <p:cNvPr id="11" name="Rounded Rectangle 10"/>
          <p:cNvSpPr/>
          <p:nvPr/>
        </p:nvSpPr>
        <p:spPr>
          <a:xfrm>
            <a:off x="4297679"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Wrong or poor answers</a:t>
            </a:r>
          </a:p>
          <a:p>
            <a:pPr algn="l" marL="201168" indent="-201168">
              <a:spcAft>
                <a:spcPts val="1000"/>
              </a:spcAft>
              <a:buFont typeface="Arial"/>
              <a:buChar char="•"/>
            </a:pPr>
            <a:r>
              <a:rPr sz="1900" b="0" i="0">
                <a:solidFill>
                  <a:srgbClr val="1E1E2E"/>
                </a:solidFill>
                <a:latin typeface="Arial"/>
              </a:rPr>
              <a:t>Tool misuse by design</a:t>
            </a:r>
          </a:p>
          <a:p>
            <a:pPr algn="l" marL="201168" indent="-201168">
              <a:spcAft>
                <a:spcPts val="1000"/>
              </a:spcAft>
              <a:buFont typeface="Arial"/>
              <a:buChar char="•"/>
            </a:pPr>
            <a:r>
              <a:rPr sz="1900" b="0" i="0">
                <a:solidFill>
                  <a:srgbClr val="1E1E2E"/>
                </a:solidFill>
                <a:latin typeface="Arial"/>
              </a:rPr>
              <a:t>Evaluation drift</a:t>
            </a:r>
          </a:p>
          <a:p>
            <a:pPr algn="l" marL="201168" indent="-201168">
              <a:spcAft>
                <a:spcPts val="1000"/>
              </a:spcAft>
              <a:buFont typeface="Arial"/>
              <a:buChar char="•"/>
            </a:pPr>
            <a:r>
              <a:rPr sz="1900" b="0" i="0">
                <a:solidFill>
                  <a:srgbClr val="1E1E2E"/>
                </a:solidFill>
                <a:latin typeface="Arial"/>
              </a:rPr>
              <a:t>Model and prompt changes</a:t>
            </a:r>
          </a:p>
        </p:txBody>
      </p:sp>
      <p:sp>
        <p:nvSpPr>
          <p:cNvPr id="12" name="Rounded Rectangle 11"/>
          <p:cNvSpPr/>
          <p:nvPr/>
        </p:nvSpPr>
        <p:spPr>
          <a:xfrm>
            <a:off x="8046719" y="1371600"/>
            <a:ext cx="3593592" cy="960120"/>
          </a:xfrm>
          <a:prstGeom prst="roundRect">
            <a:avLst>
              <a:gd name="adj" fmla="val 761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Security incidents</a:t>
            </a:r>
          </a:p>
          <a:p>
            <a:pPr algn="l"/>
            <a:r>
              <a:rPr sz="1500" b="0" i="0">
                <a:solidFill>
                  <a:srgbClr val="26EFE9"/>
                </a:solidFill>
                <a:latin typeface="Arial"/>
              </a:rPr>
              <a:t>Accountable: Contracted security resolver</a:t>
            </a:r>
          </a:p>
        </p:txBody>
      </p:sp>
      <p:sp>
        <p:nvSpPr>
          <p:cNvPr id="13" name="Rounded Rectangle 12"/>
          <p:cNvSpPr/>
          <p:nvPr/>
        </p:nvSpPr>
        <p:spPr>
          <a:xfrm>
            <a:off x="8046719"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Attack or data exposure</a:t>
            </a:r>
          </a:p>
          <a:p>
            <a:pPr algn="l" marL="201168" indent="-201168">
              <a:spcAft>
                <a:spcPts val="1000"/>
              </a:spcAft>
              <a:buFont typeface="Arial"/>
              <a:buChar char="•"/>
            </a:pPr>
            <a:r>
              <a:rPr sz="1900" b="0" i="0">
                <a:solidFill>
                  <a:srgbClr val="1E1E2E"/>
                </a:solidFill>
                <a:latin typeface="Arial"/>
              </a:rPr>
              <a:t>Containment authority</a:t>
            </a:r>
          </a:p>
          <a:p>
            <a:pPr algn="l" marL="201168" indent="-201168">
              <a:spcAft>
                <a:spcPts val="1000"/>
              </a:spcAft>
              <a:buFont typeface="Arial"/>
              <a:buChar char="•"/>
            </a:pPr>
            <a:r>
              <a:rPr sz="1900" b="0" i="0">
                <a:solidFill>
                  <a:srgbClr val="1E1E2E"/>
                </a:solidFill>
                <a:latin typeface="Arial"/>
              </a:rPr>
              <a:t>Forensics, notification</a:t>
            </a:r>
          </a:p>
          <a:p>
            <a:pPr algn="l" marL="201168" indent="-201168">
              <a:spcAft>
                <a:spcPts val="1000"/>
              </a:spcAft>
              <a:buFont typeface="Arial"/>
              <a:buChar char="•"/>
            </a:pPr>
            <a:r>
              <a:rPr sz="1900" b="0" i="0">
                <a:solidFill>
                  <a:srgbClr val="1E1E2E"/>
                </a:solidFill>
                <a:latin typeface="Arial"/>
              </a:rPr>
              <a:t>CIS Infra contains its parts</a:t>
            </a:r>
          </a:p>
        </p:txBody>
      </p:sp>
      <p:sp>
        <p:nvSpPr>
          <p:cNvPr id="14" name="Rounded Rectangle 13"/>
          <p:cNvSpPr/>
          <p:nvPr/>
        </p:nvSpPr>
        <p:spPr>
          <a:xfrm>
            <a:off x="548640" y="571500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One service desk entry point routes to the right lane. CIS Infra does not own model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signals, routing and resolvers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108960" cy="4389120"/>
          </a:xfrm>
          <a:prstGeom prst="roundRect">
            <a:avLst>
              <a:gd name="adj" fmla="val 294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89504" cy="237744"/>
          </a:xfrm>
          <a:prstGeom prst="rect">
            <a:avLst/>
          </a:prstGeom>
          <a:noFill/>
        </p:spPr>
        <p:txBody>
          <a:bodyPr wrap="square" lIns="0" rIns="0" tIns="0" bIns="0" anchor="t">
            <a:noAutofit/>
          </a:bodyPr>
          <a:lstStyle/>
          <a:p>
            <a:pPr algn="l"/>
            <a:r>
              <a:rPr sz="1100" b="1" i="0">
                <a:solidFill>
                  <a:srgbClr val="000048"/>
                </a:solidFill>
                <a:latin typeface="Arial"/>
              </a:rPr>
              <a:t>SIGNALS</a:t>
            </a:r>
          </a:p>
        </p:txBody>
      </p:sp>
      <p:pic>
        <p:nvPicPr>
          <p:cNvPr id="10"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42516"/>
            <a:ext cx="384048" cy="384048"/>
          </a:xfrm>
          <a:prstGeom prst="rect">
            <a:avLst/>
          </a:prstGeom>
        </p:spPr>
      </p:pic>
      <p:sp>
        <p:nvSpPr>
          <p:cNvPr id="11" name="TextBox 10"/>
          <p:cNvSpPr txBox="1"/>
          <p:nvPr/>
        </p:nvSpPr>
        <p:spPr>
          <a:xfrm>
            <a:off x="1078992" y="1728216"/>
            <a:ext cx="2267712" cy="61264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100" b="0" i="0">
                <a:solidFill>
                  <a:srgbClr val="53565A"/>
                </a:solidFill>
                <a:latin typeface="Arial"/>
              </a:rPr>
              <a:t>metrics, alerts</a:t>
            </a:r>
          </a:p>
        </p:txBody>
      </p:sp>
      <p:pic>
        <p:nvPicPr>
          <p:cNvPr id="12" name="Azure icon: Service Health" descr="Official Azure icon: Service Heal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19756"/>
            <a:ext cx="384048" cy="384048"/>
          </a:xfrm>
          <a:prstGeom prst="rect">
            <a:avLst/>
          </a:prstGeom>
        </p:spPr>
      </p:pic>
      <p:sp>
        <p:nvSpPr>
          <p:cNvPr id="13" name="TextBox 12"/>
          <p:cNvSpPr txBox="1"/>
          <p:nvPr/>
        </p:nvSpPr>
        <p:spPr>
          <a:xfrm>
            <a:off x="1078992" y="2505456"/>
            <a:ext cx="2267712" cy="61264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100" b="0" i="0">
                <a:solidFill>
                  <a:srgbClr val="53565A"/>
                </a:solidFill>
                <a:latin typeface="Arial"/>
              </a:rPr>
              <a:t>Azure incidents</a:t>
            </a:r>
          </a:p>
        </p:txBody>
      </p:sp>
      <p:pic>
        <p:nvPicPr>
          <p:cNvPr id="14" name="Azure icon: Application Insights" descr="Official Azure icon: Application Insigh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396996"/>
            <a:ext cx="384048" cy="384048"/>
          </a:xfrm>
          <a:prstGeom prst="rect">
            <a:avLst/>
          </a:prstGeom>
        </p:spPr>
      </p:pic>
      <p:sp>
        <p:nvSpPr>
          <p:cNvPr id="15" name="TextBox 14"/>
          <p:cNvSpPr txBox="1"/>
          <p:nvPr/>
        </p:nvSpPr>
        <p:spPr>
          <a:xfrm>
            <a:off x="1078992" y="3282696"/>
            <a:ext cx="2267712" cy="61264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100" b="0" i="0">
                <a:solidFill>
                  <a:srgbClr val="53565A"/>
                </a:solidFill>
                <a:latin typeface="Arial"/>
              </a:rPr>
              <a:t>agent traces, errors</a:t>
            </a:r>
          </a:p>
        </p:txBody>
      </p:sp>
      <p:pic>
        <p:nvPicPr>
          <p:cNvPr id="16" name="Azure icon: Log Analytics workspace" descr="Official Azure icon: Log Analytics workspa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74236"/>
            <a:ext cx="384048" cy="384048"/>
          </a:xfrm>
          <a:prstGeom prst="rect">
            <a:avLst/>
          </a:prstGeom>
        </p:spPr>
      </p:pic>
      <p:sp>
        <p:nvSpPr>
          <p:cNvPr id="17" name="TextBox 16"/>
          <p:cNvSpPr txBox="1"/>
          <p:nvPr/>
        </p:nvSpPr>
        <p:spPr>
          <a:xfrm>
            <a:off x="1078992" y="4059936"/>
            <a:ext cx="2267712" cy="61264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platform and gateway logs</a:t>
            </a:r>
          </a:p>
        </p:txBody>
      </p:sp>
      <p:pic>
        <p:nvPicPr>
          <p:cNvPr id="18" name="Azure icon: Cost Budgets" descr="Official Azure icon: Cost Budge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951476"/>
            <a:ext cx="384048" cy="384048"/>
          </a:xfrm>
          <a:prstGeom prst="rect">
            <a:avLst/>
          </a:prstGeom>
        </p:spPr>
      </p:pic>
      <p:sp>
        <p:nvSpPr>
          <p:cNvPr id="19" name="TextBox 18"/>
          <p:cNvSpPr txBox="1"/>
          <p:nvPr/>
        </p:nvSpPr>
        <p:spPr>
          <a:xfrm>
            <a:off x="1078992" y="4837176"/>
            <a:ext cx="2267712" cy="612648"/>
          </a:xfrm>
          <a:prstGeom prst="rect">
            <a:avLst/>
          </a:prstGeom>
          <a:noFill/>
        </p:spPr>
        <p:txBody>
          <a:bodyPr wrap="square" lIns="0" rIns="0" tIns="0" bIns="0" anchor="ctr">
            <a:noAutofit/>
          </a:bodyPr>
          <a:lstStyle/>
          <a:p>
            <a:pPr algn="l"/>
            <a:r>
              <a:rPr sz="1300" b="1" i="0">
                <a:solidFill>
                  <a:srgbClr val="000048"/>
                </a:solidFill>
                <a:latin typeface="Arial"/>
              </a:rPr>
              <a:t>Budgets</a:t>
            </a:r>
          </a:p>
          <a:p>
            <a:pPr algn="l"/>
            <a:r>
              <a:rPr sz="1100" b="0" i="0">
                <a:solidFill>
                  <a:srgbClr val="53565A"/>
                </a:solidFill>
                <a:latin typeface="Arial"/>
              </a:rPr>
              <a:t>spend alerts</a:t>
            </a:r>
          </a:p>
        </p:txBody>
      </p:sp>
      <p:sp>
        <p:nvSpPr>
          <p:cNvPr id="20" name="Rounded Rectangle 19"/>
          <p:cNvSpPr/>
          <p:nvPr/>
        </p:nvSpPr>
        <p:spPr>
          <a:xfrm>
            <a:off x="3977639" y="2697480"/>
            <a:ext cx="192024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lerts" descr="Official Azure icon: Aler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86299" y="2770632"/>
            <a:ext cx="502920" cy="502920"/>
          </a:xfrm>
          <a:prstGeom prst="rect">
            <a:avLst/>
          </a:prstGeom>
        </p:spPr>
      </p:pic>
      <p:sp>
        <p:nvSpPr>
          <p:cNvPr id="22" name="TextBox 21"/>
          <p:cNvSpPr txBox="1"/>
          <p:nvPr/>
        </p:nvSpPr>
        <p:spPr>
          <a:xfrm>
            <a:off x="4014215" y="3310128"/>
            <a:ext cx="1847088" cy="528945"/>
          </a:xfrm>
          <a:prstGeom prst="rect">
            <a:avLst/>
          </a:prstGeom>
          <a:noFill/>
        </p:spPr>
        <p:txBody>
          <a:bodyPr wrap="square" lIns="0" rIns="0" tIns="0" bIns="0" anchor="t">
            <a:noAutofit/>
          </a:bodyPr>
          <a:lstStyle/>
          <a:p>
            <a:pPr algn="ctr"/>
            <a:r>
              <a:rPr sz="1400" b="1" i="0">
                <a:solidFill>
                  <a:srgbClr val="000048"/>
                </a:solidFill>
                <a:latin typeface="Arial"/>
              </a:rPr>
              <a:t>Alert rules</a:t>
            </a:r>
          </a:p>
          <a:p>
            <a:pPr algn="ctr"/>
            <a:r>
              <a:rPr sz="1100" b="0" i="0">
                <a:solidFill>
                  <a:srgbClr val="53565A"/>
                </a:solidFill>
                <a:latin typeface="Arial"/>
              </a:rPr>
              <a:t>action groups, owners</a:t>
            </a:r>
          </a:p>
        </p:txBody>
      </p:sp>
      <p:sp>
        <p:nvSpPr>
          <p:cNvPr id="23" name="Rounded Rectangle 22"/>
          <p:cNvSpPr/>
          <p:nvPr/>
        </p:nvSpPr>
        <p:spPr>
          <a:xfrm>
            <a:off x="6355080" y="2697480"/>
            <a:ext cx="192024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Service desk</a:t>
            </a:r>
          </a:p>
          <a:p>
            <a:pPr algn="ctr"/>
            <a:r>
              <a:rPr sz="1100" b="0" i="0">
                <a:solidFill>
                  <a:srgbClr val="53565A"/>
                </a:solidFill>
                <a:latin typeface="Arial"/>
              </a:rPr>
              <a:t>customer ITSM, e.g. ServiceNow</a:t>
            </a:r>
          </a:p>
        </p:txBody>
      </p:sp>
      <p:sp>
        <p:nvSpPr>
          <p:cNvPr id="24" name="Rounded Rectangle 23"/>
          <p:cNvSpPr/>
          <p:nvPr/>
        </p:nvSpPr>
        <p:spPr>
          <a:xfrm>
            <a:off x="8732520" y="1325880"/>
            <a:ext cx="3017520" cy="4389120"/>
          </a:xfrm>
          <a:prstGeom prst="roundRect">
            <a:avLst>
              <a:gd name="adj" fmla="val 3030"/>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42248" y="1380744"/>
            <a:ext cx="2798063" cy="237744"/>
          </a:xfrm>
          <a:prstGeom prst="rect">
            <a:avLst/>
          </a:prstGeom>
          <a:noFill/>
        </p:spPr>
        <p:txBody>
          <a:bodyPr wrap="square" lIns="0" rIns="0" tIns="0" bIns="0" anchor="t">
            <a:noAutofit/>
          </a:bodyPr>
          <a:lstStyle/>
          <a:p>
            <a:pPr algn="l"/>
            <a:r>
              <a:rPr sz="1100" b="1" i="0">
                <a:solidFill>
                  <a:srgbClr val="000048"/>
                </a:solidFill>
                <a:latin typeface="Arial"/>
              </a:rPr>
              <a:t>RESOLVER LANES</a:t>
            </a:r>
          </a:p>
        </p:txBody>
      </p:sp>
      <p:sp>
        <p:nvSpPr>
          <p:cNvPr id="26" name="Rounded Rectangle 25"/>
          <p:cNvSpPr/>
          <p:nvPr/>
        </p:nvSpPr>
        <p:spPr>
          <a:xfrm>
            <a:off x="8869680" y="16916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CIS Infra</a:t>
            </a:r>
          </a:p>
          <a:p>
            <a:pPr algn="l"/>
            <a:r>
              <a:rPr sz="1100" b="0" i="0">
                <a:solidFill>
                  <a:srgbClr val="53565A"/>
                </a:solidFill>
                <a:latin typeface="Arial"/>
              </a:rPr>
              <a:t>platform availability</a:t>
            </a:r>
          </a:p>
        </p:txBody>
      </p:sp>
      <p:sp>
        <p:nvSpPr>
          <p:cNvPr id="27" name="Rounded Rectangle 26"/>
          <p:cNvSpPr/>
          <p:nvPr/>
        </p:nvSpPr>
        <p:spPr>
          <a:xfrm>
            <a:off x="8869680" y="25603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AI tower</a:t>
            </a:r>
          </a:p>
          <a:p>
            <a:pPr algn="l"/>
            <a:r>
              <a:rPr sz="1100" b="0" i="0">
                <a:solidFill>
                  <a:srgbClr val="53565A"/>
                </a:solidFill>
                <a:latin typeface="Arial"/>
              </a:rPr>
              <a:t>agent task quality</a:t>
            </a:r>
          </a:p>
        </p:txBody>
      </p:sp>
      <p:sp>
        <p:nvSpPr>
          <p:cNvPr id="28" name="Rounded Rectangle 27"/>
          <p:cNvSpPr/>
          <p:nvPr/>
        </p:nvSpPr>
        <p:spPr>
          <a:xfrm>
            <a:off x="8869680" y="34290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Data Eng.</a:t>
            </a:r>
          </a:p>
          <a:p>
            <a:pPr algn="l"/>
            <a:r>
              <a:rPr sz="1100" b="0" i="0">
                <a:solidFill>
                  <a:srgbClr val="53565A"/>
                </a:solidFill>
                <a:latin typeface="Arial"/>
              </a:rPr>
              <a:t>pipelines, indexes</a:t>
            </a:r>
          </a:p>
        </p:txBody>
      </p:sp>
      <p:sp>
        <p:nvSpPr>
          <p:cNvPr id="29" name="Rounded Rectangle 28"/>
          <p:cNvSpPr/>
          <p:nvPr/>
        </p:nvSpPr>
        <p:spPr>
          <a:xfrm>
            <a:off x="8869680" y="4297679"/>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Security resolver</a:t>
            </a:r>
          </a:p>
          <a:p>
            <a:pPr algn="l"/>
            <a:r>
              <a:rPr sz="1100" b="0" i="0">
                <a:solidFill>
                  <a:srgbClr val="53565A"/>
                </a:solidFill>
                <a:latin typeface="Arial"/>
              </a:rPr>
              <a:t>security incidents</a:t>
            </a:r>
          </a:p>
        </p:txBody>
      </p:sp>
      <p:sp>
        <p:nvSpPr>
          <p:cNvPr id="30" name="Rounded Rectangle 29"/>
          <p:cNvSpPr/>
          <p:nvPr/>
        </p:nvSpPr>
        <p:spPr>
          <a:xfrm>
            <a:off x="8869680" y="5212080"/>
            <a:ext cx="2743200" cy="411480"/>
          </a:xfrm>
          <a:prstGeom prst="roundRect">
            <a:avLst>
              <a:gd name="adj" fmla="val 17777"/>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200" b="1" i="0">
                <a:solidFill>
                  <a:srgbClr val="000048"/>
                </a:solidFill>
                <a:latin typeface="Arial"/>
              </a:rPr>
              <a:t>Containment plane: appendix K1</a:t>
            </a:r>
          </a:p>
        </p:txBody>
      </p:sp>
      <p:cxnSp>
        <p:nvCxnSpPr>
          <p:cNvPr id="31" name="Connector (telemetry)"/>
          <p:cNvCxnSpPr/>
          <p:nvPr/>
        </p:nvCxnSpPr>
        <p:spPr>
          <a:xfrm>
            <a:off x="3383280" y="2029968"/>
            <a:ext cx="594359" cy="126187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3383280" y="2807208"/>
            <a:ext cx="594359" cy="48463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telemetry)"/>
          <p:cNvCxnSpPr/>
          <p:nvPr/>
        </p:nvCxnSpPr>
        <p:spPr>
          <a:xfrm flipV="1">
            <a:off x="3383280" y="3291840"/>
            <a:ext cx="594359" cy="2926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telemetry)"/>
          <p:cNvCxnSpPr/>
          <p:nvPr/>
        </p:nvCxnSpPr>
        <p:spPr>
          <a:xfrm flipV="1">
            <a:off x="3383280" y="3291840"/>
            <a:ext cx="594359" cy="106984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telemetry)"/>
          <p:cNvCxnSpPr/>
          <p:nvPr/>
        </p:nvCxnSpPr>
        <p:spPr>
          <a:xfrm flipV="1">
            <a:off x="3383280" y="3291840"/>
            <a:ext cx="594359" cy="184708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5897880" y="333756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8275320" y="2057400"/>
            <a:ext cx="594360" cy="1280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8275320" y="2926080"/>
            <a:ext cx="59436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275320" y="3337560"/>
            <a:ext cx="594360" cy="4572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275320" y="3337560"/>
            <a:ext cx="59436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telemetry)"/>
          <p:cNvCxnSpPr/>
          <p:nvPr/>
        </p:nvCxnSpPr>
        <p:spPr>
          <a:xfrm>
            <a:off x="4937760" y="3749039"/>
            <a:ext cx="0" cy="685801"/>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977639" y="4434840"/>
            <a:ext cx="19202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Azure Workbooks" descr="Official Azure icon: Azure Workbook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50791" y="4572000"/>
            <a:ext cx="411480" cy="411480"/>
          </a:xfrm>
          <a:prstGeom prst="rect">
            <a:avLst/>
          </a:prstGeom>
        </p:spPr>
      </p:pic>
      <p:sp>
        <p:nvSpPr>
          <p:cNvPr id="44" name="TextBox 43"/>
          <p:cNvSpPr txBox="1"/>
          <p:nvPr/>
        </p:nvSpPr>
        <p:spPr>
          <a:xfrm>
            <a:off x="4535424" y="4471416"/>
            <a:ext cx="1325880" cy="612648"/>
          </a:xfrm>
          <a:prstGeom prst="rect">
            <a:avLst/>
          </a:prstGeom>
          <a:noFill/>
        </p:spPr>
        <p:txBody>
          <a:bodyPr wrap="square" lIns="0" rIns="0" tIns="0" bIns="0" anchor="ctr">
            <a:noAutofit/>
          </a:bodyPr>
          <a:lstStyle/>
          <a:p>
            <a:pPr algn="l"/>
            <a:r>
              <a:rPr sz="1200" b="1" i="0">
                <a:solidFill>
                  <a:srgbClr val="000048"/>
                </a:solidFill>
                <a:latin typeface="Arial"/>
              </a:rPr>
              <a:t>Monthly report</a:t>
            </a:r>
          </a:p>
          <a:p>
            <a:pPr algn="l"/>
            <a:r>
              <a:rPr sz="1000" b="0" i="0">
                <a:solidFill>
                  <a:srgbClr val="53565A"/>
                </a:solidFill>
                <a:latin typeface="Arial"/>
              </a:rPr>
              <a:t>service objectives, cost</a:t>
            </a:r>
          </a:p>
        </p:txBody>
      </p:sp>
      <p:cxnSp>
        <p:nvCxnSpPr>
          <p:cNvPr id="45" name="Connector (flow)"/>
          <p:cNvCxnSpPr/>
          <p:nvPr/>
        </p:nvCxnSpPr>
        <p:spPr>
          <a:xfrm>
            <a:off x="548640" y="59710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24128" y="5852160"/>
            <a:ext cx="1783080"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7" name="Connector (telemetry)"/>
          <p:cNvCxnSpPr/>
          <p:nvPr/>
        </p:nvCxnSpPr>
        <p:spPr>
          <a:xfrm>
            <a:off x="2834640" y="597103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10128" y="5852160"/>
            <a:ext cx="1783080"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49" name="TextBox 48"/>
          <p:cNvSpPr txBox="1"/>
          <p:nvPr/>
        </p:nvSpPr>
        <p:spPr>
          <a:xfrm>
            <a:off x="548640" y="612648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Packages: coverage, staffing and monthly fee band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graphicFrame>
        <p:nvGraphicFramePr>
          <p:cNvPr id="8" name="Table"/>
          <p:cNvGraphicFramePr>
            <a:graphicFrameLocks noGrp="1"/>
          </p:cNvGraphicFramePr>
          <p:nvPr/>
        </p:nvGraphicFramePr>
        <p:xfrm>
          <a:off x="548640" y="1371600"/>
          <a:ext cx="11091672" cy="216408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Staffing or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Foundation: business hours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 to 60 per month</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 FTE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$30k to $60k per month</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Extended: two time zones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60 to 100 per month</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 to 5 FTE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$60k to $100k per month</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Continuous: 24x7 roster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120 to 200 per month</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6 to 10 FTE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$120k to $200k per month</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Onboarding (one-time)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8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Exit and transition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bl>
          </a:graphicData>
        </a:graphic>
      </p:graphicFrame>
      <p:sp>
        <p:nvSpPr>
          <p:cNvPr id="9" name="Rounded Rectangle 8"/>
          <p:cNvSpPr/>
          <p:nvPr/>
        </p:nvSpPr>
        <p:spPr>
          <a:xfrm>
            <a:off x="548640" y="3810000"/>
            <a:ext cx="11091672" cy="1630680"/>
          </a:xfrm>
          <a:prstGeom prst="roundRect">
            <a:avLst>
              <a:gd name="adj" fmla="val 448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many agents or runtimes, 24x7 containment, several regions, strict change windows, low platform maturity.</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objectives, pending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PROPOSED, NOT APPROVED"/>
          <p:cNvSpPr/>
          <p:nvPr/>
        </p:nvSpPr>
        <p:spPr>
          <a:xfrm>
            <a:off x="365887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8" name="Rounded Rectangle 7"/>
          <p:cNvSpPr/>
          <p:nvPr/>
        </p:nvSpPr>
        <p:spPr>
          <a:xfrm>
            <a:off x="548640" y="1325880"/>
            <a:ext cx="11091672" cy="457200"/>
          </a:xfrm>
          <a:prstGeom prst="roundRect">
            <a:avLst>
              <a:gd name="adj" fmla="val 16000"/>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000048"/>
                </a:solidFill>
                <a:latin typeface="Arial"/>
              </a:rPr>
              <a:t>PROPOSED targets for pilot discussion only  ·  not contractual  ·  valid inside coverage hours</a:t>
            </a:r>
          </a:p>
        </p:txBody>
      </p:sp>
      <p:graphicFrame>
        <p:nvGraphicFramePr>
          <p:cNvPr id="9" name="Table"/>
          <p:cNvGraphicFramePr>
            <a:graphicFrameLocks noGrp="1"/>
          </p:cNvGraphicFramePr>
          <p:nvPr/>
        </p:nvGraphicFramePr>
        <p:xfrm>
          <a:off x="548640" y="1920240"/>
          <a:ext cx="11091672" cy="3002279"/>
        </p:xfrm>
        <a:graphic>
          <a:graphicData uri="http://schemas.openxmlformats.org/drawingml/2006/table">
            <a:tbl>
              <a:tblPr firstRow="1" bandRow="0">
                <a:tableStyleId>{5C22544A-7EE6-4342-B048-85BDC9FD1C3A}</a:tableStyleId>
              </a:tblPr>
              <a:tblGrid>
                <a:gridCol w="1280160"/>
                <a:gridCol w="4572000"/>
                <a:gridCol w="2743200"/>
                <a:gridCol w="2496312"/>
              </a:tblGrid>
              <a:tr h="609600">
                <a:tc>
                  <a:txBody>
                    <a:bodyPr wrap="square" anchor="ctr">
                      <a:noAutofit/>
                    </a:bodyPr>
                    <a:lstStyle/>
                    <a:p>
                      <a:pPr algn="l"/>
                      <a:r>
                        <a:rPr sz="1700" b="1" i="0">
                          <a:solidFill>
                            <a:srgbClr val="FFFFFF"/>
                          </a:solidFill>
                          <a:latin typeface="Arial"/>
                        </a:rPr>
                        <a:t>Priority</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Response target (proposed)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Update cadence (proposed)</a:t>
                      </a:r>
                    </a:p>
                  </a:txBody>
                  <a:tcPr marL="73152" marR="73152" marT="36576" marB="36576" anchor="ctr">
                    <a:solidFill>
                      <a:srgbClr val="000048"/>
                    </a:solidFill>
                  </a:tcPr>
                </a:tc>
              </a:tr>
              <a:tr h="670560">
                <a:tc>
                  <a:txBody>
                    <a:bodyPr wrap="square" anchor="ctr">
                      <a:noAutofit/>
                    </a:bodyPr>
                    <a:lstStyle/>
                    <a:p>
                      <a:pPr algn="l"/>
                      <a:r>
                        <a:rPr sz="1900" b="1" i="0">
                          <a:solidFill>
                            <a:srgbClr val="1E1E2E"/>
                          </a:solidFill>
                          <a:latin typeface="Arial"/>
                        </a:rPr>
                        <a:t>P1</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Platform outage or agent containment request</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30 minutes</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Every hour</a:t>
                      </a:r>
                    </a:p>
                  </a:txBody>
                  <a:tcPr marL="73152" marR="73152" marT="36576" marB="36576" anchor="ctr">
                    <a:solidFill>
                      <a:srgbClr val="FFFFFF"/>
                    </a:solidFill>
                  </a:tcPr>
                </a:tc>
              </a:tr>
              <a:tr h="670560">
                <a:tc>
                  <a:txBody>
                    <a:bodyPr wrap="square" anchor="ctr">
                      <a:noAutofit/>
                    </a:bodyPr>
                    <a:lstStyle/>
                    <a:p>
                      <a:pPr algn="l"/>
                      <a:r>
                        <a:rPr sz="1900" b="1" i="0">
                          <a:solidFill>
                            <a:srgbClr val="1E1E2E"/>
                          </a:solidFill>
                          <a:latin typeface="Arial"/>
                        </a:rPr>
                        <a:t>P2</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Degraded platform, gateway throttling</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2 hours</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Every 4 hours</a:t>
                      </a:r>
                    </a:p>
                  </a:txBody>
                  <a:tcPr marL="73152" marR="73152" marT="36576" marB="36576" anchor="ctr">
                    <a:solidFill>
                      <a:srgbClr val="F5F5F2"/>
                    </a:solidFill>
                  </a:tcPr>
                </a:tc>
              </a:tr>
              <a:tr h="670560">
                <a:tc>
                  <a:txBody>
                    <a:bodyPr wrap="square" anchor="ctr">
                      <a:noAutofit/>
                    </a:bodyPr>
                    <a:lstStyle/>
                    <a:p>
                      <a:pPr algn="l"/>
                      <a:r>
                        <a:rPr sz="1900" b="1" i="0">
                          <a:solidFill>
                            <a:srgbClr val="1E1E2E"/>
                          </a:solidFill>
                          <a:latin typeface="Arial"/>
                        </a:rPr>
                        <a:t>P3</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Single component issue, workaround exists</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1 business day</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Daily</a:t>
                      </a:r>
                    </a:p>
                  </a:txBody>
                  <a:tcPr marL="73152" marR="73152" marT="36576" marB="36576" anchor="ctr">
                    <a:solidFill>
                      <a:srgbClr val="FFFFFF"/>
                    </a:solidFill>
                  </a:tcPr>
                </a:tc>
              </a:tr>
              <a:tr h="380999">
                <a:tc>
                  <a:txBody>
                    <a:bodyPr wrap="square" anchor="ctr">
                      <a:noAutofit/>
                    </a:bodyPr>
                    <a:lstStyle/>
                    <a:p>
                      <a:pPr algn="l"/>
                      <a:r>
                        <a:rPr sz="1900" b="1" i="0">
                          <a:solidFill>
                            <a:srgbClr val="1E1E2E"/>
                          </a:solidFill>
                          <a:latin typeface="Arial"/>
                        </a:rPr>
                        <a:t>P4</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Request or question</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3 business days</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On change</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Response, not resolution. Restore objectives need dependency tests and depend on Azure service health.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tower agreements</a:t>
            </a:r>
          </a:p>
          <a:p>
            <a:pPr algn="l">
              <a:spcAft>
                <a:spcPts val="400"/>
              </a:spcAft>
            </a:pPr>
            <a:r>
              <a:rPr sz="1800" b="1" i="0">
                <a:solidFill>
                  <a:srgbClr val="8A4B08"/>
                </a:solidFill>
                <a:latin typeface="Arial"/>
              </a:rPr>
              <a:t>Effect: </a:t>
            </a:r>
            <a:r>
              <a:rPr sz="1800" b="0" i="0">
                <a:solidFill>
                  <a:srgbClr val="1E1E2E"/>
                </a:solidFill>
                <a:latin typeface="Arial"/>
              </a:rPr>
              <a:t>Tickets stall between towers</a:t>
            </a:r>
          </a:p>
          <a:p>
            <a:pPr algn="l">
              <a:spcAft>
                <a:spcPts val="400"/>
              </a:spcAft>
            </a:pPr>
            <a:r>
              <a:rPr sz="1800" b="1" i="0">
                <a:solidFill>
                  <a:srgbClr val="1D6B3A"/>
                </a:solidFill>
                <a:latin typeface="Arial"/>
              </a:rPr>
              <a:t>Handle: </a:t>
            </a:r>
            <a:r>
              <a:rPr sz="1800" b="0" i="0">
                <a:solidFill>
                  <a:srgbClr val="1E1E2E"/>
                </a:solidFill>
                <a:latin typeface="Arial"/>
              </a:rPr>
              <a:t>Signed internal agreements before go-live</a:t>
            </a:r>
          </a:p>
          <a:p>
            <a:pPr algn="l"/>
            <a:r>
              <a:rPr sz="1800" b="1" i="0">
                <a:solidFill>
                  <a:srgbClr val="2F78C4"/>
                </a:solidFill>
                <a:latin typeface="Arial"/>
              </a:rPr>
              <a:t>Owner: </a:t>
            </a:r>
            <a:r>
              <a:rPr sz="1800" b="0" i="0">
                <a:solidFill>
                  <a:srgbClr val="1E1E2E"/>
                </a:solidFill>
                <a:latin typeface="Arial"/>
              </a:rPr>
              <a:t>Integrated service owner</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24x7 sold without roster</a:t>
            </a:r>
          </a:p>
          <a:p>
            <a:pPr algn="l">
              <a:spcAft>
                <a:spcPts val="400"/>
              </a:spcAft>
            </a:pPr>
            <a:r>
              <a:rPr sz="1800" b="1" i="0">
                <a:solidFill>
                  <a:srgbClr val="8A4B08"/>
                </a:solidFill>
                <a:latin typeface="Arial"/>
              </a:rPr>
              <a:t>Effect: </a:t>
            </a:r>
            <a:r>
              <a:rPr sz="1800" b="0" i="0">
                <a:solidFill>
                  <a:srgbClr val="1E1E2E"/>
                </a:solidFill>
                <a:latin typeface="Arial"/>
              </a:rPr>
              <a:t>Missed obligations</a:t>
            </a:r>
          </a:p>
          <a:p>
            <a:pPr algn="l">
              <a:spcAft>
                <a:spcPts val="400"/>
              </a:spcAft>
            </a:pPr>
            <a:r>
              <a:rPr sz="1800" b="1" i="0">
                <a:solidFill>
                  <a:srgbClr val="1D6B3A"/>
                </a:solidFill>
                <a:latin typeface="Arial"/>
              </a:rPr>
              <a:t>Handle: </a:t>
            </a:r>
            <a:r>
              <a:rPr sz="1800" b="0" i="0">
                <a:solidFill>
                  <a:srgbClr val="1E1E2E"/>
                </a:solidFill>
                <a:latin typeface="Arial"/>
              </a:rPr>
              <a:t>Funded roster before contract</a:t>
            </a:r>
          </a:p>
          <a:p>
            <a:pPr algn="l"/>
            <a:r>
              <a:rPr sz="1800" b="1" i="0">
                <a:solidFill>
                  <a:srgbClr val="2F78C4"/>
                </a:solidFill>
                <a:latin typeface="Arial"/>
              </a:rPr>
              <a:t>Owner: </a:t>
            </a:r>
            <a:r>
              <a:rPr sz="1800" b="0" i="0">
                <a:solidFill>
                  <a:srgbClr val="1E1E2E"/>
                </a:solidFill>
                <a:latin typeface="Arial"/>
              </a:rPr>
              <a:t>Delivery leadership</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Platform not accepted</a:t>
            </a:r>
          </a:p>
          <a:p>
            <a:pPr algn="l">
              <a:spcAft>
                <a:spcPts val="400"/>
              </a:spcAft>
            </a:pPr>
            <a:r>
              <a:rPr sz="1800" b="1" i="0">
                <a:solidFill>
                  <a:srgbClr val="8A4B08"/>
                </a:solidFill>
                <a:latin typeface="Arial"/>
              </a:rPr>
              <a:t>Effect: </a:t>
            </a:r>
            <a:r>
              <a:rPr sz="1800" b="0" i="0">
                <a:solidFill>
                  <a:srgbClr val="1E1E2E"/>
                </a:solidFill>
                <a:latin typeface="Arial"/>
              </a:rPr>
              <a:t>Operating unknown risk</a:t>
            </a:r>
          </a:p>
          <a:p>
            <a:pPr algn="l">
              <a:spcAft>
                <a:spcPts val="400"/>
              </a:spcAft>
            </a:pPr>
            <a:r>
              <a:rPr sz="1800" b="1" i="0">
                <a:solidFill>
                  <a:srgbClr val="1D6B3A"/>
                </a:solidFill>
                <a:latin typeface="Arial"/>
              </a:rPr>
              <a:t>Handle: </a:t>
            </a:r>
            <a:r>
              <a:rPr sz="1800" b="0" i="0">
                <a:solidFill>
                  <a:srgbClr val="1E1E2E"/>
                </a:solidFill>
                <a:latin typeface="Arial"/>
              </a:rPr>
              <a:t>Onboarding gate (appendix A1)</a:t>
            </a:r>
          </a:p>
          <a:p>
            <a:pPr algn="l"/>
            <a:r>
              <a:rPr sz="1800" b="1" i="0">
                <a:solidFill>
                  <a:srgbClr val="2F78C4"/>
                </a:solidFill>
                <a:latin typeface="Arial"/>
              </a:rPr>
              <a:t>Owner: </a:t>
            </a:r>
            <a:r>
              <a:rPr sz="1800" b="0" i="0">
                <a:solidFill>
                  <a:srgbClr val="1E1E2E"/>
                </a:solidFill>
                <a:latin typeface="Arial"/>
              </a:rPr>
              <a:t>CIS Infra</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Containment authority unclear</a:t>
            </a:r>
          </a:p>
          <a:p>
            <a:pPr algn="l">
              <a:spcAft>
                <a:spcPts val="400"/>
              </a:spcAft>
            </a:pPr>
            <a:r>
              <a:rPr sz="1800" b="1" i="0">
                <a:solidFill>
                  <a:srgbClr val="8A4B08"/>
                </a:solidFill>
                <a:latin typeface="Arial"/>
              </a:rPr>
              <a:t>Effect: </a:t>
            </a:r>
            <a:r>
              <a:rPr sz="1800" b="0" i="0">
                <a:solidFill>
                  <a:srgbClr val="1E1E2E"/>
                </a:solidFill>
                <a:latin typeface="Arial"/>
              </a:rPr>
              <a:t>Slow or contested stop</a:t>
            </a:r>
          </a:p>
          <a:p>
            <a:pPr algn="l">
              <a:spcAft>
                <a:spcPts val="400"/>
              </a:spcAft>
            </a:pPr>
            <a:r>
              <a:rPr sz="1800" b="1" i="0">
                <a:solidFill>
                  <a:srgbClr val="1D6B3A"/>
                </a:solidFill>
                <a:latin typeface="Arial"/>
              </a:rPr>
              <a:t>Handle: </a:t>
            </a:r>
            <a:r>
              <a:rPr sz="1800" b="0" i="0">
                <a:solidFill>
                  <a:srgbClr val="1E1E2E"/>
                </a:solidFill>
                <a:latin typeface="Arial"/>
              </a:rPr>
              <a:t>Named authority; quarterly drills</a:t>
            </a:r>
          </a:p>
          <a:p>
            <a:pPr algn="l"/>
            <a:r>
              <a:rPr sz="1800" b="1" i="0">
                <a:solidFill>
                  <a:srgbClr val="2F78C4"/>
                </a:solidFill>
                <a:latin typeface="Arial"/>
              </a:rPr>
              <a:t>Owner: </a:t>
            </a:r>
            <a:r>
              <a:rPr sz="1800" b="0" i="0">
                <a:solidFill>
                  <a:srgbClr val="1E1E2E"/>
                </a:solidFill>
                <a:latin typeface="Arial"/>
              </a:rPr>
              <a:t>Customer risk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measure success, and what to decide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Response  </a:t>
            </a:r>
            <a:r>
              <a:rPr sz="1800" b="0" i="0">
                <a:solidFill>
                  <a:srgbClr val="1E1E2E"/>
                </a:solidFill>
                <a:latin typeface="Arial"/>
              </a:rPr>
              <a:t>tickets meeting the agreed target</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Change success  </a:t>
            </a:r>
            <a:r>
              <a:rPr sz="1800" b="0" i="0">
                <a:solidFill>
                  <a:srgbClr val="1E1E2E"/>
                </a:solidFill>
                <a:latin typeface="Arial"/>
              </a:rPr>
              <a:t>changes without rollback or incident</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Alert ownership  </a:t>
            </a:r>
            <a:r>
              <a:rPr sz="1800" b="0" i="0">
                <a:solidFill>
                  <a:srgbClr val="1E1E2E"/>
                </a:solidFill>
                <a:latin typeface="Arial"/>
              </a:rPr>
              <a:t>alerts with an owner and runbook</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Containment drills  </a:t>
            </a:r>
            <a:r>
              <a:rPr sz="1800" b="0" i="0">
                <a:solidFill>
                  <a:srgbClr val="1E1E2E"/>
                </a:solidFill>
                <a:latin typeface="Arial"/>
              </a:rPr>
              <a:t>drills run and passed per quarter</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Cost visibility  </a:t>
            </a:r>
            <a:r>
              <a:rPr sz="1800" b="0" i="0">
                <a:solidFill>
                  <a:srgbClr val="1E1E2E"/>
                </a:solidFill>
                <a:latin typeface="Arial"/>
              </a:rPr>
              <a:t>spend attributed and reviewed monthly</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Packages for pilot use</a:t>
            </a:r>
          </a:p>
          <a:p>
            <a:pPr algn="l" marL="201168" indent="-201168">
              <a:spcAft>
                <a:spcPts val="400"/>
              </a:spcAft>
              <a:buFont typeface="Arial"/>
              <a:buChar char="•"/>
            </a:pPr>
            <a:r>
              <a:rPr sz="1900" b="0" i="0">
                <a:solidFill>
                  <a:srgbClr val="1E1E2E"/>
                </a:solidFill>
                <a:latin typeface="Arial"/>
              </a:rPr>
              <a:t>No 24x7 without funded roster</a:t>
            </a:r>
          </a:p>
          <a:p>
            <a:pPr algn="l" marL="201168" indent="-201168">
              <a:spcAft>
                <a:spcPts val="400"/>
              </a:spcAft>
              <a:buFont typeface="Arial"/>
              <a:buChar char="•"/>
            </a:pPr>
            <a:r>
              <a:rPr sz="1900" b="0" i="0">
                <a:solidFill>
                  <a:srgbClr val="1E1E2E"/>
                </a:solidFill>
                <a:latin typeface="Arial"/>
              </a:rPr>
              <a:t>Sponsor tower agreements</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201168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Service objective values (pilot)</a:t>
            </a:r>
          </a:p>
          <a:p>
            <a:pPr algn="l" marL="201168" indent="-201168">
              <a:spcAft>
                <a:spcPts val="400"/>
              </a:spcAft>
              <a:buFont typeface="Arial"/>
              <a:buChar char="•"/>
            </a:pPr>
            <a:r>
              <a:rPr sz="1900" b="0" i="0">
                <a:solidFill>
                  <a:srgbClr val="1E1E2E"/>
                </a:solidFill>
                <a:latin typeface="Arial"/>
              </a:rPr>
              <a:t>Rates and uplifts (Finance)</a:t>
            </a:r>
          </a:p>
          <a:p>
            <a:pPr algn="l" marL="201168" indent="-201168">
              <a:spcAft>
                <a:spcPts val="400"/>
              </a:spcAft>
              <a:buFont typeface="Arial"/>
              <a:buChar char="•"/>
            </a:pPr>
            <a:r>
              <a:rPr sz="1900" b="0" i="0">
                <a:solidFill>
                  <a:srgbClr val="1E1E2E"/>
                </a:solidFill>
                <a:latin typeface="Arial"/>
              </a:rPr>
              <a:t>ITSM integration per customer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Onboarding, monitoring, ITSM and AIOps, Agent 365 and Copilot Studio operations, containment and recovery, reviews, staffing, objectives, pricing, exit,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A1  </a:t>
            </a:r>
            <a:r>
              <a:rPr sz="1100" b="0" i="0">
                <a:solidFill>
                  <a:srgbClr val="1E1E2E"/>
                </a:solidFill>
                <a:latin typeface="Arial"/>
              </a:rPr>
              <a:t>Onboarding and readiness gates</a:t>
            </a:r>
          </a:p>
        </p:txBody>
      </p:sp>
      <p:sp>
        <p:nvSpPr>
          <p:cNvPr id="8" name="TextBox 7">
            <a:hlinkClick action="ppaction://hlinksldjump" r:id="rId5"/>
          </p:cNvPr>
          <p:cNvSpPr txBox="1"/>
          <p:nvPr/>
        </p:nvSpPr>
        <p:spPr>
          <a:xfrm>
            <a:off x="54864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A2  </a:t>
            </a:r>
            <a:r>
              <a:rPr sz="1100" b="0" i="0">
                <a:solidFill>
                  <a:srgbClr val="1E1E2E"/>
                </a:solidFill>
                <a:latin typeface="Arial"/>
              </a:rPr>
              <a:t>Asset and agent inventory</a:t>
            </a:r>
          </a:p>
        </p:txBody>
      </p:sp>
      <p:sp>
        <p:nvSpPr>
          <p:cNvPr id="9" name="TextBox 8">
            <a:hlinkClick action="ppaction://hlinksldjump" r:id="rId6"/>
          </p:cNvPr>
          <p:cNvSpPr txBox="1"/>
          <p:nvPr/>
        </p:nvSpPr>
        <p:spPr>
          <a:xfrm>
            <a:off x="54864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A3  </a:t>
            </a:r>
            <a:r>
              <a:rPr sz="1100" b="0" i="0">
                <a:solidFill>
                  <a:srgbClr val="1E1E2E"/>
                </a:solidFill>
                <a:latin typeface="Arial"/>
              </a:rPr>
              <a:t>Health and dependency monitoring</a:t>
            </a:r>
          </a:p>
        </p:txBody>
      </p:sp>
      <p:sp>
        <p:nvSpPr>
          <p:cNvPr id="10" name="TextBox 9">
            <a:hlinkClick action="ppaction://hlinksldjump" r:id="rId7"/>
          </p:cNvPr>
          <p:cNvSpPr txBox="1"/>
          <p:nvPr/>
        </p:nvSpPr>
        <p:spPr>
          <a:xfrm>
            <a:off x="54864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A4  </a:t>
            </a:r>
            <a:r>
              <a:rPr sz="1100" b="0" i="0">
                <a:solidFill>
                  <a:srgbClr val="1E1E2E"/>
                </a:solidFill>
                <a:latin typeface="Arial"/>
              </a:rPr>
              <a:t>Foundry observability, App Insights, Log Analytics</a:t>
            </a:r>
          </a:p>
        </p:txBody>
      </p:sp>
      <p:sp>
        <p:nvSpPr>
          <p:cNvPr id="11" name="TextBox 10">
            <a:hlinkClick action="ppaction://hlinksldjump" r:id="rId8"/>
          </p:cNvPr>
          <p:cNvSpPr txBox="1"/>
          <p:nvPr/>
        </p:nvSpPr>
        <p:spPr>
          <a:xfrm>
            <a:off x="54864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A5  </a:t>
            </a:r>
            <a:r>
              <a:rPr sz="1100" b="0" i="0">
                <a:solidFill>
                  <a:srgbClr val="1E1E2E"/>
                </a:solidFill>
                <a:latin typeface="Arial"/>
              </a:rPr>
              <a:t>Alert ownership and routing</a:t>
            </a:r>
          </a:p>
        </p:txBody>
      </p:sp>
      <p:sp>
        <p:nvSpPr>
          <p:cNvPr id="12" name="TextBox 11">
            <a:hlinkClick action="ppaction://hlinksldjump" r:id="rId9"/>
          </p:cNvPr>
          <p:cNvSpPr txBox="1"/>
          <p:nvPr/>
        </p:nvSpPr>
        <p:spPr>
          <a:xfrm>
            <a:off x="54864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A6  </a:t>
            </a:r>
            <a:r>
              <a:rPr sz="1100" b="0" i="0">
                <a:solidFill>
                  <a:srgbClr val="1E1E2E"/>
                </a:solidFill>
                <a:latin typeface="Arial"/>
              </a:rPr>
              <a:t>Incident, problem and change</a:t>
            </a:r>
          </a:p>
        </p:txBody>
      </p:sp>
      <p:sp>
        <p:nvSpPr>
          <p:cNvPr id="13" name="TextBox 12">
            <a:hlinkClick action="ppaction://hlinksldjump" r:id="rId10"/>
          </p:cNvPr>
          <p:cNvSpPr txBox="1"/>
          <p:nvPr/>
        </p:nvSpPr>
        <p:spPr>
          <a:xfrm>
            <a:off x="54864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A7  </a:t>
            </a:r>
            <a:r>
              <a:rPr sz="1100" b="0" i="0">
                <a:solidFill>
                  <a:srgbClr val="1E1E2E"/>
                </a:solidFill>
                <a:latin typeface="Arial"/>
              </a:rPr>
              <a:t>Platform, quality and security lanes</a:t>
            </a:r>
          </a:p>
        </p:txBody>
      </p:sp>
      <p:sp>
        <p:nvSpPr>
          <p:cNvPr id="14" name="TextBox 13">
            <a:hlinkClick action="ppaction://hlinksldjump" r:id="rId11"/>
          </p:cNvPr>
          <p:cNvSpPr txBox="1"/>
          <p:nvPr/>
        </p:nvSpPr>
        <p:spPr>
          <a:xfrm>
            <a:off x="54864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K1  </a:t>
            </a:r>
            <a:r>
              <a:rPr sz="1100" b="0" i="0">
                <a:solidFill>
                  <a:srgbClr val="1E1E2E"/>
                </a:solidFill>
                <a:latin typeface="Arial"/>
              </a:rPr>
              <a:t>Kill-switch reference architecture</a:t>
            </a:r>
          </a:p>
        </p:txBody>
      </p:sp>
      <p:sp>
        <p:nvSpPr>
          <p:cNvPr id="15" name="TextBox 14">
            <a:hlinkClick action="ppaction://hlinksldjump" r:id="rId12"/>
          </p:cNvPr>
          <p:cNvSpPr txBox="1"/>
          <p:nvPr/>
        </p:nvSpPr>
        <p:spPr>
          <a:xfrm>
            <a:off x="54864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K2  </a:t>
            </a:r>
            <a:r>
              <a:rPr sz="1100" b="0" i="0">
                <a:solidFill>
                  <a:srgbClr val="1E1E2E"/>
                </a:solidFill>
                <a:latin typeface="Arial"/>
              </a:rPr>
              <a:t>Block, cancel, deny: what each layer does</a:t>
            </a:r>
          </a:p>
        </p:txBody>
      </p:sp>
      <p:sp>
        <p:nvSpPr>
          <p:cNvPr id="16" name="TextBox 15">
            <a:hlinkClick action="ppaction://hlinksldjump" r:id="rId13"/>
          </p:cNvPr>
          <p:cNvSpPr txBox="1"/>
          <p:nvPr/>
        </p:nvSpPr>
        <p:spPr>
          <a:xfrm>
            <a:off x="54864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K3  </a:t>
            </a:r>
            <a:r>
              <a:rPr sz="1100" b="0" i="0">
                <a:solidFill>
                  <a:srgbClr val="1E1E2E"/>
                </a:solidFill>
                <a:latin typeface="Arial"/>
              </a:rPr>
              <a:t>Containment limits</a:t>
            </a:r>
          </a:p>
        </p:txBody>
      </p:sp>
      <p:sp>
        <p:nvSpPr>
          <p:cNvPr id="17" name="TextBox 16">
            <a:hlinkClick action="ppaction://hlinksldjump" r:id="rId14"/>
          </p:cNvPr>
          <p:cNvSpPr txBox="1"/>
          <p:nvPr/>
        </p:nvSpPr>
        <p:spPr>
          <a:xfrm>
            <a:off x="54864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K4  </a:t>
            </a:r>
            <a:r>
              <a:rPr sz="1100" b="0" i="0">
                <a:solidFill>
                  <a:srgbClr val="1E1E2E"/>
                </a:solidFill>
                <a:latin typeface="Arial"/>
              </a:rPr>
              <a:t>Containment test scenarios</a:t>
            </a:r>
          </a:p>
        </p:txBody>
      </p:sp>
      <p:sp>
        <p:nvSpPr>
          <p:cNvPr id="18" name="TextBox 17">
            <a:hlinkClick action="ppaction://hlinksldjump" r:id="rId15"/>
          </p:cNvPr>
          <p:cNvSpPr txBox="1"/>
          <p:nvPr/>
        </p:nvSpPr>
        <p:spPr>
          <a:xfrm>
            <a:off x="54864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K5  </a:t>
            </a:r>
            <a:r>
              <a:rPr sz="1100" b="0" i="0">
                <a:solidFill>
                  <a:srgbClr val="1E1E2E"/>
                </a:solidFill>
                <a:latin typeface="Arial"/>
              </a:rPr>
              <a:t>Kill-switch proof-of-concept plan</a:t>
            </a:r>
          </a:p>
        </p:txBody>
      </p:sp>
      <p:sp>
        <p:nvSpPr>
          <p:cNvPr id="19" name="TextBox 18">
            <a:hlinkClick action="ppaction://hlinksldjump" r:id="rId16"/>
          </p:cNvPr>
          <p:cNvSpPr txBox="1"/>
          <p:nvPr/>
        </p:nvSpPr>
        <p:spPr>
          <a:xfrm>
            <a:off x="54864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A8  </a:t>
            </a:r>
            <a:r>
              <a:rPr sz="1100" b="0" i="0">
                <a:solidFill>
                  <a:srgbClr val="1E1E2E"/>
                </a:solidFill>
                <a:latin typeface="Arial"/>
              </a:rPr>
              <a:t>Controlled recovery</a:t>
            </a:r>
          </a:p>
        </p:txBody>
      </p:sp>
      <p:sp>
        <p:nvSpPr>
          <p:cNvPr id="20" name="TextBox 19">
            <a:hlinkClick action="ppaction://hlinksldjump" r:id="rId17"/>
          </p:cNvPr>
          <p:cNvSpPr txBox="1"/>
          <p:nvPr/>
        </p:nvSpPr>
        <p:spPr>
          <a:xfrm>
            <a:off x="54864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A9  </a:t>
            </a:r>
            <a:r>
              <a:rPr sz="1100" b="0" i="0">
                <a:solidFill>
                  <a:srgbClr val="1E1E2E"/>
                </a:solidFill>
                <a:latin typeface="Arial"/>
              </a:rPr>
              <a:t>Capacity, quota and cost review</a:t>
            </a:r>
          </a:p>
        </p:txBody>
      </p:sp>
      <p:sp>
        <p:nvSpPr>
          <p:cNvPr id="21" name="TextBox 20">
            <a:hlinkClick action="ppaction://hlinksldjump" r:id="rId18"/>
          </p:cNvPr>
          <p:cNvSpPr txBox="1"/>
          <p:nvPr/>
        </p:nvSpPr>
        <p:spPr>
          <a:xfrm>
            <a:off x="54864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A10  </a:t>
            </a:r>
            <a:r>
              <a:rPr sz="1100" b="0" i="0">
                <a:solidFill>
                  <a:srgbClr val="1E1E2E"/>
                </a:solidFill>
                <a:latin typeface="Arial"/>
              </a:rPr>
              <a:t>Dormant-agent review</a:t>
            </a:r>
          </a:p>
        </p:txBody>
      </p:sp>
      <p:sp>
        <p:nvSpPr>
          <p:cNvPr id="22" name="TextBox 21">
            <a:hlinkClick action="ppaction://hlinksldjump" r:id="rId19"/>
          </p:cNvPr>
          <p:cNvSpPr txBox="1"/>
          <p:nvPr/>
        </p:nvSpPr>
        <p:spPr>
          <a:xfrm>
            <a:off x="54864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A11  </a:t>
            </a:r>
            <a:r>
              <a:rPr sz="1100" b="0" i="0">
                <a:solidFill>
                  <a:srgbClr val="1E1E2E"/>
                </a:solidFill>
                <a:latin typeface="Arial"/>
              </a:rPr>
              <a:t>Backup and recovery responsibilities</a:t>
            </a:r>
          </a:p>
        </p:txBody>
      </p:sp>
      <p:sp>
        <p:nvSpPr>
          <p:cNvPr id="23" name="TextBox 22">
            <a:hlinkClick action="ppaction://hlinksldjump" r:id="rId20"/>
          </p:cNvPr>
          <p:cNvSpPr txBox="1"/>
          <p:nvPr/>
        </p:nvSpPr>
        <p:spPr>
          <a:xfrm>
            <a:off x="54864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A12  </a:t>
            </a:r>
            <a:r>
              <a:rPr sz="1100" b="0" i="0">
                <a:solidFill>
                  <a:srgbClr val="1E1E2E"/>
                </a:solidFill>
                <a:latin typeface="Arial"/>
              </a:rPr>
              <a:t>Runbooks and specialist dependencies</a:t>
            </a:r>
          </a:p>
        </p:txBody>
      </p:sp>
      <p:sp>
        <p:nvSpPr>
          <p:cNvPr id="24" name="TextBox 23">
            <a:hlinkClick action="ppaction://hlinksldjump" r:id="rId21"/>
          </p:cNvPr>
          <p:cNvSpPr txBox="1"/>
          <p:nvPr/>
        </p:nvSpPr>
        <p:spPr>
          <a:xfrm>
            <a:off x="54864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A13  </a:t>
            </a:r>
            <a:r>
              <a:rPr sz="1100" b="0" i="0">
                <a:solidFill>
                  <a:srgbClr val="1E1E2E"/>
                </a:solidFill>
                <a:latin typeface="Arial"/>
              </a:rPr>
              <a:t>Coverage, on-call and effort</a:t>
            </a:r>
          </a:p>
        </p:txBody>
      </p:sp>
      <p:sp>
        <p:nvSpPr>
          <p:cNvPr id="25" name="TextBox 24">
            <a:hlinkClick action="ppaction://hlinksldjump" r:id="rId22"/>
          </p:cNvPr>
          <p:cNvSpPr txBox="1"/>
          <p:nvPr/>
        </p:nvSpPr>
        <p:spPr>
          <a:xfrm>
            <a:off x="54864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A14  </a:t>
            </a:r>
            <a:r>
              <a:rPr sz="1100" b="0" i="0">
                <a:solidFill>
                  <a:srgbClr val="1E1E2E"/>
                </a:solidFill>
                <a:latin typeface="Arial"/>
              </a:rPr>
              <a:t>Service objectives and reporting</a:t>
            </a:r>
          </a:p>
        </p:txBody>
      </p:sp>
      <p:sp>
        <p:nvSpPr>
          <p:cNvPr id="26" name="TextBox 25">
            <a:hlinkClick action="ppaction://hlinksldjump" r:id="rId23"/>
          </p:cNvPr>
          <p:cNvSpPr txBox="1"/>
          <p:nvPr/>
        </p:nvSpPr>
        <p:spPr>
          <a:xfrm>
            <a:off x="621792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A15  </a:t>
            </a:r>
            <a:r>
              <a:rPr sz="1100" b="0" i="0">
                <a:solidFill>
                  <a:srgbClr val="1E1E2E"/>
                </a:solidFill>
                <a:latin typeface="Arial"/>
              </a:rPr>
              <a:t>Monthly governance agenda</a:t>
            </a:r>
          </a:p>
        </p:txBody>
      </p:sp>
      <p:sp>
        <p:nvSpPr>
          <p:cNvPr id="27" name="TextBox 26">
            <a:hlinkClick action="ppaction://hlinksldjump" r:id="rId24"/>
          </p:cNvPr>
          <p:cNvSpPr txBox="1"/>
          <p:nvPr/>
        </p:nvSpPr>
        <p:spPr>
          <a:xfrm>
            <a:off x="621792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A16  </a:t>
            </a:r>
            <a:r>
              <a:rPr sz="1100" b="0" i="0">
                <a:solidFill>
                  <a:srgbClr val="1E1E2E"/>
                </a:solidFill>
                <a:latin typeface="Arial"/>
              </a:rPr>
              <a:t>Pricing logic</a:t>
            </a:r>
          </a:p>
        </p:txBody>
      </p:sp>
      <p:sp>
        <p:nvSpPr>
          <p:cNvPr id="28" name="TextBox 27">
            <a:hlinkClick action="ppaction://hlinksldjump" r:id="rId25"/>
          </p:cNvPr>
          <p:cNvSpPr txBox="1"/>
          <p:nvPr/>
        </p:nvSpPr>
        <p:spPr>
          <a:xfrm>
            <a:off x="621792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A17  </a:t>
            </a:r>
            <a:r>
              <a:rPr sz="1100" b="0" i="0">
                <a:solidFill>
                  <a:srgbClr val="1E1E2E"/>
                </a:solidFill>
                <a:latin typeface="Arial"/>
              </a:rPr>
              <a:t>ITSM and AIOps integration</a:t>
            </a:r>
          </a:p>
        </p:txBody>
      </p:sp>
      <p:sp>
        <p:nvSpPr>
          <p:cNvPr id="29" name="TextBox 28">
            <a:hlinkClick action="ppaction://hlinksldjump" r:id="rId26"/>
          </p:cNvPr>
          <p:cNvSpPr txBox="1"/>
          <p:nvPr/>
        </p:nvSpPr>
        <p:spPr>
          <a:xfrm>
            <a:off x="621792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A18  </a:t>
            </a:r>
            <a:r>
              <a:rPr sz="1100" b="0" i="0">
                <a:solidFill>
                  <a:srgbClr val="1E1E2E"/>
                </a:solidFill>
                <a:latin typeface="Arial"/>
              </a:rPr>
              <a:t>Agent 365 and Copilot Studio operations</a:t>
            </a:r>
          </a:p>
        </p:txBody>
      </p:sp>
      <p:sp>
        <p:nvSpPr>
          <p:cNvPr id="30" name="TextBox 29">
            <a:hlinkClick action="ppaction://hlinksldjump" r:id="rId27"/>
          </p:cNvPr>
          <p:cNvSpPr txBox="1"/>
          <p:nvPr/>
        </p:nvSpPr>
        <p:spPr>
          <a:xfrm>
            <a:off x="621792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A19  </a:t>
            </a:r>
            <a:r>
              <a:rPr sz="1100" b="0" i="0">
                <a:solidFill>
                  <a:srgbClr val="1E1E2E"/>
                </a:solidFill>
                <a:latin typeface="Arial"/>
              </a:rPr>
              <a:t>Exit and transition plan</a:t>
            </a:r>
          </a:p>
        </p:txBody>
      </p:sp>
      <p:sp>
        <p:nvSpPr>
          <p:cNvPr id="31" name="TextBox 30">
            <a:hlinkClick action="ppaction://hlinksldjump" r:id="rId28"/>
          </p:cNvPr>
          <p:cNvSpPr txBox="1"/>
          <p:nvPr/>
        </p:nvSpPr>
        <p:spPr>
          <a:xfrm>
            <a:off x="621792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A20  </a:t>
            </a:r>
            <a:r>
              <a:rPr sz="1100" b="0" i="0">
                <a:solidFill>
                  <a:srgbClr val="1E1E2E"/>
                </a:solidFill>
                <a:latin typeface="Arial"/>
              </a:rPr>
              <a:t>Staffing-to-price link</a:t>
            </a:r>
          </a:p>
        </p:txBody>
      </p:sp>
      <p:sp>
        <p:nvSpPr>
          <p:cNvPr id="32" name="TextBox 31">
            <a:hlinkClick action="ppaction://hlinksldjump" r:id="rId29"/>
          </p:cNvPr>
          <p:cNvSpPr txBox="1"/>
          <p:nvPr/>
        </p:nvSpPr>
        <p:spPr>
          <a:xfrm>
            <a:off x="621792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3" name="TextBox 32">
            <a:hlinkClick action="ppaction://hlinksldjump" r:id="rId30"/>
          </p:cNvPr>
          <p:cNvSpPr txBox="1"/>
          <p:nvPr/>
        </p:nvSpPr>
        <p:spPr>
          <a:xfrm>
            <a:off x="621792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E1  </a:t>
            </a:r>
            <a:r>
              <a:rPr sz="1100" b="0" i="0">
                <a:solidFill>
                  <a:srgbClr val="1E1E2E"/>
                </a:solidFill>
                <a:latin typeface="Arial"/>
              </a:rPr>
              <a:t>Estimate assumptions</a:t>
            </a:r>
          </a:p>
        </p:txBody>
      </p:sp>
      <p:sp>
        <p:nvSpPr>
          <p:cNvPr id="34" name="TextBox 33">
            <a:hlinkClick action="ppaction://hlinksldjump" r:id="rId31"/>
          </p:cNvPr>
          <p:cNvSpPr txBox="1"/>
          <p:nvPr/>
        </p:nvSpPr>
        <p:spPr>
          <a:xfrm>
            <a:off x="621792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SEC1  </a:t>
            </a:r>
            <a:r>
              <a:rPr sz="1100" b="0" i="0">
                <a:solidFill>
                  <a:srgbClr val="1E1E2E"/>
                </a:solidFill>
                <a:latin typeface="Arial"/>
              </a:rPr>
              <a:t>AI threat model and controls</a:t>
            </a:r>
          </a:p>
        </p:txBody>
      </p:sp>
      <p:sp>
        <p:nvSpPr>
          <p:cNvPr id="35" name="TextBox 34">
            <a:hlinkClick action="ppaction://hlinksldjump" r:id="rId32"/>
          </p:cNvPr>
          <p:cNvSpPr txBox="1"/>
          <p:nvPr/>
        </p:nvSpPr>
        <p:spPr>
          <a:xfrm>
            <a:off x="621792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SEC2  </a:t>
            </a:r>
            <a:r>
              <a:rPr sz="1100" b="0" i="0">
                <a:solidFill>
                  <a:srgbClr val="1E1E2E"/>
                </a:solidFill>
                <a:latin typeface="Arial"/>
              </a:rPr>
              <a:t>Security services and regulation</a:t>
            </a:r>
          </a:p>
        </p:txBody>
      </p:sp>
      <p:sp>
        <p:nvSpPr>
          <p:cNvPr id="36" name="TextBox 35">
            <a:hlinkClick action="ppaction://hlinksldjump" r:id="rId33"/>
          </p:cNvPr>
          <p:cNvSpPr txBox="1"/>
          <p:nvPr/>
        </p:nvSpPr>
        <p:spPr>
          <a:xfrm>
            <a:off x="621792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G1  </a:t>
            </a:r>
            <a:r>
              <a:rPr sz="1100" b="0" i="0">
                <a:solidFill>
                  <a:srgbClr val="1E1E2E"/>
                </a:solidFill>
                <a:latin typeface="Arial"/>
              </a:rPr>
              <a:t>Glossary</a:t>
            </a:r>
          </a:p>
        </p:txBody>
      </p:sp>
      <p:sp>
        <p:nvSpPr>
          <p:cNvPr id="37" name="TextBox 36">
            <a:hlinkClick action="ppaction://hlinksldjump" r:id="rId34"/>
          </p:cNvPr>
          <p:cNvSpPr txBox="1"/>
          <p:nvPr/>
        </p:nvSpPr>
        <p:spPr>
          <a:xfrm>
            <a:off x="621792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C1  </a:t>
            </a:r>
            <a:r>
              <a:rPr sz="1100" b="0" i="0">
                <a:solidFill>
                  <a:srgbClr val="1E1E2E"/>
                </a:solidFill>
                <a:latin typeface="Arial"/>
              </a:rPr>
              <a:t>Cost layers and pricing formula</a:t>
            </a:r>
          </a:p>
        </p:txBody>
      </p:sp>
      <p:sp>
        <p:nvSpPr>
          <p:cNvPr id="38" name="TextBox 37">
            <a:hlinkClick action="ppaction://hlinksldjump" r:id="rId35"/>
          </p:cNvPr>
          <p:cNvSpPr txBox="1"/>
          <p:nvPr/>
        </p:nvSpPr>
        <p:spPr>
          <a:xfrm>
            <a:off x="621792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R1  </a:t>
            </a:r>
            <a:r>
              <a:rPr sz="1100" b="0" i="0">
                <a:solidFill>
                  <a:srgbClr val="1E1E2E"/>
                </a:solidFill>
                <a:latin typeface="Arial"/>
              </a:rPr>
              <a:t>RACI matrix</a:t>
            </a:r>
          </a:p>
        </p:txBody>
      </p:sp>
      <p:sp>
        <p:nvSpPr>
          <p:cNvPr id="39" name="TextBox 38">
            <a:hlinkClick action="ppaction://hlinksldjump" r:id="rId36"/>
          </p:cNvPr>
          <p:cNvSpPr txBox="1"/>
          <p:nvPr/>
        </p:nvSpPr>
        <p:spPr>
          <a:xfrm>
            <a:off x="621792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R2  </a:t>
            </a:r>
            <a:r>
              <a:rPr sz="1100" b="0" i="0">
                <a:solidFill>
                  <a:srgbClr val="1E1E2E"/>
                </a:solidFill>
                <a:latin typeface="Arial"/>
              </a:rPr>
              <a:t>Revenue attribution framework</a:t>
            </a:r>
          </a:p>
        </p:txBody>
      </p:sp>
      <p:sp>
        <p:nvSpPr>
          <p:cNvPr id="40" name="TextBox 39">
            <a:hlinkClick action="ppaction://hlinksldjump" r:id="rId37"/>
          </p:cNvPr>
          <p:cNvSpPr txBox="1"/>
          <p:nvPr/>
        </p:nvSpPr>
        <p:spPr>
          <a:xfrm>
            <a:off x="621792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R3  </a:t>
            </a:r>
            <a:r>
              <a:rPr sz="1100" b="0" i="0">
                <a:solidFill>
                  <a:srgbClr val="1E1E2E"/>
                </a:solidFill>
                <a:latin typeface="Arial"/>
              </a:rPr>
              <a:t>Delivery and commercial readiness</a:t>
            </a:r>
          </a:p>
        </p:txBody>
      </p:sp>
      <p:sp>
        <p:nvSpPr>
          <p:cNvPr id="41" name="TextBox 40">
            <a:hlinkClick action="ppaction://hlinksldjump" r:id="rId38"/>
          </p:cNvPr>
          <p:cNvSpPr txBox="1"/>
          <p:nvPr/>
        </p:nvSpPr>
        <p:spPr>
          <a:xfrm>
            <a:off x="621792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D1  </a:t>
            </a:r>
            <a:r>
              <a:rPr sz="1100" b="0" i="0">
                <a:solidFill>
                  <a:srgbClr val="1E1E2E"/>
                </a:solidFill>
                <a:latin typeface="Arial"/>
              </a:rPr>
              <a:t>Decision and approval register</a:t>
            </a:r>
          </a:p>
        </p:txBody>
      </p:sp>
      <p:sp>
        <p:nvSpPr>
          <p:cNvPr id="42" name="TextBox 41">
            <a:hlinkClick action="ppaction://hlinksldjump" r:id="rId39"/>
          </p:cNvPr>
          <p:cNvSpPr txBox="1"/>
          <p:nvPr/>
        </p:nvSpPr>
        <p:spPr>
          <a:xfrm>
            <a:off x="621792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O1  </a:t>
            </a:r>
            <a:r>
              <a:rPr sz="1100" b="0" i="0">
                <a:solidFill>
                  <a:srgbClr val="1E1E2E"/>
                </a:solidFill>
                <a:latin typeface="Arial"/>
              </a:rPr>
              <a:t>Original: Foundry baseline network flows</a:t>
            </a:r>
          </a:p>
        </p:txBody>
      </p:sp>
      <p:sp>
        <p:nvSpPr>
          <p:cNvPr id="43" name="TextBox 42">
            <a:hlinkClick action="ppaction://hlinksldjump" r:id="rId40"/>
          </p:cNvPr>
          <p:cNvSpPr txBox="1"/>
          <p:nvPr/>
        </p:nvSpPr>
        <p:spPr>
          <a:xfrm>
            <a:off x="621792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onboarding and readiness gates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 required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Owner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Platform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Offering 01 gates passed or equivalent review</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Inventory complete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Assets and agents in scope listed, owners named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 with agent owners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Monitoring live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Alerts with owners and runbooks; telemetry healthy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Access in place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PIM roles, break-glass, service desk queues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with Security</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Tower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Resolver, hours and escalation per tower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Containment ready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K4 drills passed in non-production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Security with CIS Infra</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Managed asset and agent inventory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8" name="Table"/>
          <p:cNvGraphicFramePr>
            <a:graphicFrameLocks noGrp="1"/>
          </p:cNvGraphicFramePr>
          <p:nvPr/>
        </p:nvGraphicFramePr>
        <p:xfrm>
          <a:off x="548640" y="1371600"/>
          <a:ext cx="11091672" cy="2484120"/>
        </p:xfrm>
        <a:graphic>
          <a:graphicData uri="http://schemas.openxmlformats.org/drawingml/2006/table">
            <a:tbl>
              <a:tblPr firstRow="1" bandRow="0">
                <a:tableStyleId>{5C22544A-7EE6-4342-B048-85BDC9FD1C3A}</a:tableStyleId>
              </a:tblPr>
              <a:tblGrid>
                <a:gridCol w="2560320"/>
                <a:gridCol w="5669280"/>
                <a:gridCol w="2862072"/>
              </a:tblGrid>
              <a:tr h="320040">
                <a:tc>
                  <a:txBody>
                    <a:bodyPr wrap="square" anchor="ctr">
                      <a:noAutofit/>
                    </a:bodyPr>
                    <a:lstStyle/>
                    <a:p>
                      <a:pPr algn="l"/>
                      <a:r>
                        <a:rPr sz="1500" b="1" i="0">
                          <a:solidFill>
                            <a:srgbClr val="FFFFFF"/>
                          </a:solidFill>
                          <a:latin typeface="Arial"/>
                        </a:rPr>
                        <a:t>Asset class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Examples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Pricing unit</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Subscriptions, VNets, private endpoints, DNS, firewall rules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environment</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services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Foundry resources and projects, model deployments, AI Search</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resource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API Management instances, APIs, policies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Per instance and API band</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Agents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Catalogued agents by runtime family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agent band</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Telemetry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Workspaces, App Insights, workbooks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Included in base</a:t>
                      </a:r>
                    </a:p>
                  </a:txBody>
                  <a:tcPr marL="73152" marR="73152" marT="36576" marB="36576" anchor="ctr">
                    <a:solidFill>
                      <a:srgbClr val="FFFFFF"/>
                    </a:solidFill>
                  </a:tcPr>
                </a:tc>
              </a:tr>
            </a:tbl>
          </a:graphicData>
        </a:graphic>
      </p:graphicFrame>
      <p:sp>
        <p:nvSpPr>
          <p:cNvPr id="9" name="Rounded Rectangle 8"/>
          <p:cNvSpPr/>
          <p:nvPr/>
        </p:nvSpPr>
        <p:spPr>
          <a:xfrm>
            <a:off x="548640" y="4572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Agents outside catalogue coverage are listed as gaps and are not operated.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Platform health and dependency monitoring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3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502919"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INGRESS</a:t>
            </a:r>
          </a:p>
        </p:txBody>
      </p:sp>
      <p:pic>
        <p:nvPicPr>
          <p:cNvPr id="11"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080" y="1805940"/>
            <a:ext cx="365760" cy="365760"/>
          </a:xfrm>
          <a:prstGeom prst="rect">
            <a:avLst/>
          </a:prstGeom>
        </p:spPr>
      </p:pic>
      <p:sp>
        <p:nvSpPr>
          <p:cNvPr id="12" name="TextBox 11"/>
          <p:cNvSpPr txBox="1"/>
          <p:nvPr/>
        </p:nvSpPr>
        <p:spPr>
          <a:xfrm>
            <a:off x="10789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Gateway WAF</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080" y="2519172"/>
            <a:ext cx="365760" cy="365760"/>
          </a:xfrm>
          <a:prstGeom prst="rect">
            <a:avLst/>
          </a:prstGeom>
        </p:spPr>
      </p:pic>
      <p:sp>
        <p:nvSpPr>
          <p:cNvPr id="14" name="TextBox 13"/>
          <p:cNvSpPr txBox="1"/>
          <p:nvPr/>
        </p:nvSpPr>
        <p:spPr>
          <a:xfrm>
            <a:off x="10789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API Management</a:t>
            </a:r>
          </a:p>
        </p:txBody>
      </p:sp>
      <p:sp>
        <p:nvSpPr>
          <p:cNvPr id="15" name="Rounded Rectangle 14"/>
          <p:cNvSpPr/>
          <p:nvPr/>
        </p:nvSpPr>
        <p:spPr>
          <a:xfrm>
            <a:off x="25603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700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RUNTIME</a:t>
            </a:r>
          </a:p>
        </p:txBody>
      </p:sp>
      <p:pic>
        <p:nvPicPr>
          <p:cNvPr id="17"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480" y="1805940"/>
            <a:ext cx="365760" cy="365760"/>
          </a:xfrm>
          <a:prstGeom prst="rect">
            <a:avLst/>
          </a:prstGeom>
        </p:spPr>
      </p:pic>
      <p:sp>
        <p:nvSpPr>
          <p:cNvPr id="18" name="TextBox 17"/>
          <p:cNvSpPr txBox="1"/>
          <p:nvPr/>
        </p:nvSpPr>
        <p:spPr>
          <a:xfrm>
            <a:off x="31363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Service</a:t>
            </a:r>
          </a:p>
        </p:txBody>
      </p:sp>
      <p:pic>
        <p:nvPicPr>
          <p:cNvPr id="19"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2519172"/>
            <a:ext cx="365760" cy="365760"/>
          </a:xfrm>
          <a:prstGeom prst="rect">
            <a:avLst/>
          </a:prstGeom>
        </p:spPr>
      </p:pic>
      <p:sp>
        <p:nvSpPr>
          <p:cNvPr id="20" name="TextBox 19"/>
          <p:cNvSpPr txBox="1"/>
          <p:nvPr/>
        </p:nvSpPr>
        <p:spPr>
          <a:xfrm>
            <a:off x="31363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Agent Service</a:t>
            </a:r>
          </a:p>
        </p:txBody>
      </p:sp>
      <p:sp>
        <p:nvSpPr>
          <p:cNvPr id="21" name="Rounded Rectangle 20"/>
          <p:cNvSpPr/>
          <p:nvPr/>
        </p:nvSpPr>
        <p:spPr>
          <a:xfrm>
            <a:off x="46177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274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MODELS AND DATA</a:t>
            </a:r>
          </a:p>
        </p:txBody>
      </p:sp>
      <p:pic>
        <p:nvPicPr>
          <p:cNvPr id="23"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54879" y="1805940"/>
            <a:ext cx="365760" cy="365760"/>
          </a:xfrm>
          <a:prstGeom prst="rect">
            <a:avLst/>
          </a:prstGeom>
        </p:spPr>
      </p:pic>
      <p:sp>
        <p:nvSpPr>
          <p:cNvPr id="24" name="TextBox 23"/>
          <p:cNvSpPr txBox="1"/>
          <p:nvPr/>
        </p:nvSpPr>
        <p:spPr>
          <a:xfrm>
            <a:off x="51937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Model deployments</a:t>
            </a:r>
          </a:p>
        </p:txBody>
      </p:sp>
      <p:pic>
        <p:nvPicPr>
          <p:cNvPr id="25" name="Azure icon: AI Search (Cognitive Search icon)" descr="Official Azure icon: AI Search (Cognitive Search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4879" y="2519172"/>
            <a:ext cx="365760" cy="365760"/>
          </a:xfrm>
          <a:prstGeom prst="rect">
            <a:avLst/>
          </a:prstGeom>
        </p:spPr>
      </p:pic>
      <p:sp>
        <p:nvSpPr>
          <p:cNvPr id="26" name="TextBox 25"/>
          <p:cNvSpPr txBox="1"/>
          <p:nvPr/>
        </p:nvSpPr>
        <p:spPr>
          <a:xfrm>
            <a:off x="51937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AI Search</a:t>
            </a:r>
          </a:p>
        </p:txBody>
      </p:sp>
      <p:pic>
        <p:nvPicPr>
          <p:cNvPr id="27"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54879" y="3232404"/>
            <a:ext cx="365760" cy="365760"/>
          </a:xfrm>
          <a:prstGeom prst="rect">
            <a:avLst/>
          </a:prstGeom>
        </p:spPr>
      </p:pic>
      <p:sp>
        <p:nvSpPr>
          <p:cNvPr id="28" name="TextBox 27"/>
          <p:cNvSpPr txBox="1"/>
          <p:nvPr/>
        </p:nvSpPr>
        <p:spPr>
          <a:xfrm>
            <a:off x="51937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Cosmos DB</a:t>
            </a:r>
          </a:p>
        </p:txBody>
      </p:sp>
      <p:pic>
        <p:nvPicPr>
          <p:cNvPr id="29" name="Azure icon: Storage account" descr="Official Azure icon: Storage accou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4879" y="3945635"/>
            <a:ext cx="365760" cy="365760"/>
          </a:xfrm>
          <a:prstGeom prst="rect">
            <a:avLst/>
          </a:prstGeom>
        </p:spPr>
      </p:pic>
      <p:sp>
        <p:nvSpPr>
          <p:cNvPr id="30" name="TextBox 29"/>
          <p:cNvSpPr txBox="1"/>
          <p:nvPr/>
        </p:nvSpPr>
        <p:spPr>
          <a:xfrm>
            <a:off x="5193792" y="3867911"/>
            <a:ext cx="1280160" cy="521208"/>
          </a:xfrm>
          <a:prstGeom prst="rect">
            <a:avLst/>
          </a:prstGeom>
          <a:noFill/>
        </p:spPr>
        <p:txBody>
          <a:bodyPr wrap="square" lIns="0" rIns="0" tIns="0" bIns="0" anchor="ctr">
            <a:noAutofit/>
          </a:bodyPr>
          <a:lstStyle/>
          <a:p>
            <a:pPr algn="l"/>
            <a:r>
              <a:rPr sz="1200" b="1" i="0">
                <a:solidFill>
                  <a:srgbClr val="000048"/>
                </a:solidFill>
                <a:latin typeface="Arial"/>
              </a:rPr>
              <a:t>Storage account</a:t>
            </a:r>
          </a:p>
        </p:txBody>
      </p:sp>
      <p:sp>
        <p:nvSpPr>
          <p:cNvPr id="31" name="Rounded Rectangle 30"/>
          <p:cNvSpPr/>
          <p:nvPr/>
        </p:nvSpPr>
        <p:spPr>
          <a:xfrm>
            <a:off x="66751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84848" y="1380744"/>
            <a:ext cx="1746504" cy="237744"/>
          </a:xfrm>
          <a:prstGeom prst="rect">
            <a:avLst/>
          </a:prstGeom>
          <a:noFill/>
        </p:spPr>
        <p:txBody>
          <a:bodyPr wrap="square" lIns="0" rIns="0" tIns="0" bIns="0" anchor="t">
            <a:noAutofit/>
          </a:bodyPr>
          <a:lstStyle/>
          <a:p>
            <a:pPr algn="l"/>
            <a:r>
              <a:rPr sz="1100" b="1" i="0">
                <a:solidFill>
                  <a:srgbClr val="000048"/>
                </a:solidFill>
                <a:latin typeface="Arial"/>
              </a:rPr>
              <a:t>NETWORK</a:t>
            </a:r>
          </a:p>
        </p:txBody>
      </p:sp>
      <p:pic>
        <p:nvPicPr>
          <p:cNvPr id="33" name="Azure icon: Private Endpoints" descr="Official Azure icon: Private Endpoin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12279" y="1805940"/>
            <a:ext cx="365760" cy="365760"/>
          </a:xfrm>
          <a:prstGeom prst="rect">
            <a:avLst/>
          </a:prstGeom>
        </p:spPr>
      </p:pic>
      <p:sp>
        <p:nvSpPr>
          <p:cNvPr id="34" name="TextBox 33"/>
          <p:cNvSpPr txBox="1"/>
          <p:nvPr/>
        </p:nvSpPr>
        <p:spPr>
          <a:xfrm>
            <a:off x="72511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Private endpoints</a:t>
            </a:r>
          </a:p>
        </p:txBody>
      </p:sp>
      <p:pic>
        <p:nvPicPr>
          <p:cNvPr id="35" name="Azure icon: DNS Private Resolver" descr="Official Azure icon: DNS Private Resolve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12279" y="2519172"/>
            <a:ext cx="365760" cy="365760"/>
          </a:xfrm>
          <a:prstGeom prst="rect">
            <a:avLst/>
          </a:prstGeom>
        </p:spPr>
      </p:pic>
      <p:sp>
        <p:nvSpPr>
          <p:cNvPr id="36" name="TextBox 35"/>
          <p:cNvSpPr txBox="1"/>
          <p:nvPr/>
        </p:nvSpPr>
        <p:spPr>
          <a:xfrm>
            <a:off x="72511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DNS resolver</a:t>
            </a:r>
          </a:p>
        </p:txBody>
      </p:sp>
      <p:pic>
        <p:nvPicPr>
          <p:cNvPr id="37"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812279" y="3232404"/>
            <a:ext cx="365760" cy="365760"/>
          </a:xfrm>
          <a:prstGeom prst="rect">
            <a:avLst/>
          </a:prstGeom>
        </p:spPr>
      </p:pic>
      <p:sp>
        <p:nvSpPr>
          <p:cNvPr id="38" name="TextBox 37"/>
          <p:cNvSpPr txBox="1"/>
          <p:nvPr/>
        </p:nvSpPr>
        <p:spPr>
          <a:xfrm>
            <a:off x="72511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Firewall</a:t>
            </a:r>
          </a:p>
        </p:txBody>
      </p:sp>
      <p:sp>
        <p:nvSpPr>
          <p:cNvPr id="39" name="Rounded Rectangle 38"/>
          <p:cNvSpPr/>
          <p:nvPr/>
        </p:nvSpPr>
        <p:spPr>
          <a:xfrm>
            <a:off x="8915400" y="14630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0" name="Azure icon: Azure Monitor" descr="Official Azure icon: Azure Monito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988552" y="1623060"/>
            <a:ext cx="411480" cy="411480"/>
          </a:xfrm>
          <a:prstGeom prst="rect">
            <a:avLst/>
          </a:prstGeom>
        </p:spPr>
      </p:pic>
      <p:sp>
        <p:nvSpPr>
          <p:cNvPr id="41" name="TextBox 40"/>
          <p:cNvSpPr txBox="1"/>
          <p:nvPr/>
        </p:nvSpPr>
        <p:spPr>
          <a:xfrm>
            <a:off x="9473184" y="1499616"/>
            <a:ext cx="2148839" cy="65836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100" b="0" i="0">
                <a:solidFill>
                  <a:srgbClr val="53565A"/>
                </a:solidFill>
                <a:latin typeface="Arial"/>
              </a:rPr>
              <a:t>metrics, alert rules</a:t>
            </a:r>
          </a:p>
        </p:txBody>
      </p:sp>
      <p:sp>
        <p:nvSpPr>
          <p:cNvPr id="42" name="Rounded Rectangle 41"/>
          <p:cNvSpPr/>
          <p:nvPr/>
        </p:nvSpPr>
        <p:spPr>
          <a:xfrm>
            <a:off x="8915400" y="23317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Service Health" descr="Official Azure icon: Service Health"/>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988552" y="2491739"/>
            <a:ext cx="411480" cy="411480"/>
          </a:xfrm>
          <a:prstGeom prst="rect">
            <a:avLst/>
          </a:prstGeom>
        </p:spPr>
      </p:pic>
      <p:sp>
        <p:nvSpPr>
          <p:cNvPr id="44" name="TextBox 43"/>
          <p:cNvSpPr txBox="1"/>
          <p:nvPr/>
        </p:nvSpPr>
        <p:spPr>
          <a:xfrm>
            <a:off x="9473184" y="2368296"/>
            <a:ext cx="2148839" cy="65836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100" b="0" i="0">
                <a:solidFill>
                  <a:srgbClr val="53565A"/>
                </a:solidFill>
                <a:latin typeface="Arial"/>
              </a:rPr>
              <a:t>Azure incidents, maintenance</a:t>
            </a:r>
          </a:p>
        </p:txBody>
      </p:sp>
      <p:sp>
        <p:nvSpPr>
          <p:cNvPr id="45" name="Rounded Rectangle 44"/>
          <p:cNvSpPr/>
          <p:nvPr/>
        </p:nvSpPr>
        <p:spPr>
          <a:xfrm>
            <a:off x="8915400" y="32004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6" name="Azure icon: Application Insights" descr="Official Azure icon: Application Insigh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988552" y="3360420"/>
            <a:ext cx="411480" cy="411480"/>
          </a:xfrm>
          <a:prstGeom prst="rect">
            <a:avLst/>
          </a:prstGeom>
        </p:spPr>
      </p:pic>
      <p:sp>
        <p:nvSpPr>
          <p:cNvPr id="47" name="TextBox 46"/>
          <p:cNvSpPr txBox="1"/>
          <p:nvPr/>
        </p:nvSpPr>
        <p:spPr>
          <a:xfrm>
            <a:off x="9473184" y="3236976"/>
            <a:ext cx="2148839" cy="658368"/>
          </a:xfrm>
          <a:prstGeom prst="rect">
            <a:avLst/>
          </a:prstGeom>
          <a:noFill/>
        </p:spPr>
        <p:txBody>
          <a:bodyPr wrap="square" lIns="0" rIns="0" tIns="0" bIns="0" anchor="ctr">
            <a:noAutofit/>
          </a:bodyPr>
          <a:lstStyle/>
          <a:p>
            <a:pPr algn="l"/>
            <a:r>
              <a:rPr sz="1300" b="1" i="0">
                <a:solidFill>
                  <a:srgbClr val="000048"/>
                </a:solidFill>
                <a:latin typeface="Arial"/>
              </a:rPr>
              <a:t>Availability tests</a:t>
            </a:r>
          </a:p>
          <a:p>
            <a:pPr algn="l"/>
            <a:r>
              <a:rPr sz="1100" b="0" i="0">
                <a:solidFill>
                  <a:srgbClr val="53565A"/>
                </a:solidFill>
                <a:latin typeface="Arial"/>
              </a:rPr>
              <a:t>App Insights, end-to-end path</a:t>
            </a:r>
          </a:p>
        </p:txBody>
      </p:sp>
      <p:cxnSp>
        <p:nvCxnSpPr>
          <p:cNvPr id="48" name="Connector (telemetry)"/>
          <p:cNvCxnSpPr/>
          <p:nvPr/>
        </p:nvCxnSpPr>
        <p:spPr>
          <a:xfrm flipV="1">
            <a:off x="8595360" y="1828800"/>
            <a:ext cx="320040" cy="9144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telemetry)"/>
          <p:cNvCxnSpPr/>
          <p:nvPr/>
        </p:nvCxnSpPr>
        <p:spPr>
          <a:xfrm>
            <a:off x="8595360" y="2743200"/>
            <a:ext cx="32004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0" name="Table"/>
          <p:cNvGraphicFramePr>
            <a:graphicFrameLocks noGrp="1"/>
          </p:cNvGraphicFramePr>
          <p:nvPr/>
        </p:nvGraphicFramePr>
        <p:xfrm>
          <a:off x="548640" y="4709160"/>
          <a:ext cx="11091672" cy="1158240"/>
        </p:xfrm>
        <a:graphic>
          <a:graphicData uri="http://schemas.openxmlformats.org/drawingml/2006/table">
            <a:tbl>
              <a:tblPr firstRow="1" bandRow="0">
                <a:tableStyleId>{5C22544A-7EE6-4342-B048-85BDC9FD1C3A}</a:tableStyleId>
              </a:tblPr>
              <a:tblGrid>
                <a:gridCol w="2377440"/>
                <a:gridCol w="5486400"/>
                <a:gridCol w="3227832"/>
              </a:tblGrid>
              <a:tr h="289560">
                <a:tc>
                  <a:txBody>
                    <a:bodyPr wrap="square" anchor="ctr">
                      <a:noAutofit/>
                    </a:bodyPr>
                    <a:lstStyle/>
                    <a:p>
                      <a:pPr algn="l"/>
                      <a:r>
                        <a:rPr sz="1300" b="1" i="0">
                          <a:solidFill>
                            <a:srgbClr val="FFFFFF"/>
                          </a:solidFill>
                          <a:latin typeface="Arial"/>
                        </a:rPr>
                        <a:t>Signal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 alert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429 rate or latency above agreed level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AI informed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Private DNS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Resolution failures for private endpoints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Backend circuit open; capacity units saturated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observability and agent traces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3291840"/>
                <a:gridCol w="4206240"/>
                <a:gridCol w="3593592"/>
              </a:tblGrid>
              <a:tr h="320040">
                <a:tc>
                  <a:txBody>
                    <a:bodyPr wrap="square" anchor="ctr">
                      <a:noAutofit/>
                    </a:bodyPr>
                    <a:lstStyle/>
                    <a:p>
                      <a:pPr algn="l"/>
                      <a:r>
                        <a:rPr sz="1500" b="1" i="0">
                          <a:solidFill>
                            <a:srgbClr val="FFFFFF"/>
                          </a:solidFill>
                          <a:latin typeface="Arial"/>
                        </a:rPr>
                        <a:t>Integration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it gives operations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Application Insights per Foundry project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Runs, errors, traces, tokens per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Only after configuration; up to 15 min delay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Log Analytics workspace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Platform and gateway logs, KQL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Ingestion cost; retention to agree</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Foundry Control Plane inventory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Agent list with runs and errors (last 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 platforms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Correlation IDs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Join gateway call, agent run and tool call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agent ID in every hop</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Payload logging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Debugging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Redact; restrict access; short retention</a:t>
                      </a:r>
                    </a:p>
                  </a:txBody>
                  <a:tcPr marL="73152" marR="73152" marT="36576" marB="36576"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Alert ownership and service desk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3749039"/>
                <a:gridCol w="2834640"/>
                <a:gridCol w="4507992"/>
              </a:tblGrid>
              <a:tr h="320040">
                <a:tc>
                  <a:txBody>
                    <a:bodyPr wrap="square" anchor="ctr">
                      <a:noAutofit/>
                    </a:bodyPr>
                    <a:lstStyle/>
                    <a:p>
                      <a:pPr algn="l"/>
                      <a:r>
                        <a:rPr sz="1500" b="1" i="0">
                          <a:solidFill>
                            <a:srgbClr val="FFFFFF"/>
                          </a:solidFill>
                          <a:latin typeface="Arial"/>
                        </a:rPr>
                        <a:t>Incident or change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Primary resolver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Supporting dependency</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DNS, network, endpoint or resource health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 for control changes; AI for runtime limits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Failed pipeline or infrastructure release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for configuration; Security for controls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Stale index or failed ingestion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owner for source quality and access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Poor answer or unauthorised agent action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and Data Engineering as relevant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Security event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and workload owners contain allocated parts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Unexpected spend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coordinates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explains usage; towers fix causes</a:t>
                      </a:r>
                    </a:p>
                  </a:txBody>
                  <a:tcPr marL="73152" marR="73152" marT="36576" marB="36576" anchor="ctr">
                    <a:solidFill>
                      <a:srgbClr val="F5F5F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Incident, problem and change management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8" name="Rounded Rectangle 7"/>
          <p:cNvSpPr/>
          <p:nvPr/>
        </p:nvSpPr>
        <p:spPr>
          <a:xfrm>
            <a:off x="548640"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Incident</a:t>
            </a:r>
          </a:p>
        </p:txBody>
      </p:sp>
      <p:sp>
        <p:nvSpPr>
          <p:cNvPr id="9" name="Rounded Rectangle 8"/>
          <p:cNvSpPr/>
          <p:nvPr/>
        </p:nvSpPr>
        <p:spPr>
          <a:xfrm>
            <a:off x="548640"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Single entry point</a:t>
            </a:r>
          </a:p>
        </p:txBody>
      </p:sp>
      <p:sp>
        <p:nvSpPr>
          <p:cNvPr id="10" name="Rounded Rectangle 9"/>
          <p:cNvSpPr/>
          <p:nvPr/>
        </p:nvSpPr>
        <p:spPr>
          <a:xfrm>
            <a:off x="548640"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Lane triage</a:t>
            </a:r>
          </a:p>
        </p:txBody>
      </p:sp>
      <p:sp>
        <p:nvSpPr>
          <p:cNvPr id="11" name="Rounded Rectangle 10"/>
          <p:cNvSpPr/>
          <p:nvPr/>
        </p:nvSpPr>
        <p:spPr>
          <a:xfrm>
            <a:off x="548640"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Resolver works, updates</a:t>
            </a:r>
          </a:p>
        </p:txBody>
      </p:sp>
      <p:sp>
        <p:nvSpPr>
          <p:cNvPr id="12" name="Rounded Rectangle 11"/>
          <p:cNvSpPr/>
          <p:nvPr/>
        </p:nvSpPr>
        <p:spPr>
          <a:xfrm>
            <a:off x="548640"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Close with cause</a:t>
            </a:r>
          </a:p>
        </p:txBody>
      </p:sp>
      <p:sp>
        <p:nvSpPr>
          <p:cNvPr id="13" name="Rounded Rectangle 12"/>
          <p:cNvSpPr/>
          <p:nvPr/>
        </p:nvSpPr>
        <p:spPr>
          <a:xfrm>
            <a:off x="429767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Problem</a:t>
            </a:r>
          </a:p>
        </p:txBody>
      </p:sp>
      <p:sp>
        <p:nvSpPr>
          <p:cNvPr id="14" name="Rounded Rectangle 13"/>
          <p:cNvSpPr/>
          <p:nvPr/>
        </p:nvSpPr>
        <p:spPr>
          <a:xfrm>
            <a:off x="429767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Recurring incident trend</a:t>
            </a:r>
          </a:p>
        </p:txBody>
      </p:sp>
      <p:sp>
        <p:nvSpPr>
          <p:cNvPr id="15" name="Rounded Rectangle 14"/>
          <p:cNvSpPr/>
          <p:nvPr/>
        </p:nvSpPr>
        <p:spPr>
          <a:xfrm>
            <a:off x="429767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Root cause analysis</a:t>
            </a:r>
          </a:p>
        </p:txBody>
      </p:sp>
      <p:sp>
        <p:nvSpPr>
          <p:cNvPr id="16" name="Rounded Rectangle 15"/>
          <p:cNvSpPr/>
          <p:nvPr/>
        </p:nvSpPr>
        <p:spPr>
          <a:xfrm>
            <a:off x="429767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Fix through change</a:t>
            </a:r>
          </a:p>
        </p:txBody>
      </p:sp>
      <p:sp>
        <p:nvSpPr>
          <p:cNvPr id="17" name="Rounded Rectangle 16"/>
          <p:cNvSpPr/>
          <p:nvPr/>
        </p:nvSpPr>
        <p:spPr>
          <a:xfrm>
            <a:off x="429767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Review monthly</a:t>
            </a:r>
          </a:p>
        </p:txBody>
      </p:sp>
      <p:sp>
        <p:nvSpPr>
          <p:cNvPr id="18" name="Rounded Rectangle 17"/>
          <p:cNvSpPr/>
          <p:nvPr/>
        </p:nvSpPr>
        <p:spPr>
          <a:xfrm>
            <a:off x="804671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Change</a:t>
            </a:r>
          </a:p>
        </p:txBody>
      </p:sp>
      <p:sp>
        <p:nvSpPr>
          <p:cNvPr id="19" name="Rounded Rectangle 18"/>
          <p:cNvSpPr/>
          <p:nvPr/>
        </p:nvSpPr>
        <p:spPr>
          <a:xfrm>
            <a:off x="804671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Request with risk class</a:t>
            </a:r>
          </a:p>
        </p:txBody>
      </p:sp>
      <p:sp>
        <p:nvSpPr>
          <p:cNvPr id="20" name="Rounded Rectangle 19"/>
          <p:cNvSpPr/>
          <p:nvPr/>
        </p:nvSpPr>
        <p:spPr>
          <a:xfrm>
            <a:off x="804671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Pipeline-only to production</a:t>
            </a:r>
          </a:p>
        </p:txBody>
      </p:sp>
      <p:sp>
        <p:nvSpPr>
          <p:cNvPr id="21" name="Rounded Rectangle 20"/>
          <p:cNvSpPr/>
          <p:nvPr/>
        </p:nvSpPr>
        <p:spPr>
          <a:xfrm>
            <a:off x="804671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Approval by customer authority</a:t>
            </a:r>
          </a:p>
        </p:txBody>
      </p:sp>
      <p:sp>
        <p:nvSpPr>
          <p:cNvPr id="22" name="Rounded Rectangle 21"/>
          <p:cNvSpPr/>
          <p:nvPr/>
        </p:nvSpPr>
        <p:spPr>
          <a:xfrm>
            <a:off x="804671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Rollback tested</a:t>
            </a:r>
          </a:p>
        </p:txBody>
      </p:sp>
      <p:sp>
        <p:nvSpPr>
          <p:cNvPr id="23" name="Rounded Rectangle 22"/>
          <p:cNvSpPr/>
          <p:nvPr/>
        </p:nvSpPr>
        <p:spPr>
          <a:xfrm>
            <a:off x="548640" y="539496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Model, prompt and agent changes follow the AI tower change path; platform changes follow CIS Infra’s.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Lane boundaries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2468880"/>
                <a:gridCol w="2834640"/>
                <a:gridCol w="2834640"/>
                <a:gridCol w="295351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Platform availability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Agent task quality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Security incidents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AI tower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Typical signal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Health alert, 5xx, DNS failure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Evaluation drop, user complaint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Defender alert, abuse report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Measure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Availability, response, change success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Task success, escalation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security service terms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 role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Resolve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Provide telemetry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 allocated components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Out of scope for 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Prompt, model, evaluation fixes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Forensics, notification</a:t>
                      </a:r>
                    </a:p>
                  </a:txBody>
                  <a:tcPr marL="73152" marR="73152" marT="36576" marB="36576"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000" b="1" i="0">
                <a:solidFill>
                  <a:srgbClr val="000048"/>
                </a:solidFill>
                <a:latin typeface="Arial"/>
              </a:rPr>
              <a:t>Entra CA for agents</a:t>
            </a:r>
          </a:p>
          <a:p>
            <a:pPr algn="l"/>
            <a:r>
              <a:rPr sz="9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  </a:t>
            </a:r>
            <a:r>
              <a:rPr sz="1100" b="1" i="0">
                <a:solidFill>
                  <a:srgbClr val="7373D8"/>
                </a:solidFill>
                <a:latin typeface="Arial"/>
              </a:rPr>
              <a:t>4</a:t>
            </a:r>
            <a:r>
              <a:rPr sz="1100" b="0" i="0">
                <a:solidFill>
                  <a:srgbClr val="53565A"/>
                </a:solidFill>
                <a:latin typeface="Arial"/>
              </a:rPr>
              <a:t> identity block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25880"/>
          <a:ext cx="11091672" cy="3749040"/>
        </p:xfrm>
        <a:graphic>
          <a:graphicData uri="http://schemas.openxmlformats.org/drawingml/2006/table">
            <a:tbl>
              <a:tblPr firstRow="1" bandRow="0">
                <a:tableStyleId>{5C22544A-7EE6-4342-B048-85BDC9FD1C3A}</a:tableStyleId>
              </a:tblPr>
              <a:tblGrid>
                <a:gridCol w="3291840"/>
                <a:gridCol w="4023360"/>
                <a:gridCol w="3776472"/>
              </a:tblGrid>
              <a:tr h="274320">
                <a:tc>
                  <a:txBody>
                    <a:bodyPr wrap="square" anchor="ctr">
                      <a:noAutofit/>
                    </a:bodyPr>
                    <a:lstStyle/>
                    <a:p>
                      <a:pPr algn="l"/>
                      <a:r>
                        <a:rPr sz="12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Design response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 checkpoint guard plus outbound denial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Resource-side deny check; short token lifetimes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Runtime-specific adapters, tested per platform</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disable local auth, no shared keys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Separate quarantine state keyed by agent ID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Bounded freshness contract; no caching of allow on high-impact tools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Agree fail-closed scope per risk class with the business owner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Identity block depends on licence and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CA for agents needs Agent 365; sign-in blocks do not end live sessions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Use as layer 4, never the only stop</a:t>
                      </a:r>
                    </a:p>
                  </a:txBody>
                  <a:tcPr marL="73152" marR="73152" marT="36576" marB="36576" anchor="ctr">
                    <a:solidFill>
                      <a:srgbClr val="F5F5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Kill-switch proof of concept: prove it, then sell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K5</a:t>
            </a:r>
          </a:p>
        </p:txBody>
      </p:sp>
      <p:sp>
        <p:nvSpPr>
          <p:cNvPr id="5" name="Status chip: UNPROVEN DESIGN"/>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UNPROVEN DESIGN</a:t>
            </a:r>
          </a:p>
        </p:txBody>
      </p:sp>
      <p:sp>
        <p:nvSpPr>
          <p:cNvPr id="6" name="Status chip: PROPOSED PLAN"/>
          <p:cNvSpPr/>
          <p:nvPr/>
        </p:nvSpPr>
        <p:spPr>
          <a:xfrm>
            <a:off x="355981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10" name="Rounded Rectangle 9"/>
          <p:cNvSpPr/>
          <p:nvPr/>
        </p:nvSpPr>
        <p:spPr>
          <a:xfrm>
            <a:off x="548640"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1  Set up</a:t>
            </a:r>
          </a:p>
          <a:p>
            <a:pPr algn="l"/>
            <a:r>
              <a:rPr sz="1500" b="0" i="0">
                <a:solidFill>
                  <a:srgbClr val="1E1E2E"/>
                </a:solidFill>
                <a:latin typeface="Arial"/>
              </a:rPr>
              <a:t>Two runtimes, synthetic agents, test tool, gateway policies</a:t>
            </a:r>
          </a:p>
        </p:txBody>
      </p:sp>
      <p:cxnSp>
        <p:nvCxnSpPr>
          <p:cNvPr id="11"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2  Instrument</a:t>
            </a:r>
          </a:p>
          <a:p>
            <a:pPr algn="l"/>
            <a:r>
              <a:rPr sz="1500" b="0" i="0">
                <a:solidFill>
                  <a:srgbClr val="1E1E2E"/>
                </a:solidFill>
                <a:latin typeface="Arial"/>
              </a:rPr>
              <a:t>Timestamps at alert, state write, each enforcement point</a:t>
            </a:r>
          </a:p>
        </p:txBody>
      </p:sp>
      <p:cxnSp>
        <p:nvCxnSpPr>
          <p:cNvPr id="13"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65776"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3  Exercise</a:t>
            </a:r>
          </a:p>
          <a:p>
            <a:pPr algn="l"/>
            <a:r>
              <a:rPr sz="1500" b="0" i="0">
                <a:solidFill>
                  <a:srgbClr val="1E1E2E"/>
                </a:solidFill>
                <a:latin typeface="Arial"/>
              </a:rPr>
              <a:t>All K4 scenarios, three runs each</a:t>
            </a:r>
          </a:p>
        </p:txBody>
      </p:sp>
      <p:cxnSp>
        <p:nvCxnSpPr>
          <p:cNvPr id="15"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4  Measure</a:t>
            </a:r>
          </a:p>
          <a:p>
            <a:pPr algn="l"/>
            <a:r>
              <a:rPr sz="1500" b="0" i="0">
                <a:solidFill>
                  <a:srgbClr val="1E1E2E"/>
                </a:solidFill>
                <a:latin typeface="Arial"/>
              </a:rPr>
              <a:t>Worst-case stop time per runtime and layer</a:t>
            </a:r>
          </a:p>
        </p:txBody>
      </p:sp>
      <p:cxnSp>
        <p:nvCxnSpPr>
          <p:cNvPr id="17"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5  Report</a:t>
            </a:r>
          </a:p>
          <a:p>
            <a:pPr algn="l"/>
            <a:r>
              <a:rPr sz="1500" b="0" i="0">
                <a:solidFill>
                  <a:srgbClr val="1E1E2E"/>
                </a:solidFill>
                <a:latin typeface="Arial"/>
              </a:rPr>
              <a:t>Evidence pack; targets proposed from data</a:t>
            </a:r>
          </a:p>
        </p:txBody>
      </p:sp>
      <p:graphicFrame>
        <p:nvGraphicFramePr>
          <p:cNvPr id="19" name="Table"/>
          <p:cNvGraphicFramePr>
            <a:graphicFrameLocks noGrp="1"/>
          </p:cNvGraphicFramePr>
          <p:nvPr/>
        </p:nvGraphicFramePr>
        <p:xfrm>
          <a:off x="548640" y="3977639"/>
          <a:ext cx="11091672" cy="1264920"/>
        </p:xfrm>
        <a:graphic>
          <a:graphicData uri="http://schemas.openxmlformats.org/drawingml/2006/table">
            <a:tbl>
              <a:tblPr firstRow="1" bandRow="0">
                <a:tableStyleId>{5C22544A-7EE6-4342-B048-85BDC9FD1C3A}</a:tableStyleId>
              </a:tblPr>
              <a:tblGrid>
                <a:gridCol w="2743200"/>
                <a:gridCol w="8348472"/>
              </a:tblGrid>
              <a:tr h="304800">
                <a:tc>
                  <a:txBody>
                    <a:bodyPr wrap="square" anchor="ctr">
                      <a:noAutofit/>
                    </a:bodyPr>
                    <a:lstStyle/>
                    <a:p>
                      <a:pPr algn="l"/>
                      <a:r>
                        <a:rPr sz="14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Effort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 to 45 role days (CIS Infra, AI, 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Elapsed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 to 6 weeks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Exit evidence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Measured stop time per runtime; all K4 tests recorded</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recovery after containment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Root cause</a:t>
            </a:r>
          </a:p>
          <a:p>
            <a:pPr algn="l"/>
            <a:r>
              <a:rPr sz="1600" b="0" i="0">
                <a:solidFill>
                  <a:srgbClr val="1E1E2E"/>
                </a:solidFill>
                <a:latin typeface="Arial"/>
              </a:rPr>
              <a:t>AI and Security confirm cause and fix</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Approval</a:t>
            </a:r>
          </a:p>
          <a:p>
            <a:pPr algn="l"/>
            <a:r>
              <a:rPr sz="1600" b="0" i="0">
                <a:solidFill>
                  <a:srgbClr val="1E1E2E"/>
                </a:solidFill>
                <a:latin typeface="Arial"/>
              </a:rPr>
              <a:t>Two-person approval by named authority</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Canary</a:t>
            </a:r>
          </a:p>
          <a:p>
            <a:pPr algn="l"/>
            <a:r>
              <a:rPr sz="1600" b="0" i="0">
                <a:solidFill>
                  <a:srgbClr val="1E1E2E"/>
                </a:solidFill>
                <a:latin typeface="Arial"/>
              </a:rPr>
              <a:t>Bounded traffic, close monitoring</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Release</a:t>
            </a:r>
          </a:p>
          <a:p>
            <a:pPr algn="l"/>
            <a:r>
              <a:rPr sz="1600" b="0" i="0">
                <a:solidFill>
                  <a:srgbClr val="1E1E2E"/>
                </a:solidFill>
                <a:latin typeface="Arial"/>
              </a:rPr>
              <a:t>State version advanced; limits restored</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Review</a:t>
            </a:r>
          </a:p>
          <a:p>
            <a:pPr algn="l"/>
            <a:r>
              <a:rPr sz="1600" b="0" i="0">
                <a:solidFill>
                  <a:srgbClr val="1E1E2E"/>
                </a:solidFill>
                <a:latin typeface="Arial"/>
              </a:rPr>
              <a:t>Evidence filed; drill updated</a:t>
            </a:r>
          </a:p>
        </p:txBody>
      </p:sp>
      <p:sp>
        <p:nvSpPr>
          <p:cNvPr id="18" name="Rounded Rectangle 17"/>
          <p:cNvSpPr/>
          <p:nvPr/>
        </p:nvSpPr>
        <p:spPr>
          <a:xfrm>
            <a:off x="548640" y="39319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Completed side effects are not undone by restart. Compensation is a separate, workload-owned process.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Capacity, quota and cost review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8"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Review 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Typical action</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PTU utilisation and coverage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Utilisation, reserved vs deployed, overflow share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 to FinOps; resize at term</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Throttling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429 rate by deployment and caller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Rebalance routing; request quota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Quota headroom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vs planned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Request quota early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Spend vs budget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Actual and forecast by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Explain variance; fix causes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Model lifecycle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Retirement dates of deployed models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Plan migration and re-benchmark</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46304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Dormant candidate</a:t>
            </a:r>
          </a:p>
        </p:txBody>
      </p:sp>
      <p:sp>
        <p:nvSpPr>
          <p:cNvPr id="10" name="TextBox 9"/>
          <p:cNvSpPr txBox="1"/>
          <p:nvPr/>
        </p:nvSpPr>
        <p:spPr>
          <a:xfrm>
            <a:off x="3931920" y="1627632"/>
            <a:ext cx="7680960" cy="548640"/>
          </a:xfrm>
          <a:prstGeom prst="rect">
            <a:avLst/>
          </a:prstGeom>
          <a:noFill/>
        </p:spPr>
        <p:txBody>
          <a:bodyPr wrap="square" lIns="0" rIns="0" tIns="0" bIns="0" anchor="t">
            <a:noAutofit/>
          </a:bodyPr>
          <a:lstStyle/>
          <a:p>
            <a:pPr algn="l"/>
            <a:r>
              <a:rPr sz="1800" b="0" i="0">
                <a:solidFill>
                  <a:srgbClr val="1E1E2E"/>
                </a:solidFill>
                <a:latin typeface="Arial"/>
              </a:rPr>
              <a:t>Owner asked to keep or retire within 14 days</a:t>
            </a:r>
          </a:p>
        </p:txBody>
      </p:sp>
      <p:sp>
        <p:nvSpPr>
          <p:cNvPr id="11" name="Rounded Rectangle 10"/>
          <p:cNvSpPr/>
          <p:nvPr/>
        </p:nvSpPr>
        <p:spPr>
          <a:xfrm>
            <a:off x="548640" y="242316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Telemetry unknown</a:t>
            </a:r>
          </a:p>
        </p:txBody>
      </p:sp>
      <p:sp>
        <p:nvSpPr>
          <p:cNvPr id="12" name="TextBox 11"/>
          <p:cNvSpPr txBox="1"/>
          <p:nvPr/>
        </p:nvSpPr>
        <p:spPr>
          <a:xfrm>
            <a:off x="3931920" y="2587752"/>
            <a:ext cx="7680960" cy="548640"/>
          </a:xfrm>
          <a:prstGeom prst="rect">
            <a:avLst/>
          </a:prstGeom>
          <a:noFill/>
        </p:spPr>
        <p:txBody>
          <a:bodyPr wrap="square" lIns="0" rIns="0" tIns="0" bIns="0" anchor="t">
            <a:noAutofit/>
          </a:bodyPr>
          <a:lstStyle/>
          <a:p>
            <a:pPr algn="l"/>
            <a:r>
              <a:rPr sz="1800" b="0" i="0">
                <a:solidFill>
                  <a:srgbClr val="1E1E2E"/>
                </a:solidFill>
                <a:latin typeface="Arial"/>
              </a:rPr>
              <a:t>Repair monitoring before any decision</a:t>
            </a:r>
          </a:p>
        </p:txBody>
      </p:sp>
      <p:sp>
        <p:nvSpPr>
          <p:cNvPr id="13" name="Rounded Rectangle 12"/>
          <p:cNvSpPr/>
          <p:nvPr/>
        </p:nvSpPr>
        <p:spPr>
          <a:xfrm>
            <a:off x="548640" y="338328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Orphaned</a:t>
            </a:r>
          </a:p>
        </p:txBody>
      </p:sp>
      <p:sp>
        <p:nvSpPr>
          <p:cNvPr id="14" name="TextBox 13"/>
          <p:cNvSpPr txBox="1"/>
          <p:nvPr/>
        </p:nvSpPr>
        <p:spPr>
          <a:xfrm>
            <a:off x="3931920" y="3547872"/>
            <a:ext cx="7680960" cy="548640"/>
          </a:xfrm>
          <a:prstGeom prst="rect">
            <a:avLst/>
          </a:prstGeom>
          <a:noFill/>
        </p:spPr>
        <p:txBody>
          <a:bodyPr wrap="square" lIns="0" rIns="0" tIns="0" bIns="0" anchor="t">
            <a:noAutofit/>
          </a:bodyPr>
          <a:lstStyle/>
          <a:p>
            <a:pPr algn="l"/>
            <a:r>
              <a:rPr sz="1800" b="0" i="0">
                <a:solidFill>
                  <a:srgbClr val="1E1E2E"/>
                </a:solidFill>
                <a:latin typeface="Arial"/>
              </a:rPr>
              <a:t>Service owner assigns or retires</a:t>
            </a:r>
          </a:p>
        </p:txBody>
      </p:sp>
      <p:sp>
        <p:nvSpPr>
          <p:cNvPr id="15" name="Rounded Rectangle 14"/>
          <p:cNvSpPr/>
          <p:nvPr/>
        </p:nvSpPr>
        <p:spPr>
          <a:xfrm>
            <a:off x="548640" y="4343400"/>
            <a:ext cx="3108960" cy="777240"/>
          </a:xfrm>
          <a:prstGeom prst="roundRect">
            <a:avLst>
              <a:gd name="adj" fmla="val 941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Retire</a:t>
            </a:r>
          </a:p>
        </p:txBody>
      </p:sp>
      <p:sp>
        <p:nvSpPr>
          <p:cNvPr id="16" name="TextBox 15"/>
          <p:cNvSpPr txBox="1"/>
          <p:nvPr/>
        </p:nvSpPr>
        <p:spPr>
          <a:xfrm>
            <a:off x="3931920" y="4507992"/>
            <a:ext cx="7680960" cy="548640"/>
          </a:xfrm>
          <a:prstGeom prst="rect">
            <a:avLst/>
          </a:prstGeom>
          <a:noFill/>
        </p:spPr>
        <p:txBody>
          <a:bodyPr wrap="square" lIns="0" rIns="0" tIns="0" bIns="0" anchor="t">
            <a:noAutofit/>
          </a:bodyPr>
          <a:lstStyle/>
          <a:p>
            <a:pPr algn="l"/>
            <a:r>
              <a:rPr sz="1800" b="0" i="0">
                <a:solidFill>
                  <a:srgbClr val="1E1E2E"/>
                </a:solidFill>
                <a:latin typeface="Arial"/>
              </a:rPr>
              <a:t>Remove identity, secrets, endpoints, compute; confirm none left</a:t>
            </a:r>
          </a:p>
        </p:txBody>
      </p:sp>
      <p:sp>
        <p:nvSpPr>
          <p:cNvPr id="17" name="Rounded Rectangle 16"/>
          <p:cNvSpPr/>
          <p:nvPr/>
        </p:nvSpPr>
        <p:spPr>
          <a:xfrm>
            <a:off x="548640" y="544068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Never delete on zero sampled telemetry alone.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Backup and recovery responsibilities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651760"/>
                <a:gridCol w="3291840"/>
                <a:gridCol w="2377440"/>
                <a:gridCol w="2770632"/>
              </a:tblGrid>
              <a:tr h="320040">
                <a:tc>
                  <a:txBody>
                    <a:bodyPr wrap="square" anchor="ctr">
                      <a:noAutofit/>
                    </a:bodyPr>
                    <a:lstStyle/>
                    <a:p>
                      <a:pPr algn="l"/>
                      <a:r>
                        <a:rPr sz="15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Recovery method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Responsible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Customer decision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from IaC</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RTO per environment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Cosmos DB (agent state)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Continuous or periodic backup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Backup mode and retention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Storage account (documents)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Soft delete, versioning, replication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Retention and replication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Search index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from source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time accepted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Model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capacity may not be available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AI</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Second region or not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configuration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Redeploy policies from repository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Multi-region or not</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Runbooks, escalation and tower agreements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3017520"/>
                <a:gridCol w="8074152"/>
              </a:tblGrid>
              <a:tr h="320040">
                <a:tc>
                  <a:txBody>
                    <a:bodyPr wrap="square" anchor="ctr">
                      <a:noAutofit/>
                    </a:bodyPr>
                    <a:lstStyle/>
                    <a:p>
                      <a:pPr algn="l"/>
                      <a:r>
                        <a:rPr sz="1500" b="1" i="0">
                          <a:solidFill>
                            <a:srgbClr val="FFFFFF"/>
                          </a:solidFill>
                          <a:latin typeface="Arial"/>
                        </a:rPr>
                        <a:t>Agreement field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Content</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Lead and backup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resolver per tower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Hours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Must match or exceed the sold package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Targets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Internal response aligned to customer objectives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Escalation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Path and contacts to tower leadership</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Roles and PIM for each resolver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Charging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Internal charge or attributed revenue, per Finance</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hours, on-call and effort allowances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1965960"/>
        </p:xfrm>
        <a:graphic>
          <a:graphicData uri="http://schemas.openxmlformats.org/drawingml/2006/table">
            <a:tbl>
              <a:tblPr firstRow="1" bandRow="0">
                <a:tableStyleId>{5C22544A-7EE6-4342-B048-85BDC9FD1C3A}</a:tableStyleId>
              </a:tblPr>
              <a:tblGrid>
                <a:gridCol w="2103120"/>
                <a:gridCol w="2926080"/>
                <a:gridCol w="3291840"/>
                <a:gridCol w="27706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Coverage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Staffing model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Effort allowance</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Business hours, one time zone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Shared pool, named lead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 hours band; overage at rate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Extended hours, two time zones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Follow-the-sun pool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Higher band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24x7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Funded on-call roster, about 5 people per seat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plus band</a:t>
                      </a:r>
                    </a:p>
                  </a:txBody>
                  <a:tcPr marL="73152" marR="73152" marT="36576" marB="36576" anchor="ctr">
                    <a:solidFill>
                      <a:srgbClr val="FFFFFF"/>
                    </a:solidFill>
                  </a:tcPr>
                </a:tc>
              </a:tr>
            </a:tbl>
          </a:graphicData>
        </a:graphic>
      </p:graphicFrame>
      <p:sp>
        <p:nvSpPr>
          <p:cNvPr id="10" name="Rounded Rectangle 9"/>
          <p:cNvSpPr/>
          <p:nvPr/>
        </p:nvSpPr>
        <p:spPr>
          <a:xfrm>
            <a:off x="548640" y="338328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About 8,760 hours a year per seat ÷ about 1,700 productive hours per person. Estimate only. FTE and role-day bands: A20.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service objectives and reporting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NOT APPROVED"/>
          <p:cNvSpPr/>
          <p:nvPr/>
        </p:nvSpPr>
        <p:spPr>
          <a:xfrm>
            <a:off x="199644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3017520"/>
                <a:gridCol w="5486400"/>
                <a:gridCol w="2587752"/>
              </a:tblGrid>
              <a:tr h="320040">
                <a:tc>
                  <a:txBody>
                    <a:bodyPr wrap="square" anchor="ctr">
                      <a:noAutofit/>
                    </a:bodyPr>
                    <a:lstStyle/>
                    <a:p>
                      <a:pPr algn="l"/>
                      <a:r>
                        <a:rPr sz="1500" b="1" i="0">
                          <a:solidFill>
                            <a:srgbClr val="FFFFFF"/>
                          </a:solidFill>
                          <a:latin typeface="Arial"/>
                        </a:rPr>
                        <a:t>Objective (proposed)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Definition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Reported</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Response within target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priority, inside coverage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Change success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Changes without rollback or incident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Alert ownership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Alerts with owner and runbook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Drill completion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Containment and restore drills run and passed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Quarterly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Platform availability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Where meaningful, for contracted components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Cost visibility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Spend attributed to an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Monthly</a:t>
                      </a:r>
                    </a:p>
                  </a:txBody>
                  <a:tcPr marL="73152" marR="73152" marT="36576" marB="36576" anchor="ctr">
                    <a:solidFill>
                      <a:srgbClr val="F5F5F2"/>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Monthly governance and optimisation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8" name="Rounded Rectangle 7"/>
          <p:cNvSpPr/>
          <p:nvPr/>
        </p:nvSpPr>
        <p:spPr>
          <a:xfrm>
            <a:off x="54864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Service</a:t>
            </a:r>
          </a:p>
          <a:p>
            <a:pPr algn="l"/>
            <a:r>
              <a:rPr sz="1700" b="0" i="0">
                <a:solidFill>
                  <a:srgbClr val="1E1E2E"/>
                </a:solidFill>
                <a:latin typeface="Arial"/>
              </a:rPr>
              <a:t>Objectives, incidents, problems, changes</a:t>
            </a:r>
          </a:p>
        </p:txBody>
      </p:sp>
      <p:sp>
        <p:nvSpPr>
          <p:cNvPr id="9" name="Rounded Rectangle 8"/>
          <p:cNvSpPr/>
          <p:nvPr/>
        </p:nvSpPr>
        <p:spPr>
          <a:xfrm>
            <a:off x="6172200" y="13716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Agents</a:t>
            </a:r>
          </a:p>
          <a:p>
            <a:pPr algn="l"/>
            <a:r>
              <a:rPr sz="1700" b="0" i="0">
                <a:solidFill>
                  <a:srgbClr val="1E1E2E"/>
                </a:solidFill>
                <a:latin typeface="Arial"/>
              </a:rPr>
              <a:t>Catalogue changes, dormant reviews, drills</a:t>
            </a:r>
          </a:p>
        </p:txBody>
      </p:sp>
      <p:sp>
        <p:nvSpPr>
          <p:cNvPr id="10" name="Rounded Rectangle 9"/>
          <p:cNvSpPr/>
          <p:nvPr/>
        </p:nvSpPr>
        <p:spPr>
          <a:xfrm>
            <a:off x="54864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Capacity</a:t>
            </a:r>
          </a:p>
          <a:p>
            <a:pPr algn="l"/>
            <a:r>
              <a:rPr sz="1700" b="0" i="0">
                <a:solidFill>
                  <a:srgbClr val="1E1E2E"/>
                </a:solidFill>
                <a:latin typeface="Arial"/>
              </a:rPr>
              <a:t>Utilisation, throttling, quota, lifecycle</a:t>
            </a:r>
          </a:p>
        </p:txBody>
      </p:sp>
      <p:sp>
        <p:nvSpPr>
          <p:cNvPr id="11" name="Rounded Rectangle 10"/>
          <p:cNvSpPr/>
          <p:nvPr/>
        </p:nvSpPr>
        <p:spPr>
          <a:xfrm>
            <a:off x="6172200" y="3200400"/>
            <a:ext cx="5468112" cy="1645920"/>
          </a:xfrm>
          <a:prstGeom prst="roundRect">
            <a:avLst>
              <a:gd name="adj" fmla="val 444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600"/>
              </a:spcAft>
            </a:pPr>
            <a:r>
              <a:rPr sz="2000" b="1" i="0">
                <a:solidFill>
                  <a:srgbClr val="000048"/>
                </a:solidFill>
                <a:latin typeface="Arial"/>
              </a:rPr>
              <a:t>Cost</a:t>
            </a:r>
          </a:p>
          <a:p>
            <a:pPr algn="l"/>
            <a:r>
              <a:rPr sz="1700" b="0" i="0">
                <a:solidFill>
                  <a:srgbClr val="1E1E2E"/>
                </a:solidFill>
                <a:latin typeface="Arial"/>
              </a:rPr>
              <a:t>Spend versus budget, unit cost, actions</a:t>
            </a:r>
          </a:p>
        </p:txBody>
      </p:sp>
      <p:sp>
        <p:nvSpPr>
          <p:cNvPr id="12" name="Rounded Rectangle 11"/>
          <p:cNvSpPr/>
          <p:nvPr/>
        </p:nvSpPr>
        <p:spPr>
          <a:xfrm>
            <a:off x="548640" y="52120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Each action has an owner and a date, tracked to closure.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Pricing logic for the recurring service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FORMULA, NO RATES"/>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FORMULA, NO RATES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TextBox 8"/>
          <p:cNvSpPr txBox="1"/>
          <p:nvPr/>
        </p:nvSpPr>
        <p:spPr>
          <a:xfrm>
            <a:off x="548640" y="1371600"/>
            <a:ext cx="11064240" cy="822960"/>
          </a:xfrm>
          <a:prstGeom prst="rect">
            <a:avLst/>
          </a:prstGeom>
          <a:noFill/>
        </p:spPr>
        <p:txBody>
          <a:bodyPr wrap="square" lIns="0" rIns="0" tIns="0" bIns="0" anchor="t">
            <a:noAutofit/>
          </a:bodyPr>
          <a:lstStyle/>
          <a:p>
            <a:pPr algn="l">
              <a:spcAft>
                <a:spcPts val="400"/>
              </a:spcAft>
            </a:pPr>
            <a:r>
              <a:rPr sz="1800" b="1" i="0">
                <a:solidFill>
                  <a:srgbClr val="000048"/>
                </a:solidFill>
                <a:latin typeface="Arial"/>
              </a:rPr>
              <a:t>Monthly fee</a:t>
            </a:r>
            <a:r>
              <a:rPr sz="1800" b="0" i="0">
                <a:solidFill>
                  <a:srgbClr val="1E1E2E"/>
                </a:solidFill>
                <a:latin typeface="Arial"/>
              </a:rPr>
              <a:t> = base service fee + Σ (asset units x unit rate) + coverage uplift + specialist allowance</a:t>
            </a:r>
          </a:p>
          <a:p>
            <a:pPr algn="l"/>
            <a:r>
              <a:rPr sz="1800" b="1" i="0">
                <a:solidFill>
                  <a:srgbClr val="000048"/>
                </a:solidFill>
                <a:latin typeface="Arial"/>
              </a:rPr>
              <a:t>One-time</a:t>
            </a:r>
            <a:r>
              <a:rPr sz="1800" b="0" i="0">
                <a:solidFill>
                  <a:srgbClr val="1E1E2E"/>
                </a:solidFill>
                <a:latin typeface="Arial"/>
              </a:rPr>
              <a:t> = onboarding (gates in A1) + remediation work packages, if any</a:t>
            </a:r>
          </a:p>
        </p:txBody>
      </p:sp>
      <p:graphicFrame>
        <p:nvGraphicFramePr>
          <p:cNvPr id="10" name="Table"/>
          <p:cNvGraphicFramePr>
            <a:graphicFrameLocks noGrp="1"/>
          </p:cNvGraphicFramePr>
          <p:nvPr/>
        </p:nvGraphicFramePr>
        <p:xfrm>
          <a:off x="548640" y="2377440"/>
          <a:ext cx="11091672" cy="2148840"/>
        </p:xfrm>
        <a:graphic>
          <a:graphicData uri="http://schemas.openxmlformats.org/drawingml/2006/table">
            <a:tbl>
              <a:tblPr firstRow="1" bandRow="0">
                <a:tableStyleId>{5C22544A-7EE6-4342-B048-85BDC9FD1C3A}</a:tableStyleId>
              </a:tblPr>
              <a:tblGrid>
                <a:gridCol w="2743200"/>
                <a:gridCol w="4937760"/>
                <a:gridCol w="3410712"/>
              </a:tblGrid>
              <a:tr h="320040">
                <a:tc>
                  <a:txBody>
                    <a:bodyPr wrap="square" anchor="ctr">
                      <a:noAutofit/>
                    </a:bodyPr>
                    <a:lstStyle/>
                    <a:p>
                      <a:pPr algn="l"/>
                      <a:r>
                        <a:rPr sz="15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Missing input (owner)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service fee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Governance, reporting, service management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Base rate (Finance)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Asset units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Environments, AI resources, gateway APIs, agent bands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Unit rates (Finance)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Coverage uplift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Extended or continuous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(delivery leadership)</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hours inside the service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agreements (tower leads)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Hours or assets above band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Overage rate (Finance)</a:t>
                      </a:r>
                    </a:p>
                  </a:txBody>
                  <a:tcPr marL="73152" marR="73152" marT="36576" marB="36576"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ITSM and AIOps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71600"/>
          <a:ext cx="11091671" cy="2270760"/>
        </p:xfrm>
        <a:graphic>
          <a:graphicData uri="http://schemas.openxmlformats.org/drawingml/2006/table">
            <a:tbl>
              <a:tblPr firstRow="1" bandRow="0">
                <a:tableStyleId>{5C22544A-7EE6-4342-B048-85BDC9FD1C3A}</a:tableStyleId>
              </a:tblPr>
              <a:tblGrid>
                <a:gridCol w="2926080"/>
                <a:gridCol w="3566160"/>
                <a:gridCol w="2011680"/>
                <a:gridCol w="2587751"/>
              </a:tblGrid>
              <a:tr h="304800">
                <a:tc>
                  <a:txBody>
                    <a:bodyPr wrap="square" anchor="ctr">
                      <a:noAutofit/>
                    </a:bodyPr>
                    <a:lstStyle/>
                    <a:p>
                      <a:pPr algn="l"/>
                      <a:r>
                        <a:rPr sz="1400" b="1" i="0">
                          <a:solidFill>
                            <a:srgbClr val="FFFFFF"/>
                          </a:solidFill>
                          <a:latin typeface="Arial"/>
                        </a:rPr>
                        <a:t>Customer tool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Integration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Notes</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ServiceNow ITOM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Entra app registration needed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BMC Helix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pattern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ServiceNow ITSM (legacy connector)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ITSM action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Being 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Do not use for new work</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Other ITSM tools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Generic webhook or Logic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build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 per customer</a:t>
                      </a:r>
                    </a:p>
                  </a:txBody>
                  <a:tcPr marL="73152" marR="73152" marT="36576" marB="36576" anchor="ctr">
                    <a:solidFill>
                      <a:srgbClr val="F5F5F2"/>
                    </a:solidFill>
                  </a:tcPr>
                </a:tc>
              </a:tr>
            </a:tbl>
          </a:graphicData>
        </a:graphic>
      </p:graphicFrame>
      <p:sp>
        <p:nvSpPr>
          <p:cNvPr id="10" name="Rounded Rectangle 9"/>
          <p:cNvSpPr/>
          <p:nvPr/>
        </p:nvSpPr>
        <p:spPr>
          <a:xfrm>
            <a:off x="548640"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Correlate</a:t>
            </a:r>
          </a:p>
          <a:p>
            <a:pPr algn="l"/>
            <a:r>
              <a:rPr sz="1500" b="0" i="0">
                <a:solidFill>
                  <a:srgbClr val="1E1E2E"/>
                </a:solidFill>
                <a:latin typeface="Arial"/>
              </a:rPr>
              <a:t>Alert processing rules group related alerts</a:t>
            </a:r>
          </a:p>
        </p:txBody>
      </p:sp>
      <p:sp>
        <p:nvSpPr>
          <p:cNvPr id="11" name="Rounded Rectangle 10"/>
          <p:cNvSpPr/>
          <p:nvPr/>
        </p:nvSpPr>
        <p:spPr>
          <a:xfrm>
            <a:off x="429767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Reduce noise</a:t>
            </a:r>
          </a:p>
          <a:p>
            <a:pPr algn="l"/>
            <a:r>
              <a:rPr sz="1500" b="0" i="0">
                <a:solidFill>
                  <a:srgbClr val="1E1E2E"/>
                </a:solidFill>
                <a:latin typeface="Arial"/>
              </a:rPr>
              <a:t>Dynamic thresholds; every alert has an owner</a:t>
            </a:r>
          </a:p>
        </p:txBody>
      </p:sp>
      <p:sp>
        <p:nvSpPr>
          <p:cNvPr id="12" name="Rounded Rectangle 11"/>
          <p:cNvSpPr/>
          <p:nvPr/>
        </p:nvSpPr>
        <p:spPr>
          <a:xfrm>
            <a:off x="804671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Automate</a:t>
            </a:r>
          </a:p>
          <a:p>
            <a:pPr algn="l"/>
            <a:r>
              <a:rPr sz="1500" b="0" i="0">
                <a:solidFill>
                  <a:srgbClr val="1E1E2E"/>
                </a:solidFill>
                <a:latin typeface="Arial"/>
              </a:rPr>
              <a:t>Runbooks via Azure Automation or Logic Apps</a:t>
            </a:r>
          </a:p>
        </p:txBody>
      </p:sp>
      <p:sp>
        <p:nvSpPr>
          <p:cNvPr id="13" name="Rounded Rectangle 12"/>
          <p:cNvSpPr/>
          <p:nvPr/>
        </p:nvSpPr>
        <p:spPr>
          <a:xfrm>
            <a:off x="548640" y="54864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AIOps here means native correlation and automation. Third-party AIOps tools are the customer choice.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Operating Agent 365 and Copilot Studio agents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CATALOGUE"/>
          <p:cNvSpPr/>
          <p:nvPr/>
        </p:nvSpPr>
        <p:spPr>
          <a:xfrm>
            <a:off x="199644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CATALOGUE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3108960"/>
                <a:gridCol w="1463040"/>
                <a:gridCol w="3657600"/>
                <a:gridCol w="2862072"/>
              </a:tblGrid>
              <a:tr h="304800">
                <a:tc>
                  <a:txBody>
                    <a:bodyPr wrap="square" anchor="ctr">
                      <a:noAutofit/>
                    </a:bodyPr>
                    <a:lstStyle/>
                    <a:p>
                      <a:pPr algn="l"/>
                      <a:r>
                        <a:rPr sz="1400" b="1" i="0">
                          <a:solidFill>
                            <a:srgbClr val="FFFFFF"/>
                          </a:solidFill>
                          <a:latin typeface="Arial"/>
                        </a:rPr>
                        <a:t>Catalogue 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Frequency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does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Others do</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registry upkeep (Agent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Weekly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Reconcile registry with catalogue; flag unowned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owners confirm</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Dormant and orphaned agent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Prepare list and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Owners keep or retire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Agent identity hygiene (Entra)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Report stale identities and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approves changes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connectors via gateway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 change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APIs, limits, logging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Power Platform team admin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Containment drill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Quarterly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Run drill on platform layers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directs; AI verifies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Model retirement watch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List affected deployments, plan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tower re-evaluates</a:t>
                      </a:r>
                    </a:p>
                  </a:txBody>
                  <a:tcPr marL="73152" marR="73152" marT="36576" marB="36576" anchor="ctr">
                    <a:solidFill>
                      <a:srgbClr val="F5F5F2"/>
                    </a:solidFill>
                  </a:tcPr>
                </a:tc>
              </a:tr>
            </a:tbl>
          </a:graphicData>
        </a:graphic>
      </p:graphicFrame>
      <p:sp>
        <p:nvSpPr>
          <p:cNvPr id="10" name="Rounded Rectangle 9"/>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Microsoft 365 Copilot is owned by the Cognizant M365 and D365 teams and is outside this service.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Exit and transition: the way out is planned on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Rounded Rectangle 8"/>
          <p:cNvSpPr/>
          <p:nvPr/>
        </p:nvSpPr>
        <p:spPr>
          <a:xfrm>
            <a:off x="54864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1  Notice</a:t>
            </a:r>
          </a:p>
        </p:txBody>
      </p:sp>
      <p:sp>
        <p:nvSpPr>
          <p:cNvPr id="10" name="Rounded Rectangle 9"/>
          <p:cNvSpPr/>
          <p:nvPr/>
        </p:nvSpPr>
        <p:spPr>
          <a:xfrm>
            <a:off x="54864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Exit plan activated; owners named</a:t>
            </a:r>
          </a:p>
        </p:txBody>
      </p:sp>
      <p:cxnSp>
        <p:nvCxnSpPr>
          <p:cNvPr id="11" name="Connector (flow)"/>
          <p:cNvCxnSpPr/>
          <p:nvPr/>
        </p:nvCxnSpPr>
        <p:spPr>
          <a:xfrm>
            <a:off x="265176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8892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2  Inventory</a:t>
            </a:r>
          </a:p>
        </p:txBody>
      </p:sp>
      <p:sp>
        <p:nvSpPr>
          <p:cNvPr id="13" name="Rounded Rectangle 12"/>
          <p:cNvSpPr/>
          <p:nvPr/>
        </p:nvSpPr>
        <p:spPr>
          <a:xfrm>
            <a:off x="278892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Assets, agents, alerts, runbooks confirmed</a:t>
            </a:r>
          </a:p>
        </p:txBody>
      </p:sp>
      <p:cxnSp>
        <p:nvCxnSpPr>
          <p:cNvPr id="14" name="Connector (flow)"/>
          <p:cNvCxnSpPr/>
          <p:nvPr/>
        </p:nvCxnSpPr>
        <p:spPr>
          <a:xfrm>
            <a:off x="489204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3  Knowledge transfer</a:t>
            </a:r>
          </a:p>
        </p:txBody>
      </p:sp>
      <p:sp>
        <p:nvSpPr>
          <p:cNvPr id="16" name="Rounded Rectangle 15"/>
          <p:cNvSpPr/>
          <p:nvPr/>
        </p:nvSpPr>
        <p:spPr>
          <a:xfrm>
            <a:off x="502920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Shadow, then reverse shadow</a:t>
            </a:r>
          </a:p>
        </p:txBody>
      </p:sp>
      <p:cxnSp>
        <p:nvCxnSpPr>
          <p:cNvPr id="17" name="Connector (flow)"/>
          <p:cNvCxnSpPr/>
          <p:nvPr/>
        </p:nvCxnSpPr>
        <p:spPr>
          <a:xfrm>
            <a:off x="713232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4  Access handover</a:t>
            </a:r>
          </a:p>
        </p:txBody>
      </p:sp>
      <p:sp>
        <p:nvSpPr>
          <p:cNvPr id="19" name="Rounded Rectangle 18"/>
          <p:cNvSpPr/>
          <p:nvPr/>
        </p:nvSpPr>
        <p:spPr>
          <a:xfrm>
            <a:off x="726948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Roles removed; break-glass rotated</a:t>
            </a:r>
          </a:p>
        </p:txBody>
      </p:sp>
      <p:cxnSp>
        <p:nvCxnSpPr>
          <p:cNvPr id="20" name="Connector (flow)"/>
          <p:cNvCxnSpPr/>
          <p:nvPr/>
        </p:nvCxnSpPr>
        <p:spPr>
          <a:xfrm>
            <a:off x="937260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0976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5  Closure</a:t>
            </a:r>
          </a:p>
        </p:txBody>
      </p:sp>
      <p:sp>
        <p:nvSpPr>
          <p:cNvPr id="22" name="Rounded Rectangle 21"/>
          <p:cNvSpPr/>
          <p:nvPr/>
        </p:nvSpPr>
        <p:spPr>
          <a:xfrm>
            <a:off x="950976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Final report; open items handed over</a:t>
            </a:r>
          </a:p>
        </p:txBody>
      </p:sp>
      <p:sp>
        <p:nvSpPr>
          <p:cNvPr id="23" name="Rounded Rectangle 22"/>
          <p:cNvSpPr/>
          <p:nvPr/>
        </p:nvSpPr>
        <p:spPr>
          <a:xfrm>
            <a:off x="548640" y="3886200"/>
            <a:ext cx="11091672" cy="1097280"/>
          </a:xfrm>
          <a:prstGeom prst="roundRect">
            <a:avLst>
              <a:gd name="adj" fmla="val 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Customer keeps: </a:t>
            </a:r>
            <a:r>
              <a:rPr sz="1700" b="0" i="0">
                <a:solidFill>
                  <a:srgbClr val="1E1E2E"/>
                </a:solidFill>
                <a:latin typeface="Arial"/>
              </a:rPr>
              <a:t>runbooks, infrastructure as code, alert rules, dashboards, catalogue data and reports, all in customer tenants and repositories.</a:t>
            </a:r>
          </a:p>
        </p:txBody>
      </p:sp>
      <p:sp>
        <p:nvSpPr>
          <p:cNvPr id="24" name="Rounded Rectangle 23"/>
          <p:cNvSpPr/>
          <p:nvPr/>
        </p:nvSpPr>
        <p:spPr>
          <a:xfrm>
            <a:off x="548640" y="525780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Exit package: 15 to 30 role days over 4 to 6 weeks (estimate). Refresh the plan every year.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Staffing behind each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71600"/>
          <a:ext cx="11091672" cy="2392680"/>
        </p:xfrm>
        <a:graphic>
          <a:graphicData uri="http://schemas.openxmlformats.org/drawingml/2006/table">
            <a:tbl>
              <a:tblPr firstRow="1" bandRow="0">
                <a:tableStyleId>{5C22544A-7EE6-4342-B048-85BDC9FD1C3A}</a:tableStyleId>
              </a:tblPr>
              <a:tblGrid>
                <a:gridCol w="2377440"/>
                <a:gridCol w="1828800"/>
                <a:gridCol w="2286000"/>
                <a:gridCol w="45994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FTE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Role days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Indicative role mix</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1.5 to 3</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30 to 60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Service lead (part), platform engineers, shared on-call</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5</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60 to 100</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Service lead, engineers in two time zones</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6 to 10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120 to 200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About 5 people per 24x7 seat, plus lead and engineers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AI, Data Eng., Security hours inside the fee</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About 20 role days per FTE per month. Illustrative $1,000 per role day, not a Cognizant rate.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Platform accepted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Offering 01 gates or equivalent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Coverage need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Hours and containment expectation</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environment, ten agents,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Three environments, fifty agents, two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time zones, change windows standard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Strict change windows, several runtimes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24x7 seat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seats plus specialist escalation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Platform built by offering 01</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Inherited platform with gaps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Exit and transition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team ready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provider, full shadow period</a:t>
                      </a:r>
                    </a:p>
                  </a:txBody>
                  <a:tcPr marL="73152" marR="73152" marT="36576" marB="36576"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52984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Privileged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Operator changes production unsafely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PIM, just-in-time access, change approval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Rogue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outside scope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runbook, quarterly drills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directs, CIS Infra executes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Alert blind spot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Attack signal ignored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Defender alerts routed to security resolver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Stale identities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Unused agent identities keep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Monthly identity hygiene review</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with 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Model retirement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Unsupported model in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Monthly retirement watch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tower</a:t>
                      </a:r>
                    </a:p>
                  </a:txBody>
                  <a:tcPr marL="73152" marR="73152" marT="36576" marB="36576"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Onboarding and remediation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Data Eng., Security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agreement or work package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Formula in A16</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unit and uplift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Monitoring, logs, backup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workloads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 to the service fee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 hours plus operations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Separate scope if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1" cy="355092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Service design and onboarding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Monitoring and alert implementation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Onboarding readiness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incidents and changes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quality incidents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incidents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execution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Recovery and restart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Monthly governance and reporting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renewal</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498652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56032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operations base and assets,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$24,000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AI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$6,000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Data Eng. support allowance, per month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support allowance, per month</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$3,000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$36,000</a:t>
                      </a:r>
                    </a:p>
                  </a:txBody>
                  <a:tcPr marL="73152" marR="73152" marT="36576" marB="36576" anchor="ctr">
                    <a:solidFill>
                      <a:srgbClr val="FFFFFF"/>
                    </a:solidFill>
                  </a:tcPr>
                </a:tc>
              </a:tr>
            </a:tbl>
          </a:graphicData>
        </a:graphic>
      </p:graphicFrame>
      <p:sp>
        <p:nvSpPr>
          <p:cNvPr id="16" name="TextBox 15"/>
          <p:cNvSpPr txBox="1"/>
          <p:nvPr/>
        </p:nvSpPr>
        <p:spPr>
          <a:xfrm>
            <a:off x="6629400" y="434340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Accepted platform (offering 01 or equivalent), inventory, owners, ITSM route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Asset list, agents, alerts, runbooks, coverage need, tower contacts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Operated service, monthly report, reviews, drills, runbooks maintained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Contracted assets and coverage; specialist lanes per agreements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Tower agreements, security resolver, customer service desk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Onboard, stabilise, operate,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Onboarding gates A1; service acceptance by customer</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Service desk, approvals, containment authority, data owners</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Base + asset units + coverage uplift + allowance (A16)</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assets above band, coverage change, new runtime or region</a:t>
                      </a:r>
                    </a:p>
                  </a:txBody>
                  <a:tcPr marL="73152" marR="73152" marT="36576" marB="36576" anchor="ctr">
                    <a:solidFill>
                      <a:srgbClr val="F5F5F2"/>
                    </a:solidFill>
                  </a:tcPr>
                </a:tc>
              </a:tr>
              <a:tr h="25908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Exit plan agreed at start; exit package (A19)</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Objectives met, drills passed, cost reviewed, alert ownership</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Proposed packages for pilots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24x7 without funded roster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Service objectives values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 with customer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ticket data</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Base, unit and uplift rates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Tower support agreements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Signed agreements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Security resolver model per customer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CISO delegate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Existing SOC contracts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Staffing bands behind packages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effort data</a:t>
                      </a:r>
                    </a:p>
                  </a:txBody>
                  <a:tcPr marL="73152" marR="73152" marT="36576" marB="36576"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network flows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08_baseline-microsoft-foundry-network-flow.png" descr="08_baseline-microsoft-foundry-network-flow.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08_baseline-microsoft-foundry-network-flow.png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derive the monitored dependency map (A3). Source labels the model "Azure OpenAI model".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v3.0  ·  11 Oct 2026  ·  Working proposal, not approved terms</a:t>
            </a:r>
          </a:p>
        </p:txBody>
      </p:sp>
      <p:sp>
        <p:nvSpPr>
          <p:cNvPr id="7" name="IndexLink">
            <a:hlinkClick action="ppaction://hlinksldjump" r:id="rId21"/>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Foundry Control Plane: manage agents:  </a:t>
            </a:r>
            <a:r>
              <a:rPr sz="1100" b="0" i="0">
                <a:solidFill>
                  <a:srgbClr val="2F78C4"/>
                </a:solidFill>
                <a:latin typeface="Arial"/>
                <a:hlinkClick r:id="rId4"/>
              </a:rPr>
              <a:t>https://learn.microsoft.com/en-us/azure/foundry/control-plane/how-to-manage-agents</a:t>
            </a:r>
          </a:p>
          <a:p>
            <a:pPr algn="l">
              <a:spcAft>
                <a:spcPts val="300"/>
              </a:spcAft>
            </a:pPr>
            <a:r>
              <a:rPr sz="1100" b="1" i="0">
                <a:solidFill>
                  <a:srgbClr val="000048"/>
                </a:solidFill>
                <a:latin typeface="Arial"/>
              </a:rPr>
              <a:t>Foundry Control Plane: register custom agent:  </a:t>
            </a:r>
            <a:r>
              <a:rPr sz="1100" b="0" i="0">
                <a:solidFill>
                  <a:srgbClr val="2F78C4"/>
                </a:solidFill>
                <a:latin typeface="Arial"/>
                <a:hlinkClick r:id="rId5"/>
              </a:rPr>
              <a:t>https://learn.microsoft.com/en-us/azure/foundry/control-plane/register-custom-agent</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6"/>
              </a:rPr>
              <a:t>https://www.microsoft.com/en-us/security/blog/2026/05/01/microsoft-agent-365-now-generally-available-expands-capabilities-and-integrations/</a:t>
            </a:r>
          </a:p>
          <a:p>
            <a:pPr algn="l">
              <a:spcAft>
                <a:spcPts val="300"/>
              </a:spcAft>
            </a:pPr>
            <a:r>
              <a:rPr sz="1100" b="1" i="0">
                <a:solidFill>
                  <a:srgbClr val="000048"/>
                </a:solidFill>
                <a:latin typeface="Arial"/>
              </a:rPr>
              <a:t>Entra Agent ID change tracker (third party, entradiff.merill.net):  </a:t>
            </a:r>
            <a:r>
              <a:rPr sz="1100" b="0" i="0">
                <a:solidFill>
                  <a:srgbClr val="2F78C4"/>
                </a:solidFill>
                <a:latin typeface="Arial"/>
                <a:hlinkClick r:id="rId7"/>
              </a:rPr>
              <a:t>https://entradiff.merill.net/products/agent-id/</a:t>
            </a:r>
          </a:p>
          <a:p>
            <a:pPr algn="l">
              <a:spcAft>
                <a:spcPts val="300"/>
              </a:spcAft>
            </a:pPr>
            <a:r>
              <a:rPr sz="1100" b="1" i="0">
                <a:solidFill>
                  <a:srgbClr val="000048"/>
                </a:solidFill>
                <a:latin typeface="Arial"/>
              </a:rPr>
              <a:t>IT Service Management integration (Azure Monitor):  </a:t>
            </a:r>
            <a:r>
              <a:rPr sz="1100" b="0" i="0">
                <a:solidFill>
                  <a:srgbClr val="2F78C4"/>
                </a:solidFill>
                <a:latin typeface="Arial"/>
                <a:hlinkClick r:id="rId8"/>
              </a:rPr>
              <a:t>https://learn.microsoft.com/en-us/azure/azure-monitor/alerts/itsmc-overview</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9"/>
              </a:rPr>
              <a:t>https://learn.microsoft.com/en-us/azure/foundry/openai/concepts/model-retirement-schedule</a:t>
            </a:r>
          </a:p>
          <a:p>
            <a:pPr algn="l">
              <a:spcAft>
                <a:spcPts val="300"/>
              </a:spcAft>
            </a:pPr>
            <a:r>
              <a:rPr sz="1100" b="1" i="0">
                <a:solidFill>
                  <a:srgbClr val="000048"/>
                </a:solidFill>
                <a:latin typeface="Arial"/>
              </a:rPr>
              <a:t>Provisioned throughput concepts:  </a:t>
            </a:r>
            <a:r>
              <a:rPr sz="1100" b="0" i="0">
                <a:solidFill>
                  <a:srgbClr val="2F78C4"/>
                </a:solidFill>
                <a:latin typeface="Arial"/>
                <a:hlinkClick r:id="rId10"/>
              </a:rPr>
              <a:t>https://learn.microsoft.com/en-us/azure/foundry/openai/concepts/provisioned-throughput</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11"/>
              </a:rPr>
              <a:t>https://prices.azure.com/api/retail/prices?$filter=serviceName eq 'Log Analytics' and armRegionName eq 'eastus2'</a:t>
            </a:r>
          </a:p>
          <a:p>
            <a:pPr algn="l">
              <a:spcAft>
                <a:spcPts val="300"/>
              </a:spcAft>
            </a:pPr>
            <a:r>
              <a:rPr sz="1100" b="1" i="0">
                <a:solidFill>
                  <a:srgbClr val="000048"/>
                </a:solidFill>
                <a:latin typeface="Arial"/>
              </a:rPr>
              <a:t>AI gateway capabilities in API Management:  </a:t>
            </a:r>
            <a:r>
              <a:rPr sz="1100" b="0" i="0">
                <a:solidFill>
                  <a:srgbClr val="2F78C4"/>
                </a:solidFill>
                <a:latin typeface="Arial"/>
                <a:hlinkClick r:id="rId12"/>
              </a:rPr>
              <a:t>https://learn.microsoft.com/en-us/azure/api-management/genai-gateway-capabilities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3"/>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4"/>
              </a:rPr>
              <a:t>https://learn.microsoft.com/en-us/purview/ai-microsoft-purview</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5"/>
              </a:rPr>
              <a:t>https://www.orrick.com/en/Insights/2026/07/EU-AI-Act-Update-Digital-Omnibus-Finalizes-8-Compliance-Changes</a:t>
            </a:r>
          </a:p>
          <a:p>
            <a:pPr algn="l">
              <a:spcAft>
                <a:spcPts val="300"/>
              </a:spcAft>
            </a:pPr>
            <a:r>
              <a:rPr sz="1100" b="1" i="0">
                <a:solidFill>
                  <a:srgbClr val="000048"/>
                </a:solidFill>
                <a:latin typeface="Arial"/>
              </a:rPr>
              <a:t>OWASP Top 10 for LLM Applications:  </a:t>
            </a:r>
            <a:r>
              <a:rPr sz="1100" b="0" i="0">
                <a:solidFill>
                  <a:srgbClr val="2F78C4"/>
                </a:solidFill>
                <a:latin typeface="Arial"/>
                <a:hlinkClick r:id="rId16"/>
              </a:rPr>
              <a:t>https://genai.owasp.org/llm-top-10/</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17"/>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18"/>
              </a:rPr>
              <a:t>https://az-icons.com/</a:t>
            </a:r>
          </a:p>
          <a:p>
            <a:pPr algn="l">
              <a:spcAft>
                <a:spcPts val="300"/>
              </a:spcAft>
            </a:pPr>
            <a:r>
              <a:rPr sz="1100" b="1" i="0">
                <a:solidFill>
                  <a:srgbClr val="000048"/>
                </a:solidFill>
                <a:latin typeface="Arial"/>
              </a:rPr>
              <a:t>GTM proposal V3 (managed operations section):  </a:t>
            </a:r>
            <a:r>
              <a:rPr sz="1100" b="0" i="0">
                <a:solidFill>
                  <a:srgbClr val="2F78C4"/>
                </a:solidFill>
                <a:latin typeface="Arial"/>
                <a:hlinkClick r:id="rId19"/>
              </a:rPr>
              <a:t>https://github.com/upendra25312/AI-Foundry-GTM-offering-/blob/main/CIS_Infra_Azure_AI_Platform_GTM_Proposal_V3.docx</a:t>
            </a:r>
          </a:p>
          <a:p>
            <a:pPr algn="l">
              <a:spcAft>
                <a:spcPts val="300"/>
              </a:spcAft>
            </a:pPr>
            <a:r>
              <a:rPr sz="1100" b="1" i="0">
                <a:solidFill>
                  <a:srgbClr val="000048"/>
                </a:solidFill>
                <a:latin typeface="Arial"/>
              </a:rPr>
              <a:t>Foundry agent monitoring dashboard:  </a:t>
            </a:r>
            <a:r>
              <a:rPr sz="1100" b="0" i="0">
                <a:solidFill>
                  <a:srgbClr val="2F78C4"/>
                </a:solidFill>
                <a:latin typeface="Arial"/>
                <a:hlinkClick r:id="rId20"/>
              </a:rPr>
              <a:t>https://learn.microsoft.com/en-us/azure/foundry/observability/how-to/how-to-monitor-agents-dashboard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Managed AI Platform Operations v3.0</dc:title>
  <dcterms:created xsi:type="dcterms:W3CDTF">2026-10-10T13:56:28.3080000Z</dcterms:created>
  <dcterms:modified xsi:type="dcterms:W3CDTF">2026-10-10T13:56:28.3090000Z</dcterms:modified>
  <dc:subject>Proposed CIS Infra GTM offering for internal leadership review</dc:subject>
</coreProperties>
</file>