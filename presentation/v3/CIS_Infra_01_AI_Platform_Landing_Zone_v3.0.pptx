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 xmlns:ns0="http://schemas.openxmlformats.org/officeDocument/2006/relationships" id="296" ns0:id="rId49"/>
    <p:sldId xmlns:ns0="http://schemas.openxmlformats.org/officeDocument/2006/relationships" id="297" ns0:id="rId50"/>
    <p:sldId xmlns:ns0="http://schemas.openxmlformats.org/officeDocument/2006/relationships" id="298" ns0:id="rId51"/>
    <p:sldId xmlns:ns0="http://schemas.openxmlformats.org/officeDocument/2006/relationships" id="299" ns0:id="rId52"/>
    <p:sldId xmlns:ns0="http://schemas.openxmlformats.org/officeDocument/2006/relationships" id="300" ns0:id="rId53"/>
    <p:sldId xmlns:ns0="http://schemas.openxmlformats.org/officeDocument/2006/relationships" id="301" ns0:id="rId54"/>
    <p:sldId xmlns:ns0="http://schemas.openxmlformats.org/officeDocument/2006/relationships" id="302" ns0:id="rId55"/>
    <p:sldId xmlns:ns0="http://schemas.openxmlformats.org/officeDocument/2006/relationships" id="303" ns0:id="rId56"/>
    <p:sldId xmlns:ns0="http://schemas.openxmlformats.org/officeDocument/2006/relationships" id="304" ns0:id="rId57"/>
    <p:sldId xmlns:ns0="http://schemas.openxmlformats.org/officeDocument/2006/relationships" id="305" ns0:id="rId58"/>
    <p:sldId xmlns:ns0="http://schemas.openxmlformats.org/officeDocument/2006/relationships" id="306" ns0:id="rId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foundation offering. Customers cannot run AI agents safely until identity, network, environments and cost ownership are in place. We sell that foundation as a bounded package tied to one funded workload, not as open-ended consulting.</a:t>
            </a:r>
          </a:p>
          <a:p/>
          <a:p>
            <a:r>
              <a:t>Likely question: How does this relate to the other four decks?</a:t>
            </a:r>
          </a:p>
          <a:p>
            <a:r>
              <a:t>Answer: It is the base layer. The gateway, agent governance and managed operations all sit on it, and the FinOps assessment tells us how to size it.</a:t>
            </a:r>
          </a:p>
          <a:p/>
          <a:p>
            <a:r>
              <a:t>DETAIL AND CAVEATS</a:t>
            </a:r>
          </a:p>
          <a:p>
            <a:r>
              <a:t>Opening slide. Part of a six-deck portfolio; deck 00 is the master overview.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things to take away. Pilots fail at the platform, not the model. We fix the platform for one funded workload using Microsoft’s own accelerator. And we ask for three decisions today: a sponsor, the three packages, and acceptance of estimate ranges.</a:t>
            </a:r>
          </a:p>
          <a:p/>
          <a:p>
            <a:r>
              <a:t>Likely question: Why lead with infrastructure rather than AI use cases?</a:t>
            </a:r>
          </a:p>
          <a:p>
            <a:r>
              <a:t>Answer: Because the AI tower and the business own the use case. Our edge is getting it into a governed production platform quickly and repeatably.</a:t>
            </a:r>
          </a:p>
          <a:p/>
          <a:p>
            <a:r>
              <a:t>DETAIL AND CAVEATS</a:t>
            </a:r>
          </a:p>
          <a:p>
            <a:r>
              <a:t>Answers the demand, outcome and decision questions. Source: CIS Infra Azure AI Platform GTM Proposal V3 (8 Oct 2026).</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forces make this urgent: customers want pilots in production, models now retire within about a year so platforms must be repeatable, and EU regulation has firm dates. The buyer is the platform leader; the trigger is a stuck pilot.</a:t>
            </a:r>
          </a:p>
          <a:p/>
          <a:p>
            <a:r>
              <a:t>Likely question: Do we have customer demand evidence?</a:t>
            </a:r>
          </a:p>
          <a:p>
            <a:r>
              <a:t>Answer: Not yet. The 30-day validation asks account teams for three qualified candidates using the scorecard in appendix Q1.</a:t>
            </a:r>
          </a:p>
          <a:p/>
          <a:p>
            <a:r>
              <a:t>DETAIL AND CAVEATS</a:t>
            </a:r>
          </a:p>
          <a:p>
            <a:r>
              <a:t>Drivers are sourced public facts, not market statistics. No customer or pipeline is claimed.</a:t>
            </a:r>
          </a:p>
          <a:p/>
          <a:p>
            <a:r>
              <a:t>Sources (checked 11 Oct 2026):</a:t>
            </a:r>
          </a:p>
          <a:p>
            <a:r>
              <a:t>Cloud Adoption Framework: AI Ready: https://learn.microsoft.com/en-us/azure/cloud-adoption-framework/ai/ready</a:t>
            </a:r>
          </a:p>
          <a:p>
            <a:r>
              <a:t>Foundry Models retirement schedule: https://learn.microsoft.com/en-us/azure/foundry/openai/concepts/model-retirement-schedule</a:t>
            </a:r>
          </a:p>
          <a:p>
            <a:r>
              <a:t>EU AI Act Update: Digital Omnibus finalises compliance changes (Orrick, 29 Jul 2026): https://www.orrick.com/en/Insights/2026/07/EU-AI-Act-Update-Digital-Omnibus-Finalizes-8-Compliance-Changes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foundation of five offerings. Around them sits the Microsoft ecosystem: Microsoft 365 Copilot stays with our M365 and D365 teams, while Copilot Studio agents, Agent 365 and API Center now run on or connect to the platform we build.</a:t>
            </a:r>
          </a:p>
          <a:p/>
          <a:p>
            <a:r>
              <a:t>Likely question: Why is M365 Copilot not ours?</a:t>
            </a:r>
          </a:p>
          <a:p>
            <a:r>
              <a:t>Answer: It is a SaaS licence and adoption motion owned by the M365 and D365 teams. We supply identity, network and data-protection readiness.</a:t>
            </a:r>
          </a:p>
          <a:p/>
          <a:p>
            <a:r>
              <a:t>DETAIL AND CAVEATS</a:t>
            </a:r>
          </a:p>
          <a:p>
            <a:r>
              <a:t>Portfolio of five CIS Infra offerings plus the Microsoft ecosystem around them. Microsoft 365 Copilot is owned by the Cognizant M365 and D365 teams; the split between them and joint-deal leadership are open decisions. Copilot Studio agents are a covered runtime. Agent 365 is configured before any custom build. API Center is the tool registry CIS Infra builds alongside API Management. Master view: deck 00.</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Left column is what we sell and deliver. Middle is what we can add. Right is what other towers and the customer own; being explicit here prevents scope creep and protects margin.</a:t>
            </a:r>
          </a:p>
          <a:p/>
          <a:p>
            <a:r>
              <a:t>Likely question: Who owns Terraform?</a:t>
            </a:r>
          </a:p>
          <a:p>
            <a:r>
              <a:t>Answer: DevOps in this baseline, unless CIS Infra staffs and maintains the modules. That is a decision for today.</a:t>
            </a:r>
          </a:p>
          <a:p/>
          <a:p>
            <a:r>
              <a:t>DETAIL AND CAVEATS</a:t>
            </a:r>
          </a:p>
          <a:p>
            <a:r>
              <a:t>Scope boundaries from V3 proposal.</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it in three steps. Users come in through a web firewall to the app. The app calls the Foundry project and model over private links, with data in AI Search and a Storage account. Everything outbound goes through the hub firewall, and every resource reports to shared monitoring and budgets. Shared platform on the left, separate production and non-production subscriptions on the right.</a:t>
            </a:r>
          </a:p>
          <a:p/>
          <a:p>
            <a:r>
              <a:t>Likely question: Is this the Microsoft design?</a:t>
            </a:r>
          </a:p>
          <a:p>
            <a:r>
              <a:t>Answer: It is our simplified adaptation of Microsoft’s AI Landing Zone reference, marked as proposed. Detailed network views are in the appendix.</a:t>
            </a:r>
          </a:p>
          <a:p/>
          <a:p>
            <a:r>
              <a:t>DETAIL AND CAVEATS</a:t>
            </a:r>
          </a:p>
          <a:p>
            <a:r>
              <a:t>Simplified, editable executive view. Adapted from the AI Landing Zone with platform landing zone diagram (04_AI-Landing-Zone-with-platform.png, source https://github.com/Azure/AI-Landing-Zones) and the Foundry baseline landing zone architecture. Not the original; detailed network and egress diagrams are in the appendix.</a:t>
            </a:r>
          </a:p>
          <a:p/>
          <a:p>
            <a:r>
              <a:t>Reading order: (1) users reach the workload through Application Gateway with WAF; (2) the app host calls the Foundry project and model deployment through private endpoints; (3) retrieval and state use AI Search and a Storage account; secrets in Key Vault; (4) outbound traffic routes through the hub firewall; (5) all resources send telemetry to Log Analytics and Application Insights and are governed by management-group policy and budgets. Identity: managed identities for workloads, Entra PIM for privileged operators.</a:t>
            </a:r>
          </a:p>
          <a:p/>
          <a:p>
            <a:r>
              <a:t>Storage label: the icon is the Azure Storage account; blob containers live inside it.</a:t>
            </a:r>
          </a:p>
          <a:p/>
          <a:p>
            <a:r>
              <a:t>Sources (checked 11 Oct 2026):</a:t>
            </a:r>
          </a:p>
          <a:p>
            <a:r>
              <a:t>Adapted from https://github.com/upendra25312/AI-Foundry-GTM-offering-/blob/main/architectures/04_AI-Landing-Zone-with-platform.png</a:t>
            </a:r>
          </a:p>
          <a:p>
            <a:r>
              <a:t>https://github.com/Azure/AI-Landing-Zones</a:t>
            </a:r>
          </a:p>
          <a:p>
            <a:r>
              <a:t>https://learn.microsoft.com/en-us/azure/architecture/ai-ml/architecture/baseline-microsoft-foundry-landing-zone</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engagement starts in one of three places. If we do not know enough, we sell a fixed-fee assessment. If the customer has a mature landing zone, we extend it. If not, we establish the platform first. All three reuse Microsoft’s open-source AI Landing Zone, so we are not building from scratch.</a:t>
            </a:r>
          </a:p>
          <a:p/>
          <a:p>
            <a:r>
              <a:t>Likely question: How much does reuse save?</a:t>
            </a:r>
          </a:p>
          <a:p>
            <a:r>
              <a:t>Answer: We estimate 20 to 30 percent of platform engineering effort, to be proven in the pilot. See appendix A0.</a:t>
            </a:r>
          </a:p>
          <a:p/>
          <a:p>
            <a:r>
              <a:t>DETAIL AND CAVEATS</a:t>
            </a:r>
          </a:p>
          <a:p>
            <a:r>
              <a:t>Routes: assess first when access, connectivity or capacity is unknown; extend when a mature landing zone exists; establish when platform gaps or a new tenant scope exist. All three reuse the Microsoft AI Landing Zone accelerator (Agent Landing Zone and AI Gateway Landing Zone; Portal, Bicep and Terraform on Azure Verified Modules) to cut build effort. Transition hands over to operations.</a:t>
            </a:r>
          </a:p>
          <a:p/>
          <a:p>
            <a:r>
              <a:t>Sources (checked 11 Oct 2026):</a:t>
            </a:r>
          </a:p>
          <a:p>
            <a:r>
              <a:t>Azure AI Landing Zones (GitHub): https://github.com/Azure/AI-Landing-Zones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are planning estimates, not quotes. An extension is around 70 to 110 role days across all towers, about two to three months. A new foundation roughly doubles that. The fee bands use a placeholder rate of 1,000 dollars a day so Finance can rescale them.</a:t>
            </a:r>
          </a:p>
          <a:p/>
          <a:p>
            <a:r>
              <a:t>Likely question: Where does 88 days come from?</a:t>
            </a:r>
          </a:p>
          <a:p>
            <a:r>
              <a:t>Answer: The V3 proposal’s worked example for a bounded extension; the mid-point of our extend range.</a:t>
            </a:r>
          </a:p>
          <a:p/>
          <a:p>
            <a:r>
              <a:t>DETAIL AND CAVEATS</a:t>
            </a:r>
          </a:p>
          <a:p>
            <a:r>
              <a:t>Ranges cover all towers (CIS Infra, Security, DevOps, Data, Data Engineering, AI). Extend anchored on the V3 worked example of 88 role days. Assumptions in appendix E1.</a:t>
            </a:r>
          </a:p>
          <a:p/>
          <a:p>
            <a:r>
              <a:t>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Four risks decide this offering. The biggest is selling a platform with no funded workload. Each risk has a handling approach and a named owner.</a:t>
            </a:r>
          </a:p>
          <a:p/>
          <a:p>
            <a:r>
              <a:t>Likely question: What about security?</a:t>
            </a:r>
          </a:p>
          <a:p>
            <a:r>
              <a:t>Answer: The threat model and regulatory checkpoints are in the design phase, owned by Security; see appendix SEC1 and SEC2.</a:t>
            </a:r>
          </a:p>
          <a:p/>
          <a:p>
            <a:r>
              <a:t>DETAIL AND CAVEATS</a:t>
            </a:r>
          </a:p>
          <a:p>
            <a:r>
              <a:t>Top risks. A critical dependency without a signed commitment blocks the implementation quote (V3 rule).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will measure success with five tests that a customer can witness. And we need three decisions today; the rest wait for pilot evidence or Finance.</a:t>
            </a:r>
          </a:p>
          <a:p/>
          <a:p>
            <a:r>
              <a:t>Likely question: When could we take this to customers?</a:t>
            </a:r>
          </a:p>
          <a:p>
            <a:r>
              <a:t>Answer: After the 30-day validation and one pilot, subject to Finance approving rates.</a:t>
            </a:r>
          </a:p>
          <a:p/>
          <a:p>
            <a:r>
              <a:t>DETAIL AND CAVEATS</a:t>
            </a:r>
          </a:p>
          <a:p>
            <a:r>
              <a:t>Platform acceptance and workload acceptance are separate milestones.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All useful baseline content is retained here. Use the appendix index (next slide)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"Extending a landing zone versus building a new one". Audit finding: explain the difference between extending an existing landing zone and establishing a new foundation. Extending reuses an accepted platform after validation. Establishing builds the platform layer first.</a:t>
            </a:r>
          </a:p>
          <a:p/>
          <a:p>
            <a:r>
              <a:t>DETAIL AND CAVEATS</a:t>
            </a:r>
          </a:p>
          <a:p>
            <a:r>
              <a:t>Audit finding: explain the difference between extending an existing landing zone and establishing a new foundation. Extending reuses an accepted platform after validation. Establishing builds the platform layer first. New foundations are never included in the extension price.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"Proposed package structure". Proposed packaging. Durations are not given because they depend on access, approvals and named tower staff. The V3 worked example (about 88 role days for a bounded extension: Infra 40, Security 8, DevOps 12, Data 4, Data Engineering 12, AI 12) is effort before contingency and is illustrative only.</a:t>
            </a:r>
          </a:p>
          <a:p/>
          <a:p>
            <a:r>
              <a:t>DETAIL AND CAVEATS</a:t>
            </a:r>
          </a:p>
          <a:p>
            <a:r>
              <a:t>Proposed packaging. Durations are not given because they depend on access, approvals and named tower staff. The V3 worked example (about 88 role days for a bounded extension: Infra 40, Security 8, DevOps 12, Data 4, Data Engineering 12, AI 12) is effort before contingency and is illustrative only.</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"Management groups, subscriptions, policy and tags". Editable reconstruction of the management group and subscription layout from the AI Landing Zone diagram (04_AI-Landing-Zone-with-platform.png). AI resources sit in governed application landing-zone subscriptions, separate for production and non-production. Policy assignment at management group scope is inherited.</a:t>
            </a:r>
          </a:p>
          <a:p/>
          <a:p>
            <a:r>
              <a:t>DETAIL AND CAVEATS</a:t>
            </a:r>
          </a:p>
          <a:p>
            <a:r>
              <a:t>Editable reconstruction of the management group and subscription layout from the AI Landing Zone diagram (04_AI-Landing-Zone-with-platform.png). AI resources sit in governed application landing-zone subscriptions, separate for production and non-production. Policy assignment at management group scope is inherited.</a:t>
            </a:r>
          </a:p>
          <a:p/>
          <a:p>
            <a:r>
              <a:t>Sources (checked 11 Oct 2026):</a:t>
            </a:r>
          </a:p>
          <a:p>
            <a:r>
              <a:t>https://github.com/upendra25312/AI-Foundry-GTM-offering-/blob/main/architectures/04_AI-Landing-Zone-with-platform.png</a:t>
            </a:r>
          </a:p>
          <a:p>
            <a:r>
              <a:t>Cloud Adoption Framework: AI Ready: https://learn.microsoft.com/en-us/azure/cloud-adoption-framework/ai/ready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"Identity, RBAC and privileged access". Identity baseline. Security designs and verifies identity controls; CIS Infra implements its allocated platform controls. Keys for Foundry, Search and Storage are disabled where the service supports it, so that identity is the only access path.</a:t>
            </a:r>
          </a:p>
          <a:p/>
          <a:p>
            <a:r>
              <a:t>DETAIL AND CAVEATS</a:t>
            </a:r>
          </a:p>
          <a:p>
            <a:r>
              <a:t>Identity baseline. Security designs and verifies identity controls; CIS Infra implements its allocated platform controls. Keys for Foundry, Search and Storage are disabled where the service supports it, so that identity is the only access path.</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"Hub connectivity, private endpoints and DNS". Editable reconstruction of 11_baseline-landing-zone-networking.png (Microsoft Foundry chat baseline in an Azure landing zone). The original PNG clips several labels ("Workload landing zo", "Azure Firewa") in its rendering, so it is kept only as a traceability reference in appendix O3. Subnet names follow the source.</a:t>
            </a:r>
          </a:p>
          <a:p/>
          <a:p>
            <a:r>
              <a:t>DETAIL AND CAVEATS</a:t>
            </a:r>
          </a:p>
          <a:p>
            <a:r>
              <a:t>Editable reconstruction of 11_baseline-landing-zone-networking.png (Microsoft Foundry chat baseline in an Azure landing zone). The original PNG clips several labels ("Workload landing zo", "Azure Firewa") in its rendering, so it is kept only as a traceability reference in appendix O3. Subnet names follow the source. Changes: simplified to one spoke, labels completed, flows numbered.</a:t>
            </a:r>
          </a:p>
          <a:p/>
          <a:p>
            <a:r>
              <a:t>Flows: (1) users reach Application Gateway with WAF in snet-appGateway; (2) App Service uses VNet integration (snet-appServicePlan) to reach private endpoints; (3) Foundry Agent Service egress uses snet-agentsEgress; (4) all private endpoints in snet-privateEndpoints resolve through hub-provided DNS (DNS Private Resolver and Private DNS zones for Private Link); (5) UDRs send workload egress to the hub firewall.</a:t>
            </a:r>
          </a:p>
          <a:p/>
          <a:p>
            <a:r>
              <a:t>Sources (checked 11 Oct 2026):</a:t>
            </a:r>
          </a:p>
          <a:p>
            <a:r>
              <a:t>https://github.com/upendra25312/AI-Foundry-GTM-offering-/blob/main/architectures/11_baseline-landing-zone-networking.png</a:t>
            </a:r>
          </a:p>
          <a:p>
            <a:r>
              <a:t>https://github.com/upendra25312/AI-Foundry-GTM-offering-/blob/main/architectures/05_baseline-landing-zone-networking.vsdx</a:t>
            </a:r>
          </a:p>
          <a:p>
            <a:r>
              <a:t>https://learn.microsoft.com/en-us/azure/architecture/ai-ml/architecture/baseline-microsoft-foundry-landing-zone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"Controlled egress through the hub firewall". Editable reconstruction of 12_baseline-landing-zone-networking-egress.png. Where possible, all workload-originated internet-bound traffic flows through the hub firewall because of the 0.0.0.0/0 UDR. The source does not prove every managed service honours the same route; validate effective routes and supported egress per service before enforcing forced tunnelling.</a:t>
            </a:r>
          </a:p>
          <a:p/>
          <a:p>
            <a:r>
              <a:t>DETAIL AND CAVEATS</a:t>
            </a:r>
          </a:p>
          <a:p>
            <a:r>
              <a:t>Editable reconstruction of 12_baseline-landing-zone-networking-egress.png. Where possible, all workload-originated internet-bound traffic flows through the hub firewall because of the 0.0.0.0/0 UDR. The source does not prove every managed service honours the same route; validate effective routes and supported egress per service before enforcing forced tunnelling.</a:t>
            </a:r>
          </a:p>
          <a:p/>
          <a:p>
            <a:r>
              <a:t>Sources (checked 11 Oct 2026):</a:t>
            </a:r>
          </a:p>
          <a:p>
            <a:r>
              <a:t>https://github.com/upendra25312/AI-Foundry-GTM-offering-/blob/main/architectures/12_baseline-landing-zone-networking-egress.png</a:t>
            </a:r>
          </a:p>
          <a:p>
            <a:r>
              <a:t>https://github.com/upendra25312/AI-Foundry-GTM-offering-/blob/main/architectures/06_baseline-landing-zone-networking-egress.vsdx</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"Private ingress is distinct from outbound connectivity". Inbound App Service private endpoint does not provide outbound integration. Use separate subnets and validate private DNS, deployment (SCM) access and permitted outbound dependencies. Other runtimes have different network patterns.</a:t>
            </a:r>
          </a:p>
          <a:p/>
          <a:p>
            <a:r>
              <a:t>DETAIL AND CAVEATS</a:t>
            </a:r>
          </a:p>
          <a:p>
            <a:r>
              <a:t>Inbound App Service private endpoint does not provide outbound integration. Use separate subnets and validate private DNS, deployment (SCM) access and permitted outbound dependencies. Other runtimes have different network patterns.</a:t>
            </a:r>
          </a:p>
          <a:p/>
          <a:p>
            <a:r>
              <a:t>Sources (checked 11 Oct 2026):</a:t>
            </a:r>
          </a:p>
          <a:p>
            <a:r>
              <a:t>https://learn.microsoft.com/en-us/azure/app-service/overview-private-endpoint</a:t>
            </a:r>
          </a:p>
          <a:p>
            <a:r>
              <a:t>https://learn.microsoft.com/en-us/azure/app-service/overview-vnet-integration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workload baseline: request flow". Simplified, editable adaptation of 07_baseline-microsoft-foundry.png (Microsoft Foundry baseline chat architecture). Original preserved in appendix O2. The source labels the model as "Azure OpenAI model"; here it is shown as a Foundry model deployment, which is the current product framing.</a:t>
            </a:r>
          </a:p>
          <a:p/>
          <a:p>
            <a:r>
              <a:t>DETAIL AND CAVEATS</a:t>
            </a:r>
          </a:p>
          <a:p>
            <a:r>
              <a:t>Simplified, editable adaptation of 07_baseline-microsoft-foundry.png (Microsoft Foundry baseline chat architecture). Original preserved in appendix O2. The source labels the model as "Azure OpenAI model"; here it is shown as a Foundry model deployment, which is the current product framing.</a:t>
            </a:r>
          </a:p>
          <a:p/>
          <a:p>
            <a:r>
              <a:t>Steps: (1) user to Application Gateway with WAF; (2) App Service calls the Foundry agent through the Foundry private endpoint; (3) Foundry Agent Service runs in the Foundry project; (4) agent reaches dependencies through the agent integration subnet and private endpoints; (5) outbound internet calls go through Azure Firewall; (6) the agent calls the model deployment; (7) Foundry Agent Service dependencies (AI Search, Cosmos DB, Storage) hold threads and files.</a:t>
            </a:r>
          </a:p>
          <a:p/>
          <a:p>
            <a:r>
              <a:t>Sources (checked 11 Oct 2026):</a:t>
            </a:r>
          </a:p>
          <a:p>
            <a:r>
              <a:t>https://github.com/upendra25312/AI-Foundry-GTM-offering-/blob/main/architectures/07_baseline-microsoft-foundry.png</a:t>
            </a:r>
          </a:p>
          <a:p>
            <a:r>
              <a:t>https://github.com/upendra25312/AI-Foundry-GTM-offering-/blob/main/architectures/03_baseline-microsoft-foundry.vsdx</a:t>
            </a:r>
          </a:p>
          <a:p>
            <a:r>
              <a:t>https://learn.microsoft.com/en-us/azure/architecture/ai-ml/architecture/baseline-microsoft-foundry-chat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"Foundry projects, model endpoints and agent hosting". Hosting choices affect containment, observability and network design. Lifecycle actions per agent type are summarised from Microsoft Learn (Foundry Control Plane, updated 2026-07-15). The AI tower selects the runtime; CIS Infra provides the platform pattern.</a:t>
            </a:r>
          </a:p>
          <a:p/>
          <a:p>
            <a:r>
              <a:t>DETAIL AND CAVEATS</a:t>
            </a:r>
          </a:p>
          <a:p>
            <a:r>
              <a:t>Hosting choices affect containment, observability and network design. Lifecycle actions per agent type are summarised from Microsoft Learn (Foundry Control Plane, updated 2026-07-15). The AI tower selects the runtime; CIS Infra provides the platform pattern.</a:t>
            </a:r>
          </a:p>
          <a:p/>
          <a:p>
            <a:r>
              <a:t>Sources (checked 11 Oct 2026):</a:t>
            </a:r>
          </a:p>
          <a:p>
            <a:r>
              <a:t>Foundry Control Plane: manage agents: https://learn.microsoft.com/en-us/azure/foundry/control-plane/how-to-manage-agents</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"Search, storage and workload data dependencies". Separates platform endpoints (CIS Infra) from data architecture (Data), pipelines (Data Engineering) and data rights (customer). Storage label correction: the Azure resource is a Storage account; blob containers are inside it.</a:t>
            </a:r>
          </a:p>
          <a:p/>
          <a:p>
            <a:r>
              <a:t>DETAIL AND CAVEATS</a:t>
            </a:r>
          </a:p>
          <a:p>
            <a:r>
              <a:t>Separates platform endpoints (CIS Infra) from data architecture (Data), pipelines (Data Engineering) and data rights (customer). Storage label correction: the Azure resource is a Storage account; blob containers are inside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"Terraform, CI/CD, approvals and environment promotion". DevOps owns Terraform modules and pipelines in this baseline (V3 proposal). If CIS Infra staffs and maintains them, move accountability to CIS Infra. Promotion is the only change path to production.</a:t>
            </a:r>
          </a:p>
          <a:p/>
          <a:p>
            <a:r>
              <a:t>DETAIL AND CAVEATS</a:t>
            </a:r>
          </a:p>
          <a:p>
            <a:r>
              <a:t>DevOps owns Terraform modules and pipelines in this baseline (V3 proposal). If CIS Infra staffs and maintains them, move accountability to CIS Infra. Promotion is the only change path to production.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"Development, test and production separation". Baseline: one workload with development and production (V3 proposal). A test environment is an option that adds policy, release, test and support effort. Each extra environment is a change-control trigger.</a:t>
            </a:r>
          </a:p>
          <a:p/>
          <a:p>
            <a:r>
              <a:t>DETAIL AND CAVEATS</a:t>
            </a:r>
          </a:p>
          <a:p>
            <a:r>
              <a:t>Baseline: one workload with development and production (V3 proposal). A test environment is an option that adds policy, release, test and support effort. Each extra environment is a change-control trigger.</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"Monitoring, budgets, containment and recovery". Operational controls built during implementation and handed to managed operations (offering 05). Recovery scope is per dependency; single-region restoration is not regional disaster recovery.</a:t>
            </a:r>
          </a:p>
          <a:p/>
          <a:p>
            <a:r>
              <a:t>DETAIL AND CAVEATS</a:t>
            </a:r>
          </a:p>
          <a:p>
            <a:r>
              <a:t>Operational controls built during implementation and handed to managed operations (offering 05). Recovery scope is per dependency; single-region restoration is not regional disaster recovery.</a:t>
            </a:r>
          </a:p>
          <a:p/>
          <a:p>
            <a:r>
              <a:t>Sources (checked 11 Oct 2026):</a:t>
            </a:r>
          </a:p>
          <a:p>
            <a:r>
              <a:t>Azure Retail Prices API: Log Analytics, East US 2: https://prices.azure.com/api/retail/prices?$filter=serviceName eq 'Log Analytics' and armRegionName eq 'eastus2'</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"Processing location and residency are customer calls". Distinguish the resource region from the model processing geography. Data at rest stays in the designated geography; inferencing location depends on deployment type. Data zones published: US, EU, APAC.</a:t>
            </a:r>
          </a:p>
          <a:p/>
          <a:p>
            <a:r>
              <a:t>DETAIL AND CAVEATS</a:t>
            </a:r>
          </a:p>
          <a:p>
            <a:r>
              <a:t>Distinguish the resource region from the model processing geography. Data at rest stays in the designated geography; inferencing location depends on deployment type. Data zones published: US, EU, APAC. No UK or Middle East data zone is published, so UK and Middle East pursuits use Standard (regional) or Regional Provisioned deployments, or an approved Global deployment.</a:t>
            </a:r>
          </a:p>
          <a:p/>
          <a:p>
            <a:r>
              <a:t>Sources (checked 11 Oct 2026):</a:t>
            </a:r>
          </a:p>
          <a:p>
            <a:r>
              <a:t>Foundry Models deployment types: https://learn.microsoft.com/en-us/azure/foundry/foundry-models/concepts/deployment-types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For gpt-5.4, Global deployments are listed in all our main regions including UK South and UAE North, but Data Zone is EU and US only, and Regional provisioned is only in Germany West Central, Sweden Central and UK South. That shapes UK and Middle East residency answers.</a:t>
            </a:r>
          </a:p>
          <a:p/>
          <a:p>
            <a:r>
              <a:t>Likely question: Can a UAE customer keep processing in the UAE?</a:t>
            </a:r>
          </a:p>
          <a:p>
            <a:r>
              <a:t>Answer: Not with gpt-5.4 today on the published table: UAE North is listed for Global only. That is a customer decision to take with this evidence.</a:t>
            </a:r>
          </a:p>
          <a:p/>
          <a:p>
            <a:r>
              <a:t>DETAIL AND CAVEATS</a:t>
            </a:r>
          </a:p>
          <a:p>
            <a:r>
              <a:t>Snapshot read on 11 Oct 2026 from the Microsoft Learn region availability page, Americas, Europe and Middle East tabs, for gpt-5.4 (2026-03-05, GA, retires 2027-09-02). gpt-5.4 has no Standard (regional pay-as-you-go) row in the table. Selected regions only. Listed means published support only; it does not confirm subscription quota or deployable capacity.</a:t>
            </a:r>
          </a:p>
          <a:p/>
          <a:p>
            <a:r>
              <a:t>Sources (checked 11 Oct 2026):</a:t>
            </a:r>
          </a:p>
          <a:p>
            <a:r>
              <a:t>Foundry Models region availability (Europe and MEA tabs read in browser): https://learn.microsoft.com/en-us/azure/foundry/foundry-models/concepts/models-sold-directly-by-azure-region-availability</a:t>
            </a:r>
          </a:p>
          <a:p>
            <a:r>
              <a:t>Foundry Models retirement schedule: https://learn.microsoft.com/en-us/azure/foundry/openai/concepts/model-retirement-schedule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"Define scope before selecting the resource list". Customer-specific quantities and resource list supersede these reference bounds. Source connectors, data volumes, network changes, migration and SaaS scope must be enumerated.</a:t>
            </a:r>
          </a:p>
          <a:p/>
          <a:p>
            <a:r>
              <a:t>DETAIL AND CAVEATS</a:t>
            </a:r>
          </a:p>
          <a:p>
            <a:r>
              <a:t>Customer-specific quantities and resource list supersede these reference bounds. Source connectors, data volumes, network changes, migration and SaaS scope must be enumerated.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"Acceptance requires demonstrable evidence". Proposed acceptance gates from the V3 proposal. Passing a finite test set does not prove universal security or model accuracy. Agree test cases, thresholds and exception authority in the SOW.</a:t>
            </a:r>
          </a:p>
          <a:p/>
          <a:p>
            <a:r>
              <a:t>DETAIL AND CAVEATS</a:t>
            </a:r>
          </a:p>
          <a:p>
            <a:r>
              <a:t>Proposed acceptance gates from the V3 proposal. Passing a finite test set does not prove universal security or model accuracy. Agree test cases, thresholds and exception authority in the SOW.</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"Effort drivers and change-control triggers". Build the estimate by discovery, architecture, network, identity, IaC, security, workload integration, project management, testing and stabilisation. Separate customer effort. A risk reserve is not calendar compression.</a:t>
            </a:r>
          </a:p>
          <a:p/>
          <a:p>
            <a:r>
              <a:t>DETAIL AND CAVEATS</a:t>
            </a:r>
          </a:p>
          <a:p>
            <a:r>
              <a:t>Build the estimate by discovery, architecture, network, identity, IaC, security, workload integration, project management, testing and stabilisation. Separate customer effort. A risk reserve is not calendar compression.</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"Bill of materials checklist for a defensible quote". Every row needs region, quantity, environment, USD unit rate, meter source, pricing date and monthly total. Distinguish shared allocations from incremental spend.</a:t>
            </a:r>
          </a:p>
          <a:p/>
          <a:p>
            <a:r>
              <a:t>DETAIL AND CAVEATS</a:t>
            </a:r>
          </a:p>
          <a:p>
            <a:r>
              <a:t>Every row needs region, quantity, environment, USD unit rate, meter source, pricing date and monthly total. Distinguish shared allocations from incremental spend.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do not hand-build what Microsoft already publishes. The AI Landing Zone gives us tested Bicep and Terraform modules for both the agent platform and the AI gateway. Our value is adapting it to the customer’s estate, closing gaps and proving it works.</a:t>
            </a:r>
          </a:p>
          <a:p/>
          <a:p>
            <a:r>
              <a:t>Likely question: Does the accelerator use preview services?</a:t>
            </a:r>
          </a:p>
          <a:p>
            <a:r>
              <a:t>Answer: It can. We check every service it deploys against GA status and the customer’s policy before use.</a:t>
            </a:r>
          </a:p>
          <a:p/>
          <a:p>
            <a:r>
              <a:t>DETAIL AND CAVEATS</a:t>
            </a:r>
          </a:p>
          <a:p>
            <a:r>
              <a:t>The Microsoft AI Landing Zone (github.com/Azure/AI-Landing-Zones) is an application landing zone deployable with or without a platform landing zone, with Portal, Bicep and Terraform implementations based on Azure Verified Modules. It contains an Agent Landing Zone (Foundry) and an AI Gateway Landing Zone (API Management), plus a design checklist. It may use preview services. Reuse saving of 20 to 30 percent of platform engineering effort is a CIS Infra estimate to prove in the pilot.</a:t>
            </a:r>
          </a:p>
          <a:p/>
          <a:p>
            <a:r>
              <a:t>Sources (checked 11 Oct 2026):</a:t>
            </a:r>
          </a:p>
          <a:p>
            <a:r>
              <a:t>Azure AI Landing Zones (GitHub): https://github.com/Azure/AI-Landing-Zones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Two questions customers always ask: where does the data come from, and what happens if a region fails. The data path is owned by the Data towers; we provide the private connectivity. For recovery there are three options, and the customer chooses based on cost and recovery time.</a:t>
            </a:r>
          </a:p>
          <a:p/>
          <a:p>
            <a:r>
              <a:t>Likely question: Can we promise a recovery time?</a:t>
            </a:r>
          </a:p>
          <a:p>
            <a:r>
              <a:t>Answer: Only after a tested failover. Model capacity in the second region is the usual constraint.</a:t>
            </a:r>
          </a:p>
          <a:p/>
          <a:p>
            <a:r>
              <a:t>DETAIL AND CAVEATS</a:t>
            </a:r>
          </a:p>
          <a:p>
            <a:r>
              <a:t>Data paths: documents in a Storage account, retrieval in AI Search, enterprise data through Microsoft Fabric and OneLake where the customer uses Fabric (Data tower owns design). DR options are customer choices with cost drivers; RTO and RPO must be tested per dependency. Model deployments may not have capacity in a second region on demand.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slide to explain "Buyer roles and risk register in detail". Detail moved from the Version 2.0 executive section to keep the executive section short.</a:t>
            </a:r>
          </a:p>
          <a:p/>
          <a:p>
            <a:r>
              <a:t>DETAIL AND CAVEATS</a:t>
            </a:r>
          </a:p>
          <a:p>
            <a:r>
              <a:t>Detail moved from the Version 2.0 executive section to keep the executive section short.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Six cost layers, priced and owned separately. Only the first three are Cognizant services revenue; the other three are the customer’s Azure, model and GPU spend.</a:t>
            </a:r>
          </a:p>
          <a:p/>
          <a:p>
            <a:r>
              <a:t>Likely question: Do we resell Azure?</a:t>
            </a:r>
          </a:p>
          <a:p>
            <a:r>
              <a:t>Answer: Only if a resale agreement says so. Otherwise Azure spend is the customer’s and is not CIS Infra revenue.</a:t>
            </a:r>
          </a:p>
          <a:p/>
          <a:p>
            <a:r>
              <a:t>DETAIL AND CAVEATS</a:t>
            </a:r>
          </a:p>
          <a:p>
            <a:r>
              <a:t>Separates Cognizant services revenue from customer-paid Azure consumption. Where internal sell rates or enterprise Azure rates are unavailable, the formula and the missing input owner are shown instead of a number. </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Agent containment spans several offerings. This slide shows the part this offering provides; the full design and its limits are in decks 02 and 05.</a:t>
            </a:r>
          </a:p>
          <a:p/>
          <a:p>
            <a:r>
              <a:t>DETAIL AND CAVEATS</a:t>
            </a:r>
          </a:p>
          <a:p>
            <a:r>
              <a:t>Concise cross-reference. The full rogue-agent kill-switch reference architecture, limits and test scenarios are in the Agent Governance and Operations deck (02) and the Managed AI Platform Operations deck (05).</a:t>
            </a:r>
          </a:p>
          <a:p/>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Version 3.0 additions: enforcement point 4 is the identity layer. Entra Conditional Access for agents can block agent sign-ins; it requires Agent 365 licensing (per third-party tracker of Microsoft docs, verify) and token revocation can lag, so it is defence in depth. Agent 365 (GA 1 May 2026) registers agents and has announced start, stop and delete lifecycle actions; Defender can block some coding agents at runtime (preview from June 2026). None of these is a universal instant stop.</a:t>
            </a:r>
          </a:p>
          <a:p/>
          <a:p>
            <a:r>
              <a:t>Icons: official Azure icons. Container Apps is shown as one example of a customer-hosted runtime; AKS is equivalent. Function App represents an example tool host.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activity has exactly one accountable role, shown in dark blue. The integrated service owner is the named Cognizant lead for the end-to-end outcome; the customer is accountable for acceptance.</a:t>
            </a:r>
          </a:p>
          <a:p/>
          <a:p>
            <a:r>
              <a:t>Likely question: Is this agreed with the towers?</a:t>
            </a:r>
          </a:p>
          <a:p>
            <a:r>
              <a:t>Answer: Not yet. It is a proposal to validate in the 30-day exercise.</a:t>
            </a:r>
          </a:p>
          <a:p/>
          <a:p>
            <a:r>
              <a:t>DETAIL AND CAVEATS</a:t>
            </a:r>
          </a:p>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Platform service acceptance is accountable to the customer; Cognizant roles are responsible for evidence.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Revenue follows priced work packages and the tower that delivers them. We keep sales credit, booked revenue, delivery cost and margin as four separate views so nothing is double counted.</a:t>
            </a:r>
          </a:p>
          <a:p/>
          <a:p>
            <a:r>
              <a:t>Likely question: Why no fixed percentage split?</a:t>
            </a:r>
          </a:p>
          <a:p>
            <a:r>
              <a:t>Answer: Fixed splits drift from reality as scope changes. Work-package attribution stays tied to who actually delivers, and Finance approves the rules.</a:t>
            </a:r>
          </a:p>
          <a:p/>
          <a:p>
            <a:r>
              <a:t>DETAIL AND CAVEATS</a:t>
            </a:r>
          </a:p>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qualification and statement-of-work checklist. If any of these twelve items is blank, the deal is not ready to price.</a:t>
            </a:r>
          </a:p>
          <a:p/>
          <a:p>
            <a:r>
              <a:t>DETAIL AND CAVEATS</a:t>
            </a:r>
          </a:p>
          <a:p>
            <a:r>
              <a:t>Readiness criteria for this offering. Timelines and staffing are estimates only and require named tower commitments. Use this as the qualification and SOW checklist.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https://github.com/upendra25312/AI-Foundry-GTM-offering-/blob/main/architectures/04_AI-Landing-Zone-with-platform.png</a:t>
            </a:r>
          </a:p>
          <a:p>
            <a:r>
              <a:t>Editable Visio: https://github.com/upendra25312/AI-Foundry-GTM-offering-/blob/main/architectures/01_AI-Landing-Zones-Multi-Page.vsdx</a:t>
            </a:r>
          </a:p>
          <a:p>
            <a:r>
              <a:t>Microsoft source: https://github.com/Azure/AI-Landing-Zones</a:t>
            </a:r>
          </a:p>
          <a:p/>
          <a:p>
            <a:r>
              <a:t>Source labels use the earlier "AI Foundry" naming; the simplified executive view uses current Foundry names.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https://github.com/upendra25312/AI-Foundry-GTM-offering-/blob/main/architectures/07_baseline-microsoft-foundry.png</a:t>
            </a:r>
          </a:p>
          <a:p>
            <a:r>
              <a:t>Editable Visio: https://github.com/upendra25312/AI-Foundry-GTM-offering-/blob/main/architectures/03_baseline-microsoft-foundry.vsdx</a:t>
            </a:r>
          </a:p>
          <a:p>
            <a:r>
              <a:t>Microsoft source: https://learn.microsoft.com/en-us/azure/architecture/ai-ml/architecture/baseline-microsoft-foundry-chat</a:t>
            </a:r>
          </a:p>
          <a:p/>
          <a:p>
            <a:r>
              <a:t>Source shows "Azure OpenAI model"; adapted view (A8) uses Foundry model deployment.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https://github.com/upendra25312/AI-Foundry-GTM-offering-/blob/main/architectures/11_baseline-landing-zone-networking.png</a:t>
            </a:r>
          </a:p>
          <a:p>
            <a:r>
              <a:t>Editable Visio: https://github.com/upendra25312/AI-Foundry-GTM-offering-/blob/main/architectures/05_baseline-landing-zone-networking.vsdx</a:t>
            </a:r>
          </a:p>
          <a:p>
            <a:r>
              <a:t>Microsoft source: https://learn.microsoft.com/en-us/azure/architecture/ai-ml/architecture/baseline-microsoft-foundry-landing-zone</a:t>
            </a:r>
          </a:p>
          <a:p/>
          <a:p>
            <a:r>
              <a:t>The source PNG clips some labels in its own render; the editable reconstruction is appendix A5.</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https://github.com/upendra25312/AI-Foundry-GTM-offering-/blob/main/architectures/12_baseline-landing-zone-networking-egress.png</a:t>
            </a:r>
          </a:p>
          <a:p>
            <a:r>
              <a:t>Editable Visio: https://github.com/upendra25312/AI-Foundry-GTM-offering-/blob/main/architectures/06_baseline-landing-zone-networking-egress.vsdx</a:t>
            </a:r>
          </a:p>
          <a:p>
            <a:r>
              <a:t>Microsoft source: https://learn.microsoft.com/en-us/azure/architecture/ai-ml/architecture/baseline-microsoft-foundry-landing-zone</a:t>
            </a:r>
          </a:p>
          <a:p/>
          <a:p>
            <a:r>
              <a:t>The source PNG clips some labels in its own render; the editable reconstruction is appendix A6.</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original Microsoft reference, kept unchanged for traceability. The simplified editable version is earlier in the appendix.</a:t>
            </a:r>
          </a:p>
          <a:p/>
          <a:p>
            <a:r>
              <a:t>DETAIL AND CAVEATS</a:t>
            </a:r>
          </a:p>
          <a:p>
            <a:r>
              <a:t>Original diagram from the user repository, embedded unchanged at source resolution and not stretched beyond its native size. Repository: https://github.com/upendra25312/AI-Foundry-GTM-offering-/blob/main/architectures/35_azure-landing-zone-conceptual-architecture.png</a:t>
            </a:r>
          </a:p>
          <a:p>
            <a:r>
              <a:t>Microsoft source: https://learn.microsoft.com/en-us/azure/cloud-adoption-framework/ready/landing-zone/</a:t>
            </a:r>
          </a:p>
          <a:p/>
          <a:p>
            <a:r>
              <a:t>Microsoft CAF conceptual view showing Foundry added to workload landing zones that need AI.</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12.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13.png"/><Relationship Id="rId7" Type="http://schemas.openxmlformats.org/officeDocument/2006/relationships/image" Target="../media/image16.svg"/><Relationship Id="rId8" Type="http://schemas.openxmlformats.org/officeDocument/2006/relationships/image" Target="../media/image15.png"/><Relationship Id="rId9" Type="http://schemas.openxmlformats.org/officeDocument/2006/relationships/image" Target="../media/image1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image" Target="../media/image19.png"/><Relationship Id="rId13" Type="http://schemas.openxmlformats.org/officeDocument/2006/relationships/image" Target="../media/image22.svg"/><Relationship Id="rId14" Type="http://schemas.openxmlformats.org/officeDocument/2006/relationships/image" Target="../media/image21.png"/><Relationship Id="rId15" Type="http://schemas.openxmlformats.org/officeDocument/2006/relationships/image" Target="../media/image24.svg"/><Relationship Id="rId16" Type="http://schemas.openxmlformats.org/officeDocument/2006/relationships/image" Target="../media/image23.png"/><Relationship Id="rId17" Type="http://schemas.openxmlformats.org/officeDocument/2006/relationships/image" Target="../media/image26.svg"/><Relationship Id="rId18" Type="http://schemas.openxmlformats.org/officeDocument/2006/relationships/image" Target="../media/image25.png"/><Relationship Id="rId19" Type="http://schemas.openxmlformats.org/officeDocument/2006/relationships/image" Target="../media/image28.svg"/><Relationship Id="rId20" Type="http://schemas.openxmlformats.org/officeDocument/2006/relationships/image" Target="../media/image27.png"/><Relationship Id="rId21" Type="http://schemas.openxmlformats.org/officeDocument/2006/relationships/image" Target="../media/image30.svg"/><Relationship Id="rId22" Type="http://schemas.openxmlformats.org/officeDocument/2006/relationships/image" Target="../media/image29.png"/><Relationship Id="rId23" Type="http://schemas.openxmlformats.org/officeDocument/2006/relationships/image" Target="../media/image32.svg"/><Relationship Id="rId24" Type="http://schemas.openxmlformats.org/officeDocument/2006/relationships/image" Target="../media/image31.png"/><Relationship Id="rId25" Type="http://schemas.openxmlformats.org/officeDocument/2006/relationships/image" Target="../media/image34.svg"/><Relationship Id="rId26" Type="http://schemas.openxmlformats.org/officeDocument/2006/relationships/image" Target="../media/image33.png"/><Relationship Id="rId27" Type="http://schemas.openxmlformats.org/officeDocument/2006/relationships/image" Target="../media/image36.svg"/><Relationship Id="rId28" Type="http://schemas.openxmlformats.org/officeDocument/2006/relationships/image" Target="../media/image35.png"/><Relationship Id="rId29" Type="http://schemas.openxmlformats.org/officeDocument/2006/relationships/image" Target="../media/image38.svg"/><Relationship Id="rId30" Type="http://schemas.openxmlformats.org/officeDocument/2006/relationships/image" Target="../media/image37.png"/><Relationship Id="rId31" Type="http://schemas.openxmlformats.org/officeDocument/2006/relationships/image" Target="../media/image40.svg"/><Relationship Id="rId32" Type="http://schemas.openxmlformats.org/officeDocument/2006/relationships/image" Target="../media/image39.png"/><Relationship Id="rId33" Type="http://schemas.openxmlformats.org/officeDocument/2006/relationships/image" Target="../media/image42.svg"/><Relationship Id="rId34" Type="http://schemas.openxmlformats.org/officeDocument/2006/relationships/image" Target="../media/image41.png"/><Relationship Id="rId35" Type="http://schemas.openxmlformats.org/officeDocument/2006/relationships/image" Target="../media/image44.svg"/><Relationship Id="rId36" Type="http://schemas.openxmlformats.org/officeDocument/2006/relationships/image" Target="../media/image43.png"/><Relationship Id="rId37" Type="http://schemas.openxmlformats.org/officeDocument/2006/relationships/image" Target="../media/image46.svg"/><Relationship Id="rId38" Type="http://schemas.openxmlformats.org/officeDocument/2006/relationships/image" Target="../media/image45.png"/><Relationship Id="rId39" Type="http://schemas.openxmlformats.org/officeDocument/2006/relationships/image" Target="../media/image48.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 Id="rId32" Type="http://schemas.openxmlformats.org/officeDocument/2006/relationships/slide" Target="slide41.xml"/><Relationship Id="rId33" Type="http://schemas.openxmlformats.org/officeDocument/2006/relationships/slide" Target="slide42.xml"/><Relationship Id="rId34" Type="http://schemas.openxmlformats.org/officeDocument/2006/relationships/slide" Target="slide43.xml"/><Relationship Id="rId35" Type="http://schemas.openxmlformats.org/officeDocument/2006/relationships/slide" Target="slide44.xml"/><Relationship Id="rId36" Type="http://schemas.openxmlformats.org/officeDocument/2006/relationships/slide" Target="slide45.xml"/><Relationship Id="rId37" Type="http://schemas.openxmlformats.org/officeDocument/2006/relationships/slide" Target="slide46.xml"/><Relationship Id="rId38" Type="http://schemas.openxmlformats.org/officeDocument/2006/relationships/slide" Target="slide47.xml"/><Relationship Id="rId39" Type="http://schemas.openxmlformats.org/officeDocument/2006/relationships/slide" Target="slide48.xml"/><Relationship Id="rId40" Type="http://schemas.openxmlformats.org/officeDocument/2006/relationships/slide" Target="slide49.xml"/><Relationship Id="rId41" Type="http://schemas.openxmlformats.org/officeDocument/2006/relationships/slide" Target="slide50.xml"/><Relationship Id="rId42" Type="http://schemas.openxmlformats.org/officeDocument/2006/relationships/slide" Target="slide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image" Target="../media/image11.png"/><Relationship Id="rId5" Type="http://schemas.openxmlformats.org/officeDocument/2006/relationships/image" Target="../media/image14.svg"/><Relationship Id="rId6" Type="http://schemas.openxmlformats.org/officeDocument/2006/relationships/image" Target="../media/image47.png"/><Relationship Id="rId7" Type="http://schemas.openxmlformats.org/officeDocument/2006/relationships/image" Target="../media/image50.svg"/><Relationship Id="rId8"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image" Target="../media/image49.png"/><Relationship Id="rId5" Type="http://schemas.openxmlformats.org/officeDocument/2006/relationships/image" Target="../media/image52.svg"/><Relationship Id="rId6" Type="http://schemas.openxmlformats.org/officeDocument/2006/relationships/image" Target="../media/image21.png"/><Relationship Id="rId7" Type="http://schemas.openxmlformats.org/officeDocument/2006/relationships/image" Target="../media/image24.svg"/><Relationship Id="rId8" Type="http://schemas.openxmlformats.org/officeDocument/2006/relationships/image" Target="../media/image35.png"/><Relationship Id="rId9" Type="http://schemas.openxmlformats.org/officeDocument/2006/relationships/image" Target="../media/image38.svg"/><Relationship Id="rId10"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51.png"/><Relationship Id="rId7" Type="http://schemas.openxmlformats.org/officeDocument/2006/relationships/image" Target="../media/image54.svg"/><Relationship Id="rId8" Type="http://schemas.openxmlformats.org/officeDocument/2006/relationships/image" Target="../media/image53.png"/><Relationship Id="rId9" Type="http://schemas.openxmlformats.org/officeDocument/2006/relationships/image" Target="../media/image56.svg"/><Relationship Id="rId10" Type="http://schemas.openxmlformats.org/officeDocument/2006/relationships/image" Target="../media/image37.png"/><Relationship Id="rId11" Type="http://schemas.openxmlformats.org/officeDocument/2006/relationships/image" Target="../media/image40.svg"/><Relationship Id="rId12" Type="http://schemas.openxmlformats.org/officeDocument/2006/relationships/image" Target="../media/image55.png"/><Relationship Id="rId13" Type="http://schemas.openxmlformats.org/officeDocument/2006/relationships/image" Target="../media/image58.svg"/><Relationship Id="rId14" Type="http://schemas.openxmlformats.org/officeDocument/2006/relationships/image" Target="../media/image15.png"/><Relationship Id="rId15" Type="http://schemas.openxmlformats.org/officeDocument/2006/relationships/image" Target="../media/image18.svg"/><Relationship Id="rId16" Type="http://schemas.openxmlformats.org/officeDocument/2006/relationships/image" Target="../media/image17.png"/><Relationship Id="rId17" Type="http://schemas.openxmlformats.org/officeDocument/2006/relationships/image" Target="../media/image20.svg"/><Relationship Id="rId18" Type="http://schemas.openxmlformats.org/officeDocument/2006/relationships/image" Target="../media/image19.png"/><Relationship Id="rId19" Type="http://schemas.openxmlformats.org/officeDocument/2006/relationships/image" Target="../media/image22.svg"/><Relationship Id="rId20" Type="http://schemas.openxmlformats.org/officeDocument/2006/relationships/image" Target="../media/image57.png"/><Relationship Id="rId21" Type="http://schemas.openxmlformats.org/officeDocument/2006/relationships/image" Target="../media/image60.svg"/><Relationship Id="rId22" Type="http://schemas.openxmlformats.org/officeDocument/2006/relationships/image" Target="../media/image59.png"/><Relationship Id="rId23" Type="http://schemas.openxmlformats.org/officeDocument/2006/relationships/image" Target="../media/image62.svg"/><Relationship Id="rId24" Type="http://schemas.openxmlformats.org/officeDocument/2006/relationships/image" Target="../media/image61.png"/><Relationship Id="rId25" Type="http://schemas.openxmlformats.org/officeDocument/2006/relationships/image" Target="../media/image64.svg"/><Relationship Id="rId26"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image" Target="../media/image51.png"/><Relationship Id="rId5" Type="http://schemas.openxmlformats.org/officeDocument/2006/relationships/image" Target="../media/image54.svg"/><Relationship Id="rId6" Type="http://schemas.openxmlformats.org/officeDocument/2006/relationships/image" Target="../media/image53.png"/><Relationship Id="rId7" Type="http://schemas.openxmlformats.org/officeDocument/2006/relationships/image" Target="../media/image56.svg"/><Relationship Id="rId8" Type="http://schemas.openxmlformats.org/officeDocument/2006/relationships/image" Target="../media/image55.png"/><Relationship Id="rId9" Type="http://schemas.openxmlformats.org/officeDocument/2006/relationships/image" Target="../media/image58.svg"/><Relationship Id="rId10" Type="http://schemas.openxmlformats.org/officeDocument/2006/relationships/image" Target="../media/image17.png"/><Relationship Id="rId11" Type="http://schemas.openxmlformats.org/officeDocument/2006/relationships/image" Target="../media/image20.svg"/><Relationship Id="rId12"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image" Target="../media/image23.png"/><Relationship Id="rId5" Type="http://schemas.openxmlformats.org/officeDocument/2006/relationships/image" Target="../media/image26.svg"/><Relationship Id="rId6" Type="http://schemas.openxmlformats.org/officeDocument/2006/relationships/image" Target="../media/image51.png"/><Relationship Id="rId7" Type="http://schemas.openxmlformats.org/officeDocument/2006/relationships/image" Target="../media/image54.svg"/><Relationship Id="rId8" Type="http://schemas.openxmlformats.org/officeDocument/2006/relationships/image" Target="../media/image37.png"/><Relationship Id="rId9" Type="http://schemas.openxmlformats.org/officeDocument/2006/relationships/image" Target="../media/image40.svg"/><Relationship Id="rId10"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image" Target="../media/image59.png"/><Relationship Id="rId5" Type="http://schemas.openxmlformats.org/officeDocument/2006/relationships/image" Target="../media/image62.svg"/><Relationship Id="rId6" Type="http://schemas.openxmlformats.org/officeDocument/2006/relationships/image" Target="../media/image23.png"/><Relationship Id="rId7" Type="http://schemas.openxmlformats.org/officeDocument/2006/relationships/image" Target="../media/image26.svg"/><Relationship Id="rId8" Type="http://schemas.openxmlformats.org/officeDocument/2006/relationships/image" Target="../media/image51.png"/><Relationship Id="rId9" Type="http://schemas.openxmlformats.org/officeDocument/2006/relationships/image" Target="../media/image54.svg"/><Relationship Id="rId10" Type="http://schemas.openxmlformats.org/officeDocument/2006/relationships/image" Target="../media/image27.png"/><Relationship Id="rId11" Type="http://schemas.openxmlformats.org/officeDocument/2006/relationships/image" Target="../media/image30.svg"/><Relationship Id="rId12" Type="http://schemas.openxmlformats.org/officeDocument/2006/relationships/image" Target="../media/image53.png"/><Relationship Id="rId13" Type="http://schemas.openxmlformats.org/officeDocument/2006/relationships/image" Target="../media/image56.svg"/><Relationship Id="rId14" Type="http://schemas.openxmlformats.org/officeDocument/2006/relationships/image" Target="../media/image29.png"/><Relationship Id="rId15" Type="http://schemas.openxmlformats.org/officeDocument/2006/relationships/image" Target="../media/image32.svg"/><Relationship Id="rId16" Type="http://schemas.openxmlformats.org/officeDocument/2006/relationships/image" Target="../media/image31.png"/><Relationship Id="rId17" Type="http://schemas.openxmlformats.org/officeDocument/2006/relationships/image" Target="../media/image34.svg"/><Relationship Id="rId18" Type="http://schemas.openxmlformats.org/officeDocument/2006/relationships/image" Target="../media/image63.png"/><Relationship Id="rId19" Type="http://schemas.openxmlformats.org/officeDocument/2006/relationships/image" Target="../media/image66.svg"/><Relationship Id="rId20" Type="http://schemas.openxmlformats.org/officeDocument/2006/relationships/image" Target="../media/image33.png"/><Relationship Id="rId21" Type="http://schemas.openxmlformats.org/officeDocument/2006/relationships/image" Target="../media/image36.svg"/><Relationship Id="rId22" Type="http://schemas.openxmlformats.org/officeDocument/2006/relationships/image" Target="../media/image37.png"/><Relationship Id="rId23" Type="http://schemas.openxmlformats.org/officeDocument/2006/relationships/image" Target="../media/image40.svg"/><Relationship Id="rId24" Type="http://schemas.openxmlformats.org/officeDocument/2006/relationships/image" Target="../media/image17.png"/><Relationship Id="rId25" Type="http://schemas.openxmlformats.org/officeDocument/2006/relationships/image" Target="../media/image20.svg"/><Relationship Id="rId26" Type="http://schemas.openxmlformats.org/officeDocument/2006/relationships/image" Target="../media/image35.png"/><Relationship Id="rId27" Type="http://schemas.openxmlformats.org/officeDocument/2006/relationships/image" Target="../media/image38.svg"/><Relationship Id="rId28" Type="http://schemas.openxmlformats.org/officeDocument/2006/relationships/image" Target="../media/image43.png"/><Relationship Id="rId29" Type="http://schemas.openxmlformats.org/officeDocument/2006/relationships/image" Target="../media/image46.svg"/><Relationship Id="rId30"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image" Target="../media/image31.png"/><Relationship Id="rId5" Type="http://schemas.openxmlformats.org/officeDocument/2006/relationships/image" Target="../media/image34.svg"/><Relationship Id="rId6" Type="http://schemas.openxmlformats.org/officeDocument/2006/relationships/image" Target="../media/image33.png"/><Relationship Id="rId7" Type="http://schemas.openxmlformats.org/officeDocument/2006/relationships/image" Target="../media/image36.svg"/><Relationship Id="rId8" Type="http://schemas.openxmlformats.org/officeDocument/2006/relationships/image" Target="../media/image63.png"/><Relationship Id="rId9" Type="http://schemas.openxmlformats.org/officeDocument/2006/relationships/image" Target="../media/image66.svg"/><Relationship Id="rId10" Type="http://schemas.openxmlformats.org/officeDocument/2006/relationships/image" Target="../media/image35.png"/><Relationship Id="rId11" Type="http://schemas.openxmlformats.org/officeDocument/2006/relationships/image" Target="../media/image38.svg"/><Relationship Id="rId12"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39.png"/><Relationship Id="rId5" Type="http://schemas.openxmlformats.org/officeDocument/2006/relationships/image" Target="../media/image42.svg"/><Relationship Id="rId6" Type="http://schemas.openxmlformats.org/officeDocument/2006/relationships/image" Target="../media/image47.png"/><Relationship Id="rId7" Type="http://schemas.openxmlformats.org/officeDocument/2006/relationships/image" Target="../media/image50.svg"/><Relationship Id="rId8" Type="http://schemas.openxmlformats.org/officeDocument/2006/relationships/image" Target="../media/image21.png"/><Relationship Id="rId9" Type="http://schemas.openxmlformats.org/officeDocument/2006/relationships/image" Target="../media/image24.svg"/><Relationship Id="rId10"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image" Target="../media/image65.png"/><Relationship Id="rId5" Type="http://schemas.openxmlformats.org/officeDocument/2006/relationships/image" Target="../media/image68.svg"/><Relationship Id="rId6" Type="http://schemas.openxmlformats.org/officeDocument/2006/relationships/image" Target="../media/image45.png"/><Relationship Id="rId7" Type="http://schemas.openxmlformats.org/officeDocument/2006/relationships/image" Target="../media/image48.svg"/><Relationship Id="rId8" Type="http://schemas.openxmlformats.org/officeDocument/2006/relationships/image" Target="../media/image67.png"/><Relationship Id="rId9" Type="http://schemas.openxmlformats.org/officeDocument/2006/relationships/image" Target="../media/image70.svg"/><Relationship Id="rId10" Type="http://schemas.openxmlformats.org/officeDocument/2006/relationships/image" Target="../media/image69.png"/><Relationship Id="rId11" Type="http://schemas.openxmlformats.org/officeDocument/2006/relationships/image" Target="../media/image72.svg"/><Relationship Id="rId12"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image" Target="../media/image27.png"/><Relationship Id="rId5" Type="http://schemas.openxmlformats.org/officeDocument/2006/relationships/image" Target="../media/image30.svg"/><Relationship Id="rId6" Type="http://schemas.openxmlformats.org/officeDocument/2006/relationships/image" Target="../media/image71.png"/><Relationship Id="rId7" Type="http://schemas.openxmlformats.org/officeDocument/2006/relationships/image" Target="../media/image74.svg"/><Relationship Id="rId8" Type="http://schemas.openxmlformats.org/officeDocument/2006/relationships/image" Target="../media/image39.png"/><Relationship Id="rId9" Type="http://schemas.openxmlformats.org/officeDocument/2006/relationships/image" Target="../media/image42.svg"/><Relationship Id="rId10" Type="http://schemas.openxmlformats.org/officeDocument/2006/relationships/image" Target="../media/image13.png"/><Relationship Id="rId11" Type="http://schemas.openxmlformats.org/officeDocument/2006/relationships/image" Target="../media/image16.svg"/><Relationship Id="rId12"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slide" Target="slide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1.xml"/><Relationship Id="rId4" Type="http://schemas.openxmlformats.org/officeDocument/2006/relationships/slide" Target="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2.xml"/><Relationship Id="rId4" Type="http://schemas.openxmlformats.org/officeDocument/2006/relationships/slide" Target="slide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3.xml"/><Relationship Id="rId4" Type="http://schemas.openxmlformats.org/officeDocument/2006/relationships/slide" Target="slide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4.xml"/><Relationship Id="rId4" Type="http://schemas.openxmlformats.org/officeDocument/2006/relationships/slide" Target="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5.xml"/><Relationship Id="rId4" Type="http://schemas.openxmlformats.org/officeDocument/2006/relationships/slide" Target="slide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6.xml"/><Relationship Id="rId4" Type="http://schemas.openxmlformats.org/officeDocument/2006/relationships/image" Target="../media/image73.png"/><Relationship Id="rId5" Type="http://schemas.openxmlformats.org/officeDocument/2006/relationships/hyperlink" Target="https://github.com/upendra25312/AI-Foundry-GTM-offering-/blob/main/architectures/04_AI-Landing-Zone-with-platform.png" TargetMode="External"/><Relationship Id="rId6" Type="http://schemas.openxmlformats.org/officeDocument/2006/relationships/hyperlink" Target="https://github.com/Azure/AI-Landing-Zones" TargetMode="External"/><Relationship Id="rId7" Type="http://schemas.openxmlformats.org/officeDocument/2006/relationships/slide" Target="slide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7.xml"/><Relationship Id="rId4" Type="http://schemas.openxmlformats.org/officeDocument/2006/relationships/image" Target="../media/image75.png"/><Relationship Id="rId5" Type="http://schemas.openxmlformats.org/officeDocument/2006/relationships/hyperlink" Target="https://github.com/upendra25312/AI-Foundry-GTM-offering-/blob/main/architectures/07_baseline-microsoft-foundry.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8.xml"/><Relationship Id="rId4" Type="http://schemas.openxmlformats.org/officeDocument/2006/relationships/image" Target="../media/image76.png"/><Relationship Id="rId5" Type="http://schemas.openxmlformats.org/officeDocument/2006/relationships/hyperlink" Target="https://github.com/upendra25312/AI-Foundry-GTM-offering-/blob/main/architectures/11_baseline-landing-zone-networking.png" TargetMode="External"/><Relationship Id="rId6" Type="http://schemas.openxmlformats.org/officeDocument/2006/relationships/hyperlink" Target="https://learn.microsoft.com/en-us/azure/architecture/ai-ml/architecture/baseline-microsoft-foundry-landing-zone" TargetMode="External"/><Relationship Id="rId7" Type="http://schemas.openxmlformats.org/officeDocument/2006/relationships/slide" Target="slide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9.xml"/><Relationship Id="rId4" Type="http://schemas.openxmlformats.org/officeDocument/2006/relationships/image" Target="../media/image77.png"/><Relationship Id="rId5" Type="http://schemas.openxmlformats.org/officeDocument/2006/relationships/hyperlink" Target="https://github.com/upendra25312/AI-Foundry-GTM-offering-/blob/main/architectures/12_baseline-landing-zone-networking-egress.png" TargetMode="External"/><Relationship Id="rId6" Type="http://schemas.openxmlformats.org/officeDocument/2006/relationships/hyperlink" Target="https://learn.microsoft.com/en-us/azure/architecture/ai-ml/architecture/baseline-microsoft-foundry-landing-zone" TargetMode="External"/><Relationship Id="rId7" Type="http://schemas.openxmlformats.org/officeDocument/2006/relationships/slide" Target="slide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0.xml"/><Relationship Id="rId4" Type="http://schemas.openxmlformats.org/officeDocument/2006/relationships/image" Target="../media/image78.png"/><Relationship Id="rId5" Type="http://schemas.openxmlformats.org/officeDocument/2006/relationships/hyperlink" Target="https://github.com/upendra25312/AI-Foundry-GTM-offering-/blob/main/architectures/35_azure-landing-zone-conceptual-architecture.png" TargetMode="External"/><Relationship Id="rId6" Type="http://schemas.openxmlformats.org/officeDocument/2006/relationships/hyperlink" Target="https://learn.microsoft.com/en-us/azure/cloud-adoption-framework/ready/landing-zone/" TargetMode="External"/><Relationship Id="rId7" Type="http://schemas.openxmlformats.org/officeDocument/2006/relationships/slide" Target="slide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1.xml"/><Relationship Id="rId4" Type="http://schemas.openxmlformats.org/officeDocument/2006/relationships/hyperlink" Target="https://learn.microsoft.com/en-us/azure/cloud-adoption-framework/ai/ready" TargetMode="External"/><Relationship Id="rId5" Type="http://schemas.openxmlformats.org/officeDocument/2006/relationships/hyperlink" Target="https://learn.microsoft.com/en-us/azure/foundry/foundry-models/concepts/deployment-types" TargetMode="External"/><Relationship Id="rId6" Type="http://schemas.openxmlformats.org/officeDocument/2006/relationships/hyperlink" Target="https://learn.microsoft.com/en-us/azure/foundry/foundry-models/concepts/models-sold-directly-by-azure-region-availability" TargetMode="External"/><Relationship Id="rId7" Type="http://schemas.openxmlformats.org/officeDocument/2006/relationships/hyperlink" Target="https://learn.microsoft.com/en-us/azure/foundry/openai/concepts/model-retirement-schedule" TargetMode="External"/><Relationship Id="rId8" Type="http://schemas.openxmlformats.org/officeDocument/2006/relationships/hyperlink" Target="https://learn.microsoft.com/en-us/azure/foundry/control-plane/how-to-manage-agents" TargetMode="External"/><Relationship Id="rId9" Type="http://schemas.openxmlformats.org/officeDocument/2006/relationships/hyperlink" Target="https://prices.azure.com/api/retail/prices?$filter=serviceName eq 'Log Analytics' and armRegionName eq 'eastus2'" TargetMode="External"/><Relationship Id="rId10" Type="http://schemas.openxmlformats.org/officeDocument/2006/relationships/hyperlink" Target="https://learn.microsoft.com/en-us/azure/architecture/icons/" TargetMode="External"/><Relationship Id="rId11" Type="http://schemas.openxmlformats.org/officeDocument/2006/relationships/hyperlink" Target="https://az-icons.com/" TargetMode="External"/><Relationship Id="rId12" Type="http://schemas.openxmlformats.org/officeDocument/2006/relationships/hyperlink" Target="https://learn.microsoft.com/en-us/azure/architecture/browse/" TargetMode="External"/><Relationship Id="rId13" Type="http://schemas.openxmlformats.org/officeDocument/2006/relationships/hyperlink" Target="https://github.com/upendra25312/AI-Foundry-GTM-offering-/blob/main/CIS_Infra_Azure_AI_Platform_GTM_Proposal_V3.docx" TargetMode="External"/><Relationship Id="rId14" Type="http://schemas.openxmlformats.org/officeDocument/2006/relationships/hyperlink" Target="https://github.com/Azure/AI-Landing-Zones" TargetMode="External"/><Relationship Id="rId15" Type="http://schemas.openxmlformats.org/officeDocument/2006/relationships/hyperlink" Target="https://learn.microsoft.com/en-us/azure/architecture/ai-ml/architecture/baseline-microsoft-foundry-landing-zone" TargetMode="External"/><Relationship Id="rId16" Type="http://schemas.openxmlformats.org/officeDocument/2006/relationships/hyperlink" Target="https://learn.microsoft.com/en-us/azure/app-service/overview-private-endpoint" TargetMode="External"/><Relationship Id="rId17" Type="http://schemas.openxmlformats.org/officeDocument/2006/relationships/hyperlink" Target="https://www.orrick.com/en/Insights/2026/07/EU-AI-Act-Update-Digital-Omnibus-Finalizes-8-Compliance-Changes" TargetMode="External"/><Relationship Id="rId18" Type="http://schemas.openxmlformats.org/officeDocument/2006/relationships/hyperlink" Target="https://learn.microsoft.com/en-us/azure/defender-for-cloud/ai-threat-protection" TargetMode="External"/><Relationship Id="rId19" Type="http://schemas.openxmlformats.org/officeDocument/2006/relationships/hyperlink" Target="https://learn.microsoft.com/en-us/purview/ai-microsoft-purview" TargetMode="External"/><Relationship Id="rId20" Type="http://schemas.openxmlformats.org/officeDocument/2006/relationships/hyperlink" Target="https://www.microsoft.com/en-us/security/blog/2026/05/01/microsoft-agent-365-now-generally-available-expands-capabilities-and-integrations/" TargetMode="External"/><Relationship Id="rId21" Type="http://schemas.openxmlformats.org/officeDocument/2006/relationships/hyperlink" Target="https://learn.microsoft.com/en-us/azure/api-center/register-discover-mcp-server" TargetMode="External"/><Relationship Id="rId22"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AI Platform / Landing Zone</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A governed Azure foundation for one funded AI workload, then the next</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Assess, extend an existing landing zone, or establish a new foundation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Summary: sell an accepted platform, not hours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600200" cy="457200"/>
          </a:xfrm>
          <a:prstGeom prst="rect">
            <a:avLst/>
          </a:prstGeom>
          <a:noFill/>
        </p:spPr>
        <p:txBody>
          <a:bodyPr wrap="square" lIns="0" rIns="0" tIns="0" bIns="0" anchor="t">
            <a:noAutofit/>
          </a:bodyPr>
          <a:lstStyle/>
          <a:p>
            <a:pPr algn="l"/>
            <a:r>
              <a:rPr sz="2200" b="1" i="0">
                <a:solidFill>
                  <a:srgbClr val="2F78C4"/>
                </a:solidFill>
                <a:latin typeface="Arial"/>
              </a:rPr>
              <a:t>Problem</a:t>
            </a:r>
          </a:p>
        </p:txBody>
      </p:sp>
      <p:sp>
        <p:nvSpPr>
          <p:cNvPr id="9" name="TextBox 8"/>
          <p:cNvSpPr txBox="1"/>
          <p:nvPr/>
        </p:nvSpPr>
        <p:spPr>
          <a:xfrm>
            <a:off x="2148840" y="1371600"/>
            <a:ext cx="5120640" cy="1325880"/>
          </a:xfrm>
          <a:prstGeom prst="rect">
            <a:avLst/>
          </a:prstGeom>
          <a:noFill/>
        </p:spPr>
        <p:txBody>
          <a:bodyPr wrap="square" lIns="0" rIns="0" tIns="0" bIns="0" anchor="t">
            <a:noAutofit/>
          </a:bodyPr>
          <a:lstStyle/>
          <a:p>
            <a:pPr algn="l"/>
            <a:r>
              <a:rPr sz="2000" b="0" i="0">
                <a:solidFill>
                  <a:srgbClr val="1E1E2E"/>
                </a:solidFill>
                <a:latin typeface="Arial"/>
              </a:rPr>
              <a:t>AI pilots stall at the platform: network, identity, environments, capacity and support ownership are unresolved.</a:t>
            </a:r>
          </a:p>
        </p:txBody>
      </p:sp>
      <p:sp>
        <p:nvSpPr>
          <p:cNvPr id="10" name="TextBox 9"/>
          <p:cNvSpPr txBox="1"/>
          <p:nvPr/>
        </p:nvSpPr>
        <p:spPr>
          <a:xfrm>
            <a:off x="548640" y="2743200"/>
            <a:ext cx="1600200" cy="457200"/>
          </a:xfrm>
          <a:prstGeom prst="rect">
            <a:avLst/>
          </a:prstGeom>
          <a:noFill/>
        </p:spPr>
        <p:txBody>
          <a:bodyPr wrap="square" lIns="0" rIns="0" tIns="0" bIns="0" anchor="t">
            <a:noAutofit/>
          </a:bodyPr>
          <a:lstStyle/>
          <a:p>
            <a:pPr algn="l"/>
            <a:r>
              <a:rPr sz="2200" b="1" i="0">
                <a:solidFill>
                  <a:srgbClr val="2F78C4"/>
                </a:solidFill>
                <a:latin typeface="Arial"/>
              </a:rPr>
              <a:t>Offer</a:t>
            </a:r>
          </a:p>
        </p:txBody>
      </p:sp>
      <p:sp>
        <p:nvSpPr>
          <p:cNvPr id="11" name="TextBox 10"/>
          <p:cNvSpPr txBox="1"/>
          <p:nvPr/>
        </p:nvSpPr>
        <p:spPr>
          <a:xfrm>
            <a:off x="2148840" y="2743200"/>
            <a:ext cx="5120640" cy="1325880"/>
          </a:xfrm>
          <a:prstGeom prst="rect">
            <a:avLst/>
          </a:prstGeom>
          <a:noFill/>
        </p:spPr>
        <p:txBody>
          <a:bodyPr wrap="square" lIns="0" rIns="0" tIns="0" bIns="0" anchor="t">
            <a:noAutofit/>
          </a:bodyPr>
          <a:lstStyle/>
          <a:p>
            <a:pPr algn="l"/>
            <a:r>
              <a:rPr sz="2000" b="0" i="0">
                <a:solidFill>
                  <a:srgbClr val="1E1E2E"/>
                </a:solidFill>
                <a:latin typeface="Arial"/>
              </a:rPr>
              <a:t>CIS Infra assesses, extends or establishes the Azure foundation for one approved workload, reusing Microsoft’s AI Landing Zone accelerator.</a:t>
            </a:r>
          </a:p>
        </p:txBody>
      </p:sp>
      <p:sp>
        <p:nvSpPr>
          <p:cNvPr id="12" name="TextBox 11"/>
          <p:cNvSpPr txBox="1"/>
          <p:nvPr/>
        </p:nvSpPr>
        <p:spPr>
          <a:xfrm>
            <a:off x="548640" y="4114800"/>
            <a:ext cx="1600200" cy="457200"/>
          </a:xfrm>
          <a:prstGeom prst="rect">
            <a:avLst/>
          </a:prstGeom>
          <a:noFill/>
        </p:spPr>
        <p:txBody>
          <a:bodyPr wrap="square" lIns="0" rIns="0" tIns="0" bIns="0" anchor="t">
            <a:noAutofit/>
          </a:bodyPr>
          <a:lstStyle/>
          <a:p>
            <a:pPr algn="l"/>
            <a:r>
              <a:rPr sz="2200" b="1" i="0">
                <a:solidFill>
                  <a:srgbClr val="2F78C4"/>
                </a:solidFill>
                <a:latin typeface="Arial"/>
              </a:rPr>
              <a:t>Outcome</a:t>
            </a:r>
          </a:p>
        </p:txBody>
      </p:sp>
      <p:sp>
        <p:nvSpPr>
          <p:cNvPr id="13" name="TextBox 12"/>
          <p:cNvSpPr txBox="1"/>
          <p:nvPr/>
        </p:nvSpPr>
        <p:spPr>
          <a:xfrm>
            <a:off x="2148840" y="4114800"/>
            <a:ext cx="5120640" cy="1325880"/>
          </a:xfrm>
          <a:prstGeom prst="rect">
            <a:avLst/>
          </a:prstGeom>
          <a:noFill/>
        </p:spPr>
        <p:txBody>
          <a:bodyPr wrap="square" lIns="0" rIns="0" tIns="0" bIns="0" anchor="t">
            <a:noAutofit/>
          </a:bodyPr>
          <a:lstStyle/>
          <a:p>
            <a:pPr algn="l"/>
            <a:r>
              <a:rPr sz="2000" b="0" i="0">
                <a:solidFill>
                  <a:srgbClr val="1E1E2E"/>
                </a:solidFill>
                <a:latin typeface="Arial"/>
              </a:rPr>
              <a:t>An accepted, repeatable environment with tested controls, cost visibility and a named operating owner.</a:t>
            </a:r>
          </a:p>
        </p:txBody>
      </p:sp>
      <p:sp>
        <p:nvSpPr>
          <p:cNvPr id="14" name="Rounded Rectangle 13"/>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200" b="1" i="0">
                <a:solidFill>
                  <a:srgbClr val="FFFFFF"/>
                </a:solidFill>
                <a:latin typeface="Arial"/>
              </a:rPr>
              <a:t>Decision requested</a:t>
            </a:r>
          </a:p>
          <a:p>
            <a:pPr algn="l" marL="201168" indent="-201168">
              <a:spcAft>
                <a:spcPts val="1000"/>
              </a:spcAft>
              <a:buFont typeface="Arial"/>
              <a:buChar char="•"/>
            </a:pPr>
            <a:r>
              <a:rPr sz="2000" b="0" i="0">
                <a:solidFill>
                  <a:srgbClr val="FFFFFF"/>
                </a:solidFill>
                <a:latin typeface="Arial"/>
              </a:rPr>
              <a:t>Nominate a sponsor and tower leads for a 30-day validation</a:t>
            </a:r>
          </a:p>
          <a:p>
            <a:pPr algn="l" marL="201168" indent="-201168">
              <a:spcAft>
                <a:spcPts val="1000"/>
              </a:spcAft>
              <a:buFont typeface="Arial"/>
              <a:buChar char="•"/>
            </a:pPr>
            <a:r>
              <a:rPr sz="2000" b="0" i="0">
                <a:solidFill>
                  <a:srgbClr val="FFFFFF"/>
                </a:solidFill>
                <a:latin typeface="Arial"/>
              </a:rPr>
              <a:t>Adopt assess, extend and establish as the three packages</a:t>
            </a:r>
          </a:p>
          <a:p>
            <a:pPr algn="l" marL="201168" indent="-201168">
              <a:spcAft>
                <a:spcPts val="1000"/>
              </a:spcAft>
              <a:buFont typeface="Arial"/>
              <a:buChar char="•"/>
            </a:pPr>
            <a:r>
              <a:rPr sz="2000" b="0" i="0">
                <a:solidFill>
                  <a:srgbClr val="FFFFFF"/>
                </a:solidFill>
                <a:latin typeface="Arial"/>
              </a:rPr>
              <a:t>Accept labelled estimate ranges for go or no-go</a:t>
            </a:r>
          </a:p>
        </p:txBody>
      </p:sp>
      <p:sp>
        <p:nvSpPr>
          <p:cNvPr id="15" name="Rounded Rectangle 14"/>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Proposed offering. No approved rate card, staffing commitment or customer evidence yet.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Why now, and who buys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Status chip: DRIVERS SOURCED, DEMAND TO VALIDATE"/>
          <p:cNvSpPr/>
          <p:nvPr/>
        </p:nvSpPr>
        <p:spPr>
          <a:xfrm>
            <a:off x="3658870" y="274320"/>
            <a:ext cx="32969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DRIVERS SOURCED, DEMAND TO VALIDATE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sp>
        <p:nvSpPr>
          <p:cNvPr id="8" name="Rounded Rectangle 7"/>
          <p:cNvSpPr/>
          <p:nvPr/>
        </p:nvSpPr>
        <p:spPr>
          <a:xfrm>
            <a:off x="548640"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Pilot to production</a:t>
            </a:r>
          </a:p>
          <a:p>
            <a:pPr algn="l">
              <a:spcAft>
                <a:spcPts val="400"/>
              </a:spcAft>
            </a:pPr>
            <a:r>
              <a:rPr sz="1800" b="0" i="0">
                <a:solidFill>
                  <a:srgbClr val="1E1E2E"/>
                </a:solidFill>
                <a:latin typeface="Arial"/>
              </a:rPr>
              <a:t>Microsoft guidance now expects AI workloads in governed landing zones with private networking.</a:t>
            </a:r>
          </a:p>
          <a:p>
            <a:pPr algn="l"/>
            <a:r>
              <a:rPr sz="1200" b="0" i="0">
                <a:solidFill>
                  <a:srgbClr val="53565A"/>
                </a:solidFill>
                <a:latin typeface="Arial"/>
              </a:rPr>
              <a:t>Source: Cloud Adoption Framework, AI Ready</a:t>
            </a:r>
          </a:p>
        </p:txBody>
      </p:sp>
      <p:sp>
        <p:nvSpPr>
          <p:cNvPr id="9" name="Rounded Rectangle 8"/>
          <p:cNvSpPr/>
          <p:nvPr/>
        </p:nvSpPr>
        <p:spPr>
          <a:xfrm>
            <a:off x="429767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Models change yearly</a:t>
            </a:r>
          </a:p>
          <a:p>
            <a:pPr algn="l">
              <a:spcAft>
                <a:spcPts val="400"/>
              </a:spcAft>
            </a:pPr>
            <a:r>
              <a:rPr sz="1800" b="0" i="0">
                <a:solidFill>
                  <a:srgbClr val="1E1E2E"/>
                </a:solidFill>
                <a:latin typeface="Arial"/>
              </a:rPr>
              <a:t>gpt-4.1 retires 14 Apr 2027 and gpt-5.4 on 2 Sep 2027. Platforms must absorb model churn.</a:t>
            </a:r>
          </a:p>
          <a:p>
            <a:pPr algn="l"/>
            <a:r>
              <a:rPr sz="1200" b="0" i="0">
                <a:solidFill>
                  <a:srgbClr val="53565A"/>
                </a:solidFill>
                <a:latin typeface="Arial"/>
              </a:rPr>
              <a:t>Source: Foundry retirement schedule, checked 11 Oct 2026</a:t>
            </a:r>
          </a:p>
        </p:txBody>
      </p:sp>
      <p:sp>
        <p:nvSpPr>
          <p:cNvPr id="10" name="Rounded Rectangle 9"/>
          <p:cNvSpPr/>
          <p:nvPr/>
        </p:nvSpPr>
        <p:spPr>
          <a:xfrm>
            <a:off x="8046719" y="1325880"/>
            <a:ext cx="3593592" cy="2606040"/>
          </a:xfrm>
          <a:prstGeom prst="roundRect">
            <a:avLst>
              <a:gd name="adj" fmla="val 280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200" b="1" i="0">
                <a:solidFill>
                  <a:srgbClr val="000048"/>
                </a:solidFill>
                <a:latin typeface="Arial"/>
              </a:rPr>
              <a:t>Regulation is landing</a:t>
            </a:r>
          </a:p>
          <a:p>
            <a:pPr algn="l">
              <a:spcAft>
                <a:spcPts val="400"/>
              </a:spcAft>
            </a:pPr>
            <a:r>
              <a:rPr sz="1800" b="0" i="0">
                <a:solidFill>
                  <a:srgbClr val="1E1E2E"/>
                </a:solidFill>
                <a:latin typeface="Arial"/>
              </a:rPr>
              <a:t>EU AI Act high-risk obligations apply from 2 Dec 2027 (Annex III).</a:t>
            </a:r>
          </a:p>
          <a:p>
            <a:pPr algn="l"/>
            <a:r>
              <a:rPr sz="1200" b="0" i="0">
                <a:solidFill>
                  <a:srgbClr val="53565A"/>
                </a:solidFill>
                <a:latin typeface="Arial"/>
              </a:rPr>
              <a:t>Source: Orrick summary of Reg. (EU) 2026/1744</a:t>
            </a:r>
          </a:p>
        </p:txBody>
      </p:sp>
      <p:sp>
        <p:nvSpPr>
          <p:cNvPr id="11" name="Rounded Rectangle 10"/>
          <p:cNvSpPr/>
          <p:nvPr/>
        </p:nvSpPr>
        <p:spPr>
          <a:xfrm>
            <a:off x="548640" y="4069080"/>
            <a:ext cx="5468112" cy="1691640"/>
          </a:xfrm>
          <a:prstGeom prst="roundRect">
            <a:avLst>
              <a:gd name="adj" fmla="val 4324"/>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26EFE9"/>
                </a:solidFill>
                <a:latin typeface="Arial"/>
              </a:rPr>
              <a:t>Who buys</a:t>
            </a:r>
          </a:p>
          <a:p>
            <a:pPr algn="l"/>
            <a:r>
              <a:rPr sz="1900" b="0" i="0">
                <a:solidFill>
                  <a:srgbClr val="FFFFFF"/>
                </a:solidFill>
                <a:latin typeface="Arial"/>
              </a:rPr>
              <a:t>Platform or infrastructure leader as sponsor, with CIO funding, the business workload owner and a CISO delegate.</a:t>
            </a:r>
          </a:p>
        </p:txBody>
      </p:sp>
      <p:sp>
        <p:nvSpPr>
          <p:cNvPr id="12" name="Rounded Rectangle 11"/>
          <p:cNvSpPr/>
          <p:nvPr/>
        </p:nvSpPr>
        <p:spPr>
          <a:xfrm>
            <a:off x="6172200" y="4069080"/>
            <a:ext cx="5468112" cy="1691640"/>
          </a:xfrm>
          <a:prstGeom prst="roundRect">
            <a:avLst>
              <a:gd name="adj" fmla="val 4324"/>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1600" b="1" i="0">
                <a:solidFill>
                  <a:srgbClr val="000048"/>
                </a:solidFill>
                <a:latin typeface="Arial"/>
              </a:rPr>
              <a:t>What triggers the purchase</a:t>
            </a:r>
          </a:p>
          <a:p>
            <a:pPr algn="l"/>
            <a:r>
              <a:rPr sz="1900" b="0" i="0">
                <a:solidFill>
                  <a:srgbClr val="1E1E2E"/>
                </a:solidFill>
                <a:latin typeface="Arial"/>
              </a:rPr>
              <a:t>A pilot blocked by network, identity or environment gaps; repeated manual setup; unclear support ownership.</a:t>
            </a:r>
          </a:p>
        </p:txBody>
      </p:sp>
      <p:sp>
        <p:nvSpPr>
          <p:cNvPr id="13" name="TextBox 12"/>
          <p:cNvSpPr txBox="1"/>
          <p:nvPr/>
        </p:nvSpPr>
        <p:spPr>
          <a:xfrm>
            <a:off x="548640" y="5870448"/>
            <a:ext cx="11064240" cy="457200"/>
          </a:xfrm>
          <a:prstGeom prst="rect">
            <a:avLst/>
          </a:prstGeom>
          <a:noFill/>
        </p:spPr>
        <p:txBody>
          <a:bodyPr wrap="square" lIns="0" rIns="0" tIns="0" bIns="0" anchor="t">
            <a:noAutofit/>
          </a:bodyPr>
          <a:lstStyle/>
          <a:p>
            <a:pPr algn="l"/>
            <a:r>
              <a:rPr sz="1400" b="0" i="0">
                <a:solidFill>
                  <a:srgbClr val="53565A"/>
                </a:solidFill>
                <a:latin typeface="Arial"/>
              </a:rPr>
              <a:t>No pipeline or customer demand is claimed. Account shortlist and qualification scorecard: appendix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this offering sits, and the Microsoft ecosystem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04</a:t>
            </a:r>
          </a:p>
          <a:p>
            <a:pPr algn="l"/>
            <a:r>
              <a:rPr sz="1500" b="1" i="0">
                <a:solidFill>
                  <a:srgbClr val="000048"/>
                </a:solidFill>
                <a:latin typeface="Arial"/>
              </a:rPr>
              <a:t>AI Capacity and FinOps Assessment</a:t>
            </a:r>
          </a:p>
        </p:txBody>
      </p:sp>
      <p:cxnSp>
        <p:nvCxnSpPr>
          <p:cNvPr id="9" name="Connector (flow)"/>
          <p:cNvCxnSpPr/>
          <p:nvPr/>
        </p:nvCxnSpPr>
        <p:spPr>
          <a:xfrm>
            <a:off x="258775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298448"/>
            <a:ext cx="2011680" cy="1188720"/>
          </a:xfrm>
          <a:prstGeom prst="roundRect">
            <a:avLst>
              <a:gd name="adj" fmla="val 615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26EFE9"/>
                </a:solidFill>
                <a:latin typeface="Arial"/>
              </a:rPr>
              <a:t>01  THIS OFFERING</a:t>
            </a:r>
          </a:p>
          <a:p>
            <a:pPr algn="l"/>
            <a:r>
              <a:rPr sz="1500" b="1" i="0">
                <a:solidFill>
                  <a:srgbClr val="FFFFFF"/>
                </a:solidFill>
                <a:latin typeface="Arial"/>
              </a:rPr>
              <a:t>AI Platform / Landing Zone</a:t>
            </a:r>
          </a:p>
        </p:txBody>
      </p:sp>
      <p:cxnSp>
        <p:nvCxnSpPr>
          <p:cNvPr id="11" name="Connector (flow)"/>
          <p:cNvCxnSpPr/>
          <p:nvPr/>
        </p:nvCxnSpPr>
        <p:spPr>
          <a:xfrm>
            <a:off x="485820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03</a:t>
            </a:r>
          </a:p>
          <a:p>
            <a:pPr algn="l"/>
            <a:r>
              <a:rPr sz="1500" b="1" i="0">
                <a:solidFill>
                  <a:srgbClr val="000048"/>
                </a:solidFill>
                <a:latin typeface="Arial"/>
              </a:rPr>
              <a:t>AI Gateway Implementation</a:t>
            </a:r>
          </a:p>
        </p:txBody>
      </p:sp>
      <p:cxnSp>
        <p:nvCxnSpPr>
          <p:cNvPr id="13" name="Connector (flow)"/>
          <p:cNvCxnSpPr/>
          <p:nvPr/>
        </p:nvCxnSpPr>
        <p:spPr>
          <a:xfrm>
            <a:off x="7128662"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02</a:t>
            </a:r>
          </a:p>
          <a:p>
            <a:pPr algn="l"/>
            <a:r>
              <a:rPr sz="1500" b="1" i="0">
                <a:solidFill>
                  <a:srgbClr val="000048"/>
                </a:solidFill>
                <a:latin typeface="Arial"/>
              </a:rPr>
              <a:t>Agent Governance and Operations</a:t>
            </a:r>
          </a:p>
        </p:txBody>
      </p:sp>
      <p:cxnSp>
        <p:nvCxnSpPr>
          <p:cNvPr id="15" name="Connector (flow)"/>
          <p:cNvCxnSpPr/>
          <p:nvPr/>
        </p:nvCxnSpPr>
        <p:spPr>
          <a:xfrm>
            <a:off x="9399117" y="1892807"/>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30460" y="1298448"/>
            <a:ext cx="2011680" cy="1188720"/>
          </a:xfrm>
          <a:prstGeom prst="roundRect">
            <a:avLst>
              <a:gd name="adj" fmla="val 6153"/>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100" b="1" i="0">
                <a:solidFill>
                  <a:srgbClr val="53565A"/>
                </a:solidFill>
                <a:latin typeface="Arial"/>
              </a:rPr>
              <a:t>05</a:t>
            </a:r>
          </a:p>
          <a:p>
            <a:pPr algn="l"/>
            <a:r>
              <a:rPr sz="1500" b="1" i="0">
                <a:solidFill>
                  <a:srgbClr val="000048"/>
                </a:solidFill>
                <a:latin typeface="Arial"/>
              </a:rPr>
              <a:t>Managed AI Platform Operations</a:t>
            </a:r>
          </a:p>
        </p:txBody>
      </p:sp>
      <p:cxnSp>
        <p:nvCxnSpPr>
          <p:cNvPr id="17" name="Connector (control)"/>
          <p:cNvCxnSpPr/>
          <p:nvPr/>
        </p:nvCxnSpPr>
        <p:spPr>
          <a:xfrm>
            <a:off x="10636300" y="2487168"/>
            <a:ext cx="0" cy="256032"/>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control)"/>
          <p:cNvCxnSpPr/>
          <p:nvPr/>
        </p:nvCxnSpPr>
        <p:spPr>
          <a:xfrm flipH="1">
            <a:off x="1554480" y="2743200"/>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V="1">
            <a:off x="1554480" y="2487168"/>
            <a:ext cx="0" cy="2560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926080" y="2761488"/>
            <a:ext cx="6400800" cy="256032"/>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1" name="TextBox 20"/>
          <p:cNvSpPr txBox="1"/>
          <p:nvPr/>
        </p:nvSpPr>
        <p:spPr>
          <a:xfrm>
            <a:off x="548640" y="3090672"/>
            <a:ext cx="11064240" cy="292608"/>
          </a:xfrm>
          <a:prstGeom prst="rect">
            <a:avLst/>
          </a:prstGeom>
          <a:noFill/>
        </p:spPr>
        <p:txBody>
          <a:bodyPr wrap="square" lIns="0" rIns="0" tIns="0" bIns="0" anchor="t">
            <a:noAutofit/>
          </a:bodyPr>
          <a:lstStyle/>
          <a:p>
            <a:pPr algn="l"/>
            <a:r>
              <a:rPr sz="1500" b="1" i="0">
                <a:solidFill>
                  <a:srgbClr val="000048"/>
                </a:solidFill>
                <a:latin typeface="Arial"/>
              </a:rPr>
              <a:t>Microsoft ecosystem around the portfolio</a:t>
            </a:r>
          </a:p>
        </p:txBody>
      </p:sp>
      <p:sp>
        <p:nvSpPr>
          <p:cNvPr id="22" name="Rounded Rectangle 21"/>
          <p:cNvSpPr/>
          <p:nvPr/>
        </p:nvSpPr>
        <p:spPr>
          <a:xfrm>
            <a:off x="548640" y="3438144"/>
            <a:ext cx="2681478" cy="1051560"/>
          </a:xfrm>
          <a:prstGeom prst="roundRect">
            <a:avLst>
              <a:gd name="adj" fmla="val 6956"/>
            </a:avLst>
          </a:prstGeom>
          <a:solidFill>
            <a:srgbClr val="F1EFFA"/>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3" name="TextBox 22"/>
          <p:cNvSpPr txBox="1"/>
          <p:nvPr/>
        </p:nvSpPr>
        <p:spPr>
          <a:xfrm>
            <a:off x="704088"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M365 Copilot</a:t>
            </a:r>
          </a:p>
        </p:txBody>
      </p:sp>
      <p:sp>
        <p:nvSpPr>
          <p:cNvPr id="24" name="TextBox 23"/>
          <p:cNvSpPr txBox="1"/>
          <p:nvPr/>
        </p:nvSpPr>
        <p:spPr>
          <a:xfrm>
            <a:off x="704088"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Owned by Cognizant M365 and D365 teams; CIS Infra supplies readiness</a:t>
            </a:r>
          </a:p>
        </p:txBody>
      </p:sp>
      <p:sp>
        <p:nvSpPr>
          <p:cNvPr id="25" name="Status chip: HANDOFF"/>
          <p:cNvSpPr/>
          <p:nvPr/>
        </p:nvSpPr>
        <p:spPr>
          <a:xfrm>
            <a:off x="704088" y="4187952"/>
            <a:ext cx="818388" cy="237744"/>
          </a:xfrm>
          <a:prstGeom prst="roundRect">
            <a:avLst>
              <a:gd name="adj" fmla="val 30769"/>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53565A"/>
                </a:solidFill>
                <a:latin typeface="Arial"/>
              </a:rPr>
              <a:t>HANDOFF</a:t>
            </a:r>
          </a:p>
        </p:txBody>
      </p:sp>
      <p:sp>
        <p:nvSpPr>
          <p:cNvPr id="26" name="Rounded Rectangle 25"/>
          <p:cNvSpPr/>
          <p:nvPr/>
        </p:nvSpPr>
        <p:spPr>
          <a:xfrm>
            <a:off x="3367278"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27" name="TextBox 26"/>
          <p:cNvSpPr txBox="1"/>
          <p:nvPr/>
        </p:nvSpPr>
        <p:spPr>
          <a:xfrm>
            <a:off x="3477006"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Copilot Studio</a:t>
            </a:r>
          </a:p>
        </p:txBody>
      </p:sp>
      <p:sp>
        <p:nvSpPr>
          <p:cNvPr id="28" name="TextBox 27"/>
          <p:cNvSpPr txBox="1"/>
          <p:nvPr/>
        </p:nvSpPr>
        <p:spPr>
          <a:xfrm>
            <a:off x="3477006"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Agents covered as a runtime in offerings 02 to 05</a:t>
            </a:r>
          </a:p>
        </p:txBody>
      </p:sp>
      <p:sp>
        <p:nvSpPr>
          <p:cNvPr id="29" name="Status chip: COVERED RUNTIME"/>
          <p:cNvSpPr/>
          <p:nvPr/>
        </p:nvSpPr>
        <p:spPr>
          <a:xfrm>
            <a:off x="3477006"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COVERED RUNTIME</a:t>
            </a:r>
          </a:p>
        </p:txBody>
      </p:sp>
      <p:sp>
        <p:nvSpPr>
          <p:cNvPr id="30" name="Rounded Rectangle 29"/>
          <p:cNvSpPr/>
          <p:nvPr/>
        </p:nvSpPr>
        <p:spPr>
          <a:xfrm>
            <a:off x="6140196"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sp>
        <p:nvSpPr>
          <p:cNvPr id="31" name="TextBox 30"/>
          <p:cNvSpPr txBox="1"/>
          <p:nvPr/>
        </p:nvSpPr>
        <p:spPr>
          <a:xfrm>
            <a:off x="6249924" y="3502152"/>
            <a:ext cx="2343150" cy="274320"/>
          </a:xfrm>
          <a:prstGeom prst="rect">
            <a:avLst/>
          </a:prstGeom>
          <a:noFill/>
        </p:spPr>
        <p:txBody>
          <a:bodyPr wrap="square" lIns="0" rIns="0" tIns="0" bIns="0" anchor="t">
            <a:noAutofit/>
          </a:bodyPr>
          <a:lstStyle/>
          <a:p>
            <a:pPr algn="l"/>
            <a:r>
              <a:rPr sz="1400" b="1" i="0">
                <a:solidFill>
                  <a:srgbClr val="000048"/>
                </a:solidFill>
                <a:latin typeface="Arial"/>
              </a:rPr>
              <a:t>Agent 365</a:t>
            </a:r>
          </a:p>
        </p:txBody>
      </p:sp>
      <p:sp>
        <p:nvSpPr>
          <p:cNvPr id="32" name="TextBox 31"/>
          <p:cNvSpPr txBox="1"/>
          <p:nvPr/>
        </p:nvSpPr>
        <p:spPr>
          <a:xfrm>
            <a:off x="6249924"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Microsoft agent control plane; configure before any custom build</a:t>
            </a:r>
          </a:p>
        </p:txBody>
      </p:sp>
      <p:sp>
        <p:nvSpPr>
          <p:cNvPr id="33" name="Status chip: CONFIGURE FIRST"/>
          <p:cNvSpPr/>
          <p:nvPr/>
        </p:nvSpPr>
        <p:spPr>
          <a:xfrm>
            <a:off x="6249924" y="4187952"/>
            <a:ext cx="14401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CONFIGURE FIRST</a:t>
            </a:r>
          </a:p>
        </p:txBody>
      </p:sp>
      <p:sp>
        <p:nvSpPr>
          <p:cNvPr id="34" name="Rounded Rectangle 33"/>
          <p:cNvSpPr/>
          <p:nvPr/>
        </p:nvSpPr>
        <p:spPr>
          <a:xfrm>
            <a:off x="8913114" y="3438144"/>
            <a:ext cx="2681478" cy="1051560"/>
          </a:xfrm>
          <a:prstGeom prst="roundRect">
            <a:avLst>
              <a:gd name="adj" fmla="val 695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5" name="Azure icon: API Center" descr="Official Azure icon: API Cent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022842" y="3520439"/>
            <a:ext cx="274320" cy="274320"/>
          </a:xfrm>
          <a:prstGeom prst="rect">
            <a:avLst/>
          </a:prstGeom>
        </p:spPr>
      </p:pic>
      <p:sp>
        <p:nvSpPr>
          <p:cNvPr id="36" name="TextBox 35"/>
          <p:cNvSpPr txBox="1"/>
          <p:nvPr/>
        </p:nvSpPr>
        <p:spPr>
          <a:xfrm>
            <a:off x="9352026" y="3502152"/>
            <a:ext cx="2013966" cy="274320"/>
          </a:xfrm>
          <a:prstGeom prst="rect">
            <a:avLst/>
          </a:prstGeom>
          <a:noFill/>
        </p:spPr>
        <p:txBody>
          <a:bodyPr wrap="square" lIns="0" rIns="0" tIns="0" bIns="0" anchor="t">
            <a:noAutofit/>
          </a:bodyPr>
          <a:lstStyle/>
          <a:p>
            <a:pPr algn="l"/>
            <a:r>
              <a:rPr sz="1400" b="1" i="0">
                <a:solidFill>
                  <a:srgbClr val="000048"/>
                </a:solidFill>
                <a:latin typeface="Arial"/>
              </a:rPr>
              <a:t>API Center</a:t>
            </a:r>
          </a:p>
        </p:txBody>
      </p:sp>
      <p:sp>
        <p:nvSpPr>
          <p:cNvPr id="37" name="TextBox 36"/>
          <p:cNvSpPr txBox="1"/>
          <p:nvPr/>
        </p:nvSpPr>
        <p:spPr>
          <a:xfrm>
            <a:off x="9022842" y="3785615"/>
            <a:ext cx="2452878" cy="457200"/>
          </a:xfrm>
          <a:prstGeom prst="rect">
            <a:avLst/>
          </a:prstGeom>
          <a:noFill/>
        </p:spPr>
        <p:txBody>
          <a:bodyPr wrap="square" lIns="0" rIns="0" tIns="0" bIns="0" anchor="t">
            <a:noAutofit/>
          </a:bodyPr>
          <a:lstStyle/>
          <a:p>
            <a:pPr algn="l"/>
            <a:r>
              <a:rPr sz="1100" b="0" i="0">
                <a:solidFill>
                  <a:srgbClr val="1E1E2E"/>
                </a:solidFill>
                <a:latin typeface="Arial"/>
              </a:rPr>
              <a:t>Registry for APIs and MCP tools, beside API Management</a:t>
            </a:r>
          </a:p>
        </p:txBody>
      </p:sp>
      <p:sp>
        <p:nvSpPr>
          <p:cNvPr id="38" name="Status chip: CIS INFRA BUILDS"/>
          <p:cNvSpPr/>
          <p:nvPr/>
        </p:nvSpPr>
        <p:spPr>
          <a:xfrm>
            <a:off x="9022842" y="4187952"/>
            <a:ext cx="1517904"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900" b="1" i="0">
                <a:solidFill>
                  <a:srgbClr val="FFFFFF"/>
                </a:solidFill>
                <a:latin typeface="Arial"/>
              </a:rPr>
              <a:t>CIS INFRA BUILDS</a:t>
            </a:r>
          </a:p>
        </p:txBody>
      </p:sp>
      <p:sp>
        <p:nvSpPr>
          <p:cNvPr id="39" name="Rounded Rectangle 38"/>
          <p:cNvSpPr/>
          <p:nvPr/>
        </p:nvSpPr>
        <p:spPr>
          <a:xfrm>
            <a:off x="5486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Receives from 04 Capacity and FinOps</a:t>
            </a:r>
          </a:p>
          <a:p>
            <a:pPr algn="l"/>
            <a:r>
              <a:rPr sz="1600" b="0" i="0">
                <a:solidFill>
                  <a:srgbClr val="1E1E2E"/>
                </a:solidFill>
                <a:latin typeface="Arial"/>
              </a:rPr>
              <a:t>Deployment type, processing boundary, quota plan</a:t>
            </a:r>
          </a:p>
        </p:txBody>
      </p:sp>
      <p:sp>
        <p:nvSpPr>
          <p:cNvPr id="40" name="Rounded Rectangle 39"/>
          <p:cNvSpPr/>
          <p:nvPr/>
        </p:nvSpPr>
        <p:spPr>
          <a:xfrm>
            <a:off x="4319016"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03 Gateway and 02 Governance</a:t>
            </a:r>
          </a:p>
          <a:p>
            <a:pPr algn="l"/>
            <a:r>
              <a:rPr sz="1600" b="0" i="0">
                <a:solidFill>
                  <a:srgbClr val="1E1E2E"/>
                </a:solidFill>
                <a:latin typeface="Arial"/>
              </a:rPr>
              <a:t>Network, identities, hosting and telemetry</a:t>
            </a:r>
          </a:p>
        </p:txBody>
      </p:sp>
      <p:sp>
        <p:nvSpPr>
          <p:cNvPr id="41" name="Rounded Rectangle 40"/>
          <p:cNvSpPr/>
          <p:nvPr/>
        </p:nvSpPr>
        <p:spPr>
          <a:xfrm>
            <a:off x="8016240" y="4617720"/>
            <a:ext cx="3624072" cy="1143000"/>
          </a:xfrm>
          <a:prstGeom prst="roundRect">
            <a:avLst>
              <a:gd name="adj" fmla="val 64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200"/>
              </a:spcAft>
            </a:pPr>
            <a:r>
              <a:rPr sz="1400" b="1" i="0">
                <a:solidFill>
                  <a:srgbClr val="2F78C4"/>
                </a:solidFill>
                <a:latin typeface="Arial"/>
              </a:rPr>
              <a:t>Hands to 05 Managed Operations</a:t>
            </a:r>
          </a:p>
          <a:p>
            <a:pPr algn="l"/>
            <a:r>
              <a:rPr sz="1600" b="0" i="0">
                <a:solidFill>
                  <a:srgbClr val="1E1E2E"/>
                </a:solidFill>
                <a:latin typeface="Arial"/>
              </a:rPr>
              <a:t>Accepted platform, runbooks and cost baseline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CIS Infra provides, and what it does not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566928"/>
          </a:xfrm>
          <a:prstGeom prst="roundRect">
            <a:avLst>
              <a:gd name="adj" fmla="val 1290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Included: CIS Infra delivers</a:t>
            </a:r>
          </a:p>
        </p:txBody>
      </p:sp>
      <p:sp>
        <p:nvSpPr>
          <p:cNvPr id="9" name="Rounded Rectangle 8"/>
          <p:cNvSpPr/>
          <p:nvPr/>
        </p:nvSpPr>
        <p:spPr>
          <a:xfrm>
            <a:off x="548640" y="1984248"/>
            <a:ext cx="3593592" cy="3611880"/>
          </a:xfrm>
          <a:prstGeom prst="roundRect">
            <a:avLst>
              <a:gd name="adj" fmla="val 203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Subscriptions, policy, tags</a:t>
            </a:r>
          </a:p>
          <a:p>
            <a:pPr algn="l" marL="201168" indent="-201168">
              <a:spcAft>
                <a:spcPts val="800"/>
              </a:spcAft>
              <a:buFont typeface="Arial"/>
              <a:buChar char="•"/>
            </a:pPr>
            <a:r>
              <a:rPr sz="1800" b="0" i="0">
                <a:solidFill>
                  <a:srgbClr val="1E1E2E"/>
                </a:solidFill>
                <a:latin typeface="Arial"/>
              </a:rPr>
              <a:t>Hub links, private endpoints, DNS</a:t>
            </a:r>
          </a:p>
          <a:p>
            <a:pPr algn="l" marL="201168" indent="-201168">
              <a:spcAft>
                <a:spcPts val="800"/>
              </a:spcAft>
              <a:buFont typeface="Arial"/>
              <a:buChar char="•"/>
            </a:pPr>
            <a:r>
              <a:rPr sz="1800" b="0" i="0">
                <a:solidFill>
                  <a:srgbClr val="1E1E2E"/>
                </a:solidFill>
                <a:latin typeface="Arial"/>
              </a:rPr>
              <a:t>Foundry project and model endpoint</a:t>
            </a:r>
          </a:p>
          <a:p>
            <a:pPr algn="l" marL="201168" indent="-201168">
              <a:spcAft>
                <a:spcPts val="800"/>
              </a:spcAft>
              <a:buFont typeface="Arial"/>
              <a:buChar char="•"/>
            </a:pPr>
            <a:r>
              <a:rPr sz="1800" b="0" i="0">
                <a:solidFill>
                  <a:srgbClr val="1E1E2E"/>
                </a:solidFill>
                <a:latin typeface="Arial"/>
              </a:rPr>
              <a:t>Monitoring, budgets, recovery</a:t>
            </a:r>
          </a:p>
          <a:p>
            <a:pPr algn="l" marL="201168" indent="-201168">
              <a:spcAft>
                <a:spcPts val="800"/>
              </a:spcAft>
              <a:buFont typeface="Arial"/>
              <a:buChar char="•"/>
            </a:pPr>
            <a:r>
              <a:rPr sz="1800" b="0" i="0">
                <a:solidFill>
                  <a:srgbClr val="1E1E2E"/>
                </a:solidFill>
                <a:latin typeface="Arial"/>
              </a:rPr>
              <a:t>Integrated plan and handover</a:t>
            </a:r>
          </a:p>
        </p:txBody>
      </p:sp>
      <p:sp>
        <p:nvSpPr>
          <p:cNvPr id="10" name="Rounded Rectangle 9"/>
          <p:cNvSpPr/>
          <p:nvPr/>
        </p:nvSpPr>
        <p:spPr>
          <a:xfrm>
            <a:off x="4297679" y="1371600"/>
            <a:ext cx="3593592" cy="566928"/>
          </a:xfrm>
          <a:prstGeom prst="roundRect">
            <a:avLst>
              <a:gd name="adj" fmla="val 1290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Optional: priced separately</a:t>
            </a:r>
          </a:p>
        </p:txBody>
      </p:sp>
      <p:sp>
        <p:nvSpPr>
          <p:cNvPr id="11" name="Rounded Rectangle 10"/>
          <p:cNvSpPr/>
          <p:nvPr/>
        </p:nvSpPr>
        <p:spPr>
          <a:xfrm>
            <a:off x="429767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More workloads or regions</a:t>
            </a:r>
          </a:p>
          <a:p>
            <a:pPr algn="l" marL="201168" indent="-201168">
              <a:spcAft>
                <a:spcPts val="800"/>
              </a:spcAft>
              <a:buFont typeface="Arial"/>
              <a:buChar char="•"/>
            </a:pPr>
            <a:r>
              <a:rPr sz="1800" b="0" i="0">
                <a:solidFill>
                  <a:srgbClr val="1E1E2E"/>
                </a:solidFill>
                <a:latin typeface="Arial"/>
              </a:rPr>
              <a:t>Disaster recovery</a:t>
            </a:r>
          </a:p>
          <a:p>
            <a:pPr algn="l" marL="201168" indent="-201168">
              <a:spcAft>
                <a:spcPts val="800"/>
              </a:spcAft>
              <a:buFont typeface="Arial"/>
              <a:buChar char="•"/>
            </a:pPr>
            <a:r>
              <a:rPr sz="1800" b="0" i="0">
                <a:solidFill>
                  <a:srgbClr val="1E1E2E"/>
                </a:solidFill>
                <a:latin typeface="Arial"/>
              </a:rPr>
              <a:t>AI Gateway (offering 03)</a:t>
            </a:r>
          </a:p>
          <a:p>
            <a:pPr algn="l" marL="201168" indent="-201168">
              <a:spcAft>
                <a:spcPts val="800"/>
              </a:spcAft>
              <a:buFont typeface="Arial"/>
              <a:buChar char="•"/>
            </a:pPr>
            <a:r>
              <a:rPr sz="1800" b="0" i="0">
                <a:solidFill>
                  <a:srgbClr val="1E1E2E"/>
                </a:solidFill>
                <a:latin typeface="Arial"/>
              </a:rPr>
              <a:t>Agent governance (offering 02)</a:t>
            </a:r>
          </a:p>
          <a:p>
            <a:pPr algn="l" marL="201168" indent="-201168">
              <a:spcAft>
                <a:spcPts val="800"/>
              </a:spcAft>
              <a:buFont typeface="Arial"/>
              <a:buChar char="•"/>
            </a:pPr>
            <a:r>
              <a:rPr sz="1800" b="0" i="0">
                <a:solidFill>
                  <a:srgbClr val="1E1E2E"/>
                </a:solidFill>
                <a:latin typeface="Arial"/>
              </a:rPr>
              <a:t>Operations (offering 05)</a:t>
            </a:r>
          </a:p>
        </p:txBody>
      </p:sp>
      <p:sp>
        <p:nvSpPr>
          <p:cNvPr id="12" name="Rounded Rectangle 11"/>
          <p:cNvSpPr/>
          <p:nvPr/>
        </p:nvSpPr>
        <p:spPr>
          <a:xfrm>
            <a:off x="8046719" y="1371600"/>
            <a:ext cx="3593592" cy="566928"/>
          </a:xfrm>
          <a:prstGeom prst="roundRect">
            <a:avLst>
              <a:gd name="adj" fmla="val 1290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Other owners</a:t>
            </a:r>
          </a:p>
        </p:txBody>
      </p:sp>
      <p:sp>
        <p:nvSpPr>
          <p:cNvPr id="13" name="Rounded Rectangle 12"/>
          <p:cNvSpPr/>
          <p:nvPr/>
        </p:nvSpPr>
        <p:spPr>
          <a:xfrm>
            <a:off x="8046719" y="1984248"/>
            <a:ext cx="3593592" cy="361188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800" b="0" i="0">
                <a:solidFill>
                  <a:srgbClr val="1E1E2E"/>
                </a:solidFill>
                <a:latin typeface="Arial"/>
              </a:rPr>
              <a:t>Security: control design</a:t>
            </a:r>
          </a:p>
          <a:p>
            <a:pPr algn="l" marL="201168" indent="-201168">
              <a:spcAft>
                <a:spcPts val="800"/>
              </a:spcAft>
              <a:buFont typeface="Arial"/>
              <a:buChar char="•"/>
            </a:pPr>
            <a:r>
              <a:rPr sz="1800" b="0" i="0">
                <a:solidFill>
                  <a:srgbClr val="1E1E2E"/>
                </a:solidFill>
                <a:latin typeface="Arial"/>
              </a:rPr>
              <a:t>DevOps: Terraform pipelines</a:t>
            </a:r>
          </a:p>
          <a:p>
            <a:pPr algn="l" marL="201168" indent="-201168">
              <a:spcAft>
                <a:spcPts val="800"/>
              </a:spcAft>
              <a:buFont typeface="Arial"/>
              <a:buChar char="•"/>
            </a:pPr>
            <a:r>
              <a:rPr sz="1800" b="0" i="0">
                <a:solidFill>
                  <a:srgbClr val="1E1E2E"/>
                </a:solidFill>
                <a:latin typeface="Arial"/>
              </a:rPr>
              <a:t>AI: models, agents, quality</a:t>
            </a:r>
          </a:p>
          <a:p>
            <a:pPr algn="l" marL="201168" indent="-201168">
              <a:spcAft>
                <a:spcPts val="800"/>
              </a:spcAft>
              <a:buFont typeface="Arial"/>
              <a:buChar char="•"/>
            </a:pPr>
            <a:r>
              <a:rPr sz="1800" b="0" i="0">
                <a:solidFill>
                  <a:srgbClr val="1E1E2E"/>
                </a:solidFill>
                <a:latin typeface="Arial"/>
              </a:rPr>
              <a:t>Data teams: data and ingestion</a:t>
            </a:r>
          </a:p>
          <a:p>
            <a:pPr algn="l" marL="201168" indent="-201168">
              <a:spcAft>
                <a:spcPts val="800"/>
              </a:spcAft>
              <a:buFont typeface="Arial"/>
              <a:buChar char="•"/>
            </a:pPr>
            <a:r>
              <a:rPr sz="1800" b="0" i="0">
                <a:solidFill>
                  <a:srgbClr val="1E1E2E"/>
                </a:solidFill>
                <a:latin typeface="Arial"/>
              </a:rPr>
              <a:t>Customer: data rights, risk</a:t>
            </a:r>
          </a:p>
        </p:txBody>
      </p:sp>
      <p:sp>
        <p:nvSpPr>
          <p:cNvPr id="14" name="Rounded Rectangle 13"/>
          <p:cNvSpPr/>
          <p:nvPr/>
        </p:nvSpPr>
        <p:spPr>
          <a:xfrm>
            <a:off x="548640" y="5760720"/>
            <a:ext cx="11091672" cy="566928"/>
          </a:xfrm>
          <a:prstGeom prst="roundRect">
            <a:avLst>
              <a:gd name="adj" fmla="val 1290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8A4B08"/>
                </a:solidFill>
                <a:latin typeface="Arial"/>
              </a:rPr>
              <a:t>Limit:  </a:t>
            </a:r>
            <a:r>
              <a:rPr sz="1600" b="0" i="0">
                <a:solidFill>
                  <a:srgbClr val="1E1E2E"/>
                </a:solidFill>
                <a:latin typeface="Arial"/>
              </a:rPr>
              <a:t>CIS Infra does not own model quality, application behaviour, data quality or security operations.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Architecture: shared platform, separate workloads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3063240" cy="4343400"/>
          </a:xfrm>
          <a:prstGeom prst="roundRect">
            <a:avLst>
              <a:gd name="adj" fmla="val 2985"/>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2843784" cy="237744"/>
          </a:xfrm>
          <a:prstGeom prst="rect">
            <a:avLst/>
          </a:prstGeom>
          <a:noFill/>
        </p:spPr>
        <p:txBody>
          <a:bodyPr wrap="square" lIns="0" rIns="0" tIns="0" bIns="0" anchor="t">
            <a:noAutofit/>
          </a:bodyPr>
          <a:lstStyle/>
          <a:p>
            <a:pPr algn="l"/>
            <a:r>
              <a:rPr sz="1100" b="1" i="0">
                <a:solidFill>
                  <a:srgbClr val="000048"/>
                </a:solidFill>
                <a:latin typeface="Arial"/>
              </a:rPr>
              <a:t>PLATFORM LANDING ZONE (SHARED)</a:t>
            </a:r>
          </a:p>
        </p:txBody>
      </p:sp>
      <p:pic>
        <p:nvPicPr>
          <p:cNvPr id="10"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764792"/>
            <a:ext cx="384048" cy="384048"/>
          </a:xfrm>
          <a:prstGeom prst="rect">
            <a:avLst/>
          </a:prstGeom>
        </p:spPr>
      </p:pic>
      <p:sp>
        <p:nvSpPr>
          <p:cNvPr id="11" name="TextBox 10"/>
          <p:cNvSpPr txBox="1"/>
          <p:nvPr/>
        </p:nvSpPr>
        <p:spPr>
          <a:xfrm>
            <a:off x="1078992" y="1728216"/>
            <a:ext cx="2267712" cy="457199"/>
          </a:xfrm>
          <a:prstGeom prst="rect">
            <a:avLst/>
          </a:prstGeom>
          <a:noFill/>
        </p:spPr>
        <p:txBody>
          <a:bodyPr wrap="square" lIns="0" rIns="0" tIns="0" bIns="0" anchor="ctr">
            <a:noAutofit/>
          </a:bodyPr>
          <a:lstStyle/>
          <a:p>
            <a:pPr algn="l"/>
            <a:r>
              <a:rPr sz="1300" b="1" i="0">
                <a:solidFill>
                  <a:srgbClr val="000048"/>
                </a:solidFill>
                <a:latin typeface="Arial"/>
              </a:rPr>
              <a:t>Management groups</a:t>
            </a:r>
          </a:p>
          <a:p>
            <a:pPr algn="l"/>
            <a:r>
              <a:rPr sz="1100" b="0" i="0">
                <a:solidFill>
                  <a:srgbClr val="53565A"/>
                </a:solidFill>
                <a:latin typeface="Arial"/>
              </a:rPr>
              <a:t>policy and RBAC inheritance</a:t>
            </a:r>
          </a:p>
        </p:txBody>
      </p:sp>
      <p:pic>
        <p:nvPicPr>
          <p:cNvPr id="12" name="Azure icon: Azure Policy" descr="Official Azure icon: Azure Policy"/>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359152"/>
            <a:ext cx="384048" cy="384048"/>
          </a:xfrm>
          <a:prstGeom prst="rect">
            <a:avLst/>
          </a:prstGeom>
        </p:spPr>
      </p:pic>
      <p:sp>
        <p:nvSpPr>
          <p:cNvPr id="13" name="TextBox 12"/>
          <p:cNvSpPr txBox="1"/>
          <p:nvPr/>
        </p:nvSpPr>
        <p:spPr>
          <a:xfrm>
            <a:off x="1078992" y="2322576"/>
            <a:ext cx="2267712" cy="457199"/>
          </a:xfrm>
          <a:prstGeom prst="rect">
            <a:avLst/>
          </a:prstGeom>
          <a:noFill/>
        </p:spPr>
        <p:txBody>
          <a:bodyPr wrap="square" lIns="0" rIns="0" tIns="0" bIns="0" anchor="ctr">
            <a:noAutofit/>
          </a:bodyPr>
          <a:lstStyle/>
          <a:p>
            <a:pPr algn="l"/>
            <a:r>
              <a:rPr sz="1300" b="1" i="0">
                <a:solidFill>
                  <a:srgbClr val="000048"/>
                </a:solidFill>
                <a:latin typeface="Arial"/>
              </a:rPr>
              <a:t>Azure Policy</a:t>
            </a:r>
          </a:p>
          <a:p>
            <a:pPr algn="l"/>
            <a:r>
              <a:rPr sz="1100" b="0" i="0">
                <a:solidFill>
                  <a:srgbClr val="53565A"/>
                </a:solidFill>
                <a:latin typeface="Arial"/>
              </a:rPr>
              <a:t>guardrails and tags</a:t>
            </a:r>
          </a:p>
        </p:txBody>
      </p:sp>
      <p:pic>
        <p:nvPicPr>
          <p:cNvPr id="14" name="Azure icon: Virtual Networks" descr="Official Azure icon: Virtual Network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2953512"/>
            <a:ext cx="384048" cy="384048"/>
          </a:xfrm>
          <a:prstGeom prst="rect">
            <a:avLst/>
          </a:prstGeom>
        </p:spPr>
      </p:pic>
      <p:sp>
        <p:nvSpPr>
          <p:cNvPr id="15" name="TextBox 14"/>
          <p:cNvSpPr txBox="1"/>
          <p:nvPr/>
        </p:nvSpPr>
        <p:spPr>
          <a:xfrm>
            <a:off x="1078992" y="2916936"/>
            <a:ext cx="2267712" cy="457199"/>
          </a:xfrm>
          <a:prstGeom prst="rect">
            <a:avLst/>
          </a:prstGeom>
          <a:noFill/>
        </p:spPr>
        <p:txBody>
          <a:bodyPr wrap="square" lIns="0" rIns="0" tIns="0" bIns="0" anchor="ctr">
            <a:noAutofit/>
          </a:bodyPr>
          <a:lstStyle/>
          <a:p>
            <a:pPr algn="l"/>
            <a:r>
              <a:rPr sz="1300" b="1" i="0">
                <a:solidFill>
                  <a:srgbClr val="000048"/>
                </a:solidFill>
                <a:latin typeface="Arial"/>
              </a:rPr>
              <a:t>Hub virtual network</a:t>
            </a:r>
          </a:p>
          <a:p>
            <a:pPr algn="l"/>
            <a:r>
              <a:rPr sz="1100" b="0" i="0">
                <a:solidFill>
                  <a:srgbClr val="53565A"/>
                </a:solidFill>
                <a:latin typeface="Arial"/>
              </a:rPr>
              <a:t>peering to spokes</a:t>
            </a:r>
          </a:p>
        </p:txBody>
      </p:sp>
      <p:pic>
        <p:nvPicPr>
          <p:cNvPr id="16" name="Azure icon: Firewalls" descr="Official Azure icon: Firewal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3547872"/>
            <a:ext cx="384048" cy="384048"/>
          </a:xfrm>
          <a:prstGeom prst="rect">
            <a:avLst/>
          </a:prstGeom>
        </p:spPr>
      </p:pic>
      <p:sp>
        <p:nvSpPr>
          <p:cNvPr id="17" name="TextBox 16"/>
          <p:cNvSpPr txBox="1"/>
          <p:nvPr/>
        </p:nvSpPr>
        <p:spPr>
          <a:xfrm>
            <a:off x="1078992" y="3511296"/>
            <a:ext cx="2267712" cy="457199"/>
          </a:xfrm>
          <a:prstGeom prst="rect">
            <a:avLst/>
          </a:prstGeom>
          <a:noFill/>
        </p:spPr>
        <p:txBody>
          <a:bodyPr wrap="square" lIns="0" rIns="0" tIns="0" bIns="0" anchor="ctr">
            <a:noAutofit/>
          </a:bodyPr>
          <a:lstStyle/>
          <a:p>
            <a:pPr algn="l"/>
            <a:r>
              <a:rPr sz="1300" b="1" i="0">
                <a:solidFill>
                  <a:srgbClr val="000048"/>
                </a:solidFill>
                <a:latin typeface="Arial"/>
              </a:rPr>
              <a:t>Azure Firewall</a:t>
            </a:r>
          </a:p>
          <a:p>
            <a:pPr algn="l"/>
            <a:r>
              <a:rPr sz="1100" b="0" i="0">
                <a:solidFill>
                  <a:srgbClr val="53565A"/>
                </a:solidFill>
                <a:latin typeface="Arial"/>
              </a:rPr>
              <a:t>controlled egress</a:t>
            </a:r>
          </a:p>
        </p:txBody>
      </p:sp>
      <p:pic>
        <p:nvPicPr>
          <p:cNvPr id="18" name="Azure icon: DNS Private Resolver" descr="Official Azure icon: DNS Private Resolve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1792" y="4142232"/>
            <a:ext cx="384048" cy="384048"/>
          </a:xfrm>
          <a:prstGeom prst="rect">
            <a:avLst/>
          </a:prstGeom>
        </p:spPr>
      </p:pic>
      <p:sp>
        <p:nvSpPr>
          <p:cNvPr id="19" name="TextBox 18"/>
          <p:cNvSpPr txBox="1"/>
          <p:nvPr/>
        </p:nvSpPr>
        <p:spPr>
          <a:xfrm>
            <a:off x="1078992" y="4105656"/>
            <a:ext cx="2267712" cy="457199"/>
          </a:xfrm>
          <a:prstGeom prst="rect">
            <a:avLst/>
          </a:prstGeom>
          <a:noFill/>
        </p:spPr>
        <p:txBody>
          <a:bodyPr wrap="square" lIns="0" rIns="0" tIns="0" bIns="0" anchor="ctr">
            <a:noAutofit/>
          </a:bodyPr>
          <a:lstStyle/>
          <a:p>
            <a:pPr algn="l"/>
            <a:r>
              <a:rPr sz="1300" b="1" i="0">
                <a:solidFill>
                  <a:srgbClr val="000048"/>
                </a:solidFill>
                <a:latin typeface="Arial"/>
              </a:rPr>
              <a:t>DNS Private Resolver</a:t>
            </a:r>
          </a:p>
          <a:p>
            <a:pPr algn="l"/>
            <a:r>
              <a:rPr sz="1100" b="0" i="0">
                <a:solidFill>
                  <a:srgbClr val="53565A"/>
                </a:solidFill>
                <a:latin typeface="Arial"/>
              </a:rPr>
              <a:t>private DNS zones</a:t>
            </a:r>
          </a:p>
        </p:txBody>
      </p:sp>
      <p:pic>
        <p:nvPicPr>
          <p:cNvPr id="20" name="Azure icon: Entra Privileged Identity Management" descr="Official Azure icon: Entra Privileged Identity Management"/>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21792" y="4736592"/>
            <a:ext cx="384048" cy="384048"/>
          </a:xfrm>
          <a:prstGeom prst="rect">
            <a:avLst/>
          </a:prstGeom>
        </p:spPr>
      </p:pic>
      <p:sp>
        <p:nvSpPr>
          <p:cNvPr id="21" name="TextBox 20"/>
          <p:cNvSpPr txBox="1"/>
          <p:nvPr/>
        </p:nvSpPr>
        <p:spPr>
          <a:xfrm>
            <a:off x="1078992" y="4700016"/>
            <a:ext cx="2267712" cy="457199"/>
          </a:xfrm>
          <a:prstGeom prst="rect">
            <a:avLst/>
          </a:prstGeom>
          <a:noFill/>
        </p:spPr>
        <p:txBody>
          <a:bodyPr wrap="square" lIns="0" rIns="0" tIns="0" bIns="0" anchor="ctr">
            <a:noAutofit/>
          </a:bodyPr>
          <a:lstStyle/>
          <a:p>
            <a:pPr algn="l"/>
            <a:r>
              <a:rPr sz="1300" b="1" i="0">
                <a:solidFill>
                  <a:srgbClr val="000048"/>
                </a:solidFill>
                <a:latin typeface="Arial"/>
              </a:rPr>
              <a:t>Entra PIM</a:t>
            </a:r>
          </a:p>
          <a:p>
            <a:pPr algn="l"/>
            <a:r>
              <a:rPr sz="1100" b="0" i="0">
                <a:solidFill>
                  <a:srgbClr val="53565A"/>
                </a:solidFill>
                <a:latin typeface="Arial"/>
              </a:rPr>
              <a:t>privileged operator access</a:t>
            </a:r>
          </a:p>
        </p:txBody>
      </p:sp>
      <p:sp>
        <p:nvSpPr>
          <p:cNvPr id="22" name="Rounded Rectangle 21"/>
          <p:cNvSpPr/>
          <p:nvPr/>
        </p:nvSpPr>
        <p:spPr>
          <a:xfrm>
            <a:off x="3886200" y="1325880"/>
            <a:ext cx="7909560" cy="2423160"/>
          </a:xfrm>
          <a:prstGeom prst="roundRect">
            <a:avLst>
              <a:gd name="adj" fmla="val 3773"/>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995928" y="1380744"/>
            <a:ext cx="7690104" cy="237744"/>
          </a:xfrm>
          <a:prstGeom prst="rect">
            <a:avLst/>
          </a:prstGeom>
          <a:noFill/>
        </p:spPr>
        <p:txBody>
          <a:bodyPr wrap="square" lIns="0" rIns="0" tIns="0" bIns="0" anchor="t">
            <a:noAutofit/>
          </a:bodyPr>
          <a:lstStyle/>
          <a:p>
            <a:pPr algn="l"/>
            <a:r>
              <a:rPr sz="1100" b="1" i="0">
                <a:solidFill>
                  <a:srgbClr val="000048"/>
                </a:solidFill>
                <a:latin typeface="Arial"/>
              </a:rPr>
              <a:t>PRODUCTION WORKLOAD SUBSCRIPTION</a:t>
            </a:r>
          </a:p>
        </p:txBody>
      </p:sp>
      <p:pic>
        <p:nvPicPr>
          <p:cNvPr id="24" name="Azure icon: Application Gateways" descr="Official Azure icon: Application Gateway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325112" y="1783080"/>
            <a:ext cx="420624" cy="420624"/>
          </a:xfrm>
          <a:prstGeom prst="rect">
            <a:avLst/>
          </a:prstGeom>
        </p:spPr>
      </p:pic>
      <p:sp>
        <p:nvSpPr>
          <p:cNvPr id="25" name="TextBox 24"/>
          <p:cNvSpPr txBox="1"/>
          <p:nvPr/>
        </p:nvSpPr>
        <p:spPr>
          <a:xfrm>
            <a:off x="401421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App Gateway</a:t>
            </a:r>
          </a:p>
          <a:p>
            <a:pPr algn="ctr"/>
            <a:r>
              <a:rPr sz="1000" b="0" i="0">
                <a:solidFill>
                  <a:srgbClr val="53565A"/>
                </a:solidFill>
                <a:latin typeface="Arial"/>
              </a:rPr>
              <a:t>WAF ingress</a:t>
            </a:r>
          </a:p>
        </p:txBody>
      </p:sp>
      <p:cxnSp>
        <p:nvCxnSpPr>
          <p:cNvPr id="26" name="Connector (flow)"/>
          <p:cNvCxnSpPr/>
          <p:nvPr/>
        </p:nvCxnSpPr>
        <p:spPr>
          <a:xfrm>
            <a:off x="5001768" y="1938528"/>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27" name="Azure icon: Container Apps Environments" descr="Official Azure icon: Container Apps Environment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513831" y="1783080"/>
            <a:ext cx="420624" cy="420624"/>
          </a:xfrm>
          <a:prstGeom prst="rect">
            <a:avLst/>
          </a:prstGeom>
        </p:spPr>
      </p:pic>
      <p:sp>
        <p:nvSpPr>
          <p:cNvPr id="28" name="TextBox 27"/>
          <p:cNvSpPr txBox="1"/>
          <p:nvPr/>
        </p:nvSpPr>
        <p:spPr>
          <a:xfrm>
            <a:off x="5202936"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App host</a:t>
            </a:r>
          </a:p>
          <a:p>
            <a:pPr algn="ctr"/>
            <a:r>
              <a:rPr sz="1000" b="0" i="0">
                <a:solidFill>
                  <a:srgbClr val="53565A"/>
                </a:solidFill>
                <a:latin typeface="Arial"/>
              </a:rPr>
              <a:t>Container Apps</a:t>
            </a:r>
          </a:p>
        </p:txBody>
      </p:sp>
      <p:cxnSp>
        <p:nvCxnSpPr>
          <p:cNvPr id="29" name="Connector (flow)"/>
          <p:cNvCxnSpPr/>
          <p:nvPr/>
        </p:nvCxnSpPr>
        <p:spPr>
          <a:xfrm>
            <a:off x="6190488" y="1938528"/>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0" name="Azure icon: Microsoft Foundry" descr="Official Azure icon: Microsoft Foundry"/>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702551" y="1783080"/>
            <a:ext cx="420624" cy="420624"/>
          </a:xfrm>
          <a:prstGeom prst="rect">
            <a:avLst/>
          </a:prstGeom>
        </p:spPr>
      </p:pic>
      <p:sp>
        <p:nvSpPr>
          <p:cNvPr id="31" name="TextBox 30"/>
          <p:cNvSpPr txBox="1"/>
          <p:nvPr/>
        </p:nvSpPr>
        <p:spPr>
          <a:xfrm>
            <a:off x="639165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Foundry project</a:t>
            </a:r>
          </a:p>
          <a:p>
            <a:pPr algn="ctr"/>
            <a:r>
              <a:rPr sz="1000" b="0" i="0">
                <a:solidFill>
                  <a:srgbClr val="53565A"/>
                </a:solidFill>
                <a:latin typeface="Arial"/>
              </a:rPr>
              <a:t>agents</a:t>
            </a:r>
          </a:p>
        </p:txBody>
      </p:sp>
      <p:cxnSp>
        <p:nvCxnSpPr>
          <p:cNvPr id="32" name="Connector (flow)"/>
          <p:cNvCxnSpPr/>
          <p:nvPr/>
        </p:nvCxnSpPr>
        <p:spPr>
          <a:xfrm>
            <a:off x="7379208" y="1938528"/>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33" name="Azure icon: Foundry Models" descr="Official Azure icon: Foundry Model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891271" y="1783080"/>
            <a:ext cx="420624" cy="420624"/>
          </a:xfrm>
          <a:prstGeom prst="rect">
            <a:avLst/>
          </a:prstGeom>
        </p:spPr>
      </p:pic>
      <p:sp>
        <p:nvSpPr>
          <p:cNvPr id="34" name="TextBox 33"/>
          <p:cNvSpPr txBox="1"/>
          <p:nvPr/>
        </p:nvSpPr>
        <p:spPr>
          <a:xfrm>
            <a:off x="7580375" y="2240280"/>
            <a:ext cx="1042415" cy="476894"/>
          </a:xfrm>
          <a:prstGeom prst="rect">
            <a:avLst/>
          </a:prstGeom>
          <a:noFill/>
        </p:spPr>
        <p:txBody>
          <a:bodyPr wrap="square" lIns="0" rIns="0" tIns="0" bIns="0" anchor="t">
            <a:noAutofit/>
          </a:bodyPr>
          <a:lstStyle/>
          <a:p>
            <a:pPr algn="ctr"/>
            <a:r>
              <a:rPr sz="1200" b="1" i="0">
                <a:solidFill>
                  <a:srgbClr val="000048"/>
                </a:solidFill>
                <a:latin typeface="Arial"/>
              </a:rPr>
              <a:t>Model</a:t>
            </a:r>
          </a:p>
          <a:p>
            <a:pPr algn="ctr"/>
            <a:r>
              <a:rPr sz="1000" b="0" i="0">
                <a:solidFill>
                  <a:srgbClr val="53565A"/>
                </a:solidFill>
                <a:latin typeface="Arial"/>
              </a:rPr>
              <a:t>deployment</a:t>
            </a:r>
          </a:p>
        </p:txBody>
      </p:sp>
      <p:sp>
        <p:nvSpPr>
          <p:cNvPr id="35" name="Rounded Rectangle 34"/>
          <p:cNvSpPr/>
          <p:nvPr/>
        </p:nvSpPr>
        <p:spPr>
          <a:xfrm>
            <a:off x="8778240" y="1673352"/>
            <a:ext cx="2926080" cy="1371600"/>
          </a:xfrm>
          <a:prstGeom prst="roundRect">
            <a:avLst>
              <a:gd name="adj" fmla="val 6666"/>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851392" y="1691640"/>
            <a:ext cx="2743200" cy="228600"/>
          </a:xfrm>
          <a:prstGeom prst="rect">
            <a:avLst/>
          </a:prstGeom>
          <a:noFill/>
        </p:spPr>
        <p:txBody>
          <a:bodyPr wrap="square" lIns="0" rIns="0" tIns="0" bIns="0" anchor="t">
            <a:noAutofit/>
          </a:bodyPr>
          <a:lstStyle/>
          <a:p>
            <a:pPr algn="l"/>
            <a:r>
              <a:rPr sz="1000" b="1" i="0">
                <a:solidFill>
                  <a:srgbClr val="53565A"/>
                </a:solidFill>
                <a:latin typeface="Arial"/>
              </a:rPr>
              <a:t>DATA AND SECRETS</a:t>
            </a:r>
          </a:p>
        </p:txBody>
      </p:sp>
      <p:pic>
        <p:nvPicPr>
          <p:cNvPr id="37" name="Azure icon: AI Search (Cognitive Search icon)" descr="Official Azure icon: AI Search (Cognitive Search icon)"/>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84563" y="1947672"/>
            <a:ext cx="384048" cy="384048"/>
          </a:xfrm>
          <a:prstGeom prst="rect">
            <a:avLst/>
          </a:prstGeom>
        </p:spPr>
      </p:pic>
      <p:sp>
        <p:nvSpPr>
          <p:cNvPr id="38" name="TextBox 37"/>
          <p:cNvSpPr txBox="1"/>
          <p:nvPr/>
        </p:nvSpPr>
        <p:spPr>
          <a:xfrm>
            <a:off x="8833103" y="2368296"/>
            <a:ext cx="886968" cy="277133"/>
          </a:xfrm>
          <a:prstGeom prst="rect">
            <a:avLst/>
          </a:prstGeom>
          <a:noFill/>
        </p:spPr>
        <p:txBody>
          <a:bodyPr wrap="square" lIns="0" rIns="0" tIns="0" bIns="0" anchor="t">
            <a:noAutofit/>
          </a:bodyPr>
          <a:lstStyle/>
          <a:p>
            <a:pPr algn="ctr"/>
            <a:r>
              <a:rPr sz="1100" b="1" i="0">
                <a:solidFill>
                  <a:srgbClr val="000048"/>
                </a:solidFill>
                <a:latin typeface="Arial"/>
              </a:rPr>
              <a:t>AI Search</a:t>
            </a:r>
          </a:p>
        </p:txBody>
      </p:sp>
      <p:pic>
        <p:nvPicPr>
          <p:cNvPr id="39" name="Azure icon: Storage account" descr="Official Azure icon: Storage accoun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10044684" y="1947672"/>
            <a:ext cx="384048" cy="384048"/>
          </a:xfrm>
          <a:prstGeom prst="rect">
            <a:avLst/>
          </a:prstGeom>
        </p:spPr>
      </p:pic>
      <p:sp>
        <p:nvSpPr>
          <p:cNvPr id="40" name="TextBox 39"/>
          <p:cNvSpPr txBox="1"/>
          <p:nvPr/>
        </p:nvSpPr>
        <p:spPr>
          <a:xfrm>
            <a:off x="9793224" y="2368296"/>
            <a:ext cx="886968" cy="277133"/>
          </a:xfrm>
          <a:prstGeom prst="rect">
            <a:avLst/>
          </a:prstGeom>
          <a:noFill/>
        </p:spPr>
        <p:txBody>
          <a:bodyPr wrap="square" lIns="0" rIns="0" tIns="0" bIns="0" anchor="t">
            <a:noAutofit/>
          </a:bodyPr>
          <a:lstStyle/>
          <a:p>
            <a:pPr algn="ctr"/>
            <a:r>
              <a:rPr sz="1100" b="1" i="0">
                <a:solidFill>
                  <a:srgbClr val="000048"/>
                </a:solidFill>
                <a:latin typeface="Arial"/>
              </a:rPr>
              <a:t>Storage account</a:t>
            </a:r>
          </a:p>
        </p:txBody>
      </p:sp>
      <p:pic>
        <p:nvPicPr>
          <p:cNvPr id="41" name="Azure icon: Key Vault" descr="Official Azure icon: Key Vault"/>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004803" y="1947672"/>
            <a:ext cx="384048" cy="384048"/>
          </a:xfrm>
          <a:prstGeom prst="rect">
            <a:avLst/>
          </a:prstGeom>
        </p:spPr>
      </p:pic>
      <p:sp>
        <p:nvSpPr>
          <p:cNvPr id="42" name="TextBox 41"/>
          <p:cNvSpPr txBox="1"/>
          <p:nvPr/>
        </p:nvSpPr>
        <p:spPr>
          <a:xfrm>
            <a:off x="10753343" y="2368296"/>
            <a:ext cx="886968" cy="277133"/>
          </a:xfrm>
          <a:prstGeom prst="rect">
            <a:avLst/>
          </a:prstGeom>
          <a:noFill/>
        </p:spPr>
        <p:txBody>
          <a:bodyPr wrap="square" lIns="0" rIns="0" tIns="0" bIns="0" anchor="t">
            <a:noAutofit/>
          </a:bodyPr>
          <a:lstStyle/>
          <a:p>
            <a:pPr algn="ctr"/>
            <a:r>
              <a:rPr sz="1100" b="1" i="0">
                <a:solidFill>
                  <a:srgbClr val="000048"/>
                </a:solidFill>
                <a:latin typeface="Arial"/>
              </a:rPr>
              <a:t>Key Vault</a:t>
            </a:r>
          </a:p>
        </p:txBody>
      </p:sp>
      <p:cxnSp>
        <p:nvCxnSpPr>
          <p:cNvPr id="43" name="Connector (data)"/>
          <p:cNvCxnSpPr/>
          <p:nvPr/>
        </p:nvCxnSpPr>
        <p:spPr>
          <a:xfrm>
            <a:off x="8321040" y="2258568"/>
            <a:ext cx="45720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4023360" y="3136391"/>
            <a:ext cx="7635240" cy="438912"/>
          </a:xfrm>
          <a:prstGeom prst="roundRect">
            <a:avLst>
              <a:gd name="adj" fmla="val 1666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200" b="0" i="0">
                <a:solidFill>
                  <a:srgbClr val="000048"/>
                </a:solidFill>
                <a:latin typeface="Arial"/>
              </a:rPr>
              <a:t>Private endpoints for Foundry, AI Search, Storage and Key Vault  ·  managed identities, no shared keys</a:t>
            </a:r>
          </a:p>
        </p:txBody>
      </p:sp>
      <p:pic>
        <p:nvPicPr>
          <p:cNvPr id="45" name="Azure icon: Private Endpoints" descr="Official Azure icon: Private Endpoints"/>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1320272" y="3172968"/>
            <a:ext cx="347472" cy="347472"/>
          </a:xfrm>
          <a:prstGeom prst="rect">
            <a:avLst/>
          </a:prstGeom>
        </p:spPr>
      </p:pic>
      <p:sp>
        <p:nvSpPr>
          <p:cNvPr id="46" name="Rounded Rectangle 45"/>
          <p:cNvSpPr/>
          <p:nvPr/>
        </p:nvSpPr>
        <p:spPr>
          <a:xfrm>
            <a:off x="3886200" y="3931920"/>
            <a:ext cx="7909560" cy="914400"/>
          </a:xfrm>
          <a:prstGeom prst="roundRect">
            <a:avLst>
              <a:gd name="adj" fmla="val 10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3995928" y="3986783"/>
            <a:ext cx="7690104" cy="237744"/>
          </a:xfrm>
          <a:prstGeom prst="rect">
            <a:avLst/>
          </a:prstGeom>
          <a:noFill/>
        </p:spPr>
        <p:txBody>
          <a:bodyPr wrap="square" lIns="0" rIns="0" tIns="0" bIns="0" anchor="t">
            <a:noAutofit/>
          </a:bodyPr>
          <a:lstStyle/>
          <a:p>
            <a:pPr algn="l"/>
            <a:r>
              <a:rPr sz="1100" b="1" i="0">
                <a:solidFill>
                  <a:srgbClr val="000048"/>
                </a:solidFill>
                <a:latin typeface="Arial"/>
              </a:rPr>
              <a:t>NON-PRODUCTION SUBSCRIPTION (DEV, TEST)</a:t>
            </a:r>
          </a:p>
        </p:txBody>
      </p:sp>
      <p:sp>
        <p:nvSpPr>
          <p:cNvPr id="48" name="TextBox 47"/>
          <p:cNvSpPr txBox="1"/>
          <p:nvPr/>
        </p:nvSpPr>
        <p:spPr>
          <a:xfrm>
            <a:off x="4023360" y="4279392"/>
            <a:ext cx="7680960" cy="502920"/>
          </a:xfrm>
          <a:prstGeom prst="rect">
            <a:avLst/>
          </a:prstGeom>
          <a:noFill/>
        </p:spPr>
        <p:txBody>
          <a:bodyPr wrap="square" lIns="0" rIns="0" tIns="0" bIns="0" anchor="t">
            <a:noAutofit/>
          </a:bodyPr>
          <a:lstStyle/>
          <a:p>
            <a:pPr algn="l"/>
            <a:r>
              <a:rPr sz="1300" b="0" i="0">
                <a:solidFill>
                  <a:srgbClr val="53565A"/>
                </a:solidFill>
                <a:latin typeface="Arial"/>
              </a:rPr>
              <a:t>Same pattern, separate subscription, policies and identities. Promotion only through the pipeline.</a:t>
            </a:r>
          </a:p>
        </p:txBody>
      </p:sp>
      <p:sp>
        <p:nvSpPr>
          <p:cNvPr id="49" name="Rounded Rectangle 48"/>
          <p:cNvSpPr/>
          <p:nvPr/>
        </p:nvSpPr>
        <p:spPr>
          <a:xfrm>
            <a:off x="3886200" y="4983480"/>
            <a:ext cx="7909560" cy="68580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Azure icon: Azure DevOps" descr="Official Azure icon: Azure DevOps"/>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4050791" y="5138927"/>
            <a:ext cx="347472" cy="347472"/>
          </a:xfrm>
          <a:prstGeom prst="rect">
            <a:avLst/>
          </a:prstGeom>
        </p:spPr>
      </p:pic>
      <p:sp>
        <p:nvSpPr>
          <p:cNvPr id="51" name="TextBox 50"/>
          <p:cNvSpPr txBox="1"/>
          <p:nvPr/>
        </p:nvSpPr>
        <p:spPr>
          <a:xfrm>
            <a:off x="4471416" y="5065776"/>
            <a:ext cx="1389888" cy="493776"/>
          </a:xfrm>
          <a:prstGeom prst="rect">
            <a:avLst/>
          </a:prstGeom>
          <a:noFill/>
        </p:spPr>
        <p:txBody>
          <a:bodyPr wrap="square" lIns="0" rIns="0" tIns="0" bIns="0" anchor="ctr">
            <a:noAutofit/>
          </a:bodyPr>
          <a:lstStyle/>
          <a:p>
            <a:pPr algn="l"/>
            <a:r>
              <a:rPr sz="1100" b="1" i="0">
                <a:solidFill>
                  <a:srgbClr val="000048"/>
                </a:solidFill>
                <a:latin typeface="Arial"/>
              </a:rPr>
              <a:t>IaC pipelines</a:t>
            </a:r>
          </a:p>
          <a:p>
            <a:pPr algn="l"/>
            <a:r>
              <a:rPr sz="900" b="0" i="0">
                <a:solidFill>
                  <a:srgbClr val="53565A"/>
                </a:solidFill>
                <a:latin typeface="Arial"/>
              </a:rPr>
              <a:t>approvals, promotion</a:t>
            </a:r>
          </a:p>
        </p:txBody>
      </p:sp>
      <p:pic>
        <p:nvPicPr>
          <p:cNvPr id="52" name="Azure icon: Log Analytics workspace" descr="Official Azure icon: Log Analytics workspace"/>
          <p:cNvPicPr>
            <a:picLocks noChangeAspect="1"/>
          </p:cNvPicPr>
          <p:nvPr/>
        </p:nvPicPr>
        <p:blipFill>
          <a:blip r:embed="rId34">
            <a:extLst>
              <a:ext uri="{96DAC541-7B7A-43D3-8B79-37D633B846F1}">
                <asvg:svgBlip xmlns:asvg="http://schemas.microsoft.com/office/drawing/2016/SVG/main" r:embed="rId35"/>
              </a:ext>
            </a:extLst>
          </a:blip>
          <a:stretch>
            <a:fillRect/>
          </a:stretch>
        </p:blipFill>
        <p:spPr>
          <a:xfrm>
            <a:off x="6016752" y="5138927"/>
            <a:ext cx="347472" cy="347472"/>
          </a:xfrm>
          <a:prstGeom prst="rect">
            <a:avLst/>
          </a:prstGeom>
        </p:spPr>
      </p:pic>
      <p:sp>
        <p:nvSpPr>
          <p:cNvPr id="53" name="TextBox 52"/>
          <p:cNvSpPr txBox="1"/>
          <p:nvPr/>
        </p:nvSpPr>
        <p:spPr>
          <a:xfrm>
            <a:off x="6437376" y="5065776"/>
            <a:ext cx="1298448" cy="493776"/>
          </a:xfrm>
          <a:prstGeom prst="rect">
            <a:avLst/>
          </a:prstGeom>
          <a:noFill/>
        </p:spPr>
        <p:txBody>
          <a:bodyPr wrap="square" lIns="0" rIns="0" tIns="0" bIns="0" anchor="ctr">
            <a:noAutofit/>
          </a:bodyPr>
          <a:lstStyle/>
          <a:p>
            <a:pPr algn="l"/>
            <a:r>
              <a:rPr sz="1100" b="1" i="0">
                <a:solidFill>
                  <a:srgbClr val="000048"/>
                </a:solidFill>
                <a:latin typeface="Arial"/>
              </a:rPr>
              <a:t>Log Analytics</a:t>
            </a:r>
          </a:p>
          <a:p>
            <a:pPr algn="l"/>
            <a:r>
              <a:rPr sz="900" b="0" i="0">
                <a:solidFill>
                  <a:srgbClr val="53565A"/>
                </a:solidFill>
                <a:latin typeface="Arial"/>
              </a:rPr>
              <a:t>platform logs</a:t>
            </a:r>
          </a:p>
        </p:txBody>
      </p:sp>
      <p:pic>
        <p:nvPicPr>
          <p:cNvPr id="54" name="Azure icon: Application Insights" descr="Official Azure icon: Application Insights"/>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7891272" y="5138927"/>
            <a:ext cx="347472" cy="347472"/>
          </a:xfrm>
          <a:prstGeom prst="rect">
            <a:avLst/>
          </a:prstGeom>
        </p:spPr>
      </p:pic>
      <p:sp>
        <p:nvSpPr>
          <p:cNvPr id="55" name="TextBox 54"/>
          <p:cNvSpPr txBox="1"/>
          <p:nvPr/>
        </p:nvSpPr>
        <p:spPr>
          <a:xfrm>
            <a:off x="8311896" y="5065776"/>
            <a:ext cx="1298448" cy="493776"/>
          </a:xfrm>
          <a:prstGeom prst="rect">
            <a:avLst/>
          </a:prstGeom>
          <a:noFill/>
        </p:spPr>
        <p:txBody>
          <a:bodyPr wrap="square" lIns="0" rIns="0" tIns="0" bIns="0" anchor="ctr">
            <a:noAutofit/>
          </a:bodyPr>
          <a:lstStyle/>
          <a:p>
            <a:pPr algn="l"/>
            <a:r>
              <a:rPr sz="1100" b="1" i="0">
                <a:solidFill>
                  <a:srgbClr val="000048"/>
                </a:solidFill>
                <a:latin typeface="Arial"/>
              </a:rPr>
              <a:t>App Insights</a:t>
            </a:r>
          </a:p>
          <a:p>
            <a:pPr algn="l"/>
            <a:r>
              <a:rPr sz="900" b="0" i="0">
                <a:solidFill>
                  <a:srgbClr val="53565A"/>
                </a:solidFill>
                <a:latin typeface="Arial"/>
              </a:rPr>
              <a:t>agent traces</a:t>
            </a:r>
          </a:p>
        </p:txBody>
      </p:sp>
      <p:pic>
        <p:nvPicPr>
          <p:cNvPr id="56" name="Azure icon: Cost Budgets" descr="Official Azure icon: Cost Budgets"/>
          <p:cNvPicPr>
            <a:picLocks noChangeAspect="1"/>
          </p:cNvPicPr>
          <p:nvPr/>
        </p:nvPicPr>
        <p:blipFill>
          <a:blip r:embed="rId38">
            <a:extLst>
              <a:ext uri="{96DAC541-7B7A-43D3-8B79-37D633B846F1}">
                <asvg:svgBlip xmlns:asvg="http://schemas.microsoft.com/office/drawing/2016/SVG/main" r:embed="rId39"/>
              </a:ext>
            </a:extLst>
          </a:blip>
          <a:stretch>
            <a:fillRect/>
          </a:stretch>
        </p:blipFill>
        <p:spPr>
          <a:xfrm>
            <a:off x="9765792" y="5138927"/>
            <a:ext cx="347472" cy="347472"/>
          </a:xfrm>
          <a:prstGeom prst="rect">
            <a:avLst/>
          </a:prstGeom>
        </p:spPr>
      </p:pic>
      <p:sp>
        <p:nvSpPr>
          <p:cNvPr id="57" name="TextBox 56"/>
          <p:cNvSpPr txBox="1"/>
          <p:nvPr/>
        </p:nvSpPr>
        <p:spPr>
          <a:xfrm>
            <a:off x="10186416" y="5065776"/>
            <a:ext cx="1481328" cy="493776"/>
          </a:xfrm>
          <a:prstGeom prst="rect">
            <a:avLst/>
          </a:prstGeom>
          <a:noFill/>
        </p:spPr>
        <p:txBody>
          <a:bodyPr wrap="square" lIns="0" rIns="0" tIns="0" bIns="0" anchor="ctr">
            <a:noAutofit/>
          </a:bodyPr>
          <a:lstStyle/>
          <a:p>
            <a:pPr algn="l"/>
            <a:r>
              <a:rPr sz="1100" b="1" i="0">
                <a:solidFill>
                  <a:srgbClr val="000048"/>
                </a:solidFill>
                <a:latin typeface="Arial"/>
              </a:rPr>
              <a:t>Budgets</a:t>
            </a:r>
          </a:p>
          <a:p>
            <a:pPr algn="l"/>
            <a:r>
              <a:rPr sz="900" b="0" i="0">
                <a:solidFill>
                  <a:srgbClr val="53565A"/>
                </a:solidFill>
                <a:latin typeface="Arial"/>
              </a:rPr>
              <a:t>cost alerts</a:t>
            </a:r>
          </a:p>
        </p:txBody>
      </p:sp>
      <p:cxnSp>
        <p:nvCxnSpPr>
          <p:cNvPr id="58" name="Connector (flow)"/>
          <p:cNvCxnSpPr/>
          <p:nvPr/>
        </p:nvCxnSpPr>
        <p:spPr>
          <a:xfrm>
            <a:off x="3474720" y="2971800"/>
            <a:ext cx="411480" cy="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data)"/>
          <p:cNvCxnSpPr/>
          <p:nvPr/>
        </p:nvCxnSpPr>
        <p:spPr>
          <a:xfrm flipH="1">
            <a:off x="3474720" y="3474720"/>
            <a:ext cx="411480" cy="2286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flow)"/>
          <p:cNvCxnSpPr/>
          <p:nvPr/>
        </p:nvCxnSpPr>
        <p:spPr>
          <a:xfrm>
            <a:off x="548640" y="592531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024128" y="5806440"/>
            <a:ext cx="169163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62" name="Connector (data)"/>
          <p:cNvCxnSpPr/>
          <p:nvPr/>
        </p:nvCxnSpPr>
        <p:spPr>
          <a:xfrm>
            <a:off x="2743200" y="5925312"/>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3218688" y="5806440"/>
            <a:ext cx="1691639" cy="256032"/>
          </a:xfrm>
          <a:prstGeom prst="rect">
            <a:avLst/>
          </a:prstGeom>
          <a:noFill/>
        </p:spPr>
        <p:txBody>
          <a:bodyPr wrap="square" lIns="0" rIns="0" tIns="0" bIns="0" anchor="t">
            <a:noAutofit/>
          </a:bodyPr>
          <a:lstStyle/>
          <a:p>
            <a:pPr algn="l"/>
            <a:r>
              <a:rPr sz="1100" b="0" i="0">
                <a:solidFill>
                  <a:srgbClr val="53565A"/>
                </a:solidFill>
                <a:latin typeface="Arial"/>
              </a:rPr>
              <a:t>Data access</a:t>
            </a:r>
          </a:p>
        </p:txBody>
      </p:sp>
      <p:sp>
        <p:nvSpPr>
          <p:cNvPr id="64" name="TextBox 63"/>
          <p:cNvSpPr txBox="1"/>
          <p:nvPr/>
        </p:nvSpPr>
        <p:spPr>
          <a:xfrm>
            <a:off x="5120640" y="5806440"/>
            <a:ext cx="6492240" cy="274320"/>
          </a:xfrm>
          <a:prstGeom prst="rect">
            <a:avLst/>
          </a:prstGeom>
          <a:noFill/>
        </p:spPr>
        <p:txBody>
          <a:bodyPr wrap="square" lIns="0" rIns="0" tIns="0" bIns="0" anchor="t">
            <a:noAutofit/>
          </a:bodyPr>
          <a:lstStyle/>
          <a:p>
            <a:pPr algn="l"/>
            <a:r>
              <a:rPr sz="1100" b="0" i="0">
                <a:solidFill>
                  <a:srgbClr val="53565A"/>
                </a:solidFill>
                <a:latin typeface="Arial"/>
              </a:rPr>
              <a:t>Double arrow: hub peering. Blue arrow: egress to hub firewall. Detail: appendix A5, A6.</a:t>
            </a:r>
          </a:p>
        </p:txBody>
      </p:sp>
      <p:sp>
        <p:nvSpPr>
          <p:cNvPr id="65" name="TextBox 64"/>
          <p:cNvSpPr txBox="1"/>
          <p:nvPr/>
        </p:nvSpPr>
        <p:spPr>
          <a:xfrm>
            <a:off x="548640" y="6108192"/>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routes in, one accelerator underneath</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PROPOSED PACKAGES"/>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PACKAGES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8" name="Rounded Rectangle 7"/>
          <p:cNvSpPr/>
          <p:nvPr/>
        </p:nvSpPr>
        <p:spPr>
          <a:xfrm>
            <a:off x="548640" y="1371600"/>
            <a:ext cx="3566160" cy="2377440"/>
          </a:xfrm>
          <a:prstGeom prst="roundRect">
            <a:avLst>
              <a:gd name="adj" fmla="val 3076"/>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800"/>
              </a:spcAft>
            </a:pPr>
            <a:r>
              <a:rPr sz="2400" b="1" i="0">
                <a:solidFill>
                  <a:srgbClr val="FFFFFF"/>
                </a:solidFill>
                <a:latin typeface="Arial"/>
              </a:rPr>
              <a:t>Assess first</a:t>
            </a:r>
          </a:p>
          <a:p>
            <a:pPr algn="l">
              <a:spcAft>
                <a:spcPts val="600"/>
              </a:spcAft>
            </a:pPr>
            <a:r>
              <a:rPr sz="1900" b="1" i="0">
                <a:solidFill>
                  <a:srgbClr val="26EFE9"/>
                </a:solidFill>
                <a:latin typeface="Arial"/>
              </a:rPr>
              <a:t>When: </a:t>
            </a:r>
            <a:r>
              <a:rPr sz="1900" b="0" i="0">
                <a:solidFill>
                  <a:srgbClr val="FFFFFF"/>
                </a:solidFill>
                <a:latin typeface="Arial"/>
              </a:rPr>
              <a:t>Unknown access, connectivity or capacity</a:t>
            </a:r>
          </a:p>
          <a:p>
            <a:pPr algn="l"/>
            <a:r>
              <a:rPr sz="1900" b="1" i="0">
                <a:solidFill>
                  <a:srgbClr val="26EFE9"/>
                </a:solidFill>
                <a:latin typeface="Arial"/>
              </a:rPr>
              <a:t>Result: </a:t>
            </a:r>
            <a:r>
              <a:rPr sz="1900" b="0" i="0">
                <a:solidFill>
                  <a:srgbClr val="FFFFFF"/>
                </a:solidFill>
                <a:latin typeface="Arial"/>
              </a:rPr>
              <a:t>Gap register and priced plan</a:t>
            </a:r>
          </a:p>
        </p:txBody>
      </p:sp>
      <p:cxnSp>
        <p:nvCxnSpPr>
          <p:cNvPr id="9" name="Connector (flow)"/>
          <p:cNvCxnSpPr/>
          <p:nvPr/>
        </p:nvCxnSpPr>
        <p:spPr>
          <a:xfrm>
            <a:off x="2331720" y="3749039"/>
            <a:ext cx="0" cy="411481"/>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297679" y="1371600"/>
            <a:ext cx="3566160" cy="2377440"/>
          </a:xfrm>
          <a:prstGeom prst="roundRect">
            <a:avLst>
              <a:gd name="adj" fmla="val 3076"/>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800"/>
              </a:spcAft>
            </a:pPr>
            <a:r>
              <a:rPr sz="2400" b="1" i="0">
                <a:solidFill>
                  <a:srgbClr val="FFFFFF"/>
                </a:solidFill>
                <a:latin typeface="Arial"/>
              </a:rPr>
              <a:t>Extend</a:t>
            </a:r>
          </a:p>
          <a:p>
            <a:pPr algn="l">
              <a:spcAft>
                <a:spcPts val="600"/>
              </a:spcAft>
            </a:pPr>
            <a:r>
              <a:rPr sz="1900" b="1" i="0">
                <a:solidFill>
                  <a:srgbClr val="26EFE9"/>
                </a:solidFill>
                <a:latin typeface="Arial"/>
              </a:rPr>
              <a:t>When: </a:t>
            </a:r>
            <a:r>
              <a:rPr sz="1900" b="0" i="0">
                <a:solidFill>
                  <a:srgbClr val="FFFFFF"/>
                </a:solidFill>
                <a:latin typeface="Arial"/>
              </a:rPr>
              <a:t>Mature landing zone in place</a:t>
            </a:r>
          </a:p>
          <a:p>
            <a:pPr algn="l"/>
            <a:r>
              <a:rPr sz="1900" b="1" i="0">
                <a:solidFill>
                  <a:srgbClr val="26EFE9"/>
                </a:solidFill>
                <a:latin typeface="Arial"/>
              </a:rPr>
              <a:t>Result: </a:t>
            </a:r>
            <a:r>
              <a:rPr sz="1900" b="0" i="0">
                <a:solidFill>
                  <a:srgbClr val="FFFFFF"/>
                </a:solidFill>
                <a:latin typeface="Arial"/>
              </a:rPr>
              <a:t>AI environments added to it</a:t>
            </a:r>
          </a:p>
        </p:txBody>
      </p:sp>
      <p:cxnSp>
        <p:nvCxnSpPr>
          <p:cNvPr id="11" name="Connector (flow)"/>
          <p:cNvCxnSpPr/>
          <p:nvPr/>
        </p:nvCxnSpPr>
        <p:spPr>
          <a:xfrm>
            <a:off x="6080759" y="3749039"/>
            <a:ext cx="0" cy="411481"/>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046719" y="1371600"/>
            <a:ext cx="3566160" cy="2377440"/>
          </a:xfrm>
          <a:prstGeom prst="roundRect">
            <a:avLst>
              <a:gd name="adj" fmla="val 3076"/>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01168" rIns="201168" tIns="73152" bIns="73152" wrap="square">
            <a:noAutofit/>
          </a:bodyPr>
          <a:lstStyle/>
          <a:p>
            <a:pPr algn="l">
              <a:spcAft>
                <a:spcPts val="800"/>
              </a:spcAft>
            </a:pPr>
            <a:r>
              <a:rPr sz="2400" b="1" i="0">
                <a:solidFill>
                  <a:srgbClr val="FFFFFF"/>
                </a:solidFill>
                <a:latin typeface="Arial"/>
              </a:rPr>
              <a:t>Establish</a:t>
            </a:r>
          </a:p>
          <a:p>
            <a:pPr algn="l">
              <a:spcAft>
                <a:spcPts val="600"/>
              </a:spcAft>
            </a:pPr>
            <a:r>
              <a:rPr sz="1900" b="1" i="0">
                <a:solidFill>
                  <a:srgbClr val="26EFE9"/>
                </a:solidFill>
                <a:latin typeface="Arial"/>
              </a:rPr>
              <a:t>When: </a:t>
            </a:r>
            <a:r>
              <a:rPr sz="1900" b="0" i="0">
                <a:solidFill>
                  <a:srgbClr val="FFFFFF"/>
                </a:solidFill>
                <a:latin typeface="Arial"/>
              </a:rPr>
              <a:t>Platform gaps or new tenant</a:t>
            </a:r>
          </a:p>
          <a:p>
            <a:pPr algn="l"/>
            <a:r>
              <a:rPr sz="1900" b="1" i="0">
                <a:solidFill>
                  <a:srgbClr val="26EFE9"/>
                </a:solidFill>
                <a:latin typeface="Arial"/>
              </a:rPr>
              <a:t>Result: </a:t>
            </a:r>
            <a:r>
              <a:rPr sz="1900" b="0" i="0">
                <a:solidFill>
                  <a:srgbClr val="FFFFFF"/>
                </a:solidFill>
                <a:latin typeface="Arial"/>
              </a:rPr>
              <a:t>Platform baseline plus AI environments</a:t>
            </a:r>
          </a:p>
        </p:txBody>
      </p:sp>
      <p:cxnSp>
        <p:nvCxnSpPr>
          <p:cNvPr id="13" name="Connector (flow)"/>
          <p:cNvCxnSpPr/>
          <p:nvPr/>
        </p:nvCxnSpPr>
        <p:spPr>
          <a:xfrm>
            <a:off x="9829799" y="3749039"/>
            <a:ext cx="0" cy="411481"/>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4160520"/>
            <a:ext cx="11091672" cy="868680"/>
          </a:xfrm>
          <a:prstGeom prst="roundRect">
            <a:avLst>
              <a:gd name="adj" fmla="val 8421"/>
            </a:avLst>
          </a:prstGeom>
          <a:solidFill>
            <a:srgbClr val="DDF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900" b="1" i="0">
                <a:solidFill>
                  <a:srgbClr val="000048"/>
                </a:solidFill>
                <a:latin typeface="Arial"/>
              </a:rPr>
              <a:t>Shared accelerator: </a:t>
            </a:r>
            <a:r>
              <a:rPr sz="1900" b="0" i="0">
                <a:solidFill>
                  <a:srgbClr val="1E1E2E"/>
                </a:solidFill>
                <a:latin typeface="Arial"/>
              </a:rPr>
              <a:t>Microsoft AI Landing Zone (Agent and AI Gateway landing zones, Bicep and Terraform on Azure Verified Modules)</a:t>
            </a:r>
          </a:p>
        </p:txBody>
      </p:sp>
      <p:sp>
        <p:nvSpPr>
          <p:cNvPr id="15" name="Rounded Rectangle 14"/>
          <p:cNvSpPr/>
          <p:nvPr/>
        </p:nvSpPr>
        <p:spPr>
          <a:xfrm>
            <a:off x="548640" y="5166360"/>
            <a:ext cx="11091672" cy="777240"/>
          </a:xfrm>
          <a:prstGeom prst="roundRect">
            <a:avLst>
              <a:gd name="adj" fmla="val 941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900" b="1" i="0">
                <a:solidFill>
                  <a:srgbClr val="000048"/>
                </a:solidFill>
                <a:latin typeface="Arial"/>
              </a:rPr>
              <a:t>Then: </a:t>
            </a:r>
            <a:r>
              <a:rPr sz="1900" b="0" i="0">
                <a:solidFill>
                  <a:srgbClr val="1E1E2E"/>
                </a:solidFill>
                <a:latin typeface="Arial"/>
              </a:rPr>
              <a:t>Transition package hands an accepted platform to managed operations (offering 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it takes: effort, time and fee bands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ESTIMATE, NOT APPROVED"/>
          <p:cNvSpPr/>
          <p:nvPr/>
        </p:nvSpPr>
        <p:spPr>
          <a:xfrm>
            <a:off x="365887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graphicFrame>
        <p:nvGraphicFramePr>
          <p:cNvPr id="8" name="Table"/>
          <p:cNvGraphicFramePr>
            <a:graphicFrameLocks noGrp="1"/>
          </p:cNvGraphicFramePr>
          <p:nvPr/>
        </p:nvGraphicFramePr>
        <p:xfrm>
          <a:off x="548640" y="1371600"/>
          <a:ext cx="11091672" cy="2072640"/>
        </p:xfrm>
        <a:graphic>
          <a:graphicData uri="http://schemas.openxmlformats.org/drawingml/2006/table">
            <a:tbl>
              <a:tblPr firstRow="1" bandRow="0">
                <a:tableStyleId>{5C22544A-7EE6-4342-B048-85BDC9FD1C3A}</a:tableStyleId>
              </a:tblPr>
              <a:tblGrid>
                <a:gridCol w="3291840"/>
                <a:gridCol w="2560320"/>
                <a:gridCol w="2194560"/>
                <a:gridCol w="3044952"/>
              </a:tblGrid>
              <a:tr h="335280">
                <a:tc>
                  <a:txBody>
                    <a:bodyPr wrap="square" anchor="ctr">
                      <a:noAutofit/>
                    </a:bodyPr>
                    <a:lstStyle/>
                    <a:p>
                      <a:pPr algn="l"/>
                      <a:r>
                        <a:rPr sz="16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Effort (role days)</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Elapsed time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Indicative fee band*</a:t>
                      </a:r>
                    </a:p>
                  </a:txBody>
                  <a:tcPr marL="73152" marR="73152" marT="36576" marB="36576" anchor="ctr">
                    <a:solidFill>
                      <a:srgbClr val="000048"/>
                    </a:solidFill>
                  </a:tcPr>
                </a:tc>
              </a:tr>
              <a:tr h="365760">
                <a:tc>
                  <a:txBody>
                    <a:bodyPr wrap="square" anchor="ctr">
                      <a:noAutofit/>
                    </a:bodyPr>
                    <a:lstStyle/>
                    <a:p>
                      <a:pPr algn="l"/>
                      <a:r>
                        <a:rPr sz="1800" b="1" i="0">
                          <a:solidFill>
                            <a:srgbClr val="1E1E2E"/>
                          </a:solidFill>
                          <a:latin typeface="Arial"/>
                        </a:rPr>
                        <a:t>Assess first</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 to 30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3 to 5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$15k to $30k</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Extend existing landing zone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70 to 110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8 to 12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$70k to $110k</a:t>
                      </a:r>
                    </a:p>
                  </a:txBody>
                  <a:tcPr marL="73152" marR="73152" marT="36576" marB="36576" anchor="ctr">
                    <a:solidFill>
                      <a:srgbClr val="F5F5F2"/>
                    </a:solidFill>
                  </a:tcPr>
                </a:tc>
              </a:tr>
              <a:tr h="365760">
                <a:tc>
                  <a:txBody>
                    <a:bodyPr wrap="square" anchor="ctr">
                      <a:noAutofit/>
                    </a:bodyPr>
                    <a:lstStyle/>
                    <a:p>
                      <a:pPr algn="l"/>
                      <a:r>
                        <a:rPr sz="1800" b="1" i="0">
                          <a:solidFill>
                            <a:srgbClr val="1E1E2E"/>
                          </a:solidFill>
                          <a:latin typeface="Arial"/>
                        </a:rPr>
                        <a:t>Establish new foundation</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140 to 220</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12 to 20 weeks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$140k to $220k</a:t>
                      </a:r>
                    </a:p>
                  </a:txBody>
                  <a:tcPr marL="73152" marR="73152" marT="36576" marB="36576" anchor="ctr">
                    <a:solidFill>
                      <a:srgbClr val="FFFFFF"/>
                    </a:solidFill>
                  </a:tcPr>
                </a:tc>
              </a:tr>
              <a:tr h="365760">
                <a:tc>
                  <a:txBody>
                    <a:bodyPr wrap="square" anchor="ctr">
                      <a:noAutofit/>
                    </a:bodyPr>
                    <a:lstStyle/>
                    <a:p>
                      <a:pPr algn="l"/>
                      <a:r>
                        <a:rPr sz="1800" b="1" i="0">
                          <a:solidFill>
                            <a:srgbClr val="1E1E2E"/>
                          </a:solidFill>
                          <a:latin typeface="Arial"/>
                        </a:rPr>
                        <a:t>Operational transition</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15 to 30</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4 to 6 weeks</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$15k to $30k</a:t>
                      </a:r>
                    </a:p>
                  </a:txBody>
                  <a:tcPr marL="73152" marR="73152" marT="36576" marB="36576" anchor="ctr">
                    <a:solidFill>
                      <a:srgbClr val="F5F5F2"/>
                    </a:solidFill>
                  </a:tcPr>
                </a:tc>
              </a:tr>
            </a:tbl>
          </a:graphicData>
        </a:graphic>
      </p:graphicFrame>
      <p:sp>
        <p:nvSpPr>
          <p:cNvPr id="9" name="Rounded Rectangle 8"/>
          <p:cNvSpPr/>
          <p:nvPr/>
        </p:nvSpPr>
        <p:spPr>
          <a:xfrm>
            <a:off x="548640" y="3718560"/>
            <a:ext cx="11091672" cy="1722120"/>
          </a:xfrm>
          <a:prstGeom prst="roundRect">
            <a:avLst>
              <a:gd name="adj" fmla="val 424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73152" bIns="73152" wrap="square">
            <a:noAutofit/>
          </a:bodyPr>
          <a:lstStyle/>
          <a:p>
            <a:pPr algn="l"/>
            <a:r>
              <a:rPr sz="1800" b="1" i="0">
                <a:solidFill>
                  <a:srgbClr val="000048"/>
                </a:solidFill>
                <a:latin typeface="Arial"/>
              </a:rPr>
              <a:t>What moves an engagement to the high end: </a:t>
            </a:r>
            <a:r>
              <a:rPr sz="1800" b="0" i="0">
                <a:solidFill>
                  <a:srgbClr val="1E1E2E"/>
                </a:solidFill>
                <a:latin typeface="Arial"/>
              </a:rPr>
              <a:t>unvalidated hub or DNS, extra environments or regions, more data sources, regulated-industry controls and slow customer approvals.</a:t>
            </a:r>
          </a:p>
        </p:txBody>
      </p:sp>
      <p:sp>
        <p:nvSpPr>
          <p:cNvPr id="10" name="Rounded Rectangle 9"/>
          <p:cNvSpPr/>
          <p:nvPr/>
        </p:nvSpPr>
        <p:spPr>
          <a:xfrm>
            <a:off x="548640" y="5577840"/>
            <a:ext cx="11091672" cy="731520"/>
          </a:xfrm>
          <a:prstGeom prst="roundRect">
            <a:avLst>
              <a:gd name="adj" fmla="val 10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*Fee band = role days x illustrative $1,000 per day. Not a Cognizant rate or quote. Azure and licence spend are separate.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Risks that decide success, and how we handle them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sp>
        <p:nvSpPr>
          <p:cNvPr id="7" name="Rounded Rectangle 6"/>
          <p:cNvSpPr/>
          <p:nvPr/>
        </p:nvSpPr>
        <p:spPr>
          <a:xfrm>
            <a:off x="54864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No funded workload</a:t>
            </a:r>
          </a:p>
          <a:p>
            <a:pPr algn="l">
              <a:spcAft>
                <a:spcPts val="400"/>
              </a:spcAft>
            </a:pPr>
            <a:r>
              <a:rPr sz="1800" b="1" i="0">
                <a:solidFill>
                  <a:srgbClr val="8A4B08"/>
                </a:solidFill>
                <a:latin typeface="Arial"/>
              </a:rPr>
              <a:t>Effect: </a:t>
            </a:r>
            <a:r>
              <a:rPr sz="1800" b="0" i="0">
                <a:solidFill>
                  <a:srgbClr val="1E1E2E"/>
                </a:solidFill>
                <a:latin typeface="Arial"/>
              </a:rPr>
              <a:t>An empty platform with weak value</a:t>
            </a:r>
          </a:p>
          <a:p>
            <a:pPr algn="l">
              <a:spcAft>
                <a:spcPts val="400"/>
              </a:spcAft>
            </a:pPr>
            <a:r>
              <a:rPr sz="1800" b="1" i="0">
                <a:solidFill>
                  <a:srgbClr val="1D6B3A"/>
                </a:solidFill>
                <a:latin typeface="Arial"/>
              </a:rPr>
              <a:t>Handle: </a:t>
            </a:r>
            <a:r>
              <a:rPr sz="1800" b="0" i="0">
                <a:solidFill>
                  <a:srgbClr val="1E1E2E"/>
                </a:solidFill>
                <a:latin typeface="Arial"/>
              </a:rPr>
              <a:t>Qualify with the scorecard; sell assessment only</a:t>
            </a:r>
          </a:p>
          <a:p>
            <a:pPr algn="l"/>
            <a:r>
              <a:rPr sz="1800" b="1" i="0">
                <a:solidFill>
                  <a:srgbClr val="2F78C4"/>
                </a:solidFill>
                <a:latin typeface="Arial"/>
              </a:rPr>
              <a:t>Owner: </a:t>
            </a:r>
            <a:r>
              <a:rPr sz="1800" b="0" i="0">
                <a:solidFill>
                  <a:srgbClr val="1E1E2E"/>
                </a:solidFill>
                <a:latin typeface="Arial"/>
              </a:rPr>
              <a:t>Account lead</a:t>
            </a:r>
          </a:p>
        </p:txBody>
      </p:sp>
      <p:sp>
        <p:nvSpPr>
          <p:cNvPr id="8" name="Rounded Rectangle 7"/>
          <p:cNvSpPr/>
          <p:nvPr/>
        </p:nvSpPr>
        <p:spPr>
          <a:xfrm>
            <a:off x="6172200" y="137160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Model, region or capacity gaps</a:t>
            </a:r>
          </a:p>
          <a:p>
            <a:pPr algn="l">
              <a:spcAft>
                <a:spcPts val="400"/>
              </a:spcAft>
            </a:pPr>
            <a:r>
              <a:rPr sz="1800" b="1" i="0">
                <a:solidFill>
                  <a:srgbClr val="8A4B08"/>
                </a:solidFill>
                <a:latin typeface="Arial"/>
              </a:rPr>
              <a:t>Effect: </a:t>
            </a:r>
            <a:r>
              <a:rPr sz="1800" b="0" i="0">
                <a:solidFill>
                  <a:srgbClr val="1E1E2E"/>
                </a:solidFill>
                <a:latin typeface="Arial"/>
              </a:rPr>
              <a:t>Redesign or delay</a:t>
            </a:r>
          </a:p>
          <a:p>
            <a:pPr algn="l">
              <a:spcAft>
                <a:spcPts val="400"/>
              </a:spcAft>
            </a:pPr>
            <a:r>
              <a:rPr sz="1800" b="1" i="0">
                <a:solidFill>
                  <a:srgbClr val="1D6B3A"/>
                </a:solidFill>
                <a:latin typeface="Arial"/>
              </a:rPr>
              <a:t>Handle: </a:t>
            </a:r>
            <a:r>
              <a:rPr sz="1800" b="0" i="0">
                <a:solidFill>
                  <a:srgbClr val="1E1E2E"/>
                </a:solidFill>
                <a:latin typeface="Arial"/>
              </a:rPr>
              <a:t>Check deployment type, quota and capacity in assessment</a:t>
            </a:r>
          </a:p>
          <a:p>
            <a:pPr algn="l"/>
            <a:r>
              <a:rPr sz="1800" b="1" i="0">
                <a:solidFill>
                  <a:srgbClr val="2F78C4"/>
                </a:solidFill>
                <a:latin typeface="Arial"/>
              </a:rPr>
              <a:t>Owner: </a:t>
            </a:r>
            <a:r>
              <a:rPr sz="1800" b="0" i="0">
                <a:solidFill>
                  <a:srgbClr val="1E1E2E"/>
                </a:solidFill>
                <a:latin typeface="Arial"/>
              </a:rPr>
              <a:t>AI with CIS Infra</a:t>
            </a:r>
          </a:p>
        </p:txBody>
      </p:sp>
      <p:sp>
        <p:nvSpPr>
          <p:cNvPr id="9" name="Rounded Rectangle 8"/>
          <p:cNvSpPr/>
          <p:nvPr/>
        </p:nvSpPr>
        <p:spPr>
          <a:xfrm>
            <a:off x="54864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Tower capacity not committed</a:t>
            </a:r>
          </a:p>
          <a:p>
            <a:pPr algn="l">
              <a:spcAft>
                <a:spcPts val="400"/>
              </a:spcAft>
            </a:pPr>
            <a:r>
              <a:rPr sz="1800" b="1" i="0">
                <a:solidFill>
                  <a:srgbClr val="8A4B08"/>
                </a:solidFill>
                <a:latin typeface="Arial"/>
              </a:rPr>
              <a:t>Effect: </a:t>
            </a:r>
            <a:r>
              <a:rPr sz="1800" b="0" i="0">
                <a:solidFill>
                  <a:srgbClr val="1E1E2E"/>
                </a:solidFill>
                <a:latin typeface="Arial"/>
              </a:rPr>
              <a:t>Critical path slips</a:t>
            </a:r>
          </a:p>
          <a:p>
            <a:pPr algn="l">
              <a:spcAft>
                <a:spcPts val="400"/>
              </a:spcAft>
            </a:pPr>
            <a:r>
              <a:rPr sz="1800" b="1" i="0">
                <a:solidFill>
                  <a:srgbClr val="1D6B3A"/>
                </a:solidFill>
                <a:latin typeface="Arial"/>
              </a:rPr>
              <a:t>Handle: </a:t>
            </a:r>
            <a:r>
              <a:rPr sz="1800" b="0" i="0">
                <a:solidFill>
                  <a:srgbClr val="1E1E2E"/>
                </a:solidFill>
                <a:latin typeface="Arial"/>
              </a:rPr>
              <a:t>Signed dependency register before quoting</a:t>
            </a:r>
          </a:p>
          <a:p>
            <a:pPr algn="l"/>
            <a:r>
              <a:rPr sz="1800" b="1" i="0">
                <a:solidFill>
                  <a:srgbClr val="2F78C4"/>
                </a:solidFill>
                <a:latin typeface="Arial"/>
              </a:rPr>
              <a:t>Owner: </a:t>
            </a:r>
            <a:r>
              <a:rPr sz="1800" b="0" i="0">
                <a:solidFill>
                  <a:srgbClr val="1E1E2E"/>
                </a:solidFill>
                <a:latin typeface="Arial"/>
              </a:rPr>
              <a:t>Integrated service owner</a:t>
            </a:r>
          </a:p>
        </p:txBody>
      </p:sp>
      <p:sp>
        <p:nvSpPr>
          <p:cNvPr id="10" name="Rounded Rectangle 9"/>
          <p:cNvSpPr/>
          <p:nvPr/>
        </p:nvSpPr>
        <p:spPr>
          <a:xfrm>
            <a:off x="6172200" y="3611880"/>
            <a:ext cx="5468112" cy="210312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82880" rIns="182880" tIns="73152" bIns="73152" wrap="square">
            <a:noAutofit/>
          </a:bodyPr>
          <a:lstStyle/>
          <a:p>
            <a:pPr algn="l">
              <a:spcAft>
                <a:spcPts val="400"/>
              </a:spcAft>
            </a:pPr>
            <a:r>
              <a:rPr sz="2000" b="1" i="0">
                <a:solidFill>
                  <a:srgbClr val="000048"/>
                </a:solidFill>
                <a:latin typeface="Arial"/>
              </a:rPr>
              <a:t>Security and regulation late</a:t>
            </a:r>
          </a:p>
          <a:p>
            <a:pPr algn="l">
              <a:spcAft>
                <a:spcPts val="400"/>
              </a:spcAft>
            </a:pPr>
            <a:r>
              <a:rPr sz="1800" b="1" i="0">
                <a:solidFill>
                  <a:srgbClr val="8A4B08"/>
                </a:solidFill>
                <a:latin typeface="Arial"/>
              </a:rPr>
              <a:t>Effect: </a:t>
            </a:r>
            <a:r>
              <a:rPr sz="1800" b="0" i="0">
                <a:solidFill>
                  <a:srgbClr val="1E1E2E"/>
                </a:solidFill>
                <a:latin typeface="Arial"/>
              </a:rPr>
              <a:t>Rework before go-live</a:t>
            </a:r>
          </a:p>
          <a:p>
            <a:pPr algn="l">
              <a:spcAft>
                <a:spcPts val="400"/>
              </a:spcAft>
            </a:pPr>
            <a:r>
              <a:rPr sz="1800" b="1" i="0">
                <a:solidFill>
                  <a:srgbClr val="1D6B3A"/>
                </a:solidFill>
                <a:latin typeface="Arial"/>
              </a:rPr>
              <a:t>Handle: </a:t>
            </a:r>
            <a:r>
              <a:rPr sz="1800" b="0" i="0">
                <a:solidFill>
                  <a:srgbClr val="1E1E2E"/>
                </a:solidFill>
                <a:latin typeface="Arial"/>
              </a:rPr>
              <a:t>Threat model and checkpoints in design phase</a:t>
            </a:r>
          </a:p>
          <a:p>
            <a:pPr algn="l"/>
            <a:r>
              <a:rPr sz="1800" b="1" i="0">
                <a:solidFill>
                  <a:srgbClr val="2F78C4"/>
                </a:solidFill>
                <a:latin typeface="Arial"/>
              </a:rPr>
              <a:t>Owner: </a:t>
            </a:r>
            <a:r>
              <a:rPr sz="1800" b="0" i="0">
                <a:solidFill>
                  <a:srgbClr val="1E1E2E"/>
                </a:solidFill>
                <a:latin typeface="Arial"/>
              </a:rPr>
              <a:t>Security tower</a:t>
            </a:r>
          </a:p>
        </p:txBody>
      </p:sp>
      <p:sp>
        <p:nvSpPr>
          <p:cNvPr id="11" name="TextBox 10"/>
          <p:cNvSpPr txBox="1"/>
          <p:nvPr/>
        </p:nvSpPr>
        <p:spPr>
          <a:xfrm>
            <a:off x="548640" y="5897880"/>
            <a:ext cx="11064240" cy="411480"/>
          </a:xfrm>
          <a:prstGeom prst="rect">
            <a:avLst/>
          </a:prstGeom>
          <a:noFill/>
        </p:spPr>
        <p:txBody>
          <a:bodyPr wrap="square" lIns="0" rIns="0" tIns="0" bIns="0" anchor="t">
            <a:noAutofit/>
          </a:bodyPr>
          <a:lstStyle/>
          <a:p>
            <a:pPr algn="l"/>
            <a:r>
              <a:rPr sz="1500" b="0" i="0">
                <a:solidFill>
                  <a:srgbClr val="53565A"/>
                </a:solidFill>
                <a:latin typeface="Arial"/>
              </a:rPr>
              <a:t>Security threat model and regulatory notes: appendix SEC1 and SEC2.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we measure success, and what to decide today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AFTER PILOT"/>
          <p:cNvSpPr/>
          <p:nvPr/>
        </p:nvSpPr>
        <p:spPr>
          <a:xfrm>
            <a:off x="3756660" y="274320"/>
            <a:ext cx="19151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AFTER PILOT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sp>
        <p:nvSpPr>
          <p:cNvPr id="8" name="TextBox 7"/>
          <p:cNvSpPr txBox="1"/>
          <p:nvPr/>
        </p:nvSpPr>
        <p:spPr>
          <a:xfrm>
            <a:off x="548640" y="1325880"/>
            <a:ext cx="5852160" cy="365760"/>
          </a:xfrm>
          <a:prstGeom prst="rect">
            <a:avLst/>
          </a:prstGeom>
          <a:noFill/>
        </p:spPr>
        <p:txBody>
          <a:bodyPr wrap="square" lIns="0" rIns="0" tIns="0" bIns="0" anchor="t">
            <a:noAutofit/>
          </a:bodyPr>
          <a:lstStyle/>
          <a:p>
            <a:pPr algn="l"/>
            <a:r>
              <a:rPr sz="1900" b="1" i="0">
                <a:solidFill>
                  <a:srgbClr val="000048"/>
                </a:solidFill>
                <a:latin typeface="Arial"/>
              </a:rPr>
              <a:t>Success measures</a:t>
            </a:r>
          </a:p>
        </p:txBody>
      </p:sp>
      <p:sp>
        <p:nvSpPr>
          <p:cNvPr id="9" name="Rounded Rectangle 8"/>
          <p:cNvSpPr/>
          <p:nvPr/>
        </p:nvSpPr>
        <p:spPr>
          <a:xfrm>
            <a:off x="548640" y="178308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Reproducible build  </a:t>
            </a:r>
            <a:r>
              <a:rPr sz="1800" b="0" i="0">
                <a:solidFill>
                  <a:srgbClr val="1E1E2E"/>
                </a:solidFill>
                <a:latin typeface="Arial"/>
              </a:rPr>
              <a:t>redeploy from code, rollback passes</a:t>
            </a:r>
          </a:p>
        </p:txBody>
      </p:sp>
      <p:sp>
        <p:nvSpPr>
          <p:cNvPr id="10" name="Rounded Rectangle 9"/>
          <p:cNvSpPr/>
          <p:nvPr/>
        </p:nvSpPr>
        <p:spPr>
          <a:xfrm>
            <a:off x="548640" y="256032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Network controls  </a:t>
            </a:r>
            <a:r>
              <a:rPr sz="1800" b="0" i="0">
                <a:solidFill>
                  <a:srgbClr val="1E1E2E"/>
                </a:solidFill>
                <a:latin typeface="Arial"/>
              </a:rPr>
              <a:t>allowed paths pass, denied paths fail</a:t>
            </a:r>
          </a:p>
        </p:txBody>
      </p:sp>
      <p:sp>
        <p:nvSpPr>
          <p:cNvPr id="11" name="Rounded Rectangle 10"/>
          <p:cNvSpPr/>
          <p:nvPr/>
        </p:nvSpPr>
        <p:spPr>
          <a:xfrm>
            <a:off x="548640" y="333756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Cost visibility  </a:t>
            </a:r>
            <a:r>
              <a:rPr sz="1800" b="0" i="0">
                <a:solidFill>
                  <a:srgbClr val="1E1E2E"/>
                </a:solidFill>
                <a:latin typeface="Arial"/>
              </a:rPr>
              <a:t>resources tagged with owner and cost centre</a:t>
            </a:r>
          </a:p>
        </p:txBody>
      </p:sp>
      <p:sp>
        <p:nvSpPr>
          <p:cNvPr id="12" name="Rounded Rectangle 11"/>
          <p:cNvSpPr/>
          <p:nvPr/>
        </p:nvSpPr>
        <p:spPr>
          <a:xfrm>
            <a:off x="548640" y="411480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Operational readiness  </a:t>
            </a:r>
            <a:r>
              <a:rPr sz="1800" b="0" i="0">
                <a:solidFill>
                  <a:srgbClr val="1E1E2E"/>
                </a:solidFill>
                <a:latin typeface="Arial"/>
              </a:rPr>
              <a:t>restore and containment drills recorded</a:t>
            </a:r>
          </a:p>
        </p:txBody>
      </p:sp>
      <p:sp>
        <p:nvSpPr>
          <p:cNvPr id="13" name="Rounded Rectangle 12"/>
          <p:cNvSpPr/>
          <p:nvPr/>
        </p:nvSpPr>
        <p:spPr>
          <a:xfrm>
            <a:off x="548640" y="4892040"/>
            <a:ext cx="5852160" cy="685800"/>
          </a:xfrm>
          <a:prstGeom prst="roundRect">
            <a:avLst>
              <a:gd name="adj" fmla="val 1066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Time to platform  </a:t>
            </a:r>
            <a:r>
              <a:rPr sz="1800" b="0" i="0">
                <a:solidFill>
                  <a:srgbClr val="1E1E2E"/>
                </a:solidFill>
                <a:latin typeface="Arial"/>
              </a:rPr>
              <a:t>weeks from start to accepted environment</a:t>
            </a:r>
          </a:p>
        </p:txBody>
      </p:sp>
      <p:sp>
        <p:nvSpPr>
          <p:cNvPr id="14" name="Rounded Rectangle 13"/>
          <p:cNvSpPr/>
          <p:nvPr/>
        </p:nvSpPr>
        <p:spPr>
          <a:xfrm>
            <a:off x="6675120" y="1325880"/>
            <a:ext cx="4965192" cy="530352"/>
          </a:xfrm>
          <a:prstGeom prst="roundRect">
            <a:avLst>
              <a:gd name="adj" fmla="val 1379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today</a:t>
            </a:r>
          </a:p>
        </p:txBody>
      </p:sp>
      <p:sp>
        <p:nvSpPr>
          <p:cNvPr id="15" name="TextBox 14"/>
          <p:cNvSpPr txBox="1"/>
          <p:nvPr/>
        </p:nvSpPr>
        <p:spPr>
          <a:xfrm>
            <a:off x="6675120" y="1920240"/>
            <a:ext cx="4965192" cy="164592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Sponsor and tower leads named</a:t>
            </a:r>
          </a:p>
          <a:p>
            <a:pPr algn="l" marL="201168" indent="-201168">
              <a:spcAft>
                <a:spcPts val="400"/>
              </a:spcAft>
              <a:buFont typeface="Arial"/>
              <a:buChar char="•"/>
            </a:pPr>
            <a:r>
              <a:rPr sz="1900" b="0" i="0">
                <a:solidFill>
                  <a:srgbClr val="1E1E2E"/>
                </a:solidFill>
                <a:latin typeface="Arial"/>
              </a:rPr>
              <a:t>Three packages as sales baseline</a:t>
            </a:r>
          </a:p>
          <a:p>
            <a:pPr algn="l" marL="201168" indent="-201168">
              <a:spcAft>
                <a:spcPts val="400"/>
              </a:spcAft>
              <a:buFont typeface="Arial"/>
              <a:buChar char="•"/>
            </a:pPr>
            <a:r>
              <a:rPr sz="1900" b="0" i="0">
                <a:solidFill>
                  <a:srgbClr val="1E1E2E"/>
                </a:solidFill>
                <a:latin typeface="Arial"/>
              </a:rPr>
              <a:t>Terraform owner: DevOps or CIS Infra</a:t>
            </a:r>
          </a:p>
        </p:txBody>
      </p:sp>
      <p:sp>
        <p:nvSpPr>
          <p:cNvPr id="16" name="Rounded Rectangle 15"/>
          <p:cNvSpPr/>
          <p:nvPr/>
        </p:nvSpPr>
        <p:spPr>
          <a:xfrm>
            <a:off x="6675120" y="3520440"/>
            <a:ext cx="4965192" cy="530352"/>
          </a:xfrm>
          <a:prstGeom prst="roundRect">
            <a:avLst>
              <a:gd name="adj" fmla="val 13793"/>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900" b="1" i="0">
                <a:solidFill>
                  <a:srgbClr val="FFFFFF"/>
                </a:solidFill>
                <a:latin typeface="Arial"/>
              </a:rPr>
              <a:t>Decide after evidence or approval</a:t>
            </a:r>
          </a:p>
        </p:txBody>
      </p:sp>
      <p:sp>
        <p:nvSpPr>
          <p:cNvPr id="17" name="TextBox 16"/>
          <p:cNvSpPr txBox="1"/>
          <p:nvPr/>
        </p:nvSpPr>
        <p:spPr>
          <a:xfrm>
            <a:off x="6675120" y="4114800"/>
            <a:ext cx="4965192" cy="2011680"/>
          </a:xfrm>
          <a:prstGeom prst="rect">
            <a:avLst/>
          </a:prstGeom>
          <a:noFill/>
        </p:spPr>
        <p:txBody>
          <a:bodyPr wrap="square" lIns="0" rIns="0" tIns="0" bIns="0" anchor="t">
            <a:noAutofit/>
          </a:bodyPr>
          <a:lstStyle/>
          <a:p>
            <a:pPr algn="l" marL="201168" indent="-201168">
              <a:spcAft>
                <a:spcPts val="400"/>
              </a:spcAft>
              <a:buFont typeface="Arial"/>
              <a:buChar char="•"/>
            </a:pPr>
            <a:r>
              <a:rPr sz="1900" b="0" i="0">
                <a:solidFill>
                  <a:srgbClr val="1E1E2E"/>
                </a:solidFill>
                <a:latin typeface="Arial"/>
              </a:rPr>
              <a:t>Approved rates and margin (Finance)</a:t>
            </a:r>
          </a:p>
          <a:p>
            <a:pPr algn="l" marL="201168" indent="-201168">
              <a:spcAft>
                <a:spcPts val="400"/>
              </a:spcAft>
              <a:buFont typeface="Arial"/>
              <a:buChar char="•"/>
            </a:pPr>
            <a:r>
              <a:rPr sz="1900" b="0" i="0">
                <a:solidFill>
                  <a:srgbClr val="1E1E2E"/>
                </a:solidFill>
                <a:latin typeface="Arial"/>
              </a:rPr>
              <a:t>Reuse saving from pilot</a:t>
            </a:r>
          </a:p>
          <a:p>
            <a:pPr algn="l" marL="201168" indent="-201168">
              <a:spcAft>
                <a:spcPts val="400"/>
              </a:spcAft>
              <a:buFont typeface="Arial"/>
              <a:buChar char="•"/>
            </a:pPr>
            <a:r>
              <a:rPr sz="1900" b="0" i="0">
                <a:solidFill>
                  <a:srgbClr val="1E1E2E"/>
                </a:solidFill>
                <a:latin typeface="Arial"/>
              </a:rPr>
              <a:t>External launch (after pilot)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Detailed architecture, networking, regional decisions, delivery readiness, RACI, revenue attribution, cost layers, original reference diagrams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237744"/>
          </a:xfrm>
          <a:prstGeom prst="rect">
            <a:avLst/>
          </a:prstGeom>
          <a:noFill/>
        </p:spPr>
        <p:txBody>
          <a:bodyPr wrap="square" lIns="0" rIns="0" tIns="0" bIns="0" anchor="t">
            <a:noAutofit/>
          </a:bodyPr>
          <a:lstStyle/>
          <a:p>
            <a:pPr algn="l"/>
            <a:r>
              <a:rPr sz="1100" b="1" i="0">
                <a:solidFill>
                  <a:srgbClr val="2F78C4"/>
                </a:solidFill>
                <a:latin typeface="Arial"/>
              </a:rPr>
              <a:t>13  </a:t>
            </a:r>
            <a:r>
              <a:rPr sz="1100" b="1" i="0">
                <a:solidFill>
                  <a:srgbClr val="000048"/>
                </a:solidFill>
                <a:latin typeface="Arial"/>
              </a:rPr>
              <a:t>A1  </a:t>
            </a:r>
            <a:r>
              <a:rPr sz="1100" b="0" i="0">
                <a:solidFill>
                  <a:srgbClr val="1E1E2E"/>
                </a:solidFill>
                <a:latin typeface="Arial"/>
              </a:rPr>
              <a:t>Extend versus establish: what changes</a:t>
            </a:r>
          </a:p>
        </p:txBody>
      </p:sp>
      <p:sp>
        <p:nvSpPr>
          <p:cNvPr id="8" name="TextBox 7">
            <a:hlinkClick action="ppaction://hlinksldjump" r:id="rId5"/>
          </p:cNvPr>
          <p:cNvSpPr txBox="1"/>
          <p:nvPr/>
        </p:nvSpPr>
        <p:spPr>
          <a:xfrm>
            <a:off x="548640" y="1655064"/>
            <a:ext cx="5486400" cy="237744"/>
          </a:xfrm>
          <a:prstGeom prst="rect">
            <a:avLst/>
          </a:prstGeom>
          <a:noFill/>
        </p:spPr>
        <p:txBody>
          <a:bodyPr wrap="square" lIns="0" rIns="0" tIns="0" bIns="0" anchor="t">
            <a:noAutofit/>
          </a:bodyPr>
          <a:lstStyle/>
          <a:p>
            <a:pPr algn="l"/>
            <a:r>
              <a:rPr sz="1100" b="1" i="0">
                <a:solidFill>
                  <a:srgbClr val="2F78C4"/>
                </a:solidFill>
                <a:latin typeface="Arial"/>
              </a:rPr>
              <a:t>14  </a:t>
            </a:r>
            <a:r>
              <a:rPr sz="1100" b="1" i="0">
                <a:solidFill>
                  <a:srgbClr val="000048"/>
                </a:solidFill>
                <a:latin typeface="Arial"/>
              </a:rPr>
              <a:t>A2  </a:t>
            </a:r>
            <a:r>
              <a:rPr sz="1100" b="0" i="0">
                <a:solidFill>
                  <a:srgbClr val="1E1E2E"/>
                </a:solidFill>
                <a:latin typeface="Arial"/>
              </a:rPr>
              <a:t>Proposed package structure</a:t>
            </a:r>
          </a:p>
        </p:txBody>
      </p:sp>
      <p:sp>
        <p:nvSpPr>
          <p:cNvPr id="9" name="TextBox 8">
            <a:hlinkClick action="ppaction://hlinksldjump" r:id="rId6"/>
          </p:cNvPr>
          <p:cNvSpPr txBox="1"/>
          <p:nvPr/>
        </p:nvSpPr>
        <p:spPr>
          <a:xfrm>
            <a:off x="548640" y="1892808"/>
            <a:ext cx="5486400" cy="237744"/>
          </a:xfrm>
          <a:prstGeom prst="rect">
            <a:avLst/>
          </a:prstGeom>
          <a:noFill/>
        </p:spPr>
        <p:txBody>
          <a:bodyPr wrap="square" lIns="0" rIns="0" tIns="0" bIns="0" anchor="t">
            <a:noAutofit/>
          </a:bodyPr>
          <a:lstStyle/>
          <a:p>
            <a:pPr algn="l"/>
            <a:r>
              <a:rPr sz="1100" b="1" i="0">
                <a:solidFill>
                  <a:srgbClr val="2F78C4"/>
                </a:solidFill>
                <a:latin typeface="Arial"/>
              </a:rPr>
              <a:t>15  </a:t>
            </a:r>
            <a:r>
              <a:rPr sz="1100" b="1" i="0">
                <a:solidFill>
                  <a:srgbClr val="000048"/>
                </a:solidFill>
                <a:latin typeface="Arial"/>
              </a:rPr>
              <a:t>A3  </a:t>
            </a:r>
            <a:r>
              <a:rPr sz="1100" b="0" i="0">
                <a:solidFill>
                  <a:srgbClr val="1E1E2E"/>
                </a:solidFill>
                <a:latin typeface="Arial"/>
              </a:rPr>
              <a:t>Governance: management groups, policy, tags</a:t>
            </a:r>
          </a:p>
        </p:txBody>
      </p:sp>
      <p:sp>
        <p:nvSpPr>
          <p:cNvPr id="10" name="TextBox 9">
            <a:hlinkClick action="ppaction://hlinksldjump" r:id="rId7"/>
          </p:cNvPr>
          <p:cNvSpPr txBox="1"/>
          <p:nvPr/>
        </p:nvSpPr>
        <p:spPr>
          <a:xfrm>
            <a:off x="548640" y="2130552"/>
            <a:ext cx="5486400" cy="237744"/>
          </a:xfrm>
          <a:prstGeom prst="rect">
            <a:avLst/>
          </a:prstGeom>
          <a:noFill/>
        </p:spPr>
        <p:txBody>
          <a:bodyPr wrap="square" lIns="0" rIns="0" tIns="0" bIns="0" anchor="t">
            <a:noAutofit/>
          </a:bodyPr>
          <a:lstStyle/>
          <a:p>
            <a:pPr algn="l"/>
            <a:r>
              <a:rPr sz="1100" b="1" i="0">
                <a:solidFill>
                  <a:srgbClr val="2F78C4"/>
                </a:solidFill>
                <a:latin typeface="Arial"/>
              </a:rPr>
              <a:t>16  </a:t>
            </a:r>
            <a:r>
              <a:rPr sz="1100" b="1" i="0">
                <a:solidFill>
                  <a:srgbClr val="000048"/>
                </a:solidFill>
                <a:latin typeface="Arial"/>
              </a:rPr>
              <a:t>A4  </a:t>
            </a:r>
            <a:r>
              <a:rPr sz="1100" b="0" i="0">
                <a:solidFill>
                  <a:srgbClr val="1E1E2E"/>
                </a:solidFill>
                <a:latin typeface="Arial"/>
              </a:rPr>
              <a:t>Identity, RBAC, managed identity, PIM</a:t>
            </a:r>
          </a:p>
        </p:txBody>
      </p:sp>
      <p:sp>
        <p:nvSpPr>
          <p:cNvPr id="11" name="TextBox 10">
            <a:hlinkClick action="ppaction://hlinksldjump" r:id="rId8"/>
          </p:cNvPr>
          <p:cNvSpPr txBox="1"/>
          <p:nvPr/>
        </p:nvSpPr>
        <p:spPr>
          <a:xfrm>
            <a:off x="548640" y="2368296"/>
            <a:ext cx="5486400" cy="237744"/>
          </a:xfrm>
          <a:prstGeom prst="rect">
            <a:avLst/>
          </a:prstGeom>
          <a:noFill/>
        </p:spPr>
        <p:txBody>
          <a:bodyPr wrap="square" lIns="0" rIns="0" tIns="0" bIns="0" anchor="t">
            <a:noAutofit/>
          </a:bodyPr>
          <a:lstStyle/>
          <a:p>
            <a:pPr algn="l"/>
            <a:r>
              <a:rPr sz="1100" b="1" i="0">
                <a:solidFill>
                  <a:srgbClr val="2F78C4"/>
                </a:solidFill>
                <a:latin typeface="Arial"/>
              </a:rPr>
              <a:t>17  </a:t>
            </a:r>
            <a:r>
              <a:rPr sz="1100" b="1" i="0">
                <a:solidFill>
                  <a:srgbClr val="000048"/>
                </a:solidFill>
                <a:latin typeface="Arial"/>
              </a:rPr>
              <a:t>A5  </a:t>
            </a:r>
            <a:r>
              <a:rPr sz="1100" b="0" i="0">
                <a:solidFill>
                  <a:srgbClr val="1E1E2E"/>
                </a:solidFill>
                <a:latin typeface="Arial"/>
              </a:rPr>
              <a:t>Network: hub, spoke, private endpoints, DNS</a:t>
            </a:r>
          </a:p>
        </p:txBody>
      </p:sp>
      <p:sp>
        <p:nvSpPr>
          <p:cNvPr id="12" name="TextBox 11">
            <a:hlinkClick action="ppaction://hlinksldjump" r:id="rId9"/>
          </p:cNvPr>
          <p:cNvSpPr txBox="1"/>
          <p:nvPr/>
        </p:nvSpPr>
        <p:spPr>
          <a:xfrm>
            <a:off x="548640" y="2606040"/>
            <a:ext cx="5486400" cy="237744"/>
          </a:xfrm>
          <a:prstGeom prst="rect">
            <a:avLst/>
          </a:prstGeom>
          <a:noFill/>
        </p:spPr>
        <p:txBody>
          <a:bodyPr wrap="square" lIns="0" rIns="0" tIns="0" bIns="0" anchor="t">
            <a:noAutofit/>
          </a:bodyPr>
          <a:lstStyle/>
          <a:p>
            <a:pPr algn="l"/>
            <a:r>
              <a:rPr sz="1100" b="1" i="0">
                <a:solidFill>
                  <a:srgbClr val="2F78C4"/>
                </a:solidFill>
                <a:latin typeface="Arial"/>
              </a:rPr>
              <a:t>18  </a:t>
            </a:r>
            <a:r>
              <a:rPr sz="1100" b="1" i="0">
                <a:solidFill>
                  <a:srgbClr val="000048"/>
                </a:solidFill>
                <a:latin typeface="Arial"/>
              </a:rPr>
              <a:t>A6  </a:t>
            </a:r>
            <a:r>
              <a:rPr sz="1100" b="0" i="0">
                <a:solidFill>
                  <a:srgbClr val="1E1E2E"/>
                </a:solidFill>
                <a:latin typeface="Arial"/>
              </a:rPr>
              <a:t>Controlled egress</a:t>
            </a:r>
          </a:p>
        </p:txBody>
      </p:sp>
      <p:sp>
        <p:nvSpPr>
          <p:cNvPr id="13" name="TextBox 12">
            <a:hlinkClick action="ppaction://hlinksldjump" r:id="rId10"/>
          </p:cNvPr>
          <p:cNvSpPr txBox="1"/>
          <p:nvPr/>
        </p:nvSpPr>
        <p:spPr>
          <a:xfrm>
            <a:off x="548640" y="2843784"/>
            <a:ext cx="5486400" cy="237744"/>
          </a:xfrm>
          <a:prstGeom prst="rect">
            <a:avLst/>
          </a:prstGeom>
          <a:noFill/>
        </p:spPr>
        <p:txBody>
          <a:bodyPr wrap="square" lIns="0" rIns="0" tIns="0" bIns="0" anchor="t">
            <a:noAutofit/>
          </a:bodyPr>
          <a:lstStyle/>
          <a:p>
            <a:pPr algn="l"/>
            <a:r>
              <a:rPr sz="1100" b="1" i="0">
                <a:solidFill>
                  <a:srgbClr val="2F78C4"/>
                </a:solidFill>
                <a:latin typeface="Arial"/>
              </a:rPr>
              <a:t>19  </a:t>
            </a:r>
            <a:r>
              <a:rPr sz="1100" b="1" i="0">
                <a:solidFill>
                  <a:srgbClr val="000048"/>
                </a:solidFill>
                <a:latin typeface="Arial"/>
              </a:rPr>
              <a:t>A7  </a:t>
            </a:r>
            <a:r>
              <a:rPr sz="1100" b="0" i="0">
                <a:solidFill>
                  <a:srgbClr val="1E1E2E"/>
                </a:solidFill>
                <a:latin typeface="Arial"/>
              </a:rPr>
              <a:t>Inbound, runtime and outbound paths</a:t>
            </a:r>
          </a:p>
        </p:txBody>
      </p:sp>
      <p:sp>
        <p:nvSpPr>
          <p:cNvPr id="14" name="TextBox 13">
            <a:hlinkClick action="ppaction://hlinksldjump" r:id="rId11"/>
          </p:cNvPr>
          <p:cNvSpPr txBox="1"/>
          <p:nvPr/>
        </p:nvSpPr>
        <p:spPr>
          <a:xfrm>
            <a:off x="548640" y="3081528"/>
            <a:ext cx="5486400" cy="237744"/>
          </a:xfrm>
          <a:prstGeom prst="rect">
            <a:avLst/>
          </a:prstGeom>
          <a:noFill/>
        </p:spPr>
        <p:txBody>
          <a:bodyPr wrap="square" lIns="0" rIns="0" tIns="0" bIns="0" anchor="t">
            <a:noAutofit/>
          </a:bodyPr>
          <a:lstStyle/>
          <a:p>
            <a:pPr algn="l"/>
            <a:r>
              <a:rPr sz="1100" b="1" i="0">
                <a:solidFill>
                  <a:srgbClr val="2F78C4"/>
                </a:solidFill>
                <a:latin typeface="Arial"/>
              </a:rPr>
              <a:t>20  </a:t>
            </a:r>
            <a:r>
              <a:rPr sz="1100" b="1" i="0">
                <a:solidFill>
                  <a:srgbClr val="000048"/>
                </a:solidFill>
                <a:latin typeface="Arial"/>
              </a:rPr>
              <a:t>A8  </a:t>
            </a:r>
            <a:r>
              <a:rPr sz="1100" b="0" i="0">
                <a:solidFill>
                  <a:srgbClr val="1E1E2E"/>
                </a:solidFill>
                <a:latin typeface="Arial"/>
              </a:rPr>
              <a:t>Foundry workload baseline (simplified)</a:t>
            </a:r>
          </a:p>
        </p:txBody>
      </p:sp>
      <p:sp>
        <p:nvSpPr>
          <p:cNvPr id="15" name="TextBox 14">
            <a:hlinkClick action="ppaction://hlinksldjump" r:id="rId12"/>
          </p:cNvPr>
          <p:cNvSpPr txBox="1"/>
          <p:nvPr/>
        </p:nvSpPr>
        <p:spPr>
          <a:xfrm>
            <a:off x="548640" y="3319272"/>
            <a:ext cx="5486400" cy="237744"/>
          </a:xfrm>
          <a:prstGeom prst="rect">
            <a:avLst/>
          </a:prstGeom>
          <a:noFill/>
        </p:spPr>
        <p:txBody>
          <a:bodyPr wrap="square" lIns="0" rIns="0" tIns="0" bIns="0" anchor="t">
            <a:noAutofit/>
          </a:bodyPr>
          <a:lstStyle/>
          <a:p>
            <a:pPr algn="l"/>
            <a:r>
              <a:rPr sz="1100" b="1" i="0">
                <a:solidFill>
                  <a:srgbClr val="2F78C4"/>
                </a:solidFill>
                <a:latin typeface="Arial"/>
              </a:rPr>
              <a:t>21  </a:t>
            </a:r>
            <a:r>
              <a:rPr sz="1100" b="1" i="0">
                <a:solidFill>
                  <a:srgbClr val="000048"/>
                </a:solidFill>
                <a:latin typeface="Arial"/>
              </a:rPr>
              <a:t>A9  </a:t>
            </a:r>
            <a:r>
              <a:rPr sz="1100" b="0" i="0">
                <a:solidFill>
                  <a:srgbClr val="1E1E2E"/>
                </a:solidFill>
                <a:latin typeface="Arial"/>
              </a:rPr>
              <a:t>Foundry projects and agent hosting options</a:t>
            </a:r>
          </a:p>
        </p:txBody>
      </p:sp>
      <p:sp>
        <p:nvSpPr>
          <p:cNvPr id="16" name="TextBox 15">
            <a:hlinkClick action="ppaction://hlinksldjump" r:id="rId13"/>
          </p:cNvPr>
          <p:cNvSpPr txBox="1"/>
          <p:nvPr/>
        </p:nvSpPr>
        <p:spPr>
          <a:xfrm>
            <a:off x="548640" y="3557015"/>
            <a:ext cx="5486400" cy="237744"/>
          </a:xfrm>
          <a:prstGeom prst="rect">
            <a:avLst/>
          </a:prstGeom>
          <a:noFill/>
        </p:spPr>
        <p:txBody>
          <a:bodyPr wrap="square" lIns="0" rIns="0" tIns="0" bIns="0" anchor="t">
            <a:noAutofit/>
          </a:bodyPr>
          <a:lstStyle/>
          <a:p>
            <a:pPr algn="l"/>
            <a:r>
              <a:rPr sz="1100" b="1" i="0">
                <a:solidFill>
                  <a:srgbClr val="2F78C4"/>
                </a:solidFill>
                <a:latin typeface="Arial"/>
              </a:rPr>
              <a:t>22  </a:t>
            </a:r>
            <a:r>
              <a:rPr sz="1100" b="1" i="0">
                <a:solidFill>
                  <a:srgbClr val="000048"/>
                </a:solidFill>
                <a:latin typeface="Arial"/>
              </a:rPr>
              <a:t>A10  </a:t>
            </a:r>
            <a:r>
              <a:rPr sz="1100" b="0" i="0">
                <a:solidFill>
                  <a:srgbClr val="1E1E2E"/>
                </a:solidFill>
                <a:latin typeface="Arial"/>
              </a:rPr>
              <a:t>Search, storage and data dependencies</a:t>
            </a:r>
          </a:p>
        </p:txBody>
      </p:sp>
      <p:sp>
        <p:nvSpPr>
          <p:cNvPr id="17" name="TextBox 16">
            <a:hlinkClick action="ppaction://hlinksldjump" r:id="rId14"/>
          </p:cNvPr>
          <p:cNvSpPr txBox="1"/>
          <p:nvPr/>
        </p:nvSpPr>
        <p:spPr>
          <a:xfrm>
            <a:off x="548640" y="3794760"/>
            <a:ext cx="5486400" cy="237744"/>
          </a:xfrm>
          <a:prstGeom prst="rect">
            <a:avLst/>
          </a:prstGeom>
          <a:noFill/>
        </p:spPr>
        <p:txBody>
          <a:bodyPr wrap="square" lIns="0" rIns="0" tIns="0" bIns="0" anchor="t">
            <a:noAutofit/>
          </a:bodyPr>
          <a:lstStyle/>
          <a:p>
            <a:pPr algn="l"/>
            <a:r>
              <a:rPr sz="1100" b="1" i="0">
                <a:solidFill>
                  <a:srgbClr val="2F78C4"/>
                </a:solidFill>
                <a:latin typeface="Arial"/>
              </a:rPr>
              <a:t>23  </a:t>
            </a:r>
            <a:r>
              <a:rPr sz="1100" b="1" i="0">
                <a:solidFill>
                  <a:srgbClr val="000048"/>
                </a:solidFill>
                <a:latin typeface="Arial"/>
              </a:rPr>
              <a:t>A11  </a:t>
            </a:r>
            <a:r>
              <a:rPr sz="1100" b="0" i="0">
                <a:solidFill>
                  <a:srgbClr val="1E1E2E"/>
                </a:solidFill>
                <a:latin typeface="Arial"/>
              </a:rPr>
              <a:t>IaC, CI/CD and promotion</a:t>
            </a:r>
          </a:p>
        </p:txBody>
      </p:sp>
      <p:sp>
        <p:nvSpPr>
          <p:cNvPr id="18" name="TextBox 17">
            <a:hlinkClick action="ppaction://hlinksldjump" r:id="rId15"/>
          </p:cNvPr>
          <p:cNvSpPr txBox="1"/>
          <p:nvPr/>
        </p:nvSpPr>
        <p:spPr>
          <a:xfrm>
            <a:off x="548640" y="4032504"/>
            <a:ext cx="5486400" cy="237744"/>
          </a:xfrm>
          <a:prstGeom prst="rect">
            <a:avLst/>
          </a:prstGeom>
          <a:noFill/>
        </p:spPr>
        <p:txBody>
          <a:bodyPr wrap="square" lIns="0" rIns="0" tIns="0" bIns="0" anchor="t">
            <a:noAutofit/>
          </a:bodyPr>
          <a:lstStyle/>
          <a:p>
            <a:pPr algn="l"/>
            <a:r>
              <a:rPr sz="1100" b="1" i="0">
                <a:solidFill>
                  <a:srgbClr val="2F78C4"/>
                </a:solidFill>
                <a:latin typeface="Arial"/>
              </a:rPr>
              <a:t>24  </a:t>
            </a:r>
            <a:r>
              <a:rPr sz="1100" b="1" i="0">
                <a:solidFill>
                  <a:srgbClr val="000048"/>
                </a:solidFill>
                <a:latin typeface="Arial"/>
              </a:rPr>
              <a:t>A12  </a:t>
            </a:r>
            <a:r>
              <a:rPr sz="1100" b="0" i="0">
                <a:solidFill>
                  <a:srgbClr val="1E1E2E"/>
                </a:solidFill>
                <a:latin typeface="Arial"/>
              </a:rPr>
              <a:t>Environment separation</a:t>
            </a:r>
          </a:p>
        </p:txBody>
      </p:sp>
      <p:sp>
        <p:nvSpPr>
          <p:cNvPr id="19" name="TextBox 18">
            <a:hlinkClick action="ppaction://hlinksldjump" r:id="rId16"/>
          </p:cNvPr>
          <p:cNvSpPr txBox="1"/>
          <p:nvPr/>
        </p:nvSpPr>
        <p:spPr>
          <a:xfrm>
            <a:off x="548640" y="4270248"/>
            <a:ext cx="5486400" cy="237744"/>
          </a:xfrm>
          <a:prstGeom prst="rect">
            <a:avLst/>
          </a:prstGeom>
          <a:noFill/>
        </p:spPr>
        <p:txBody>
          <a:bodyPr wrap="square" lIns="0" rIns="0" tIns="0" bIns="0" anchor="t">
            <a:noAutofit/>
          </a:bodyPr>
          <a:lstStyle/>
          <a:p>
            <a:pPr algn="l"/>
            <a:r>
              <a:rPr sz="1100" b="1" i="0">
                <a:solidFill>
                  <a:srgbClr val="2F78C4"/>
                </a:solidFill>
                <a:latin typeface="Arial"/>
              </a:rPr>
              <a:t>25  </a:t>
            </a:r>
            <a:r>
              <a:rPr sz="1100" b="1" i="0">
                <a:solidFill>
                  <a:srgbClr val="000048"/>
                </a:solidFill>
                <a:latin typeface="Arial"/>
              </a:rPr>
              <a:t>A13  </a:t>
            </a:r>
            <a:r>
              <a:rPr sz="1100" b="0" i="0">
                <a:solidFill>
                  <a:srgbClr val="1E1E2E"/>
                </a:solidFill>
                <a:latin typeface="Arial"/>
              </a:rPr>
              <a:t>Monitoring, budgets, containment, recovery</a:t>
            </a:r>
          </a:p>
        </p:txBody>
      </p:sp>
      <p:sp>
        <p:nvSpPr>
          <p:cNvPr id="20" name="TextBox 19">
            <a:hlinkClick action="ppaction://hlinksldjump" r:id="rId17"/>
          </p:cNvPr>
          <p:cNvSpPr txBox="1"/>
          <p:nvPr/>
        </p:nvSpPr>
        <p:spPr>
          <a:xfrm>
            <a:off x="548640" y="4507992"/>
            <a:ext cx="5486400" cy="237744"/>
          </a:xfrm>
          <a:prstGeom prst="rect">
            <a:avLst/>
          </a:prstGeom>
          <a:noFill/>
        </p:spPr>
        <p:txBody>
          <a:bodyPr wrap="square" lIns="0" rIns="0" tIns="0" bIns="0" anchor="t">
            <a:noAutofit/>
          </a:bodyPr>
          <a:lstStyle/>
          <a:p>
            <a:pPr algn="l"/>
            <a:r>
              <a:rPr sz="1100" b="1" i="0">
                <a:solidFill>
                  <a:srgbClr val="2F78C4"/>
                </a:solidFill>
                <a:latin typeface="Arial"/>
              </a:rPr>
              <a:t>26  </a:t>
            </a:r>
            <a:r>
              <a:rPr sz="1100" b="1" i="0">
                <a:solidFill>
                  <a:srgbClr val="000048"/>
                </a:solidFill>
                <a:latin typeface="Arial"/>
              </a:rPr>
              <a:t>A14  </a:t>
            </a:r>
            <a:r>
              <a:rPr sz="1100" b="0" i="0">
                <a:solidFill>
                  <a:srgbClr val="1E1E2E"/>
                </a:solidFill>
                <a:latin typeface="Arial"/>
              </a:rPr>
              <a:t>Deployment types and processing boundary</a:t>
            </a:r>
          </a:p>
        </p:txBody>
      </p:sp>
      <p:sp>
        <p:nvSpPr>
          <p:cNvPr id="21" name="TextBox 20">
            <a:hlinkClick action="ppaction://hlinksldjump" r:id="rId18"/>
          </p:cNvPr>
          <p:cNvSpPr txBox="1"/>
          <p:nvPr/>
        </p:nvSpPr>
        <p:spPr>
          <a:xfrm>
            <a:off x="548640" y="4745736"/>
            <a:ext cx="5486400" cy="237744"/>
          </a:xfrm>
          <a:prstGeom prst="rect">
            <a:avLst/>
          </a:prstGeom>
          <a:noFill/>
        </p:spPr>
        <p:txBody>
          <a:bodyPr wrap="square" lIns="0" rIns="0" tIns="0" bIns="0" anchor="t">
            <a:noAutofit/>
          </a:bodyPr>
          <a:lstStyle/>
          <a:p>
            <a:pPr algn="l"/>
            <a:r>
              <a:rPr sz="1100" b="1" i="0">
                <a:solidFill>
                  <a:srgbClr val="2F78C4"/>
                </a:solidFill>
                <a:latin typeface="Arial"/>
              </a:rPr>
              <a:t>27  </a:t>
            </a:r>
            <a:r>
              <a:rPr sz="1100" b="1" i="0">
                <a:solidFill>
                  <a:srgbClr val="000048"/>
                </a:solidFill>
                <a:latin typeface="Arial"/>
              </a:rPr>
              <a:t>A15  </a:t>
            </a:r>
            <a:r>
              <a:rPr sz="1100" b="0" i="0">
                <a:solidFill>
                  <a:srgbClr val="1E1E2E"/>
                </a:solidFill>
                <a:latin typeface="Arial"/>
              </a:rPr>
              <a:t>Model availability snapshot by region</a:t>
            </a:r>
          </a:p>
        </p:txBody>
      </p:sp>
      <p:sp>
        <p:nvSpPr>
          <p:cNvPr id="22" name="TextBox 21">
            <a:hlinkClick action="ppaction://hlinksldjump" r:id="rId19"/>
          </p:cNvPr>
          <p:cNvSpPr txBox="1"/>
          <p:nvPr/>
        </p:nvSpPr>
        <p:spPr>
          <a:xfrm>
            <a:off x="548640" y="4983480"/>
            <a:ext cx="5486400" cy="237744"/>
          </a:xfrm>
          <a:prstGeom prst="rect">
            <a:avLst/>
          </a:prstGeom>
          <a:noFill/>
        </p:spPr>
        <p:txBody>
          <a:bodyPr wrap="square" lIns="0" rIns="0" tIns="0" bIns="0" anchor="t">
            <a:noAutofit/>
          </a:bodyPr>
          <a:lstStyle/>
          <a:p>
            <a:pPr algn="l"/>
            <a:r>
              <a:rPr sz="1100" b="1" i="0">
                <a:solidFill>
                  <a:srgbClr val="2F78C4"/>
                </a:solidFill>
                <a:latin typeface="Arial"/>
              </a:rPr>
              <a:t>28  </a:t>
            </a:r>
            <a:r>
              <a:rPr sz="1100" b="1" i="0">
                <a:solidFill>
                  <a:srgbClr val="000048"/>
                </a:solidFill>
                <a:latin typeface="Arial"/>
              </a:rPr>
              <a:t>A16  </a:t>
            </a:r>
            <a:r>
              <a:rPr sz="1100" b="0" i="0">
                <a:solidFill>
                  <a:srgbClr val="1E1E2E"/>
                </a:solidFill>
                <a:latin typeface="Arial"/>
              </a:rPr>
              <a:t>Included baseline and separately scoped work</a:t>
            </a:r>
          </a:p>
        </p:txBody>
      </p:sp>
      <p:sp>
        <p:nvSpPr>
          <p:cNvPr id="23" name="TextBox 22">
            <a:hlinkClick action="ppaction://hlinksldjump" r:id="rId20"/>
          </p:cNvPr>
          <p:cNvSpPr txBox="1"/>
          <p:nvPr/>
        </p:nvSpPr>
        <p:spPr>
          <a:xfrm>
            <a:off x="548640" y="5221224"/>
            <a:ext cx="5486400" cy="237744"/>
          </a:xfrm>
          <a:prstGeom prst="rect">
            <a:avLst/>
          </a:prstGeom>
          <a:noFill/>
        </p:spPr>
        <p:txBody>
          <a:bodyPr wrap="square" lIns="0" rIns="0" tIns="0" bIns="0" anchor="t">
            <a:noAutofit/>
          </a:bodyPr>
          <a:lstStyle/>
          <a:p>
            <a:pPr algn="l"/>
            <a:r>
              <a:rPr sz="1100" b="1" i="0">
                <a:solidFill>
                  <a:srgbClr val="2F78C4"/>
                </a:solidFill>
                <a:latin typeface="Arial"/>
              </a:rPr>
              <a:t>29  </a:t>
            </a:r>
            <a:r>
              <a:rPr sz="1100" b="1" i="0">
                <a:solidFill>
                  <a:srgbClr val="000048"/>
                </a:solidFill>
                <a:latin typeface="Arial"/>
              </a:rPr>
              <a:t>A17  </a:t>
            </a:r>
            <a:r>
              <a:rPr sz="1100" b="0" i="0">
                <a:solidFill>
                  <a:srgbClr val="1E1E2E"/>
                </a:solidFill>
                <a:latin typeface="Arial"/>
              </a:rPr>
              <a:t>Acceptance gates and evidence</a:t>
            </a:r>
          </a:p>
        </p:txBody>
      </p:sp>
      <p:sp>
        <p:nvSpPr>
          <p:cNvPr id="24" name="TextBox 23">
            <a:hlinkClick action="ppaction://hlinksldjump" r:id="rId21"/>
          </p:cNvPr>
          <p:cNvSpPr txBox="1"/>
          <p:nvPr/>
        </p:nvSpPr>
        <p:spPr>
          <a:xfrm>
            <a:off x="548640" y="5458968"/>
            <a:ext cx="5486400" cy="237744"/>
          </a:xfrm>
          <a:prstGeom prst="rect">
            <a:avLst/>
          </a:prstGeom>
          <a:noFill/>
        </p:spPr>
        <p:txBody>
          <a:bodyPr wrap="square" lIns="0" rIns="0" tIns="0" bIns="0" anchor="t">
            <a:noAutofit/>
          </a:bodyPr>
          <a:lstStyle/>
          <a:p>
            <a:pPr algn="l"/>
            <a:r>
              <a:rPr sz="1100" b="1" i="0">
                <a:solidFill>
                  <a:srgbClr val="2F78C4"/>
                </a:solidFill>
                <a:latin typeface="Arial"/>
              </a:rPr>
              <a:t>30  </a:t>
            </a:r>
            <a:r>
              <a:rPr sz="1100" b="1" i="0">
                <a:solidFill>
                  <a:srgbClr val="000048"/>
                </a:solidFill>
                <a:latin typeface="Arial"/>
              </a:rPr>
              <a:t>A18  </a:t>
            </a:r>
            <a:r>
              <a:rPr sz="1100" b="0" i="0">
                <a:solidFill>
                  <a:srgbClr val="1E1E2E"/>
                </a:solidFill>
                <a:latin typeface="Arial"/>
              </a:rPr>
              <a:t>Effort drivers and change control</a:t>
            </a:r>
          </a:p>
        </p:txBody>
      </p:sp>
      <p:sp>
        <p:nvSpPr>
          <p:cNvPr id="25" name="TextBox 24">
            <a:hlinkClick action="ppaction://hlinksldjump" r:id="rId22"/>
          </p:cNvPr>
          <p:cNvSpPr txBox="1"/>
          <p:nvPr/>
        </p:nvSpPr>
        <p:spPr>
          <a:xfrm>
            <a:off x="548640" y="5696712"/>
            <a:ext cx="5486400" cy="237744"/>
          </a:xfrm>
          <a:prstGeom prst="rect">
            <a:avLst/>
          </a:prstGeom>
          <a:noFill/>
        </p:spPr>
        <p:txBody>
          <a:bodyPr wrap="square" lIns="0" rIns="0" tIns="0" bIns="0" anchor="t">
            <a:noAutofit/>
          </a:bodyPr>
          <a:lstStyle/>
          <a:p>
            <a:pPr algn="l"/>
            <a:r>
              <a:rPr sz="1100" b="1" i="0">
                <a:solidFill>
                  <a:srgbClr val="2F78C4"/>
                </a:solidFill>
                <a:latin typeface="Arial"/>
              </a:rPr>
              <a:t>31  </a:t>
            </a:r>
            <a:r>
              <a:rPr sz="1100" b="1" i="0">
                <a:solidFill>
                  <a:srgbClr val="000048"/>
                </a:solidFill>
                <a:latin typeface="Arial"/>
              </a:rPr>
              <a:t>A19  </a:t>
            </a:r>
            <a:r>
              <a:rPr sz="1100" b="0" i="0">
                <a:solidFill>
                  <a:srgbClr val="1E1E2E"/>
                </a:solidFill>
                <a:latin typeface="Arial"/>
              </a:rPr>
              <a:t>BOM checklist</a:t>
            </a:r>
          </a:p>
        </p:txBody>
      </p:sp>
      <p:sp>
        <p:nvSpPr>
          <p:cNvPr id="26" name="TextBox 25">
            <a:hlinkClick action="ppaction://hlinksldjump" r:id="rId23"/>
          </p:cNvPr>
          <p:cNvSpPr txBox="1"/>
          <p:nvPr/>
        </p:nvSpPr>
        <p:spPr>
          <a:xfrm>
            <a:off x="548640" y="5934456"/>
            <a:ext cx="5486400" cy="237744"/>
          </a:xfrm>
          <a:prstGeom prst="rect">
            <a:avLst/>
          </a:prstGeom>
          <a:noFill/>
        </p:spPr>
        <p:txBody>
          <a:bodyPr wrap="square" lIns="0" rIns="0" tIns="0" bIns="0" anchor="t">
            <a:noAutofit/>
          </a:bodyPr>
          <a:lstStyle/>
          <a:p>
            <a:pPr algn="l"/>
            <a:r>
              <a:rPr sz="1100" b="1" i="0">
                <a:solidFill>
                  <a:srgbClr val="2F78C4"/>
                </a:solidFill>
                <a:latin typeface="Arial"/>
              </a:rPr>
              <a:t>32  </a:t>
            </a:r>
            <a:r>
              <a:rPr sz="1100" b="1" i="0">
                <a:solidFill>
                  <a:srgbClr val="000048"/>
                </a:solidFill>
                <a:latin typeface="Arial"/>
              </a:rPr>
              <a:t>A0  </a:t>
            </a:r>
            <a:r>
              <a:rPr sz="1100" b="0" i="0">
                <a:solidFill>
                  <a:srgbClr val="1E1E2E"/>
                </a:solidFill>
                <a:latin typeface="Arial"/>
              </a:rPr>
              <a:t>AI Landing Zone accelerator reuse</a:t>
            </a:r>
          </a:p>
        </p:txBody>
      </p:sp>
      <p:sp>
        <p:nvSpPr>
          <p:cNvPr id="27" name="TextBox 26">
            <a:hlinkClick action="ppaction://hlinksldjump" r:id="rId24"/>
          </p:cNvPr>
          <p:cNvSpPr txBox="1"/>
          <p:nvPr/>
        </p:nvSpPr>
        <p:spPr>
          <a:xfrm>
            <a:off x="6217920" y="1417320"/>
            <a:ext cx="5486400" cy="237744"/>
          </a:xfrm>
          <a:prstGeom prst="rect">
            <a:avLst/>
          </a:prstGeom>
          <a:noFill/>
        </p:spPr>
        <p:txBody>
          <a:bodyPr wrap="square" lIns="0" rIns="0" tIns="0" bIns="0" anchor="t">
            <a:noAutofit/>
          </a:bodyPr>
          <a:lstStyle/>
          <a:p>
            <a:pPr algn="l"/>
            <a:r>
              <a:rPr sz="1100" b="1" i="0">
                <a:solidFill>
                  <a:srgbClr val="2F78C4"/>
                </a:solidFill>
                <a:latin typeface="Arial"/>
              </a:rPr>
              <a:t>33  </a:t>
            </a:r>
            <a:r>
              <a:rPr sz="1100" b="1" i="0">
                <a:solidFill>
                  <a:srgbClr val="000048"/>
                </a:solidFill>
                <a:latin typeface="Arial"/>
              </a:rPr>
              <a:t>A20  </a:t>
            </a:r>
            <a:r>
              <a:rPr sz="1100" b="0" i="0">
                <a:solidFill>
                  <a:srgbClr val="1E1E2E"/>
                </a:solidFill>
                <a:latin typeface="Arial"/>
              </a:rPr>
              <a:t>Data platform paths and DR options</a:t>
            </a:r>
          </a:p>
        </p:txBody>
      </p:sp>
      <p:sp>
        <p:nvSpPr>
          <p:cNvPr id="28" name="TextBox 27">
            <a:hlinkClick action="ppaction://hlinksldjump" r:id="rId25"/>
          </p:cNvPr>
          <p:cNvSpPr txBox="1"/>
          <p:nvPr/>
        </p:nvSpPr>
        <p:spPr>
          <a:xfrm>
            <a:off x="6217920" y="1655064"/>
            <a:ext cx="5486400" cy="237744"/>
          </a:xfrm>
          <a:prstGeom prst="rect">
            <a:avLst/>
          </a:prstGeom>
          <a:noFill/>
        </p:spPr>
        <p:txBody>
          <a:bodyPr wrap="square" lIns="0" rIns="0" tIns="0" bIns="0" anchor="t">
            <a:noAutofit/>
          </a:bodyPr>
          <a:lstStyle/>
          <a:p>
            <a:pPr algn="l"/>
            <a:r>
              <a:rPr sz="1100" b="1" i="0">
                <a:solidFill>
                  <a:srgbClr val="2F78C4"/>
                </a:solidFill>
                <a:latin typeface="Arial"/>
              </a:rPr>
              <a:t>34  </a:t>
            </a:r>
            <a:r>
              <a:rPr sz="1100" b="1" i="0">
                <a:solidFill>
                  <a:srgbClr val="000048"/>
                </a:solidFill>
                <a:latin typeface="Arial"/>
              </a:rPr>
              <a:t>A21  </a:t>
            </a:r>
            <a:r>
              <a:rPr sz="1100" b="0" i="0">
                <a:solidFill>
                  <a:srgbClr val="1E1E2E"/>
                </a:solidFill>
                <a:latin typeface="Arial"/>
              </a:rPr>
              <a:t>Buyer roles and risk register</a:t>
            </a:r>
          </a:p>
        </p:txBody>
      </p:sp>
      <p:sp>
        <p:nvSpPr>
          <p:cNvPr id="29" name="TextBox 28">
            <a:hlinkClick action="ppaction://hlinksldjump" r:id="rId26"/>
          </p:cNvPr>
          <p:cNvSpPr txBox="1"/>
          <p:nvPr/>
        </p:nvSpPr>
        <p:spPr>
          <a:xfrm>
            <a:off x="6217920" y="1892808"/>
            <a:ext cx="5486400" cy="237744"/>
          </a:xfrm>
          <a:prstGeom prst="rect">
            <a:avLst/>
          </a:prstGeom>
          <a:noFill/>
        </p:spPr>
        <p:txBody>
          <a:bodyPr wrap="square" lIns="0" rIns="0" tIns="0" bIns="0" anchor="t">
            <a:noAutofit/>
          </a:bodyPr>
          <a:lstStyle/>
          <a:p>
            <a:pPr algn="l"/>
            <a:r>
              <a:rPr sz="1100" b="1" i="0">
                <a:solidFill>
                  <a:srgbClr val="2F78C4"/>
                </a:solidFill>
                <a:latin typeface="Arial"/>
              </a:rPr>
              <a:t>35  </a:t>
            </a:r>
            <a:r>
              <a:rPr sz="1100" b="1" i="0">
                <a:solidFill>
                  <a:srgbClr val="000048"/>
                </a:solidFill>
                <a:latin typeface="Arial"/>
              </a:rPr>
              <a:t>Q1  </a:t>
            </a:r>
            <a:r>
              <a:rPr sz="1100" b="0" i="0">
                <a:solidFill>
                  <a:srgbClr val="1E1E2E"/>
                </a:solidFill>
                <a:latin typeface="Arial"/>
              </a:rPr>
              <a:t>Qualification scorecard and account shortlist</a:t>
            </a:r>
          </a:p>
        </p:txBody>
      </p:sp>
      <p:sp>
        <p:nvSpPr>
          <p:cNvPr id="30" name="TextBox 29">
            <a:hlinkClick action="ppaction://hlinksldjump" r:id="rId27"/>
          </p:cNvPr>
          <p:cNvSpPr txBox="1"/>
          <p:nvPr/>
        </p:nvSpPr>
        <p:spPr>
          <a:xfrm>
            <a:off x="6217920" y="2130552"/>
            <a:ext cx="5486400" cy="237744"/>
          </a:xfrm>
          <a:prstGeom prst="rect">
            <a:avLst/>
          </a:prstGeom>
          <a:noFill/>
        </p:spPr>
        <p:txBody>
          <a:bodyPr wrap="square" lIns="0" rIns="0" tIns="0" bIns="0" anchor="t">
            <a:noAutofit/>
          </a:bodyPr>
          <a:lstStyle/>
          <a:p>
            <a:pPr algn="l"/>
            <a:r>
              <a:rPr sz="1100" b="1" i="0">
                <a:solidFill>
                  <a:srgbClr val="2F78C4"/>
                </a:solidFill>
                <a:latin typeface="Arial"/>
              </a:rPr>
              <a:t>36  </a:t>
            </a:r>
            <a:r>
              <a:rPr sz="1100" b="1" i="0">
                <a:solidFill>
                  <a:srgbClr val="000048"/>
                </a:solidFill>
                <a:latin typeface="Arial"/>
              </a:rPr>
              <a:t>E1  </a:t>
            </a:r>
            <a:r>
              <a:rPr sz="1100" b="0" i="0">
                <a:solidFill>
                  <a:srgbClr val="1E1E2E"/>
                </a:solidFill>
                <a:latin typeface="Arial"/>
              </a:rPr>
              <a:t>Estimate assumptions</a:t>
            </a:r>
          </a:p>
        </p:txBody>
      </p:sp>
      <p:sp>
        <p:nvSpPr>
          <p:cNvPr id="31" name="TextBox 30">
            <a:hlinkClick action="ppaction://hlinksldjump" r:id="rId28"/>
          </p:cNvPr>
          <p:cNvSpPr txBox="1"/>
          <p:nvPr/>
        </p:nvSpPr>
        <p:spPr>
          <a:xfrm>
            <a:off x="6217920" y="2368296"/>
            <a:ext cx="5486400" cy="237744"/>
          </a:xfrm>
          <a:prstGeom prst="rect">
            <a:avLst/>
          </a:prstGeom>
          <a:noFill/>
        </p:spPr>
        <p:txBody>
          <a:bodyPr wrap="square" lIns="0" rIns="0" tIns="0" bIns="0" anchor="t">
            <a:noAutofit/>
          </a:bodyPr>
          <a:lstStyle/>
          <a:p>
            <a:pPr algn="l"/>
            <a:r>
              <a:rPr sz="1100" b="1" i="0">
                <a:solidFill>
                  <a:srgbClr val="2F78C4"/>
                </a:solidFill>
                <a:latin typeface="Arial"/>
              </a:rPr>
              <a:t>37  </a:t>
            </a:r>
            <a:r>
              <a:rPr sz="1100" b="1" i="0">
                <a:solidFill>
                  <a:srgbClr val="000048"/>
                </a:solidFill>
                <a:latin typeface="Arial"/>
              </a:rPr>
              <a:t>SEC1  </a:t>
            </a:r>
            <a:r>
              <a:rPr sz="1100" b="0" i="0">
                <a:solidFill>
                  <a:srgbClr val="1E1E2E"/>
                </a:solidFill>
                <a:latin typeface="Arial"/>
              </a:rPr>
              <a:t>AI threat model and controls</a:t>
            </a:r>
          </a:p>
        </p:txBody>
      </p:sp>
      <p:sp>
        <p:nvSpPr>
          <p:cNvPr id="32" name="TextBox 31">
            <a:hlinkClick action="ppaction://hlinksldjump" r:id="rId29"/>
          </p:cNvPr>
          <p:cNvSpPr txBox="1"/>
          <p:nvPr/>
        </p:nvSpPr>
        <p:spPr>
          <a:xfrm>
            <a:off x="6217920" y="2606040"/>
            <a:ext cx="5486400" cy="237744"/>
          </a:xfrm>
          <a:prstGeom prst="rect">
            <a:avLst/>
          </a:prstGeom>
          <a:noFill/>
        </p:spPr>
        <p:txBody>
          <a:bodyPr wrap="square" lIns="0" rIns="0" tIns="0" bIns="0" anchor="t">
            <a:noAutofit/>
          </a:bodyPr>
          <a:lstStyle/>
          <a:p>
            <a:pPr algn="l"/>
            <a:r>
              <a:rPr sz="1100" b="1" i="0">
                <a:solidFill>
                  <a:srgbClr val="2F78C4"/>
                </a:solidFill>
                <a:latin typeface="Arial"/>
              </a:rPr>
              <a:t>38  </a:t>
            </a:r>
            <a:r>
              <a:rPr sz="1100" b="1" i="0">
                <a:solidFill>
                  <a:srgbClr val="000048"/>
                </a:solidFill>
                <a:latin typeface="Arial"/>
              </a:rPr>
              <a:t>SEC2  </a:t>
            </a:r>
            <a:r>
              <a:rPr sz="1100" b="0" i="0">
                <a:solidFill>
                  <a:srgbClr val="1E1E2E"/>
                </a:solidFill>
                <a:latin typeface="Arial"/>
              </a:rPr>
              <a:t>Security services and regulation</a:t>
            </a:r>
          </a:p>
        </p:txBody>
      </p:sp>
      <p:sp>
        <p:nvSpPr>
          <p:cNvPr id="33" name="TextBox 32">
            <a:hlinkClick action="ppaction://hlinksldjump" r:id="rId30"/>
          </p:cNvPr>
          <p:cNvSpPr txBox="1"/>
          <p:nvPr/>
        </p:nvSpPr>
        <p:spPr>
          <a:xfrm>
            <a:off x="6217920" y="2843784"/>
            <a:ext cx="5486400" cy="237744"/>
          </a:xfrm>
          <a:prstGeom prst="rect">
            <a:avLst/>
          </a:prstGeom>
          <a:noFill/>
        </p:spPr>
        <p:txBody>
          <a:bodyPr wrap="square" lIns="0" rIns="0" tIns="0" bIns="0" anchor="t">
            <a:noAutofit/>
          </a:bodyPr>
          <a:lstStyle/>
          <a:p>
            <a:pPr algn="l"/>
            <a:r>
              <a:rPr sz="1100" b="1" i="0">
                <a:solidFill>
                  <a:srgbClr val="2F78C4"/>
                </a:solidFill>
                <a:latin typeface="Arial"/>
              </a:rPr>
              <a:t>39  </a:t>
            </a:r>
            <a:r>
              <a:rPr sz="1100" b="1" i="0">
                <a:solidFill>
                  <a:srgbClr val="000048"/>
                </a:solidFill>
                <a:latin typeface="Arial"/>
              </a:rPr>
              <a:t>G1  </a:t>
            </a:r>
            <a:r>
              <a:rPr sz="1100" b="0" i="0">
                <a:solidFill>
                  <a:srgbClr val="1E1E2E"/>
                </a:solidFill>
                <a:latin typeface="Arial"/>
              </a:rPr>
              <a:t>Glossary</a:t>
            </a:r>
          </a:p>
        </p:txBody>
      </p:sp>
      <p:sp>
        <p:nvSpPr>
          <p:cNvPr id="34" name="TextBox 33">
            <a:hlinkClick action="ppaction://hlinksldjump" r:id="rId31"/>
          </p:cNvPr>
          <p:cNvSpPr txBox="1"/>
          <p:nvPr/>
        </p:nvSpPr>
        <p:spPr>
          <a:xfrm>
            <a:off x="6217920" y="3081528"/>
            <a:ext cx="5486400" cy="237744"/>
          </a:xfrm>
          <a:prstGeom prst="rect">
            <a:avLst/>
          </a:prstGeom>
          <a:noFill/>
        </p:spPr>
        <p:txBody>
          <a:bodyPr wrap="square" lIns="0" rIns="0" tIns="0" bIns="0" anchor="t">
            <a:noAutofit/>
          </a:bodyPr>
          <a:lstStyle/>
          <a:p>
            <a:pPr algn="l"/>
            <a:r>
              <a:rPr sz="1100" b="1" i="0">
                <a:solidFill>
                  <a:srgbClr val="2F78C4"/>
                </a:solidFill>
                <a:latin typeface="Arial"/>
              </a:rPr>
              <a:t>40  </a:t>
            </a:r>
            <a:r>
              <a:rPr sz="1100" b="1" i="0">
                <a:solidFill>
                  <a:srgbClr val="000048"/>
                </a:solidFill>
                <a:latin typeface="Arial"/>
              </a:rPr>
              <a:t>C1  </a:t>
            </a:r>
            <a:r>
              <a:rPr sz="1100" b="0" i="0">
                <a:solidFill>
                  <a:srgbClr val="1E1E2E"/>
                </a:solidFill>
                <a:latin typeface="Arial"/>
              </a:rPr>
              <a:t>Cost layers and pricing formula</a:t>
            </a:r>
          </a:p>
        </p:txBody>
      </p:sp>
      <p:sp>
        <p:nvSpPr>
          <p:cNvPr id="35" name="TextBox 34">
            <a:hlinkClick action="ppaction://hlinksldjump" r:id="rId32"/>
          </p:cNvPr>
          <p:cNvSpPr txBox="1"/>
          <p:nvPr/>
        </p:nvSpPr>
        <p:spPr>
          <a:xfrm>
            <a:off x="6217920" y="3319272"/>
            <a:ext cx="5486400" cy="237744"/>
          </a:xfrm>
          <a:prstGeom prst="rect">
            <a:avLst/>
          </a:prstGeom>
          <a:noFill/>
        </p:spPr>
        <p:txBody>
          <a:bodyPr wrap="square" lIns="0" rIns="0" tIns="0" bIns="0" anchor="t">
            <a:noAutofit/>
          </a:bodyPr>
          <a:lstStyle/>
          <a:p>
            <a:pPr algn="l"/>
            <a:r>
              <a:rPr sz="1100" b="1" i="0">
                <a:solidFill>
                  <a:srgbClr val="2F78C4"/>
                </a:solidFill>
                <a:latin typeface="Arial"/>
              </a:rPr>
              <a:t>41  </a:t>
            </a:r>
            <a:r>
              <a:rPr sz="1100" b="1" i="0">
                <a:solidFill>
                  <a:srgbClr val="000048"/>
                </a:solidFill>
                <a:latin typeface="Arial"/>
              </a:rPr>
              <a:t>K  </a:t>
            </a:r>
            <a:r>
              <a:rPr sz="1100" b="0" i="0">
                <a:solidFill>
                  <a:srgbClr val="1E1E2E"/>
                </a:solidFill>
                <a:latin typeface="Arial"/>
              </a:rPr>
              <a:t>Kill-switch cross-reference</a:t>
            </a:r>
          </a:p>
        </p:txBody>
      </p:sp>
      <p:sp>
        <p:nvSpPr>
          <p:cNvPr id="36" name="TextBox 35">
            <a:hlinkClick action="ppaction://hlinksldjump" r:id="rId33"/>
          </p:cNvPr>
          <p:cNvSpPr txBox="1"/>
          <p:nvPr/>
        </p:nvSpPr>
        <p:spPr>
          <a:xfrm>
            <a:off x="6217920" y="3557015"/>
            <a:ext cx="5486400" cy="237744"/>
          </a:xfrm>
          <a:prstGeom prst="rect">
            <a:avLst/>
          </a:prstGeom>
          <a:noFill/>
        </p:spPr>
        <p:txBody>
          <a:bodyPr wrap="square" lIns="0" rIns="0" tIns="0" bIns="0" anchor="t">
            <a:noAutofit/>
          </a:bodyPr>
          <a:lstStyle/>
          <a:p>
            <a:pPr algn="l"/>
            <a:r>
              <a:rPr sz="1100" b="1" i="0">
                <a:solidFill>
                  <a:srgbClr val="2F78C4"/>
                </a:solidFill>
                <a:latin typeface="Arial"/>
              </a:rPr>
              <a:t>42  </a:t>
            </a:r>
            <a:r>
              <a:rPr sz="1100" b="1" i="0">
                <a:solidFill>
                  <a:srgbClr val="000048"/>
                </a:solidFill>
                <a:latin typeface="Arial"/>
              </a:rPr>
              <a:t>R1  </a:t>
            </a:r>
            <a:r>
              <a:rPr sz="1100" b="0" i="0">
                <a:solidFill>
                  <a:srgbClr val="1E1E2E"/>
                </a:solidFill>
                <a:latin typeface="Arial"/>
              </a:rPr>
              <a:t>RACI matrix</a:t>
            </a:r>
          </a:p>
        </p:txBody>
      </p:sp>
      <p:sp>
        <p:nvSpPr>
          <p:cNvPr id="37" name="TextBox 36">
            <a:hlinkClick action="ppaction://hlinksldjump" r:id="rId34"/>
          </p:cNvPr>
          <p:cNvSpPr txBox="1"/>
          <p:nvPr/>
        </p:nvSpPr>
        <p:spPr>
          <a:xfrm>
            <a:off x="6217920" y="3794760"/>
            <a:ext cx="5486400" cy="237744"/>
          </a:xfrm>
          <a:prstGeom prst="rect">
            <a:avLst/>
          </a:prstGeom>
          <a:noFill/>
        </p:spPr>
        <p:txBody>
          <a:bodyPr wrap="square" lIns="0" rIns="0" tIns="0" bIns="0" anchor="t">
            <a:noAutofit/>
          </a:bodyPr>
          <a:lstStyle/>
          <a:p>
            <a:pPr algn="l"/>
            <a:r>
              <a:rPr sz="1100" b="1" i="0">
                <a:solidFill>
                  <a:srgbClr val="2F78C4"/>
                </a:solidFill>
                <a:latin typeface="Arial"/>
              </a:rPr>
              <a:t>43  </a:t>
            </a:r>
            <a:r>
              <a:rPr sz="1100" b="1" i="0">
                <a:solidFill>
                  <a:srgbClr val="000048"/>
                </a:solidFill>
                <a:latin typeface="Arial"/>
              </a:rPr>
              <a:t>R2  </a:t>
            </a:r>
            <a:r>
              <a:rPr sz="1100" b="0" i="0">
                <a:solidFill>
                  <a:srgbClr val="1E1E2E"/>
                </a:solidFill>
                <a:latin typeface="Arial"/>
              </a:rPr>
              <a:t>Revenue attribution framework</a:t>
            </a:r>
          </a:p>
        </p:txBody>
      </p:sp>
      <p:sp>
        <p:nvSpPr>
          <p:cNvPr id="38" name="TextBox 37">
            <a:hlinkClick action="ppaction://hlinksldjump" r:id="rId35"/>
          </p:cNvPr>
          <p:cNvSpPr txBox="1"/>
          <p:nvPr/>
        </p:nvSpPr>
        <p:spPr>
          <a:xfrm>
            <a:off x="6217920" y="4032504"/>
            <a:ext cx="5486400" cy="237744"/>
          </a:xfrm>
          <a:prstGeom prst="rect">
            <a:avLst/>
          </a:prstGeom>
          <a:noFill/>
        </p:spPr>
        <p:txBody>
          <a:bodyPr wrap="square" lIns="0" rIns="0" tIns="0" bIns="0" anchor="t">
            <a:noAutofit/>
          </a:bodyPr>
          <a:lstStyle/>
          <a:p>
            <a:pPr algn="l"/>
            <a:r>
              <a:rPr sz="1100" b="1" i="0">
                <a:solidFill>
                  <a:srgbClr val="2F78C4"/>
                </a:solidFill>
                <a:latin typeface="Arial"/>
              </a:rPr>
              <a:t>44  </a:t>
            </a:r>
            <a:r>
              <a:rPr sz="1100" b="1" i="0">
                <a:solidFill>
                  <a:srgbClr val="000048"/>
                </a:solidFill>
                <a:latin typeface="Arial"/>
              </a:rPr>
              <a:t>R3  </a:t>
            </a:r>
            <a:r>
              <a:rPr sz="1100" b="0" i="0">
                <a:solidFill>
                  <a:srgbClr val="1E1E2E"/>
                </a:solidFill>
                <a:latin typeface="Arial"/>
              </a:rPr>
              <a:t>Delivery and commercial readiness</a:t>
            </a:r>
          </a:p>
        </p:txBody>
      </p:sp>
      <p:sp>
        <p:nvSpPr>
          <p:cNvPr id="39" name="TextBox 38">
            <a:hlinkClick action="ppaction://hlinksldjump" r:id="rId36"/>
          </p:cNvPr>
          <p:cNvSpPr txBox="1"/>
          <p:nvPr/>
        </p:nvSpPr>
        <p:spPr>
          <a:xfrm>
            <a:off x="6217920" y="4270248"/>
            <a:ext cx="5486400" cy="237744"/>
          </a:xfrm>
          <a:prstGeom prst="rect">
            <a:avLst/>
          </a:prstGeom>
          <a:noFill/>
        </p:spPr>
        <p:txBody>
          <a:bodyPr wrap="square" lIns="0" rIns="0" tIns="0" bIns="0" anchor="t">
            <a:noAutofit/>
          </a:bodyPr>
          <a:lstStyle/>
          <a:p>
            <a:pPr algn="l"/>
            <a:r>
              <a:rPr sz="1100" b="1" i="0">
                <a:solidFill>
                  <a:srgbClr val="2F78C4"/>
                </a:solidFill>
                <a:latin typeface="Arial"/>
              </a:rPr>
              <a:t>45  </a:t>
            </a:r>
            <a:r>
              <a:rPr sz="1100" b="1" i="0">
                <a:solidFill>
                  <a:srgbClr val="000048"/>
                </a:solidFill>
                <a:latin typeface="Arial"/>
              </a:rPr>
              <a:t>D1  </a:t>
            </a:r>
            <a:r>
              <a:rPr sz="1100" b="0" i="0">
                <a:solidFill>
                  <a:srgbClr val="1E1E2E"/>
                </a:solidFill>
                <a:latin typeface="Arial"/>
              </a:rPr>
              <a:t>Decision and approval register</a:t>
            </a:r>
          </a:p>
        </p:txBody>
      </p:sp>
      <p:sp>
        <p:nvSpPr>
          <p:cNvPr id="40" name="TextBox 39">
            <a:hlinkClick action="ppaction://hlinksldjump" r:id="rId37"/>
          </p:cNvPr>
          <p:cNvSpPr txBox="1"/>
          <p:nvPr/>
        </p:nvSpPr>
        <p:spPr>
          <a:xfrm>
            <a:off x="6217920" y="4507992"/>
            <a:ext cx="5486400" cy="237744"/>
          </a:xfrm>
          <a:prstGeom prst="rect">
            <a:avLst/>
          </a:prstGeom>
          <a:noFill/>
        </p:spPr>
        <p:txBody>
          <a:bodyPr wrap="square" lIns="0" rIns="0" tIns="0" bIns="0" anchor="t">
            <a:noAutofit/>
          </a:bodyPr>
          <a:lstStyle/>
          <a:p>
            <a:pPr algn="l"/>
            <a:r>
              <a:rPr sz="1100" b="1" i="0">
                <a:solidFill>
                  <a:srgbClr val="2F78C4"/>
                </a:solidFill>
                <a:latin typeface="Arial"/>
              </a:rPr>
              <a:t>46  </a:t>
            </a:r>
            <a:r>
              <a:rPr sz="1100" b="1" i="0">
                <a:solidFill>
                  <a:srgbClr val="000048"/>
                </a:solidFill>
                <a:latin typeface="Arial"/>
              </a:rPr>
              <a:t>O1  </a:t>
            </a:r>
            <a:r>
              <a:rPr sz="1100" b="0" i="0">
                <a:solidFill>
                  <a:srgbClr val="1E1E2E"/>
                </a:solidFill>
                <a:latin typeface="Arial"/>
              </a:rPr>
              <a:t>Original: AI landing zone with platform</a:t>
            </a:r>
          </a:p>
        </p:txBody>
      </p:sp>
      <p:sp>
        <p:nvSpPr>
          <p:cNvPr id="41" name="TextBox 40">
            <a:hlinkClick action="ppaction://hlinksldjump" r:id="rId38"/>
          </p:cNvPr>
          <p:cNvSpPr txBox="1"/>
          <p:nvPr/>
        </p:nvSpPr>
        <p:spPr>
          <a:xfrm>
            <a:off x="6217920" y="4745736"/>
            <a:ext cx="5486400" cy="237744"/>
          </a:xfrm>
          <a:prstGeom prst="rect">
            <a:avLst/>
          </a:prstGeom>
          <a:noFill/>
        </p:spPr>
        <p:txBody>
          <a:bodyPr wrap="square" lIns="0" rIns="0" tIns="0" bIns="0" anchor="t">
            <a:noAutofit/>
          </a:bodyPr>
          <a:lstStyle/>
          <a:p>
            <a:pPr algn="l"/>
            <a:r>
              <a:rPr sz="1100" b="1" i="0">
                <a:solidFill>
                  <a:srgbClr val="2F78C4"/>
                </a:solidFill>
                <a:latin typeface="Arial"/>
              </a:rPr>
              <a:t>47  </a:t>
            </a:r>
            <a:r>
              <a:rPr sz="1100" b="1" i="0">
                <a:solidFill>
                  <a:srgbClr val="000048"/>
                </a:solidFill>
                <a:latin typeface="Arial"/>
              </a:rPr>
              <a:t>O2  </a:t>
            </a:r>
            <a:r>
              <a:rPr sz="1100" b="0" i="0">
                <a:solidFill>
                  <a:srgbClr val="1E1E2E"/>
                </a:solidFill>
                <a:latin typeface="Arial"/>
              </a:rPr>
              <a:t>Original: Foundry baseline</a:t>
            </a:r>
          </a:p>
        </p:txBody>
      </p:sp>
      <p:sp>
        <p:nvSpPr>
          <p:cNvPr id="42" name="TextBox 41">
            <a:hlinkClick action="ppaction://hlinksldjump" r:id="rId39"/>
          </p:cNvPr>
          <p:cNvSpPr txBox="1"/>
          <p:nvPr/>
        </p:nvSpPr>
        <p:spPr>
          <a:xfrm>
            <a:off x="6217920" y="4983480"/>
            <a:ext cx="5486400" cy="237744"/>
          </a:xfrm>
          <a:prstGeom prst="rect">
            <a:avLst/>
          </a:prstGeom>
          <a:noFill/>
        </p:spPr>
        <p:txBody>
          <a:bodyPr wrap="square" lIns="0" rIns="0" tIns="0" bIns="0" anchor="t">
            <a:noAutofit/>
          </a:bodyPr>
          <a:lstStyle/>
          <a:p>
            <a:pPr algn="l"/>
            <a:r>
              <a:rPr sz="1100" b="1" i="0">
                <a:solidFill>
                  <a:srgbClr val="2F78C4"/>
                </a:solidFill>
                <a:latin typeface="Arial"/>
              </a:rPr>
              <a:t>48  </a:t>
            </a:r>
            <a:r>
              <a:rPr sz="1100" b="1" i="0">
                <a:solidFill>
                  <a:srgbClr val="000048"/>
                </a:solidFill>
                <a:latin typeface="Arial"/>
              </a:rPr>
              <a:t>O3  </a:t>
            </a:r>
            <a:r>
              <a:rPr sz="1100" b="0" i="0">
                <a:solidFill>
                  <a:srgbClr val="1E1E2E"/>
                </a:solidFill>
                <a:latin typeface="Arial"/>
              </a:rPr>
              <a:t>Original: landing zone networking</a:t>
            </a:r>
          </a:p>
        </p:txBody>
      </p:sp>
      <p:sp>
        <p:nvSpPr>
          <p:cNvPr id="43" name="TextBox 42">
            <a:hlinkClick action="ppaction://hlinksldjump" r:id="rId40"/>
          </p:cNvPr>
          <p:cNvSpPr txBox="1"/>
          <p:nvPr/>
        </p:nvSpPr>
        <p:spPr>
          <a:xfrm>
            <a:off x="6217920" y="5221224"/>
            <a:ext cx="5486400" cy="237744"/>
          </a:xfrm>
          <a:prstGeom prst="rect">
            <a:avLst/>
          </a:prstGeom>
          <a:noFill/>
        </p:spPr>
        <p:txBody>
          <a:bodyPr wrap="square" lIns="0" rIns="0" tIns="0" bIns="0" anchor="t">
            <a:noAutofit/>
          </a:bodyPr>
          <a:lstStyle/>
          <a:p>
            <a:pPr algn="l"/>
            <a:r>
              <a:rPr sz="1100" b="1" i="0">
                <a:solidFill>
                  <a:srgbClr val="2F78C4"/>
                </a:solidFill>
                <a:latin typeface="Arial"/>
              </a:rPr>
              <a:t>49  </a:t>
            </a:r>
            <a:r>
              <a:rPr sz="1100" b="1" i="0">
                <a:solidFill>
                  <a:srgbClr val="000048"/>
                </a:solidFill>
                <a:latin typeface="Arial"/>
              </a:rPr>
              <a:t>O4  </a:t>
            </a:r>
            <a:r>
              <a:rPr sz="1100" b="0" i="0">
                <a:solidFill>
                  <a:srgbClr val="1E1E2E"/>
                </a:solidFill>
                <a:latin typeface="Arial"/>
              </a:rPr>
              <a:t>Original: landing zone egress</a:t>
            </a:r>
          </a:p>
        </p:txBody>
      </p:sp>
      <p:sp>
        <p:nvSpPr>
          <p:cNvPr id="44" name="TextBox 43">
            <a:hlinkClick action="ppaction://hlinksldjump" r:id="rId41"/>
          </p:cNvPr>
          <p:cNvSpPr txBox="1"/>
          <p:nvPr/>
        </p:nvSpPr>
        <p:spPr>
          <a:xfrm>
            <a:off x="6217920" y="5458968"/>
            <a:ext cx="5486400" cy="237744"/>
          </a:xfrm>
          <a:prstGeom prst="rect">
            <a:avLst/>
          </a:prstGeom>
          <a:noFill/>
        </p:spPr>
        <p:txBody>
          <a:bodyPr wrap="square" lIns="0" rIns="0" tIns="0" bIns="0" anchor="t">
            <a:noAutofit/>
          </a:bodyPr>
          <a:lstStyle/>
          <a:p>
            <a:pPr algn="l"/>
            <a:r>
              <a:rPr sz="1100" b="1" i="0">
                <a:solidFill>
                  <a:srgbClr val="2F78C4"/>
                </a:solidFill>
                <a:latin typeface="Arial"/>
              </a:rPr>
              <a:t>50  </a:t>
            </a:r>
            <a:r>
              <a:rPr sz="1100" b="1" i="0">
                <a:solidFill>
                  <a:srgbClr val="000048"/>
                </a:solidFill>
                <a:latin typeface="Arial"/>
              </a:rPr>
              <a:t>O5  </a:t>
            </a:r>
            <a:r>
              <a:rPr sz="1100" b="0" i="0">
                <a:solidFill>
                  <a:srgbClr val="1E1E2E"/>
                </a:solidFill>
                <a:latin typeface="Arial"/>
              </a:rPr>
              <a:t>Original: CAF landing zone conceptual</a:t>
            </a:r>
          </a:p>
        </p:txBody>
      </p:sp>
      <p:sp>
        <p:nvSpPr>
          <p:cNvPr id="45" name="TextBox 44">
            <a:hlinkClick action="ppaction://hlinksldjump" r:id="rId42"/>
          </p:cNvPr>
          <p:cNvSpPr txBox="1"/>
          <p:nvPr/>
        </p:nvSpPr>
        <p:spPr>
          <a:xfrm>
            <a:off x="6217920" y="5696712"/>
            <a:ext cx="5486400" cy="237744"/>
          </a:xfrm>
          <a:prstGeom prst="rect">
            <a:avLst/>
          </a:prstGeom>
          <a:noFill/>
        </p:spPr>
        <p:txBody>
          <a:bodyPr wrap="square" lIns="0" rIns="0" tIns="0" bIns="0" anchor="t">
            <a:noAutofit/>
          </a:bodyPr>
          <a:lstStyle/>
          <a:p>
            <a:pPr algn="l"/>
            <a:r>
              <a:rPr sz="1100" b="1" i="0">
                <a:solidFill>
                  <a:srgbClr val="2F78C4"/>
                </a:solidFill>
                <a:latin typeface="Arial"/>
              </a:rPr>
              <a:t>51  </a:t>
            </a:r>
            <a:r>
              <a:rPr sz="1100" b="1" i="0">
                <a:solidFill>
                  <a:srgbClr val="000048"/>
                </a:solidFill>
                <a:latin typeface="Arial"/>
              </a:rPr>
              <a:t>S1  </a:t>
            </a:r>
            <a:r>
              <a:rPr sz="11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Extending a landing zone versus building a new one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8" name="Table"/>
          <p:cNvGraphicFramePr>
            <a:graphicFrameLocks noGrp="1"/>
          </p:cNvGraphicFramePr>
          <p:nvPr/>
        </p:nvGraphicFramePr>
        <p:xfrm>
          <a:off x="548640" y="1325880"/>
          <a:ext cx="11091672" cy="2987039"/>
        </p:xfrm>
        <a:graphic>
          <a:graphicData uri="http://schemas.openxmlformats.org/drawingml/2006/table">
            <a:tbl>
              <a:tblPr firstRow="1" bandRow="0">
                <a:tableStyleId>{5C22544A-7EE6-4342-B048-85BDC9FD1C3A}</a:tableStyleId>
              </a:tblPr>
              <a:tblGrid>
                <a:gridCol w="2103120"/>
                <a:gridCol w="4480560"/>
                <a:gridCol w="4507992"/>
              </a:tblGrid>
              <a:tr h="304800">
                <a:tc>
                  <a:txBody>
                    <a:bodyPr wrap="square" anchor="ctr">
                      <a:noAutofit/>
                    </a:bodyPr>
                    <a:lstStyle/>
                    <a:p>
                      <a:pPr algn="l"/>
                      <a:r>
                        <a:rPr sz="1400" b="1" i="0">
                          <a:solidFill>
                            <a:srgbClr val="FFFFFF"/>
                          </a:solidFill>
                          <a:latin typeface="Arial"/>
                        </a:rPr>
                        <a:t>Topic</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Extend an existing landing zone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Establish a new foundation</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Starting 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Accepted management groups, hub, DNS, policy and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Gaps, no platform, or a new tenant or region</a:t>
                      </a:r>
                    </a:p>
                  </a:txBody>
                  <a:tcPr marL="73152" marR="73152" marT="36576" marB="36576" anchor="ctr">
                    <a:solidFill>
                      <a:srgbClr val="FFFFFF"/>
                    </a:solidFill>
                  </a:tcPr>
                </a:tc>
              </a:tr>
              <a:tr h="731519">
                <a:tc>
                  <a:txBody>
                    <a:bodyPr wrap="square" anchor="ctr">
                      <a:noAutofit/>
                    </a:bodyPr>
                    <a:lstStyle/>
                    <a:p>
                      <a:pPr algn="l"/>
                      <a:r>
                        <a:rPr sz="1400" b="1" i="0">
                          <a:solidFill>
                            <a:srgbClr val="1E1E2E"/>
                          </a:solidFill>
                          <a:latin typeface="Arial"/>
                        </a:rPr>
                        <a:t>CIS Infra builds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Workload subscriptions, spoke, private endpoints, AI resources, AI-specific policy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All of extend plus management groups, subscription vending, hub, DNS, firewall, identity integration</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Main risk</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Hidden gaps in the existing platform</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Larger change surface and customer decisions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Customer decisions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Approve workload placement and AI policies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Platform design authority, connectivity, naming, policy baseline</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Commercial basis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AI work packages only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Separate platform and AI work packages</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Entry evidence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Validation checklist passes in assessment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Assessment gap register approved</a:t>
                      </a:r>
                    </a:p>
                  </a:txBody>
                  <a:tcPr marL="73152" marR="73152" marT="36576" marB="36576" anchor="ctr">
                    <a:solidFill>
                      <a:srgbClr val="F5F5F2"/>
                    </a:solidFill>
                  </a:tcPr>
                </a:tc>
              </a:tr>
            </a:tbl>
          </a:graphicData>
        </a:graphic>
      </p:graphicFrame>
      <p:sp>
        <p:nvSpPr>
          <p:cNvPr id="9" name="Rounded Rectangle 8"/>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New foundations are not included in an extension price. Existing shared hubs are reused only after validation.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Proposed package structure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Status chip: ESTIMATES, NOT COMMITMENTS"/>
          <p:cNvSpPr/>
          <p:nvPr/>
        </p:nvSpPr>
        <p:spPr>
          <a:xfrm>
            <a:off x="2955290" y="274320"/>
            <a:ext cx="25196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ESTIMATES, NOT COMMITMENTS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sp>
        <p:nvSpPr>
          <p:cNvPr id="10" name="Rounded Rectangle 9"/>
          <p:cNvSpPr/>
          <p:nvPr/>
        </p:nvSpPr>
        <p:spPr>
          <a:xfrm>
            <a:off x="548640"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1  Assessment</a:t>
            </a:r>
          </a:p>
          <a:p>
            <a:pPr algn="l"/>
            <a:r>
              <a:rPr sz="1300" b="0" i="0">
                <a:solidFill>
                  <a:srgbClr val="26EFE9"/>
                </a:solidFill>
                <a:latin typeface="Arial"/>
              </a:rPr>
              <a:t>Fixed fee</a:t>
            </a:r>
          </a:p>
        </p:txBody>
      </p:sp>
      <p:cxnSp>
        <p:nvCxnSpPr>
          <p:cNvPr id="11" name="Connector (flow)"/>
          <p:cNvCxnSpPr/>
          <p:nvPr/>
        </p:nvCxnSpPr>
        <p:spPr>
          <a:xfrm>
            <a:off x="4142232" y="1801368"/>
            <a:ext cx="155447"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2377440"/>
            <a:ext cx="3593592" cy="23774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Access and estate review</a:t>
            </a:r>
          </a:p>
          <a:p>
            <a:pPr algn="l" marL="201168" indent="-201168">
              <a:spcAft>
                <a:spcPts val="600"/>
              </a:spcAft>
              <a:buFont typeface="Arial"/>
              <a:buChar char="•"/>
            </a:pPr>
            <a:r>
              <a:rPr sz="1600" b="0" i="0">
                <a:solidFill>
                  <a:srgbClr val="1E1E2E"/>
                </a:solidFill>
                <a:latin typeface="Arial"/>
              </a:rPr>
              <a:t>Workload, region and capacity check</a:t>
            </a:r>
          </a:p>
          <a:p>
            <a:pPr algn="l" marL="201168" indent="-201168">
              <a:spcAft>
                <a:spcPts val="600"/>
              </a:spcAft>
              <a:buFont typeface="Arial"/>
              <a:buChar char="•"/>
            </a:pPr>
            <a:r>
              <a:rPr sz="1600" b="0" i="0">
                <a:solidFill>
                  <a:srgbClr val="1E1E2E"/>
                </a:solidFill>
                <a:latin typeface="Arial"/>
              </a:rPr>
              <a:t>Gap register and decisions</a:t>
            </a:r>
          </a:p>
          <a:p>
            <a:pPr algn="l" marL="201168" indent="-201168">
              <a:spcAft>
                <a:spcPts val="600"/>
              </a:spcAft>
              <a:buFont typeface="Arial"/>
              <a:buChar char="•"/>
            </a:pPr>
            <a:r>
              <a:rPr sz="1600" b="0" i="0">
                <a:solidFill>
                  <a:srgbClr val="1E1E2E"/>
                </a:solidFill>
                <a:latin typeface="Arial"/>
              </a:rPr>
              <a:t>Priced resource list and route</a:t>
            </a:r>
          </a:p>
        </p:txBody>
      </p:sp>
      <p:sp>
        <p:nvSpPr>
          <p:cNvPr id="13" name="Rounded Rectangle 12"/>
          <p:cNvSpPr/>
          <p:nvPr/>
        </p:nvSpPr>
        <p:spPr>
          <a:xfrm>
            <a:off x="548640" y="4754880"/>
            <a:ext cx="3593592" cy="777240"/>
          </a:xfrm>
          <a:prstGeom prst="roundRect">
            <a:avLst>
              <a:gd name="adj" fmla="val 941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500" b="1" i="0">
                <a:solidFill>
                  <a:srgbClr val="1D6B3A"/>
                </a:solidFill>
                <a:latin typeface="Arial"/>
              </a:rPr>
              <a:t>Exit: </a:t>
            </a:r>
            <a:r>
              <a:rPr sz="1500" b="0" i="0">
                <a:solidFill>
                  <a:srgbClr val="1E1E2E"/>
                </a:solidFill>
                <a:latin typeface="Arial"/>
              </a:rPr>
              <a:t>Gap register and estimate accepted</a:t>
            </a:r>
          </a:p>
        </p:txBody>
      </p:sp>
      <p:sp>
        <p:nvSpPr>
          <p:cNvPr id="14" name="Rounded Rectangle 13"/>
          <p:cNvSpPr/>
          <p:nvPr/>
        </p:nvSpPr>
        <p:spPr>
          <a:xfrm>
            <a:off x="429767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2  Implementation</a:t>
            </a:r>
          </a:p>
          <a:p>
            <a:pPr algn="l"/>
            <a:r>
              <a:rPr sz="1300" b="0" i="0">
                <a:solidFill>
                  <a:srgbClr val="26EFE9"/>
                </a:solidFill>
                <a:latin typeface="Arial"/>
              </a:rPr>
              <a:t>Extend or establish</a:t>
            </a:r>
          </a:p>
        </p:txBody>
      </p:sp>
      <p:cxnSp>
        <p:nvCxnSpPr>
          <p:cNvPr id="15" name="Connector (flow)"/>
          <p:cNvCxnSpPr/>
          <p:nvPr/>
        </p:nvCxnSpPr>
        <p:spPr>
          <a:xfrm>
            <a:off x="7891271" y="1801368"/>
            <a:ext cx="15544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297679" y="2377440"/>
            <a:ext cx="3593592" cy="23774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Platform or AI work packages</a:t>
            </a:r>
          </a:p>
          <a:p>
            <a:pPr algn="l" marL="201168" indent="-201168">
              <a:spcAft>
                <a:spcPts val="600"/>
              </a:spcAft>
              <a:buFont typeface="Arial"/>
              <a:buChar char="•"/>
            </a:pPr>
            <a:r>
              <a:rPr sz="1600" b="0" i="0">
                <a:solidFill>
                  <a:srgbClr val="1E1E2E"/>
                </a:solidFill>
                <a:latin typeface="Arial"/>
              </a:rPr>
              <a:t>IaC, pipelines and promotion</a:t>
            </a:r>
          </a:p>
          <a:p>
            <a:pPr algn="l" marL="201168" indent="-201168">
              <a:spcAft>
                <a:spcPts val="600"/>
              </a:spcAft>
              <a:buFont typeface="Arial"/>
              <a:buChar char="•"/>
            </a:pPr>
            <a:r>
              <a:rPr sz="1600" b="0" i="0">
                <a:solidFill>
                  <a:srgbClr val="1E1E2E"/>
                </a:solidFill>
                <a:latin typeface="Arial"/>
              </a:rPr>
              <a:t>Network, DNS, identity, policy</a:t>
            </a:r>
          </a:p>
          <a:p>
            <a:pPr algn="l" marL="201168" indent="-201168">
              <a:spcAft>
                <a:spcPts val="600"/>
              </a:spcAft>
              <a:buFont typeface="Arial"/>
              <a:buChar char="•"/>
            </a:pPr>
            <a:r>
              <a:rPr sz="1600" b="0" i="0">
                <a:solidFill>
                  <a:srgbClr val="1E1E2E"/>
                </a:solidFill>
                <a:latin typeface="Arial"/>
              </a:rPr>
              <a:t>Test evidence per gate</a:t>
            </a:r>
          </a:p>
        </p:txBody>
      </p:sp>
      <p:sp>
        <p:nvSpPr>
          <p:cNvPr id="17" name="Rounded Rectangle 16"/>
          <p:cNvSpPr/>
          <p:nvPr/>
        </p:nvSpPr>
        <p:spPr>
          <a:xfrm>
            <a:off x="4297679" y="4754880"/>
            <a:ext cx="3593592" cy="777240"/>
          </a:xfrm>
          <a:prstGeom prst="roundRect">
            <a:avLst>
              <a:gd name="adj" fmla="val 941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500" b="1" i="0">
                <a:solidFill>
                  <a:srgbClr val="1D6B3A"/>
                </a:solidFill>
                <a:latin typeface="Arial"/>
              </a:rPr>
              <a:t>Exit: </a:t>
            </a:r>
            <a:r>
              <a:rPr sz="1500" b="0" i="0">
                <a:solidFill>
                  <a:srgbClr val="1E1E2E"/>
                </a:solidFill>
                <a:latin typeface="Arial"/>
              </a:rPr>
              <a:t>Platform gates passed</a:t>
            </a:r>
          </a:p>
        </p:txBody>
      </p:sp>
      <p:sp>
        <p:nvSpPr>
          <p:cNvPr id="18" name="Rounded Rectangle 17"/>
          <p:cNvSpPr/>
          <p:nvPr/>
        </p:nvSpPr>
        <p:spPr>
          <a:xfrm>
            <a:off x="8046719" y="1371600"/>
            <a:ext cx="3593592" cy="868680"/>
          </a:xfrm>
          <a:prstGeom prst="roundRect">
            <a:avLst>
              <a:gd name="adj" fmla="val 842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3  Operational transition</a:t>
            </a:r>
          </a:p>
          <a:p>
            <a:pPr algn="l"/>
            <a:r>
              <a:rPr sz="1300" b="0" i="0">
                <a:solidFill>
                  <a:srgbClr val="26EFE9"/>
                </a:solidFill>
                <a:latin typeface="Arial"/>
              </a:rPr>
              <a:t>Fixed fee, capped</a:t>
            </a:r>
          </a:p>
        </p:txBody>
      </p:sp>
      <p:sp>
        <p:nvSpPr>
          <p:cNvPr id="19" name="TextBox 18"/>
          <p:cNvSpPr txBox="1"/>
          <p:nvPr/>
        </p:nvSpPr>
        <p:spPr>
          <a:xfrm>
            <a:off x="8046719" y="2377440"/>
            <a:ext cx="3593592" cy="2377440"/>
          </a:xfrm>
          <a:prstGeom prst="rect">
            <a:avLst/>
          </a:prstGeom>
          <a:noFill/>
        </p:spPr>
        <p:txBody>
          <a:bodyPr wrap="square" lIns="0" rIns="0" tIns="0" bIns="0" anchor="t">
            <a:noAutofit/>
          </a:bodyPr>
          <a:lstStyle/>
          <a:p>
            <a:pPr algn="l" marL="201168" indent="-201168">
              <a:spcAft>
                <a:spcPts val="600"/>
              </a:spcAft>
              <a:buFont typeface="Arial"/>
              <a:buChar char="•"/>
            </a:pPr>
            <a:r>
              <a:rPr sz="1600" b="0" i="0">
                <a:solidFill>
                  <a:srgbClr val="1E1E2E"/>
                </a:solidFill>
                <a:latin typeface="Arial"/>
              </a:rPr>
              <a:t>Runbooks and alert routing</a:t>
            </a:r>
          </a:p>
          <a:p>
            <a:pPr algn="l" marL="201168" indent="-201168">
              <a:spcAft>
                <a:spcPts val="600"/>
              </a:spcAft>
              <a:buFont typeface="Arial"/>
              <a:buChar char="•"/>
            </a:pPr>
            <a:r>
              <a:rPr sz="1600" b="0" i="0">
                <a:solidFill>
                  <a:srgbClr val="1E1E2E"/>
                </a:solidFill>
                <a:latin typeface="Arial"/>
              </a:rPr>
              <a:t>Restore and containment drills</a:t>
            </a:r>
          </a:p>
          <a:p>
            <a:pPr algn="l" marL="201168" indent="-201168">
              <a:spcAft>
                <a:spcPts val="600"/>
              </a:spcAft>
              <a:buFont typeface="Arial"/>
              <a:buChar char="•"/>
            </a:pPr>
            <a:r>
              <a:rPr sz="1600" b="0" i="0">
                <a:solidFill>
                  <a:srgbClr val="1E1E2E"/>
                </a:solidFill>
                <a:latin typeface="Arial"/>
              </a:rPr>
              <a:t>Hypercare window</a:t>
            </a:r>
          </a:p>
          <a:p>
            <a:pPr algn="l" marL="201168" indent="-201168">
              <a:spcAft>
                <a:spcPts val="600"/>
              </a:spcAft>
              <a:buFont typeface="Arial"/>
              <a:buChar char="•"/>
            </a:pPr>
            <a:r>
              <a:rPr sz="1600" b="0" i="0">
                <a:solidFill>
                  <a:srgbClr val="1E1E2E"/>
                </a:solidFill>
                <a:latin typeface="Arial"/>
              </a:rPr>
              <a:t>Handover to operations</a:t>
            </a:r>
          </a:p>
        </p:txBody>
      </p:sp>
      <p:sp>
        <p:nvSpPr>
          <p:cNvPr id="20" name="Rounded Rectangle 19"/>
          <p:cNvSpPr/>
          <p:nvPr/>
        </p:nvSpPr>
        <p:spPr>
          <a:xfrm>
            <a:off x="8046719" y="4754880"/>
            <a:ext cx="3593592" cy="777240"/>
          </a:xfrm>
          <a:prstGeom prst="roundRect">
            <a:avLst>
              <a:gd name="adj" fmla="val 941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500" b="1" i="0">
                <a:solidFill>
                  <a:srgbClr val="1D6B3A"/>
                </a:solidFill>
                <a:latin typeface="Arial"/>
              </a:rPr>
              <a:t>Exit: </a:t>
            </a:r>
            <a:r>
              <a:rPr sz="1500" b="0" i="0">
                <a:solidFill>
                  <a:srgbClr val="1E1E2E"/>
                </a:solidFill>
                <a:latin typeface="Arial"/>
              </a:rPr>
              <a:t>Named owners accept</a:t>
            </a:r>
          </a:p>
        </p:txBody>
      </p:sp>
      <p:sp>
        <p:nvSpPr>
          <p:cNvPr id="21" name="Rounded Rectangle 20"/>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Reference effort for a bounded extension: about 88 role days across six towers before contingency (V3 proposal, illustrative).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Management groups, subscriptions, policy and tags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8"/>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9" name="Rounded Rectangle 8"/>
          <p:cNvSpPr/>
          <p:nvPr/>
        </p:nvSpPr>
        <p:spPr>
          <a:xfrm>
            <a:off x="2194560" y="1371600"/>
            <a:ext cx="201168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67712" y="1444752"/>
            <a:ext cx="329184" cy="329184"/>
          </a:xfrm>
          <a:prstGeom prst="rect">
            <a:avLst/>
          </a:prstGeom>
        </p:spPr>
      </p:pic>
      <p:sp>
        <p:nvSpPr>
          <p:cNvPr id="11" name="TextBox 10"/>
          <p:cNvSpPr txBox="1"/>
          <p:nvPr/>
        </p:nvSpPr>
        <p:spPr>
          <a:xfrm>
            <a:off x="2670048" y="1408176"/>
            <a:ext cx="1499616" cy="402336"/>
          </a:xfrm>
          <a:prstGeom prst="rect">
            <a:avLst/>
          </a:prstGeom>
          <a:noFill/>
        </p:spPr>
        <p:txBody>
          <a:bodyPr wrap="square" lIns="0" rIns="0" tIns="0" bIns="0" anchor="ctr">
            <a:noAutofit/>
          </a:bodyPr>
          <a:lstStyle/>
          <a:p>
            <a:pPr algn="l"/>
            <a:r>
              <a:rPr sz="1200" b="1" i="0">
                <a:solidFill>
                  <a:srgbClr val="000048"/>
                </a:solidFill>
                <a:latin typeface="Arial"/>
              </a:rPr>
              <a:t>Tenant root group</a:t>
            </a:r>
          </a:p>
        </p:txBody>
      </p:sp>
      <p:sp>
        <p:nvSpPr>
          <p:cNvPr id="12" name="Rounded Rectangle 11"/>
          <p:cNvSpPr/>
          <p:nvPr/>
        </p:nvSpPr>
        <p:spPr>
          <a:xfrm>
            <a:off x="548640" y="219456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2267712"/>
            <a:ext cx="329184" cy="329184"/>
          </a:xfrm>
          <a:prstGeom prst="rect">
            <a:avLst/>
          </a:prstGeom>
        </p:spPr>
      </p:pic>
      <p:sp>
        <p:nvSpPr>
          <p:cNvPr id="14" name="TextBox 13"/>
          <p:cNvSpPr txBox="1"/>
          <p:nvPr/>
        </p:nvSpPr>
        <p:spPr>
          <a:xfrm>
            <a:off x="1024127" y="2231136"/>
            <a:ext cx="1591056" cy="402336"/>
          </a:xfrm>
          <a:prstGeom prst="rect">
            <a:avLst/>
          </a:prstGeom>
          <a:noFill/>
        </p:spPr>
        <p:txBody>
          <a:bodyPr wrap="square" lIns="0" rIns="0" tIns="0" bIns="0" anchor="ctr">
            <a:noAutofit/>
          </a:bodyPr>
          <a:lstStyle/>
          <a:p>
            <a:pPr algn="l"/>
            <a:r>
              <a:rPr sz="1200" b="1" i="0">
                <a:solidFill>
                  <a:srgbClr val="000048"/>
                </a:solidFill>
                <a:latin typeface="Arial"/>
              </a:rPr>
              <a:t>Platform</a:t>
            </a:r>
          </a:p>
        </p:txBody>
      </p:sp>
      <p:sp>
        <p:nvSpPr>
          <p:cNvPr id="15" name="Rounded Rectangle 14"/>
          <p:cNvSpPr/>
          <p:nvPr/>
        </p:nvSpPr>
        <p:spPr>
          <a:xfrm>
            <a:off x="3749039" y="2194560"/>
            <a:ext cx="228600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22191" y="2267712"/>
            <a:ext cx="329184" cy="329184"/>
          </a:xfrm>
          <a:prstGeom prst="rect">
            <a:avLst/>
          </a:prstGeom>
        </p:spPr>
      </p:pic>
      <p:sp>
        <p:nvSpPr>
          <p:cNvPr id="17" name="TextBox 16"/>
          <p:cNvSpPr txBox="1"/>
          <p:nvPr/>
        </p:nvSpPr>
        <p:spPr>
          <a:xfrm>
            <a:off x="4224528" y="2231136"/>
            <a:ext cx="1773936" cy="402336"/>
          </a:xfrm>
          <a:prstGeom prst="rect">
            <a:avLst/>
          </a:prstGeom>
          <a:noFill/>
        </p:spPr>
        <p:txBody>
          <a:bodyPr wrap="square" lIns="0" rIns="0" tIns="0" bIns="0" anchor="ctr">
            <a:noAutofit/>
          </a:bodyPr>
          <a:lstStyle/>
          <a:p>
            <a:pPr algn="l"/>
            <a:r>
              <a:rPr sz="1200" b="1" i="0">
                <a:solidFill>
                  <a:srgbClr val="000048"/>
                </a:solidFill>
                <a:latin typeface="Arial"/>
              </a:rPr>
              <a:t>Landing zones</a:t>
            </a:r>
          </a:p>
        </p:txBody>
      </p:sp>
      <p:sp>
        <p:nvSpPr>
          <p:cNvPr id="18" name="Rounded Rectangle 17"/>
          <p:cNvSpPr/>
          <p:nvPr/>
        </p:nvSpPr>
        <p:spPr>
          <a:xfrm>
            <a:off x="548640" y="301752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3090671"/>
            <a:ext cx="329184" cy="329184"/>
          </a:xfrm>
          <a:prstGeom prst="rect">
            <a:avLst/>
          </a:prstGeom>
        </p:spPr>
      </p:pic>
      <p:sp>
        <p:nvSpPr>
          <p:cNvPr id="20" name="TextBox 19"/>
          <p:cNvSpPr txBox="1"/>
          <p:nvPr/>
        </p:nvSpPr>
        <p:spPr>
          <a:xfrm>
            <a:off x="1024127" y="3054096"/>
            <a:ext cx="1591056" cy="402336"/>
          </a:xfrm>
          <a:prstGeom prst="rect">
            <a:avLst/>
          </a:prstGeom>
          <a:noFill/>
        </p:spPr>
        <p:txBody>
          <a:bodyPr wrap="square" lIns="0" rIns="0" tIns="0" bIns="0" anchor="ctr">
            <a:noAutofit/>
          </a:bodyPr>
          <a:lstStyle/>
          <a:p>
            <a:pPr algn="l"/>
            <a:r>
              <a:rPr sz="1200" b="1" i="0">
                <a:solidFill>
                  <a:srgbClr val="000048"/>
                </a:solidFill>
                <a:latin typeface="Arial"/>
              </a:rPr>
              <a:t>Connectivity</a:t>
            </a:r>
          </a:p>
        </p:txBody>
      </p:sp>
      <p:sp>
        <p:nvSpPr>
          <p:cNvPr id="21" name="Rounded Rectangle 20"/>
          <p:cNvSpPr/>
          <p:nvPr/>
        </p:nvSpPr>
        <p:spPr>
          <a:xfrm>
            <a:off x="548640" y="3611880"/>
            <a:ext cx="210312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3685032"/>
            <a:ext cx="329184" cy="329184"/>
          </a:xfrm>
          <a:prstGeom prst="rect">
            <a:avLst/>
          </a:prstGeom>
        </p:spPr>
      </p:pic>
      <p:sp>
        <p:nvSpPr>
          <p:cNvPr id="23" name="TextBox 22"/>
          <p:cNvSpPr txBox="1"/>
          <p:nvPr/>
        </p:nvSpPr>
        <p:spPr>
          <a:xfrm>
            <a:off x="1024127" y="3648456"/>
            <a:ext cx="1591056" cy="402336"/>
          </a:xfrm>
          <a:prstGeom prst="rect">
            <a:avLst/>
          </a:prstGeom>
          <a:noFill/>
        </p:spPr>
        <p:txBody>
          <a:bodyPr wrap="square" lIns="0" rIns="0" tIns="0" bIns="0" anchor="ctr">
            <a:noAutofit/>
          </a:bodyPr>
          <a:lstStyle/>
          <a:p>
            <a:pPr algn="l"/>
            <a:r>
              <a:rPr sz="1200" b="1" i="0">
                <a:solidFill>
                  <a:srgbClr val="000048"/>
                </a:solidFill>
                <a:latin typeface="Arial"/>
              </a:rPr>
              <a:t>Identity, management</a:t>
            </a:r>
          </a:p>
        </p:txBody>
      </p:sp>
      <p:sp>
        <p:nvSpPr>
          <p:cNvPr id="24" name="Rounded Rectangle 23"/>
          <p:cNvSpPr/>
          <p:nvPr/>
        </p:nvSpPr>
        <p:spPr>
          <a:xfrm>
            <a:off x="3200400" y="3017520"/>
            <a:ext cx="146304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5"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73552" y="3090671"/>
            <a:ext cx="329184" cy="329184"/>
          </a:xfrm>
          <a:prstGeom prst="rect">
            <a:avLst/>
          </a:prstGeom>
        </p:spPr>
      </p:pic>
      <p:sp>
        <p:nvSpPr>
          <p:cNvPr id="26" name="TextBox 25"/>
          <p:cNvSpPr txBox="1"/>
          <p:nvPr/>
        </p:nvSpPr>
        <p:spPr>
          <a:xfrm>
            <a:off x="3675887" y="3054096"/>
            <a:ext cx="950976" cy="402336"/>
          </a:xfrm>
          <a:prstGeom prst="rect">
            <a:avLst/>
          </a:prstGeom>
          <a:noFill/>
        </p:spPr>
        <p:txBody>
          <a:bodyPr wrap="square" lIns="0" rIns="0" tIns="0" bIns="0" anchor="ctr">
            <a:noAutofit/>
          </a:bodyPr>
          <a:lstStyle/>
          <a:p>
            <a:pPr algn="l"/>
            <a:r>
              <a:rPr sz="1200" b="1" i="0">
                <a:solidFill>
                  <a:srgbClr val="000048"/>
                </a:solidFill>
                <a:latin typeface="Arial"/>
              </a:rPr>
              <a:t>Corp</a:t>
            </a:r>
          </a:p>
        </p:txBody>
      </p:sp>
      <p:sp>
        <p:nvSpPr>
          <p:cNvPr id="27" name="Rounded Rectangle 26"/>
          <p:cNvSpPr/>
          <p:nvPr/>
        </p:nvSpPr>
        <p:spPr>
          <a:xfrm>
            <a:off x="4800600" y="3017520"/>
            <a:ext cx="1463040" cy="475488"/>
          </a:xfrm>
          <a:prstGeom prst="roundRect">
            <a:avLst>
              <a:gd name="adj" fmla="val 15384"/>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Management Groups" descr="Official Azure icon: Management Grou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873752" y="3090671"/>
            <a:ext cx="329184" cy="329184"/>
          </a:xfrm>
          <a:prstGeom prst="rect">
            <a:avLst/>
          </a:prstGeom>
        </p:spPr>
      </p:pic>
      <p:sp>
        <p:nvSpPr>
          <p:cNvPr id="29" name="TextBox 28"/>
          <p:cNvSpPr txBox="1"/>
          <p:nvPr/>
        </p:nvSpPr>
        <p:spPr>
          <a:xfrm>
            <a:off x="5276088" y="3054096"/>
            <a:ext cx="950976" cy="402336"/>
          </a:xfrm>
          <a:prstGeom prst="rect">
            <a:avLst/>
          </a:prstGeom>
          <a:noFill/>
        </p:spPr>
        <p:txBody>
          <a:bodyPr wrap="square" lIns="0" rIns="0" tIns="0" bIns="0" anchor="ctr">
            <a:noAutofit/>
          </a:bodyPr>
          <a:lstStyle/>
          <a:p>
            <a:pPr algn="l"/>
            <a:r>
              <a:rPr sz="1200" b="1" i="0">
                <a:solidFill>
                  <a:srgbClr val="000048"/>
                </a:solidFill>
                <a:latin typeface="Arial"/>
              </a:rPr>
              <a:t>Online</a:t>
            </a:r>
          </a:p>
        </p:txBody>
      </p:sp>
      <p:sp>
        <p:nvSpPr>
          <p:cNvPr id="30" name="Rounded Rectangle 29"/>
          <p:cNvSpPr/>
          <p:nvPr/>
        </p:nvSpPr>
        <p:spPr>
          <a:xfrm>
            <a:off x="3200400" y="3840480"/>
            <a:ext cx="1463040" cy="475488"/>
          </a:xfrm>
          <a:prstGeom prst="roundRect">
            <a:avLst>
              <a:gd name="adj" fmla="val 15384"/>
            </a:avLst>
          </a:prstGeom>
          <a:solidFill>
            <a:srgbClr val="EAF2FB"/>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1"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3552" y="3913632"/>
            <a:ext cx="329184" cy="329184"/>
          </a:xfrm>
          <a:prstGeom prst="rect">
            <a:avLst/>
          </a:prstGeom>
        </p:spPr>
      </p:pic>
      <p:sp>
        <p:nvSpPr>
          <p:cNvPr id="32" name="TextBox 31"/>
          <p:cNvSpPr txBox="1"/>
          <p:nvPr/>
        </p:nvSpPr>
        <p:spPr>
          <a:xfrm>
            <a:off x="3675887" y="3877056"/>
            <a:ext cx="950976" cy="402336"/>
          </a:xfrm>
          <a:prstGeom prst="rect">
            <a:avLst/>
          </a:prstGeom>
          <a:noFill/>
        </p:spPr>
        <p:txBody>
          <a:bodyPr wrap="square" lIns="0" rIns="0" tIns="0" bIns="0" anchor="ctr">
            <a:noAutofit/>
          </a:bodyPr>
          <a:lstStyle/>
          <a:p>
            <a:pPr algn="l"/>
            <a:r>
              <a:rPr sz="1200" b="1" i="0">
                <a:solidFill>
                  <a:srgbClr val="000048"/>
                </a:solidFill>
                <a:latin typeface="Arial"/>
              </a:rPr>
              <a:t>AI prod</a:t>
            </a:r>
          </a:p>
        </p:txBody>
      </p:sp>
      <p:sp>
        <p:nvSpPr>
          <p:cNvPr id="33" name="Rounded Rectangle 32"/>
          <p:cNvSpPr/>
          <p:nvPr/>
        </p:nvSpPr>
        <p:spPr>
          <a:xfrm>
            <a:off x="3200400" y="4434840"/>
            <a:ext cx="1463040" cy="475488"/>
          </a:xfrm>
          <a:prstGeom prst="roundRect">
            <a:avLst>
              <a:gd name="adj" fmla="val 15384"/>
            </a:avLst>
          </a:prstGeom>
          <a:solidFill>
            <a:srgbClr val="EAF2FB"/>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4"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273552" y="4507992"/>
            <a:ext cx="329184" cy="329184"/>
          </a:xfrm>
          <a:prstGeom prst="rect">
            <a:avLst/>
          </a:prstGeom>
        </p:spPr>
      </p:pic>
      <p:sp>
        <p:nvSpPr>
          <p:cNvPr id="35" name="TextBox 34"/>
          <p:cNvSpPr txBox="1"/>
          <p:nvPr/>
        </p:nvSpPr>
        <p:spPr>
          <a:xfrm>
            <a:off x="3675887" y="4471416"/>
            <a:ext cx="950976" cy="402336"/>
          </a:xfrm>
          <a:prstGeom prst="rect">
            <a:avLst/>
          </a:prstGeom>
          <a:noFill/>
        </p:spPr>
        <p:txBody>
          <a:bodyPr wrap="square" lIns="0" rIns="0" tIns="0" bIns="0" anchor="ctr">
            <a:noAutofit/>
          </a:bodyPr>
          <a:lstStyle/>
          <a:p>
            <a:pPr algn="l"/>
            <a:r>
              <a:rPr sz="1200" b="1" i="0">
                <a:solidFill>
                  <a:srgbClr val="000048"/>
                </a:solidFill>
                <a:latin typeface="Arial"/>
              </a:rPr>
              <a:t>AI non-prod</a:t>
            </a:r>
          </a:p>
        </p:txBody>
      </p:sp>
      <p:cxnSp>
        <p:nvCxnSpPr>
          <p:cNvPr id="36" name="Connector (plain)"/>
          <p:cNvCxnSpPr/>
          <p:nvPr/>
        </p:nvCxnSpPr>
        <p:spPr>
          <a:xfrm>
            <a:off x="3200400" y="184708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7" name="Connector (plain)"/>
          <p:cNvCxnSpPr/>
          <p:nvPr/>
        </p:nvCxnSpPr>
        <p:spPr>
          <a:xfrm flipH="1">
            <a:off x="1600200" y="2011680"/>
            <a:ext cx="160020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8" name="Connector (plain)"/>
          <p:cNvCxnSpPr/>
          <p:nvPr/>
        </p:nvCxnSpPr>
        <p:spPr>
          <a:xfrm>
            <a:off x="1600200" y="201168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39" name="Connector (plain)"/>
          <p:cNvCxnSpPr/>
          <p:nvPr/>
        </p:nvCxnSpPr>
        <p:spPr>
          <a:xfrm>
            <a:off x="3200400" y="184708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0" name="Connector (plain)"/>
          <p:cNvCxnSpPr/>
          <p:nvPr/>
        </p:nvCxnSpPr>
        <p:spPr>
          <a:xfrm>
            <a:off x="3200400" y="2011680"/>
            <a:ext cx="169164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1" name="Connector (plain)"/>
          <p:cNvCxnSpPr/>
          <p:nvPr/>
        </p:nvCxnSpPr>
        <p:spPr>
          <a:xfrm>
            <a:off x="4892040" y="201168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2" name="Connector (plain)"/>
          <p:cNvCxnSpPr/>
          <p:nvPr/>
        </p:nvCxnSpPr>
        <p:spPr>
          <a:xfrm>
            <a:off x="1600200" y="2670048"/>
            <a:ext cx="0" cy="34747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3" name="Connector (plain)"/>
          <p:cNvCxnSpPr/>
          <p:nvPr/>
        </p:nvCxnSpPr>
        <p:spPr>
          <a:xfrm>
            <a:off x="640080" y="3255264"/>
            <a:ext cx="0" cy="59436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4" name="Connector (plain)"/>
          <p:cNvCxnSpPr/>
          <p:nvPr/>
        </p:nvCxnSpPr>
        <p:spPr>
          <a:xfrm>
            <a:off x="4892040" y="2670048"/>
            <a:ext cx="0" cy="16459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5" name="Connector (plain)"/>
          <p:cNvCxnSpPr/>
          <p:nvPr/>
        </p:nvCxnSpPr>
        <p:spPr>
          <a:xfrm flipH="1">
            <a:off x="3931920" y="2834640"/>
            <a:ext cx="96012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6" name="Connector (plain)"/>
          <p:cNvCxnSpPr/>
          <p:nvPr/>
        </p:nvCxnSpPr>
        <p:spPr>
          <a:xfrm>
            <a:off x="3931920" y="283464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7" name="Connector (plain)"/>
          <p:cNvCxnSpPr/>
          <p:nvPr/>
        </p:nvCxnSpPr>
        <p:spPr>
          <a:xfrm>
            <a:off x="4892040" y="2834640"/>
            <a:ext cx="640080"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8" name="Connector (plain)"/>
          <p:cNvCxnSpPr/>
          <p:nvPr/>
        </p:nvCxnSpPr>
        <p:spPr>
          <a:xfrm>
            <a:off x="5532120" y="2834640"/>
            <a:ext cx="0" cy="18288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49" name="Connector (plain)"/>
          <p:cNvCxnSpPr/>
          <p:nvPr/>
        </p:nvCxnSpPr>
        <p:spPr>
          <a:xfrm>
            <a:off x="3931920" y="3493008"/>
            <a:ext cx="0" cy="347472"/>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0" name="Connector (plain)"/>
          <p:cNvCxnSpPr/>
          <p:nvPr/>
        </p:nvCxnSpPr>
        <p:spPr>
          <a:xfrm flipH="1">
            <a:off x="3127248" y="3493008"/>
            <a:ext cx="118872"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1" name="Connector (plain)"/>
          <p:cNvCxnSpPr/>
          <p:nvPr/>
        </p:nvCxnSpPr>
        <p:spPr>
          <a:xfrm>
            <a:off x="3127248" y="3493008"/>
            <a:ext cx="0" cy="1179576"/>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cxnSp>
        <p:nvCxnSpPr>
          <p:cNvPr id="52" name="Connector (plain)"/>
          <p:cNvCxnSpPr/>
          <p:nvPr/>
        </p:nvCxnSpPr>
        <p:spPr>
          <a:xfrm>
            <a:off x="3127248" y="4672584"/>
            <a:ext cx="73152" cy="0"/>
          </a:xfrm>
          <a:prstGeom prst="line">
            <a:avLst/>
          </a:prstGeom>
          <a:ln w="15875">
            <a:solidFill>
              <a:srgbClr val="53565A"/>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548640" y="5074920"/>
            <a:ext cx="5760720" cy="685800"/>
          </a:xfrm>
          <a:prstGeom prst="rect">
            <a:avLst/>
          </a:prstGeom>
          <a:noFill/>
        </p:spPr>
        <p:txBody>
          <a:bodyPr wrap="square" lIns="0" rIns="0" tIns="0" bIns="0" anchor="t">
            <a:noAutofit/>
          </a:bodyPr>
          <a:lstStyle/>
          <a:p>
            <a:pPr algn="l"/>
            <a:r>
              <a:rPr sz="1300" b="0" i="0">
                <a:solidFill>
                  <a:srgbClr val="53565A"/>
                </a:solidFill>
                <a:latin typeface="Arial"/>
              </a:rPr>
              <a:t>AI production and non-production are separate subscriptions under the Corp (or Online) group, inheriting platform policy.</a:t>
            </a:r>
          </a:p>
        </p:txBody>
      </p:sp>
      <p:graphicFrame>
        <p:nvGraphicFramePr>
          <p:cNvPr id="54" name="Table"/>
          <p:cNvGraphicFramePr>
            <a:graphicFrameLocks noGrp="1"/>
          </p:cNvGraphicFramePr>
          <p:nvPr/>
        </p:nvGraphicFramePr>
        <p:xfrm>
          <a:off x="6583680" y="1371600"/>
          <a:ext cx="5056632" cy="2743200"/>
        </p:xfrm>
        <a:graphic>
          <a:graphicData uri="http://schemas.openxmlformats.org/drawingml/2006/table">
            <a:tbl>
              <a:tblPr firstRow="1" bandRow="0">
                <a:tableStyleId>{5C22544A-7EE6-4342-B048-85BDC9FD1C3A}</a:tableStyleId>
              </a:tblPr>
              <a:tblGrid>
                <a:gridCol w="1463040"/>
                <a:gridCol w="3593592"/>
              </a:tblGrid>
              <a:tr h="274320">
                <a:tc>
                  <a:txBody>
                    <a:bodyPr wrap="square" anchor="ctr">
                      <a:noAutofit/>
                    </a:bodyPr>
                    <a:lstStyle/>
                    <a:p>
                      <a:pPr algn="l"/>
                      <a:r>
                        <a:rPr sz="12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Minimum baseline (proposed)</a:t>
                      </a:r>
                    </a:p>
                  </a:txBody>
                  <a:tcPr marL="73152" marR="73152" marT="36576" marB="36576" anchor="ctr">
                    <a:solidFill>
                      <a:srgbClr val="000048"/>
                    </a:solidFill>
                  </a:tcPr>
                </a:tc>
              </a:tr>
              <a:tr h="640080">
                <a:tc>
                  <a:txBody>
                    <a:bodyPr wrap="square" anchor="ctr">
                      <a:noAutofit/>
                    </a:bodyPr>
                    <a:lstStyle/>
                    <a:p>
                      <a:pPr algn="l"/>
                      <a:r>
                        <a:rPr sz="1200" b="1" i="0">
                          <a:solidFill>
                            <a:srgbClr val="1E1E2E"/>
                          </a:solidFill>
                          <a:latin typeface="Arial"/>
                        </a:rPr>
                        <a:t>Azure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Allowed regions and deployment types; deny public network access for AI, Search, Storage, Key Vault; require diagnostics</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Tags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owner, workload, environment, cost-centre, data-classification, agent-id (where applicable)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Subscription vending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Request, approval, naming and budget set at creation</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Cost ownership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Budget and alert per subscription and workload</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Exceptions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Time-bound, approved by customer risk owner</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Identity, RBAC and privileged access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Status chip: PROPOSED BASELINE"/>
          <p:cNvSpPr/>
          <p:nvPr/>
        </p:nvSpPr>
        <p:spPr>
          <a:xfrm>
            <a:off x="189865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BASELINE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71600"/>
          <a:ext cx="11091672" cy="2895600"/>
        </p:xfrm>
        <a:graphic>
          <a:graphicData uri="http://schemas.openxmlformats.org/drawingml/2006/table">
            <a:tbl>
              <a:tblPr firstRow="1" bandRow="0">
                <a:tableStyleId>{5C22544A-7EE6-4342-B048-85BDC9FD1C3A}</a:tableStyleId>
              </a:tblPr>
              <a:tblGrid>
                <a:gridCol w="2194560"/>
                <a:gridCol w="3017520"/>
                <a:gridCol w="3931920"/>
                <a:gridCol w="1947672"/>
              </a:tblGrid>
              <a:tr h="304800">
                <a:tc>
                  <a:txBody>
                    <a:bodyPr wrap="square" anchor="ctr">
                      <a:noAutofit/>
                    </a:bodyPr>
                    <a:lstStyle/>
                    <a:p>
                      <a:pPr algn="l"/>
                      <a:r>
                        <a:rPr sz="1400" b="1" i="0">
                          <a:solidFill>
                            <a:srgbClr val="FFFFFF"/>
                          </a:solidFill>
                          <a:latin typeface="Arial"/>
                        </a:rPr>
                        <a:t>Identity type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Used for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Implemented by</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Workload managed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 host to Foundry, Search, Storage, Key Vault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Least-privilege data-plane roles; local auth disabled where supported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CIS Infra</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Agent identity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Agent calls to models, tools and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Scoped per agent and version; mapped server-side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AI with Security</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Deployment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Pipelines that create resources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Federated credentials; no long-lived secrets; scoped per environment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DevOps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Privileged operators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Platform administration and containment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Entra PIM, just-in-time, approval for production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Security designs, CIS Infra operates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Break-glass accounts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Emergency access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Monitored, tested, excluded from automation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with Security</a:t>
                      </a:r>
                    </a:p>
                  </a:txBody>
                  <a:tcPr marL="73152" marR="73152" marT="36576" marB="36576" anchor="ctr">
                    <a:solidFill>
                      <a:srgbClr val="FFFFFF"/>
                    </a:solidFill>
                  </a:tcPr>
                </a:tc>
              </a:tr>
            </a:tbl>
          </a:graphicData>
        </a:graphic>
      </p:graphicFrame>
      <p:pic>
        <p:nvPicPr>
          <p:cNvPr id="10" name="Azure icon: Managed Identities" descr="Official Azure icon: Managed Identiti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5257800"/>
            <a:ext cx="457200" cy="457200"/>
          </a:xfrm>
          <a:prstGeom prst="rect">
            <a:avLst/>
          </a:prstGeom>
        </p:spPr>
      </p:pic>
      <p:pic>
        <p:nvPicPr>
          <p:cNvPr id="11" name="Azure icon: Entra Privileged Identity Management" descr="Official Azure icon: Entra Privileged Identity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88719" y="5257800"/>
            <a:ext cx="457200" cy="457200"/>
          </a:xfrm>
          <a:prstGeom prst="rect">
            <a:avLst/>
          </a:prstGeom>
        </p:spPr>
      </p:pic>
      <p:pic>
        <p:nvPicPr>
          <p:cNvPr id="12" name="Azure icon: Key Vault" descr="Official Azure icon: Key Vaul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28800" y="5257800"/>
            <a:ext cx="457200" cy="457200"/>
          </a:xfrm>
          <a:prstGeom prst="rect">
            <a:avLst/>
          </a:prstGeom>
        </p:spPr>
      </p:pic>
      <p:sp>
        <p:nvSpPr>
          <p:cNvPr id="13" name="TextBox 12"/>
          <p:cNvSpPr txBox="1"/>
          <p:nvPr/>
        </p:nvSpPr>
        <p:spPr>
          <a:xfrm>
            <a:off x="2514600" y="5303520"/>
            <a:ext cx="9052560" cy="457200"/>
          </a:xfrm>
          <a:prstGeom prst="rect">
            <a:avLst/>
          </a:prstGeom>
          <a:noFill/>
        </p:spPr>
        <p:txBody>
          <a:bodyPr wrap="square" lIns="0" rIns="0" tIns="0" bIns="0" anchor="t">
            <a:noAutofit/>
          </a:bodyPr>
          <a:lstStyle/>
          <a:p>
            <a:pPr algn="l"/>
            <a:r>
              <a:rPr sz="1400" b="0" i="0">
                <a:solidFill>
                  <a:srgbClr val="53565A"/>
                </a:solidFill>
                <a:latin typeface="Arial"/>
              </a:rPr>
              <a:t>Managed Identities, Entra Privileged Identity Management and Key Vault are the core Azure services for this layer.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Hub connectivity, private endpoints and DNS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2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sp>
        <p:nvSpPr>
          <p:cNvPr id="9" name="Rounded Rectangle 8"/>
          <p:cNvSpPr/>
          <p:nvPr/>
        </p:nvSpPr>
        <p:spPr>
          <a:xfrm>
            <a:off x="1920240" y="1325880"/>
            <a:ext cx="9875520" cy="2697480"/>
          </a:xfrm>
          <a:prstGeom prst="roundRect">
            <a:avLst>
              <a:gd name="adj" fmla="val 3389"/>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029968" y="1380744"/>
            <a:ext cx="9656064" cy="237744"/>
          </a:xfrm>
          <a:prstGeom prst="rect">
            <a:avLst/>
          </a:prstGeom>
          <a:noFill/>
        </p:spPr>
        <p:txBody>
          <a:bodyPr wrap="square" lIns="0" rIns="0" tIns="0" bIns="0" anchor="t">
            <a:noAutofit/>
          </a:bodyPr>
          <a:lstStyle/>
          <a:p>
            <a:pPr algn="l"/>
            <a:r>
              <a:rPr sz="1100" b="1" i="0">
                <a:solidFill>
                  <a:srgbClr val="000048"/>
                </a:solidFill>
                <a:latin typeface="Arial"/>
              </a:rPr>
              <a:t>WORKLOAD LANDING ZONE SUBSCRIPTION: SPOKE VIRTUAL NETWORK</a:t>
            </a:r>
          </a:p>
        </p:txBody>
      </p:sp>
      <p:sp>
        <p:nvSpPr>
          <p:cNvPr id="11" name="Rounded Rectangle 10"/>
          <p:cNvSpPr/>
          <p:nvPr/>
        </p:nvSpPr>
        <p:spPr>
          <a:xfrm>
            <a:off x="205740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30552" y="1719072"/>
            <a:ext cx="1828800" cy="237744"/>
          </a:xfrm>
          <a:prstGeom prst="rect">
            <a:avLst/>
          </a:prstGeom>
          <a:noFill/>
        </p:spPr>
        <p:txBody>
          <a:bodyPr wrap="square" lIns="0" rIns="0" tIns="0" bIns="0" anchor="t">
            <a:noAutofit/>
          </a:bodyPr>
          <a:lstStyle/>
          <a:p>
            <a:pPr algn="l"/>
            <a:r>
              <a:rPr sz="1000" b="1" i="0">
                <a:solidFill>
                  <a:srgbClr val="53565A"/>
                </a:solidFill>
                <a:latin typeface="Arial"/>
              </a:rPr>
              <a:t>snet-appGateway</a:t>
            </a:r>
          </a:p>
        </p:txBody>
      </p:sp>
      <p:pic>
        <p:nvPicPr>
          <p:cNvPr id="13"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194560" y="2057400"/>
            <a:ext cx="384048" cy="384048"/>
          </a:xfrm>
          <a:prstGeom prst="rect">
            <a:avLst/>
          </a:prstGeom>
        </p:spPr>
      </p:pic>
      <p:sp>
        <p:nvSpPr>
          <p:cNvPr id="14" name="TextBox 13"/>
          <p:cNvSpPr txBox="1"/>
          <p:nvPr/>
        </p:nvSpPr>
        <p:spPr>
          <a:xfrm>
            <a:off x="2651760" y="2057400"/>
            <a:ext cx="1280160" cy="548640"/>
          </a:xfrm>
          <a:prstGeom prst="rect">
            <a:avLst/>
          </a:prstGeom>
          <a:noFill/>
        </p:spPr>
        <p:txBody>
          <a:bodyPr wrap="square" lIns="0" rIns="0" tIns="0" bIns="0" anchor="t">
            <a:noAutofit/>
          </a:bodyPr>
          <a:lstStyle/>
          <a:p>
            <a:pPr algn="l"/>
            <a:r>
              <a:rPr sz="1100" b="1" i="0">
                <a:solidFill>
                  <a:srgbClr val="000048"/>
                </a:solidFill>
                <a:latin typeface="Arial"/>
              </a:rPr>
              <a:t>App Gateway + WAF</a:t>
            </a:r>
          </a:p>
        </p:txBody>
      </p:sp>
      <p:sp>
        <p:nvSpPr>
          <p:cNvPr id="15" name="Rounded Rectangle 14"/>
          <p:cNvSpPr/>
          <p:nvPr/>
        </p:nvSpPr>
        <p:spPr>
          <a:xfrm>
            <a:off x="406908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142232" y="1719072"/>
            <a:ext cx="1828800" cy="237744"/>
          </a:xfrm>
          <a:prstGeom prst="rect">
            <a:avLst/>
          </a:prstGeom>
          <a:noFill/>
        </p:spPr>
        <p:txBody>
          <a:bodyPr wrap="square" lIns="0" rIns="0" tIns="0" bIns="0" anchor="t">
            <a:noAutofit/>
          </a:bodyPr>
          <a:lstStyle/>
          <a:p>
            <a:pPr algn="l"/>
            <a:r>
              <a:rPr sz="1000" b="1" i="0">
                <a:solidFill>
                  <a:srgbClr val="53565A"/>
                </a:solidFill>
                <a:latin typeface="Arial"/>
              </a:rPr>
              <a:t>snet-appServicePlan</a:t>
            </a:r>
          </a:p>
        </p:txBody>
      </p:sp>
      <p:pic>
        <p:nvPicPr>
          <p:cNvPr id="17" name="Azure icon: App Services" descr="Official Azure icon: App Service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06240" y="2057400"/>
            <a:ext cx="384048" cy="384048"/>
          </a:xfrm>
          <a:prstGeom prst="rect">
            <a:avLst/>
          </a:prstGeom>
        </p:spPr>
      </p:pic>
      <p:sp>
        <p:nvSpPr>
          <p:cNvPr id="18" name="TextBox 17"/>
          <p:cNvSpPr txBox="1"/>
          <p:nvPr/>
        </p:nvSpPr>
        <p:spPr>
          <a:xfrm>
            <a:off x="4663440" y="2057400"/>
            <a:ext cx="1280160" cy="548640"/>
          </a:xfrm>
          <a:prstGeom prst="rect">
            <a:avLst/>
          </a:prstGeom>
          <a:noFill/>
        </p:spPr>
        <p:txBody>
          <a:bodyPr wrap="square" lIns="0" rIns="0" tIns="0" bIns="0" anchor="t">
            <a:noAutofit/>
          </a:bodyPr>
          <a:lstStyle/>
          <a:p>
            <a:pPr algn="l"/>
            <a:r>
              <a:rPr sz="1100" b="1" i="0">
                <a:solidFill>
                  <a:srgbClr val="000048"/>
                </a:solidFill>
                <a:latin typeface="Arial"/>
              </a:rPr>
              <a:t>App Service integration</a:t>
            </a:r>
          </a:p>
        </p:txBody>
      </p:sp>
      <p:sp>
        <p:nvSpPr>
          <p:cNvPr id="19" name="Rounded Rectangle 18"/>
          <p:cNvSpPr/>
          <p:nvPr/>
        </p:nvSpPr>
        <p:spPr>
          <a:xfrm>
            <a:off x="6080760" y="1691640"/>
            <a:ext cx="1920240" cy="1143000"/>
          </a:xfrm>
          <a:prstGeom prst="roundRect">
            <a:avLst>
              <a:gd name="adj" fmla="val 8000"/>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153912" y="1719072"/>
            <a:ext cx="1828800" cy="237744"/>
          </a:xfrm>
          <a:prstGeom prst="rect">
            <a:avLst/>
          </a:prstGeom>
          <a:noFill/>
        </p:spPr>
        <p:txBody>
          <a:bodyPr wrap="square" lIns="0" rIns="0" tIns="0" bIns="0" anchor="t">
            <a:noAutofit/>
          </a:bodyPr>
          <a:lstStyle/>
          <a:p>
            <a:pPr algn="l"/>
            <a:r>
              <a:rPr sz="1000" b="1" i="0">
                <a:solidFill>
                  <a:srgbClr val="53565A"/>
                </a:solidFill>
                <a:latin typeface="Arial"/>
              </a:rPr>
              <a:t>snet-agentsEgress</a:t>
            </a:r>
          </a:p>
        </p:txBody>
      </p:sp>
      <p:pic>
        <p:nvPicPr>
          <p:cNvPr id="21"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0" y="2057400"/>
            <a:ext cx="384048" cy="384048"/>
          </a:xfrm>
          <a:prstGeom prst="rect">
            <a:avLst/>
          </a:prstGeom>
        </p:spPr>
      </p:pic>
      <p:sp>
        <p:nvSpPr>
          <p:cNvPr id="22" name="TextBox 21"/>
          <p:cNvSpPr txBox="1"/>
          <p:nvPr/>
        </p:nvSpPr>
        <p:spPr>
          <a:xfrm>
            <a:off x="6675120" y="2057400"/>
            <a:ext cx="1280160" cy="548640"/>
          </a:xfrm>
          <a:prstGeom prst="rect">
            <a:avLst/>
          </a:prstGeom>
          <a:noFill/>
        </p:spPr>
        <p:txBody>
          <a:bodyPr wrap="square" lIns="0" rIns="0" tIns="0" bIns="0" anchor="t">
            <a:noAutofit/>
          </a:bodyPr>
          <a:lstStyle/>
          <a:p>
            <a:pPr algn="l"/>
            <a:r>
              <a:rPr sz="1100" b="1" i="0">
                <a:solidFill>
                  <a:srgbClr val="000048"/>
                </a:solidFill>
                <a:latin typeface="Arial"/>
              </a:rPr>
              <a:t>Agent Service integration</a:t>
            </a:r>
          </a:p>
        </p:txBody>
      </p:sp>
      <p:sp>
        <p:nvSpPr>
          <p:cNvPr id="23" name="Rounded Rectangle 22"/>
          <p:cNvSpPr/>
          <p:nvPr/>
        </p:nvSpPr>
        <p:spPr>
          <a:xfrm>
            <a:off x="8092440" y="1691640"/>
            <a:ext cx="3566160" cy="2194560"/>
          </a:xfrm>
          <a:prstGeom prst="roundRect">
            <a:avLst>
              <a:gd name="adj" fmla="val 4166"/>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165592" y="1719072"/>
            <a:ext cx="3474720" cy="237744"/>
          </a:xfrm>
          <a:prstGeom prst="rect">
            <a:avLst/>
          </a:prstGeom>
          <a:noFill/>
        </p:spPr>
        <p:txBody>
          <a:bodyPr wrap="square" lIns="0" rIns="0" tIns="0" bIns="0" anchor="t">
            <a:noAutofit/>
          </a:bodyPr>
          <a:lstStyle/>
          <a:p>
            <a:pPr algn="l"/>
            <a:r>
              <a:rPr sz="1000" b="1" i="0">
                <a:solidFill>
                  <a:srgbClr val="53565A"/>
                </a:solidFill>
                <a:latin typeface="Arial"/>
              </a:rPr>
              <a:t>snet-privateEndpoints</a:t>
            </a:r>
          </a:p>
        </p:txBody>
      </p:sp>
      <p:pic>
        <p:nvPicPr>
          <p:cNvPr id="25"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49640" y="2011680"/>
            <a:ext cx="347472" cy="347472"/>
          </a:xfrm>
          <a:prstGeom prst="rect">
            <a:avLst/>
          </a:prstGeom>
        </p:spPr>
      </p:pic>
      <p:sp>
        <p:nvSpPr>
          <p:cNvPr id="26" name="TextBox 25"/>
          <p:cNvSpPr txBox="1"/>
          <p:nvPr/>
        </p:nvSpPr>
        <p:spPr>
          <a:xfrm>
            <a:off x="8183879" y="2377440"/>
            <a:ext cx="1143000" cy="457200"/>
          </a:xfrm>
          <a:prstGeom prst="rect">
            <a:avLst/>
          </a:prstGeom>
          <a:noFill/>
        </p:spPr>
        <p:txBody>
          <a:bodyPr wrap="square" lIns="0" rIns="0" tIns="0" bIns="0" anchor="t">
            <a:noAutofit/>
          </a:bodyPr>
          <a:lstStyle/>
          <a:p>
            <a:pPr algn="ctr"/>
            <a:r>
              <a:rPr sz="1000" b="0" i="0">
                <a:solidFill>
                  <a:srgbClr val="000048"/>
                </a:solidFill>
                <a:latin typeface="Arial"/>
              </a:rPr>
              <a:t>App Service</a:t>
            </a:r>
          </a:p>
        </p:txBody>
      </p:sp>
      <p:pic>
        <p:nvPicPr>
          <p:cNvPr id="27"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10928" y="2011680"/>
            <a:ext cx="347472" cy="347472"/>
          </a:xfrm>
          <a:prstGeom prst="rect">
            <a:avLst/>
          </a:prstGeom>
        </p:spPr>
      </p:pic>
      <p:sp>
        <p:nvSpPr>
          <p:cNvPr id="28" name="TextBox 27"/>
          <p:cNvSpPr txBox="1"/>
          <p:nvPr/>
        </p:nvSpPr>
        <p:spPr>
          <a:xfrm>
            <a:off x="9345167" y="2377440"/>
            <a:ext cx="1143000" cy="457200"/>
          </a:xfrm>
          <a:prstGeom prst="rect">
            <a:avLst/>
          </a:prstGeom>
          <a:noFill/>
        </p:spPr>
        <p:txBody>
          <a:bodyPr wrap="square" lIns="0" rIns="0" tIns="0" bIns="0" anchor="t">
            <a:noAutofit/>
          </a:bodyPr>
          <a:lstStyle/>
          <a:p>
            <a:pPr algn="ctr"/>
            <a:r>
              <a:rPr sz="1000" b="0" i="0">
                <a:solidFill>
                  <a:srgbClr val="000048"/>
                </a:solidFill>
                <a:latin typeface="Arial"/>
              </a:rPr>
              <a:t>Storage account</a:t>
            </a:r>
          </a:p>
        </p:txBody>
      </p:sp>
      <p:pic>
        <p:nvPicPr>
          <p:cNvPr id="29"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72215" y="2011680"/>
            <a:ext cx="347472" cy="347472"/>
          </a:xfrm>
          <a:prstGeom prst="rect">
            <a:avLst/>
          </a:prstGeom>
        </p:spPr>
      </p:pic>
      <p:sp>
        <p:nvSpPr>
          <p:cNvPr id="30" name="TextBox 29"/>
          <p:cNvSpPr txBox="1"/>
          <p:nvPr/>
        </p:nvSpPr>
        <p:spPr>
          <a:xfrm>
            <a:off x="10506455" y="2377440"/>
            <a:ext cx="1143000" cy="457200"/>
          </a:xfrm>
          <a:prstGeom prst="rect">
            <a:avLst/>
          </a:prstGeom>
          <a:noFill/>
        </p:spPr>
        <p:txBody>
          <a:bodyPr wrap="square" lIns="0" rIns="0" tIns="0" bIns="0" anchor="t">
            <a:noAutofit/>
          </a:bodyPr>
          <a:lstStyle/>
          <a:p>
            <a:pPr algn="ctr"/>
            <a:r>
              <a:rPr sz="1000" b="0" i="0">
                <a:solidFill>
                  <a:srgbClr val="000048"/>
                </a:solidFill>
                <a:latin typeface="Arial"/>
              </a:rPr>
              <a:t>Key Vault</a:t>
            </a:r>
          </a:p>
        </p:txBody>
      </p:sp>
      <p:pic>
        <p:nvPicPr>
          <p:cNvPr id="31"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549640" y="2926080"/>
            <a:ext cx="347472" cy="347472"/>
          </a:xfrm>
          <a:prstGeom prst="rect">
            <a:avLst/>
          </a:prstGeom>
        </p:spPr>
      </p:pic>
      <p:sp>
        <p:nvSpPr>
          <p:cNvPr id="32" name="TextBox 31"/>
          <p:cNvSpPr txBox="1"/>
          <p:nvPr/>
        </p:nvSpPr>
        <p:spPr>
          <a:xfrm>
            <a:off x="8183879" y="3291840"/>
            <a:ext cx="1143000" cy="457200"/>
          </a:xfrm>
          <a:prstGeom prst="rect">
            <a:avLst/>
          </a:prstGeom>
          <a:noFill/>
        </p:spPr>
        <p:txBody>
          <a:bodyPr wrap="square" lIns="0" rIns="0" tIns="0" bIns="0" anchor="t">
            <a:noAutofit/>
          </a:bodyPr>
          <a:lstStyle/>
          <a:p>
            <a:pPr algn="ctr"/>
            <a:r>
              <a:rPr sz="1000" b="0" i="0">
                <a:solidFill>
                  <a:srgbClr val="000048"/>
                </a:solidFill>
                <a:latin typeface="Arial"/>
              </a:rPr>
              <a:t>Foundry</a:t>
            </a:r>
          </a:p>
        </p:txBody>
      </p:sp>
      <p:pic>
        <p:nvPicPr>
          <p:cNvPr id="33"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710928" y="2926080"/>
            <a:ext cx="347472" cy="347472"/>
          </a:xfrm>
          <a:prstGeom prst="rect">
            <a:avLst/>
          </a:prstGeom>
        </p:spPr>
      </p:pic>
      <p:sp>
        <p:nvSpPr>
          <p:cNvPr id="34" name="TextBox 33"/>
          <p:cNvSpPr txBox="1"/>
          <p:nvPr/>
        </p:nvSpPr>
        <p:spPr>
          <a:xfrm>
            <a:off x="9345167" y="3291840"/>
            <a:ext cx="1143000" cy="457200"/>
          </a:xfrm>
          <a:prstGeom prst="rect">
            <a:avLst/>
          </a:prstGeom>
          <a:noFill/>
        </p:spPr>
        <p:txBody>
          <a:bodyPr wrap="square" lIns="0" rIns="0" tIns="0" bIns="0" anchor="t">
            <a:noAutofit/>
          </a:bodyPr>
          <a:lstStyle/>
          <a:p>
            <a:pPr algn="ctr"/>
            <a:r>
              <a:rPr sz="1000" b="0" i="0">
                <a:solidFill>
                  <a:srgbClr val="000048"/>
                </a:solidFill>
                <a:latin typeface="Arial"/>
              </a:rPr>
              <a:t>AI Search</a:t>
            </a:r>
          </a:p>
        </p:txBody>
      </p:sp>
      <p:pic>
        <p:nvPicPr>
          <p:cNvPr id="35" name="Azure icon: Private Endpoints" descr="Official Azure icon: Private Endpoi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872215" y="2926080"/>
            <a:ext cx="347472" cy="347472"/>
          </a:xfrm>
          <a:prstGeom prst="rect">
            <a:avLst/>
          </a:prstGeom>
        </p:spPr>
      </p:pic>
      <p:sp>
        <p:nvSpPr>
          <p:cNvPr id="36" name="TextBox 35"/>
          <p:cNvSpPr txBox="1"/>
          <p:nvPr/>
        </p:nvSpPr>
        <p:spPr>
          <a:xfrm>
            <a:off x="10506455" y="3291840"/>
            <a:ext cx="1143000" cy="457200"/>
          </a:xfrm>
          <a:prstGeom prst="rect">
            <a:avLst/>
          </a:prstGeom>
          <a:noFill/>
        </p:spPr>
        <p:txBody>
          <a:bodyPr wrap="square" lIns="0" rIns="0" tIns="0" bIns="0" anchor="t">
            <a:noAutofit/>
          </a:bodyPr>
          <a:lstStyle/>
          <a:p>
            <a:pPr algn="ctr"/>
            <a:r>
              <a:rPr sz="1000" b="0" i="0">
                <a:solidFill>
                  <a:srgbClr val="000048"/>
                </a:solidFill>
                <a:latin typeface="Arial"/>
              </a:rPr>
              <a:t>Cosmos DB</a:t>
            </a:r>
          </a:p>
        </p:txBody>
      </p:sp>
      <p:sp>
        <p:nvSpPr>
          <p:cNvPr id="37" name="Rounded Rectangle 36"/>
          <p:cNvSpPr/>
          <p:nvPr/>
        </p:nvSpPr>
        <p:spPr>
          <a:xfrm>
            <a:off x="2057400" y="2926080"/>
            <a:ext cx="3931920" cy="960120"/>
          </a:xfrm>
          <a:prstGeom prst="roundRect">
            <a:avLst>
              <a:gd name="adj" fmla="val 9523"/>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2130552" y="2953512"/>
            <a:ext cx="3840480" cy="237744"/>
          </a:xfrm>
          <a:prstGeom prst="rect">
            <a:avLst/>
          </a:prstGeom>
          <a:noFill/>
        </p:spPr>
        <p:txBody>
          <a:bodyPr wrap="square" lIns="0" rIns="0" tIns="0" bIns="0" anchor="t">
            <a:noAutofit/>
          </a:bodyPr>
          <a:lstStyle/>
          <a:p>
            <a:pPr algn="l"/>
            <a:r>
              <a:rPr sz="1000" b="1" i="0">
                <a:solidFill>
                  <a:srgbClr val="53565A"/>
                </a:solidFill>
                <a:latin typeface="Arial"/>
              </a:rPr>
              <a:t>snet-buildAgents, snet-jumpBoxes</a:t>
            </a:r>
          </a:p>
        </p:txBody>
      </p:sp>
      <p:pic>
        <p:nvPicPr>
          <p:cNvPr id="39" name="Azure icon: Virtual Machine" descr="Official Azure icon: Virtual Machin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240280" y="3246120"/>
            <a:ext cx="347472" cy="347472"/>
          </a:xfrm>
          <a:prstGeom prst="rect">
            <a:avLst/>
          </a:prstGeom>
        </p:spPr>
      </p:pic>
      <p:sp>
        <p:nvSpPr>
          <p:cNvPr id="40" name="TextBox 39"/>
          <p:cNvSpPr txBox="1"/>
          <p:nvPr/>
        </p:nvSpPr>
        <p:spPr>
          <a:xfrm>
            <a:off x="2651760" y="3273552"/>
            <a:ext cx="3291840" cy="457200"/>
          </a:xfrm>
          <a:prstGeom prst="rect">
            <a:avLst/>
          </a:prstGeom>
          <a:noFill/>
        </p:spPr>
        <p:txBody>
          <a:bodyPr wrap="square" lIns="0" rIns="0" tIns="0" bIns="0" anchor="t">
            <a:noAutofit/>
          </a:bodyPr>
          <a:lstStyle/>
          <a:p>
            <a:pPr algn="l"/>
            <a:r>
              <a:rPr sz="1100" b="0" i="0">
                <a:solidFill>
                  <a:srgbClr val="000048"/>
                </a:solidFill>
                <a:latin typeface="Arial"/>
              </a:rPr>
              <a:t>Build agents and jump boxes (via Bastion)</a:t>
            </a:r>
          </a:p>
        </p:txBody>
      </p:sp>
      <p:sp>
        <p:nvSpPr>
          <p:cNvPr id="41" name="TextBox 40"/>
          <p:cNvSpPr txBox="1"/>
          <p:nvPr/>
        </p:nvSpPr>
        <p:spPr>
          <a:xfrm>
            <a:off x="6126480" y="3017520"/>
            <a:ext cx="1920240" cy="868680"/>
          </a:xfrm>
          <a:prstGeom prst="rect">
            <a:avLst/>
          </a:prstGeom>
          <a:noFill/>
        </p:spPr>
        <p:txBody>
          <a:bodyPr wrap="square" lIns="0" rIns="0" tIns="0" bIns="0" anchor="t">
            <a:noAutofit/>
          </a:bodyPr>
          <a:lstStyle/>
          <a:p>
            <a:pPr algn="l"/>
            <a:r>
              <a:rPr sz="1000" b="0" i="0">
                <a:solidFill>
                  <a:srgbClr val="53565A"/>
                </a:solidFill>
                <a:latin typeface="Arial"/>
              </a:rPr>
              <a:t>All subnets: NSG and UDR 0.0.0.0/0 to hub firewall</a:t>
            </a:r>
          </a:p>
        </p:txBody>
      </p:sp>
      <p:sp>
        <p:nvSpPr>
          <p:cNvPr id="42" name="Rounded Rectangle 41"/>
          <p:cNvSpPr/>
          <p:nvPr/>
        </p:nvSpPr>
        <p:spPr>
          <a:xfrm>
            <a:off x="1920240" y="4343400"/>
            <a:ext cx="9875520" cy="1417320"/>
          </a:xfrm>
          <a:prstGeom prst="roundRect">
            <a:avLst>
              <a:gd name="adj" fmla="val 6451"/>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2029968" y="4398264"/>
            <a:ext cx="9656064" cy="237744"/>
          </a:xfrm>
          <a:prstGeom prst="rect">
            <a:avLst/>
          </a:prstGeom>
          <a:noFill/>
        </p:spPr>
        <p:txBody>
          <a:bodyPr wrap="square" lIns="0" rIns="0" tIns="0" bIns="0" anchor="t">
            <a:noAutofit/>
          </a:bodyPr>
          <a:lstStyle/>
          <a:p>
            <a:pPr algn="l"/>
            <a:r>
              <a:rPr sz="1100" b="1" i="0">
                <a:solidFill>
                  <a:srgbClr val="000048"/>
                </a:solidFill>
                <a:latin typeface="Arial"/>
              </a:rPr>
              <a:t>PLATFORM LANDING ZONE: CONNECTIVITY SUBSCRIPTION</a:t>
            </a:r>
          </a:p>
        </p:txBody>
      </p:sp>
      <p:pic>
        <p:nvPicPr>
          <p:cNvPr id="44" name="Azure icon: Virtual Networks" descr="Official Azure icon: Virtual Network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130552" y="4782312"/>
            <a:ext cx="384048" cy="384048"/>
          </a:xfrm>
          <a:prstGeom prst="rect">
            <a:avLst/>
          </a:prstGeom>
        </p:spPr>
      </p:pic>
      <p:sp>
        <p:nvSpPr>
          <p:cNvPr id="45" name="TextBox 44"/>
          <p:cNvSpPr txBox="1"/>
          <p:nvPr/>
        </p:nvSpPr>
        <p:spPr>
          <a:xfrm>
            <a:off x="2587752" y="4745736"/>
            <a:ext cx="1719072" cy="457199"/>
          </a:xfrm>
          <a:prstGeom prst="rect">
            <a:avLst/>
          </a:prstGeom>
          <a:noFill/>
        </p:spPr>
        <p:txBody>
          <a:bodyPr wrap="square" lIns="0" rIns="0" tIns="0" bIns="0" anchor="ctr">
            <a:noAutofit/>
          </a:bodyPr>
          <a:lstStyle/>
          <a:p>
            <a:pPr algn="l"/>
            <a:r>
              <a:rPr sz="1200" b="1" i="0">
                <a:solidFill>
                  <a:srgbClr val="000048"/>
                </a:solidFill>
                <a:latin typeface="Arial"/>
              </a:rPr>
              <a:t>Hub virtual network</a:t>
            </a:r>
          </a:p>
          <a:p>
            <a:pPr algn="l"/>
            <a:r>
              <a:rPr sz="1000" b="0" i="0">
                <a:solidFill>
                  <a:srgbClr val="53565A"/>
                </a:solidFill>
                <a:latin typeface="Arial"/>
              </a:rPr>
              <a:t>per region</a:t>
            </a:r>
          </a:p>
        </p:txBody>
      </p:sp>
      <p:pic>
        <p:nvPicPr>
          <p:cNvPr id="46" name="Azure icon: Firewalls" descr="Official Azure icon: Firewalls"/>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4507992" y="4782312"/>
            <a:ext cx="384048" cy="384048"/>
          </a:xfrm>
          <a:prstGeom prst="rect">
            <a:avLst/>
          </a:prstGeom>
        </p:spPr>
      </p:pic>
      <p:sp>
        <p:nvSpPr>
          <p:cNvPr id="47" name="TextBox 46"/>
          <p:cNvSpPr txBox="1"/>
          <p:nvPr/>
        </p:nvSpPr>
        <p:spPr>
          <a:xfrm>
            <a:off x="4965192" y="4745736"/>
            <a:ext cx="1536192" cy="457199"/>
          </a:xfrm>
          <a:prstGeom prst="rect">
            <a:avLst/>
          </a:prstGeom>
          <a:noFill/>
        </p:spPr>
        <p:txBody>
          <a:bodyPr wrap="square" lIns="0" rIns="0" tIns="0" bIns="0" anchor="ctr">
            <a:noAutofit/>
          </a:bodyPr>
          <a:lstStyle/>
          <a:p>
            <a:pPr algn="l"/>
            <a:r>
              <a:rPr sz="1200" b="1" i="0">
                <a:solidFill>
                  <a:srgbClr val="000048"/>
                </a:solidFill>
                <a:latin typeface="Arial"/>
              </a:rPr>
              <a:t>Azure Firewall</a:t>
            </a:r>
          </a:p>
          <a:p>
            <a:pPr algn="l"/>
            <a:r>
              <a:rPr sz="1000" b="0" i="0">
                <a:solidFill>
                  <a:srgbClr val="53565A"/>
                </a:solidFill>
                <a:latin typeface="Arial"/>
              </a:rPr>
              <a:t>egress inspection</a:t>
            </a:r>
          </a:p>
        </p:txBody>
      </p:sp>
      <p:pic>
        <p:nvPicPr>
          <p:cNvPr id="48" name="Azure icon: DNS Private Resolver" descr="Official Azure icon: DNS Private Resolve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656832" y="4782312"/>
            <a:ext cx="384048" cy="384048"/>
          </a:xfrm>
          <a:prstGeom prst="rect">
            <a:avLst/>
          </a:prstGeom>
        </p:spPr>
      </p:pic>
      <p:sp>
        <p:nvSpPr>
          <p:cNvPr id="49" name="TextBox 48"/>
          <p:cNvSpPr txBox="1"/>
          <p:nvPr/>
        </p:nvSpPr>
        <p:spPr>
          <a:xfrm>
            <a:off x="7114032" y="4745736"/>
            <a:ext cx="1719072" cy="457199"/>
          </a:xfrm>
          <a:prstGeom prst="rect">
            <a:avLst/>
          </a:prstGeom>
          <a:noFill/>
        </p:spPr>
        <p:txBody>
          <a:bodyPr wrap="square" lIns="0" rIns="0" tIns="0" bIns="0" anchor="ctr">
            <a:noAutofit/>
          </a:bodyPr>
          <a:lstStyle/>
          <a:p>
            <a:pPr algn="l"/>
            <a:r>
              <a:rPr sz="1200" b="1" i="0">
                <a:solidFill>
                  <a:srgbClr val="000048"/>
                </a:solidFill>
                <a:latin typeface="Arial"/>
              </a:rPr>
              <a:t>DNS Private Resolver</a:t>
            </a:r>
          </a:p>
          <a:p>
            <a:pPr algn="l"/>
            <a:r>
              <a:rPr sz="1000" b="0" i="0">
                <a:solidFill>
                  <a:srgbClr val="53565A"/>
                </a:solidFill>
                <a:latin typeface="Arial"/>
              </a:rPr>
              <a:t>linked rulesets</a:t>
            </a:r>
          </a:p>
        </p:txBody>
      </p:sp>
      <p:pic>
        <p:nvPicPr>
          <p:cNvPr id="50" name="Azure icon: DNS Zones" descr="Official Azure icon: DNS Zone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034272" y="4782312"/>
            <a:ext cx="384048" cy="384048"/>
          </a:xfrm>
          <a:prstGeom prst="rect">
            <a:avLst/>
          </a:prstGeom>
        </p:spPr>
      </p:pic>
      <p:sp>
        <p:nvSpPr>
          <p:cNvPr id="51" name="TextBox 50"/>
          <p:cNvSpPr txBox="1"/>
          <p:nvPr/>
        </p:nvSpPr>
        <p:spPr>
          <a:xfrm>
            <a:off x="9491472" y="4745736"/>
            <a:ext cx="1536192" cy="457199"/>
          </a:xfrm>
          <a:prstGeom prst="rect">
            <a:avLst/>
          </a:prstGeom>
          <a:noFill/>
        </p:spPr>
        <p:txBody>
          <a:bodyPr wrap="square" lIns="0" rIns="0" tIns="0" bIns="0" anchor="ctr">
            <a:noAutofit/>
          </a:bodyPr>
          <a:lstStyle/>
          <a:p>
            <a:pPr algn="l"/>
            <a:r>
              <a:rPr sz="1200" b="1" i="0">
                <a:solidFill>
                  <a:srgbClr val="000048"/>
                </a:solidFill>
                <a:latin typeface="Arial"/>
              </a:rPr>
              <a:t>Private DNS zones</a:t>
            </a:r>
          </a:p>
          <a:p>
            <a:pPr algn="l"/>
            <a:r>
              <a:rPr sz="1000" b="0" i="0">
                <a:solidFill>
                  <a:srgbClr val="53565A"/>
                </a:solidFill>
                <a:latin typeface="Arial"/>
              </a:rPr>
              <a:t>for Private Link</a:t>
            </a:r>
          </a:p>
        </p:txBody>
      </p:sp>
      <p:pic>
        <p:nvPicPr>
          <p:cNvPr id="52" name="Azure icon: Users" descr="Official Azure icon: User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59536" y="1856231"/>
            <a:ext cx="384048" cy="384048"/>
          </a:xfrm>
          <a:prstGeom prst="rect">
            <a:avLst/>
          </a:prstGeom>
        </p:spPr>
      </p:pic>
      <p:sp>
        <p:nvSpPr>
          <p:cNvPr id="53" name="TextBox 52"/>
          <p:cNvSpPr txBox="1"/>
          <p:nvPr/>
        </p:nvSpPr>
        <p:spPr>
          <a:xfrm>
            <a:off x="448056" y="2276856"/>
            <a:ext cx="1207007" cy="310896"/>
          </a:xfrm>
          <a:prstGeom prst="rect">
            <a:avLst/>
          </a:prstGeom>
          <a:noFill/>
        </p:spPr>
        <p:txBody>
          <a:bodyPr wrap="square" lIns="0" rIns="0" tIns="0" bIns="0" anchor="t">
            <a:noAutofit/>
          </a:bodyPr>
          <a:lstStyle/>
          <a:p>
            <a:pPr algn="ctr"/>
            <a:r>
              <a:rPr sz="1300" b="1" i="0">
                <a:solidFill>
                  <a:srgbClr val="000048"/>
                </a:solidFill>
                <a:latin typeface="Arial"/>
              </a:rPr>
              <a:t>End users</a:t>
            </a:r>
          </a:p>
        </p:txBody>
      </p:sp>
      <p:pic>
        <p:nvPicPr>
          <p:cNvPr id="54" name="Azure icon: Virtual Network Gateways" descr="Official Azure icon: Virtual Network Gateway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905256" y="4507992"/>
            <a:ext cx="384048" cy="384048"/>
          </a:xfrm>
          <a:prstGeom prst="rect">
            <a:avLst/>
          </a:prstGeom>
        </p:spPr>
      </p:pic>
      <p:sp>
        <p:nvSpPr>
          <p:cNvPr id="55" name="TextBox 54"/>
          <p:cNvSpPr txBox="1"/>
          <p:nvPr/>
        </p:nvSpPr>
        <p:spPr>
          <a:xfrm>
            <a:off x="448056" y="4928616"/>
            <a:ext cx="1298448" cy="512064"/>
          </a:xfrm>
          <a:prstGeom prst="rect">
            <a:avLst/>
          </a:prstGeom>
          <a:noFill/>
        </p:spPr>
        <p:txBody>
          <a:bodyPr wrap="square" lIns="0" rIns="0" tIns="0" bIns="0" anchor="t">
            <a:noAutofit/>
          </a:bodyPr>
          <a:lstStyle/>
          <a:p>
            <a:pPr algn="ctr"/>
            <a:r>
              <a:rPr sz="1300" b="1" i="0">
                <a:solidFill>
                  <a:srgbClr val="000048"/>
                </a:solidFill>
                <a:latin typeface="Arial"/>
              </a:rPr>
              <a:t>On-premises</a:t>
            </a:r>
          </a:p>
          <a:p>
            <a:pPr algn="ctr"/>
            <a:r>
              <a:rPr sz="1100" b="0" i="0">
                <a:solidFill>
                  <a:srgbClr val="53565A"/>
                </a:solidFill>
                <a:latin typeface="Arial"/>
              </a:rPr>
              <a:t>VPN or ExpressRoute</a:t>
            </a:r>
          </a:p>
        </p:txBody>
      </p:sp>
      <p:cxnSp>
        <p:nvCxnSpPr>
          <p:cNvPr id="56" name="Connector (flow)"/>
          <p:cNvCxnSpPr/>
          <p:nvPr/>
        </p:nvCxnSpPr>
        <p:spPr>
          <a:xfrm>
            <a:off x="1463040" y="2011680"/>
            <a:ext cx="594360" cy="1828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554480" y="1600200"/>
            <a:ext cx="310896" cy="310896"/>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58" name="Connector (flow)"/>
          <p:cNvCxnSpPr/>
          <p:nvPr/>
        </p:nvCxnSpPr>
        <p:spPr>
          <a:xfrm>
            <a:off x="1783080" y="4754880"/>
            <a:ext cx="274320" cy="1371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flow)"/>
          <p:cNvCxnSpPr/>
          <p:nvPr/>
        </p:nvCxnSpPr>
        <p:spPr>
          <a:xfrm>
            <a:off x="3017520" y="4023360"/>
            <a:ext cx="0" cy="320040"/>
          </a:xfrm>
          <a:prstGeom prst="line">
            <a:avLst/>
          </a:prstGeom>
          <a:ln w="22225">
            <a:solidFill>
              <a:srgbClr val="000048"/>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108960" y="4050791"/>
            <a:ext cx="1371600" cy="274320"/>
          </a:xfrm>
          <a:prstGeom prst="rect">
            <a:avLst/>
          </a:prstGeom>
          <a:noFill/>
        </p:spPr>
        <p:txBody>
          <a:bodyPr wrap="square" lIns="0" rIns="0" tIns="0" bIns="0" anchor="t">
            <a:noAutofit/>
          </a:bodyPr>
          <a:lstStyle/>
          <a:p>
            <a:pPr algn="l"/>
            <a:r>
              <a:rPr sz="1000" b="0" i="0">
                <a:solidFill>
                  <a:srgbClr val="000048"/>
                </a:solidFill>
                <a:latin typeface="Arial"/>
              </a:rPr>
              <a:t>VNet peering</a:t>
            </a:r>
          </a:p>
        </p:txBody>
      </p:sp>
      <p:cxnSp>
        <p:nvCxnSpPr>
          <p:cNvPr id="61" name="Connector (data)"/>
          <p:cNvCxnSpPr/>
          <p:nvPr/>
        </p:nvCxnSpPr>
        <p:spPr>
          <a:xfrm flipH="1">
            <a:off x="5486400" y="3886200"/>
            <a:ext cx="1463040" cy="82296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269480" y="4069080"/>
            <a:ext cx="1463040" cy="274320"/>
          </a:xfrm>
          <a:prstGeom prst="rect">
            <a:avLst/>
          </a:prstGeom>
          <a:noFill/>
        </p:spPr>
        <p:txBody>
          <a:bodyPr wrap="square" lIns="0" rIns="0" tIns="0" bIns="0" anchor="t">
            <a:noAutofit/>
          </a:bodyPr>
          <a:lstStyle/>
          <a:p>
            <a:pPr algn="l"/>
            <a:r>
              <a:rPr sz="1000" b="0" i="0">
                <a:solidFill>
                  <a:srgbClr val="2F78C4"/>
                </a:solidFill>
                <a:latin typeface="Arial"/>
              </a:rPr>
              <a:t>egress via UDR</a:t>
            </a:r>
          </a:p>
        </p:txBody>
      </p:sp>
      <p:sp>
        <p:nvSpPr>
          <p:cNvPr id="63" name="Oval 62"/>
          <p:cNvSpPr/>
          <p:nvPr/>
        </p:nvSpPr>
        <p:spPr>
          <a:xfrm>
            <a:off x="6967728" y="3950208"/>
            <a:ext cx="256032" cy="256032"/>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5</a:t>
            </a:r>
          </a:p>
        </p:txBody>
      </p:sp>
      <p:cxnSp>
        <p:nvCxnSpPr>
          <p:cNvPr id="64" name="Connector (telemetry)"/>
          <p:cNvCxnSpPr/>
          <p:nvPr/>
        </p:nvCxnSpPr>
        <p:spPr>
          <a:xfrm flipH="1">
            <a:off x="10058400" y="3886200"/>
            <a:ext cx="1188720" cy="82296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144000" y="4069080"/>
            <a:ext cx="1325880" cy="274320"/>
          </a:xfrm>
          <a:prstGeom prst="rect">
            <a:avLst/>
          </a:prstGeom>
          <a:noFill/>
        </p:spPr>
        <p:txBody>
          <a:bodyPr wrap="square" lIns="0" rIns="0" tIns="0" bIns="0" anchor="t">
            <a:noAutofit/>
          </a:bodyPr>
          <a:lstStyle/>
          <a:p>
            <a:pPr algn="r"/>
            <a:r>
              <a:rPr sz="1000" b="0" i="0">
                <a:solidFill>
                  <a:srgbClr val="53565A"/>
                </a:solidFill>
                <a:latin typeface="Arial"/>
              </a:rPr>
              <a:t>DNS from hub</a:t>
            </a:r>
          </a:p>
        </p:txBody>
      </p:sp>
      <p:sp>
        <p:nvSpPr>
          <p:cNvPr id="66" name="Oval 65"/>
          <p:cNvSpPr/>
          <p:nvPr/>
        </p:nvSpPr>
        <p:spPr>
          <a:xfrm>
            <a:off x="11292840" y="3950208"/>
            <a:ext cx="256032" cy="256032"/>
          </a:xfrm>
          <a:prstGeom prst="ellipse">
            <a:avLst/>
          </a:prstGeom>
          <a:solidFill>
            <a:srgbClr val="5356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4</a:t>
            </a:r>
          </a:p>
        </p:txBody>
      </p:sp>
      <p:cxnSp>
        <p:nvCxnSpPr>
          <p:cNvPr id="67" name="Connector (flow)"/>
          <p:cNvCxnSpPr/>
          <p:nvPr/>
        </p:nvCxnSpPr>
        <p:spPr>
          <a:xfrm>
            <a:off x="4114800" y="2724912"/>
            <a:ext cx="39776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7680960" y="2450592"/>
            <a:ext cx="256032" cy="256032"/>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2</a:t>
            </a:r>
          </a:p>
        </p:txBody>
      </p:sp>
      <p:cxnSp>
        <p:nvCxnSpPr>
          <p:cNvPr id="69" name="Connector (flow)"/>
          <p:cNvCxnSpPr/>
          <p:nvPr/>
        </p:nvCxnSpPr>
        <p:spPr>
          <a:xfrm>
            <a:off x="548640" y="598932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1024128" y="5870448"/>
            <a:ext cx="169163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71" name="Connector (data)"/>
          <p:cNvCxnSpPr/>
          <p:nvPr/>
        </p:nvCxnSpPr>
        <p:spPr>
          <a:xfrm>
            <a:off x="2743200" y="5989320"/>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218688" y="5870448"/>
            <a:ext cx="1691639" cy="256032"/>
          </a:xfrm>
          <a:prstGeom prst="rect">
            <a:avLst/>
          </a:prstGeom>
          <a:noFill/>
        </p:spPr>
        <p:txBody>
          <a:bodyPr wrap="square" lIns="0" rIns="0" tIns="0" bIns="0" anchor="t">
            <a:noAutofit/>
          </a:bodyPr>
          <a:lstStyle/>
          <a:p>
            <a:pPr algn="l"/>
            <a:r>
              <a:rPr sz="1100" b="0" i="0">
                <a:solidFill>
                  <a:srgbClr val="53565A"/>
                </a:solidFill>
                <a:latin typeface="Arial"/>
              </a:rPr>
              <a:t>Data access</a:t>
            </a:r>
          </a:p>
        </p:txBody>
      </p:sp>
      <p:cxnSp>
        <p:nvCxnSpPr>
          <p:cNvPr id="73" name="Connector (telemetry)"/>
          <p:cNvCxnSpPr/>
          <p:nvPr/>
        </p:nvCxnSpPr>
        <p:spPr>
          <a:xfrm>
            <a:off x="4937759" y="5989320"/>
            <a:ext cx="411481"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413248" y="5870448"/>
            <a:ext cx="169163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75" name="TextBox 74"/>
          <p:cNvSpPr txBox="1"/>
          <p:nvPr/>
        </p:nvSpPr>
        <p:spPr>
          <a:xfrm>
            <a:off x="7223760" y="5870448"/>
            <a:ext cx="4389120" cy="274320"/>
          </a:xfrm>
          <a:prstGeom prst="rect">
            <a:avLst/>
          </a:prstGeom>
          <a:noFill/>
        </p:spPr>
        <p:txBody>
          <a:bodyPr wrap="square" lIns="0" rIns="0" tIns="0" bIns="0" anchor="t">
            <a:noAutofit/>
          </a:bodyPr>
          <a:lstStyle/>
          <a:p>
            <a:pPr algn="r"/>
            <a:r>
              <a:rPr sz="1100" b="0" i="0">
                <a:solidFill>
                  <a:srgbClr val="53565A"/>
                </a:solidFill>
                <a:latin typeface="Arial"/>
              </a:rPr>
              <a:t>Adapted from 11_baseline-landing-zone-networking.png</a:t>
            </a:r>
          </a:p>
        </p:txBody>
      </p:sp>
      <p:sp>
        <p:nvSpPr>
          <p:cNvPr id="76" name="TextBox 75"/>
          <p:cNvSpPr txBox="1"/>
          <p:nvPr/>
        </p:nvSpPr>
        <p:spPr>
          <a:xfrm>
            <a:off x="548640" y="6144768"/>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simplified from Microsoft source; validate subnets, DNS and routes per customer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Controlled egress through the hub firewall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sp>
        <p:nvSpPr>
          <p:cNvPr id="9" name="Rounded Rectangle 8"/>
          <p:cNvSpPr/>
          <p:nvPr/>
        </p:nvSpPr>
        <p:spPr>
          <a:xfrm>
            <a:off x="411480" y="1325880"/>
            <a:ext cx="3931920" cy="4023360"/>
          </a:xfrm>
          <a:prstGeom prst="roundRect">
            <a:avLst>
              <a:gd name="adj" fmla="val 232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380744"/>
            <a:ext cx="3712463" cy="237744"/>
          </a:xfrm>
          <a:prstGeom prst="rect">
            <a:avLst/>
          </a:prstGeom>
          <a:noFill/>
        </p:spPr>
        <p:txBody>
          <a:bodyPr wrap="square" lIns="0" rIns="0" tIns="0" bIns="0" anchor="t">
            <a:noAutofit/>
          </a:bodyPr>
          <a:lstStyle/>
          <a:p>
            <a:pPr algn="l"/>
            <a:r>
              <a:rPr sz="1100" b="1" i="0">
                <a:solidFill>
                  <a:srgbClr val="000048"/>
                </a:solidFill>
                <a:latin typeface="Arial"/>
              </a:rPr>
              <a:t>SPOKE SUBNETS WITH UDR TO HUB</a:t>
            </a:r>
          </a:p>
        </p:txBody>
      </p:sp>
      <p:sp>
        <p:nvSpPr>
          <p:cNvPr id="11" name="Rounded Rectangle 10"/>
          <p:cNvSpPr/>
          <p:nvPr/>
        </p:nvSpPr>
        <p:spPr>
          <a:xfrm>
            <a:off x="548640" y="169164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App Services" descr="Official Azure icon: App Servic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865376"/>
            <a:ext cx="384048" cy="384048"/>
          </a:xfrm>
          <a:prstGeom prst="rect">
            <a:avLst/>
          </a:prstGeom>
        </p:spPr>
      </p:pic>
      <p:sp>
        <p:nvSpPr>
          <p:cNvPr id="13" name="TextBox 12"/>
          <p:cNvSpPr txBox="1"/>
          <p:nvPr/>
        </p:nvSpPr>
        <p:spPr>
          <a:xfrm>
            <a:off x="1078992" y="1728216"/>
            <a:ext cx="3090672" cy="658368"/>
          </a:xfrm>
          <a:prstGeom prst="rect">
            <a:avLst/>
          </a:prstGeom>
          <a:noFill/>
        </p:spPr>
        <p:txBody>
          <a:bodyPr wrap="square" lIns="0" rIns="0" tIns="0" bIns="0" anchor="ctr">
            <a:noAutofit/>
          </a:bodyPr>
          <a:lstStyle/>
          <a:p>
            <a:pPr algn="l"/>
            <a:r>
              <a:rPr sz="1200" b="1" i="0">
                <a:solidFill>
                  <a:srgbClr val="000048"/>
                </a:solidFill>
                <a:latin typeface="Arial"/>
              </a:rPr>
              <a:t>App Service integration</a:t>
            </a:r>
          </a:p>
          <a:p>
            <a:pPr algn="l"/>
            <a:r>
              <a:rPr sz="1000" b="0" i="0">
                <a:solidFill>
                  <a:srgbClr val="53565A"/>
                </a:solidFill>
                <a:latin typeface="Arial"/>
              </a:rPr>
              <a:t>route 0.0.0.0/0 to firewall</a:t>
            </a:r>
          </a:p>
        </p:txBody>
      </p:sp>
      <p:cxnSp>
        <p:nvCxnSpPr>
          <p:cNvPr id="14" name="Connector (data)"/>
          <p:cNvCxnSpPr/>
          <p:nvPr/>
        </p:nvCxnSpPr>
        <p:spPr>
          <a:xfrm>
            <a:off x="4206240" y="2057400"/>
            <a:ext cx="914400" cy="128016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 y="256032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Foundry Agent Service" descr="Official Azure icon: Foundry Agent Servic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734056"/>
            <a:ext cx="384048" cy="384048"/>
          </a:xfrm>
          <a:prstGeom prst="rect">
            <a:avLst/>
          </a:prstGeom>
        </p:spPr>
      </p:pic>
      <p:sp>
        <p:nvSpPr>
          <p:cNvPr id="17" name="TextBox 16"/>
          <p:cNvSpPr txBox="1"/>
          <p:nvPr/>
        </p:nvSpPr>
        <p:spPr>
          <a:xfrm>
            <a:off x="1078992" y="2596896"/>
            <a:ext cx="3090672" cy="658368"/>
          </a:xfrm>
          <a:prstGeom prst="rect">
            <a:avLst/>
          </a:prstGeom>
          <a:noFill/>
        </p:spPr>
        <p:txBody>
          <a:bodyPr wrap="square" lIns="0" rIns="0" tIns="0" bIns="0" anchor="ctr">
            <a:noAutofit/>
          </a:bodyPr>
          <a:lstStyle/>
          <a:p>
            <a:pPr algn="l"/>
            <a:r>
              <a:rPr sz="1200" b="1" i="0">
                <a:solidFill>
                  <a:srgbClr val="000048"/>
                </a:solidFill>
                <a:latin typeface="Arial"/>
              </a:rPr>
              <a:t>Agent Service integration</a:t>
            </a:r>
          </a:p>
          <a:p>
            <a:pPr algn="l"/>
            <a:r>
              <a:rPr sz="1000" b="0" i="0">
                <a:solidFill>
                  <a:srgbClr val="53565A"/>
                </a:solidFill>
                <a:latin typeface="Arial"/>
              </a:rPr>
              <a:t>route 0.0.0.0/0 to firewall</a:t>
            </a:r>
          </a:p>
        </p:txBody>
      </p:sp>
      <p:cxnSp>
        <p:nvCxnSpPr>
          <p:cNvPr id="18" name="Connector (data)"/>
          <p:cNvCxnSpPr/>
          <p:nvPr/>
        </p:nvCxnSpPr>
        <p:spPr>
          <a:xfrm>
            <a:off x="4206240" y="2926080"/>
            <a:ext cx="914400" cy="41148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48640" y="3429000"/>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Virtual Machine" descr="Official Azure icon: Virtual Machin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3602736"/>
            <a:ext cx="384048" cy="384048"/>
          </a:xfrm>
          <a:prstGeom prst="rect">
            <a:avLst/>
          </a:prstGeom>
        </p:spPr>
      </p:pic>
      <p:sp>
        <p:nvSpPr>
          <p:cNvPr id="21" name="TextBox 20"/>
          <p:cNvSpPr txBox="1"/>
          <p:nvPr/>
        </p:nvSpPr>
        <p:spPr>
          <a:xfrm>
            <a:off x="1078992" y="3465576"/>
            <a:ext cx="3090672" cy="658368"/>
          </a:xfrm>
          <a:prstGeom prst="rect">
            <a:avLst/>
          </a:prstGeom>
          <a:noFill/>
        </p:spPr>
        <p:txBody>
          <a:bodyPr wrap="square" lIns="0" rIns="0" tIns="0" bIns="0" anchor="ctr">
            <a:noAutofit/>
          </a:bodyPr>
          <a:lstStyle/>
          <a:p>
            <a:pPr algn="l"/>
            <a:r>
              <a:rPr sz="1200" b="1" i="0">
                <a:solidFill>
                  <a:srgbClr val="000048"/>
                </a:solidFill>
                <a:latin typeface="Arial"/>
              </a:rPr>
              <a:t>Build agents</a:t>
            </a:r>
          </a:p>
          <a:p>
            <a:pPr algn="l"/>
            <a:r>
              <a:rPr sz="1000" b="0" i="0">
                <a:solidFill>
                  <a:srgbClr val="53565A"/>
                </a:solidFill>
                <a:latin typeface="Arial"/>
              </a:rPr>
              <a:t>route 0.0.0.0/0 to firewall</a:t>
            </a:r>
          </a:p>
        </p:txBody>
      </p:sp>
      <p:cxnSp>
        <p:nvCxnSpPr>
          <p:cNvPr id="22" name="Connector (data)"/>
          <p:cNvCxnSpPr/>
          <p:nvPr/>
        </p:nvCxnSpPr>
        <p:spPr>
          <a:xfrm flipV="1">
            <a:off x="4206240" y="3337560"/>
            <a:ext cx="914400" cy="4572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4297679"/>
            <a:ext cx="3657600" cy="731520"/>
          </a:xfrm>
          <a:prstGeom prst="roundRect">
            <a:avLst>
              <a:gd name="adj" fmla="val 10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Virtual Machine" descr="Official Azure icon: Virtual Machin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4471416"/>
            <a:ext cx="384048" cy="384048"/>
          </a:xfrm>
          <a:prstGeom prst="rect">
            <a:avLst/>
          </a:prstGeom>
        </p:spPr>
      </p:pic>
      <p:sp>
        <p:nvSpPr>
          <p:cNvPr id="25" name="TextBox 24"/>
          <p:cNvSpPr txBox="1"/>
          <p:nvPr/>
        </p:nvSpPr>
        <p:spPr>
          <a:xfrm>
            <a:off x="1078992" y="4334255"/>
            <a:ext cx="3090672" cy="658368"/>
          </a:xfrm>
          <a:prstGeom prst="rect">
            <a:avLst/>
          </a:prstGeom>
          <a:noFill/>
        </p:spPr>
        <p:txBody>
          <a:bodyPr wrap="square" lIns="0" rIns="0" tIns="0" bIns="0" anchor="ctr">
            <a:noAutofit/>
          </a:bodyPr>
          <a:lstStyle/>
          <a:p>
            <a:pPr algn="l"/>
            <a:r>
              <a:rPr sz="1200" b="1" i="0">
                <a:solidFill>
                  <a:srgbClr val="000048"/>
                </a:solidFill>
                <a:latin typeface="Arial"/>
              </a:rPr>
              <a:t>Jump boxes</a:t>
            </a:r>
          </a:p>
          <a:p>
            <a:pPr algn="l"/>
            <a:r>
              <a:rPr sz="1000" b="0" i="0">
                <a:solidFill>
                  <a:srgbClr val="53565A"/>
                </a:solidFill>
                <a:latin typeface="Arial"/>
              </a:rPr>
              <a:t>route 0.0.0.0/0 to firewall</a:t>
            </a:r>
          </a:p>
        </p:txBody>
      </p:sp>
      <p:cxnSp>
        <p:nvCxnSpPr>
          <p:cNvPr id="26" name="Connector (data)"/>
          <p:cNvCxnSpPr/>
          <p:nvPr/>
        </p:nvCxnSpPr>
        <p:spPr>
          <a:xfrm flipV="1">
            <a:off x="4206240" y="3337560"/>
            <a:ext cx="914400" cy="132588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120640" y="2103120"/>
            <a:ext cx="3017520" cy="2468880"/>
          </a:xfrm>
          <a:prstGeom prst="roundRect">
            <a:avLst>
              <a:gd name="adj" fmla="val 3703"/>
            </a:avLst>
          </a:prstGeom>
          <a:solidFill>
            <a:srgbClr val="FFFFFF"/>
          </a:solidFill>
          <a:ln w="15875">
            <a:solidFill>
              <a:srgbClr val="000048"/>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230368" y="2157984"/>
            <a:ext cx="2798063" cy="237744"/>
          </a:xfrm>
          <a:prstGeom prst="rect">
            <a:avLst/>
          </a:prstGeom>
          <a:noFill/>
        </p:spPr>
        <p:txBody>
          <a:bodyPr wrap="square" lIns="0" rIns="0" tIns="0" bIns="0" anchor="t">
            <a:noAutofit/>
          </a:bodyPr>
          <a:lstStyle/>
          <a:p>
            <a:pPr algn="l"/>
            <a:r>
              <a:rPr sz="1100" b="1" i="0">
                <a:solidFill>
                  <a:srgbClr val="000048"/>
                </a:solidFill>
                <a:latin typeface="Arial"/>
              </a:rPr>
              <a:t>HUB (CONNECTIVITY SUBSCRIPTION)</a:t>
            </a:r>
          </a:p>
        </p:txBody>
      </p:sp>
      <p:pic>
        <p:nvPicPr>
          <p:cNvPr id="29" name="Azure icon: Firewalls" descr="Official Azure icon: Firewall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77940" y="2633472"/>
            <a:ext cx="502920" cy="502920"/>
          </a:xfrm>
          <a:prstGeom prst="rect">
            <a:avLst/>
          </a:prstGeom>
        </p:spPr>
      </p:pic>
      <p:sp>
        <p:nvSpPr>
          <p:cNvPr id="30" name="TextBox 29"/>
          <p:cNvSpPr txBox="1"/>
          <p:nvPr/>
        </p:nvSpPr>
        <p:spPr>
          <a:xfrm>
            <a:off x="5385816" y="3172968"/>
            <a:ext cx="2487168" cy="512063"/>
          </a:xfrm>
          <a:prstGeom prst="rect">
            <a:avLst/>
          </a:prstGeom>
          <a:noFill/>
        </p:spPr>
        <p:txBody>
          <a:bodyPr wrap="square" lIns="0" rIns="0" tIns="0" bIns="0" anchor="t">
            <a:noAutofit/>
          </a:bodyPr>
          <a:lstStyle/>
          <a:p>
            <a:pPr algn="ctr"/>
            <a:r>
              <a:rPr sz="1300" b="1" i="0">
                <a:solidFill>
                  <a:srgbClr val="000048"/>
                </a:solidFill>
                <a:latin typeface="Arial"/>
              </a:rPr>
              <a:t>Azure Firewall</a:t>
            </a:r>
          </a:p>
          <a:p>
            <a:pPr algn="ctr"/>
            <a:r>
              <a:rPr sz="1100" b="0" i="0">
                <a:solidFill>
                  <a:srgbClr val="53565A"/>
                </a:solidFill>
                <a:latin typeface="Arial"/>
              </a:rPr>
              <a:t>application and network rules, logging</a:t>
            </a:r>
          </a:p>
        </p:txBody>
      </p:sp>
      <p:sp>
        <p:nvSpPr>
          <p:cNvPr id="31" name="Rounded Rectangle 30"/>
          <p:cNvSpPr/>
          <p:nvPr/>
        </p:nvSpPr>
        <p:spPr>
          <a:xfrm>
            <a:off x="8778240" y="2651760"/>
            <a:ext cx="1828800" cy="1097280"/>
          </a:xfrm>
          <a:prstGeom prst="roundRect">
            <a:avLst>
              <a:gd name="adj" fmla="val 6666"/>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Internet and partner endpoints</a:t>
            </a:r>
          </a:p>
          <a:p>
            <a:pPr algn="ctr"/>
            <a:r>
              <a:rPr sz="1100" b="0" i="0">
                <a:solidFill>
                  <a:srgbClr val="53565A"/>
                </a:solidFill>
                <a:latin typeface="Arial"/>
              </a:rPr>
              <a:t>allow-listed FQDNs</a:t>
            </a:r>
          </a:p>
        </p:txBody>
      </p:sp>
      <p:cxnSp>
        <p:nvCxnSpPr>
          <p:cNvPr id="32" name="Connector (data)"/>
          <p:cNvCxnSpPr/>
          <p:nvPr/>
        </p:nvCxnSpPr>
        <p:spPr>
          <a:xfrm>
            <a:off x="8138160" y="3200400"/>
            <a:ext cx="6400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183879" y="3291840"/>
            <a:ext cx="640080" cy="411480"/>
          </a:xfrm>
          <a:prstGeom prst="rect">
            <a:avLst/>
          </a:prstGeom>
          <a:noFill/>
        </p:spPr>
        <p:txBody>
          <a:bodyPr wrap="square" lIns="0" rIns="0" tIns="0" bIns="0" anchor="t">
            <a:noAutofit/>
          </a:bodyPr>
          <a:lstStyle/>
          <a:p>
            <a:pPr algn="ctr"/>
            <a:r>
              <a:rPr sz="1000" b="0" i="0">
                <a:solidFill>
                  <a:srgbClr val="2F78C4"/>
                </a:solidFill>
                <a:latin typeface="Arial"/>
              </a:rPr>
              <a:t>allowed only</a:t>
            </a:r>
          </a:p>
        </p:txBody>
      </p:sp>
      <p:sp>
        <p:nvSpPr>
          <p:cNvPr id="34" name="TextBox 33"/>
          <p:cNvSpPr txBox="1"/>
          <p:nvPr/>
        </p:nvSpPr>
        <p:spPr>
          <a:xfrm>
            <a:off x="8595360" y="1463040"/>
            <a:ext cx="3108960" cy="1005840"/>
          </a:xfrm>
          <a:prstGeom prst="rect">
            <a:avLst/>
          </a:prstGeom>
          <a:noFill/>
        </p:spPr>
        <p:txBody>
          <a:bodyPr wrap="square" lIns="0" rIns="0" tIns="0" bIns="0" anchor="t">
            <a:noAutofit/>
          </a:bodyPr>
          <a:lstStyle/>
          <a:p>
            <a:pPr algn="l"/>
            <a:r>
              <a:rPr sz="1300" b="0" i="0">
                <a:solidFill>
                  <a:srgbClr val="53565A"/>
                </a:solidFill>
                <a:latin typeface="Arial"/>
              </a:rPr>
              <a:t>Private endpoints keep Azure PaaS traffic off the internet path; firewall handles the rest.</a:t>
            </a:r>
          </a:p>
        </p:txBody>
      </p:sp>
      <p:sp>
        <p:nvSpPr>
          <p:cNvPr id="35" name="Rounded Rectangle 34"/>
          <p:cNvSpPr/>
          <p:nvPr/>
        </p:nvSpPr>
        <p:spPr>
          <a:xfrm>
            <a:off x="548640" y="55778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Validate effective routes and each managed service’s egress support before enforcing forced tunnelling.</a:t>
            </a:r>
          </a:p>
        </p:txBody>
      </p:sp>
      <p:sp>
        <p:nvSpPr>
          <p:cNvPr id="36" name="TextBox 35"/>
          <p:cNvSpPr txBox="1"/>
          <p:nvPr/>
        </p:nvSpPr>
        <p:spPr>
          <a:xfrm>
            <a:off x="548640" y="617220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simplified from Microsoft source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Private ingress is distinct from outbound connectivity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sp>
        <p:nvSpPr>
          <p:cNvPr id="8" name="Rounded Rectangle 7"/>
          <p:cNvSpPr/>
          <p:nvPr/>
        </p:nvSpPr>
        <p:spPr>
          <a:xfrm>
            <a:off x="548640" y="1463040"/>
            <a:ext cx="3566160" cy="2651760"/>
          </a:xfrm>
          <a:prstGeom prst="roundRect">
            <a:avLst>
              <a:gd name="adj" fmla="val 275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Application Gateways" descr="Official Azure icon: Application Gateway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645920"/>
            <a:ext cx="548640" cy="548640"/>
          </a:xfrm>
          <a:prstGeom prst="rect">
            <a:avLst/>
          </a:prstGeom>
        </p:spPr>
      </p:pic>
      <p:sp>
        <p:nvSpPr>
          <p:cNvPr id="10" name="TextBox 9"/>
          <p:cNvSpPr txBox="1"/>
          <p:nvPr/>
        </p:nvSpPr>
        <p:spPr>
          <a:xfrm>
            <a:off x="1417319" y="1737360"/>
            <a:ext cx="2560320" cy="411480"/>
          </a:xfrm>
          <a:prstGeom prst="rect">
            <a:avLst/>
          </a:prstGeom>
          <a:noFill/>
        </p:spPr>
        <p:txBody>
          <a:bodyPr wrap="square" lIns="0" rIns="0" tIns="0" bIns="0" anchor="t">
            <a:noAutofit/>
          </a:bodyPr>
          <a:lstStyle/>
          <a:p>
            <a:pPr algn="l"/>
            <a:r>
              <a:rPr sz="2200" b="1" i="0">
                <a:solidFill>
                  <a:srgbClr val="000048"/>
                </a:solidFill>
                <a:latin typeface="Arial"/>
              </a:rPr>
              <a:t>Inbound</a:t>
            </a:r>
          </a:p>
        </p:txBody>
      </p:sp>
      <p:sp>
        <p:nvSpPr>
          <p:cNvPr id="11" name="TextBox 10"/>
          <p:cNvSpPr txBox="1"/>
          <p:nvPr/>
        </p:nvSpPr>
        <p:spPr>
          <a:xfrm>
            <a:off x="731520" y="2377440"/>
            <a:ext cx="3200400" cy="2103120"/>
          </a:xfrm>
          <a:prstGeom prst="rect">
            <a:avLst/>
          </a:prstGeom>
          <a:noFill/>
        </p:spPr>
        <p:txBody>
          <a:bodyPr wrap="square" lIns="0" rIns="0" tIns="0" bIns="0" anchor="t">
            <a:noAutofit/>
          </a:bodyPr>
          <a:lstStyle/>
          <a:p>
            <a:pPr algn="l"/>
            <a:r>
              <a:rPr sz="1800" b="0" i="0">
                <a:solidFill>
                  <a:srgbClr val="1E1E2E"/>
                </a:solidFill>
                <a:latin typeface="Arial"/>
              </a:rPr>
              <a:t>Approved client to App Gateway WAF, then to the app’s private endpoint</a:t>
            </a:r>
          </a:p>
        </p:txBody>
      </p:sp>
      <p:cxnSp>
        <p:nvCxnSpPr>
          <p:cNvPr id="12" name="Connector (flow)"/>
          <p:cNvCxnSpPr/>
          <p:nvPr/>
        </p:nvCxnSpPr>
        <p:spPr>
          <a:xfrm>
            <a:off x="4114800" y="306324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297679" y="1463040"/>
            <a:ext cx="3566160" cy="2651760"/>
          </a:xfrm>
          <a:prstGeom prst="roundRect">
            <a:avLst>
              <a:gd name="adj" fmla="val 275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p Services" descr="Official Azure icon: App Service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0559" y="1645920"/>
            <a:ext cx="548640" cy="548640"/>
          </a:xfrm>
          <a:prstGeom prst="rect">
            <a:avLst/>
          </a:prstGeom>
        </p:spPr>
      </p:pic>
      <p:sp>
        <p:nvSpPr>
          <p:cNvPr id="15" name="TextBox 14"/>
          <p:cNvSpPr txBox="1"/>
          <p:nvPr/>
        </p:nvSpPr>
        <p:spPr>
          <a:xfrm>
            <a:off x="5166359" y="1737360"/>
            <a:ext cx="2560320" cy="411480"/>
          </a:xfrm>
          <a:prstGeom prst="rect">
            <a:avLst/>
          </a:prstGeom>
          <a:noFill/>
        </p:spPr>
        <p:txBody>
          <a:bodyPr wrap="square" lIns="0" rIns="0" tIns="0" bIns="0" anchor="t">
            <a:noAutofit/>
          </a:bodyPr>
          <a:lstStyle/>
          <a:p>
            <a:pPr algn="l"/>
            <a:r>
              <a:rPr sz="2200" b="1" i="0">
                <a:solidFill>
                  <a:srgbClr val="000048"/>
                </a:solidFill>
                <a:latin typeface="Arial"/>
              </a:rPr>
              <a:t>Runtime</a:t>
            </a:r>
          </a:p>
        </p:txBody>
      </p:sp>
      <p:sp>
        <p:nvSpPr>
          <p:cNvPr id="16" name="TextBox 15"/>
          <p:cNvSpPr txBox="1"/>
          <p:nvPr/>
        </p:nvSpPr>
        <p:spPr>
          <a:xfrm>
            <a:off x="4480559" y="2377440"/>
            <a:ext cx="3200400" cy="2103120"/>
          </a:xfrm>
          <a:prstGeom prst="rect">
            <a:avLst/>
          </a:prstGeom>
          <a:noFill/>
        </p:spPr>
        <p:txBody>
          <a:bodyPr wrap="square" lIns="0" rIns="0" tIns="0" bIns="0" anchor="t">
            <a:noAutofit/>
          </a:bodyPr>
          <a:lstStyle/>
          <a:p>
            <a:pPr algn="l"/>
            <a:r>
              <a:rPr sz="1800" b="0" i="0">
                <a:solidFill>
                  <a:srgbClr val="1E1E2E"/>
                </a:solidFill>
                <a:latin typeface="Arial"/>
              </a:rPr>
              <a:t>App host runs with a workload managed identity</a:t>
            </a:r>
          </a:p>
        </p:txBody>
      </p:sp>
      <p:cxnSp>
        <p:nvCxnSpPr>
          <p:cNvPr id="17" name="Connector (flow)"/>
          <p:cNvCxnSpPr/>
          <p:nvPr/>
        </p:nvCxnSpPr>
        <p:spPr>
          <a:xfrm>
            <a:off x="7863840" y="306324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46719" y="1463040"/>
            <a:ext cx="3566160" cy="2651760"/>
          </a:xfrm>
          <a:prstGeom prst="roundRect">
            <a:avLst>
              <a:gd name="adj" fmla="val 275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Private Endpoints" descr="Official Azure icon: Private Endpoint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29599" y="1645920"/>
            <a:ext cx="548640" cy="548640"/>
          </a:xfrm>
          <a:prstGeom prst="rect">
            <a:avLst/>
          </a:prstGeom>
        </p:spPr>
      </p:pic>
      <p:sp>
        <p:nvSpPr>
          <p:cNvPr id="20" name="TextBox 19"/>
          <p:cNvSpPr txBox="1"/>
          <p:nvPr/>
        </p:nvSpPr>
        <p:spPr>
          <a:xfrm>
            <a:off x="8915399" y="1737360"/>
            <a:ext cx="2560320" cy="411480"/>
          </a:xfrm>
          <a:prstGeom prst="rect">
            <a:avLst/>
          </a:prstGeom>
          <a:noFill/>
        </p:spPr>
        <p:txBody>
          <a:bodyPr wrap="square" lIns="0" rIns="0" tIns="0" bIns="0" anchor="t">
            <a:noAutofit/>
          </a:bodyPr>
          <a:lstStyle/>
          <a:p>
            <a:pPr algn="l"/>
            <a:r>
              <a:rPr sz="2200" b="1" i="0">
                <a:solidFill>
                  <a:srgbClr val="000048"/>
                </a:solidFill>
                <a:latin typeface="Arial"/>
              </a:rPr>
              <a:t>Outbound</a:t>
            </a:r>
          </a:p>
        </p:txBody>
      </p:sp>
      <p:sp>
        <p:nvSpPr>
          <p:cNvPr id="21" name="TextBox 20"/>
          <p:cNvSpPr txBox="1"/>
          <p:nvPr/>
        </p:nvSpPr>
        <p:spPr>
          <a:xfrm>
            <a:off x="8229599" y="2377440"/>
            <a:ext cx="3200400" cy="2103120"/>
          </a:xfrm>
          <a:prstGeom prst="rect">
            <a:avLst/>
          </a:prstGeom>
          <a:noFill/>
        </p:spPr>
        <p:txBody>
          <a:bodyPr wrap="square" lIns="0" rIns="0" tIns="0" bIns="0" anchor="t">
            <a:noAutofit/>
          </a:bodyPr>
          <a:lstStyle/>
          <a:p>
            <a:pPr algn="l"/>
            <a:r>
              <a:rPr sz="1800" b="0" i="0">
                <a:solidFill>
                  <a:srgbClr val="1E1E2E"/>
                </a:solidFill>
                <a:latin typeface="Arial"/>
              </a:rPr>
              <a:t>VNet integration to private endpoints for Foundry, Search, Storage, Key Vault</a:t>
            </a:r>
          </a:p>
        </p:txBody>
      </p:sp>
      <p:sp>
        <p:nvSpPr>
          <p:cNvPr id="22" name="Rounded Rectangle 21"/>
          <p:cNvSpPr/>
          <p:nvPr/>
        </p:nvSpPr>
        <p:spPr>
          <a:xfrm>
            <a:off x="548640" y="443484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universal private-network guarantee. Validate each selected service and API, including deployment access.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workload baseline: request 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ADAPTED FROM SOURCE"/>
          <p:cNvSpPr/>
          <p:nvPr/>
        </p:nvSpPr>
        <p:spPr>
          <a:xfrm>
            <a:off x="189865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3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pic>
        <p:nvPicPr>
          <p:cNvPr id="9"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8660" y="2084832"/>
            <a:ext cx="411480" cy="411480"/>
          </a:xfrm>
          <a:prstGeom prst="rect">
            <a:avLst/>
          </a:prstGeom>
        </p:spPr>
      </p:pic>
      <p:sp>
        <p:nvSpPr>
          <p:cNvPr id="10" name="TextBox 9"/>
          <p:cNvSpPr txBox="1"/>
          <p:nvPr/>
        </p:nvSpPr>
        <p:spPr>
          <a:xfrm>
            <a:off x="493776" y="2532888"/>
            <a:ext cx="841248" cy="310896"/>
          </a:xfrm>
          <a:prstGeom prst="rect">
            <a:avLst/>
          </a:prstGeom>
          <a:noFill/>
        </p:spPr>
        <p:txBody>
          <a:bodyPr wrap="square" lIns="0" rIns="0" tIns="0" bIns="0" anchor="t">
            <a:noAutofit/>
          </a:bodyPr>
          <a:lstStyle/>
          <a:p>
            <a:pPr algn="ctr"/>
            <a:r>
              <a:rPr sz="1300" b="1" i="0">
                <a:solidFill>
                  <a:srgbClr val="000048"/>
                </a:solidFill>
                <a:latin typeface="Arial"/>
              </a:rPr>
              <a:t>User</a:t>
            </a:r>
          </a:p>
        </p:txBody>
      </p:sp>
      <p:sp>
        <p:nvSpPr>
          <p:cNvPr id="11" name="Rounded Rectangle 10"/>
          <p:cNvSpPr/>
          <p:nvPr/>
        </p:nvSpPr>
        <p:spPr>
          <a:xfrm>
            <a:off x="1554480" y="1828800"/>
            <a:ext cx="14630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Application Gateways" descr="Official Azure icon: Application Gateway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57400" y="1901952"/>
            <a:ext cx="457200" cy="457200"/>
          </a:xfrm>
          <a:prstGeom prst="rect">
            <a:avLst/>
          </a:prstGeom>
        </p:spPr>
      </p:pic>
      <p:sp>
        <p:nvSpPr>
          <p:cNvPr id="13" name="TextBox 12"/>
          <p:cNvSpPr txBox="1"/>
          <p:nvPr/>
        </p:nvSpPr>
        <p:spPr>
          <a:xfrm>
            <a:off x="1591056" y="2395728"/>
            <a:ext cx="1389888" cy="512064"/>
          </a:xfrm>
          <a:prstGeom prst="rect">
            <a:avLst/>
          </a:prstGeom>
          <a:noFill/>
        </p:spPr>
        <p:txBody>
          <a:bodyPr wrap="square" lIns="0" rIns="0" tIns="0" bIns="0" anchor="t">
            <a:noAutofit/>
          </a:bodyPr>
          <a:lstStyle/>
          <a:p>
            <a:pPr algn="ctr"/>
            <a:r>
              <a:rPr sz="1300" b="1" i="0">
                <a:solidFill>
                  <a:srgbClr val="000048"/>
                </a:solidFill>
                <a:latin typeface="Arial"/>
              </a:rPr>
              <a:t>App Gateway</a:t>
            </a:r>
          </a:p>
          <a:p>
            <a:pPr algn="ctr"/>
            <a:r>
              <a:rPr sz="1100" b="0" i="0">
                <a:solidFill>
                  <a:srgbClr val="53565A"/>
                </a:solidFill>
                <a:latin typeface="Arial"/>
              </a:rPr>
              <a:t>WAF</a:t>
            </a:r>
          </a:p>
        </p:txBody>
      </p:sp>
      <p:sp>
        <p:nvSpPr>
          <p:cNvPr id="14" name="Rounded Rectangle 13"/>
          <p:cNvSpPr/>
          <p:nvPr/>
        </p:nvSpPr>
        <p:spPr>
          <a:xfrm>
            <a:off x="3429000" y="1828800"/>
            <a:ext cx="14630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5" name="Azure icon: App Services" descr="Official Azure icon: App Service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31920" y="1901952"/>
            <a:ext cx="457200" cy="457200"/>
          </a:xfrm>
          <a:prstGeom prst="rect">
            <a:avLst/>
          </a:prstGeom>
        </p:spPr>
      </p:pic>
      <p:sp>
        <p:nvSpPr>
          <p:cNvPr id="16" name="TextBox 15"/>
          <p:cNvSpPr txBox="1"/>
          <p:nvPr/>
        </p:nvSpPr>
        <p:spPr>
          <a:xfrm>
            <a:off x="3465576" y="2395728"/>
            <a:ext cx="1389888" cy="512064"/>
          </a:xfrm>
          <a:prstGeom prst="rect">
            <a:avLst/>
          </a:prstGeom>
          <a:noFill/>
        </p:spPr>
        <p:txBody>
          <a:bodyPr wrap="square" lIns="0" rIns="0" tIns="0" bIns="0" anchor="t">
            <a:noAutofit/>
          </a:bodyPr>
          <a:lstStyle/>
          <a:p>
            <a:pPr algn="ctr"/>
            <a:r>
              <a:rPr sz="1300" b="1" i="0">
                <a:solidFill>
                  <a:srgbClr val="000048"/>
                </a:solidFill>
                <a:latin typeface="Arial"/>
              </a:rPr>
              <a:t>App Service</a:t>
            </a:r>
          </a:p>
          <a:p>
            <a:pPr algn="ctr"/>
            <a:r>
              <a:rPr sz="1100" b="0" i="0">
                <a:solidFill>
                  <a:srgbClr val="53565A"/>
                </a:solidFill>
                <a:latin typeface="Arial"/>
              </a:rPr>
              <a:t>zone-redundant</a:t>
            </a:r>
          </a:p>
        </p:txBody>
      </p:sp>
      <p:sp>
        <p:nvSpPr>
          <p:cNvPr id="17" name="Rounded Rectangle 16"/>
          <p:cNvSpPr/>
          <p:nvPr/>
        </p:nvSpPr>
        <p:spPr>
          <a:xfrm>
            <a:off x="5257800" y="1325880"/>
            <a:ext cx="3703320" cy="2148840"/>
          </a:xfrm>
          <a:prstGeom prst="roundRect">
            <a:avLst>
              <a:gd name="adj" fmla="val 425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367528" y="1380744"/>
            <a:ext cx="3483863" cy="237744"/>
          </a:xfrm>
          <a:prstGeom prst="rect">
            <a:avLst/>
          </a:prstGeom>
          <a:noFill/>
        </p:spPr>
        <p:txBody>
          <a:bodyPr wrap="square" lIns="0" rIns="0" tIns="0" bIns="0" anchor="t">
            <a:noAutofit/>
          </a:bodyPr>
          <a:lstStyle/>
          <a:p>
            <a:pPr algn="l"/>
            <a:r>
              <a:rPr sz="1100" b="1" i="0">
                <a:solidFill>
                  <a:srgbClr val="000048"/>
                </a:solidFill>
                <a:latin typeface="Arial"/>
              </a:rPr>
              <a:t>MICROSOFT FOUNDRY</a:t>
            </a:r>
          </a:p>
        </p:txBody>
      </p:sp>
      <p:pic>
        <p:nvPicPr>
          <p:cNvPr id="19" name="Azure icon: Microsoft Foundry" descr="Official Azure icon: Microsoft Foundr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83580" y="1856231"/>
            <a:ext cx="411480" cy="411480"/>
          </a:xfrm>
          <a:prstGeom prst="rect">
            <a:avLst/>
          </a:prstGeom>
        </p:spPr>
      </p:pic>
      <p:sp>
        <p:nvSpPr>
          <p:cNvPr id="20" name="TextBox 19"/>
          <p:cNvSpPr txBox="1"/>
          <p:nvPr/>
        </p:nvSpPr>
        <p:spPr>
          <a:xfrm>
            <a:off x="5431536"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Foundry project</a:t>
            </a:r>
          </a:p>
        </p:txBody>
      </p:sp>
      <p:pic>
        <p:nvPicPr>
          <p:cNvPr id="21" name="Azure icon: Foundry Agent Service" descr="Official Azure icon: Foundry Agent Servic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972300" y="1856231"/>
            <a:ext cx="411480" cy="411480"/>
          </a:xfrm>
          <a:prstGeom prst="rect">
            <a:avLst/>
          </a:prstGeom>
        </p:spPr>
      </p:pic>
      <p:sp>
        <p:nvSpPr>
          <p:cNvPr id="22" name="TextBox 21"/>
          <p:cNvSpPr txBox="1"/>
          <p:nvPr/>
        </p:nvSpPr>
        <p:spPr>
          <a:xfrm>
            <a:off x="6620256"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Agent Service</a:t>
            </a:r>
          </a:p>
        </p:txBody>
      </p:sp>
      <p:pic>
        <p:nvPicPr>
          <p:cNvPr id="23" name="Azure icon: Foundry Models" descr="Official Azure icon: Foundry Model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115300" y="1856231"/>
            <a:ext cx="411480" cy="411480"/>
          </a:xfrm>
          <a:prstGeom prst="rect">
            <a:avLst/>
          </a:prstGeom>
        </p:spPr>
      </p:pic>
      <p:sp>
        <p:nvSpPr>
          <p:cNvPr id="24" name="TextBox 23"/>
          <p:cNvSpPr txBox="1"/>
          <p:nvPr/>
        </p:nvSpPr>
        <p:spPr>
          <a:xfrm>
            <a:off x="7763255" y="2304288"/>
            <a:ext cx="1115568" cy="310896"/>
          </a:xfrm>
          <a:prstGeom prst="rect">
            <a:avLst/>
          </a:prstGeom>
          <a:noFill/>
        </p:spPr>
        <p:txBody>
          <a:bodyPr wrap="square" lIns="0" rIns="0" tIns="0" bIns="0" anchor="t">
            <a:noAutofit/>
          </a:bodyPr>
          <a:lstStyle/>
          <a:p>
            <a:pPr algn="ctr"/>
            <a:r>
              <a:rPr sz="1300" b="1" i="0">
                <a:solidFill>
                  <a:srgbClr val="000048"/>
                </a:solidFill>
                <a:latin typeface="Arial"/>
              </a:rPr>
              <a:t>Model deployment</a:t>
            </a:r>
          </a:p>
        </p:txBody>
      </p:sp>
      <p:sp>
        <p:nvSpPr>
          <p:cNvPr id="25" name="Rounded Rectangle 24"/>
          <p:cNvSpPr/>
          <p:nvPr/>
        </p:nvSpPr>
        <p:spPr>
          <a:xfrm>
            <a:off x="9235440" y="1325880"/>
            <a:ext cx="2560320" cy="2148840"/>
          </a:xfrm>
          <a:prstGeom prst="roundRect">
            <a:avLst>
              <a:gd name="adj" fmla="val 4255"/>
            </a:avLst>
          </a:prstGeom>
          <a:solidFill>
            <a:srgbClr val="FAFAFA"/>
          </a:solidFill>
          <a:ln w="15875">
            <a:solidFill>
              <a:srgbClr val="A0A0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345167" y="1380744"/>
            <a:ext cx="2340863" cy="237744"/>
          </a:xfrm>
          <a:prstGeom prst="rect">
            <a:avLst/>
          </a:prstGeom>
          <a:noFill/>
        </p:spPr>
        <p:txBody>
          <a:bodyPr wrap="square" lIns="0" rIns="0" tIns="0" bIns="0" anchor="t">
            <a:noAutofit/>
          </a:bodyPr>
          <a:lstStyle/>
          <a:p>
            <a:pPr algn="l"/>
            <a:r>
              <a:rPr sz="1100" b="1" i="0">
                <a:solidFill>
                  <a:srgbClr val="000048"/>
                </a:solidFill>
                <a:latin typeface="Arial"/>
              </a:rPr>
              <a:t>AGENT DEPENDENCIES</a:t>
            </a:r>
          </a:p>
        </p:txBody>
      </p:sp>
      <p:pic>
        <p:nvPicPr>
          <p:cNvPr id="27"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747504" y="1764792"/>
            <a:ext cx="347472" cy="347472"/>
          </a:xfrm>
          <a:prstGeom prst="rect">
            <a:avLst/>
          </a:prstGeom>
        </p:spPr>
      </p:pic>
      <p:sp>
        <p:nvSpPr>
          <p:cNvPr id="28" name="TextBox 27"/>
          <p:cNvSpPr txBox="1"/>
          <p:nvPr/>
        </p:nvSpPr>
        <p:spPr>
          <a:xfrm>
            <a:off x="9363455" y="2148840"/>
            <a:ext cx="1115568" cy="277133"/>
          </a:xfrm>
          <a:prstGeom prst="rect">
            <a:avLst/>
          </a:prstGeom>
          <a:noFill/>
        </p:spPr>
        <p:txBody>
          <a:bodyPr wrap="square" lIns="0" rIns="0" tIns="0" bIns="0" anchor="t">
            <a:noAutofit/>
          </a:bodyPr>
          <a:lstStyle/>
          <a:p>
            <a:pPr algn="ctr"/>
            <a:r>
              <a:rPr sz="1100" b="1" i="0">
                <a:solidFill>
                  <a:srgbClr val="000048"/>
                </a:solidFill>
                <a:latin typeface="Arial"/>
              </a:rPr>
              <a:t>AI Search</a:t>
            </a:r>
          </a:p>
        </p:txBody>
      </p:sp>
      <p:pic>
        <p:nvPicPr>
          <p:cNvPr id="29" name="Azure icon: Azure Cosmos DB" descr="Official Azure icon: Azure Cosmos DB"/>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936224" y="1764792"/>
            <a:ext cx="347472" cy="347472"/>
          </a:xfrm>
          <a:prstGeom prst="rect">
            <a:avLst/>
          </a:prstGeom>
        </p:spPr>
      </p:pic>
      <p:sp>
        <p:nvSpPr>
          <p:cNvPr id="30" name="TextBox 29"/>
          <p:cNvSpPr txBox="1"/>
          <p:nvPr/>
        </p:nvSpPr>
        <p:spPr>
          <a:xfrm>
            <a:off x="10552176" y="2148840"/>
            <a:ext cx="1115568" cy="277133"/>
          </a:xfrm>
          <a:prstGeom prst="rect">
            <a:avLst/>
          </a:prstGeom>
          <a:noFill/>
        </p:spPr>
        <p:txBody>
          <a:bodyPr wrap="square" lIns="0" rIns="0" tIns="0" bIns="0" anchor="t">
            <a:noAutofit/>
          </a:bodyPr>
          <a:lstStyle/>
          <a:p>
            <a:pPr algn="ctr"/>
            <a:r>
              <a:rPr sz="1100" b="1" i="0">
                <a:solidFill>
                  <a:srgbClr val="000048"/>
                </a:solidFill>
                <a:latin typeface="Arial"/>
              </a:rPr>
              <a:t>Cosmos DB</a:t>
            </a:r>
          </a:p>
        </p:txBody>
      </p:sp>
      <p:pic>
        <p:nvPicPr>
          <p:cNvPr id="31" name="Azure icon: Storage account" descr="Official Azure icon: Storage account"/>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387584" y="2633472"/>
            <a:ext cx="347472" cy="347472"/>
          </a:xfrm>
          <a:prstGeom prst="rect">
            <a:avLst/>
          </a:prstGeom>
        </p:spPr>
      </p:pic>
      <p:sp>
        <p:nvSpPr>
          <p:cNvPr id="32" name="TextBox 31"/>
          <p:cNvSpPr txBox="1"/>
          <p:nvPr/>
        </p:nvSpPr>
        <p:spPr>
          <a:xfrm>
            <a:off x="9957815" y="3017520"/>
            <a:ext cx="1207007" cy="277133"/>
          </a:xfrm>
          <a:prstGeom prst="rect">
            <a:avLst/>
          </a:prstGeom>
          <a:noFill/>
        </p:spPr>
        <p:txBody>
          <a:bodyPr wrap="square" lIns="0" rIns="0" tIns="0" bIns="0" anchor="t">
            <a:noAutofit/>
          </a:bodyPr>
          <a:lstStyle/>
          <a:p>
            <a:pPr algn="ctr"/>
            <a:r>
              <a:rPr sz="1100" b="1" i="0">
                <a:solidFill>
                  <a:srgbClr val="000048"/>
                </a:solidFill>
                <a:latin typeface="Arial"/>
              </a:rPr>
              <a:t>Storage account</a:t>
            </a:r>
          </a:p>
        </p:txBody>
      </p:sp>
      <p:cxnSp>
        <p:nvCxnSpPr>
          <p:cNvPr id="33" name="Connector (flow)"/>
          <p:cNvCxnSpPr/>
          <p:nvPr/>
        </p:nvCxnSpPr>
        <p:spPr>
          <a:xfrm>
            <a:off x="1280160" y="224028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261872" y="1828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cxnSp>
        <p:nvCxnSpPr>
          <p:cNvPr id="35" name="Connector (flow)"/>
          <p:cNvCxnSpPr/>
          <p:nvPr/>
        </p:nvCxnSpPr>
        <p:spPr>
          <a:xfrm>
            <a:off x="3017520" y="224028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a:off x="4892040" y="224028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937760" y="1874519"/>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cxnSp>
        <p:nvCxnSpPr>
          <p:cNvPr id="38" name="Connector (flow)"/>
          <p:cNvCxnSpPr/>
          <p:nvPr/>
        </p:nvCxnSpPr>
        <p:spPr>
          <a:xfrm>
            <a:off x="6446520" y="2194560"/>
            <a:ext cx="2286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640080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cxnSp>
        <p:nvCxnSpPr>
          <p:cNvPr id="40" name="Connector (flow)"/>
          <p:cNvCxnSpPr/>
          <p:nvPr/>
        </p:nvCxnSpPr>
        <p:spPr>
          <a:xfrm>
            <a:off x="7589520" y="2194560"/>
            <a:ext cx="22860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763524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6</a:t>
            </a:r>
          </a:p>
        </p:txBody>
      </p:sp>
      <p:cxnSp>
        <p:nvCxnSpPr>
          <p:cNvPr id="42" name="Connector (flow)"/>
          <p:cNvCxnSpPr/>
          <p:nvPr/>
        </p:nvCxnSpPr>
        <p:spPr>
          <a:xfrm>
            <a:off x="8961120" y="237744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961120" y="301752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7</a:t>
            </a:r>
          </a:p>
        </p:txBody>
      </p:sp>
      <p:sp>
        <p:nvSpPr>
          <p:cNvPr id="44" name="Rounded Rectangle 43"/>
          <p:cNvSpPr/>
          <p:nvPr/>
        </p:nvSpPr>
        <p:spPr>
          <a:xfrm>
            <a:off x="1463040" y="3794760"/>
            <a:ext cx="10332720" cy="1417320"/>
          </a:xfrm>
          <a:prstGeom prst="roundRect">
            <a:avLst>
              <a:gd name="adj" fmla="val 645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572768" y="3849624"/>
            <a:ext cx="10113264" cy="237744"/>
          </a:xfrm>
          <a:prstGeom prst="rect">
            <a:avLst/>
          </a:prstGeom>
          <a:noFill/>
        </p:spPr>
        <p:txBody>
          <a:bodyPr wrap="square" lIns="0" rIns="0" tIns="0" bIns="0" anchor="t">
            <a:noAutofit/>
          </a:bodyPr>
          <a:lstStyle/>
          <a:p>
            <a:pPr algn="l"/>
            <a:r>
              <a:rPr sz="1100" b="1" i="0">
                <a:solidFill>
                  <a:srgbClr val="000048"/>
                </a:solidFill>
                <a:latin typeface="Arial"/>
              </a:rPr>
              <a:t>SPOKE VIRTUAL NETWORK</a:t>
            </a:r>
          </a:p>
        </p:txBody>
      </p:sp>
      <p:pic>
        <p:nvPicPr>
          <p:cNvPr id="46" name="Azure icon: Private Endpoints" descr="Official Azure icon: Private Endpoints"/>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673352" y="4233672"/>
            <a:ext cx="384048" cy="384048"/>
          </a:xfrm>
          <a:prstGeom prst="rect">
            <a:avLst/>
          </a:prstGeom>
        </p:spPr>
      </p:pic>
      <p:sp>
        <p:nvSpPr>
          <p:cNvPr id="47" name="TextBox 46"/>
          <p:cNvSpPr txBox="1"/>
          <p:nvPr/>
        </p:nvSpPr>
        <p:spPr>
          <a:xfrm>
            <a:off x="2130552" y="4197096"/>
            <a:ext cx="2724912" cy="457199"/>
          </a:xfrm>
          <a:prstGeom prst="rect">
            <a:avLst/>
          </a:prstGeom>
          <a:noFill/>
        </p:spPr>
        <p:txBody>
          <a:bodyPr wrap="square" lIns="0" rIns="0" tIns="0" bIns="0" anchor="ctr">
            <a:noAutofit/>
          </a:bodyPr>
          <a:lstStyle/>
          <a:p>
            <a:pPr algn="l"/>
            <a:r>
              <a:rPr sz="1200" b="1" i="0">
                <a:solidFill>
                  <a:srgbClr val="000048"/>
                </a:solidFill>
                <a:latin typeface="Arial"/>
              </a:rPr>
              <a:t>Private endpoints</a:t>
            </a:r>
          </a:p>
          <a:p>
            <a:pPr algn="l"/>
            <a:r>
              <a:rPr sz="1000" b="0" i="0">
                <a:solidFill>
                  <a:srgbClr val="53565A"/>
                </a:solidFill>
                <a:latin typeface="Arial"/>
              </a:rPr>
              <a:t>Foundry, Search, Storage, Key Vault, Cosmos DB</a:t>
            </a:r>
          </a:p>
        </p:txBody>
      </p:sp>
      <p:pic>
        <p:nvPicPr>
          <p:cNvPr id="48" name="Azure icon: Firewalls" descr="Official Azure icon: Firewalls"/>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193792" y="4233672"/>
            <a:ext cx="384048" cy="384048"/>
          </a:xfrm>
          <a:prstGeom prst="rect">
            <a:avLst/>
          </a:prstGeom>
        </p:spPr>
      </p:pic>
      <p:sp>
        <p:nvSpPr>
          <p:cNvPr id="49" name="TextBox 48"/>
          <p:cNvSpPr txBox="1"/>
          <p:nvPr/>
        </p:nvSpPr>
        <p:spPr>
          <a:xfrm>
            <a:off x="5650992" y="4197096"/>
            <a:ext cx="1719072" cy="457199"/>
          </a:xfrm>
          <a:prstGeom prst="rect">
            <a:avLst/>
          </a:prstGeom>
          <a:noFill/>
        </p:spPr>
        <p:txBody>
          <a:bodyPr wrap="square" lIns="0" rIns="0" tIns="0" bIns="0" anchor="ctr">
            <a:noAutofit/>
          </a:bodyPr>
          <a:lstStyle/>
          <a:p>
            <a:pPr algn="l"/>
            <a:r>
              <a:rPr sz="1200" b="1" i="0">
                <a:solidFill>
                  <a:srgbClr val="000048"/>
                </a:solidFill>
                <a:latin typeface="Arial"/>
              </a:rPr>
              <a:t>Azure Firewall</a:t>
            </a:r>
          </a:p>
          <a:p>
            <a:pPr algn="l"/>
            <a:r>
              <a:rPr sz="1000" b="0" i="0">
                <a:solidFill>
                  <a:srgbClr val="53565A"/>
                </a:solidFill>
                <a:latin typeface="Arial"/>
              </a:rPr>
              <a:t>outbound internet (5)</a:t>
            </a:r>
          </a:p>
        </p:txBody>
      </p:sp>
      <p:pic>
        <p:nvPicPr>
          <p:cNvPr id="50" name="Azure icon: Key Vault" descr="Official Azure icon: Key Vault"/>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7662672" y="4233672"/>
            <a:ext cx="384048" cy="384048"/>
          </a:xfrm>
          <a:prstGeom prst="rect">
            <a:avLst/>
          </a:prstGeom>
        </p:spPr>
      </p:pic>
      <p:sp>
        <p:nvSpPr>
          <p:cNvPr id="51" name="TextBox 50"/>
          <p:cNvSpPr txBox="1"/>
          <p:nvPr/>
        </p:nvSpPr>
        <p:spPr>
          <a:xfrm>
            <a:off x="8119872" y="4197096"/>
            <a:ext cx="1353312" cy="457199"/>
          </a:xfrm>
          <a:prstGeom prst="rect">
            <a:avLst/>
          </a:prstGeom>
          <a:noFill/>
        </p:spPr>
        <p:txBody>
          <a:bodyPr wrap="square" lIns="0" rIns="0" tIns="0" bIns="0" anchor="ctr">
            <a:noAutofit/>
          </a:bodyPr>
          <a:lstStyle/>
          <a:p>
            <a:pPr algn="l"/>
            <a:r>
              <a:rPr sz="1200" b="1" i="0">
                <a:solidFill>
                  <a:srgbClr val="000048"/>
                </a:solidFill>
                <a:latin typeface="Arial"/>
              </a:rPr>
              <a:t>Key Vault</a:t>
            </a:r>
          </a:p>
          <a:p>
            <a:pPr algn="l"/>
            <a:r>
              <a:rPr sz="1000" b="0" i="0">
                <a:solidFill>
                  <a:srgbClr val="53565A"/>
                </a:solidFill>
                <a:latin typeface="Arial"/>
              </a:rPr>
              <a:t>certificates, secrets</a:t>
            </a:r>
          </a:p>
        </p:txBody>
      </p:sp>
      <p:pic>
        <p:nvPicPr>
          <p:cNvPr id="52" name="Azure icon: Application Insights" descr="Official Azure icon: Application Insights"/>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9674352" y="4233672"/>
            <a:ext cx="384048" cy="384048"/>
          </a:xfrm>
          <a:prstGeom prst="rect">
            <a:avLst/>
          </a:prstGeom>
        </p:spPr>
      </p:pic>
      <p:sp>
        <p:nvSpPr>
          <p:cNvPr id="53" name="TextBox 52"/>
          <p:cNvSpPr txBox="1"/>
          <p:nvPr/>
        </p:nvSpPr>
        <p:spPr>
          <a:xfrm>
            <a:off x="10131552" y="4197096"/>
            <a:ext cx="1536192" cy="457199"/>
          </a:xfrm>
          <a:prstGeom prst="rect">
            <a:avLst/>
          </a:prstGeom>
          <a:noFill/>
        </p:spPr>
        <p:txBody>
          <a:bodyPr wrap="square" lIns="0" rIns="0" tIns="0" bIns="0" anchor="ctr">
            <a:noAutofit/>
          </a:bodyPr>
          <a:lstStyle/>
          <a:p>
            <a:pPr algn="l"/>
            <a:r>
              <a:rPr sz="1200" b="1" i="0">
                <a:solidFill>
                  <a:srgbClr val="000048"/>
                </a:solidFill>
                <a:latin typeface="Arial"/>
              </a:rPr>
              <a:t>App Insights</a:t>
            </a:r>
          </a:p>
          <a:p>
            <a:pPr algn="l"/>
            <a:r>
              <a:rPr sz="1000" b="0" i="0">
                <a:solidFill>
                  <a:srgbClr val="53565A"/>
                </a:solidFill>
                <a:latin typeface="Arial"/>
              </a:rPr>
              <a:t>monitoring</a:t>
            </a:r>
          </a:p>
        </p:txBody>
      </p:sp>
      <p:cxnSp>
        <p:nvCxnSpPr>
          <p:cNvPr id="54" name="Connector (data)"/>
          <p:cNvCxnSpPr/>
          <p:nvPr/>
        </p:nvCxnSpPr>
        <p:spPr>
          <a:xfrm flipH="1">
            <a:off x="6400800" y="3474720"/>
            <a:ext cx="777240" cy="68580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7269480" y="3520440"/>
            <a:ext cx="256032" cy="256032"/>
          </a:xfrm>
          <a:prstGeom prst="ellipse">
            <a:avLst/>
          </a:prstGeom>
          <a:solidFill>
            <a:srgbClr val="2F78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000" b="1" i="0">
                <a:solidFill>
                  <a:srgbClr val="FFFFFF"/>
                </a:solidFill>
                <a:latin typeface="Arial"/>
              </a:rPr>
              <a:t>4</a:t>
            </a:r>
          </a:p>
        </p:txBody>
      </p:sp>
      <p:cxnSp>
        <p:nvCxnSpPr>
          <p:cNvPr id="56" name="Connector (flow)"/>
          <p:cNvCxnSpPr/>
          <p:nvPr/>
        </p:nvCxnSpPr>
        <p:spPr>
          <a:xfrm>
            <a:off x="548640" y="5605272"/>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024128" y="5486400"/>
            <a:ext cx="169163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58" name="Connector (data)"/>
          <p:cNvCxnSpPr/>
          <p:nvPr/>
        </p:nvCxnSpPr>
        <p:spPr>
          <a:xfrm>
            <a:off x="2743200" y="5605272"/>
            <a:ext cx="411480" cy="0"/>
          </a:xfrm>
          <a:prstGeom prst="line">
            <a:avLst/>
          </a:prstGeom>
          <a:ln w="19050">
            <a:solidFill>
              <a:srgbClr val="2F78C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218688" y="5486400"/>
            <a:ext cx="1691639" cy="256032"/>
          </a:xfrm>
          <a:prstGeom prst="rect">
            <a:avLst/>
          </a:prstGeom>
          <a:noFill/>
        </p:spPr>
        <p:txBody>
          <a:bodyPr wrap="square" lIns="0" rIns="0" tIns="0" bIns="0" anchor="t">
            <a:noAutofit/>
          </a:bodyPr>
          <a:lstStyle/>
          <a:p>
            <a:pPr algn="l"/>
            <a:r>
              <a:rPr sz="1100" b="0" i="0">
                <a:solidFill>
                  <a:srgbClr val="53565A"/>
                </a:solidFill>
                <a:latin typeface="Arial"/>
              </a:rPr>
              <a:t>Data access</a:t>
            </a:r>
          </a:p>
        </p:txBody>
      </p:sp>
      <p:sp>
        <p:nvSpPr>
          <p:cNvPr id="60" name="TextBox 59"/>
          <p:cNvSpPr txBox="1"/>
          <p:nvPr/>
        </p:nvSpPr>
        <p:spPr>
          <a:xfrm>
            <a:off x="5120640" y="5486400"/>
            <a:ext cx="6492240" cy="274320"/>
          </a:xfrm>
          <a:prstGeom prst="rect">
            <a:avLst/>
          </a:prstGeom>
          <a:noFill/>
        </p:spPr>
        <p:txBody>
          <a:bodyPr wrap="square" lIns="0" rIns="0" tIns="0" bIns="0" anchor="t">
            <a:noAutofit/>
          </a:bodyPr>
          <a:lstStyle/>
          <a:p>
            <a:pPr algn="r"/>
            <a:r>
              <a:rPr sz="1100" b="0" i="0">
                <a:solidFill>
                  <a:srgbClr val="53565A"/>
                </a:solidFill>
                <a:latin typeface="Arial"/>
              </a:rPr>
              <a:t>Numbers follow the source diagram. Original: appendix O2.</a:t>
            </a:r>
          </a:p>
        </p:txBody>
      </p:sp>
      <p:sp>
        <p:nvSpPr>
          <p:cNvPr id="61" name="TextBox 60"/>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reference architecture  ·  simplified from Microsoft source; not a validated customer implementation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projects, model endpoints and agent hosting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Status chip: VERIFY PER ENGAGEMENT"/>
          <p:cNvSpPr/>
          <p:nvPr/>
        </p:nvSpPr>
        <p:spPr>
          <a:xfrm>
            <a:off x="1898650" y="274320"/>
            <a:ext cx="20878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VERIFY PER ENGAGEMENT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9" name="Table"/>
          <p:cNvGraphicFramePr>
            <a:graphicFrameLocks noGrp="1"/>
          </p:cNvGraphicFramePr>
          <p:nvPr/>
        </p:nvGraphicFramePr>
        <p:xfrm>
          <a:off x="548640" y="1371600"/>
          <a:ext cx="11091672" cy="2240280"/>
        </p:xfrm>
        <a:graphic>
          <a:graphicData uri="http://schemas.openxmlformats.org/drawingml/2006/table">
            <a:tbl>
              <a:tblPr firstRow="1" bandRow="0">
                <a:tableStyleId>{5C22544A-7EE6-4342-B048-85BDC9FD1C3A}</a:tableStyleId>
              </a:tblPr>
              <a:tblGrid>
                <a:gridCol w="2468880"/>
                <a:gridCol w="3108960"/>
                <a:gridCol w="3017520"/>
                <a:gridCol w="2496312"/>
              </a:tblGrid>
              <a:tr h="289560">
                <a:tc>
                  <a:txBody>
                    <a:bodyPr wrap="square" anchor="ctr">
                      <a:noAutofit/>
                    </a:bodyPr>
                    <a:lstStyle/>
                    <a:p>
                      <a:pPr algn="l"/>
                      <a:r>
                        <a:rPr sz="1300" b="1" i="0">
                          <a:solidFill>
                            <a:srgbClr val="FFFFFF"/>
                          </a:solidFill>
                          <a:latin typeface="Arial"/>
                        </a:rPr>
                        <a:t>Hosting route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Platform pattern CIS Infra provides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Lifecycle control (verified)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Watch-outs</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Foundry prompt agents and workflows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Foundry project, private endpoints, agent subnet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Stop when published; unpublished must be deleted to stop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Stop does not end existing runs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 hosted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As above, plus compute quota</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Start and stop; stop deallocates compute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Check region support</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Customer-hosted (Container Apps, AKS)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Spoke subnet, identity, registry, ingress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Register as custom agent: Block or Unblock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Block covers proxy path, not host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Logic Apps agent loops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Logic Apps with VNet integration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Stop the Logic Apps resource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Stops every workflow in it; no traces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548640" y="4892040"/>
          <a:ext cx="11091672" cy="777240"/>
        </p:xfrm>
        <a:graphic>
          <a:graphicData uri="http://schemas.openxmlformats.org/drawingml/2006/table">
            <a:tbl>
              <a:tblPr firstRow="1" bandRow="0">
                <a:tableStyleId>{5C22544A-7EE6-4342-B048-85BDC9FD1C3A}</a:tableStyleId>
              </a:tblPr>
              <a:tblGrid>
                <a:gridCol w="2468880"/>
                <a:gridCol w="8622792"/>
              </a:tblGrid>
              <a:tr h="289560">
                <a:tc>
                  <a:txBody>
                    <a:bodyPr wrap="square" anchor="ctr">
                      <a:noAutofit/>
                    </a:bodyPr>
                    <a:lstStyle/>
                    <a:p>
                      <a:pPr algn="l"/>
                      <a:r>
                        <a:rPr sz="13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Rule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Model endpoint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Approved deployment type and model version per environment; quota checked; processing boundary approved (appendix A14)</a:t>
                      </a:r>
                    </a:p>
                  </a:txBody>
                  <a:tcPr marL="73152" marR="73152" marT="36576" marB="36576"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Search, storage and workload data dependencies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8" name="Table"/>
          <p:cNvGraphicFramePr>
            <a:graphicFrameLocks noGrp="1"/>
          </p:cNvGraphicFramePr>
          <p:nvPr/>
        </p:nvGraphicFramePr>
        <p:xfrm>
          <a:off x="548640" y="1371600"/>
          <a:ext cx="11091672" cy="2727960"/>
        </p:xfrm>
        <a:graphic>
          <a:graphicData uri="http://schemas.openxmlformats.org/drawingml/2006/table">
            <a:tbl>
              <a:tblPr firstRow="1" bandRow="0">
                <a:tableStyleId>{5C22544A-7EE6-4342-B048-85BDC9FD1C3A}</a:tableStyleId>
              </a:tblPr>
              <a:tblGrid>
                <a:gridCol w="2011680"/>
                <a:gridCol w="2377440"/>
                <a:gridCol w="3566160"/>
                <a:gridCol w="3136392"/>
              </a:tblGrid>
              <a:tr h="289560">
                <a:tc>
                  <a:txBody>
                    <a:bodyPr wrap="square" anchor="ctr">
                      <a:noAutofit/>
                    </a:bodyPr>
                    <a:lstStyle/>
                    <a:p>
                      <a:pPr algn="l"/>
                      <a:r>
                        <a:rPr sz="1300" b="1" i="0">
                          <a:solidFill>
                            <a:srgbClr val="FFFFFF"/>
                          </a:solidFill>
                          <a:latin typeface="Arial"/>
                        </a:rPr>
                        <a:t>Dependency</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Azure service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CIS Infra provides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Owned elsewhere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Retrieval index</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AI Search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Service, private endpoint, identity, diagnostics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Index design (Data); indexing pipelines (Data Eng.)</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Documents and files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Storage account (blob containers)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Account, private endpoint, network rules, lifecycle policy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Classification and retention (Data); loads (Data Eng.)</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Agent threads and state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Cosmos DB</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Account for Agent Service standard setup, backup policy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Data model (AI)</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Secrets and certificates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Key Vault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Vault, RBAC, rotation alerts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Secret content (workload team)</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Source systems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Customer systems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Network path and DNS only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Data rights and access (customer source owner)</a:t>
                      </a:r>
                    </a:p>
                  </a:txBody>
                  <a:tcPr marL="73152" marR="73152" marT="36576" marB="36576" anchor="ctr">
                    <a:solidFill>
                      <a:srgbClr val="FFFFFF"/>
                    </a:solidFill>
                  </a:tcPr>
                </a:tc>
              </a:tr>
            </a:tbl>
          </a:graphicData>
        </a:graphic>
      </p:graphicFrame>
      <p:pic>
        <p:nvPicPr>
          <p:cNvPr id="9" name="Azure icon: AI Search (Cognitive Search icon)" descr="Official Azure icon: AI Search (Cognitive Search icon)"/>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8640" y="5303520"/>
            <a:ext cx="411480" cy="411480"/>
          </a:xfrm>
          <a:prstGeom prst="rect">
            <a:avLst/>
          </a:prstGeom>
        </p:spPr>
      </p:pic>
      <p:pic>
        <p:nvPicPr>
          <p:cNvPr id="10" name="Azure icon: Storage account" descr="Official Azure icon: Storage accou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43000" y="5303520"/>
            <a:ext cx="411480" cy="411480"/>
          </a:xfrm>
          <a:prstGeom prst="rect">
            <a:avLst/>
          </a:prstGeom>
        </p:spPr>
      </p:pic>
      <p:pic>
        <p:nvPicPr>
          <p:cNvPr id="11" name="Azure icon: Azure Cosmos DB" descr="Official Azure icon: Azure Cosmos DB"/>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737360" y="5303520"/>
            <a:ext cx="411480" cy="411480"/>
          </a:xfrm>
          <a:prstGeom prst="rect">
            <a:avLst/>
          </a:prstGeom>
        </p:spPr>
      </p:pic>
      <p:pic>
        <p:nvPicPr>
          <p:cNvPr id="12" name="Azure icon: Key Vault" descr="Official Azure icon: Key Vault"/>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331720" y="5303520"/>
            <a:ext cx="411480" cy="411480"/>
          </a:xfrm>
          <a:prstGeom prst="rect">
            <a:avLst/>
          </a:prstGeom>
        </p:spPr>
      </p:pic>
      <p:sp>
        <p:nvSpPr>
          <p:cNvPr id="13" name="TextBox 12"/>
          <p:cNvSpPr txBox="1"/>
          <p:nvPr/>
        </p:nvSpPr>
        <p:spPr>
          <a:xfrm>
            <a:off x="3017520" y="5321808"/>
            <a:ext cx="8595360" cy="457200"/>
          </a:xfrm>
          <a:prstGeom prst="rect">
            <a:avLst/>
          </a:prstGeom>
          <a:noFill/>
        </p:spPr>
        <p:txBody>
          <a:bodyPr wrap="square" lIns="0" rIns="0" tIns="0" bIns="0" anchor="t">
            <a:noAutofit/>
          </a:bodyPr>
          <a:lstStyle/>
          <a:p>
            <a:pPr algn="l"/>
            <a:r>
              <a:rPr sz="1400" b="0" i="0">
                <a:solidFill>
                  <a:srgbClr val="53565A"/>
                </a:solidFill>
                <a:latin typeface="Arial"/>
              </a:rPr>
              <a:t>Platform readiness does not imply data quality or permission propagation; those are separate acceptance gates.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Terraform, CI/CD, approvals and environment promotion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sp>
        <p:nvSpPr>
          <p:cNvPr id="9" name="Rounded Rectangle 8"/>
          <p:cNvSpPr/>
          <p:nvPr/>
        </p:nvSpPr>
        <p:spPr>
          <a:xfrm>
            <a:off x="548640"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zure DevOps" descr="Official Azure icon: Azure DevO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03020" y="1627632"/>
            <a:ext cx="502920" cy="502920"/>
          </a:xfrm>
          <a:prstGeom prst="rect">
            <a:avLst/>
          </a:prstGeom>
        </p:spPr>
      </p:pic>
      <p:sp>
        <p:nvSpPr>
          <p:cNvPr id="11" name="TextBox 10"/>
          <p:cNvSpPr txBox="1"/>
          <p:nvPr/>
        </p:nvSpPr>
        <p:spPr>
          <a:xfrm>
            <a:off x="585216"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Pull request</a:t>
            </a:r>
          </a:p>
          <a:p>
            <a:pPr algn="ctr"/>
            <a:r>
              <a:rPr sz="1200" b="0" i="0">
                <a:solidFill>
                  <a:srgbClr val="53565A"/>
                </a:solidFill>
                <a:latin typeface="Arial"/>
              </a:rPr>
              <a:t>plan, policy and security scans</a:t>
            </a:r>
          </a:p>
        </p:txBody>
      </p:sp>
      <p:cxnSp>
        <p:nvCxnSpPr>
          <p:cNvPr id="12" name="Connector (flow)"/>
          <p:cNvCxnSpPr/>
          <p:nvPr/>
        </p:nvCxnSpPr>
        <p:spPr>
          <a:xfrm>
            <a:off x="2560320" y="233172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16352"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570732" y="1627632"/>
            <a:ext cx="502920" cy="502920"/>
          </a:xfrm>
          <a:prstGeom prst="rect">
            <a:avLst/>
          </a:prstGeom>
        </p:spPr>
      </p:pic>
      <p:sp>
        <p:nvSpPr>
          <p:cNvPr id="15" name="TextBox 14"/>
          <p:cNvSpPr txBox="1"/>
          <p:nvPr/>
        </p:nvSpPr>
        <p:spPr>
          <a:xfrm>
            <a:off x="2852928"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Dev</a:t>
            </a:r>
          </a:p>
          <a:p>
            <a:pPr algn="ctr"/>
            <a:r>
              <a:rPr sz="1200" b="0" i="0">
                <a:solidFill>
                  <a:srgbClr val="53565A"/>
                </a:solidFill>
                <a:latin typeface="Arial"/>
              </a:rPr>
              <a:t>auto-apply after review</a:t>
            </a:r>
          </a:p>
        </p:txBody>
      </p:sp>
      <p:cxnSp>
        <p:nvCxnSpPr>
          <p:cNvPr id="16" name="Connector (flow)"/>
          <p:cNvCxnSpPr/>
          <p:nvPr/>
        </p:nvCxnSpPr>
        <p:spPr>
          <a:xfrm>
            <a:off x="4828032" y="2331720"/>
            <a:ext cx="25603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084064"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38444" y="1627632"/>
            <a:ext cx="502920" cy="502920"/>
          </a:xfrm>
          <a:prstGeom prst="rect">
            <a:avLst/>
          </a:prstGeom>
        </p:spPr>
      </p:pic>
      <p:sp>
        <p:nvSpPr>
          <p:cNvPr id="19" name="TextBox 18"/>
          <p:cNvSpPr txBox="1"/>
          <p:nvPr/>
        </p:nvSpPr>
        <p:spPr>
          <a:xfrm>
            <a:off x="5120640"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Test</a:t>
            </a:r>
          </a:p>
          <a:p>
            <a:pPr algn="ctr"/>
            <a:r>
              <a:rPr sz="1200" b="0" i="0">
                <a:solidFill>
                  <a:srgbClr val="53565A"/>
                </a:solidFill>
                <a:latin typeface="Arial"/>
              </a:rPr>
              <a:t>integration and network tests</a:t>
            </a:r>
          </a:p>
        </p:txBody>
      </p:sp>
      <p:cxnSp>
        <p:nvCxnSpPr>
          <p:cNvPr id="20" name="Connector (flow)"/>
          <p:cNvCxnSpPr/>
          <p:nvPr/>
        </p:nvCxnSpPr>
        <p:spPr>
          <a:xfrm>
            <a:off x="7095744" y="2331720"/>
            <a:ext cx="25603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51775" y="1554480"/>
            <a:ext cx="2011680" cy="1600200"/>
          </a:xfrm>
          <a:prstGeom prst="roundRect">
            <a:avLst>
              <a:gd name="adj" fmla="val 4571"/>
            </a:avLst>
          </a:prstGeom>
          <a:solidFill>
            <a:srgbClr val="EFEFFC"/>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6155" y="1627632"/>
            <a:ext cx="502920" cy="502920"/>
          </a:xfrm>
          <a:prstGeom prst="rect">
            <a:avLst/>
          </a:prstGeom>
        </p:spPr>
      </p:pic>
      <p:sp>
        <p:nvSpPr>
          <p:cNvPr id="23" name="TextBox 22"/>
          <p:cNvSpPr txBox="1"/>
          <p:nvPr/>
        </p:nvSpPr>
        <p:spPr>
          <a:xfrm>
            <a:off x="7388351"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Approval</a:t>
            </a:r>
          </a:p>
          <a:p>
            <a:pPr algn="ctr"/>
            <a:r>
              <a:rPr sz="1200" b="0" i="0">
                <a:solidFill>
                  <a:srgbClr val="53565A"/>
                </a:solidFill>
                <a:latin typeface="Arial"/>
              </a:rPr>
              <a:t>customer change authority</a:t>
            </a:r>
          </a:p>
        </p:txBody>
      </p:sp>
      <p:cxnSp>
        <p:nvCxnSpPr>
          <p:cNvPr id="24" name="Connector (flow)"/>
          <p:cNvCxnSpPr/>
          <p:nvPr/>
        </p:nvCxnSpPr>
        <p:spPr>
          <a:xfrm>
            <a:off x="9363455" y="2331720"/>
            <a:ext cx="256033"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619488" y="1554480"/>
            <a:ext cx="2011680" cy="1600200"/>
          </a:xfrm>
          <a:prstGeom prst="roundRect">
            <a:avLst>
              <a:gd name="adj" fmla="val 4571"/>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6" name="Azure icon: Subscriptions" descr="Official Azure icon: Subscription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373867" y="1627632"/>
            <a:ext cx="502920" cy="502920"/>
          </a:xfrm>
          <a:prstGeom prst="rect">
            <a:avLst/>
          </a:prstGeom>
        </p:spPr>
      </p:pic>
      <p:sp>
        <p:nvSpPr>
          <p:cNvPr id="27" name="TextBox 26"/>
          <p:cNvSpPr txBox="1"/>
          <p:nvPr/>
        </p:nvSpPr>
        <p:spPr>
          <a:xfrm>
            <a:off x="9656063" y="2167128"/>
            <a:ext cx="1938528" cy="969264"/>
          </a:xfrm>
          <a:prstGeom prst="rect">
            <a:avLst/>
          </a:prstGeom>
          <a:noFill/>
        </p:spPr>
        <p:txBody>
          <a:bodyPr wrap="square" lIns="0" rIns="0" tIns="0" bIns="0" anchor="t">
            <a:noAutofit/>
          </a:bodyPr>
          <a:lstStyle/>
          <a:p>
            <a:pPr algn="ctr"/>
            <a:r>
              <a:rPr sz="1500" b="1" i="0">
                <a:solidFill>
                  <a:srgbClr val="000048"/>
                </a:solidFill>
                <a:latin typeface="Arial"/>
              </a:rPr>
              <a:t>Production</a:t>
            </a:r>
          </a:p>
          <a:p>
            <a:pPr algn="ctr"/>
            <a:r>
              <a:rPr sz="1200" b="0" i="0">
                <a:solidFill>
                  <a:srgbClr val="53565A"/>
                </a:solidFill>
                <a:latin typeface="Arial"/>
              </a:rPr>
              <a:t>apply; drift check; rollback ready</a:t>
            </a:r>
          </a:p>
        </p:txBody>
      </p:sp>
      <p:graphicFrame>
        <p:nvGraphicFramePr>
          <p:cNvPr id="28" name="Table"/>
          <p:cNvGraphicFramePr>
            <a:graphicFrameLocks noGrp="1"/>
          </p:cNvGraphicFramePr>
          <p:nvPr/>
        </p:nvGraphicFramePr>
        <p:xfrm>
          <a:off x="548640" y="3520440"/>
          <a:ext cx="11091672" cy="1524000"/>
        </p:xfrm>
        <a:graphic>
          <a:graphicData uri="http://schemas.openxmlformats.org/drawingml/2006/table">
            <a:tbl>
              <a:tblPr firstRow="1" bandRow="0">
                <a:tableStyleId>{5C22544A-7EE6-4342-B048-85BDC9FD1C3A}</a:tableStyleId>
              </a:tblPr>
              <a:tblGrid>
                <a:gridCol w="1828800"/>
                <a:gridCol w="9262872"/>
              </a:tblGrid>
              <a:tr h="304800">
                <a:tc>
                  <a:txBody>
                    <a:bodyPr wrap="square" anchor="ctr">
                      <a:noAutofit/>
                    </a:bodyPr>
                    <a:lstStyle/>
                    <a:p>
                      <a:pPr algn="l"/>
                      <a:r>
                        <a:rPr sz="14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Rule</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State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Remote state per environment; locked; access by deployment identity only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Identity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Federated pipeline identity per environment; no stored secrets</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Evidence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Plan output, test results and approval stored with each release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Rollback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Previous version redeployable; tested before acceptance</a:t>
                      </a:r>
                    </a:p>
                  </a:txBody>
                  <a:tcPr marL="73152" marR="73152" marT="36576" marB="36576" anchor="ctr">
                    <a:solidFill>
                      <a:srgbClr val="F5F5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Development, test and production separation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8" name="Table"/>
          <p:cNvGraphicFramePr>
            <a:graphicFrameLocks noGrp="1"/>
          </p:cNvGraphicFramePr>
          <p:nvPr/>
        </p:nvGraphicFramePr>
        <p:xfrm>
          <a:off x="548640" y="1371600"/>
          <a:ext cx="11091672" cy="2560320"/>
        </p:xfrm>
        <a:graphic>
          <a:graphicData uri="http://schemas.openxmlformats.org/drawingml/2006/table">
            <a:tbl>
              <a:tblPr firstRow="1" bandRow="0">
                <a:tableStyleId>{5C22544A-7EE6-4342-B048-85BDC9FD1C3A}</a:tableStyleId>
              </a:tblPr>
              <a:tblGrid>
                <a:gridCol w="2194560"/>
                <a:gridCol w="2834640"/>
                <a:gridCol w="2834640"/>
                <a:gridCol w="3227832"/>
              </a:tblGrid>
              <a:tr h="304800">
                <a:tc>
                  <a:txBody>
                    <a:bodyPr wrap="square" anchor="ctr">
                      <a:noAutofit/>
                    </a:bodyPr>
                    <a:lstStyle/>
                    <a:p>
                      <a:pPr algn="l"/>
                      <a:r>
                        <a:rPr sz="1400" b="1" i="0">
                          <a:solidFill>
                            <a:srgbClr val="FFFFFF"/>
                          </a:solidFill>
                          <a:latin typeface="Arial"/>
                        </a:rPr>
                        <a:t>Aspect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Development</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Test (optional)</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Production</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Subscription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Non-production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Production, separate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Synthetic or masked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Approved test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Live, per data owner approval</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Model deployment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Standard, low quota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Same type as 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Approved type and processing boundary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Access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Engineers, PIM optional</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Engineers via pipeline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Pipeline only; PIM for operators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Network</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 WAF, egress firewall</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Telemetry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Short retention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As production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Agreed retention; alerts routed</a:t>
                      </a:r>
                    </a:p>
                  </a:txBody>
                  <a:tcPr marL="73152" marR="73152" marT="36576" marB="36576" anchor="ctr">
                    <a:solidFill>
                      <a:srgbClr val="F5F5F2"/>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Monitoring, budgets, containment and recovery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sp>
        <p:nvSpPr>
          <p:cNvPr id="8" name="Rounded Rectangle 7"/>
          <p:cNvSpPr/>
          <p:nvPr/>
        </p:nvSpPr>
        <p:spPr>
          <a:xfrm>
            <a:off x="548640" y="137160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Azure Monitor" descr="Official Azure icon: Azure Monito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554480"/>
            <a:ext cx="502920" cy="502920"/>
          </a:xfrm>
          <a:prstGeom prst="rect">
            <a:avLst/>
          </a:prstGeom>
        </p:spPr>
      </p:pic>
      <p:sp>
        <p:nvSpPr>
          <p:cNvPr id="10" name="TextBox 9"/>
          <p:cNvSpPr txBox="1"/>
          <p:nvPr/>
        </p:nvSpPr>
        <p:spPr>
          <a:xfrm>
            <a:off x="1417319" y="1572768"/>
            <a:ext cx="4480560" cy="411480"/>
          </a:xfrm>
          <a:prstGeom prst="rect">
            <a:avLst/>
          </a:prstGeom>
          <a:noFill/>
        </p:spPr>
        <p:txBody>
          <a:bodyPr wrap="square" lIns="0" rIns="0" tIns="0" bIns="0" anchor="t">
            <a:noAutofit/>
          </a:bodyPr>
          <a:lstStyle/>
          <a:p>
            <a:pPr algn="l"/>
            <a:r>
              <a:rPr sz="1900" b="1" i="0">
                <a:solidFill>
                  <a:srgbClr val="000048"/>
                </a:solidFill>
                <a:latin typeface="Arial"/>
              </a:rPr>
              <a:t>Monitoring</a:t>
            </a:r>
          </a:p>
        </p:txBody>
      </p:sp>
      <p:sp>
        <p:nvSpPr>
          <p:cNvPr id="11" name="TextBox 10"/>
          <p:cNvSpPr txBox="1"/>
          <p:nvPr/>
        </p:nvSpPr>
        <p:spPr>
          <a:xfrm>
            <a:off x="1417319" y="2029967"/>
            <a:ext cx="4434840" cy="1188720"/>
          </a:xfrm>
          <a:prstGeom prst="rect">
            <a:avLst/>
          </a:prstGeom>
          <a:noFill/>
        </p:spPr>
        <p:txBody>
          <a:bodyPr wrap="square" lIns="0" rIns="0" tIns="0" bIns="0" anchor="t">
            <a:noAutofit/>
          </a:bodyPr>
          <a:lstStyle/>
          <a:p>
            <a:pPr algn="l"/>
            <a:r>
              <a:rPr sz="1500" b="0" i="0">
                <a:solidFill>
                  <a:srgbClr val="1E1E2E"/>
                </a:solidFill>
                <a:latin typeface="Arial"/>
              </a:rPr>
              <a:t>Diagnostics to Log Analytics; Application Insights per Foundry project; alert rules with named owners</a:t>
            </a:r>
          </a:p>
        </p:txBody>
      </p:sp>
      <p:sp>
        <p:nvSpPr>
          <p:cNvPr id="12" name="Rounded Rectangle 11"/>
          <p:cNvSpPr/>
          <p:nvPr/>
        </p:nvSpPr>
        <p:spPr>
          <a:xfrm>
            <a:off x="6172200" y="137160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Cost Budgets" descr="Official Azure icon: Cost Budge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55080" y="1554480"/>
            <a:ext cx="502920" cy="502920"/>
          </a:xfrm>
          <a:prstGeom prst="rect">
            <a:avLst/>
          </a:prstGeom>
        </p:spPr>
      </p:pic>
      <p:sp>
        <p:nvSpPr>
          <p:cNvPr id="14" name="TextBox 13"/>
          <p:cNvSpPr txBox="1"/>
          <p:nvPr/>
        </p:nvSpPr>
        <p:spPr>
          <a:xfrm>
            <a:off x="7040880" y="1572768"/>
            <a:ext cx="4480560" cy="411480"/>
          </a:xfrm>
          <a:prstGeom prst="rect">
            <a:avLst/>
          </a:prstGeom>
          <a:noFill/>
        </p:spPr>
        <p:txBody>
          <a:bodyPr wrap="square" lIns="0" rIns="0" tIns="0" bIns="0" anchor="t">
            <a:noAutofit/>
          </a:bodyPr>
          <a:lstStyle/>
          <a:p>
            <a:pPr algn="l"/>
            <a:r>
              <a:rPr sz="1900" b="1" i="0">
                <a:solidFill>
                  <a:srgbClr val="000048"/>
                </a:solidFill>
                <a:latin typeface="Arial"/>
              </a:rPr>
              <a:t>Budgets</a:t>
            </a:r>
          </a:p>
        </p:txBody>
      </p:sp>
      <p:sp>
        <p:nvSpPr>
          <p:cNvPr id="15" name="TextBox 14"/>
          <p:cNvSpPr txBox="1"/>
          <p:nvPr/>
        </p:nvSpPr>
        <p:spPr>
          <a:xfrm>
            <a:off x="7040880" y="2029967"/>
            <a:ext cx="4434840" cy="1188720"/>
          </a:xfrm>
          <a:prstGeom prst="rect">
            <a:avLst/>
          </a:prstGeom>
          <a:noFill/>
        </p:spPr>
        <p:txBody>
          <a:bodyPr wrap="square" lIns="0" rIns="0" tIns="0" bIns="0" anchor="t">
            <a:noAutofit/>
          </a:bodyPr>
          <a:lstStyle/>
          <a:p>
            <a:pPr algn="l"/>
            <a:r>
              <a:rPr sz="1500" b="0" i="0">
                <a:solidFill>
                  <a:srgbClr val="1E1E2E"/>
                </a:solidFill>
                <a:latin typeface="Arial"/>
              </a:rPr>
              <a:t>Budget and alert per subscription and workload; model usage reported separately from platform cost</a:t>
            </a:r>
          </a:p>
        </p:txBody>
      </p:sp>
      <p:sp>
        <p:nvSpPr>
          <p:cNvPr id="16" name="Rounded Rectangle 15"/>
          <p:cNvSpPr/>
          <p:nvPr/>
        </p:nvSpPr>
        <p:spPr>
          <a:xfrm>
            <a:off x="548640" y="347472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unction App" descr="Official Azure icon: Function App"/>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1520" y="3657600"/>
            <a:ext cx="502920" cy="502920"/>
          </a:xfrm>
          <a:prstGeom prst="rect">
            <a:avLst/>
          </a:prstGeom>
        </p:spPr>
      </p:pic>
      <p:sp>
        <p:nvSpPr>
          <p:cNvPr id="18" name="TextBox 17"/>
          <p:cNvSpPr txBox="1"/>
          <p:nvPr/>
        </p:nvSpPr>
        <p:spPr>
          <a:xfrm>
            <a:off x="1417319" y="3675887"/>
            <a:ext cx="4480560" cy="411480"/>
          </a:xfrm>
          <a:prstGeom prst="rect">
            <a:avLst/>
          </a:prstGeom>
          <a:noFill/>
        </p:spPr>
        <p:txBody>
          <a:bodyPr wrap="square" lIns="0" rIns="0" tIns="0" bIns="0" anchor="t">
            <a:noAutofit/>
          </a:bodyPr>
          <a:lstStyle/>
          <a:p>
            <a:pPr algn="l"/>
            <a:r>
              <a:rPr sz="1900" b="1" i="0">
                <a:solidFill>
                  <a:srgbClr val="000048"/>
                </a:solidFill>
                <a:latin typeface="Arial"/>
              </a:rPr>
              <a:t>Containment hooks</a:t>
            </a:r>
          </a:p>
        </p:txBody>
      </p:sp>
      <p:sp>
        <p:nvSpPr>
          <p:cNvPr id="19" name="TextBox 18"/>
          <p:cNvSpPr txBox="1"/>
          <p:nvPr/>
        </p:nvSpPr>
        <p:spPr>
          <a:xfrm>
            <a:off x="1417319" y="4133087"/>
            <a:ext cx="4434840" cy="1188720"/>
          </a:xfrm>
          <a:prstGeom prst="rect">
            <a:avLst/>
          </a:prstGeom>
          <a:noFill/>
        </p:spPr>
        <p:txBody>
          <a:bodyPr wrap="square" lIns="0" rIns="0" tIns="0" bIns="0" anchor="t">
            <a:noAutofit/>
          </a:bodyPr>
          <a:lstStyle/>
          <a:p>
            <a:pPr algn="l"/>
            <a:r>
              <a:rPr sz="1500" b="0" i="0">
                <a:solidFill>
                  <a:srgbClr val="1E1E2E"/>
                </a:solidFill>
                <a:latin typeface="Arial"/>
              </a:rPr>
              <a:t>Network and identity design that lets offering 02 block, cancel and deny (see appendix K)</a:t>
            </a:r>
          </a:p>
        </p:txBody>
      </p:sp>
      <p:sp>
        <p:nvSpPr>
          <p:cNvPr id="20" name="Rounded Rectangle 19"/>
          <p:cNvSpPr/>
          <p:nvPr/>
        </p:nvSpPr>
        <p:spPr>
          <a:xfrm>
            <a:off x="6172200" y="3474720"/>
            <a:ext cx="5468112" cy="1920240"/>
          </a:xfrm>
          <a:prstGeom prst="roundRect">
            <a:avLst>
              <a:gd name="adj" fmla="val 3809"/>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Recovery Services Vaults" descr="Official Azure icon: Recovery Services Vaul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55080" y="3657600"/>
            <a:ext cx="502920" cy="502920"/>
          </a:xfrm>
          <a:prstGeom prst="rect">
            <a:avLst/>
          </a:prstGeom>
        </p:spPr>
      </p:pic>
      <p:sp>
        <p:nvSpPr>
          <p:cNvPr id="22" name="TextBox 21"/>
          <p:cNvSpPr txBox="1"/>
          <p:nvPr/>
        </p:nvSpPr>
        <p:spPr>
          <a:xfrm>
            <a:off x="7040880" y="3675887"/>
            <a:ext cx="4480560" cy="411480"/>
          </a:xfrm>
          <a:prstGeom prst="rect">
            <a:avLst/>
          </a:prstGeom>
          <a:noFill/>
        </p:spPr>
        <p:txBody>
          <a:bodyPr wrap="square" lIns="0" rIns="0" tIns="0" bIns="0" anchor="t">
            <a:noAutofit/>
          </a:bodyPr>
          <a:lstStyle/>
          <a:p>
            <a:pPr algn="l"/>
            <a:r>
              <a:rPr sz="1900" b="1" i="0">
                <a:solidFill>
                  <a:srgbClr val="000048"/>
                </a:solidFill>
                <a:latin typeface="Arial"/>
              </a:rPr>
              <a:t>Recovery</a:t>
            </a:r>
          </a:p>
        </p:txBody>
      </p:sp>
      <p:sp>
        <p:nvSpPr>
          <p:cNvPr id="23" name="TextBox 22"/>
          <p:cNvSpPr txBox="1"/>
          <p:nvPr/>
        </p:nvSpPr>
        <p:spPr>
          <a:xfrm>
            <a:off x="7040880" y="4133087"/>
            <a:ext cx="4434840" cy="1188720"/>
          </a:xfrm>
          <a:prstGeom prst="rect">
            <a:avLst/>
          </a:prstGeom>
          <a:noFill/>
        </p:spPr>
        <p:txBody>
          <a:bodyPr wrap="square" lIns="0" rIns="0" tIns="0" bIns="0" anchor="t">
            <a:noAutofit/>
          </a:bodyPr>
          <a:lstStyle/>
          <a:p>
            <a:pPr algn="l"/>
            <a:r>
              <a:rPr sz="1500" b="0" i="0">
                <a:solidFill>
                  <a:srgbClr val="1E1E2E"/>
                </a:solidFill>
                <a:latin typeface="Arial"/>
              </a:rPr>
              <a:t>IaC redeploy, backups for stateful stores, restore drill recorded; RTO and RPO agreed per dependency</a:t>
            </a:r>
          </a:p>
        </p:txBody>
      </p:sp>
      <p:sp>
        <p:nvSpPr>
          <p:cNvPr id="24" name="Rounded Rectangle 23"/>
          <p:cNvSpPr/>
          <p:nvPr/>
        </p:nvSpPr>
        <p:spPr>
          <a:xfrm>
            <a:off x="548640" y="57150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Log Analytics ingestion is a material consumption cost (East US 2 list: $2.76 per GB after the free allowance). Agree retention.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Processing location and residency are customer calls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VERIFIED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graphicFrame>
        <p:nvGraphicFramePr>
          <p:cNvPr id="9" name="Table"/>
          <p:cNvGraphicFramePr>
            <a:graphicFrameLocks noGrp="1"/>
          </p:cNvGraphicFramePr>
          <p:nvPr/>
        </p:nvGraphicFramePr>
        <p:xfrm>
          <a:off x="548640" y="1371600"/>
          <a:ext cx="11091672" cy="2286000"/>
        </p:xfrm>
        <a:graphic>
          <a:graphicData uri="http://schemas.openxmlformats.org/drawingml/2006/table">
            <a:tbl>
              <a:tblPr firstRow="1" bandRow="0">
                <a:tableStyleId>{5C22544A-7EE6-4342-B048-85BDC9FD1C3A}</a:tableStyleId>
              </a:tblPr>
              <a:tblGrid>
                <a:gridCol w="3291840"/>
                <a:gridCol w="5120640"/>
                <a:gridCol w="2679192"/>
              </a:tblGrid>
              <a:tr h="320040">
                <a:tc>
                  <a:txBody>
                    <a:bodyPr wrap="square" anchor="ctr">
                      <a:noAutofit/>
                    </a:bodyPr>
                    <a:lstStyle/>
                    <a:p>
                      <a:pPr algn="l"/>
                      <a:r>
                        <a:rPr sz="15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Where prompts and responses are processed</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Billing</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Global Standard / Global Provisioned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Azure region where the model is deployed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Data Zone Standard / Provisioned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Within the Microsoft data zone: US, EU or APAC</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Standard (regional) / Regional Provisioned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Within the customer-selected Azure geography</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Per token / reserved PTU</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Global or Data Zone Batch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As Global or Data Zone; 24-hour target, no real-time SLA</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50% discount on tokens</a:t>
                      </a:r>
                    </a:p>
                  </a:txBody>
                  <a:tcPr marL="73152" marR="73152" marT="36576" marB="36576" anchor="ctr">
                    <a:solidFill>
                      <a:srgbClr val="F5F5F2"/>
                    </a:solidFill>
                  </a:tcPr>
                </a:tc>
              </a:tr>
            </a:tbl>
          </a:graphicData>
        </a:graphic>
      </p:graphicFrame>
      <p:sp>
        <p:nvSpPr>
          <p:cNvPr id="10" name="Rounded Rectangle 9"/>
          <p:cNvSpPr/>
          <p:nvPr/>
        </p:nvSpPr>
        <p:spPr>
          <a:xfrm>
            <a:off x="548640" y="420624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UK or Middle East data zone is published. Those pursuits need regional deployments or an approved Global boundary.</a:t>
            </a:r>
          </a:p>
        </p:txBody>
      </p:sp>
      <p:sp>
        <p:nvSpPr>
          <p:cNvPr id="11" name="TextBox 10"/>
          <p:cNvSpPr txBox="1"/>
          <p:nvPr/>
        </p:nvSpPr>
        <p:spPr>
          <a:xfrm>
            <a:off x="548640" y="4983480"/>
            <a:ext cx="11064240" cy="822960"/>
          </a:xfrm>
          <a:prstGeom prst="rect">
            <a:avLst/>
          </a:prstGeom>
          <a:noFill/>
        </p:spPr>
        <p:txBody>
          <a:bodyPr wrap="square" lIns="0" rIns="0" tIns="0" bIns="0" anchor="t">
            <a:noAutofit/>
          </a:bodyPr>
          <a:lstStyle/>
          <a:p>
            <a:pPr algn="l"/>
            <a:r>
              <a:rPr sz="1600" b="0" i="0">
                <a:solidFill>
                  <a:srgbClr val="1E1E2E"/>
                </a:solidFill>
                <a:latin typeface="Arial"/>
              </a:rPr>
              <a:t>Approve both the resource region and the model processing boundary. Then verify model support, subscription quota and deployable capacity, which are three different things.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Model availability snapshot: gpt-5.4, selected regions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SNAPSHOT 11 OCT 2026"/>
          <p:cNvSpPr/>
          <p:nvPr/>
        </p:nvSpPr>
        <p:spPr>
          <a:xfrm>
            <a:off x="199644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SNAPSHOT 11 OCT 2026</a:t>
            </a:r>
          </a:p>
        </p:txBody>
      </p:sp>
      <p:sp>
        <p:nvSpPr>
          <p:cNvPr id="6" name="Status chip: NOT EXHAUSTIVE"/>
          <p:cNvSpPr/>
          <p:nvPr/>
        </p:nvSpPr>
        <p:spPr>
          <a:xfrm>
            <a:off x="4089400" y="274320"/>
            <a:ext cx="148336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EXHAUSTIVE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graphicFrame>
        <p:nvGraphicFramePr>
          <p:cNvPr id="10" name="Table"/>
          <p:cNvGraphicFramePr>
            <a:graphicFrameLocks noGrp="1"/>
          </p:cNvGraphicFramePr>
          <p:nvPr/>
        </p:nvGraphicFramePr>
        <p:xfrm>
          <a:off x="548640" y="1371600"/>
          <a:ext cx="11091671" cy="2194560"/>
        </p:xfrm>
        <a:graphic>
          <a:graphicData uri="http://schemas.openxmlformats.org/drawingml/2006/table">
            <a:tbl>
              <a:tblPr firstRow="1" bandRow="0">
                <a:tableStyleId>{5C22544A-7EE6-4342-B048-85BDC9FD1C3A}</a:tableStyleId>
              </a:tblPr>
              <a:tblGrid>
                <a:gridCol w="2379401"/>
                <a:gridCol w="1244610"/>
                <a:gridCol w="1244610"/>
                <a:gridCol w="1244610"/>
                <a:gridCol w="1244610"/>
                <a:gridCol w="1244610"/>
                <a:gridCol w="1244610"/>
                <a:gridCol w="1244610"/>
              </a:tblGrid>
              <a:tr h="457200">
                <a:tc>
                  <a:txBody>
                    <a:bodyPr wrap="square" anchor="ctr">
                      <a:noAutofit/>
                    </a:bodyPr>
                    <a:lstStyle/>
                    <a:p>
                      <a:pPr algn="l"/>
                      <a:r>
                        <a:rPr sz="1200" b="1" i="0">
                          <a:solidFill>
                            <a:srgbClr val="FFFFFF"/>
                          </a:solidFill>
                          <a:latin typeface="Arial"/>
                        </a:rPr>
                        <a:t>Deployment type</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East US 2</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Sweden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West Europe</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Germany W.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France Central</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UK South</a:t>
                      </a:r>
                    </a:p>
                  </a:txBody>
                  <a:tcPr marL="73152" marR="73152" marT="36576" marB="36576" anchor="ctr">
                    <a:solidFill>
                      <a:srgbClr val="000048"/>
                    </a:solidFill>
                  </a:tcPr>
                </a:tc>
                <a:tc>
                  <a:txBody>
                    <a:bodyPr wrap="square" anchor="ctr">
                      <a:noAutofit/>
                    </a:bodyPr>
                    <a:lstStyle/>
                    <a:p>
                      <a:pPr algn="ctr"/>
                      <a:r>
                        <a:rPr sz="1200" b="1" i="0">
                          <a:solidFill>
                            <a:srgbClr val="FFFFFF"/>
                          </a:solidFill>
                          <a:latin typeface="Arial"/>
                        </a:rPr>
                        <a:t>UAE North</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Global Standard</a:t>
                      </a:r>
                    </a:p>
                  </a:txBody>
                  <a:tcPr marL="73152" marR="73152" marT="36576" marB="36576" anchor="ctr">
                    <a:solidFill>
                      <a:srgbClr val="FFFFFF"/>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r>
              <a:tr h="289560">
                <a:tc>
                  <a:txBody>
                    <a:bodyPr wrap="square" anchor="ctr">
                      <a:noAutofit/>
                    </a:bodyPr>
                    <a:lstStyle/>
                    <a:p>
                      <a:pPr algn="l"/>
                      <a:r>
                        <a:rPr sz="1300" b="1" i="0">
                          <a:solidFill>
                            <a:srgbClr val="1E1E2E"/>
                          </a:solidFill>
                          <a:latin typeface="Arial"/>
                        </a:rPr>
                        <a:t>Data Zone Standard</a:t>
                      </a:r>
                    </a:p>
                  </a:txBody>
                  <a:tcPr marL="73152" marR="73152" marT="36576" marB="36576" anchor="ctr">
                    <a:solidFill>
                      <a:srgbClr val="F5F5F2"/>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Standard (regional)</a:t>
                      </a:r>
                    </a:p>
                  </a:txBody>
                  <a:tcPr marL="73152" marR="73152" marT="36576" marB="36576" anchor="ctr">
                    <a:solidFill>
                      <a:srgbClr val="FFFFFF"/>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Global Provisioned</a:t>
                      </a:r>
                    </a:p>
                  </a:txBody>
                  <a:tcPr marL="73152" marR="73152" marT="36576" marB="36576" anchor="ctr">
                    <a:solidFill>
                      <a:srgbClr val="F5F5F2"/>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r>
              <a:tr h="289560">
                <a:tc>
                  <a:txBody>
                    <a:bodyPr wrap="square" anchor="ctr">
                      <a:noAutofit/>
                    </a:bodyPr>
                    <a:lstStyle/>
                    <a:p>
                      <a:pPr algn="l"/>
                      <a:r>
                        <a:rPr sz="1300" b="1" i="0">
                          <a:solidFill>
                            <a:srgbClr val="1E1E2E"/>
                          </a:solidFill>
                          <a:latin typeface="Arial"/>
                        </a:rPr>
                        <a:t>Data Zone Provisioned</a:t>
                      </a:r>
                    </a:p>
                  </a:txBody>
                  <a:tcPr marL="73152" marR="73152" marT="36576" marB="36576" anchor="ctr">
                    <a:solidFill>
                      <a:srgbClr val="FFFFFF"/>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r h="289560">
                <a:tc>
                  <a:txBody>
                    <a:bodyPr wrap="square" anchor="ctr">
                      <a:noAutofit/>
                    </a:bodyPr>
                    <a:lstStyle/>
                    <a:p>
                      <a:pPr algn="l"/>
                      <a:r>
                        <a:rPr sz="1300" b="1" i="0">
                          <a:solidFill>
                            <a:srgbClr val="1E1E2E"/>
                          </a:solidFill>
                          <a:latin typeface="Arial"/>
                        </a:rPr>
                        <a:t>Regional Provisioned</a:t>
                      </a:r>
                    </a:p>
                  </a:txBody>
                  <a:tcPr marL="73152" marR="73152" marT="36576" marB="36576" anchor="ctr">
                    <a:solidFill>
                      <a:srgbClr val="F5F5F2"/>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c>
                  <a:txBody>
                    <a:bodyPr wrap="square" anchor="ctr">
                      <a:noAutofit/>
                    </a:bodyPr>
                    <a:lstStyle/>
                    <a:p>
                      <a:pPr algn="ctr"/>
                      <a:r>
                        <a:rPr sz="1300" b="0" i="0">
                          <a:solidFill>
                            <a:srgbClr val="1D6B3A"/>
                          </a:solidFill>
                          <a:latin typeface="Arial"/>
                        </a:rPr>
                        <a:t>Listed</a:t>
                      </a:r>
                    </a:p>
                  </a:txBody>
                  <a:tcPr marL="73152" marR="73152" marT="36576" marB="36576" anchor="ctr">
                    <a:solidFill>
                      <a:srgbClr val="E1F4E7"/>
                    </a:solidFill>
                  </a:tcPr>
                </a:tc>
                <a:tc>
                  <a:txBody>
                    <a:bodyPr wrap="square" anchor="ctr">
                      <a:noAutofit/>
                    </a:bodyPr>
                    <a:lstStyle/>
                    <a:p>
                      <a:pPr algn="ctr"/>
                      <a:r>
                        <a:rPr sz="1300" b="0" i="0">
                          <a:solidFill>
                            <a:srgbClr val="8A8A8A"/>
                          </a:solidFill>
                          <a:latin typeface="Arial"/>
                        </a:rPr>
                        <a:t>Not listed</a:t>
                      </a:r>
                    </a:p>
                  </a:txBody>
                  <a:tcPr marL="73152" marR="73152" marT="36576" marB="36576" anchor="ctr">
                    <a:solidFill>
                      <a:srgbClr val="F3F3F3"/>
                    </a:solidFill>
                  </a:tcPr>
                </a:tc>
              </a:tr>
            </a:tbl>
          </a:graphicData>
        </a:graphic>
      </p:graphicFrame>
      <p:sp>
        <p:nvSpPr>
          <p:cNvPr id="11" name="Rounded Rectangle 10"/>
          <p:cNvSpPr/>
          <p:nvPr/>
        </p:nvSpPr>
        <p:spPr>
          <a:xfrm>
            <a:off x="548640" y="484632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UK or Middle East data zone exists. UAE North lists gpt-5.4 for Global only. Published support is not quota or capacity.</a:t>
            </a:r>
          </a:p>
        </p:txBody>
      </p:sp>
      <p:sp>
        <p:nvSpPr>
          <p:cNvPr id="12" name="TextBox 11"/>
          <p:cNvSpPr txBox="1"/>
          <p:nvPr/>
        </p:nvSpPr>
        <p:spPr>
          <a:xfrm>
            <a:off x="548640" y="5532120"/>
            <a:ext cx="11064240" cy="548640"/>
          </a:xfrm>
          <a:prstGeom prst="rect">
            <a:avLst/>
          </a:prstGeom>
          <a:noFill/>
        </p:spPr>
        <p:txBody>
          <a:bodyPr wrap="square" lIns="0" rIns="0" tIns="0" bIns="0" anchor="t">
            <a:noAutofit/>
          </a:bodyPr>
          <a:lstStyle/>
          <a:p>
            <a:pPr algn="l"/>
            <a:r>
              <a:rPr sz="1300" b="0" i="0">
                <a:solidFill>
                  <a:srgbClr val="53565A"/>
                </a:solidFill>
                <a:latin typeface="Arial"/>
              </a:rPr>
              <a:t>Regions chosen: East US 2 for US; Sweden Central, West Europe, Germany West Central, France Central for EU; UK South for UK; UAE North for Middle East.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Define scope before selecting the resource 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A16</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graphicFrame>
        <p:nvGraphicFramePr>
          <p:cNvPr id="8" name="Table"/>
          <p:cNvGraphicFramePr>
            <a:graphicFrameLocks noGrp="1"/>
          </p:cNvGraphicFramePr>
          <p:nvPr/>
        </p:nvGraphicFramePr>
        <p:xfrm>
          <a:off x="548640" y="1371600"/>
          <a:ext cx="11091672" cy="2346960"/>
        </p:xfrm>
        <a:graphic>
          <a:graphicData uri="http://schemas.openxmlformats.org/drawingml/2006/table">
            <a:tbl>
              <a:tblPr firstRow="1" bandRow="0">
                <a:tableStyleId>{5C22544A-7EE6-4342-B048-85BDC9FD1C3A}</a:tableStyleId>
              </a:tblPr>
              <a:tblGrid>
                <a:gridCol w="5541264"/>
                <a:gridCol w="5550408"/>
              </a:tblGrid>
              <a:tr h="335280">
                <a:tc>
                  <a:txBody>
                    <a:bodyPr wrap="square" anchor="ctr">
                      <a:noAutofit/>
                    </a:bodyPr>
                    <a:lstStyle/>
                    <a:p>
                      <a:pPr algn="l"/>
                      <a:r>
                        <a:rPr sz="1600" b="1" i="0">
                          <a:solidFill>
                            <a:srgbClr val="FFFFFF"/>
                          </a:solidFill>
                          <a:latin typeface="Arial"/>
                        </a:rPr>
                        <a:t>Included reference baseline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Separately scoped</a:t>
                      </a:r>
                    </a:p>
                  </a:txBody>
                  <a:tcPr marL="73152" marR="73152" marT="36576" marB="36576" anchor="ctr">
                    <a:solidFill>
                      <a:srgbClr val="000048"/>
                    </a:solidFill>
                  </a:tcPr>
                </a:tc>
              </a:tr>
              <a:tr h="335280">
                <a:tc>
                  <a:txBody>
                    <a:bodyPr wrap="square" anchor="ctr">
                      <a:noAutofit/>
                    </a:bodyPr>
                    <a:lstStyle/>
                    <a:p>
                      <a:pPr algn="l"/>
                      <a:r>
                        <a:rPr sz="1600" b="0" i="0">
                          <a:solidFill>
                            <a:srgbClr val="1E1E2E"/>
                          </a:solidFill>
                          <a:latin typeface="Arial"/>
                        </a:rPr>
                        <a:t>One workload; development and production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Extra workloads and environments</a:t>
                      </a:r>
                    </a:p>
                  </a:txBody>
                  <a:tcPr marL="73152" marR="73152" marT="36576" marB="36576" anchor="ctr">
                    <a:solidFill>
                      <a:srgbClr val="FFFFFF"/>
                    </a:solidFill>
                  </a:tcPr>
                </a:tc>
              </a:tr>
              <a:tr h="335280">
                <a:tc>
                  <a:txBody>
                    <a:bodyPr wrap="square" anchor="ctr">
                      <a:noAutofit/>
                    </a:bodyPr>
                    <a:lstStyle/>
                    <a:p>
                      <a:pPr algn="l"/>
                      <a:r>
                        <a:rPr sz="1600" b="0" i="0">
                          <a:solidFill>
                            <a:srgbClr val="1E1E2E"/>
                          </a:solidFill>
                          <a:latin typeface="Arial"/>
                        </a:rPr>
                        <a:t>One region and approved processing boundary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Regional disaster recovery and extra geographies</a:t>
                      </a:r>
                    </a:p>
                  </a:txBody>
                  <a:tcPr marL="73152" marR="73152" marT="36576" marB="36576" anchor="ctr">
                    <a:solidFill>
                      <a:srgbClr val="F5F5F2"/>
                    </a:solidFill>
                  </a:tcPr>
                </a:tc>
              </a:tr>
              <a:tr h="335280">
                <a:tc>
                  <a:txBody>
                    <a:bodyPr wrap="square" anchor="ctr">
                      <a:noAutofit/>
                    </a:bodyPr>
                    <a:lstStyle/>
                    <a:p>
                      <a:pPr algn="l"/>
                      <a:r>
                        <a:rPr sz="1600" b="0" i="0">
                          <a:solidFill>
                            <a:srgbClr val="1E1E2E"/>
                          </a:solidFill>
                          <a:latin typeface="Arial"/>
                        </a:rPr>
                        <a:t>Agreed platform controls and IaC</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Enterprise-wide security remediation</a:t>
                      </a:r>
                    </a:p>
                  </a:txBody>
                  <a:tcPr marL="73152" marR="73152" marT="36576" marB="36576" anchor="ctr">
                    <a:solidFill>
                      <a:srgbClr val="FFFFFF"/>
                    </a:solidFill>
                  </a:tcPr>
                </a:tc>
              </a:tr>
              <a:tr h="335280">
                <a:tc>
                  <a:txBody>
                    <a:bodyPr wrap="square" anchor="ctr">
                      <a:noAutofit/>
                    </a:bodyPr>
                    <a:lstStyle/>
                    <a:p>
                      <a:pPr algn="l"/>
                      <a:r>
                        <a:rPr sz="1600" b="0" i="0">
                          <a:solidFill>
                            <a:srgbClr val="1E1E2E"/>
                          </a:solidFill>
                          <a:latin typeface="Arial"/>
                        </a:rPr>
                        <a:t>One onboarding and data integration pattern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Broad data clean-up or application redevelopment</a:t>
                      </a:r>
                    </a:p>
                  </a:txBody>
                  <a:tcPr marL="73152" marR="73152" marT="36576" marB="36576" anchor="ctr">
                    <a:solidFill>
                      <a:srgbClr val="F5F5F2"/>
                    </a:solidFill>
                  </a:tcPr>
                </a:tc>
              </a:tr>
              <a:tr h="335280">
                <a:tc>
                  <a:txBody>
                    <a:bodyPr wrap="square" anchor="ctr">
                      <a:noAutofit/>
                    </a:bodyPr>
                    <a:lstStyle/>
                    <a:p>
                      <a:pPr algn="l"/>
                      <a:r>
                        <a:rPr sz="1600" b="0" i="0">
                          <a:solidFill>
                            <a:srgbClr val="1E1E2E"/>
                          </a:solidFill>
                          <a:latin typeface="Arial"/>
                        </a:rPr>
                        <a:t>Existing hybrid connectivity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New WAN or DNS remediation</a:t>
                      </a:r>
                    </a:p>
                  </a:txBody>
                  <a:tcPr marL="73152" marR="73152" marT="36576" marB="36576" anchor="ctr">
                    <a:solidFill>
                      <a:srgbClr val="FFFFFF"/>
                    </a:solidFill>
                  </a:tcPr>
                </a:tc>
              </a:tr>
              <a:tr h="335280">
                <a:tc>
                  <a:txBody>
                    <a:bodyPr wrap="square" anchor="ctr">
                      <a:noAutofit/>
                    </a:bodyPr>
                    <a:lstStyle/>
                    <a:p>
                      <a:pPr algn="l"/>
                      <a:r>
                        <a:rPr sz="1600" b="0" i="0">
                          <a:solidFill>
                            <a:srgbClr val="1E1E2E"/>
                          </a:solidFill>
                          <a:latin typeface="Arial"/>
                        </a:rPr>
                        <a:t>Business-hours project support and stabilisation</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SOC services, Copilot Studio or M365 administration</a:t>
                      </a:r>
                    </a:p>
                  </a:txBody>
                  <a:tcPr marL="73152" marR="73152" marT="36576" marB="36576" anchor="ctr">
                    <a:solidFill>
                      <a:srgbClr val="F5F5F2"/>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Acceptance requires demonstrable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A17</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graphicFrame>
        <p:nvGraphicFramePr>
          <p:cNvPr id="9" name="Table"/>
          <p:cNvGraphicFramePr>
            <a:graphicFrameLocks noGrp="1"/>
          </p:cNvGraphicFramePr>
          <p:nvPr/>
        </p:nvGraphicFramePr>
        <p:xfrm>
          <a:off x="548640" y="1371600"/>
          <a:ext cx="11091671" cy="3154680"/>
        </p:xfrm>
        <a:graphic>
          <a:graphicData uri="http://schemas.openxmlformats.org/drawingml/2006/table">
            <a:tbl>
              <a:tblPr firstRow="1" bandRow="0">
                <a:tableStyleId>{5C22544A-7EE6-4342-B048-85BDC9FD1C3A}</a:tableStyleId>
              </a:tblPr>
              <a:tblGrid>
                <a:gridCol w="2468880"/>
                <a:gridCol w="5943599"/>
                <a:gridCol w="2679192"/>
              </a:tblGrid>
              <a:tr h="320040">
                <a:tc>
                  <a:txBody>
                    <a:bodyPr wrap="square" anchor="ctr">
                      <a:noAutofit/>
                    </a:bodyPr>
                    <a:lstStyle/>
                    <a:p>
                      <a:pPr algn="l"/>
                      <a:r>
                        <a:rPr sz="15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Approver</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Reproducible build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Deployed from versioned IaC; drift explained; rollback passes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Customer platform owner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Connectivity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Approved paths pass; prohibited paths fail; DNS and egress recorded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Security with CIS Infra</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Access controls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Agreed positive and negative permission tests pass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Security</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Recovery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Scoped restore demonstrated; limitations documented</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Integrated service owner</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Costs and handover</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Allocation and budget alerts tested; runbooks accepted by named owners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Customer service owner</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Workload quality (separate)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Business-approved evaluation set meets thresholds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Customer workload owner</a:t>
                      </a:r>
                    </a:p>
                  </a:txBody>
                  <a:tcPr marL="73152" marR="73152" marT="36576" marB="36576" anchor="ctr">
                    <a:solidFill>
                      <a:srgbClr val="F5F5F2"/>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Effort drivers and change-control triggers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A18</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8" name="Table"/>
          <p:cNvGraphicFramePr>
            <a:graphicFrameLocks noGrp="1"/>
          </p:cNvGraphicFramePr>
          <p:nvPr/>
        </p:nvGraphicFramePr>
        <p:xfrm>
          <a:off x="548640" y="1371600"/>
          <a:ext cx="11091672" cy="2697480"/>
        </p:xfrm>
        <a:graphic>
          <a:graphicData uri="http://schemas.openxmlformats.org/drawingml/2006/table">
            <a:tbl>
              <a:tblPr firstRow="1" bandRow="0">
                <a:tableStyleId>{5C22544A-7EE6-4342-B048-85BDC9FD1C3A}</a:tableStyleId>
              </a:tblPr>
              <a:tblGrid>
                <a:gridCol w="2286000"/>
                <a:gridCol w="4754880"/>
                <a:gridCol w="4050792"/>
              </a:tblGrid>
              <a:tr h="320040">
                <a:tc>
                  <a:txBody>
                    <a:bodyPr wrap="square" anchor="ctr">
                      <a:noAutofit/>
                    </a:bodyPr>
                    <a:lstStyle/>
                    <a:p>
                      <a:pPr algn="l"/>
                      <a:r>
                        <a:rPr sz="1500" b="1" i="0">
                          <a:solidFill>
                            <a:srgbClr val="FFFFFF"/>
                          </a:solidFill>
                          <a:latin typeface="Arial"/>
                        </a:rPr>
                        <a:t>Driver</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Why it changes effort</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Change-control trigger</a:t>
                      </a:r>
                    </a:p>
                  </a:txBody>
                  <a:tcPr marL="73152" marR="73152" marT="36576" marB="36576" anchor="ctr">
                    <a:solidFill>
                      <a:srgbClr val="000048"/>
                    </a:solidFill>
                  </a:tcPr>
                </a:tc>
              </a:tr>
              <a:tr h="320040">
                <a:tc>
                  <a:txBody>
                    <a:bodyPr wrap="square" anchor="ctr">
                      <a:noAutofit/>
                    </a:bodyPr>
                    <a:lstStyle/>
                    <a:p>
                      <a:pPr algn="l"/>
                      <a:r>
                        <a:rPr sz="1500" b="1" i="0">
                          <a:solidFill>
                            <a:srgbClr val="1E1E2E"/>
                          </a:solidFill>
                          <a:latin typeface="Arial"/>
                        </a:rPr>
                        <a:t>Environment count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Each adds policy, release, test and support work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Any environment beyond dev and prod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Connectivity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New WAN or DNS remediation changes the critical path</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Hub, DNS or firewall not validated</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Resilience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Extra regions add capacity, replication and recovery tests</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DR or a second region requested</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Data integrations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Each source adds access, network and test work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Sources beyond the agreed pattern</a:t>
                      </a:r>
                    </a:p>
                  </a:txBody>
                  <a:tcPr marL="73152" marR="73152" marT="36576" marB="36576" anchor="ctr">
                    <a:solidFill>
                      <a:srgbClr val="F5F5F2"/>
                    </a:solidFill>
                  </a:tcPr>
                </a:tc>
              </a:tr>
              <a:tr h="320040">
                <a:tc>
                  <a:txBody>
                    <a:bodyPr wrap="square" anchor="ctr">
                      <a:noAutofit/>
                    </a:bodyPr>
                    <a:lstStyle/>
                    <a:p>
                      <a:pPr algn="l"/>
                      <a:r>
                        <a:rPr sz="1500" b="1" i="0">
                          <a:solidFill>
                            <a:srgbClr val="1E1E2E"/>
                          </a:solidFill>
                          <a:latin typeface="Arial"/>
                        </a:rPr>
                        <a:t>Region or model change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Quota, policy and residency rework</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Processing boundary or model change</a:t>
                      </a:r>
                    </a:p>
                  </a:txBody>
                  <a:tcPr marL="73152" marR="73152" marT="36576" marB="36576" anchor="ctr">
                    <a:solidFill>
                      <a:srgbClr val="FFFFFF"/>
                    </a:solidFill>
                  </a:tcPr>
                </a:tc>
              </a:tr>
              <a:tr h="320040">
                <a:tc>
                  <a:txBody>
                    <a:bodyPr wrap="square" anchor="ctr">
                      <a:noAutofit/>
                    </a:bodyPr>
                    <a:lstStyle/>
                    <a:p>
                      <a:pPr algn="l"/>
                      <a:r>
                        <a:rPr sz="1500" b="1" i="0">
                          <a:solidFill>
                            <a:srgbClr val="1E1E2E"/>
                          </a:solidFill>
                          <a:latin typeface="Arial"/>
                        </a:rPr>
                        <a:t>Customer availability</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Approvals and access gate each phase</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Agreed review dates missed</a:t>
                      </a:r>
                    </a:p>
                  </a:txBody>
                  <a:tcPr marL="73152" marR="73152" marT="36576" marB="36576" anchor="ctr">
                    <a:solidFill>
                      <a:srgbClr val="F5F5F2"/>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Bill of materials checklist for a defensible quote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graphicFrame>
        <p:nvGraphicFramePr>
          <p:cNvPr id="8" name="Table"/>
          <p:cNvGraphicFramePr>
            <a:graphicFrameLocks noGrp="1"/>
          </p:cNvGraphicFramePr>
          <p:nvPr/>
        </p:nvGraphicFramePr>
        <p:xfrm>
          <a:off x="548640" y="1371600"/>
          <a:ext cx="11091672" cy="2255520"/>
        </p:xfrm>
        <a:graphic>
          <a:graphicData uri="http://schemas.openxmlformats.org/drawingml/2006/table">
            <a:tbl>
              <a:tblPr firstRow="1" bandRow="0">
                <a:tableStyleId>{5C22544A-7EE6-4342-B048-85BDC9FD1C3A}</a:tableStyleId>
              </a:tblPr>
              <a:tblGrid>
                <a:gridCol w="2377440"/>
                <a:gridCol w="8714232"/>
              </a:tblGrid>
              <a:tr h="335280">
                <a:tc>
                  <a:txBody>
                    <a:bodyPr wrap="square" anchor="ctr">
                      <a:noAutofit/>
                    </a:bodyPr>
                    <a:lstStyle/>
                    <a:p>
                      <a:pPr algn="l"/>
                      <a:r>
                        <a:rPr sz="1600" b="1" i="0">
                          <a:solidFill>
                            <a:srgbClr val="FFFFFF"/>
                          </a:solidFill>
                          <a:latin typeface="Arial"/>
                        </a:rPr>
                        <a:t>Resource group</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Required pricing fields</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Connectivity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Firewall and gateway SKU, data processed, DNS resolver, private endpoints, egress</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AI and data</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Model, version, deployment type, token volumes or PTU; AI Search tier and replicas; storage and retention</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Hosting and release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App or container compute SKU, replicas, registry, build agents</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Log ingestion and retention, alerts, backup, Defender plans in scope</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Every line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Region, quantity, environment, USD unit rate, meter, pricing date, monthly total</a:t>
                      </a:r>
                    </a:p>
                  </a:txBody>
                  <a:tcPr marL="73152" marR="73152" marT="36576" marB="36576" anchor="ctr">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Reuse Microsoft’s AI Landing Zone accelerator</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A0</a:t>
            </a:r>
          </a:p>
        </p:txBody>
      </p:sp>
      <p:sp>
        <p:nvSpPr>
          <p:cNvPr id="5" name="Status chip: ESTIMATE, NOT PROVEN"/>
          <p:cNvSpPr/>
          <p:nvPr/>
        </p:nvSpPr>
        <p:spPr>
          <a:xfrm>
            <a:off x="189865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PROVEN</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1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sp>
        <p:nvSpPr>
          <p:cNvPr id="9" name="Rounded Rectangle 8"/>
          <p:cNvSpPr/>
          <p:nvPr/>
        </p:nvSpPr>
        <p:spPr>
          <a:xfrm>
            <a:off x="548640" y="13716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Microsoft Foundry" descr="Official Azure icon: Microsoft Foundry"/>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645920"/>
            <a:ext cx="548640" cy="548640"/>
          </a:xfrm>
          <a:prstGeom prst="rect">
            <a:avLst/>
          </a:prstGeom>
        </p:spPr>
      </p:pic>
      <p:sp>
        <p:nvSpPr>
          <p:cNvPr id="11" name="TextBox 10"/>
          <p:cNvSpPr txBox="1"/>
          <p:nvPr/>
        </p:nvSpPr>
        <p:spPr>
          <a:xfrm>
            <a:off x="1463040" y="1554480"/>
            <a:ext cx="4389120" cy="365760"/>
          </a:xfrm>
          <a:prstGeom prst="rect">
            <a:avLst/>
          </a:prstGeom>
          <a:noFill/>
        </p:spPr>
        <p:txBody>
          <a:bodyPr wrap="square" lIns="0" rIns="0" tIns="0" bIns="0" anchor="t">
            <a:noAutofit/>
          </a:bodyPr>
          <a:lstStyle/>
          <a:p>
            <a:pPr algn="l"/>
            <a:r>
              <a:rPr sz="1900" b="1" i="0">
                <a:solidFill>
                  <a:srgbClr val="000048"/>
                </a:solidFill>
                <a:latin typeface="Arial"/>
              </a:rPr>
              <a:t>Agent Landing Zone</a:t>
            </a:r>
          </a:p>
        </p:txBody>
      </p:sp>
      <p:sp>
        <p:nvSpPr>
          <p:cNvPr id="12" name="TextBox 11"/>
          <p:cNvSpPr txBox="1"/>
          <p:nvPr/>
        </p:nvSpPr>
        <p:spPr>
          <a:xfrm>
            <a:off x="1463040" y="1965960"/>
            <a:ext cx="4389120" cy="731520"/>
          </a:xfrm>
          <a:prstGeom prst="rect">
            <a:avLst/>
          </a:prstGeom>
          <a:noFill/>
        </p:spPr>
        <p:txBody>
          <a:bodyPr wrap="square" lIns="0" rIns="0" tIns="0" bIns="0" anchor="t">
            <a:noAutofit/>
          </a:bodyPr>
          <a:lstStyle/>
          <a:p>
            <a:pPr algn="l"/>
            <a:r>
              <a:rPr sz="1600" b="0" i="0">
                <a:solidFill>
                  <a:srgbClr val="1E1E2E"/>
                </a:solidFill>
                <a:latin typeface="Arial"/>
              </a:rPr>
              <a:t>Foundry-based agent platform with private networking</a:t>
            </a:r>
          </a:p>
        </p:txBody>
      </p:sp>
      <p:sp>
        <p:nvSpPr>
          <p:cNvPr id="13" name="Rounded Rectangle 12"/>
          <p:cNvSpPr/>
          <p:nvPr/>
        </p:nvSpPr>
        <p:spPr>
          <a:xfrm>
            <a:off x="6172200" y="13716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55080" y="1645920"/>
            <a:ext cx="548640" cy="548640"/>
          </a:xfrm>
          <a:prstGeom prst="rect">
            <a:avLst/>
          </a:prstGeom>
        </p:spPr>
      </p:pic>
      <p:sp>
        <p:nvSpPr>
          <p:cNvPr id="15" name="TextBox 14"/>
          <p:cNvSpPr txBox="1"/>
          <p:nvPr/>
        </p:nvSpPr>
        <p:spPr>
          <a:xfrm>
            <a:off x="7086600" y="1554480"/>
            <a:ext cx="4389120" cy="365760"/>
          </a:xfrm>
          <a:prstGeom prst="rect">
            <a:avLst/>
          </a:prstGeom>
          <a:noFill/>
        </p:spPr>
        <p:txBody>
          <a:bodyPr wrap="square" lIns="0" rIns="0" tIns="0" bIns="0" anchor="t">
            <a:noAutofit/>
          </a:bodyPr>
          <a:lstStyle/>
          <a:p>
            <a:pPr algn="l"/>
            <a:r>
              <a:rPr sz="1900" b="1" i="0">
                <a:solidFill>
                  <a:srgbClr val="000048"/>
                </a:solidFill>
                <a:latin typeface="Arial"/>
              </a:rPr>
              <a:t>AI Gateway Landing Zone</a:t>
            </a:r>
          </a:p>
        </p:txBody>
      </p:sp>
      <p:sp>
        <p:nvSpPr>
          <p:cNvPr id="16" name="TextBox 15"/>
          <p:cNvSpPr txBox="1"/>
          <p:nvPr/>
        </p:nvSpPr>
        <p:spPr>
          <a:xfrm>
            <a:off x="7086600" y="1965960"/>
            <a:ext cx="4389120" cy="731520"/>
          </a:xfrm>
          <a:prstGeom prst="rect">
            <a:avLst/>
          </a:prstGeom>
          <a:noFill/>
        </p:spPr>
        <p:txBody>
          <a:bodyPr wrap="square" lIns="0" rIns="0" tIns="0" bIns="0" anchor="t">
            <a:noAutofit/>
          </a:bodyPr>
          <a:lstStyle/>
          <a:p>
            <a:pPr algn="l"/>
            <a:r>
              <a:rPr sz="1600" b="0" i="0">
                <a:solidFill>
                  <a:srgbClr val="1E1E2E"/>
                </a:solidFill>
                <a:latin typeface="Arial"/>
              </a:rPr>
              <a:t>API Management as AI gateway for Foundry models</a:t>
            </a:r>
          </a:p>
        </p:txBody>
      </p:sp>
      <p:sp>
        <p:nvSpPr>
          <p:cNvPr id="17" name="Rounded Rectangle 16"/>
          <p:cNvSpPr/>
          <p:nvPr/>
        </p:nvSpPr>
        <p:spPr>
          <a:xfrm>
            <a:off x="548640" y="29718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8" name="Azure icon: Azure DevOps" descr="Official Azure icon: Azure DevOp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1520" y="3246120"/>
            <a:ext cx="548640" cy="548640"/>
          </a:xfrm>
          <a:prstGeom prst="rect">
            <a:avLst/>
          </a:prstGeom>
        </p:spPr>
      </p:pic>
      <p:sp>
        <p:nvSpPr>
          <p:cNvPr id="19" name="TextBox 18"/>
          <p:cNvSpPr txBox="1"/>
          <p:nvPr/>
        </p:nvSpPr>
        <p:spPr>
          <a:xfrm>
            <a:off x="1463040" y="3154680"/>
            <a:ext cx="4389120" cy="365760"/>
          </a:xfrm>
          <a:prstGeom prst="rect">
            <a:avLst/>
          </a:prstGeom>
          <a:noFill/>
        </p:spPr>
        <p:txBody>
          <a:bodyPr wrap="square" lIns="0" rIns="0" tIns="0" bIns="0" anchor="t">
            <a:noAutofit/>
          </a:bodyPr>
          <a:lstStyle/>
          <a:p>
            <a:pPr algn="l"/>
            <a:r>
              <a:rPr sz="1900" b="1" i="0">
                <a:solidFill>
                  <a:srgbClr val="000048"/>
                </a:solidFill>
                <a:latin typeface="Arial"/>
              </a:rPr>
              <a:t>Azure Verified Modules</a:t>
            </a:r>
          </a:p>
        </p:txBody>
      </p:sp>
      <p:sp>
        <p:nvSpPr>
          <p:cNvPr id="20" name="TextBox 19"/>
          <p:cNvSpPr txBox="1"/>
          <p:nvPr/>
        </p:nvSpPr>
        <p:spPr>
          <a:xfrm>
            <a:off x="1463040" y="3566160"/>
            <a:ext cx="4389120" cy="731520"/>
          </a:xfrm>
          <a:prstGeom prst="rect">
            <a:avLst/>
          </a:prstGeom>
          <a:noFill/>
        </p:spPr>
        <p:txBody>
          <a:bodyPr wrap="square" lIns="0" rIns="0" tIns="0" bIns="0" anchor="t">
            <a:noAutofit/>
          </a:bodyPr>
          <a:lstStyle/>
          <a:p>
            <a:pPr algn="l"/>
            <a:r>
              <a:rPr sz="1600" b="0" i="0">
                <a:solidFill>
                  <a:srgbClr val="1E1E2E"/>
                </a:solidFill>
                <a:latin typeface="Arial"/>
              </a:rPr>
              <a:t>Bicep and Terraform modules Microsoft maintains</a:t>
            </a:r>
          </a:p>
        </p:txBody>
      </p:sp>
      <p:sp>
        <p:nvSpPr>
          <p:cNvPr id="21" name="Rounded Rectangle 20"/>
          <p:cNvSpPr/>
          <p:nvPr/>
        </p:nvSpPr>
        <p:spPr>
          <a:xfrm>
            <a:off x="6172200" y="2971800"/>
            <a:ext cx="5468112" cy="1417320"/>
          </a:xfrm>
          <a:prstGeom prst="roundRect">
            <a:avLst>
              <a:gd name="adj" fmla="val 5161"/>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zure Policy" descr="Official Azure icon: Azure Polic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55080" y="3246120"/>
            <a:ext cx="548640" cy="548640"/>
          </a:xfrm>
          <a:prstGeom prst="rect">
            <a:avLst/>
          </a:prstGeom>
        </p:spPr>
      </p:pic>
      <p:sp>
        <p:nvSpPr>
          <p:cNvPr id="23" name="TextBox 22"/>
          <p:cNvSpPr txBox="1"/>
          <p:nvPr/>
        </p:nvSpPr>
        <p:spPr>
          <a:xfrm>
            <a:off x="7086600" y="3154680"/>
            <a:ext cx="4389120" cy="365760"/>
          </a:xfrm>
          <a:prstGeom prst="rect">
            <a:avLst/>
          </a:prstGeom>
          <a:noFill/>
        </p:spPr>
        <p:txBody>
          <a:bodyPr wrap="square" lIns="0" rIns="0" tIns="0" bIns="0" anchor="t">
            <a:noAutofit/>
          </a:bodyPr>
          <a:lstStyle/>
          <a:p>
            <a:pPr algn="l"/>
            <a:r>
              <a:rPr sz="1900" b="1" i="0">
                <a:solidFill>
                  <a:srgbClr val="000048"/>
                </a:solidFill>
                <a:latin typeface="Arial"/>
              </a:rPr>
              <a:t>Design checklist</a:t>
            </a:r>
          </a:p>
        </p:txBody>
      </p:sp>
      <p:sp>
        <p:nvSpPr>
          <p:cNvPr id="24" name="TextBox 23"/>
          <p:cNvSpPr txBox="1"/>
          <p:nvPr/>
        </p:nvSpPr>
        <p:spPr>
          <a:xfrm>
            <a:off x="7086600" y="3566160"/>
            <a:ext cx="4389120" cy="731520"/>
          </a:xfrm>
          <a:prstGeom prst="rect">
            <a:avLst/>
          </a:prstGeom>
          <a:noFill/>
        </p:spPr>
        <p:txBody>
          <a:bodyPr wrap="square" lIns="0" rIns="0" tIns="0" bIns="0" anchor="t">
            <a:noAutofit/>
          </a:bodyPr>
          <a:lstStyle/>
          <a:p>
            <a:pPr algn="l"/>
            <a:r>
              <a:rPr sz="1600" b="0" i="0">
                <a:solidFill>
                  <a:srgbClr val="1E1E2E"/>
                </a:solidFill>
                <a:latin typeface="Arial"/>
              </a:rPr>
              <a:t>Assesses brownfield estates against CAF and WAF</a:t>
            </a:r>
          </a:p>
        </p:txBody>
      </p:sp>
      <p:graphicFrame>
        <p:nvGraphicFramePr>
          <p:cNvPr id="25" name="Table"/>
          <p:cNvGraphicFramePr>
            <a:graphicFrameLocks noGrp="1"/>
          </p:cNvGraphicFramePr>
          <p:nvPr/>
        </p:nvGraphicFramePr>
        <p:xfrm>
          <a:off x="548640" y="4663440"/>
          <a:ext cx="11091672" cy="1219200"/>
        </p:xfrm>
        <a:graphic>
          <a:graphicData uri="http://schemas.openxmlformats.org/drawingml/2006/table">
            <a:tbl>
              <a:tblPr firstRow="1" bandRow="0">
                <a:tableStyleId>{5C22544A-7EE6-4342-B048-85BDC9FD1C3A}</a:tableStyleId>
              </a:tblPr>
              <a:tblGrid>
                <a:gridCol w="5943600"/>
                <a:gridCol w="5148072"/>
              </a:tblGrid>
              <a:tr h="304800">
                <a:tc>
                  <a:txBody>
                    <a:bodyPr wrap="square" anchor="ctr">
                      <a:noAutofit/>
                    </a:bodyPr>
                    <a:lstStyle/>
                    <a:p>
                      <a:pPr algn="l"/>
                      <a:r>
                        <a:rPr sz="1400" b="1" i="0">
                          <a:solidFill>
                            <a:srgbClr val="FFFFFF"/>
                          </a:solidFill>
                          <a:latin typeface="Arial"/>
                        </a:rPr>
                        <a:t>Where CIS Infra adds value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Estimated effort effect</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Fit to existing hub, DNS, policy and identity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Main effort driver; not reduced by reuse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Deploy modules through customer pipelines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Reduced: modules exist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Close gaps (preview services, policy exceptions)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Adds effort; varies by customer</a:t>
                      </a:r>
                    </a:p>
                  </a:txBody>
                  <a:tcPr marL="73152" marR="73152" marT="36576" marB="36576" anchor="ctr">
                    <a:solidFill>
                      <a:srgbClr val="FFFFFF"/>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Data paths and disaster recovery options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A20</a:t>
            </a:r>
          </a:p>
        </p:txBody>
      </p:sp>
      <p:sp>
        <p:nvSpPr>
          <p:cNvPr id="5" name="Status chip: PROPOSED OPTIONS"/>
          <p:cNvSpPr/>
          <p:nvPr/>
        </p:nvSpPr>
        <p:spPr>
          <a:xfrm>
            <a:off x="199644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OPTIONS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11091672" cy="1219200"/>
        </p:xfrm>
        <a:graphic>
          <a:graphicData uri="http://schemas.openxmlformats.org/drawingml/2006/table">
            <a:tbl>
              <a:tblPr firstRow="1" bandRow="0">
                <a:tableStyleId>{5C22544A-7EE6-4342-B048-85BDC9FD1C3A}</a:tableStyleId>
              </a:tblPr>
              <a:tblGrid>
                <a:gridCol w="3108960"/>
                <a:gridCol w="4023360"/>
                <a:gridCol w="3959352"/>
              </a:tblGrid>
              <a:tr h="304800">
                <a:tc>
                  <a:txBody>
                    <a:bodyPr wrap="square" anchor="ctr">
                      <a:noAutofit/>
                    </a:bodyPr>
                    <a:lstStyle/>
                    <a:p>
                      <a:pPr algn="l"/>
                      <a:r>
                        <a:rPr sz="1400" b="1" i="0">
                          <a:solidFill>
                            <a:srgbClr val="FFFFFF"/>
                          </a:solidFill>
                          <a:latin typeface="Arial"/>
                        </a:rPr>
                        <a:t>Data path</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Azure services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CIS Infra role</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Documents and files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Storage account, AI Search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Private endpoints, identity, lifecycle</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Enterprise analytics data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Microsoft Fabric, OneLake (if used)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Network and identity integration only</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Operational systems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Customer sources via connectors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Network path and DNS</a:t>
                      </a:r>
                    </a:p>
                  </a:txBody>
                  <a:tcPr marL="73152" marR="73152" marT="36576" marB="36576" anchor="ctr">
                    <a:solidFill>
                      <a:srgbClr val="FFFFFF"/>
                    </a:solidFill>
                  </a:tcPr>
                </a:tc>
              </a:tr>
            </a:tbl>
          </a:graphicData>
        </a:graphic>
      </p:graphicFrame>
      <p:graphicFrame>
        <p:nvGraphicFramePr>
          <p:cNvPr id="10" name="Table"/>
          <p:cNvGraphicFramePr>
            <a:graphicFrameLocks noGrp="1"/>
          </p:cNvGraphicFramePr>
          <p:nvPr/>
        </p:nvGraphicFramePr>
        <p:xfrm>
          <a:off x="548640" y="3383280"/>
          <a:ext cx="11091672" cy="1645920"/>
        </p:xfrm>
        <a:graphic>
          <a:graphicData uri="http://schemas.openxmlformats.org/drawingml/2006/table">
            <a:tbl>
              <a:tblPr firstRow="1" bandRow="0">
                <a:tableStyleId>{5C22544A-7EE6-4342-B048-85BDC9FD1C3A}</a:tableStyleId>
              </a:tblPr>
              <a:tblGrid>
                <a:gridCol w="2377440"/>
                <a:gridCol w="3474720"/>
                <a:gridCol w="3108960"/>
                <a:gridCol w="2130552"/>
              </a:tblGrid>
              <a:tr h="304800">
                <a:tc>
                  <a:txBody>
                    <a:bodyPr wrap="square" anchor="ctr">
                      <a:noAutofit/>
                    </a:bodyPr>
                    <a:lstStyle/>
                    <a:p>
                      <a:pPr algn="l"/>
                      <a:r>
                        <a:rPr sz="1400" b="1" i="0">
                          <a:solidFill>
                            <a:srgbClr val="FFFFFF"/>
                          </a:solidFill>
                          <a:latin typeface="Arial"/>
                        </a:rPr>
                        <a:t>DR option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How it works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Cost driver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Recovery</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Single region, rebuild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Redeploy from code; restore data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Lowest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Hours to days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Warm standby</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Second region pre-built, scaled down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Second region baseline, data replication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Hours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Active-active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Two regions serving traffic</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Double capacity, global routing</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Minutes, if capacity exists</a:t>
                      </a:r>
                    </a:p>
                  </a:txBody>
                  <a:tcPr marL="73152" marR="73152" marT="36576" marB="36576" anchor="ctr">
                    <a:solidFill>
                      <a:srgbClr val="FFFFFF"/>
                    </a:solidFill>
                  </a:tcPr>
                </a:tc>
              </a:tr>
            </a:tbl>
          </a:graphicData>
        </a:graphic>
      </p:graphicFrame>
      <p:sp>
        <p:nvSpPr>
          <p:cNvPr id="11" name="Rounded Rectangle 10"/>
          <p:cNvSpPr/>
          <p:nvPr/>
        </p:nvSpPr>
        <p:spPr>
          <a:xfrm>
            <a:off x="548640" y="548640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Model capacity in a second region is not guaranteed on demand. Test failover before quoting a recovery time.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Buyer roles and risk register in detail</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A21</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graphicFrame>
        <p:nvGraphicFramePr>
          <p:cNvPr id="8" name="Table"/>
          <p:cNvGraphicFramePr>
            <a:graphicFrameLocks noGrp="1"/>
          </p:cNvGraphicFramePr>
          <p:nvPr/>
        </p:nvGraphicFramePr>
        <p:xfrm>
          <a:off x="548640" y="1325880"/>
          <a:ext cx="11091672" cy="1447800"/>
        </p:xfrm>
        <a:graphic>
          <a:graphicData uri="http://schemas.openxmlformats.org/drawingml/2006/table">
            <a:tbl>
              <a:tblPr firstRow="1" bandRow="0">
                <a:tableStyleId>{5C22544A-7EE6-4342-B048-85BDC9FD1C3A}</a:tableStyleId>
              </a:tblPr>
              <a:tblGrid>
                <a:gridCol w="3108960"/>
                <a:gridCol w="3931920"/>
                <a:gridCol w="4050792"/>
              </a:tblGrid>
              <a:tr h="289560">
                <a:tc>
                  <a:txBody>
                    <a:bodyPr wrap="square" anchor="ctr">
                      <a:noAutofit/>
                    </a:bodyPr>
                    <a:lstStyle/>
                    <a:p>
                      <a:pPr algn="l"/>
                      <a:r>
                        <a:rPr sz="1300" b="1" i="0">
                          <a:solidFill>
                            <a:srgbClr val="FFFFFF"/>
                          </a:solidFill>
                          <a:latin typeface="Arial"/>
                        </a:rPr>
                        <a:t>Buyer role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What they need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Purchase trigger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Platform or infrastructure leader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 controlled place to run AI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Pilot blocked by platform gaps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CIO or transformation sponsor</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Funded path to production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production route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Business workload owner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 go-live date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Use case waiting on platform</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CISO delegate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Tested controls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Unresolved private connectivity</a:t>
                      </a:r>
                    </a:p>
                  </a:txBody>
                  <a:tcPr marL="73152" marR="73152" marT="36576" marB="36576" anchor="ctr">
                    <a:solidFill>
                      <a:srgbClr val="F5F5F2"/>
                    </a:solidFill>
                  </a:tcPr>
                </a:tc>
              </a:tr>
            </a:tbl>
          </a:graphicData>
        </a:graphic>
      </p:graphicFrame>
      <p:graphicFrame>
        <p:nvGraphicFramePr>
          <p:cNvPr id="9" name="Table"/>
          <p:cNvGraphicFramePr>
            <a:graphicFrameLocks noGrp="1"/>
          </p:cNvGraphicFramePr>
          <p:nvPr/>
        </p:nvGraphicFramePr>
        <p:xfrm>
          <a:off x="548640" y="3749039"/>
          <a:ext cx="11091671" cy="1447800"/>
        </p:xfrm>
        <a:graphic>
          <a:graphicData uri="http://schemas.openxmlformats.org/drawingml/2006/table">
            <a:tbl>
              <a:tblPr firstRow="1" bandRow="0">
                <a:tableStyleId>{5C22544A-7EE6-4342-B048-85BDC9FD1C3A}</a:tableStyleId>
              </a:tblPr>
              <a:tblGrid>
                <a:gridCol w="3657600"/>
                <a:gridCol w="4937760"/>
                <a:gridCol w="2496311"/>
              </a:tblGrid>
              <a:tr h="289560">
                <a:tc>
                  <a:txBody>
                    <a:bodyPr wrap="square" anchor="ctr">
                      <a:noAutofit/>
                    </a:bodyPr>
                    <a:lstStyle/>
                    <a:p>
                      <a:pPr algn="l"/>
                      <a:r>
                        <a:rPr sz="1300" b="1" i="0">
                          <a:solidFill>
                            <a:srgbClr val="FFFFFF"/>
                          </a:solidFill>
                          <a:latin typeface="Arial"/>
                        </a:rPr>
                        <a:t>Risk</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Mitigation</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Hub, DNS or firewall gaps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Price the establish route explicitly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Slow customer approvals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Customer duties and dates in SOW</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Customer platform owner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Preview services in accelerator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GA check before use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Model retirement mid-project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Choose model with longest support; plan upgrade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AI tower</a:t>
                      </a:r>
                    </a:p>
                  </a:txBody>
                  <a:tcPr marL="73152" marR="73152" marT="36576" marB="36576" anchor="ctr">
                    <a:solidFill>
                      <a:srgbClr val="F5F5F2"/>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25880"/>
          <a:ext cx="6035039" cy="262128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Existing landing zone maturity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Design docs, policy, hub in place</a:t>
                      </a:r>
                    </a:p>
                  </a:txBody>
                  <a:tcPr marL="73152" marR="73152" marT="36576" marB="36576" anchor="ctr">
                    <a:solidFill>
                      <a:srgbClr val="F5F5F2"/>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25880"/>
          <a:ext cx="11091672" cy="204216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Assess first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One workload, one region, access granted in week 1</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Several workloads, unclear ownership, slow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Extend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Mature hub, DNS and policy; accelerator fits; one data source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Gaps found in hub or DNS; extra environment; two data sources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Establish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Single region, standard policy baseline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New tenant, new connectivity, regulated industry controls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Transition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Customer operations team ready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New operations model, offering 05 onboarding</a:t>
                      </a:r>
                    </a:p>
                  </a:txBody>
                  <a:tcPr marL="73152" marR="73152" marT="36576" marB="36576" anchor="ctr">
                    <a:solidFill>
                      <a:srgbClr val="F5F5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graphicFrame>
        <p:nvGraphicFramePr>
          <p:cNvPr id="9" name="Table"/>
          <p:cNvGraphicFramePr>
            <a:graphicFrameLocks noGrp="1"/>
          </p:cNvGraphicFramePr>
          <p:nvPr/>
        </p:nvGraphicFramePr>
        <p:xfrm>
          <a:off x="548640" y="1325880"/>
          <a:ext cx="11091672" cy="321564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Data exfiltration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 sends data to an external site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Private endpoints, firewall egress allow-list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Credential theft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Keys in code or config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Managed identity, local auth off, Key Vault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with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Privilege misuse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Standing admin access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PIM, approval for production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designs, CIS Infra runs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Supply chain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Unvetted modules or images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Verified modules, registry scanning, pipeline gates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DevOps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Prompt injection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Malicious content in retrieved documents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Content Safety, Prompt Shields, retrieval permissions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AI with Security</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Logging gaps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evidence during an incident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Diagnostics to Log Analytics, retention policy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5F5F2"/>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graphicFrame>
        <p:nvGraphicFramePr>
          <p:cNvPr id="9" name="Table"/>
          <p:cNvGraphicFramePr>
            <a:graphicFrameLocks noGrp="1"/>
          </p:cNvGraphicFramePr>
          <p:nvPr/>
        </p:nvGraphicFramePr>
        <p:xfrm>
          <a:off x="548640" y="1325880"/>
          <a:ext cx="11091672" cy="283464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27432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implementation, transition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DevOps, AI, Data, Data Eng. work packages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Optional,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assets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Network, hosting, Search, Storage, logs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meters x quantity, dated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agreement prices (customer)</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or PTU for the workload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Tokens x price, or PTU x hours or reservation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Volumes (AI tower); PTU rates (Microsoft)</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in baseline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Only if self-hosted inference is chosen (offering 04)</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 unless selected</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containment: how this offering contributes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069340" cy="256032"/>
          </a:xfrm>
          <a:prstGeom prst="rect">
            <a:avLst/>
          </a:prstGeom>
          <a:noFill/>
        </p:spPr>
        <p:txBody>
          <a:bodyPr wrap="square" lIns="0" rIns="0" tIns="0" bIns="0" anchor="t">
            <a:noAutofit/>
          </a:bodyPr>
          <a:lstStyle/>
          <a:p>
            <a:pPr algn="l"/>
            <a:r>
              <a:rPr sz="1100" b="1" i="0">
                <a:solidFill>
                  <a:srgbClr val="2F78C4"/>
                </a:solidFill>
                <a:latin typeface="Arial"/>
              </a:rPr>
              <a:t>APPENDIX K</a:t>
            </a:r>
          </a:p>
        </p:txBody>
      </p:sp>
      <p:sp>
        <p:nvSpPr>
          <p:cNvPr id="5" name="Status chip: CROSS-REFERENCE"/>
          <p:cNvSpPr/>
          <p:nvPr/>
        </p:nvSpPr>
        <p:spPr>
          <a:xfrm>
            <a:off x="1800860" y="274320"/>
            <a:ext cx="156972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CROSS-REFERENCE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41</a:t>
            </a:r>
          </a:p>
        </p:txBody>
      </p:sp>
      <p:sp>
        <p:nvSpPr>
          <p:cNvPr id="9" name="Rounded Rectangle 8"/>
          <p:cNvSpPr/>
          <p:nvPr/>
        </p:nvSpPr>
        <p:spPr>
          <a:xfrm>
            <a:off x="548640"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Block new requests</a:t>
            </a:r>
          </a:p>
          <a:p>
            <a:pPr algn="l"/>
            <a:r>
              <a:rPr sz="1300" b="0" i="0">
                <a:solidFill>
                  <a:srgbClr val="53565A"/>
                </a:solidFill>
                <a:latin typeface="Arial"/>
              </a:rPr>
              <a:t>API Management ingress</a:t>
            </a:r>
          </a:p>
        </p:txBody>
      </p:sp>
      <p:sp>
        <p:nvSpPr>
          <p:cNvPr id="10" name="Oval 9"/>
          <p:cNvSpPr/>
          <p:nvPr/>
        </p:nvSpPr>
        <p:spPr>
          <a:xfrm>
            <a:off x="658368"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cxnSp>
        <p:nvCxnSpPr>
          <p:cNvPr id="11" name="Connector (flow)"/>
          <p:cNvCxnSpPr/>
          <p:nvPr/>
        </p:nvCxnSpPr>
        <p:spPr>
          <a:xfrm>
            <a:off x="411480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29767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Cancel or isolate</a:t>
            </a:r>
          </a:p>
          <a:p>
            <a:pPr algn="l"/>
            <a:r>
              <a:rPr sz="1300" b="0" i="0">
                <a:solidFill>
                  <a:srgbClr val="53565A"/>
                </a:solidFill>
                <a:latin typeface="Arial"/>
              </a:rPr>
              <a:t>runtime adapter</a:t>
            </a:r>
          </a:p>
        </p:txBody>
      </p:sp>
      <p:sp>
        <p:nvSpPr>
          <p:cNvPr id="13" name="Oval 12"/>
          <p:cNvSpPr/>
          <p:nvPr/>
        </p:nvSpPr>
        <p:spPr>
          <a:xfrm>
            <a:off x="440740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cxnSp>
        <p:nvCxnSpPr>
          <p:cNvPr id="14" name="Connector (flow)"/>
          <p:cNvCxnSpPr/>
          <p:nvPr/>
        </p:nvCxnSpPr>
        <p:spPr>
          <a:xfrm>
            <a:off x="7863840" y="1828800"/>
            <a:ext cx="18287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46719" y="1371600"/>
            <a:ext cx="3566160" cy="914400"/>
          </a:xfrm>
          <a:prstGeom prst="roundRect">
            <a:avLst>
              <a:gd name="adj" fmla="val 80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ctr" lIns="502920" rIns="502920" tIns="73152" bIns="73152" wrap="square">
            <a:noAutofit/>
          </a:bodyPr>
          <a:lstStyle/>
          <a:p>
            <a:pPr algn="l"/>
            <a:r>
              <a:rPr sz="1700" b="1" i="0">
                <a:solidFill>
                  <a:srgbClr val="000048"/>
                </a:solidFill>
                <a:latin typeface="Arial"/>
              </a:rPr>
              <a:t>Deny actions</a:t>
            </a:r>
          </a:p>
          <a:p>
            <a:pPr algn="l"/>
            <a:r>
              <a:rPr sz="1300" b="0" i="0">
                <a:solidFill>
                  <a:srgbClr val="53565A"/>
                </a:solidFill>
                <a:latin typeface="Arial"/>
              </a:rPr>
              <a:t>outbound gateway, tool guard</a:t>
            </a:r>
          </a:p>
        </p:txBody>
      </p:sp>
      <p:sp>
        <p:nvSpPr>
          <p:cNvPr id="16" name="Oval 15"/>
          <p:cNvSpPr/>
          <p:nvPr/>
        </p:nvSpPr>
        <p:spPr>
          <a:xfrm>
            <a:off x="8156447" y="1673352"/>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17" name="TextBox 16"/>
          <p:cNvSpPr txBox="1"/>
          <p:nvPr/>
        </p:nvSpPr>
        <p:spPr>
          <a:xfrm>
            <a:off x="548640" y="2560320"/>
            <a:ext cx="11064240" cy="320040"/>
          </a:xfrm>
          <a:prstGeom prst="rect">
            <a:avLst/>
          </a:prstGeom>
          <a:noFill/>
        </p:spPr>
        <p:txBody>
          <a:bodyPr wrap="square" lIns="0" rIns="0" tIns="0" bIns="0" anchor="t">
            <a:noAutofit/>
          </a:bodyPr>
          <a:lstStyle/>
          <a:p>
            <a:pPr algn="l"/>
            <a:r>
              <a:rPr sz="1700" b="1" i="0">
                <a:solidFill>
                  <a:srgbClr val="000048"/>
                </a:solidFill>
                <a:latin typeface="Arial"/>
              </a:rPr>
              <a:t>What this offering provides</a:t>
            </a:r>
          </a:p>
        </p:txBody>
      </p:sp>
      <p:sp>
        <p:nvSpPr>
          <p:cNvPr id="18" name="TextBox 17"/>
          <p:cNvSpPr txBox="1"/>
          <p:nvPr/>
        </p:nvSpPr>
        <p:spPr>
          <a:xfrm>
            <a:off x="548640" y="2926080"/>
            <a:ext cx="11064240" cy="2651760"/>
          </a:xfrm>
          <a:prstGeom prst="rect">
            <a:avLst/>
          </a:prstGeom>
          <a:noFill/>
        </p:spPr>
        <p:txBody>
          <a:bodyPr wrap="square" lIns="0" rIns="0" tIns="0" bIns="0" anchor="t">
            <a:noAutofit/>
          </a:bodyPr>
          <a:lstStyle/>
          <a:p>
            <a:pPr algn="l" marL="201168" indent="-201168">
              <a:spcAft>
                <a:spcPts val="600"/>
              </a:spcAft>
              <a:buFont typeface="Arial"/>
              <a:buChar char="•"/>
            </a:pPr>
            <a:r>
              <a:rPr sz="1800" b="0" i="0">
                <a:solidFill>
                  <a:srgbClr val="1E1E2E"/>
                </a:solidFill>
                <a:latin typeface="Arial"/>
              </a:rPr>
              <a:t>Private endpoints and disabled local auth so agents cannot bypass the gateway</a:t>
            </a:r>
          </a:p>
          <a:p>
            <a:pPr algn="l" marL="201168" indent="-201168">
              <a:spcAft>
                <a:spcPts val="600"/>
              </a:spcAft>
              <a:buFont typeface="Arial"/>
              <a:buChar char="•"/>
            </a:pPr>
            <a:r>
              <a:rPr sz="1800" b="0" i="0">
                <a:solidFill>
                  <a:srgbClr val="1E1E2E"/>
                </a:solidFill>
                <a:latin typeface="Arial"/>
              </a:rPr>
              <a:t>Separate subnets and identities so a runtime can be isolated without affecting the hub</a:t>
            </a:r>
          </a:p>
          <a:p>
            <a:pPr algn="l" marL="201168" indent="-201168">
              <a:spcAft>
                <a:spcPts val="600"/>
              </a:spcAft>
              <a:buFont typeface="Arial"/>
              <a:buChar char="•"/>
            </a:pPr>
            <a:r>
              <a:rPr sz="1800" b="0" i="0">
                <a:solidFill>
                  <a:srgbClr val="1E1E2E"/>
                </a:solidFill>
                <a:latin typeface="Arial"/>
              </a:rPr>
              <a:t>Telemetry plumbing (Log Analytics, Application Insights) that containment verification depends on</a:t>
            </a:r>
          </a:p>
          <a:p>
            <a:pPr algn="l" marL="201168" indent="-201168">
              <a:spcAft>
                <a:spcPts val="600"/>
              </a:spcAft>
              <a:buFont typeface="Arial"/>
              <a:buChar char="•"/>
            </a:pPr>
            <a:r>
              <a:rPr sz="1800" b="0" i="0">
                <a:solidFill>
                  <a:srgbClr val="1E1E2E"/>
                </a:solidFill>
                <a:latin typeface="Arial"/>
              </a:rPr>
              <a:t>A restricted management boundary for the containment control plane</a:t>
            </a:r>
          </a:p>
        </p:txBody>
      </p:sp>
      <p:sp>
        <p:nvSpPr>
          <p:cNvPr id="19" name="Rounded Rectangle 18"/>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No universal instant stop. Full architecture, limits and tests: deck 02 (Agent Governance) and deck 05 (Managed Operations).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42</a:t>
            </a:r>
          </a:p>
        </p:txBody>
      </p:sp>
      <p:graphicFrame>
        <p:nvGraphicFramePr>
          <p:cNvPr id="9" name="Table"/>
          <p:cNvGraphicFramePr>
            <a:graphicFrameLocks noGrp="1"/>
          </p:cNvGraphicFramePr>
          <p:nvPr/>
        </p:nvGraphicFramePr>
        <p:xfrm>
          <a:off x="548640" y="1325880"/>
          <a:ext cx="11091671" cy="381000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Platform design and integrated plan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Subscriptions, network, DNS, egress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Security control design and verification</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Terraform modules and pipelines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Foundry project, model endpoint hosting</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Data architecture and ingestion</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Platform testing (build, network, access)</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Platform 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Workload acceptance (quality)</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Operational handover and runbooks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hooks and recovery drill</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24560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43</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92608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Platform foundation and integration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$180,000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Security design and verification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$40,000</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Terraform and pipelines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DevOps</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$50,000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Data architecture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$20,000</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Ingestion and indexing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Data Eng.</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$60,000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Workload onboarding and evaluation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$50,000</a:t>
                      </a:r>
                    </a:p>
                  </a:txBody>
                  <a:tcPr marL="73152" marR="73152" marT="36576" marB="36576" anchor="ctr">
                    <a:solidFill>
                      <a:srgbClr val="F5F5F2"/>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r"/>
                      <a:r>
                        <a:rPr sz="1200" b="1" i="0">
                          <a:solidFill>
                            <a:srgbClr val="000048"/>
                          </a:solidFill>
                          <a:latin typeface="Arial"/>
                        </a:rPr>
                        <a:t>$400,000</a:t>
                      </a:r>
                    </a:p>
                  </a:txBody>
                  <a:tcPr marL="73152" marR="73152" marT="36576" marB="36576" anchor="ctr">
                    <a:solidFill>
                      <a:srgbClr val="FFFFFF"/>
                    </a:solidFill>
                  </a:tcPr>
                </a:tc>
              </a:tr>
            </a:tbl>
          </a:graphicData>
        </a:graphic>
      </p:graphicFrame>
      <p:sp>
        <p:nvSpPr>
          <p:cNvPr id="16" name="TextBox 15"/>
          <p:cNvSpPr txBox="1"/>
          <p:nvPr/>
        </p:nvSpPr>
        <p:spPr>
          <a:xfrm>
            <a:off x="6629400" y="470916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44</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Funded workload, platform sponsor, data owner, deployment authority, tower commitments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Landing zone design, subscriptions, hub, DNS, identity, policy, region and model needs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Design, IaC, configured environments, test evidence, runbooks, handover pack</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One workload, dev and prod, one region, one data pattern (reference)</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Security, DevOps, AI, Data, Data Eng. work packages; customer approvals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Assess, design, build, prove, transition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Gates in appendix A17, agreed in the SOW</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Access, approvals, data rights, risk acceptance, named owners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Fixed assessment fee; role days per work package; capped transition fee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Environments, regions, connectivity, data sources, model or boundary change</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05 or customer operations; runbooks and alert routing accepted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Gates passed first time; time to accepted environment; tag coverage</a:t>
                      </a:r>
                    </a:p>
                  </a:txBody>
                  <a:tcPr marL="73152" marR="73152" marT="36576" marB="36576" anchor="ctr">
                    <a:solidFill>
                      <a:srgbClr val="F5F5F2"/>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45</a:t>
            </a:r>
          </a:p>
        </p:txBody>
      </p:sp>
      <p:graphicFrame>
        <p:nvGraphicFramePr>
          <p:cNvPr id="9" name="Table"/>
          <p:cNvGraphicFramePr>
            <a:graphicFrameLocks noGrp="1"/>
          </p:cNvGraphicFramePr>
          <p:nvPr/>
        </p:nvGraphicFramePr>
        <p:xfrm>
          <a:off x="548640" y="1325880"/>
          <a:ext cx="11091672" cy="219456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Nominate Infra sponsor and tower leads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Named people and effort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Adopt three routes and scope boundaries</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Offering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Terraform ownership: DevOps or CIS Infra</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and DevOps leads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Who staffs and maintains modules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Sell rates, margin and attribution rules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Internal costing model</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Reference estimate for extension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Integrated service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effort from validation</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Approved demo environment and IaC assets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Working deployment</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External launch and Microsoft alliance positioning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Offer card, evidence pack</a:t>
                      </a:r>
                    </a:p>
                  </a:txBody>
                  <a:tcPr marL="73152" marR="73152" marT="36576" marB="36576" anchor="ctr">
                    <a:solidFill>
                      <a:srgbClr val="FFFF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AI landing zone with platform</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46</a:t>
            </a:r>
          </a:p>
        </p:txBody>
      </p:sp>
      <p:pic>
        <p:nvPicPr>
          <p:cNvPr id="9" name="Original reference image: 04_AI-Landing-Zone-with-platform.png" descr="04_AI-Landing-Zone-with-platform.png"/>
          <p:cNvPicPr>
            <a:picLocks noChangeAspect="1"/>
          </p:cNvPicPr>
          <p:nvPr/>
        </p:nvPicPr>
        <p:blipFill>
          <a:blip r:embed="rId4"/>
          <a:stretch>
            <a:fillRect/>
          </a:stretch>
        </p:blipFill>
        <p:spPr>
          <a:xfrm>
            <a:off x="2384212" y="1280160"/>
            <a:ext cx="7420526"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04_AI-Landing-Zone-with-platform.png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labels use the earlier "AI Foundry" naming; the simplified executive view uses current Foundry names.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Microsoft Foundry baseline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O2</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47</a:t>
            </a:r>
          </a:p>
        </p:txBody>
      </p:sp>
      <p:pic>
        <p:nvPicPr>
          <p:cNvPr id="9" name="Original reference image: 07_baseline-microsoft-foundry.png" descr="07_baseline-microsoft-foundry.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07_baseline-microsoft-foundry.png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shows "Azure OpenAI model"; adapted view (A8) uses Foundry model deployment.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landing zone networking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O3</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48</a:t>
            </a:r>
          </a:p>
        </p:txBody>
      </p:sp>
      <p:pic>
        <p:nvPicPr>
          <p:cNvPr id="9" name="Original reference image: 11_baseline-landing-zone-networking.png" descr="11_baseline-landing-zone-networking.png"/>
          <p:cNvPicPr>
            <a:picLocks noChangeAspect="1"/>
          </p:cNvPicPr>
          <p:nvPr/>
        </p:nvPicPr>
        <p:blipFill>
          <a:blip r:embed="rId4"/>
          <a:stretch>
            <a:fillRect/>
          </a:stretch>
        </p:blipFill>
        <p:spPr>
          <a:xfrm>
            <a:off x="3622063" y="1280160"/>
            <a:ext cx="4944824"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11_baseline-landing-zone-networking.png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The source PNG clips some labels in its own render; the editable reconstruction is appendix A5.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landing zone egress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O4</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49</a:t>
            </a:r>
          </a:p>
        </p:txBody>
      </p:sp>
      <p:pic>
        <p:nvPicPr>
          <p:cNvPr id="9" name="Original reference image: 12_baseline-landing-zone-networking-egress.png" descr="12_baseline-landing-zone-networking-egress.png"/>
          <p:cNvPicPr>
            <a:picLocks noChangeAspect="1"/>
          </p:cNvPicPr>
          <p:nvPr/>
        </p:nvPicPr>
        <p:blipFill>
          <a:blip r:embed="rId4"/>
          <a:stretch>
            <a:fillRect/>
          </a:stretch>
        </p:blipFill>
        <p:spPr>
          <a:xfrm>
            <a:off x="3819963" y="1280160"/>
            <a:ext cx="4549025"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12_baseline-landing-zone-networking-egress.png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The source PNG clips some labels in its own render; the editable reconstruction is appendix A6.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Azure landing zone conceptual view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O5</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50</a:t>
            </a:r>
          </a:p>
        </p:txBody>
      </p:sp>
      <p:pic>
        <p:nvPicPr>
          <p:cNvPr id="9" name="Original reference image: 35_azure-landing-zone-conceptual-architecture.png" descr="35_azure-landing-zone-conceptual-architecture.png"/>
          <p:cNvPicPr>
            <a:picLocks noChangeAspect="1"/>
          </p:cNvPicPr>
          <p:nvPr/>
        </p:nvPicPr>
        <p:blipFill>
          <a:blip r:embed="rId4"/>
          <a:stretch>
            <a:fillRect/>
          </a:stretch>
        </p:blipFill>
        <p:spPr>
          <a:xfrm>
            <a:off x="2363814" y="1280160"/>
            <a:ext cx="7461323"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35_azure-landing-zone-conceptual-architecture.png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Microsoft CAF conceptual view showing Foundry added to workload landing zones that need AI.</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AI Platform / Landing Zone  ·  v3.0  ·  11 Oct 2026  ·  Working proposal, not approved terms</a:t>
            </a:r>
          </a:p>
        </p:txBody>
      </p:sp>
      <p:sp>
        <p:nvSpPr>
          <p:cNvPr id="7" name="IndexLink">
            <a:hlinkClick action="ppaction://hlinksldjump" r:id="rId2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51</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100" b="1" i="0">
                <a:solidFill>
                  <a:srgbClr val="000048"/>
                </a:solidFill>
                <a:latin typeface="Arial"/>
              </a:rPr>
              <a:t>Cloud Adoption Framework: AI Ready:  </a:t>
            </a:r>
            <a:r>
              <a:rPr sz="1100" b="0" i="0">
                <a:solidFill>
                  <a:srgbClr val="2F78C4"/>
                </a:solidFill>
                <a:latin typeface="Arial"/>
                <a:hlinkClick r:id="rId4"/>
              </a:rPr>
              <a:t>https://learn.microsoft.com/en-us/azure/cloud-adoption-framework/ai/ready</a:t>
            </a:r>
          </a:p>
          <a:p>
            <a:pPr algn="l">
              <a:spcAft>
                <a:spcPts val="300"/>
              </a:spcAft>
            </a:pPr>
            <a:r>
              <a:rPr sz="1100" b="1" i="0">
                <a:solidFill>
                  <a:srgbClr val="000048"/>
                </a:solidFill>
                <a:latin typeface="Arial"/>
              </a:rPr>
              <a:t>Foundry Models deployment types:  </a:t>
            </a:r>
            <a:r>
              <a:rPr sz="1100" b="0" i="0">
                <a:solidFill>
                  <a:srgbClr val="2F78C4"/>
                </a:solidFill>
                <a:latin typeface="Arial"/>
                <a:hlinkClick r:id="rId5"/>
              </a:rPr>
              <a:t>https://learn.microsoft.com/en-us/azure/foundry/foundry-models/concepts/deployment-types</a:t>
            </a:r>
          </a:p>
          <a:p>
            <a:pPr algn="l">
              <a:spcAft>
                <a:spcPts val="300"/>
              </a:spcAft>
            </a:pPr>
            <a:r>
              <a:rPr sz="1100" b="1" i="0">
                <a:solidFill>
                  <a:srgbClr val="000048"/>
                </a:solidFill>
                <a:latin typeface="Arial"/>
              </a:rPr>
              <a:t>Foundry Models region availability (Europe and MEA tabs read in browser):  </a:t>
            </a:r>
            <a:r>
              <a:rPr sz="1100" b="0" i="0">
                <a:solidFill>
                  <a:srgbClr val="2F78C4"/>
                </a:solidFill>
                <a:latin typeface="Arial"/>
                <a:hlinkClick r:id="rId6"/>
              </a:rPr>
              <a:t>https://learn.microsoft.com/en-us/azure/foundry/foundry-models/concepts/models-sold-directly-by-azure-region-availability</a:t>
            </a:r>
          </a:p>
          <a:p>
            <a:pPr algn="l">
              <a:spcAft>
                <a:spcPts val="300"/>
              </a:spcAft>
            </a:pPr>
            <a:r>
              <a:rPr sz="1100" b="1" i="0">
                <a:solidFill>
                  <a:srgbClr val="000048"/>
                </a:solidFill>
                <a:latin typeface="Arial"/>
              </a:rPr>
              <a:t>Foundry Models retirement schedule:  </a:t>
            </a:r>
            <a:r>
              <a:rPr sz="1100" b="0" i="0">
                <a:solidFill>
                  <a:srgbClr val="2F78C4"/>
                </a:solidFill>
                <a:latin typeface="Arial"/>
                <a:hlinkClick r:id="rId7"/>
              </a:rPr>
              <a:t>https://learn.microsoft.com/en-us/azure/foundry/openai/concepts/model-retirement-schedule</a:t>
            </a:r>
          </a:p>
          <a:p>
            <a:pPr algn="l">
              <a:spcAft>
                <a:spcPts val="300"/>
              </a:spcAft>
            </a:pPr>
            <a:r>
              <a:rPr sz="1100" b="1" i="0">
                <a:solidFill>
                  <a:srgbClr val="000048"/>
                </a:solidFill>
                <a:latin typeface="Arial"/>
              </a:rPr>
              <a:t>Foundry Control Plane: manage agents:  </a:t>
            </a:r>
            <a:r>
              <a:rPr sz="1100" b="0" i="0">
                <a:solidFill>
                  <a:srgbClr val="2F78C4"/>
                </a:solidFill>
                <a:latin typeface="Arial"/>
                <a:hlinkClick r:id="rId8"/>
              </a:rPr>
              <a:t>https://learn.microsoft.com/en-us/azure/foundry/control-plane/how-to-manage-agents</a:t>
            </a:r>
          </a:p>
          <a:p>
            <a:pPr algn="l">
              <a:spcAft>
                <a:spcPts val="300"/>
              </a:spcAft>
            </a:pPr>
            <a:r>
              <a:rPr sz="1100" b="1" i="0">
                <a:solidFill>
                  <a:srgbClr val="000048"/>
                </a:solidFill>
                <a:latin typeface="Arial"/>
              </a:rPr>
              <a:t>Azure Retail Prices API: Log Analytics, East US 2:  </a:t>
            </a:r>
            <a:r>
              <a:rPr sz="1100" b="0" i="0">
                <a:solidFill>
                  <a:srgbClr val="2F78C4"/>
                </a:solidFill>
                <a:latin typeface="Arial"/>
                <a:hlinkClick r:id="rId9"/>
              </a:rPr>
              <a:t>https://prices.azure.com/api/retail/prices?$filter=serviceName eq 'Log Analytics' and armRegionName eq 'eastus2'</a:t>
            </a:r>
          </a:p>
          <a:p>
            <a:pPr algn="l">
              <a:spcAft>
                <a:spcPts val="300"/>
              </a:spcAft>
            </a:pPr>
            <a:r>
              <a:rPr sz="1100" b="1" i="0">
                <a:solidFill>
                  <a:srgbClr val="000048"/>
                </a:solidFill>
                <a:latin typeface="Arial"/>
              </a:rPr>
              <a:t>Azure Architecture Icons (V24):  </a:t>
            </a:r>
            <a:r>
              <a:rPr sz="1100" b="0" i="0">
                <a:solidFill>
                  <a:srgbClr val="2F78C4"/>
                </a:solidFill>
                <a:latin typeface="Arial"/>
                <a:hlinkClick r:id="rId10"/>
              </a:rPr>
              <a:t>https://learn.microsoft.com/en-us/azure/architecture/icons/</a:t>
            </a:r>
          </a:p>
          <a:p>
            <a:pPr algn="l">
              <a:spcAft>
                <a:spcPts val="300"/>
              </a:spcAft>
            </a:pPr>
            <a:r>
              <a:rPr sz="1100" b="1" i="0">
                <a:solidFill>
                  <a:srgbClr val="000048"/>
                </a:solidFill>
                <a:latin typeface="Arial"/>
              </a:rPr>
              <a:t>az-icons.com catalogue of official Azure icons (July 2026 set):  </a:t>
            </a:r>
            <a:r>
              <a:rPr sz="1100" b="0" i="0">
                <a:solidFill>
                  <a:srgbClr val="2F78C4"/>
                </a:solidFill>
                <a:latin typeface="Arial"/>
                <a:hlinkClick r:id="rId11"/>
              </a:rPr>
              <a:t>https://az-icons.com/</a:t>
            </a:r>
          </a:p>
          <a:p>
            <a:pPr algn="l">
              <a:spcAft>
                <a:spcPts val="300"/>
              </a:spcAft>
            </a:pPr>
            <a:r>
              <a:rPr sz="1100" b="1" i="0">
                <a:solidFill>
                  <a:srgbClr val="000048"/>
                </a:solidFill>
                <a:latin typeface="Arial"/>
              </a:rPr>
              <a:t>Azure Architecture Center browse:  </a:t>
            </a:r>
            <a:r>
              <a:rPr sz="1100" b="0" i="0">
                <a:solidFill>
                  <a:srgbClr val="2F78C4"/>
                </a:solidFill>
                <a:latin typeface="Arial"/>
                <a:hlinkClick r:id="rId12"/>
              </a:rPr>
              <a:t>https://learn.microsoft.com/en-us/azure/architecture/browse/</a:t>
            </a:r>
          </a:p>
          <a:p>
            <a:pPr algn="l">
              <a:spcAft>
                <a:spcPts val="300"/>
              </a:spcAft>
            </a:pPr>
            <a:r>
              <a:rPr sz="1100" b="1" i="0">
                <a:solidFill>
                  <a:srgbClr val="000048"/>
                </a:solidFill>
                <a:latin typeface="Arial"/>
              </a:rPr>
              <a:t>GTM proposal V3:  </a:t>
            </a:r>
            <a:r>
              <a:rPr sz="1100" b="0" i="0">
                <a:solidFill>
                  <a:srgbClr val="2F78C4"/>
                </a:solidFill>
                <a:latin typeface="Arial"/>
                <a:hlinkClick r:id="rId13"/>
              </a:rPr>
              <a:t>https://github.com/upendra25312/AI-Foundry-GTM-offering-/blob/main/CIS_Infra_Azure_AI_Platform_GTM_Proposal_V3.docx</a:t>
            </a:r>
          </a:p>
          <a:p>
            <a:pPr algn="l">
              <a:spcAft>
                <a:spcPts val="300"/>
              </a:spcAft>
            </a:pPr>
            <a:r>
              <a:rPr sz="1100" b="1" i="0">
                <a:solidFill>
                  <a:srgbClr val="000048"/>
                </a:solidFill>
                <a:latin typeface="Arial"/>
              </a:rPr>
              <a:t>Azure AI Landing Zones:  </a:t>
            </a:r>
            <a:r>
              <a:rPr sz="1100" b="0" i="0">
                <a:solidFill>
                  <a:srgbClr val="2F78C4"/>
                </a:solidFill>
                <a:latin typeface="Arial"/>
                <a:hlinkClick r:id="rId14"/>
              </a:rPr>
              <a:t>https://github.com/Azure/AI-Landing-Zones</a:t>
            </a:r>
          </a:p>
          <a:p>
            <a:pPr algn="l">
              <a:spcAft>
                <a:spcPts val="300"/>
              </a:spcAft>
            </a:pPr>
            <a:r>
              <a:rPr sz="1100" b="1" i="0">
                <a:solidFill>
                  <a:srgbClr val="000048"/>
                </a:solidFill>
                <a:latin typeface="Arial"/>
              </a:rPr>
              <a:t>Foundry baseline in a landing zone:  </a:t>
            </a:r>
            <a:r>
              <a:rPr sz="1100" b="0" i="0">
                <a:solidFill>
                  <a:srgbClr val="2F78C4"/>
                </a:solidFill>
                <a:latin typeface="Arial"/>
                <a:hlinkClick r:id="rId15"/>
              </a:rPr>
              <a:t>https://learn.microsoft.com/en-us/azure/architecture/ai-ml/architecture/baseline-microsoft-foundry-landing-zone</a:t>
            </a:r>
          </a:p>
          <a:p>
            <a:pPr algn="l">
              <a:spcAft>
                <a:spcPts val="300"/>
              </a:spcAft>
            </a:pPr>
            <a:r>
              <a:rPr sz="1100" b="1" i="0">
                <a:solidFill>
                  <a:srgbClr val="000048"/>
                </a:solidFill>
                <a:latin typeface="Arial"/>
              </a:rPr>
              <a:t>App Service private endpoint:  </a:t>
            </a:r>
            <a:r>
              <a:rPr sz="1100" b="0" i="0">
                <a:solidFill>
                  <a:srgbClr val="2F78C4"/>
                </a:solidFill>
                <a:latin typeface="Arial"/>
                <a:hlinkClick r:id="rId16"/>
              </a:rPr>
              <a:t>https://learn.microsoft.com/en-us/azure/app-service/overview-private-endpoint</a:t>
            </a:r>
          </a:p>
          <a:p>
            <a:pPr algn="l">
              <a:spcAft>
                <a:spcPts val="300"/>
              </a:spcAft>
            </a:pPr>
            <a:r>
              <a:rPr sz="1100" b="1" i="0">
                <a:solidFill>
                  <a:srgbClr val="000048"/>
                </a:solidFill>
                <a:latin typeface="Arial"/>
              </a:rPr>
              <a:t>Azure AI Landing Zones (GitHub):  </a:t>
            </a:r>
            <a:r>
              <a:rPr sz="1100" b="0" i="0">
                <a:solidFill>
                  <a:srgbClr val="2F78C4"/>
                </a:solidFill>
                <a:latin typeface="Arial"/>
                <a:hlinkClick r:id="rId14"/>
              </a:rPr>
              <a:t>https://github.com/Azure/AI-Landing-Zones</a:t>
            </a:r>
          </a:p>
          <a:p>
            <a:pPr algn="l">
              <a:spcAft>
                <a:spcPts val="300"/>
              </a:spcAft>
            </a:pPr>
            <a:r>
              <a:rPr sz="1100" b="1" i="0">
                <a:solidFill>
                  <a:srgbClr val="000048"/>
                </a:solidFill>
                <a:latin typeface="Arial"/>
              </a:rPr>
              <a:t>EU AI Act Update: Digital Omnibus finalises compliance changes (Orrick, 29 Jul 2026):  </a:t>
            </a:r>
            <a:r>
              <a:rPr sz="1100" b="0" i="0">
                <a:solidFill>
                  <a:srgbClr val="2F78C4"/>
                </a:solidFill>
                <a:latin typeface="Arial"/>
                <a:hlinkClick r:id="rId17"/>
              </a:rPr>
              <a:t>https://www.orrick.com/en/Insights/2026/07/EU-AI-Act-Update-Digital-Omnibus-Finalizes-8-Compliance-Changes</a:t>
            </a:r>
          </a:p>
          <a:p>
            <a:pPr algn="l">
              <a:spcAft>
                <a:spcPts val="300"/>
              </a:spcAft>
            </a:pPr>
            <a:r>
              <a:rPr sz="1100" b="1" i="0">
                <a:solidFill>
                  <a:srgbClr val="000048"/>
                </a:solidFill>
                <a:latin typeface="Arial"/>
              </a:rPr>
              <a:t>AI threat protection in Microsoft Defender for Cloud:  </a:t>
            </a:r>
            <a:r>
              <a:rPr sz="1100" b="0" i="0">
                <a:solidFill>
                  <a:srgbClr val="2F78C4"/>
                </a:solidFill>
                <a:latin typeface="Arial"/>
                <a:hlinkClick r:id="rId18"/>
              </a:rPr>
              <a:t>https://learn.microsoft.com/en-us/azure/defender-for-cloud/ai-threat-protection</a:t>
            </a:r>
          </a:p>
          <a:p>
            <a:pPr algn="l">
              <a:spcAft>
                <a:spcPts val="300"/>
              </a:spcAft>
            </a:pPr>
            <a:r>
              <a:rPr sz="1100" b="1" i="0">
                <a:solidFill>
                  <a:srgbClr val="000048"/>
                </a:solidFill>
                <a:latin typeface="Arial"/>
              </a:rPr>
              <a:t>Microsoft Purview data security and compliance for AI:  </a:t>
            </a:r>
            <a:r>
              <a:rPr sz="1100" b="0" i="0">
                <a:solidFill>
                  <a:srgbClr val="2F78C4"/>
                </a:solidFill>
                <a:latin typeface="Arial"/>
                <a:hlinkClick r:id="rId19"/>
              </a:rPr>
              <a:t>https://learn.microsoft.com/en-us/purview/ai-microsoft-purview</a:t>
            </a:r>
          </a:p>
          <a:p>
            <a:pPr algn="l">
              <a:spcAft>
                <a:spcPts val="300"/>
              </a:spcAft>
            </a:pPr>
            <a:r>
              <a:rPr sz="1100" b="1" i="0">
                <a:solidFill>
                  <a:srgbClr val="000048"/>
                </a:solidFill>
                <a:latin typeface="Arial"/>
              </a:rPr>
              <a:t>Microsoft Agent 365 now generally available (Microsoft Security blog, 1 May 2026):  </a:t>
            </a:r>
            <a:r>
              <a:rPr sz="1100" b="0" i="0">
                <a:solidFill>
                  <a:srgbClr val="2F78C4"/>
                </a:solidFill>
                <a:latin typeface="Arial"/>
                <a:hlinkClick r:id="rId20"/>
              </a:rPr>
              <a:t>https://www.microsoft.com/en-us/security/blog/2026/05/01/microsoft-agent-365-now-generally-available-expands-capabilities-and-integrations/</a:t>
            </a:r>
          </a:p>
          <a:p>
            <a:pPr algn="l">
              <a:spcAft>
                <a:spcPts val="300"/>
              </a:spcAft>
            </a:pPr>
            <a:r>
              <a:rPr sz="1100" b="1" i="0">
                <a:solidFill>
                  <a:srgbClr val="000048"/>
                </a:solidFill>
                <a:latin typeface="Arial"/>
              </a:rPr>
              <a:t>Register and discover MCP servers in Azure API Center:  </a:t>
            </a:r>
            <a:r>
              <a:rPr sz="1100" b="0" i="0">
                <a:solidFill>
                  <a:srgbClr val="2F78C4"/>
                </a:solidFill>
                <a:latin typeface="Arial"/>
                <a:hlinkClick r:id="rId21"/>
              </a:rPr>
              <a:t>https://learn.microsoft.com/en-us/azure/api-center/register-discover-mcp-server</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AI Platform / Landing Zone v3.0</dc:title>
  <dcterms:created xsi:type="dcterms:W3CDTF">2026-10-10T13:56:28.3080000Z</dcterms:created>
  <dcterms:modified xsi:type="dcterms:W3CDTF">2026-10-10T13:56:28.3090000Z</dcterms:modified>
  <dc:subject>Proposed CIS Infra GTM offering for internal leadership review</dc:subject>
</coreProperties>
</file>