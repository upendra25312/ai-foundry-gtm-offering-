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 xmlns:ns0="http://schemas.openxmlformats.org/officeDocument/2006/relationships" id="306" ns0:id="rI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foundation offering. Customers cannot run AI agents safely until identity, network, environments and cost ownership are in place. We sell that foundation as a bounded package tied to one funded workload, not as open-ended consulting.</a:t>
            </a:r>
          </a:p>
          <a:p/>
          <a:p>
            <a:r>
              <a:t>Likely question: How does this relate to the other four decks?</a:t>
            </a:r>
          </a:p>
          <a:p>
            <a:r>
              <a:t>Answer: It is the base layer. The gateway, agent governance and managed operations all sit on it, and the FinOps assessment tells us how to size it.</a:t>
            </a:r>
          </a:p>
          <a:p/>
          <a:p>
            <a:r>
              <a:t>DETAIL AND CAVEATS</a:t>
            </a:r>
          </a:p>
          <a:p>
            <a:r>
              <a:t>Opening slide. Part of a six-deck portfolio; deck 00 is the master 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to take away. Pilots fail at the platform, not the model. We fix the platform for one funded workload using Microsoft's own accelerator. And we ask for three decisions today: a sponsor, the three packages, and acceptance of estimate ranges.</a:t>
            </a:r>
          </a:p>
          <a:p/>
          <a:p>
            <a:r>
              <a:t>Likely question: Why lead with infrastructure rather than AI use cases?</a:t>
            </a:r>
          </a:p>
          <a:p>
            <a:r>
              <a:t>Answer: Because the AI tower and the business own the use case. Our edge is getting it into a governed production platform quickly and repeatably.</a:t>
            </a:r>
          </a:p>
          <a:p/>
          <a:p>
            <a:r>
              <a:t>DETAIL AND CAVEATS</a:t>
            </a:r>
          </a:p>
          <a:p>
            <a:r>
              <a:t>Answers the demand, outcome and decision questions. Source: CIS Infra Azure AI Platform GTM Proposal V3 (8 Oct 2026).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forces make this urgent: customers want pilots in production, models now retire within about a year so platforms must be repeatable, and EU regulation has firm dates. The buyer is the platform leader; the trigger is a stuck pilot.</a:t>
            </a:r>
          </a:p>
          <a:p/>
          <a:p>
            <a:r>
              <a:t>Likely question: Do we have customer demand evidence?</a:t>
            </a:r>
          </a:p>
          <a:p>
            <a:r>
              <a:t>Answer: Not yet. The 30-day validation asks account teams for three qualified candidates using the scorecard in appendix Q1.</a:t>
            </a:r>
          </a:p>
          <a:p/>
          <a:p>
            <a:r>
              <a:t>DETAIL AND CAVEATS</a:t>
            </a:r>
          </a:p>
          <a:p>
            <a:r>
              <a:t>Drivers are sourced public facts, not market statistics. No customer or pipeline is claimed.</a:t>
            </a:r>
          </a:p>
          <a:p/>
          <a:p>
            <a:r>
              <a:t>Sources (checked 11 Oct 2026):</a:t>
            </a:r>
          </a:p>
          <a:p>
            <a:r>
              <a:t>Cloud Adoption Framework: AI Ready: https://learn.microsoft.com/en-us/azure/cloud-adoption-framework/ai/ready</a:t>
            </a:r>
          </a:p>
          <a:p>
            <a:r>
              <a:t>Foundry Models retirement schedule: https://learn.microsoft.com/en-us/azure/foundry/openai/concepts/model-retirement-schedule</a:t>
            </a:r>
          </a:p>
          <a:p>
            <a:r>
              <a:t>EU AI Act Update: Digital Omnibus finalises compliance changes (Orrick, 29 Jul 2026):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foundation of five offerings. Around them sits the Microsoft ecosystem: Microsoft 365 Copilot stays with our M365 and D365 teams, while Copilot Studio agents, Agent 365 and API Center now run on or connect to the platform we build.</a:t>
            </a:r>
          </a:p>
          <a:p/>
          <a:p>
            <a:r>
              <a:t>Likely question: Why is M365 Copilot not ours?</a:t>
            </a:r>
          </a:p>
          <a:p>
            <a:r>
              <a:t>Answer: It is a SaaS licence and adoption motion owned by the M365 and D365 teams. We supply identity, network and data-protection readiness.</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column is what we sell and deliver. Middle is what we can add. Right is what other towers and the customer own; being explicit here prevents scope creep and protects margin.</a:t>
            </a:r>
          </a:p>
          <a:p/>
          <a:p>
            <a:r>
              <a:t>Likely question: Who owns Terraform?</a:t>
            </a:r>
          </a:p>
          <a:p>
            <a:r>
              <a:t>Answer: DevOps in this baseline, unless CIS Infra staffs and maintains the modules. That is a decision for today.</a:t>
            </a:r>
          </a:p>
          <a:p/>
          <a:p>
            <a:r>
              <a:t>DETAIL AND CAVEATS</a:t>
            </a:r>
          </a:p>
          <a:p>
            <a:r>
              <a:t>Scope boundaries from V3 proposal.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in three steps. Users come in through a web firewall to the app. The app calls the Foundry project and model over private links, with data in AI Search and a Storage account. Everything outbound goes through the hub firewall, and every resource reports to shared monitoring and budgets. Shared platform on the left, separate production and non-production subscriptions on the right.</a:t>
            </a:r>
          </a:p>
          <a:p/>
          <a:p>
            <a:r>
              <a:t>Likely question: Is this the Microsoft design?</a:t>
            </a:r>
          </a:p>
          <a:p>
            <a:r>
              <a:t>Answer: It is our simplified adaptation of Microsoft's AI Landing Zone reference, marked as proposed. Detailed network views are in the appendix.</a:t>
            </a:r>
          </a:p>
          <a:p/>
          <a:p>
            <a:r>
              <a:t>DETAIL AND CAVEATS</a:t>
            </a:r>
          </a:p>
          <a:p>
            <a:r>
              <a:t>Simplified, editable executive view. Adapted from the AI Landing Zone with platform landing zone diagram (04_AI-Landing-Zone-with-platform.png, source https://github.com/Azure/AI-Landing-Zones) and the Foundry baseline landing zone architecture. Not the original; detailed network and egress diagrams are in the appendix.</a:t>
            </a:r>
          </a:p>
          <a:p/>
          <a:p>
            <a:r>
              <a:t>Reading order: (1) users reach the workload through Application Gateway with WAF; (2) the app host calls the Foundry project and model deployment through private endpoints; (3) retrieval and state use AI Search and a Storage account; secrets in Key Vault; (4) outbound traffic routes through the hub firewall; (5) all resources send telemetry to Log Analytics and Application Insights and are governed by management-group policy and budgets. Identity: managed identities for workloads, Entra PIM for privileged operators.</a:t>
            </a:r>
          </a:p>
          <a:p/>
          <a:p>
            <a:r>
              <a:t>Storage label: the icon is the Azure Storage account; blob containers live inside it.</a:t>
            </a:r>
          </a:p>
          <a:p/>
          <a:p>
            <a:r>
              <a:t>Sources (checked 11 Oct 2026):</a:t>
            </a:r>
          </a:p>
          <a:p>
            <a:r>
              <a:t>Adapted from https://github.com/upendra25312/AI-Foundry-GTM-offering-/blob/main/architectures/04_AI-Landing-Zone-with-platform.png</a:t>
            </a:r>
          </a:p>
          <a:p>
            <a:r>
              <a:t>https://github.com/Azure/AI-Landing-Zones</a:t>
            </a:r>
          </a:p>
          <a:p>
            <a:r>
              <a:t>https://learn.microsoft.com/en-us/azure/architecture/ai-ml/architecture/baseline-microsoft-foundry-landing-zone</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engagement starts in one of three places. If we do not know enough, we sell a fixed-fee assessment. If the customer has a mature landing zone, we extend it. If not, we establish the platform first. All three reuse Microsoft's open-source AI Landing Zone, so we are not building from scratch.</a:t>
            </a:r>
          </a:p>
          <a:p/>
          <a:p>
            <a:r>
              <a:t>Likely question: How much does reuse save?</a:t>
            </a:r>
          </a:p>
          <a:p>
            <a:r>
              <a:t>Answer: We estimate 20 to 30 percent of platform engineering effort, to be proven in the pilot. See appendix A0.</a:t>
            </a:r>
          </a:p>
          <a:p/>
          <a:p>
            <a:r>
              <a:t>DETAIL AND CAVEATS</a:t>
            </a:r>
          </a:p>
          <a:p>
            <a:r>
              <a:t>Routes: assess first when access, connectivity or capacity is unknown; extend when a mature landing zone exists; establish when platform gaps or a new tenant scope exist. All three reuse the Microsoft AI Landing Zone accelerator (Agent Landing Zone and AI Gateway Landing Zone; Portal, Bicep and Terraform on Azure Verified Modules) to cut build effort. Transition hands over to operations.</a:t>
            </a:r>
          </a:p>
          <a:p/>
          <a:p>
            <a:r>
              <a:t>Sources (checked 11 Oct 2026):</a:t>
            </a:r>
          </a:p>
          <a:p>
            <a:r>
              <a:t>Azure AI Landing Zones (GitHub): https://github.com/Azure/AI-Landing-Zones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planning estimates, not quotes. An extension is around 70 to 110 role days across all towers, about two to three months. A new foundation roughly doubles that. The fee bands use a placeholder rate of 1,000 dollars a day so Finance can rescale them.</a:t>
            </a:r>
          </a:p>
          <a:p/>
          <a:p>
            <a:r>
              <a:t>Likely question: Where does 88 days come from?</a:t>
            </a:r>
          </a:p>
          <a:p>
            <a:r>
              <a:t>Answer: The V3 proposal's worked example for a bounded extension; the mid-point of our extend range.</a:t>
            </a:r>
          </a:p>
          <a:p/>
          <a:p>
            <a:r>
              <a:t>DETAIL AND CAVEATS</a:t>
            </a:r>
          </a:p>
          <a:p>
            <a:r>
              <a:t>Ranges cover all towers (CIS Infra, Security, DevOps, Data, Data Engineering, AI). Extend anchored on the V3 worked example of 88 role days.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Four risks decide this offering. The biggest is selling a platform with no funded workload. Each risk has a handling approach and a named owner.</a:t>
            </a:r>
          </a:p>
          <a:p/>
          <a:p>
            <a:r>
              <a:t>Likely question: What about security?</a:t>
            </a:r>
          </a:p>
          <a:p>
            <a:r>
              <a:t>Answer: The threat model and regulatory checkpoints are in the design phase, owned by Security; see appendix SEC1 and SEC2.</a:t>
            </a:r>
          </a:p>
          <a:p/>
          <a:p>
            <a:r>
              <a:t>DETAIL AND CAVEATS</a:t>
            </a:r>
          </a:p>
          <a:p>
            <a:r>
              <a:t>Top risks. A critical dependency without a signed commitment blocks the implementation quote (V3 rule).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will measure success with five tests that a customer can witness. And we need three decisions today; the rest wait for pilot evidence or Finance.</a:t>
            </a:r>
          </a:p>
          <a:p/>
          <a:p>
            <a:r>
              <a:t>Likely question: When could we take this to customers?</a:t>
            </a:r>
          </a:p>
          <a:p>
            <a:r>
              <a:t>Answer: After the 30-day validation and one pilot, subject to Finance approving rates.</a:t>
            </a:r>
          </a:p>
          <a:p/>
          <a:p>
            <a:r>
              <a:t>DETAIL AND CAVEATS</a:t>
            </a:r>
          </a:p>
          <a:p>
            <a:r>
              <a:t>Platform acceptance and workload acceptance are separate milestones.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All useful baseline content is retained here. Use the appendix index (next slide)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"Extending a landing zone versus building a new one". Audit finding: explain the difference between extending an existing landing zone and establishing a new foundation. Extending reuses an accepted platform after validation. Establishing builds the platform layer first.</a:t>
            </a:r>
          </a:p>
          <a:p/>
          <a:p>
            <a:r>
              <a:t>DETAIL AND CAVEATS</a:t>
            </a:r>
          </a:p>
          <a:p>
            <a:r>
              <a:t>Audit finding: explain the difference between extending an existing landing zone and establishing a new foundation. Extending reuses an accepted platform after validation. Establishing builds the platform layer first. New foundations are never included in the extension price.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"Proposed package structure". Proposed packaging. Durations are not given because they depend on access, approvals and named tower staff. The V3 worked example (about 88 role days for a bounded extension: Infra 40, Security 8, DevOps 12, Data 4, Data Engineering 12, AI 12) is effort before contingency and is illustrative only.</a:t>
            </a:r>
          </a:p>
          <a:p/>
          <a:p>
            <a:r>
              <a:t>DETAIL AND CAVEATS</a:t>
            </a:r>
          </a:p>
          <a:p>
            <a:r>
              <a:t>Proposed packaging. Durations are not given because they depend on access, approvals and named tower staff. The V3 worked example (about 88 role days for a bounded extension: Infra 40, Security 8, DevOps 12, Data 4, Data Engineering 12, AI 12) is effort before contingency and is illustrative only.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"Management groups, subscriptions, policy and tags". 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DETAIL AND CAVEATS</a:t>
            </a:r>
          </a:p>
          <a:p>
            <a:r>
              <a:t>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Sources (checked 11 Oct 2026):</a:t>
            </a:r>
          </a:p>
          <a:p>
            <a:r>
              <a:t>https://github.com/upendra25312/AI-Foundry-GTM-offering-/blob/main/architectures/04_AI-Landing-Zone-with-platform.png</a:t>
            </a:r>
          </a:p>
          <a:p>
            <a:r>
              <a:t>Cloud Adoption Framework: AI Ready: https://learn.microsoft.com/en-us/azure/cloud-adoption-framework/ai/ready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"Identity, RBAC and privileged access". Identity baseline. Security designs and verifies identity controls; CIS Infra implements its allocated platform controls. Keys for Foundry, Search and Storage are disabled where the service supports it, so that identity is the only access path.</a:t>
            </a:r>
          </a:p>
          <a:p/>
          <a:p>
            <a:r>
              <a:t>DETAIL AND CAVEATS</a:t>
            </a:r>
          </a:p>
          <a:p>
            <a:r>
              <a:t>Identity baseline. Security designs and verifies identity controls; CIS Infra implements its allocated platform controls. Keys for Foundry, Search and Storage are disabled where the service supports it, so that identity is the only access path.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"Hub connectivity, private endpoints and DNS". Editable reconstruction of 11_baseline-landing-zone-networking.png (Microsoft Foundry chat baseline in an Azure landing zone). The original PNG clips several labels ("Workload landing zo", "Azure Firewa") in its rendering, so it is kept only as a traceability reference in appendix O3. Subnet names follow the source.</a:t>
            </a:r>
          </a:p>
          <a:p/>
          <a:p>
            <a:r>
              <a:t>DETAIL AND CAVEATS</a:t>
            </a:r>
          </a:p>
          <a:p>
            <a:r>
              <a:t>Editable reconstruction of 11_baseline-landing-zone-networking.png (Microsoft Foundry chat baseline in an Azure landing zone). The original PNG clips several labels ("Workload landing zo", "Azure Firewa") in its rendering, so it is kept only as a traceability reference in appendix O3. Subnet names follow the source. Changes: simplified to one spoke, labels completed, flows numbered.</a:t>
            </a:r>
          </a:p>
          <a:p/>
          <a:p>
            <a:r>
              <a:t>Flows: (1) users reach Application Gateway with WAF in snet-appGateway; (2) App Service uses VNet integration (snet-appServicePlan) to reach private endpoints; (3) Foundry Agent Service egress uses snet-agentsEgress; (4) all private endpoints in snet-privateEndpoints resolve through hub-provided DNS (DNS Private Resolver and Private DNS zones for Private Link); (5) UDRs send workload egress to the hub firewall.</a:t>
            </a:r>
          </a:p>
          <a:p/>
          <a:p>
            <a:r>
              <a:t>Sources (checked 11 Oct 2026):</a:t>
            </a:r>
          </a:p>
          <a:p>
            <a:r>
              <a:t>https://github.com/upendra25312/AI-Foundry-GTM-offering-/blob/main/architectures/11_baseline-landing-zone-networking.png</a:t>
            </a:r>
          </a:p>
          <a:p>
            <a:r>
              <a:t>https://github.com/upendra25312/AI-Foundry-GTM-offering-/blob/main/architectures/05_baseline-landing-zone-networking.vsdx</a:t>
            </a:r>
          </a:p>
          <a:p>
            <a:r>
              <a:t>https://learn.microsoft.com/en-us/azure/architecture/ai-ml/architecture/baseline-microsoft-foundry-landing-zone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"Controlled egress through the hub firewall". 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DETAIL AND CAVEATS</a:t>
            </a:r>
          </a:p>
          <a:p>
            <a:r>
              <a:t>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Sources (checked 11 Oct 2026):</a:t>
            </a:r>
          </a:p>
          <a:p>
            <a:r>
              <a:t>https://github.com/upendra25312/AI-Foundry-GTM-offering-/blob/main/architectures/12_baseline-landing-zone-networking-egress.png</a:t>
            </a:r>
          </a:p>
          <a:p>
            <a:r>
              <a:t>https://github.com/upendra25312/AI-Foundry-GTM-offering-/blob/main/architectures/06_baseline-landing-zone-networking-egress.vsdx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"Private ingress is distinct from outbound connectivity". Inbound App Service private endpoint does not provide outbound integration. Use separate subnets and validate private DNS, deployment (SCM) access and permitted outbound dependencies. Other runtimes have different network patterns.</a:t>
            </a:r>
          </a:p>
          <a:p/>
          <a:p>
            <a:r>
              <a:t>DETAIL AND CAVEATS</a:t>
            </a:r>
          </a:p>
          <a:p>
            <a:r>
              <a:t>Inbound App Service private endpoint does not provide outbound integration. Use separate subnets and validate private DNS, deployment (SCM) access and permitted outbound dependencies. Other runtimes have different network patterns.</a:t>
            </a:r>
          </a:p>
          <a:p/>
          <a:p>
            <a:r>
              <a:t>Sources (checked 11 Oct 2026):</a:t>
            </a:r>
          </a:p>
          <a:p>
            <a:r>
              <a:t>https://learn.microsoft.com/en-us/azure/app-service/overview-private-endpoint</a:t>
            </a:r>
          </a:p>
          <a:p>
            <a:r>
              <a:t>https://learn.microsoft.com/en-us/azure/app-service/overview-vnet-integration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workload baseline: request flow". Simplified, editable adaptation of 07_baseline-microsoft-foundry.png (Microsoft Foundry baseline chat architecture). Original preserved in appendix O2. The source labels the model as "Azure OpenAI model"; here it is shown as a Foundry model deployment, which is the current product framing.</a:t>
            </a:r>
          </a:p>
          <a:p/>
          <a:p>
            <a:r>
              <a:t>DETAIL AND CAVEATS</a:t>
            </a:r>
          </a:p>
          <a:p>
            <a:r>
              <a:t>Simplified, editable adaptation of 07_baseline-microsoft-foundry.png (Microsoft Foundry baseline chat architecture). Original preserved in appendix O2. The source labels the model as "Azure OpenAI model"; here it is shown as a Foundry model deployment, which is the current product framing.</a:t>
            </a:r>
          </a:p>
          <a:p/>
          <a:p>
            <a:r>
              <a:t>Steps: (1) user to Application Gateway with WAF; (2) App Service calls the Foundry agent through the Foundry private endpoint; (3) Foundry Agent Service runs in the Foundry project; (4) agent reaches dependencies through the agent integration subnet and private endpoints; (5) outbound internet calls go through Azure Firewall; (6) the agent calls the model deployment; (7) Foundry Agent Service dependencies (AI Search, Cosmos DB, Storage) hold threads and files.</a:t>
            </a:r>
          </a:p>
          <a:p/>
          <a:p>
            <a:r>
              <a:t>Sources (checked 11 Oct 2026):</a:t>
            </a:r>
          </a:p>
          <a:p>
            <a:r>
              <a:t>https://github.com/upendra25312/AI-Foundry-GTM-offering-/blob/main/architectures/07_baseline-microsoft-foundry.png</a:t>
            </a:r>
          </a:p>
          <a:p>
            <a:r>
              <a:t>https://github.com/upendra25312/AI-Foundry-GTM-offering-/blob/main/architectures/03_baseline-microsoft-foundry.vsdx</a:t>
            </a:r>
          </a:p>
          <a:p>
            <a:r>
              <a:t>https://learn.microsoft.com/en-us/azure/architecture/ai-ml/architecture/baseline-microsoft-foundry-chat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projects, model endpoints and agent hosting". Hosting choices affect containment, observability and network design. Lifecycle actions per agent type are summarised from Microsoft Learn (Foundry Control Plane, updated 2026-07-15). The AI tower selects the runtime; CIS Infra provides the platform pattern.</a:t>
            </a:r>
          </a:p>
          <a:p/>
          <a:p>
            <a:r>
              <a:t>DETAIL AND CAVEATS</a:t>
            </a:r>
          </a:p>
          <a:p>
            <a:r>
              <a:t>Hosting choices affect containment, observability and network design. Lifecycle actions per agent type are summarised from Microsoft Learn (Foundry Control Plane, updated 2026-07-15). The AI tower selects the runtime; CIS Infra provides the platform pattern.</a:t>
            </a:r>
          </a:p>
          <a:p/>
          <a:p>
            <a:r>
              <a:t>Sources (checked 11 Oct 2026):</a:t>
            </a:r>
          </a:p>
          <a:p>
            <a:r>
              <a:t>Foundry Control Plane: manage agents: https://learn.microsoft.com/en-us/azure/foundry/control-plane/how-to-manage-agents</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"Search, storage and workload data dependencies". Separates platform endpoints (CIS Infra) from data architecture (Data), pipelines (Data Engineering) and data rights (customer). Storage label correction: the Azure resource is a Storage account; blob containers are inside it.</a:t>
            </a:r>
          </a:p>
          <a:p/>
          <a:p>
            <a:r>
              <a:t>DETAIL AND CAVEATS</a:t>
            </a:r>
          </a:p>
          <a:p>
            <a:r>
              <a:t>Separates platform endpoints (CIS Infra) from data architecture (Data), pipelines (Data Engineering) and data rights (customer). Storage label correction: the Azure resource is a Storage account; blob containers are inside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"Terraform, CI/CD, approvals and environment promotion". DevOps owns Terraform modules and pipelines in this baseline (V3 proposal). If CIS Infra staffs and maintains them, move accountability to CIS Infra. Promotion is the only change path to production.</a:t>
            </a:r>
          </a:p>
          <a:p/>
          <a:p>
            <a:r>
              <a:t>DETAIL AND CAVEATS</a:t>
            </a:r>
          </a:p>
          <a:p>
            <a:r>
              <a:t>DevOps owns Terraform modules and pipelines in this baseline (V3 proposal). If CIS Infra staffs and maintains them, move accountability to CIS Infra. Promotion is the only change path to production.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"Development, test and production separation". Baseline: one workload with development and production (V3 proposal). A test environment is an option that adds policy, release, test and support effort. Each extra environment is a change-control trigger.</a:t>
            </a:r>
          </a:p>
          <a:p/>
          <a:p>
            <a:r>
              <a:t>DETAIL AND CAVEATS</a:t>
            </a:r>
          </a:p>
          <a:p>
            <a:r>
              <a:t>Baseline: one workload with development and production (V3 proposal). A test environment is an option that adds policy, release, test and support effort. Each extra environment is a change-control trigger.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"Monitoring, budgets, containment and recovery". Operational controls built during implementation and handed to managed operations (offering 05). Recovery scope is per dependency; single-region restoration is not regional disaster recovery.</a:t>
            </a:r>
          </a:p>
          <a:p/>
          <a:p>
            <a:r>
              <a:t>DETAIL AND CAVEATS</a:t>
            </a:r>
          </a:p>
          <a:p>
            <a:r>
              <a:t>Operational controls built during implementation and handed to managed operations (offering 05). Recovery scope is per dependency; single-region restoration is not regional disaster recovery.</a:t>
            </a:r>
          </a:p>
          <a:p/>
          <a:p>
            <a:r>
              <a:t>Sources (checked 11 Oct 2026):</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"Processing location and residency are customer calls". Distinguish the resource region from the model processing geography. Data at rest stays in the designated geography; inferencing location depends on deployment type. Data zones published: US, EU, APAC.</a:t>
            </a:r>
          </a:p>
          <a:p/>
          <a:p>
            <a:r>
              <a:t>DETAIL AND CAVEATS</a:t>
            </a:r>
          </a:p>
          <a:p>
            <a:r>
              <a:t>Distinguish the resource region from the model processing geography. Data at rest stays in the designated geography; inferencing location depends on deployment type. Data zones published: US, EU, APAC. No UK or Middle East data zone is published, so UK and Middle East pursuits use Standard (regional) or Regional Provisioned deployments, or an approved Global deployment.</a:t>
            </a:r>
          </a:p>
          <a:p/>
          <a:p>
            <a:r>
              <a:t>Sources (checked 11 Oct 2026):</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For gpt-5.4, Global deployments are listed in all our main regions including UK South and UAE North, but Data Zone is EU and US only, and Regional provisioned is only in Germany West Central, Sweden Central and UK South. That shapes UK and Middle East residency answers.</a:t>
            </a:r>
          </a:p>
          <a:p/>
          <a:p>
            <a:r>
              <a:t>Likely question: Can a UAE customer keep processing in the UAE?</a:t>
            </a:r>
          </a:p>
          <a:p>
            <a:r>
              <a:t>Answer: Not with gpt-5.4 today on the published table: UAE North is listed for Global only. That is a customer decision to take with this evidence.</a:t>
            </a:r>
          </a:p>
          <a:p/>
          <a:p>
            <a:r>
              <a:t>DETAIL AND CAVEATS</a:t>
            </a:r>
          </a:p>
          <a:p>
            <a:r>
              <a:t>Snapshot read on 11 Oct 2026 from the Microsoft Learn region availability page, Americas, Europe and Middle East tabs, for gpt-5.4 (2026-03-05, GA, retires 2027-09-02). gpt-5.4 has no Standard (regional pay-as-you-go) row in the table. Selected regions only. Listed means published support only; it does not confirm subscription quota or deployable capacity.</a:t>
            </a:r>
          </a:p>
          <a:p/>
          <a:p>
            <a:r>
              <a:t>Sources (checked 11 Oct 2026):</a:t>
            </a:r>
          </a:p>
          <a:p>
            <a:r>
              <a:t>Foundry Models region availability (Europe and MEA tabs read in browser): https://learn.microsoft.com/en-us/azure/foundry/foundry-models/concepts/models-sold-directly-by-azure-region-availability</a:t>
            </a:r>
          </a:p>
          <a:p>
            <a:r>
              <a:t>Foundry Models retirement schedule: https://learn.microsoft.com/en-us/azure/foundry/openai/concepts/model-retirement-schedule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"Define scope before selecting the resource list". Customer-specific quantities and resource list supersede these reference bounds. Source connectors, data volumes, network changes, migration and SaaS scope must be enumerated.</a:t>
            </a:r>
          </a:p>
          <a:p/>
          <a:p>
            <a:r>
              <a:t>DETAIL AND CAVEATS</a:t>
            </a:r>
          </a:p>
          <a:p>
            <a:r>
              <a:t>Customer-specific quantities and resource list supersede these reference bounds. Source connectors, data volumes, network changes, migration and SaaS scope must be enumerated.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"Acceptance requires demonstrable evidence". Proposed acceptance gates from the V3 proposal. Passing a finite test set does not prove universal security or model accuracy. Agree test cases, thresholds and exception authority in the SOW.</a:t>
            </a:r>
          </a:p>
          <a:p/>
          <a:p>
            <a:r>
              <a:t>DETAIL AND CAVEATS</a:t>
            </a:r>
          </a:p>
          <a:p>
            <a:r>
              <a:t>Proposed acceptance gates from the V3 proposal. Passing a finite test set does not prove universal security or model accuracy.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"Effort drivers and change-control triggers". Build the estimate by discovery, architecture, network, identity, IaC, security, workload integration, project management, testing and stabilisation. Separate customer effort. A risk reserve is not calendar compression.</a:t>
            </a:r>
          </a:p>
          <a:p/>
          <a:p>
            <a:r>
              <a:t>DETAIL AND CAVEATS</a:t>
            </a:r>
          </a:p>
          <a:p>
            <a:r>
              <a:t>Build the estimate by discovery, architecture, network, identity, IaC, security, workload integration, project management, testing and stabilisation. Separate customer effort. A risk reserve is not calendar compression.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"Bill of materials checklist for a defensible quote". Every row needs region, quantity, environment, USD unit rate, meter source, pricing date and monthly total. Distinguish shared allocations from incremental spend.</a:t>
            </a:r>
          </a:p>
          <a:p/>
          <a:p>
            <a:r>
              <a:t>DETAIL AND CAVEATS</a:t>
            </a:r>
          </a:p>
          <a:p>
            <a:r>
              <a:t>Every row needs region, quantity, environment, USD unit rate, meter source, pricing date and monthly total. Distinguish shared allocations from incremental spend.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hand-build what Microsoft already publishes. The AI Landing Zone gives us tested Bicep and Terraform modules for both the agent platform and the AI gateway. Our value is adapting it to the customer's estate, closing gaps and proving it works.</a:t>
            </a:r>
          </a:p>
          <a:p/>
          <a:p>
            <a:r>
              <a:t>Likely question: Does the accelerator use preview services?</a:t>
            </a:r>
          </a:p>
          <a:p>
            <a:r>
              <a:t>Answer: It can. We check every service it deploys against GA status and the customer's policy before use.</a:t>
            </a:r>
          </a:p>
          <a:p/>
          <a:p>
            <a:r>
              <a:t>DETAIL AND CAVEATS</a:t>
            </a:r>
          </a:p>
          <a:p>
            <a:r>
              <a:t>The Microsoft AI Landing Zone (github.com/Azure/AI-Landing-Zones) is an application landing zone deployable with or without a platform landing zone, with Portal, Bicep and Terraform implementations based on Azure Verified Modules. It contains an Agent Landing Zone (Foundry) and an AI Gateway Landing Zone (API Management), plus a design checklist. It may use preview services. Reuse saving of 20 to 30 percent of platform engineering effort is a CIS Infra estimate to prove in the pilot.</a:t>
            </a:r>
          </a:p>
          <a:p/>
          <a:p>
            <a:r>
              <a:t>Sources (checked 11 Oct 2026):</a:t>
            </a:r>
          </a:p>
          <a:p>
            <a:r>
              <a:t>Azure AI Landing Zones (GitHub): https://github.com/Azure/AI-Landing-Zones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customers always ask: where does the data come from, and what happens if a region fails. The data path is owned by the Data towers; we provide the private connectivity. For recovery there are three options, and the customer chooses based on cost and recovery time.</a:t>
            </a:r>
          </a:p>
          <a:p/>
          <a:p>
            <a:r>
              <a:t>Likely question: Can we promise a recovery time?</a:t>
            </a:r>
          </a:p>
          <a:p>
            <a:r>
              <a:t>Answer: Only after a tested failover. Model capacity in the second region is the usual constraint.</a:t>
            </a:r>
          </a:p>
          <a:p/>
          <a:p>
            <a:r>
              <a:t>DETAIL AND CAVEATS</a:t>
            </a:r>
          </a:p>
          <a:p>
            <a:r>
              <a:t>Data paths: documents in a Storage account, retrieval in AI Search, enterprise data through Microsoft Fabric and OneLake where the customer uses Fabric (Data tower owns design). DR options are customer choices with cost drivers; RTO and RPO must be tested per dependency. Model deployments may not have capacity in a second region on demand.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"Buyer roles and risk register in detail". Detail moved from the Version 2.0 executive section to keep the executive section short.</a:t>
            </a:r>
          </a:p>
          <a:p/>
          <a:p>
            <a:r>
              <a:t>DETAIL AND CAVEATS</a:t>
            </a:r>
          </a:p>
          <a:p>
            <a:r>
              <a:t>Detail moved from the Version 2.0 executive section to keep the executive section short.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This slide shows the part this offering provides; the full design and its limits are in decks 02 and 05.</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Platform service acceptance is accountable to the customer; Cognizant roles are responsible for evidence.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https://github.com/upendra25312/AI-Foundry-GTM-offering-/blob/main/architectures/04_AI-Landing-Zone-with-platform.png</a:t>
            </a:r>
          </a:p>
          <a:p>
            <a:r>
              <a:t>Editable Visio: https://github.com/upendra25312/AI-Foundry-GTM-offering-/blob/main/architectures/01_AI-Landing-Zones-Multi-Page.vsdx</a:t>
            </a:r>
          </a:p>
          <a:p>
            <a:r>
              <a:t>Microsoft source: https://github.com/Azure/AI-Landing-Zones</a:t>
            </a:r>
          </a:p>
          <a:p/>
          <a:p>
            <a:r>
              <a:t>Source labels use the earlier "AI Foundry" naming; the simplified executive view uses current Foundry names.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Source shows "Azure OpenAI model"; adapted view (A8) uses Foundry model deployment.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https://github.com/upendra25312/AI-Foundry-GTM-offering-/blob/main/architectures/11_baseline-landing-zone-networking.png</a:t>
            </a:r>
          </a:p>
          <a:p>
            <a:r>
              <a:t>Editable Visio: https://github.com/upendra25312/AI-Foundry-GTM-offering-/blob/main/architectures/05_baseline-landing-zone-networking.vsdx</a:t>
            </a:r>
          </a:p>
          <a:p>
            <a:r>
              <a:t>Microsoft source: https://learn.microsoft.com/en-us/azure/architecture/ai-ml/architecture/baseline-microsoft-foundry-landing-zone</a:t>
            </a:r>
          </a:p>
          <a:p/>
          <a:p>
            <a:r>
              <a:t>The source PNG clips some labels in its own render; the editable reconstruction is appendix A5.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https://github.com/upendra25312/AI-Foundry-GTM-offering-/blob/main/architectures/12_baseline-landing-zone-networking-egress.png</a:t>
            </a:r>
          </a:p>
          <a:p>
            <a:r>
              <a:t>Editable Visio: https://github.com/upendra25312/AI-Foundry-GTM-offering-/blob/main/architectures/06_baseline-landing-zone-networking-egress.vsdx</a:t>
            </a:r>
          </a:p>
          <a:p>
            <a:r>
              <a:t>Microsoft source: https://learn.microsoft.com/en-us/azure/architecture/ai-ml/architecture/baseline-microsoft-foundry-landing-zone</a:t>
            </a:r>
          </a:p>
          <a:p/>
          <a:p>
            <a:r>
              <a:t>The source PNG clips some labels in its own render; the editable reconstruction is appendix A6.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https://github.com/upendra25312/AI-Foundry-GTM-offering-/blob/main/architectures/35_azure-landing-zone-conceptual-architecture.png</a:t>
            </a:r>
          </a:p>
          <a:p>
            <a:r>
              <a:t>Microsoft source: https://learn.microsoft.com/en-us/azure/cloud-adoption-framework/ready/landing-zone/</a:t>
            </a:r>
          </a:p>
          <a:p/>
          <a:p>
            <a:r>
              <a:t>Microsoft CAF conceptual view showing Foundry added to workload landing zones that need AI.</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 Id="rId24" Type="http://schemas.openxmlformats.org/officeDocument/2006/relationships/image" Target="../media/image31.png"/><Relationship Id="rId25" Type="http://schemas.openxmlformats.org/officeDocument/2006/relationships/image" Target="../media/image34.svg"/><Relationship Id="rId26" Type="http://schemas.openxmlformats.org/officeDocument/2006/relationships/image" Target="../media/image33.png"/><Relationship Id="rId27" Type="http://schemas.openxmlformats.org/officeDocument/2006/relationships/image" Target="../media/image36.svg"/><Relationship Id="rId28" Type="http://schemas.openxmlformats.org/officeDocument/2006/relationships/image" Target="../media/image35.png"/><Relationship Id="rId29" Type="http://schemas.openxmlformats.org/officeDocument/2006/relationships/image" Target="../media/image38.svg"/><Relationship Id="rId30" Type="http://schemas.openxmlformats.org/officeDocument/2006/relationships/image" Target="../media/image37.png"/><Relationship Id="rId31" Type="http://schemas.openxmlformats.org/officeDocument/2006/relationships/image" Target="../media/image40.svg"/><Relationship Id="rId32" Type="http://schemas.openxmlformats.org/officeDocument/2006/relationships/image" Target="../media/image39.png"/><Relationship Id="rId33" Type="http://schemas.openxmlformats.org/officeDocument/2006/relationships/image" Target="../media/image42.svg"/><Relationship Id="rId34" Type="http://schemas.openxmlformats.org/officeDocument/2006/relationships/image" Target="../media/image41.png"/><Relationship Id="rId35" Type="http://schemas.openxmlformats.org/officeDocument/2006/relationships/image" Target="../media/image44.svg"/><Relationship Id="rId36" Type="http://schemas.openxmlformats.org/officeDocument/2006/relationships/image" Target="../media/image43.png"/><Relationship Id="rId37" Type="http://schemas.openxmlformats.org/officeDocument/2006/relationships/image" Target="../media/image46.svg"/><Relationship Id="rId38" Type="http://schemas.openxmlformats.org/officeDocument/2006/relationships/image" Target="../media/image45.png"/><Relationship Id="rId39" Type="http://schemas.openxmlformats.org/officeDocument/2006/relationships/image" Target="../media/image4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 Id="rId42" Type="http://schemas.openxmlformats.org/officeDocument/2006/relationships/slide" Target="slide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47.png"/><Relationship Id="rId7" Type="http://schemas.openxmlformats.org/officeDocument/2006/relationships/image" Target="../media/image50.svg"/><Relationship Id="rId8"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49.png"/><Relationship Id="rId5" Type="http://schemas.openxmlformats.org/officeDocument/2006/relationships/image" Target="../media/image52.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51.png"/><Relationship Id="rId7" Type="http://schemas.openxmlformats.org/officeDocument/2006/relationships/image" Target="../media/image54.svg"/><Relationship Id="rId8" Type="http://schemas.openxmlformats.org/officeDocument/2006/relationships/image" Target="../media/image53.png"/><Relationship Id="rId9" Type="http://schemas.openxmlformats.org/officeDocument/2006/relationships/image" Target="../media/image56.svg"/><Relationship Id="rId10" Type="http://schemas.openxmlformats.org/officeDocument/2006/relationships/image" Target="../media/image37.png"/><Relationship Id="rId11" Type="http://schemas.openxmlformats.org/officeDocument/2006/relationships/image" Target="../media/image40.svg"/><Relationship Id="rId12" Type="http://schemas.openxmlformats.org/officeDocument/2006/relationships/image" Target="../media/image55.png"/><Relationship Id="rId13" Type="http://schemas.openxmlformats.org/officeDocument/2006/relationships/image" Target="../media/image58.svg"/><Relationship Id="rId14" Type="http://schemas.openxmlformats.org/officeDocument/2006/relationships/image" Target="../media/image15.png"/><Relationship Id="rId15" Type="http://schemas.openxmlformats.org/officeDocument/2006/relationships/image" Target="../media/image18.svg"/><Relationship Id="rId16" Type="http://schemas.openxmlformats.org/officeDocument/2006/relationships/image" Target="../media/image17.png"/><Relationship Id="rId17" Type="http://schemas.openxmlformats.org/officeDocument/2006/relationships/image" Target="../media/image20.svg"/><Relationship Id="rId18" Type="http://schemas.openxmlformats.org/officeDocument/2006/relationships/image" Target="../media/image19.png"/><Relationship Id="rId19" Type="http://schemas.openxmlformats.org/officeDocument/2006/relationships/image" Target="../media/image22.svg"/><Relationship Id="rId20" Type="http://schemas.openxmlformats.org/officeDocument/2006/relationships/image" Target="../media/image57.png"/><Relationship Id="rId21" Type="http://schemas.openxmlformats.org/officeDocument/2006/relationships/image" Target="../media/image60.svg"/><Relationship Id="rId22" Type="http://schemas.openxmlformats.org/officeDocument/2006/relationships/image" Target="../media/image59.png"/><Relationship Id="rId23" Type="http://schemas.openxmlformats.org/officeDocument/2006/relationships/image" Target="../media/image62.svg"/><Relationship Id="rId24" Type="http://schemas.openxmlformats.org/officeDocument/2006/relationships/image" Target="../media/image61.png"/><Relationship Id="rId25" Type="http://schemas.openxmlformats.org/officeDocument/2006/relationships/image" Target="../media/image64.svg"/><Relationship Id="rId26"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53.png"/><Relationship Id="rId7" Type="http://schemas.openxmlformats.org/officeDocument/2006/relationships/image" Target="../media/image56.svg"/><Relationship Id="rId8" Type="http://schemas.openxmlformats.org/officeDocument/2006/relationships/image" Target="../media/image55.png"/><Relationship Id="rId9" Type="http://schemas.openxmlformats.org/officeDocument/2006/relationships/image" Target="../media/image5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51.png"/><Relationship Id="rId7" Type="http://schemas.openxmlformats.org/officeDocument/2006/relationships/image" Target="../media/image54.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59.png"/><Relationship Id="rId5" Type="http://schemas.openxmlformats.org/officeDocument/2006/relationships/image" Target="../media/image62.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51.png"/><Relationship Id="rId9" Type="http://schemas.openxmlformats.org/officeDocument/2006/relationships/image" Target="../media/image54.svg"/><Relationship Id="rId10" Type="http://schemas.openxmlformats.org/officeDocument/2006/relationships/image" Target="../media/image27.png"/><Relationship Id="rId11" Type="http://schemas.openxmlformats.org/officeDocument/2006/relationships/image" Target="../media/image30.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image" Target="../media/image29.png"/><Relationship Id="rId15" Type="http://schemas.openxmlformats.org/officeDocument/2006/relationships/image" Target="../media/image32.svg"/><Relationship Id="rId16" Type="http://schemas.openxmlformats.org/officeDocument/2006/relationships/image" Target="../media/image31.png"/><Relationship Id="rId17" Type="http://schemas.openxmlformats.org/officeDocument/2006/relationships/image" Target="../media/image34.svg"/><Relationship Id="rId18" Type="http://schemas.openxmlformats.org/officeDocument/2006/relationships/image" Target="../media/image63.png"/><Relationship Id="rId19" Type="http://schemas.openxmlformats.org/officeDocument/2006/relationships/image" Target="../media/image66.svg"/><Relationship Id="rId20" Type="http://schemas.openxmlformats.org/officeDocument/2006/relationships/image" Target="../media/image33.png"/><Relationship Id="rId21" Type="http://schemas.openxmlformats.org/officeDocument/2006/relationships/image" Target="../media/image36.svg"/><Relationship Id="rId22" Type="http://schemas.openxmlformats.org/officeDocument/2006/relationships/image" Target="../media/image37.png"/><Relationship Id="rId23" Type="http://schemas.openxmlformats.org/officeDocument/2006/relationships/image" Target="../media/image40.svg"/><Relationship Id="rId24" Type="http://schemas.openxmlformats.org/officeDocument/2006/relationships/image" Target="../media/image17.png"/><Relationship Id="rId25" Type="http://schemas.openxmlformats.org/officeDocument/2006/relationships/image" Target="../media/image20.svg"/><Relationship Id="rId26" Type="http://schemas.openxmlformats.org/officeDocument/2006/relationships/image" Target="../media/image35.png"/><Relationship Id="rId27" Type="http://schemas.openxmlformats.org/officeDocument/2006/relationships/image" Target="../media/image38.svg"/><Relationship Id="rId28" Type="http://schemas.openxmlformats.org/officeDocument/2006/relationships/image" Target="../media/image43.png"/><Relationship Id="rId29" Type="http://schemas.openxmlformats.org/officeDocument/2006/relationships/image" Target="../media/image46.svg"/><Relationship Id="rId30"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image" Target="../media/image31.png"/><Relationship Id="rId5" Type="http://schemas.openxmlformats.org/officeDocument/2006/relationships/image" Target="../media/image34.svg"/><Relationship Id="rId6" Type="http://schemas.openxmlformats.org/officeDocument/2006/relationships/image" Target="../media/image33.png"/><Relationship Id="rId7" Type="http://schemas.openxmlformats.org/officeDocument/2006/relationships/image" Target="../media/image36.svg"/><Relationship Id="rId8" Type="http://schemas.openxmlformats.org/officeDocument/2006/relationships/image" Target="../media/image63.png"/><Relationship Id="rId9" Type="http://schemas.openxmlformats.org/officeDocument/2006/relationships/image" Target="../media/image66.svg"/><Relationship Id="rId10" Type="http://schemas.openxmlformats.org/officeDocument/2006/relationships/image" Target="../media/image35.png"/><Relationship Id="rId11" Type="http://schemas.openxmlformats.org/officeDocument/2006/relationships/image" Target="../media/image38.svg"/><Relationship Id="rId12"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39.png"/><Relationship Id="rId5" Type="http://schemas.openxmlformats.org/officeDocument/2006/relationships/image" Target="../media/image42.svg"/><Relationship Id="rId6" Type="http://schemas.openxmlformats.org/officeDocument/2006/relationships/image" Target="../media/image47.png"/><Relationship Id="rId7" Type="http://schemas.openxmlformats.org/officeDocument/2006/relationships/image" Target="../media/image50.svg"/><Relationship Id="rId8" Type="http://schemas.openxmlformats.org/officeDocument/2006/relationships/image" Target="../media/image21.png"/><Relationship Id="rId9" Type="http://schemas.openxmlformats.org/officeDocument/2006/relationships/image" Target="../media/image24.svg"/><Relationship Id="rId10"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65.png"/><Relationship Id="rId5" Type="http://schemas.openxmlformats.org/officeDocument/2006/relationships/image" Target="../media/image68.svg"/><Relationship Id="rId6" Type="http://schemas.openxmlformats.org/officeDocument/2006/relationships/image" Target="../media/image45.png"/><Relationship Id="rId7" Type="http://schemas.openxmlformats.org/officeDocument/2006/relationships/image" Target="../media/image48.svg"/><Relationship Id="rId8" Type="http://schemas.openxmlformats.org/officeDocument/2006/relationships/image" Target="../media/image67.png"/><Relationship Id="rId9" Type="http://schemas.openxmlformats.org/officeDocument/2006/relationships/image" Target="../media/image70.svg"/><Relationship Id="rId10" Type="http://schemas.openxmlformats.org/officeDocument/2006/relationships/image" Target="../media/image69.png"/><Relationship Id="rId11" Type="http://schemas.openxmlformats.org/officeDocument/2006/relationships/image" Target="../media/image72.svg"/><Relationship Id="rId12"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71.png"/><Relationship Id="rId7" Type="http://schemas.openxmlformats.org/officeDocument/2006/relationships/image" Target="../media/image74.svg"/><Relationship Id="rId8" Type="http://schemas.openxmlformats.org/officeDocument/2006/relationships/image" Target="../media/image39.png"/><Relationship Id="rId9" Type="http://schemas.openxmlformats.org/officeDocument/2006/relationships/image" Target="../media/image42.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image" Target="../media/image73.png"/><Relationship Id="rId5" Type="http://schemas.openxmlformats.org/officeDocument/2006/relationships/hyperlink" Target="https://github.com/upendra25312/AI-Foundry-GTM-offering-/blob/main/architectures/04_AI-Landing-Zone-with-platform.png" TargetMode="External"/><Relationship Id="rId6" Type="http://schemas.openxmlformats.org/officeDocument/2006/relationships/hyperlink" Target="https://github.com/Azure/AI-Landing-Zones" TargetMode="External"/><Relationship Id="rId7"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image" Target="../media/image75.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image" Target="../media/image76.png"/><Relationship Id="rId5" Type="http://schemas.openxmlformats.org/officeDocument/2006/relationships/hyperlink" Target="https://github.com/upendra25312/AI-Foundry-GTM-offering-/blob/main/architectures/11_baseline-landing-zone-networking.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image" Target="../media/image77.png"/><Relationship Id="rId5" Type="http://schemas.openxmlformats.org/officeDocument/2006/relationships/hyperlink" Target="https://github.com/upendra25312/AI-Foundry-GTM-offering-/blob/main/architectures/12_baseline-landing-zone-networking-egress.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image" Target="../media/image78.png"/><Relationship Id="rId5" Type="http://schemas.openxmlformats.org/officeDocument/2006/relationships/hyperlink" Target="https://github.com/upendra25312/AI-Foundry-GTM-offering-/blob/main/architectures/35_azure-landing-zone-conceptual-architecture.png" TargetMode="External"/><Relationship Id="rId6" Type="http://schemas.openxmlformats.org/officeDocument/2006/relationships/hyperlink" Target="https://learn.microsoft.com/en-us/azure/cloud-adoption-framework/ready/landing-zone/" TargetMode="External"/><Relationship Id="rId7" Type="http://schemas.openxmlformats.org/officeDocument/2006/relationships/slide" Target="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1.xml"/><Relationship Id="rId4" Type="http://schemas.openxmlformats.org/officeDocument/2006/relationships/hyperlink" Target="https://learn.microsoft.com/en-us/azure/cloud-adoption-framework/ai/ready" TargetMode="External"/><Relationship Id="rId5" Type="http://schemas.openxmlformats.org/officeDocument/2006/relationships/hyperlink" Target="https://learn.microsoft.com/en-us/azure/foundry/foundry-models/concepts/deployment-types" TargetMode="External"/><Relationship Id="rId6" Type="http://schemas.openxmlformats.org/officeDocument/2006/relationships/hyperlink" Target="https://learn.microsoft.com/en-us/azure/foundry/foundry-models/concepts/models-sold-directly-by-azure-region-availability" TargetMode="External"/><Relationship Id="rId7" Type="http://schemas.openxmlformats.org/officeDocument/2006/relationships/hyperlink" Target="https://learn.microsoft.com/en-us/azure/foundry/openai/concepts/model-retirement-schedule" TargetMode="External"/><Relationship Id="rId8" Type="http://schemas.openxmlformats.org/officeDocument/2006/relationships/hyperlink" Target="https://learn.microsoft.com/en-us/azure/foundry/control-plane/how-to-manage-agents" TargetMode="External"/><Relationship Id="rId9" Type="http://schemas.openxmlformats.org/officeDocument/2006/relationships/hyperlink" Target="https://prices.azure.com/api/retail/prices?$filter=serviceName eq 'Log Analytics' and armRegionName eq 'eastus2'" TargetMode="External"/><Relationship Id="rId10" Type="http://schemas.openxmlformats.org/officeDocument/2006/relationships/hyperlink" Target="https://learn.microsoft.com/en-us/azure/architecture/icons/" TargetMode="External"/><Relationship Id="rId11" Type="http://schemas.openxmlformats.org/officeDocument/2006/relationships/hyperlink" Target="https://az-icons.com/" TargetMode="External"/><Relationship Id="rId12" Type="http://schemas.openxmlformats.org/officeDocument/2006/relationships/hyperlink" Target="https://learn.microsoft.com/en-us/azure/architecture/browse/" TargetMode="External"/><Relationship Id="rId13" Type="http://schemas.openxmlformats.org/officeDocument/2006/relationships/hyperlink" Target="https://github.com/upendra25312/AI-Foundry-GTM-offering-/blob/main/CIS_Infra_Azure_AI_Platform_GTM_Proposal_V3.docx" TargetMode="External"/><Relationship Id="rId14" Type="http://schemas.openxmlformats.org/officeDocument/2006/relationships/hyperlink" Target="https://github.com/Azure/AI-Landing-Zones" TargetMode="External"/><Relationship Id="rId15" Type="http://schemas.openxmlformats.org/officeDocument/2006/relationships/hyperlink" Target="https://learn.microsoft.com/en-us/azure/architecture/ai-ml/architecture/baseline-microsoft-foundry-landing-zone" TargetMode="External"/><Relationship Id="rId16" Type="http://schemas.openxmlformats.org/officeDocument/2006/relationships/hyperlink" Target="https://learn.microsoft.com/en-us/azure/app-service/overview-private-endpoint" TargetMode="External"/><Relationship Id="rId17" Type="http://schemas.openxmlformats.org/officeDocument/2006/relationships/hyperlink" Target="https://www.orrick.com/en/Insights/2026/07/EU-AI-Act-Update-Digital-Omnibus-Finalizes-8-Compliance-Changes" TargetMode="External"/><Relationship Id="rId18" Type="http://schemas.openxmlformats.org/officeDocument/2006/relationships/hyperlink" Target="https://learn.microsoft.com/en-us/azure/defender-for-cloud/ai-threat-protection" TargetMode="External"/><Relationship Id="rId19" Type="http://schemas.openxmlformats.org/officeDocument/2006/relationships/hyperlink" Target="https://learn.microsoft.com/en-us/purview/ai-microsoft-purview" TargetMode="External"/><Relationship Id="rId20" Type="http://schemas.openxmlformats.org/officeDocument/2006/relationships/hyperlink" Target="https://www.microsoft.com/en-us/security/blog/2026/05/01/microsoft-agent-365-now-generally-available-expands-capabilities-and-integrations/" TargetMode="External"/><Relationship Id="rId21" Type="http://schemas.openxmlformats.org/officeDocument/2006/relationships/hyperlink" Target="https://learn.microsoft.com/en-us/azure/api-center/register-discover-mcp-server" TargetMode="External"/><Relationship Id="rId22"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Platform / Landing Zone</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A governed Azure foundation for one funded AI workload, then the next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Assess, extend an existing landing zone, or establish a new foundation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2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PROPOSED OFFERING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02</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An accepted AI platform in 12 to 20 weeks, not hours sold</a:t>
            </a:r>
          </a:p>
        </p:txBody>
      </p:sp>
      <p:sp>
        <p:nvSpPr>
          <p:cNvPr id="6" name="Rounded Rectangle 5"/>
          <p:cNvSpPr/>
          <p:nvPr/>
        </p:nvSpPr>
        <p:spPr>
          <a:xfrm>
            <a:off x="731520" y="1280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PRODUCTION AZURE FOUNDATION · ZERO ARCHITECTURAL RE-WORK · 100% AUDIT READY</a:t>
            </a:r>
          </a:p>
        </p:txBody>
      </p:sp>
      <p:sp>
        <p:nvSpPr>
          <p:cNvPr id="7" name="Rounded Rectangle 6"/>
          <p:cNvSpPr/>
          <p:nvPr/>
        </p:nvSpPr>
        <p:spPr>
          <a:xfrm>
            <a:off x="7315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3832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57400"/>
            <a:ext cx="502920" cy="502920"/>
          </a:xfrm>
          <a:prstGeom prst="ellipse">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1645920" y="2057400"/>
            <a:ext cx="2194560" cy="228600"/>
          </a:xfrm>
          <a:prstGeom prst="rect">
            <a:avLst/>
          </a:prstGeom>
          <a:noFill/>
        </p:spPr>
        <p:txBody>
          <a:bodyPr wrap="none">
            <a:spAutoFit/>
          </a:bodyPr>
          <a:lstStyle/>
          <a:p>
            <a:pPr>
              <a:defRPr sz="900" b="1">
                <a:solidFill>
                  <a:srgbClr val="D83B01"/>
                </a:solidFill>
              </a:defRPr>
            </a:pPr>
            <a:r>
              <a:t>ENTERPRISE BLOCKER</a:t>
            </a:r>
          </a:p>
        </p:txBody>
      </p:sp>
      <p:sp>
        <p:nvSpPr>
          <p:cNvPr id="11" name="TextBox 10"/>
          <p:cNvSpPr txBox="1"/>
          <p:nvPr/>
        </p:nvSpPr>
        <p:spPr>
          <a:xfrm>
            <a:off x="1005840" y="2651760"/>
            <a:ext cx="2834640" cy="365760"/>
          </a:xfrm>
          <a:prstGeom prst="rect">
            <a:avLst/>
          </a:prstGeom>
          <a:noFill/>
        </p:spPr>
        <p:txBody>
          <a:bodyPr wrap="none">
            <a:spAutoFit/>
          </a:bodyPr>
          <a:lstStyle/>
          <a:p>
            <a:pPr>
              <a:defRPr sz="1800" b="1">
                <a:solidFill>
                  <a:srgbClr val="0A192F"/>
                </a:solidFill>
              </a:defRPr>
            </a:pPr>
            <a:r>
              <a:t>Stalled in Sandbox</a:t>
            </a:r>
          </a:p>
        </p:txBody>
      </p:sp>
      <p:sp>
        <p:nvSpPr>
          <p:cNvPr id="12" name="TextBox 11"/>
          <p:cNvSpPr txBox="1"/>
          <p:nvPr/>
        </p:nvSpPr>
        <p:spPr>
          <a:xfrm>
            <a:off x="1005840" y="3017520"/>
            <a:ext cx="2834640" cy="411480"/>
          </a:xfrm>
          <a:prstGeom prst="rect">
            <a:avLst/>
          </a:prstGeom>
          <a:noFill/>
        </p:spPr>
        <p:txBody>
          <a:bodyPr wrap="none">
            <a:spAutoFit/>
          </a:bodyPr>
          <a:lstStyle/>
          <a:p>
            <a:pPr>
              <a:defRPr sz="2000" b="1">
                <a:solidFill>
                  <a:srgbClr val="D83B01"/>
                </a:solidFill>
              </a:defRPr>
            </a:pPr>
            <a:r>
              <a:t>70%+ of AI Pilots</a:t>
            </a:r>
          </a:p>
        </p:txBody>
      </p:sp>
      <p:sp>
        <p:nvSpPr>
          <p:cNvPr id="13" name="TextBox 12"/>
          <p:cNvSpPr txBox="1"/>
          <p:nvPr/>
        </p:nvSpPr>
        <p:spPr>
          <a:xfrm>
            <a:off x="1005840" y="3520440"/>
            <a:ext cx="2834640" cy="1645920"/>
          </a:xfrm>
          <a:prstGeom prst="rect">
            <a:avLst/>
          </a:prstGeom>
          <a:noFill/>
        </p:spPr>
        <p:txBody>
          <a:bodyPr wrap="square">
            <a:spAutoFit/>
          </a:bodyPr>
          <a:lstStyle/>
          <a:p>
            <a:pPr>
              <a:spcAft>
                <a:spcPts val="800"/>
              </a:spcAft>
              <a:defRPr sz="1200">
                <a:solidFill>
                  <a:srgbClr val="0F172A"/>
                </a:solidFill>
              </a:defRPr>
            </a:pPr>
            <a:r>
              <a:t>• Blocked by enterprise security, unvetted private DNS, and unmanaged egress.</a:t>
            </a:r>
          </a:p>
          <a:p>
            <a:pPr>
              <a:spcAft>
                <a:spcPts val="800"/>
              </a:spcAft>
              <a:defRPr sz="1200">
                <a:solidFill>
                  <a:srgbClr val="0F172A"/>
                </a:solidFill>
              </a:defRPr>
            </a:pPr>
            <a:r>
              <a:t>• Ad-hoc developer environments that cannot survive a corporate CISO audit.</a:t>
            </a:r>
          </a:p>
        </p:txBody>
      </p:sp>
      <p:sp>
        <p:nvSpPr>
          <p:cNvPr id="14" name="Rounded Rectangle 13"/>
          <p:cNvSpPr/>
          <p:nvPr/>
        </p:nvSpPr>
        <p:spPr>
          <a:xfrm>
            <a:off x="43891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3440" y="205740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7" name="TextBox 16"/>
          <p:cNvSpPr txBox="1"/>
          <p:nvPr/>
        </p:nvSpPr>
        <p:spPr>
          <a:xfrm>
            <a:off x="5303520" y="2057400"/>
            <a:ext cx="2194560" cy="228600"/>
          </a:xfrm>
          <a:prstGeom prst="rect">
            <a:avLst/>
          </a:prstGeom>
          <a:noFill/>
        </p:spPr>
        <p:txBody>
          <a:bodyPr wrap="none">
            <a:spAutoFit/>
          </a:bodyPr>
          <a:lstStyle/>
          <a:p>
            <a:pPr>
              <a:defRPr sz="900" b="1">
                <a:solidFill>
                  <a:srgbClr val="0078D4"/>
                </a:solidFill>
              </a:defRPr>
            </a:pPr>
            <a:r>
              <a:t>WHAT CIS INFRA DELIVERS</a:t>
            </a:r>
          </a:p>
        </p:txBody>
      </p:sp>
      <p:sp>
        <p:nvSpPr>
          <p:cNvPr id="18" name="TextBox 17"/>
          <p:cNvSpPr txBox="1"/>
          <p:nvPr/>
        </p:nvSpPr>
        <p:spPr>
          <a:xfrm>
            <a:off x="4663440" y="2651760"/>
            <a:ext cx="2834640" cy="365760"/>
          </a:xfrm>
          <a:prstGeom prst="rect">
            <a:avLst/>
          </a:prstGeom>
          <a:noFill/>
        </p:spPr>
        <p:txBody>
          <a:bodyPr wrap="none">
            <a:spAutoFit/>
          </a:bodyPr>
          <a:lstStyle/>
          <a:p>
            <a:pPr>
              <a:defRPr sz="1800" b="1">
                <a:solidFill>
                  <a:srgbClr val="0A192F"/>
                </a:solidFill>
              </a:defRPr>
            </a:pPr>
            <a:r>
              <a:t>Governed Platform</a:t>
            </a:r>
          </a:p>
        </p:txBody>
      </p:sp>
      <p:sp>
        <p:nvSpPr>
          <p:cNvPr id="19" name="TextBox 18"/>
          <p:cNvSpPr txBox="1"/>
          <p:nvPr/>
        </p:nvSpPr>
        <p:spPr>
          <a:xfrm>
            <a:off x="4663440" y="3017520"/>
            <a:ext cx="2834640" cy="411480"/>
          </a:xfrm>
          <a:prstGeom prst="rect">
            <a:avLst/>
          </a:prstGeom>
          <a:noFill/>
        </p:spPr>
        <p:txBody>
          <a:bodyPr wrap="none">
            <a:spAutoFit/>
          </a:bodyPr>
          <a:lstStyle/>
          <a:p>
            <a:pPr>
              <a:defRPr sz="2000" b="1">
                <a:solidFill>
                  <a:srgbClr val="0078D4"/>
                </a:solidFill>
              </a:defRPr>
            </a:pPr>
            <a:r>
              <a:t>1 Hardened Workload</a:t>
            </a:r>
          </a:p>
        </p:txBody>
      </p:sp>
      <p:sp>
        <p:nvSpPr>
          <p:cNvPr id="20" name="TextBox 19"/>
          <p:cNvSpPr txBox="1"/>
          <p:nvPr/>
        </p:nvSpPr>
        <p:spPr>
          <a:xfrm>
            <a:off x="4663440" y="3520440"/>
            <a:ext cx="2834640" cy="1645920"/>
          </a:xfrm>
          <a:prstGeom prst="rect">
            <a:avLst/>
          </a:prstGeom>
          <a:noFill/>
        </p:spPr>
        <p:txBody>
          <a:bodyPr wrap="square">
            <a:spAutoFit/>
          </a:bodyPr>
          <a:lstStyle/>
          <a:p>
            <a:pPr>
              <a:spcAft>
                <a:spcPts val="800"/>
              </a:spcAft>
              <a:defRPr sz="1200">
                <a:solidFill>
                  <a:srgbClr val="0F172A"/>
                </a:solidFill>
              </a:defRPr>
            </a:pPr>
            <a:r>
              <a:t>• Azure hub-spoke VNet peering with private Foundry model endpoints.</a:t>
            </a:r>
          </a:p>
          <a:p>
            <a:pPr>
              <a:spcAft>
                <a:spcPts val="800"/>
              </a:spcAft>
              <a:defRPr sz="1200">
                <a:solidFill>
                  <a:srgbClr val="0F172A"/>
                </a:solidFill>
              </a:defRPr>
            </a:pPr>
            <a:r>
              <a:t>• Automated Terraform &amp; Bicep blueprints on Azure Verified Modules.</a:t>
            </a:r>
          </a:p>
        </p:txBody>
      </p:sp>
      <p:sp>
        <p:nvSpPr>
          <p:cNvPr id="21" name="Rounded Rectangle 20"/>
          <p:cNvSpPr/>
          <p:nvPr/>
        </p:nvSpPr>
        <p:spPr>
          <a:xfrm>
            <a:off x="80467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18288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205740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4" name="TextBox 23"/>
          <p:cNvSpPr txBox="1"/>
          <p:nvPr/>
        </p:nvSpPr>
        <p:spPr>
          <a:xfrm>
            <a:off x="8961120" y="2057400"/>
            <a:ext cx="2194560" cy="228600"/>
          </a:xfrm>
          <a:prstGeom prst="rect">
            <a:avLst/>
          </a:prstGeom>
          <a:noFill/>
        </p:spPr>
        <p:txBody>
          <a:bodyPr wrap="none">
            <a:spAutoFit/>
          </a:bodyPr>
          <a:lstStyle/>
          <a:p>
            <a:pPr>
              <a:defRPr sz="900" b="1">
                <a:solidFill>
                  <a:srgbClr val="00A389"/>
                </a:solidFill>
              </a:defRPr>
            </a:pPr>
            <a:r>
              <a:t>MEASURABLE OUTCOME</a:t>
            </a:r>
          </a:p>
        </p:txBody>
      </p:sp>
      <p:sp>
        <p:nvSpPr>
          <p:cNvPr id="25" name="TextBox 24"/>
          <p:cNvSpPr txBox="1"/>
          <p:nvPr/>
        </p:nvSpPr>
        <p:spPr>
          <a:xfrm>
            <a:off x="8321040" y="2651760"/>
            <a:ext cx="2834640" cy="365760"/>
          </a:xfrm>
          <a:prstGeom prst="rect">
            <a:avLst/>
          </a:prstGeom>
          <a:noFill/>
        </p:spPr>
        <p:txBody>
          <a:bodyPr wrap="none">
            <a:spAutoFit/>
          </a:bodyPr>
          <a:lstStyle/>
          <a:p>
            <a:pPr>
              <a:defRPr sz="1800" b="1">
                <a:solidFill>
                  <a:srgbClr val="0A192F"/>
                </a:solidFill>
              </a:defRPr>
            </a:pPr>
            <a:r>
              <a:t>Live in 12-20 Weeks</a:t>
            </a:r>
          </a:p>
        </p:txBody>
      </p:sp>
      <p:sp>
        <p:nvSpPr>
          <p:cNvPr id="26" name="TextBox 25"/>
          <p:cNvSpPr txBox="1"/>
          <p:nvPr/>
        </p:nvSpPr>
        <p:spPr>
          <a:xfrm>
            <a:off x="8321040" y="3017520"/>
            <a:ext cx="2834640" cy="411480"/>
          </a:xfrm>
          <a:prstGeom prst="rect">
            <a:avLst/>
          </a:prstGeom>
          <a:noFill/>
        </p:spPr>
        <p:txBody>
          <a:bodyPr wrap="none">
            <a:spAutoFit/>
          </a:bodyPr>
          <a:lstStyle/>
          <a:p>
            <a:pPr>
              <a:defRPr sz="2000" b="1">
                <a:solidFill>
                  <a:srgbClr val="00A389"/>
                </a:solidFill>
              </a:defRPr>
            </a:pPr>
            <a:r>
              <a:t>Day-1 Audit Ready</a:t>
            </a:r>
          </a:p>
        </p:txBody>
      </p:sp>
      <p:sp>
        <p:nvSpPr>
          <p:cNvPr id="27" name="TextBox 26"/>
          <p:cNvSpPr txBox="1"/>
          <p:nvPr/>
        </p:nvSpPr>
        <p:spPr>
          <a:xfrm>
            <a:off x="8321040" y="3520440"/>
            <a:ext cx="2834640" cy="1645920"/>
          </a:xfrm>
          <a:prstGeom prst="rect">
            <a:avLst/>
          </a:prstGeom>
          <a:noFill/>
        </p:spPr>
        <p:txBody>
          <a:bodyPr wrap="square">
            <a:spAutoFit/>
          </a:bodyPr>
          <a:lstStyle/>
          <a:p>
            <a:pPr>
              <a:spcAft>
                <a:spcPts val="800"/>
              </a:spcAft>
              <a:defRPr sz="1200">
                <a:solidFill>
                  <a:srgbClr val="0F172A"/>
                </a:solidFill>
              </a:defRPr>
            </a:pPr>
            <a:r>
              <a:t>• Tested compliance controls, real-time cost visibility, and runbook handoff.</a:t>
            </a:r>
          </a:p>
          <a:p>
            <a:pPr>
              <a:spcAft>
                <a:spcPts val="800"/>
              </a:spcAft>
              <a:defRPr sz="1200">
                <a:solidFill>
                  <a:srgbClr val="0F172A"/>
                </a:solidFill>
              </a:defRPr>
            </a:pPr>
            <a:r>
              <a:t>• Zero re-architecture when promoting workloads from dev/test to production.</a:t>
            </a:r>
          </a:p>
        </p:txBody>
      </p:sp>
      <p:sp>
        <p:nvSpPr>
          <p:cNvPr id="28" name="Rounded Rectangle 2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3560"/>
            <a:ext cx="10332720" cy="502920"/>
          </a:xfrm>
          <a:prstGeom prst="rect">
            <a:avLst/>
          </a:prstGeom>
          <a:noFill/>
        </p:spPr>
        <p:txBody>
          <a:bodyPr wrap="square">
            <a:spAutoFit/>
          </a:bodyPr>
          <a:lstStyle/>
          <a:p>
            <a:r>
              <a:rPr b="1" sz="1200">
                <a:solidFill>
                  <a:srgbClr val="0078D4"/>
                </a:solidFill>
              </a:rPr>
              <a:t>DECISION REQUESTED: </a:t>
            </a:r>
            <a:r>
              <a:rPr sz="1200" b="1">
                <a:solidFill>
                  <a:srgbClr val="0A192F"/>
                </a:solidFill>
              </a:rPr>
              <a:t>Nominate 1 Executive Sponsor &amp; 2 Specialist Tower Leads (Security, DevOps) to initiate 30-day pursuit validation.</a:t>
            </a:r>
          </a:p>
        </p:txBody>
      </p:sp>
      <p:sp>
        <p:nvSpPr>
          <p:cNvPr id="30" name="TextBox 2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3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MARKET DEMAND &amp; TRIGGERS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03</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AI workloads reach production faster on a ready platform</a:t>
            </a:r>
          </a:p>
        </p:txBody>
      </p:sp>
      <p:sp>
        <p:nvSpPr>
          <p:cNvPr id="6" name="Rounded Rectangle 5"/>
          <p:cNvSpPr/>
          <p:nvPr/>
        </p:nvSpPr>
        <p:spPr>
          <a:xfrm>
            <a:off x="7315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926080" cy="548640"/>
          </a:xfrm>
          <a:prstGeom prst="rect">
            <a:avLst/>
          </a:prstGeom>
          <a:noFill/>
        </p:spPr>
        <p:txBody>
          <a:bodyPr wrap="none">
            <a:spAutoFit/>
          </a:bodyPr>
          <a:lstStyle/>
          <a:p>
            <a:pPr>
              <a:defRPr sz="3600" b="1">
                <a:solidFill>
                  <a:srgbClr val="0078D4"/>
                </a:solidFill>
              </a:defRPr>
            </a:pPr>
            <a:r>
              <a:t>3X</a:t>
            </a:r>
          </a:p>
        </p:txBody>
      </p:sp>
      <p:sp>
        <p:nvSpPr>
          <p:cNvPr id="9" name="TextBox 8"/>
          <p:cNvSpPr txBox="1"/>
          <p:nvPr/>
        </p:nvSpPr>
        <p:spPr>
          <a:xfrm>
            <a:off x="960120" y="2148840"/>
            <a:ext cx="2926080" cy="320040"/>
          </a:xfrm>
          <a:prstGeom prst="rect">
            <a:avLst/>
          </a:prstGeom>
          <a:noFill/>
        </p:spPr>
        <p:txBody>
          <a:bodyPr wrap="none">
            <a:spAutoFit/>
          </a:bodyPr>
          <a:lstStyle/>
          <a:p>
            <a:pPr>
              <a:defRPr sz="1500" b="1">
                <a:solidFill>
                  <a:srgbClr val="0A192F"/>
                </a:solidFill>
              </a:defRPr>
            </a:pPr>
            <a:r>
              <a:t>Faster Path to Live</a:t>
            </a:r>
          </a:p>
        </p:txBody>
      </p:sp>
      <p:sp>
        <p:nvSpPr>
          <p:cNvPr id="10" name="TextBox 9"/>
          <p:cNvSpPr txBox="1"/>
          <p:nvPr/>
        </p:nvSpPr>
        <p:spPr>
          <a:xfrm>
            <a:off x="960120" y="2514600"/>
            <a:ext cx="2926080" cy="914400"/>
          </a:xfrm>
          <a:prstGeom prst="rect">
            <a:avLst/>
          </a:prstGeom>
          <a:noFill/>
        </p:spPr>
        <p:txBody>
          <a:bodyPr wrap="square">
            <a:spAutoFit/>
          </a:bodyPr>
          <a:lstStyle/>
          <a:p>
            <a:pPr>
              <a:defRPr sz="1100">
                <a:solidFill>
                  <a:srgbClr val="0F172A"/>
                </a:solidFill>
              </a:defRPr>
            </a:pPr>
            <a:r>
              <a:t>Enterprises demand rapid workload onboarding without rebuilding baseline cloud infrastructure for every pilot.</a:t>
            </a:r>
          </a:p>
        </p:txBody>
      </p:sp>
      <p:sp>
        <p:nvSpPr>
          <p:cNvPr id="11" name="Rounded Rectangle 10"/>
          <p:cNvSpPr/>
          <p:nvPr/>
        </p:nvSpPr>
        <p:spPr>
          <a:xfrm>
            <a:off x="43891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54480"/>
            <a:ext cx="2926080" cy="548640"/>
          </a:xfrm>
          <a:prstGeom prst="rect">
            <a:avLst/>
          </a:prstGeom>
          <a:noFill/>
        </p:spPr>
        <p:txBody>
          <a:bodyPr wrap="none">
            <a:spAutoFit/>
          </a:bodyPr>
          <a:lstStyle/>
          <a:p>
            <a:pPr>
              <a:defRPr sz="3600" b="1">
                <a:solidFill>
                  <a:srgbClr val="00A389"/>
                </a:solidFill>
              </a:defRPr>
            </a:pPr>
            <a:r>
              <a:t>&lt;12 Mo</a:t>
            </a:r>
          </a:p>
        </p:txBody>
      </p:sp>
      <p:sp>
        <p:nvSpPr>
          <p:cNvPr id="14" name="TextBox 13"/>
          <p:cNvSpPr txBox="1"/>
          <p:nvPr/>
        </p:nvSpPr>
        <p:spPr>
          <a:xfrm>
            <a:off x="4617720" y="2148840"/>
            <a:ext cx="2926080" cy="320040"/>
          </a:xfrm>
          <a:prstGeom prst="rect">
            <a:avLst/>
          </a:prstGeom>
          <a:noFill/>
        </p:spPr>
        <p:txBody>
          <a:bodyPr wrap="none">
            <a:spAutoFit/>
          </a:bodyPr>
          <a:lstStyle/>
          <a:p>
            <a:pPr>
              <a:defRPr sz="1500" b="1">
                <a:solidFill>
                  <a:srgbClr val="0A192F"/>
                </a:solidFill>
              </a:defRPr>
            </a:pPr>
            <a:r>
              <a:t>Continuous Model Churn</a:t>
            </a:r>
          </a:p>
        </p:txBody>
      </p:sp>
      <p:sp>
        <p:nvSpPr>
          <p:cNvPr id="15" name="TextBox 14"/>
          <p:cNvSpPr txBox="1"/>
          <p:nvPr/>
        </p:nvSpPr>
        <p:spPr>
          <a:xfrm>
            <a:off x="4617720" y="2514600"/>
            <a:ext cx="2926080" cy="914400"/>
          </a:xfrm>
          <a:prstGeom prst="rect">
            <a:avLst/>
          </a:prstGeom>
          <a:noFill/>
        </p:spPr>
        <p:txBody>
          <a:bodyPr wrap="square">
            <a:spAutoFit/>
          </a:bodyPr>
          <a:lstStyle/>
          <a:p>
            <a:pPr>
              <a:defRPr sz="1100">
                <a:solidFill>
                  <a:srgbClr val="0F172A"/>
                </a:solidFill>
              </a:defRPr>
            </a:pPr>
            <a:r>
              <a:t>Foundation models retire yearly (gpt-4.1 in Apr 2027); platforms must be automated to swap models with zero downtime.</a:t>
            </a:r>
          </a:p>
        </p:txBody>
      </p:sp>
      <p:sp>
        <p:nvSpPr>
          <p:cNvPr id="16" name="Rounded Rectangle 15"/>
          <p:cNvSpPr/>
          <p:nvPr/>
        </p:nvSpPr>
        <p:spPr>
          <a:xfrm>
            <a:off x="80467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54480"/>
            <a:ext cx="2926080" cy="548640"/>
          </a:xfrm>
          <a:prstGeom prst="rect">
            <a:avLst/>
          </a:prstGeom>
          <a:noFill/>
        </p:spPr>
        <p:txBody>
          <a:bodyPr wrap="none">
            <a:spAutoFit/>
          </a:bodyPr>
          <a:lstStyle/>
          <a:p>
            <a:pPr>
              <a:defRPr sz="3600" b="1">
                <a:solidFill>
                  <a:srgbClr val="D83B01"/>
                </a:solidFill>
              </a:defRPr>
            </a:pPr>
            <a:r>
              <a:t>100%</a:t>
            </a:r>
          </a:p>
        </p:txBody>
      </p:sp>
      <p:sp>
        <p:nvSpPr>
          <p:cNvPr id="19" name="TextBox 18"/>
          <p:cNvSpPr txBox="1"/>
          <p:nvPr/>
        </p:nvSpPr>
        <p:spPr>
          <a:xfrm>
            <a:off x="8275320" y="2148840"/>
            <a:ext cx="2926080" cy="320040"/>
          </a:xfrm>
          <a:prstGeom prst="rect">
            <a:avLst/>
          </a:prstGeom>
          <a:noFill/>
        </p:spPr>
        <p:txBody>
          <a:bodyPr wrap="none">
            <a:spAutoFit/>
          </a:bodyPr>
          <a:lstStyle/>
          <a:p>
            <a:pPr>
              <a:defRPr sz="1500" b="1">
                <a:solidFill>
                  <a:srgbClr val="0A192F"/>
                </a:solidFill>
              </a:defRPr>
            </a:pPr>
            <a:r>
              <a:t>Firm Compliance Gates</a:t>
            </a:r>
          </a:p>
        </p:txBody>
      </p:sp>
      <p:sp>
        <p:nvSpPr>
          <p:cNvPr id="20" name="TextBox 19"/>
          <p:cNvSpPr txBox="1"/>
          <p:nvPr/>
        </p:nvSpPr>
        <p:spPr>
          <a:xfrm>
            <a:off x="8275320" y="2514600"/>
            <a:ext cx="2926080" cy="914400"/>
          </a:xfrm>
          <a:prstGeom prst="rect">
            <a:avLst/>
          </a:prstGeom>
          <a:noFill/>
        </p:spPr>
        <p:txBody>
          <a:bodyPr wrap="square">
            <a:spAutoFit/>
          </a:bodyPr>
          <a:lstStyle/>
          <a:p>
            <a:pPr>
              <a:defRPr sz="1100">
                <a:solidFill>
                  <a:srgbClr val="0F172A"/>
                </a:solidFill>
              </a:defRPr>
            </a:pPr>
            <a:r>
              <a:t>EU AI Act and enterprise security policies require private endpoints, audit logging, and access revocation before go-live.</a:t>
            </a:r>
          </a:p>
        </p:txBody>
      </p:sp>
      <p:sp>
        <p:nvSpPr>
          <p:cNvPr id="21" name="Rounded Rectangle 20"/>
          <p:cNvSpPr/>
          <p:nvPr/>
        </p:nvSpPr>
        <p:spPr>
          <a:xfrm>
            <a:off x="731520" y="3749039"/>
            <a:ext cx="521208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749039"/>
            <a:ext cx="5212080" cy="54864"/>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931920"/>
            <a:ext cx="4663440" cy="2103120"/>
          </a:xfrm>
          <a:prstGeom prst="rect">
            <a:avLst/>
          </a:prstGeom>
          <a:noFill/>
        </p:spPr>
        <p:txBody>
          <a:bodyPr wrap="square">
            <a:spAutoFit/>
          </a:bodyPr>
          <a:lstStyle/>
          <a:p>
            <a:pPr>
              <a:defRPr sz="1200" b="1">
                <a:solidFill>
                  <a:srgbClr val="0078D4"/>
                </a:solidFill>
              </a:defRPr>
            </a:pPr>
            <a:r>
              <a:t>👤 THE ECONOMIC BUYER</a:t>
            </a:r>
          </a:p>
          <a:p>
            <a:pPr>
              <a:spcBef>
                <a:spcPts val="400"/>
              </a:spcBef>
              <a:spcAft>
                <a:spcPts val="600"/>
              </a:spcAft>
              <a:defRPr sz="1800" b="1">
                <a:solidFill>
                  <a:srgbClr val="0A192F"/>
                </a:solidFill>
              </a:defRPr>
            </a:pPr>
            <a:r>
              <a:t>Cloud &amp; Platform Infrastructure Leader</a:t>
            </a:r>
          </a:p>
          <a:p>
            <a:pPr>
              <a:defRPr sz="1200">
                <a:solidFill>
                  <a:srgbClr val="0F172A"/>
                </a:solidFill>
              </a:defRPr>
            </a:pPr>
            <a:r>
              <a:t>• Sponsored by CIO / Enterprise Chief Architect seeking standardized cloud guardrails.</a:t>
            </a:r>
            <a:br/>
            <a:r>
              <a:t>• Pain Point: Facing fragmented AI deployments across business units with zero central budget control or compliance auditability.</a:t>
            </a:r>
          </a:p>
        </p:txBody>
      </p:sp>
      <p:sp>
        <p:nvSpPr>
          <p:cNvPr id="24" name="Rounded Rectangle 23"/>
          <p:cNvSpPr/>
          <p:nvPr/>
        </p:nvSpPr>
        <p:spPr>
          <a:xfrm>
            <a:off x="6217920" y="3749039"/>
            <a:ext cx="521208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3749039"/>
            <a:ext cx="52120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931920"/>
            <a:ext cx="4663440" cy="2103120"/>
          </a:xfrm>
          <a:prstGeom prst="rect">
            <a:avLst/>
          </a:prstGeom>
          <a:noFill/>
        </p:spPr>
        <p:txBody>
          <a:bodyPr wrap="square">
            <a:spAutoFit/>
          </a:bodyPr>
          <a:lstStyle/>
          <a:p>
            <a:pPr>
              <a:defRPr sz="1200" b="1">
                <a:solidFill>
                  <a:srgbClr val="D83B01"/>
                </a:solidFill>
              </a:defRPr>
            </a:pPr>
            <a:r>
              <a:t>⚡ THE BUYING TRIGGER</a:t>
            </a:r>
          </a:p>
          <a:p>
            <a:pPr>
              <a:spcBef>
                <a:spcPts val="400"/>
              </a:spcBef>
              <a:spcAft>
                <a:spcPts val="600"/>
              </a:spcAft>
              <a:defRPr sz="1800" b="1">
                <a:solidFill>
                  <a:srgbClr val="0A192F"/>
                </a:solidFill>
              </a:defRPr>
            </a:pPr>
            <a:r>
              <a:t>A Blocked High-Visibility Pilot</a:t>
            </a:r>
          </a:p>
          <a:p>
            <a:pPr>
              <a:defRPr sz="1200">
                <a:solidFill>
                  <a:srgbClr val="0F172A"/>
                </a:solidFill>
              </a:defRPr>
            </a:pPr>
            <a:r>
              <a:t>• Business stakeholders demand live production release for a funded generative AI pilot.</a:t>
            </a:r>
            <a:br/>
            <a:r>
              <a:t>• CISO or security architecture halts rollout due to missing private endpoints, public internet ingress, or unvetted data egress paths.</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4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PORTFOLIO POSITIONING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04</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01 builds the platform every other offering runs on</a:t>
            </a:r>
          </a:p>
        </p:txBody>
      </p:sp>
      <p:sp>
        <p:nvSpPr>
          <p:cNvPr id="6" name="Rounded Rectangle 5"/>
          <p:cNvSpPr/>
          <p:nvPr/>
        </p:nvSpPr>
        <p:spPr>
          <a:xfrm>
            <a:off x="3931920" y="1371600"/>
            <a:ext cx="4297680" cy="4206240"/>
          </a:xfrm>
          <a:prstGeom prst="roundRect">
            <a:avLst/>
          </a:prstGeom>
          <a:solidFill>
            <a:srgbClr val="EFF6FF"/>
          </a:solidFill>
          <a:ln w="317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623560" y="164592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a:pPr>
            <a:r>
              <a:t>🏗️</a:t>
            </a:r>
          </a:p>
        </p:txBody>
      </p:sp>
      <p:sp>
        <p:nvSpPr>
          <p:cNvPr id="8" name="TextBox 7"/>
          <p:cNvSpPr txBox="1"/>
          <p:nvPr/>
        </p:nvSpPr>
        <p:spPr>
          <a:xfrm>
            <a:off x="4114800" y="2651760"/>
            <a:ext cx="3931920" cy="2743200"/>
          </a:xfrm>
          <a:prstGeom prst="rect">
            <a:avLst/>
          </a:prstGeom>
          <a:noFill/>
        </p:spPr>
        <p:txBody>
          <a:bodyPr wrap="square">
            <a:spAutoFit/>
          </a:bodyPr>
          <a:lstStyle/>
          <a:p>
            <a:pPr algn="ctr">
              <a:defRPr sz="1100" b="1">
                <a:solidFill>
                  <a:srgbClr val="0078D4"/>
                </a:solidFill>
              </a:defRPr>
            </a:pPr>
            <a:r>
              <a:t>OFFERING 01 (CORE FOUNDATION)</a:t>
            </a:r>
          </a:p>
          <a:p>
            <a:pPr algn="ctr">
              <a:spcAft>
                <a:spcPts val="1000"/>
              </a:spcAft>
              <a:defRPr sz="2000" b="1">
                <a:solidFill>
                  <a:srgbClr val="0A192F"/>
                </a:solidFill>
              </a:defRPr>
            </a:pPr>
            <a:r>
              <a:t>AI Platform / Landing Zone</a:t>
            </a:r>
          </a:p>
          <a:p>
            <a:pPr>
              <a:defRPr sz="1200">
                <a:solidFill>
                  <a:srgbClr val="0F172A"/>
                </a:solidFill>
              </a:defRPr>
            </a:pPr>
            <a:r>
              <a:t>• Establishes the multi-subscription Azure perimeter.</a:t>
            </a:r>
            <a:br/>
            <a:r>
              <a:t>• Deploys hub-spoke VNets, private DNS, and egress firewall.</a:t>
            </a:r>
            <a:br/>
            <a:r>
              <a:t>• Provisions isolated Azure AI Foundry projects &amp; data endpoints.</a:t>
            </a:r>
            <a:br/>
            <a:r>
              <a:t>• The essential prerequisite for all enterprise production AI.</a:t>
            </a:r>
          </a:p>
        </p:txBody>
      </p:sp>
      <p:sp>
        <p:nvSpPr>
          <p:cNvPr id="9" name="Rounded Rectangle 8"/>
          <p:cNvSpPr/>
          <p:nvPr/>
        </p:nvSpPr>
        <p:spPr>
          <a:xfrm>
            <a:off x="731520" y="137160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2560320" cy="1645920"/>
          </a:xfrm>
          <a:prstGeom prst="rect">
            <a:avLst/>
          </a:prstGeom>
          <a:noFill/>
        </p:spPr>
        <p:txBody>
          <a:bodyPr wrap="square">
            <a:spAutoFit/>
          </a:bodyPr>
          <a:lstStyle/>
          <a:p>
            <a:pPr>
              <a:defRPr sz="1000" b="1">
                <a:solidFill>
                  <a:srgbClr val="0078D4"/>
                </a:solidFill>
              </a:defRPr>
            </a:pPr>
            <a:r>
              <a:t>⚡ OFFERING 03</a:t>
            </a:r>
          </a:p>
          <a:p>
            <a:pPr>
              <a:spcAft>
                <a:spcPts val="400"/>
              </a:spcAft>
              <a:defRPr sz="1400" b="1">
                <a:solidFill>
                  <a:srgbClr val="0A192F"/>
                </a:solidFill>
              </a:defRPr>
            </a:pPr>
            <a:r>
              <a:t>AI Gateway Implementation</a:t>
            </a:r>
          </a:p>
          <a:p>
            <a:pPr>
              <a:defRPr sz="1000">
                <a:solidFill>
                  <a:srgbClr val="0F172A"/>
                </a:solidFill>
              </a:defRPr>
            </a:pPr>
            <a:r>
              <a:t>Sits in request path to govern tokens, circuit breakers &amp; content safety.</a:t>
            </a:r>
          </a:p>
        </p:txBody>
      </p:sp>
      <p:sp>
        <p:nvSpPr>
          <p:cNvPr id="11" name="Rounded Rectangle 10"/>
          <p:cNvSpPr/>
          <p:nvPr/>
        </p:nvSpPr>
        <p:spPr>
          <a:xfrm>
            <a:off x="731520" y="356616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49040"/>
            <a:ext cx="2560320" cy="1645920"/>
          </a:xfrm>
          <a:prstGeom prst="rect">
            <a:avLst/>
          </a:prstGeom>
          <a:noFill/>
        </p:spPr>
        <p:txBody>
          <a:bodyPr wrap="square">
            <a:spAutoFit/>
          </a:bodyPr>
          <a:lstStyle/>
          <a:p>
            <a:pPr>
              <a:defRPr sz="1000" b="1">
                <a:solidFill>
                  <a:srgbClr val="0078D4"/>
                </a:solidFill>
              </a:defRPr>
            </a:pPr>
            <a:r>
              <a:t>📊 OFFERING 04</a:t>
            </a:r>
          </a:p>
          <a:p>
            <a:pPr>
              <a:spcAft>
                <a:spcPts val="400"/>
              </a:spcAft>
              <a:defRPr sz="1400" b="1">
                <a:solidFill>
                  <a:srgbClr val="0A192F"/>
                </a:solidFill>
              </a:defRPr>
            </a:pPr>
            <a:r>
              <a:t>Capacity &amp; FinOps</a:t>
            </a:r>
          </a:p>
          <a:p>
            <a:pPr>
              <a:defRPr sz="1000">
                <a:solidFill>
                  <a:srgbClr val="0F172A"/>
                </a:solidFill>
              </a:defRPr>
            </a:pPr>
            <a:r>
              <a:t>Models throughput, sizing PAYG vs PTU vs Hybrid capacity reservations.</a:t>
            </a:r>
          </a:p>
        </p:txBody>
      </p:sp>
      <p:sp>
        <p:nvSpPr>
          <p:cNvPr id="13" name="Rounded Rectangle 12"/>
          <p:cNvSpPr/>
          <p:nvPr/>
        </p:nvSpPr>
        <p:spPr>
          <a:xfrm>
            <a:off x="8503920" y="137160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1554480"/>
            <a:ext cx="2560320" cy="1645920"/>
          </a:xfrm>
          <a:prstGeom prst="rect">
            <a:avLst/>
          </a:prstGeom>
          <a:noFill/>
        </p:spPr>
        <p:txBody>
          <a:bodyPr wrap="square">
            <a:spAutoFit/>
          </a:bodyPr>
          <a:lstStyle/>
          <a:p>
            <a:pPr>
              <a:defRPr sz="1000" b="1">
                <a:solidFill>
                  <a:srgbClr val="0078D4"/>
                </a:solidFill>
              </a:defRPr>
            </a:pPr>
            <a:r>
              <a:t>🛡️ OFFERING 02</a:t>
            </a:r>
          </a:p>
          <a:p>
            <a:pPr>
              <a:spcAft>
                <a:spcPts val="400"/>
              </a:spcAft>
              <a:defRPr sz="1400" b="1">
                <a:solidFill>
                  <a:srgbClr val="0A192F"/>
                </a:solidFill>
              </a:defRPr>
            </a:pPr>
            <a:r>
              <a:t>Agent Governance &amp; Ops</a:t>
            </a:r>
          </a:p>
          <a:p>
            <a:pPr>
              <a:defRPr sz="1000">
                <a:solidFill>
                  <a:srgbClr val="0F172A"/>
                </a:solidFill>
              </a:defRPr>
            </a:pPr>
            <a:r>
              <a:t>Inventories runtime agents &amp; enforces 4-layer containment kill switches.</a:t>
            </a:r>
          </a:p>
        </p:txBody>
      </p:sp>
      <p:sp>
        <p:nvSpPr>
          <p:cNvPr id="15" name="Rounded Rectangle 14"/>
          <p:cNvSpPr/>
          <p:nvPr/>
        </p:nvSpPr>
        <p:spPr>
          <a:xfrm>
            <a:off x="8503920" y="3566160"/>
            <a:ext cx="292608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3749040"/>
            <a:ext cx="2560320" cy="1645920"/>
          </a:xfrm>
          <a:prstGeom prst="rect">
            <a:avLst/>
          </a:prstGeom>
          <a:noFill/>
        </p:spPr>
        <p:txBody>
          <a:bodyPr wrap="square">
            <a:spAutoFit/>
          </a:bodyPr>
          <a:lstStyle/>
          <a:p>
            <a:pPr>
              <a:defRPr sz="1000" b="1">
                <a:solidFill>
                  <a:srgbClr val="0078D4"/>
                </a:solidFill>
              </a:defRPr>
            </a:pPr>
            <a:r>
              <a:t>🔄 OFFERING 05</a:t>
            </a:r>
          </a:p>
          <a:p>
            <a:pPr>
              <a:spcAft>
                <a:spcPts val="400"/>
              </a:spcAft>
              <a:defRPr sz="1400" b="1">
                <a:solidFill>
                  <a:srgbClr val="0A192F"/>
                </a:solidFill>
              </a:defRPr>
            </a:pPr>
            <a:r>
              <a:t>Managed Platform Ops</a:t>
            </a:r>
          </a:p>
          <a:p>
            <a:pPr>
              <a:defRPr sz="1000">
                <a:solidFill>
                  <a:srgbClr val="0F172A"/>
                </a:solidFill>
              </a:defRPr>
            </a:pPr>
            <a:r>
              <a:t>Provides Day-2 continuous 24x7 monitoring, alert triage &amp; runbooks.</a:t>
            </a:r>
          </a:p>
        </p:txBody>
      </p:sp>
      <p:sp>
        <p:nvSpPr>
          <p:cNvPr id="17" name="Rounded Rectangle 16"/>
          <p:cNvSpPr/>
          <p:nvPr/>
        </p:nvSpPr>
        <p:spPr>
          <a:xfrm>
            <a:off x="731520" y="5669280"/>
            <a:ext cx="10698480" cy="5486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A192F"/>
                </a:solidFill>
              </a:defRPr>
            </a:pPr>
            <a:r>
              <a:t>ECOSYSTEM BOUNDARY: M365 Copilot is owned by Cognizant M365 &amp; D365 practices. CIS Infra supplies the foundational Azure identity, private networking, and Purview data plumbing.</a:t>
            </a:r>
          </a:p>
        </p:txBody>
      </p:sp>
      <p:sp>
        <p:nvSpPr>
          <p:cNvPr id="18" name="TextBox 1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5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SCOPE &amp; RESPONSIBILITIES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05</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We build and prove the platform; workload teams own the rest</a:t>
            </a:r>
          </a:p>
        </p:txBody>
      </p:sp>
      <p:sp>
        <p:nvSpPr>
          <p:cNvPr id="6" name="Rounded Rectangle 5"/>
          <p:cNvSpPr/>
          <p:nvPr/>
        </p:nvSpPr>
        <p:spPr>
          <a:xfrm>
            <a:off x="731520" y="1371600"/>
            <a:ext cx="33832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164592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9" name="TextBox 8"/>
          <p:cNvSpPr txBox="1"/>
          <p:nvPr/>
        </p:nvSpPr>
        <p:spPr>
          <a:xfrm>
            <a:off x="1645920" y="1645920"/>
            <a:ext cx="2194560" cy="548640"/>
          </a:xfrm>
          <a:prstGeom prst="rect">
            <a:avLst/>
          </a:prstGeom>
          <a:noFill/>
        </p:spPr>
        <p:txBody>
          <a:bodyPr wrap="square">
            <a:spAutoFit/>
          </a:bodyPr>
          <a:lstStyle/>
          <a:p>
            <a:pPr>
              <a:defRPr sz="1000" b="1">
                <a:solidFill>
                  <a:srgbClr val="0078D4"/>
                </a:solidFill>
              </a:defRPr>
            </a:pPr>
            <a:r>
              <a:t>CIS INFRA SELLS &amp; DELIVERS</a:t>
            </a:r>
          </a:p>
          <a:p>
            <a:pPr>
              <a:defRPr sz="900">
                <a:solidFill>
                  <a:srgbClr val="64748B"/>
                </a:solidFill>
              </a:defRPr>
            </a:pPr>
            <a:r>
              <a:t>Core Infrastructure Commitment</a:t>
            </a:r>
          </a:p>
        </p:txBody>
      </p:sp>
      <p:sp>
        <p:nvSpPr>
          <p:cNvPr id="10" name="TextBox 9"/>
          <p:cNvSpPr txBox="1"/>
          <p:nvPr/>
        </p:nvSpPr>
        <p:spPr>
          <a:xfrm>
            <a:off x="1005840" y="2331720"/>
            <a:ext cx="2834640" cy="3749039"/>
          </a:xfrm>
          <a:prstGeom prst="rect">
            <a:avLst/>
          </a:prstGeom>
          <a:noFill/>
        </p:spPr>
        <p:txBody>
          <a:bodyPr wrap="square">
            <a:spAutoFit/>
          </a:bodyPr>
          <a:lstStyle/>
          <a:p>
            <a:pPr>
              <a:spcAft>
                <a:spcPts val="800"/>
              </a:spcAft>
              <a:defRPr sz="1100">
                <a:solidFill>
                  <a:srgbClr val="0F172A"/>
                </a:solidFill>
              </a:defRPr>
            </a:pPr>
            <a:r>
              <a:t>• Hub-spoke virtual network peering &amp; security NSGs</a:t>
            </a:r>
          </a:p>
          <a:p>
            <a:pPr>
              <a:spcAft>
                <a:spcPts val="800"/>
              </a:spcAft>
              <a:defRPr sz="1100">
                <a:solidFill>
                  <a:srgbClr val="0F172A"/>
                </a:solidFill>
              </a:defRPr>
            </a:pPr>
            <a:r>
              <a:t>• Azure Firewall controlled outbound egress filtering</a:t>
            </a:r>
          </a:p>
          <a:p>
            <a:pPr>
              <a:spcAft>
                <a:spcPts val="800"/>
              </a:spcAft>
              <a:defRPr sz="1100">
                <a:solidFill>
                  <a:srgbClr val="0F172A"/>
                </a:solidFill>
              </a:defRPr>
            </a:pPr>
            <a:r>
              <a:t>• Private endpoints for Foundry, Search, Storage &amp; Key Vault</a:t>
            </a:r>
          </a:p>
          <a:p>
            <a:pPr>
              <a:spcAft>
                <a:spcPts val="800"/>
              </a:spcAft>
              <a:defRPr sz="1100">
                <a:solidFill>
                  <a:srgbClr val="0F172A"/>
                </a:solidFill>
              </a:defRPr>
            </a:pPr>
            <a:r>
              <a:t>• Automated Terraform &amp; Bicep promotion pipelines</a:t>
            </a:r>
          </a:p>
          <a:p>
            <a:pPr>
              <a:spcAft>
                <a:spcPts val="800"/>
              </a:spcAft>
              <a:defRPr sz="1100">
                <a:solidFill>
                  <a:srgbClr val="0F172A"/>
                </a:solidFill>
              </a:defRPr>
            </a:pPr>
            <a:r>
              <a:t>• Dev, test, and production environment separation</a:t>
            </a:r>
          </a:p>
          <a:p>
            <a:pPr>
              <a:spcAft>
                <a:spcPts val="800"/>
              </a:spcAft>
              <a:defRPr sz="1100">
                <a:solidFill>
                  <a:srgbClr val="0F172A"/>
                </a:solidFill>
              </a:defRPr>
            </a:pPr>
            <a:r>
              <a:t>• Platform health monitoring, Log Analytics &amp; cost budgets</a:t>
            </a:r>
          </a:p>
        </p:txBody>
      </p:sp>
      <p:sp>
        <p:nvSpPr>
          <p:cNvPr id="11" name="Rounded Rectangle 10"/>
          <p:cNvSpPr/>
          <p:nvPr/>
        </p:nvSpPr>
        <p:spPr>
          <a:xfrm>
            <a:off x="4389120" y="1371600"/>
            <a:ext cx="33832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3440" y="1645920"/>
            <a:ext cx="502920" cy="502920"/>
          </a:xfrm>
          <a:prstGeom prst="ellipse">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4" name="TextBox 13"/>
          <p:cNvSpPr txBox="1"/>
          <p:nvPr/>
        </p:nvSpPr>
        <p:spPr>
          <a:xfrm>
            <a:off x="5303520" y="1645920"/>
            <a:ext cx="2194560" cy="548640"/>
          </a:xfrm>
          <a:prstGeom prst="rect">
            <a:avLst/>
          </a:prstGeom>
          <a:noFill/>
        </p:spPr>
        <p:txBody>
          <a:bodyPr wrap="square">
            <a:spAutoFit/>
          </a:bodyPr>
          <a:lstStyle/>
          <a:p>
            <a:pPr>
              <a:defRPr sz="1000" b="1">
                <a:solidFill>
                  <a:srgbClr val="0A192F"/>
                </a:solidFill>
              </a:defRPr>
            </a:pPr>
            <a:r>
              <a:t>SPECIALIST TOWERS DELIVER</a:t>
            </a:r>
          </a:p>
          <a:p>
            <a:pPr>
              <a:defRPr sz="900">
                <a:solidFill>
                  <a:srgbClr val="64748B"/>
                </a:solidFill>
              </a:defRPr>
            </a:pPr>
            <a:r>
              <a:t>Separate Specialized Practices</a:t>
            </a:r>
          </a:p>
        </p:txBody>
      </p:sp>
      <p:sp>
        <p:nvSpPr>
          <p:cNvPr id="15" name="TextBox 14"/>
          <p:cNvSpPr txBox="1"/>
          <p:nvPr/>
        </p:nvSpPr>
        <p:spPr>
          <a:xfrm>
            <a:off x="4663440" y="2331720"/>
            <a:ext cx="2834640" cy="3749039"/>
          </a:xfrm>
          <a:prstGeom prst="rect">
            <a:avLst/>
          </a:prstGeom>
          <a:noFill/>
        </p:spPr>
        <p:txBody>
          <a:bodyPr wrap="square">
            <a:spAutoFit/>
          </a:bodyPr>
          <a:lstStyle/>
          <a:p>
            <a:pPr>
              <a:spcAft>
                <a:spcPts val="800"/>
              </a:spcAft>
              <a:defRPr sz="1100">
                <a:solidFill>
                  <a:srgbClr val="0F172A"/>
                </a:solidFill>
              </a:defRPr>
            </a:pPr>
            <a:r>
              <a:t>• Security Tower: Sentinel SIEM, Defender threat policy</a:t>
            </a:r>
          </a:p>
          <a:p>
            <a:pPr>
              <a:spcAft>
                <a:spcPts val="800"/>
              </a:spcAft>
              <a:defRPr sz="1100">
                <a:solidFill>
                  <a:srgbClr val="0F172A"/>
                </a:solidFill>
              </a:defRPr>
            </a:pPr>
            <a:r>
              <a:t>• AI Tower: Prompt engineering, model tuning &amp; quality</a:t>
            </a:r>
          </a:p>
          <a:p>
            <a:pPr>
              <a:spcAft>
                <a:spcPts val="800"/>
              </a:spcAft>
              <a:defRPr sz="1100">
                <a:solidFill>
                  <a:srgbClr val="0F172A"/>
                </a:solidFill>
              </a:defRPr>
            </a:pPr>
            <a:r>
              <a:t>• Data Tower: AI Search vector schemas &amp; ETL pipelines</a:t>
            </a:r>
          </a:p>
          <a:p>
            <a:pPr>
              <a:spcAft>
                <a:spcPts val="800"/>
              </a:spcAft>
              <a:defRPr sz="1100">
                <a:solidFill>
                  <a:srgbClr val="0F172A"/>
                </a:solidFill>
              </a:defRPr>
            </a:pPr>
            <a:r>
              <a:t>• DevOps Tower: Application code deployment pipelines</a:t>
            </a:r>
          </a:p>
          <a:p>
            <a:pPr>
              <a:spcAft>
                <a:spcPts val="800"/>
              </a:spcAft>
              <a:defRPr sz="1100">
                <a:solidFill>
                  <a:srgbClr val="0F172A"/>
                </a:solidFill>
              </a:defRPr>
            </a:pPr>
            <a:r>
              <a:t>• Integrated governance under single program lead</a:t>
            </a:r>
          </a:p>
        </p:txBody>
      </p:sp>
      <p:sp>
        <p:nvSpPr>
          <p:cNvPr id="16" name="Rounded Rectangle 15"/>
          <p:cNvSpPr/>
          <p:nvPr/>
        </p:nvSpPr>
        <p:spPr>
          <a:xfrm>
            <a:off x="8046720" y="1371600"/>
            <a:ext cx="33832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21040" y="164592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9" name="TextBox 18"/>
          <p:cNvSpPr txBox="1"/>
          <p:nvPr/>
        </p:nvSpPr>
        <p:spPr>
          <a:xfrm>
            <a:off x="8961120" y="1645920"/>
            <a:ext cx="2194560" cy="548640"/>
          </a:xfrm>
          <a:prstGeom prst="rect">
            <a:avLst/>
          </a:prstGeom>
          <a:noFill/>
        </p:spPr>
        <p:txBody>
          <a:bodyPr wrap="square">
            <a:spAutoFit/>
          </a:bodyPr>
          <a:lstStyle/>
          <a:p>
            <a:pPr>
              <a:defRPr sz="1000" b="1">
                <a:solidFill>
                  <a:srgbClr val="00A389"/>
                </a:solidFill>
              </a:defRPr>
            </a:pPr>
            <a:r>
              <a:t>CUSTOMER WORKLOAD OWNS</a:t>
            </a:r>
          </a:p>
          <a:p>
            <a:pPr>
              <a:defRPr sz="900">
                <a:solidFill>
                  <a:srgbClr val="64748B"/>
                </a:solidFill>
              </a:defRPr>
            </a:pPr>
            <a:r>
              <a:t>Customer Accountability</a:t>
            </a:r>
          </a:p>
        </p:txBody>
      </p:sp>
      <p:sp>
        <p:nvSpPr>
          <p:cNvPr id="20" name="TextBox 19"/>
          <p:cNvSpPr txBox="1"/>
          <p:nvPr/>
        </p:nvSpPr>
        <p:spPr>
          <a:xfrm>
            <a:off x="8321040" y="2331720"/>
            <a:ext cx="2834640" cy="3749039"/>
          </a:xfrm>
          <a:prstGeom prst="rect">
            <a:avLst/>
          </a:prstGeom>
          <a:noFill/>
        </p:spPr>
        <p:txBody>
          <a:bodyPr wrap="square">
            <a:spAutoFit/>
          </a:bodyPr>
          <a:lstStyle/>
          <a:p>
            <a:pPr>
              <a:spcAft>
                <a:spcPts val="800"/>
              </a:spcAft>
              <a:defRPr sz="1100">
                <a:solidFill>
                  <a:srgbClr val="0F172A"/>
                </a:solidFill>
              </a:defRPr>
            </a:pPr>
            <a:r>
              <a:t>• Application business logic, UI, and custom agent logic</a:t>
            </a:r>
          </a:p>
          <a:p>
            <a:pPr>
              <a:spcAft>
                <a:spcPts val="800"/>
              </a:spcAft>
              <a:defRPr sz="1100">
                <a:solidFill>
                  <a:srgbClr val="0F172A"/>
                </a:solidFill>
              </a:defRPr>
            </a:pPr>
            <a:r>
              <a:t>• Corporate compliance, legal &amp; risk sign-off</a:t>
            </a:r>
          </a:p>
          <a:p>
            <a:pPr>
              <a:spcAft>
                <a:spcPts val="800"/>
              </a:spcAft>
              <a:defRPr sz="1100">
                <a:solidFill>
                  <a:srgbClr val="0F172A"/>
                </a:solidFill>
              </a:defRPr>
            </a:pPr>
            <a:r>
              <a:t>• Direct Azure model token &amp; PTU consumption billing</a:t>
            </a:r>
          </a:p>
          <a:p>
            <a:pPr>
              <a:spcAft>
                <a:spcPts val="800"/>
              </a:spcAft>
              <a:defRPr sz="1100">
                <a:solidFill>
                  <a:srgbClr val="0F172A"/>
                </a:solidFill>
              </a:defRPr>
            </a:pPr>
            <a:r>
              <a:t>• Production CAB change review approvals</a:t>
            </a:r>
          </a:p>
          <a:p>
            <a:pPr>
              <a:spcAft>
                <a:spcPts val="800"/>
              </a:spcAft>
              <a:defRPr sz="1100">
                <a:solidFill>
                  <a:srgbClr val="0F172A"/>
                </a:solidFill>
              </a:defRPr>
            </a:pPr>
            <a:r>
              <a:t>• Workload data classification &amp; access rights governance</a:t>
            </a:r>
          </a:p>
        </p:txBody>
      </p:sp>
      <p:sp>
        <p:nvSpPr>
          <p:cNvPr id="21" name="TextBox 20"/>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6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PROPOSED REFERENCE ARCHITECTURE</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06</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 shared platform keeps each AI workload private</a:t>
            </a:r>
          </a:p>
        </p:txBody>
      </p:sp>
      <p:sp>
        <p:nvSpPr>
          <p:cNvPr id="6" name="Rounded Rectangle 5"/>
          <p:cNvSpPr/>
          <p:nvPr/>
        </p:nvSpPr>
        <p:spPr>
          <a:xfrm>
            <a:off x="731520" y="1371600"/>
            <a:ext cx="310896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2743200" cy="3657600"/>
          </a:xfrm>
          <a:prstGeom prst="rect">
            <a:avLst/>
          </a:prstGeom>
          <a:noFill/>
        </p:spPr>
        <p:txBody>
          <a:bodyPr wrap="square">
            <a:spAutoFit/>
          </a:bodyPr>
          <a:lstStyle/>
          <a:p>
            <a:pPr>
              <a:defRPr sz="1100" b="1">
                <a:solidFill>
                  <a:srgbClr val="0078D4"/>
                </a:solidFill>
              </a:defRPr>
            </a:pPr>
            <a:r>
              <a:t>ZONE 1: CONSUMER &amp; INGRESS</a:t>
            </a:r>
          </a:p>
          <a:p>
            <a:pPr>
              <a:spcAft>
                <a:spcPts val="1000"/>
              </a:spcAft>
              <a:defRPr sz="1600" b="1">
                <a:solidFill>
                  <a:srgbClr val="0A192F"/>
                </a:solidFill>
              </a:defRPr>
            </a:pPr>
            <a:r>
              <a:t>App Gateway + WAF</a:t>
            </a:r>
          </a:p>
          <a:p>
            <a:pPr>
              <a:defRPr sz="1200" b="1">
                <a:solidFill>
                  <a:srgbClr val="0F172A"/>
                </a:solidFill>
              </a:defRPr>
            </a:pPr>
            <a:r>
              <a:t>• End Users &amp; Apps</a:t>
            </a:r>
          </a:p>
          <a:p>
            <a:pPr>
              <a:spcAft>
                <a:spcPts val="600"/>
              </a:spcAft>
              <a:defRPr sz="1000">
                <a:solidFill>
                  <a:srgbClr val="64748B"/>
                </a:solidFill>
              </a:defRPr>
            </a:pPr>
            <a:r>
              <a:t>  Entra ID authenticated callers</a:t>
            </a:r>
          </a:p>
          <a:p>
            <a:pPr>
              <a:defRPr sz="1200" b="1">
                <a:solidFill>
                  <a:srgbClr val="0F172A"/>
                </a:solidFill>
              </a:defRPr>
            </a:pPr>
            <a:r>
              <a:t>• WAF Ingress</a:t>
            </a:r>
          </a:p>
          <a:p>
            <a:pPr>
              <a:spcAft>
                <a:spcPts val="600"/>
              </a:spcAft>
              <a:defRPr sz="1000">
                <a:solidFill>
                  <a:srgbClr val="64748B"/>
                </a:solidFill>
              </a:defRPr>
            </a:pPr>
            <a:r>
              <a:t>  OWASP inspection &amp; SSL offload</a:t>
            </a:r>
          </a:p>
          <a:p>
            <a:pPr>
              <a:defRPr sz="1200" b="1">
                <a:solidFill>
                  <a:srgbClr val="0F172A"/>
                </a:solidFill>
              </a:defRPr>
            </a:pPr>
            <a:r>
              <a:t>• Zero Public Direct Access</a:t>
            </a:r>
          </a:p>
          <a:p>
            <a:pPr>
              <a:spcAft>
                <a:spcPts val="600"/>
              </a:spcAft>
              <a:defRPr sz="1000">
                <a:solidFill>
                  <a:srgbClr val="64748B"/>
                </a:solidFill>
              </a:defRPr>
            </a:pPr>
            <a:r>
              <a:t>  Backend completely isolated</a:t>
            </a:r>
          </a:p>
        </p:txBody>
      </p:sp>
      <p:sp>
        <p:nvSpPr>
          <p:cNvPr id="8" name="Rounded Rectangle 7"/>
          <p:cNvSpPr/>
          <p:nvPr/>
        </p:nvSpPr>
        <p:spPr>
          <a:xfrm>
            <a:off x="4069080" y="1371600"/>
            <a:ext cx="4023360" cy="4114800"/>
          </a:xfrm>
          <a:prstGeom prst="roundRect">
            <a:avLst/>
          </a:prstGeom>
          <a:solidFill>
            <a:srgbClr val="F0F9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1554480"/>
            <a:ext cx="3657600" cy="3657600"/>
          </a:xfrm>
          <a:prstGeom prst="rect">
            <a:avLst/>
          </a:prstGeom>
          <a:noFill/>
        </p:spPr>
        <p:txBody>
          <a:bodyPr wrap="square">
            <a:spAutoFit/>
          </a:bodyPr>
          <a:lstStyle/>
          <a:p>
            <a:pPr>
              <a:defRPr sz="1100" b="1">
                <a:solidFill>
                  <a:srgbClr val="0078D4"/>
                </a:solidFill>
              </a:defRPr>
            </a:pPr>
            <a:r>
              <a:t>ZONE 2: GOVERNED AI WORKLOAD SPOKE</a:t>
            </a:r>
          </a:p>
          <a:p>
            <a:pPr>
              <a:spcAft>
                <a:spcPts val="1000"/>
              </a:spcAft>
              <a:defRPr sz="1600" b="1">
                <a:solidFill>
                  <a:srgbClr val="0A192F"/>
                </a:solidFill>
              </a:defRPr>
            </a:pPr>
            <a:r>
              <a:t>Azure AI Foundry Spoke</a:t>
            </a:r>
          </a:p>
          <a:p>
            <a:pPr>
              <a:defRPr sz="1200" b="1">
                <a:solidFill>
                  <a:srgbClr val="0F172A"/>
                </a:solidFill>
              </a:defRPr>
            </a:pPr>
            <a:r>
              <a:t>• Container Apps / Agents</a:t>
            </a:r>
          </a:p>
          <a:p>
            <a:pPr>
              <a:spcAft>
                <a:spcPts val="600"/>
              </a:spcAft>
              <a:defRPr sz="1000">
                <a:solidFill>
                  <a:srgbClr val="64748B"/>
                </a:solidFill>
              </a:defRPr>
            </a:pPr>
            <a:r>
              <a:t>  Managed host for generative execution</a:t>
            </a:r>
          </a:p>
          <a:p>
            <a:pPr>
              <a:defRPr sz="1200" b="1">
                <a:solidFill>
                  <a:srgbClr val="0F172A"/>
                </a:solidFill>
              </a:defRPr>
            </a:pPr>
            <a:r>
              <a:t>• Foundry Models</a:t>
            </a:r>
          </a:p>
          <a:p>
            <a:pPr>
              <a:spcAft>
                <a:spcPts val="600"/>
              </a:spcAft>
              <a:defRPr sz="1000">
                <a:solidFill>
                  <a:srgbClr val="64748B"/>
                </a:solidFill>
              </a:defRPr>
            </a:pPr>
            <a:r>
              <a:t>  Private endpoints for LLM inference</a:t>
            </a:r>
          </a:p>
          <a:p>
            <a:pPr>
              <a:defRPr sz="1200" b="1">
                <a:solidFill>
                  <a:srgbClr val="0F172A"/>
                </a:solidFill>
              </a:defRPr>
            </a:pPr>
            <a:r>
              <a:t>• Enterprise Search &amp; Data</a:t>
            </a:r>
          </a:p>
          <a:p>
            <a:pPr>
              <a:spcAft>
                <a:spcPts val="600"/>
              </a:spcAft>
              <a:defRPr sz="1000">
                <a:solidFill>
                  <a:srgbClr val="64748B"/>
                </a:solidFill>
              </a:defRPr>
            </a:pPr>
            <a:r>
              <a:t>  Azure AI Search + Storage + Key Vault</a:t>
            </a:r>
          </a:p>
          <a:p>
            <a:pPr>
              <a:defRPr sz="1200" b="1">
                <a:solidFill>
                  <a:srgbClr val="0F172A"/>
                </a:solidFill>
              </a:defRPr>
            </a:pPr>
            <a:r>
              <a:t>• Network Isolation</a:t>
            </a:r>
          </a:p>
          <a:p>
            <a:pPr>
              <a:spcAft>
                <a:spcPts val="600"/>
              </a:spcAft>
              <a:defRPr sz="1000">
                <a:solidFill>
                  <a:srgbClr val="64748B"/>
                </a:solidFill>
              </a:defRPr>
            </a:pPr>
            <a:r>
              <a:t>  Zero public IP; Private Link enforced</a:t>
            </a:r>
          </a:p>
        </p:txBody>
      </p:sp>
      <p:sp>
        <p:nvSpPr>
          <p:cNvPr id="10" name="Rounded Rectangle 9"/>
          <p:cNvSpPr/>
          <p:nvPr/>
        </p:nvSpPr>
        <p:spPr>
          <a:xfrm>
            <a:off x="8321040" y="1371600"/>
            <a:ext cx="310896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1554480"/>
            <a:ext cx="2743200" cy="3657600"/>
          </a:xfrm>
          <a:prstGeom prst="rect">
            <a:avLst/>
          </a:prstGeom>
          <a:noFill/>
        </p:spPr>
        <p:txBody>
          <a:bodyPr wrap="square">
            <a:spAutoFit/>
          </a:bodyPr>
          <a:lstStyle/>
          <a:p>
            <a:pPr>
              <a:defRPr sz="1100" b="1">
                <a:solidFill>
                  <a:srgbClr val="0A192F"/>
                </a:solidFill>
              </a:defRPr>
            </a:pPr>
            <a:r>
              <a:t>ZONE 3: SHARED PLATFORM HUB</a:t>
            </a:r>
          </a:p>
          <a:p>
            <a:pPr>
              <a:spcAft>
                <a:spcPts val="1000"/>
              </a:spcAft>
              <a:defRPr sz="1600" b="1">
                <a:solidFill>
                  <a:srgbClr val="0A192F"/>
                </a:solidFill>
              </a:defRPr>
            </a:pPr>
            <a:r>
              <a:t>Hub Network &amp; Security</a:t>
            </a:r>
          </a:p>
          <a:p>
            <a:pPr>
              <a:defRPr sz="1200" b="1">
                <a:solidFill>
                  <a:srgbClr val="0F172A"/>
                </a:solidFill>
              </a:defRPr>
            </a:pPr>
            <a:r>
              <a:t>• Azure Firewall</a:t>
            </a:r>
          </a:p>
          <a:p>
            <a:pPr>
              <a:spcAft>
                <a:spcPts val="600"/>
              </a:spcAft>
              <a:defRPr sz="1000">
                <a:solidFill>
                  <a:srgbClr val="64748B"/>
                </a:solidFill>
              </a:defRPr>
            </a:pPr>
            <a:r>
              <a:t>  Central egress inspection &amp; filtering</a:t>
            </a:r>
          </a:p>
          <a:p>
            <a:pPr>
              <a:defRPr sz="1200" b="1">
                <a:solidFill>
                  <a:srgbClr val="0F172A"/>
                </a:solidFill>
              </a:defRPr>
            </a:pPr>
            <a:r>
              <a:t>• DNS Private Resolver</a:t>
            </a:r>
          </a:p>
          <a:p>
            <a:pPr>
              <a:spcAft>
                <a:spcPts val="600"/>
              </a:spcAft>
              <a:defRPr sz="1000">
                <a:solidFill>
                  <a:srgbClr val="64748B"/>
                </a:solidFill>
              </a:defRPr>
            </a:pPr>
            <a:r>
              <a:t>  Cross-region &amp; on-prem private resolution</a:t>
            </a:r>
          </a:p>
          <a:p>
            <a:pPr>
              <a:defRPr sz="1200" b="1">
                <a:solidFill>
                  <a:srgbClr val="0F172A"/>
                </a:solidFill>
              </a:defRPr>
            </a:pPr>
            <a:r>
              <a:t>• Entra ID PIM</a:t>
            </a:r>
          </a:p>
          <a:p>
            <a:pPr>
              <a:spcAft>
                <a:spcPts val="600"/>
              </a:spcAft>
              <a:defRPr sz="1000">
                <a:solidFill>
                  <a:srgbClr val="64748B"/>
                </a:solidFill>
              </a:defRPr>
            </a:pPr>
            <a:r>
              <a:t>  Privileged operator access control</a:t>
            </a:r>
          </a:p>
          <a:p>
            <a:pPr>
              <a:defRPr sz="1200" b="1">
                <a:solidFill>
                  <a:srgbClr val="0F172A"/>
                </a:solidFill>
              </a:defRPr>
            </a:pPr>
            <a:r>
              <a:t>• Log Analytics &amp; Budgets</a:t>
            </a:r>
          </a:p>
          <a:p>
            <a:pPr>
              <a:spcAft>
                <a:spcPts val="600"/>
              </a:spcAft>
              <a:defRPr sz="1000">
                <a:solidFill>
                  <a:srgbClr val="64748B"/>
                </a:solidFill>
              </a:defRPr>
            </a:pPr>
            <a:r>
              <a:t>  Unified platform audit &amp; cost alerts</a:t>
            </a:r>
          </a:p>
        </p:txBody>
      </p:sp>
      <p:sp>
        <p:nvSpPr>
          <p:cNvPr id="12" name="Rounded Rectangle 11"/>
          <p:cNvSpPr/>
          <p:nvPr/>
        </p:nvSpPr>
        <p:spPr>
          <a:xfrm>
            <a:off x="731520" y="5623560"/>
            <a:ext cx="106984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A192F"/>
                </a:solidFill>
              </a:defRPr>
            </a:pPr>
            <a:r>
              <a:t>REQUEST FLOW:  [1] Ingress filtered via WAF  ──►  [2] Private Endpoint Call to Foundry Model  ──►  [3] Outbound Egress Inspected via Hub Firewall  ──►  [4] Unified Audit Traces in Log Analytics</a:t>
            </a:r>
          </a:p>
        </p:txBody>
      </p:sp>
      <p:sp>
        <p:nvSpPr>
          <p:cNvPr id="13" name="TextBox 1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7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DELIVERY PACKAGES &amp; PATHWAYS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07</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Three routes in, all on Microsoft's landing zone accelerator</a:t>
            </a:r>
          </a:p>
        </p:txBody>
      </p:sp>
      <p:sp>
        <p:nvSpPr>
          <p:cNvPr id="6" name="Rounded Rectangle 5"/>
          <p:cNvSpPr/>
          <p:nvPr/>
        </p:nvSpPr>
        <p:spPr>
          <a:xfrm>
            <a:off x="731520" y="137160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00200"/>
            <a:ext cx="2834640" cy="274320"/>
          </a:xfrm>
          <a:prstGeom prst="rect">
            <a:avLst/>
          </a:prstGeom>
          <a:noFill/>
        </p:spPr>
        <p:txBody>
          <a:bodyPr wrap="none">
            <a:spAutoFit/>
          </a:bodyPr>
          <a:lstStyle/>
          <a:p>
            <a:pPr>
              <a:defRPr sz="900" b="1">
                <a:solidFill>
                  <a:srgbClr val="0078D4"/>
                </a:solidFill>
              </a:defRPr>
            </a:pPr>
            <a:r>
              <a:t>ROUTE 1 · 3 TO 5 WEEKS</a:t>
            </a:r>
          </a:p>
        </p:txBody>
      </p:sp>
      <p:sp>
        <p:nvSpPr>
          <p:cNvPr id="9" name="TextBox 8"/>
          <p:cNvSpPr txBox="1"/>
          <p:nvPr/>
        </p:nvSpPr>
        <p:spPr>
          <a:xfrm>
            <a:off x="1005840" y="1920240"/>
            <a:ext cx="2834640" cy="365760"/>
          </a:xfrm>
          <a:prstGeom prst="rect">
            <a:avLst/>
          </a:prstGeom>
          <a:noFill/>
        </p:spPr>
        <p:txBody>
          <a:bodyPr wrap="none">
            <a:spAutoFit/>
          </a:bodyPr>
          <a:lstStyle/>
          <a:p>
            <a:pPr>
              <a:defRPr sz="2000" b="1">
                <a:solidFill>
                  <a:srgbClr val="0A192F"/>
                </a:solidFill>
              </a:defRPr>
            </a:pPr>
            <a:r>
              <a:t>Assess First</a:t>
            </a:r>
          </a:p>
        </p:txBody>
      </p:sp>
      <p:sp>
        <p:nvSpPr>
          <p:cNvPr id="10" name="TextBox 9"/>
          <p:cNvSpPr txBox="1"/>
          <p:nvPr/>
        </p:nvSpPr>
        <p:spPr>
          <a:xfrm>
            <a:off x="1005840" y="2331720"/>
            <a:ext cx="2834640" cy="320040"/>
          </a:xfrm>
          <a:prstGeom prst="rect">
            <a:avLst/>
          </a:prstGeom>
          <a:noFill/>
        </p:spPr>
        <p:txBody>
          <a:bodyPr wrap="none">
            <a:spAutoFit/>
          </a:bodyPr>
          <a:lstStyle/>
          <a:p>
            <a:pPr>
              <a:defRPr sz="1400" b="1">
                <a:solidFill>
                  <a:srgbClr val="0078D4"/>
                </a:solidFill>
              </a:defRPr>
            </a:pPr>
            <a:r>
              <a:t>25-40 Role Days</a:t>
            </a:r>
          </a:p>
        </p:txBody>
      </p:sp>
      <p:sp>
        <p:nvSpPr>
          <p:cNvPr id="11" name="TextBox 10"/>
          <p:cNvSpPr txBox="1"/>
          <p:nvPr/>
        </p:nvSpPr>
        <p:spPr>
          <a:xfrm>
            <a:off x="1005840" y="2743200"/>
            <a:ext cx="2834640" cy="594360"/>
          </a:xfrm>
          <a:prstGeom prst="rect">
            <a:avLst/>
          </a:prstGeom>
          <a:noFill/>
        </p:spPr>
        <p:txBody>
          <a:bodyPr wrap="square">
            <a:spAutoFit/>
          </a:bodyPr>
          <a:lstStyle/>
          <a:p>
            <a:pPr>
              <a:defRPr sz="1100">
                <a:solidFill>
                  <a:srgbClr val="64748B"/>
                </a:solidFill>
              </a:defRPr>
            </a:pPr>
            <a:r>
              <a:t>When: Unknown connectivity, security blockers, or ambiguous quota.</a:t>
            </a:r>
          </a:p>
        </p:txBody>
      </p:sp>
      <p:sp>
        <p:nvSpPr>
          <p:cNvPr id="12" name="TextBox 11"/>
          <p:cNvSpPr txBox="1"/>
          <p:nvPr/>
        </p:nvSpPr>
        <p:spPr>
          <a:xfrm>
            <a:off x="1005840" y="3474720"/>
            <a:ext cx="2834640" cy="1554480"/>
          </a:xfrm>
          <a:prstGeom prst="rect">
            <a:avLst/>
          </a:prstGeom>
          <a:noFill/>
        </p:spPr>
        <p:txBody>
          <a:bodyPr wrap="square">
            <a:spAutoFit/>
          </a:bodyPr>
          <a:lstStyle/>
          <a:p>
            <a:pPr>
              <a:defRPr sz="1100" b="1">
                <a:solidFill>
                  <a:srgbClr val="0A192F"/>
                </a:solidFill>
              </a:defRPr>
            </a:pPr>
            <a:r>
              <a:t>Key Deliverables:</a:t>
            </a:r>
          </a:p>
          <a:p>
            <a:pPr>
              <a:defRPr sz="1000">
                <a:solidFill>
                  <a:srgbClr val="0F172A"/>
                </a:solidFill>
              </a:defRPr>
            </a:pPr>
            <a:r>
              <a:t>• Network &amp; security gap analysis</a:t>
            </a:r>
          </a:p>
          <a:p>
            <a:pPr>
              <a:defRPr sz="1000">
                <a:solidFill>
                  <a:srgbClr val="0F172A"/>
                </a:solidFill>
              </a:defRPr>
            </a:pPr>
            <a:r>
              <a:t>• Architecture blueprint &amp; BOM sizing</a:t>
            </a:r>
          </a:p>
          <a:p>
            <a:pPr>
              <a:defRPr sz="1000">
                <a:solidFill>
                  <a:srgbClr val="0F172A"/>
                </a:solidFill>
              </a:defRPr>
            </a:pPr>
            <a:r>
              <a:t>• Azure subscription quota plan</a:t>
            </a:r>
          </a:p>
        </p:txBody>
      </p:sp>
      <p:sp>
        <p:nvSpPr>
          <p:cNvPr id="13" name="Rounded Rectangle 12"/>
          <p:cNvSpPr/>
          <p:nvPr/>
        </p:nvSpPr>
        <p:spPr>
          <a:xfrm>
            <a:off x="4389120" y="137160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716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600200"/>
            <a:ext cx="2834640" cy="274320"/>
          </a:xfrm>
          <a:prstGeom prst="rect">
            <a:avLst/>
          </a:prstGeom>
          <a:noFill/>
        </p:spPr>
        <p:txBody>
          <a:bodyPr wrap="none">
            <a:spAutoFit/>
          </a:bodyPr>
          <a:lstStyle/>
          <a:p>
            <a:pPr>
              <a:defRPr sz="900" b="1">
                <a:solidFill>
                  <a:srgbClr val="00A389"/>
                </a:solidFill>
              </a:defRPr>
            </a:pPr>
            <a:r>
              <a:t>ROUTE 2 · 7 TO 11 WEEKS</a:t>
            </a:r>
          </a:p>
        </p:txBody>
      </p:sp>
      <p:sp>
        <p:nvSpPr>
          <p:cNvPr id="16" name="TextBox 15"/>
          <p:cNvSpPr txBox="1"/>
          <p:nvPr/>
        </p:nvSpPr>
        <p:spPr>
          <a:xfrm>
            <a:off x="4663440" y="1920240"/>
            <a:ext cx="2834640" cy="365760"/>
          </a:xfrm>
          <a:prstGeom prst="rect">
            <a:avLst/>
          </a:prstGeom>
          <a:noFill/>
        </p:spPr>
        <p:txBody>
          <a:bodyPr wrap="none">
            <a:spAutoFit/>
          </a:bodyPr>
          <a:lstStyle/>
          <a:p>
            <a:pPr>
              <a:defRPr sz="2000" b="1">
                <a:solidFill>
                  <a:srgbClr val="0A192F"/>
                </a:solidFill>
              </a:defRPr>
            </a:pPr>
            <a:r>
              <a:t>Extend Existing</a:t>
            </a:r>
          </a:p>
        </p:txBody>
      </p:sp>
      <p:sp>
        <p:nvSpPr>
          <p:cNvPr id="17" name="TextBox 16"/>
          <p:cNvSpPr txBox="1"/>
          <p:nvPr/>
        </p:nvSpPr>
        <p:spPr>
          <a:xfrm>
            <a:off x="4663440" y="2331720"/>
            <a:ext cx="2834640" cy="320040"/>
          </a:xfrm>
          <a:prstGeom prst="rect">
            <a:avLst/>
          </a:prstGeom>
          <a:noFill/>
        </p:spPr>
        <p:txBody>
          <a:bodyPr wrap="none">
            <a:spAutoFit/>
          </a:bodyPr>
          <a:lstStyle/>
          <a:p>
            <a:pPr>
              <a:defRPr sz="1400" b="1">
                <a:solidFill>
                  <a:srgbClr val="00A389"/>
                </a:solidFill>
              </a:defRPr>
            </a:pPr>
            <a:r>
              <a:t>70-110 Role Days</a:t>
            </a:r>
          </a:p>
        </p:txBody>
      </p:sp>
      <p:sp>
        <p:nvSpPr>
          <p:cNvPr id="18" name="TextBox 17"/>
          <p:cNvSpPr txBox="1"/>
          <p:nvPr/>
        </p:nvSpPr>
        <p:spPr>
          <a:xfrm>
            <a:off x="4663440" y="2743200"/>
            <a:ext cx="2834640" cy="594360"/>
          </a:xfrm>
          <a:prstGeom prst="rect">
            <a:avLst/>
          </a:prstGeom>
          <a:noFill/>
        </p:spPr>
        <p:txBody>
          <a:bodyPr wrap="square">
            <a:spAutoFit/>
          </a:bodyPr>
          <a:lstStyle/>
          <a:p>
            <a:pPr>
              <a:defRPr sz="1100">
                <a:solidFill>
                  <a:srgbClr val="64748B"/>
                </a:solidFill>
              </a:defRPr>
            </a:pPr>
            <a:r>
              <a:t>When: Mature enterprise Azure landing zone already deployed.</a:t>
            </a:r>
          </a:p>
        </p:txBody>
      </p:sp>
      <p:sp>
        <p:nvSpPr>
          <p:cNvPr id="19" name="TextBox 18"/>
          <p:cNvSpPr txBox="1"/>
          <p:nvPr/>
        </p:nvSpPr>
        <p:spPr>
          <a:xfrm>
            <a:off x="4663440" y="3474720"/>
            <a:ext cx="2834640" cy="1554480"/>
          </a:xfrm>
          <a:prstGeom prst="rect">
            <a:avLst/>
          </a:prstGeom>
          <a:noFill/>
        </p:spPr>
        <p:txBody>
          <a:bodyPr wrap="square">
            <a:spAutoFit/>
          </a:bodyPr>
          <a:lstStyle/>
          <a:p>
            <a:pPr>
              <a:defRPr sz="1100" b="1">
                <a:solidFill>
                  <a:srgbClr val="0A192F"/>
                </a:solidFill>
              </a:defRPr>
            </a:pPr>
            <a:r>
              <a:t>Key Deliverables:</a:t>
            </a:r>
          </a:p>
          <a:p>
            <a:pPr>
              <a:defRPr sz="1000">
                <a:solidFill>
                  <a:srgbClr val="0F172A"/>
                </a:solidFill>
              </a:defRPr>
            </a:pPr>
            <a:r>
              <a:t>• Dedicated AI workload spoke VNet</a:t>
            </a:r>
          </a:p>
          <a:p>
            <a:pPr>
              <a:defRPr sz="1000">
                <a:solidFill>
                  <a:srgbClr val="0F172A"/>
                </a:solidFill>
              </a:defRPr>
            </a:pPr>
            <a:r>
              <a:t>• Private endpoints for Foundry &amp; models</a:t>
            </a:r>
          </a:p>
          <a:p>
            <a:pPr>
              <a:defRPr sz="1000">
                <a:solidFill>
                  <a:srgbClr val="0F172A"/>
                </a:solidFill>
              </a:defRPr>
            </a:pPr>
            <a:r>
              <a:t>• Automated CI/CD promotion pipelines</a:t>
            </a:r>
          </a:p>
        </p:txBody>
      </p:sp>
      <p:sp>
        <p:nvSpPr>
          <p:cNvPr id="20" name="Rounded Rectangle 19"/>
          <p:cNvSpPr/>
          <p:nvPr/>
        </p:nvSpPr>
        <p:spPr>
          <a:xfrm>
            <a:off x="8046720" y="137160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1600200"/>
            <a:ext cx="2834640" cy="274320"/>
          </a:xfrm>
          <a:prstGeom prst="rect">
            <a:avLst/>
          </a:prstGeom>
          <a:noFill/>
        </p:spPr>
        <p:txBody>
          <a:bodyPr wrap="none">
            <a:spAutoFit/>
          </a:bodyPr>
          <a:lstStyle/>
          <a:p>
            <a:pPr>
              <a:defRPr sz="900" b="1">
                <a:solidFill>
                  <a:srgbClr val="0A192F"/>
                </a:solidFill>
              </a:defRPr>
            </a:pPr>
            <a:r>
              <a:t>ROUTE 3 · 12 TO 20 WEEKS</a:t>
            </a:r>
          </a:p>
        </p:txBody>
      </p:sp>
      <p:sp>
        <p:nvSpPr>
          <p:cNvPr id="23" name="TextBox 22"/>
          <p:cNvSpPr txBox="1"/>
          <p:nvPr/>
        </p:nvSpPr>
        <p:spPr>
          <a:xfrm>
            <a:off x="8321040" y="1920240"/>
            <a:ext cx="2834640" cy="365760"/>
          </a:xfrm>
          <a:prstGeom prst="rect">
            <a:avLst/>
          </a:prstGeom>
          <a:noFill/>
        </p:spPr>
        <p:txBody>
          <a:bodyPr wrap="none">
            <a:spAutoFit/>
          </a:bodyPr>
          <a:lstStyle/>
          <a:p>
            <a:pPr>
              <a:defRPr sz="2000" b="1">
                <a:solidFill>
                  <a:srgbClr val="0A192F"/>
                </a:solidFill>
              </a:defRPr>
            </a:pPr>
            <a:r>
              <a:t>Establish Foundation</a:t>
            </a:r>
          </a:p>
        </p:txBody>
      </p:sp>
      <p:sp>
        <p:nvSpPr>
          <p:cNvPr id="24" name="TextBox 23"/>
          <p:cNvSpPr txBox="1"/>
          <p:nvPr/>
        </p:nvSpPr>
        <p:spPr>
          <a:xfrm>
            <a:off x="8321040" y="2331720"/>
            <a:ext cx="2834640" cy="320040"/>
          </a:xfrm>
          <a:prstGeom prst="rect">
            <a:avLst/>
          </a:prstGeom>
          <a:noFill/>
        </p:spPr>
        <p:txBody>
          <a:bodyPr wrap="none">
            <a:spAutoFit/>
          </a:bodyPr>
          <a:lstStyle/>
          <a:p>
            <a:pPr>
              <a:defRPr sz="1400" b="1">
                <a:solidFill>
                  <a:srgbClr val="0A192F"/>
                </a:solidFill>
              </a:defRPr>
            </a:pPr>
            <a:r>
              <a:t>140-220 Role Days</a:t>
            </a:r>
          </a:p>
        </p:txBody>
      </p:sp>
      <p:sp>
        <p:nvSpPr>
          <p:cNvPr id="25" name="TextBox 24"/>
          <p:cNvSpPr txBox="1"/>
          <p:nvPr/>
        </p:nvSpPr>
        <p:spPr>
          <a:xfrm>
            <a:off x="8321040" y="2743200"/>
            <a:ext cx="2834640" cy="594360"/>
          </a:xfrm>
          <a:prstGeom prst="rect">
            <a:avLst/>
          </a:prstGeom>
          <a:noFill/>
        </p:spPr>
        <p:txBody>
          <a:bodyPr wrap="square">
            <a:spAutoFit/>
          </a:bodyPr>
          <a:lstStyle/>
          <a:p>
            <a:pPr>
              <a:defRPr sz="1100">
                <a:solidFill>
                  <a:srgbClr val="64748B"/>
                </a:solidFill>
              </a:defRPr>
            </a:pPr>
            <a:r>
              <a:t>When: Greenfield tenant, legacy network, or missing cloud foundation.</a:t>
            </a:r>
          </a:p>
        </p:txBody>
      </p:sp>
      <p:sp>
        <p:nvSpPr>
          <p:cNvPr id="26" name="TextBox 25"/>
          <p:cNvSpPr txBox="1"/>
          <p:nvPr/>
        </p:nvSpPr>
        <p:spPr>
          <a:xfrm>
            <a:off x="8321040" y="3474720"/>
            <a:ext cx="2834640" cy="1554480"/>
          </a:xfrm>
          <a:prstGeom prst="rect">
            <a:avLst/>
          </a:prstGeom>
          <a:noFill/>
        </p:spPr>
        <p:txBody>
          <a:bodyPr wrap="square">
            <a:spAutoFit/>
          </a:bodyPr>
          <a:lstStyle/>
          <a:p>
            <a:pPr>
              <a:defRPr sz="1100" b="1">
                <a:solidFill>
                  <a:srgbClr val="0A192F"/>
                </a:solidFill>
              </a:defRPr>
            </a:pPr>
            <a:r>
              <a:t>Key Deliverables:</a:t>
            </a:r>
          </a:p>
          <a:p>
            <a:pPr>
              <a:defRPr sz="1000">
                <a:solidFill>
                  <a:srgbClr val="0F172A"/>
                </a:solidFill>
              </a:defRPr>
            </a:pPr>
            <a:r>
              <a:t>• Complete hub-spoke connectivity</a:t>
            </a:r>
          </a:p>
          <a:p>
            <a:pPr>
              <a:defRPr sz="1000">
                <a:solidFill>
                  <a:srgbClr val="0F172A"/>
                </a:solidFill>
              </a:defRPr>
            </a:pPr>
            <a:r>
              <a:t>• Management groups &amp; policy guardrails</a:t>
            </a:r>
          </a:p>
          <a:p>
            <a:pPr>
              <a:defRPr sz="1000">
                <a:solidFill>
                  <a:srgbClr val="0F172A"/>
                </a:solidFill>
              </a:defRPr>
            </a:pPr>
            <a:r>
              <a:t>• 2 environments (non-prod &amp; prod)</a:t>
            </a:r>
          </a:p>
        </p:txBody>
      </p:sp>
      <p:sp>
        <p:nvSpPr>
          <p:cNvPr id="27" name="Rounded Rectangle 26"/>
          <p:cNvSpPr/>
          <p:nvPr/>
        </p:nvSpPr>
        <p:spPr>
          <a:xfrm>
            <a:off x="731520" y="5440680"/>
            <a:ext cx="10698480" cy="777240"/>
          </a:xfrm>
          <a:prstGeom prst="roundRect">
            <a:avLst/>
          </a:prstGeom>
          <a:solidFill>
            <a:srgbClr val="F0FDFA"/>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00A389"/>
                </a:solidFill>
              </a:rPr>
              <a:t>OPERATIONAL TRANSITION TO RUN: </a:t>
            </a:r>
            <a:r>
              <a:rPr sz="1100">
                <a:solidFill>
                  <a:srgbClr val="0A192F"/>
                </a:solidFill>
              </a:rPr>
              <a:t>Every established landing zone seamlessly transitions to Offering 05 (Managed AI Platform Operations) upon formal workload acceptance, backed by tested runbooks and operational monitoring handoffs.</a:t>
            </a:r>
          </a:p>
        </p:txBody>
      </p:sp>
      <p:sp>
        <p:nvSpPr>
          <p:cNvPr id="28" name="TextBox 2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8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COMMERCIAL ECONOMICS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08</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Assess in 3 to 5 weeks; establish in 12 to 20 weeks</a:t>
            </a:r>
          </a:p>
        </p:txBody>
      </p:sp>
      <p:sp>
        <p:nvSpPr>
          <p:cNvPr id="6" name="Rounded Rectangle 5"/>
          <p:cNvSpPr/>
          <p:nvPr/>
        </p:nvSpPr>
        <p:spPr>
          <a:xfrm>
            <a:off x="731520" y="1280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PLANNING ESTIMATES · DERIVED FROM 88-ROLE-DAY BASELINE · ILLUSTRATIVE $1,000/DAY BLENDED RATE</a:t>
            </a:r>
          </a:p>
        </p:txBody>
      </p:sp>
      <p:sp>
        <p:nvSpPr>
          <p:cNvPr id="7" name="Rounded Rectangle 6"/>
          <p:cNvSpPr/>
          <p:nvPr/>
        </p:nvSpPr>
        <p:spPr>
          <a:xfrm>
            <a:off x="731520" y="1874519"/>
            <a:ext cx="338328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74519"/>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2834640" cy="274320"/>
          </a:xfrm>
          <a:prstGeom prst="rect">
            <a:avLst/>
          </a:prstGeom>
          <a:noFill/>
        </p:spPr>
        <p:txBody>
          <a:bodyPr wrap="none">
            <a:spAutoFit/>
          </a:bodyPr>
          <a:lstStyle/>
          <a:p>
            <a:pPr>
              <a:defRPr sz="1000" b="1">
                <a:solidFill>
                  <a:srgbClr val="0078D4"/>
                </a:solidFill>
              </a:defRPr>
            </a:pPr>
            <a:r>
              <a:t>PACKAGE 1: ASSESS</a:t>
            </a:r>
          </a:p>
        </p:txBody>
      </p:sp>
      <p:sp>
        <p:nvSpPr>
          <p:cNvPr id="10" name="TextBox 9"/>
          <p:cNvSpPr txBox="1"/>
          <p:nvPr/>
        </p:nvSpPr>
        <p:spPr>
          <a:xfrm>
            <a:off x="1005840" y="2468880"/>
            <a:ext cx="2834640" cy="548640"/>
          </a:xfrm>
          <a:prstGeom prst="rect">
            <a:avLst/>
          </a:prstGeom>
          <a:noFill/>
        </p:spPr>
        <p:txBody>
          <a:bodyPr wrap="none">
            <a:spAutoFit/>
          </a:bodyPr>
          <a:lstStyle/>
          <a:p>
            <a:pPr>
              <a:defRPr sz="2800" b="1">
                <a:solidFill>
                  <a:srgbClr val="0A192F"/>
                </a:solidFill>
              </a:defRPr>
            </a:pPr>
            <a:r>
              <a:t>$25k to $40k</a:t>
            </a:r>
          </a:p>
        </p:txBody>
      </p:sp>
      <p:sp>
        <p:nvSpPr>
          <p:cNvPr id="11" name="TextBox 10"/>
          <p:cNvSpPr txBox="1"/>
          <p:nvPr/>
        </p:nvSpPr>
        <p:spPr>
          <a:xfrm>
            <a:off x="1005840" y="3063240"/>
            <a:ext cx="2834640" cy="457200"/>
          </a:xfrm>
          <a:prstGeom prst="rect">
            <a:avLst/>
          </a:prstGeom>
          <a:noFill/>
        </p:spPr>
        <p:txBody>
          <a:bodyPr wrap="none">
            <a:spAutoFit/>
          </a:bodyPr>
          <a:lstStyle/>
          <a:p>
            <a:pPr>
              <a:defRPr sz="1100" b="1">
                <a:solidFill>
                  <a:srgbClr val="0F172A"/>
                </a:solidFill>
              </a:defRPr>
            </a:pPr>
            <a:r>
              <a:t>25 to 40 Role Days · 3 to 5 Weeks Elapsed</a:t>
            </a:r>
          </a:p>
        </p:txBody>
      </p:sp>
      <p:sp>
        <p:nvSpPr>
          <p:cNvPr id="12" name="TextBox 11"/>
          <p:cNvSpPr txBox="1"/>
          <p:nvPr/>
        </p:nvSpPr>
        <p:spPr>
          <a:xfrm>
            <a:off x="1005840" y="3611880"/>
            <a:ext cx="2834640" cy="1645920"/>
          </a:xfrm>
          <a:prstGeom prst="rect">
            <a:avLst/>
          </a:prstGeom>
          <a:noFill/>
        </p:spPr>
        <p:txBody>
          <a:bodyPr wrap="square">
            <a:spAutoFit/>
          </a:bodyPr>
          <a:lstStyle/>
          <a:p>
            <a:pPr>
              <a:defRPr sz="1100" b="1">
                <a:solidFill>
                  <a:srgbClr val="0A192F"/>
                </a:solidFill>
              </a:defRPr>
            </a:pPr>
            <a:r>
              <a:t>Scope Delivered:</a:t>
            </a:r>
          </a:p>
          <a:p>
            <a:pPr>
              <a:defRPr sz="1000">
                <a:solidFill>
                  <a:srgbClr val="64748B"/>
                </a:solidFill>
              </a:defRPr>
            </a:pPr>
            <a:r>
              <a:t>• Network readiness &amp; DNS review</a:t>
            </a:r>
          </a:p>
          <a:p>
            <a:pPr>
              <a:defRPr sz="1000">
                <a:solidFill>
                  <a:srgbClr val="64748B"/>
                </a:solidFill>
              </a:defRPr>
            </a:pPr>
            <a:r>
              <a:t>• Security &amp; compliance gap analysis</a:t>
            </a:r>
          </a:p>
          <a:p>
            <a:pPr>
              <a:defRPr sz="1000">
                <a:solidFill>
                  <a:srgbClr val="64748B"/>
                </a:solidFill>
              </a:defRPr>
            </a:pPr>
            <a:r>
              <a:t>• Quota verification &amp; BOM sizing</a:t>
            </a:r>
          </a:p>
        </p:txBody>
      </p:sp>
      <p:sp>
        <p:nvSpPr>
          <p:cNvPr id="13" name="Rounded Rectangle 12"/>
          <p:cNvSpPr/>
          <p:nvPr/>
        </p:nvSpPr>
        <p:spPr>
          <a:xfrm>
            <a:off x="4389120" y="1874519"/>
            <a:ext cx="338328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874519"/>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103120"/>
            <a:ext cx="2834640" cy="274320"/>
          </a:xfrm>
          <a:prstGeom prst="rect">
            <a:avLst/>
          </a:prstGeom>
          <a:noFill/>
        </p:spPr>
        <p:txBody>
          <a:bodyPr wrap="none">
            <a:spAutoFit/>
          </a:bodyPr>
          <a:lstStyle/>
          <a:p>
            <a:pPr>
              <a:defRPr sz="1000" b="1">
                <a:solidFill>
                  <a:srgbClr val="00A389"/>
                </a:solidFill>
              </a:defRPr>
            </a:pPr>
            <a:r>
              <a:t>PACKAGE 2: EXTEND</a:t>
            </a:r>
          </a:p>
        </p:txBody>
      </p:sp>
      <p:sp>
        <p:nvSpPr>
          <p:cNvPr id="16" name="TextBox 15"/>
          <p:cNvSpPr txBox="1"/>
          <p:nvPr/>
        </p:nvSpPr>
        <p:spPr>
          <a:xfrm>
            <a:off x="4663440" y="2468880"/>
            <a:ext cx="2834640" cy="548640"/>
          </a:xfrm>
          <a:prstGeom prst="rect">
            <a:avLst/>
          </a:prstGeom>
          <a:noFill/>
        </p:spPr>
        <p:txBody>
          <a:bodyPr wrap="none">
            <a:spAutoFit/>
          </a:bodyPr>
          <a:lstStyle/>
          <a:p>
            <a:pPr>
              <a:defRPr sz="2800" b="1">
                <a:solidFill>
                  <a:srgbClr val="0A192F"/>
                </a:solidFill>
              </a:defRPr>
            </a:pPr>
            <a:r>
              <a:t>$70k to $110k</a:t>
            </a:r>
          </a:p>
        </p:txBody>
      </p:sp>
      <p:sp>
        <p:nvSpPr>
          <p:cNvPr id="17" name="TextBox 16"/>
          <p:cNvSpPr txBox="1"/>
          <p:nvPr/>
        </p:nvSpPr>
        <p:spPr>
          <a:xfrm>
            <a:off x="4663440" y="3063240"/>
            <a:ext cx="2834640" cy="457200"/>
          </a:xfrm>
          <a:prstGeom prst="rect">
            <a:avLst/>
          </a:prstGeom>
          <a:noFill/>
        </p:spPr>
        <p:txBody>
          <a:bodyPr wrap="none">
            <a:spAutoFit/>
          </a:bodyPr>
          <a:lstStyle/>
          <a:p>
            <a:pPr>
              <a:defRPr sz="1100" b="1">
                <a:solidFill>
                  <a:srgbClr val="0F172A"/>
                </a:solidFill>
              </a:defRPr>
            </a:pPr>
            <a:r>
              <a:t>70 to 110 Role Days · 7 to 11 Weeks Elapsed</a:t>
            </a:r>
          </a:p>
        </p:txBody>
      </p:sp>
      <p:sp>
        <p:nvSpPr>
          <p:cNvPr id="18" name="TextBox 17"/>
          <p:cNvSpPr txBox="1"/>
          <p:nvPr/>
        </p:nvSpPr>
        <p:spPr>
          <a:xfrm>
            <a:off x="4663440" y="3611880"/>
            <a:ext cx="2834640" cy="1645920"/>
          </a:xfrm>
          <a:prstGeom prst="rect">
            <a:avLst/>
          </a:prstGeom>
          <a:noFill/>
        </p:spPr>
        <p:txBody>
          <a:bodyPr wrap="square">
            <a:spAutoFit/>
          </a:bodyPr>
          <a:lstStyle/>
          <a:p>
            <a:pPr>
              <a:defRPr sz="1100" b="1">
                <a:solidFill>
                  <a:srgbClr val="0A192F"/>
                </a:solidFill>
              </a:defRPr>
            </a:pPr>
            <a:r>
              <a:t>Scope Delivered:</a:t>
            </a:r>
          </a:p>
          <a:p>
            <a:pPr>
              <a:defRPr sz="1000">
                <a:solidFill>
                  <a:srgbClr val="64748B"/>
                </a:solidFill>
              </a:defRPr>
            </a:pPr>
            <a:r>
              <a:t>• Workload spoke VNet deployment</a:t>
            </a:r>
          </a:p>
          <a:p>
            <a:pPr>
              <a:defRPr sz="1000">
                <a:solidFill>
                  <a:srgbClr val="64748B"/>
                </a:solidFill>
              </a:defRPr>
            </a:pPr>
            <a:r>
              <a:t>• Private endpoints for Foundry &amp; models</a:t>
            </a:r>
          </a:p>
          <a:p>
            <a:pPr>
              <a:defRPr sz="1000">
                <a:solidFill>
                  <a:srgbClr val="64748B"/>
                </a:solidFill>
              </a:defRPr>
            </a:pPr>
            <a:r>
              <a:t>• Terraform / Bicep CI/CD promotion</a:t>
            </a:r>
          </a:p>
        </p:txBody>
      </p:sp>
      <p:sp>
        <p:nvSpPr>
          <p:cNvPr id="19" name="Rounded Rectangle 18"/>
          <p:cNvSpPr/>
          <p:nvPr/>
        </p:nvSpPr>
        <p:spPr>
          <a:xfrm>
            <a:off x="8046720" y="1874519"/>
            <a:ext cx="338328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874519"/>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2103120"/>
            <a:ext cx="2834640" cy="274320"/>
          </a:xfrm>
          <a:prstGeom prst="rect">
            <a:avLst/>
          </a:prstGeom>
          <a:noFill/>
        </p:spPr>
        <p:txBody>
          <a:bodyPr wrap="none">
            <a:spAutoFit/>
          </a:bodyPr>
          <a:lstStyle/>
          <a:p>
            <a:pPr>
              <a:defRPr sz="1000" b="1">
                <a:solidFill>
                  <a:srgbClr val="0A192F"/>
                </a:solidFill>
              </a:defRPr>
            </a:pPr>
            <a:r>
              <a:t>PACKAGE 3: ESTABLISH</a:t>
            </a:r>
          </a:p>
        </p:txBody>
      </p:sp>
      <p:sp>
        <p:nvSpPr>
          <p:cNvPr id="22" name="TextBox 21"/>
          <p:cNvSpPr txBox="1"/>
          <p:nvPr/>
        </p:nvSpPr>
        <p:spPr>
          <a:xfrm>
            <a:off x="8321040" y="2468880"/>
            <a:ext cx="2834640" cy="548640"/>
          </a:xfrm>
          <a:prstGeom prst="rect">
            <a:avLst/>
          </a:prstGeom>
          <a:noFill/>
        </p:spPr>
        <p:txBody>
          <a:bodyPr wrap="none">
            <a:spAutoFit/>
          </a:bodyPr>
          <a:lstStyle/>
          <a:p>
            <a:pPr>
              <a:defRPr sz="2800" b="1">
                <a:solidFill>
                  <a:srgbClr val="0A192F"/>
                </a:solidFill>
              </a:defRPr>
            </a:pPr>
            <a:r>
              <a:t>$140k to $220k</a:t>
            </a:r>
          </a:p>
        </p:txBody>
      </p:sp>
      <p:sp>
        <p:nvSpPr>
          <p:cNvPr id="23" name="TextBox 22"/>
          <p:cNvSpPr txBox="1"/>
          <p:nvPr/>
        </p:nvSpPr>
        <p:spPr>
          <a:xfrm>
            <a:off x="8321040" y="3063240"/>
            <a:ext cx="2834640" cy="457200"/>
          </a:xfrm>
          <a:prstGeom prst="rect">
            <a:avLst/>
          </a:prstGeom>
          <a:noFill/>
        </p:spPr>
        <p:txBody>
          <a:bodyPr wrap="none">
            <a:spAutoFit/>
          </a:bodyPr>
          <a:lstStyle/>
          <a:p>
            <a:pPr>
              <a:defRPr sz="1100" b="1">
                <a:solidFill>
                  <a:srgbClr val="0F172A"/>
                </a:solidFill>
              </a:defRPr>
            </a:pPr>
            <a:r>
              <a:t>140 to 220 Role Days · 12 to 20 Weeks Elapsed</a:t>
            </a:r>
          </a:p>
        </p:txBody>
      </p:sp>
      <p:sp>
        <p:nvSpPr>
          <p:cNvPr id="24" name="TextBox 23"/>
          <p:cNvSpPr txBox="1"/>
          <p:nvPr/>
        </p:nvSpPr>
        <p:spPr>
          <a:xfrm>
            <a:off x="8321040" y="3611880"/>
            <a:ext cx="2834640" cy="1645920"/>
          </a:xfrm>
          <a:prstGeom prst="rect">
            <a:avLst/>
          </a:prstGeom>
          <a:noFill/>
        </p:spPr>
        <p:txBody>
          <a:bodyPr wrap="square">
            <a:spAutoFit/>
          </a:bodyPr>
          <a:lstStyle/>
          <a:p>
            <a:pPr>
              <a:defRPr sz="1100" b="1">
                <a:solidFill>
                  <a:srgbClr val="0A192F"/>
                </a:solidFill>
              </a:defRPr>
            </a:pPr>
            <a:r>
              <a:t>Scope Delivered:</a:t>
            </a:r>
          </a:p>
          <a:p>
            <a:pPr>
              <a:defRPr sz="1000">
                <a:solidFill>
                  <a:srgbClr val="64748B"/>
                </a:solidFill>
              </a:defRPr>
            </a:pPr>
            <a:r>
              <a:t>• Greenfield Azure platform foundation</a:t>
            </a:r>
          </a:p>
          <a:p>
            <a:pPr>
              <a:defRPr sz="1000">
                <a:solidFill>
                  <a:srgbClr val="64748B"/>
                </a:solidFill>
              </a:defRPr>
            </a:pPr>
            <a:r>
              <a:t>• Hub VNet, Firewall &amp; DNS resolver</a:t>
            </a:r>
          </a:p>
          <a:p>
            <a:pPr>
              <a:defRPr sz="1000">
                <a:solidFill>
                  <a:srgbClr val="64748B"/>
                </a:solidFill>
              </a:defRPr>
            </a:pPr>
            <a:r>
              <a:t>• Management groups, policy &amp; 2 envs</a:t>
            </a:r>
          </a:p>
        </p:txBody>
      </p:sp>
      <p:sp>
        <p:nvSpPr>
          <p:cNvPr id="25" name="Rounded Rectangle 24"/>
          <p:cNvSpPr/>
          <p:nvPr/>
        </p:nvSpPr>
        <p:spPr>
          <a:xfrm>
            <a:off x="731520" y="5623560"/>
            <a:ext cx="106984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A192F"/>
                </a:solidFill>
              </a:defRPr>
            </a:pPr>
            <a:r>
              <a:t>COST DRIVERS: Multi-region active-active DNS, custom data store connectors, and strict sovereign data boundaries shift delivery effort toward the high end of each range.</a:t>
            </a:r>
          </a:p>
        </p:txBody>
      </p:sp>
      <p:sp>
        <p:nvSpPr>
          <p:cNvPr id="26" name="TextBox 25"/>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9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RISK MANAGEMENT</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09</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Access, capacity and ownership decide success</a:t>
            </a:r>
          </a:p>
        </p:txBody>
      </p:sp>
      <p:sp>
        <p:nvSpPr>
          <p:cNvPr id="6" name="Rounded Rectangle 5"/>
          <p:cNvSpPr/>
          <p:nvPr/>
        </p:nvSpPr>
        <p:spPr>
          <a:xfrm>
            <a:off x="731520" y="146304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52120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64592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9" name="TextBox 8"/>
          <p:cNvSpPr txBox="1"/>
          <p:nvPr/>
        </p:nvSpPr>
        <p:spPr>
          <a:xfrm>
            <a:off x="1508760" y="1600200"/>
            <a:ext cx="4206240" cy="320040"/>
          </a:xfrm>
          <a:prstGeom prst="rect">
            <a:avLst/>
          </a:prstGeom>
          <a:noFill/>
        </p:spPr>
        <p:txBody>
          <a:bodyPr wrap="none">
            <a:spAutoFit/>
          </a:bodyPr>
          <a:lstStyle/>
          <a:p>
            <a:pPr>
              <a:defRPr sz="1400" b="1">
                <a:solidFill>
                  <a:srgbClr val="0A192F"/>
                </a:solidFill>
              </a:defRPr>
            </a:pPr>
            <a:r>
              <a:t>Unfunded Platform Risk</a:t>
            </a:r>
          </a:p>
        </p:txBody>
      </p:sp>
      <p:sp>
        <p:nvSpPr>
          <p:cNvPr id="10" name="TextBox 9"/>
          <p:cNvSpPr txBox="1"/>
          <p:nvPr/>
        </p:nvSpPr>
        <p:spPr>
          <a:xfrm>
            <a:off x="960120" y="2103120"/>
            <a:ext cx="4754880" cy="1188720"/>
          </a:xfrm>
          <a:prstGeom prst="rect">
            <a:avLst/>
          </a:prstGeom>
          <a:noFill/>
        </p:spPr>
        <p:txBody>
          <a:bodyPr wrap="square">
            <a:spAutoFit/>
          </a:bodyPr>
          <a:lstStyle/>
          <a:p>
            <a:pPr>
              <a:defRPr sz="1100">
                <a:solidFill>
                  <a:srgbClr val="0F172A"/>
                </a:solidFill>
              </a:defRPr>
            </a:pPr>
            <a:r>
              <a:t>Selling platform landing zones with no funded AI workload creates shelfware.</a:t>
            </a:r>
          </a:p>
          <a:p>
            <a:pPr>
              <a:spcBef>
                <a:spcPts val="400"/>
              </a:spcBef>
              <a:defRPr sz="1100" b="1">
                <a:solidFill>
                  <a:srgbClr val="D97706"/>
                </a:solidFill>
              </a:defRPr>
            </a:pPr>
            <a:r>
              <a:t>MITIGATION: Sell only against a funded business pilot with committed executive sponsorship.</a:t>
            </a:r>
          </a:p>
          <a:p>
            <a:pPr>
              <a:defRPr sz="1000">
                <a:solidFill>
                  <a:srgbClr val="64748B"/>
                </a:solidFill>
              </a:defRPr>
            </a:pPr>
            <a:r>
              <a:t>Owner: Account Lead</a:t>
            </a:r>
          </a:p>
        </p:txBody>
      </p:sp>
      <p:sp>
        <p:nvSpPr>
          <p:cNvPr id="11" name="Rounded Rectangle 10"/>
          <p:cNvSpPr/>
          <p:nvPr/>
        </p:nvSpPr>
        <p:spPr>
          <a:xfrm>
            <a:off x="6217920" y="146304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63040"/>
            <a:ext cx="52120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164592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14" name="TextBox 13"/>
          <p:cNvSpPr txBox="1"/>
          <p:nvPr/>
        </p:nvSpPr>
        <p:spPr>
          <a:xfrm>
            <a:off x="6995160" y="1600200"/>
            <a:ext cx="4206240" cy="320040"/>
          </a:xfrm>
          <a:prstGeom prst="rect">
            <a:avLst/>
          </a:prstGeom>
          <a:noFill/>
        </p:spPr>
        <p:txBody>
          <a:bodyPr wrap="none">
            <a:spAutoFit/>
          </a:bodyPr>
          <a:lstStyle/>
          <a:p>
            <a:pPr>
              <a:defRPr sz="1400" b="1">
                <a:solidFill>
                  <a:srgbClr val="0A192F"/>
                </a:solidFill>
              </a:defRPr>
            </a:pPr>
            <a:r>
              <a:t>Regional Quota &amp; Capacity</a:t>
            </a:r>
          </a:p>
        </p:txBody>
      </p:sp>
      <p:sp>
        <p:nvSpPr>
          <p:cNvPr id="15" name="TextBox 14"/>
          <p:cNvSpPr txBox="1"/>
          <p:nvPr/>
        </p:nvSpPr>
        <p:spPr>
          <a:xfrm>
            <a:off x="6446520" y="2103120"/>
            <a:ext cx="4754880" cy="1188720"/>
          </a:xfrm>
          <a:prstGeom prst="rect">
            <a:avLst/>
          </a:prstGeom>
          <a:noFill/>
        </p:spPr>
        <p:txBody>
          <a:bodyPr wrap="square">
            <a:spAutoFit/>
          </a:bodyPr>
          <a:lstStyle/>
          <a:p>
            <a:pPr>
              <a:defRPr sz="1100">
                <a:solidFill>
                  <a:srgbClr val="0F172A"/>
                </a:solidFill>
              </a:defRPr>
            </a:pPr>
            <a:r>
              <a:t>Landing zone deployed but required AI model quota or PTU capacity is unavailable.</a:t>
            </a:r>
          </a:p>
          <a:p>
            <a:pPr>
              <a:spcBef>
                <a:spcPts val="400"/>
              </a:spcBef>
              <a:defRPr sz="1100" b="1">
                <a:solidFill>
                  <a:srgbClr val="D83B01"/>
                </a:solidFill>
              </a:defRPr>
            </a:pPr>
            <a:r>
              <a:t>MITIGATION: Pre-validate subscription quota and regional capacity before SOW signature.</a:t>
            </a:r>
          </a:p>
          <a:p>
            <a:pPr>
              <a:defRPr sz="1000">
                <a:solidFill>
                  <a:srgbClr val="64748B"/>
                </a:solidFill>
              </a:defRPr>
            </a:pPr>
            <a:r>
              <a:t>Owner: Cloud Architect</a:t>
            </a:r>
          </a:p>
        </p:txBody>
      </p:sp>
      <p:sp>
        <p:nvSpPr>
          <p:cNvPr id="16" name="Rounded Rectangle 15"/>
          <p:cNvSpPr/>
          <p:nvPr/>
        </p:nvSpPr>
        <p:spPr>
          <a:xfrm>
            <a:off x="731520" y="356616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566160"/>
            <a:ext cx="52120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4904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19" name="TextBox 18"/>
          <p:cNvSpPr txBox="1"/>
          <p:nvPr/>
        </p:nvSpPr>
        <p:spPr>
          <a:xfrm>
            <a:off x="1508760" y="3703320"/>
            <a:ext cx="4206240" cy="320040"/>
          </a:xfrm>
          <a:prstGeom prst="rect">
            <a:avLst/>
          </a:prstGeom>
          <a:noFill/>
        </p:spPr>
        <p:txBody>
          <a:bodyPr wrap="none">
            <a:spAutoFit/>
          </a:bodyPr>
          <a:lstStyle/>
          <a:p>
            <a:pPr>
              <a:defRPr sz="1400" b="1">
                <a:solidFill>
                  <a:srgbClr val="0A192F"/>
                </a:solidFill>
              </a:defRPr>
            </a:pPr>
            <a:r>
              <a:t>Cross-Tower Delivery Friction</a:t>
            </a:r>
          </a:p>
        </p:txBody>
      </p:sp>
      <p:sp>
        <p:nvSpPr>
          <p:cNvPr id="20" name="TextBox 19"/>
          <p:cNvSpPr txBox="1"/>
          <p:nvPr/>
        </p:nvSpPr>
        <p:spPr>
          <a:xfrm>
            <a:off x="960120" y="4206240"/>
            <a:ext cx="4754880" cy="1188720"/>
          </a:xfrm>
          <a:prstGeom prst="rect">
            <a:avLst/>
          </a:prstGeom>
          <a:noFill/>
        </p:spPr>
        <p:txBody>
          <a:bodyPr wrap="square">
            <a:spAutoFit/>
          </a:bodyPr>
          <a:lstStyle/>
          <a:p>
            <a:pPr>
              <a:defRPr sz="1100">
                <a:solidFill>
                  <a:srgbClr val="0F172A"/>
                </a:solidFill>
              </a:defRPr>
            </a:pPr>
            <a:r>
              <a:t>Delivery slips due to unagreed handoffs between Infra, Security, and DevOps towers.</a:t>
            </a:r>
          </a:p>
          <a:p>
            <a:pPr>
              <a:spcBef>
                <a:spcPts val="400"/>
              </a:spcBef>
              <a:defRPr sz="1100" b="1">
                <a:solidFill>
                  <a:srgbClr val="0078D4"/>
                </a:solidFill>
              </a:defRPr>
            </a:pPr>
            <a:r>
              <a:t>MITIGATION: Formal internal OLAs and pre-packaged work boundaries signed before kickoff.</a:t>
            </a:r>
          </a:p>
          <a:p>
            <a:pPr>
              <a:defRPr sz="1000">
                <a:solidFill>
                  <a:srgbClr val="64748B"/>
                </a:solidFill>
              </a:defRPr>
            </a:pPr>
            <a:r>
              <a:t>Owner: CIS Delivery Lead</a:t>
            </a:r>
          </a:p>
        </p:txBody>
      </p:sp>
      <p:sp>
        <p:nvSpPr>
          <p:cNvPr id="21" name="Rounded Rectangle 20"/>
          <p:cNvSpPr/>
          <p:nvPr/>
        </p:nvSpPr>
        <p:spPr>
          <a:xfrm>
            <a:off x="6217920" y="356616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566160"/>
            <a:ext cx="52120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46520" y="374904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24" name="TextBox 23"/>
          <p:cNvSpPr txBox="1"/>
          <p:nvPr/>
        </p:nvSpPr>
        <p:spPr>
          <a:xfrm>
            <a:off x="6995160" y="3703320"/>
            <a:ext cx="4206240" cy="320040"/>
          </a:xfrm>
          <a:prstGeom prst="rect">
            <a:avLst/>
          </a:prstGeom>
          <a:noFill/>
        </p:spPr>
        <p:txBody>
          <a:bodyPr wrap="none">
            <a:spAutoFit/>
          </a:bodyPr>
          <a:lstStyle/>
          <a:p>
            <a:pPr>
              <a:defRPr sz="1400" b="1">
                <a:solidFill>
                  <a:srgbClr val="0A192F"/>
                </a:solidFill>
              </a:defRPr>
            </a:pPr>
            <a:r>
              <a:t>Customer CAB &amp; Access Delays</a:t>
            </a:r>
          </a:p>
        </p:txBody>
      </p:sp>
      <p:sp>
        <p:nvSpPr>
          <p:cNvPr id="25" name="TextBox 24"/>
          <p:cNvSpPr txBox="1"/>
          <p:nvPr/>
        </p:nvSpPr>
        <p:spPr>
          <a:xfrm>
            <a:off x="6446520" y="4206240"/>
            <a:ext cx="4754880" cy="1188720"/>
          </a:xfrm>
          <a:prstGeom prst="rect">
            <a:avLst/>
          </a:prstGeom>
          <a:noFill/>
        </p:spPr>
        <p:txBody>
          <a:bodyPr wrap="square">
            <a:spAutoFit/>
          </a:bodyPr>
          <a:lstStyle/>
          <a:p>
            <a:pPr>
              <a:defRPr sz="1100">
                <a:solidFill>
                  <a:srgbClr val="0F172A"/>
                </a:solidFill>
              </a:defRPr>
            </a:pPr>
            <a:r>
              <a:t>Firewall changes and PIM approvals delayed in customer CAB review windows.</a:t>
            </a:r>
          </a:p>
          <a:p>
            <a:pPr>
              <a:spcBef>
                <a:spcPts val="400"/>
              </a:spcBef>
              <a:defRPr sz="1100" b="1">
                <a:solidFill>
                  <a:srgbClr val="00A389"/>
                </a:solidFill>
              </a:defRPr>
            </a:pPr>
            <a:r>
              <a:t>MITIGATION: Agree on pre-scheduled change windows and customer technical prerequisites.</a:t>
            </a:r>
          </a:p>
          <a:p>
            <a:pPr>
              <a:defRPr sz="1000">
                <a:solidFill>
                  <a:srgbClr val="64748B"/>
                </a:solidFill>
              </a:defRPr>
            </a:pPr>
            <a:r>
              <a:t>Owner: Project Manager</a:t>
            </a:r>
          </a:p>
        </p:txBody>
      </p:sp>
      <p:sp>
        <p:nvSpPr>
          <p:cNvPr id="26" name="Rounded Rectangle 25"/>
          <p:cNvSpPr/>
          <p:nvPr/>
        </p:nvSpPr>
        <p:spPr>
          <a:xfrm>
            <a:off x="731520" y="5669280"/>
            <a:ext cx="10698480" cy="5486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A192F"/>
                </a:solidFill>
              </a:defRPr>
            </a:pPr>
            <a:r>
              <a:t>GOVERNANCE PRINCIPLE: Zero unmanaged risks. Every identified blocker has a named mitigation approach and assigned owner prior to customer proposal sign-off.</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10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DECISION &amp; NEXT STEPS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10</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Success is a reproducible build; choose the route today</a:t>
            </a:r>
          </a:p>
        </p:txBody>
      </p:sp>
      <p:sp>
        <p:nvSpPr>
          <p:cNvPr id="6" name="Rounded Rectangle 5"/>
          <p:cNvSpPr/>
          <p:nvPr/>
        </p:nvSpPr>
        <p:spPr>
          <a:xfrm>
            <a:off x="731520" y="1371600"/>
            <a:ext cx="20116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0116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08760"/>
            <a:ext cx="1737360" cy="1645920"/>
          </a:xfrm>
          <a:prstGeom prst="rect">
            <a:avLst/>
          </a:prstGeom>
          <a:noFill/>
        </p:spPr>
        <p:txBody>
          <a:bodyPr wrap="square">
            <a:spAutoFit/>
          </a:bodyPr>
          <a:lstStyle/>
          <a:p>
            <a:pPr>
              <a:defRPr sz="1200" b="1">
                <a:solidFill>
                  <a:srgbClr val="00A389"/>
                </a:solidFill>
              </a:defRPr>
            </a:pPr>
            <a:r>
              <a:t>1. Code-First</a:t>
            </a:r>
          </a:p>
          <a:p>
            <a:pPr>
              <a:spcBef>
                <a:spcPts val="400"/>
              </a:spcBef>
              <a:defRPr sz="1000">
                <a:solidFill>
                  <a:srgbClr val="0F172A"/>
                </a:solidFill>
              </a:defRPr>
            </a:pPr>
            <a:r>
              <a:t>Automated Terraform passes clean build with zero portal clicks.</a:t>
            </a:r>
          </a:p>
        </p:txBody>
      </p:sp>
      <p:sp>
        <p:nvSpPr>
          <p:cNvPr id="9" name="Rounded Rectangle 8"/>
          <p:cNvSpPr/>
          <p:nvPr/>
        </p:nvSpPr>
        <p:spPr>
          <a:xfrm>
            <a:off x="2926080" y="1371600"/>
            <a:ext cx="20116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371600"/>
            <a:ext cx="20116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1508760"/>
            <a:ext cx="1737360" cy="1645920"/>
          </a:xfrm>
          <a:prstGeom prst="rect">
            <a:avLst/>
          </a:prstGeom>
          <a:noFill/>
        </p:spPr>
        <p:txBody>
          <a:bodyPr wrap="square">
            <a:spAutoFit/>
          </a:bodyPr>
          <a:lstStyle/>
          <a:p>
            <a:pPr>
              <a:defRPr sz="1200" b="1">
                <a:solidFill>
                  <a:srgbClr val="00A389"/>
                </a:solidFill>
              </a:defRPr>
            </a:pPr>
            <a:r>
              <a:t>2. Zero Public IP</a:t>
            </a:r>
          </a:p>
          <a:p>
            <a:pPr>
              <a:spcBef>
                <a:spcPts val="400"/>
              </a:spcBef>
              <a:defRPr sz="1000">
                <a:solidFill>
                  <a:srgbClr val="0F172A"/>
                </a:solidFill>
              </a:defRPr>
            </a:pPr>
            <a:r>
              <a:t>100% private endpoint traffic verified across all AI resources.</a:t>
            </a:r>
          </a:p>
        </p:txBody>
      </p:sp>
      <p:sp>
        <p:nvSpPr>
          <p:cNvPr id="12" name="Rounded Rectangle 11"/>
          <p:cNvSpPr/>
          <p:nvPr/>
        </p:nvSpPr>
        <p:spPr>
          <a:xfrm>
            <a:off x="5120640" y="1371600"/>
            <a:ext cx="20116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20640" y="1371600"/>
            <a:ext cx="20116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1508760"/>
            <a:ext cx="1737360" cy="1645920"/>
          </a:xfrm>
          <a:prstGeom prst="rect">
            <a:avLst/>
          </a:prstGeom>
          <a:noFill/>
        </p:spPr>
        <p:txBody>
          <a:bodyPr wrap="square">
            <a:spAutoFit/>
          </a:bodyPr>
          <a:lstStyle/>
          <a:p>
            <a:pPr>
              <a:defRPr sz="1200" b="1">
                <a:solidFill>
                  <a:srgbClr val="00A389"/>
                </a:solidFill>
              </a:defRPr>
            </a:pPr>
            <a:r>
              <a:t>3. Access Deny</a:t>
            </a:r>
          </a:p>
          <a:p>
            <a:pPr>
              <a:spcBef>
                <a:spcPts val="400"/>
              </a:spcBef>
              <a:defRPr sz="1000">
                <a:solidFill>
                  <a:srgbClr val="0F172A"/>
                </a:solidFill>
              </a:defRPr>
            </a:pPr>
            <a:r>
              <a:t>Deny-unknown-caller access test succeeds on model &amp; data stores.</a:t>
            </a:r>
          </a:p>
        </p:txBody>
      </p:sp>
      <p:sp>
        <p:nvSpPr>
          <p:cNvPr id="15" name="Rounded Rectangle 14"/>
          <p:cNvSpPr/>
          <p:nvPr/>
        </p:nvSpPr>
        <p:spPr>
          <a:xfrm>
            <a:off x="7315199" y="1371600"/>
            <a:ext cx="20116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199" y="1371600"/>
            <a:ext cx="20116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59" y="1508760"/>
            <a:ext cx="1737360" cy="1645920"/>
          </a:xfrm>
          <a:prstGeom prst="rect">
            <a:avLst/>
          </a:prstGeom>
          <a:noFill/>
        </p:spPr>
        <p:txBody>
          <a:bodyPr wrap="square">
            <a:spAutoFit/>
          </a:bodyPr>
          <a:lstStyle/>
          <a:p>
            <a:pPr>
              <a:defRPr sz="1200" b="1">
                <a:solidFill>
                  <a:srgbClr val="00A389"/>
                </a:solidFill>
              </a:defRPr>
            </a:pPr>
            <a:r>
              <a:t>4. Budget Alerts</a:t>
            </a:r>
          </a:p>
          <a:p>
            <a:pPr>
              <a:spcBef>
                <a:spcPts val="400"/>
              </a:spcBef>
              <a:defRPr sz="1000">
                <a:solidFill>
                  <a:srgbClr val="0F172A"/>
                </a:solidFill>
              </a:defRPr>
            </a:pPr>
            <a:r>
              <a:t>Automated cost anomaly alerts trigger into Log Analytics.</a:t>
            </a:r>
          </a:p>
        </p:txBody>
      </p:sp>
      <p:sp>
        <p:nvSpPr>
          <p:cNvPr id="18" name="Rounded Rectangle 17"/>
          <p:cNvSpPr/>
          <p:nvPr/>
        </p:nvSpPr>
        <p:spPr>
          <a:xfrm>
            <a:off x="9509760" y="1371600"/>
            <a:ext cx="20116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09760" y="1371600"/>
            <a:ext cx="20116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46920" y="1508760"/>
            <a:ext cx="1737360" cy="1645920"/>
          </a:xfrm>
          <a:prstGeom prst="rect">
            <a:avLst/>
          </a:prstGeom>
          <a:noFill/>
        </p:spPr>
        <p:txBody>
          <a:bodyPr wrap="square">
            <a:spAutoFit/>
          </a:bodyPr>
          <a:lstStyle/>
          <a:p>
            <a:pPr>
              <a:defRPr sz="1200" b="1">
                <a:solidFill>
                  <a:srgbClr val="00A389"/>
                </a:solidFill>
              </a:defRPr>
            </a:pPr>
            <a:r>
              <a:t>5. Clean Runbook</a:t>
            </a:r>
          </a:p>
          <a:p>
            <a:pPr>
              <a:spcBef>
                <a:spcPts val="400"/>
              </a:spcBef>
              <a:defRPr sz="1000">
                <a:solidFill>
                  <a:srgbClr val="0F172A"/>
                </a:solidFill>
              </a:defRPr>
            </a:pPr>
            <a:r>
              <a:t>Handover acceptance signed by operations (Offering 05).</a:t>
            </a:r>
          </a:p>
        </p:txBody>
      </p:sp>
      <p:sp>
        <p:nvSpPr>
          <p:cNvPr id="21" name="Rounded Rectangle 20"/>
          <p:cNvSpPr/>
          <p:nvPr/>
        </p:nvSpPr>
        <p:spPr>
          <a:xfrm>
            <a:off x="731520" y="3520440"/>
            <a:ext cx="10698480" cy="2651760"/>
          </a:xfrm>
          <a:prstGeom prst="roundRect">
            <a:avLst/>
          </a:prstGeom>
          <a:solidFill>
            <a:srgbClr val="FFFF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657600"/>
            <a:ext cx="10332720" cy="365760"/>
          </a:xfrm>
          <a:prstGeom prst="rect">
            <a:avLst/>
          </a:prstGeom>
          <a:noFill/>
        </p:spPr>
        <p:txBody>
          <a:bodyPr wrap="none">
            <a:spAutoFit/>
          </a:bodyPr>
          <a:lstStyle/>
          <a:p>
            <a:pPr>
              <a:defRPr sz="1300" b="1">
                <a:solidFill>
                  <a:srgbClr val="0A192F"/>
                </a:solidFill>
              </a:defRPr>
            </a:pPr>
            <a:r>
              <a:t>🎯 LEADERSHIP DECISIONS REQUESTED TODAY (90-DAY VALIDATION)</a:t>
            </a:r>
          </a:p>
        </p:txBody>
      </p:sp>
      <p:sp>
        <p:nvSpPr>
          <p:cNvPr id="23" name="TextBox 22"/>
          <p:cNvSpPr txBox="1"/>
          <p:nvPr/>
        </p:nvSpPr>
        <p:spPr>
          <a:xfrm>
            <a:off x="914400" y="4069080"/>
            <a:ext cx="2468880" cy="1920240"/>
          </a:xfrm>
          <a:prstGeom prst="rect">
            <a:avLst/>
          </a:prstGeom>
          <a:noFill/>
        </p:spPr>
        <p:txBody>
          <a:bodyPr wrap="square">
            <a:spAutoFit/>
          </a:bodyPr>
          <a:lstStyle/>
          <a:p>
            <a:pPr>
              <a:defRPr sz="1200" b="1">
                <a:solidFill>
                  <a:srgbClr val="0078D4"/>
                </a:solidFill>
              </a:defRPr>
            </a:pPr>
            <a:r>
              <a:t>1. Named Roles</a:t>
            </a:r>
          </a:p>
          <a:p>
            <a:pPr>
              <a:spcBef>
                <a:spcPts val="300"/>
              </a:spcBef>
              <a:defRPr sz="1000">
                <a:solidFill>
                  <a:srgbClr val="0F172A"/>
                </a:solidFill>
              </a:defRPr>
            </a:pPr>
            <a:r>
              <a:t>• Nominate CIS Infra Executive Sponsor</a:t>
            </a:r>
          </a:p>
          <a:p>
            <a:pPr>
              <a:spcBef>
                <a:spcPts val="300"/>
              </a:spcBef>
              <a:defRPr sz="1000">
                <a:solidFill>
                  <a:srgbClr val="0F172A"/>
                </a:solidFill>
              </a:defRPr>
            </a:pPr>
            <a:r>
              <a:t>• Assign Lead Azure Cloud Architect</a:t>
            </a:r>
          </a:p>
          <a:p>
            <a:pPr>
              <a:spcBef>
                <a:spcPts val="300"/>
              </a:spcBef>
              <a:defRPr sz="1000">
                <a:solidFill>
                  <a:srgbClr val="0F172A"/>
                </a:solidFill>
              </a:defRPr>
            </a:pPr>
            <a:r>
              <a:t>• Designate Delivery Engagement Lead</a:t>
            </a:r>
          </a:p>
        </p:txBody>
      </p:sp>
      <p:sp>
        <p:nvSpPr>
          <p:cNvPr id="24" name="TextBox 23"/>
          <p:cNvSpPr txBox="1"/>
          <p:nvPr/>
        </p:nvSpPr>
        <p:spPr>
          <a:xfrm>
            <a:off x="3566160" y="4069080"/>
            <a:ext cx="2468880" cy="1920240"/>
          </a:xfrm>
          <a:prstGeom prst="rect">
            <a:avLst/>
          </a:prstGeom>
          <a:noFill/>
        </p:spPr>
        <p:txBody>
          <a:bodyPr wrap="square">
            <a:spAutoFit/>
          </a:bodyPr>
          <a:lstStyle/>
          <a:p>
            <a:pPr>
              <a:defRPr sz="1200" b="1">
                <a:solidFill>
                  <a:srgbClr val="0078D4"/>
                </a:solidFill>
              </a:defRPr>
            </a:pPr>
            <a:r>
              <a:t>2. Validation Budget</a:t>
            </a:r>
          </a:p>
          <a:p>
            <a:pPr>
              <a:spcBef>
                <a:spcPts val="300"/>
              </a:spcBef>
              <a:defRPr sz="1000">
                <a:solidFill>
                  <a:srgbClr val="0F172A"/>
                </a:solidFill>
              </a:defRPr>
            </a:pPr>
            <a:r>
              <a:t>• $25k-$45k lab &amp; demo environment budget</a:t>
            </a:r>
          </a:p>
          <a:p>
            <a:pPr>
              <a:spcBef>
                <a:spcPts val="300"/>
              </a:spcBef>
              <a:defRPr sz="1000">
                <a:solidFill>
                  <a:srgbClr val="0F172A"/>
                </a:solidFill>
              </a:defRPr>
            </a:pPr>
            <a:r>
              <a:t>• Presales bid &amp; workshop effort allowance</a:t>
            </a:r>
          </a:p>
          <a:p>
            <a:pPr>
              <a:spcBef>
                <a:spcPts val="300"/>
              </a:spcBef>
              <a:defRPr sz="1000">
                <a:solidFill>
                  <a:srgbClr val="0F172A"/>
                </a:solidFill>
              </a:defRPr>
            </a:pPr>
            <a:r>
              <a:t>• Azure Verified Modules asset validation</a:t>
            </a:r>
          </a:p>
        </p:txBody>
      </p:sp>
      <p:sp>
        <p:nvSpPr>
          <p:cNvPr id="25" name="TextBox 24"/>
          <p:cNvSpPr txBox="1"/>
          <p:nvPr/>
        </p:nvSpPr>
        <p:spPr>
          <a:xfrm>
            <a:off x="6217920" y="4069080"/>
            <a:ext cx="2468880" cy="1920240"/>
          </a:xfrm>
          <a:prstGeom prst="rect">
            <a:avLst/>
          </a:prstGeom>
          <a:noFill/>
        </p:spPr>
        <p:txBody>
          <a:bodyPr wrap="square">
            <a:spAutoFit/>
          </a:bodyPr>
          <a:lstStyle/>
          <a:p>
            <a:pPr>
              <a:defRPr sz="1200" b="1">
                <a:solidFill>
                  <a:srgbClr val="0078D4"/>
                </a:solidFill>
              </a:defRPr>
            </a:pPr>
            <a:r>
              <a:t>3. Hard Stop Rules</a:t>
            </a:r>
          </a:p>
          <a:p>
            <a:pPr>
              <a:spcBef>
                <a:spcPts val="300"/>
              </a:spcBef>
              <a:defRPr sz="1000">
                <a:solidFill>
                  <a:srgbClr val="0F172A"/>
                </a:solidFill>
              </a:defRPr>
            </a:pPr>
            <a:r>
              <a:t>• Discontinue pursuit if no funded AI workload</a:t>
            </a:r>
          </a:p>
          <a:p>
            <a:pPr>
              <a:spcBef>
                <a:spcPts val="300"/>
              </a:spcBef>
              <a:defRPr sz="1000">
                <a:solidFill>
                  <a:srgbClr val="0F172A"/>
                </a:solidFill>
              </a:defRPr>
            </a:pPr>
            <a:r>
              <a:t>• Halt if CISO denies discovery access</a:t>
            </a:r>
          </a:p>
          <a:p>
            <a:pPr>
              <a:spcBef>
                <a:spcPts val="300"/>
              </a:spcBef>
              <a:defRPr sz="1000">
                <a:solidFill>
                  <a:srgbClr val="0F172A"/>
                </a:solidFill>
              </a:defRPr>
            </a:pPr>
            <a:r>
              <a:t>• Stop if required model regional quota missing</a:t>
            </a:r>
          </a:p>
        </p:txBody>
      </p:sp>
      <p:sp>
        <p:nvSpPr>
          <p:cNvPr id="26" name="TextBox 25"/>
          <p:cNvSpPr txBox="1"/>
          <p:nvPr/>
        </p:nvSpPr>
        <p:spPr>
          <a:xfrm>
            <a:off x="8869680" y="4069080"/>
            <a:ext cx="2468880" cy="1920240"/>
          </a:xfrm>
          <a:prstGeom prst="rect">
            <a:avLst/>
          </a:prstGeom>
          <a:noFill/>
        </p:spPr>
        <p:txBody>
          <a:bodyPr wrap="square">
            <a:spAutoFit/>
          </a:bodyPr>
          <a:lstStyle/>
          <a:p>
            <a:pPr>
              <a:defRPr sz="1200" b="1">
                <a:solidFill>
                  <a:srgbClr val="0078D4"/>
                </a:solidFill>
              </a:defRPr>
            </a:pPr>
            <a:r>
              <a:t>4. 90-Day Success Goals</a:t>
            </a:r>
          </a:p>
          <a:p>
            <a:pPr>
              <a:spcBef>
                <a:spcPts val="300"/>
              </a:spcBef>
              <a:defRPr sz="1000">
                <a:solidFill>
                  <a:srgbClr val="0F172A"/>
                </a:solidFill>
              </a:defRPr>
            </a:pPr>
            <a:r>
              <a:t>• 3 qualified enterprise pursuit opportunities</a:t>
            </a:r>
          </a:p>
          <a:p>
            <a:pPr>
              <a:spcBef>
                <a:spcPts val="300"/>
              </a:spcBef>
              <a:defRPr sz="1000">
                <a:solidFill>
                  <a:srgbClr val="0F172A"/>
                </a:solidFill>
              </a:defRPr>
            </a:pPr>
            <a:r>
              <a:t>• 1 signed customer landing zone pilot</a:t>
            </a:r>
          </a:p>
          <a:p>
            <a:pPr>
              <a:spcBef>
                <a:spcPts val="300"/>
              </a:spcBef>
              <a:defRPr sz="1000">
                <a:solidFill>
                  <a:srgbClr val="0F172A"/>
                </a:solidFill>
              </a:defRPr>
            </a:pPr>
            <a:r>
              <a:t>• Tested IaC accelerator repository ready</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AI Platform / Landing Zone · Working proposal for senior leadership review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Detailed architecture, networking, regional decisions, delivery readiness, RACI, revenue attribution, cost layers, original reference diagrams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37744"/>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A1  </a:t>
            </a:r>
            <a:r>
              <a:rPr sz="1100" b="0" i="0">
                <a:solidFill>
                  <a:srgbClr val="1E1E2E"/>
                </a:solidFill>
                <a:latin typeface="Arial"/>
              </a:rPr>
              <a:t>Extend versus establish: what changes</a:t>
            </a:r>
          </a:p>
        </p:txBody>
      </p:sp>
      <p:sp>
        <p:nvSpPr>
          <p:cNvPr id="8" name="TextBox 7">
            <a:hlinkClick action="ppaction://hlinksldjump" r:id="rId5"/>
          </p:cNvPr>
          <p:cNvSpPr txBox="1"/>
          <p:nvPr/>
        </p:nvSpPr>
        <p:spPr>
          <a:xfrm>
            <a:off x="548640" y="1655064"/>
            <a:ext cx="5486400" cy="237744"/>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A2  </a:t>
            </a:r>
            <a:r>
              <a:rPr sz="1100" b="0" i="0">
                <a:solidFill>
                  <a:srgbClr val="1E1E2E"/>
                </a:solidFill>
                <a:latin typeface="Arial"/>
              </a:rPr>
              <a:t>Proposed package structure</a:t>
            </a:r>
          </a:p>
        </p:txBody>
      </p:sp>
      <p:sp>
        <p:nvSpPr>
          <p:cNvPr id="9" name="TextBox 8">
            <a:hlinkClick action="ppaction://hlinksldjump" r:id="rId6"/>
          </p:cNvPr>
          <p:cNvSpPr txBox="1"/>
          <p:nvPr/>
        </p:nvSpPr>
        <p:spPr>
          <a:xfrm>
            <a:off x="548640" y="1892808"/>
            <a:ext cx="5486400" cy="237744"/>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A3  </a:t>
            </a:r>
            <a:r>
              <a:rPr sz="1100" b="0" i="0">
                <a:solidFill>
                  <a:srgbClr val="1E1E2E"/>
                </a:solidFill>
                <a:latin typeface="Arial"/>
              </a:rPr>
              <a:t>Governance: management groups, policy, tags</a:t>
            </a:r>
          </a:p>
        </p:txBody>
      </p:sp>
      <p:sp>
        <p:nvSpPr>
          <p:cNvPr id="10" name="TextBox 9">
            <a:hlinkClick action="ppaction://hlinksldjump" r:id="rId7"/>
          </p:cNvPr>
          <p:cNvSpPr txBox="1"/>
          <p:nvPr/>
        </p:nvSpPr>
        <p:spPr>
          <a:xfrm>
            <a:off x="548640" y="2130552"/>
            <a:ext cx="5486400" cy="237744"/>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A4  </a:t>
            </a:r>
            <a:r>
              <a:rPr sz="1100" b="0" i="0">
                <a:solidFill>
                  <a:srgbClr val="1E1E2E"/>
                </a:solidFill>
                <a:latin typeface="Arial"/>
              </a:rPr>
              <a:t>Identity, RBAC, managed identity, PIM</a:t>
            </a:r>
          </a:p>
        </p:txBody>
      </p:sp>
      <p:sp>
        <p:nvSpPr>
          <p:cNvPr id="11" name="TextBox 10">
            <a:hlinkClick action="ppaction://hlinksldjump" r:id="rId8"/>
          </p:cNvPr>
          <p:cNvSpPr txBox="1"/>
          <p:nvPr/>
        </p:nvSpPr>
        <p:spPr>
          <a:xfrm>
            <a:off x="548640" y="2368296"/>
            <a:ext cx="5486400" cy="237744"/>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A5  </a:t>
            </a:r>
            <a:r>
              <a:rPr sz="1100" b="0" i="0">
                <a:solidFill>
                  <a:srgbClr val="1E1E2E"/>
                </a:solidFill>
                <a:latin typeface="Arial"/>
              </a:rPr>
              <a:t>Network: hub, spoke, private endpoints, DNS</a:t>
            </a:r>
          </a:p>
        </p:txBody>
      </p:sp>
      <p:sp>
        <p:nvSpPr>
          <p:cNvPr id="12" name="TextBox 11">
            <a:hlinkClick action="ppaction://hlinksldjump" r:id="rId9"/>
          </p:cNvPr>
          <p:cNvSpPr txBox="1"/>
          <p:nvPr/>
        </p:nvSpPr>
        <p:spPr>
          <a:xfrm>
            <a:off x="548640" y="2606040"/>
            <a:ext cx="5486400" cy="237744"/>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A6  </a:t>
            </a:r>
            <a:r>
              <a:rPr sz="1100" b="0" i="0">
                <a:solidFill>
                  <a:srgbClr val="1E1E2E"/>
                </a:solidFill>
                <a:latin typeface="Arial"/>
              </a:rPr>
              <a:t>Controlled egress</a:t>
            </a:r>
          </a:p>
        </p:txBody>
      </p:sp>
      <p:sp>
        <p:nvSpPr>
          <p:cNvPr id="13" name="TextBox 12">
            <a:hlinkClick action="ppaction://hlinksldjump" r:id="rId10"/>
          </p:cNvPr>
          <p:cNvSpPr txBox="1"/>
          <p:nvPr/>
        </p:nvSpPr>
        <p:spPr>
          <a:xfrm>
            <a:off x="548640" y="2843784"/>
            <a:ext cx="5486400" cy="237744"/>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A7  </a:t>
            </a:r>
            <a:r>
              <a:rPr sz="1100" b="0" i="0">
                <a:solidFill>
                  <a:srgbClr val="1E1E2E"/>
                </a:solidFill>
                <a:latin typeface="Arial"/>
              </a:rPr>
              <a:t>Inbound, runtime and outbound paths</a:t>
            </a:r>
          </a:p>
        </p:txBody>
      </p:sp>
      <p:sp>
        <p:nvSpPr>
          <p:cNvPr id="14" name="TextBox 13">
            <a:hlinkClick action="ppaction://hlinksldjump" r:id="rId11"/>
          </p:cNvPr>
          <p:cNvSpPr txBox="1"/>
          <p:nvPr/>
        </p:nvSpPr>
        <p:spPr>
          <a:xfrm>
            <a:off x="548640" y="3081528"/>
            <a:ext cx="5486400" cy="237744"/>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A8  </a:t>
            </a:r>
            <a:r>
              <a:rPr sz="1100" b="0" i="0">
                <a:solidFill>
                  <a:srgbClr val="1E1E2E"/>
                </a:solidFill>
                <a:latin typeface="Arial"/>
              </a:rPr>
              <a:t>Foundry workload baseline (simplified)</a:t>
            </a:r>
          </a:p>
        </p:txBody>
      </p:sp>
      <p:sp>
        <p:nvSpPr>
          <p:cNvPr id="15" name="TextBox 14">
            <a:hlinkClick action="ppaction://hlinksldjump" r:id="rId12"/>
          </p:cNvPr>
          <p:cNvSpPr txBox="1"/>
          <p:nvPr/>
        </p:nvSpPr>
        <p:spPr>
          <a:xfrm>
            <a:off x="548640" y="3319272"/>
            <a:ext cx="5486400" cy="237744"/>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A9  </a:t>
            </a:r>
            <a:r>
              <a:rPr sz="1100" b="0" i="0">
                <a:solidFill>
                  <a:srgbClr val="1E1E2E"/>
                </a:solidFill>
                <a:latin typeface="Arial"/>
              </a:rPr>
              <a:t>Foundry projects and agent hosting options</a:t>
            </a:r>
          </a:p>
        </p:txBody>
      </p:sp>
      <p:sp>
        <p:nvSpPr>
          <p:cNvPr id="16" name="TextBox 15">
            <a:hlinkClick action="ppaction://hlinksldjump" r:id="rId13"/>
          </p:cNvPr>
          <p:cNvSpPr txBox="1"/>
          <p:nvPr/>
        </p:nvSpPr>
        <p:spPr>
          <a:xfrm>
            <a:off x="548640" y="3557015"/>
            <a:ext cx="5486400" cy="237744"/>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A10  </a:t>
            </a:r>
            <a:r>
              <a:rPr sz="1100" b="0" i="0">
                <a:solidFill>
                  <a:srgbClr val="1E1E2E"/>
                </a:solidFill>
                <a:latin typeface="Arial"/>
              </a:rPr>
              <a:t>Search, storage and data dependencies</a:t>
            </a:r>
          </a:p>
        </p:txBody>
      </p:sp>
      <p:sp>
        <p:nvSpPr>
          <p:cNvPr id="17" name="TextBox 16">
            <a:hlinkClick action="ppaction://hlinksldjump" r:id="rId14"/>
          </p:cNvPr>
          <p:cNvSpPr txBox="1"/>
          <p:nvPr/>
        </p:nvSpPr>
        <p:spPr>
          <a:xfrm>
            <a:off x="548640" y="3794760"/>
            <a:ext cx="5486400" cy="237744"/>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A11  </a:t>
            </a:r>
            <a:r>
              <a:rPr sz="1100" b="0" i="0">
                <a:solidFill>
                  <a:srgbClr val="1E1E2E"/>
                </a:solidFill>
                <a:latin typeface="Arial"/>
              </a:rPr>
              <a:t>IaC, CI/CD and promotion</a:t>
            </a:r>
          </a:p>
        </p:txBody>
      </p:sp>
      <p:sp>
        <p:nvSpPr>
          <p:cNvPr id="18" name="TextBox 17">
            <a:hlinkClick action="ppaction://hlinksldjump" r:id="rId15"/>
          </p:cNvPr>
          <p:cNvSpPr txBox="1"/>
          <p:nvPr/>
        </p:nvSpPr>
        <p:spPr>
          <a:xfrm>
            <a:off x="548640" y="4032504"/>
            <a:ext cx="5486400" cy="237744"/>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A12  </a:t>
            </a:r>
            <a:r>
              <a:rPr sz="1100" b="0" i="0">
                <a:solidFill>
                  <a:srgbClr val="1E1E2E"/>
                </a:solidFill>
                <a:latin typeface="Arial"/>
              </a:rPr>
              <a:t>Environment separation</a:t>
            </a:r>
          </a:p>
        </p:txBody>
      </p:sp>
      <p:sp>
        <p:nvSpPr>
          <p:cNvPr id="19" name="TextBox 18">
            <a:hlinkClick action="ppaction://hlinksldjump" r:id="rId16"/>
          </p:cNvPr>
          <p:cNvSpPr txBox="1"/>
          <p:nvPr/>
        </p:nvSpPr>
        <p:spPr>
          <a:xfrm>
            <a:off x="548640" y="4270248"/>
            <a:ext cx="5486400" cy="237744"/>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A13  </a:t>
            </a:r>
            <a:r>
              <a:rPr sz="1100" b="0" i="0">
                <a:solidFill>
                  <a:srgbClr val="1E1E2E"/>
                </a:solidFill>
                <a:latin typeface="Arial"/>
              </a:rPr>
              <a:t>Monitoring, budgets, containment, recovery</a:t>
            </a:r>
          </a:p>
        </p:txBody>
      </p:sp>
      <p:sp>
        <p:nvSpPr>
          <p:cNvPr id="20" name="TextBox 19">
            <a:hlinkClick action="ppaction://hlinksldjump" r:id="rId17"/>
          </p:cNvPr>
          <p:cNvSpPr txBox="1"/>
          <p:nvPr/>
        </p:nvSpPr>
        <p:spPr>
          <a:xfrm>
            <a:off x="548640" y="4507992"/>
            <a:ext cx="5486400" cy="237744"/>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A14  </a:t>
            </a:r>
            <a:r>
              <a:rPr sz="1100" b="0" i="0">
                <a:solidFill>
                  <a:srgbClr val="1E1E2E"/>
                </a:solidFill>
                <a:latin typeface="Arial"/>
              </a:rPr>
              <a:t>Deployment types and processing boundary</a:t>
            </a:r>
          </a:p>
        </p:txBody>
      </p:sp>
      <p:sp>
        <p:nvSpPr>
          <p:cNvPr id="21" name="TextBox 20">
            <a:hlinkClick action="ppaction://hlinksldjump" r:id="rId18"/>
          </p:cNvPr>
          <p:cNvSpPr txBox="1"/>
          <p:nvPr/>
        </p:nvSpPr>
        <p:spPr>
          <a:xfrm>
            <a:off x="548640" y="4745736"/>
            <a:ext cx="5486400" cy="237744"/>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A15  </a:t>
            </a:r>
            <a:r>
              <a:rPr sz="1100" b="0" i="0">
                <a:solidFill>
                  <a:srgbClr val="1E1E2E"/>
                </a:solidFill>
                <a:latin typeface="Arial"/>
              </a:rPr>
              <a:t>Model availability snapshot by region</a:t>
            </a:r>
          </a:p>
        </p:txBody>
      </p:sp>
      <p:sp>
        <p:nvSpPr>
          <p:cNvPr id="22" name="TextBox 21">
            <a:hlinkClick action="ppaction://hlinksldjump" r:id="rId19"/>
          </p:cNvPr>
          <p:cNvSpPr txBox="1"/>
          <p:nvPr/>
        </p:nvSpPr>
        <p:spPr>
          <a:xfrm>
            <a:off x="548640" y="4983480"/>
            <a:ext cx="5486400" cy="237744"/>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A16  </a:t>
            </a:r>
            <a:r>
              <a:rPr sz="1100" b="0" i="0">
                <a:solidFill>
                  <a:srgbClr val="1E1E2E"/>
                </a:solidFill>
                <a:latin typeface="Arial"/>
              </a:rPr>
              <a:t>Included baseline and separately scoped work</a:t>
            </a:r>
          </a:p>
        </p:txBody>
      </p:sp>
      <p:sp>
        <p:nvSpPr>
          <p:cNvPr id="23" name="TextBox 22">
            <a:hlinkClick action="ppaction://hlinksldjump" r:id="rId20"/>
          </p:cNvPr>
          <p:cNvSpPr txBox="1"/>
          <p:nvPr/>
        </p:nvSpPr>
        <p:spPr>
          <a:xfrm>
            <a:off x="548640" y="5221224"/>
            <a:ext cx="5486400" cy="237744"/>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A17  </a:t>
            </a:r>
            <a:r>
              <a:rPr sz="1100" b="0" i="0">
                <a:solidFill>
                  <a:srgbClr val="1E1E2E"/>
                </a:solidFill>
                <a:latin typeface="Arial"/>
              </a:rPr>
              <a:t>Acceptance gates and evidence</a:t>
            </a:r>
          </a:p>
        </p:txBody>
      </p:sp>
      <p:sp>
        <p:nvSpPr>
          <p:cNvPr id="24" name="TextBox 23">
            <a:hlinkClick action="ppaction://hlinksldjump" r:id="rId21"/>
          </p:cNvPr>
          <p:cNvSpPr txBox="1"/>
          <p:nvPr/>
        </p:nvSpPr>
        <p:spPr>
          <a:xfrm>
            <a:off x="548640" y="5458968"/>
            <a:ext cx="5486400" cy="237744"/>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A18  </a:t>
            </a:r>
            <a:r>
              <a:rPr sz="1100" b="0" i="0">
                <a:solidFill>
                  <a:srgbClr val="1E1E2E"/>
                </a:solidFill>
                <a:latin typeface="Arial"/>
              </a:rPr>
              <a:t>Effort drivers and change control</a:t>
            </a:r>
          </a:p>
        </p:txBody>
      </p:sp>
      <p:sp>
        <p:nvSpPr>
          <p:cNvPr id="25" name="TextBox 24">
            <a:hlinkClick action="ppaction://hlinksldjump" r:id="rId22"/>
          </p:cNvPr>
          <p:cNvSpPr txBox="1"/>
          <p:nvPr/>
        </p:nvSpPr>
        <p:spPr>
          <a:xfrm>
            <a:off x="548640" y="5696712"/>
            <a:ext cx="5486400" cy="237744"/>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A19  </a:t>
            </a:r>
            <a:r>
              <a:rPr sz="1100" b="0" i="0">
                <a:solidFill>
                  <a:srgbClr val="1E1E2E"/>
                </a:solidFill>
                <a:latin typeface="Arial"/>
              </a:rPr>
              <a:t>BOM checklist</a:t>
            </a:r>
          </a:p>
        </p:txBody>
      </p:sp>
      <p:sp>
        <p:nvSpPr>
          <p:cNvPr id="26" name="TextBox 25">
            <a:hlinkClick action="ppaction://hlinksldjump" r:id="rId23"/>
          </p:cNvPr>
          <p:cNvSpPr txBox="1"/>
          <p:nvPr/>
        </p:nvSpPr>
        <p:spPr>
          <a:xfrm>
            <a:off x="548640" y="5934456"/>
            <a:ext cx="5486400" cy="237744"/>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A0  </a:t>
            </a:r>
            <a:r>
              <a:rPr sz="1100" b="0" i="0">
                <a:solidFill>
                  <a:srgbClr val="1E1E2E"/>
                </a:solidFill>
                <a:latin typeface="Arial"/>
              </a:rPr>
              <a:t>AI Landing Zone accelerator reuse</a:t>
            </a:r>
          </a:p>
        </p:txBody>
      </p:sp>
      <p:sp>
        <p:nvSpPr>
          <p:cNvPr id="27" name="TextBox 26">
            <a:hlinkClick action="ppaction://hlinksldjump" r:id="rId24"/>
          </p:cNvPr>
          <p:cNvSpPr txBox="1"/>
          <p:nvPr/>
        </p:nvSpPr>
        <p:spPr>
          <a:xfrm>
            <a:off x="6217920" y="1417320"/>
            <a:ext cx="5486400" cy="237744"/>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A20  </a:t>
            </a:r>
            <a:r>
              <a:rPr sz="1100" b="0" i="0">
                <a:solidFill>
                  <a:srgbClr val="1E1E2E"/>
                </a:solidFill>
                <a:latin typeface="Arial"/>
              </a:rPr>
              <a:t>Data platform paths and DR options</a:t>
            </a:r>
          </a:p>
        </p:txBody>
      </p:sp>
      <p:sp>
        <p:nvSpPr>
          <p:cNvPr id="28" name="TextBox 27">
            <a:hlinkClick action="ppaction://hlinksldjump" r:id="rId25"/>
          </p:cNvPr>
          <p:cNvSpPr txBox="1"/>
          <p:nvPr/>
        </p:nvSpPr>
        <p:spPr>
          <a:xfrm>
            <a:off x="6217920" y="1655064"/>
            <a:ext cx="5486400" cy="237744"/>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A21  </a:t>
            </a:r>
            <a:r>
              <a:rPr sz="1100" b="0" i="0">
                <a:solidFill>
                  <a:srgbClr val="1E1E2E"/>
                </a:solidFill>
                <a:latin typeface="Arial"/>
              </a:rPr>
              <a:t>Buyer roles and risk register</a:t>
            </a:r>
          </a:p>
        </p:txBody>
      </p:sp>
      <p:sp>
        <p:nvSpPr>
          <p:cNvPr id="29" name="TextBox 28">
            <a:hlinkClick action="ppaction://hlinksldjump" r:id="rId26"/>
          </p:cNvPr>
          <p:cNvSpPr txBox="1"/>
          <p:nvPr/>
        </p:nvSpPr>
        <p:spPr>
          <a:xfrm>
            <a:off x="6217920" y="1892808"/>
            <a:ext cx="5486400" cy="237744"/>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0" name="TextBox 29">
            <a:hlinkClick action="ppaction://hlinksldjump" r:id="rId27"/>
          </p:cNvPr>
          <p:cNvSpPr txBox="1"/>
          <p:nvPr/>
        </p:nvSpPr>
        <p:spPr>
          <a:xfrm>
            <a:off x="6217920" y="2130552"/>
            <a:ext cx="5486400" cy="237744"/>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E1  </a:t>
            </a:r>
            <a:r>
              <a:rPr sz="1100" b="0" i="0">
                <a:solidFill>
                  <a:srgbClr val="1E1E2E"/>
                </a:solidFill>
                <a:latin typeface="Arial"/>
              </a:rPr>
              <a:t>Estimate assumptions</a:t>
            </a:r>
          </a:p>
        </p:txBody>
      </p:sp>
      <p:sp>
        <p:nvSpPr>
          <p:cNvPr id="31" name="TextBox 30">
            <a:hlinkClick action="ppaction://hlinksldjump" r:id="rId28"/>
          </p:cNvPr>
          <p:cNvSpPr txBox="1"/>
          <p:nvPr/>
        </p:nvSpPr>
        <p:spPr>
          <a:xfrm>
            <a:off x="6217920" y="2368296"/>
            <a:ext cx="5486400" cy="237744"/>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SEC1  </a:t>
            </a:r>
            <a:r>
              <a:rPr sz="1100" b="0" i="0">
                <a:solidFill>
                  <a:srgbClr val="1E1E2E"/>
                </a:solidFill>
                <a:latin typeface="Arial"/>
              </a:rPr>
              <a:t>AI threat model and controls</a:t>
            </a:r>
          </a:p>
        </p:txBody>
      </p:sp>
      <p:sp>
        <p:nvSpPr>
          <p:cNvPr id="32" name="TextBox 31">
            <a:hlinkClick action="ppaction://hlinksldjump" r:id="rId29"/>
          </p:cNvPr>
          <p:cNvSpPr txBox="1"/>
          <p:nvPr/>
        </p:nvSpPr>
        <p:spPr>
          <a:xfrm>
            <a:off x="6217920" y="2606040"/>
            <a:ext cx="5486400" cy="237744"/>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SEC2  </a:t>
            </a:r>
            <a:r>
              <a:rPr sz="1100" b="0" i="0">
                <a:solidFill>
                  <a:srgbClr val="1E1E2E"/>
                </a:solidFill>
                <a:latin typeface="Arial"/>
              </a:rPr>
              <a:t>Security services and regulation</a:t>
            </a:r>
          </a:p>
        </p:txBody>
      </p:sp>
      <p:sp>
        <p:nvSpPr>
          <p:cNvPr id="33" name="TextBox 32">
            <a:hlinkClick action="ppaction://hlinksldjump" r:id="rId30"/>
          </p:cNvPr>
          <p:cNvSpPr txBox="1"/>
          <p:nvPr/>
        </p:nvSpPr>
        <p:spPr>
          <a:xfrm>
            <a:off x="6217920" y="2843784"/>
            <a:ext cx="5486400" cy="237744"/>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G1  </a:t>
            </a:r>
            <a:r>
              <a:rPr sz="1100" b="0" i="0">
                <a:solidFill>
                  <a:srgbClr val="1E1E2E"/>
                </a:solidFill>
                <a:latin typeface="Arial"/>
              </a:rPr>
              <a:t>Glossary</a:t>
            </a:r>
          </a:p>
        </p:txBody>
      </p:sp>
      <p:sp>
        <p:nvSpPr>
          <p:cNvPr id="34" name="TextBox 33">
            <a:hlinkClick action="ppaction://hlinksldjump" r:id="rId31"/>
          </p:cNvPr>
          <p:cNvSpPr txBox="1"/>
          <p:nvPr/>
        </p:nvSpPr>
        <p:spPr>
          <a:xfrm>
            <a:off x="6217920" y="3081528"/>
            <a:ext cx="5486400" cy="237744"/>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C1  </a:t>
            </a:r>
            <a:r>
              <a:rPr sz="1100" b="0" i="0">
                <a:solidFill>
                  <a:srgbClr val="1E1E2E"/>
                </a:solidFill>
                <a:latin typeface="Arial"/>
              </a:rPr>
              <a:t>Cost layers and pricing formula</a:t>
            </a:r>
          </a:p>
        </p:txBody>
      </p:sp>
      <p:sp>
        <p:nvSpPr>
          <p:cNvPr id="35" name="TextBox 34">
            <a:hlinkClick action="ppaction://hlinksldjump" r:id="rId32"/>
          </p:cNvPr>
          <p:cNvSpPr txBox="1"/>
          <p:nvPr/>
        </p:nvSpPr>
        <p:spPr>
          <a:xfrm>
            <a:off x="6217920" y="3319272"/>
            <a:ext cx="5486400" cy="237744"/>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K  </a:t>
            </a:r>
            <a:r>
              <a:rPr sz="1100" b="0" i="0">
                <a:solidFill>
                  <a:srgbClr val="1E1E2E"/>
                </a:solidFill>
                <a:latin typeface="Arial"/>
              </a:rPr>
              <a:t>Kill-switch cross-reference</a:t>
            </a:r>
          </a:p>
        </p:txBody>
      </p:sp>
      <p:sp>
        <p:nvSpPr>
          <p:cNvPr id="36" name="TextBox 35">
            <a:hlinkClick action="ppaction://hlinksldjump" r:id="rId33"/>
          </p:cNvPr>
          <p:cNvSpPr txBox="1"/>
          <p:nvPr/>
        </p:nvSpPr>
        <p:spPr>
          <a:xfrm>
            <a:off x="6217920" y="3557015"/>
            <a:ext cx="5486400" cy="237744"/>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R1  </a:t>
            </a:r>
            <a:r>
              <a:rPr sz="1100" b="0" i="0">
                <a:solidFill>
                  <a:srgbClr val="1E1E2E"/>
                </a:solidFill>
                <a:latin typeface="Arial"/>
              </a:rPr>
              <a:t>RACI matrix</a:t>
            </a:r>
          </a:p>
        </p:txBody>
      </p:sp>
      <p:sp>
        <p:nvSpPr>
          <p:cNvPr id="37" name="TextBox 36">
            <a:hlinkClick action="ppaction://hlinksldjump" r:id="rId34"/>
          </p:cNvPr>
          <p:cNvSpPr txBox="1"/>
          <p:nvPr/>
        </p:nvSpPr>
        <p:spPr>
          <a:xfrm>
            <a:off x="6217920" y="3794760"/>
            <a:ext cx="5486400" cy="237744"/>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R2  </a:t>
            </a:r>
            <a:r>
              <a:rPr sz="1100" b="0" i="0">
                <a:solidFill>
                  <a:srgbClr val="1E1E2E"/>
                </a:solidFill>
                <a:latin typeface="Arial"/>
              </a:rPr>
              <a:t>Revenue attribution framework</a:t>
            </a:r>
          </a:p>
        </p:txBody>
      </p:sp>
      <p:sp>
        <p:nvSpPr>
          <p:cNvPr id="38" name="TextBox 37">
            <a:hlinkClick action="ppaction://hlinksldjump" r:id="rId35"/>
          </p:cNvPr>
          <p:cNvSpPr txBox="1"/>
          <p:nvPr/>
        </p:nvSpPr>
        <p:spPr>
          <a:xfrm>
            <a:off x="6217920" y="4032504"/>
            <a:ext cx="5486400" cy="237744"/>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R3  </a:t>
            </a:r>
            <a:r>
              <a:rPr sz="1100" b="0" i="0">
                <a:solidFill>
                  <a:srgbClr val="1E1E2E"/>
                </a:solidFill>
                <a:latin typeface="Arial"/>
              </a:rPr>
              <a:t>Delivery and commercial readiness</a:t>
            </a:r>
          </a:p>
        </p:txBody>
      </p:sp>
      <p:sp>
        <p:nvSpPr>
          <p:cNvPr id="39" name="TextBox 38">
            <a:hlinkClick action="ppaction://hlinksldjump" r:id="rId36"/>
          </p:cNvPr>
          <p:cNvSpPr txBox="1"/>
          <p:nvPr/>
        </p:nvSpPr>
        <p:spPr>
          <a:xfrm>
            <a:off x="6217920" y="4270248"/>
            <a:ext cx="5486400" cy="237744"/>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D1  </a:t>
            </a:r>
            <a:r>
              <a:rPr sz="1100" b="0" i="0">
                <a:solidFill>
                  <a:srgbClr val="1E1E2E"/>
                </a:solidFill>
                <a:latin typeface="Arial"/>
              </a:rPr>
              <a:t>Decision and approval register</a:t>
            </a:r>
          </a:p>
        </p:txBody>
      </p:sp>
      <p:sp>
        <p:nvSpPr>
          <p:cNvPr id="40" name="TextBox 39">
            <a:hlinkClick action="ppaction://hlinksldjump" r:id="rId37"/>
          </p:cNvPr>
          <p:cNvSpPr txBox="1"/>
          <p:nvPr/>
        </p:nvSpPr>
        <p:spPr>
          <a:xfrm>
            <a:off x="6217920" y="4507992"/>
            <a:ext cx="5486400" cy="237744"/>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O1  </a:t>
            </a:r>
            <a:r>
              <a:rPr sz="1100" b="0" i="0">
                <a:solidFill>
                  <a:srgbClr val="1E1E2E"/>
                </a:solidFill>
                <a:latin typeface="Arial"/>
              </a:rPr>
              <a:t>Original: AI landing zone with platform</a:t>
            </a:r>
          </a:p>
        </p:txBody>
      </p:sp>
      <p:sp>
        <p:nvSpPr>
          <p:cNvPr id="41" name="TextBox 40">
            <a:hlinkClick action="ppaction://hlinksldjump" r:id="rId38"/>
          </p:cNvPr>
          <p:cNvSpPr txBox="1"/>
          <p:nvPr/>
        </p:nvSpPr>
        <p:spPr>
          <a:xfrm>
            <a:off x="6217920" y="4745736"/>
            <a:ext cx="5486400" cy="237744"/>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O2  </a:t>
            </a:r>
            <a:r>
              <a:rPr sz="1100" b="0" i="0">
                <a:solidFill>
                  <a:srgbClr val="1E1E2E"/>
                </a:solidFill>
                <a:latin typeface="Arial"/>
              </a:rPr>
              <a:t>Original: Foundry baseline</a:t>
            </a:r>
          </a:p>
        </p:txBody>
      </p:sp>
      <p:sp>
        <p:nvSpPr>
          <p:cNvPr id="42" name="TextBox 41">
            <a:hlinkClick action="ppaction://hlinksldjump" r:id="rId39"/>
          </p:cNvPr>
          <p:cNvSpPr txBox="1"/>
          <p:nvPr/>
        </p:nvSpPr>
        <p:spPr>
          <a:xfrm>
            <a:off x="6217920" y="4983480"/>
            <a:ext cx="5486400" cy="237744"/>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O3  </a:t>
            </a:r>
            <a:r>
              <a:rPr sz="1100" b="0" i="0">
                <a:solidFill>
                  <a:srgbClr val="1E1E2E"/>
                </a:solidFill>
                <a:latin typeface="Arial"/>
              </a:rPr>
              <a:t>Original: landing zone networking</a:t>
            </a:r>
          </a:p>
        </p:txBody>
      </p:sp>
      <p:sp>
        <p:nvSpPr>
          <p:cNvPr id="43" name="TextBox 42">
            <a:hlinkClick action="ppaction://hlinksldjump" r:id="rId40"/>
          </p:cNvPr>
          <p:cNvSpPr txBox="1"/>
          <p:nvPr/>
        </p:nvSpPr>
        <p:spPr>
          <a:xfrm>
            <a:off x="6217920" y="5221224"/>
            <a:ext cx="5486400" cy="237744"/>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O4  </a:t>
            </a:r>
            <a:r>
              <a:rPr sz="1100" b="0" i="0">
                <a:solidFill>
                  <a:srgbClr val="1E1E2E"/>
                </a:solidFill>
                <a:latin typeface="Arial"/>
              </a:rPr>
              <a:t>Original: landing zone egress</a:t>
            </a:r>
          </a:p>
        </p:txBody>
      </p:sp>
      <p:sp>
        <p:nvSpPr>
          <p:cNvPr id="44" name="TextBox 43">
            <a:hlinkClick action="ppaction://hlinksldjump" r:id="rId41"/>
          </p:cNvPr>
          <p:cNvSpPr txBox="1"/>
          <p:nvPr/>
        </p:nvSpPr>
        <p:spPr>
          <a:xfrm>
            <a:off x="6217920" y="5458968"/>
            <a:ext cx="5486400" cy="237744"/>
          </a:xfrm>
          <a:prstGeom prst="rect">
            <a:avLst/>
          </a:prstGeom>
          <a:noFill/>
        </p:spPr>
        <p:txBody>
          <a:bodyPr wrap="square" lIns="0" rIns="0" tIns="0" bIns="0" anchor="t">
            <a:noAutofit/>
          </a:bodyPr>
          <a:lstStyle/>
          <a:p>
            <a:pPr algn="l"/>
            <a:r>
              <a:rPr sz="1100" b="1" i="0">
                <a:solidFill>
                  <a:srgbClr val="2F78C4"/>
                </a:solidFill>
                <a:latin typeface="Arial"/>
              </a:rPr>
              <a:t>50  </a:t>
            </a:r>
            <a:r>
              <a:rPr sz="1100" b="1" i="0">
                <a:solidFill>
                  <a:srgbClr val="000048"/>
                </a:solidFill>
                <a:latin typeface="Arial"/>
              </a:rPr>
              <a:t>O5  </a:t>
            </a:r>
            <a:r>
              <a:rPr sz="1100" b="0" i="0">
                <a:solidFill>
                  <a:srgbClr val="1E1E2E"/>
                </a:solidFill>
                <a:latin typeface="Arial"/>
              </a:rPr>
              <a:t>Original: CAF landing zone conceptual</a:t>
            </a:r>
          </a:p>
        </p:txBody>
      </p:sp>
      <p:sp>
        <p:nvSpPr>
          <p:cNvPr id="45" name="TextBox 44">
            <a:hlinkClick action="ppaction://hlinksldjump" r:id="rId42"/>
          </p:cNvPr>
          <p:cNvSpPr txBox="1"/>
          <p:nvPr/>
        </p:nvSpPr>
        <p:spPr>
          <a:xfrm>
            <a:off x="6217920" y="5696712"/>
            <a:ext cx="5486400" cy="237744"/>
          </a:xfrm>
          <a:prstGeom prst="rect">
            <a:avLst/>
          </a:prstGeom>
          <a:noFill/>
        </p:spPr>
        <p:txBody>
          <a:bodyPr wrap="square" lIns="0" rIns="0" tIns="0" bIns="0" anchor="t">
            <a:noAutofit/>
          </a:bodyPr>
          <a:lstStyle/>
          <a:p>
            <a:pPr algn="l"/>
            <a:r>
              <a:rPr sz="1100" b="1" i="0">
                <a:solidFill>
                  <a:srgbClr val="2F78C4"/>
                </a:solidFill>
                <a:latin typeface="Arial"/>
              </a:rPr>
              <a:t>51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Extending a landing zone versus building a new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8" name="Table"/>
          <p:cNvGraphicFramePr>
            <a:graphicFrameLocks noGrp="1"/>
          </p:cNvGraphicFramePr>
          <p:nvPr/>
        </p:nvGraphicFramePr>
        <p:xfrm>
          <a:off x="548640" y="1325880"/>
          <a:ext cx="11091672" cy="2987039"/>
        </p:xfrm>
        <a:graphic>
          <a:graphicData uri="http://schemas.openxmlformats.org/drawingml/2006/table">
            <a:tbl>
              <a:tblPr firstRow="1" bandRow="0">
                <a:tableStyleId>{5C22544A-7EE6-4342-B048-85BDC9FD1C3A}</a:tableStyleId>
              </a:tblPr>
              <a:tblGrid>
                <a:gridCol w="2103120"/>
                <a:gridCol w="4480560"/>
                <a:gridCol w="4507992"/>
              </a:tblGrid>
              <a:tr h="304800">
                <a:tc>
                  <a:txBody>
                    <a:bodyPr wrap="square" anchor="ctr">
                      <a:noAutofit/>
                    </a:bodyPr>
                    <a:lstStyle/>
                    <a:p>
                      <a:pPr algn="l"/>
                      <a:r>
                        <a:rPr sz="1400" b="1" i="0">
                          <a:solidFill>
                            <a:srgbClr val="FFFFFF"/>
                          </a:solidFill>
                          <a:latin typeface="Arial"/>
                        </a:rPr>
                        <a:t>Topic</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Extend an existing landing zone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Establish a new foundation</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Starting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Accepted management groups, hub, DNS, policy and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Gaps, no platform, or a new tenant or region</a:t>
                      </a:r>
                    </a:p>
                  </a:txBody>
                  <a:tcPr marL="73152" marR="73152" marT="36576" marB="36576" anchor="ctr">
                    <a:solidFill>
                      <a:srgbClr val="FFFFFF"/>
                    </a:solidFill>
                  </a:tcPr>
                </a:tc>
              </a:tr>
              <a:tr h="731519">
                <a:tc>
                  <a:txBody>
                    <a:bodyPr wrap="square" anchor="ctr">
                      <a:noAutofit/>
                    </a:bodyPr>
                    <a:lstStyle/>
                    <a:p>
                      <a:pPr algn="l"/>
                      <a:r>
                        <a:rPr sz="1400" b="1" i="0">
                          <a:solidFill>
                            <a:srgbClr val="1E1E2E"/>
                          </a:solidFill>
                          <a:latin typeface="Arial"/>
                        </a:rPr>
                        <a:t>CIS Infra builds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Workload subscriptions, spoke, private endpoints, AI resources, AI-specific policy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All of extend plus management groups, subscription vending, hub, DNS, firewall, identity integration</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Main risk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Hidden gaps in the existing platform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Larger change surface and customer decisions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Customer decisions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 workload placement and AI policies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design authority, connectivity, naming, policy baseline</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Commercial basis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work packages only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Separate platform and AI work packages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Entry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Validation checklist passes in assessment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Assessment gap register approved</a:t>
                      </a:r>
                    </a:p>
                  </a:txBody>
                  <a:tcPr marL="73152" marR="73152" marT="36576" marB="36576" anchor="ctr">
                    <a:solidFill>
                      <a:srgbClr val="F5F5F2"/>
                    </a:solidFill>
                  </a:tcPr>
                </a:tc>
              </a:tr>
            </a:tbl>
          </a:graphicData>
        </a:graphic>
      </p:graphicFrame>
      <p:sp>
        <p:nvSpPr>
          <p:cNvPr id="9" name="Rounded Rectangle 8"/>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New foundations are not included in an extension price. Existing shared hubs are reused only after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package structure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Status chip: ESTIMATES, NOT COMMITMENTS"/>
          <p:cNvSpPr/>
          <p:nvPr/>
        </p:nvSpPr>
        <p:spPr>
          <a:xfrm>
            <a:off x="2955290" y="274320"/>
            <a:ext cx="25196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ESTIMATES, NOT COMMITMENTS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10" name="Rounded Rectangle 9"/>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Assessment</a:t>
            </a:r>
          </a:p>
          <a:p>
            <a:pPr algn="l"/>
            <a:r>
              <a:rPr sz="1300" b="0" i="0">
                <a:solidFill>
                  <a:srgbClr val="26EFE9"/>
                </a:solidFill>
                <a:latin typeface="Arial"/>
              </a:rPr>
              <a:t>Fixed fee</a:t>
            </a:r>
          </a:p>
        </p:txBody>
      </p:sp>
      <p:cxnSp>
        <p:nvCxnSpPr>
          <p:cNvPr id="11" name="Connector (flow)"/>
          <p:cNvCxnSpPr/>
          <p:nvPr/>
        </p:nvCxnSpPr>
        <p:spPr>
          <a:xfrm>
            <a:off x="4142232" y="1801368"/>
            <a:ext cx="155447"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Access and estate review</a:t>
            </a:r>
          </a:p>
          <a:p>
            <a:pPr algn="l" marL="201168" indent="-201168">
              <a:spcAft>
                <a:spcPts val="600"/>
              </a:spcAft>
              <a:buFont typeface="Arial"/>
              <a:buChar char="•"/>
            </a:pPr>
            <a:r>
              <a:rPr sz="1600" b="0" i="0">
                <a:solidFill>
                  <a:srgbClr val="1E1E2E"/>
                </a:solidFill>
                <a:latin typeface="Arial"/>
              </a:rPr>
              <a:t>Workload, region and capacity check</a:t>
            </a:r>
          </a:p>
          <a:p>
            <a:pPr algn="l" marL="201168" indent="-201168">
              <a:spcAft>
                <a:spcPts val="600"/>
              </a:spcAft>
              <a:buFont typeface="Arial"/>
              <a:buChar char="•"/>
            </a:pPr>
            <a:r>
              <a:rPr sz="1600" b="0" i="0">
                <a:solidFill>
                  <a:srgbClr val="1E1E2E"/>
                </a:solidFill>
                <a:latin typeface="Arial"/>
              </a:rPr>
              <a:t>Gap register and decisions</a:t>
            </a:r>
          </a:p>
          <a:p>
            <a:pPr algn="l" marL="201168" indent="-201168">
              <a:spcAft>
                <a:spcPts val="600"/>
              </a:spcAft>
              <a:buFont typeface="Arial"/>
              <a:buChar char="•"/>
            </a:pPr>
            <a:r>
              <a:rPr sz="1600" b="0" i="0">
                <a:solidFill>
                  <a:srgbClr val="1E1E2E"/>
                </a:solidFill>
                <a:latin typeface="Arial"/>
              </a:rPr>
              <a:t>Priced resource list and route</a:t>
            </a:r>
          </a:p>
        </p:txBody>
      </p:sp>
      <p:sp>
        <p:nvSpPr>
          <p:cNvPr id="13" name="Rounded Rectangle 12"/>
          <p:cNvSpPr/>
          <p:nvPr/>
        </p:nvSpPr>
        <p:spPr>
          <a:xfrm>
            <a:off x="548640"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Gap register and estimate accepted</a:t>
            </a:r>
          </a:p>
        </p:txBody>
      </p:sp>
      <p:sp>
        <p:nvSpPr>
          <p:cNvPr id="14" name="Rounded Rectangle 13"/>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Implementation</a:t>
            </a:r>
          </a:p>
          <a:p>
            <a:pPr algn="l"/>
            <a:r>
              <a:rPr sz="1300" b="0" i="0">
                <a:solidFill>
                  <a:srgbClr val="26EFE9"/>
                </a:solidFill>
                <a:latin typeface="Arial"/>
              </a:rPr>
              <a:t>Extend or establish</a:t>
            </a:r>
          </a:p>
        </p:txBody>
      </p:sp>
      <p:cxnSp>
        <p:nvCxnSpPr>
          <p:cNvPr id="15" name="Connector (flow)"/>
          <p:cNvCxnSpPr/>
          <p:nvPr/>
        </p:nvCxnSpPr>
        <p:spPr>
          <a:xfrm>
            <a:off x="7891271" y="1801368"/>
            <a:ext cx="15544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97679"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Platform or AI work packages</a:t>
            </a:r>
          </a:p>
          <a:p>
            <a:pPr algn="l" marL="201168" indent="-201168">
              <a:spcAft>
                <a:spcPts val="600"/>
              </a:spcAft>
              <a:buFont typeface="Arial"/>
              <a:buChar char="•"/>
            </a:pPr>
            <a:r>
              <a:rPr sz="1600" b="0" i="0">
                <a:solidFill>
                  <a:srgbClr val="1E1E2E"/>
                </a:solidFill>
                <a:latin typeface="Arial"/>
              </a:rPr>
              <a:t>IaC, pipelines and promotion</a:t>
            </a:r>
          </a:p>
          <a:p>
            <a:pPr algn="l" marL="201168" indent="-201168">
              <a:spcAft>
                <a:spcPts val="600"/>
              </a:spcAft>
              <a:buFont typeface="Arial"/>
              <a:buChar char="•"/>
            </a:pPr>
            <a:r>
              <a:rPr sz="1600" b="0" i="0">
                <a:solidFill>
                  <a:srgbClr val="1E1E2E"/>
                </a:solidFill>
                <a:latin typeface="Arial"/>
              </a:rPr>
              <a:t>Network, DNS, identity, policy</a:t>
            </a:r>
          </a:p>
          <a:p>
            <a:pPr algn="l" marL="201168" indent="-201168">
              <a:spcAft>
                <a:spcPts val="600"/>
              </a:spcAft>
              <a:buFont typeface="Arial"/>
              <a:buChar char="•"/>
            </a:pPr>
            <a:r>
              <a:rPr sz="1600" b="0" i="0">
                <a:solidFill>
                  <a:srgbClr val="1E1E2E"/>
                </a:solidFill>
                <a:latin typeface="Arial"/>
              </a:rPr>
              <a:t>Test evidence per gate</a:t>
            </a:r>
          </a:p>
        </p:txBody>
      </p:sp>
      <p:sp>
        <p:nvSpPr>
          <p:cNvPr id="17" name="Rounded Rectangle 16"/>
          <p:cNvSpPr/>
          <p:nvPr/>
        </p:nvSpPr>
        <p:spPr>
          <a:xfrm>
            <a:off x="4297679"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Platform gates passed</a:t>
            </a:r>
          </a:p>
        </p:txBody>
      </p:sp>
      <p:sp>
        <p:nvSpPr>
          <p:cNvPr id="18" name="Rounded Rectangle 17"/>
          <p:cNvSpPr/>
          <p:nvPr/>
        </p:nvSpPr>
        <p:spPr>
          <a:xfrm>
            <a:off x="804671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Operational transition</a:t>
            </a:r>
          </a:p>
          <a:p>
            <a:pPr algn="l"/>
            <a:r>
              <a:rPr sz="1300" b="0" i="0">
                <a:solidFill>
                  <a:srgbClr val="26EFE9"/>
                </a:solidFill>
                <a:latin typeface="Arial"/>
              </a:rPr>
              <a:t>Fixed fee, capped</a:t>
            </a:r>
          </a:p>
        </p:txBody>
      </p:sp>
      <p:sp>
        <p:nvSpPr>
          <p:cNvPr id="19" name="TextBox 18"/>
          <p:cNvSpPr txBox="1"/>
          <p:nvPr/>
        </p:nvSpPr>
        <p:spPr>
          <a:xfrm>
            <a:off x="8046719"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Runbooks and alert routing</a:t>
            </a:r>
          </a:p>
          <a:p>
            <a:pPr algn="l" marL="201168" indent="-201168">
              <a:spcAft>
                <a:spcPts val="600"/>
              </a:spcAft>
              <a:buFont typeface="Arial"/>
              <a:buChar char="•"/>
            </a:pPr>
            <a:r>
              <a:rPr sz="1600" b="0" i="0">
                <a:solidFill>
                  <a:srgbClr val="1E1E2E"/>
                </a:solidFill>
                <a:latin typeface="Arial"/>
              </a:rPr>
              <a:t>Restore and containment drills</a:t>
            </a:r>
          </a:p>
          <a:p>
            <a:pPr algn="l" marL="201168" indent="-201168">
              <a:spcAft>
                <a:spcPts val="600"/>
              </a:spcAft>
              <a:buFont typeface="Arial"/>
              <a:buChar char="•"/>
            </a:pPr>
            <a:r>
              <a:rPr sz="1600" b="0" i="0">
                <a:solidFill>
                  <a:srgbClr val="1E1E2E"/>
                </a:solidFill>
                <a:latin typeface="Arial"/>
              </a:rPr>
              <a:t>Hypercare window</a:t>
            </a:r>
          </a:p>
          <a:p>
            <a:pPr algn="l" marL="201168" indent="-201168">
              <a:spcAft>
                <a:spcPts val="600"/>
              </a:spcAft>
              <a:buFont typeface="Arial"/>
              <a:buChar char="•"/>
            </a:pPr>
            <a:r>
              <a:rPr sz="1600" b="0" i="0">
                <a:solidFill>
                  <a:srgbClr val="1E1E2E"/>
                </a:solidFill>
                <a:latin typeface="Arial"/>
              </a:rPr>
              <a:t>Handover to operations</a:t>
            </a:r>
          </a:p>
        </p:txBody>
      </p:sp>
      <p:sp>
        <p:nvSpPr>
          <p:cNvPr id="20" name="Rounded Rectangle 19"/>
          <p:cNvSpPr/>
          <p:nvPr/>
        </p:nvSpPr>
        <p:spPr>
          <a:xfrm>
            <a:off x="8046719"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Named owners accept</a:t>
            </a:r>
          </a:p>
        </p:txBody>
      </p:sp>
      <p:sp>
        <p:nvSpPr>
          <p:cNvPr id="21" name="Rounded Rectangle 20"/>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Reference effort for a bounded extension: about 88 role days across six towers before contingency (V3 proposal, illustrative).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Management groups, subscriptions, policy and tags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2194560" y="1371600"/>
            <a:ext cx="201168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67712" y="1444752"/>
            <a:ext cx="329184" cy="329184"/>
          </a:xfrm>
          <a:prstGeom prst="rect">
            <a:avLst/>
          </a:prstGeom>
        </p:spPr>
      </p:pic>
      <p:sp>
        <p:nvSpPr>
          <p:cNvPr id="11" name="TextBox 10"/>
          <p:cNvSpPr txBox="1"/>
          <p:nvPr/>
        </p:nvSpPr>
        <p:spPr>
          <a:xfrm>
            <a:off x="2670048" y="1408176"/>
            <a:ext cx="1499616" cy="402336"/>
          </a:xfrm>
          <a:prstGeom prst="rect">
            <a:avLst/>
          </a:prstGeom>
          <a:noFill/>
        </p:spPr>
        <p:txBody>
          <a:bodyPr wrap="square" lIns="0" rIns="0" tIns="0" bIns="0" anchor="ctr">
            <a:noAutofit/>
          </a:bodyPr>
          <a:lstStyle/>
          <a:p>
            <a:pPr algn="l"/>
            <a:r>
              <a:rPr sz="1200" b="1" i="0">
                <a:solidFill>
                  <a:srgbClr val="000048"/>
                </a:solidFill>
                <a:latin typeface="Arial"/>
              </a:rPr>
              <a:t>Tenant root group</a:t>
            </a:r>
          </a:p>
        </p:txBody>
      </p:sp>
      <p:sp>
        <p:nvSpPr>
          <p:cNvPr id="12" name="Rounded Rectangle 11"/>
          <p:cNvSpPr/>
          <p:nvPr/>
        </p:nvSpPr>
        <p:spPr>
          <a:xfrm>
            <a:off x="548640" y="219456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2267712"/>
            <a:ext cx="329184" cy="329184"/>
          </a:xfrm>
          <a:prstGeom prst="rect">
            <a:avLst/>
          </a:prstGeom>
        </p:spPr>
      </p:pic>
      <p:sp>
        <p:nvSpPr>
          <p:cNvPr id="14" name="TextBox 13"/>
          <p:cNvSpPr txBox="1"/>
          <p:nvPr/>
        </p:nvSpPr>
        <p:spPr>
          <a:xfrm>
            <a:off x="1024127" y="2231136"/>
            <a:ext cx="1591056" cy="402336"/>
          </a:xfrm>
          <a:prstGeom prst="rect">
            <a:avLst/>
          </a:prstGeom>
          <a:noFill/>
        </p:spPr>
        <p:txBody>
          <a:bodyPr wrap="square" lIns="0" rIns="0" tIns="0" bIns="0" anchor="ctr">
            <a:noAutofit/>
          </a:bodyPr>
          <a:lstStyle/>
          <a:p>
            <a:pPr algn="l"/>
            <a:r>
              <a:rPr sz="1200" b="1" i="0">
                <a:solidFill>
                  <a:srgbClr val="000048"/>
                </a:solidFill>
                <a:latin typeface="Arial"/>
              </a:rPr>
              <a:t>Platform</a:t>
            </a:r>
          </a:p>
        </p:txBody>
      </p:sp>
      <p:sp>
        <p:nvSpPr>
          <p:cNvPr id="15" name="Rounded Rectangle 14"/>
          <p:cNvSpPr/>
          <p:nvPr/>
        </p:nvSpPr>
        <p:spPr>
          <a:xfrm>
            <a:off x="3749039" y="2194560"/>
            <a:ext cx="228600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2191" y="2267712"/>
            <a:ext cx="329184" cy="329184"/>
          </a:xfrm>
          <a:prstGeom prst="rect">
            <a:avLst/>
          </a:prstGeom>
        </p:spPr>
      </p:pic>
      <p:sp>
        <p:nvSpPr>
          <p:cNvPr id="17" name="TextBox 16"/>
          <p:cNvSpPr txBox="1"/>
          <p:nvPr/>
        </p:nvSpPr>
        <p:spPr>
          <a:xfrm>
            <a:off x="4224528" y="2231136"/>
            <a:ext cx="1773936" cy="402336"/>
          </a:xfrm>
          <a:prstGeom prst="rect">
            <a:avLst/>
          </a:prstGeom>
          <a:noFill/>
        </p:spPr>
        <p:txBody>
          <a:bodyPr wrap="square" lIns="0" rIns="0" tIns="0" bIns="0" anchor="ctr">
            <a:noAutofit/>
          </a:bodyPr>
          <a:lstStyle/>
          <a:p>
            <a:pPr algn="l"/>
            <a:r>
              <a:rPr sz="1200" b="1" i="0">
                <a:solidFill>
                  <a:srgbClr val="000048"/>
                </a:solidFill>
                <a:latin typeface="Arial"/>
              </a:rPr>
              <a:t>Landing zones</a:t>
            </a:r>
          </a:p>
        </p:txBody>
      </p:sp>
      <p:sp>
        <p:nvSpPr>
          <p:cNvPr id="18" name="Rounded Rectangle 17"/>
          <p:cNvSpPr/>
          <p:nvPr/>
        </p:nvSpPr>
        <p:spPr>
          <a:xfrm>
            <a:off x="548640" y="301752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090671"/>
            <a:ext cx="329184" cy="329184"/>
          </a:xfrm>
          <a:prstGeom prst="rect">
            <a:avLst/>
          </a:prstGeom>
        </p:spPr>
      </p:pic>
      <p:sp>
        <p:nvSpPr>
          <p:cNvPr id="20" name="TextBox 19"/>
          <p:cNvSpPr txBox="1"/>
          <p:nvPr/>
        </p:nvSpPr>
        <p:spPr>
          <a:xfrm>
            <a:off x="1024127" y="3054096"/>
            <a:ext cx="1591056" cy="402336"/>
          </a:xfrm>
          <a:prstGeom prst="rect">
            <a:avLst/>
          </a:prstGeom>
          <a:noFill/>
        </p:spPr>
        <p:txBody>
          <a:bodyPr wrap="square" lIns="0" rIns="0" tIns="0" bIns="0" anchor="ctr">
            <a:noAutofit/>
          </a:bodyPr>
          <a:lstStyle/>
          <a:p>
            <a:pPr algn="l"/>
            <a:r>
              <a:rPr sz="1200" b="1" i="0">
                <a:solidFill>
                  <a:srgbClr val="000048"/>
                </a:solidFill>
                <a:latin typeface="Arial"/>
              </a:rPr>
              <a:t>Connectivity</a:t>
            </a:r>
          </a:p>
        </p:txBody>
      </p:sp>
      <p:sp>
        <p:nvSpPr>
          <p:cNvPr id="21" name="Rounded Rectangle 20"/>
          <p:cNvSpPr/>
          <p:nvPr/>
        </p:nvSpPr>
        <p:spPr>
          <a:xfrm>
            <a:off x="548640" y="361188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685032"/>
            <a:ext cx="329184" cy="329184"/>
          </a:xfrm>
          <a:prstGeom prst="rect">
            <a:avLst/>
          </a:prstGeom>
        </p:spPr>
      </p:pic>
      <p:sp>
        <p:nvSpPr>
          <p:cNvPr id="23" name="TextBox 22"/>
          <p:cNvSpPr txBox="1"/>
          <p:nvPr/>
        </p:nvSpPr>
        <p:spPr>
          <a:xfrm>
            <a:off x="1024127" y="3648456"/>
            <a:ext cx="1591056" cy="402336"/>
          </a:xfrm>
          <a:prstGeom prst="rect">
            <a:avLst/>
          </a:prstGeom>
          <a:noFill/>
        </p:spPr>
        <p:txBody>
          <a:bodyPr wrap="square" lIns="0" rIns="0" tIns="0" bIns="0" anchor="ctr">
            <a:noAutofit/>
          </a:bodyPr>
          <a:lstStyle/>
          <a:p>
            <a:pPr algn="l"/>
            <a:r>
              <a:rPr sz="1200" b="1" i="0">
                <a:solidFill>
                  <a:srgbClr val="000048"/>
                </a:solidFill>
                <a:latin typeface="Arial"/>
              </a:rPr>
              <a:t>Identity, management</a:t>
            </a:r>
          </a:p>
        </p:txBody>
      </p:sp>
      <p:sp>
        <p:nvSpPr>
          <p:cNvPr id="24" name="Rounded Rectangle 23"/>
          <p:cNvSpPr/>
          <p:nvPr/>
        </p:nvSpPr>
        <p:spPr>
          <a:xfrm>
            <a:off x="32004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3552" y="3090671"/>
            <a:ext cx="329184" cy="329184"/>
          </a:xfrm>
          <a:prstGeom prst="rect">
            <a:avLst/>
          </a:prstGeom>
        </p:spPr>
      </p:pic>
      <p:sp>
        <p:nvSpPr>
          <p:cNvPr id="26" name="TextBox 25"/>
          <p:cNvSpPr txBox="1"/>
          <p:nvPr/>
        </p:nvSpPr>
        <p:spPr>
          <a:xfrm>
            <a:off x="3675887"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Corp</a:t>
            </a:r>
          </a:p>
        </p:txBody>
      </p:sp>
      <p:sp>
        <p:nvSpPr>
          <p:cNvPr id="27" name="Rounded Rectangle 26"/>
          <p:cNvSpPr/>
          <p:nvPr/>
        </p:nvSpPr>
        <p:spPr>
          <a:xfrm>
            <a:off x="48006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73752" y="3090671"/>
            <a:ext cx="329184" cy="329184"/>
          </a:xfrm>
          <a:prstGeom prst="rect">
            <a:avLst/>
          </a:prstGeom>
        </p:spPr>
      </p:pic>
      <p:sp>
        <p:nvSpPr>
          <p:cNvPr id="29" name="TextBox 28"/>
          <p:cNvSpPr txBox="1"/>
          <p:nvPr/>
        </p:nvSpPr>
        <p:spPr>
          <a:xfrm>
            <a:off x="5276088"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Online</a:t>
            </a:r>
          </a:p>
        </p:txBody>
      </p:sp>
      <p:sp>
        <p:nvSpPr>
          <p:cNvPr id="30" name="Rounded Rectangle 29"/>
          <p:cNvSpPr/>
          <p:nvPr/>
        </p:nvSpPr>
        <p:spPr>
          <a:xfrm>
            <a:off x="3200400" y="384048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3913632"/>
            <a:ext cx="329184" cy="329184"/>
          </a:xfrm>
          <a:prstGeom prst="rect">
            <a:avLst/>
          </a:prstGeom>
        </p:spPr>
      </p:pic>
      <p:sp>
        <p:nvSpPr>
          <p:cNvPr id="32" name="TextBox 31"/>
          <p:cNvSpPr txBox="1"/>
          <p:nvPr/>
        </p:nvSpPr>
        <p:spPr>
          <a:xfrm>
            <a:off x="3675887" y="3877056"/>
            <a:ext cx="950976" cy="402336"/>
          </a:xfrm>
          <a:prstGeom prst="rect">
            <a:avLst/>
          </a:prstGeom>
          <a:noFill/>
        </p:spPr>
        <p:txBody>
          <a:bodyPr wrap="square" lIns="0" rIns="0" tIns="0" bIns="0" anchor="ctr">
            <a:noAutofit/>
          </a:bodyPr>
          <a:lstStyle/>
          <a:p>
            <a:pPr algn="l"/>
            <a:r>
              <a:rPr sz="1200" b="1" i="0">
                <a:solidFill>
                  <a:srgbClr val="000048"/>
                </a:solidFill>
                <a:latin typeface="Arial"/>
              </a:rPr>
              <a:t>AI prod</a:t>
            </a:r>
          </a:p>
        </p:txBody>
      </p:sp>
      <p:sp>
        <p:nvSpPr>
          <p:cNvPr id="33" name="Rounded Rectangle 32"/>
          <p:cNvSpPr/>
          <p:nvPr/>
        </p:nvSpPr>
        <p:spPr>
          <a:xfrm>
            <a:off x="3200400" y="443484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4507992"/>
            <a:ext cx="329184" cy="329184"/>
          </a:xfrm>
          <a:prstGeom prst="rect">
            <a:avLst/>
          </a:prstGeom>
        </p:spPr>
      </p:pic>
      <p:sp>
        <p:nvSpPr>
          <p:cNvPr id="35" name="TextBox 34"/>
          <p:cNvSpPr txBox="1"/>
          <p:nvPr/>
        </p:nvSpPr>
        <p:spPr>
          <a:xfrm>
            <a:off x="3675887" y="4471416"/>
            <a:ext cx="950976" cy="402336"/>
          </a:xfrm>
          <a:prstGeom prst="rect">
            <a:avLst/>
          </a:prstGeom>
          <a:noFill/>
        </p:spPr>
        <p:txBody>
          <a:bodyPr wrap="square" lIns="0" rIns="0" tIns="0" bIns="0" anchor="ctr">
            <a:noAutofit/>
          </a:bodyPr>
          <a:lstStyle/>
          <a:p>
            <a:pPr algn="l"/>
            <a:r>
              <a:rPr sz="1200" b="1" i="0">
                <a:solidFill>
                  <a:srgbClr val="000048"/>
                </a:solidFill>
                <a:latin typeface="Arial"/>
              </a:rPr>
              <a:t>AI non-prod</a:t>
            </a:r>
          </a:p>
        </p:txBody>
      </p:sp>
      <p:cxnSp>
        <p:nvCxnSpPr>
          <p:cNvPr id="36"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7" name="Connector (plain)"/>
          <p:cNvCxnSpPr/>
          <p:nvPr/>
        </p:nvCxnSpPr>
        <p:spPr>
          <a:xfrm flipH="1">
            <a:off x="1600200" y="2011680"/>
            <a:ext cx="160020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8" name="Connector (plain)"/>
          <p:cNvCxnSpPr/>
          <p:nvPr/>
        </p:nvCxnSpPr>
        <p:spPr>
          <a:xfrm>
            <a:off x="160020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9"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0" name="Connector (plain)"/>
          <p:cNvCxnSpPr/>
          <p:nvPr/>
        </p:nvCxnSpPr>
        <p:spPr>
          <a:xfrm>
            <a:off x="3200400" y="2011680"/>
            <a:ext cx="169164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1" name="Connector (plain)"/>
          <p:cNvCxnSpPr/>
          <p:nvPr/>
        </p:nvCxnSpPr>
        <p:spPr>
          <a:xfrm>
            <a:off x="489204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2" name="Connector (plain)"/>
          <p:cNvCxnSpPr/>
          <p:nvPr/>
        </p:nvCxnSpPr>
        <p:spPr>
          <a:xfrm>
            <a:off x="1600200" y="267004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3" name="Connector (plain)"/>
          <p:cNvCxnSpPr/>
          <p:nvPr/>
        </p:nvCxnSpPr>
        <p:spPr>
          <a:xfrm>
            <a:off x="640080" y="3255264"/>
            <a:ext cx="0" cy="59436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4" name="Connector (plain)"/>
          <p:cNvCxnSpPr/>
          <p:nvPr/>
        </p:nvCxnSpPr>
        <p:spPr>
          <a:xfrm>
            <a:off x="4892040" y="267004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5" name="Connector (plain)"/>
          <p:cNvCxnSpPr/>
          <p:nvPr/>
        </p:nvCxnSpPr>
        <p:spPr>
          <a:xfrm flipH="1">
            <a:off x="3931920" y="2834640"/>
            <a:ext cx="96012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6" name="Connector (plain)"/>
          <p:cNvCxnSpPr/>
          <p:nvPr/>
        </p:nvCxnSpPr>
        <p:spPr>
          <a:xfrm>
            <a:off x="39319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7" name="Connector (plain)"/>
          <p:cNvCxnSpPr/>
          <p:nvPr/>
        </p:nvCxnSpPr>
        <p:spPr>
          <a:xfrm>
            <a:off x="4892040" y="2834640"/>
            <a:ext cx="64008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8" name="Connector (plain)"/>
          <p:cNvCxnSpPr/>
          <p:nvPr/>
        </p:nvCxnSpPr>
        <p:spPr>
          <a:xfrm>
            <a:off x="55321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9" name="Connector (plain)"/>
          <p:cNvCxnSpPr/>
          <p:nvPr/>
        </p:nvCxnSpPr>
        <p:spPr>
          <a:xfrm>
            <a:off x="3931920" y="349300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0" name="Connector (plain)"/>
          <p:cNvCxnSpPr/>
          <p:nvPr/>
        </p:nvCxnSpPr>
        <p:spPr>
          <a:xfrm flipH="1">
            <a:off x="3127248" y="3493008"/>
            <a:ext cx="11887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1" name="Connector (plain)"/>
          <p:cNvCxnSpPr/>
          <p:nvPr/>
        </p:nvCxnSpPr>
        <p:spPr>
          <a:xfrm>
            <a:off x="3127248" y="3493008"/>
            <a:ext cx="0" cy="1179576"/>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2" name="Connector (plain)"/>
          <p:cNvCxnSpPr/>
          <p:nvPr/>
        </p:nvCxnSpPr>
        <p:spPr>
          <a:xfrm>
            <a:off x="3127248" y="4672584"/>
            <a:ext cx="7315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5074920"/>
            <a:ext cx="5760720" cy="685800"/>
          </a:xfrm>
          <a:prstGeom prst="rect">
            <a:avLst/>
          </a:prstGeom>
          <a:noFill/>
        </p:spPr>
        <p:txBody>
          <a:bodyPr wrap="square" lIns="0" rIns="0" tIns="0" bIns="0" anchor="t">
            <a:noAutofit/>
          </a:bodyPr>
          <a:lstStyle/>
          <a:p>
            <a:pPr algn="l"/>
            <a:r>
              <a:rPr sz="1300" b="0" i="0">
                <a:solidFill>
                  <a:srgbClr val="53565A"/>
                </a:solidFill>
                <a:latin typeface="Arial"/>
              </a:rPr>
              <a:t>AI production and non-production are separate subscriptions under the Corp (or Online) group, inheriting platform policy.</a:t>
            </a:r>
          </a:p>
        </p:txBody>
      </p:sp>
      <p:graphicFrame>
        <p:nvGraphicFramePr>
          <p:cNvPr id="54" name="Table"/>
          <p:cNvGraphicFramePr>
            <a:graphicFrameLocks noGrp="1"/>
          </p:cNvGraphicFramePr>
          <p:nvPr/>
        </p:nvGraphicFramePr>
        <p:xfrm>
          <a:off x="6583680" y="1371600"/>
          <a:ext cx="5056632" cy="2743200"/>
        </p:xfrm>
        <a:graphic>
          <a:graphicData uri="http://schemas.openxmlformats.org/drawingml/2006/table">
            <a:tbl>
              <a:tblPr firstRow="1" bandRow="0">
                <a:tableStyleId>{5C22544A-7EE6-4342-B048-85BDC9FD1C3A}</a:tableStyleId>
              </a:tblPr>
              <a:tblGrid>
                <a:gridCol w="1463040"/>
                <a:gridCol w="3593592"/>
              </a:tblGrid>
              <a:tr h="274320">
                <a:tc>
                  <a:txBody>
                    <a:bodyPr wrap="square" anchor="ctr">
                      <a:noAutofit/>
                    </a:bodyPr>
                    <a:lstStyle/>
                    <a:p>
                      <a:pPr algn="l"/>
                      <a:r>
                        <a:rPr sz="12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Minimum baseline (proposed)</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Azure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Allowed regions and deployment types; deny public network access for AI, Search, Storage, Key Vault; require diagnostics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Tags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owner, workload, environment, cost-centre, data-classification, agent-id (where applicable)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Subscription vending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approval, naming and budget set at creation</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Cost ownership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Budget and alert per subscription and workload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Time-bound, approved by customer risk owner</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Identity, RBAC and privileged access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PROPOSED BASELINE"/>
          <p:cNvSpPr/>
          <p:nvPr/>
        </p:nvSpPr>
        <p:spPr>
          <a:xfrm>
            <a:off x="189865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BASELINE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895600"/>
        </p:xfrm>
        <a:graphic>
          <a:graphicData uri="http://schemas.openxmlformats.org/drawingml/2006/table">
            <a:tbl>
              <a:tblPr firstRow="1" bandRow="0">
                <a:tableStyleId>{5C22544A-7EE6-4342-B048-85BDC9FD1C3A}</a:tableStyleId>
              </a:tblPr>
              <a:tblGrid>
                <a:gridCol w="2194560"/>
                <a:gridCol w="3017520"/>
                <a:gridCol w="3931920"/>
                <a:gridCol w="1947672"/>
              </a:tblGrid>
              <a:tr h="304800">
                <a:tc>
                  <a:txBody>
                    <a:bodyPr wrap="square" anchor="ctr">
                      <a:noAutofit/>
                    </a:bodyPr>
                    <a:lstStyle/>
                    <a:p>
                      <a:pPr algn="l"/>
                      <a:r>
                        <a:rPr sz="1400" b="1" i="0">
                          <a:solidFill>
                            <a:srgbClr val="FFFFFF"/>
                          </a:solidFill>
                          <a:latin typeface="Arial"/>
                        </a:rPr>
                        <a:t>Identity type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Implemented by</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Workload managed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 host to Foundry, Search, Storage, Key Vault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Least-privilege data-plane roles; local auth disabled where supported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Agent 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Agent calls to models, tools and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Scoped per agent and version; mapped server-side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with Security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Deployment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Pipelines that create resources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Federated credentials; no long-lived secrets; scoped per environment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DevOps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Privileged operators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administration and containment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Entra PIM, just-in-time, approval for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Security designs, CIS Infra operates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Break-glass accounts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Emergency access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Monitored, tested, excluded from automation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with Security</a:t>
                      </a:r>
                    </a:p>
                  </a:txBody>
                  <a:tcPr marL="73152" marR="73152" marT="36576" marB="36576" anchor="ctr">
                    <a:solidFill>
                      <a:srgbClr val="FFFFFF"/>
                    </a:solidFill>
                  </a:tcPr>
                </a:tc>
              </a:tr>
            </a:tbl>
          </a:graphicData>
        </a:graphic>
      </p:graphicFrame>
      <p:pic>
        <p:nvPicPr>
          <p:cNvPr id="10" name="Azure icon: Managed Identities" descr="Official Azure icon: Managed Identiti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257800"/>
            <a:ext cx="457200" cy="457200"/>
          </a:xfrm>
          <a:prstGeom prst="rect">
            <a:avLst/>
          </a:prstGeom>
        </p:spPr>
      </p:pic>
      <p:pic>
        <p:nvPicPr>
          <p:cNvPr id="11" name="Azure icon: Entra Privileged Identity Management" descr="Official Azure icon: Entra Privileged Identity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8719" y="5257800"/>
            <a:ext cx="457200" cy="457200"/>
          </a:xfrm>
          <a:prstGeom prst="rect">
            <a:avLst/>
          </a:prstGeom>
        </p:spPr>
      </p:pic>
      <p:pic>
        <p:nvPicPr>
          <p:cNvPr id="12" name="Azure icon: Key Vault" descr="Official Azure icon: Key Vaul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5257800"/>
            <a:ext cx="457200" cy="457200"/>
          </a:xfrm>
          <a:prstGeom prst="rect">
            <a:avLst/>
          </a:prstGeom>
        </p:spPr>
      </p:pic>
      <p:sp>
        <p:nvSpPr>
          <p:cNvPr id="13" name="TextBox 12"/>
          <p:cNvSpPr txBox="1"/>
          <p:nvPr/>
        </p:nvSpPr>
        <p:spPr>
          <a:xfrm>
            <a:off x="2514600" y="5303520"/>
            <a:ext cx="9052560" cy="457200"/>
          </a:xfrm>
          <a:prstGeom prst="rect">
            <a:avLst/>
          </a:prstGeom>
          <a:noFill/>
        </p:spPr>
        <p:txBody>
          <a:bodyPr wrap="square" lIns="0" rIns="0" tIns="0" bIns="0" anchor="t">
            <a:noAutofit/>
          </a:bodyPr>
          <a:lstStyle/>
          <a:p>
            <a:pPr algn="l"/>
            <a:r>
              <a:rPr sz="1400" b="0" i="0">
                <a:solidFill>
                  <a:srgbClr val="53565A"/>
                </a:solidFill>
                <a:latin typeface="Arial"/>
              </a:rPr>
              <a:t>Managed Identities, Entra Privileged Identity Management and Key Vault are the core Azure services for this layer.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Hub connectivity, private endpoints and DNS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2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Rounded Rectangle 8"/>
          <p:cNvSpPr/>
          <p:nvPr/>
        </p:nvSpPr>
        <p:spPr>
          <a:xfrm>
            <a:off x="1920240" y="1325880"/>
            <a:ext cx="9875520" cy="269748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29968" y="1380744"/>
            <a:ext cx="9656064" cy="237744"/>
          </a:xfrm>
          <a:prstGeom prst="rect">
            <a:avLst/>
          </a:prstGeom>
          <a:noFill/>
        </p:spPr>
        <p:txBody>
          <a:bodyPr wrap="square" lIns="0" rIns="0" tIns="0" bIns="0" anchor="t">
            <a:noAutofit/>
          </a:bodyPr>
          <a:lstStyle/>
          <a:p>
            <a:pPr algn="l"/>
            <a:r>
              <a:rPr sz="1100" b="1" i="0">
                <a:solidFill>
                  <a:srgbClr val="000048"/>
                </a:solidFill>
                <a:latin typeface="Arial"/>
              </a:rPr>
              <a:t>WORKLOAD LANDING ZONE SUBSCRIPTION: SPOKE VIRTUAL NETWORK</a:t>
            </a:r>
          </a:p>
        </p:txBody>
      </p:sp>
      <p:sp>
        <p:nvSpPr>
          <p:cNvPr id="11" name="Rounded Rectangle 10"/>
          <p:cNvSpPr/>
          <p:nvPr/>
        </p:nvSpPr>
        <p:spPr>
          <a:xfrm>
            <a:off x="205740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3055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snet-appGateway</a:t>
            </a:r>
          </a:p>
        </p:txBody>
      </p:sp>
      <p:pic>
        <p:nvPicPr>
          <p:cNvPr id="13"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94560" y="2057400"/>
            <a:ext cx="384048" cy="384048"/>
          </a:xfrm>
          <a:prstGeom prst="rect">
            <a:avLst/>
          </a:prstGeom>
        </p:spPr>
      </p:pic>
      <p:sp>
        <p:nvSpPr>
          <p:cNvPr id="14" name="TextBox 13"/>
          <p:cNvSpPr txBox="1"/>
          <p:nvPr/>
        </p:nvSpPr>
        <p:spPr>
          <a:xfrm>
            <a:off x="265176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App Gateway + WAF</a:t>
            </a:r>
          </a:p>
        </p:txBody>
      </p:sp>
      <p:sp>
        <p:nvSpPr>
          <p:cNvPr id="15" name="Rounded Rectangle 14"/>
          <p:cNvSpPr/>
          <p:nvPr/>
        </p:nvSpPr>
        <p:spPr>
          <a:xfrm>
            <a:off x="406908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14223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snet-appServicePlan</a:t>
            </a:r>
          </a:p>
        </p:txBody>
      </p:sp>
      <p:pic>
        <p:nvPicPr>
          <p:cNvPr id="17"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6240" y="2057400"/>
            <a:ext cx="384048" cy="384048"/>
          </a:xfrm>
          <a:prstGeom prst="rect">
            <a:avLst/>
          </a:prstGeom>
        </p:spPr>
      </p:pic>
      <p:sp>
        <p:nvSpPr>
          <p:cNvPr id="18" name="TextBox 17"/>
          <p:cNvSpPr txBox="1"/>
          <p:nvPr/>
        </p:nvSpPr>
        <p:spPr>
          <a:xfrm>
            <a:off x="466344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App Service integration</a:t>
            </a:r>
          </a:p>
        </p:txBody>
      </p:sp>
      <p:sp>
        <p:nvSpPr>
          <p:cNvPr id="19" name="Rounded Rectangle 18"/>
          <p:cNvSpPr/>
          <p:nvPr/>
        </p:nvSpPr>
        <p:spPr>
          <a:xfrm>
            <a:off x="608076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5391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snet-agentsEgress</a:t>
            </a:r>
          </a:p>
        </p:txBody>
      </p:sp>
      <p:pic>
        <p:nvPicPr>
          <p:cNvPr id="21"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0" y="2057400"/>
            <a:ext cx="384048" cy="384048"/>
          </a:xfrm>
          <a:prstGeom prst="rect">
            <a:avLst/>
          </a:prstGeom>
        </p:spPr>
      </p:pic>
      <p:sp>
        <p:nvSpPr>
          <p:cNvPr id="22" name="TextBox 21"/>
          <p:cNvSpPr txBox="1"/>
          <p:nvPr/>
        </p:nvSpPr>
        <p:spPr>
          <a:xfrm>
            <a:off x="667512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Agent Service integration</a:t>
            </a:r>
          </a:p>
        </p:txBody>
      </p:sp>
      <p:sp>
        <p:nvSpPr>
          <p:cNvPr id="23" name="Rounded Rectangle 22"/>
          <p:cNvSpPr/>
          <p:nvPr/>
        </p:nvSpPr>
        <p:spPr>
          <a:xfrm>
            <a:off x="8092440" y="1691640"/>
            <a:ext cx="3566160" cy="2194560"/>
          </a:xfrm>
          <a:prstGeom prst="roundRect">
            <a:avLst>
              <a:gd name="adj" fmla="val 41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65592" y="1719072"/>
            <a:ext cx="3474720" cy="237744"/>
          </a:xfrm>
          <a:prstGeom prst="rect">
            <a:avLst/>
          </a:prstGeom>
          <a:noFill/>
        </p:spPr>
        <p:txBody>
          <a:bodyPr wrap="square" lIns="0" rIns="0" tIns="0" bIns="0" anchor="t">
            <a:noAutofit/>
          </a:bodyPr>
          <a:lstStyle/>
          <a:p>
            <a:pPr algn="l"/>
            <a:r>
              <a:rPr sz="1000" b="1" i="0">
                <a:solidFill>
                  <a:srgbClr val="53565A"/>
                </a:solidFill>
                <a:latin typeface="Arial"/>
              </a:rPr>
              <a:t>snet-privateEndpoints</a:t>
            </a:r>
          </a:p>
        </p:txBody>
      </p:sp>
      <p:pic>
        <p:nvPicPr>
          <p:cNvPr id="2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011680"/>
            <a:ext cx="347472" cy="347472"/>
          </a:xfrm>
          <a:prstGeom prst="rect">
            <a:avLst/>
          </a:prstGeom>
        </p:spPr>
      </p:pic>
      <p:sp>
        <p:nvSpPr>
          <p:cNvPr id="26" name="TextBox 25"/>
          <p:cNvSpPr txBox="1"/>
          <p:nvPr/>
        </p:nvSpPr>
        <p:spPr>
          <a:xfrm>
            <a:off x="8183879"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App Service</a:t>
            </a:r>
          </a:p>
        </p:txBody>
      </p:sp>
      <p:pic>
        <p:nvPicPr>
          <p:cNvPr id="27"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011680"/>
            <a:ext cx="347472" cy="347472"/>
          </a:xfrm>
          <a:prstGeom prst="rect">
            <a:avLst/>
          </a:prstGeom>
        </p:spPr>
      </p:pic>
      <p:sp>
        <p:nvSpPr>
          <p:cNvPr id="28" name="TextBox 27"/>
          <p:cNvSpPr txBox="1"/>
          <p:nvPr/>
        </p:nvSpPr>
        <p:spPr>
          <a:xfrm>
            <a:off x="9345167"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Storage account</a:t>
            </a:r>
          </a:p>
        </p:txBody>
      </p:sp>
      <p:pic>
        <p:nvPicPr>
          <p:cNvPr id="29"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011680"/>
            <a:ext cx="347472" cy="347472"/>
          </a:xfrm>
          <a:prstGeom prst="rect">
            <a:avLst/>
          </a:prstGeom>
        </p:spPr>
      </p:pic>
      <p:sp>
        <p:nvSpPr>
          <p:cNvPr id="30" name="TextBox 29"/>
          <p:cNvSpPr txBox="1"/>
          <p:nvPr/>
        </p:nvSpPr>
        <p:spPr>
          <a:xfrm>
            <a:off x="10506455"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Key Vault</a:t>
            </a:r>
          </a:p>
        </p:txBody>
      </p:sp>
      <p:pic>
        <p:nvPicPr>
          <p:cNvPr id="31"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926080"/>
            <a:ext cx="347472" cy="347472"/>
          </a:xfrm>
          <a:prstGeom prst="rect">
            <a:avLst/>
          </a:prstGeom>
        </p:spPr>
      </p:pic>
      <p:sp>
        <p:nvSpPr>
          <p:cNvPr id="32" name="TextBox 31"/>
          <p:cNvSpPr txBox="1"/>
          <p:nvPr/>
        </p:nvSpPr>
        <p:spPr>
          <a:xfrm>
            <a:off x="8183879"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Foundry</a:t>
            </a:r>
          </a:p>
        </p:txBody>
      </p:sp>
      <p:pic>
        <p:nvPicPr>
          <p:cNvPr id="33"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926080"/>
            <a:ext cx="347472" cy="347472"/>
          </a:xfrm>
          <a:prstGeom prst="rect">
            <a:avLst/>
          </a:prstGeom>
        </p:spPr>
      </p:pic>
      <p:sp>
        <p:nvSpPr>
          <p:cNvPr id="34" name="TextBox 33"/>
          <p:cNvSpPr txBox="1"/>
          <p:nvPr/>
        </p:nvSpPr>
        <p:spPr>
          <a:xfrm>
            <a:off x="9345167"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AI Search</a:t>
            </a:r>
          </a:p>
        </p:txBody>
      </p:sp>
      <p:pic>
        <p:nvPicPr>
          <p:cNvPr id="3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926080"/>
            <a:ext cx="347472" cy="347472"/>
          </a:xfrm>
          <a:prstGeom prst="rect">
            <a:avLst/>
          </a:prstGeom>
        </p:spPr>
      </p:pic>
      <p:sp>
        <p:nvSpPr>
          <p:cNvPr id="36" name="TextBox 35"/>
          <p:cNvSpPr txBox="1"/>
          <p:nvPr/>
        </p:nvSpPr>
        <p:spPr>
          <a:xfrm>
            <a:off x="10506455"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Cosmos DB</a:t>
            </a:r>
          </a:p>
        </p:txBody>
      </p:sp>
      <p:sp>
        <p:nvSpPr>
          <p:cNvPr id="37" name="Rounded Rectangle 36"/>
          <p:cNvSpPr/>
          <p:nvPr/>
        </p:nvSpPr>
        <p:spPr>
          <a:xfrm>
            <a:off x="2057400" y="2926080"/>
            <a:ext cx="3931920" cy="960120"/>
          </a:xfrm>
          <a:prstGeom prst="roundRect">
            <a:avLst>
              <a:gd name="adj" fmla="val 9523"/>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30552" y="2953512"/>
            <a:ext cx="3840480" cy="237744"/>
          </a:xfrm>
          <a:prstGeom prst="rect">
            <a:avLst/>
          </a:prstGeom>
          <a:noFill/>
        </p:spPr>
        <p:txBody>
          <a:bodyPr wrap="square" lIns="0" rIns="0" tIns="0" bIns="0" anchor="t">
            <a:noAutofit/>
          </a:bodyPr>
          <a:lstStyle/>
          <a:p>
            <a:pPr algn="l"/>
            <a:r>
              <a:rPr sz="1000" b="1" i="0">
                <a:solidFill>
                  <a:srgbClr val="53565A"/>
                </a:solidFill>
                <a:latin typeface="Arial"/>
              </a:rPr>
              <a:t>snet-buildAgents, snet-jumpBoxes</a:t>
            </a:r>
          </a:p>
        </p:txBody>
      </p:sp>
      <p:pic>
        <p:nvPicPr>
          <p:cNvPr id="39" name="Azure icon: Virtual Machine" descr="Official Azure icon: Virtual Machin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40280" y="3246120"/>
            <a:ext cx="347472" cy="347472"/>
          </a:xfrm>
          <a:prstGeom prst="rect">
            <a:avLst/>
          </a:prstGeom>
        </p:spPr>
      </p:pic>
      <p:sp>
        <p:nvSpPr>
          <p:cNvPr id="40" name="TextBox 39"/>
          <p:cNvSpPr txBox="1"/>
          <p:nvPr/>
        </p:nvSpPr>
        <p:spPr>
          <a:xfrm>
            <a:off x="2651760" y="3273552"/>
            <a:ext cx="3291840" cy="457200"/>
          </a:xfrm>
          <a:prstGeom prst="rect">
            <a:avLst/>
          </a:prstGeom>
          <a:noFill/>
        </p:spPr>
        <p:txBody>
          <a:bodyPr wrap="square" lIns="0" rIns="0" tIns="0" bIns="0" anchor="t">
            <a:noAutofit/>
          </a:bodyPr>
          <a:lstStyle/>
          <a:p>
            <a:pPr algn="l"/>
            <a:r>
              <a:rPr sz="1100" b="0" i="0">
                <a:solidFill>
                  <a:srgbClr val="000048"/>
                </a:solidFill>
                <a:latin typeface="Arial"/>
              </a:rPr>
              <a:t>Build agents and jump boxes (via Bastion)</a:t>
            </a:r>
          </a:p>
        </p:txBody>
      </p:sp>
      <p:sp>
        <p:nvSpPr>
          <p:cNvPr id="41" name="TextBox 40"/>
          <p:cNvSpPr txBox="1"/>
          <p:nvPr/>
        </p:nvSpPr>
        <p:spPr>
          <a:xfrm>
            <a:off x="6126480" y="3017520"/>
            <a:ext cx="1920240" cy="868680"/>
          </a:xfrm>
          <a:prstGeom prst="rect">
            <a:avLst/>
          </a:prstGeom>
          <a:noFill/>
        </p:spPr>
        <p:txBody>
          <a:bodyPr wrap="square" lIns="0" rIns="0" tIns="0" bIns="0" anchor="t">
            <a:noAutofit/>
          </a:bodyPr>
          <a:lstStyle/>
          <a:p>
            <a:pPr algn="l"/>
            <a:r>
              <a:rPr sz="1000" b="0" i="0">
                <a:solidFill>
                  <a:srgbClr val="53565A"/>
                </a:solidFill>
                <a:latin typeface="Arial"/>
              </a:rPr>
              <a:t>All subnets: NSG and UDR 0.0.0.0/0 to hub firewall</a:t>
            </a:r>
          </a:p>
        </p:txBody>
      </p:sp>
      <p:sp>
        <p:nvSpPr>
          <p:cNvPr id="42" name="Rounded Rectangle 41"/>
          <p:cNvSpPr/>
          <p:nvPr/>
        </p:nvSpPr>
        <p:spPr>
          <a:xfrm>
            <a:off x="1920240" y="4343400"/>
            <a:ext cx="9875520" cy="1417320"/>
          </a:xfrm>
          <a:prstGeom prst="roundRect">
            <a:avLst>
              <a:gd name="adj" fmla="val 645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029968" y="4398264"/>
            <a:ext cx="9656064" cy="237744"/>
          </a:xfrm>
          <a:prstGeom prst="rect">
            <a:avLst/>
          </a:prstGeom>
          <a:noFill/>
        </p:spPr>
        <p:txBody>
          <a:bodyPr wrap="square" lIns="0" rIns="0" tIns="0" bIns="0" anchor="t">
            <a:noAutofit/>
          </a:bodyPr>
          <a:lstStyle/>
          <a:p>
            <a:pPr algn="l"/>
            <a:r>
              <a:rPr sz="1100" b="1" i="0">
                <a:solidFill>
                  <a:srgbClr val="000048"/>
                </a:solidFill>
                <a:latin typeface="Arial"/>
              </a:rPr>
              <a:t>PLATFORM LANDING ZONE: CONNECTIVITY SUBSCRIPTION</a:t>
            </a:r>
          </a:p>
        </p:txBody>
      </p:sp>
      <p:pic>
        <p:nvPicPr>
          <p:cNvPr id="44" name="Azure icon: Virtual Networks" descr="Official Azure icon: Virtual Network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30552" y="4782312"/>
            <a:ext cx="384048" cy="384048"/>
          </a:xfrm>
          <a:prstGeom prst="rect">
            <a:avLst/>
          </a:prstGeom>
        </p:spPr>
      </p:pic>
      <p:sp>
        <p:nvSpPr>
          <p:cNvPr id="45" name="TextBox 44"/>
          <p:cNvSpPr txBox="1"/>
          <p:nvPr/>
        </p:nvSpPr>
        <p:spPr>
          <a:xfrm>
            <a:off x="258775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Hub virtual network</a:t>
            </a:r>
          </a:p>
          <a:p>
            <a:pPr algn="l"/>
            <a:r>
              <a:rPr sz="1000" b="0" i="0">
                <a:solidFill>
                  <a:srgbClr val="53565A"/>
                </a:solidFill>
                <a:latin typeface="Arial"/>
              </a:rPr>
              <a:t>per region</a:t>
            </a:r>
          </a:p>
        </p:txBody>
      </p:sp>
      <p:pic>
        <p:nvPicPr>
          <p:cNvPr id="46" name="Azure icon: Firewalls" descr="Official Azure icon: Firewall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507992" y="4782312"/>
            <a:ext cx="384048" cy="384048"/>
          </a:xfrm>
          <a:prstGeom prst="rect">
            <a:avLst/>
          </a:prstGeom>
        </p:spPr>
      </p:pic>
      <p:sp>
        <p:nvSpPr>
          <p:cNvPr id="47" name="TextBox 46"/>
          <p:cNvSpPr txBox="1"/>
          <p:nvPr/>
        </p:nvSpPr>
        <p:spPr>
          <a:xfrm>
            <a:off x="496519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000" b="0" i="0">
                <a:solidFill>
                  <a:srgbClr val="53565A"/>
                </a:solidFill>
                <a:latin typeface="Arial"/>
              </a:rPr>
              <a:t>egress inspection</a:t>
            </a:r>
          </a:p>
        </p:txBody>
      </p:sp>
      <p:pic>
        <p:nvPicPr>
          <p:cNvPr id="48" name="Azure icon: DNS Private Resolver" descr="Official Azure icon: DNS Private Resolve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56832" y="4782312"/>
            <a:ext cx="384048" cy="384048"/>
          </a:xfrm>
          <a:prstGeom prst="rect">
            <a:avLst/>
          </a:prstGeom>
        </p:spPr>
      </p:pic>
      <p:sp>
        <p:nvSpPr>
          <p:cNvPr id="49" name="TextBox 48"/>
          <p:cNvSpPr txBox="1"/>
          <p:nvPr/>
        </p:nvSpPr>
        <p:spPr>
          <a:xfrm>
            <a:off x="711403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DNS Private Resolver</a:t>
            </a:r>
          </a:p>
          <a:p>
            <a:pPr algn="l"/>
            <a:r>
              <a:rPr sz="1000" b="0" i="0">
                <a:solidFill>
                  <a:srgbClr val="53565A"/>
                </a:solidFill>
                <a:latin typeface="Arial"/>
              </a:rPr>
              <a:t>linked rulesets</a:t>
            </a:r>
          </a:p>
        </p:txBody>
      </p:sp>
      <p:pic>
        <p:nvPicPr>
          <p:cNvPr id="50" name="Azure icon: DNS Zones" descr="Official Azure icon: DNS Zone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034272" y="4782312"/>
            <a:ext cx="384048" cy="384048"/>
          </a:xfrm>
          <a:prstGeom prst="rect">
            <a:avLst/>
          </a:prstGeom>
        </p:spPr>
      </p:pic>
      <p:sp>
        <p:nvSpPr>
          <p:cNvPr id="51" name="TextBox 50"/>
          <p:cNvSpPr txBox="1"/>
          <p:nvPr/>
        </p:nvSpPr>
        <p:spPr>
          <a:xfrm>
            <a:off x="949147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Private DNS zones</a:t>
            </a:r>
          </a:p>
          <a:p>
            <a:pPr algn="l"/>
            <a:r>
              <a:rPr sz="1000" b="0" i="0">
                <a:solidFill>
                  <a:srgbClr val="53565A"/>
                </a:solidFill>
                <a:latin typeface="Arial"/>
              </a:rPr>
              <a:t>for Private Link</a:t>
            </a:r>
          </a:p>
        </p:txBody>
      </p:sp>
      <p:pic>
        <p:nvPicPr>
          <p:cNvPr id="52" name="Azure icon: Users" descr="Official Azure icon: User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59536" y="1856231"/>
            <a:ext cx="384048" cy="384048"/>
          </a:xfrm>
          <a:prstGeom prst="rect">
            <a:avLst/>
          </a:prstGeom>
        </p:spPr>
      </p:pic>
      <p:sp>
        <p:nvSpPr>
          <p:cNvPr id="53" name="TextBox 52"/>
          <p:cNvSpPr txBox="1"/>
          <p:nvPr/>
        </p:nvSpPr>
        <p:spPr>
          <a:xfrm>
            <a:off x="448056" y="2276856"/>
            <a:ext cx="1207007" cy="310896"/>
          </a:xfrm>
          <a:prstGeom prst="rect">
            <a:avLst/>
          </a:prstGeom>
          <a:noFill/>
        </p:spPr>
        <p:txBody>
          <a:bodyPr wrap="square" lIns="0" rIns="0" tIns="0" bIns="0" anchor="t">
            <a:noAutofit/>
          </a:bodyPr>
          <a:lstStyle/>
          <a:p>
            <a:pPr algn="ctr"/>
            <a:r>
              <a:rPr sz="1300" b="1" i="0">
                <a:solidFill>
                  <a:srgbClr val="000048"/>
                </a:solidFill>
                <a:latin typeface="Arial"/>
              </a:rPr>
              <a:t>End users</a:t>
            </a:r>
          </a:p>
        </p:txBody>
      </p:sp>
      <p:pic>
        <p:nvPicPr>
          <p:cNvPr id="54" name="Azure icon: Virtual Network Gateways" descr="Official Azure icon: Virtual Network Gateway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5256" y="4507992"/>
            <a:ext cx="384048" cy="384048"/>
          </a:xfrm>
          <a:prstGeom prst="rect">
            <a:avLst/>
          </a:prstGeom>
        </p:spPr>
      </p:pic>
      <p:sp>
        <p:nvSpPr>
          <p:cNvPr id="55" name="TextBox 54"/>
          <p:cNvSpPr txBox="1"/>
          <p:nvPr/>
        </p:nvSpPr>
        <p:spPr>
          <a:xfrm>
            <a:off x="448056" y="4928616"/>
            <a:ext cx="1298448" cy="512064"/>
          </a:xfrm>
          <a:prstGeom prst="rect">
            <a:avLst/>
          </a:prstGeom>
          <a:noFill/>
        </p:spPr>
        <p:txBody>
          <a:bodyPr wrap="square" lIns="0" rIns="0" tIns="0" bIns="0" anchor="t">
            <a:noAutofit/>
          </a:bodyPr>
          <a:lstStyle/>
          <a:p>
            <a:pPr algn="ctr"/>
            <a:r>
              <a:rPr sz="1300" b="1" i="0">
                <a:solidFill>
                  <a:srgbClr val="000048"/>
                </a:solidFill>
                <a:latin typeface="Arial"/>
              </a:rPr>
              <a:t>On-premises</a:t>
            </a:r>
          </a:p>
          <a:p>
            <a:pPr algn="ctr"/>
            <a:r>
              <a:rPr sz="1100" b="0" i="0">
                <a:solidFill>
                  <a:srgbClr val="53565A"/>
                </a:solidFill>
                <a:latin typeface="Arial"/>
              </a:rPr>
              <a:t>VPN or ExpressRoute</a:t>
            </a:r>
          </a:p>
        </p:txBody>
      </p:sp>
      <p:cxnSp>
        <p:nvCxnSpPr>
          <p:cNvPr id="56" name="Connector (flow)"/>
          <p:cNvCxnSpPr/>
          <p:nvPr/>
        </p:nvCxnSpPr>
        <p:spPr>
          <a:xfrm>
            <a:off x="1463040" y="2011680"/>
            <a:ext cx="5943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554480" y="1600200"/>
            <a:ext cx="310896" cy="310896"/>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58" name="Connector (flow)"/>
          <p:cNvCxnSpPr/>
          <p:nvPr/>
        </p:nvCxnSpPr>
        <p:spPr>
          <a:xfrm>
            <a:off x="1783080" y="4754880"/>
            <a:ext cx="274320" cy="137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flow)"/>
          <p:cNvCxnSpPr/>
          <p:nvPr/>
        </p:nvCxnSpPr>
        <p:spPr>
          <a:xfrm>
            <a:off x="3017520" y="4023360"/>
            <a:ext cx="0" cy="32004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108960" y="4050791"/>
            <a:ext cx="1371600" cy="274320"/>
          </a:xfrm>
          <a:prstGeom prst="rect">
            <a:avLst/>
          </a:prstGeom>
          <a:noFill/>
        </p:spPr>
        <p:txBody>
          <a:bodyPr wrap="square" lIns="0" rIns="0" tIns="0" bIns="0" anchor="t">
            <a:noAutofit/>
          </a:bodyPr>
          <a:lstStyle/>
          <a:p>
            <a:pPr algn="l"/>
            <a:r>
              <a:rPr sz="1000" b="0" i="0">
                <a:solidFill>
                  <a:srgbClr val="000048"/>
                </a:solidFill>
                <a:latin typeface="Arial"/>
              </a:rPr>
              <a:t>VNet peering</a:t>
            </a:r>
          </a:p>
        </p:txBody>
      </p:sp>
      <p:cxnSp>
        <p:nvCxnSpPr>
          <p:cNvPr id="61" name="Connector (data)"/>
          <p:cNvCxnSpPr/>
          <p:nvPr/>
        </p:nvCxnSpPr>
        <p:spPr>
          <a:xfrm flipH="1">
            <a:off x="5486400" y="3886200"/>
            <a:ext cx="1463040" cy="8229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269480" y="4069080"/>
            <a:ext cx="1463040" cy="274320"/>
          </a:xfrm>
          <a:prstGeom prst="rect">
            <a:avLst/>
          </a:prstGeom>
          <a:noFill/>
        </p:spPr>
        <p:txBody>
          <a:bodyPr wrap="square" lIns="0" rIns="0" tIns="0" bIns="0" anchor="t">
            <a:noAutofit/>
          </a:bodyPr>
          <a:lstStyle/>
          <a:p>
            <a:pPr algn="l"/>
            <a:r>
              <a:rPr sz="1000" b="0" i="0">
                <a:solidFill>
                  <a:srgbClr val="2F78C4"/>
                </a:solidFill>
                <a:latin typeface="Arial"/>
              </a:rPr>
              <a:t>egress via UDR</a:t>
            </a:r>
          </a:p>
        </p:txBody>
      </p:sp>
      <p:sp>
        <p:nvSpPr>
          <p:cNvPr id="63" name="Oval 62"/>
          <p:cNvSpPr/>
          <p:nvPr/>
        </p:nvSpPr>
        <p:spPr>
          <a:xfrm>
            <a:off x="6967728" y="3950208"/>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5</a:t>
            </a:r>
          </a:p>
        </p:txBody>
      </p:sp>
      <p:cxnSp>
        <p:nvCxnSpPr>
          <p:cNvPr id="64" name="Connector (telemetry)"/>
          <p:cNvCxnSpPr/>
          <p:nvPr/>
        </p:nvCxnSpPr>
        <p:spPr>
          <a:xfrm flipH="1">
            <a:off x="10058400" y="3886200"/>
            <a:ext cx="118872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144000" y="4069080"/>
            <a:ext cx="1325880" cy="274320"/>
          </a:xfrm>
          <a:prstGeom prst="rect">
            <a:avLst/>
          </a:prstGeom>
          <a:noFill/>
        </p:spPr>
        <p:txBody>
          <a:bodyPr wrap="square" lIns="0" rIns="0" tIns="0" bIns="0" anchor="t">
            <a:noAutofit/>
          </a:bodyPr>
          <a:lstStyle/>
          <a:p>
            <a:pPr algn="r"/>
            <a:r>
              <a:rPr sz="1000" b="0" i="0">
                <a:solidFill>
                  <a:srgbClr val="53565A"/>
                </a:solidFill>
                <a:latin typeface="Arial"/>
              </a:rPr>
              <a:t>DNS from hub</a:t>
            </a:r>
          </a:p>
        </p:txBody>
      </p:sp>
      <p:sp>
        <p:nvSpPr>
          <p:cNvPr id="66" name="Oval 65"/>
          <p:cNvSpPr/>
          <p:nvPr/>
        </p:nvSpPr>
        <p:spPr>
          <a:xfrm>
            <a:off x="11292840" y="3950208"/>
            <a:ext cx="256032" cy="256032"/>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cxnSp>
        <p:nvCxnSpPr>
          <p:cNvPr id="67" name="Connector (flow)"/>
          <p:cNvCxnSpPr/>
          <p:nvPr/>
        </p:nvCxnSpPr>
        <p:spPr>
          <a:xfrm>
            <a:off x="4114800" y="2724912"/>
            <a:ext cx="3977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680960" y="2450592"/>
            <a:ext cx="256032" cy="256032"/>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2</a:t>
            </a:r>
          </a:p>
        </p:txBody>
      </p:sp>
      <p:cxnSp>
        <p:nvCxnSpPr>
          <p:cNvPr id="69" name="Connector (flow)"/>
          <p:cNvCxnSpPr/>
          <p:nvPr/>
        </p:nvCxnSpPr>
        <p:spPr>
          <a:xfrm>
            <a:off x="548640" y="59893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02412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71" name="Connector (data)"/>
          <p:cNvCxnSpPr/>
          <p:nvPr/>
        </p:nvCxnSpPr>
        <p:spPr>
          <a:xfrm>
            <a:off x="2743200" y="5989320"/>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1868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cxnSp>
        <p:nvCxnSpPr>
          <p:cNvPr id="73" name="Connector (telemetry)"/>
          <p:cNvCxnSpPr/>
          <p:nvPr/>
        </p:nvCxnSpPr>
        <p:spPr>
          <a:xfrm>
            <a:off x="4937759" y="5989320"/>
            <a:ext cx="411481"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1324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75" name="TextBox 74"/>
          <p:cNvSpPr txBox="1"/>
          <p:nvPr/>
        </p:nvSpPr>
        <p:spPr>
          <a:xfrm>
            <a:off x="7223760" y="5870448"/>
            <a:ext cx="4389120" cy="274320"/>
          </a:xfrm>
          <a:prstGeom prst="rect">
            <a:avLst/>
          </a:prstGeom>
          <a:noFill/>
        </p:spPr>
        <p:txBody>
          <a:bodyPr wrap="square" lIns="0" rIns="0" tIns="0" bIns="0" anchor="t">
            <a:noAutofit/>
          </a:bodyPr>
          <a:lstStyle/>
          <a:p>
            <a:pPr algn="r"/>
            <a:r>
              <a:rPr sz="1100" b="0" i="0">
                <a:solidFill>
                  <a:srgbClr val="53565A"/>
                </a:solidFill>
                <a:latin typeface="Arial"/>
              </a:rPr>
              <a:t>Adapted from 11_baseline-landing-zone-networking.png</a:t>
            </a:r>
          </a:p>
        </p:txBody>
      </p:sp>
      <p:sp>
        <p:nvSpPr>
          <p:cNvPr id="76" name="TextBox 75"/>
          <p:cNvSpPr txBox="1"/>
          <p:nvPr/>
        </p:nvSpPr>
        <p:spPr>
          <a:xfrm>
            <a:off x="548640" y="6144768"/>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 validate subnets, DNS and routes per customer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egress through the hub firewall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9" name="Rounded Rectangle 8"/>
          <p:cNvSpPr/>
          <p:nvPr/>
        </p:nvSpPr>
        <p:spPr>
          <a:xfrm>
            <a:off x="411480" y="1325880"/>
            <a:ext cx="3931920" cy="4023360"/>
          </a:xfrm>
          <a:prstGeom prst="roundRect">
            <a:avLst>
              <a:gd name="adj" fmla="val 232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380744"/>
            <a:ext cx="3712463" cy="237744"/>
          </a:xfrm>
          <a:prstGeom prst="rect">
            <a:avLst/>
          </a:prstGeom>
          <a:noFill/>
        </p:spPr>
        <p:txBody>
          <a:bodyPr wrap="square" lIns="0" rIns="0" tIns="0" bIns="0" anchor="t">
            <a:noAutofit/>
          </a:bodyPr>
          <a:lstStyle/>
          <a:p>
            <a:pPr algn="l"/>
            <a:r>
              <a:rPr sz="1100" b="1" i="0">
                <a:solidFill>
                  <a:srgbClr val="000048"/>
                </a:solidFill>
                <a:latin typeface="Arial"/>
              </a:rPr>
              <a:t>SPOKE SUBNETS WITH UDR TO HUB</a:t>
            </a:r>
          </a:p>
        </p:txBody>
      </p:sp>
      <p:sp>
        <p:nvSpPr>
          <p:cNvPr id="11" name="Rounded Rectangle 10"/>
          <p:cNvSpPr/>
          <p:nvPr/>
        </p:nvSpPr>
        <p:spPr>
          <a:xfrm>
            <a:off x="548640" y="16916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65376"/>
            <a:ext cx="384048" cy="384048"/>
          </a:xfrm>
          <a:prstGeom prst="rect">
            <a:avLst/>
          </a:prstGeom>
        </p:spPr>
      </p:pic>
      <p:sp>
        <p:nvSpPr>
          <p:cNvPr id="13" name="TextBox 12"/>
          <p:cNvSpPr txBox="1"/>
          <p:nvPr/>
        </p:nvSpPr>
        <p:spPr>
          <a:xfrm>
            <a:off x="1078992" y="1728216"/>
            <a:ext cx="3090672" cy="658368"/>
          </a:xfrm>
          <a:prstGeom prst="rect">
            <a:avLst/>
          </a:prstGeom>
          <a:noFill/>
        </p:spPr>
        <p:txBody>
          <a:bodyPr wrap="square" lIns="0" rIns="0" tIns="0" bIns="0" anchor="ctr">
            <a:noAutofit/>
          </a:bodyPr>
          <a:lstStyle/>
          <a:p>
            <a:pPr algn="l"/>
            <a:r>
              <a:rPr sz="1200" b="1" i="0">
                <a:solidFill>
                  <a:srgbClr val="000048"/>
                </a:solidFill>
                <a:latin typeface="Arial"/>
              </a:rPr>
              <a:t>App Service integration</a:t>
            </a:r>
          </a:p>
          <a:p>
            <a:pPr algn="l"/>
            <a:r>
              <a:rPr sz="1000" b="0" i="0">
                <a:solidFill>
                  <a:srgbClr val="53565A"/>
                </a:solidFill>
                <a:latin typeface="Arial"/>
              </a:rPr>
              <a:t>route 0.0.0.0/0 to firewall</a:t>
            </a:r>
          </a:p>
        </p:txBody>
      </p:sp>
      <p:cxnSp>
        <p:nvCxnSpPr>
          <p:cNvPr id="14" name="Connector (data)"/>
          <p:cNvCxnSpPr/>
          <p:nvPr/>
        </p:nvCxnSpPr>
        <p:spPr>
          <a:xfrm>
            <a:off x="4206240" y="2057400"/>
            <a:ext cx="914400" cy="12801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256032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Foundry Agent Service" descr="Official Azure icon: Foundry Agent Servic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734056"/>
            <a:ext cx="384048" cy="384048"/>
          </a:xfrm>
          <a:prstGeom prst="rect">
            <a:avLst/>
          </a:prstGeom>
        </p:spPr>
      </p:pic>
      <p:sp>
        <p:nvSpPr>
          <p:cNvPr id="17" name="TextBox 16"/>
          <p:cNvSpPr txBox="1"/>
          <p:nvPr/>
        </p:nvSpPr>
        <p:spPr>
          <a:xfrm>
            <a:off x="1078992" y="2596896"/>
            <a:ext cx="3090672" cy="658368"/>
          </a:xfrm>
          <a:prstGeom prst="rect">
            <a:avLst/>
          </a:prstGeom>
          <a:noFill/>
        </p:spPr>
        <p:txBody>
          <a:bodyPr wrap="square" lIns="0" rIns="0" tIns="0" bIns="0" anchor="ctr">
            <a:noAutofit/>
          </a:bodyPr>
          <a:lstStyle/>
          <a:p>
            <a:pPr algn="l"/>
            <a:r>
              <a:rPr sz="1200" b="1" i="0">
                <a:solidFill>
                  <a:srgbClr val="000048"/>
                </a:solidFill>
                <a:latin typeface="Arial"/>
              </a:rPr>
              <a:t>Agent Service integration</a:t>
            </a:r>
          </a:p>
          <a:p>
            <a:pPr algn="l"/>
            <a:r>
              <a:rPr sz="1000" b="0" i="0">
                <a:solidFill>
                  <a:srgbClr val="53565A"/>
                </a:solidFill>
                <a:latin typeface="Arial"/>
              </a:rPr>
              <a:t>route 0.0.0.0/0 to firewall</a:t>
            </a:r>
          </a:p>
        </p:txBody>
      </p:sp>
      <p:cxnSp>
        <p:nvCxnSpPr>
          <p:cNvPr id="18" name="Connector (data)"/>
          <p:cNvCxnSpPr/>
          <p:nvPr/>
        </p:nvCxnSpPr>
        <p:spPr>
          <a:xfrm>
            <a:off x="4206240" y="2926080"/>
            <a:ext cx="914400" cy="4114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42900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02736"/>
            <a:ext cx="384048" cy="384048"/>
          </a:xfrm>
          <a:prstGeom prst="rect">
            <a:avLst/>
          </a:prstGeom>
        </p:spPr>
      </p:pic>
      <p:sp>
        <p:nvSpPr>
          <p:cNvPr id="21" name="TextBox 20"/>
          <p:cNvSpPr txBox="1"/>
          <p:nvPr/>
        </p:nvSpPr>
        <p:spPr>
          <a:xfrm>
            <a:off x="1078992" y="3465576"/>
            <a:ext cx="3090672" cy="658368"/>
          </a:xfrm>
          <a:prstGeom prst="rect">
            <a:avLst/>
          </a:prstGeom>
          <a:noFill/>
        </p:spPr>
        <p:txBody>
          <a:bodyPr wrap="square" lIns="0" rIns="0" tIns="0" bIns="0" anchor="ctr">
            <a:noAutofit/>
          </a:bodyPr>
          <a:lstStyle/>
          <a:p>
            <a:pPr algn="l"/>
            <a:r>
              <a:rPr sz="1200" b="1" i="0">
                <a:solidFill>
                  <a:srgbClr val="000048"/>
                </a:solidFill>
                <a:latin typeface="Arial"/>
              </a:rPr>
              <a:t>Build agents</a:t>
            </a:r>
          </a:p>
          <a:p>
            <a:pPr algn="l"/>
            <a:r>
              <a:rPr sz="1000" b="0" i="0">
                <a:solidFill>
                  <a:srgbClr val="53565A"/>
                </a:solidFill>
                <a:latin typeface="Arial"/>
              </a:rPr>
              <a:t>route 0.0.0.0/0 to firewall</a:t>
            </a:r>
          </a:p>
        </p:txBody>
      </p:sp>
      <p:cxnSp>
        <p:nvCxnSpPr>
          <p:cNvPr id="22" name="Connector (data)"/>
          <p:cNvCxnSpPr/>
          <p:nvPr/>
        </p:nvCxnSpPr>
        <p:spPr>
          <a:xfrm flipV="1">
            <a:off x="4206240" y="3337560"/>
            <a:ext cx="914400" cy="4572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297679"/>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4471416"/>
            <a:ext cx="384048" cy="384048"/>
          </a:xfrm>
          <a:prstGeom prst="rect">
            <a:avLst/>
          </a:prstGeom>
        </p:spPr>
      </p:pic>
      <p:sp>
        <p:nvSpPr>
          <p:cNvPr id="25" name="TextBox 24"/>
          <p:cNvSpPr txBox="1"/>
          <p:nvPr/>
        </p:nvSpPr>
        <p:spPr>
          <a:xfrm>
            <a:off x="1078992" y="4334255"/>
            <a:ext cx="3090672" cy="658368"/>
          </a:xfrm>
          <a:prstGeom prst="rect">
            <a:avLst/>
          </a:prstGeom>
          <a:noFill/>
        </p:spPr>
        <p:txBody>
          <a:bodyPr wrap="square" lIns="0" rIns="0" tIns="0" bIns="0" anchor="ctr">
            <a:noAutofit/>
          </a:bodyPr>
          <a:lstStyle/>
          <a:p>
            <a:pPr algn="l"/>
            <a:r>
              <a:rPr sz="1200" b="1" i="0">
                <a:solidFill>
                  <a:srgbClr val="000048"/>
                </a:solidFill>
                <a:latin typeface="Arial"/>
              </a:rPr>
              <a:t>Jump boxes</a:t>
            </a:r>
          </a:p>
          <a:p>
            <a:pPr algn="l"/>
            <a:r>
              <a:rPr sz="1000" b="0" i="0">
                <a:solidFill>
                  <a:srgbClr val="53565A"/>
                </a:solidFill>
                <a:latin typeface="Arial"/>
              </a:rPr>
              <a:t>route 0.0.0.0/0 to firewall</a:t>
            </a:r>
          </a:p>
        </p:txBody>
      </p:sp>
      <p:cxnSp>
        <p:nvCxnSpPr>
          <p:cNvPr id="26" name="Connector (data)"/>
          <p:cNvCxnSpPr/>
          <p:nvPr/>
        </p:nvCxnSpPr>
        <p:spPr>
          <a:xfrm flipV="1">
            <a:off x="4206240" y="3337560"/>
            <a:ext cx="914400" cy="13258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20640" y="2103120"/>
            <a:ext cx="3017520" cy="2468880"/>
          </a:xfrm>
          <a:prstGeom prst="roundRect">
            <a:avLst>
              <a:gd name="adj" fmla="val 370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230368" y="2157984"/>
            <a:ext cx="2798063" cy="237744"/>
          </a:xfrm>
          <a:prstGeom prst="rect">
            <a:avLst/>
          </a:prstGeom>
          <a:noFill/>
        </p:spPr>
        <p:txBody>
          <a:bodyPr wrap="square" lIns="0" rIns="0" tIns="0" bIns="0" anchor="t">
            <a:noAutofit/>
          </a:bodyPr>
          <a:lstStyle/>
          <a:p>
            <a:pPr algn="l"/>
            <a:r>
              <a:rPr sz="1100" b="1" i="0">
                <a:solidFill>
                  <a:srgbClr val="000048"/>
                </a:solidFill>
                <a:latin typeface="Arial"/>
              </a:rPr>
              <a:t>HUB (CONNECTIVITY SUBSCRIPTION)</a:t>
            </a:r>
          </a:p>
        </p:txBody>
      </p:sp>
      <p:pic>
        <p:nvPicPr>
          <p:cNvPr id="29"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7940" y="2633472"/>
            <a:ext cx="502920" cy="502920"/>
          </a:xfrm>
          <a:prstGeom prst="rect">
            <a:avLst/>
          </a:prstGeom>
        </p:spPr>
      </p:pic>
      <p:sp>
        <p:nvSpPr>
          <p:cNvPr id="30" name="TextBox 29"/>
          <p:cNvSpPr txBox="1"/>
          <p:nvPr/>
        </p:nvSpPr>
        <p:spPr>
          <a:xfrm>
            <a:off x="5385816" y="3172968"/>
            <a:ext cx="2487168" cy="512063"/>
          </a:xfrm>
          <a:prstGeom prst="rect">
            <a:avLst/>
          </a:prstGeom>
          <a:noFill/>
        </p:spPr>
        <p:txBody>
          <a:bodyPr wrap="square" lIns="0" rIns="0" tIns="0" bIns="0" anchor="t">
            <a:noAutofit/>
          </a:bodyPr>
          <a:lstStyle/>
          <a:p>
            <a:pPr algn="ctr"/>
            <a:r>
              <a:rPr sz="1300" b="1" i="0">
                <a:solidFill>
                  <a:srgbClr val="000048"/>
                </a:solidFill>
                <a:latin typeface="Arial"/>
              </a:rPr>
              <a:t>Azure Firewall</a:t>
            </a:r>
          </a:p>
          <a:p>
            <a:pPr algn="ctr"/>
            <a:r>
              <a:rPr sz="1100" b="0" i="0">
                <a:solidFill>
                  <a:srgbClr val="53565A"/>
                </a:solidFill>
                <a:latin typeface="Arial"/>
              </a:rPr>
              <a:t>application and network rules, logging</a:t>
            </a:r>
          </a:p>
        </p:txBody>
      </p:sp>
      <p:sp>
        <p:nvSpPr>
          <p:cNvPr id="31" name="Rounded Rectangle 30"/>
          <p:cNvSpPr/>
          <p:nvPr/>
        </p:nvSpPr>
        <p:spPr>
          <a:xfrm>
            <a:off x="8778240" y="2651760"/>
            <a:ext cx="1828800" cy="1097280"/>
          </a:xfrm>
          <a:prstGeom prst="roundRect">
            <a:avLst>
              <a:gd name="adj" fmla="val 6666"/>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Internet and partner endpoints</a:t>
            </a:r>
          </a:p>
          <a:p>
            <a:pPr algn="ctr"/>
            <a:r>
              <a:rPr sz="1100" b="0" i="0">
                <a:solidFill>
                  <a:srgbClr val="53565A"/>
                </a:solidFill>
                <a:latin typeface="Arial"/>
              </a:rPr>
              <a:t>allow-listed FQDNs</a:t>
            </a:r>
          </a:p>
        </p:txBody>
      </p:sp>
      <p:cxnSp>
        <p:nvCxnSpPr>
          <p:cNvPr id="32" name="Connector (data)"/>
          <p:cNvCxnSpPr/>
          <p:nvPr/>
        </p:nvCxnSpPr>
        <p:spPr>
          <a:xfrm>
            <a:off x="8138160" y="3200400"/>
            <a:ext cx="6400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83879" y="3291840"/>
            <a:ext cx="640080" cy="411480"/>
          </a:xfrm>
          <a:prstGeom prst="rect">
            <a:avLst/>
          </a:prstGeom>
          <a:noFill/>
        </p:spPr>
        <p:txBody>
          <a:bodyPr wrap="square" lIns="0" rIns="0" tIns="0" bIns="0" anchor="t">
            <a:noAutofit/>
          </a:bodyPr>
          <a:lstStyle/>
          <a:p>
            <a:pPr algn="ctr"/>
            <a:r>
              <a:rPr sz="1000" b="0" i="0">
                <a:solidFill>
                  <a:srgbClr val="2F78C4"/>
                </a:solidFill>
                <a:latin typeface="Arial"/>
              </a:rPr>
              <a:t>allowed only</a:t>
            </a:r>
          </a:p>
        </p:txBody>
      </p:sp>
      <p:sp>
        <p:nvSpPr>
          <p:cNvPr id="34" name="TextBox 33"/>
          <p:cNvSpPr txBox="1"/>
          <p:nvPr/>
        </p:nvSpPr>
        <p:spPr>
          <a:xfrm>
            <a:off x="8595360" y="1463040"/>
            <a:ext cx="3108960" cy="1005840"/>
          </a:xfrm>
          <a:prstGeom prst="rect">
            <a:avLst/>
          </a:prstGeom>
          <a:noFill/>
        </p:spPr>
        <p:txBody>
          <a:bodyPr wrap="square" lIns="0" rIns="0" tIns="0" bIns="0" anchor="t">
            <a:noAutofit/>
          </a:bodyPr>
          <a:lstStyle/>
          <a:p>
            <a:pPr algn="l"/>
            <a:r>
              <a:rPr sz="1300" b="0" i="0">
                <a:solidFill>
                  <a:srgbClr val="53565A"/>
                </a:solidFill>
                <a:latin typeface="Arial"/>
              </a:rPr>
              <a:t>Private endpoints keep Azure PaaS traffic off the internet path; firewall handles the rest.</a:t>
            </a:r>
          </a:p>
        </p:txBody>
      </p:sp>
      <p:sp>
        <p:nvSpPr>
          <p:cNvPr id="35" name="Rounded Rectangle 34"/>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Validate effective routes and each managed service's egress support before enforcing forced tunnelling.</a:t>
            </a:r>
          </a:p>
        </p:txBody>
      </p:sp>
      <p:sp>
        <p:nvSpPr>
          <p:cNvPr id="36" name="TextBox 35"/>
          <p:cNvSpPr txBox="1"/>
          <p:nvPr/>
        </p:nvSpPr>
        <p:spPr>
          <a:xfrm>
            <a:off x="548640" y="617220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Private ingress is distinct from outbound connectivity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8" name="Rounded Rectangle 7"/>
          <p:cNvSpPr/>
          <p:nvPr/>
        </p:nvSpPr>
        <p:spPr>
          <a:xfrm>
            <a:off x="548640"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45920"/>
            <a:ext cx="548640" cy="548640"/>
          </a:xfrm>
          <a:prstGeom prst="rect">
            <a:avLst/>
          </a:prstGeom>
        </p:spPr>
      </p:pic>
      <p:sp>
        <p:nvSpPr>
          <p:cNvPr id="10" name="TextBox 9"/>
          <p:cNvSpPr txBox="1"/>
          <p:nvPr/>
        </p:nvSpPr>
        <p:spPr>
          <a:xfrm>
            <a:off x="141731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Inbound</a:t>
            </a:r>
          </a:p>
        </p:txBody>
      </p:sp>
      <p:sp>
        <p:nvSpPr>
          <p:cNvPr id="11" name="TextBox 10"/>
          <p:cNvSpPr txBox="1"/>
          <p:nvPr/>
        </p:nvSpPr>
        <p:spPr>
          <a:xfrm>
            <a:off x="731520"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Approved client to App Gateway WAF, then to the app's private endpoint</a:t>
            </a:r>
          </a:p>
        </p:txBody>
      </p:sp>
      <p:cxnSp>
        <p:nvCxnSpPr>
          <p:cNvPr id="12" name="Connector (flow)"/>
          <p:cNvCxnSpPr/>
          <p:nvPr/>
        </p:nvCxnSpPr>
        <p:spPr>
          <a:xfrm>
            <a:off x="4114800" y="306324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97679"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645920"/>
            <a:ext cx="548640" cy="548640"/>
          </a:xfrm>
          <a:prstGeom prst="rect">
            <a:avLst/>
          </a:prstGeom>
        </p:spPr>
      </p:pic>
      <p:sp>
        <p:nvSpPr>
          <p:cNvPr id="15" name="TextBox 14"/>
          <p:cNvSpPr txBox="1"/>
          <p:nvPr/>
        </p:nvSpPr>
        <p:spPr>
          <a:xfrm>
            <a:off x="516635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Runtime</a:t>
            </a:r>
          </a:p>
        </p:txBody>
      </p:sp>
      <p:sp>
        <p:nvSpPr>
          <p:cNvPr id="16" name="TextBox 15"/>
          <p:cNvSpPr txBox="1"/>
          <p:nvPr/>
        </p:nvSpPr>
        <p:spPr>
          <a:xfrm>
            <a:off x="4480559"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App host runs with a workload managed identity</a:t>
            </a:r>
          </a:p>
        </p:txBody>
      </p:sp>
      <p:cxnSp>
        <p:nvCxnSpPr>
          <p:cNvPr id="17" name="Connector (flow)"/>
          <p:cNvCxnSpPr/>
          <p:nvPr/>
        </p:nvCxnSpPr>
        <p:spPr>
          <a:xfrm>
            <a:off x="7863840" y="306324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46719"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Private Endpoints" descr="Official Azure icon: Private Endpoint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645920"/>
            <a:ext cx="548640" cy="548640"/>
          </a:xfrm>
          <a:prstGeom prst="rect">
            <a:avLst/>
          </a:prstGeom>
        </p:spPr>
      </p:pic>
      <p:sp>
        <p:nvSpPr>
          <p:cNvPr id="20" name="TextBox 19"/>
          <p:cNvSpPr txBox="1"/>
          <p:nvPr/>
        </p:nvSpPr>
        <p:spPr>
          <a:xfrm>
            <a:off x="891539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Outbound</a:t>
            </a:r>
          </a:p>
        </p:txBody>
      </p:sp>
      <p:sp>
        <p:nvSpPr>
          <p:cNvPr id="21" name="TextBox 20"/>
          <p:cNvSpPr txBox="1"/>
          <p:nvPr/>
        </p:nvSpPr>
        <p:spPr>
          <a:xfrm>
            <a:off x="8229599"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VNet integration to private endpoints for Foundry, Search, Storage, Key Vault</a:t>
            </a:r>
          </a:p>
        </p:txBody>
      </p:sp>
      <p:sp>
        <p:nvSpPr>
          <p:cNvPr id="22" name="Rounded Rectangle 21"/>
          <p:cNvSpPr/>
          <p:nvPr/>
        </p:nvSpPr>
        <p:spPr>
          <a:xfrm>
            <a:off x="548640" y="443484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private-network guarantee. Validate each selected service and API, including deployment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workload baseline: request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 y="2084832"/>
            <a:ext cx="411480" cy="411480"/>
          </a:xfrm>
          <a:prstGeom prst="rect">
            <a:avLst/>
          </a:prstGeom>
        </p:spPr>
      </p:pic>
      <p:sp>
        <p:nvSpPr>
          <p:cNvPr id="10" name="TextBox 9"/>
          <p:cNvSpPr txBox="1"/>
          <p:nvPr/>
        </p:nvSpPr>
        <p:spPr>
          <a:xfrm>
            <a:off x="493776" y="2532888"/>
            <a:ext cx="841248" cy="310896"/>
          </a:xfrm>
          <a:prstGeom prst="rect">
            <a:avLst/>
          </a:prstGeom>
          <a:noFill/>
        </p:spPr>
        <p:txBody>
          <a:bodyPr wrap="square" lIns="0" rIns="0" tIns="0" bIns="0" anchor="t">
            <a:noAutofit/>
          </a:bodyPr>
          <a:lstStyle/>
          <a:p>
            <a:pPr algn="ctr"/>
            <a:r>
              <a:rPr sz="1300" b="1" i="0">
                <a:solidFill>
                  <a:srgbClr val="000048"/>
                </a:solidFill>
                <a:latin typeface="Arial"/>
              </a:rPr>
              <a:t>User</a:t>
            </a:r>
          </a:p>
        </p:txBody>
      </p:sp>
      <p:sp>
        <p:nvSpPr>
          <p:cNvPr id="11" name="Rounded Rectangle 10"/>
          <p:cNvSpPr/>
          <p:nvPr/>
        </p:nvSpPr>
        <p:spPr>
          <a:xfrm>
            <a:off x="155448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lication Gateways" descr="Official Azure icon: Application Gateway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57400" y="1901952"/>
            <a:ext cx="457200" cy="457200"/>
          </a:xfrm>
          <a:prstGeom prst="rect">
            <a:avLst/>
          </a:prstGeom>
        </p:spPr>
      </p:pic>
      <p:sp>
        <p:nvSpPr>
          <p:cNvPr id="13" name="TextBox 12"/>
          <p:cNvSpPr txBox="1"/>
          <p:nvPr/>
        </p:nvSpPr>
        <p:spPr>
          <a:xfrm>
            <a:off x="159105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Gateway</a:t>
            </a:r>
          </a:p>
          <a:p>
            <a:pPr algn="ctr"/>
            <a:r>
              <a:rPr sz="1100" b="0" i="0">
                <a:solidFill>
                  <a:srgbClr val="53565A"/>
                </a:solidFill>
                <a:latin typeface="Arial"/>
              </a:rPr>
              <a:t>WAF</a:t>
            </a:r>
          </a:p>
        </p:txBody>
      </p:sp>
      <p:sp>
        <p:nvSpPr>
          <p:cNvPr id="14" name="Rounded Rectangle 13"/>
          <p:cNvSpPr/>
          <p:nvPr/>
        </p:nvSpPr>
        <p:spPr>
          <a:xfrm>
            <a:off x="342900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5"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1920" y="1901952"/>
            <a:ext cx="457200" cy="457200"/>
          </a:xfrm>
          <a:prstGeom prst="rect">
            <a:avLst/>
          </a:prstGeom>
        </p:spPr>
      </p:pic>
      <p:sp>
        <p:nvSpPr>
          <p:cNvPr id="16" name="TextBox 15"/>
          <p:cNvSpPr txBox="1"/>
          <p:nvPr/>
        </p:nvSpPr>
        <p:spPr>
          <a:xfrm>
            <a:off x="346557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Service</a:t>
            </a:r>
          </a:p>
          <a:p>
            <a:pPr algn="ctr"/>
            <a:r>
              <a:rPr sz="1100" b="0" i="0">
                <a:solidFill>
                  <a:srgbClr val="53565A"/>
                </a:solidFill>
                <a:latin typeface="Arial"/>
              </a:rPr>
              <a:t>zone-redundant</a:t>
            </a:r>
          </a:p>
        </p:txBody>
      </p:sp>
      <p:sp>
        <p:nvSpPr>
          <p:cNvPr id="17" name="Rounded Rectangle 16"/>
          <p:cNvSpPr/>
          <p:nvPr/>
        </p:nvSpPr>
        <p:spPr>
          <a:xfrm>
            <a:off x="5257800" y="1325880"/>
            <a:ext cx="3703320" cy="2148840"/>
          </a:xfrm>
          <a:prstGeom prst="roundRect">
            <a:avLst>
              <a:gd name="adj" fmla="val 425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67528" y="1380744"/>
            <a:ext cx="3483863" cy="237744"/>
          </a:xfrm>
          <a:prstGeom prst="rect">
            <a:avLst/>
          </a:prstGeom>
          <a:noFill/>
        </p:spPr>
        <p:txBody>
          <a:bodyPr wrap="square" lIns="0" rIns="0" tIns="0" bIns="0" anchor="t">
            <a:noAutofit/>
          </a:bodyPr>
          <a:lstStyle/>
          <a:p>
            <a:pPr algn="l"/>
            <a:r>
              <a:rPr sz="1100" b="1" i="0">
                <a:solidFill>
                  <a:srgbClr val="000048"/>
                </a:solidFill>
                <a:latin typeface="Arial"/>
              </a:rPr>
              <a:t>MICROSOFT FOUNDRY</a:t>
            </a:r>
          </a:p>
        </p:txBody>
      </p:sp>
      <p:pic>
        <p:nvPicPr>
          <p:cNvPr id="19"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83580" y="1856231"/>
            <a:ext cx="411480" cy="411480"/>
          </a:xfrm>
          <a:prstGeom prst="rect">
            <a:avLst/>
          </a:prstGeom>
        </p:spPr>
      </p:pic>
      <p:sp>
        <p:nvSpPr>
          <p:cNvPr id="20" name="TextBox 19"/>
          <p:cNvSpPr txBox="1"/>
          <p:nvPr/>
        </p:nvSpPr>
        <p:spPr>
          <a:xfrm>
            <a:off x="543153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Foundry project</a:t>
            </a:r>
          </a:p>
        </p:txBody>
      </p:sp>
      <p:pic>
        <p:nvPicPr>
          <p:cNvPr id="21" name="Azure icon: Foundry Agent Service" descr="Official Azure icon: Foundry Agent Servi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72300" y="1856231"/>
            <a:ext cx="411480" cy="411480"/>
          </a:xfrm>
          <a:prstGeom prst="rect">
            <a:avLst/>
          </a:prstGeom>
        </p:spPr>
      </p:pic>
      <p:sp>
        <p:nvSpPr>
          <p:cNvPr id="22" name="TextBox 21"/>
          <p:cNvSpPr txBox="1"/>
          <p:nvPr/>
        </p:nvSpPr>
        <p:spPr>
          <a:xfrm>
            <a:off x="662025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Agent Service</a:t>
            </a:r>
          </a:p>
        </p:txBody>
      </p:sp>
      <p:pic>
        <p:nvPicPr>
          <p:cNvPr id="23" name="Azure icon: Foundry Models" descr="Official Azure icon: Foundry Model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15300" y="1856231"/>
            <a:ext cx="411480" cy="411480"/>
          </a:xfrm>
          <a:prstGeom prst="rect">
            <a:avLst/>
          </a:prstGeom>
        </p:spPr>
      </p:pic>
      <p:sp>
        <p:nvSpPr>
          <p:cNvPr id="24" name="TextBox 23"/>
          <p:cNvSpPr txBox="1"/>
          <p:nvPr/>
        </p:nvSpPr>
        <p:spPr>
          <a:xfrm>
            <a:off x="7763255"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Model deployment</a:t>
            </a:r>
          </a:p>
        </p:txBody>
      </p:sp>
      <p:sp>
        <p:nvSpPr>
          <p:cNvPr id="25" name="Rounded Rectangle 24"/>
          <p:cNvSpPr/>
          <p:nvPr/>
        </p:nvSpPr>
        <p:spPr>
          <a:xfrm>
            <a:off x="9235440" y="1325880"/>
            <a:ext cx="2560320" cy="2148840"/>
          </a:xfrm>
          <a:prstGeom prst="roundRect">
            <a:avLst>
              <a:gd name="adj" fmla="val 4255"/>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45167" y="1380744"/>
            <a:ext cx="2340863" cy="237744"/>
          </a:xfrm>
          <a:prstGeom prst="rect">
            <a:avLst/>
          </a:prstGeom>
          <a:noFill/>
        </p:spPr>
        <p:txBody>
          <a:bodyPr wrap="square" lIns="0" rIns="0" tIns="0" bIns="0" anchor="t">
            <a:noAutofit/>
          </a:bodyPr>
          <a:lstStyle/>
          <a:p>
            <a:pPr algn="l"/>
            <a:r>
              <a:rPr sz="1100" b="1" i="0">
                <a:solidFill>
                  <a:srgbClr val="000048"/>
                </a:solidFill>
                <a:latin typeface="Arial"/>
              </a:rPr>
              <a:t>AGENT DEPENDENCIES</a:t>
            </a:r>
          </a:p>
        </p:txBody>
      </p:sp>
      <p:pic>
        <p:nvPicPr>
          <p:cNvPr id="27"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47504" y="1764792"/>
            <a:ext cx="347472" cy="347472"/>
          </a:xfrm>
          <a:prstGeom prst="rect">
            <a:avLst/>
          </a:prstGeom>
        </p:spPr>
      </p:pic>
      <p:sp>
        <p:nvSpPr>
          <p:cNvPr id="28" name="TextBox 27"/>
          <p:cNvSpPr txBox="1"/>
          <p:nvPr/>
        </p:nvSpPr>
        <p:spPr>
          <a:xfrm>
            <a:off x="9363455" y="2148840"/>
            <a:ext cx="1115568" cy="277133"/>
          </a:xfrm>
          <a:prstGeom prst="rect">
            <a:avLst/>
          </a:prstGeom>
          <a:noFill/>
        </p:spPr>
        <p:txBody>
          <a:bodyPr wrap="square" lIns="0" rIns="0" tIns="0" bIns="0" anchor="t">
            <a:noAutofit/>
          </a:bodyPr>
          <a:lstStyle/>
          <a:p>
            <a:pPr algn="ctr"/>
            <a:r>
              <a:rPr sz="1100" b="1" i="0">
                <a:solidFill>
                  <a:srgbClr val="000048"/>
                </a:solidFill>
                <a:latin typeface="Arial"/>
              </a:rPr>
              <a:t>AI Search</a:t>
            </a:r>
          </a:p>
        </p:txBody>
      </p:sp>
      <p:pic>
        <p:nvPicPr>
          <p:cNvPr id="29" name="Azure icon: Azure Cosmos DB" descr="Official Azure icon: Azure Cosmos DB"/>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936224" y="1764792"/>
            <a:ext cx="347472" cy="347472"/>
          </a:xfrm>
          <a:prstGeom prst="rect">
            <a:avLst/>
          </a:prstGeom>
        </p:spPr>
      </p:pic>
      <p:sp>
        <p:nvSpPr>
          <p:cNvPr id="30" name="TextBox 29"/>
          <p:cNvSpPr txBox="1"/>
          <p:nvPr/>
        </p:nvSpPr>
        <p:spPr>
          <a:xfrm>
            <a:off x="10552176" y="2148840"/>
            <a:ext cx="1115568" cy="277133"/>
          </a:xfrm>
          <a:prstGeom prst="rect">
            <a:avLst/>
          </a:prstGeom>
          <a:noFill/>
        </p:spPr>
        <p:txBody>
          <a:bodyPr wrap="square" lIns="0" rIns="0" tIns="0" bIns="0" anchor="t">
            <a:noAutofit/>
          </a:bodyPr>
          <a:lstStyle/>
          <a:p>
            <a:pPr algn="ctr"/>
            <a:r>
              <a:rPr sz="1100" b="1" i="0">
                <a:solidFill>
                  <a:srgbClr val="000048"/>
                </a:solidFill>
                <a:latin typeface="Arial"/>
              </a:rPr>
              <a:t>Cosmos DB</a:t>
            </a:r>
          </a:p>
        </p:txBody>
      </p:sp>
      <p:pic>
        <p:nvPicPr>
          <p:cNvPr id="31" name="Azure icon: Storage account" descr="Official Azure icon: Storage accou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387584" y="2633472"/>
            <a:ext cx="347472" cy="347472"/>
          </a:xfrm>
          <a:prstGeom prst="rect">
            <a:avLst/>
          </a:prstGeom>
        </p:spPr>
      </p:pic>
      <p:sp>
        <p:nvSpPr>
          <p:cNvPr id="32" name="TextBox 31"/>
          <p:cNvSpPr txBox="1"/>
          <p:nvPr/>
        </p:nvSpPr>
        <p:spPr>
          <a:xfrm>
            <a:off x="9957815" y="3017520"/>
            <a:ext cx="1207007" cy="277133"/>
          </a:xfrm>
          <a:prstGeom prst="rect">
            <a:avLst/>
          </a:prstGeom>
          <a:noFill/>
        </p:spPr>
        <p:txBody>
          <a:bodyPr wrap="square" lIns="0" rIns="0" tIns="0" bIns="0" anchor="t">
            <a:noAutofit/>
          </a:bodyPr>
          <a:lstStyle/>
          <a:p>
            <a:pPr algn="ctr"/>
            <a:r>
              <a:rPr sz="1100" b="1" i="0">
                <a:solidFill>
                  <a:srgbClr val="000048"/>
                </a:solidFill>
                <a:latin typeface="Arial"/>
              </a:rPr>
              <a:t>Storage account</a:t>
            </a:r>
          </a:p>
        </p:txBody>
      </p:sp>
      <p:cxnSp>
        <p:nvCxnSpPr>
          <p:cNvPr id="33" name="Connector (flow)"/>
          <p:cNvCxnSpPr/>
          <p:nvPr/>
        </p:nvCxnSpPr>
        <p:spPr>
          <a:xfrm>
            <a:off x="1280160" y="22402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61872"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35" name="Connector (flow)"/>
          <p:cNvCxnSpPr/>
          <p:nvPr/>
        </p:nvCxnSpPr>
        <p:spPr>
          <a:xfrm>
            <a:off x="30175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489204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937760" y="187451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cxnSp>
        <p:nvCxnSpPr>
          <p:cNvPr id="38" name="Connector (flow)"/>
          <p:cNvCxnSpPr/>
          <p:nvPr/>
        </p:nvCxnSpPr>
        <p:spPr>
          <a:xfrm>
            <a:off x="6446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40080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0" name="Connector (flow)"/>
          <p:cNvCxnSpPr/>
          <p:nvPr/>
        </p:nvCxnSpPr>
        <p:spPr>
          <a:xfrm>
            <a:off x="7589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6352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42" name="Connector (flow)"/>
          <p:cNvCxnSpPr/>
          <p:nvPr/>
        </p:nvCxnSpPr>
        <p:spPr>
          <a:xfrm>
            <a:off x="8961120" y="237744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96112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7</a:t>
            </a:r>
          </a:p>
        </p:txBody>
      </p:sp>
      <p:sp>
        <p:nvSpPr>
          <p:cNvPr id="44" name="Rounded Rectangle 43"/>
          <p:cNvSpPr/>
          <p:nvPr/>
        </p:nvSpPr>
        <p:spPr>
          <a:xfrm>
            <a:off x="1463040" y="3794760"/>
            <a:ext cx="10332720" cy="1417320"/>
          </a:xfrm>
          <a:prstGeom prst="roundRect">
            <a:avLst>
              <a:gd name="adj" fmla="val 64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72768" y="3849624"/>
            <a:ext cx="10113264" cy="237744"/>
          </a:xfrm>
          <a:prstGeom prst="rect">
            <a:avLst/>
          </a:prstGeom>
          <a:noFill/>
        </p:spPr>
        <p:txBody>
          <a:bodyPr wrap="square" lIns="0" rIns="0" tIns="0" bIns="0" anchor="t">
            <a:noAutofit/>
          </a:bodyPr>
          <a:lstStyle/>
          <a:p>
            <a:pPr algn="l"/>
            <a:r>
              <a:rPr sz="1100" b="1" i="0">
                <a:solidFill>
                  <a:srgbClr val="000048"/>
                </a:solidFill>
                <a:latin typeface="Arial"/>
              </a:rPr>
              <a:t>SPOKE VIRTUAL NETWORK</a:t>
            </a:r>
          </a:p>
        </p:txBody>
      </p:sp>
      <p:pic>
        <p:nvPicPr>
          <p:cNvPr id="46" name="Azure icon: Private Endpoints" descr="Official Azure icon: Private Endpoint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673352" y="4233672"/>
            <a:ext cx="384048" cy="384048"/>
          </a:xfrm>
          <a:prstGeom prst="rect">
            <a:avLst/>
          </a:prstGeom>
        </p:spPr>
      </p:pic>
      <p:sp>
        <p:nvSpPr>
          <p:cNvPr id="47" name="TextBox 46"/>
          <p:cNvSpPr txBox="1"/>
          <p:nvPr/>
        </p:nvSpPr>
        <p:spPr>
          <a:xfrm>
            <a:off x="2130552" y="4197096"/>
            <a:ext cx="2724912" cy="457199"/>
          </a:xfrm>
          <a:prstGeom prst="rect">
            <a:avLst/>
          </a:prstGeom>
          <a:noFill/>
        </p:spPr>
        <p:txBody>
          <a:bodyPr wrap="square" lIns="0" rIns="0" tIns="0" bIns="0" anchor="ctr">
            <a:noAutofit/>
          </a:bodyPr>
          <a:lstStyle/>
          <a:p>
            <a:pPr algn="l"/>
            <a:r>
              <a:rPr sz="1200" b="1" i="0">
                <a:solidFill>
                  <a:srgbClr val="000048"/>
                </a:solidFill>
                <a:latin typeface="Arial"/>
              </a:rPr>
              <a:t>Private endpoints</a:t>
            </a:r>
          </a:p>
          <a:p>
            <a:pPr algn="l"/>
            <a:r>
              <a:rPr sz="1000" b="0" i="0">
                <a:solidFill>
                  <a:srgbClr val="53565A"/>
                </a:solidFill>
                <a:latin typeface="Arial"/>
              </a:rPr>
              <a:t>Foundry, Search, Storage, Key Vault, Cosmos DB</a:t>
            </a:r>
          </a:p>
        </p:txBody>
      </p:sp>
      <p:pic>
        <p:nvPicPr>
          <p:cNvPr id="48"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193792" y="4233672"/>
            <a:ext cx="384048" cy="384048"/>
          </a:xfrm>
          <a:prstGeom prst="rect">
            <a:avLst/>
          </a:prstGeom>
        </p:spPr>
      </p:pic>
      <p:sp>
        <p:nvSpPr>
          <p:cNvPr id="49" name="TextBox 48"/>
          <p:cNvSpPr txBox="1"/>
          <p:nvPr/>
        </p:nvSpPr>
        <p:spPr>
          <a:xfrm>
            <a:off x="5650992" y="4197096"/>
            <a:ext cx="171907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000" b="0" i="0">
                <a:solidFill>
                  <a:srgbClr val="53565A"/>
                </a:solidFill>
                <a:latin typeface="Arial"/>
              </a:rPr>
              <a:t>outbound internet (5)</a:t>
            </a:r>
          </a:p>
        </p:txBody>
      </p:sp>
      <p:pic>
        <p:nvPicPr>
          <p:cNvPr id="50" name="Azure icon: Key Vault" descr="Official Azure icon: Key Vaul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662672" y="4233672"/>
            <a:ext cx="384048" cy="384048"/>
          </a:xfrm>
          <a:prstGeom prst="rect">
            <a:avLst/>
          </a:prstGeom>
        </p:spPr>
      </p:pic>
      <p:sp>
        <p:nvSpPr>
          <p:cNvPr id="51" name="TextBox 50"/>
          <p:cNvSpPr txBox="1"/>
          <p:nvPr/>
        </p:nvSpPr>
        <p:spPr>
          <a:xfrm>
            <a:off x="8119872" y="4197096"/>
            <a:ext cx="1353312" cy="457199"/>
          </a:xfrm>
          <a:prstGeom prst="rect">
            <a:avLst/>
          </a:prstGeom>
          <a:noFill/>
        </p:spPr>
        <p:txBody>
          <a:bodyPr wrap="square" lIns="0" rIns="0" tIns="0" bIns="0" anchor="ctr">
            <a:noAutofit/>
          </a:bodyPr>
          <a:lstStyle/>
          <a:p>
            <a:pPr algn="l"/>
            <a:r>
              <a:rPr sz="1200" b="1" i="0">
                <a:solidFill>
                  <a:srgbClr val="000048"/>
                </a:solidFill>
                <a:latin typeface="Arial"/>
              </a:rPr>
              <a:t>Key Vault</a:t>
            </a:r>
          </a:p>
          <a:p>
            <a:pPr algn="l"/>
            <a:r>
              <a:rPr sz="1000" b="0" i="0">
                <a:solidFill>
                  <a:srgbClr val="53565A"/>
                </a:solidFill>
                <a:latin typeface="Arial"/>
              </a:rPr>
              <a:t>certificates, secrets</a:t>
            </a:r>
          </a:p>
        </p:txBody>
      </p:sp>
      <p:pic>
        <p:nvPicPr>
          <p:cNvPr id="52"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674352" y="4233672"/>
            <a:ext cx="384048" cy="384048"/>
          </a:xfrm>
          <a:prstGeom prst="rect">
            <a:avLst/>
          </a:prstGeom>
        </p:spPr>
      </p:pic>
      <p:sp>
        <p:nvSpPr>
          <p:cNvPr id="53" name="TextBox 52"/>
          <p:cNvSpPr txBox="1"/>
          <p:nvPr/>
        </p:nvSpPr>
        <p:spPr>
          <a:xfrm>
            <a:off x="10131552" y="4197096"/>
            <a:ext cx="1536192" cy="457199"/>
          </a:xfrm>
          <a:prstGeom prst="rect">
            <a:avLst/>
          </a:prstGeom>
          <a:noFill/>
        </p:spPr>
        <p:txBody>
          <a:bodyPr wrap="square" lIns="0" rIns="0" tIns="0" bIns="0" anchor="ctr">
            <a:noAutofit/>
          </a:bodyPr>
          <a:lstStyle/>
          <a:p>
            <a:pPr algn="l"/>
            <a:r>
              <a:rPr sz="1200" b="1" i="0">
                <a:solidFill>
                  <a:srgbClr val="000048"/>
                </a:solidFill>
                <a:latin typeface="Arial"/>
              </a:rPr>
              <a:t>App Insights</a:t>
            </a:r>
          </a:p>
          <a:p>
            <a:pPr algn="l"/>
            <a:r>
              <a:rPr sz="1000" b="0" i="0">
                <a:solidFill>
                  <a:srgbClr val="53565A"/>
                </a:solidFill>
                <a:latin typeface="Arial"/>
              </a:rPr>
              <a:t>monitoring</a:t>
            </a:r>
          </a:p>
        </p:txBody>
      </p:sp>
      <p:cxnSp>
        <p:nvCxnSpPr>
          <p:cNvPr id="54" name="Connector (data)"/>
          <p:cNvCxnSpPr/>
          <p:nvPr/>
        </p:nvCxnSpPr>
        <p:spPr>
          <a:xfrm flipH="1">
            <a:off x="6400800" y="3474720"/>
            <a:ext cx="777240" cy="6858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7269480" y="3520440"/>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cxnSp>
        <p:nvCxnSpPr>
          <p:cNvPr id="56"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24128" y="5486400"/>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8" name="Connector (data)"/>
          <p:cNvCxnSpPr/>
          <p:nvPr/>
        </p:nvCxnSpPr>
        <p:spPr>
          <a:xfrm>
            <a:off x="2743200" y="560527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18688" y="5486400"/>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sp>
        <p:nvSpPr>
          <p:cNvPr id="60" name="TextBox 59"/>
          <p:cNvSpPr txBox="1"/>
          <p:nvPr/>
        </p:nvSpPr>
        <p:spPr>
          <a:xfrm>
            <a:off x="5120640" y="5486400"/>
            <a:ext cx="6492240" cy="274320"/>
          </a:xfrm>
          <a:prstGeom prst="rect">
            <a:avLst/>
          </a:prstGeom>
          <a:noFill/>
        </p:spPr>
        <p:txBody>
          <a:bodyPr wrap="square" lIns="0" rIns="0" tIns="0" bIns="0" anchor="t">
            <a:noAutofit/>
          </a:bodyPr>
          <a:lstStyle/>
          <a:p>
            <a:pPr algn="r"/>
            <a:r>
              <a:rPr sz="1100" b="0" i="0">
                <a:solidFill>
                  <a:srgbClr val="53565A"/>
                </a:solidFill>
                <a:latin typeface="Arial"/>
              </a:rPr>
              <a:t>Numbers follow the source diagram. Original: appendix O2.</a:t>
            </a:r>
          </a:p>
        </p:txBody>
      </p:sp>
      <p:sp>
        <p:nvSpPr>
          <p:cNvPr id="61" name="TextBox 60"/>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 not a validated customer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projects, model endpoints and agent hosting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VERIFY PER ENGAGEMENT"/>
          <p:cNvSpPr/>
          <p:nvPr/>
        </p:nvSpPr>
        <p:spPr>
          <a:xfrm>
            <a:off x="1898650" y="274320"/>
            <a:ext cx="20878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VERIFY PER ENGAGEMENT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2240280"/>
        </p:xfrm>
        <a:graphic>
          <a:graphicData uri="http://schemas.openxmlformats.org/drawingml/2006/table">
            <a:tbl>
              <a:tblPr firstRow="1" bandRow="0">
                <a:tableStyleId>{5C22544A-7EE6-4342-B048-85BDC9FD1C3A}</a:tableStyleId>
              </a:tblPr>
              <a:tblGrid>
                <a:gridCol w="2468880"/>
                <a:gridCol w="3108960"/>
                <a:gridCol w="3017520"/>
                <a:gridCol w="2496312"/>
              </a:tblGrid>
              <a:tr h="289560">
                <a:tc>
                  <a:txBody>
                    <a:bodyPr wrap="square" anchor="ctr">
                      <a:noAutofit/>
                    </a:bodyPr>
                    <a:lstStyle/>
                    <a:p>
                      <a:pPr algn="l"/>
                      <a:r>
                        <a:rPr sz="1300" b="1" i="0">
                          <a:solidFill>
                            <a:srgbClr val="FFFFFF"/>
                          </a:solidFill>
                          <a:latin typeface="Arial"/>
                        </a:rPr>
                        <a:t>Hosting route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Platform pattern 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Lifecycle control (verified)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Watch-outs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Foundry prompt agents and workflows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project, private endpoints, agent subnet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when published; unpublished must be deleted to stop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does not end existing runs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 hosted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As above, plus compute quota</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Start and stop; stop deallocates compute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Check region support</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Customer-hosted (Container Apps, AKS)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Spoke subnet, identity, registry, ingress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Register as custom agent: Block or Unblock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Block covers proxy path, not host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Logic Apps agent loops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Logic Apps with VNet integration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 the Logic Apps resource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Stops every workflow in it; no traces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4892040"/>
          <a:ext cx="11091672" cy="777240"/>
        </p:xfrm>
        <a:graphic>
          <a:graphicData uri="http://schemas.openxmlformats.org/drawingml/2006/table">
            <a:tbl>
              <a:tblPr firstRow="1" bandRow="0">
                <a:tableStyleId>{5C22544A-7EE6-4342-B048-85BDC9FD1C3A}</a:tableStyleId>
              </a:tblPr>
              <a:tblGrid>
                <a:gridCol w="2468880"/>
                <a:gridCol w="8622792"/>
              </a:tblGrid>
              <a:tr h="289560">
                <a:tc>
                  <a:txBody>
                    <a:bodyPr wrap="square" anchor="ctr">
                      <a:noAutofit/>
                    </a:bodyPr>
                    <a:lstStyle/>
                    <a:p>
                      <a:pPr algn="l"/>
                      <a:r>
                        <a:rPr sz="13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Model endpoint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Approved deployment type and model version per environment; quota checked; processing boundary approved (appendix A14)</a:t>
                      </a:r>
                    </a:p>
                  </a:txBody>
                  <a:tcPr marL="73152" marR="73152" marT="36576" marB="36576"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Search, storage and workload data dependencies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8" name="Table"/>
          <p:cNvGraphicFramePr>
            <a:graphicFrameLocks noGrp="1"/>
          </p:cNvGraphicFramePr>
          <p:nvPr/>
        </p:nvGraphicFramePr>
        <p:xfrm>
          <a:off x="548640" y="1371600"/>
          <a:ext cx="11091672" cy="2727960"/>
        </p:xfrm>
        <a:graphic>
          <a:graphicData uri="http://schemas.openxmlformats.org/drawingml/2006/table">
            <a:tbl>
              <a:tblPr firstRow="1" bandRow="0">
                <a:tableStyleId>{5C22544A-7EE6-4342-B048-85BDC9FD1C3A}</a:tableStyleId>
              </a:tblPr>
              <a:tblGrid>
                <a:gridCol w="2011680"/>
                <a:gridCol w="2377440"/>
                <a:gridCol w="3566160"/>
                <a:gridCol w="3136392"/>
              </a:tblGrid>
              <a:tr h="289560">
                <a:tc>
                  <a:txBody>
                    <a:bodyPr wrap="square" anchor="ctr">
                      <a:noAutofit/>
                    </a:bodyPr>
                    <a:lstStyle/>
                    <a:p>
                      <a:pPr algn="l"/>
                      <a:r>
                        <a:rPr sz="1300" b="1" i="0">
                          <a:solidFill>
                            <a:srgbClr val="FFFFFF"/>
                          </a:solidFill>
                          <a:latin typeface="Arial"/>
                        </a:rPr>
                        <a:t>Dependency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Azure service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Owned elsewhere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Retrieval index</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AI Search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Service, private endpoint, identity, diagnostics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Index design (Data); indexing pipelines (Data Eng.)</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Documents and files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Storage account (blob containers)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Account, private endpoint, network rules, lifecycle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Classification and retention (Data); loads (Data Eng.)</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Agent threads and state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Cosmos DB</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Account for Agent Service standard setup, backup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model (AI)</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Secrets and certificates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 Vault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Vault, RBAC, rotation alerts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Secret content (workload team)</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Source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Network path and DNS only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rights and access (customer source owner)</a:t>
                      </a:r>
                    </a:p>
                  </a:txBody>
                  <a:tcPr marL="73152" marR="73152" marT="36576" marB="36576" anchor="ctr">
                    <a:solidFill>
                      <a:srgbClr val="FFFFFF"/>
                    </a:solidFill>
                  </a:tcPr>
                </a:tc>
              </a:tr>
            </a:tbl>
          </a:graphicData>
        </a:graphic>
      </p:graphicFrame>
      <p:pic>
        <p:nvPicPr>
          <p:cNvPr id="9" name="Azure icon: AI Search (Cognitive Search icon)" descr="Official Azure icon: AI Search (Cognitive Search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303520"/>
            <a:ext cx="411480" cy="411480"/>
          </a:xfrm>
          <a:prstGeom prst="rect">
            <a:avLst/>
          </a:prstGeom>
        </p:spPr>
      </p:pic>
      <p:pic>
        <p:nvPicPr>
          <p:cNvPr id="10" name="Azure icon: Storage account" descr="Official Azure icon: Storage accou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43000" y="5303520"/>
            <a:ext cx="411480" cy="411480"/>
          </a:xfrm>
          <a:prstGeom prst="rect">
            <a:avLst/>
          </a:prstGeom>
        </p:spPr>
      </p:pic>
      <p:pic>
        <p:nvPicPr>
          <p:cNvPr id="11" name="Azure icon: Azure Cosmos DB" descr="Official Azure icon: Azure Cosmos DB"/>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37360" y="5303520"/>
            <a:ext cx="411480" cy="411480"/>
          </a:xfrm>
          <a:prstGeom prst="rect">
            <a:avLst/>
          </a:prstGeom>
        </p:spPr>
      </p:pic>
      <p:pic>
        <p:nvPicPr>
          <p:cNvPr id="12" name="Azure icon: Key Vault" descr="Official Azure icon: Key Vault"/>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31720" y="5303520"/>
            <a:ext cx="411480" cy="411480"/>
          </a:xfrm>
          <a:prstGeom prst="rect">
            <a:avLst/>
          </a:prstGeom>
        </p:spPr>
      </p:pic>
      <p:sp>
        <p:nvSpPr>
          <p:cNvPr id="13" name="TextBox 12"/>
          <p:cNvSpPr txBox="1"/>
          <p:nvPr/>
        </p:nvSpPr>
        <p:spPr>
          <a:xfrm>
            <a:off x="3017520" y="5321808"/>
            <a:ext cx="8595360" cy="457200"/>
          </a:xfrm>
          <a:prstGeom prst="rect">
            <a:avLst/>
          </a:prstGeom>
          <a:noFill/>
        </p:spPr>
        <p:txBody>
          <a:bodyPr wrap="square" lIns="0" rIns="0" tIns="0" bIns="0" anchor="t">
            <a:noAutofit/>
          </a:bodyPr>
          <a:lstStyle/>
          <a:p>
            <a:pPr algn="l"/>
            <a:r>
              <a:rPr sz="1400" b="0" i="0">
                <a:solidFill>
                  <a:srgbClr val="53565A"/>
                </a:solidFill>
                <a:latin typeface="Arial"/>
              </a:rPr>
              <a:t>Platform readiness does not imply data quality or permission propagation; those are separate acceptance gates.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Terraform, CI/CD, approvals and environment promotion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9" name="Rounded Rectangle 8"/>
          <p:cNvSpPr/>
          <p:nvPr/>
        </p:nvSpPr>
        <p:spPr>
          <a:xfrm>
            <a:off x="548640"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3020" y="1627632"/>
            <a:ext cx="502920" cy="502920"/>
          </a:xfrm>
          <a:prstGeom prst="rect">
            <a:avLst/>
          </a:prstGeom>
        </p:spPr>
      </p:pic>
      <p:sp>
        <p:nvSpPr>
          <p:cNvPr id="11" name="TextBox 10"/>
          <p:cNvSpPr txBox="1"/>
          <p:nvPr/>
        </p:nvSpPr>
        <p:spPr>
          <a:xfrm>
            <a:off x="585216"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Pull request</a:t>
            </a:r>
          </a:p>
          <a:p>
            <a:pPr algn="ctr"/>
            <a:r>
              <a:rPr sz="1200" b="0" i="0">
                <a:solidFill>
                  <a:srgbClr val="53565A"/>
                </a:solidFill>
                <a:latin typeface="Arial"/>
              </a:rPr>
              <a:t>plan, policy and security scans</a:t>
            </a:r>
          </a:p>
        </p:txBody>
      </p:sp>
      <p:cxnSp>
        <p:nvCxnSpPr>
          <p:cNvPr id="12" name="Connector (flow)"/>
          <p:cNvCxnSpPr/>
          <p:nvPr/>
        </p:nvCxnSpPr>
        <p:spPr>
          <a:xfrm>
            <a:off x="2560320"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16352"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70732" y="1627632"/>
            <a:ext cx="502920" cy="502920"/>
          </a:xfrm>
          <a:prstGeom prst="rect">
            <a:avLst/>
          </a:prstGeom>
        </p:spPr>
      </p:pic>
      <p:sp>
        <p:nvSpPr>
          <p:cNvPr id="15" name="TextBox 14"/>
          <p:cNvSpPr txBox="1"/>
          <p:nvPr/>
        </p:nvSpPr>
        <p:spPr>
          <a:xfrm>
            <a:off x="2852928"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Dev</a:t>
            </a:r>
          </a:p>
          <a:p>
            <a:pPr algn="ctr"/>
            <a:r>
              <a:rPr sz="1200" b="0" i="0">
                <a:solidFill>
                  <a:srgbClr val="53565A"/>
                </a:solidFill>
                <a:latin typeface="Arial"/>
              </a:rPr>
              <a:t>auto-apply after review</a:t>
            </a:r>
          </a:p>
        </p:txBody>
      </p:sp>
      <p:cxnSp>
        <p:nvCxnSpPr>
          <p:cNvPr id="16" name="Connector (flow)"/>
          <p:cNvCxnSpPr/>
          <p:nvPr/>
        </p:nvCxnSpPr>
        <p:spPr>
          <a:xfrm>
            <a:off x="4828032"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44" y="1627632"/>
            <a:ext cx="502920" cy="502920"/>
          </a:xfrm>
          <a:prstGeom prst="rect">
            <a:avLst/>
          </a:prstGeom>
        </p:spPr>
      </p:pic>
      <p:sp>
        <p:nvSpPr>
          <p:cNvPr id="19" name="TextBox 18"/>
          <p:cNvSpPr txBox="1"/>
          <p:nvPr/>
        </p:nvSpPr>
        <p:spPr>
          <a:xfrm>
            <a:off x="5120640"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Test</a:t>
            </a:r>
          </a:p>
          <a:p>
            <a:pPr algn="ctr"/>
            <a:r>
              <a:rPr sz="1200" b="0" i="0">
                <a:solidFill>
                  <a:srgbClr val="53565A"/>
                </a:solidFill>
                <a:latin typeface="Arial"/>
              </a:rPr>
              <a:t>integration and network tests</a:t>
            </a:r>
          </a:p>
        </p:txBody>
      </p:sp>
      <p:cxnSp>
        <p:nvCxnSpPr>
          <p:cNvPr id="20" name="Connector (flow)"/>
          <p:cNvCxnSpPr/>
          <p:nvPr/>
        </p:nvCxnSpPr>
        <p:spPr>
          <a:xfrm>
            <a:off x="7095744" y="2331720"/>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51775" y="1554480"/>
            <a:ext cx="2011680" cy="1600200"/>
          </a:xfrm>
          <a:prstGeom prst="roundRect">
            <a:avLst>
              <a:gd name="adj" fmla="val 4571"/>
            </a:avLst>
          </a:prstGeom>
          <a:solidFill>
            <a:srgbClr val="EFEFFC"/>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6155" y="1627632"/>
            <a:ext cx="502920" cy="502920"/>
          </a:xfrm>
          <a:prstGeom prst="rect">
            <a:avLst/>
          </a:prstGeom>
        </p:spPr>
      </p:pic>
      <p:sp>
        <p:nvSpPr>
          <p:cNvPr id="23" name="TextBox 22"/>
          <p:cNvSpPr txBox="1"/>
          <p:nvPr/>
        </p:nvSpPr>
        <p:spPr>
          <a:xfrm>
            <a:off x="7388351"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Approval</a:t>
            </a:r>
          </a:p>
          <a:p>
            <a:pPr algn="ctr"/>
            <a:r>
              <a:rPr sz="1200" b="0" i="0">
                <a:solidFill>
                  <a:srgbClr val="53565A"/>
                </a:solidFill>
                <a:latin typeface="Arial"/>
              </a:rPr>
              <a:t>customer change authority</a:t>
            </a:r>
          </a:p>
        </p:txBody>
      </p:sp>
      <p:cxnSp>
        <p:nvCxnSpPr>
          <p:cNvPr id="24" name="Connector (flow)"/>
          <p:cNvCxnSpPr/>
          <p:nvPr/>
        </p:nvCxnSpPr>
        <p:spPr>
          <a:xfrm>
            <a:off x="9363455" y="233172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19488"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73867" y="1627632"/>
            <a:ext cx="502920" cy="502920"/>
          </a:xfrm>
          <a:prstGeom prst="rect">
            <a:avLst/>
          </a:prstGeom>
        </p:spPr>
      </p:pic>
      <p:sp>
        <p:nvSpPr>
          <p:cNvPr id="27" name="TextBox 26"/>
          <p:cNvSpPr txBox="1"/>
          <p:nvPr/>
        </p:nvSpPr>
        <p:spPr>
          <a:xfrm>
            <a:off x="9656063"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Production</a:t>
            </a:r>
          </a:p>
          <a:p>
            <a:pPr algn="ctr"/>
            <a:r>
              <a:rPr sz="1200" b="0" i="0">
                <a:solidFill>
                  <a:srgbClr val="53565A"/>
                </a:solidFill>
                <a:latin typeface="Arial"/>
              </a:rPr>
              <a:t>apply; drift check; rollback ready</a:t>
            </a:r>
          </a:p>
        </p:txBody>
      </p:sp>
      <p:graphicFrame>
        <p:nvGraphicFramePr>
          <p:cNvPr id="28" name="Table"/>
          <p:cNvGraphicFramePr>
            <a:graphicFrameLocks noGrp="1"/>
          </p:cNvGraphicFramePr>
          <p:nvPr/>
        </p:nvGraphicFramePr>
        <p:xfrm>
          <a:off x="548640" y="3520440"/>
          <a:ext cx="11091672" cy="1524000"/>
        </p:xfrm>
        <a:graphic>
          <a:graphicData uri="http://schemas.openxmlformats.org/drawingml/2006/table">
            <a:tbl>
              <a:tblPr firstRow="1" bandRow="0">
                <a:tableStyleId>{5C22544A-7EE6-4342-B048-85BDC9FD1C3A}</a:tableStyleId>
              </a:tblPr>
              <a:tblGrid>
                <a:gridCol w="1828800"/>
                <a:gridCol w="9262872"/>
              </a:tblGrid>
              <a:tr h="304800">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Rule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Remote state per environment; locked; access by deployment identity only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Federated pipeline identity per environment; no stored secrets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Plan output, test results and approval stored with each release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Rollback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Previous version redeployable; tested before acceptance</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Development, test and production separation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8"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94560"/>
                <a:gridCol w="2834640"/>
                <a:gridCol w="2834640"/>
                <a:gridCol w="3227832"/>
              </a:tblGrid>
              <a:tr h="304800">
                <a:tc>
                  <a:txBody>
                    <a:bodyPr wrap="square" anchor="ctr">
                      <a:noAutofit/>
                    </a:bodyPr>
                    <a:lstStyle/>
                    <a:p>
                      <a:pPr algn="l"/>
                      <a:r>
                        <a:rPr sz="14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Development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Test (optional)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Production</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Subscription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Production, separate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Synthetic or masked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Approved test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Live, per data owner approval</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Standard, low quota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Same type as 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Approved type and processing boundary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Access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PIM optional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via pipeline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Pipeline only; PIM for operators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Network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WAF, egress firewall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Telemetry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Short retention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Agreed retention; alerts routed</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Monitoring, budgets, containment and recovery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8" name="Rounded Rectangle 7"/>
          <p:cNvSpPr/>
          <p:nvPr/>
        </p:nvSpPr>
        <p:spPr>
          <a:xfrm>
            <a:off x="54864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417319"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Monitoring</a:t>
            </a:r>
          </a:p>
        </p:txBody>
      </p:sp>
      <p:sp>
        <p:nvSpPr>
          <p:cNvPr id="11" name="TextBox 10"/>
          <p:cNvSpPr txBox="1"/>
          <p:nvPr/>
        </p:nvSpPr>
        <p:spPr>
          <a:xfrm>
            <a:off x="1417319"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Diagnostics to Log Analytics; Application Insights per Foundry project; alert rules with named owners</a:t>
            </a:r>
          </a:p>
        </p:txBody>
      </p:sp>
      <p:sp>
        <p:nvSpPr>
          <p:cNvPr id="12" name="Rounded Rectangle 11"/>
          <p:cNvSpPr/>
          <p:nvPr/>
        </p:nvSpPr>
        <p:spPr>
          <a:xfrm>
            <a:off x="617220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st Budgets" descr="Official Azure icon: Cost Budge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5080" y="1554480"/>
            <a:ext cx="502920" cy="502920"/>
          </a:xfrm>
          <a:prstGeom prst="rect">
            <a:avLst/>
          </a:prstGeom>
        </p:spPr>
      </p:pic>
      <p:sp>
        <p:nvSpPr>
          <p:cNvPr id="14" name="TextBox 13"/>
          <p:cNvSpPr txBox="1"/>
          <p:nvPr/>
        </p:nvSpPr>
        <p:spPr>
          <a:xfrm>
            <a:off x="7040880"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Budgets</a:t>
            </a:r>
          </a:p>
        </p:txBody>
      </p:sp>
      <p:sp>
        <p:nvSpPr>
          <p:cNvPr id="15" name="TextBox 14"/>
          <p:cNvSpPr txBox="1"/>
          <p:nvPr/>
        </p:nvSpPr>
        <p:spPr>
          <a:xfrm>
            <a:off x="7040880"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Budget and alert per subscription and workload; model usage reported separately from platform cost</a:t>
            </a:r>
          </a:p>
        </p:txBody>
      </p:sp>
      <p:sp>
        <p:nvSpPr>
          <p:cNvPr id="16" name="Rounded Rectangle 15"/>
          <p:cNvSpPr/>
          <p:nvPr/>
        </p:nvSpPr>
        <p:spPr>
          <a:xfrm>
            <a:off x="54864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unction App" descr="Official Azure icon: Function App"/>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520" y="3657600"/>
            <a:ext cx="502920" cy="502920"/>
          </a:xfrm>
          <a:prstGeom prst="rect">
            <a:avLst/>
          </a:prstGeom>
        </p:spPr>
      </p:pic>
      <p:sp>
        <p:nvSpPr>
          <p:cNvPr id="18" name="TextBox 17"/>
          <p:cNvSpPr txBox="1"/>
          <p:nvPr/>
        </p:nvSpPr>
        <p:spPr>
          <a:xfrm>
            <a:off x="1417319"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Containment hooks</a:t>
            </a:r>
          </a:p>
        </p:txBody>
      </p:sp>
      <p:sp>
        <p:nvSpPr>
          <p:cNvPr id="19" name="TextBox 18"/>
          <p:cNvSpPr txBox="1"/>
          <p:nvPr/>
        </p:nvSpPr>
        <p:spPr>
          <a:xfrm>
            <a:off x="1417319"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Network and identity design that lets offering 02 block, cancel and deny (see appendix K)</a:t>
            </a:r>
          </a:p>
        </p:txBody>
      </p:sp>
      <p:sp>
        <p:nvSpPr>
          <p:cNvPr id="20" name="Rounded Rectangle 19"/>
          <p:cNvSpPr/>
          <p:nvPr/>
        </p:nvSpPr>
        <p:spPr>
          <a:xfrm>
            <a:off x="617220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Recovery Services Vaults" descr="Official Azure icon: Recovery Services Vaul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5080" y="3657600"/>
            <a:ext cx="502920" cy="502920"/>
          </a:xfrm>
          <a:prstGeom prst="rect">
            <a:avLst/>
          </a:prstGeom>
        </p:spPr>
      </p:pic>
      <p:sp>
        <p:nvSpPr>
          <p:cNvPr id="22" name="TextBox 21"/>
          <p:cNvSpPr txBox="1"/>
          <p:nvPr/>
        </p:nvSpPr>
        <p:spPr>
          <a:xfrm>
            <a:off x="7040880"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Recovery</a:t>
            </a:r>
          </a:p>
        </p:txBody>
      </p:sp>
      <p:sp>
        <p:nvSpPr>
          <p:cNvPr id="23" name="TextBox 22"/>
          <p:cNvSpPr txBox="1"/>
          <p:nvPr/>
        </p:nvSpPr>
        <p:spPr>
          <a:xfrm>
            <a:off x="7040880"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IaC redeploy, backups for stateful stores, restore drill recorded; RTO and RPO agreed per dependency</a:t>
            </a:r>
          </a:p>
        </p:txBody>
      </p:sp>
      <p:sp>
        <p:nvSpPr>
          <p:cNvPr id="24" name="Rounded Rectangle 23"/>
          <p:cNvSpPr/>
          <p:nvPr/>
        </p:nvSpPr>
        <p:spPr>
          <a:xfrm>
            <a:off x="548640" y="57150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Log Analytics ingestion is a material consumption cost (East US 2 list: $2.76 per GB after the free allowance). Agree retention.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Processing location and residency are customer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3291840"/>
                <a:gridCol w="5120640"/>
                <a:gridCol w="2679192"/>
              </a:tblGrid>
              <a:tr h="3200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Where prompts and responses are processed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Billing</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Global Standard / Global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 where the model is deployed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 Standard / Provisioned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the Microsoft data zone: US, EU or APAC</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Standard (regional) / Regional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Within the customer-selected Azure geography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Global or Data Zone Batch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As Global or Data Zone; 24-hour target, no real-time SLA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50% discount on tokens</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UK or Middle East data zone is published. Those pursuits need regional deployments or an approved Global boundary.</a:t>
            </a:r>
          </a:p>
        </p:txBody>
      </p:sp>
      <p:sp>
        <p:nvSpPr>
          <p:cNvPr id="11" name="TextBox 10"/>
          <p:cNvSpPr txBox="1"/>
          <p:nvPr/>
        </p:nvSpPr>
        <p:spPr>
          <a:xfrm>
            <a:off x="548640" y="4983480"/>
            <a:ext cx="11064240" cy="822960"/>
          </a:xfrm>
          <a:prstGeom prst="rect">
            <a:avLst/>
          </a:prstGeom>
          <a:noFill/>
        </p:spPr>
        <p:txBody>
          <a:bodyPr wrap="square" lIns="0" rIns="0" tIns="0" bIns="0" anchor="t">
            <a:noAutofit/>
          </a:bodyPr>
          <a:lstStyle/>
          <a:p>
            <a:pPr algn="l"/>
            <a:r>
              <a:rPr sz="1600" b="0" i="0">
                <a:solidFill>
                  <a:srgbClr val="1E1E2E"/>
                </a:solidFill>
                <a:latin typeface="Arial"/>
              </a:rPr>
              <a:t>Approve both the resource region and the model processing boundary. Then verify model support, subscription quota and deployable capacity, which are three different things.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availability snapshot: gpt-5.4, selected regions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NOT EXHAUSTIVE"/>
          <p:cNvSpPr/>
          <p:nvPr/>
        </p:nvSpPr>
        <p:spPr>
          <a:xfrm>
            <a:off x="408940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EXHAUSTIVE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10" name="Table"/>
          <p:cNvGraphicFramePr>
            <a:graphicFrameLocks noGrp="1"/>
          </p:cNvGraphicFramePr>
          <p:nvPr/>
        </p:nvGraphicFramePr>
        <p:xfrm>
          <a:off x="548640" y="1371600"/>
          <a:ext cx="11091671" cy="2194560"/>
        </p:xfrm>
        <a:graphic>
          <a:graphicData uri="http://schemas.openxmlformats.org/drawingml/2006/table">
            <a:tbl>
              <a:tblPr firstRow="1" bandRow="0">
                <a:tableStyleId>{5C22544A-7EE6-4342-B048-85BDC9FD1C3A}</a:tableStyleId>
              </a:tblPr>
              <a:tblGrid>
                <a:gridCol w="2379401"/>
                <a:gridCol w="1244610"/>
                <a:gridCol w="1244610"/>
                <a:gridCol w="1244610"/>
                <a:gridCol w="1244610"/>
                <a:gridCol w="1244610"/>
                <a:gridCol w="1244610"/>
                <a:gridCol w="1244610"/>
              </a:tblGrid>
              <a:tr h="457200">
                <a:tc>
                  <a:txBody>
                    <a:bodyPr wrap="square" anchor="ctr">
                      <a:noAutofit/>
                    </a:bodyPr>
                    <a:lstStyle/>
                    <a:p>
                      <a:pPr algn="l"/>
                      <a:r>
                        <a:rPr sz="12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East US 2</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Sweden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West Europe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Germany W.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France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UK South</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UAE North</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Global Standard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Standard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Standard (regional)</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Global Provisioned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Provisioned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Regional Provisioned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bl>
          </a:graphicData>
        </a:graphic>
      </p:graphicFrame>
      <p:sp>
        <p:nvSpPr>
          <p:cNvPr id="11" name="Rounded Rectangle 10"/>
          <p:cNvSpPr/>
          <p:nvPr/>
        </p:nvSpPr>
        <p:spPr>
          <a:xfrm>
            <a:off x="548640" y="48463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UK or Middle East data zone exists. UAE North lists gpt-5.4 for Global only. Published support is not quota or capacity.</a:t>
            </a:r>
          </a:p>
        </p:txBody>
      </p:sp>
      <p:sp>
        <p:nvSpPr>
          <p:cNvPr id="12" name="TextBox 11"/>
          <p:cNvSpPr txBox="1"/>
          <p:nvPr/>
        </p:nvSpPr>
        <p:spPr>
          <a:xfrm>
            <a:off x="548640" y="5532120"/>
            <a:ext cx="11064240" cy="548640"/>
          </a:xfrm>
          <a:prstGeom prst="rect">
            <a:avLst/>
          </a:prstGeom>
          <a:noFill/>
        </p:spPr>
        <p:txBody>
          <a:bodyPr wrap="square" lIns="0" rIns="0" tIns="0" bIns="0" anchor="t">
            <a:noAutofit/>
          </a:bodyPr>
          <a:lstStyle/>
          <a:p>
            <a:pPr algn="l"/>
            <a:r>
              <a:rPr sz="1300" b="0" i="0">
                <a:solidFill>
                  <a:srgbClr val="53565A"/>
                </a:solidFill>
                <a:latin typeface="Arial"/>
              </a:rPr>
              <a:t>Regions chosen: East US 2 for US; Sweden Central, West Europe, Germany West Central, France Central for EU; UK South for UK; UAE North for Middle East.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Define scope before selecting the resource 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8" name="Table"/>
          <p:cNvGraphicFramePr>
            <a:graphicFrameLocks noGrp="1"/>
          </p:cNvGraphicFramePr>
          <p:nvPr/>
        </p:nvGraphicFramePr>
        <p:xfrm>
          <a:off x="548640" y="1371600"/>
          <a:ext cx="11091672" cy="2346960"/>
        </p:xfrm>
        <a:graphic>
          <a:graphicData uri="http://schemas.openxmlformats.org/drawingml/2006/table">
            <a:tbl>
              <a:tblPr firstRow="1" bandRow="0">
                <a:tableStyleId>{5C22544A-7EE6-4342-B048-85BDC9FD1C3A}</a:tableStyleId>
              </a:tblPr>
              <a:tblGrid>
                <a:gridCol w="5541264"/>
                <a:gridCol w="5550408"/>
              </a:tblGrid>
              <a:tr h="335280">
                <a:tc>
                  <a:txBody>
                    <a:bodyPr wrap="square" anchor="ctr">
                      <a:noAutofit/>
                    </a:bodyPr>
                    <a:lstStyle/>
                    <a:p>
                      <a:pPr algn="l"/>
                      <a:r>
                        <a:rPr sz="1600" b="1" i="0">
                          <a:solidFill>
                            <a:srgbClr val="FFFFFF"/>
                          </a:solidFill>
                          <a:latin typeface="Arial"/>
                        </a:rPr>
                        <a:t>Included reference baseline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Separately scoped</a:t>
                      </a:r>
                    </a:p>
                  </a:txBody>
                  <a:tcPr marL="73152" marR="73152" marT="36576" marB="36576" anchor="ctr">
                    <a:solidFill>
                      <a:srgbClr val="000048"/>
                    </a:solidFill>
                  </a:tcPr>
                </a:tc>
              </a:tr>
              <a:tr h="335280">
                <a:tc>
                  <a:txBody>
                    <a:bodyPr wrap="square" anchor="ctr">
                      <a:noAutofit/>
                    </a:bodyPr>
                    <a:lstStyle/>
                    <a:p>
                      <a:pPr algn="l"/>
                      <a:r>
                        <a:rPr sz="1600" b="0" i="0">
                          <a:solidFill>
                            <a:srgbClr val="1E1E2E"/>
                          </a:solidFill>
                          <a:latin typeface="Arial"/>
                        </a:rPr>
                        <a:t>One workload; development and production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Extra workloads and environments</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One region and approved processing boundary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Regional disaster recovery and extra geographies</a:t>
                      </a:r>
                    </a:p>
                  </a:txBody>
                  <a:tcPr marL="73152" marR="73152" marT="36576" marB="36576" anchor="ctr">
                    <a:solidFill>
                      <a:srgbClr val="F5F5F2"/>
                    </a:solidFill>
                  </a:tcPr>
                </a:tc>
              </a:tr>
              <a:tr h="335280">
                <a:tc>
                  <a:txBody>
                    <a:bodyPr wrap="square" anchor="ctr">
                      <a:noAutofit/>
                    </a:bodyPr>
                    <a:lstStyle/>
                    <a:p>
                      <a:pPr algn="l"/>
                      <a:r>
                        <a:rPr sz="1600" b="0" i="0">
                          <a:solidFill>
                            <a:srgbClr val="1E1E2E"/>
                          </a:solidFill>
                          <a:latin typeface="Arial"/>
                        </a:rPr>
                        <a:t>Agreed platform controls and IaC</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Enterprise-wide security remediation</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One onboarding and data integration pattern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Broad data clean-up or application redevelopment</a:t>
                      </a:r>
                    </a:p>
                  </a:txBody>
                  <a:tcPr marL="73152" marR="73152" marT="36576" marB="36576" anchor="ctr">
                    <a:solidFill>
                      <a:srgbClr val="F5F5F2"/>
                    </a:solidFill>
                  </a:tcPr>
                </a:tc>
              </a:tr>
              <a:tr h="335280">
                <a:tc>
                  <a:txBody>
                    <a:bodyPr wrap="square" anchor="ctr">
                      <a:noAutofit/>
                    </a:bodyPr>
                    <a:lstStyle/>
                    <a:p>
                      <a:pPr algn="l"/>
                      <a:r>
                        <a:rPr sz="1600" b="0" i="0">
                          <a:solidFill>
                            <a:srgbClr val="1E1E2E"/>
                          </a:solidFill>
                          <a:latin typeface="Arial"/>
                        </a:rPr>
                        <a:t>Existing hybrid connectivity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New WAN or DNS remediation</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Business-hours project support and stabilisation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SOC services, Copilot Studio or M365 administration</a:t>
                      </a:r>
                    </a:p>
                  </a:txBody>
                  <a:tcPr marL="73152" marR="73152" marT="36576" marB="36576" anchor="ctr">
                    <a:solidFill>
                      <a:srgbClr val="F5F5F2"/>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2468880"/>
                <a:gridCol w="5943599"/>
                <a:gridCol w="267919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Reproducible build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Deployed from versioned IaC; drift explained; rollback passes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platform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Connectivity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Approved paths pass; prohibited paths fail; DNS and egress recorded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with CIS Infra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Access controls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Agreed positive and negative permission tests pass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Scoped restore demonstrated; limitations documented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Integrated service owner</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Costs and handover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Allocation and budget alerts tested; runbooks accepted by named owners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service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Workload quality (separate)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Business-approved evaluation set meets thresholds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 workload owner</a:t>
                      </a:r>
                    </a:p>
                  </a:txBody>
                  <a:tcPr marL="73152" marR="73152" marT="36576" marB="36576" anchor="ctr">
                    <a:solidFill>
                      <a:srgbClr val="F5F5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Effort drivers and change-control triggers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8"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286000"/>
                <a:gridCol w="4754880"/>
                <a:gridCol w="4050792"/>
              </a:tblGrid>
              <a:tr h="320040">
                <a:tc>
                  <a:txBody>
                    <a:bodyPr wrap="square" anchor="ctr">
                      <a:noAutofit/>
                    </a:bodyPr>
                    <a:lstStyle/>
                    <a:p>
                      <a:pPr algn="l"/>
                      <a:r>
                        <a:rPr sz="1500" b="1" i="0">
                          <a:solidFill>
                            <a:srgbClr val="FFFFFF"/>
                          </a:solidFill>
                          <a:latin typeface="Arial"/>
                        </a:rPr>
                        <a:t>Driver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Why it changes effort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Change-control trigger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Environment count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Each adds policy, release, test and support 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environment beyond dev and prod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Connectivity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New WAN or DNS remediation changes the critical path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Hub, DNS or firewall not validated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Resilience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Extra regions add capacity, replication and recovery tests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DR or a second region requested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integrations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Each source adds access, network and test work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Sources beyond the agreed pattern</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Region or model change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Quota, policy and residency rework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Processing boundary or model change</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Customer availability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Approvals and access gate each phase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Agreed review dates missed</a:t>
                      </a:r>
                    </a:p>
                  </a:txBody>
                  <a:tcPr marL="73152" marR="73152" marT="36576" marB="36576" anchor="ctr">
                    <a:solidFill>
                      <a:srgbClr val="F5F5F2"/>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Bill of materials checklist for a defensible quote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8"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377440"/>
                <a:gridCol w="8714232"/>
              </a:tblGrid>
              <a:tr h="335280">
                <a:tc>
                  <a:txBody>
                    <a:bodyPr wrap="square" anchor="ctr">
                      <a:noAutofit/>
                    </a:bodyPr>
                    <a:lstStyle/>
                    <a:p>
                      <a:pPr algn="l"/>
                      <a:r>
                        <a:rPr sz="1600" b="1" i="0">
                          <a:solidFill>
                            <a:srgbClr val="FFFFFF"/>
                          </a:solidFill>
                          <a:latin typeface="Arial"/>
                        </a:rPr>
                        <a:t>Resource group</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Required pricing fields</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Connectivity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Firewall and gateway SKU, data processed, DNS resolver, private endpoints, egress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AI and data</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Model, version, deployment type, token volumes or PTU; AI Search tier and replicas; storage and retention</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Hosting and release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App or container compute SKU, replicas, registry, build agents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Log ingestion and retention, alerts, backup, Defender plans in scope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Every 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Region, quantity, environment, USD unit rate, meter, pricing date, monthly total</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Reuse Microsoft's AI Landing Zone accelerator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ESTIMATE, NOT PROVEN"/>
          <p:cNvSpPr/>
          <p:nvPr/>
        </p:nvSpPr>
        <p:spPr>
          <a:xfrm>
            <a:off x="189865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PROVEN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9" name="Rounded Rectangle 8"/>
          <p:cNvSpPr/>
          <p:nvPr/>
        </p:nvSpPr>
        <p:spPr>
          <a:xfrm>
            <a:off x="548640" y="13716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icrosoft Foundry" descr="Official Azure icon: Microsoft Foundr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45920"/>
            <a:ext cx="548640" cy="548640"/>
          </a:xfrm>
          <a:prstGeom prst="rect">
            <a:avLst/>
          </a:prstGeom>
        </p:spPr>
      </p:pic>
      <p:sp>
        <p:nvSpPr>
          <p:cNvPr id="11" name="TextBox 10"/>
          <p:cNvSpPr txBox="1"/>
          <p:nvPr/>
        </p:nvSpPr>
        <p:spPr>
          <a:xfrm>
            <a:off x="1463040" y="1554480"/>
            <a:ext cx="4389120" cy="365760"/>
          </a:xfrm>
          <a:prstGeom prst="rect">
            <a:avLst/>
          </a:prstGeom>
          <a:noFill/>
        </p:spPr>
        <p:txBody>
          <a:bodyPr wrap="square" lIns="0" rIns="0" tIns="0" bIns="0" anchor="t">
            <a:noAutofit/>
          </a:bodyPr>
          <a:lstStyle/>
          <a:p>
            <a:pPr algn="l"/>
            <a:r>
              <a:rPr sz="1900" b="1" i="0">
                <a:solidFill>
                  <a:srgbClr val="000048"/>
                </a:solidFill>
                <a:latin typeface="Arial"/>
              </a:rPr>
              <a:t>Agent Landing Zone</a:t>
            </a:r>
          </a:p>
        </p:txBody>
      </p:sp>
      <p:sp>
        <p:nvSpPr>
          <p:cNvPr id="12" name="TextBox 11"/>
          <p:cNvSpPr txBox="1"/>
          <p:nvPr/>
        </p:nvSpPr>
        <p:spPr>
          <a:xfrm>
            <a:off x="1463040" y="1965960"/>
            <a:ext cx="4389120" cy="731520"/>
          </a:xfrm>
          <a:prstGeom prst="rect">
            <a:avLst/>
          </a:prstGeom>
          <a:noFill/>
        </p:spPr>
        <p:txBody>
          <a:bodyPr wrap="square" lIns="0" rIns="0" tIns="0" bIns="0" anchor="t">
            <a:noAutofit/>
          </a:bodyPr>
          <a:lstStyle/>
          <a:p>
            <a:pPr algn="l"/>
            <a:r>
              <a:rPr sz="1600" b="0" i="0">
                <a:solidFill>
                  <a:srgbClr val="1E1E2E"/>
                </a:solidFill>
                <a:latin typeface="Arial"/>
              </a:rPr>
              <a:t>Foundry-based agent platform with private networking</a:t>
            </a:r>
          </a:p>
        </p:txBody>
      </p:sp>
      <p:sp>
        <p:nvSpPr>
          <p:cNvPr id="13" name="Rounded Rectangle 12"/>
          <p:cNvSpPr/>
          <p:nvPr/>
        </p:nvSpPr>
        <p:spPr>
          <a:xfrm>
            <a:off x="6172200" y="13716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5080" y="1645920"/>
            <a:ext cx="548640" cy="548640"/>
          </a:xfrm>
          <a:prstGeom prst="rect">
            <a:avLst/>
          </a:prstGeom>
        </p:spPr>
      </p:pic>
      <p:sp>
        <p:nvSpPr>
          <p:cNvPr id="15" name="TextBox 14"/>
          <p:cNvSpPr txBox="1"/>
          <p:nvPr/>
        </p:nvSpPr>
        <p:spPr>
          <a:xfrm>
            <a:off x="7086600" y="1554480"/>
            <a:ext cx="4389120" cy="365760"/>
          </a:xfrm>
          <a:prstGeom prst="rect">
            <a:avLst/>
          </a:prstGeom>
          <a:noFill/>
        </p:spPr>
        <p:txBody>
          <a:bodyPr wrap="square" lIns="0" rIns="0" tIns="0" bIns="0" anchor="t">
            <a:noAutofit/>
          </a:bodyPr>
          <a:lstStyle/>
          <a:p>
            <a:pPr algn="l"/>
            <a:r>
              <a:rPr sz="1900" b="1" i="0">
                <a:solidFill>
                  <a:srgbClr val="000048"/>
                </a:solidFill>
                <a:latin typeface="Arial"/>
              </a:rPr>
              <a:t>AI Gateway Landing Zone</a:t>
            </a:r>
          </a:p>
        </p:txBody>
      </p:sp>
      <p:sp>
        <p:nvSpPr>
          <p:cNvPr id="16" name="TextBox 15"/>
          <p:cNvSpPr txBox="1"/>
          <p:nvPr/>
        </p:nvSpPr>
        <p:spPr>
          <a:xfrm>
            <a:off x="7086600" y="1965960"/>
            <a:ext cx="4389120" cy="731520"/>
          </a:xfrm>
          <a:prstGeom prst="rect">
            <a:avLst/>
          </a:prstGeom>
          <a:noFill/>
        </p:spPr>
        <p:txBody>
          <a:bodyPr wrap="square" lIns="0" rIns="0" tIns="0" bIns="0" anchor="t">
            <a:noAutofit/>
          </a:bodyPr>
          <a:lstStyle/>
          <a:p>
            <a:pPr algn="l"/>
            <a:r>
              <a:rPr sz="1600" b="0" i="0">
                <a:solidFill>
                  <a:srgbClr val="1E1E2E"/>
                </a:solidFill>
                <a:latin typeface="Arial"/>
              </a:rPr>
              <a:t>API Management as AI gateway for Foundry models</a:t>
            </a:r>
          </a:p>
        </p:txBody>
      </p:sp>
      <p:sp>
        <p:nvSpPr>
          <p:cNvPr id="17" name="Rounded Rectangle 16"/>
          <p:cNvSpPr/>
          <p:nvPr/>
        </p:nvSpPr>
        <p:spPr>
          <a:xfrm>
            <a:off x="548640" y="29718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Azure DevOps" descr="Official Azure icon: Azure DevOp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520" y="3246120"/>
            <a:ext cx="548640" cy="548640"/>
          </a:xfrm>
          <a:prstGeom prst="rect">
            <a:avLst/>
          </a:prstGeom>
        </p:spPr>
      </p:pic>
      <p:sp>
        <p:nvSpPr>
          <p:cNvPr id="19" name="TextBox 18"/>
          <p:cNvSpPr txBox="1"/>
          <p:nvPr/>
        </p:nvSpPr>
        <p:spPr>
          <a:xfrm>
            <a:off x="1463040" y="3154680"/>
            <a:ext cx="4389120" cy="365760"/>
          </a:xfrm>
          <a:prstGeom prst="rect">
            <a:avLst/>
          </a:prstGeom>
          <a:noFill/>
        </p:spPr>
        <p:txBody>
          <a:bodyPr wrap="square" lIns="0" rIns="0" tIns="0" bIns="0" anchor="t">
            <a:noAutofit/>
          </a:bodyPr>
          <a:lstStyle/>
          <a:p>
            <a:pPr algn="l"/>
            <a:r>
              <a:rPr sz="1900" b="1" i="0">
                <a:solidFill>
                  <a:srgbClr val="000048"/>
                </a:solidFill>
                <a:latin typeface="Arial"/>
              </a:rPr>
              <a:t>Azure Verified Modules</a:t>
            </a:r>
          </a:p>
        </p:txBody>
      </p:sp>
      <p:sp>
        <p:nvSpPr>
          <p:cNvPr id="20" name="TextBox 19"/>
          <p:cNvSpPr txBox="1"/>
          <p:nvPr/>
        </p:nvSpPr>
        <p:spPr>
          <a:xfrm>
            <a:off x="1463040" y="3566160"/>
            <a:ext cx="4389120" cy="731520"/>
          </a:xfrm>
          <a:prstGeom prst="rect">
            <a:avLst/>
          </a:prstGeom>
          <a:noFill/>
        </p:spPr>
        <p:txBody>
          <a:bodyPr wrap="square" lIns="0" rIns="0" tIns="0" bIns="0" anchor="t">
            <a:noAutofit/>
          </a:bodyPr>
          <a:lstStyle/>
          <a:p>
            <a:pPr algn="l"/>
            <a:r>
              <a:rPr sz="1600" b="0" i="0">
                <a:solidFill>
                  <a:srgbClr val="1E1E2E"/>
                </a:solidFill>
                <a:latin typeface="Arial"/>
              </a:rPr>
              <a:t>Bicep and Terraform modules Microsoft maintains</a:t>
            </a:r>
          </a:p>
        </p:txBody>
      </p:sp>
      <p:sp>
        <p:nvSpPr>
          <p:cNvPr id="21" name="Rounded Rectangle 20"/>
          <p:cNvSpPr/>
          <p:nvPr/>
        </p:nvSpPr>
        <p:spPr>
          <a:xfrm>
            <a:off x="6172200" y="29718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Policy" descr="Official Azure icon: Azure Polic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5080" y="3246120"/>
            <a:ext cx="548640" cy="548640"/>
          </a:xfrm>
          <a:prstGeom prst="rect">
            <a:avLst/>
          </a:prstGeom>
        </p:spPr>
      </p:pic>
      <p:sp>
        <p:nvSpPr>
          <p:cNvPr id="23" name="TextBox 22"/>
          <p:cNvSpPr txBox="1"/>
          <p:nvPr/>
        </p:nvSpPr>
        <p:spPr>
          <a:xfrm>
            <a:off x="7086600" y="3154680"/>
            <a:ext cx="4389120" cy="365760"/>
          </a:xfrm>
          <a:prstGeom prst="rect">
            <a:avLst/>
          </a:prstGeom>
          <a:noFill/>
        </p:spPr>
        <p:txBody>
          <a:bodyPr wrap="square" lIns="0" rIns="0" tIns="0" bIns="0" anchor="t">
            <a:noAutofit/>
          </a:bodyPr>
          <a:lstStyle/>
          <a:p>
            <a:pPr algn="l"/>
            <a:r>
              <a:rPr sz="1900" b="1" i="0">
                <a:solidFill>
                  <a:srgbClr val="000048"/>
                </a:solidFill>
                <a:latin typeface="Arial"/>
              </a:rPr>
              <a:t>Design checklist</a:t>
            </a:r>
          </a:p>
        </p:txBody>
      </p:sp>
      <p:sp>
        <p:nvSpPr>
          <p:cNvPr id="24" name="TextBox 23"/>
          <p:cNvSpPr txBox="1"/>
          <p:nvPr/>
        </p:nvSpPr>
        <p:spPr>
          <a:xfrm>
            <a:off x="7086600" y="3566160"/>
            <a:ext cx="4389120" cy="731520"/>
          </a:xfrm>
          <a:prstGeom prst="rect">
            <a:avLst/>
          </a:prstGeom>
          <a:noFill/>
        </p:spPr>
        <p:txBody>
          <a:bodyPr wrap="square" lIns="0" rIns="0" tIns="0" bIns="0" anchor="t">
            <a:noAutofit/>
          </a:bodyPr>
          <a:lstStyle/>
          <a:p>
            <a:pPr algn="l"/>
            <a:r>
              <a:rPr sz="1600" b="0" i="0">
                <a:solidFill>
                  <a:srgbClr val="1E1E2E"/>
                </a:solidFill>
                <a:latin typeface="Arial"/>
              </a:rPr>
              <a:t>Assesses brownfield estates against CAF and WAF</a:t>
            </a:r>
          </a:p>
        </p:txBody>
      </p:sp>
      <p:graphicFrame>
        <p:nvGraphicFramePr>
          <p:cNvPr id="25" name="Table"/>
          <p:cNvGraphicFramePr>
            <a:graphicFrameLocks noGrp="1"/>
          </p:cNvGraphicFramePr>
          <p:nvPr/>
        </p:nvGraphicFramePr>
        <p:xfrm>
          <a:off x="548640" y="4663440"/>
          <a:ext cx="11091672" cy="1219200"/>
        </p:xfrm>
        <a:graphic>
          <a:graphicData uri="http://schemas.openxmlformats.org/drawingml/2006/table">
            <a:tbl>
              <a:tblPr firstRow="1" bandRow="0">
                <a:tableStyleId>{5C22544A-7EE6-4342-B048-85BDC9FD1C3A}</a:tableStyleId>
              </a:tblPr>
              <a:tblGrid>
                <a:gridCol w="5943600"/>
                <a:gridCol w="5148072"/>
              </a:tblGrid>
              <a:tr h="304800">
                <a:tc>
                  <a:txBody>
                    <a:bodyPr wrap="square" anchor="ctr">
                      <a:noAutofit/>
                    </a:bodyPr>
                    <a:lstStyle/>
                    <a:p>
                      <a:pPr algn="l"/>
                      <a:r>
                        <a:rPr sz="1400" b="1" i="0">
                          <a:solidFill>
                            <a:srgbClr val="FFFFFF"/>
                          </a:solidFill>
                          <a:latin typeface="Arial"/>
                        </a:rPr>
                        <a:t>Where CIS Infra adds value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Estimated effort effect</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Fit to existing hub, DNS, policy and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Main effort driver; not reduced by reuse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Deploy modules through customer pipelines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Reduced: modules exist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Close gaps (preview services, policy exceptions)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Adds effort; varies by customer</a:t>
                      </a:r>
                    </a:p>
                  </a:txBody>
                  <a:tcPr marL="73152" marR="73152" marT="36576" marB="36576"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Data paths and disaster recovery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ROPOSED OPTION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OPTIONS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11091672" cy="1219200"/>
        </p:xfrm>
        <a:graphic>
          <a:graphicData uri="http://schemas.openxmlformats.org/drawingml/2006/table">
            <a:tbl>
              <a:tblPr firstRow="1" bandRow="0">
                <a:tableStyleId>{5C22544A-7EE6-4342-B048-85BDC9FD1C3A}</a:tableStyleId>
              </a:tblPr>
              <a:tblGrid>
                <a:gridCol w="3108960"/>
                <a:gridCol w="4023360"/>
                <a:gridCol w="3959352"/>
              </a:tblGrid>
              <a:tr h="304800">
                <a:tc>
                  <a:txBody>
                    <a:bodyPr wrap="square" anchor="ctr">
                      <a:noAutofit/>
                    </a:bodyPr>
                    <a:lstStyle/>
                    <a:p>
                      <a:pPr algn="l"/>
                      <a:r>
                        <a:rPr sz="1400" b="1" i="0">
                          <a:solidFill>
                            <a:srgbClr val="FFFFFF"/>
                          </a:solidFill>
                          <a:latin typeface="Arial"/>
                        </a:rPr>
                        <a:t>Data path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Azure services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 role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Documents and files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Storage account, AI Search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identity, lifecycle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Enterprise analytics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Fabric, OneLake (if used)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Network and identity integration only</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Operational systems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sources via connectors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Network path and DNS</a:t>
                      </a:r>
                    </a:p>
                  </a:txBody>
                  <a:tcPr marL="73152" marR="73152" marT="36576" marB="36576" anchor="ctr">
                    <a:solidFill>
                      <a:srgbClr val="FFFFFF"/>
                    </a:solidFill>
                  </a:tcPr>
                </a:tc>
              </a:tr>
            </a:tbl>
          </a:graphicData>
        </a:graphic>
      </p:graphicFrame>
      <p:graphicFrame>
        <p:nvGraphicFramePr>
          <p:cNvPr id="10" name="Table"/>
          <p:cNvGraphicFramePr>
            <a:graphicFrameLocks noGrp="1"/>
          </p:cNvGraphicFramePr>
          <p:nvPr/>
        </p:nvGraphicFramePr>
        <p:xfrm>
          <a:off x="548640" y="3383280"/>
          <a:ext cx="11091672" cy="1645920"/>
        </p:xfrm>
        <a:graphic>
          <a:graphicData uri="http://schemas.openxmlformats.org/drawingml/2006/table">
            <a:tbl>
              <a:tblPr firstRow="1" bandRow="0">
                <a:tableStyleId>{5C22544A-7EE6-4342-B048-85BDC9FD1C3A}</a:tableStyleId>
              </a:tblPr>
              <a:tblGrid>
                <a:gridCol w="2377440"/>
                <a:gridCol w="3474720"/>
                <a:gridCol w="3108960"/>
                <a:gridCol w="2130552"/>
              </a:tblGrid>
              <a:tr h="304800">
                <a:tc>
                  <a:txBody>
                    <a:bodyPr wrap="square" anchor="ctr">
                      <a:noAutofit/>
                    </a:bodyPr>
                    <a:lstStyle/>
                    <a:p>
                      <a:pPr algn="l"/>
                      <a:r>
                        <a:rPr sz="1400" b="1" i="0">
                          <a:solidFill>
                            <a:srgbClr val="FFFFFF"/>
                          </a:solidFill>
                          <a:latin typeface="Arial"/>
                        </a:rPr>
                        <a:t>DR 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How it works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Cost driver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Recovery</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Single region, rebuild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Redeploy from code; restore data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Lowest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Hours to days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Warm standby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pre-built, scaled down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baseline, data replication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Hours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Active-active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Two regions serving traffic</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Double capacity, global routing</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Minutes, if capacity exists</a:t>
                      </a:r>
                    </a:p>
                  </a:txBody>
                  <a:tcPr marL="73152" marR="73152" marT="36576" marB="36576" anchor="ctr">
                    <a:solidFill>
                      <a:srgbClr val="FFFFFF"/>
                    </a:solidFill>
                  </a:tcPr>
                </a:tc>
              </a:tr>
            </a:tbl>
          </a:graphicData>
        </a:graphic>
      </p:graphicFrame>
      <p:sp>
        <p:nvSpPr>
          <p:cNvPr id="11" name="Rounded Rectangle 10"/>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Model capacity in a second region is not guaranteed on demand. Test failover before quoting a recovery time.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Buyer roles and risk register in detail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8" name="Table"/>
          <p:cNvGraphicFramePr>
            <a:graphicFrameLocks noGrp="1"/>
          </p:cNvGraphicFramePr>
          <p:nvPr/>
        </p:nvGraphicFramePr>
        <p:xfrm>
          <a:off x="548640" y="1325880"/>
          <a:ext cx="11091672" cy="1447800"/>
        </p:xfrm>
        <a:graphic>
          <a:graphicData uri="http://schemas.openxmlformats.org/drawingml/2006/table">
            <a:tbl>
              <a:tblPr firstRow="1" bandRow="0">
                <a:tableStyleId>{5C22544A-7EE6-4342-B048-85BDC9FD1C3A}</a:tableStyleId>
              </a:tblPr>
              <a:tblGrid>
                <a:gridCol w="3108960"/>
                <a:gridCol w="3931920"/>
                <a:gridCol w="4050792"/>
              </a:tblGrid>
              <a:tr h="289560">
                <a:tc>
                  <a:txBody>
                    <a:bodyPr wrap="square" anchor="ctr">
                      <a:noAutofit/>
                    </a:bodyPr>
                    <a:lstStyle/>
                    <a:p>
                      <a:pPr algn="l"/>
                      <a:r>
                        <a:rPr sz="1300" b="1" i="0">
                          <a:solidFill>
                            <a:srgbClr val="FFFFFF"/>
                          </a:solidFill>
                          <a:latin typeface="Arial"/>
                        </a:rPr>
                        <a:t>Buyer role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What they need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Purchase trigger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Platform or infrastructure leader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 controlled place to run AI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Pilot blocked by platform gaps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CIO or transformation sponsor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Funded path to production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production route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Business workload owner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 go-live date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Use case waiting on platform</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CISO delegate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Tested controls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Unresolved private connectivity</a:t>
                      </a:r>
                    </a:p>
                  </a:txBody>
                  <a:tcPr marL="73152" marR="73152" marT="36576" marB="36576" anchor="ctr">
                    <a:solidFill>
                      <a:srgbClr val="F5F5F2"/>
                    </a:solidFill>
                  </a:tcPr>
                </a:tc>
              </a:tr>
            </a:tbl>
          </a:graphicData>
        </a:graphic>
      </p:graphicFrame>
      <p:graphicFrame>
        <p:nvGraphicFramePr>
          <p:cNvPr id="9" name="Table"/>
          <p:cNvGraphicFramePr>
            <a:graphicFrameLocks noGrp="1"/>
          </p:cNvGraphicFramePr>
          <p:nvPr/>
        </p:nvGraphicFramePr>
        <p:xfrm>
          <a:off x="548640" y="3749039"/>
          <a:ext cx="11091671" cy="1447800"/>
        </p:xfrm>
        <a:graphic>
          <a:graphicData uri="http://schemas.openxmlformats.org/drawingml/2006/table">
            <a:tbl>
              <a:tblPr firstRow="1" bandRow="0">
                <a:tableStyleId>{5C22544A-7EE6-4342-B048-85BDC9FD1C3A}</a:tableStyleId>
              </a:tblPr>
              <a:tblGrid>
                <a:gridCol w="3657600"/>
                <a:gridCol w="4937760"/>
                <a:gridCol w="2496311"/>
              </a:tblGrid>
              <a:tr h="289560">
                <a:tc>
                  <a:txBody>
                    <a:bodyPr wrap="square" anchor="ctr">
                      <a:noAutofit/>
                    </a:bodyPr>
                    <a:lstStyle/>
                    <a:p>
                      <a:pPr algn="l"/>
                      <a:r>
                        <a:rPr sz="1300" b="1" i="0">
                          <a:solidFill>
                            <a:srgbClr val="FFFFFF"/>
                          </a:solidFill>
                          <a:latin typeface="Arial"/>
                        </a:rPr>
                        <a:t>Risk</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Mitigation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Hub, DNS or firewall gaps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Price the establish route explicitly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Slow customer approvals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Customer duties and dates in SOW</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Customer platform owner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Preview services in accelerator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GA check before 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Model retirement mid-project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Choose model with longest support; plan upgrade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tower</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6035039" cy="262128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Existing landing zone maturity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Design docs, policy, hub in place</a:t>
                      </a:r>
                    </a:p>
                  </a:txBody>
                  <a:tcPr marL="73152" marR="73152" marT="36576" marB="36576" anchor="ctr">
                    <a:solidFill>
                      <a:srgbClr val="F5F5F2"/>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Assess first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workload, one region, access granted in week 1</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workloads, unclear ownership, slow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Extend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Mature hub, DNS and policy; accelerator fits; one data source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Gaps found in hub or DNS; extra environment; two data sources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Establish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Single region, standard policy baseline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New tenant, new connectivity, regulated industry controls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Transition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Customer operations team ready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New operations model, offering 05 onboarding</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11091672" cy="321564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Data exfiltration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sends data to an external site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firewall egress allow-list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Credential theft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Keys in code or config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Managed identity, local auth off, Key Vault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Privilege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Standing admin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PIM, approval for production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designs, CIS Infra runs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Unvetted modules or images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Verified modules, registry scanning, pipeline gates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DevOps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Malicious content in retrieved documents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Content Safety, Prompt Shields, retrieval permissions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Logging gaps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evidence during an incident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Diagnostics to Log Analytics, retention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283464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implementation, transition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DevOps, AI, Data, Data Eng. work packages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Optional,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assets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Network, hosting, Search, Storage, logs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meters x quantity, dated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 for the workload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tower); PTU rates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in baseline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 inference is chosen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Private endpoints and disabled local auth so agents cannot bypass the gateway</a:t>
            </a:r>
          </a:p>
          <a:p>
            <a:pPr algn="l" marL="201168" indent="-201168">
              <a:spcAft>
                <a:spcPts val="600"/>
              </a:spcAft>
              <a:buFont typeface="Arial"/>
              <a:buChar char="•"/>
            </a:pPr>
            <a:r>
              <a:rPr sz="1800" b="0" i="0">
                <a:solidFill>
                  <a:srgbClr val="1E1E2E"/>
                </a:solidFill>
                <a:latin typeface="Arial"/>
              </a:rPr>
              <a:t>Separate subnets and identities so a runtime can be isolated without affecting the hub</a:t>
            </a:r>
          </a:p>
          <a:p>
            <a:pPr algn="l" marL="201168" indent="-201168">
              <a:spcAft>
                <a:spcPts val="600"/>
              </a:spcAft>
              <a:buFont typeface="Arial"/>
              <a:buChar char="•"/>
            </a:pPr>
            <a:r>
              <a:rPr sz="1800" b="0" i="0">
                <a:solidFill>
                  <a:srgbClr val="1E1E2E"/>
                </a:solidFill>
                <a:latin typeface="Arial"/>
              </a:rPr>
              <a:t>Telemetry plumbing (Log Analytics, Application Insights) that containment verification depends on</a:t>
            </a:r>
          </a:p>
          <a:p>
            <a:pPr algn="l" marL="201168" indent="-201168">
              <a:spcAft>
                <a:spcPts val="600"/>
              </a:spcAft>
              <a:buFont typeface="Arial"/>
              <a:buChar char="•"/>
            </a:pPr>
            <a:r>
              <a:rPr sz="1800" b="0" i="0">
                <a:solidFill>
                  <a:srgbClr val="1E1E2E"/>
                </a:solidFill>
                <a:latin typeface="Arial"/>
              </a:rPr>
              <a:t>A restricted management boundary for the containment control plane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Platform design and integrated plan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Subscriptions, network, DNS, egress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Security control design and verification</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Terraform modules and pipelines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Foundry project, model endpoint hosting</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Data architecture and ingestion</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testing (build, network, access)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Workload acceptance (quality)</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Operational handover and runbooks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hooks and recovery drill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92608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Platform foundation and integration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$180,000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Security design and verification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$40,000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Terraform and pipelines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$50,000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Data architecture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Ingestion and indexing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 Eng.</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$60,000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Workload onboarding and evaluation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$50,000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$400,000</a:t>
                      </a:r>
                    </a:p>
                  </a:txBody>
                  <a:tcPr marL="73152" marR="73152" marT="36576" marB="36576" anchor="ctr">
                    <a:solidFill>
                      <a:srgbClr val="FFFFFF"/>
                    </a:solidFill>
                  </a:tcPr>
                </a:tc>
              </a:tr>
            </a:tbl>
          </a:graphicData>
        </a:graphic>
      </p:graphicFrame>
      <p:sp>
        <p:nvSpPr>
          <p:cNvPr id="16" name="TextBox 15"/>
          <p:cNvSpPr txBox="1"/>
          <p:nvPr/>
        </p:nvSpPr>
        <p:spPr>
          <a:xfrm>
            <a:off x="6629400" y="470916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Funded workload, platform sponsor, data owner, deployment authority, tower commitments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Landing zone design, subscriptions, hub, DNS, identity, policy, region and model needs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Design, IaC, configured environments, test evidence, runbooks, handover pack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One workload, dev and prod, one region, one data pattern (reference)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Security, DevOps, AI, Data, Data Eng. work packages; customer approvals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Assess, design, build, prove, transition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Gates in appendix A17, agreed in the SOW</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Access, approvals, data rights, risk acceptance, named owners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assessment fee; role days per work package; capped transition fee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Environments, regions, connectivity, data sources, model or boundary change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operations; runbooks and alert routing accepted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Gates passed first time; time to accepted environment; tag coverage</a:t>
                      </a:r>
                    </a:p>
                  </a:txBody>
                  <a:tcPr marL="73152" marR="73152" marT="36576" marB="36576" anchor="ctr">
                    <a:solidFill>
                      <a:srgbClr val="F5F5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graphicFrame>
        <p:nvGraphicFramePr>
          <p:cNvPr id="9" name="Table"/>
          <p:cNvGraphicFramePr>
            <a:graphicFrameLocks noGrp="1"/>
          </p:cNvGraphicFramePr>
          <p:nvPr/>
        </p:nvGraphicFramePr>
        <p:xfrm>
          <a:off x="548640" y="1325880"/>
          <a:ext cx="11091672" cy="219456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Nominate Infra sponsor and tower leads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Named people and effort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Adopt three routes and scope boundaries</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Terraform ownership: DevOps or CIS Infra</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and DevOps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Who staffs and maintains modules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margin and attribution rules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Reference estimate for extension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effort from validation</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Approved demo environment and IaC assets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Working deployment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External launch and Microsoft alliance positioning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 card, evidence pack</a:t>
                      </a:r>
                    </a:p>
                  </a:txBody>
                  <a:tcPr marL="73152" marR="73152" marT="36576" marB="36576"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AI landing zone with platform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pic>
        <p:nvPicPr>
          <p:cNvPr id="9" name="Original reference image: 04_AI-Landing-Zone-with-platform.png" descr="04_AI-Landing-Zone-with-platform.png"/>
          <p:cNvPicPr>
            <a:picLocks noChangeAspect="1"/>
          </p:cNvPicPr>
          <p:nvPr/>
        </p:nvPicPr>
        <p:blipFill>
          <a:blip r:embed="rId4"/>
          <a:stretch>
            <a:fillRect/>
          </a:stretch>
        </p:blipFill>
        <p:spPr>
          <a:xfrm>
            <a:off x="2384212" y="1280160"/>
            <a:ext cx="7420526"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04_AI-Landing-Zone-with-platform.png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use the earlier "AI Foundry" naming; the simplified executive view uses current Foundry names.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Microsoft Foundry baseline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07_baseline-microsoft-foundry.png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shows "Azure OpenAI model"; adapted view (A8) uses Foundry model deployment.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networking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pic>
        <p:nvPicPr>
          <p:cNvPr id="9" name="Original reference image: 11_baseline-landing-zone-networking.png" descr="11_baseline-landing-zone-networking.png"/>
          <p:cNvPicPr>
            <a:picLocks noChangeAspect="1"/>
          </p:cNvPicPr>
          <p:nvPr/>
        </p:nvPicPr>
        <p:blipFill>
          <a:blip r:embed="rId4"/>
          <a:stretch>
            <a:fillRect/>
          </a:stretch>
        </p:blipFill>
        <p:spPr>
          <a:xfrm>
            <a:off x="3622063" y="1280160"/>
            <a:ext cx="494482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11_baseline-landing-zone-networking.png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The source PNG clips some labels in its own render; the editable reconstruction is appendix A5.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egress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O4</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pic>
        <p:nvPicPr>
          <p:cNvPr id="9" name="Original reference image: 12_baseline-landing-zone-networking-egress.png" descr="12_baseline-landing-zone-networking-egress.png"/>
          <p:cNvPicPr>
            <a:picLocks noChangeAspect="1"/>
          </p:cNvPicPr>
          <p:nvPr/>
        </p:nvPicPr>
        <p:blipFill>
          <a:blip r:embed="rId4"/>
          <a:stretch>
            <a:fillRect/>
          </a:stretch>
        </p:blipFill>
        <p:spPr>
          <a:xfrm>
            <a:off x="3819963" y="1280160"/>
            <a:ext cx="4549025"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12_baseline-landing-zone-networking-egress.png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The source PNG clips some labels in its own render; the editable reconstruction is appendix A6.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Azure landing zone conceptual 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O5</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pic>
        <p:nvPicPr>
          <p:cNvPr id="9" name="Original reference image: 35_azure-landing-zone-conceptual-architecture.png" descr="35_azure-landing-zone-conceptual-architecture.png"/>
          <p:cNvPicPr>
            <a:picLocks noChangeAspect="1"/>
          </p:cNvPicPr>
          <p:nvPr/>
        </p:nvPicPr>
        <p:blipFill>
          <a:blip r:embed="rId4"/>
          <a:stretch>
            <a:fillRect/>
          </a:stretch>
        </p:blipFill>
        <p:spPr>
          <a:xfrm>
            <a:off x="2363814" y="1280160"/>
            <a:ext cx="746132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35_azure-landing-zone-conceptual-architecture.png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Microsoft CAF conceptual view showing Foundry added to workload landing zones that need AI.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51</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Cloud Adoption Framework: AI Ready:  </a:t>
            </a:r>
            <a:r>
              <a:rPr sz="1100" b="0" i="0">
                <a:solidFill>
                  <a:srgbClr val="2F78C4"/>
                </a:solidFill>
                <a:latin typeface="Arial"/>
                <a:hlinkClick r:id="rId4"/>
              </a:rPr>
              <a:t>https://learn.microsoft.com/en-us/azure/cloud-adoption-framework/ai/ready</a:t>
            </a:r>
          </a:p>
          <a:p>
            <a:pPr algn="l">
              <a:spcAft>
                <a:spcPts val="300"/>
              </a:spcAft>
            </a:pPr>
            <a:r>
              <a:rPr sz="1100" b="1" i="0">
                <a:solidFill>
                  <a:srgbClr val="000048"/>
                </a:solidFill>
                <a:latin typeface="Arial"/>
              </a:rPr>
              <a:t>Foundry Models deployment types:  </a:t>
            </a:r>
            <a:r>
              <a:rPr sz="1100" b="0" i="0">
                <a:solidFill>
                  <a:srgbClr val="2F78C4"/>
                </a:solidFill>
                <a:latin typeface="Arial"/>
                <a:hlinkClick r:id="rId5"/>
              </a:rPr>
              <a:t>https://learn.microsoft.com/en-us/azure/foundry/foundry-models/concepts/deployment-types</a:t>
            </a:r>
          </a:p>
          <a:p>
            <a:pPr algn="l">
              <a:spcAft>
                <a:spcPts val="300"/>
              </a:spcAft>
            </a:pPr>
            <a:r>
              <a:rPr sz="1100" b="1" i="0">
                <a:solidFill>
                  <a:srgbClr val="000048"/>
                </a:solidFill>
                <a:latin typeface="Arial"/>
              </a:rPr>
              <a:t>Foundry Models region availability (Europe and MEA tabs read in browser):  </a:t>
            </a:r>
            <a:r>
              <a:rPr sz="1100" b="0" i="0">
                <a:solidFill>
                  <a:srgbClr val="2F78C4"/>
                </a:solidFill>
                <a:latin typeface="Arial"/>
                <a:hlinkClick r:id="rId6"/>
              </a:rPr>
              <a:t>https://learn.microsoft.com/en-us/azure/foundry/foundry-models/concepts/models-sold-directly-by-azure-region-availability</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7"/>
              </a:rPr>
              <a:t>https://learn.microsoft.com/en-us/azure/foundry/openai/concepts/model-retirement-schedule</a:t>
            </a:r>
          </a:p>
          <a:p>
            <a:pPr algn="l">
              <a:spcAft>
                <a:spcPts val="300"/>
              </a:spcAft>
            </a:pPr>
            <a:r>
              <a:rPr sz="1100" b="1" i="0">
                <a:solidFill>
                  <a:srgbClr val="000048"/>
                </a:solidFill>
                <a:latin typeface="Arial"/>
              </a:rPr>
              <a:t>Foundry Control Plane: manage agents:  </a:t>
            </a:r>
            <a:r>
              <a:rPr sz="1100" b="0" i="0">
                <a:solidFill>
                  <a:srgbClr val="2F78C4"/>
                </a:solidFill>
                <a:latin typeface="Arial"/>
                <a:hlinkClick r:id="rId8"/>
              </a:rPr>
              <a:t>https://learn.microsoft.com/en-us/azure/foundry/control-plane/how-to-manage-agents</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9"/>
              </a:rPr>
              <a:t>https://prices.azure.com/api/retail/prices?$filter=serviceName eq 'Log Analytics' and armRegionName eq 'eastus2'</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10"/>
              </a:rPr>
              <a:t>https://learn.microsoft.com/en-us/azure/architecture/icons/</a:t>
            </a:r>
          </a:p>
          <a:p>
            <a:pPr algn="l">
              <a:spcAft>
                <a:spcPts val="300"/>
              </a:spcAft>
            </a:pPr>
            <a:r>
              <a:rPr sz="1100" b="1" i="0">
                <a:solidFill>
                  <a:srgbClr val="000048"/>
                </a:solidFill>
                <a:latin typeface="Arial"/>
              </a:rPr>
              <a:t>az-icons.com catalogue of official Azure icons (July 2026 set):  </a:t>
            </a:r>
            <a:r>
              <a:rPr sz="1100" b="0" i="0">
                <a:solidFill>
                  <a:srgbClr val="2F78C4"/>
                </a:solidFill>
                <a:latin typeface="Arial"/>
                <a:hlinkClick r:id="rId11"/>
              </a:rPr>
              <a:t>https://az-icons.com/</a:t>
            </a:r>
          </a:p>
          <a:p>
            <a:pPr algn="l">
              <a:spcAft>
                <a:spcPts val="300"/>
              </a:spcAft>
            </a:pPr>
            <a:r>
              <a:rPr sz="1100" b="1" i="0">
                <a:solidFill>
                  <a:srgbClr val="000048"/>
                </a:solidFill>
                <a:latin typeface="Arial"/>
              </a:rPr>
              <a:t>Azure Architecture Center browse:  </a:t>
            </a:r>
            <a:r>
              <a:rPr sz="1100" b="0" i="0">
                <a:solidFill>
                  <a:srgbClr val="2F78C4"/>
                </a:solidFill>
                <a:latin typeface="Arial"/>
                <a:hlinkClick r:id="rId12"/>
              </a:rPr>
              <a:t>https://learn.microsoft.com/en-us/azure/architecture/browse/</a:t>
            </a:r>
          </a:p>
          <a:p>
            <a:pPr algn="l">
              <a:spcAft>
                <a:spcPts val="300"/>
              </a:spcAft>
            </a:pPr>
            <a:r>
              <a:rPr sz="1100" b="1" i="0">
                <a:solidFill>
                  <a:srgbClr val="000048"/>
                </a:solidFill>
                <a:latin typeface="Arial"/>
              </a:rPr>
              <a:t>GTM proposal V3:  </a:t>
            </a:r>
            <a:r>
              <a:rPr sz="1100" b="0" i="0">
                <a:solidFill>
                  <a:srgbClr val="2F78C4"/>
                </a:solidFill>
                <a:latin typeface="Arial"/>
                <a:hlinkClick r:id="rId13"/>
              </a:rPr>
              <a:t>https://github.com/upendra25312/AI-Foundry-GTM-offering-/blob/main/CIS_Infra_Azure_AI_Platform_GTM_Proposal_V3.docx</a:t>
            </a:r>
          </a:p>
          <a:p>
            <a:pPr algn="l">
              <a:spcAft>
                <a:spcPts val="300"/>
              </a:spcAft>
            </a:pPr>
            <a:r>
              <a:rPr sz="1100" b="1" i="0">
                <a:solidFill>
                  <a:srgbClr val="000048"/>
                </a:solidFill>
                <a:latin typeface="Arial"/>
              </a:rPr>
              <a:t>Azure AI Landing Zones:  </a:t>
            </a:r>
            <a:r>
              <a:rPr sz="1100" b="0" i="0">
                <a:solidFill>
                  <a:srgbClr val="2F78C4"/>
                </a:solidFill>
                <a:latin typeface="Arial"/>
                <a:hlinkClick r:id="rId14"/>
              </a:rPr>
              <a:t>https://github.com/Azure/AI-Landing-Zones</a:t>
            </a:r>
          </a:p>
          <a:p>
            <a:pPr algn="l">
              <a:spcAft>
                <a:spcPts val="300"/>
              </a:spcAft>
            </a:pPr>
            <a:r>
              <a:rPr sz="1100" b="1" i="0">
                <a:solidFill>
                  <a:srgbClr val="000048"/>
                </a:solidFill>
                <a:latin typeface="Arial"/>
              </a:rPr>
              <a:t>Foundry baseline in a landing zone:  </a:t>
            </a:r>
            <a:r>
              <a:rPr sz="1100" b="0" i="0">
                <a:solidFill>
                  <a:srgbClr val="2F78C4"/>
                </a:solidFill>
                <a:latin typeface="Arial"/>
                <a:hlinkClick r:id="rId15"/>
              </a:rPr>
              <a:t>https://learn.microsoft.com/en-us/azure/architecture/ai-ml/architecture/baseline-microsoft-foundry-landing-zone</a:t>
            </a:r>
          </a:p>
          <a:p>
            <a:pPr algn="l">
              <a:spcAft>
                <a:spcPts val="300"/>
              </a:spcAft>
            </a:pPr>
            <a:r>
              <a:rPr sz="1100" b="1" i="0">
                <a:solidFill>
                  <a:srgbClr val="000048"/>
                </a:solidFill>
                <a:latin typeface="Arial"/>
              </a:rPr>
              <a:t>App Service private endpoint:  </a:t>
            </a:r>
            <a:r>
              <a:rPr sz="1100" b="0" i="0">
                <a:solidFill>
                  <a:srgbClr val="2F78C4"/>
                </a:solidFill>
                <a:latin typeface="Arial"/>
                <a:hlinkClick r:id="rId16"/>
              </a:rPr>
              <a:t>https://learn.microsoft.com/en-us/azure/app-service/overview-private-endpoint</a:t>
            </a:r>
          </a:p>
          <a:p>
            <a:pPr algn="l">
              <a:spcAft>
                <a:spcPts val="300"/>
              </a:spcAft>
            </a:pPr>
            <a:r>
              <a:rPr sz="1100" b="1" i="0">
                <a:solidFill>
                  <a:srgbClr val="000048"/>
                </a:solidFill>
                <a:latin typeface="Arial"/>
              </a:rPr>
              <a:t>Azure AI Landing Zones (GitHub):  </a:t>
            </a:r>
            <a:r>
              <a:rPr sz="1100" b="0" i="0">
                <a:solidFill>
                  <a:srgbClr val="2F78C4"/>
                </a:solidFill>
                <a:latin typeface="Arial"/>
                <a:hlinkClick r:id="rId14"/>
              </a:rPr>
              <a:t>https://github.com/Azure/AI-Landing-Zones</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17"/>
              </a:rPr>
              <a:t>https://www.orrick.com/en/Insights/2026/07/EU-AI-Act-Update-Digital-Omnibus-Finalizes-8-Compliance-Changes</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18"/>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19"/>
              </a:rPr>
              <a:t>https://learn.microsoft.com/en-us/purview/ai-microsoft-purview</a:t>
            </a:r>
          </a:p>
          <a:p>
            <a:pPr algn="l">
              <a:spcAft>
                <a:spcPts val="300"/>
              </a:spcAft>
            </a:pPr>
            <a:r>
              <a:rPr sz="1100" b="1" i="0">
                <a:solidFill>
                  <a:srgbClr val="000048"/>
                </a:solidFill>
                <a:latin typeface="Arial"/>
              </a:rPr>
              <a:t>Microsoft Agent 365 now generally available (Microsoft Security blog, 1 May 2026):  </a:t>
            </a:r>
            <a:r>
              <a:rPr sz="1100" b="0" i="0">
                <a:solidFill>
                  <a:srgbClr val="2F78C4"/>
                </a:solidFill>
                <a:latin typeface="Arial"/>
                <a:hlinkClick r:id="rId20"/>
              </a:rPr>
              <a:t>https://www.microsoft.com/en-us/security/blog/2026/05/01/microsoft-agent-365-now-generally-available-expands-capabilities-and-integrations/</a:t>
            </a:r>
          </a:p>
          <a:p>
            <a:pPr algn="l">
              <a:spcAft>
                <a:spcPts val="300"/>
              </a:spcAft>
            </a:pPr>
            <a:r>
              <a:rPr sz="1100" b="1" i="0">
                <a:solidFill>
                  <a:srgbClr val="000048"/>
                </a:solidFill>
                <a:latin typeface="Arial"/>
              </a:rPr>
              <a:t>Register and discover MCP servers in Azure API Center:  </a:t>
            </a:r>
            <a:r>
              <a:rPr sz="1100" b="0" i="0">
                <a:solidFill>
                  <a:srgbClr val="2F78C4"/>
                </a:solidFill>
                <a:latin typeface="Arial"/>
                <a:hlinkClick r:id="rId21"/>
              </a:rPr>
              <a:t>https://learn.microsoft.com/en-us/azure/api-center/register-discover-mcp-server</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Platform / Landing Zone v3.0</dc:title>
  <dcterms:created xsi:type="dcterms:W3CDTF">2026-10-10T13:56:28.3080000Z</dcterms:created>
  <dcterms:modified xsi:type="dcterms:W3CDTF">2026-10-10T13:56:28.3090000Z</dcterms:modified>
  <dc:subject>Proposed CIS Infra GTM offering for internal leadership review</dc:subject>
</coreProperties>
</file>