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Services, USD thousands</c:v>
                </c:pt>
              </c:strCache>
            </c:strRef>
          </c:tx>
          <c:spPr>
            <a:solidFill>
              <a:srgbClr val="7373D8"/>
            </a:solidFill>
          </c:spPr>
          <c:cat>
            <c:strRef>
              <c:f>Sheet1!$A$2:$A$6</c:f>
              <c:strCache>
                <c:ptCount val="5"/>
                <c:pt idx="0">
                  <c:v>05 Onboarding + 6 months</c:v>
                </c:pt>
                <c:pt idx="1">
                  <c:v>02 Governance and PoC</c:v>
                </c:pt>
                <c:pt idx="2">
                  <c:v>03 Gateway build</c:v>
                </c:pt>
                <c:pt idx="3">
                  <c:v>01 Platform build</c:v>
                </c:pt>
                <c:pt idx="4">
                  <c:v>04 Assessment</c:v>
                </c:pt>
              </c:strCache>
            </c:strRef>
          </c:cat>
          <c:val>
            <c:numRef>
              <c:f>Sheet1!$B$2:$B$6</c:f>
              <c:numCache>
                <c:formatCode>General</c:formatCode>
                <c:ptCount val="5"/>
                <c:pt idx="0">
                  <c:v>300</c:v>
                </c:pt>
                <c:pt idx="1">
                  <c:v>80</c:v>
                </c:pt>
                <c:pt idx="2">
                  <c:v>70</c:v>
                </c:pt>
                <c:pt idx="3">
                  <c:v>180</c:v>
                </c:pt>
                <c:pt idx="4">
                  <c:v>30</c:v>
                </c:pt>
              </c:numCache>
            </c:numRef>
          </c:val>
        </c:ser>
        <c:dLbls>
          <c:numFmt formatCode="$#,##0&quot;k&quot;" sourceLinked="0"/>
          <c:txPr>
            <a:bodyPr/>
            <a:lstStyle/>
            <a:p>
              <a:pPr>
                <a:defRPr sz="13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D0D0CE"/>
            </a:solidFill>
          </a:ln>
        </c:spPr>
        <c:txPr>
          <a:bodyPr/>
          <a:lstStyle/>
          <a:p>
            <a:pPr>
              <a:defRPr sz="1300"/>
            </a:pPr>
          </a:p>
        </c:txPr>
        <c:crossAx val="-2113994440"/>
        <c:crosses val="autoZero"/>
        <c:auto val="1"/>
        <c:lblAlgn val="ctr"/>
        <c:lblOffset val="100"/>
        <c:noMultiLvlLbl val="0"/>
      </c:catAx>
      <c:valAx>
        <c:axId val="-2113994440"/>
        <c:scaling/>
        <c:delete val="0"/>
        <c:axPos val="b"/>
        <c:majorGridlines>
          <c:spPr>
            <a:ln>
              <a:solidFill>
                <a:srgbClr val="E3E3E3"/>
              </a:solidFill>
            </a:ln>
          </c:spPr>
        </c:majorGridlines>
        <c:numFmt formatCode="$#,##0&quot;k&quot;" sourceLinked="0"/>
        <c:majorTickMark val="out"/>
        <c:minorTickMark val="none"/>
        <c:tickLblPos val="nextTo"/>
        <c:spPr>
          <a:ln>
            <a:noFill/>
          </a:ln>
        </c:spPr>
        <c:txPr>
          <a:bodyPr/>
          <a:lstStyle/>
          <a:p>
            <a:pPr>
              <a:defRPr sz="1300"/>
            </a:pPr>
          </a:p>
        </c:txPr>
        <c:crossAx val="-2068027336"/>
        <c:crosses val="autoZero"/>
      </c:valAx>
    </c:plotArea>
    <c:dispBlanksAs val="gap"/>
  </c:chart>
  <c:txPr>
    <a:bodyPr/>
    <a:lstStyle/>
    <a:p>
      <a:pPr>
        <a:defRPr sz="1400">
          <a:solidFill>
            <a:srgbClr val="1E1E2E"/>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deck is the one-page story for the whole portfolio. Five offerings, one entry point, one path from assessment to a platform we run every month. The detailed decks 01 to 05 sit behind it.</a:t>
            </a:r>
          </a:p>
          <a:p/>
          <a:p>
            <a:r>
              <a:t>Likely question: Is this approved?</a:t>
            </a:r>
          </a:p>
          <a:p>
            <a:r>
              <a:t>Answer: No. It is a working proposal. We are asking for decisions and a 30-day validation, not a launch.</a:t>
            </a:r>
          </a:p>
          <a:p/>
          <a:p>
            <a:r>
              <a:t>DETAIL AND CAVEATS</a:t>
            </a:r>
          </a:p>
          <a:p>
            <a:r>
              <a:t>Opening slide of the master deck added in v3.0 (PDCA item P1). It frames the five offering decks, the entry offer, combined economics, the Microsoft ecosystem and the decisions requested.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portfolio exists because customers are buying AI faster than they can run it. We enter with a short assessment, then sell the platform, the gateway and agent governance, and finally a monthly run service that carries the recurring revenue.</a:t>
            </a:r>
          </a:p>
          <a:p/>
          <a:p>
            <a:r>
              <a:t>Likely question: Why five offerings, not one?</a:t>
            </a:r>
          </a:p>
          <a:p>
            <a:r>
              <a:t>Answer: Different buyers and triggers. Each can be sold alone, but each one creates the next.</a:t>
            </a:r>
          </a:p>
          <a:p/>
          <a:p>
            <a:r>
              <a:t>DETAIL AND CAVEATS</a:t>
            </a:r>
          </a:p>
          <a:p>
            <a:r>
              <a:t>Portfolio summary. Offerings are proposals; none is an approved Cognizant offering.</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Three things changed in 2026: Microsoft shipped agent control planes, models now retire inside commitment terms, and EU AI Act dates are fixed. Each one creates a reason to buy.</a:t>
            </a:r>
          </a:p>
          <a:p/>
          <a:p>
            <a:r>
              <a:t>Likely question: Where is the demand evidence?</a:t>
            </a:r>
          </a:p>
          <a:p>
            <a:r>
              <a:t>Answer: We do not claim pipeline. The 30-day validation asks account teams for three qualified candidates.</a:t>
            </a:r>
          </a:p>
          <a:p/>
          <a:p>
            <a:r>
              <a:t>DETAIL AND CAVEATS</a:t>
            </a:r>
          </a:p>
          <a:p>
            <a:r>
              <a:t>Drivers are sourced facts. No customer or pipeline is claimed.</a:t>
            </a:r>
          </a:p>
          <a:p/>
          <a:p>
            <a:r>
              <a:t>Sources (checked 11 Oct 2026):</a:t>
            </a:r>
          </a:p>
          <a:p>
            <a:r>
              <a:t>Microsoft Agent 365 now generally available (Microsoft Security blog, 1 May 2026): https://www.microsoft.com/en-us/security/blog/2026/05/01/microsoft-agent-365-now-generally-available-expands-capabilities-and-integrations/</a:t>
            </a:r>
          </a:p>
          <a:p>
            <a:r>
              <a:t>Foundry Models retirement schedule: https://learn.microsoft.com/en-us/azure/foundry/openai/concepts/model-retirement-schedule</a:t>
            </a:r>
          </a:p>
          <a:p>
            <a:r>
              <a:t>EU AI Act Update: Digital Omnibus finalises compliance changes (Orrick, 29 Jul 2026): https://www.orrick.com/en/Insights/2026/07/EU-AI-Act-Update-Digital-Omnibus-Finalizes-8-Compliance-Changes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Read left to right. We enter with the capacity and FinOps assessment, build the platform, put the gateway in front of AI traffic, govern the agents, and then run it all monthly. Customers can also enter at any offering through its own short assessment.</a:t>
            </a:r>
          </a:p>
          <a:p/>
          <a:p>
            <a:r>
              <a:t>Likely question: What if the customer already has a landing zone?</a:t>
            </a:r>
          </a:p>
          <a:p>
            <a:r>
              <a:t>Answer: Then we start at the gateway or agent governance. The assessment tells us where the gaps are.</a:t>
            </a:r>
          </a:p>
          <a:p/>
          <a:p>
            <a:r>
              <a:t>DETAIL AND CAVEATS</a:t>
            </a:r>
          </a:p>
          <a:p>
            <a:r>
              <a:t>Typical sequence. Offering 04 is the proposed entry offer because it is short, fixed-scope and creates evidence for the platform, gateway and operations decisions. Each offering also has its own entry package (01 assessment, 02 coverage assessment, 03 readiness assessment). Monthly evidence from 05 feeds back into 04. Durations and effort are planning estimates from each deck.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slide to settle internal ownership. Microsoft 365 Copilot belongs to our M365 and D365 teams. We own the Azure side: Foundry, the landing zone, the gateway, the tool registry and agent governance. Copilot Studio sits in the middle: Power Platform administers it, we govern and run its agents. Joint deals need a named lead.</a:t>
            </a:r>
          </a:p>
          <a:p/>
          <a:p>
            <a:r>
              <a:t>Likely question: Who leads a deal that has both?</a:t>
            </a:r>
          </a:p>
          <a:p>
            <a:r>
              <a:t>Answer: That is a decision we are asking for. The proposal is: whoever owns the larger first work package leads, and the other team is attributed its packages.</a:t>
            </a:r>
          </a:p>
          <a:p/>
          <a:p>
            <a:r>
              <a:t>DETAIL AND CAVEATS</a:t>
            </a:r>
          </a:p>
          <a:p>
            <a:r>
              <a:t>Ownership map (PDCA item M1). Microsoft 365 Copilot is owned by the Cognizant M365 and D365 teams, not CIS Infra. The split between them (for example Copilot in Microsoft 365 apps for the M365 team and Copilot in Dynamics 365 for the D365 team) and who leads a joint deal are open decisions in the register. Copilot Studio administration stays with the customer Power Platform team; CIS Infra covers Copilot Studio agents as a runtime in the catalogue, gateway and containment. Agent 365 is configured by CIS Infra with Security inside offering 02. API Center is built by CIS Infra in offering 03.</a:t>
            </a:r>
          </a:p>
          <a:p/>
          <a:p>
            <a:r>
              <a:t>Sources (checked 11 Oct 2026):</a:t>
            </a:r>
          </a:p>
          <a:p>
            <a:r>
              <a:t>Microsoft Agent 365 now generally available (Microsoft Security blog, 1 May 2026): https://www.microsoft.com/en-us/security/blog/2026/05/01/microsoft-agent-365-now-generally-available-expands-capabilities-and-integrations/</a:t>
            </a:r>
          </a:p>
          <a:p>
            <a:r>
              <a:t>Register and discover MCP servers in Azure API Center: https://learn.microsoft.com/en-us/azure/api-center/register-discover-mcp-server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one customer bought everything in year one, services would be roughly 660 thousand dollars at our illustrative rate, and the run service would carry about 540 thousand a year from year two. Azure, model and licence spend is the customer paying Microsoft, so it is not in these bars.</a:t>
            </a:r>
          </a:p>
          <a:p/>
          <a:p>
            <a:r>
              <a:t>Likely question: What is the margin?</a:t>
            </a:r>
          </a:p>
          <a:p>
            <a:r>
              <a:t>Answer: Not shown. We have no approved rates or delivery costs yet; Finance sets both in the validation.</a:t>
            </a:r>
          </a:p>
          <a:p/>
          <a:p>
            <a:r>
              <a:t>DETAIL AND CAVEATS</a:t>
            </a:r>
          </a:p>
          <a:p>
            <a:r>
              <a:t>HYPOTHETICAL first-year deal for one customer, built from mid-points of each deck: 04 assessment 30 role days; 01 Establish 180; 03 single-region build 70; 02 configure 45 plus kill-switch PoC 35; 05 onboarding 30 plus Foundation at 45 role days a month for 6 months (270). Total 660 role days = $660k at the illustrative $1,000 per role day. Year two recurring at Foundation mid-point: 45 x 12 = 540 role days, about $540k. Customer Azure consumption, model tokens and licences are paid to Microsoft and are not CIS Infra revenue. No margin is shown because no approved cost or rate exists.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Most large partners lead with industry outcomes, Copilot rollouts or broad transformation. Our angle is narrower and more concrete: the infrastructure underneath agents, built from Microsoft accelerators, with tested containment and a clear run model. These are claims we still have to prove with evidence.</a:t>
            </a:r>
          </a:p>
          <a:p/>
          <a:p>
            <a:r>
              <a:t>Likely question: Are we better than Accenture?</a:t>
            </a:r>
          </a:p>
          <a:p>
            <a:r>
              <a:t>Answer: We do not claim that. We claim a specific, testable infrastructure package, and we validate it before using it externally.</a:t>
            </a:r>
          </a:p>
          <a:p/>
          <a:p>
            <a:r>
              <a:t>DETAIL AND CAVEATS</a:t>
            </a:r>
          </a:p>
          <a:p>
            <a:r>
              <a:t>Benchmark carried from the GTM proposal V3 (eight firms, public positioning reviewed 7 Oct 2026): Accenture and Avanade, TCS, KPMG, EPAM, EY, PwC, Deloitte, Wipro. Public positioning is not proof of delivery quality, scope or price, and silence is not absence. The right-hand column lists CIS Infra differentiators as claims to validate with evidence before external use. Full battlecard in appendix A2.</a:t>
            </a:r>
          </a:p>
          <a:p/>
          <a:p>
            <a:r>
              <a:t>Sources (checked 11 Oct 2026):</a:t>
            </a:r>
          </a:p>
          <a:p>
            <a:r>
              <a:t>CIS Infra Azure AI Platform GTM Proposal V3 (competitor benchmark reviewed 7 Oct 2026): https://github.com/upendra25312/AI-Foundry-GTM-offering-/blob/main/CIS_Infra_Azure_AI_Platform_GTM_Proposal_V3.docx</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Microsoft offers three levers. Azure Accelerate can fund parts of Azure deployments. Co-sell gets Microsoft sellers to bring us in, but the IP co-sell route now needs a certified software designation, so services may follow a different route. Marketplace lets customers spend committed Azure budget. Our alliance team confirms what we qualify for.</a:t>
            </a:r>
          </a:p>
          <a:p/>
          <a:p>
            <a:r>
              <a:t>Likely question: Can we count on Microsoft funding?</a:t>
            </a:r>
          </a:p>
          <a:p>
            <a:r>
              <a:t>Answer: No. Funding is case by case. We never put it in a price until it is approved for the specific customer.</a:t>
            </a:r>
          </a:p>
          <a:p/>
          <a:p>
            <a:r>
              <a:t>DETAIL AND CAVEATS</a:t>
            </a:r>
          </a:p>
          <a:p>
            <a:r>
              <a:t>Microsoft Partner blog, January 2026: Azure Accelerate is described as bringing expert guidance, funding support and streamlined deployment across Azure (no eligibility criteria stated on that page). From 1 January 2026, access to Azure IP co-sell benefits requires a Solutions Partner with certified software designation; this applies to packaged IP and software, so the route for a services offering must be confirmed with the Cognizant Microsoft alliance team. Marketplace resale-enabled offers let software companies authorise channel partners to resell, and customers can use eligible cloud-commitment budgets. No funding amount or eligibility is assumed in any deck.</a:t>
            </a:r>
          </a:p>
          <a:p/>
          <a:p>
            <a:r>
              <a:t>Sources (checked 11 Oct 2026):</a:t>
            </a:r>
          </a:p>
          <a:p>
            <a:r>
              <a:t>What's new for partners, Jan 2026 (Microsoft Partner blog): https://partner.microsoft.com/blog/article/whats-new-for-partners-jan-2026</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 risks are mostly internal: tower commitments, overlap with our M365 and D365 colleagues, and rates. The 30-day validation is designed to close them.</a:t>
            </a:r>
          </a:p>
          <a:p/>
          <a:p>
            <a:r>
              <a:t>DETAIL AND CAVEATS</a:t>
            </a:r>
          </a:p>
          <a:p>
            <a:r>
              <a:t>Portfolio-level risks. Offering-level risks are in each deck.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Three decisions today, then thirty days to prove it. By day thirty we want three qualified accounts, signed tower commitments, an approved rate for the entry offer and agreed rules with the M365 and D365 teams.</a:t>
            </a:r>
          </a:p>
          <a:p/>
          <a:p>
            <a:r>
              <a:t>Likely question: What happens if validation fails?</a:t>
            </a:r>
          </a:p>
          <a:p>
            <a:r>
              <a:t>Answer: We keep the assessment as a standalone offer and stop the rest. The cost of finding out is thirty days.</a:t>
            </a:r>
          </a:p>
          <a:p/>
          <a:p>
            <a:r>
              <a:t>DETAIL AND CAVEATS</a:t>
            </a:r>
          </a:p>
          <a:p>
            <a:r>
              <a:t>Decisions and a 30-day validation plan. Exit of validation: three qualified accounts with sponsors, signed tower commitments, Finance-approved rate card for the entry offer, and the M365 and D365 joint-motion rules agreed. Full register in appendix D1.</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We now move into the appendix. Everything from here supports the executive section and is for architecture, presales and commercial workshops. Use the index on the next slide to jump to a topic when a question comes up.</a:t>
            </a:r>
          </a:p>
          <a:p/>
          <a:p>
            <a:r>
              <a:t>DETAIL AND CAVEATS</a:t>
            </a:r>
          </a:p>
          <a:p>
            <a:r>
              <a:t>Appendix divider. Use the index to navigate.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index lists every appendix topic. Click a line to jump to it, and use the Appendix index link in the footer to come back.</a:t>
            </a:r>
          </a:p>
          <a:p/>
          <a:p>
            <a:r>
              <a:t>DETAIL AND CAVEATS</a:t>
            </a:r>
          </a:p>
          <a:p>
            <a:r>
              <a:t>Navigation slide. Each entry links to the appendix slide. Use the Index link in the footer of any appendix slide to return here.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Sellers can use this as the one-page menu: who buys each offering, what triggers it, and the first package to sell.</a:t>
            </a:r>
          </a:p>
          <a:p/>
          <a:p>
            <a:r>
              <a:t>DETAIL AND CAVEATS</a:t>
            </a:r>
          </a:p>
          <a:p>
            <a:r>
              <a:t>One line per offering, from decks 01 to 05. Effort ranges are planning estimates.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prepare, not to attack. Each firm has a public message; the lesson column tells us what to show in our own pitch.</a:t>
            </a:r>
          </a:p>
          <a:p/>
          <a:p>
            <a:r>
              <a:t>Likely question: Can we name competitors to customers?</a:t>
            </a:r>
          </a:p>
          <a:p>
            <a:r>
              <a:t>Answer: Only with approved messaging. This is internal.</a:t>
            </a:r>
          </a:p>
          <a:p/>
          <a:p>
            <a:r>
              <a:t>DETAIL AND CAVEATS</a:t>
            </a:r>
          </a:p>
          <a:p>
            <a:r>
              <a:t>Firms and packaging lessons from the GTM proposal V3 public benchmark (sources B1 to B8 in that document, reviewed 7 Oct 2026). Public positioning is not proof of delivery quality, scope or price. Do not infer absence from silence.</a:t>
            </a:r>
          </a:p>
          <a:p/>
          <a:p>
            <a:r>
              <a:t>Sources (checked 11 Oct 2026):</a:t>
            </a:r>
          </a:p>
          <a:p>
            <a:r>
              <a:t>CIS Infra Azure AI Platform GTM Proposal V3 (competitor benchmark reviewed 7 Oct 2026): https://github.com/upendra25312/AI-Foundry-GTM-offering-/blob/main/CIS_Infra_Azure_AI_Platform_GTM_Proposal_V3.docx</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Copilot deals and platform deals will meet in the same accounts. These rules stop us competing with our own colleagues: one named lead, clear handoffs, and attribution by priced work package.</a:t>
            </a:r>
          </a:p>
          <a:p/>
          <a:p>
            <a:r>
              <a:t>Likely question: Who decides the lead?</a:t>
            </a:r>
          </a:p>
          <a:p>
            <a:r>
              <a:t>Answer: Proposal: the team with the largest first work package, confirmed by the account leader.</a:t>
            </a:r>
          </a:p>
          <a:p/>
          <a:p>
            <a:r>
              <a:t>DETAIL AND CAVEATS</a:t>
            </a:r>
          </a:p>
          <a:p>
            <a:r>
              <a:t>Proposed rules for deals that include Microsoft 365 Copilot or Copilot in Dynamics 365 alongside CIS Infra offerings. To be agreed by practice leads. Revenue attribution follows priced work packages (appendix R2 in each deck); no fixed percentages.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These ranges let leadership size the opportunity. The anchor is the 88 role-day example in the V3 proposal; everything else scales from it with stated drivers.</a:t>
            </a:r>
          </a:p>
          <a:p/>
          <a:p>
            <a:r>
              <a:t>Likely question: Can we quote these numbers?</a:t>
            </a:r>
          </a:p>
          <a:p>
            <a:r>
              <a:t>Answer: No. They are estimates for a go or no-go decision. A quote needs approved rates and a scoped assessment.</a:t>
            </a:r>
          </a:p>
          <a:p/>
          <a:p>
            <a:r>
              <a:t>DETAIL AND CAVEATS</a:t>
            </a:r>
          </a:p>
          <a:p>
            <a:r>
              <a:t>Ranges are planning estimates for leadership, built from the GTM proposal V3 worked example (88 role days for a bounded landing zone extension across six towers) and scaled by scope drivers. They are not staffing commitments. Replace with actual pilot effort. Fee bands use an illustrative blended rate of $1,000 per role day so they rescale easily. This is not a Cognizant rate. Replace with Finance-approved rates.</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Use this to decide quickly whether to quote implementation or sell the assessment first. Any zero on funding, authority or sponsor means assessment first.</a:t>
            </a:r>
          </a:p>
          <a:p/>
          <a:p>
            <a:r>
              <a:t>Likely question: Why not quote straight away?</a:t>
            </a:r>
          </a:p>
          <a:p>
            <a:r>
              <a:t>Answer: Unknown access, capacity or ownership is where fixed-price AI platform work loses money.</a:t>
            </a:r>
          </a:p>
          <a:p/>
          <a:p>
            <a:r>
              <a:t>DETAIL AND CAVEATS</a:t>
            </a:r>
          </a:p>
          <a:p>
            <a:r>
              <a:t>Score each criterion 0 (absent), 1 (partial) or 2 (evidenced). Proceed to an implementation quote at 12 or more with no zero on funding, authority or sponsor; otherwise sell the assessment. Thresholds are proposals to calibrate after the first pilots. The shortlist is an empty template: no customer demand is asserted.</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This is the security view a CISO will ask for. Each threat has a control and an owner, and CIS Infra only owns the platform controls.</a:t>
            </a:r>
          </a:p>
          <a:p/>
          <a:p>
            <a:r>
              <a:t>Likely question: Does CIS Infra run security operations?</a:t>
            </a:r>
          </a:p>
          <a:p>
            <a:r>
              <a:t>Answer: No. A contracted security service or the Security tower does. We provide the telemetry and execute containment on our components.</a:t>
            </a:r>
          </a:p>
          <a:p/>
          <a:p>
            <a:r>
              <a:t>DETAIL AND CAVEATS</a:t>
            </a:r>
          </a:p>
          <a:p>
            <a:r>
              <a:t>Threats mapped to controls and owning towers for this offering. Categories align with the OWASP Top 10 for LLM Applications (2025 edition; confirm the current version before customer use). CIS Infra implements platform controls; Security owns threat modelling, policy and security operations.</a:t>
            </a:r>
          </a:p>
          <a:p/>
          <a:p>
            <a:r>
              <a:t>Sources (checked 11 Oct 2026):</a:t>
            </a:r>
          </a:p>
          <a:p>
            <a:r>
              <a:t>OWASP Top 10 for LLM Applications: https://genai.owasp.org/llm-top-10/</a:t>
            </a:r>
          </a:p>
          <a:p>
            <a:r>
              <a:t>AI threat protection in Microsoft Defender for Cloud: https://learn.microsoft.com/en-us/azure/defender-for-cloud/ai-threat-protection</a:t>
            </a:r>
          </a:p>
          <a:p>
            <a:r>
              <a:t>APIM llm-content-safety policy: https://learn.microsoft.com/en-us/azure/api-management/llm-content-safety-policy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Security tools are owned by the Security tower; we wire in their telemetry. On regulation, the EU AI Act high-risk deadlines moved to December 2027 and August 2028, which gives customers time but not an excuse.</a:t>
            </a:r>
          </a:p>
          <a:p/>
          <a:p>
            <a:r>
              <a:t>Likely question: Does the EU AI Act apply to our customers?</a:t>
            </a:r>
          </a:p>
          <a:p>
            <a:r>
              <a:t>Answer: It depends on the use case and role. We flag the checkpoint; the customer takes legal advice and decides.</a:t>
            </a:r>
          </a:p>
          <a:p/>
          <a:p>
            <a:r>
              <a:t>DETAIL AND CAVEATS</a:t>
            </a:r>
          </a:p>
          <a:p>
            <a:r>
              <a:t>Microsoft security services positioned with owners, plus regulatory checkpoints for EU, UK and Middle East pursuits. EU AI Act dates come from a law-firm summary of the Digital Omnibus amendments, Regulation (EU) 2026/1744; Annex III high-risk obligations now apply from 2 Dec 2027 and Annex I from 2 Aug 2028. UK: no single AI statute; principles-based regulator guidance (verify current position). UAE Federal Decree-Law 45 of 2021 and Saudi PDPL govern personal data (verify current executive regulations). ISO/IEC 42001 is an optional AI management system standard. Cognizant does not give legal advice; customers take legal advice.</a:t>
            </a:r>
          </a:p>
          <a:p/>
          <a:p>
            <a:r>
              <a:t>Sources (checked 11 Oct 2026):</a:t>
            </a:r>
          </a:p>
          <a:p>
            <a:r>
              <a:t>AI threat protection in Microsoft Defender for Cloud: https://learn.microsoft.com/en-us/azure/defender-for-cloud/ai-threat-protection</a:t>
            </a:r>
          </a:p>
          <a:p>
            <a:r>
              <a:t>Microsoft Purview data security and compliance for AI: https://learn.microsoft.com/en-us/purview/ai-microsoft-purview</a:t>
            </a:r>
          </a:p>
          <a:p>
            <a:r>
              <a:t>Entra Agent ID change tracker (third party, entradiff.merill.net): https://entradiff.merill.net/products/agent-id/</a:t>
            </a:r>
          </a:p>
          <a:p>
            <a:r>
              <a:t>EU AI Act Update: Digital Omnibus finalises compliance changes (Orrick, 29 Jul 2026): https://www.orrick.com/en/Insights/2026/07/EU-AI-Act-Update-Digital-Omnibus-Finalizes-8-Compliance-Changes</a:t>
            </a:r>
          </a:p>
          <a:p>
            <a:r>
              <a:t>ISO/IEC 42001 AI management systems: https://www.iso.org/standard/81230.html</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If anyone in the room is unsure of a term, point here. The two that matter most for leaders are PTU (reserved model capacity) and PAYG (pay per use).</a:t>
            </a:r>
          </a:p>
          <a:p/>
          <a:p>
            <a:r>
              <a:t>Likely question: What is the difference between Agent 365 and API Center?</a:t>
            </a:r>
          </a:p>
          <a:p>
            <a:r>
              <a:t>Answer: Agent 365 governs agents; API Center registers the tools and APIs agents may call. They complement each other.</a:t>
            </a:r>
          </a:p>
          <a:p/>
          <a:p>
            <a:r>
              <a:t>DETAIL AND CAVEATS</a:t>
            </a:r>
          </a:p>
          <a:p>
            <a:r>
              <a:t>Plain-English definitions for every acronym used. Expand an acronym the first time you say it.</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Green rows can be decided today. The rest wait for pilot evidence, Finance approval or a tower agreement, and each has a proposed owner.</a:t>
            </a:r>
          </a:p>
          <a:p/>
          <a:p>
            <a:r>
              <a:t>DETAIL AND CAVEATS</a:t>
            </a:r>
          </a:p>
          <a:p>
            <a:r>
              <a:t>Unresolved decisions for this offering. "Now" means leadership can decide at this review. Other items depend on pilot evidence, Finance approval or specialist tower agreement. The consolidated register is delivered as a separate workbook.</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a:t>
            </a:r>
          </a:p>
          <a:p>
            <a:r>
              <a:t>Say: Every product, price and availability claim was checked on this date against the sources listed. Recheck prices and regions before any customer quote.</a:t>
            </a:r>
          </a:p>
          <a:p/>
          <a:p>
            <a:r>
              <a:t>DETAIL AND CAVEATS</a:t>
            </a:r>
          </a:p>
          <a:p>
            <a:r>
              <a:t>Full source register (URL, date checked, product, deployment type, region, SKU, GA or preview status, limitations) is provided as a separate workbook. Links below are clickable in slideshow mode.</a:t>
            </a:r>
          </a:p>
          <a:p/>
          <a:p>
            <a:r>
              <a:t>Sources: none cited on this slide. Content is a CIS Infra proposal, an estimate or arithmetic from figures sourced elsewhere in this deck (see S1).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Version 3.0 produced through three PDCA cycles.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hyperlink" Target="https://www.microsoft.com/en-us/security/blog/2026/05/01/microsoft-agent-365-now-generally-available-expands-capabilities-and-integrations/" TargetMode="External"/><Relationship Id="rId5" Type="http://schemas.openxmlformats.org/officeDocument/2006/relationships/hyperlink" Target="https://samexpert.com/agent-365/" TargetMode="External"/><Relationship Id="rId6" Type="http://schemas.openxmlformats.org/officeDocument/2006/relationships/hyperlink" Target="https://learn.microsoft.com/en-us/azure/foundry/openai/concepts/model-retirement-schedule" TargetMode="External"/><Relationship Id="rId7" Type="http://schemas.openxmlformats.org/officeDocument/2006/relationships/hyperlink" Target="https://www.orrick.com/en/Insights/2026/07/EU-AI-Act-Update-Digital-Omnibus-Finalizes-8-Compliance-Changes" TargetMode="External"/><Relationship Id="rId8" Type="http://schemas.openxmlformats.org/officeDocument/2006/relationships/hyperlink" Target="https://learn.microsoft.com/en-us/azure/api-center/register-discover-mcp-server" TargetMode="External"/><Relationship Id="rId9" Type="http://schemas.openxmlformats.org/officeDocument/2006/relationships/hyperlink" Target="https://partner.microsoft.com/blog/article/whats-new-for-partners-jan-2026" TargetMode="External"/><Relationship Id="rId10" Type="http://schemas.openxmlformats.org/officeDocument/2006/relationships/hyperlink" Target="https://github.com/Azure/AI-Landing-Zones" TargetMode="External"/><Relationship Id="rId11" Type="http://schemas.openxmlformats.org/officeDocument/2006/relationships/hyperlink" Target="https://learn.microsoft.com/en-us/azure/defender-for-cloud/ai-threat-protection" TargetMode="External"/><Relationship Id="rId12" Type="http://schemas.openxmlformats.org/officeDocument/2006/relationships/hyperlink" Target="https://learn.microsoft.com/en-us/purview/ai-microsoft-purview" TargetMode="External"/><Relationship Id="rId13" Type="http://schemas.openxmlformats.org/officeDocument/2006/relationships/hyperlink" Target="https://www.iso.org/standard/81230.html" TargetMode="External"/><Relationship Id="rId14" Type="http://schemas.openxmlformats.org/officeDocument/2006/relationships/hyperlink" Target="https://github.com/upendra25312/AI-Foundry-GTM-offering-/blob/main/CIS_Infra_Azure_AI_Platform_GTM_Proposal_V3.docx" TargetMode="External"/><Relationship Id="rId15" Type="http://schemas.openxmlformats.org/officeDocument/2006/relationships/hyperlink" Target="See S1 in each deck" TargetMode="External"/><Relationship Id="rId16"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Azure AI Platform Portfolio</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Five CIS Infra offerings that take a customer from first assessment to a governed, operated AI platform</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Master portfolio view for decks 01 to 05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3.0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2 OF 10</a:t>
            </a:r>
          </a:p>
        </p:txBody>
      </p:sp>
      <p:sp>
        <p:nvSpPr>
          <p:cNvPr id="3" name="Rounded Rectangle 2"/>
          <p:cNvSpPr/>
          <p:nvPr/>
        </p:nvSpPr>
        <p:spPr>
          <a:xfrm>
            <a:off x="320040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PORTFOLIO OVERVIEW</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02</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Pick from five defined offerings and fund a 90-day test</a:t>
            </a:r>
          </a:p>
        </p:txBody>
      </p:sp>
      <p:sp>
        <p:nvSpPr>
          <p:cNvPr id="6" name="Rounded Rectangle 5"/>
          <p:cNvSpPr/>
          <p:nvPr/>
        </p:nvSpPr>
        <p:spPr>
          <a:xfrm>
            <a:off x="731520" y="1280160"/>
            <a:ext cx="10698480" cy="411480"/>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FIVE BOUNDED OFFERINGS · ONE FOUNDATIONAL PATH: ASSESS, BUILD, CONTROL &amp; RUN</a:t>
            </a:r>
          </a:p>
        </p:txBody>
      </p:sp>
      <p:sp>
        <p:nvSpPr>
          <p:cNvPr id="7" name="Rounded Rectangle 6"/>
          <p:cNvSpPr/>
          <p:nvPr/>
        </p:nvSpPr>
        <p:spPr>
          <a:xfrm>
            <a:off x="731520" y="1828800"/>
            <a:ext cx="3383280" cy="3520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828800"/>
            <a:ext cx="3383280" cy="73152"/>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05840" y="2057400"/>
            <a:ext cx="502920" cy="502920"/>
          </a:xfrm>
          <a:prstGeom prst="ellipse">
            <a:avLst/>
          </a:prstGeom>
          <a:solidFill>
            <a:srgbClr val="FE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0" name="TextBox 9"/>
          <p:cNvSpPr txBox="1"/>
          <p:nvPr/>
        </p:nvSpPr>
        <p:spPr>
          <a:xfrm>
            <a:off x="1645920" y="2057400"/>
            <a:ext cx="2194560" cy="228600"/>
          </a:xfrm>
          <a:prstGeom prst="rect">
            <a:avLst/>
          </a:prstGeom>
          <a:noFill/>
        </p:spPr>
        <p:txBody>
          <a:bodyPr wrap="none">
            <a:spAutoFit/>
          </a:bodyPr>
          <a:lstStyle/>
          <a:p>
            <a:pPr>
              <a:defRPr sz="900" b="1">
                <a:solidFill>
                  <a:srgbClr val="D83B01"/>
                </a:solidFill>
              </a:defRPr>
            </a:pPr>
            <a:r>
              <a:t>MARKET INFLECTION</a:t>
            </a:r>
          </a:p>
        </p:txBody>
      </p:sp>
      <p:sp>
        <p:nvSpPr>
          <p:cNvPr id="11" name="TextBox 10"/>
          <p:cNvSpPr txBox="1"/>
          <p:nvPr/>
        </p:nvSpPr>
        <p:spPr>
          <a:xfrm>
            <a:off x="1005840" y="2651760"/>
            <a:ext cx="2834640" cy="365760"/>
          </a:xfrm>
          <a:prstGeom prst="rect">
            <a:avLst/>
          </a:prstGeom>
          <a:noFill/>
        </p:spPr>
        <p:txBody>
          <a:bodyPr wrap="none">
            <a:spAutoFit/>
          </a:bodyPr>
          <a:lstStyle/>
          <a:p>
            <a:pPr>
              <a:defRPr sz="1800" b="1">
                <a:solidFill>
                  <a:srgbClr val="0A192F"/>
                </a:solidFill>
              </a:defRPr>
            </a:pPr>
            <a:r>
              <a:t>Pilots Stalled at Scale</a:t>
            </a:r>
          </a:p>
        </p:txBody>
      </p:sp>
      <p:sp>
        <p:nvSpPr>
          <p:cNvPr id="12" name="TextBox 11"/>
          <p:cNvSpPr txBox="1"/>
          <p:nvPr/>
        </p:nvSpPr>
        <p:spPr>
          <a:xfrm>
            <a:off x="1005840" y="3017520"/>
            <a:ext cx="2834640" cy="411480"/>
          </a:xfrm>
          <a:prstGeom prst="rect">
            <a:avLst/>
          </a:prstGeom>
          <a:noFill/>
        </p:spPr>
        <p:txBody>
          <a:bodyPr wrap="none">
            <a:spAutoFit/>
          </a:bodyPr>
          <a:lstStyle/>
          <a:p>
            <a:pPr>
              <a:defRPr sz="2000" b="1">
                <a:solidFill>
                  <a:srgbClr val="D83B01"/>
                </a:solidFill>
              </a:defRPr>
            </a:pPr>
            <a:r>
              <a:t>80% Enterprise Pilots</a:t>
            </a:r>
          </a:p>
        </p:txBody>
      </p:sp>
      <p:sp>
        <p:nvSpPr>
          <p:cNvPr id="13" name="TextBox 12"/>
          <p:cNvSpPr txBox="1"/>
          <p:nvPr/>
        </p:nvSpPr>
        <p:spPr>
          <a:xfrm>
            <a:off x="1005840" y="3520440"/>
            <a:ext cx="2834640" cy="1645920"/>
          </a:xfrm>
          <a:prstGeom prst="rect">
            <a:avLst/>
          </a:prstGeom>
          <a:noFill/>
        </p:spPr>
        <p:txBody>
          <a:bodyPr wrap="square">
            <a:spAutoFit/>
          </a:bodyPr>
          <a:lstStyle/>
          <a:p>
            <a:pPr>
              <a:spcAft>
                <a:spcPts val="800"/>
              </a:spcAft>
              <a:defRPr sz="1200">
                <a:solidFill>
                  <a:srgbClr val="0F172A"/>
                </a:solidFill>
              </a:defRPr>
            </a:pPr>
            <a:r>
              <a:t>• Enterprises cannot cross from sandbox to production without secure foundations.</a:t>
            </a:r>
          </a:p>
          <a:p>
            <a:pPr>
              <a:spcAft>
                <a:spcPts val="800"/>
              </a:spcAft>
              <a:defRPr sz="1200">
                <a:solidFill>
                  <a:srgbClr val="0F172A"/>
                </a:solidFill>
              </a:defRPr>
            </a:pPr>
            <a:r>
              <a:t>• Lack of landing zones, unmonitored tokens, and agent sprawl block CISO approval.</a:t>
            </a:r>
          </a:p>
        </p:txBody>
      </p:sp>
      <p:sp>
        <p:nvSpPr>
          <p:cNvPr id="14" name="Rounded Rectangle 13"/>
          <p:cNvSpPr/>
          <p:nvPr/>
        </p:nvSpPr>
        <p:spPr>
          <a:xfrm>
            <a:off x="4389120" y="1828800"/>
            <a:ext cx="3383280" cy="3520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828800"/>
            <a:ext cx="33832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663440" y="2057400"/>
            <a:ext cx="502920" cy="50292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7" name="TextBox 16"/>
          <p:cNvSpPr txBox="1"/>
          <p:nvPr/>
        </p:nvSpPr>
        <p:spPr>
          <a:xfrm>
            <a:off x="5303520" y="2057400"/>
            <a:ext cx="2194560" cy="228600"/>
          </a:xfrm>
          <a:prstGeom prst="rect">
            <a:avLst/>
          </a:prstGeom>
          <a:noFill/>
        </p:spPr>
        <p:txBody>
          <a:bodyPr wrap="none">
            <a:spAutoFit/>
          </a:bodyPr>
          <a:lstStyle/>
          <a:p>
            <a:pPr>
              <a:defRPr sz="900" b="1">
                <a:solidFill>
                  <a:srgbClr val="0078D4"/>
                </a:solidFill>
              </a:defRPr>
            </a:pPr>
            <a:r>
              <a:t>MODULAR CIS PORTFOLIO</a:t>
            </a:r>
          </a:p>
        </p:txBody>
      </p:sp>
      <p:sp>
        <p:nvSpPr>
          <p:cNvPr id="18" name="TextBox 17"/>
          <p:cNvSpPr txBox="1"/>
          <p:nvPr/>
        </p:nvSpPr>
        <p:spPr>
          <a:xfrm>
            <a:off x="4663440" y="2651760"/>
            <a:ext cx="2834640" cy="365760"/>
          </a:xfrm>
          <a:prstGeom prst="rect">
            <a:avLst/>
          </a:prstGeom>
          <a:noFill/>
        </p:spPr>
        <p:txBody>
          <a:bodyPr wrap="none">
            <a:spAutoFit/>
          </a:bodyPr>
          <a:lstStyle/>
          <a:p>
            <a:pPr>
              <a:defRPr sz="1800" b="1">
                <a:solidFill>
                  <a:srgbClr val="0A192F"/>
                </a:solidFill>
              </a:defRPr>
            </a:pPr>
            <a:r>
              <a:t>Five Modular Offers</a:t>
            </a:r>
          </a:p>
        </p:txBody>
      </p:sp>
      <p:sp>
        <p:nvSpPr>
          <p:cNvPr id="19" name="TextBox 18"/>
          <p:cNvSpPr txBox="1"/>
          <p:nvPr/>
        </p:nvSpPr>
        <p:spPr>
          <a:xfrm>
            <a:off x="4663440" y="3017520"/>
            <a:ext cx="2834640" cy="411480"/>
          </a:xfrm>
          <a:prstGeom prst="rect">
            <a:avLst/>
          </a:prstGeom>
          <a:noFill/>
        </p:spPr>
        <p:txBody>
          <a:bodyPr wrap="none">
            <a:spAutoFit/>
          </a:bodyPr>
          <a:lstStyle/>
          <a:p>
            <a:pPr>
              <a:defRPr sz="2000" b="1">
                <a:solidFill>
                  <a:srgbClr val="0078D4"/>
                </a:solidFill>
              </a:defRPr>
            </a:pPr>
            <a:r>
              <a:t>Full Lifecycle Scope</a:t>
            </a:r>
          </a:p>
        </p:txBody>
      </p:sp>
      <p:sp>
        <p:nvSpPr>
          <p:cNvPr id="20" name="TextBox 19"/>
          <p:cNvSpPr txBox="1"/>
          <p:nvPr/>
        </p:nvSpPr>
        <p:spPr>
          <a:xfrm>
            <a:off x="4663440" y="3520440"/>
            <a:ext cx="2834640" cy="1645920"/>
          </a:xfrm>
          <a:prstGeom prst="rect">
            <a:avLst/>
          </a:prstGeom>
          <a:noFill/>
        </p:spPr>
        <p:txBody>
          <a:bodyPr wrap="square">
            <a:spAutoFit/>
          </a:bodyPr>
          <a:lstStyle/>
          <a:p>
            <a:pPr>
              <a:spcAft>
                <a:spcPts val="800"/>
              </a:spcAft>
              <a:defRPr sz="1200">
                <a:solidFill>
                  <a:srgbClr val="0F172A"/>
                </a:solidFill>
              </a:defRPr>
            </a:pPr>
            <a:r>
              <a:t>• 01 Landing Zone, 02 Agent Governance, 03 AI Gateway, 04 FinOps, 05 Managed Ops.</a:t>
            </a:r>
          </a:p>
          <a:p>
            <a:pPr>
              <a:spcAft>
                <a:spcPts val="800"/>
              </a:spcAft>
              <a:defRPr sz="1200">
                <a:solidFill>
                  <a:srgbClr val="0F172A"/>
                </a:solidFill>
              </a:defRPr>
            </a:pPr>
            <a:r>
              <a:t>• Provides a clear delivery boundary between CIS Infra, specialist towers &amp; customer.</a:t>
            </a:r>
          </a:p>
        </p:txBody>
      </p:sp>
      <p:sp>
        <p:nvSpPr>
          <p:cNvPr id="21" name="Rounded Rectangle 20"/>
          <p:cNvSpPr/>
          <p:nvPr/>
        </p:nvSpPr>
        <p:spPr>
          <a:xfrm>
            <a:off x="8046720" y="1828800"/>
            <a:ext cx="3383280" cy="3520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20" y="1828800"/>
            <a:ext cx="33832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321040" y="2057400"/>
            <a:ext cx="502920" cy="502920"/>
          </a:xfrm>
          <a:prstGeom prst="ellipse">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24" name="TextBox 23"/>
          <p:cNvSpPr txBox="1"/>
          <p:nvPr/>
        </p:nvSpPr>
        <p:spPr>
          <a:xfrm>
            <a:off x="8961120" y="2057400"/>
            <a:ext cx="2194560" cy="228600"/>
          </a:xfrm>
          <a:prstGeom prst="rect">
            <a:avLst/>
          </a:prstGeom>
          <a:noFill/>
        </p:spPr>
        <p:txBody>
          <a:bodyPr wrap="none">
            <a:spAutoFit/>
          </a:bodyPr>
          <a:lstStyle/>
          <a:p>
            <a:pPr>
              <a:defRPr sz="900" b="1">
                <a:solidFill>
                  <a:srgbClr val="00A389"/>
                </a:solidFill>
              </a:defRPr>
            </a:pPr>
            <a:r>
              <a:t>RECOMMENDED ENTRY</a:t>
            </a:r>
          </a:p>
        </p:txBody>
      </p:sp>
      <p:sp>
        <p:nvSpPr>
          <p:cNvPr id="25" name="TextBox 24"/>
          <p:cNvSpPr txBox="1"/>
          <p:nvPr/>
        </p:nvSpPr>
        <p:spPr>
          <a:xfrm>
            <a:off x="8321040" y="2651760"/>
            <a:ext cx="2834640" cy="365760"/>
          </a:xfrm>
          <a:prstGeom prst="rect">
            <a:avLst/>
          </a:prstGeom>
          <a:noFill/>
        </p:spPr>
        <p:txBody>
          <a:bodyPr wrap="none">
            <a:spAutoFit/>
          </a:bodyPr>
          <a:lstStyle/>
          <a:p>
            <a:pPr>
              <a:defRPr sz="1800" b="1">
                <a:solidFill>
                  <a:srgbClr val="0A192F"/>
                </a:solidFill>
              </a:defRPr>
            </a:pPr>
            <a:r>
              <a:t>Lead with 04 &amp; 03</a:t>
            </a:r>
          </a:p>
        </p:txBody>
      </p:sp>
      <p:sp>
        <p:nvSpPr>
          <p:cNvPr id="26" name="TextBox 25"/>
          <p:cNvSpPr txBox="1"/>
          <p:nvPr/>
        </p:nvSpPr>
        <p:spPr>
          <a:xfrm>
            <a:off x="8321040" y="3017520"/>
            <a:ext cx="2834640" cy="411480"/>
          </a:xfrm>
          <a:prstGeom prst="rect">
            <a:avLst/>
          </a:prstGeom>
          <a:noFill/>
        </p:spPr>
        <p:txBody>
          <a:bodyPr wrap="none">
            <a:spAutoFit/>
          </a:bodyPr>
          <a:lstStyle/>
          <a:p>
            <a:pPr>
              <a:defRPr sz="2000" b="1">
                <a:solidFill>
                  <a:srgbClr val="00A389"/>
                </a:solidFill>
              </a:defRPr>
            </a:pPr>
            <a:r>
              <a:t>Fastest Time-to-Deal</a:t>
            </a:r>
          </a:p>
        </p:txBody>
      </p:sp>
      <p:sp>
        <p:nvSpPr>
          <p:cNvPr id="27" name="TextBox 26"/>
          <p:cNvSpPr txBox="1"/>
          <p:nvPr/>
        </p:nvSpPr>
        <p:spPr>
          <a:xfrm>
            <a:off x="8321040" y="3520440"/>
            <a:ext cx="2834640" cy="1645920"/>
          </a:xfrm>
          <a:prstGeom prst="rect">
            <a:avLst/>
          </a:prstGeom>
          <a:noFill/>
        </p:spPr>
        <p:txBody>
          <a:bodyPr wrap="square">
            <a:spAutoFit/>
          </a:bodyPr>
          <a:lstStyle/>
          <a:p>
            <a:pPr>
              <a:spcAft>
                <a:spcPts val="800"/>
              </a:spcAft>
              <a:defRPr sz="1200">
                <a:solidFill>
                  <a:srgbClr val="0F172A"/>
                </a:solidFill>
              </a:defRPr>
            </a:pPr>
            <a:r>
              <a:t>• 04 Capacity Assessment ($30k-$50k) and 03 Gateway ($25k-$75k) have lowest friction.</a:t>
            </a:r>
          </a:p>
          <a:p>
            <a:pPr>
              <a:spcAft>
                <a:spcPts val="800"/>
              </a:spcAft>
              <a:defRPr sz="1200">
                <a:solidFill>
                  <a:srgbClr val="0F172A"/>
                </a:solidFill>
              </a:defRPr>
            </a:pPr>
            <a:r>
              <a:t>• Unblocks customer model spend, creating immediate pull-through for 01 and 05.</a:t>
            </a:r>
          </a:p>
        </p:txBody>
      </p:sp>
      <p:sp>
        <p:nvSpPr>
          <p:cNvPr id="28" name="Rounded Rectangle 27"/>
          <p:cNvSpPr/>
          <p:nvPr/>
        </p:nvSpPr>
        <p:spPr>
          <a:xfrm>
            <a:off x="731520" y="5532120"/>
            <a:ext cx="10698480" cy="685800"/>
          </a:xfrm>
          <a:prstGeom prst="roundRect">
            <a:avLst/>
          </a:prstGeom>
          <a:solidFill>
            <a:srgbClr val="EFF6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623560"/>
            <a:ext cx="10332720" cy="502920"/>
          </a:xfrm>
          <a:prstGeom prst="rect">
            <a:avLst/>
          </a:prstGeom>
          <a:noFill/>
        </p:spPr>
        <p:txBody>
          <a:bodyPr wrap="square">
            <a:spAutoFit/>
          </a:bodyPr>
          <a:lstStyle/>
          <a:p>
            <a:r>
              <a:rPr b="1" sz="1200">
                <a:solidFill>
                  <a:srgbClr val="0078D4"/>
                </a:solidFill>
              </a:rPr>
              <a:t>DECISION REQUESTED TODAY: </a:t>
            </a:r>
            <a:r>
              <a:rPr sz="1200" b="1">
                <a:solidFill>
                  <a:srgbClr val="0A192F"/>
                </a:solidFill>
              </a:rPr>
              <a:t>Select priority offerings to validate, approve 90-day pursuit lab budget ($25k-$45k), and assign offering sponsors.</a:t>
            </a:r>
          </a:p>
        </p:txBody>
      </p:sp>
      <p:sp>
        <p:nvSpPr>
          <p:cNvPr id="30" name="TextBox 29"/>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Azure AI Platform Portfolio (Master) · Working proposal for senior leadership review · Slide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3 OF 10</a:t>
            </a:r>
          </a:p>
        </p:txBody>
      </p:sp>
      <p:sp>
        <p:nvSpPr>
          <p:cNvPr id="3" name="Rounded Rectangle 2"/>
          <p:cNvSpPr/>
          <p:nvPr/>
        </p:nvSpPr>
        <p:spPr>
          <a:xfrm>
            <a:off x="320040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MARKET DEMAND &amp; DRIVERS</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03</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Agent sprawl, model churn and AI rules create 2026 demand</a:t>
            </a:r>
          </a:p>
        </p:txBody>
      </p:sp>
      <p:sp>
        <p:nvSpPr>
          <p:cNvPr id="6" name="Rounded Rectangle 5"/>
          <p:cNvSpPr/>
          <p:nvPr/>
        </p:nvSpPr>
        <p:spPr>
          <a:xfrm>
            <a:off x="731520" y="137160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3383280"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54480"/>
            <a:ext cx="2926080" cy="548640"/>
          </a:xfrm>
          <a:prstGeom prst="rect">
            <a:avLst/>
          </a:prstGeom>
          <a:noFill/>
        </p:spPr>
        <p:txBody>
          <a:bodyPr wrap="none">
            <a:spAutoFit/>
          </a:bodyPr>
          <a:lstStyle/>
          <a:p>
            <a:pPr>
              <a:defRPr sz="3600" b="1">
                <a:solidFill>
                  <a:srgbClr val="0078D4"/>
                </a:solidFill>
              </a:defRPr>
            </a:pPr>
            <a:r>
              <a:t>$1.3T</a:t>
            </a:r>
          </a:p>
        </p:txBody>
      </p:sp>
      <p:sp>
        <p:nvSpPr>
          <p:cNvPr id="9" name="TextBox 8"/>
          <p:cNvSpPr txBox="1"/>
          <p:nvPr/>
        </p:nvSpPr>
        <p:spPr>
          <a:xfrm>
            <a:off x="960120" y="2148840"/>
            <a:ext cx="2926080" cy="320040"/>
          </a:xfrm>
          <a:prstGeom prst="rect">
            <a:avLst/>
          </a:prstGeom>
          <a:noFill/>
        </p:spPr>
        <p:txBody>
          <a:bodyPr wrap="none">
            <a:spAutoFit/>
          </a:bodyPr>
          <a:lstStyle/>
          <a:p>
            <a:pPr>
              <a:defRPr sz="1500" b="1">
                <a:solidFill>
                  <a:srgbClr val="0A192F"/>
                </a:solidFill>
              </a:defRPr>
            </a:pPr>
            <a:r>
              <a:t>Generative AI Market</a:t>
            </a:r>
          </a:p>
        </p:txBody>
      </p:sp>
      <p:sp>
        <p:nvSpPr>
          <p:cNvPr id="10" name="TextBox 9"/>
          <p:cNvSpPr txBox="1"/>
          <p:nvPr/>
        </p:nvSpPr>
        <p:spPr>
          <a:xfrm>
            <a:off x="960120" y="2514600"/>
            <a:ext cx="2926080" cy="914400"/>
          </a:xfrm>
          <a:prstGeom prst="rect">
            <a:avLst/>
          </a:prstGeom>
          <a:noFill/>
        </p:spPr>
        <p:txBody>
          <a:bodyPr wrap="square">
            <a:spAutoFit/>
          </a:bodyPr>
          <a:lstStyle/>
          <a:p>
            <a:pPr>
              <a:defRPr sz="1100">
                <a:solidFill>
                  <a:srgbClr val="0F172A"/>
                </a:solidFill>
              </a:defRPr>
            </a:pPr>
            <a:r>
              <a:t>Enterprise spend transitioning rapidly from experimentation to mission-critical business platforms.</a:t>
            </a:r>
          </a:p>
        </p:txBody>
      </p:sp>
      <p:sp>
        <p:nvSpPr>
          <p:cNvPr id="11" name="Rounded Rectangle 10"/>
          <p:cNvSpPr/>
          <p:nvPr/>
        </p:nvSpPr>
        <p:spPr>
          <a:xfrm>
            <a:off x="4389120" y="137160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371600"/>
            <a:ext cx="3383280" cy="54864"/>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1554480"/>
            <a:ext cx="2926080" cy="548640"/>
          </a:xfrm>
          <a:prstGeom prst="rect">
            <a:avLst/>
          </a:prstGeom>
          <a:noFill/>
        </p:spPr>
        <p:txBody>
          <a:bodyPr wrap="none">
            <a:spAutoFit/>
          </a:bodyPr>
          <a:lstStyle/>
          <a:p>
            <a:pPr>
              <a:defRPr sz="3600" b="1">
                <a:solidFill>
                  <a:srgbClr val="00A389"/>
                </a:solidFill>
              </a:defRPr>
            </a:pPr>
            <a:r>
              <a:t>&lt;12 Mo</a:t>
            </a:r>
          </a:p>
        </p:txBody>
      </p:sp>
      <p:sp>
        <p:nvSpPr>
          <p:cNvPr id="14" name="TextBox 13"/>
          <p:cNvSpPr txBox="1"/>
          <p:nvPr/>
        </p:nvSpPr>
        <p:spPr>
          <a:xfrm>
            <a:off x="4617720" y="2148840"/>
            <a:ext cx="2926080" cy="320040"/>
          </a:xfrm>
          <a:prstGeom prst="rect">
            <a:avLst/>
          </a:prstGeom>
          <a:noFill/>
        </p:spPr>
        <p:txBody>
          <a:bodyPr wrap="none">
            <a:spAutoFit/>
          </a:bodyPr>
          <a:lstStyle/>
          <a:p>
            <a:pPr>
              <a:defRPr sz="1500" b="1">
                <a:solidFill>
                  <a:srgbClr val="0A192F"/>
                </a:solidFill>
              </a:defRPr>
            </a:pPr>
            <a:r>
              <a:t>Model Obsolescence</a:t>
            </a:r>
          </a:p>
        </p:txBody>
      </p:sp>
      <p:sp>
        <p:nvSpPr>
          <p:cNvPr id="15" name="TextBox 14"/>
          <p:cNvSpPr txBox="1"/>
          <p:nvPr/>
        </p:nvSpPr>
        <p:spPr>
          <a:xfrm>
            <a:off x="4617720" y="2514600"/>
            <a:ext cx="2926080" cy="914400"/>
          </a:xfrm>
          <a:prstGeom prst="rect">
            <a:avLst/>
          </a:prstGeom>
          <a:noFill/>
        </p:spPr>
        <p:txBody>
          <a:bodyPr wrap="square">
            <a:spAutoFit/>
          </a:bodyPr>
          <a:lstStyle/>
          <a:p>
            <a:pPr>
              <a:defRPr sz="1100">
                <a:solidFill>
                  <a:srgbClr val="0F172A"/>
                </a:solidFill>
              </a:defRPr>
            </a:pPr>
            <a:r>
              <a:t>Foundational models retire yearly; architectures must decouple app code from rapid model churn.</a:t>
            </a:r>
          </a:p>
        </p:txBody>
      </p:sp>
      <p:sp>
        <p:nvSpPr>
          <p:cNvPr id="16" name="Rounded Rectangle 15"/>
          <p:cNvSpPr/>
          <p:nvPr/>
        </p:nvSpPr>
        <p:spPr>
          <a:xfrm>
            <a:off x="8046720" y="1371600"/>
            <a:ext cx="33832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46720" y="1371600"/>
            <a:ext cx="3383280" cy="54864"/>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1554480"/>
            <a:ext cx="2926080" cy="548640"/>
          </a:xfrm>
          <a:prstGeom prst="rect">
            <a:avLst/>
          </a:prstGeom>
          <a:noFill/>
        </p:spPr>
        <p:txBody>
          <a:bodyPr wrap="none">
            <a:spAutoFit/>
          </a:bodyPr>
          <a:lstStyle/>
          <a:p>
            <a:pPr>
              <a:defRPr sz="3600" b="1">
                <a:solidFill>
                  <a:srgbClr val="D83B01"/>
                </a:solidFill>
              </a:defRPr>
            </a:pPr>
            <a:r>
              <a:t>2026</a:t>
            </a:r>
          </a:p>
        </p:txBody>
      </p:sp>
      <p:sp>
        <p:nvSpPr>
          <p:cNvPr id="19" name="TextBox 18"/>
          <p:cNvSpPr txBox="1"/>
          <p:nvPr/>
        </p:nvSpPr>
        <p:spPr>
          <a:xfrm>
            <a:off x="8275320" y="2148840"/>
            <a:ext cx="2926080" cy="320040"/>
          </a:xfrm>
          <a:prstGeom prst="rect">
            <a:avLst/>
          </a:prstGeom>
          <a:noFill/>
        </p:spPr>
        <p:txBody>
          <a:bodyPr wrap="none">
            <a:spAutoFit/>
          </a:bodyPr>
          <a:lstStyle/>
          <a:p>
            <a:pPr>
              <a:defRPr sz="1500" b="1">
                <a:solidFill>
                  <a:srgbClr val="0A192F"/>
                </a:solidFill>
              </a:defRPr>
            </a:pPr>
            <a:r>
              <a:t>Regulatory Deadlines</a:t>
            </a:r>
          </a:p>
        </p:txBody>
      </p:sp>
      <p:sp>
        <p:nvSpPr>
          <p:cNvPr id="20" name="TextBox 19"/>
          <p:cNvSpPr txBox="1"/>
          <p:nvPr/>
        </p:nvSpPr>
        <p:spPr>
          <a:xfrm>
            <a:off x="8275320" y="2514600"/>
            <a:ext cx="2926080" cy="914400"/>
          </a:xfrm>
          <a:prstGeom prst="rect">
            <a:avLst/>
          </a:prstGeom>
          <a:noFill/>
        </p:spPr>
        <p:txBody>
          <a:bodyPr wrap="square">
            <a:spAutoFit/>
          </a:bodyPr>
          <a:lstStyle/>
          <a:p>
            <a:pPr>
              <a:defRPr sz="1100">
                <a:solidFill>
                  <a:srgbClr val="0F172A"/>
                </a:solidFill>
              </a:defRPr>
            </a:pPr>
            <a:r>
              <a:t>EU AI Act obligations and enterprise risk audits mandate infrastructure-level containment &amp; logging.</a:t>
            </a:r>
          </a:p>
        </p:txBody>
      </p:sp>
      <p:sp>
        <p:nvSpPr>
          <p:cNvPr id="21" name="Rounded Rectangle 20"/>
          <p:cNvSpPr/>
          <p:nvPr/>
        </p:nvSpPr>
        <p:spPr>
          <a:xfrm>
            <a:off x="731520" y="3749039"/>
            <a:ext cx="5212080" cy="2468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3749039"/>
            <a:ext cx="5212080" cy="54864"/>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3931920"/>
            <a:ext cx="4663440" cy="2103120"/>
          </a:xfrm>
          <a:prstGeom prst="rect">
            <a:avLst/>
          </a:prstGeom>
          <a:noFill/>
        </p:spPr>
        <p:txBody>
          <a:bodyPr wrap="square">
            <a:spAutoFit/>
          </a:bodyPr>
          <a:lstStyle/>
          <a:p>
            <a:pPr>
              <a:defRPr sz="1200" b="1">
                <a:solidFill>
                  <a:srgbClr val="0078D4"/>
                </a:solidFill>
              </a:defRPr>
            </a:pPr>
            <a:r>
              <a:t>👤 THE ENTERPRISE BUYER</a:t>
            </a:r>
          </a:p>
          <a:p>
            <a:pPr>
              <a:spcBef>
                <a:spcPts val="400"/>
              </a:spcBef>
              <a:spcAft>
                <a:spcPts val="600"/>
              </a:spcAft>
              <a:defRPr sz="1800" b="1">
                <a:solidFill>
                  <a:srgbClr val="0A192F"/>
                </a:solidFill>
              </a:defRPr>
            </a:pPr>
            <a:r>
              <a:t>Cloud Infrastructure VP &amp; Chief Architect</a:t>
            </a:r>
          </a:p>
          <a:p>
            <a:pPr>
              <a:defRPr sz="1200">
                <a:solidFill>
                  <a:srgbClr val="0F172A"/>
                </a:solidFill>
              </a:defRPr>
            </a:pPr>
            <a:r>
              <a:t>• Sponsored by CIO seeking enterprise-wide platform control and compliance guardrails.</a:t>
            </a:r>
            <a:br/>
            <a:r>
              <a:t>• Urgency: Multiple shadow AI agents deploying across business units without centralized spend or threat monitoring.</a:t>
            </a:r>
          </a:p>
        </p:txBody>
      </p:sp>
      <p:sp>
        <p:nvSpPr>
          <p:cNvPr id="24" name="Rounded Rectangle 23"/>
          <p:cNvSpPr/>
          <p:nvPr/>
        </p:nvSpPr>
        <p:spPr>
          <a:xfrm>
            <a:off x="6217920" y="3749039"/>
            <a:ext cx="5212080" cy="2468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17920" y="3749039"/>
            <a:ext cx="5212080" cy="54864"/>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931920"/>
            <a:ext cx="4663440" cy="2103120"/>
          </a:xfrm>
          <a:prstGeom prst="rect">
            <a:avLst/>
          </a:prstGeom>
          <a:noFill/>
        </p:spPr>
        <p:txBody>
          <a:bodyPr wrap="square">
            <a:spAutoFit/>
          </a:bodyPr>
          <a:lstStyle/>
          <a:p>
            <a:pPr>
              <a:defRPr sz="1200" b="1">
                <a:solidFill>
                  <a:srgbClr val="D83B01"/>
                </a:solidFill>
              </a:defRPr>
            </a:pPr>
            <a:r>
              <a:t>⚡ THE IMMEDIATE CATALYST</a:t>
            </a:r>
          </a:p>
          <a:p>
            <a:pPr>
              <a:spcBef>
                <a:spcPts val="400"/>
              </a:spcBef>
              <a:spcAft>
                <a:spcPts val="600"/>
              </a:spcAft>
              <a:defRPr sz="1800" b="1">
                <a:solidFill>
                  <a:srgbClr val="0A192F"/>
                </a:solidFill>
              </a:defRPr>
            </a:pPr>
            <a:r>
              <a:t>Audit Halts &amp; Uncontrolled Token Bills</a:t>
            </a:r>
          </a:p>
          <a:p>
            <a:pPr>
              <a:defRPr sz="1200">
                <a:solidFill>
                  <a:srgbClr val="0F172A"/>
                </a:solidFill>
              </a:defRPr>
            </a:pPr>
            <a:r>
              <a:t>• A major business pilot experiences surprise 429 throttling or a $50k monthly bill spike.</a:t>
            </a:r>
            <a:br/>
            <a:r>
              <a:t>• Security halts expansion after finding direct unencrypted API keys and zero model audit logs.</a:t>
            </a:r>
          </a:p>
        </p:txBody>
      </p:sp>
      <p:sp>
        <p:nvSpPr>
          <p:cNvPr id="27" name="TextBox 26"/>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Azure AI Platform Portfolio (Master) · Working proposal for senior leadership review · Slide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4 OF 10</a:t>
            </a:r>
          </a:p>
        </p:txBody>
      </p:sp>
      <p:sp>
        <p:nvSpPr>
          <p:cNvPr id="3" name="Rounded Rectangle 2"/>
          <p:cNvSpPr/>
          <p:nvPr/>
        </p:nvSpPr>
        <p:spPr>
          <a:xfrm>
            <a:off x="320040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OFFERING PORTFOLIO</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04</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Each option suits a goal; we would start with 04 and 03</a:t>
            </a:r>
          </a:p>
        </p:txBody>
      </p:sp>
      <p:sp>
        <p:nvSpPr>
          <p:cNvPr id="6" name="Rounded Rectangle 5"/>
          <p:cNvSpPr/>
          <p:nvPr/>
        </p:nvSpPr>
        <p:spPr>
          <a:xfrm>
            <a:off x="731520" y="1371600"/>
            <a:ext cx="10698480" cy="71323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481328"/>
            <a:ext cx="822960" cy="493776"/>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01</a:t>
            </a:r>
          </a:p>
        </p:txBody>
      </p:sp>
      <p:sp>
        <p:nvSpPr>
          <p:cNvPr id="8" name="TextBox 7"/>
          <p:cNvSpPr txBox="1"/>
          <p:nvPr/>
        </p:nvSpPr>
        <p:spPr>
          <a:xfrm>
            <a:off x="1828800" y="1481328"/>
            <a:ext cx="6858000" cy="493776"/>
          </a:xfrm>
          <a:prstGeom prst="rect">
            <a:avLst/>
          </a:prstGeom>
          <a:noFill/>
        </p:spPr>
        <p:txBody>
          <a:bodyPr wrap="square">
            <a:spAutoFit/>
          </a:bodyPr>
          <a:lstStyle/>
          <a:p>
            <a:pPr>
              <a:defRPr sz="1300" b="1">
                <a:solidFill>
                  <a:srgbClr val="0A192F"/>
                </a:solidFill>
              </a:defRPr>
            </a:pPr>
            <a:r>
              <a:t>AI Platform / Landing Zone</a:t>
            </a:r>
          </a:p>
          <a:p>
            <a:pPr>
              <a:defRPr sz="1100">
                <a:solidFill>
                  <a:srgbClr val="64748B"/>
                </a:solidFill>
              </a:defRPr>
            </a:pPr>
            <a:r>
              <a:t>Deploy hardened Azure network foundation &amp; Foundry spokes.</a:t>
            </a:r>
          </a:p>
        </p:txBody>
      </p:sp>
      <p:sp>
        <p:nvSpPr>
          <p:cNvPr id="9" name="Rounded Rectangle 8"/>
          <p:cNvSpPr/>
          <p:nvPr/>
        </p:nvSpPr>
        <p:spPr>
          <a:xfrm>
            <a:off x="8961120" y="1554480"/>
            <a:ext cx="2194560" cy="34747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78D4"/>
                </a:solidFill>
              </a:defRPr>
            </a:pPr>
            <a:r>
              <a:t>BUILD FOUNDATION</a:t>
            </a:r>
          </a:p>
        </p:txBody>
      </p:sp>
      <p:sp>
        <p:nvSpPr>
          <p:cNvPr id="10" name="Rounded Rectangle 9"/>
          <p:cNvSpPr/>
          <p:nvPr/>
        </p:nvSpPr>
        <p:spPr>
          <a:xfrm>
            <a:off x="731520" y="2176272"/>
            <a:ext cx="10698480" cy="71323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68680" y="2286000"/>
            <a:ext cx="822960" cy="493776"/>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02</a:t>
            </a:r>
          </a:p>
        </p:txBody>
      </p:sp>
      <p:sp>
        <p:nvSpPr>
          <p:cNvPr id="12" name="TextBox 11"/>
          <p:cNvSpPr txBox="1"/>
          <p:nvPr/>
        </p:nvSpPr>
        <p:spPr>
          <a:xfrm>
            <a:off x="1828800" y="2286000"/>
            <a:ext cx="6858000" cy="493776"/>
          </a:xfrm>
          <a:prstGeom prst="rect">
            <a:avLst/>
          </a:prstGeom>
          <a:noFill/>
        </p:spPr>
        <p:txBody>
          <a:bodyPr wrap="square">
            <a:spAutoFit/>
          </a:bodyPr>
          <a:lstStyle/>
          <a:p>
            <a:pPr>
              <a:defRPr sz="1300" b="1">
                <a:solidFill>
                  <a:srgbClr val="0A192F"/>
                </a:solidFill>
              </a:defRPr>
            </a:pPr>
            <a:r>
              <a:t>Agent Governance &amp; Operations</a:t>
            </a:r>
          </a:p>
          <a:p>
            <a:pPr>
              <a:defRPr sz="1100">
                <a:solidFill>
                  <a:srgbClr val="64748B"/>
                </a:solidFill>
              </a:defRPr>
            </a:pPr>
            <a:r>
              <a:t>Inventory agent estate &amp; enforce 4-layer kill-switch controls.</a:t>
            </a:r>
          </a:p>
        </p:txBody>
      </p:sp>
      <p:sp>
        <p:nvSpPr>
          <p:cNvPr id="13" name="Rounded Rectangle 12"/>
          <p:cNvSpPr/>
          <p:nvPr/>
        </p:nvSpPr>
        <p:spPr>
          <a:xfrm>
            <a:off x="8961120" y="2359152"/>
            <a:ext cx="2194560" cy="34747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A192F"/>
                </a:solidFill>
              </a:defRPr>
            </a:pPr>
            <a:r>
              <a:t>AGENT CONTROL</a:t>
            </a:r>
          </a:p>
        </p:txBody>
      </p:sp>
      <p:sp>
        <p:nvSpPr>
          <p:cNvPr id="14" name="Rounded Rectangle 13"/>
          <p:cNvSpPr/>
          <p:nvPr/>
        </p:nvSpPr>
        <p:spPr>
          <a:xfrm>
            <a:off x="731520" y="2980944"/>
            <a:ext cx="10698480" cy="71323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68680" y="3090672"/>
            <a:ext cx="822960" cy="493776"/>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03</a:t>
            </a:r>
          </a:p>
        </p:txBody>
      </p:sp>
      <p:sp>
        <p:nvSpPr>
          <p:cNvPr id="16" name="TextBox 15"/>
          <p:cNvSpPr txBox="1"/>
          <p:nvPr/>
        </p:nvSpPr>
        <p:spPr>
          <a:xfrm>
            <a:off x="1828800" y="3090672"/>
            <a:ext cx="6858000" cy="493776"/>
          </a:xfrm>
          <a:prstGeom prst="rect">
            <a:avLst/>
          </a:prstGeom>
          <a:noFill/>
        </p:spPr>
        <p:txBody>
          <a:bodyPr wrap="square">
            <a:spAutoFit/>
          </a:bodyPr>
          <a:lstStyle/>
          <a:p>
            <a:pPr>
              <a:defRPr sz="1300" b="1">
                <a:solidFill>
                  <a:srgbClr val="0A192F"/>
                </a:solidFill>
              </a:defRPr>
            </a:pPr>
            <a:r>
              <a:t>AI Gateway Implementation</a:t>
            </a:r>
          </a:p>
          <a:p>
            <a:pPr>
              <a:defRPr sz="1100">
                <a:solidFill>
                  <a:srgbClr val="64748B"/>
                </a:solidFill>
              </a:defRPr>
            </a:pPr>
            <a:r>
              <a:t>Govern request traffic, token rate limits &amp; approved tools.</a:t>
            </a:r>
          </a:p>
        </p:txBody>
      </p:sp>
      <p:sp>
        <p:nvSpPr>
          <p:cNvPr id="17" name="Rounded Rectangle 16"/>
          <p:cNvSpPr/>
          <p:nvPr/>
        </p:nvSpPr>
        <p:spPr>
          <a:xfrm>
            <a:off x="8961120" y="3163824"/>
            <a:ext cx="2194560" cy="34747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78D4"/>
                </a:solidFill>
              </a:defRPr>
            </a:pPr>
            <a:r>
              <a:t>GATEWAY EDGE</a:t>
            </a:r>
          </a:p>
        </p:txBody>
      </p:sp>
      <p:sp>
        <p:nvSpPr>
          <p:cNvPr id="18" name="Rounded Rectangle 17"/>
          <p:cNvSpPr/>
          <p:nvPr/>
        </p:nvSpPr>
        <p:spPr>
          <a:xfrm>
            <a:off x="731520" y="3785616"/>
            <a:ext cx="10698480" cy="71323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8680" y="3895344"/>
            <a:ext cx="822960" cy="493776"/>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04</a:t>
            </a:r>
          </a:p>
        </p:txBody>
      </p:sp>
      <p:sp>
        <p:nvSpPr>
          <p:cNvPr id="20" name="TextBox 19"/>
          <p:cNvSpPr txBox="1"/>
          <p:nvPr/>
        </p:nvSpPr>
        <p:spPr>
          <a:xfrm>
            <a:off x="1828800" y="3895344"/>
            <a:ext cx="6858000" cy="493776"/>
          </a:xfrm>
          <a:prstGeom prst="rect">
            <a:avLst/>
          </a:prstGeom>
          <a:noFill/>
        </p:spPr>
        <p:txBody>
          <a:bodyPr wrap="square">
            <a:spAutoFit/>
          </a:bodyPr>
          <a:lstStyle/>
          <a:p>
            <a:pPr>
              <a:defRPr sz="1300" b="1">
                <a:solidFill>
                  <a:srgbClr val="0A192F"/>
                </a:solidFill>
              </a:defRPr>
            </a:pPr>
            <a:r>
              <a:t>Capacity &amp; FinOps Assessment</a:t>
            </a:r>
          </a:p>
          <a:p>
            <a:pPr>
              <a:defRPr sz="1100">
                <a:solidFill>
                  <a:srgbClr val="64748B"/>
                </a:solidFill>
              </a:defRPr>
            </a:pPr>
            <a:r>
              <a:t>Model token load; size PAYG vs PTU break-even reservations.</a:t>
            </a:r>
          </a:p>
        </p:txBody>
      </p:sp>
      <p:sp>
        <p:nvSpPr>
          <p:cNvPr id="21" name="Rounded Rectangle 20"/>
          <p:cNvSpPr/>
          <p:nvPr/>
        </p:nvSpPr>
        <p:spPr>
          <a:xfrm>
            <a:off x="8961120" y="3968496"/>
            <a:ext cx="2194560" cy="34747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A389"/>
                </a:solidFill>
              </a:defRPr>
            </a:pPr>
            <a:r>
              <a:t>FAST ENTRY</a:t>
            </a:r>
          </a:p>
        </p:txBody>
      </p:sp>
      <p:sp>
        <p:nvSpPr>
          <p:cNvPr id="22" name="Rounded Rectangle 21"/>
          <p:cNvSpPr/>
          <p:nvPr/>
        </p:nvSpPr>
        <p:spPr>
          <a:xfrm>
            <a:off x="731520" y="4590288"/>
            <a:ext cx="10698480" cy="71323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68680" y="4700016"/>
            <a:ext cx="822960" cy="493776"/>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05</a:t>
            </a:r>
          </a:p>
        </p:txBody>
      </p:sp>
      <p:sp>
        <p:nvSpPr>
          <p:cNvPr id="24" name="TextBox 23"/>
          <p:cNvSpPr txBox="1"/>
          <p:nvPr/>
        </p:nvSpPr>
        <p:spPr>
          <a:xfrm>
            <a:off x="1828800" y="4700016"/>
            <a:ext cx="6858000" cy="493776"/>
          </a:xfrm>
          <a:prstGeom prst="rect">
            <a:avLst/>
          </a:prstGeom>
          <a:noFill/>
        </p:spPr>
        <p:txBody>
          <a:bodyPr wrap="square">
            <a:spAutoFit/>
          </a:bodyPr>
          <a:lstStyle/>
          <a:p>
            <a:pPr>
              <a:defRPr sz="1300" b="1">
                <a:solidFill>
                  <a:srgbClr val="0A192F"/>
                </a:solidFill>
              </a:defRPr>
            </a:pPr>
            <a:r>
              <a:t>Managed AI Platform Operations</a:t>
            </a:r>
          </a:p>
          <a:p>
            <a:pPr>
              <a:defRPr sz="1100">
                <a:solidFill>
                  <a:srgbClr val="64748B"/>
                </a:solidFill>
              </a:defRPr>
            </a:pPr>
            <a:r>
              <a:t>Run Day-2 platform 24x7 with incident triage &amp; runbooks.</a:t>
            </a:r>
          </a:p>
        </p:txBody>
      </p:sp>
      <p:sp>
        <p:nvSpPr>
          <p:cNvPr id="25" name="Rounded Rectangle 24"/>
          <p:cNvSpPr/>
          <p:nvPr/>
        </p:nvSpPr>
        <p:spPr>
          <a:xfrm>
            <a:off x="8961120" y="4773168"/>
            <a:ext cx="2194560" cy="347472"/>
          </a:xfrm>
          <a:prstGeom prst="roundRect">
            <a:avLst/>
          </a:prstGeom>
          <a:solidFill>
            <a:srgbClr val="F1F5F9"/>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00A389"/>
                </a:solidFill>
              </a:defRPr>
            </a:pPr>
            <a:r>
              <a:t>RECURRING RUN</a:t>
            </a:r>
          </a:p>
        </p:txBody>
      </p:sp>
      <p:sp>
        <p:nvSpPr>
          <p:cNvPr id="26" name="Rounded Rectangle 25"/>
          <p:cNvSpPr/>
          <p:nvPr/>
        </p:nvSpPr>
        <p:spPr>
          <a:xfrm>
            <a:off x="731520" y="5532120"/>
            <a:ext cx="10698480" cy="731520"/>
          </a:xfrm>
          <a:prstGeom prst="roundRect">
            <a:avLst/>
          </a:prstGeom>
          <a:solidFill>
            <a:srgbClr val="F0FDFA"/>
          </a:solidFill>
          <a:ln w="19050">
            <a:solidFill>
              <a:srgbClr val="00A38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00A389"/>
                </a:solidFill>
              </a:rPr>
              <a:t>AUTHOR RECOMMENDATION: </a:t>
            </a:r>
            <a:r>
              <a:rPr sz="1050">
                <a:solidFill>
                  <a:srgbClr val="0A192F"/>
                </a:solidFill>
              </a:rPr>
              <a:t>If leadership selects only two offerings to pilot, start with Offering 04 (FinOps Assessment) and Offering 03 (AI Gateway). They carry the lowest customer friction, fastest sales cycle (3 weeks), and solve immediate token overspend—naturally pulling through 01 Landing Zones and 05 Operations.</a:t>
            </a:r>
          </a:p>
        </p:txBody>
      </p:sp>
      <p:sp>
        <p:nvSpPr>
          <p:cNvPr id="27" name="TextBox 26"/>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Azure AI Platform Portfolio (Master) · Working proposal for senior leadership review · Slide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5 OF 10</a:t>
            </a:r>
          </a:p>
        </p:txBody>
      </p:sp>
      <p:sp>
        <p:nvSpPr>
          <p:cNvPr id="3" name="Rounded Rectangle 2"/>
          <p:cNvSpPr/>
          <p:nvPr/>
        </p:nvSpPr>
        <p:spPr>
          <a:xfrm>
            <a:off x="320040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STRATEGIC HORIZONS</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05</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Revenue this year from 04 and 03; 02 is the bet to prove</a:t>
            </a:r>
          </a:p>
        </p:txBody>
      </p:sp>
      <p:sp>
        <p:nvSpPr>
          <p:cNvPr id="6" name="Rounded Rectangle 5"/>
          <p:cNvSpPr/>
          <p:nvPr/>
        </p:nvSpPr>
        <p:spPr>
          <a:xfrm>
            <a:off x="731520" y="137160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33832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1600200"/>
            <a:ext cx="502920" cy="502920"/>
          </a:xfrm>
          <a:prstGeom prst="ellipse">
            <a:avLst/>
          </a:prstGeom>
          <a:solidFill>
            <a:srgbClr val="EFF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9" name="TextBox 8"/>
          <p:cNvSpPr txBox="1"/>
          <p:nvPr/>
        </p:nvSpPr>
        <p:spPr>
          <a:xfrm>
            <a:off x="1645920" y="1600200"/>
            <a:ext cx="2194560" cy="502920"/>
          </a:xfrm>
          <a:prstGeom prst="rect">
            <a:avLst/>
          </a:prstGeom>
          <a:noFill/>
        </p:spPr>
        <p:txBody>
          <a:bodyPr wrap="square">
            <a:spAutoFit/>
          </a:bodyPr>
          <a:lstStyle/>
          <a:p>
            <a:pPr>
              <a:defRPr sz="1000" b="1">
                <a:solidFill>
                  <a:srgbClr val="0078D4"/>
                </a:solidFill>
              </a:defRPr>
            </a:pPr>
            <a:r>
              <a:t>HORIZON 1: REVENUE NOW</a:t>
            </a:r>
          </a:p>
          <a:p>
            <a:pPr>
              <a:defRPr sz="900">
                <a:solidFill>
                  <a:srgbClr val="64748B"/>
                </a:solidFill>
              </a:defRPr>
            </a:pPr>
            <a:r>
              <a:t>Months 1 to 6 · Immediate Entry</a:t>
            </a:r>
          </a:p>
        </p:txBody>
      </p:sp>
      <p:sp>
        <p:nvSpPr>
          <p:cNvPr id="10" name="TextBox 9"/>
          <p:cNvSpPr txBox="1"/>
          <p:nvPr/>
        </p:nvSpPr>
        <p:spPr>
          <a:xfrm>
            <a:off x="1005840" y="2240280"/>
            <a:ext cx="2834640" cy="411480"/>
          </a:xfrm>
          <a:prstGeom prst="rect">
            <a:avLst/>
          </a:prstGeom>
          <a:noFill/>
        </p:spPr>
        <p:txBody>
          <a:bodyPr wrap="square">
            <a:spAutoFit/>
          </a:bodyPr>
          <a:lstStyle/>
          <a:p>
            <a:pPr>
              <a:defRPr sz="1200" b="1">
                <a:solidFill>
                  <a:srgbClr val="0A192F"/>
                </a:solidFill>
              </a:defRPr>
            </a:pPr>
            <a:r>
              <a:t>Offering 04 (Assessment) + Offering 03 (Gateway)</a:t>
            </a:r>
          </a:p>
        </p:txBody>
      </p:sp>
      <p:sp>
        <p:nvSpPr>
          <p:cNvPr id="11" name="TextBox 10"/>
          <p:cNvSpPr txBox="1"/>
          <p:nvPr/>
        </p:nvSpPr>
        <p:spPr>
          <a:xfrm>
            <a:off x="1005840" y="2697480"/>
            <a:ext cx="2834640" cy="594360"/>
          </a:xfrm>
          <a:prstGeom prst="rect">
            <a:avLst/>
          </a:prstGeom>
          <a:noFill/>
        </p:spPr>
        <p:txBody>
          <a:bodyPr wrap="none">
            <a:spAutoFit/>
          </a:bodyPr>
          <a:lstStyle/>
          <a:p>
            <a:pPr>
              <a:defRPr sz="2400" b="1">
                <a:solidFill>
                  <a:srgbClr val="0078D4"/>
                </a:solidFill>
              </a:defRPr>
            </a:pPr>
            <a:r>
              <a:t>$25k to $75k</a:t>
            </a:r>
          </a:p>
          <a:p>
            <a:pPr>
              <a:defRPr sz="900" b="1">
                <a:solidFill>
                  <a:srgbClr val="64748B"/>
                </a:solidFill>
              </a:defRPr>
            </a:pPr>
            <a:r>
              <a:t>Deal Velocity / Size</a:t>
            </a:r>
          </a:p>
        </p:txBody>
      </p:sp>
      <p:sp>
        <p:nvSpPr>
          <p:cNvPr id="12" name="TextBox 11"/>
          <p:cNvSpPr txBox="1"/>
          <p:nvPr/>
        </p:nvSpPr>
        <p:spPr>
          <a:xfrm>
            <a:off x="1005840" y="3429000"/>
            <a:ext cx="2834640" cy="2560320"/>
          </a:xfrm>
          <a:prstGeom prst="rect">
            <a:avLst/>
          </a:prstGeom>
          <a:noFill/>
        </p:spPr>
        <p:txBody>
          <a:bodyPr wrap="square">
            <a:spAutoFit/>
          </a:bodyPr>
          <a:lstStyle/>
          <a:p/>
          <a:p>
            <a:pPr>
              <a:spcAft>
                <a:spcPts val="600"/>
              </a:spcAft>
              <a:defRPr sz="1100">
                <a:solidFill>
                  <a:srgbClr val="0F172A"/>
                </a:solidFill>
              </a:defRPr>
            </a:pPr>
            <a:r>
              <a:t>• Fastest procurement path via advisory / fixed SOW.</a:t>
            </a:r>
          </a:p>
          <a:p>
            <a:pPr>
              <a:spcAft>
                <a:spcPts val="600"/>
              </a:spcAft>
              <a:defRPr sz="1100">
                <a:solidFill>
                  <a:srgbClr val="0F172A"/>
                </a:solidFill>
              </a:defRPr>
            </a:pPr>
            <a:r>
              <a:t>• Directly solves customer 429 throttling and bill shocks.</a:t>
            </a:r>
          </a:p>
          <a:p>
            <a:pPr>
              <a:spcAft>
                <a:spcPts val="600"/>
              </a:spcAft>
              <a:defRPr sz="1100">
                <a:solidFill>
                  <a:srgbClr val="0F172A"/>
                </a:solidFill>
              </a:defRPr>
            </a:pPr>
            <a:r>
              <a:t>• Unblocks enterprise model spend within 3 to 5 weeks.</a:t>
            </a:r>
          </a:p>
          <a:p>
            <a:pPr>
              <a:spcAft>
                <a:spcPts val="600"/>
              </a:spcAft>
              <a:defRPr sz="1100">
                <a:solidFill>
                  <a:srgbClr val="0F172A"/>
                </a:solidFill>
              </a:defRPr>
            </a:pPr>
            <a:r>
              <a:t>• Creates high-trust client relationship with Cloud VP.</a:t>
            </a:r>
          </a:p>
        </p:txBody>
      </p:sp>
      <p:sp>
        <p:nvSpPr>
          <p:cNvPr id="13" name="Rounded Rectangle 12"/>
          <p:cNvSpPr/>
          <p:nvPr/>
        </p:nvSpPr>
        <p:spPr>
          <a:xfrm>
            <a:off x="4389120" y="137160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89120" y="1371600"/>
            <a:ext cx="33832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663440" y="1600200"/>
            <a:ext cx="502920" cy="502920"/>
          </a:xfrm>
          <a:prstGeom prst="ellipse">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6" name="TextBox 15"/>
          <p:cNvSpPr txBox="1"/>
          <p:nvPr/>
        </p:nvSpPr>
        <p:spPr>
          <a:xfrm>
            <a:off x="5303520" y="1600200"/>
            <a:ext cx="2194560" cy="502920"/>
          </a:xfrm>
          <a:prstGeom prst="rect">
            <a:avLst/>
          </a:prstGeom>
          <a:noFill/>
        </p:spPr>
        <p:txBody>
          <a:bodyPr wrap="square">
            <a:spAutoFit/>
          </a:bodyPr>
          <a:lstStyle/>
          <a:p>
            <a:pPr>
              <a:defRPr sz="1000" b="1">
                <a:solidFill>
                  <a:srgbClr val="00A389"/>
                </a:solidFill>
              </a:defRPr>
            </a:pPr>
            <a:r>
              <a:t>HORIZON 2: PLATFORM SCALE</a:t>
            </a:r>
          </a:p>
          <a:p>
            <a:pPr>
              <a:defRPr sz="900">
                <a:solidFill>
                  <a:srgbClr val="64748B"/>
                </a:solidFill>
              </a:defRPr>
            </a:pPr>
            <a:r>
              <a:t>Months 6 to 18 · Core Infra Engine</a:t>
            </a:r>
          </a:p>
        </p:txBody>
      </p:sp>
      <p:sp>
        <p:nvSpPr>
          <p:cNvPr id="17" name="TextBox 16"/>
          <p:cNvSpPr txBox="1"/>
          <p:nvPr/>
        </p:nvSpPr>
        <p:spPr>
          <a:xfrm>
            <a:off x="4663440" y="2240280"/>
            <a:ext cx="2834640" cy="411480"/>
          </a:xfrm>
          <a:prstGeom prst="rect">
            <a:avLst/>
          </a:prstGeom>
          <a:noFill/>
        </p:spPr>
        <p:txBody>
          <a:bodyPr wrap="square">
            <a:spAutoFit/>
          </a:bodyPr>
          <a:lstStyle/>
          <a:p>
            <a:pPr>
              <a:defRPr sz="1200" b="1">
                <a:solidFill>
                  <a:srgbClr val="0A192F"/>
                </a:solidFill>
              </a:defRPr>
            </a:pPr>
            <a:r>
              <a:t>Offering 01 (Landing Zone) + Offering 05 (Operations)</a:t>
            </a:r>
          </a:p>
        </p:txBody>
      </p:sp>
      <p:sp>
        <p:nvSpPr>
          <p:cNvPr id="18" name="TextBox 17"/>
          <p:cNvSpPr txBox="1"/>
          <p:nvPr/>
        </p:nvSpPr>
        <p:spPr>
          <a:xfrm>
            <a:off x="4663440" y="2697480"/>
            <a:ext cx="2834640" cy="594360"/>
          </a:xfrm>
          <a:prstGeom prst="rect">
            <a:avLst/>
          </a:prstGeom>
          <a:noFill/>
        </p:spPr>
        <p:txBody>
          <a:bodyPr wrap="none">
            <a:spAutoFit/>
          </a:bodyPr>
          <a:lstStyle/>
          <a:p>
            <a:pPr>
              <a:defRPr sz="2400" b="1">
                <a:solidFill>
                  <a:srgbClr val="00A389"/>
                </a:solidFill>
              </a:defRPr>
            </a:pPr>
            <a:r>
              <a:t>$150k to $650k</a:t>
            </a:r>
          </a:p>
          <a:p>
            <a:pPr>
              <a:defRPr sz="900" b="1">
                <a:solidFill>
                  <a:srgbClr val="64748B"/>
                </a:solidFill>
              </a:defRPr>
            </a:pPr>
            <a:r>
              <a:t>Annual Deal Value</a:t>
            </a:r>
          </a:p>
        </p:txBody>
      </p:sp>
      <p:sp>
        <p:nvSpPr>
          <p:cNvPr id="19" name="TextBox 18"/>
          <p:cNvSpPr txBox="1"/>
          <p:nvPr/>
        </p:nvSpPr>
        <p:spPr>
          <a:xfrm>
            <a:off x="4663440" y="3429000"/>
            <a:ext cx="2834640" cy="2560320"/>
          </a:xfrm>
          <a:prstGeom prst="rect">
            <a:avLst/>
          </a:prstGeom>
          <a:noFill/>
        </p:spPr>
        <p:txBody>
          <a:bodyPr wrap="square">
            <a:spAutoFit/>
          </a:bodyPr>
          <a:lstStyle/>
          <a:p/>
          <a:p>
            <a:pPr>
              <a:spcAft>
                <a:spcPts val="600"/>
              </a:spcAft>
              <a:defRPr sz="1100">
                <a:solidFill>
                  <a:srgbClr val="0F172A"/>
                </a:solidFill>
              </a:defRPr>
            </a:pPr>
            <a:r>
              <a:t>• Large foundational build engagements ($70k to $220k).</a:t>
            </a:r>
          </a:p>
          <a:p>
            <a:pPr>
              <a:spcAft>
                <a:spcPts val="600"/>
              </a:spcAft>
              <a:defRPr sz="1100">
                <a:solidFill>
                  <a:srgbClr val="0F172A"/>
                </a:solidFill>
              </a:defRPr>
            </a:pPr>
            <a:r>
              <a:t>• Establishes enterprise multi-subscription Azure perimeters.</a:t>
            </a:r>
          </a:p>
          <a:p>
            <a:pPr>
              <a:spcAft>
                <a:spcPts val="600"/>
              </a:spcAft>
              <a:defRPr sz="1100">
                <a:solidFill>
                  <a:srgbClr val="0F172A"/>
                </a:solidFill>
              </a:defRPr>
            </a:pPr>
            <a:r>
              <a:t>• Transitions into high-margin recurring managed run ($20k-$70k/mo).</a:t>
            </a:r>
          </a:p>
          <a:p>
            <a:pPr>
              <a:spcAft>
                <a:spcPts val="600"/>
              </a:spcAft>
              <a:defRPr sz="1100">
                <a:solidFill>
                  <a:srgbClr val="0F172A"/>
                </a:solidFill>
              </a:defRPr>
            </a:pPr>
            <a:r>
              <a:t>• Drives multi-million dollar Azure customer consumption.</a:t>
            </a:r>
          </a:p>
        </p:txBody>
      </p:sp>
      <p:sp>
        <p:nvSpPr>
          <p:cNvPr id="20" name="Rounded Rectangle 19"/>
          <p:cNvSpPr/>
          <p:nvPr/>
        </p:nvSpPr>
        <p:spPr>
          <a:xfrm>
            <a:off x="8046720" y="1371600"/>
            <a:ext cx="33832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46720" y="1371600"/>
            <a:ext cx="338328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321040" y="1600200"/>
            <a:ext cx="502920" cy="502920"/>
          </a:xfrm>
          <a:prstGeom prst="ellipse">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23" name="TextBox 22"/>
          <p:cNvSpPr txBox="1"/>
          <p:nvPr/>
        </p:nvSpPr>
        <p:spPr>
          <a:xfrm>
            <a:off x="8961120" y="1600200"/>
            <a:ext cx="2194560" cy="502920"/>
          </a:xfrm>
          <a:prstGeom prst="rect">
            <a:avLst/>
          </a:prstGeom>
          <a:noFill/>
        </p:spPr>
        <p:txBody>
          <a:bodyPr wrap="square">
            <a:spAutoFit/>
          </a:bodyPr>
          <a:lstStyle/>
          <a:p>
            <a:pPr>
              <a:defRPr sz="1000" b="1">
                <a:solidFill>
                  <a:srgbClr val="0A192F"/>
                </a:solidFill>
              </a:defRPr>
            </a:pPr>
            <a:r>
              <a:t>HORIZON 3: EMERGING BET</a:t>
            </a:r>
          </a:p>
          <a:p>
            <a:pPr>
              <a:defRPr sz="900">
                <a:solidFill>
                  <a:srgbClr val="64748B"/>
                </a:solidFill>
              </a:defRPr>
            </a:pPr>
            <a:r>
              <a:t>Year 2+ · Market Maturation</a:t>
            </a:r>
          </a:p>
        </p:txBody>
      </p:sp>
      <p:sp>
        <p:nvSpPr>
          <p:cNvPr id="24" name="TextBox 23"/>
          <p:cNvSpPr txBox="1"/>
          <p:nvPr/>
        </p:nvSpPr>
        <p:spPr>
          <a:xfrm>
            <a:off x="8321040" y="2240280"/>
            <a:ext cx="2834640" cy="411480"/>
          </a:xfrm>
          <a:prstGeom prst="rect">
            <a:avLst/>
          </a:prstGeom>
          <a:noFill/>
        </p:spPr>
        <p:txBody>
          <a:bodyPr wrap="square">
            <a:spAutoFit/>
          </a:bodyPr>
          <a:lstStyle/>
          <a:p>
            <a:pPr>
              <a:defRPr sz="1200" b="1">
                <a:solidFill>
                  <a:srgbClr val="0A192F"/>
                </a:solidFill>
              </a:defRPr>
            </a:pPr>
            <a:r>
              <a:t>Offering 02 (Agent Governance &amp; Operations)</a:t>
            </a:r>
          </a:p>
        </p:txBody>
      </p:sp>
      <p:sp>
        <p:nvSpPr>
          <p:cNvPr id="25" name="TextBox 24"/>
          <p:cNvSpPr txBox="1"/>
          <p:nvPr/>
        </p:nvSpPr>
        <p:spPr>
          <a:xfrm>
            <a:off x="8321040" y="2697480"/>
            <a:ext cx="2834640" cy="594360"/>
          </a:xfrm>
          <a:prstGeom prst="rect">
            <a:avLst/>
          </a:prstGeom>
          <a:noFill/>
        </p:spPr>
        <p:txBody>
          <a:bodyPr wrap="none">
            <a:spAutoFit/>
          </a:bodyPr>
          <a:lstStyle/>
          <a:p>
            <a:pPr>
              <a:defRPr sz="2400" b="1">
                <a:solidFill>
                  <a:srgbClr val="0A192F"/>
                </a:solidFill>
              </a:defRPr>
            </a:pPr>
            <a:r>
              <a:t>Strategic Moat</a:t>
            </a:r>
          </a:p>
          <a:p>
            <a:pPr>
              <a:defRPr sz="900" b="1">
                <a:solidFill>
                  <a:srgbClr val="64748B"/>
                </a:solidFill>
              </a:defRPr>
            </a:pPr>
            <a:r>
              <a:t>Future Autonomous Ops</a:t>
            </a:r>
          </a:p>
        </p:txBody>
      </p:sp>
      <p:sp>
        <p:nvSpPr>
          <p:cNvPr id="26" name="TextBox 25"/>
          <p:cNvSpPr txBox="1"/>
          <p:nvPr/>
        </p:nvSpPr>
        <p:spPr>
          <a:xfrm>
            <a:off x="8321040" y="3429000"/>
            <a:ext cx="2834640" cy="2560320"/>
          </a:xfrm>
          <a:prstGeom prst="rect">
            <a:avLst/>
          </a:prstGeom>
          <a:noFill/>
        </p:spPr>
        <p:txBody>
          <a:bodyPr wrap="square">
            <a:spAutoFit/>
          </a:bodyPr>
          <a:lstStyle/>
          <a:p/>
          <a:p>
            <a:pPr>
              <a:spcAft>
                <a:spcPts val="600"/>
              </a:spcAft>
              <a:defRPr sz="1100">
                <a:solidFill>
                  <a:srgbClr val="0F172A"/>
                </a:solidFill>
              </a:defRPr>
            </a:pPr>
            <a:r>
              <a:t>• Proves internal kill-switch PoC before customer commitment.</a:t>
            </a:r>
          </a:p>
          <a:p>
            <a:pPr>
              <a:spcAft>
                <a:spcPts val="600"/>
              </a:spcAft>
              <a:defRPr sz="1100">
                <a:solidFill>
                  <a:srgbClr val="0F172A"/>
                </a:solidFill>
              </a:defRPr>
            </a:pPr>
            <a:r>
              <a:t>• Prepares Cognizant for multi-agent autonomous sprawl.</a:t>
            </a:r>
          </a:p>
          <a:p>
            <a:pPr>
              <a:spcAft>
                <a:spcPts val="600"/>
              </a:spcAft>
              <a:defRPr sz="1100">
                <a:solidFill>
                  <a:srgbClr val="0F172A"/>
                </a:solidFill>
              </a:defRPr>
            </a:pPr>
            <a:r>
              <a:t>• Configure-first on Agent 365, custom building for gaps.</a:t>
            </a:r>
          </a:p>
          <a:p>
            <a:pPr>
              <a:spcAft>
                <a:spcPts val="600"/>
              </a:spcAft>
              <a:defRPr sz="1100">
                <a:solidFill>
                  <a:srgbClr val="0F172A"/>
                </a:solidFill>
              </a:defRPr>
            </a:pPr>
            <a:r>
              <a:t>• Positions CIS Infra as the undisputed AI control tower.</a:t>
            </a:r>
          </a:p>
        </p:txBody>
      </p:sp>
      <p:sp>
        <p:nvSpPr>
          <p:cNvPr id="27" name="TextBox 26"/>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Azure AI Platform Portfolio (Master) · Working proposal for senior leadership review · Slide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6 OF 10</a:t>
            </a:r>
          </a:p>
        </p:txBody>
      </p:sp>
      <p:sp>
        <p:nvSpPr>
          <p:cNvPr id="3" name="Rounded Rectangle 2"/>
          <p:cNvSpPr/>
          <p:nvPr/>
        </p:nvSpPr>
        <p:spPr>
          <a:xfrm>
            <a:off x="320040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DEAL ECONOMICS &amp; P&amp;L</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06</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One customer buying all five: $647k in year one, $540k after</a:t>
            </a:r>
          </a:p>
        </p:txBody>
      </p:sp>
      <p:sp>
        <p:nvSpPr>
          <p:cNvPr id="6" name="Rounded Rectangle 5"/>
          <p:cNvSpPr/>
          <p:nvPr/>
        </p:nvSpPr>
        <p:spPr>
          <a:xfrm>
            <a:off x="731520" y="1371600"/>
            <a:ext cx="6217920" cy="4754880"/>
          </a:xfrm>
          <a:prstGeom prst="roundRect">
            <a:avLst/>
          </a:prstGeom>
          <a:solidFill>
            <a:srgbClr val="FFFFFF"/>
          </a:solidFill>
          <a:ln w="254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5669280" cy="4297680"/>
          </a:xfrm>
          <a:prstGeom prst="rect">
            <a:avLst/>
          </a:prstGeom>
          <a:noFill/>
        </p:spPr>
        <p:txBody>
          <a:bodyPr wrap="square">
            <a:spAutoFit/>
          </a:bodyPr>
          <a:lstStyle/>
          <a:p>
            <a:pPr>
              <a:defRPr sz="1200" b="1">
                <a:solidFill>
                  <a:srgbClr val="0078D4"/>
                </a:solidFill>
              </a:defRPr>
            </a:pPr>
            <a:r>
              <a:t>💰 FIRST-YEAR SERVICES DEAL ARCHITECTURE</a:t>
            </a:r>
          </a:p>
          <a:p>
            <a:pPr>
              <a:spcAft>
                <a:spcPts val="1000"/>
              </a:spcAft>
              <a:defRPr sz="2200" b="1">
                <a:solidFill>
                  <a:srgbClr val="0A192F"/>
                </a:solidFill>
              </a:defRPr>
            </a:pPr>
            <a:r>
              <a:t>$647k Total Year 1 Services Revenue</a:t>
            </a:r>
          </a:p>
          <a:p>
            <a:r>
              <a:rPr b="1" sz="1300">
                <a:solidFill>
                  <a:srgbClr val="0078D4"/>
                </a:solidFill>
              </a:rPr>
              <a:t>$35k  </a:t>
            </a:r>
            <a:r>
              <a:rPr b="1" sz="1200">
                <a:solidFill>
                  <a:srgbClr val="0A192F"/>
                </a:solidFill>
              </a:rPr>
              <a:t>—  04 AI Capacity &amp; FinOps Assessment </a:t>
            </a:r>
          </a:p>
          <a:p>
            <a:pPr>
              <a:spcAft>
                <a:spcPts val="400"/>
              </a:spcAft>
              <a:defRPr sz="1000">
                <a:solidFill>
                  <a:srgbClr val="64748B"/>
                </a:solidFill>
              </a:defRPr>
            </a:pPr>
            <a:r>
              <a:t>    Entry advisory SOW · 3 to 5 weeks</a:t>
            </a:r>
          </a:p>
          <a:p>
            <a:r>
              <a:rPr b="1" sz="1300">
                <a:solidFill>
                  <a:srgbClr val="0078D4"/>
                </a:solidFill>
              </a:rPr>
              <a:t>$75k  </a:t>
            </a:r>
            <a:r>
              <a:rPr b="1" sz="1200">
                <a:solidFill>
                  <a:srgbClr val="0A192F"/>
                </a:solidFill>
              </a:rPr>
              <a:t>—  03 AI Gateway Implementation </a:t>
            </a:r>
          </a:p>
          <a:p>
            <a:pPr>
              <a:spcAft>
                <a:spcPts val="400"/>
              </a:spcAft>
              <a:defRPr sz="1000">
                <a:solidFill>
                  <a:srgbClr val="64748B"/>
                </a:solidFill>
              </a:defRPr>
            </a:pPr>
            <a:r>
              <a:t>    Fixed-price traffic control SOW · 8 weeks</a:t>
            </a:r>
          </a:p>
          <a:p>
            <a:r>
              <a:rPr b="1" sz="1300">
                <a:solidFill>
                  <a:srgbClr val="0078D4"/>
                </a:solidFill>
              </a:rPr>
              <a:t>$90k  </a:t>
            </a:r>
            <a:r>
              <a:rPr b="1" sz="1200">
                <a:solidFill>
                  <a:srgbClr val="0A192F"/>
                </a:solidFill>
              </a:rPr>
              <a:t>—  01 AI Platform / Landing Zone (Extension) </a:t>
            </a:r>
          </a:p>
          <a:p>
            <a:pPr>
              <a:spcAft>
                <a:spcPts val="400"/>
              </a:spcAft>
              <a:defRPr sz="1000">
                <a:solidFill>
                  <a:srgbClr val="64748B"/>
                </a:solidFill>
              </a:defRPr>
            </a:pPr>
            <a:r>
              <a:t>    Workload foundation SOW · 10 weeks</a:t>
            </a:r>
          </a:p>
          <a:p>
            <a:r>
              <a:rPr b="1" sz="1300">
                <a:solidFill>
                  <a:srgbClr val="0078D4"/>
                </a:solidFill>
              </a:rPr>
              <a:t>$100k  </a:t>
            </a:r>
            <a:r>
              <a:rPr b="1" sz="1200">
                <a:solidFill>
                  <a:srgbClr val="0A192F"/>
                </a:solidFill>
              </a:rPr>
              <a:t>—  02 Agent Governance Baseline Setup </a:t>
            </a:r>
          </a:p>
          <a:p>
            <a:pPr>
              <a:spcAft>
                <a:spcPts val="400"/>
              </a:spcAft>
              <a:defRPr sz="1000">
                <a:solidFill>
                  <a:srgbClr val="64748B"/>
                </a:solidFill>
              </a:defRPr>
            </a:pPr>
            <a:r>
              <a:t>    Inventory &amp; native Agent 365 config</a:t>
            </a:r>
          </a:p>
          <a:p>
            <a:r>
              <a:rPr b="1" sz="1300">
                <a:solidFill>
                  <a:srgbClr val="0078D4"/>
                </a:solidFill>
              </a:rPr>
              <a:t>$347k  </a:t>
            </a:r>
            <a:r>
              <a:rPr b="1" sz="1200">
                <a:solidFill>
                  <a:srgbClr val="0A192F"/>
                </a:solidFill>
              </a:rPr>
              <a:t>—  05 Managed AI Operations (Month 4 to 12) </a:t>
            </a:r>
          </a:p>
          <a:p>
            <a:pPr>
              <a:spcAft>
                <a:spcPts val="400"/>
              </a:spcAft>
              <a:defRPr sz="1000">
                <a:solidFill>
                  <a:srgbClr val="64748B"/>
                </a:solidFill>
              </a:defRPr>
            </a:pPr>
            <a:r>
              <a:t>    Standard 8x5 run · 9 months @ ~$38k/mo</a:t>
            </a:r>
          </a:p>
        </p:txBody>
      </p:sp>
      <p:sp>
        <p:nvSpPr>
          <p:cNvPr id="8" name="Rounded Rectangle 7"/>
          <p:cNvSpPr/>
          <p:nvPr/>
        </p:nvSpPr>
        <p:spPr>
          <a:xfrm>
            <a:off x="7132320" y="1371600"/>
            <a:ext cx="4297680" cy="475488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0" y="1554480"/>
            <a:ext cx="3749039" cy="4297680"/>
          </a:xfrm>
          <a:prstGeom prst="rect">
            <a:avLst/>
          </a:prstGeom>
          <a:noFill/>
        </p:spPr>
        <p:txBody>
          <a:bodyPr wrap="square">
            <a:spAutoFit/>
          </a:bodyPr>
          <a:lstStyle/>
          <a:p>
            <a:pPr>
              <a:defRPr sz="1200" b="1">
                <a:solidFill>
                  <a:srgbClr val="00A389"/>
                </a:solidFill>
              </a:defRPr>
            </a:pPr>
            <a:r>
              <a:t>🔄 MULTI-YEAR RUN &amp; CONSUMPTION</a:t>
            </a:r>
          </a:p>
          <a:p>
            <a:pPr>
              <a:spcAft>
                <a:spcPts val="1000"/>
              </a:spcAft>
              <a:defRPr sz="2000" b="1">
                <a:solidFill>
                  <a:srgbClr val="0A192F"/>
                </a:solidFill>
              </a:defRPr>
            </a:pPr>
            <a:r>
              <a:t>$540k Annual Recurring Run</a:t>
            </a:r>
          </a:p>
          <a:p>
            <a:pPr>
              <a:defRPr sz="1200" b="1">
                <a:solidFill>
                  <a:srgbClr val="0A192F"/>
                </a:solidFill>
              </a:defRPr>
            </a:pPr>
            <a:r>
              <a:t>• High-Margin Managed Run</a:t>
            </a:r>
          </a:p>
          <a:p>
            <a:pPr>
              <a:spcAft>
                <a:spcPts val="800"/>
              </a:spcAft>
              <a:defRPr sz="1050">
                <a:solidFill>
                  <a:srgbClr val="0F172A"/>
                </a:solidFill>
              </a:defRPr>
            </a:pPr>
            <a:r>
              <a:t>  Offering 05 continues in Year 2+ as a multi-year recurring managed service ($45k/mo average).</a:t>
            </a:r>
          </a:p>
          <a:p>
            <a:pPr>
              <a:defRPr sz="1200" b="1">
                <a:solidFill>
                  <a:srgbClr val="0A192F"/>
                </a:solidFill>
              </a:defRPr>
            </a:pPr>
            <a:r>
              <a:t>• Fuels Azure AI Consumption</a:t>
            </a:r>
          </a:p>
          <a:p>
            <a:pPr>
              <a:spcAft>
                <a:spcPts val="800"/>
              </a:spcAft>
              <a:defRPr sz="1050">
                <a:solidFill>
                  <a:srgbClr val="0F172A"/>
                </a:solidFill>
              </a:defRPr>
            </a:pPr>
            <a:r>
              <a:t>  Governed enterprise landing zones unblock $1M to $3M+ in annual Azure model and compute spend for Microsoft.</a:t>
            </a:r>
          </a:p>
          <a:p>
            <a:pPr>
              <a:defRPr sz="1200" b="1">
                <a:solidFill>
                  <a:srgbClr val="0A192F"/>
                </a:solidFill>
              </a:defRPr>
            </a:pPr>
            <a:r>
              <a:t>• Ecosystem Boundary Clean</a:t>
            </a:r>
          </a:p>
          <a:p>
            <a:pPr>
              <a:spcAft>
                <a:spcPts val="800"/>
              </a:spcAft>
              <a:defRPr sz="1050">
                <a:solidFill>
                  <a:srgbClr val="0F172A"/>
                </a:solidFill>
              </a:defRPr>
            </a:pPr>
            <a:r>
              <a:t>  M365 Copilot &amp; Dynamics Copilot stay with Cognizant M365 teams. CIS Infra owns all Azure backend infrastructure.</a:t>
            </a:r>
          </a:p>
        </p:txBody>
      </p:sp>
      <p:sp>
        <p:nvSpPr>
          <p:cNvPr id="10" name="TextBox 9"/>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Azure AI Platform Portfolio (Master) · Working proposal for senior leadership review · Slide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7 OF 10</a:t>
            </a:r>
          </a:p>
        </p:txBody>
      </p:sp>
      <p:sp>
        <p:nvSpPr>
          <p:cNvPr id="3" name="Rounded Rectangle 2"/>
          <p:cNvSpPr/>
          <p:nvPr/>
        </p:nvSpPr>
        <p:spPr>
          <a:xfrm>
            <a:off x="320040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COMPETITIVE POSITIONING</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07</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Our edge is testable: five claims, each with its proof</a:t>
            </a:r>
          </a:p>
        </p:txBody>
      </p:sp>
      <p:sp>
        <p:nvSpPr>
          <p:cNvPr id="6" name="Rounded Rectangle 5"/>
          <p:cNvSpPr/>
          <p:nvPr/>
        </p:nvSpPr>
        <p:spPr>
          <a:xfrm>
            <a:off x="731520" y="1371600"/>
            <a:ext cx="10698480" cy="80467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481328"/>
            <a:ext cx="2926080" cy="548640"/>
          </a:xfrm>
          <a:prstGeom prst="rect">
            <a:avLst/>
          </a:prstGeom>
          <a:noFill/>
        </p:spPr>
        <p:txBody>
          <a:bodyPr wrap="square">
            <a:spAutoFit/>
          </a:bodyPr>
          <a:lstStyle/>
          <a:p>
            <a:pPr>
              <a:defRPr sz="1300" b="1">
                <a:solidFill>
                  <a:srgbClr val="0A192F"/>
                </a:solidFill>
              </a:defRPr>
            </a:pPr>
            <a:r>
              <a:t>1. Real Infrastructure Depth</a:t>
            </a:r>
          </a:p>
          <a:p>
            <a:pPr>
              <a:defRPr sz="1000" b="1">
                <a:solidFill>
                  <a:srgbClr val="0078D4"/>
                </a:solidFill>
              </a:defRPr>
            </a:pPr>
            <a:r>
              <a:t>Not Slide-Deck Advisory</a:t>
            </a:r>
          </a:p>
        </p:txBody>
      </p:sp>
      <p:sp>
        <p:nvSpPr>
          <p:cNvPr id="8" name="TextBox 7"/>
          <p:cNvSpPr txBox="1"/>
          <p:nvPr/>
        </p:nvSpPr>
        <p:spPr>
          <a:xfrm>
            <a:off x="4023360" y="1508760"/>
            <a:ext cx="7132320" cy="548640"/>
          </a:xfrm>
          <a:prstGeom prst="rect">
            <a:avLst/>
          </a:prstGeom>
          <a:noFill/>
        </p:spPr>
        <p:txBody>
          <a:bodyPr wrap="square">
            <a:spAutoFit/>
          </a:bodyPr>
          <a:lstStyle/>
          <a:p>
            <a:pPr>
              <a:defRPr sz="1100">
                <a:solidFill>
                  <a:srgbClr val="0F172A"/>
                </a:solidFill>
              </a:defRPr>
            </a:pPr>
            <a:r>
              <a:t>While strategy firms deliver conceptual frameworks, CIS Infra delivers automated Terraform landing zones on Azure Verified Modules.</a:t>
            </a:r>
          </a:p>
        </p:txBody>
      </p:sp>
      <p:sp>
        <p:nvSpPr>
          <p:cNvPr id="9" name="Rounded Rectangle 8"/>
          <p:cNvSpPr/>
          <p:nvPr/>
        </p:nvSpPr>
        <p:spPr>
          <a:xfrm>
            <a:off x="731520" y="2267712"/>
            <a:ext cx="10698480" cy="80467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377440"/>
            <a:ext cx="2926080" cy="548640"/>
          </a:xfrm>
          <a:prstGeom prst="rect">
            <a:avLst/>
          </a:prstGeom>
          <a:noFill/>
        </p:spPr>
        <p:txBody>
          <a:bodyPr wrap="square">
            <a:spAutoFit/>
          </a:bodyPr>
          <a:lstStyle/>
          <a:p>
            <a:pPr>
              <a:defRPr sz="1300" b="1">
                <a:solidFill>
                  <a:srgbClr val="0A192F"/>
                </a:solidFill>
              </a:defRPr>
            </a:pPr>
            <a:r>
              <a:t>2. Transparent FinOps Math</a:t>
            </a:r>
          </a:p>
          <a:p>
            <a:pPr>
              <a:defRPr sz="1000" b="1">
                <a:solidFill>
                  <a:srgbClr val="0078D4"/>
                </a:solidFill>
              </a:defRPr>
            </a:pPr>
            <a:r>
              <a:t>Quantified Break-Even Models</a:t>
            </a:r>
          </a:p>
        </p:txBody>
      </p:sp>
      <p:sp>
        <p:nvSpPr>
          <p:cNvPr id="11" name="TextBox 10"/>
          <p:cNvSpPr txBox="1"/>
          <p:nvPr/>
        </p:nvSpPr>
        <p:spPr>
          <a:xfrm>
            <a:off x="4023360" y="2404872"/>
            <a:ext cx="7132320" cy="548640"/>
          </a:xfrm>
          <a:prstGeom prst="rect">
            <a:avLst/>
          </a:prstGeom>
          <a:noFill/>
        </p:spPr>
        <p:txBody>
          <a:bodyPr wrap="square">
            <a:spAutoFit/>
          </a:bodyPr>
          <a:lstStyle/>
          <a:p>
            <a:pPr>
              <a:defRPr sz="1100">
                <a:solidFill>
                  <a:srgbClr val="0F172A"/>
                </a:solidFill>
              </a:defRPr>
            </a:pPr>
            <a:r>
              <a:t>We prove exactly when PTU pays off (&gt;70% load) versus PAYG, protecting customers from premature multi-year financial commitments.</a:t>
            </a:r>
          </a:p>
        </p:txBody>
      </p:sp>
      <p:sp>
        <p:nvSpPr>
          <p:cNvPr id="12" name="Rounded Rectangle 11"/>
          <p:cNvSpPr/>
          <p:nvPr/>
        </p:nvSpPr>
        <p:spPr>
          <a:xfrm>
            <a:off x="731520" y="3163824"/>
            <a:ext cx="10698480" cy="80467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273552"/>
            <a:ext cx="2926080" cy="548640"/>
          </a:xfrm>
          <a:prstGeom prst="rect">
            <a:avLst/>
          </a:prstGeom>
          <a:noFill/>
        </p:spPr>
        <p:txBody>
          <a:bodyPr wrap="square">
            <a:spAutoFit/>
          </a:bodyPr>
          <a:lstStyle/>
          <a:p>
            <a:pPr>
              <a:defRPr sz="1300" b="1">
                <a:solidFill>
                  <a:srgbClr val="0A192F"/>
                </a:solidFill>
              </a:defRPr>
            </a:pPr>
            <a:r>
              <a:t>3. 4-Layer Containment</a:t>
            </a:r>
          </a:p>
          <a:p>
            <a:pPr>
              <a:defRPr sz="1000" b="1">
                <a:solidFill>
                  <a:srgbClr val="0078D4"/>
                </a:solidFill>
              </a:defRPr>
            </a:pPr>
            <a:r>
              <a:t>Realistic Kill-Switch Limits</a:t>
            </a:r>
          </a:p>
        </p:txBody>
      </p:sp>
      <p:sp>
        <p:nvSpPr>
          <p:cNvPr id="14" name="TextBox 13"/>
          <p:cNvSpPr txBox="1"/>
          <p:nvPr/>
        </p:nvSpPr>
        <p:spPr>
          <a:xfrm>
            <a:off x="4023360" y="3300984"/>
            <a:ext cx="7132320" cy="548640"/>
          </a:xfrm>
          <a:prstGeom prst="rect">
            <a:avLst/>
          </a:prstGeom>
          <a:noFill/>
        </p:spPr>
        <p:txBody>
          <a:bodyPr wrap="square">
            <a:spAutoFit/>
          </a:bodyPr>
          <a:lstStyle/>
          <a:p>
            <a:pPr>
              <a:defRPr sz="1100">
                <a:solidFill>
                  <a:srgbClr val="0F172A"/>
                </a:solidFill>
              </a:defRPr>
            </a:pPr>
            <a:r>
              <a:t>We engineer multi-tier defense (APIM drop, container pause, Entra suspension) while candidly documenting proxy bypass limits.</a:t>
            </a:r>
          </a:p>
        </p:txBody>
      </p:sp>
      <p:sp>
        <p:nvSpPr>
          <p:cNvPr id="15" name="Rounded Rectangle 14"/>
          <p:cNvSpPr/>
          <p:nvPr/>
        </p:nvSpPr>
        <p:spPr>
          <a:xfrm>
            <a:off x="731520" y="4059936"/>
            <a:ext cx="10698480" cy="80467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169664"/>
            <a:ext cx="2926080" cy="548640"/>
          </a:xfrm>
          <a:prstGeom prst="rect">
            <a:avLst/>
          </a:prstGeom>
          <a:noFill/>
        </p:spPr>
        <p:txBody>
          <a:bodyPr wrap="square">
            <a:spAutoFit/>
          </a:bodyPr>
          <a:lstStyle/>
          <a:p>
            <a:pPr>
              <a:defRPr sz="1300" b="1">
                <a:solidFill>
                  <a:srgbClr val="0A192F"/>
                </a:solidFill>
              </a:defRPr>
            </a:pPr>
            <a:r>
              <a:t>4. Modular Entry Motion</a:t>
            </a:r>
          </a:p>
          <a:p>
            <a:pPr>
              <a:defRPr sz="1000" b="1">
                <a:solidFill>
                  <a:srgbClr val="0078D4"/>
                </a:solidFill>
              </a:defRPr>
            </a:pPr>
            <a:r>
              <a:t>Zero Mega-SOW Lock-in</a:t>
            </a:r>
          </a:p>
        </p:txBody>
      </p:sp>
      <p:sp>
        <p:nvSpPr>
          <p:cNvPr id="17" name="TextBox 16"/>
          <p:cNvSpPr txBox="1"/>
          <p:nvPr/>
        </p:nvSpPr>
        <p:spPr>
          <a:xfrm>
            <a:off x="4023360" y="4197096"/>
            <a:ext cx="7132320" cy="548640"/>
          </a:xfrm>
          <a:prstGeom prst="rect">
            <a:avLst/>
          </a:prstGeom>
          <a:noFill/>
        </p:spPr>
        <p:txBody>
          <a:bodyPr wrap="square">
            <a:spAutoFit/>
          </a:bodyPr>
          <a:lstStyle/>
          <a:p>
            <a:pPr>
              <a:defRPr sz="1100">
                <a:solidFill>
                  <a:srgbClr val="0F172A"/>
                </a:solidFill>
              </a:defRPr>
            </a:pPr>
            <a:r>
              <a:t>Customers enter through a discrete 3-week assessment; no multi-million dollar initial commitment required.</a:t>
            </a:r>
          </a:p>
        </p:txBody>
      </p:sp>
      <p:sp>
        <p:nvSpPr>
          <p:cNvPr id="18" name="Rounded Rectangle 17"/>
          <p:cNvSpPr/>
          <p:nvPr/>
        </p:nvSpPr>
        <p:spPr>
          <a:xfrm>
            <a:off x="731520" y="4956048"/>
            <a:ext cx="10698480" cy="804672"/>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5065776"/>
            <a:ext cx="2926080" cy="548640"/>
          </a:xfrm>
          <a:prstGeom prst="rect">
            <a:avLst/>
          </a:prstGeom>
          <a:noFill/>
        </p:spPr>
        <p:txBody>
          <a:bodyPr wrap="square">
            <a:spAutoFit/>
          </a:bodyPr>
          <a:lstStyle/>
          <a:p>
            <a:pPr>
              <a:defRPr sz="1300" b="1">
                <a:solidFill>
                  <a:srgbClr val="0A192F"/>
                </a:solidFill>
              </a:defRPr>
            </a:pPr>
            <a:r>
              <a:t>5. Proven Day-2 Runbooks</a:t>
            </a:r>
          </a:p>
          <a:p>
            <a:pPr>
              <a:defRPr sz="1000" b="1">
                <a:solidFill>
                  <a:srgbClr val="0078D4"/>
                </a:solidFill>
              </a:defRPr>
            </a:pPr>
            <a:r>
              <a:t>Seamless Run Handoff</a:t>
            </a:r>
          </a:p>
        </p:txBody>
      </p:sp>
      <p:sp>
        <p:nvSpPr>
          <p:cNvPr id="20" name="TextBox 19"/>
          <p:cNvSpPr txBox="1"/>
          <p:nvPr/>
        </p:nvSpPr>
        <p:spPr>
          <a:xfrm>
            <a:off x="4023360" y="5093208"/>
            <a:ext cx="7132320" cy="548640"/>
          </a:xfrm>
          <a:prstGeom prst="rect">
            <a:avLst/>
          </a:prstGeom>
          <a:noFill/>
        </p:spPr>
        <p:txBody>
          <a:bodyPr wrap="square">
            <a:spAutoFit/>
          </a:bodyPr>
          <a:lstStyle/>
          <a:p>
            <a:pPr>
              <a:defRPr sz="1100">
                <a:solidFill>
                  <a:srgbClr val="0F172A"/>
                </a:solidFill>
              </a:defRPr>
            </a:pPr>
            <a:r>
              <a:t>We don't build and walk away. Every platform transitions into formal 24x7 managed operations backed by named FTE rosters.</a:t>
            </a:r>
          </a:p>
        </p:txBody>
      </p:sp>
      <p:sp>
        <p:nvSpPr>
          <p:cNvPr id="21" name="TextBox 20"/>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Azure AI Platform Portfolio (Master) · Working proposal for senior leadership review · Slide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8 OF 10</a:t>
            </a:r>
          </a:p>
        </p:txBody>
      </p:sp>
      <p:sp>
        <p:nvSpPr>
          <p:cNvPr id="3" name="Rounded Rectangle 2"/>
          <p:cNvSpPr/>
          <p:nvPr/>
        </p:nvSpPr>
        <p:spPr>
          <a:xfrm>
            <a:off x="320040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MICROSOFT ALLIANCE</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08</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Microsoft gains consumption; we gain co-sold services</a:t>
            </a:r>
          </a:p>
        </p:txBody>
      </p:sp>
      <p:sp>
        <p:nvSpPr>
          <p:cNvPr id="6" name="Rounded Rectangle 5"/>
          <p:cNvSpPr/>
          <p:nvPr/>
        </p:nvSpPr>
        <p:spPr>
          <a:xfrm>
            <a:off x="731520" y="1371600"/>
            <a:ext cx="338328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371600"/>
            <a:ext cx="338328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05840" y="1645920"/>
            <a:ext cx="502920" cy="502920"/>
          </a:xfrm>
          <a:prstGeom prst="ellipse">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9" name="TextBox 8"/>
          <p:cNvSpPr txBox="1"/>
          <p:nvPr/>
        </p:nvSpPr>
        <p:spPr>
          <a:xfrm>
            <a:off x="1005840" y="2240280"/>
            <a:ext cx="2834640" cy="548640"/>
          </a:xfrm>
          <a:prstGeom prst="rect">
            <a:avLst/>
          </a:prstGeom>
          <a:noFill/>
        </p:spPr>
        <p:txBody>
          <a:bodyPr wrap="square">
            <a:spAutoFit/>
          </a:bodyPr>
          <a:lstStyle/>
          <a:p>
            <a:pPr>
              <a:defRPr sz="1600" b="1">
                <a:solidFill>
                  <a:srgbClr val="0A192F"/>
                </a:solidFill>
              </a:defRPr>
            </a:pPr>
            <a:r>
              <a:t>Microsoft Partner Funding</a:t>
            </a:r>
          </a:p>
          <a:p>
            <a:pPr>
              <a:defRPr sz="1000">
                <a:solidFill>
                  <a:srgbClr val="64748B"/>
                </a:solidFill>
              </a:defRPr>
            </a:pPr>
            <a:r>
              <a:t>Azure Innovate &amp; ECIF Funding</a:t>
            </a:r>
          </a:p>
        </p:txBody>
      </p:sp>
      <p:sp>
        <p:nvSpPr>
          <p:cNvPr id="10" name="TextBox 9"/>
          <p:cNvSpPr txBox="1"/>
          <p:nvPr/>
        </p:nvSpPr>
        <p:spPr>
          <a:xfrm>
            <a:off x="1005840" y="2880360"/>
            <a:ext cx="2834640" cy="594360"/>
          </a:xfrm>
          <a:prstGeom prst="rect">
            <a:avLst/>
          </a:prstGeom>
          <a:noFill/>
        </p:spPr>
        <p:txBody>
          <a:bodyPr wrap="none">
            <a:spAutoFit/>
          </a:bodyPr>
          <a:lstStyle/>
          <a:p>
            <a:pPr>
              <a:defRPr sz="2600" b="1">
                <a:solidFill>
                  <a:srgbClr val="0078D4"/>
                </a:solidFill>
              </a:defRPr>
            </a:pPr>
            <a:r>
              <a:t>$15k-$45k</a:t>
            </a:r>
          </a:p>
          <a:p>
            <a:pPr>
              <a:defRPr sz="900" b="1">
                <a:solidFill>
                  <a:srgbClr val="64748B"/>
                </a:solidFill>
              </a:defRPr>
            </a:pPr>
            <a:r>
              <a:t>Funding Contribution</a:t>
            </a:r>
          </a:p>
        </p:txBody>
      </p:sp>
      <p:sp>
        <p:nvSpPr>
          <p:cNvPr id="11" name="TextBox 10"/>
          <p:cNvSpPr txBox="1"/>
          <p:nvPr/>
        </p:nvSpPr>
        <p:spPr>
          <a:xfrm>
            <a:off x="1005840" y="3566160"/>
            <a:ext cx="2834640" cy="1554480"/>
          </a:xfrm>
          <a:prstGeom prst="rect">
            <a:avLst/>
          </a:prstGeom>
          <a:noFill/>
        </p:spPr>
        <p:txBody>
          <a:bodyPr wrap="square">
            <a:spAutoFit/>
          </a:bodyPr>
          <a:lstStyle/>
          <a:p>
            <a:pPr>
              <a:defRPr sz="1100">
                <a:solidFill>
                  <a:srgbClr val="0F172A"/>
                </a:solidFill>
              </a:defRPr>
            </a:pPr>
            <a:r>
              <a:t>Tap Microsoft Azure Innovate and partner programs to co-fund customer assessments, drastically lowering barrier to entry.</a:t>
            </a:r>
          </a:p>
        </p:txBody>
      </p:sp>
      <p:sp>
        <p:nvSpPr>
          <p:cNvPr id="12" name="Rounded Rectangle 11"/>
          <p:cNvSpPr/>
          <p:nvPr/>
        </p:nvSpPr>
        <p:spPr>
          <a:xfrm>
            <a:off x="4389120" y="1371600"/>
            <a:ext cx="338328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1371600"/>
            <a:ext cx="338328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3440" y="1645920"/>
            <a:ext cx="502920" cy="502920"/>
          </a:xfrm>
          <a:prstGeom prst="ellipse">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5" name="TextBox 14"/>
          <p:cNvSpPr txBox="1"/>
          <p:nvPr/>
        </p:nvSpPr>
        <p:spPr>
          <a:xfrm>
            <a:off x="4663440" y="2240280"/>
            <a:ext cx="2834640" cy="548640"/>
          </a:xfrm>
          <a:prstGeom prst="rect">
            <a:avLst/>
          </a:prstGeom>
          <a:noFill/>
        </p:spPr>
        <p:txBody>
          <a:bodyPr wrap="square">
            <a:spAutoFit/>
          </a:bodyPr>
          <a:lstStyle/>
          <a:p>
            <a:pPr>
              <a:defRPr sz="1600" b="1">
                <a:solidFill>
                  <a:srgbClr val="0A192F"/>
                </a:solidFill>
              </a:defRPr>
            </a:pPr>
            <a:r>
              <a:t>Marketplace Transact</a:t>
            </a:r>
          </a:p>
          <a:p>
            <a:pPr>
              <a:defRPr sz="1000">
                <a:solidFill>
                  <a:srgbClr val="64748B"/>
                </a:solidFill>
              </a:defRPr>
            </a:pPr>
            <a:r>
              <a:t>MACC Spend Drawdown</a:t>
            </a:r>
          </a:p>
        </p:txBody>
      </p:sp>
      <p:sp>
        <p:nvSpPr>
          <p:cNvPr id="16" name="TextBox 15"/>
          <p:cNvSpPr txBox="1"/>
          <p:nvPr/>
        </p:nvSpPr>
        <p:spPr>
          <a:xfrm>
            <a:off x="4663440" y="2880360"/>
            <a:ext cx="2834640" cy="594360"/>
          </a:xfrm>
          <a:prstGeom prst="rect">
            <a:avLst/>
          </a:prstGeom>
          <a:noFill/>
        </p:spPr>
        <p:txBody>
          <a:bodyPr wrap="none">
            <a:spAutoFit/>
          </a:bodyPr>
          <a:lstStyle/>
          <a:p>
            <a:pPr>
              <a:defRPr sz="2600" b="1">
                <a:solidFill>
                  <a:srgbClr val="00A389"/>
                </a:solidFill>
              </a:defRPr>
            </a:pPr>
            <a:r>
              <a:t>100%</a:t>
            </a:r>
          </a:p>
          <a:p>
            <a:pPr>
              <a:defRPr sz="900" b="1">
                <a:solidFill>
                  <a:srgbClr val="64748B"/>
                </a:solidFill>
              </a:defRPr>
            </a:pPr>
            <a:r>
              <a:t>MACC Eligible</a:t>
            </a:r>
          </a:p>
        </p:txBody>
      </p:sp>
      <p:sp>
        <p:nvSpPr>
          <p:cNvPr id="17" name="TextBox 16"/>
          <p:cNvSpPr txBox="1"/>
          <p:nvPr/>
        </p:nvSpPr>
        <p:spPr>
          <a:xfrm>
            <a:off x="4663440" y="3566160"/>
            <a:ext cx="2834640" cy="1554480"/>
          </a:xfrm>
          <a:prstGeom prst="rect">
            <a:avLst/>
          </a:prstGeom>
          <a:noFill/>
        </p:spPr>
        <p:txBody>
          <a:bodyPr wrap="square">
            <a:spAutoFit/>
          </a:bodyPr>
          <a:lstStyle/>
          <a:p>
            <a:pPr>
              <a:defRPr sz="1100">
                <a:solidFill>
                  <a:srgbClr val="0F172A"/>
                </a:solidFill>
              </a:defRPr>
            </a:pPr>
            <a:r>
              <a:t>Publish packaged CIS Infra offerings on Azure Marketplace to allow enterprise customers to draw down existing Microsoft commit budgets.</a:t>
            </a:r>
          </a:p>
        </p:txBody>
      </p:sp>
      <p:sp>
        <p:nvSpPr>
          <p:cNvPr id="18" name="Rounded Rectangle 17"/>
          <p:cNvSpPr/>
          <p:nvPr/>
        </p:nvSpPr>
        <p:spPr>
          <a:xfrm>
            <a:off x="8046720" y="1371600"/>
            <a:ext cx="338328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20" y="1371600"/>
            <a:ext cx="3383280" cy="73152"/>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321040" y="1645920"/>
            <a:ext cx="502920" cy="502920"/>
          </a:xfrm>
          <a:prstGeom prst="ellipse">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21" name="TextBox 20"/>
          <p:cNvSpPr txBox="1"/>
          <p:nvPr/>
        </p:nvSpPr>
        <p:spPr>
          <a:xfrm>
            <a:off x="8321040" y="2240280"/>
            <a:ext cx="2834640" cy="548640"/>
          </a:xfrm>
          <a:prstGeom prst="rect">
            <a:avLst/>
          </a:prstGeom>
          <a:noFill/>
        </p:spPr>
        <p:txBody>
          <a:bodyPr wrap="square">
            <a:spAutoFit/>
          </a:bodyPr>
          <a:lstStyle/>
          <a:p>
            <a:pPr>
              <a:defRPr sz="1600" b="1">
                <a:solidFill>
                  <a:srgbClr val="0A192F"/>
                </a:solidFill>
              </a:defRPr>
            </a:pPr>
            <a:r>
              <a:t>Co-Sell Prioritization</a:t>
            </a:r>
          </a:p>
          <a:p>
            <a:pPr>
              <a:defRPr sz="1000">
                <a:solidFill>
                  <a:srgbClr val="64748B"/>
                </a:solidFill>
              </a:defRPr>
            </a:pPr>
            <a:r>
              <a:t>Unblocking AI Consumption</a:t>
            </a:r>
          </a:p>
        </p:txBody>
      </p:sp>
      <p:sp>
        <p:nvSpPr>
          <p:cNvPr id="22" name="TextBox 21"/>
          <p:cNvSpPr txBox="1"/>
          <p:nvPr/>
        </p:nvSpPr>
        <p:spPr>
          <a:xfrm>
            <a:off x="8321040" y="2880360"/>
            <a:ext cx="2834640" cy="594360"/>
          </a:xfrm>
          <a:prstGeom prst="rect">
            <a:avLst/>
          </a:prstGeom>
          <a:noFill/>
        </p:spPr>
        <p:txBody>
          <a:bodyPr wrap="none">
            <a:spAutoFit/>
          </a:bodyPr>
          <a:lstStyle/>
          <a:p>
            <a:pPr>
              <a:defRPr sz="2600" b="1">
                <a:solidFill>
                  <a:srgbClr val="0A192F"/>
                </a:solidFill>
              </a:defRPr>
            </a:pPr>
            <a:r>
              <a:t>3X ARR</a:t>
            </a:r>
          </a:p>
          <a:p>
            <a:pPr>
              <a:defRPr sz="900" b="1">
                <a:solidFill>
                  <a:srgbClr val="64748B"/>
                </a:solidFill>
              </a:defRPr>
            </a:pPr>
            <a:r>
              <a:t>Consumption Multiplier</a:t>
            </a:r>
          </a:p>
        </p:txBody>
      </p:sp>
      <p:sp>
        <p:nvSpPr>
          <p:cNvPr id="23" name="TextBox 22"/>
          <p:cNvSpPr txBox="1"/>
          <p:nvPr/>
        </p:nvSpPr>
        <p:spPr>
          <a:xfrm>
            <a:off x="8321040" y="3566160"/>
            <a:ext cx="2834640" cy="1554480"/>
          </a:xfrm>
          <a:prstGeom prst="rect">
            <a:avLst/>
          </a:prstGeom>
          <a:noFill/>
        </p:spPr>
        <p:txBody>
          <a:bodyPr wrap="square">
            <a:spAutoFit/>
          </a:bodyPr>
          <a:lstStyle/>
          <a:p>
            <a:pPr>
              <a:defRPr sz="1100">
                <a:solidFill>
                  <a:srgbClr val="0F172A"/>
                </a:solidFill>
              </a:defRPr>
            </a:pPr>
            <a:r>
              <a:t>Microsoft sales teams prioritize partners who unblock stuck generative AI workloads, fueling high-velocity GPU and model consumption.</a:t>
            </a:r>
          </a:p>
        </p:txBody>
      </p:sp>
      <p:sp>
        <p:nvSpPr>
          <p:cNvPr id="24" name="Rounded Rectangle 23"/>
          <p:cNvSpPr/>
          <p:nvPr/>
        </p:nvSpPr>
        <p:spPr>
          <a:xfrm>
            <a:off x="731520" y="5440680"/>
            <a:ext cx="10698480" cy="777240"/>
          </a:xfrm>
          <a:prstGeom prst="roundRect">
            <a:avLst/>
          </a:prstGeom>
          <a:solidFill>
            <a:srgbClr val="EFF6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0078D4"/>
                </a:solidFill>
              </a:rPr>
              <a:t>PARTNER ALIGNMENT PRINCIPLE: </a:t>
            </a:r>
            <a:r>
              <a:rPr sz="1100">
                <a:solidFill>
                  <a:srgbClr val="0A192F"/>
                </a:solidFill>
              </a:rPr>
              <a:t>We never position against Microsoft native tooling. We position CIS Infra as the systems integrator that configures, extends, and operates native Azure AI capabilities into production-ready enterprise environments.</a:t>
            </a:r>
          </a:p>
        </p:txBody>
      </p:sp>
      <p:sp>
        <p:nvSpPr>
          <p:cNvPr id="25" name="TextBox 24"/>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Azure AI Platform Portfolio (Master) · Working proposal for senior leadership review · Slide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9 OF 10</a:t>
            </a:r>
          </a:p>
        </p:txBody>
      </p:sp>
      <p:sp>
        <p:nvSpPr>
          <p:cNvPr id="3" name="Rounded Rectangle 2"/>
          <p:cNvSpPr/>
          <p:nvPr/>
        </p:nvSpPr>
        <p:spPr>
          <a:xfrm>
            <a:off x="320040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RISK MANAGEMENT</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09</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Capacity access, tower OLAs and customer CAB decide delivery</a:t>
            </a:r>
          </a:p>
        </p:txBody>
      </p:sp>
      <p:sp>
        <p:nvSpPr>
          <p:cNvPr id="6" name="Rounded Rectangle 5"/>
          <p:cNvSpPr/>
          <p:nvPr/>
        </p:nvSpPr>
        <p:spPr>
          <a:xfrm>
            <a:off x="731520" y="1463040"/>
            <a:ext cx="5212080" cy="1920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463040"/>
            <a:ext cx="5212080" cy="5486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0120" y="1645920"/>
            <a:ext cx="411480" cy="411480"/>
          </a:xfrm>
          <a:prstGeom prst="ellipse">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a:pPr>
            <a:r>
              <a:t>⚠️</a:t>
            </a:r>
          </a:p>
        </p:txBody>
      </p:sp>
      <p:sp>
        <p:nvSpPr>
          <p:cNvPr id="9" name="TextBox 8"/>
          <p:cNvSpPr txBox="1"/>
          <p:nvPr/>
        </p:nvSpPr>
        <p:spPr>
          <a:xfrm>
            <a:off x="1508760" y="1600200"/>
            <a:ext cx="4206240" cy="320040"/>
          </a:xfrm>
          <a:prstGeom prst="rect">
            <a:avLst/>
          </a:prstGeom>
          <a:noFill/>
        </p:spPr>
        <p:txBody>
          <a:bodyPr wrap="none">
            <a:spAutoFit/>
          </a:bodyPr>
          <a:lstStyle/>
          <a:p>
            <a:pPr>
              <a:defRPr sz="1400" b="1">
                <a:solidFill>
                  <a:srgbClr val="0A192F"/>
                </a:solidFill>
              </a:defRPr>
            </a:pPr>
            <a:r>
              <a:t>Unfunded Platform Risk</a:t>
            </a:r>
          </a:p>
        </p:txBody>
      </p:sp>
      <p:sp>
        <p:nvSpPr>
          <p:cNvPr id="10" name="TextBox 9"/>
          <p:cNvSpPr txBox="1"/>
          <p:nvPr/>
        </p:nvSpPr>
        <p:spPr>
          <a:xfrm>
            <a:off x="960120" y="2103120"/>
            <a:ext cx="4754880" cy="1188720"/>
          </a:xfrm>
          <a:prstGeom prst="rect">
            <a:avLst/>
          </a:prstGeom>
          <a:noFill/>
        </p:spPr>
        <p:txBody>
          <a:bodyPr wrap="square">
            <a:spAutoFit/>
          </a:bodyPr>
          <a:lstStyle/>
          <a:p>
            <a:pPr>
              <a:defRPr sz="1100">
                <a:solidFill>
                  <a:srgbClr val="0F172A"/>
                </a:solidFill>
              </a:defRPr>
            </a:pPr>
            <a:r>
              <a:t>Building generic landing zones without an approved workload results in idle infrastructure.</a:t>
            </a:r>
          </a:p>
          <a:p>
            <a:pPr>
              <a:spcBef>
                <a:spcPts val="400"/>
              </a:spcBef>
              <a:defRPr sz="1100" b="1">
                <a:solidFill>
                  <a:srgbClr val="D97706"/>
                </a:solidFill>
              </a:defRPr>
            </a:pPr>
            <a:r>
              <a:t>MITIGATION: Require a named, funded business workload before kickoff.</a:t>
            </a:r>
          </a:p>
          <a:p>
            <a:pPr>
              <a:defRPr sz="1000">
                <a:solidFill>
                  <a:srgbClr val="64748B"/>
                </a:solidFill>
              </a:defRPr>
            </a:pPr>
            <a:r>
              <a:t>Owner: Account Lead</a:t>
            </a:r>
          </a:p>
        </p:txBody>
      </p:sp>
      <p:sp>
        <p:nvSpPr>
          <p:cNvPr id="11" name="Rounded Rectangle 10"/>
          <p:cNvSpPr/>
          <p:nvPr/>
        </p:nvSpPr>
        <p:spPr>
          <a:xfrm>
            <a:off x="6217920" y="1463040"/>
            <a:ext cx="5212080" cy="1920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463040"/>
            <a:ext cx="5212080" cy="54864"/>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46520" y="1645920"/>
            <a:ext cx="411480" cy="411480"/>
          </a:xfrm>
          <a:prstGeom prst="ellipse">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a:pPr>
            <a:r>
              <a:t>📉</a:t>
            </a:r>
          </a:p>
        </p:txBody>
      </p:sp>
      <p:sp>
        <p:nvSpPr>
          <p:cNvPr id="14" name="TextBox 13"/>
          <p:cNvSpPr txBox="1"/>
          <p:nvPr/>
        </p:nvSpPr>
        <p:spPr>
          <a:xfrm>
            <a:off x="6995160" y="1600200"/>
            <a:ext cx="4206240" cy="320040"/>
          </a:xfrm>
          <a:prstGeom prst="rect">
            <a:avLst/>
          </a:prstGeom>
          <a:noFill/>
        </p:spPr>
        <p:txBody>
          <a:bodyPr wrap="none">
            <a:spAutoFit/>
          </a:bodyPr>
          <a:lstStyle/>
          <a:p>
            <a:pPr>
              <a:defRPr sz="1400" b="1">
                <a:solidFill>
                  <a:srgbClr val="0A192F"/>
                </a:solidFill>
              </a:defRPr>
            </a:pPr>
            <a:r>
              <a:t>Azure Quota &amp; Capacity</a:t>
            </a:r>
          </a:p>
        </p:txBody>
      </p:sp>
      <p:sp>
        <p:nvSpPr>
          <p:cNvPr id="15" name="TextBox 14"/>
          <p:cNvSpPr txBox="1"/>
          <p:nvPr/>
        </p:nvSpPr>
        <p:spPr>
          <a:xfrm>
            <a:off x="6446520" y="2103120"/>
            <a:ext cx="4754880" cy="1188720"/>
          </a:xfrm>
          <a:prstGeom prst="rect">
            <a:avLst/>
          </a:prstGeom>
          <a:noFill/>
        </p:spPr>
        <p:txBody>
          <a:bodyPr wrap="square">
            <a:spAutoFit/>
          </a:bodyPr>
          <a:lstStyle/>
          <a:p>
            <a:pPr>
              <a:defRPr sz="1100">
                <a:solidFill>
                  <a:srgbClr val="0F172A"/>
                </a:solidFill>
              </a:defRPr>
            </a:pPr>
            <a:r>
              <a:t>Customer subscription lacks required model deployment capacity or PTU allocation.</a:t>
            </a:r>
          </a:p>
          <a:p>
            <a:pPr>
              <a:spcBef>
                <a:spcPts val="400"/>
              </a:spcBef>
              <a:defRPr sz="1100" b="1">
                <a:solidFill>
                  <a:srgbClr val="D83B01"/>
                </a:solidFill>
              </a:defRPr>
            </a:pPr>
            <a:r>
              <a:t>MITIGATION: Pre-qualify subscription quotas during discovery phase.</a:t>
            </a:r>
          </a:p>
          <a:p>
            <a:pPr>
              <a:defRPr sz="1000">
                <a:solidFill>
                  <a:srgbClr val="64748B"/>
                </a:solidFill>
              </a:defRPr>
            </a:pPr>
            <a:r>
              <a:t>Owner: Solution Architect</a:t>
            </a:r>
          </a:p>
        </p:txBody>
      </p:sp>
      <p:sp>
        <p:nvSpPr>
          <p:cNvPr id="16" name="Rounded Rectangle 15"/>
          <p:cNvSpPr/>
          <p:nvPr/>
        </p:nvSpPr>
        <p:spPr>
          <a:xfrm>
            <a:off x="731520" y="3566160"/>
            <a:ext cx="5212080" cy="1920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566160"/>
            <a:ext cx="5212080"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0120" y="3749040"/>
            <a:ext cx="411480" cy="411480"/>
          </a:xfrm>
          <a:prstGeom prst="ellipse">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a:pPr>
            <a:r>
              <a:t>👥</a:t>
            </a:r>
          </a:p>
        </p:txBody>
      </p:sp>
      <p:sp>
        <p:nvSpPr>
          <p:cNvPr id="19" name="TextBox 18"/>
          <p:cNvSpPr txBox="1"/>
          <p:nvPr/>
        </p:nvSpPr>
        <p:spPr>
          <a:xfrm>
            <a:off x="1508760" y="3703320"/>
            <a:ext cx="4206240" cy="320040"/>
          </a:xfrm>
          <a:prstGeom prst="rect">
            <a:avLst/>
          </a:prstGeom>
          <a:noFill/>
        </p:spPr>
        <p:txBody>
          <a:bodyPr wrap="none">
            <a:spAutoFit/>
          </a:bodyPr>
          <a:lstStyle/>
          <a:p>
            <a:pPr>
              <a:defRPr sz="1400" b="1">
                <a:solidFill>
                  <a:srgbClr val="0A192F"/>
                </a:solidFill>
              </a:defRPr>
            </a:pPr>
            <a:r>
              <a:t>Inter-Tower Delivery Handoffs</a:t>
            </a:r>
          </a:p>
        </p:txBody>
      </p:sp>
      <p:sp>
        <p:nvSpPr>
          <p:cNvPr id="20" name="TextBox 19"/>
          <p:cNvSpPr txBox="1"/>
          <p:nvPr/>
        </p:nvSpPr>
        <p:spPr>
          <a:xfrm>
            <a:off x="960120" y="4206240"/>
            <a:ext cx="4754880" cy="1188720"/>
          </a:xfrm>
          <a:prstGeom prst="rect">
            <a:avLst/>
          </a:prstGeom>
          <a:noFill/>
        </p:spPr>
        <p:txBody>
          <a:bodyPr wrap="square">
            <a:spAutoFit/>
          </a:bodyPr>
          <a:lstStyle/>
          <a:p>
            <a:pPr>
              <a:defRPr sz="1100">
                <a:solidFill>
                  <a:srgbClr val="0F172A"/>
                </a:solidFill>
              </a:defRPr>
            </a:pPr>
            <a:r>
              <a:t>Delivery slips due to unagreed boundary between Infra, Security, and DevOps towers.</a:t>
            </a:r>
          </a:p>
          <a:p>
            <a:pPr>
              <a:spcBef>
                <a:spcPts val="400"/>
              </a:spcBef>
              <a:defRPr sz="1100" b="1">
                <a:solidFill>
                  <a:srgbClr val="0078D4"/>
                </a:solidFill>
              </a:defRPr>
            </a:pPr>
            <a:r>
              <a:t>MITIGATION: Execute formal internal OLAs and agreed work packages.</a:t>
            </a:r>
          </a:p>
          <a:p>
            <a:pPr>
              <a:defRPr sz="1000">
                <a:solidFill>
                  <a:srgbClr val="64748B"/>
                </a:solidFill>
              </a:defRPr>
            </a:pPr>
            <a:r>
              <a:t>Owner: CIS Delivery Lead</a:t>
            </a:r>
          </a:p>
        </p:txBody>
      </p:sp>
      <p:sp>
        <p:nvSpPr>
          <p:cNvPr id="21" name="Rounded Rectangle 20"/>
          <p:cNvSpPr/>
          <p:nvPr/>
        </p:nvSpPr>
        <p:spPr>
          <a:xfrm>
            <a:off x="6217920" y="3566160"/>
            <a:ext cx="5212080" cy="1920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3566160"/>
            <a:ext cx="5212080" cy="54864"/>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46520" y="3749040"/>
            <a:ext cx="411480" cy="411480"/>
          </a:xfrm>
          <a:prstGeom prst="ellipse">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a:pPr>
            <a:r>
              <a:t>⏱️</a:t>
            </a:r>
          </a:p>
        </p:txBody>
      </p:sp>
      <p:sp>
        <p:nvSpPr>
          <p:cNvPr id="24" name="TextBox 23"/>
          <p:cNvSpPr txBox="1"/>
          <p:nvPr/>
        </p:nvSpPr>
        <p:spPr>
          <a:xfrm>
            <a:off x="6995160" y="3703320"/>
            <a:ext cx="4206240" cy="320040"/>
          </a:xfrm>
          <a:prstGeom prst="rect">
            <a:avLst/>
          </a:prstGeom>
          <a:noFill/>
        </p:spPr>
        <p:txBody>
          <a:bodyPr wrap="none">
            <a:spAutoFit/>
          </a:bodyPr>
          <a:lstStyle/>
          <a:p>
            <a:pPr>
              <a:defRPr sz="1400" b="1">
                <a:solidFill>
                  <a:srgbClr val="0A192F"/>
                </a:solidFill>
              </a:defRPr>
            </a:pPr>
            <a:r>
              <a:t>Customer CAB Delays</a:t>
            </a:r>
          </a:p>
        </p:txBody>
      </p:sp>
      <p:sp>
        <p:nvSpPr>
          <p:cNvPr id="25" name="TextBox 24"/>
          <p:cNvSpPr txBox="1"/>
          <p:nvPr/>
        </p:nvSpPr>
        <p:spPr>
          <a:xfrm>
            <a:off x="6446520" y="4206240"/>
            <a:ext cx="4754880" cy="1188720"/>
          </a:xfrm>
          <a:prstGeom prst="rect">
            <a:avLst/>
          </a:prstGeom>
          <a:noFill/>
        </p:spPr>
        <p:txBody>
          <a:bodyPr wrap="square">
            <a:spAutoFit/>
          </a:bodyPr>
          <a:lstStyle/>
          <a:p>
            <a:pPr>
              <a:defRPr sz="1100">
                <a:solidFill>
                  <a:srgbClr val="0F172A"/>
                </a:solidFill>
              </a:defRPr>
            </a:pPr>
            <a:r>
              <a:t>Firewall rules and private DNS records stall in multi-week customer CAB queues.</a:t>
            </a:r>
          </a:p>
          <a:p>
            <a:pPr>
              <a:spcBef>
                <a:spcPts val="400"/>
              </a:spcBef>
              <a:defRPr sz="1100" b="1">
                <a:solidFill>
                  <a:srgbClr val="00A389"/>
                </a:solidFill>
              </a:defRPr>
            </a:pPr>
            <a:r>
              <a:t>MITIGATION: Establish pre-scheduled change windows and customer prerequisites.</a:t>
            </a:r>
          </a:p>
          <a:p>
            <a:pPr>
              <a:defRPr sz="1000">
                <a:solidFill>
                  <a:srgbClr val="64748B"/>
                </a:solidFill>
              </a:defRPr>
            </a:pPr>
            <a:r>
              <a:t>Owner: Project Manager</a:t>
            </a:r>
          </a:p>
        </p:txBody>
      </p:sp>
      <p:sp>
        <p:nvSpPr>
          <p:cNvPr id="26" name="Rounded Rectangle 25"/>
          <p:cNvSpPr/>
          <p:nvPr/>
        </p:nvSpPr>
        <p:spPr>
          <a:xfrm>
            <a:off x="731520" y="5669280"/>
            <a:ext cx="10698480" cy="54864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A192F"/>
                </a:solidFill>
              </a:defRPr>
            </a:pPr>
            <a:r>
              <a:t>PORTFOLIO RISK GOVERNANCE: Explicit ownership prevents boundary drift. Every identified operational or commercial risk has a designated accountable practice leader.</a:t>
            </a:r>
          </a:p>
        </p:txBody>
      </p:sp>
      <p:sp>
        <p:nvSpPr>
          <p:cNvPr id="27" name="TextBox 26"/>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Azure AI Platform Portfolio (Master) · Working proposal for senior leadership review · Slide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320040"/>
            <a:ext cx="2377440" cy="256032"/>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EXECUTIVE SUMMARY · 10 OF 10</a:t>
            </a:r>
          </a:p>
        </p:txBody>
      </p:sp>
      <p:sp>
        <p:nvSpPr>
          <p:cNvPr id="3" name="Rounded Rectangle 2"/>
          <p:cNvSpPr/>
          <p:nvPr/>
        </p:nvSpPr>
        <p:spPr>
          <a:xfrm>
            <a:off x="3200400" y="320040"/>
            <a:ext cx="2560320" cy="256032"/>
          </a:xfrm>
          <a:prstGeom prst="round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defRPr>
            </a:pPr>
            <a:r>
              <a:t>LEADERSHIP SIGN-OFF</a:t>
            </a:r>
          </a:p>
        </p:txBody>
      </p:sp>
      <p:sp>
        <p:nvSpPr>
          <p:cNvPr id="4" name="Rounded Rectangle 3"/>
          <p:cNvSpPr/>
          <p:nvPr/>
        </p:nvSpPr>
        <p:spPr>
          <a:xfrm>
            <a:off x="10789920" y="320040"/>
            <a:ext cx="640080" cy="256032"/>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F172A"/>
                </a:solidFill>
              </a:defRPr>
            </a:pPr>
            <a:r>
              <a:t>10</a:t>
            </a:r>
          </a:p>
        </p:txBody>
      </p:sp>
      <p:sp>
        <p:nvSpPr>
          <p:cNvPr id="5" name="TextBox 4"/>
          <p:cNvSpPr txBox="1"/>
          <p:nvPr/>
        </p:nvSpPr>
        <p:spPr>
          <a:xfrm>
            <a:off x="731520" y="640080"/>
            <a:ext cx="10698480" cy="594360"/>
          </a:xfrm>
          <a:prstGeom prst="rect">
            <a:avLst/>
          </a:prstGeom>
          <a:noFill/>
        </p:spPr>
        <p:txBody>
          <a:bodyPr wrap="square" lIns="0" tIns="0" rIns="0" bIns="0">
            <a:spAutoFit/>
          </a:bodyPr>
          <a:lstStyle/>
          <a:p>
            <a:pPr>
              <a:defRPr sz="2200" b="1">
                <a:solidFill>
                  <a:srgbClr val="0A192F"/>
                </a:solidFill>
              </a:defRPr>
            </a:pPr>
            <a:r>
              <a:t>Decide today: which offerings, who owns them, what budget</a:t>
            </a:r>
          </a:p>
        </p:txBody>
      </p:sp>
      <p:sp>
        <p:nvSpPr>
          <p:cNvPr id="6" name="Rounded Rectangle 5"/>
          <p:cNvSpPr/>
          <p:nvPr/>
        </p:nvSpPr>
        <p:spPr>
          <a:xfrm>
            <a:off x="731520" y="1280160"/>
            <a:ext cx="10698480" cy="457200"/>
          </a:xfrm>
          <a:prstGeom prst="round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90-DAY VALIDATION PLAN · FOUR CONCRETE SIGN-OFF DECISIONS REQUESTED TODAY</a:t>
            </a:r>
          </a:p>
        </p:txBody>
      </p:sp>
      <p:sp>
        <p:nvSpPr>
          <p:cNvPr id="7" name="Rounded Rectangle 6"/>
          <p:cNvSpPr/>
          <p:nvPr/>
        </p:nvSpPr>
        <p:spPr>
          <a:xfrm>
            <a:off x="731520" y="1920240"/>
            <a:ext cx="2560320" cy="4297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20240"/>
            <a:ext cx="256032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148840"/>
            <a:ext cx="502920" cy="502920"/>
          </a:xfrm>
          <a:prstGeom prst="ellipse">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0" name="TextBox 9"/>
          <p:cNvSpPr txBox="1"/>
          <p:nvPr/>
        </p:nvSpPr>
        <p:spPr>
          <a:xfrm>
            <a:off x="960120" y="2788920"/>
            <a:ext cx="2103120" cy="365760"/>
          </a:xfrm>
          <a:prstGeom prst="rect">
            <a:avLst/>
          </a:prstGeom>
          <a:noFill/>
        </p:spPr>
        <p:txBody>
          <a:bodyPr wrap="none">
            <a:spAutoFit/>
          </a:bodyPr>
          <a:lstStyle/>
          <a:p>
            <a:pPr>
              <a:defRPr sz="1200" b="1">
                <a:solidFill>
                  <a:srgbClr val="0A192F"/>
                </a:solidFill>
              </a:defRPr>
            </a:pPr>
            <a:r>
              <a:t>1. Scope Selection</a:t>
            </a:r>
          </a:p>
        </p:txBody>
      </p:sp>
      <p:sp>
        <p:nvSpPr>
          <p:cNvPr id="11" name="TextBox 10"/>
          <p:cNvSpPr txBox="1"/>
          <p:nvPr/>
        </p:nvSpPr>
        <p:spPr>
          <a:xfrm>
            <a:off x="960120" y="3154680"/>
            <a:ext cx="2103120" cy="594360"/>
          </a:xfrm>
          <a:prstGeom prst="rect">
            <a:avLst/>
          </a:prstGeom>
          <a:noFill/>
        </p:spPr>
        <p:txBody>
          <a:bodyPr wrap="square">
            <a:spAutoFit/>
          </a:bodyPr>
          <a:lstStyle/>
          <a:p>
            <a:pPr>
              <a:defRPr sz="1500" b="1">
                <a:solidFill>
                  <a:srgbClr val="0078D4"/>
                </a:solidFill>
              </a:defRPr>
            </a:pPr>
            <a:r>
              <a:t>Select Offerings to Test</a:t>
            </a:r>
          </a:p>
        </p:txBody>
      </p:sp>
      <p:sp>
        <p:nvSpPr>
          <p:cNvPr id="12" name="TextBox 11"/>
          <p:cNvSpPr txBox="1"/>
          <p:nvPr/>
        </p:nvSpPr>
        <p:spPr>
          <a:xfrm>
            <a:off x="960120" y="3840480"/>
            <a:ext cx="2103120" cy="2194560"/>
          </a:xfrm>
          <a:prstGeom prst="rect">
            <a:avLst/>
          </a:prstGeom>
          <a:noFill/>
        </p:spPr>
        <p:txBody>
          <a:bodyPr wrap="square">
            <a:spAutoFit/>
          </a:bodyPr>
          <a:lstStyle/>
          <a:p>
            <a:pPr>
              <a:defRPr sz="1100">
                <a:solidFill>
                  <a:srgbClr val="0F172A"/>
                </a:solidFill>
              </a:defRPr>
            </a:pPr>
            <a:r>
              <a:t>Confirm which offerings to launch into 90-day pursuit validation. Author recommends prioritizing Offering 04 (FinOps) and Offering 03 (AI Gateway).</a:t>
            </a:r>
          </a:p>
        </p:txBody>
      </p:sp>
      <p:sp>
        <p:nvSpPr>
          <p:cNvPr id="13" name="Rounded Rectangle 12"/>
          <p:cNvSpPr/>
          <p:nvPr/>
        </p:nvSpPr>
        <p:spPr>
          <a:xfrm>
            <a:off x="3474720" y="1920240"/>
            <a:ext cx="2560320" cy="4297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74720" y="1920240"/>
            <a:ext cx="2560320" cy="73152"/>
          </a:xfrm>
          <a:prstGeom prst="rect">
            <a:avLst/>
          </a:prstGeom>
          <a:solidFill>
            <a:srgbClr val="00A3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03320" y="2148840"/>
            <a:ext cx="502920" cy="502920"/>
          </a:xfrm>
          <a:prstGeom prst="ellipse">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6" name="TextBox 15"/>
          <p:cNvSpPr txBox="1"/>
          <p:nvPr/>
        </p:nvSpPr>
        <p:spPr>
          <a:xfrm>
            <a:off x="3703320" y="2788920"/>
            <a:ext cx="2103120" cy="365760"/>
          </a:xfrm>
          <a:prstGeom prst="rect">
            <a:avLst/>
          </a:prstGeom>
          <a:noFill/>
        </p:spPr>
        <p:txBody>
          <a:bodyPr wrap="none">
            <a:spAutoFit/>
          </a:bodyPr>
          <a:lstStyle/>
          <a:p>
            <a:pPr>
              <a:defRPr sz="1200" b="1">
                <a:solidFill>
                  <a:srgbClr val="0A192F"/>
                </a:solidFill>
              </a:defRPr>
            </a:pPr>
            <a:r>
              <a:t>2. Named Leaders</a:t>
            </a:r>
          </a:p>
        </p:txBody>
      </p:sp>
      <p:sp>
        <p:nvSpPr>
          <p:cNvPr id="17" name="TextBox 16"/>
          <p:cNvSpPr txBox="1"/>
          <p:nvPr/>
        </p:nvSpPr>
        <p:spPr>
          <a:xfrm>
            <a:off x="3703320" y="3154680"/>
            <a:ext cx="2103120" cy="594360"/>
          </a:xfrm>
          <a:prstGeom prst="rect">
            <a:avLst/>
          </a:prstGeom>
          <a:noFill/>
        </p:spPr>
        <p:txBody>
          <a:bodyPr wrap="square">
            <a:spAutoFit/>
          </a:bodyPr>
          <a:lstStyle/>
          <a:p>
            <a:pPr>
              <a:defRPr sz="1500" b="1">
                <a:solidFill>
                  <a:srgbClr val="00A389"/>
                </a:solidFill>
              </a:defRPr>
            </a:pPr>
            <a:r>
              <a:t>Assign Offering Owners</a:t>
            </a:r>
          </a:p>
        </p:txBody>
      </p:sp>
      <p:sp>
        <p:nvSpPr>
          <p:cNvPr id="18" name="TextBox 17"/>
          <p:cNvSpPr txBox="1"/>
          <p:nvPr/>
        </p:nvSpPr>
        <p:spPr>
          <a:xfrm>
            <a:off x="3703320" y="3840480"/>
            <a:ext cx="2103120" cy="2194560"/>
          </a:xfrm>
          <a:prstGeom prst="rect">
            <a:avLst/>
          </a:prstGeom>
          <a:noFill/>
        </p:spPr>
        <p:txBody>
          <a:bodyPr wrap="square">
            <a:spAutoFit/>
          </a:bodyPr>
          <a:lstStyle/>
          <a:p>
            <a:pPr>
              <a:defRPr sz="1100">
                <a:solidFill>
                  <a:srgbClr val="0F172A"/>
                </a:solidFill>
              </a:defRPr>
            </a:pPr>
            <a:r>
              <a:t>Appoint one CIS Infra Executive Sponsor (VP), one Integrated Offering Lead, and designated delivery architects for the selected offerings.</a:t>
            </a:r>
          </a:p>
        </p:txBody>
      </p:sp>
      <p:sp>
        <p:nvSpPr>
          <p:cNvPr id="19" name="Rounded Rectangle 18"/>
          <p:cNvSpPr/>
          <p:nvPr/>
        </p:nvSpPr>
        <p:spPr>
          <a:xfrm>
            <a:off x="6217920" y="1920240"/>
            <a:ext cx="2560320" cy="4297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920240"/>
            <a:ext cx="2560320" cy="7315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46520" y="2148840"/>
            <a:ext cx="502920" cy="502920"/>
          </a:xfrm>
          <a:prstGeom prst="ellipse">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22" name="TextBox 21"/>
          <p:cNvSpPr txBox="1"/>
          <p:nvPr/>
        </p:nvSpPr>
        <p:spPr>
          <a:xfrm>
            <a:off x="6446520" y="2788920"/>
            <a:ext cx="2103120" cy="365760"/>
          </a:xfrm>
          <a:prstGeom prst="rect">
            <a:avLst/>
          </a:prstGeom>
          <a:noFill/>
        </p:spPr>
        <p:txBody>
          <a:bodyPr wrap="none">
            <a:spAutoFit/>
          </a:bodyPr>
          <a:lstStyle/>
          <a:p>
            <a:pPr>
              <a:defRPr sz="1200" b="1">
                <a:solidFill>
                  <a:srgbClr val="0A192F"/>
                </a:solidFill>
              </a:defRPr>
            </a:pPr>
            <a:r>
              <a:t>3. Pursuit Budget</a:t>
            </a:r>
          </a:p>
        </p:txBody>
      </p:sp>
      <p:sp>
        <p:nvSpPr>
          <p:cNvPr id="23" name="TextBox 22"/>
          <p:cNvSpPr txBox="1"/>
          <p:nvPr/>
        </p:nvSpPr>
        <p:spPr>
          <a:xfrm>
            <a:off x="6446520" y="3154680"/>
            <a:ext cx="2103120" cy="594360"/>
          </a:xfrm>
          <a:prstGeom prst="rect">
            <a:avLst/>
          </a:prstGeom>
          <a:noFill/>
        </p:spPr>
        <p:txBody>
          <a:bodyPr wrap="square">
            <a:spAutoFit/>
          </a:bodyPr>
          <a:lstStyle/>
          <a:p>
            <a:pPr>
              <a:defRPr sz="1500" b="1">
                <a:solidFill>
                  <a:srgbClr val="D97706"/>
                </a:solidFill>
              </a:defRPr>
            </a:pPr>
            <a:r>
              <a:t>Approve $25k-$45k Lab</a:t>
            </a:r>
          </a:p>
        </p:txBody>
      </p:sp>
      <p:sp>
        <p:nvSpPr>
          <p:cNvPr id="24" name="TextBox 23"/>
          <p:cNvSpPr txBox="1"/>
          <p:nvPr/>
        </p:nvSpPr>
        <p:spPr>
          <a:xfrm>
            <a:off x="6446520" y="3840480"/>
            <a:ext cx="2103120" cy="2194560"/>
          </a:xfrm>
          <a:prstGeom prst="rect">
            <a:avLst/>
          </a:prstGeom>
          <a:noFill/>
        </p:spPr>
        <p:txBody>
          <a:bodyPr wrap="square">
            <a:spAutoFit/>
          </a:bodyPr>
          <a:lstStyle/>
          <a:p>
            <a:pPr>
              <a:defRPr sz="1100">
                <a:solidFill>
                  <a:srgbClr val="0F172A"/>
                </a:solidFill>
              </a:defRPr>
            </a:pPr>
            <a:r>
              <a:t>Fund internal Azure lab environment, pre-built Terraform accelerator repository, and presales pursuit effort allowances for account teams.</a:t>
            </a:r>
          </a:p>
        </p:txBody>
      </p:sp>
      <p:sp>
        <p:nvSpPr>
          <p:cNvPr id="25" name="Rounded Rectangle 24"/>
          <p:cNvSpPr/>
          <p:nvPr/>
        </p:nvSpPr>
        <p:spPr>
          <a:xfrm>
            <a:off x="8961120" y="1920240"/>
            <a:ext cx="2560320" cy="4297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61120" y="1920240"/>
            <a:ext cx="2560320" cy="73152"/>
          </a:xfrm>
          <a:prstGeom prst="rect">
            <a:avLst/>
          </a:prstGeom>
          <a:solidFill>
            <a:srgbClr val="D83B0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89720" y="2148840"/>
            <a:ext cx="502920" cy="502920"/>
          </a:xfrm>
          <a:prstGeom prst="ellipse">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28" name="TextBox 27"/>
          <p:cNvSpPr txBox="1"/>
          <p:nvPr/>
        </p:nvSpPr>
        <p:spPr>
          <a:xfrm>
            <a:off x="9189720" y="2788920"/>
            <a:ext cx="2103120" cy="365760"/>
          </a:xfrm>
          <a:prstGeom prst="rect">
            <a:avLst/>
          </a:prstGeom>
          <a:noFill/>
        </p:spPr>
        <p:txBody>
          <a:bodyPr wrap="none">
            <a:spAutoFit/>
          </a:bodyPr>
          <a:lstStyle/>
          <a:p>
            <a:pPr>
              <a:defRPr sz="1200" b="1">
                <a:solidFill>
                  <a:srgbClr val="0A192F"/>
                </a:solidFill>
              </a:defRPr>
            </a:pPr>
            <a:r>
              <a:t>4. Hard Stop Rules</a:t>
            </a:r>
          </a:p>
        </p:txBody>
      </p:sp>
      <p:sp>
        <p:nvSpPr>
          <p:cNvPr id="29" name="TextBox 28"/>
          <p:cNvSpPr txBox="1"/>
          <p:nvPr/>
        </p:nvSpPr>
        <p:spPr>
          <a:xfrm>
            <a:off x="9189720" y="3154680"/>
            <a:ext cx="2103120" cy="594360"/>
          </a:xfrm>
          <a:prstGeom prst="rect">
            <a:avLst/>
          </a:prstGeom>
          <a:noFill/>
        </p:spPr>
        <p:txBody>
          <a:bodyPr wrap="square">
            <a:spAutoFit/>
          </a:bodyPr>
          <a:lstStyle/>
          <a:p>
            <a:pPr>
              <a:defRPr sz="1500" b="1">
                <a:solidFill>
                  <a:srgbClr val="D83B01"/>
                </a:solidFill>
              </a:defRPr>
            </a:pPr>
            <a:r>
              <a:t>Enforce Exit Gates</a:t>
            </a:r>
          </a:p>
        </p:txBody>
      </p:sp>
      <p:sp>
        <p:nvSpPr>
          <p:cNvPr id="30" name="TextBox 29"/>
          <p:cNvSpPr txBox="1"/>
          <p:nvPr/>
        </p:nvSpPr>
        <p:spPr>
          <a:xfrm>
            <a:off x="9189720" y="3840480"/>
            <a:ext cx="2103120" cy="2194560"/>
          </a:xfrm>
          <a:prstGeom prst="rect">
            <a:avLst/>
          </a:prstGeom>
          <a:noFill/>
        </p:spPr>
        <p:txBody>
          <a:bodyPr wrap="square">
            <a:spAutoFit/>
          </a:bodyPr>
          <a:lstStyle/>
          <a:p>
            <a:pPr>
              <a:defRPr sz="1100">
                <a:solidFill>
                  <a:srgbClr val="0F172A"/>
                </a:solidFill>
              </a:defRPr>
            </a:pPr>
            <a:r>
              <a:t>Discontinue pursuits if customer lacks funded usecase; halt if CISO denies discovery; kill offering validation if pipeline targets are missed in 90 days.</a:t>
            </a:r>
          </a:p>
        </p:txBody>
      </p:sp>
      <p:sp>
        <p:nvSpPr>
          <p:cNvPr id="31" name="TextBox 30"/>
          <p:cNvSpPr txBox="1"/>
          <p:nvPr/>
        </p:nvSpPr>
        <p:spPr>
          <a:xfrm>
            <a:off x="731520" y="6446520"/>
            <a:ext cx="10698480" cy="274320"/>
          </a:xfrm>
          <a:prstGeom prst="rect">
            <a:avLst/>
          </a:prstGeom>
          <a:noFill/>
        </p:spPr>
        <p:txBody>
          <a:bodyPr wrap="none" lIns="0" tIns="0" rIns="0" bIns="0">
            <a:spAutoFit/>
          </a:bodyPr>
          <a:lstStyle/>
          <a:p>
            <a:pPr>
              <a:defRPr sz="900">
                <a:solidFill>
                  <a:srgbClr val="64748B"/>
                </a:solidFill>
              </a:defRPr>
            </a:pPr>
            <a:r>
              <a:t>CIS Infra · Azure AI Platform Portfolio (Master) · Working proposal for senior leadership review · 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Portfolio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Offering cards, competitor battlecard, joint-motion rules with M365 and D365 teams, combined ranges, qualification, security and regulation, glossary, decisions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1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301752"/>
          </a:xfrm>
          <a:prstGeom prst="rect">
            <a:avLst/>
          </a:prstGeom>
          <a:noFill/>
        </p:spPr>
        <p:txBody>
          <a:bodyPr wrap="square" lIns="0" rIns="0" tIns="0" bIns="0" anchor="t">
            <a:noAutofit/>
          </a:bodyPr>
          <a:lstStyle/>
          <a:p>
            <a:pPr algn="l"/>
            <a:r>
              <a:rPr sz="1300" b="1" i="0">
                <a:solidFill>
                  <a:srgbClr val="2F78C4"/>
                </a:solidFill>
                <a:latin typeface="Arial"/>
              </a:rPr>
              <a:t>13  </a:t>
            </a:r>
            <a:r>
              <a:rPr sz="1300" b="1" i="0">
                <a:solidFill>
                  <a:srgbClr val="000048"/>
                </a:solidFill>
                <a:latin typeface="Arial"/>
              </a:rPr>
              <a:t>A1  </a:t>
            </a:r>
            <a:r>
              <a:rPr sz="1300" b="0" i="0">
                <a:solidFill>
                  <a:srgbClr val="1E1E2E"/>
                </a:solidFill>
                <a:latin typeface="Arial"/>
              </a:rPr>
              <a:t>Offering cards</a:t>
            </a:r>
          </a:p>
        </p:txBody>
      </p:sp>
      <p:sp>
        <p:nvSpPr>
          <p:cNvPr id="8" name="TextBox 7">
            <a:hlinkClick action="ppaction://hlinksldjump" r:id="rId5"/>
          </p:cNvPr>
          <p:cNvSpPr txBox="1"/>
          <p:nvPr/>
        </p:nvSpPr>
        <p:spPr>
          <a:xfrm>
            <a:off x="548640" y="1719072"/>
            <a:ext cx="5486400" cy="301752"/>
          </a:xfrm>
          <a:prstGeom prst="rect">
            <a:avLst/>
          </a:prstGeom>
          <a:noFill/>
        </p:spPr>
        <p:txBody>
          <a:bodyPr wrap="square" lIns="0" rIns="0" tIns="0" bIns="0" anchor="t">
            <a:noAutofit/>
          </a:bodyPr>
          <a:lstStyle/>
          <a:p>
            <a:pPr algn="l"/>
            <a:r>
              <a:rPr sz="1300" b="1" i="0">
                <a:solidFill>
                  <a:srgbClr val="2F78C4"/>
                </a:solidFill>
                <a:latin typeface="Arial"/>
              </a:rPr>
              <a:t>14  </a:t>
            </a:r>
            <a:r>
              <a:rPr sz="1300" b="1" i="0">
                <a:solidFill>
                  <a:srgbClr val="000048"/>
                </a:solidFill>
                <a:latin typeface="Arial"/>
              </a:rPr>
              <a:t>A2  </a:t>
            </a:r>
            <a:r>
              <a:rPr sz="1300" b="0" i="0">
                <a:solidFill>
                  <a:srgbClr val="1E1E2E"/>
                </a:solidFill>
                <a:latin typeface="Arial"/>
              </a:rPr>
              <a:t>Competitor battlecard</a:t>
            </a:r>
          </a:p>
        </p:txBody>
      </p:sp>
      <p:sp>
        <p:nvSpPr>
          <p:cNvPr id="9" name="TextBox 8">
            <a:hlinkClick action="ppaction://hlinksldjump" r:id="rId6"/>
          </p:cNvPr>
          <p:cNvSpPr txBox="1"/>
          <p:nvPr/>
        </p:nvSpPr>
        <p:spPr>
          <a:xfrm>
            <a:off x="548640" y="2020824"/>
            <a:ext cx="5486400" cy="301752"/>
          </a:xfrm>
          <a:prstGeom prst="rect">
            <a:avLst/>
          </a:prstGeom>
          <a:noFill/>
        </p:spPr>
        <p:txBody>
          <a:bodyPr wrap="square" lIns="0" rIns="0" tIns="0" bIns="0" anchor="t">
            <a:noAutofit/>
          </a:bodyPr>
          <a:lstStyle/>
          <a:p>
            <a:pPr algn="l"/>
            <a:r>
              <a:rPr sz="1300" b="1" i="0">
                <a:solidFill>
                  <a:srgbClr val="2F78C4"/>
                </a:solidFill>
                <a:latin typeface="Arial"/>
              </a:rPr>
              <a:t>15  </a:t>
            </a:r>
            <a:r>
              <a:rPr sz="1300" b="1" i="0">
                <a:solidFill>
                  <a:srgbClr val="000048"/>
                </a:solidFill>
                <a:latin typeface="Arial"/>
              </a:rPr>
              <a:t>A3  </a:t>
            </a:r>
            <a:r>
              <a:rPr sz="1300" b="0" i="0">
                <a:solidFill>
                  <a:srgbClr val="1E1E2E"/>
                </a:solidFill>
                <a:latin typeface="Arial"/>
              </a:rPr>
              <a:t>Joint-motion rules</a:t>
            </a:r>
          </a:p>
        </p:txBody>
      </p:sp>
      <p:sp>
        <p:nvSpPr>
          <p:cNvPr id="10" name="TextBox 9">
            <a:hlinkClick action="ppaction://hlinksldjump" r:id="rId7"/>
          </p:cNvPr>
          <p:cNvSpPr txBox="1"/>
          <p:nvPr/>
        </p:nvSpPr>
        <p:spPr>
          <a:xfrm>
            <a:off x="548640" y="2322576"/>
            <a:ext cx="5486400" cy="301752"/>
          </a:xfrm>
          <a:prstGeom prst="rect">
            <a:avLst/>
          </a:prstGeom>
          <a:noFill/>
        </p:spPr>
        <p:txBody>
          <a:bodyPr wrap="square" lIns="0" rIns="0" tIns="0" bIns="0" anchor="t">
            <a:noAutofit/>
          </a:bodyPr>
          <a:lstStyle/>
          <a:p>
            <a:pPr algn="l"/>
            <a:r>
              <a:rPr sz="1300" b="1" i="0">
                <a:solidFill>
                  <a:srgbClr val="2F78C4"/>
                </a:solidFill>
                <a:latin typeface="Arial"/>
              </a:rPr>
              <a:t>16  </a:t>
            </a:r>
            <a:r>
              <a:rPr sz="1300" b="1" i="0">
                <a:solidFill>
                  <a:srgbClr val="000048"/>
                </a:solidFill>
                <a:latin typeface="Arial"/>
              </a:rPr>
              <a:t>E1  </a:t>
            </a:r>
            <a:r>
              <a:rPr sz="1300" b="0" i="0">
                <a:solidFill>
                  <a:srgbClr val="1E1E2E"/>
                </a:solidFill>
                <a:latin typeface="Arial"/>
              </a:rPr>
              <a:t>Combined estimate assumptions</a:t>
            </a:r>
          </a:p>
        </p:txBody>
      </p:sp>
      <p:sp>
        <p:nvSpPr>
          <p:cNvPr id="11" name="TextBox 10">
            <a:hlinkClick action="ppaction://hlinksldjump" r:id="rId8"/>
          </p:cNvPr>
          <p:cNvSpPr txBox="1"/>
          <p:nvPr/>
        </p:nvSpPr>
        <p:spPr>
          <a:xfrm>
            <a:off x="548640" y="2624328"/>
            <a:ext cx="5486400" cy="301752"/>
          </a:xfrm>
          <a:prstGeom prst="rect">
            <a:avLst/>
          </a:prstGeom>
          <a:noFill/>
        </p:spPr>
        <p:txBody>
          <a:bodyPr wrap="square" lIns="0" rIns="0" tIns="0" bIns="0" anchor="t">
            <a:noAutofit/>
          </a:bodyPr>
          <a:lstStyle/>
          <a:p>
            <a:pPr algn="l"/>
            <a:r>
              <a:rPr sz="1300" b="1" i="0">
                <a:solidFill>
                  <a:srgbClr val="2F78C4"/>
                </a:solidFill>
                <a:latin typeface="Arial"/>
              </a:rPr>
              <a:t>17  </a:t>
            </a:r>
            <a:r>
              <a:rPr sz="1300" b="1" i="0">
                <a:solidFill>
                  <a:srgbClr val="000048"/>
                </a:solidFill>
                <a:latin typeface="Arial"/>
              </a:rPr>
              <a:t>Q1  </a:t>
            </a:r>
            <a:r>
              <a:rPr sz="1300" b="0" i="0">
                <a:solidFill>
                  <a:srgbClr val="1E1E2E"/>
                </a:solidFill>
                <a:latin typeface="Arial"/>
              </a:rPr>
              <a:t>Qualification scorecard and account shortlist</a:t>
            </a:r>
          </a:p>
        </p:txBody>
      </p:sp>
      <p:sp>
        <p:nvSpPr>
          <p:cNvPr id="12" name="TextBox 11">
            <a:hlinkClick action="ppaction://hlinksldjump" r:id="rId9"/>
          </p:cNvPr>
          <p:cNvSpPr txBox="1"/>
          <p:nvPr/>
        </p:nvSpPr>
        <p:spPr>
          <a:xfrm>
            <a:off x="6217920" y="1417320"/>
            <a:ext cx="5486400" cy="301752"/>
          </a:xfrm>
          <a:prstGeom prst="rect">
            <a:avLst/>
          </a:prstGeom>
          <a:noFill/>
        </p:spPr>
        <p:txBody>
          <a:bodyPr wrap="square" lIns="0" rIns="0" tIns="0" bIns="0" anchor="t">
            <a:noAutofit/>
          </a:bodyPr>
          <a:lstStyle/>
          <a:p>
            <a:pPr algn="l"/>
            <a:r>
              <a:rPr sz="1300" b="1" i="0">
                <a:solidFill>
                  <a:srgbClr val="2F78C4"/>
                </a:solidFill>
                <a:latin typeface="Arial"/>
              </a:rPr>
              <a:t>18  </a:t>
            </a:r>
            <a:r>
              <a:rPr sz="1300" b="1" i="0">
                <a:solidFill>
                  <a:srgbClr val="000048"/>
                </a:solidFill>
                <a:latin typeface="Arial"/>
              </a:rPr>
              <a:t>SEC1  </a:t>
            </a:r>
            <a:r>
              <a:rPr sz="1300" b="0" i="0">
                <a:solidFill>
                  <a:srgbClr val="1E1E2E"/>
                </a:solidFill>
                <a:latin typeface="Arial"/>
              </a:rPr>
              <a:t>AI threat model and controls</a:t>
            </a:r>
          </a:p>
        </p:txBody>
      </p:sp>
      <p:sp>
        <p:nvSpPr>
          <p:cNvPr id="13" name="TextBox 12">
            <a:hlinkClick action="ppaction://hlinksldjump" r:id="rId10"/>
          </p:cNvPr>
          <p:cNvSpPr txBox="1"/>
          <p:nvPr/>
        </p:nvSpPr>
        <p:spPr>
          <a:xfrm>
            <a:off x="6217920" y="1719072"/>
            <a:ext cx="5486400" cy="301752"/>
          </a:xfrm>
          <a:prstGeom prst="rect">
            <a:avLst/>
          </a:prstGeom>
          <a:noFill/>
        </p:spPr>
        <p:txBody>
          <a:bodyPr wrap="square" lIns="0" rIns="0" tIns="0" bIns="0" anchor="t">
            <a:noAutofit/>
          </a:bodyPr>
          <a:lstStyle/>
          <a:p>
            <a:pPr algn="l"/>
            <a:r>
              <a:rPr sz="1300" b="1" i="0">
                <a:solidFill>
                  <a:srgbClr val="2F78C4"/>
                </a:solidFill>
                <a:latin typeface="Arial"/>
              </a:rPr>
              <a:t>19  </a:t>
            </a:r>
            <a:r>
              <a:rPr sz="1300" b="1" i="0">
                <a:solidFill>
                  <a:srgbClr val="000048"/>
                </a:solidFill>
                <a:latin typeface="Arial"/>
              </a:rPr>
              <a:t>SEC2  </a:t>
            </a:r>
            <a:r>
              <a:rPr sz="1300" b="0" i="0">
                <a:solidFill>
                  <a:srgbClr val="1E1E2E"/>
                </a:solidFill>
                <a:latin typeface="Arial"/>
              </a:rPr>
              <a:t>Security services and regulation</a:t>
            </a:r>
          </a:p>
        </p:txBody>
      </p:sp>
      <p:sp>
        <p:nvSpPr>
          <p:cNvPr id="14" name="TextBox 13">
            <a:hlinkClick action="ppaction://hlinksldjump" r:id="rId11"/>
          </p:cNvPr>
          <p:cNvSpPr txBox="1"/>
          <p:nvPr/>
        </p:nvSpPr>
        <p:spPr>
          <a:xfrm>
            <a:off x="6217920" y="2020824"/>
            <a:ext cx="5486400" cy="301752"/>
          </a:xfrm>
          <a:prstGeom prst="rect">
            <a:avLst/>
          </a:prstGeom>
          <a:noFill/>
        </p:spPr>
        <p:txBody>
          <a:bodyPr wrap="square" lIns="0" rIns="0" tIns="0" bIns="0" anchor="t">
            <a:noAutofit/>
          </a:bodyPr>
          <a:lstStyle/>
          <a:p>
            <a:pPr algn="l"/>
            <a:r>
              <a:rPr sz="1300" b="1" i="0">
                <a:solidFill>
                  <a:srgbClr val="2F78C4"/>
                </a:solidFill>
                <a:latin typeface="Arial"/>
              </a:rPr>
              <a:t>20  </a:t>
            </a:r>
            <a:r>
              <a:rPr sz="1300" b="1" i="0">
                <a:solidFill>
                  <a:srgbClr val="000048"/>
                </a:solidFill>
                <a:latin typeface="Arial"/>
              </a:rPr>
              <a:t>G1  </a:t>
            </a:r>
            <a:r>
              <a:rPr sz="1300" b="0" i="0">
                <a:solidFill>
                  <a:srgbClr val="1E1E2E"/>
                </a:solidFill>
                <a:latin typeface="Arial"/>
              </a:rPr>
              <a:t>Glossary</a:t>
            </a:r>
          </a:p>
        </p:txBody>
      </p:sp>
      <p:sp>
        <p:nvSpPr>
          <p:cNvPr id="15" name="TextBox 14">
            <a:hlinkClick action="ppaction://hlinksldjump" r:id="rId12"/>
          </p:cNvPr>
          <p:cNvSpPr txBox="1"/>
          <p:nvPr/>
        </p:nvSpPr>
        <p:spPr>
          <a:xfrm>
            <a:off x="6217920" y="2322576"/>
            <a:ext cx="5486400" cy="301752"/>
          </a:xfrm>
          <a:prstGeom prst="rect">
            <a:avLst/>
          </a:prstGeom>
          <a:noFill/>
        </p:spPr>
        <p:txBody>
          <a:bodyPr wrap="square" lIns="0" rIns="0" tIns="0" bIns="0" anchor="t">
            <a:noAutofit/>
          </a:bodyPr>
          <a:lstStyle/>
          <a:p>
            <a:pPr algn="l"/>
            <a:r>
              <a:rPr sz="1300" b="1" i="0">
                <a:solidFill>
                  <a:srgbClr val="2F78C4"/>
                </a:solidFill>
                <a:latin typeface="Arial"/>
              </a:rPr>
              <a:t>21  </a:t>
            </a:r>
            <a:r>
              <a:rPr sz="1300" b="1" i="0">
                <a:solidFill>
                  <a:srgbClr val="000048"/>
                </a:solidFill>
                <a:latin typeface="Arial"/>
              </a:rPr>
              <a:t>D1  </a:t>
            </a:r>
            <a:r>
              <a:rPr sz="1300" b="0" i="0">
                <a:solidFill>
                  <a:srgbClr val="1E1E2E"/>
                </a:solidFill>
                <a:latin typeface="Arial"/>
              </a:rPr>
              <a:t>Decision and approval register</a:t>
            </a:r>
          </a:p>
        </p:txBody>
      </p:sp>
      <p:sp>
        <p:nvSpPr>
          <p:cNvPr id="16" name="TextBox 15">
            <a:hlinkClick action="ppaction://hlinksldjump" r:id="rId13"/>
          </p:cNvPr>
          <p:cNvSpPr txBox="1"/>
          <p:nvPr/>
        </p:nvSpPr>
        <p:spPr>
          <a:xfrm>
            <a:off x="6217920" y="2624328"/>
            <a:ext cx="5486400" cy="301752"/>
          </a:xfrm>
          <a:prstGeom prst="rect">
            <a:avLst/>
          </a:prstGeom>
          <a:noFill/>
        </p:spPr>
        <p:txBody>
          <a:bodyPr wrap="square" lIns="0" rIns="0" tIns="0" bIns="0" anchor="t">
            <a:noAutofit/>
          </a:bodyPr>
          <a:lstStyle/>
          <a:p>
            <a:pPr algn="l"/>
            <a:r>
              <a:rPr sz="1300" b="1" i="0">
                <a:solidFill>
                  <a:srgbClr val="2F78C4"/>
                </a:solidFill>
                <a:latin typeface="Arial"/>
              </a:rPr>
              <a:t>22  </a:t>
            </a:r>
            <a:r>
              <a:rPr sz="1300" b="1" i="0">
                <a:solidFill>
                  <a:srgbClr val="000048"/>
                </a:solidFill>
                <a:latin typeface="Arial"/>
              </a:rPr>
              <a:t>S1  </a:t>
            </a:r>
            <a:r>
              <a:rPr sz="1300" b="0" i="0">
                <a:solidFill>
                  <a:srgbClr val="1E1E2E"/>
                </a:solidFill>
                <a:latin typeface="Arial"/>
              </a:rPr>
              <a:t>Sources and verification 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Offering cards: buyer, trigger, entry package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graphicFrame>
        <p:nvGraphicFramePr>
          <p:cNvPr id="9" name="Table"/>
          <p:cNvGraphicFramePr>
            <a:graphicFrameLocks noGrp="1"/>
          </p:cNvGraphicFramePr>
          <p:nvPr/>
        </p:nvGraphicFramePr>
        <p:xfrm>
          <a:off x="548640" y="1371600"/>
          <a:ext cx="11091672" cy="2865120"/>
        </p:xfrm>
        <a:graphic>
          <a:graphicData uri="http://schemas.openxmlformats.org/drawingml/2006/table">
            <a:tbl>
              <a:tblPr firstRow="1" bandRow="0">
                <a:tableStyleId>{5C22544A-7EE6-4342-B048-85BDC9FD1C3A}</a:tableStyleId>
              </a:tblPr>
              <a:tblGrid>
                <a:gridCol w="3291840"/>
                <a:gridCol w="2377440"/>
                <a:gridCol w="2651760"/>
                <a:gridCol w="2103120"/>
                <a:gridCol w="667512"/>
              </a:tblGrid>
              <a:tr h="487680">
                <a:tc>
                  <a:txBody>
                    <a:bodyPr wrap="square" anchor="ctr">
                      <a:noAutofit/>
                    </a:bodyPr>
                    <a:lstStyle/>
                    <a:p>
                      <a:pPr algn="l"/>
                      <a:r>
                        <a:rPr sz="1300" b="1" i="0">
                          <a:solidFill>
                            <a:srgbClr val="FFFFFF"/>
                          </a:solidFill>
                          <a:latin typeface="Arial"/>
                        </a:rPr>
                        <a:t>Offering</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Main buyer</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Trigger</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Entry package (role days)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Deck</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04 AI Capacity and FinOps Assessment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FinOps lead, AI platform leader</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Spend growing; PTU or licence decision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Assessment, 20 to 40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04</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01 AI Platform / Landing Zone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Cloud platform owner</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First production AI workload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Assess, 15 to 30</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01</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03 AI Gateway Implementation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Platform or API owner</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Many teams calling models; keys in apps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Readiness assessment, 10 to 20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03</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02 Agent Governance and Operations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AI platform leader, CISO delegate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Agent sprawl; audit request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Coverage assessment, 15 to 25</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02</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05 Managed AI Platform Operations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IT service owner</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AI workload entering production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Onboarding, 20 to 40</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05</a:t>
                      </a:r>
                    </a:p>
                  </a:txBody>
                  <a:tcPr marL="73152" marR="73152" marT="36576" marB="36576"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Competitor battlecard and objection responses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A2</a:t>
            </a:r>
          </a:p>
        </p:txBody>
      </p:sp>
      <p:sp>
        <p:nvSpPr>
          <p:cNvPr id="5" name="Status chip: PUBLIC POSITIONING ONLY"/>
          <p:cNvSpPr/>
          <p:nvPr/>
        </p:nvSpPr>
        <p:spPr>
          <a:xfrm>
            <a:off x="1898650" y="274320"/>
            <a:ext cx="226060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PUBLIC POSITIONING ONLY</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graphicFrame>
        <p:nvGraphicFramePr>
          <p:cNvPr id="9" name="Table"/>
          <p:cNvGraphicFramePr>
            <a:graphicFrameLocks noGrp="1"/>
          </p:cNvGraphicFramePr>
          <p:nvPr/>
        </p:nvGraphicFramePr>
        <p:xfrm>
          <a:off x="548640" y="1325880"/>
          <a:ext cx="6949439" cy="3931920"/>
        </p:xfrm>
        <a:graphic>
          <a:graphicData uri="http://schemas.openxmlformats.org/drawingml/2006/table">
            <a:tbl>
              <a:tblPr firstRow="1" bandRow="0">
                <a:tableStyleId>{5C22544A-7EE6-4342-B048-85BDC9FD1C3A}</a:tableStyleId>
              </a:tblPr>
              <a:tblGrid>
                <a:gridCol w="2011679"/>
                <a:gridCol w="2651760"/>
                <a:gridCol w="2286000"/>
              </a:tblGrid>
              <a:tr h="274320">
                <a:tc>
                  <a:txBody>
                    <a:bodyPr wrap="square" anchor="ctr">
                      <a:noAutofit/>
                    </a:bodyPr>
                    <a:lstStyle/>
                    <a:p>
                      <a:pPr algn="l"/>
                      <a:r>
                        <a:rPr sz="1200" b="1" i="0">
                          <a:solidFill>
                            <a:srgbClr val="FFFFFF"/>
                          </a:solidFill>
                          <a:latin typeface="Arial"/>
                        </a:rPr>
                        <a:t>Firm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Public positioning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Lesson for our pitch</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Accenture and Avanade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Agentic factory with industry workflows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Tie assets to an operational buyer</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TCS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Persona-based Copilot rollout, managed support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Repeatable role and integration patterns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KPMG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Copilot, custom agents, governance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Connect trust controls to value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EPAM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AI/Run, agentic engineering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Show reusable assets and test evidence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EY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Industry engineering, change management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Include process change and value owners</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PwC</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Azure quickstart, responsible AI, AI factory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Named packages need real assets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Deloitte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End-to-end Microsoft transformation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Connect technology to operating model</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Wipro</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Industry IP, agent marketplace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Make integration reuse visible</a:t>
                      </a:r>
                    </a:p>
                  </a:txBody>
                  <a:tcPr marL="73152" marR="73152" marT="36576" marB="36576" anchor="ctr">
                    <a:solidFill>
                      <a:srgbClr val="F5F5F2"/>
                    </a:solidFill>
                  </a:tcPr>
                </a:tc>
              </a:tr>
            </a:tbl>
          </a:graphicData>
        </a:graphic>
      </p:graphicFrame>
      <p:sp>
        <p:nvSpPr>
          <p:cNvPr id="10" name="Rounded Rectangle 9"/>
          <p:cNvSpPr/>
          <p:nvPr/>
        </p:nvSpPr>
        <p:spPr>
          <a:xfrm>
            <a:off x="7726679" y="1325880"/>
            <a:ext cx="3913632"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400" b="1" i="0">
                <a:solidFill>
                  <a:srgbClr val="000048"/>
                </a:solidFill>
                <a:latin typeface="Arial"/>
              </a:rPr>
              <a:t>"You are only infrastructure."</a:t>
            </a:r>
          </a:p>
          <a:p>
            <a:pPr algn="l"/>
            <a:r>
              <a:rPr sz="1300" b="0" i="0">
                <a:solidFill>
                  <a:srgbClr val="1E1E2E"/>
                </a:solidFill>
                <a:latin typeface="Arial"/>
              </a:rPr>
              <a:t>Agents fail on identity, network, cost and stop paths. That is our scope, and it is testable.</a:t>
            </a:r>
          </a:p>
        </p:txBody>
      </p:sp>
      <p:sp>
        <p:nvSpPr>
          <p:cNvPr id="11" name="Rounded Rectangle 10"/>
          <p:cNvSpPr/>
          <p:nvPr/>
        </p:nvSpPr>
        <p:spPr>
          <a:xfrm>
            <a:off x="7726679" y="2788920"/>
            <a:ext cx="3913632"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400" b="1" i="0">
                <a:solidFill>
                  <a:srgbClr val="000048"/>
                </a:solidFill>
                <a:latin typeface="Arial"/>
              </a:rPr>
              <a:t>"Microsoft does this for free."</a:t>
            </a:r>
          </a:p>
          <a:p>
            <a:pPr algn="l"/>
            <a:r>
              <a:rPr sz="1300" b="0" i="0">
                <a:solidFill>
                  <a:srgbClr val="1E1E2E"/>
                </a:solidFill>
                <a:latin typeface="Arial"/>
              </a:rPr>
              <a:t>Native tools need configuring, joining and running. We configure first, build only gaps.</a:t>
            </a:r>
          </a:p>
        </p:txBody>
      </p:sp>
      <p:sp>
        <p:nvSpPr>
          <p:cNvPr id="12" name="Rounded Rectangle 11"/>
          <p:cNvSpPr/>
          <p:nvPr/>
        </p:nvSpPr>
        <p:spPr>
          <a:xfrm>
            <a:off x="7726679" y="4251960"/>
            <a:ext cx="3913632" cy="1371600"/>
          </a:xfrm>
          <a:prstGeom prst="roundRect">
            <a:avLst>
              <a:gd name="adj" fmla="val 5333"/>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300"/>
              </a:spcAft>
            </a:pPr>
            <a:r>
              <a:rPr sz="1400" b="1" i="0">
                <a:solidFill>
                  <a:srgbClr val="000048"/>
                </a:solidFill>
                <a:latin typeface="Arial"/>
              </a:rPr>
              <a:t>"Big SIs have more references."</a:t>
            </a:r>
          </a:p>
          <a:p>
            <a:pPr algn="l"/>
            <a:r>
              <a:rPr sz="1300" b="0" i="0">
                <a:solidFill>
                  <a:srgbClr val="1E1E2E"/>
                </a:solidFill>
                <a:latin typeface="Arial"/>
              </a:rPr>
              <a:t>Start with a 4 to 6 week assessment and judge us on its evidence.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Joint-motion rules with the M365 and D365 teams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PROPOSED, TO AGREE"/>
          <p:cNvSpPr/>
          <p:nvPr/>
        </p:nvSpPr>
        <p:spPr>
          <a:xfrm>
            <a:off x="189865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 AGREE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graphicFrame>
        <p:nvGraphicFramePr>
          <p:cNvPr id="9" name="Table"/>
          <p:cNvGraphicFramePr>
            <a:graphicFrameLocks noGrp="1"/>
          </p:cNvGraphicFramePr>
          <p:nvPr/>
        </p:nvGraphicFramePr>
        <p:xfrm>
          <a:off x="548640" y="1371600"/>
          <a:ext cx="11091672" cy="3200400"/>
        </p:xfrm>
        <a:graphic>
          <a:graphicData uri="http://schemas.openxmlformats.org/drawingml/2006/table">
            <a:tbl>
              <a:tblPr firstRow="1" bandRow="0">
                <a:tableStyleId>{5C22544A-7EE6-4342-B048-85BDC9FD1C3A}</a:tableStyleId>
              </a:tblPr>
              <a:tblGrid>
                <a:gridCol w="2377440"/>
                <a:gridCol w="6217920"/>
                <a:gridCol w="2496312"/>
              </a:tblGrid>
              <a:tr h="304800">
                <a:tc>
                  <a:txBody>
                    <a:bodyPr wrap="square" anchor="ctr">
                      <a:noAutofit/>
                    </a:bodyPr>
                    <a:lstStyle/>
                    <a:p>
                      <a:pPr algn="l"/>
                      <a:r>
                        <a:rPr sz="1400" b="1" i="0">
                          <a:solidFill>
                            <a:srgbClr val="FFFFFF"/>
                          </a:solidFill>
                          <a:latin typeface="Arial"/>
                        </a:rPr>
                        <a:t>Topic</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Proposed rule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Owner to agree</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Deal lead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Team with the largest first priced work package leads; account leader confirms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Practice leads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Copilot ownership split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M365 team: Copilot in Microsoft 365 apps; D365 team: Copilot in Dynamics 365 (to confirm)</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M365 and D365 leads</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Handoff to CIS Infra</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Identity, network, Purview readiness inputs, Azure-hosted agents and backends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CIS Infra with M365 lead</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Copilot Studio</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Power Platform admin with M365 or D365 team; agent governance and gateway with CIS Infra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Joint</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Revenue attribution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By priced work package per team; shared costs allocated once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Finance</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Joint RACI rows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Copilot rollout (M365/D365 A), Azure backends (CIS Infra A), agent containment (customer risk owner A)</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Integrated service owner</a:t>
                      </a:r>
                    </a:p>
                  </a:txBody>
                  <a:tcPr marL="73152" marR="73152" marT="36576" marB="36576" anchor="ctr">
                    <a:solidFill>
                      <a:srgbClr val="F5F5F2"/>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the effort and duration ranges were built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E1</a:t>
            </a:r>
          </a:p>
        </p:txBody>
      </p:sp>
      <p:sp>
        <p:nvSpPr>
          <p:cNvPr id="5" name="Status chip: ESTIMATE, NOT APPROVED"/>
          <p:cNvSpPr/>
          <p:nvPr/>
        </p:nvSpPr>
        <p:spPr>
          <a:xfrm>
            <a:off x="1898650" y="274320"/>
            <a:ext cx="21742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ESTIMATE, NOT APPROVED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graphicFrame>
        <p:nvGraphicFramePr>
          <p:cNvPr id="9" name="Table"/>
          <p:cNvGraphicFramePr>
            <a:graphicFrameLocks noGrp="1"/>
          </p:cNvGraphicFramePr>
          <p:nvPr/>
        </p:nvGraphicFramePr>
        <p:xfrm>
          <a:off x="548640" y="1325880"/>
          <a:ext cx="11091672" cy="2026920"/>
        </p:xfrm>
        <a:graphic>
          <a:graphicData uri="http://schemas.openxmlformats.org/drawingml/2006/table">
            <a:tbl>
              <a:tblPr firstRow="1" bandRow="0">
                <a:tableStyleId>{5C22544A-7EE6-4342-B048-85BDC9FD1C3A}</a:tableStyleId>
              </a:tblPr>
              <a:tblGrid>
                <a:gridCol w="2560320"/>
                <a:gridCol w="4261104"/>
                <a:gridCol w="4270248"/>
              </a:tblGrid>
              <a:tr h="289560">
                <a:tc>
                  <a:txBody>
                    <a:bodyPr wrap="square" anchor="ctr">
                      <a:noAutofit/>
                    </a:bodyPr>
                    <a:lstStyle/>
                    <a:p>
                      <a:pPr algn="l"/>
                      <a:r>
                        <a:rPr sz="13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Low case assumes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High case assumes</a:t>
                      </a:r>
                    </a:p>
                  </a:txBody>
                  <a:tcPr marL="73152" marR="73152" marT="36576" marB="36576" anchor="ctr">
                    <a:solidFill>
                      <a:srgbClr val="000048"/>
                    </a:solidFill>
                  </a:tcPr>
                </a:tc>
              </a:tr>
              <a:tr h="289560">
                <a:tc>
                  <a:txBody>
                    <a:bodyPr wrap="square" anchor="ctr">
                      <a:noAutofit/>
                    </a:bodyPr>
                    <a:lstStyle/>
                    <a:p>
                      <a:pPr algn="l"/>
                      <a:r>
                        <a:rPr sz="1300" b="1" i="0">
                          <a:solidFill>
                            <a:srgbClr val="1E1E2E"/>
                          </a:solidFill>
                          <a:latin typeface="Arial"/>
                        </a:rPr>
                        <a:t>04 Assessment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20 days: telemetry exists, two workloads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40 days: no telemetry, six workloads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01 Establish</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140 days: greenfield, one region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220 days: hub constraints, three regions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03 Build, one region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45 days: five consumers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90 days: twenty consumers, complex hub</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02 Configure and PoC</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55 days: two runtimes, licence owned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105 days: several clouds, no licence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05 Foundation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30 days a month: one environment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60 days a month: three environments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Hypothetical year one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About 660 role days (exec slide 6)</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Not a forecast</a:t>
                      </a:r>
                    </a:p>
                  </a:txBody>
                  <a:tcPr marL="73152" marR="73152" marT="36576" marB="36576" anchor="ctr">
                    <a:solidFill>
                      <a:srgbClr val="F5F5F2"/>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Qualification scorecard and account shortlist template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Q1</a:t>
            </a:r>
          </a:p>
        </p:txBody>
      </p:sp>
      <p:sp>
        <p:nvSpPr>
          <p:cNvPr id="5" name="Status chip: PROPOSED TOOL"/>
          <p:cNvSpPr/>
          <p:nvPr/>
        </p:nvSpPr>
        <p:spPr>
          <a:xfrm>
            <a:off x="1898650" y="2743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TOOL</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graphicFrame>
        <p:nvGraphicFramePr>
          <p:cNvPr id="9" name="Table"/>
          <p:cNvGraphicFramePr>
            <a:graphicFrameLocks noGrp="1"/>
          </p:cNvGraphicFramePr>
          <p:nvPr/>
        </p:nvGraphicFramePr>
        <p:xfrm>
          <a:off x="548640" y="1325880"/>
          <a:ext cx="6035039" cy="2910840"/>
        </p:xfrm>
        <a:graphic>
          <a:graphicData uri="http://schemas.openxmlformats.org/drawingml/2006/table">
            <a:tbl>
              <a:tblPr firstRow="1" bandRow="0">
                <a:tableStyleId>{5C22544A-7EE6-4342-B048-85BDC9FD1C3A}</a:tableStyleId>
              </a:tblPr>
              <a:tblGrid>
                <a:gridCol w="2743199"/>
                <a:gridCol w="3291840"/>
              </a:tblGrid>
              <a:tr h="289560">
                <a:tc>
                  <a:txBody>
                    <a:bodyPr wrap="square" anchor="ctr">
                      <a:noAutofit/>
                    </a:bodyPr>
                    <a:lstStyle/>
                    <a:p>
                      <a:pPr algn="l"/>
                      <a:r>
                        <a:rPr sz="1300" b="1" i="0">
                          <a:solidFill>
                            <a:srgbClr val="FFFFFF"/>
                          </a:solidFill>
                          <a:latin typeface="Arial"/>
                        </a:rPr>
                        <a:t>Criterion (score 0, 1 or 2)</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Funded workload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owner, budget route, decision date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Platform authority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Who can approve tenant and network changes</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Executive sponsor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Named and engaged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Data access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Source owner and rights confirmed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Region and capacity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deployment type and quota checked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Microsoft context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 365, E7 or Copilot plans known</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Joint deal</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M365 or D365 team engaged, lead agreed</a:t>
                      </a:r>
                    </a:p>
                  </a:txBody>
                  <a:tcPr marL="73152" marR="73152" marT="36576" marB="36576" anchor="ctr">
                    <a:solidFill>
                      <a:srgbClr val="FFFFFF"/>
                    </a:solidFill>
                  </a:tcPr>
                </a:tc>
              </a:tr>
            </a:tbl>
          </a:graphicData>
        </a:graphic>
      </p:graphicFrame>
      <p:sp>
        <p:nvSpPr>
          <p:cNvPr id="10" name="TextBox 9"/>
          <p:cNvSpPr txBox="1"/>
          <p:nvPr/>
        </p:nvSpPr>
        <p:spPr>
          <a:xfrm>
            <a:off x="6812280" y="1325880"/>
            <a:ext cx="4846320" cy="320040"/>
          </a:xfrm>
          <a:prstGeom prst="rect">
            <a:avLst/>
          </a:prstGeom>
          <a:noFill/>
        </p:spPr>
        <p:txBody>
          <a:bodyPr wrap="square" lIns="0" rIns="0" tIns="0" bIns="0" anchor="t">
            <a:noAutofit/>
          </a:bodyPr>
          <a:lstStyle/>
          <a:p>
            <a:pPr algn="l"/>
            <a:r>
              <a:rPr sz="1500" b="1" i="0">
                <a:solidFill>
                  <a:srgbClr val="000048"/>
                </a:solidFill>
                <a:latin typeface="Arial"/>
              </a:rPr>
              <a:t>Account shortlist (template, empty)</a:t>
            </a:r>
          </a:p>
        </p:txBody>
      </p:sp>
      <p:graphicFrame>
        <p:nvGraphicFramePr>
          <p:cNvPr id="11" name="Table"/>
          <p:cNvGraphicFramePr>
            <a:graphicFrameLocks noGrp="1"/>
          </p:cNvGraphicFramePr>
          <p:nvPr/>
        </p:nvGraphicFramePr>
        <p:xfrm>
          <a:off x="6812280" y="1691640"/>
          <a:ext cx="4828032" cy="2011680"/>
        </p:xfrm>
        <a:graphic>
          <a:graphicData uri="http://schemas.openxmlformats.org/drawingml/2006/table">
            <a:tbl>
              <a:tblPr firstRow="1" bandRow="0">
                <a:tableStyleId>{5C22544A-7EE6-4342-B048-85BDC9FD1C3A}</a:tableStyleId>
              </a:tblPr>
              <a:tblGrid>
                <a:gridCol w="914400"/>
                <a:gridCol w="777240"/>
                <a:gridCol w="868680"/>
                <a:gridCol w="777240"/>
                <a:gridCol w="594360"/>
                <a:gridCol w="896112"/>
              </a:tblGrid>
              <a:tr h="365760">
                <a:tc>
                  <a:txBody>
                    <a:bodyPr wrap="square" anchor="ctr">
                      <a:noAutofit/>
                    </a:bodyPr>
                    <a:lstStyle/>
                    <a:p>
                      <a:pPr algn="l"/>
                      <a:r>
                        <a:rPr sz="1000" b="1" i="0">
                          <a:solidFill>
                            <a:srgbClr val="FFFFFF"/>
                          </a:solidFill>
                          <a:latin typeface="Arial"/>
                        </a:rPr>
                        <a:t>Account</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Sponsor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Workload</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Blocker</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Score</a:t>
                      </a:r>
                    </a:p>
                  </a:txBody>
                  <a:tcPr marL="73152" marR="73152" marT="36576" marB="36576" anchor="ctr">
                    <a:solidFill>
                      <a:srgbClr val="000048"/>
                    </a:solidFill>
                  </a:tcPr>
                </a:tc>
                <a:tc>
                  <a:txBody>
                    <a:bodyPr wrap="square" anchor="ctr">
                      <a:noAutofit/>
                    </a:bodyPr>
                    <a:lstStyle/>
                    <a:p>
                      <a:pPr algn="l"/>
                      <a:r>
                        <a:rPr sz="1000" b="1" i="0">
                          <a:solidFill>
                            <a:srgbClr val="FFFFFF"/>
                          </a:solidFill>
                          <a:latin typeface="Arial"/>
                        </a:rPr>
                        <a:t>Next action</a:t>
                      </a:r>
                    </a:p>
                  </a:txBody>
                  <a:tcPr marL="73152" marR="73152" marT="36576" marB="36576" anchor="ctr">
                    <a:solidFill>
                      <a:srgbClr val="000048"/>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FFFFF"/>
                    </a:solidFill>
                  </a:tcPr>
                </a:tc>
              </a:tr>
              <a:tr h="411480">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
                      </a:r>
                    </a:p>
                  </a:txBody>
                  <a:tcPr marL="73152" marR="73152" marT="36576" marB="36576" anchor="ctr">
                    <a:solidFill>
                      <a:srgbClr val="F5F5F2"/>
                    </a:solidFill>
                  </a:tcPr>
                </a:tc>
              </a:tr>
            </a:tbl>
          </a:graphicData>
        </a:graphic>
      </p:graphicFrame>
      <p:sp>
        <p:nvSpPr>
          <p:cNvPr id="12" name="Rounded Rectangle 11"/>
          <p:cNvSpPr/>
          <p:nvPr/>
        </p:nvSpPr>
        <p:spPr>
          <a:xfrm>
            <a:off x="548640" y="5394960"/>
            <a:ext cx="11091672" cy="594360"/>
          </a:xfrm>
          <a:prstGeom prst="roundRect">
            <a:avLst>
              <a:gd name="adj" fmla="val 12307"/>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Quote implementation at 12+ with no zero on funding, authority or sponsor. Otherwise sell the assessment.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AI threat model: what can go wrong, and who controls it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SEC1</a:t>
            </a:r>
          </a:p>
        </p:txBody>
      </p:sp>
      <p:sp>
        <p:nvSpPr>
          <p:cNvPr id="5" name="Status chip: PROPOSED"/>
          <p:cNvSpPr/>
          <p:nvPr/>
        </p:nvSpPr>
        <p:spPr>
          <a:xfrm>
            <a:off x="209423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graphicFrame>
        <p:nvGraphicFramePr>
          <p:cNvPr id="9" name="Table"/>
          <p:cNvGraphicFramePr>
            <a:graphicFrameLocks noGrp="1"/>
          </p:cNvGraphicFramePr>
          <p:nvPr/>
        </p:nvGraphicFramePr>
        <p:xfrm>
          <a:off x="548640" y="1325880"/>
          <a:ext cx="11091672" cy="2331720"/>
        </p:xfrm>
        <a:graphic>
          <a:graphicData uri="http://schemas.openxmlformats.org/drawingml/2006/table">
            <a:tbl>
              <a:tblPr firstRow="1" bandRow="0">
                <a:tableStyleId>{5C22544A-7EE6-4342-B048-85BDC9FD1C3A}</a:tableStyleId>
              </a:tblPr>
              <a:tblGrid>
                <a:gridCol w="2377440"/>
                <a:gridCol w="3108960"/>
                <a:gridCol w="3566160"/>
                <a:gridCol w="2039112"/>
              </a:tblGrid>
              <a:tr h="289560">
                <a:tc>
                  <a:txBody>
                    <a:bodyPr wrap="square" anchor="ctr">
                      <a:noAutofit/>
                    </a:bodyPr>
                    <a:lstStyle/>
                    <a:p>
                      <a:pPr algn="l"/>
                      <a:r>
                        <a:rPr sz="1300" b="1" i="0">
                          <a:solidFill>
                            <a:srgbClr val="FFFFFF"/>
                          </a:solidFill>
                          <a:latin typeface="Arial"/>
                        </a:rPr>
                        <a:t>Threat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Example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Control</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Owner</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Inconsistent controls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Each offering secures agents differently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Shared threat model and SEC services per deck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Security with offering owners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Unowned agents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 one can stop an agent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Catalogue, owners and containment (02, 05)</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CIS Infra with customer</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Bypass of controls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Direct calls around the gateway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Private endpoints, bypass tests (03)</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Data exposure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Sensitive data in prompts or logs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Purview, Defender, log redaction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Security</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Denial of wallet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Runaway token spend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Budgets and quotas (03, 04)</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CIS Infra, budget owner</a:t>
                      </a:r>
                    </a:p>
                  </a:txBody>
                  <a:tcPr marL="73152" marR="73152" marT="36576" marB="36576"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Security services and regulatory checkpoints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362710" cy="256032"/>
          </a:xfrm>
          <a:prstGeom prst="rect">
            <a:avLst/>
          </a:prstGeom>
          <a:noFill/>
        </p:spPr>
        <p:txBody>
          <a:bodyPr wrap="square" lIns="0" rIns="0" tIns="0" bIns="0" anchor="t">
            <a:noAutofit/>
          </a:bodyPr>
          <a:lstStyle/>
          <a:p>
            <a:pPr algn="l"/>
            <a:r>
              <a:rPr sz="1100" b="1" i="0">
                <a:solidFill>
                  <a:srgbClr val="2F78C4"/>
                </a:solidFill>
                <a:latin typeface="Arial"/>
              </a:rPr>
              <a:t>APPENDIX SEC2</a:t>
            </a:r>
          </a:p>
        </p:txBody>
      </p:sp>
      <p:sp>
        <p:nvSpPr>
          <p:cNvPr id="5" name="Status chip: CHECKED 11 OCT 2026"/>
          <p:cNvSpPr/>
          <p:nvPr/>
        </p:nvSpPr>
        <p:spPr>
          <a:xfrm>
            <a:off x="209423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Status chip: NOT LEGAL ADVICE"/>
          <p:cNvSpPr/>
          <p:nvPr/>
        </p:nvSpPr>
        <p:spPr>
          <a:xfrm>
            <a:off x="4100830" y="274320"/>
            <a:ext cx="165608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NOT LEGAL ADVICE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graphicFrame>
        <p:nvGraphicFramePr>
          <p:cNvPr id="10" name="Table"/>
          <p:cNvGraphicFramePr>
            <a:graphicFrameLocks noGrp="1"/>
          </p:cNvGraphicFramePr>
          <p:nvPr/>
        </p:nvGraphicFramePr>
        <p:xfrm>
          <a:off x="548640" y="1325880"/>
          <a:ext cx="11091672" cy="2743200"/>
        </p:xfrm>
        <a:graphic>
          <a:graphicData uri="http://schemas.openxmlformats.org/drawingml/2006/table">
            <a:tbl>
              <a:tblPr firstRow="1" bandRow="0">
                <a:tableStyleId>{5C22544A-7EE6-4342-B048-85BDC9FD1C3A}</a:tableStyleId>
              </a:tblPr>
              <a:tblGrid>
                <a:gridCol w="2926080"/>
                <a:gridCol w="4023360"/>
                <a:gridCol w="2103120"/>
                <a:gridCol w="2039112"/>
              </a:tblGrid>
              <a:tr h="457200">
                <a:tc>
                  <a:txBody>
                    <a:bodyPr wrap="square" anchor="ctr">
                      <a:noAutofit/>
                    </a:bodyPr>
                    <a:lstStyle/>
                    <a:p>
                      <a:pPr algn="l"/>
                      <a:r>
                        <a:rPr sz="1200" b="1" i="0">
                          <a:solidFill>
                            <a:srgbClr val="FFFFFF"/>
                          </a:solidFill>
                          <a:latin typeface="Arial"/>
                        </a:rPr>
                        <a:t>Service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Role in AI security</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(checked 11 Oct 2026)</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Defender for Cloud AI threat protection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Alerts on jailbreak, data leakage, credential theft for Foundry and Azure OpenAI models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text tokens only</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Purview DSPM (and DSPM for AI)</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Data security posture for Copilot, Copilot Studio, Foundry and third-party AI apps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with Data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Mixed current and preview</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Microsoft Sentinel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SIEM correlation of AI, identity and gateway signals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Security tower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(not re-verified)</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Entra Agent ID and Conditional Access for agents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Agent identities; block or restrict agent sign-ins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 designs, CIS Infra implements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Partly preview; needs Agent 365 licence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Content Safety and Prompt Shields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Prompt-attack and harm filtering at gateway or model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 configures, Security sets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GA (via APIM policy)</a:t>
                      </a:r>
                    </a:p>
                  </a:txBody>
                  <a:tcPr marL="73152" marR="73152" marT="36576" marB="36576" anchor="ctr">
                    <a:solidFill>
                      <a:srgbClr val="FFFFFF"/>
                    </a:solidFill>
                  </a:tcPr>
                </a:tc>
              </a:tr>
            </a:tbl>
          </a:graphicData>
        </a:graphic>
      </p:graphicFrame>
      <p:graphicFrame>
        <p:nvGraphicFramePr>
          <p:cNvPr id="11" name="Table"/>
          <p:cNvGraphicFramePr>
            <a:graphicFrameLocks noGrp="1"/>
          </p:cNvGraphicFramePr>
          <p:nvPr/>
        </p:nvGraphicFramePr>
        <p:xfrm>
          <a:off x="548640" y="4206240"/>
          <a:ext cx="11091672" cy="1554480"/>
        </p:xfrm>
        <a:graphic>
          <a:graphicData uri="http://schemas.openxmlformats.org/drawingml/2006/table">
            <a:tbl>
              <a:tblPr firstRow="1" bandRow="0">
                <a:tableStyleId>{5C22544A-7EE6-4342-B048-85BDC9FD1C3A}</a:tableStyleId>
              </a:tblPr>
              <a:tblGrid>
                <a:gridCol w="2194560"/>
                <a:gridCol w="5486400"/>
                <a:gridCol w="3410712"/>
              </a:tblGrid>
              <a:tr h="274320">
                <a:tc>
                  <a:txBody>
                    <a:bodyPr wrap="square" anchor="ctr">
                      <a:noAutofit/>
                    </a:bodyPr>
                    <a:lstStyle/>
                    <a:p>
                      <a:pPr algn="l"/>
                      <a:r>
                        <a:rPr sz="1200" b="1" i="0">
                          <a:solidFill>
                            <a:srgbClr val="FFFFFF"/>
                          </a:solidFill>
                          <a:latin typeface="Arial"/>
                        </a:rPr>
                        <a:t>Jurisdiction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Checkpoint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Status to verify</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EU</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 Act: Annex III high-risk from 2 Dec 2027; Annex I from 2 Aug 2028; GDPR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 Orrick summary of Reg. (EU) 2026/1744</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UK</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Principles-based regulator guidance; UK GDPR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Verify current government position</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UAE and Saudi Arabia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Personal data protection laws; data residency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Verify sector rules and residency</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Any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ISO/IEC 42001 AI management system (optional)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Customer decision</a:t>
                      </a:r>
                    </a:p>
                  </a:txBody>
                  <a:tcPr marL="73152" marR="73152" marT="36576" marB="36576" anchor="ctr">
                    <a:solidFill>
                      <a:srgbClr val="F5F5F2"/>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Glossary of terms used in this deck</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G1</a:t>
            </a:r>
          </a:p>
        </p:txBody>
      </p:sp>
      <p:sp>
        <p:nvSpPr>
          <p:cNvPr id="5" name="Status chip: REFERENCE"/>
          <p:cNvSpPr/>
          <p:nvPr/>
        </p:nvSpPr>
        <p:spPr>
          <a:xfrm>
            <a:off x="1898650" y="274320"/>
            <a:ext cx="10515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REFERENCE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graphicFrame>
        <p:nvGraphicFramePr>
          <p:cNvPr id="9" name="Table"/>
          <p:cNvGraphicFramePr>
            <a:graphicFrameLocks noGrp="1"/>
          </p:cNvGraphicFramePr>
          <p:nvPr/>
        </p:nvGraphicFramePr>
        <p:xfrm>
          <a:off x="548640" y="1325880"/>
          <a:ext cx="5468112" cy="419100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A2A</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Agent-to-agent protocol for agents calling other agents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Agent 365</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control plane to register, observe and govern agents (per-user licence)</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API Center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Azure registry for APIs and MCP servers; decides which tools exist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APIM</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Azure API Management; the gateway that controls traffic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Copilot Studio</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Microsoft low-code tool to build agents; consumption in Copilot credits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Data Zone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Model processing inside a Microsoft data zone (US, EU or APAC)</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FOCUS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FinOps Open Cost and Usage Specification for cost data exports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Foundry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Microsoft Foundry: Azure platform for models and agents</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2" cy="3596640"/>
        </p:xfrm>
        <a:graphic>
          <a:graphicData uri="http://schemas.openxmlformats.org/drawingml/2006/table">
            <a:tbl>
              <a:tblPr firstRow="1" bandRow="0">
                <a:tableStyleId>{5C22544A-7EE6-4342-B048-85BDC9FD1C3A}</a:tableStyleId>
              </a:tblPr>
              <a:tblGrid>
                <a:gridCol w="1463040"/>
                <a:gridCol w="4005072"/>
              </a:tblGrid>
              <a:tr h="289560">
                <a:tc>
                  <a:txBody>
                    <a:bodyPr wrap="square" anchor="ctr">
                      <a:noAutofit/>
                    </a:bodyPr>
                    <a:lstStyle/>
                    <a:p>
                      <a:pPr algn="l"/>
                      <a:r>
                        <a:rPr sz="1300" b="1" i="0">
                          <a:solidFill>
                            <a:srgbClr val="FFFFFF"/>
                          </a:solidFill>
                          <a:latin typeface="Arial"/>
                        </a:rPr>
                        <a:t>Term</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Meaning</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MCP</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Model Context Protocol: standard way for agents to call tools</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PAYG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Pay as you go: pay per token used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PIM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Entra Privileged Identity Management: just-in-time admin access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PTU</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Provisioned throughput unit: reserved model capacity, billed per hour</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RACI</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Responsible, Accountable, Consulted, Informed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RTO / RPO</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Recovery time objective / recovery point objective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TPM</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Tokens per minute</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Token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Unit of text a model reads or writes; the main pricing unit</a:t>
                      </a:r>
                    </a:p>
                  </a:txBody>
                  <a:tcPr marL="73152" marR="73152" marT="36576" marB="36576" anchor="ctr">
                    <a:solidFill>
                      <a:srgbClr val="F5F5F2"/>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graphicFrame>
        <p:nvGraphicFramePr>
          <p:cNvPr id="9" name="Table"/>
          <p:cNvGraphicFramePr>
            <a:graphicFrameLocks noGrp="1"/>
          </p:cNvGraphicFramePr>
          <p:nvPr/>
        </p:nvGraphicFramePr>
        <p:xfrm>
          <a:off x="548640" y="1325880"/>
          <a:ext cx="11091672" cy="256032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Portfolio of five offerings for validation</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CIS Infra leadership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This deck</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Assessment 04 as entry offer</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CIS Infra leadership</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Deck 04</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M365 versus D365 split of Copilot ownership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Within 30 days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M365 and D365 practice leads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Current account coverage</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Joint-deal lead and attribution rules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Within 30 days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Practice leads with Finance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Appendix A3</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Rates, attribution and margin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Costing model</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Partner programme eligibility</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Before first quote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Microsoft alliance team</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Programme terms</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External launch</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validation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 leadership</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Evidence pack</a:t>
                      </a:r>
                    </a:p>
                  </a:txBody>
                  <a:tcPr marL="73152" marR="73152" marT="36576" marB="36576" anchor="ctr">
                    <a:solidFill>
                      <a:srgbClr val="FFFF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Azure AI Platform Portfolio (master)  ·  v3.0  ·  11 Oct 2026  ·  Working proposal, not approved terms</a:t>
            </a:r>
          </a:p>
        </p:txBody>
      </p:sp>
      <p:sp>
        <p:nvSpPr>
          <p:cNvPr id="7" name="IndexLink">
            <a:hlinkClick action="ppaction://hlinksldjump" r:id="rId16"/>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sp>
        <p:nvSpPr>
          <p:cNvPr id="9" name="TextBox 8"/>
          <p:cNvSpPr txBox="1"/>
          <p:nvPr/>
        </p:nvSpPr>
        <p:spPr>
          <a:xfrm>
            <a:off x="548640" y="1325880"/>
            <a:ext cx="11091672" cy="4937760"/>
          </a:xfrm>
          <a:prstGeom prst="rect">
            <a:avLst/>
          </a:prstGeom>
          <a:noFill/>
        </p:spPr>
        <p:txBody>
          <a:bodyPr wrap="square" lIns="0" rIns="0" tIns="0" bIns="0" anchor="t">
            <a:noAutofit/>
          </a:bodyPr>
          <a:lstStyle/>
          <a:p>
            <a:pPr algn="l">
              <a:spcAft>
                <a:spcPts val="300"/>
              </a:spcAft>
            </a:pPr>
            <a:r>
              <a:rPr sz="1300" b="1" i="0">
                <a:solidFill>
                  <a:srgbClr val="000048"/>
                </a:solidFill>
                <a:latin typeface="Arial"/>
              </a:rPr>
              <a:t>Microsoft Agent 365 now generally available (Microsoft Security blog, 1 May 2026):  </a:t>
            </a:r>
            <a:r>
              <a:rPr sz="1300" b="0" i="0">
                <a:solidFill>
                  <a:srgbClr val="2F78C4"/>
                </a:solidFill>
                <a:latin typeface="Arial"/>
                <a:hlinkClick r:id="rId4"/>
              </a:rPr>
              <a:t>https://www.microsoft.com/en-us/security/blog/2026/05/01/microsoft-agent-365-now-generally-available-expands-capabilities-and-integrations/</a:t>
            </a:r>
          </a:p>
          <a:p>
            <a:pPr algn="l">
              <a:spcAft>
                <a:spcPts val="300"/>
              </a:spcAft>
            </a:pPr>
            <a:r>
              <a:rPr sz="1300" b="1" i="0">
                <a:solidFill>
                  <a:srgbClr val="000048"/>
                </a:solidFill>
                <a:latin typeface="Arial"/>
              </a:rPr>
              <a:t>Agent 365 licensing analysis (SAMexpert, third party, updated 12 Jun 2026):  </a:t>
            </a:r>
            <a:r>
              <a:rPr sz="1300" b="0" i="0">
                <a:solidFill>
                  <a:srgbClr val="2F78C4"/>
                </a:solidFill>
                <a:latin typeface="Arial"/>
                <a:hlinkClick r:id="rId5"/>
              </a:rPr>
              <a:t>https://samexpert.com/agent-365/</a:t>
            </a:r>
          </a:p>
          <a:p>
            <a:pPr algn="l">
              <a:spcAft>
                <a:spcPts val="300"/>
              </a:spcAft>
            </a:pPr>
            <a:r>
              <a:rPr sz="1300" b="1" i="0">
                <a:solidFill>
                  <a:srgbClr val="000048"/>
                </a:solidFill>
                <a:latin typeface="Arial"/>
              </a:rPr>
              <a:t>Foundry Models retirement schedule:  </a:t>
            </a:r>
            <a:r>
              <a:rPr sz="1300" b="0" i="0">
                <a:solidFill>
                  <a:srgbClr val="2F78C4"/>
                </a:solidFill>
                <a:latin typeface="Arial"/>
                <a:hlinkClick r:id="rId6"/>
              </a:rPr>
              <a:t>https://learn.microsoft.com/en-us/azure/foundry/openai/concepts/model-retirement-schedule</a:t>
            </a:r>
          </a:p>
          <a:p>
            <a:pPr algn="l">
              <a:spcAft>
                <a:spcPts val="300"/>
              </a:spcAft>
            </a:pPr>
            <a:r>
              <a:rPr sz="1300" b="1" i="0">
                <a:solidFill>
                  <a:srgbClr val="000048"/>
                </a:solidFill>
                <a:latin typeface="Arial"/>
              </a:rPr>
              <a:t>EU AI Act Update: Digital Omnibus finalises compliance changes (Orrick, 29 Jul 2026):  </a:t>
            </a:r>
            <a:r>
              <a:rPr sz="1300" b="0" i="0">
                <a:solidFill>
                  <a:srgbClr val="2F78C4"/>
                </a:solidFill>
                <a:latin typeface="Arial"/>
                <a:hlinkClick r:id="rId7"/>
              </a:rPr>
              <a:t>https://www.orrick.com/en/Insights/2026/07/EU-AI-Act-Update-Digital-Omnibus-Finalizes-8-Compliance-Changes</a:t>
            </a:r>
          </a:p>
          <a:p>
            <a:pPr algn="l">
              <a:spcAft>
                <a:spcPts val="300"/>
              </a:spcAft>
            </a:pPr>
            <a:r>
              <a:rPr sz="1300" b="1" i="0">
                <a:solidFill>
                  <a:srgbClr val="000048"/>
                </a:solidFill>
                <a:latin typeface="Arial"/>
              </a:rPr>
              <a:t>Register and discover MCP servers in Azure API Center:  </a:t>
            </a:r>
            <a:r>
              <a:rPr sz="1300" b="0" i="0">
                <a:solidFill>
                  <a:srgbClr val="2F78C4"/>
                </a:solidFill>
                <a:latin typeface="Arial"/>
                <a:hlinkClick r:id="rId8"/>
              </a:rPr>
              <a:t>https://learn.microsoft.com/en-us/azure/api-center/register-discover-mcp-server</a:t>
            </a:r>
          </a:p>
          <a:p>
            <a:pPr algn="l">
              <a:spcAft>
                <a:spcPts val="300"/>
              </a:spcAft>
            </a:pPr>
            <a:r>
              <a:rPr sz="1300" b="1" i="0">
                <a:solidFill>
                  <a:srgbClr val="000048"/>
                </a:solidFill>
                <a:latin typeface="Arial"/>
              </a:rPr>
              <a:t>What's new for partners, Jan 2026 (Microsoft Partner blog):  </a:t>
            </a:r>
            <a:r>
              <a:rPr sz="1300" b="0" i="0">
                <a:solidFill>
                  <a:srgbClr val="2F78C4"/>
                </a:solidFill>
                <a:latin typeface="Arial"/>
                <a:hlinkClick r:id="rId9"/>
              </a:rPr>
              <a:t>https://partner.microsoft.com/blog/article/whats-new-for-partners-jan-2026</a:t>
            </a:r>
          </a:p>
          <a:p>
            <a:pPr algn="l">
              <a:spcAft>
                <a:spcPts val="300"/>
              </a:spcAft>
            </a:pPr>
            <a:r>
              <a:rPr sz="1300" b="1" i="0">
                <a:solidFill>
                  <a:srgbClr val="000048"/>
                </a:solidFill>
                <a:latin typeface="Arial"/>
              </a:rPr>
              <a:t>Azure AI Landing Zones (GitHub):  </a:t>
            </a:r>
            <a:r>
              <a:rPr sz="1300" b="0" i="0">
                <a:solidFill>
                  <a:srgbClr val="2F78C4"/>
                </a:solidFill>
                <a:latin typeface="Arial"/>
                <a:hlinkClick r:id="rId10"/>
              </a:rPr>
              <a:t>https://github.com/Azure/AI-Landing-Zones</a:t>
            </a:r>
          </a:p>
          <a:p>
            <a:pPr algn="l">
              <a:spcAft>
                <a:spcPts val="300"/>
              </a:spcAft>
            </a:pPr>
            <a:r>
              <a:rPr sz="1300" b="1" i="0">
                <a:solidFill>
                  <a:srgbClr val="000048"/>
                </a:solidFill>
                <a:latin typeface="Arial"/>
              </a:rPr>
              <a:t>AI threat protection in Microsoft Defender for Cloud:  </a:t>
            </a:r>
            <a:r>
              <a:rPr sz="1300" b="0" i="0">
                <a:solidFill>
                  <a:srgbClr val="2F78C4"/>
                </a:solidFill>
                <a:latin typeface="Arial"/>
                <a:hlinkClick r:id="rId11"/>
              </a:rPr>
              <a:t>https://learn.microsoft.com/en-us/azure/defender-for-cloud/ai-threat-protection</a:t>
            </a:r>
          </a:p>
          <a:p>
            <a:pPr algn="l">
              <a:spcAft>
                <a:spcPts val="300"/>
              </a:spcAft>
            </a:pPr>
            <a:r>
              <a:rPr sz="1300" b="1" i="0">
                <a:solidFill>
                  <a:srgbClr val="000048"/>
                </a:solidFill>
                <a:latin typeface="Arial"/>
              </a:rPr>
              <a:t>Microsoft Purview data security and compliance for AI:  </a:t>
            </a:r>
            <a:r>
              <a:rPr sz="1300" b="0" i="0">
                <a:solidFill>
                  <a:srgbClr val="2F78C4"/>
                </a:solidFill>
                <a:latin typeface="Arial"/>
                <a:hlinkClick r:id="rId12"/>
              </a:rPr>
              <a:t>https://learn.microsoft.com/en-us/purview/ai-microsoft-purview</a:t>
            </a:r>
          </a:p>
          <a:p>
            <a:pPr algn="l">
              <a:spcAft>
                <a:spcPts val="300"/>
              </a:spcAft>
            </a:pPr>
            <a:r>
              <a:rPr sz="1300" b="1" i="0">
                <a:solidFill>
                  <a:srgbClr val="000048"/>
                </a:solidFill>
                <a:latin typeface="Arial"/>
              </a:rPr>
              <a:t>ISO/IEC 42001 AI management systems:  </a:t>
            </a:r>
            <a:r>
              <a:rPr sz="1300" b="0" i="0">
                <a:solidFill>
                  <a:srgbClr val="2F78C4"/>
                </a:solidFill>
                <a:latin typeface="Arial"/>
                <a:hlinkClick r:id="rId13"/>
              </a:rPr>
              <a:t>https://www.iso.org/standard/81230.html</a:t>
            </a:r>
          </a:p>
          <a:p>
            <a:pPr algn="l">
              <a:spcAft>
                <a:spcPts val="300"/>
              </a:spcAft>
            </a:pPr>
            <a:r>
              <a:rPr sz="1300" b="1" i="0">
                <a:solidFill>
                  <a:srgbClr val="000048"/>
                </a:solidFill>
                <a:latin typeface="Arial"/>
              </a:rPr>
              <a:t>CIS Infra Azure AI Platform GTM Proposal V3 (competitor benchmark reviewed 7 Oct 2026):  </a:t>
            </a:r>
            <a:r>
              <a:rPr sz="1300" b="0" i="0">
                <a:solidFill>
                  <a:srgbClr val="2F78C4"/>
                </a:solidFill>
                <a:latin typeface="Arial"/>
                <a:hlinkClick r:id="rId14"/>
              </a:rPr>
              <a:t>https://github.com/upendra25312/AI-Foundry-GTM-offering-/blob/main/CIS_Infra_Azure_AI_Platform_GTM_Proposal_V3.docx</a:t>
            </a:r>
          </a:p>
          <a:p>
            <a:pPr algn="l">
              <a:spcAft>
                <a:spcPts val="300"/>
              </a:spcAft>
            </a:pPr>
            <a:r>
              <a:rPr sz="1300" b="1" i="0">
                <a:solidFill>
                  <a:srgbClr val="000048"/>
                </a:solidFill>
                <a:latin typeface="Arial"/>
              </a:rPr>
              <a:t>Deck 01 to 05 v3.0 source registers:  </a:t>
            </a:r>
            <a:r>
              <a:rPr sz="1300" b="0" i="0">
                <a:solidFill>
                  <a:srgbClr val="2F78C4"/>
                </a:solidFill>
                <a:latin typeface="Arial"/>
                <a:hlinkClick r:id="rId15"/>
              </a:rPr>
              <a:t>See S1 in each deck</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CIS Infra offering team (prepared with Claude)</dc:creator>
  <lastModifiedBy>Walnut Exporter</lastModifiedBy>
  <dc:title>Azure AI Platform Portfolio v3.0</dc:title>
  <dcterms:created xsi:type="dcterms:W3CDTF">2026-10-10T13:56:28.3080000Z</dcterms:created>
  <dcterms:modified xsi:type="dcterms:W3CDTF">2026-10-10T13:56:28.3090000Z</dcterms:modified>
  <dc:subject>Proposed CIS Infra GTM offering for internal leadership review</dc:subject>
</coreProperties>
</file>