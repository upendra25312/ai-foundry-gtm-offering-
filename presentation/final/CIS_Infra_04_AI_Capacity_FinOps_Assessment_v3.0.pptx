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Break-even USD per PTU-month</c:v>
                </c:pt>
              </c:strCache>
            </c:strRef>
          </c:tx>
          <c:spPr>
            <a:solidFill>
              <a:srgbClr val="000048"/>
            </a:solidFill>
          </c:spPr>
          <c:cat>
            <c:strRef>
              <c:f>Sheet1!$A$2:$A$9</c:f>
              <c:strCache>
                <c:ptCount val="8"/>
                <c:pt idx="0">
                  <c:v>30%</c:v>
                </c:pt>
                <c:pt idx="1">
                  <c:v>40%</c:v>
                </c:pt>
                <c:pt idx="2">
                  <c:v>50%</c:v>
                </c:pt>
                <c:pt idx="3">
                  <c:v>60%</c:v>
                </c:pt>
                <c:pt idx="4">
                  <c:v>70%</c:v>
                </c:pt>
                <c:pt idx="5">
                  <c:v>80%</c:v>
                </c:pt>
                <c:pt idx="6">
                  <c:v>90%</c:v>
                </c:pt>
                <c:pt idx="7">
                  <c:v>100%</c:v>
                </c:pt>
              </c:strCache>
            </c:strRef>
          </c:cat>
          <c:val>
            <c:numRef>
              <c:f>Sheet1!$B$2:$B$9</c:f>
              <c:numCache>
                <c:formatCode>General</c:formatCode>
                <c:ptCount val="8"/>
                <c:pt idx="0">
                  <c:v>79</c:v>
                </c:pt>
                <c:pt idx="1">
                  <c:v>105</c:v>
                </c:pt>
                <c:pt idx="2">
                  <c:v>131</c:v>
                </c:pt>
                <c:pt idx="3">
                  <c:v>158</c:v>
                </c:pt>
                <c:pt idx="4">
                  <c:v>184</c:v>
                </c:pt>
                <c:pt idx="5">
                  <c:v>210</c:v>
                </c:pt>
                <c:pt idx="6">
                  <c:v>237</c:v>
                </c:pt>
                <c:pt idx="7">
                  <c:v>263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0D0CE"/>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spend is the line CFOs now ask about. This offering is a short, fixed-scope assessment that measures real demand and tells the customer which way to buy model capacity, and what their agent licences really cost. It is also our entry offer into the rest of the portfolio.</a:t>
            </a:r>
          </a:p>
          <a:p/>
          <a:p>
            <a:r>
              <a:t>Likely question: Is this a FinOps tool?</a:t>
            </a:r>
          </a:p>
          <a:p>
            <a:r>
              <a:t>Answer: No. It uses native Azure data and a transparent cost model. The value is the method and the decision memo, not software.</a:t>
            </a:r>
          </a:p>
          <a:p/>
          <a:p>
            <a:r>
              <a:t>DETAIL AND CAVEATS</a:t>
            </a:r>
          </a:p>
          <a:p>
            <a:r>
              <a:t>Opening slide.</a:t>
            </a:r>
          </a:p>
          <a:p/>
          <a:p>
            <a:r>
              <a:t>No baseline deck for this offering was supplied with the original request; it was built new in v2.0 from the brief, the GTM proposal V3 and verified Microsoft sources. Version 3.0 moves the worked example to gpt-5.4 (gpt-4.1 is deprecated), adds licence economics for Agent 365 and Copilot Studio, and a FinOps operating model.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pitch is simple: measure before you commit. We do not tell customers to buy reserved capacity on a slide; we show the break-even price from their own data and their own agreement prices.</a:t>
            </a:r>
          </a:p>
          <a:p/>
          <a:p>
            <a:r>
              <a:t>Likely question: Why fixed scope?</a:t>
            </a:r>
          </a:p>
          <a:p>
            <a:r>
              <a:t>Answer: It is easy to buy, low risk, and it creates the evidence for the landing zone, gateway and managed service that follow.</a:t>
            </a:r>
          </a:p>
          <a:p/>
          <a:p>
            <a:r>
              <a:t>DETAIL AND CAVEATS</a:t>
            </a:r>
          </a:p>
          <a:p>
            <a:r>
              <a:t>The assessment does not recommend a real PTU or GPU commitment from illustrative economics; it produces evidence and pricing inputs for the customer to decide. Cognizant does not give financial advice.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facts make this urgent. Models retire inside reservation terms, list-price PTU rarely beats pay as you go, and agent licences add a new cost line nobody has modelled.</a:t>
            </a:r>
          </a:p>
          <a:p/>
          <a:p>
            <a:r>
              <a:t>Likely question: So is PTU a bad idea?</a:t>
            </a:r>
          </a:p>
          <a:p>
            <a:r>
              <a:t>Answer: Not always. It buys latency and guaranteed throughput, and a reservation price can change the answer. That is exactly what the assessment measures.</a:t>
            </a:r>
          </a:p>
          <a:p/>
          <a:p>
            <a:r>
              <a:t>DETAIL AND CAVEATS</a:t>
            </a:r>
          </a:p>
          <a:p>
            <a:r>
              <a:t>Drivers are sourced facts plus arithmetic from list prices. No customer or pipeline is claimed.</a:t>
            </a:r>
          </a:p>
          <a:p/>
          <a:p>
            <a:r>
              <a:t>Sources (checked 11 Oct 2026):</a:t>
            </a:r>
          </a:p>
          <a:p>
            <a:r>
              <a:t>Foundry Models retirement schedule: https://learn.microsoft.com/en-us/azure/foundry/openai/concepts/model-retirement-schedule</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entry point of the portfolio. Its outputs set the deployment types for the landing zone and the routing rules for the gateway, and it repeats every month inside managed operations.</a:t>
            </a:r>
          </a:p>
          <a:p/>
          <a:p>
            <a:r>
              <a:t>Likely question: Do we model Microsoft 365 Copilot licences?</a:t>
            </a:r>
          </a:p>
          <a:p>
            <a:r>
              <a:t>Answer: No. Those are owned by our M365 and D365 teams. We model Azure-billed items, Agent 365 and Copilot Studio credits where they affect the AI platform.</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measure, model and recommend gates. Purchases stay with the customer and procurement.</a:t>
            </a:r>
          </a:p>
          <a:p/>
          <a:p>
            <a:r>
              <a:t>Likely question: What does the customer need to provide?</a:t>
            </a:r>
          </a:p>
          <a:p>
            <a:r>
              <a:t>Answer: Access to cost data and metrics, their Microsoft agreement prices, and named workload owners.</a:t>
            </a:r>
          </a:p>
          <a:p/>
          <a:p>
            <a:r>
              <a:t>DETAIL AND CAVEATS</a:t>
            </a:r>
          </a:p>
          <a:p>
            <a:r>
              <a:t>Scope and pricing units. Implementation of telemetry or routing changes is priced in offerings 01 and 03.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capacity choice is one of four. Pay as you go for uncertain demand, PTU for measured sustained load, hybrid for a baseline plus overflow, and self-hosted GPUs only when PaaS cannot meet a control need. Each has a main risk, shown in amber.</a:t>
            </a:r>
          </a:p>
          <a:p/>
          <a:p>
            <a:r>
              <a:t>Likely question: Which do most customers end up with?</a:t>
            </a:r>
          </a:p>
          <a:p>
            <a:r>
              <a:t>Answer: We do not assume. Many start on pay as you go; the assessment shows when a baseline justifies PTU.</a:t>
            </a:r>
          </a:p>
          <a:p/>
          <a:p>
            <a:r>
              <a:t>DETAIL AND CAVEATS</a:t>
            </a:r>
          </a:p>
          <a:p>
            <a:r>
              <a:t>PTU fits measured, sustained workloads with latency targets; hybrid fits an established baseline with governed overflow; self-hosted GPU fits only when control or workload requirements justify the operating burden. Detail in appendix A1. Telemetry architecture for the assessment: appendix A15.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number decides this: the price per PTU-month. In this example, PTU only beats pay as you go if it costs less than about $210 a month in a hybrid design. The hourly list price is 730 dollars. So the question for procurement is whether their reservation price closes that gap, and whether latency needs justify paying more.</a:t>
            </a:r>
          </a:p>
          <a:p/>
          <a:p>
            <a:r>
              <a:t>Likely question: Is this example realistic?</a:t>
            </a:r>
          </a:p>
          <a:p>
            <a:r>
              <a:t>Answer: The prices are real list prices; the workload is assumed. The assessment replaces the assumptions with measured traffic.</a:t>
            </a:r>
          </a:p>
          <a:p/>
          <a:p>
            <a:r>
              <a:t>DETAIL AND CAVEATS</a:t>
            </a:r>
          </a:p>
          <a:p>
            <a:r>
              <a:t>Worked example (appendix A8 to A11). Assumed workload: 100 tasks per minute on average, 3 model calls per task, 5% retries, 2000 input tokens (25% cached) and 400 output tokens per call, daily profile peaking at 1.66x the mean. Model gpt-5.4 Global Standard at East US 2 list prices ($2.50 input, $0.25 cached, $15.00 output per 1M tokens). PTU parameters for gpt-5.4: 2,400 input TPM per PTU, 1 output token = 6 input, minimum 15, increment 5. PAYG cost $136,245 a month. PTU sized to peak = 850 PTU; hybrid baseline = 425 PTU with 34% of calls overflowing. Break-even effective PTU price: $160 per PTU-month (peak-sized) and $210 (hybrid). Hourly list price for Global provisioned is $1.00 per PTU-hour = $730 per PTU-month. Reservation prices are not in the retail price API; they come from the customer agreement. Not a recommendation.</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assessment itself is four to six weeks. Benchmarks, licence checks and the operating model are add-ons sold when the customer needs them. The monthly review moves into managed operations.</a:t>
            </a:r>
          </a:p>
          <a:p/>
          <a:p>
            <a:r>
              <a:t>Likely question: Can it be shorter?</a:t>
            </a:r>
          </a:p>
          <a:p>
            <a:r>
              <a:t>Answer: Only with existing telemetry. Without it we need at least two weeks of measured traffic.</a:t>
            </a:r>
          </a:p>
          <a:p/>
          <a:p>
            <a:r>
              <a:t>DETAIL AND CAVEATS</a:t>
            </a:r>
          </a:p>
          <a:p>
            <a:r>
              <a:t>Ranges across CIS Infra, AI and Finance support.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common failure is advice without data. Our rule is no commitment advice without measured traffic and the customer's own prices.</a:t>
            </a:r>
          </a:p>
          <a:p/>
          <a:p>
            <a:r>
              <a:t>DETAIL AND CAVEATS</a:t>
            </a:r>
          </a:p>
          <a:p>
            <a:r>
              <a:t>Top risks for the assessment and for any capacity decision that follows.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assessment itself is four to six weeks. Benchmarks, licence checks and the operating model are add-ons sold when the customer needs them. The monthly review moves into managed operations.</a:t>
            </a:r>
          </a:p>
          <a:p/>
          <a:p>
            <a:r>
              <a:t>Likely question: Can it be shorter?</a:t>
            </a:r>
          </a:p>
          <a:p>
            <a:r>
              <a:t>Answer: Only with existing telemetry. Without it we need at least two weeks of measured traffic.</a:t>
            </a:r>
          </a:p>
          <a:p/>
          <a:p>
            <a:r>
              <a:t>DETAIL AND CAVEATS</a:t>
            </a:r>
          </a:p>
          <a:p>
            <a:r>
              <a:t>Ranges across CIS Infra, AI and Finance support.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"Decision criteria for PAYG, PTU, hybrid and self-hosted". Detailed decision criteria. Each criterion needs evidence from the assessment. A self-hosted model is a different model from a Foundry-hosted one, so cost comparisons are not like-for-like unless quality is re-evaluated.</a:t>
            </a:r>
          </a:p>
          <a:p/>
          <a:p>
            <a:r>
              <a:t>DETAIL AND CAVEATS</a:t>
            </a:r>
          </a:p>
          <a:p>
            <a:r>
              <a:t>Detailed decision criteria. Each criterion needs evidence from the assessment. A self-hosted model is a different model from a Foundry-hosted one, so cost comparisons are not like-for-like unless quality is re-evaluated.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"Workload characterisation inputs". Inputs collected in the assessment, with their usual source. Every assumed value is labelled in the memo.</a:t>
            </a:r>
          </a:p>
          <a:p/>
          <a:p>
            <a:r>
              <a:t>DETAIL AND CAVEATS</a:t>
            </a:r>
          </a:p>
          <a:p>
            <a:r>
              <a:t>Inputs collected in the assessment, with their usual source. Every assumed value is labelled in the memo.</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loops, retries and tool calls multiply tokens". Illustration using the worked-example assumptions: one task drives 3 model calls, plus 5% retries, so about 3.15 calls per task. Tool results added to the prompt grow the context on later calls, which this simple example does not model.</a:t>
            </a:r>
          </a:p>
          <a:p/>
          <a:p>
            <a:r>
              <a:t>DETAIL AND CAVEATS</a:t>
            </a:r>
          </a:p>
          <a:p>
            <a:r>
              <a:t>Illustration using the worked-example assumptions: one task drives 3 model calls, plus 5% retries, so about 3.15 calls per task. Tool results added to the prompt grow the context on later calls, which this simple example does not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"Quota, capacity and reservations are different things". 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DETAIL AND CAVEATS</a:t>
            </a:r>
          </a:p>
          <a:p>
            <a:r>
              <a:t>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Sources (checked 11 Oct 2026):</a:t>
            </a:r>
          </a:p>
          <a:p>
            <a:r>
              <a:t>Provisioned throughput concepts: https://learn.microsoft.com/en-us/azure/foundry/openai/concepts/provisioned-throughput</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sizing method and current parameters". 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DETAIL AND CAVEATS</a:t>
            </a:r>
          </a:p>
          <a:p>
            <a:r>
              <a:t>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Sources (checked 11 Oct 2026):</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"Commitment and model-lifecycle risk". 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DETAIL AND CAVEATS</a:t>
            </a:r>
          </a:p>
          <a:p>
            <a:r>
              <a:t>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Sources (checked 11 Oct 2026):</a:t>
            </a:r>
          </a:p>
          <a:p>
            <a:r>
              <a:t>Foundry Models retirement schedule: https://learn.microsoft.com/en-us/azure/foundry/openai/concepts/model-retirement-schedule</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"Reservation coverage versus actual utilisation". Coverage measures how much of deployed PTU is billed at reserved rates. Utilisation measures how much of deployed capacity is actually used. High coverage with low utilisation wastes money; deployed PTUs above the reservation are billed hourly.</a:t>
            </a:r>
          </a:p>
          <a:p/>
          <a:p>
            <a:r>
              <a:t>DETAIL AND CAVEATS</a:t>
            </a:r>
          </a:p>
          <a:p>
            <a:r>
              <a:t>Coverage measures how much of deployed PTU is billed at reserved rates. Utilisation measures how much of deployed capacity is actually used. High coverage with low utilisation wastes money; deployed PTUs above the reservation are billed hourly.</a:t>
            </a:r>
          </a:p>
          <a:p/>
          <a:p>
            <a:r>
              <a:t>Sources (checked 11 Oct 2026):</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inputs: verified prices, assumed load". Every assumed value is labelled. Prices are Azure Retail Prices API list prices, East US 2, USD, retrieved 11 Oct 2026; enterprise prices differ. Profile: 8 hours at 0.3, 10 business hours at 1.6, 6 evening hours at 0.8, normalised so the daily mean is 1.0.</a:t>
            </a:r>
          </a:p>
          <a:p/>
          <a:p>
            <a:r>
              <a:t>DETAIL AND CAVEATS</a:t>
            </a:r>
          </a:p>
          <a:p>
            <a:r>
              <a:t>Every assumed value is labelled. Prices are Azure Retail Prices API list prices, East US 2, USD, retrieved 11 Oct 2026; enterprise prices differ. Profile: 8 hours at 0.3, 10 business hours at 1.6, 6 evening hours at 0.8, normalised so the daily mean is 1.0.</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results". Calculation: average calls 315 per minute; monthly calls 13,797,000 (730 hours). Cost per call $0.00988. Normalised tokens per call 3900.</a:t>
            </a:r>
          </a:p>
          <a:p/>
          <a:p>
            <a:r>
              <a:t>DETAIL AND CAVEATS</a:t>
            </a:r>
          </a:p>
          <a:p>
            <a:r>
              <a:t>Calculation: average calls 315 per minute; monthly calls 13,797,000 (730 hours). Cost per call $0.00988. Normalised tokens per call 3900. Peak calls 521 per minute need 850 PTU (rounded up to increment). Hybrid baseline sized to the evening level needs 425 PTU; 34.4% of calls overflow to PAYG, costing $46,828. Average utilisation: 60% peak-sized, 79% hybrid baseline. Break-even = PAYG cost avoided ÷ PTUs.</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break-even price rises with utilisation". 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DETAIL AND CAVEATS</a:t>
            </a:r>
          </a:p>
          <a:p>
            <a:r>
              <a:t>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which assumptions move the answer". Each row changes one assumption from the base case and recomputes PAYG cost, PTU counts and break-even prices with the same method. Calls per task scale cost and PTUs together, so break-even barely moves; cache rate and output share change the balance.</a:t>
            </a:r>
          </a:p>
          <a:p/>
          <a:p>
            <a:r>
              <a:t>DETAIL AND CAVEATS</a:t>
            </a:r>
          </a:p>
          <a:p>
            <a:r>
              <a:t>Each row changes one assumption from the base case and recomputes PAYG cost, PTU counts and break-even prices with the same method. Calls per task scale cost and PTUs together, so break-even barely moves; cache rate and output share change the balance.</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inference: what drives capacity". 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DETAIL AND CAVEATS</a:t>
            </a:r>
          </a:p>
          <a:p>
            <a:r>
              <a:t>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Sources (checked 11 Oct 2026):</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break-even throughput, not GPU count". 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DETAIL AND CAVEATS</a:t>
            </a:r>
          </a:p>
          <a:p>
            <a:r>
              <a:t>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Sources (checked 11 Oct 2026):</a:t>
            </a:r>
          </a:p>
          <a:p>
            <a:r>
              <a:t>Azure Retail Prices API: ND H100 v5, East US 2: https://prices.azure.com/api/retail/prices?$filter=serviceName eq 'Virtual Machines' and armRegionName eq 'eastus2' and contains(armSkuName,'H100')</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"Compare options on the same cost boundary". Comparable total-cost boundaries. Each option must include the same lines, or an explicit zero with a reason.</a:t>
            </a:r>
          </a:p>
          <a:p/>
          <a:p>
            <a:r>
              <a:t>DETAIL AND CAVEATS</a:t>
            </a:r>
          </a:p>
          <a:p>
            <a:r>
              <a:t>Comparable total-cost boundaries. Each option must include the same lines, or an explicit zero with a reason.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Data comes from four places: gateway token metrics, deployment metrics, cost exports and reservation data. We join them in Log Analytics and a cost model, and the output is the decision memo.</a:t>
            </a:r>
          </a:p>
          <a:p/>
          <a:p>
            <a:r>
              <a:t>Likely question: Do we install a tool?</a:t>
            </a:r>
          </a:p>
          <a:p>
            <a:r>
              <a:t>Answer: No. Native Azure services plus a transparent model the customer keeps.</a:t>
            </a:r>
          </a:p>
          <a:p/>
          <a:p>
            <a:r>
              <a:t>DETAIL AND CAVEATS</a:t>
            </a:r>
          </a:p>
          <a:p>
            <a:r>
              <a:t>Rebuilt editable telemetry architecture (audit finding: rebuild the low-resolution telemetry diagram). Steps: (1) API Management emits token metrics per caller, agent and model; (2) Foundry deployments expose token and utilisation metrics in Azure Monitor; (3) Cost Management exports actual and amortised cost daily to a Storage account; (4) reservation and quota data are pulled on schedule; (5) a cost model joins usage to price by model, deployment type and token type; (6) the workbook shows unit cost, utilisation, coverage and overflow. Identity: read-only managed identity. Note Log Analytics ingestion is itself a cost.</a:t>
            </a:r>
          </a:p>
          <a:p/>
          <a:p>
            <a:r>
              <a:t>Sources (checked 11 Oct 2026):</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"Cost allocation and showback". Allocation uses identity-derived dimensions from the gateway and tags from Azure resources. Shared platform costs are allocated once by an agreed key.</a:t>
            </a:r>
          </a:p>
          <a:p/>
          <a:p>
            <a:r>
              <a:t>DETAIL AND CAVEATS</a:t>
            </a:r>
          </a:p>
          <a:p>
            <a:r>
              <a:t>Allocation uses identity-derived dimensions from the gateway and tags from Azure resources. Shared platform costs are allocated once by an agreed key.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"Deployment type changes price and processing location". gpt-5.4 East US 2 retail list prices, USD, retrieved 11 Oct 2026. gpt-5.4 has no Standard (regional) pay-as-you-go row; Regional provisioned is available only in Germany West Central, Sweden Central and UK South. Provisioned hourly meters are per deployment type, carried from the v2 check.</a:t>
            </a:r>
          </a:p>
          <a:p/>
          <a:p>
            <a:r>
              <a:t>DETAIL AND CAVEATS</a:t>
            </a:r>
          </a:p>
          <a:p>
            <a:r>
              <a:t>gpt-5.4 East US 2 retail list prices, USD, retrieved 11 Oct 2026. gpt-5.4 has no Standard (regional) pay-as-you-go row; Regional provisioned is available only in Germany West Central, Sweden Central and UK South. Provisioned hourly meters are per deployment type, carried from the v2 check. Processing location per deployment type from the deployment types page (updated 2026-08-12). Data zones: US, EU, APAC; no UK or Middle East data zone.</a:t>
            </a:r>
          </a:p>
          <a:p/>
          <a:p>
            <a:r>
              <a:t>Sources (checked 11 Oct 2026):</a:t>
            </a:r>
          </a:p>
          <a:p>
            <a:r>
              <a:t>Azure Retail Prices API: gpt-5.4, East US 2: https://prices.azure.com/api/retail/prices?$filter=armRegionName eq 'eastus2' and contains(meterName,'5.4')</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"Assessment deliverables and acceptance". Proposed deliverables and acceptance. The memo states assumptions, sources and missing inputs; it does not commit the customer or Cognizant to a capacity purchase.</a:t>
            </a:r>
          </a:p>
          <a:p/>
          <a:p>
            <a:r>
              <a:t>DETAIL AND CAVEATS</a:t>
            </a:r>
          </a:p>
          <a:p>
            <a:r>
              <a:t>Proposed deliverables and acceptance. The memo states assumptions, sources and missing inputs; it does not commit the customer or Cognizant to a capacity purchase.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platforms add licence lines that sit outside the Azure bill. We check three: Agent 365 per user, Copilot Studio credits billed through Azure, and whether the customer already owns them through E7. Microsoft 365 Copilot seats stay with our M365 and D365 teams.</a:t>
            </a:r>
          </a:p>
          <a:p/>
          <a:p>
            <a:r>
              <a:t>Likely question: Should customers buy E7?</a:t>
            </a:r>
          </a:p>
          <a:p>
            <a:r>
              <a:t>Answer: That is their licensing decision with their Microsoft partner. We show the AI platform cost effect of each option.</a:t>
            </a:r>
          </a:p>
          <a:p/>
          <a:p>
            <a:r>
              <a:t>DETAIL AND CAVEATS</a:t>
            </a:r>
          </a:p>
          <a:p>
            <a:r>
              <a:t>Agent 365: GA 1 May 2026, $15 per user per month, or included in Microsoft 365 E7 (Microsoft Security blog). E7 list of about $99 per user per month and Copilot Studio credit prices ($0.01 per credit pay-as-you-go billed through Azure; capacity pack $200 per 25,000 credits a month) come from SAMexpert, a third-party licensing analyst, updated 12 Jun 2026; verify against the customer agreement. Microsoft 365 Copilot licensing is owned by the Cognizant M365 and D365 teams and is outside this assessment, except as an input when the customer asks for a combined view. Cognizant does not resell or advise on licence purchase in this offering.</a:t>
            </a:r>
          </a:p>
          <a:p/>
          <a:p>
            <a:r>
              <a:t>Sources (checked 11 Oct 2026):</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After the memo, someone has to keep the numbers honest. This is the cadence we propose: weekly anomalies, monthly unit cost and utilisation, quarterly commitments and model retirements. It runs inside managed operations.</a:t>
            </a:r>
          </a:p>
          <a:p/>
          <a:p>
            <a:r>
              <a:t>Likely question: Who owns it?</a:t>
            </a:r>
          </a:p>
          <a:p>
            <a:r>
              <a:t>Answer: The customer FinOps lead is accountable. We run the data and the reviews.</a:t>
            </a:r>
          </a:p>
          <a:p/>
          <a:p>
            <a:r>
              <a:t>DETAIL AND CAVEATS</a:t>
            </a:r>
          </a:p>
          <a:p>
            <a:r>
              <a:t>Proposed operating model after the assessment. Cost Management exports support the FOCUS format for standardised cost data. Showback first; chargeback only when Finance approves allocation rules. Cadence: weekly anomaly review, monthly unit-cost and utilisation review, quarterly commitment and lifecycle review. Roles follow the RACI in appendix R1. Optional add-on priced separately.</a:t>
            </a:r>
          </a:p>
          <a:p/>
          <a:p>
            <a:r>
              <a:t>Sources (checked 11 Oct 2026):</a:t>
            </a:r>
          </a:p>
          <a:p>
            <a:r>
              <a:t>Cost Management exports, including FOCUS format: https://learn.microsoft.com/en-us/azure/cost-management-billing/costs/tutorial-improved-exports</a:t>
            </a:r>
          </a:p>
          <a:p>
            <a:r>
              <a:t>AI gateway capabilities in API Management: https://learn.microsoft.com/en-us/azure/api-management/genai-gateway-capabilities</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Any commitment is the customer's decision; the memo informs it. The customer column here covers the customer sponsor and procurement.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chart" Target="../charts/chart1.xml"/><Relationship Id="rId5"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hyperlink" Target="https://prices.azure.com/api/retail/prices?$filter=armRegionName eq 'eastus2' and contains(meterName,'5.4')" TargetMode="External"/><Relationship Id="rId5" Type="http://schemas.openxmlformats.org/officeDocument/2006/relationships/hyperlink" Target="https://www.microsoft.com/en-us/security/blog/2026/05/01/microsoft-agent-365-now-generally-available-expands-capabilities-and-integrations/" TargetMode="External"/><Relationship Id="rId6" Type="http://schemas.openxmlformats.org/officeDocument/2006/relationships/hyperlink" Target="https://samexpert.com/agent-365/" TargetMode="External"/><Relationship Id="rId7" Type="http://schemas.openxmlformats.org/officeDocument/2006/relationships/hyperlink" Target="https://learn.microsoft.com/en-us/azure/cost-management-billing/costs/tutorial-improved-exports" TargetMode="External"/><Relationship Id="rId8" Type="http://schemas.openxmlformats.org/officeDocument/2006/relationships/hyperlink" Target="https://learn.microsoft.com/en-us/azure/defender-for-cloud/ai-threat-protection" TargetMode="External"/><Relationship Id="rId9" Type="http://schemas.openxmlformats.org/officeDocument/2006/relationships/hyperlink" Target="https://learn.microsoft.com/en-us/purview/ai-microsoft-purview" TargetMode="External"/><Relationship Id="rId10" Type="http://schemas.openxmlformats.org/officeDocument/2006/relationships/hyperlink" Target="https://www.orrick.com/en/Insights/2026/07/EU-AI-Act-Update-Digital-Omnibus-Finalizes-8-Compliance-Changes" TargetMode="External"/><Relationship Id="rId11" Type="http://schemas.openxmlformats.org/officeDocument/2006/relationships/hyperlink" Target="https://learn.microsoft.com/en-us/azure/foundry/foundry-models/concepts/models-sold-directly-by-azure-region-availability"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learn.microsoft.com/en-us/azure/foundry/openai/how-to/provisioned-throughput-sizing" TargetMode="External"/><Relationship Id="rId14" Type="http://schemas.openxmlformats.org/officeDocument/2006/relationships/hyperlink" Target="https://learn.microsoft.com/en-us/azure/foundry/openai/how-to/provisioned-throughput-onboarding" TargetMode="External"/><Relationship Id="rId15" Type="http://schemas.openxmlformats.org/officeDocument/2006/relationships/hyperlink" Target="https://learn.microsoft.com/en-us/azure/foundry/foundry-models/concepts/deployment-types" TargetMode="External"/><Relationship Id="rId16" Type="http://schemas.openxmlformats.org/officeDocument/2006/relationships/hyperlink" Target="https://learn.microsoft.com/en-us/azure/foundry/openai/concepts/model-retirement-schedule" TargetMode="External"/><Relationship Id="rId17" Type="http://schemas.openxmlformats.org/officeDocument/2006/relationships/hyperlink" Target="https://learn.microsoft.com/en-us/azure/virtual-machines/sizes/gpu-accelerated/ndh100v5-series" TargetMode="External"/><Relationship Id="rId18" Type="http://schemas.openxmlformats.org/officeDocument/2006/relationships/hyperlink" Target="https://prices.azure.com/api/retail/prices?$filter=serviceName eq 'Virtual Machines' and armRegionName eq 'eastus2' and contains(armSkuName,'H100')" TargetMode="External"/><Relationship Id="rId19" Type="http://schemas.openxmlformats.org/officeDocument/2006/relationships/hyperlink" Target="https://prices.azure.com/api/retail/prices?$filter=serviceName eq 'Log Analytics' and armRegionName eq 'eastus2'" TargetMode="External"/><Relationship Id="rId20" Type="http://schemas.openxmlformats.org/officeDocument/2006/relationships/hyperlink" Target="https://learn.microsoft.com/en-us/azure/api-management/genai-gateway-capabilities" TargetMode="External"/><Relationship Id="rId21" Type="http://schemas.openxmlformats.org/officeDocument/2006/relationships/hyperlink" Target="https://learn.microsoft.com/en-us/azure/architecture/icons/" TargetMode="External"/><Relationship Id="rId22" Type="http://schemas.openxmlformats.org/officeDocument/2006/relationships/hyperlink" Target="https://github.com/upendra25312/AI-Foundry-GTM-offering-/blob/main/CIS_Infra_Azure_AI_Platform_GTM_Proposal_V3.docx" TargetMode="External"/><Relationship Id="rId23"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Capacity and FinOps Assessment</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Measure demand, then choose PAYG, PTU, hybrid or self-hosted capacity on evidence</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Fixed-scope assessment with transparent cost models and decision gates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OFFERING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Commit capacity on measured load, not vendor sales pressure</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MEASURED DEMAND BASELINE · RIGOROUS BREAK-EVEN SIZING · PORTFOLIO ENTRY OFFER</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ENTERPRISE BLOCKER</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Speculative Buys</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Guesswork Risk</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AI capacity purchased under vendor pressure before measuring traffic.</a:t>
            </a:r>
          </a:p>
          <a:p>
            <a:pPr>
              <a:spcAft>
                <a:spcPts val="800"/>
              </a:spcAft>
              <a:defRPr sz="1200">
                <a:solidFill>
                  <a:srgbClr val="0F172A"/>
                </a:solidFill>
              </a:defRPr>
            </a:pPr>
            <a:r>
              <a:t>• 1-year PTUs outlive rapidly retiring models; unmeasured loops multiply costs.</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WHAT CIS INFRA DELIVERS</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FinOps Sizing</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Measured Data</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Fixed-scope assessment measuring actual token demand and peak concurrency.</a:t>
            </a:r>
          </a:p>
          <a:p>
            <a:pPr>
              <a:spcAft>
                <a:spcPts val="800"/>
              </a:spcAft>
              <a:defRPr sz="1200">
                <a:solidFill>
                  <a:srgbClr val="0F172A"/>
                </a:solidFill>
              </a:defRPr>
            </a:pPr>
            <a:r>
              <a:t>• Rigorous mathematical modeling comparing PAYG, PTU, Hybrid, and GPU paths.</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MEASURABLE OUTCOME</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Defensible ROI</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100% Data-Backed</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Executive decision memo with exact break-even curves and sensitivity tables.</a:t>
            </a:r>
          </a:p>
          <a:p>
            <a:pPr>
              <a:spcAft>
                <a:spcPts val="800"/>
              </a:spcAft>
              <a:defRPr sz="1200">
                <a:solidFill>
                  <a:srgbClr val="0F172A"/>
                </a:solidFill>
              </a:defRPr>
            </a:pPr>
            <a:r>
              <a:t>• Clear CFO commitment gates and elimination of multi-million dollar waste.</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a:t>
            </a:r>
            <a:r>
              <a:rPr sz="1200" b="1">
                <a:solidFill>
                  <a:srgbClr val="0A192F"/>
                </a:solidFill>
              </a:rPr>
              <a:t>Approve Offering 04 as the recommended portfolio entry offer; enforce governance rule: zero commitments without measured data.</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TRIGGERS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Variable AI workloads risk token overspend and quota starvation</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200" b="1">
                <a:solidFill>
                  <a:srgbClr val="0078D4"/>
                </a:solidFill>
              </a:defRPr>
            </a:pPr>
            <a:r>
              <a:t>&lt;12 Mo</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Rapid Model Churn</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Models retire fast (gpt-4.1 in Apr 2027, gpt-5.4 in Sep 2027); a 1-year PTU commitment outlives the active foundation model.</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200" b="1">
                <a:solidFill>
                  <a:srgbClr val="D83B01"/>
                </a:solidFill>
              </a:defRPr>
            </a:pPr>
            <a:r>
              <a:t>&gt;70%</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Break-Even Threshold</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At list price ($730/PTU-mo), utilization must exceed 70% to beat PAYG list rates; under-utilized reservations burn cash.</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200" b="1">
                <a:solidFill>
                  <a:srgbClr val="00A389"/>
                </a:solidFill>
              </a:defRPr>
            </a:pPr>
            <a:r>
              <a:t>$15/user</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New License Lines</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Agent 365 ($15/mo) and Copilot Studio consumption credits add multi-layered software licensing costs onto infrastructure budgets.</a:t>
            </a:r>
          </a:p>
        </p:txBody>
      </p:sp>
      <p:sp>
        <p:nvSpPr>
          <p:cNvPr id="21" name="Rounded Rectangle 20"/>
          <p:cNvSpPr/>
          <p:nvPr/>
        </p:nvSpPr>
        <p:spPr>
          <a:xfrm>
            <a:off x="731520" y="3749039"/>
            <a:ext cx="106984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931920"/>
            <a:ext cx="4846320" cy="2103120"/>
          </a:xfrm>
          <a:prstGeom prst="rect">
            <a:avLst/>
          </a:prstGeom>
          <a:noFill/>
        </p:spPr>
        <p:txBody>
          <a:bodyPr wrap="square">
            <a:spAutoFit/>
          </a:bodyPr>
          <a:lstStyle/>
          <a:p>
            <a:pPr>
              <a:spcAft>
                <a:spcPts val="600"/>
              </a:spcAft>
              <a:defRPr sz="1300" b="1">
                <a:solidFill>
                  <a:srgbClr val="0A192F"/>
                </a:solidFill>
              </a:defRPr>
            </a:pPr>
            <a:r>
              <a:t>THE ECONOMIC BUYER</a:t>
            </a:r>
          </a:p>
          <a:p>
            <a:pPr>
              <a:spcAft>
                <a:spcPts val="400"/>
              </a:spcAft>
              <a:defRPr sz="1100">
                <a:solidFill>
                  <a:srgbClr val="0F172A"/>
                </a:solidFill>
              </a:defRPr>
            </a:pPr>
            <a:r>
              <a:t>• Primary Buyer: Enterprise FinOps Lead or CFO Delegate.</a:t>
            </a:r>
          </a:p>
          <a:p>
            <a:pPr>
              <a:spcAft>
                <a:spcPts val="400"/>
              </a:spcAft>
              <a:defRPr sz="1100">
                <a:solidFill>
                  <a:srgbClr val="0F172A"/>
                </a:solidFill>
              </a:defRPr>
            </a:pPr>
            <a:r>
              <a:t>• Key Stakeholders: AI Platform Leader (capacity) and Cloud Procurement Director.</a:t>
            </a:r>
          </a:p>
          <a:p>
            <a:pPr>
              <a:spcAft>
                <a:spcPts val="400"/>
              </a:spcAft>
              <a:defRPr sz="1100">
                <a:solidFill>
                  <a:srgbClr val="0F172A"/>
                </a:solidFill>
              </a:defRPr>
            </a:pPr>
            <a:r>
              <a:t>• Catalyst: Microsoft Enterprise Agreement (EA) renewal or large upfront PTU quota proposal.</a:t>
            </a:r>
          </a:p>
        </p:txBody>
      </p:sp>
      <p:sp>
        <p:nvSpPr>
          <p:cNvPr id="23" name="Rectangle 22"/>
          <p:cNvSpPr/>
          <p:nvPr/>
        </p:nvSpPr>
        <p:spPr>
          <a:xfrm>
            <a:off x="6035040" y="3931920"/>
            <a:ext cx="18288" cy="2103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931920"/>
            <a:ext cx="4846320" cy="2103120"/>
          </a:xfrm>
          <a:prstGeom prst="rect">
            <a:avLst/>
          </a:prstGeom>
          <a:noFill/>
        </p:spPr>
        <p:txBody>
          <a:bodyPr wrap="square">
            <a:spAutoFit/>
          </a:bodyPr>
          <a:lstStyle/>
          <a:p>
            <a:pPr>
              <a:spcAft>
                <a:spcPts val="600"/>
              </a:spcAft>
              <a:defRPr sz="1300" b="1">
                <a:solidFill>
                  <a:srgbClr val="0078D4"/>
                </a:solidFill>
              </a:defRPr>
            </a:pPr>
            <a:r>
              <a:t>THE BUYING TRIGGERS</a:t>
            </a:r>
          </a:p>
          <a:p>
            <a:pPr>
              <a:spcAft>
                <a:spcPts val="400"/>
              </a:spcAft>
              <a:defRPr sz="1100">
                <a:solidFill>
                  <a:srgbClr val="0F172A"/>
                </a:solidFill>
              </a:defRPr>
            </a:pPr>
            <a:r>
              <a:t>• Unbudgeted monthly Azure OpenAI cost overruns exceeding business forecasts.</a:t>
            </a:r>
          </a:p>
          <a:p>
            <a:pPr>
              <a:spcAft>
                <a:spcPts val="400"/>
              </a:spcAft>
              <a:defRPr sz="1100">
                <a:solidFill>
                  <a:srgbClr val="0F172A"/>
                </a:solidFill>
              </a:defRPr>
            </a:pPr>
            <a:r>
              <a:t>• Production applications experiencing severe 429 throttling during operational peak hours.</a:t>
            </a:r>
          </a:p>
          <a:p>
            <a:pPr>
              <a:spcAft>
                <a:spcPts val="400"/>
              </a:spcAft>
              <a:defRPr sz="1100">
                <a:solidFill>
                  <a:srgbClr val="0F172A"/>
                </a:solidFill>
              </a:defRPr>
            </a:pPr>
            <a:r>
              <a:t>• Executive pressure to commit multi-year cloud reservations without validated usage curves.</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FIT &amp; ADJACENCY</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Offering 04 models throughput to select PAYG, PTU, hybrid or GPU</a:t>
            </a:r>
          </a:p>
        </p:txBody>
      </p:sp>
      <p:sp>
        <p:nvSpPr>
          <p:cNvPr id="6" name="Rounded Rectangle 5"/>
          <p:cNvSpPr/>
          <p:nvPr/>
        </p:nvSpPr>
        <p:spPr>
          <a:xfrm>
            <a:off x="731520" y="1371600"/>
            <a:ext cx="2560320" cy="2926080"/>
          </a:xfrm>
          <a:prstGeom prst="roundRect">
            <a:avLst/>
          </a:prstGeom>
          <a:solidFill>
            <a:srgbClr val="EFF6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94560" cy="320040"/>
          </a:xfrm>
          <a:prstGeom prst="rect">
            <a:avLst/>
          </a:prstGeom>
          <a:noFill/>
        </p:spPr>
        <p:txBody>
          <a:bodyPr wrap="none">
            <a:spAutoFit/>
          </a:bodyPr>
          <a:lstStyle/>
          <a:p>
            <a:pPr>
              <a:defRPr sz="1000" b="1">
                <a:solidFill>
                  <a:srgbClr val="0078D4"/>
                </a:solidFill>
              </a:defRPr>
            </a:pPr>
            <a:r>
              <a:t>04 · PORTFOLIO ENTRY</a:t>
            </a:r>
          </a:p>
        </p:txBody>
      </p:sp>
      <p:sp>
        <p:nvSpPr>
          <p:cNvPr id="9" name="TextBox 8"/>
          <p:cNvSpPr txBox="1"/>
          <p:nvPr/>
        </p:nvSpPr>
        <p:spPr>
          <a:xfrm>
            <a:off x="914400" y="1965960"/>
            <a:ext cx="2194560" cy="502920"/>
          </a:xfrm>
          <a:prstGeom prst="rect">
            <a:avLst/>
          </a:prstGeom>
          <a:noFill/>
        </p:spPr>
        <p:txBody>
          <a:bodyPr wrap="square">
            <a:spAutoFit/>
          </a:bodyPr>
          <a:lstStyle/>
          <a:p>
            <a:pPr>
              <a:defRPr sz="1600" b="1">
                <a:solidFill>
                  <a:srgbClr val="0A192F"/>
                </a:solidFill>
              </a:defRPr>
            </a:pPr>
            <a:r>
              <a:t>FinOps Assessment</a:t>
            </a:r>
          </a:p>
        </p:txBody>
      </p:sp>
      <p:sp>
        <p:nvSpPr>
          <p:cNvPr id="10" name="TextBox 9"/>
          <p:cNvSpPr txBox="1"/>
          <p:nvPr/>
        </p:nvSpPr>
        <p:spPr>
          <a:xfrm>
            <a:off x="914400" y="2560320"/>
            <a:ext cx="2194560" cy="1554480"/>
          </a:xfrm>
          <a:prstGeom prst="rect">
            <a:avLst/>
          </a:prstGeom>
          <a:noFill/>
        </p:spPr>
        <p:txBody>
          <a:bodyPr wrap="square">
            <a:spAutoFit/>
          </a:bodyPr>
          <a:lstStyle/>
          <a:p>
            <a:pPr>
              <a:defRPr sz="1100">
                <a:solidFill>
                  <a:srgbClr val="0F172A"/>
                </a:solidFill>
              </a:defRPr>
            </a:pPr>
            <a:r>
              <a:t>Models throughput demand, compares options, and builds the decision memo.</a:t>
            </a:r>
          </a:p>
        </p:txBody>
      </p:sp>
      <p:sp>
        <p:nvSpPr>
          <p:cNvPr id="11" name="Rounded Rectangle 10"/>
          <p:cNvSpPr/>
          <p:nvPr/>
        </p:nvSpPr>
        <p:spPr>
          <a:xfrm>
            <a:off x="34747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011680" cy="320040"/>
          </a:xfrm>
          <a:prstGeom prst="rect">
            <a:avLst/>
          </a:prstGeom>
          <a:noFill/>
        </p:spPr>
        <p:txBody>
          <a:bodyPr wrap="none">
            <a:spAutoFit/>
          </a:bodyPr>
          <a:lstStyle/>
          <a:p>
            <a:pPr>
              <a:defRPr sz="1000" b="1">
                <a:solidFill>
                  <a:srgbClr val="0A192F"/>
                </a:solidFill>
              </a:defRPr>
            </a:pPr>
            <a:r>
              <a:t>01 · INFRASTRUCTURE HANDOFF</a:t>
            </a:r>
          </a:p>
        </p:txBody>
      </p:sp>
      <p:sp>
        <p:nvSpPr>
          <p:cNvPr id="14" name="TextBox 13"/>
          <p:cNvSpPr txBox="1"/>
          <p:nvPr/>
        </p:nvSpPr>
        <p:spPr>
          <a:xfrm>
            <a:off x="3657600" y="1965960"/>
            <a:ext cx="2011680" cy="502920"/>
          </a:xfrm>
          <a:prstGeom prst="rect">
            <a:avLst/>
          </a:prstGeom>
          <a:noFill/>
        </p:spPr>
        <p:txBody>
          <a:bodyPr wrap="square">
            <a:spAutoFit/>
          </a:bodyPr>
          <a:lstStyle/>
          <a:p>
            <a:pPr>
              <a:defRPr sz="1600" b="1">
                <a:solidFill>
                  <a:srgbClr val="0A192F"/>
                </a:solidFill>
              </a:defRPr>
            </a:pPr>
            <a:r>
              <a:t>Landing Zone</a:t>
            </a:r>
          </a:p>
        </p:txBody>
      </p:sp>
      <p:sp>
        <p:nvSpPr>
          <p:cNvPr id="15" name="TextBox 14"/>
          <p:cNvSpPr txBox="1"/>
          <p:nvPr/>
        </p:nvSpPr>
        <p:spPr>
          <a:xfrm>
            <a:off x="3657600" y="2560320"/>
            <a:ext cx="2011680" cy="1554480"/>
          </a:xfrm>
          <a:prstGeom prst="rect">
            <a:avLst/>
          </a:prstGeom>
          <a:noFill/>
        </p:spPr>
        <p:txBody>
          <a:bodyPr wrap="square">
            <a:spAutoFit/>
          </a:bodyPr>
          <a:lstStyle/>
          <a:p>
            <a:pPr>
              <a:defRPr sz="1100">
                <a:solidFill>
                  <a:srgbClr val="0F172A"/>
                </a:solidFill>
              </a:defRPr>
            </a:pPr>
            <a:r>
              <a:t>Receives deployment model, regional quotas, and subnet sizing requirements.</a:t>
            </a:r>
          </a:p>
        </p:txBody>
      </p:sp>
      <p:sp>
        <p:nvSpPr>
          <p:cNvPr id="16" name="Rounded Rectangle 15"/>
          <p:cNvSpPr/>
          <p:nvPr/>
        </p:nvSpPr>
        <p:spPr>
          <a:xfrm>
            <a:off x="603504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600200"/>
            <a:ext cx="2011680" cy="320040"/>
          </a:xfrm>
          <a:prstGeom prst="rect">
            <a:avLst/>
          </a:prstGeom>
          <a:noFill/>
        </p:spPr>
        <p:txBody>
          <a:bodyPr wrap="none">
            <a:spAutoFit/>
          </a:bodyPr>
          <a:lstStyle/>
          <a:p>
            <a:pPr>
              <a:defRPr sz="1000" b="1">
                <a:solidFill>
                  <a:srgbClr val="0A192F"/>
                </a:solidFill>
              </a:defRPr>
            </a:pPr>
            <a:r>
              <a:t>03 · GATEWAY HANDOFF</a:t>
            </a:r>
          </a:p>
        </p:txBody>
      </p:sp>
      <p:sp>
        <p:nvSpPr>
          <p:cNvPr id="19" name="TextBox 18"/>
          <p:cNvSpPr txBox="1"/>
          <p:nvPr/>
        </p:nvSpPr>
        <p:spPr>
          <a:xfrm>
            <a:off x="6217920" y="1965960"/>
            <a:ext cx="2011680" cy="502920"/>
          </a:xfrm>
          <a:prstGeom prst="rect">
            <a:avLst/>
          </a:prstGeom>
          <a:noFill/>
        </p:spPr>
        <p:txBody>
          <a:bodyPr wrap="square">
            <a:spAutoFit/>
          </a:bodyPr>
          <a:lstStyle/>
          <a:p>
            <a:pPr>
              <a:defRPr sz="1600" b="1">
                <a:solidFill>
                  <a:srgbClr val="0A192F"/>
                </a:solidFill>
              </a:defRPr>
            </a:pPr>
            <a:r>
              <a:t>AI Gateway</a:t>
            </a:r>
          </a:p>
        </p:txBody>
      </p:sp>
      <p:sp>
        <p:nvSpPr>
          <p:cNvPr id="20" name="TextBox 19"/>
          <p:cNvSpPr txBox="1"/>
          <p:nvPr/>
        </p:nvSpPr>
        <p:spPr>
          <a:xfrm>
            <a:off x="6217920" y="2560320"/>
            <a:ext cx="2011680" cy="1554480"/>
          </a:xfrm>
          <a:prstGeom prst="rect">
            <a:avLst/>
          </a:prstGeom>
          <a:noFill/>
        </p:spPr>
        <p:txBody>
          <a:bodyPr wrap="square">
            <a:spAutoFit/>
          </a:bodyPr>
          <a:lstStyle/>
          <a:p>
            <a:pPr>
              <a:defRPr sz="1100">
                <a:solidFill>
                  <a:srgbClr val="0F172A"/>
                </a:solidFill>
              </a:defRPr>
            </a:pPr>
            <a:r>
              <a:t>Receives PTU primary vs PAYG spillover rules and department token quotas.</a:t>
            </a:r>
          </a:p>
        </p:txBody>
      </p:sp>
      <p:sp>
        <p:nvSpPr>
          <p:cNvPr id="21" name="Rounded Rectangle 20"/>
          <p:cNvSpPr/>
          <p:nvPr/>
        </p:nvSpPr>
        <p:spPr>
          <a:xfrm>
            <a:off x="8595360" y="1371600"/>
            <a:ext cx="2834640" cy="2926080"/>
          </a:xfrm>
          <a:prstGeom prst="roundRect">
            <a:avLst/>
          </a:prstGeom>
          <a:solidFill>
            <a:srgbClr val="FFFFFF"/>
          </a:solidFill>
          <a:ln w="1270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95360" y="1371600"/>
            <a:ext cx="283464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1600200"/>
            <a:ext cx="2468880" cy="320040"/>
          </a:xfrm>
          <a:prstGeom prst="rect">
            <a:avLst/>
          </a:prstGeom>
          <a:noFill/>
        </p:spPr>
        <p:txBody>
          <a:bodyPr wrap="none">
            <a:spAutoFit/>
          </a:bodyPr>
          <a:lstStyle/>
          <a:p>
            <a:pPr>
              <a:defRPr sz="1000" b="1">
                <a:solidFill>
                  <a:srgbClr val="00A389"/>
                </a:solidFill>
              </a:defRPr>
            </a:pPr>
            <a:r>
              <a:t>05 · FEEDBACK LOOP</a:t>
            </a:r>
          </a:p>
        </p:txBody>
      </p:sp>
      <p:sp>
        <p:nvSpPr>
          <p:cNvPr id="24" name="TextBox 23"/>
          <p:cNvSpPr txBox="1"/>
          <p:nvPr/>
        </p:nvSpPr>
        <p:spPr>
          <a:xfrm>
            <a:off x="8778240" y="1965960"/>
            <a:ext cx="2468880" cy="502920"/>
          </a:xfrm>
          <a:prstGeom prst="rect">
            <a:avLst/>
          </a:prstGeom>
          <a:noFill/>
        </p:spPr>
        <p:txBody>
          <a:bodyPr wrap="square">
            <a:spAutoFit/>
          </a:bodyPr>
          <a:lstStyle/>
          <a:p>
            <a:pPr>
              <a:defRPr sz="1600" b="1">
                <a:solidFill>
                  <a:srgbClr val="0A192F"/>
                </a:solidFill>
              </a:defRPr>
            </a:pPr>
            <a:r>
              <a:t>Managed Ops</a:t>
            </a:r>
          </a:p>
        </p:txBody>
      </p:sp>
      <p:sp>
        <p:nvSpPr>
          <p:cNvPr id="25" name="TextBox 24"/>
          <p:cNvSpPr txBox="1"/>
          <p:nvPr/>
        </p:nvSpPr>
        <p:spPr>
          <a:xfrm>
            <a:off x="8778240" y="2560320"/>
            <a:ext cx="2468880" cy="1554480"/>
          </a:xfrm>
          <a:prstGeom prst="rect">
            <a:avLst/>
          </a:prstGeom>
          <a:noFill/>
        </p:spPr>
        <p:txBody>
          <a:bodyPr wrap="square">
            <a:spAutoFit/>
          </a:bodyPr>
          <a:lstStyle/>
          <a:p>
            <a:pPr>
              <a:defRPr sz="1100">
                <a:solidFill>
                  <a:srgbClr val="0F172A"/>
                </a:solidFill>
              </a:defRPr>
            </a:pPr>
            <a:r>
              <a:t>Feeds monthly utilization and cost telemetry back for quarterly re-benchmarking.</a:t>
            </a:r>
          </a:p>
        </p:txBody>
      </p:sp>
      <p:sp>
        <p:nvSpPr>
          <p:cNvPr id="26" name="Rounded Rectangle 25"/>
          <p:cNvSpPr/>
          <p:nvPr/>
        </p:nvSpPr>
        <p:spPr>
          <a:xfrm>
            <a:off x="731520" y="4480560"/>
            <a:ext cx="10698480" cy="1737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17720"/>
            <a:ext cx="10149840" cy="320040"/>
          </a:xfrm>
          <a:prstGeom prst="rect">
            <a:avLst/>
          </a:prstGeom>
          <a:noFill/>
        </p:spPr>
        <p:txBody>
          <a:bodyPr wrap="none">
            <a:spAutoFit/>
          </a:bodyPr>
          <a:lstStyle/>
          <a:p>
            <a:pPr>
              <a:defRPr sz="1200" b="1">
                <a:solidFill>
                  <a:srgbClr val="0A192F"/>
                </a:solidFill>
              </a:defRPr>
            </a:pPr>
            <a:r>
              <a:t>PORTFOLIO ADVISORY POSITIONING</a:t>
            </a:r>
          </a:p>
        </p:txBody>
      </p:sp>
      <p:sp>
        <p:nvSpPr>
          <p:cNvPr id="28" name="Rounded Rectangle 27"/>
          <p:cNvSpPr/>
          <p:nvPr/>
        </p:nvSpPr>
        <p:spPr>
          <a:xfrm>
            <a:off x="1005840" y="4983480"/>
            <a:ext cx="1828800" cy="292608"/>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ENTRY OFFER</a:t>
            </a:r>
          </a:p>
        </p:txBody>
      </p:sp>
      <p:sp>
        <p:nvSpPr>
          <p:cNvPr id="29" name="TextBox 28"/>
          <p:cNvSpPr txBox="1"/>
          <p:nvPr/>
        </p:nvSpPr>
        <p:spPr>
          <a:xfrm>
            <a:off x="3017520" y="4965192"/>
            <a:ext cx="8138160" cy="320040"/>
          </a:xfrm>
          <a:prstGeom prst="rect">
            <a:avLst/>
          </a:prstGeom>
          <a:noFill/>
        </p:spPr>
        <p:txBody>
          <a:bodyPr wrap="none">
            <a:spAutoFit/>
          </a:bodyPr>
          <a:lstStyle/>
          <a:p>
            <a:pPr>
              <a:defRPr sz="1100">
                <a:solidFill>
                  <a:srgbClr val="0F172A"/>
                </a:solidFill>
              </a:defRPr>
            </a:pPr>
            <a:r>
              <a:t>Offering 04 serves as the low-friction entry point across enterprise accounts facing sudden AI billing spikes.</a:t>
            </a:r>
          </a:p>
        </p:txBody>
      </p:sp>
      <p:sp>
        <p:nvSpPr>
          <p:cNvPr id="30" name="Rounded Rectangle 29"/>
          <p:cNvSpPr/>
          <p:nvPr/>
        </p:nvSpPr>
        <p:spPr>
          <a:xfrm>
            <a:off x="1005840" y="5367528"/>
            <a:ext cx="18288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ARCHITECTURE SIZING</a:t>
            </a:r>
          </a:p>
        </p:txBody>
      </p:sp>
      <p:sp>
        <p:nvSpPr>
          <p:cNvPr id="31" name="TextBox 30"/>
          <p:cNvSpPr txBox="1"/>
          <p:nvPr/>
        </p:nvSpPr>
        <p:spPr>
          <a:xfrm>
            <a:off x="3017520" y="5349240"/>
            <a:ext cx="8138160" cy="320040"/>
          </a:xfrm>
          <a:prstGeom prst="rect">
            <a:avLst/>
          </a:prstGeom>
          <a:noFill/>
        </p:spPr>
        <p:txBody>
          <a:bodyPr wrap="none">
            <a:spAutoFit/>
          </a:bodyPr>
          <a:lstStyle/>
          <a:p>
            <a:pPr>
              <a:defRPr sz="1100">
                <a:solidFill>
                  <a:srgbClr val="0F172A"/>
                </a:solidFill>
              </a:defRPr>
            </a:pPr>
            <a:r>
              <a:t>Calculates exact capacity parameters before deploying infrastructure in 01 Landing Zone or 03 AI Gateway.</a:t>
            </a:r>
          </a:p>
        </p:txBody>
      </p:sp>
      <p:sp>
        <p:nvSpPr>
          <p:cNvPr id="32" name="Rounded Rectangle 31"/>
          <p:cNvSpPr/>
          <p:nvPr/>
        </p:nvSpPr>
        <p:spPr>
          <a:xfrm>
            <a:off x="1005840" y="5751576"/>
            <a:ext cx="1828800" cy="292608"/>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OPERATIONAL RUN</a:t>
            </a:r>
          </a:p>
        </p:txBody>
      </p:sp>
      <p:sp>
        <p:nvSpPr>
          <p:cNvPr id="33" name="TextBox 32"/>
          <p:cNvSpPr txBox="1"/>
          <p:nvPr/>
        </p:nvSpPr>
        <p:spPr>
          <a:xfrm>
            <a:off x="3017520" y="5733288"/>
            <a:ext cx="8138160" cy="320040"/>
          </a:xfrm>
          <a:prstGeom prst="rect">
            <a:avLst/>
          </a:prstGeom>
          <a:noFill/>
        </p:spPr>
        <p:txBody>
          <a:bodyPr wrap="none">
            <a:spAutoFit/>
          </a:bodyPr>
          <a:lstStyle/>
          <a:p>
            <a:pPr>
              <a:defRPr sz="1100">
                <a:solidFill>
                  <a:srgbClr val="0F172A"/>
                </a:solidFill>
              </a:defRPr>
            </a:pPr>
            <a:r>
              <a:t>Transitions long-term FinOps cost monitoring, anomaly alerting, and quarterly reviews into 05 Managed Operations.</a:t>
            </a:r>
          </a:p>
        </p:txBody>
      </p:sp>
      <p:sp>
        <p:nvSpPr>
          <p:cNvPr id="34" name="TextBox 33"/>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SCOPE &amp; RACI DEMARCATION</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We deliver capacity models; customer finance approves commitments</a:t>
            </a:r>
          </a:p>
        </p:txBody>
      </p:sp>
      <p:sp>
        <p:nvSpPr>
          <p:cNvPr id="6" name="Rounded Rectangle 5"/>
          <p:cNvSpPr/>
          <p:nvPr/>
        </p:nvSpPr>
        <p:spPr>
          <a:xfrm>
            <a:off x="731520" y="1371600"/>
            <a:ext cx="3383280" cy="402336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3017520" cy="411480"/>
          </a:xfrm>
          <a:prstGeom prst="rect">
            <a:avLst/>
          </a:prstGeom>
          <a:noFill/>
        </p:spPr>
        <p:txBody>
          <a:bodyPr wrap="none">
            <a:spAutoFit/>
          </a:bodyPr>
          <a:lstStyle/>
          <a:p>
            <a:pPr>
              <a:defRPr sz="1100" b="1">
                <a:solidFill>
                  <a:srgbClr val="0078D4"/>
                </a:solidFill>
              </a:defRPr>
            </a:pPr>
            <a:r>
              <a:t>🏗️ CIS INFRA SELLS &amp; DELIVERS</a:t>
            </a:r>
          </a:p>
        </p:txBody>
      </p:sp>
      <p:sp>
        <p:nvSpPr>
          <p:cNvPr id="9" name="TextBox 8"/>
          <p:cNvSpPr txBox="1"/>
          <p:nvPr/>
        </p:nvSpPr>
        <p:spPr>
          <a:xfrm>
            <a:off x="914400" y="2103120"/>
            <a:ext cx="3017520" cy="3108960"/>
          </a:xfrm>
          <a:prstGeom prst="rect">
            <a:avLst/>
          </a:prstGeom>
          <a:noFill/>
        </p:spPr>
        <p:txBody>
          <a:bodyPr wrap="square">
            <a:spAutoFit/>
          </a:bodyPr>
          <a:lstStyle/>
          <a:p>
            <a:pPr>
              <a:spcAft>
                <a:spcPts val="600"/>
              </a:spcAft>
              <a:defRPr sz="1100">
                <a:solidFill>
                  <a:srgbClr val="0F172A"/>
                </a:solidFill>
              </a:defRPr>
            </a:pPr>
            <a:r>
              <a:t>• Telemetry collection baseline (tokens, TPM, concurrency)</a:t>
            </a:r>
          </a:p>
          <a:p>
            <a:pPr>
              <a:spcAft>
                <a:spcPts val="600"/>
              </a:spcAft>
              <a:defRPr sz="1100">
                <a:solidFill>
                  <a:srgbClr val="0F172A"/>
                </a:solidFill>
              </a:defRPr>
            </a:pPr>
            <a:r>
              <a:t>• Workload traffic characterization &amp; diurnal pattern analysis</a:t>
            </a:r>
          </a:p>
          <a:p>
            <a:pPr>
              <a:spcAft>
                <a:spcPts val="600"/>
              </a:spcAft>
              <a:defRPr sz="1100">
                <a:solidFill>
                  <a:srgbClr val="0F172A"/>
                </a:solidFill>
              </a:defRPr>
            </a:pPr>
            <a:r>
              <a:t>• Option comparison models (PAYG vs PTU vs GPU) on 1 boundary</a:t>
            </a:r>
          </a:p>
          <a:p>
            <a:pPr>
              <a:spcAft>
                <a:spcPts val="600"/>
              </a:spcAft>
              <a:defRPr sz="1100">
                <a:solidFill>
                  <a:srgbClr val="0F172A"/>
                </a:solidFill>
              </a:defRPr>
            </a:pPr>
            <a:r>
              <a:t>• Agent 365 and Copilot Studio license economics audit</a:t>
            </a:r>
          </a:p>
          <a:p>
            <a:pPr>
              <a:spcAft>
                <a:spcPts val="600"/>
              </a:spcAft>
              <a:defRPr sz="1100">
                <a:solidFill>
                  <a:srgbClr val="0F172A"/>
                </a:solidFill>
              </a:defRPr>
            </a:pPr>
            <a:r>
              <a:t>• Break-even utilization curves and sensitivity tables</a:t>
            </a:r>
          </a:p>
          <a:p>
            <a:pPr>
              <a:spcAft>
                <a:spcPts val="600"/>
              </a:spcAft>
              <a:defRPr sz="1100">
                <a:solidFill>
                  <a:srgbClr val="0F172A"/>
                </a:solidFill>
              </a:defRPr>
            </a:pPr>
            <a:r>
              <a:t>• Executive decision memo with CFO commitment gates</a:t>
            </a:r>
          </a:p>
        </p:txBody>
      </p:sp>
      <p:sp>
        <p:nvSpPr>
          <p:cNvPr id="10" name="Rounded Rectangle 9"/>
          <p:cNvSpPr/>
          <p:nvPr/>
        </p:nvSpPr>
        <p:spPr>
          <a:xfrm>
            <a:off x="4389120" y="1371600"/>
            <a:ext cx="3383280" cy="4023360"/>
          </a:xfrm>
          <a:prstGeom prst="roundRect">
            <a:avLst/>
          </a:prstGeom>
          <a:solidFill>
            <a:srgbClr val="F8FAFC"/>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371600"/>
            <a:ext cx="3383280" cy="731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600200"/>
            <a:ext cx="3017520" cy="411480"/>
          </a:xfrm>
          <a:prstGeom prst="rect">
            <a:avLst/>
          </a:prstGeom>
          <a:noFill/>
        </p:spPr>
        <p:txBody>
          <a:bodyPr wrap="none">
            <a:spAutoFit/>
          </a:bodyPr>
          <a:lstStyle/>
          <a:p>
            <a:pPr>
              <a:defRPr sz="1100" b="1">
                <a:solidFill>
                  <a:srgbClr val="64748B"/>
                </a:solidFill>
              </a:defRPr>
            </a:pPr>
            <a:r>
              <a:t>🤝 SPECIALIST TOWERS DELIVER</a:t>
            </a:r>
          </a:p>
        </p:txBody>
      </p:sp>
      <p:sp>
        <p:nvSpPr>
          <p:cNvPr id="13" name="TextBox 12"/>
          <p:cNvSpPr txBox="1"/>
          <p:nvPr/>
        </p:nvSpPr>
        <p:spPr>
          <a:xfrm>
            <a:off x="4572000" y="2103120"/>
            <a:ext cx="3017520" cy="3108960"/>
          </a:xfrm>
          <a:prstGeom prst="rect">
            <a:avLst/>
          </a:prstGeom>
          <a:noFill/>
        </p:spPr>
        <p:txBody>
          <a:bodyPr wrap="square">
            <a:spAutoFit/>
          </a:bodyPr>
          <a:lstStyle/>
          <a:p>
            <a:pPr>
              <a:spcAft>
                <a:spcPts val="600"/>
              </a:spcAft>
              <a:defRPr sz="1100">
                <a:solidFill>
                  <a:srgbClr val="0F172A"/>
                </a:solidFill>
              </a:defRPr>
            </a:pPr>
            <a:r>
              <a:t>• AI Tower: Model selection, context window size, token estimates</a:t>
            </a:r>
          </a:p>
          <a:p>
            <a:pPr>
              <a:spcAft>
                <a:spcPts val="600"/>
              </a:spcAft>
              <a:defRPr sz="1100">
                <a:solidFill>
                  <a:srgbClr val="0F172A"/>
                </a:solidFill>
              </a:defRPr>
            </a:pPr>
            <a:r>
              <a:t>• AI Tower: Synthetic load generation scripts &amp; benchmark tools</a:t>
            </a:r>
          </a:p>
          <a:p>
            <a:pPr>
              <a:spcAft>
                <a:spcPts val="600"/>
              </a:spcAft>
              <a:defRPr sz="1100">
                <a:solidFill>
                  <a:srgbClr val="0F172A"/>
                </a:solidFill>
              </a:defRPr>
            </a:pPr>
            <a:r>
              <a:t>• FinOps Tower: Corporate cost allocation rules &amp; FOCUS alignment</a:t>
            </a:r>
          </a:p>
          <a:p>
            <a:pPr>
              <a:spcAft>
                <a:spcPts val="600"/>
              </a:spcAft>
              <a:defRPr sz="1100">
                <a:solidFill>
                  <a:srgbClr val="0F172A"/>
                </a:solidFill>
              </a:defRPr>
            </a:pPr>
            <a:r>
              <a:t>• Security Tower: Data classification impacts on region selection</a:t>
            </a:r>
          </a:p>
          <a:p>
            <a:pPr>
              <a:spcAft>
                <a:spcPts val="600"/>
              </a:spcAft>
              <a:defRPr sz="1100">
                <a:solidFill>
                  <a:srgbClr val="0F172A"/>
                </a:solidFill>
              </a:defRPr>
            </a:pPr>
            <a:r>
              <a:t>• DevOps Tower: Pipeline instrumentation for release tracking</a:t>
            </a:r>
          </a:p>
          <a:p>
            <a:pPr>
              <a:spcAft>
                <a:spcPts val="600"/>
              </a:spcAft>
              <a:defRPr sz="1100">
                <a:solidFill>
                  <a:srgbClr val="0F172A"/>
                </a:solidFill>
              </a:defRPr>
            </a:pPr>
            <a:r>
              <a:t>• Enterprise Architecture: Standard cloud landing zone validation</a:t>
            </a:r>
          </a:p>
        </p:txBody>
      </p:sp>
      <p:sp>
        <p:nvSpPr>
          <p:cNvPr id="14" name="Rounded Rectangle 13"/>
          <p:cNvSpPr/>
          <p:nvPr/>
        </p:nvSpPr>
        <p:spPr>
          <a:xfrm>
            <a:off x="8046720" y="1371600"/>
            <a:ext cx="33832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00200"/>
            <a:ext cx="3017520" cy="411480"/>
          </a:xfrm>
          <a:prstGeom prst="rect">
            <a:avLst/>
          </a:prstGeom>
          <a:noFill/>
        </p:spPr>
        <p:txBody>
          <a:bodyPr wrap="none">
            <a:spAutoFit/>
          </a:bodyPr>
          <a:lstStyle/>
          <a:p>
            <a:pPr>
              <a:defRPr sz="1100" b="1">
                <a:solidFill>
                  <a:srgbClr val="0A192F"/>
                </a:solidFill>
              </a:defRPr>
            </a:pPr>
            <a:r>
              <a:t>🏢 CUSTOMER OWNS &amp; DECIDES</a:t>
            </a:r>
          </a:p>
        </p:txBody>
      </p:sp>
      <p:sp>
        <p:nvSpPr>
          <p:cNvPr id="17" name="TextBox 16"/>
          <p:cNvSpPr txBox="1"/>
          <p:nvPr/>
        </p:nvSpPr>
        <p:spPr>
          <a:xfrm>
            <a:off x="8229600" y="2103120"/>
            <a:ext cx="3017520" cy="3108960"/>
          </a:xfrm>
          <a:prstGeom prst="rect">
            <a:avLst/>
          </a:prstGeom>
          <a:noFill/>
        </p:spPr>
        <p:txBody>
          <a:bodyPr wrap="square">
            <a:spAutoFit/>
          </a:bodyPr>
          <a:lstStyle/>
          <a:p>
            <a:pPr>
              <a:spcAft>
                <a:spcPts val="600"/>
              </a:spcAft>
              <a:defRPr sz="1100">
                <a:solidFill>
                  <a:srgbClr val="0F172A"/>
                </a:solidFill>
              </a:defRPr>
            </a:pPr>
            <a:r>
              <a:t>• Provision of executed Microsoft EA discount schedules under NDA</a:t>
            </a:r>
          </a:p>
          <a:p>
            <a:pPr>
              <a:spcAft>
                <a:spcPts val="600"/>
              </a:spcAft>
              <a:defRPr sz="1100">
                <a:solidFill>
                  <a:srgbClr val="0F172A"/>
                </a:solidFill>
              </a:defRPr>
            </a:pPr>
            <a:r>
              <a:t>• Corporate approval of financial commitment terms and durations</a:t>
            </a:r>
          </a:p>
          <a:p>
            <a:pPr>
              <a:spcAft>
                <a:spcPts val="600"/>
              </a:spcAft>
              <a:defRPr sz="1100">
                <a:solidFill>
                  <a:srgbClr val="0F172A"/>
                </a:solidFill>
              </a:defRPr>
            </a:pPr>
            <a:r>
              <a:t>• Direct payment of Azure cloud and model consumption invoices</a:t>
            </a:r>
          </a:p>
          <a:p>
            <a:pPr>
              <a:spcAft>
                <a:spcPts val="600"/>
              </a:spcAft>
              <a:defRPr sz="1100">
                <a:solidFill>
                  <a:srgbClr val="0F172A"/>
                </a:solidFill>
              </a:defRPr>
            </a:pPr>
            <a:r>
              <a:t>• Business unit budget authority and chargeback enforcement</a:t>
            </a:r>
          </a:p>
          <a:p>
            <a:pPr>
              <a:spcAft>
                <a:spcPts val="600"/>
              </a:spcAft>
              <a:defRPr sz="1100">
                <a:solidFill>
                  <a:srgbClr val="0F172A"/>
                </a:solidFill>
              </a:defRPr>
            </a:pPr>
            <a:r>
              <a:t>• Final sign-off on foundation model retirement replacement plans</a:t>
            </a:r>
          </a:p>
          <a:p>
            <a:pPr>
              <a:spcAft>
                <a:spcPts val="600"/>
              </a:spcAft>
              <a:defRPr sz="1100">
                <a:solidFill>
                  <a:srgbClr val="0F172A"/>
                </a:solidFill>
              </a:defRPr>
            </a:pPr>
            <a:r>
              <a:t>• Procurement negotiations with Microsoft account teams</a:t>
            </a:r>
          </a:p>
        </p:txBody>
      </p:sp>
      <p:sp>
        <p:nvSpPr>
          <p:cNvPr id="18" name="Rounded Rectangle 1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32720" cy="502920"/>
          </a:xfrm>
          <a:prstGeom prst="rect">
            <a:avLst/>
          </a:prstGeom>
          <a:noFill/>
        </p:spPr>
        <p:txBody>
          <a:bodyPr wrap="square">
            <a:spAutoFit/>
          </a:bodyPr>
          <a:lstStyle/>
          <a:p>
            <a:r>
              <a:rPr b="1" sz="1100">
                <a:solidFill>
                  <a:srgbClr val="0078D4"/>
                </a:solidFill>
              </a:rPr>
              <a:t>ADVISORY BOUNDARY: </a:t>
            </a:r>
            <a:r>
              <a:rPr sz="1100">
                <a:solidFill>
                  <a:srgbClr val="0A192F"/>
                </a:solidFill>
              </a:rPr>
              <a:t>CIS Infra delivers engineering capacity sizing and comparative financial models; we do not resell licenses or provide formal accounting advice.</a:t>
            </a:r>
          </a:p>
        </p:txBody>
      </p:sp>
      <p:sp>
        <p:nvSpPr>
          <p:cNvPr id="20" name="TextBox 1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CAPACITY ARCHITECTURE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Four capacity paths match workload maturity and predictability</a:t>
            </a:r>
          </a:p>
        </p:txBody>
      </p:sp>
      <p:sp>
        <p:nvSpPr>
          <p:cNvPr id="6" name="Rounded Rectangle 5"/>
          <p:cNvSpPr/>
          <p:nvPr/>
        </p:nvSpPr>
        <p:spPr>
          <a:xfrm>
            <a:off x="731520" y="1371600"/>
            <a:ext cx="2468880" cy="411480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2194560" cy="502920"/>
          </a:xfrm>
          <a:prstGeom prst="rect">
            <a:avLst/>
          </a:prstGeom>
          <a:noFill/>
        </p:spPr>
        <p:txBody>
          <a:bodyPr wrap="square">
            <a:spAutoFit/>
          </a:bodyPr>
          <a:lstStyle/>
          <a:p>
            <a:pPr>
              <a:defRPr sz="1300" b="1">
                <a:solidFill>
                  <a:srgbClr val="0A192F"/>
                </a:solidFill>
              </a:defRPr>
            </a:pPr>
            <a:r>
              <a:t>1. Pay-As-You-Go</a:t>
            </a:r>
          </a:p>
        </p:txBody>
      </p:sp>
      <p:sp>
        <p:nvSpPr>
          <p:cNvPr id="9" name="TextBox 8"/>
          <p:cNvSpPr txBox="1"/>
          <p:nvPr/>
        </p:nvSpPr>
        <p:spPr>
          <a:xfrm>
            <a:off x="868680" y="2148840"/>
            <a:ext cx="2194560" cy="274320"/>
          </a:xfrm>
          <a:prstGeom prst="rect">
            <a:avLst/>
          </a:prstGeom>
          <a:noFill/>
        </p:spPr>
        <p:txBody>
          <a:bodyPr wrap="none">
            <a:spAutoFit/>
          </a:bodyPr>
          <a:lstStyle/>
          <a:p>
            <a:pPr>
              <a:defRPr sz="950" b="1">
                <a:solidFill>
                  <a:srgbClr val="0078D4"/>
                </a:solidFill>
              </a:defRPr>
            </a:pPr>
            <a:r>
              <a:t>EARLY &amp; VARIABLE</a:t>
            </a:r>
          </a:p>
        </p:txBody>
      </p:sp>
      <p:sp>
        <p:nvSpPr>
          <p:cNvPr id="10" name="TextBox 9"/>
          <p:cNvSpPr txBox="1"/>
          <p:nvPr/>
        </p:nvSpPr>
        <p:spPr>
          <a:xfrm>
            <a:off x="868680" y="2468880"/>
            <a:ext cx="2194560" cy="1097280"/>
          </a:xfrm>
          <a:prstGeom prst="rect">
            <a:avLst/>
          </a:prstGeom>
          <a:noFill/>
        </p:spPr>
        <p:txBody>
          <a:bodyPr wrap="square">
            <a:spAutoFit/>
          </a:bodyPr>
          <a:lstStyle/>
          <a:p>
            <a:pPr>
              <a:defRPr sz="950" b="1">
                <a:solidFill>
                  <a:srgbClr val="0A192F"/>
                </a:solidFill>
              </a:defRPr>
            </a:pPr>
            <a:r>
              <a:t>BEST FOR:</a:t>
            </a:r>
          </a:p>
          <a:p>
            <a:pPr>
              <a:defRPr sz="1050">
                <a:solidFill>
                  <a:srgbClr val="0F172A"/>
                </a:solidFill>
              </a:defRPr>
            </a:pPr>
            <a:r>
              <a:t>Early stage pilots, ad-hoc batch jobs, and unpredictable diurnal spikes.</a:t>
            </a:r>
          </a:p>
        </p:txBody>
      </p:sp>
      <p:sp>
        <p:nvSpPr>
          <p:cNvPr id="11" name="TextBox 10"/>
          <p:cNvSpPr txBox="1"/>
          <p:nvPr/>
        </p:nvSpPr>
        <p:spPr>
          <a:xfrm>
            <a:off x="868680" y="3657600"/>
            <a:ext cx="2194560" cy="1188720"/>
          </a:xfrm>
          <a:prstGeom prst="rect">
            <a:avLst/>
          </a:prstGeom>
          <a:noFill/>
        </p:spPr>
        <p:txBody>
          <a:bodyPr wrap="square">
            <a:spAutoFit/>
          </a:bodyPr>
          <a:lstStyle/>
          <a:p>
            <a:pPr>
              <a:defRPr sz="950" b="1">
                <a:solidFill>
                  <a:srgbClr val="D83B01"/>
                </a:solidFill>
              </a:defRPr>
            </a:pPr>
            <a:r>
              <a:t>PRIMARY RISK:</a:t>
            </a:r>
          </a:p>
          <a:p>
            <a:pPr>
              <a:defRPr sz="1050">
                <a:solidFill>
                  <a:srgbClr val="0F172A"/>
                </a:solidFill>
              </a:defRPr>
            </a:pPr>
            <a:r>
              <a:t>Higher per-token unit cost; potential 429 throttling during peak regional demand.</a:t>
            </a:r>
          </a:p>
        </p:txBody>
      </p:sp>
      <p:sp>
        <p:nvSpPr>
          <p:cNvPr id="12" name="Rounded Rectangle 11"/>
          <p:cNvSpPr/>
          <p:nvPr/>
        </p:nvSpPr>
        <p:spPr>
          <a:xfrm>
            <a:off x="868680" y="4892040"/>
            <a:ext cx="2194560" cy="4572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78D4"/>
                </a:solidFill>
              </a:defRPr>
            </a:pPr>
            <a:r>
              <a:t>Zero upfront commit</a:t>
            </a:r>
          </a:p>
        </p:txBody>
      </p:sp>
      <p:sp>
        <p:nvSpPr>
          <p:cNvPr id="13" name="Rounded Rectangle 12"/>
          <p:cNvSpPr/>
          <p:nvPr/>
        </p:nvSpPr>
        <p:spPr>
          <a:xfrm>
            <a:off x="3474720" y="1371600"/>
            <a:ext cx="2468880" cy="411480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1600200"/>
            <a:ext cx="2194560" cy="502920"/>
          </a:xfrm>
          <a:prstGeom prst="rect">
            <a:avLst/>
          </a:prstGeom>
          <a:noFill/>
        </p:spPr>
        <p:txBody>
          <a:bodyPr wrap="square">
            <a:spAutoFit/>
          </a:bodyPr>
          <a:lstStyle/>
          <a:p>
            <a:pPr>
              <a:defRPr sz="1300" b="1">
                <a:solidFill>
                  <a:srgbClr val="0A192F"/>
                </a:solidFill>
              </a:defRPr>
            </a:pPr>
            <a:r>
              <a:t>2. Provisioned (PTU)</a:t>
            </a:r>
          </a:p>
        </p:txBody>
      </p:sp>
      <p:sp>
        <p:nvSpPr>
          <p:cNvPr id="16" name="TextBox 15"/>
          <p:cNvSpPr txBox="1"/>
          <p:nvPr/>
        </p:nvSpPr>
        <p:spPr>
          <a:xfrm>
            <a:off x="3611880" y="2148840"/>
            <a:ext cx="2194560" cy="274320"/>
          </a:xfrm>
          <a:prstGeom prst="rect">
            <a:avLst/>
          </a:prstGeom>
          <a:noFill/>
        </p:spPr>
        <p:txBody>
          <a:bodyPr wrap="none">
            <a:spAutoFit/>
          </a:bodyPr>
          <a:lstStyle/>
          <a:p>
            <a:pPr>
              <a:defRPr sz="950" b="1">
                <a:solidFill>
                  <a:srgbClr val="00A389"/>
                </a:solidFill>
              </a:defRPr>
            </a:pPr>
            <a:r>
              <a:t>PREDICTABLE SCALE</a:t>
            </a:r>
          </a:p>
        </p:txBody>
      </p:sp>
      <p:sp>
        <p:nvSpPr>
          <p:cNvPr id="17" name="TextBox 16"/>
          <p:cNvSpPr txBox="1"/>
          <p:nvPr/>
        </p:nvSpPr>
        <p:spPr>
          <a:xfrm>
            <a:off x="3611880" y="2468880"/>
            <a:ext cx="2194560" cy="1097280"/>
          </a:xfrm>
          <a:prstGeom prst="rect">
            <a:avLst/>
          </a:prstGeom>
          <a:noFill/>
        </p:spPr>
        <p:txBody>
          <a:bodyPr wrap="square">
            <a:spAutoFit/>
          </a:bodyPr>
          <a:lstStyle/>
          <a:p>
            <a:pPr>
              <a:defRPr sz="950" b="1">
                <a:solidFill>
                  <a:srgbClr val="0A192F"/>
                </a:solidFill>
              </a:defRPr>
            </a:pPr>
            <a:r>
              <a:t>BEST FOR:</a:t>
            </a:r>
          </a:p>
          <a:p>
            <a:pPr>
              <a:defRPr sz="1050">
                <a:solidFill>
                  <a:srgbClr val="0F172A"/>
                </a:solidFill>
              </a:defRPr>
            </a:pPr>
            <a:r>
              <a:t>Sustained high-volume production with strict sub-second latency SLAs.</a:t>
            </a:r>
          </a:p>
        </p:txBody>
      </p:sp>
      <p:sp>
        <p:nvSpPr>
          <p:cNvPr id="18" name="TextBox 17"/>
          <p:cNvSpPr txBox="1"/>
          <p:nvPr/>
        </p:nvSpPr>
        <p:spPr>
          <a:xfrm>
            <a:off x="3611880" y="3657600"/>
            <a:ext cx="2194560" cy="1188720"/>
          </a:xfrm>
          <a:prstGeom prst="rect">
            <a:avLst/>
          </a:prstGeom>
          <a:noFill/>
        </p:spPr>
        <p:txBody>
          <a:bodyPr wrap="square">
            <a:spAutoFit/>
          </a:bodyPr>
          <a:lstStyle/>
          <a:p>
            <a:pPr>
              <a:defRPr sz="950" b="1">
                <a:solidFill>
                  <a:srgbClr val="D83B01"/>
                </a:solidFill>
              </a:defRPr>
            </a:pPr>
            <a:r>
              <a:t>PRIMARY RISK:</a:t>
            </a:r>
          </a:p>
          <a:p>
            <a:pPr>
              <a:defRPr sz="1050">
                <a:solidFill>
                  <a:srgbClr val="0F172A"/>
                </a:solidFill>
              </a:defRPr>
            </a:pPr>
            <a:r>
              <a:t>Under-utilization waste; committed capacity outlives rapidly retiring models.</a:t>
            </a:r>
          </a:p>
        </p:txBody>
      </p:sp>
      <p:sp>
        <p:nvSpPr>
          <p:cNvPr id="19" name="Rounded Rectangle 18"/>
          <p:cNvSpPr/>
          <p:nvPr/>
        </p:nvSpPr>
        <p:spPr>
          <a:xfrm>
            <a:off x="3611880" y="4892040"/>
            <a:ext cx="2194560" cy="4572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A389"/>
                </a:solidFill>
              </a:defRPr>
            </a:pPr>
            <a:r>
              <a:t>1-month to 1-year commit</a:t>
            </a:r>
          </a:p>
        </p:txBody>
      </p:sp>
      <p:sp>
        <p:nvSpPr>
          <p:cNvPr id="20" name="Rounded Rectangle 19"/>
          <p:cNvSpPr/>
          <p:nvPr/>
        </p:nvSpPr>
        <p:spPr>
          <a:xfrm>
            <a:off x="6217920" y="1371600"/>
            <a:ext cx="2468880" cy="411480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600200"/>
            <a:ext cx="2194560" cy="502920"/>
          </a:xfrm>
          <a:prstGeom prst="rect">
            <a:avLst/>
          </a:prstGeom>
          <a:noFill/>
        </p:spPr>
        <p:txBody>
          <a:bodyPr wrap="square">
            <a:spAutoFit/>
          </a:bodyPr>
          <a:lstStyle/>
          <a:p>
            <a:pPr>
              <a:defRPr sz="1300" b="1">
                <a:solidFill>
                  <a:srgbClr val="0A192F"/>
                </a:solidFill>
              </a:defRPr>
            </a:pPr>
            <a:r>
              <a:t>3. Hybrid Routing</a:t>
            </a:r>
          </a:p>
        </p:txBody>
      </p:sp>
      <p:sp>
        <p:nvSpPr>
          <p:cNvPr id="23" name="TextBox 22"/>
          <p:cNvSpPr txBox="1"/>
          <p:nvPr/>
        </p:nvSpPr>
        <p:spPr>
          <a:xfrm>
            <a:off x="6355080" y="2148840"/>
            <a:ext cx="2194560" cy="274320"/>
          </a:xfrm>
          <a:prstGeom prst="rect">
            <a:avLst/>
          </a:prstGeom>
          <a:noFill/>
        </p:spPr>
        <p:txBody>
          <a:bodyPr wrap="none">
            <a:spAutoFit/>
          </a:bodyPr>
          <a:lstStyle/>
          <a:p>
            <a:pPr>
              <a:defRPr sz="950" b="1">
                <a:solidFill>
                  <a:srgbClr val="0A192F"/>
                </a:solidFill>
              </a:defRPr>
            </a:pPr>
            <a:r>
              <a:t>OPTIMAL ENTERPRISE</a:t>
            </a:r>
          </a:p>
        </p:txBody>
      </p:sp>
      <p:sp>
        <p:nvSpPr>
          <p:cNvPr id="24" name="TextBox 23"/>
          <p:cNvSpPr txBox="1"/>
          <p:nvPr/>
        </p:nvSpPr>
        <p:spPr>
          <a:xfrm>
            <a:off x="6355080" y="2468880"/>
            <a:ext cx="2194560" cy="1097280"/>
          </a:xfrm>
          <a:prstGeom prst="rect">
            <a:avLst/>
          </a:prstGeom>
          <a:noFill/>
        </p:spPr>
        <p:txBody>
          <a:bodyPr wrap="square">
            <a:spAutoFit/>
          </a:bodyPr>
          <a:lstStyle/>
          <a:p>
            <a:pPr>
              <a:defRPr sz="950" b="1">
                <a:solidFill>
                  <a:srgbClr val="0A192F"/>
                </a:solidFill>
              </a:defRPr>
            </a:pPr>
            <a:r>
              <a:t>BEST FOR:</a:t>
            </a:r>
          </a:p>
          <a:p>
            <a:pPr>
              <a:defRPr sz="1050">
                <a:solidFill>
                  <a:srgbClr val="0F172A"/>
                </a:solidFill>
              </a:defRPr>
            </a:pPr>
            <a:r>
              <a:t>PTU sized for steady 70%+ baseline; automated overflow to PAYG for peaks.</a:t>
            </a:r>
          </a:p>
        </p:txBody>
      </p:sp>
      <p:sp>
        <p:nvSpPr>
          <p:cNvPr id="25" name="TextBox 24"/>
          <p:cNvSpPr txBox="1"/>
          <p:nvPr/>
        </p:nvSpPr>
        <p:spPr>
          <a:xfrm>
            <a:off x="6355080" y="3657600"/>
            <a:ext cx="2194560" cy="1188720"/>
          </a:xfrm>
          <a:prstGeom prst="rect">
            <a:avLst/>
          </a:prstGeom>
          <a:noFill/>
        </p:spPr>
        <p:txBody>
          <a:bodyPr wrap="square">
            <a:spAutoFit/>
          </a:bodyPr>
          <a:lstStyle/>
          <a:p>
            <a:pPr>
              <a:defRPr sz="950" b="1">
                <a:solidFill>
                  <a:srgbClr val="D83B01"/>
                </a:solidFill>
              </a:defRPr>
            </a:pPr>
            <a:r>
              <a:t>PRIMARY RISK:</a:t>
            </a:r>
          </a:p>
          <a:p>
            <a:pPr>
              <a:defRPr sz="1050">
                <a:solidFill>
                  <a:srgbClr val="0F172A"/>
                </a:solidFill>
              </a:defRPr>
            </a:pPr>
            <a:r>
              <a:t>Requires gateway routing logic (Offering 03) and dual billing monitoring.</a:t>
            </a:r>
          </a:p>
        </p:txBody>
      </p:sp>
      <p:sp>
        <p:nvSpPr>
          <p:cNvPr id="26" name="Rounded Rectangle 25"/>
          <p:cNvSpPr/>
          <p:nvPr/>
        </p:nvSpPr>
        <p:spPr>
          <a:xfrm>
            <a:off x="6355080" y="4892040"/>
            <a:ext cx="2194560" cy="4572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Base commit + overflow</a:t>
            </a:r>
          </a:p>
        </p:txBody>
      </p:sp>
      <p:sp>
        <p:nvSpPr>
          <p:cNvPr id="27" name="Rounded Rectangle 26"/>
          <p:cNvSpPr/>
          <p:nvPr/>
        </p:nvSpPr>
        <p:spPr>
          <a:xfrm>
            <a:off x="8961120" y="1371600"/>
            <a:ext cx="2468880" cy="411480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1600200"/>
            <a:ext cx="2194560" cy="502920"/>
          </a:xfrm>
          <a:prstGeom prst="rect">
            <a:avLst/>
          </a:prstGeom>
          <a:noFill/>
        </p:spPr>
        <p:txBody>
          <a:bodyPr wrap="square">
            <a:spAutoFit/>
          </a:bodyPr>
          <a:lstStyle/>
          <a:p>
            <a:pPr>
              <a:defRPr sz="1300" b="1">
                <a:solidFill>
                  <a:srgbClr val="0A192F"/>
                </a:solidFill>
              </a:defRPr>
            </a:pPr>
            <a:r>
              <a:t>4. Self-Hosted GPU</a:t>
            </a:r>
          </a:p>
        </p:txBody>
      </p:sp>
      <p:sp>
        <p:nvSpPr>
          <p:cNvPr id="30" name="TextBox 29"/>
          <p:cNvSpPr txBox="1"/>
          <p:nvPr/>
        </p:nvSpPr>
        <p:spPr>
          <a:xfrm>
            <a:off x="9098280" y="2148840"/>
            <a:ext cx="2194560" cy="274320"/>
          </a:xfrm>
          <a:prstGeom prst="rect">
            <a:avLst/>
          </a:prstGeom>
          <a:noFill/>
        </p:spPr>
        <p:txBody>
          <a:bodyPr wrap="none">
            <a:spAutoFit/>
          </a:bodyPr>
          <a:lstStyle/>
          <a:p>
            <a:pPr>
              <a:defRPr sz="950" b="1">
                <a:solidFill>
                  <a:srgbClr val="D83B01"/>
                </a:solidFill>
              </a:defRPr>
            </a:pPr>
            <a:r>
              <a:t>SOVEREIGN &amp; CUSTOM</a:t>
            </a:r>
          </a:p>
        </p:txBody>
      </p:sp>
      <p:sp>
        <p:nvSpPr>
          <p:cNvPr id="31" name="TextBox 30"/>
          <p:cNvSpPr txBox="1"/>
          <p:nvPr/>
        </p:nvSpPr>
        <p:spPr>
          <a:xfrm>
            <a:off x="9098280" y="2468880"/>
            <a:ext cx="2194560" cy="1097280"/>
          </a:xfrm>
          <a:prstGeom prst="rect">
            <a:avLst/>
          </a:prstGeom>
          <a:noFill/>
        </p:spPr>
        <p:txBody>
          <a:bodyPr wrap="square">
            <a:spAutoFit/>
          </a:bodyPr>
          <a:lstStyle/>
          <a:p>
            <a:pPr>
              <a:defRPr sz="950" b="1">
                <a:solidFill>
                  <a:srgbClr val="0A192F"/>
                </a:solidFill>
              </a:defRPr>
            </a:pPr>
            <a:r>
              <a:t>BEST FOR:</a:t>
            </a:r>
          </a:p>
          <a:p>
            <a:pPr>
              <a:defRPr sz="1050">
                <a:solidFill>
                  <a:srgbClr val="0F172A"/>
                </a:solidFill>
              </a:defRPr>
            </a:pPr>
            <a:r>
              <a:t>Fine-tuned open models (DeepSeek, Llama) requiring dedicated GPU silicon.</a:t>
            </a:r>
          </a:p>
        </p:txBody>
      </p:sp>
      <p:sp>
        <p:nvSpPr>
          <p:cNvPr id="32" name="TextBox 31"/>
          <p:cNvSpPr txBox="1"/>
          <p:nvPr/>
        </p:nvSpPr>
        <p:spPr>
          <a:xfrm>
            <a:off x="9098280" y="3657600"/>
            <a:ext cx="2194560" cy="1188720"/>
          </a:xfrm>
          <a:prstGeom prst="rect">
            <a:avLst/>
          </a:prstGeom>
          <a:noFill/>
        </p:spPr>
        <p:txBody>
          <a:bodyPr wrap="square">
            <a:spAutoFit/>
          </a:bodyPr>
          <a:lstStyle/>
          <a:p>
            <a:pPr>
              <a:defRPr sz="950" b="1">
                <a:solidFill>
                  <a:srgbClr val="D83B01"/>
                </a:solidFill>
              </a:defRPr>
            </a:pPr>
            <a:r>
              <a:t>PRIMARY RISK:</a:t>
            </a:r>
          </a:p>
          <a:p>
            <a:pPr>
              <a:defRPr sz="1050">
                <a:solidFill>
                  <a:srgbClr val="0F172A"/>
                </a:solidFill>
              </a:defRPr>
            </a:pPr>
            <a:r>
              <a:t>High operating burden, driver management, host idling, and cluster maintenance.</a:t>
            </a:r>
          </a:p>
        </p:txBody>
      </p:sp>
      <p:sp>
        <p:nvSpPr>
          <p:cNvPr id="33" name="Rounded Rectangle 32"/>
          <p:cNvSpPr/>
          <p:nvPr/>
        </p:nvSpPr>
        <p:spPr>
          <a:xfrm>
            <a:off x="9098280" y="4892040"/>
            <a:ext cx="2194560" cy="4572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83B01"/>
                </a:solidFill>
              </a:defRPr>
            </a:pPr>
            <a:r>
              <a:t>VM / cluster reservation</a:t>
            </a:r>
          </a:p>
        </p:txBody>
      </p:sp>
      <p:sp>
        <p:nvSpPr>
          <p:cNvPr id="34" name="Rounded Rectangle 33"/>
          <p:cNvSpPr/>
          <p:nvPr/>
        </p:nvSpPr>
        <p:spPr>
          <a:xfrm>
            <a:off x="731520" y="5623560"/>
            <a:ext cx="10698480" cy="59436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DECISION GATE: Advancing to PTU or self-hosted GPU requires measured traffic, latency benchmark, customer EA price, and model retirement check.</a:t>
            </a:r>
          </a:p>
        </p:txBody>
      </p:sp>
      <p:sp>
        <p:nvSpPr>
          <p:cNvPr id="35" name="TextBox 3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BREAK-EVEN ECONOMICS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PTU only pays below a price threshold; list is far above it</a:t>
            </a:r>
          </a:p>
        </p:txBody>
      </p:sp>
      <p:sp>
        <p:nvSpPr>
          <p:cNvPr id="6" name="Rounded Rectangle 5"/>
          <p:cNvSpPr/>
          <p:nvPr/>
        </p:nvSpPr>
        <p:spPr>
          <a:xfrm>
            <a:off x="731520" y="1280160"/>
            <a:ext cx="10698480" cy="457200"/>
          </a:xfrm>
          <a:prstGeom prst="roundRect">
            <a:avLst/>
          </a:prstGeom>
          <a:solidFill>
            <a:srgbClr val="FEF2F2"/>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83B01"/>
                </a:solidFill>
              </a:defRPr>
            </a:pPr>
            <a:r>
              <a:t>CRITICAL FINDING: BUYING PTUs AT HOURLY LIST PRICE ($730/MO) CREATES IMMEDIATE FINANCIAL LOSS OVER PAYG</a:t>
            </a:r>
          </a:p>
        </p:txBody>
      </p:sp>
      <p:sp>
        <p:nvSpPr>
          <p:cNvPr id="7" name="Rounded Rectangle 6"/>
          <p:cNvSpPr/>
          <p:nvPr/>
        </p:nvSpPr>
        <p:spPr>
          <a:xfrm>
            <a:off x="731520" y="1920240"/>
            <a:ext cx="3383280" cy="338328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2926080" cy="320040"/>
          </a:xfrm>
          <a:prstGeom prst="rect">
            <a:avLst/>
          </a:prstGeom>
          <a:noFill/>
        </p:spPr>
        <p:txBody>
          <a:bodyPr wrap="none">
            <a:spAutoFit/>
          </a:bodyPr>
          <a:lstStyle/>
          <a:p>
            <a:pPr>
              <a:defRPr sz="1300" b="1">
                <a:solidFill>
                  <a:srgbClr val="0A192F"/>
                </a:solidFill>
              </a:defRPr>
            </a:pPr>
            <a:r>
              <a:t>Hourly List PTU Price</a:t>
            </a:r>
          </a:p>
        </p:txBody>
      </p:sp>
      <p:sp>
        <p:nvSpPr>
          <p:cNvPr id="10" name="TextBox 9"/>
          <p:cNvSpPr txBox="1"/>
          <p:nvPr/>
        </p:nvSpPr>
        <p:spPr>
          <a:xfrm>
            <a:off x="960120" y="2560320"/>
            <a:ext cx="2926080" cy="640080"/>
          </a:xfrm>
          <a:prstGeom prst="rect">
            <a:avLst/>
          </a:prstGeom>
          <a:noFill/>
        </p:spPr>
        <p:txBody>
          <a:bodyPr wrap="none">
            <a:spAutoFit/>
          </a:bodyPr>
          <a:lstStyle/>
          <a:p>
            <a:pPr>
              <a:defRPr sz="4000" b="1">
                <a:solidFill>
                  <a:srgbClr val="D83B01"/>
                </a:solidFill>
              </a:defRPr>
            </a:pPr>
            <a:r>
              <a:t>$730</a:t>
            </a:r>
          </a:p>
        </p:txBody>
      </p:sp>
      <p:sp>
        <p:nvSpPr>
          <p:cNvPr id="11" name="TextBox 10"/>
          <p:cNvSpPr txBox="1"/>
          <p:nvPr/>
        </p:nvSpPr>
        <p:spPr>
          <a:xfrm>
            <a:off x="960120" y="3291840"/>
            <a:ext cx="2926080" cy="274320"/>
          </a:xfrm>
          <a:prstGeom prst="rect">
            <a:avLst/>
          </a:prstGeom>
          <a:noFill/>
        </p:spPr>
        <p:txBody>
          <a:bodyPr wrap="none">
            <a:spAutoFit/>
          </a:bodyPr>
          <a:lstStyle/>
          <a:p>
            <a:pPr>
              <a:defRPr sz="1000" b="1">
                <a:solidFill>
                  <a:srgbClr val="64748B"/>
                </a:solidFill>
              </a:defRPr>
            </a:pPr>
            <a:r>
              <a:t>USD / PTU-Month</a:t>
            </a:r>
          </a:p>
        </p:txBody>
      </p:sp>
      <p:sp>
        <p:nvSpPr>
          <p:cNvPr id="12" name="TextBox 11"/>
          <p:cNvSpPr txBox="1"/>
          <p:nvPr/>
        </p:nvSpPr>
        <p:spPr>
          <a:xfrm>
            <a:off x="960120" y="3657600"/>
            <a:ext cx="2926080" cy="1463040"/>
          </a:xfrm>
          <a:prstGeom prst="rect">
            <a:avLst/>
          </a:prstGeom>
          <a:noFill/>
        </p:spPr>
        <p:txBody>
          <a:bodyPr wrap="square">
            <a:spAutoFit/>
          </a:bodyPr>
          <a:lstStyle/>
          <a:p>
            <a:pPr>
              <a:defRPr sz="1100">
                <a:solidFill>
                  <a:srgbClr val="0F172A"/>
                </a:solidFill>
              </a:defRPr>
            </a:pPr>
            <a:r>
              <a:t>Standard uncommitted list price. Fully utilized, it replaces at most $263 of gpt-5.4 PAYG input spend.</a:t>
            </a:r>
          </a:p>
        </p:txBody>
      </p:sp>
      <p:sp>
        <p:nvSpPr>
          <p:cNvPr id="13" name="Rounded Rectangle 12"/>
          <p:cNvSpPr/>
          <p:nvPr/>
        </p:nvSpPr>
        <p:spPr>
          <a:xfrm>
            <a:off x="4389120" y="1920240"/>
            <a:ext cx="3383280" cy="338328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92024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2148840"/>
            <a:ext cx="2926080" cy="320040"/>
          </a:xfrm>
          <a:prstGeom prst="rect">
            <a:avLst/>
          </a:prstGeom>
          <a:noFill/>
        </p:spPr>
        <p:txBody>
          <a:bodyPr wrap="none">
            <a:spAutoFit/>
          </a:bodyPr>
          <a:lstStyle/>
          <a:p>
            <a:pPr>
              <a:defRPr sz="1300" b="1">
                <a:solidFill>
                  <a:srgbClr val="0A192F"/>
                </a:solidFill>
              </a:defRPr>
            </a:pPr>
            <a:r>
              <a:t>Hybrid Break-Even Target</a:t>
            </a:r>
          </a:p>
        </p:txBody>
      </p:sp>
      <p:sp>
        <p:nvSpPr>
          <p:cNvPr id="16" name="TextBox 15"/>
          <p:cNvSpPr txBox="1"/>
          <p:nvPr/>
        </p:nvSpPr>
        <p:spPr>
          <a:xfrm>
            <a:off x="4617720" y="2560320"/>
            <a:ext cx="2926080" cy="640080"/>
          </a:xfrm>
          <a:prstGeom prst="rect">
            <a:avLst/>
          </a:prstGeom>
          <a:noFill/>
        </p:spPr>
        <p:txBody>
          <a:bodyPr wrap="none">
            <a:spAutoFit/>
          </a:bodyPr>
          <a:lstStyle/>
          <a:p>
            <a:pPr>
              <a:defRPr sz="4000" b="1">
                <a:solidFill>
                  <a:srgbClr val="00A389"/>
                </a:solidFill>
              </a:defRPr>
            </a:pPr>
            <a:r>
              <a:t>$210</a:t>
            </a:r>
          </a:p>
        </p:txBody>
      </p:sp>
      <p:sp>
        <p:nvSpPr>
          <p:cNvPr id="17" name="TextBox 16"/>
          <p:cNvSpPr txBox="1"/>
          <p:nvPr/>
        </p:nvSpPr>
        <p:spPr>
          <a:xfrm>
            <a:off x="4617720" y="3291840"/>
            <a:ext cx="2926080" cy="274320"/>
          </a:xfrm>
          <a:prstGeom prst="rect">
            <a:avLst/>
          </a:prstGeom>
          <a:noFill/>
        </p:spPr>
        <p:txBody>
          <a:bodyPr wrap="none">
            <a:spAutoFit/>
          </a:bodyPr>
          <a:lstStyle/>
          <a:p>
            <a:pPr>
              <a:defRPr sz="1000" b="1">
                <a:solidFill>
                  <a:srgbClr val="64748B"/>
                </a:solidFill>
              </a:defRPr>
            </a:pPr>
            <a:r>
              <a:t>USD / PTU-Month</a:t>
            </a:r>
          </a:p>
        </p:txBody>
      </p:sp>
      <p:sp>
        <p:nvSpPr>
          <p:cNvPr id="18" name="TextBox 17"/>
          <p:cNvSpPr txBox="1"/>
          <p:nvPr/>
        </p:nvSpPr>
        <p:spPr>
          <a:xfrm>
            <a:off x="4617720" y="3657600"/>
            <a:ext cx="2926080" cy="1463040"/>
          </a:xfrm>
          <a:prstGeom prst="rect">
            <a:avLst/>
          </a:prstGeom>
          <a:noFill/>
        </p:spPr>
        <p:txBody>
          <a:bodyPr wrap="square">
            <a:spAutoFit/>
          </a:bodyPr>
          <a:lstStyle/>
          <a:p>
            <a:pPr>
              <a:defRPr sz="1100">
                <a:solidFill>
                  <a:srgbClr val="0F172A"/>
                </a:solidFill>
              </a:defRPr>
            </a:pPr>
            <a:r>
              <a:t>The negotiated EA reservation price required to beat PAYG under realistic diurnal enterprise traffic.</a:t>
            </a:r>
          </a:p>
        </p:txBody>
      </p:sp>
      <p:sp>
        <p:nvSpPr>
          <p:cNvPr id="19" name="Rounded Rectangle 18"/>
          <p:cNvSpPr/>
          <p:nvPr/>
        </p:nvSpPr>
        <p:spPr>
          <a:xfrm>
            <a:off x="8046720" y="1920240"/>
            <a:ext cx="3383280" cy="338328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2024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148840"/>
            <a:ext cx="2926080" cy="320040"/>
          </a:xfrm>
          <a:prstGeom prst="rect">
            <a:avLst/>
          </a:prstGeom>
          <a:noFill/>
        </p:spPr>
        <p:txBody>
          <a:bodyPr wrap="none">
            <a:spAutoFit/>
          </a:bodyPr>
          <a:lstStyle/>
          <a:p>
            <a:pPr>
              <a:defRPr sz="1300" b="1">
                <a:solidFill>
                  <a:srgbClr val="0A192F"/>
                </a:solidFill>
              </a:defRPr>
            </a:pPr>
            <a:r>
              <a:t>Peak Break-Even Target</a:t>
            </a:r>
          </a:p>
        </p:txBody>
      </p:sp>
      <p:sp>
        <p:nvSpPr>
          <p:cNvPr id="22" name="TextBox 21"/>
          <p:cNvSpPr txBox="1"/>
          <p:nvPr/>
        </p:nvSpPr>
        <p:spPr>
          <a:xfrm>
            <a:off x="8275320" y="2560320"/>
            <a:ext cx="2926080" cy="640080"/>
          </a:xfrm>
          <a:prstGeom prst="rect">
            <a:avLst/>
          </a:prstGeom>
          <a:noFill/>
        </p:spPr>
        <p:txBody>
          <a:bodyPr wrap="none">
            <a:spAutoFit/>
          </a:bodyPr>
          <a:lstStyle/>
          <a:p>
            <a:pPr>
              <a:defRPr sz="4000" b="1">
                <a:solidFill>
                  <a:srgbClr val="0078D4"/>
                </a:solidFill>
              </a:defRPr>
            </a:pPr>
            <a:r>
              <a:t>$160</a:t>
            </a:r>
          </a:p>
        </p:txBody>
      </p:sp>
      <p:sp>
        <p:nvSpPr>
          <p:cNvPr id="23" name="TextBox 22"/>
          <p:cNvSpPr txBox="1"/>
          <p:nvPr/>
        </p:nvSpPr>
        <p:spPr>
          <a:xfrm>
            <a:off x="8275320" y="3291840"/>
            <a:ext cx="2926080" cy="274320"/>
          </a:xfrm>
          <a:prstGeom prst="rect">
            <a:avLst/>
          </a:prstGeom>
          <a:noFill/>
        </p:spPr>
        <p:txBody>
          <a:bodyPr wrap="none">
            <a:spAutoFit/>
          </a:bodyPr>
          <a:lstStyle/>
          <a:p>
            <a:pPr>
              <a:defRPr sz="1000" b="1">
                <a:solidFill>
                  <a:srgbClr val="64748B"/>
                </a:solidFill>
              </a:defRPr>
            </a:pPr>
            <a:r>
              <a:t>USD / PTU-Month</a:t>
            </a:r>
          </a:p>
        </p:txBody>
      </p:sp>
      <p:sp>
        <p:nvSpPr>
          <p:cNvPr id="24" name="TextBox 23"/>
          <p:cNvSpPr txBox="1"/>
          <p:nvPr/>
        </p:nvSpPr>
        <p:spPr>
          <a:xfrm>
            <a:off x="8275320" y="3657600"/>
            <a:ext cx="2926080" cy="1463040"/>
          </a:xfrm>
          <a:prstGeom prst="rect">
            <a:avLst/>
          </a:prstGeom>
          <a:noFill/>
        </p:spPr>
        <p:txBody>
          <a:bodyPr wrap="square">
            <a:spAutoFit/>
          </a:bodyPr>
          <a:lstStyle/>
          <a:p>
            <a:pPr>
              <a:defRPr sz="1100">
                <a:solidFill>
                  <a:srgbClr val="0F172A"/>
                </a:solidFill>
              </a:defRPr>
            </a:pPr>
            <a:r>
              <a:t>The maximum price justified if PTU capacity is sized to absorb 100% of peak hourly workload spikes.</a:t>
            </a:r>
          </a:p>
        </p:txBody>
      </p:sp>
      <p:sp>
        <p:nvSpPr>
          <p:cNvPr id="25" name="Rounded Rectangle 24"/>
          <p:cNvSpPr/>
          <p:nvPr/>
        </p:nvSpPr>
        <p:spPr>
          <a:xfrm>
            <a:off x="731520" y="5486400"/>
            <a:ext cx="1069848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77840"/>
            <a:ext cx="10332720" cy="548640"/>
          </a:xfrm>
          <a:prstGeom prst="rect">
            <a:avLst/>
          </a:prstGeom>
          <a:noFill/>
        </p:spPr>
        <p:txBody>
          <a:bodyPr wrap="square">
            <a:spAutoFit/>
          </a:bodyPr>
          <a:lstStyle/>
          <a:p>
            <a:pPr>
              <a:defRPr sz="1050">
                <a:solidFill>
                  <a:srgbClr val="0F172A"/>
                </a:solidFill>
              </a:defRPr>
            </a:pPr>
            <a:r>
              <a:t>READ IN 10 SECONDS: PTU reservations require deep enterprise discount pricing (&lt;$210/PTU-mo) OR continuous &gt;70% steady-state utilization. Otherwise, Pay-As-You-Go with gateway throttling delivers superior economics.</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DELIVERY PACKAGES &amp; SIZING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Deliver assessment in 3 to 5 weeks for $25k to $40k</a:t>
            </a:r>
          </a:p>
        </p:txBody>
      </p:sp>
      <p:sp>
        <p:nvSpPr>
          <p:cNvPr id="6" name="Rounded Rectangle 5"/>
          <p:cNvSpPr/>
          <p:nvPr/>
        </p:nvSpPr>
        <p:spPr>
          <a:xfrm>
            <a:off x="7315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502920"/>
          </a:xfrm>
          <a:prstGeom prst="rect">
            <a:avLst/>
          </a:prstGeom>
          <a:noFill/>
        </p:spPr>
        <p:txBody>
          <a:bodyPr wrap="square">
            <a:spAutoFit/>
          </a:bodyPr>
          <a:lstStyle/>
          <a:p>
            <a:pPr>
              <a:defRPr sz="1300" b="1">
                <a:solidFill>
                  <a:srgbClr val="0A192F"/>
                </a:solidFill>
              </a:defRPr>
            </a:pPr>
            <a:r>
              <a:t>1. FinOps Assessment</a:t>
            </a:r>
          </a:p>
        </p:txBody>
      </p:sp>
      <p:sp>
        <p:nvSpPr>
          <p:cNvPr id="9" name="TextBox 8"/>
          <p:cNvSpPr txBox="1"/>
          <p:nvPr/>
        </p:nvSpPr>
        <p:spPr>
          <a:xfrm>
            <a:off x="914400" y="2194560"/>
            <a:ext cx="2103120" cy="274320"/>
          </a:xfrm>
          <a:prstGeom prst="rect">
            <a:avLst/>
          </a:prstGeom>
          <a:noFill/>
        </p:spPr>
        <p:txBody>
          <a:bodyPr wrap="none">
            <a:spAutoFit/>
          </a:bodyPr>
          <a:lstStyle/>
          <a:p>
            <a:pPr>
              <a:defRPr sz="1100" b="1">
                <a:solidFill>
                  <a:srgbClr val="0078D4"/>
                </a:solidFill>
              </a:defRPr>
            </a:pPr>
            <a:r>
              <a:t>3-5 WEEKS</a:t>
            </a:r>
          </a:p>
        </p:txBody>
      </p:sp>
      <p:sp>
        <p:nvSpPr>
          <p:cNvPr id="10" name="TextBox 9"/>
          <p:cNvSpPr txBox="1"/>
          <p:nvPr/>
        </p:nvSpPr>
        <p:spPr>
          <a:xfrm>
            <a:off x="914400" y="2514600"/>
            <a:ext cx="2103120" cy="320040"/>
          </a:xfrm>
          <a:prstGeom prst="rect">
            <a:avLst/>
          </a:prstGeom>
          <a:noFill/>
        </p:spPr>
        <p:txBody>
          <a:bodyPr wrap="none">
            <a:spAutoFit/>
          </a:bodyPr>
          <a:lstStyle/>
          <a:p>
            <a:pPr>
              <a:defRPr sz="1600" b="1">
                <a:solidFill>
                  <a:srgbClr val="0A192F"/>
                </a:solidFill>
              </a:defRPr>
            </a:pPr>
            <a:r>
              <a:t>25-40 Days</a:t>
            </a:r>
          </a:p>
        </p:txBody>
      </p:sp>
      <p:sp>
        <p:nvSpPr>
          <p:cNvPr id="11" name="TextBox 10"/>
          <p:cNvSpPr txBox="1"/>
          <p:nvPr/>
        </p:nvSpPr>
        <p:spPr>
          <a:xfrm>
            <a:off x="914400" y="2880360"/>
            <a:ext cx="2103120" cy="320040"/>
          </a:xfrm>
          <a:prstGeom prst="rect">
            <a:avLst/>
          </a:prstGeom>
          <a:noFill/>
        </p:spPr>
        <p:txBody>
          <a:bodyPr wrap="none">
            <a:spAutoFit/>
          </a:bodyPr>
          <a:lstStyle/>
          <a:p>
            <a:pPr>
              <a:defRPr sz="1500" b="1">
                <a:solidFill>
                  <a:srgbClr val="0078D4"/>
                </a:solidFill>
              </a:defRPr>
            </a:pPr>
            <a:r>
              <a:t>$25k-$40k</a:t>
            </a:r>
          </a:p>
        </p:txBody>
      </p:sp>
      <p:sp>
        <p:nvSpPr>
          <p:cNvPr id="12" name="TextBox 11"/>
          <p:cNvSpPr txBox="1"/>
          <p:nvPr/>
        </p:nvSpPr>
        <p:spPr>
          <a:xfrm>
            <a:off x="914400" y="3291840"/>
            <a:ext cx="2103120" cy="1920240"/>
          </a:xfrm>
          <a:prstGeom prst="rect">
            <a:avLst/>
          </a:prstGeom>
          <a:noFill/>
        </p:spPr>
        <p:txBody>
          <a:bodyPr wrap="square">
            <a:spAutoFit/>
          </a:bodyPr>
          <a:lstStyle/>
          <a:p>
            <a:pPr>
              <a:defRPr sz="1050">
                <a:solidFill>
                  <a:srgbClr val="0F172A"/>
                </a:solidFill>
              </a:defRPr>
            </a:pPr>
            <a:r>
              <a:t>Usage baseline analysis, 4-path comparison modeling, and executive decision memo.</a:t>
            </a:r>
          </a:p>
        </p:txBody>
      </p:sp>
      <p:sp>
        <p:nvSpPr>
          <p:cNvPr id="13" name="Rounded Rectangle 12"/>
          <p:cNvSpPr/>
          <p:nvPr/>
        </p:nvSpPr>
        <p:spPr>
          <a:xfrm>
            <a:off x="3474720" y="1371600"/>
            <a:ext cx="24688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600200"/>
            <a:ext cx="2103120" cy="502920"/>
          </a:xfrm>
          <a:prstGeom prst="rect">
            <a:avLst/>
          </a:prstGeom>
          <a:noFill/>
        </p:spPr>
        <p:txBody>
          <a:bodyPr wrap="square">
            <a:spAutoFit/>
          </a:bodyPr>
          <a:lstStyle/>
          <a:p>
            <a:pPr>
              <a:defRPr sz="1300" b="1">
                <a:solidFill>
                  <a:srgbClr val="0A192F"/>
                </a:solidFill>
              </a:defRPr>
            </a:pPr>
            <a:r>
              <a:t>2. Benchmark Add-on</a:t>
            </a:r>
          </a:p>
        </p:txBody>
      </p:sp>
      <p:sp>
        <p:nvSpPr>
          <p:cNvPr id="16" name="TextBox 15"/>
          <p:cNvSpPr txBox="1"/>
          <p:nvPr/>
        </p:nvSpPr>
        <p:spPr>
          <a:xfrm>
            <a:off x="3657600" y="2194560"/>
            <a:ext cx="2103120" cy="274320"/>
          </a:xfrm>
          <a:prstGeom prst="rect">
            <a:avLst/>
          </a:prstGeom>
          <a:noFill/>
        </p:spPr>
        <p:txBody>
          <a:bodyPr wrap="none">
            <a:spAutoFit/>
          </a:bodyPr>
          <a:lstStyle/>
          <a:p>
            <a:pPr>
              <a:defRPr sz="1100" b="1">
                <a:solidFill>
                  <a:srgbClr val="0A192F"/>
                </a:solidFill>
              </a:defRPr>
            </a:pPr>
            <a:r>
              <a:t>2-3 WEEKS</a:t>
            </a:r>
          </a:p>
        </p:txBody>
      </p:sp>
      <p:sp>
        <p:nvSpPr>
          <p:cNvPr id="17" name="TextBox 16"/>
          <p:cNvSpPr txBox="1"/>
          <p:nvPr/>
        </p:nvSpPr>
        <p:spPr>
          <a:xfrm>
            <a:off x="3657600" y="2514600"/>
            <a:ext cx="2103120" cy="320040"/>
          </a:xfrm>
          <a:prstGeom prst="rect">
            <a:avLst/>
          </a:prstGeom>
          <a:noFill/>
        </p:spPr>
        <p:txBody>
          <a:bodyPr wrap="none">
            <a:spAutoFit/>
          </a:bodyPr>
          <a:lstStyle/>
          <a:p>
            <a:pPr>
              <a:defRPr sz="1600" b="1">
                <a:solidFill>
                  <a:srgbClr val="0A192F"/>
                </a:solidFill>
              </a:defRPr>
            </a:pPr>
            <a:r>
              <a:t>15-25 Days</a:t>
            </a:r>
          </a:p>
        </p:txBody>
      </p:sp>
      <p:sp>
        <p:nvSpPr>
          <p:cNvPr id="18" name="TextBox 17"/>
          <p:cNvSpPr txBox="1"/>
          <p:nvPr/>
        </p:nvSpPr>
        <p:spPr>
          <a:xfrm>
            <a:off x="3657600" y="2880360"/>
            <a:ext cx="2103120" cy="320040"/>
          </a:xfrm>
          <a:prstGeom prst="rect">
            <a:avLst/>
          </a:prstGeom>
          <a:noFill/>
        </p:spPr>
        <p:txBody>
          <a:bodyPr wrap="none">
            <a:spAutoFit/>
          </a:bodyPr>
          <a:lstStyle/>
          <a:p>
            <a:pPr>
              <a:defRPr sz="1500" b="1">
                <a:solidFill>
                  <a:srgbClr val="0A192F"/>
                </a:solidFill>
              </a:defRPr>
            </a:pPr>
            <a:r>
              <a:t>$15k-$25k</a:t>
            </a:r>
          </a:p>
        </p:txBody>
      </p:sp>
      <p:sp>
        <p:nvSpPr>
          <p:cNvPr id="19" name="TextBox 18"/>
          <p:cNvSpPr txBox="1"/>
          <p:nvPr/>
        </p:nvSpPr>
        <p:spPr>
          <a:xfrm>
            <a:off x="3657600" y="3291840"/>
            <a:ext cx="2103120" cy="1920240"/>
          </a:xfrm>
          <a:prstGeom prst="rect">
            <a:avLst/>
          </a:prstGeom>
          <a:noFill/>
        </p:spPr>
        <p:txBody>
          <a:bodyPr wrap="square">
            <a:spAutoFit/>
          </a:bodyPr>
          <a:lstStyle/>
          <a:p>
            <a:pPr>
              <a:defRPr sz="1050">
                <a:solidFill>
                  <a:srgbClr val="0F172A"/>
                </a:solidFill>
              </a:defRPr>
            </a:pPr>
            <a:r>
              <a:t>Synthetic load testing, concurrency limits, and PTU vs GPU latency profiling.</a:t>
            </a:r>
          </a:p>
        </p:txBody>
      </p:sp>
      <p:sp>
        <p:nvSpPr>
          <p:cNvPr id="20" name="Rounded Rectangle 19"/>
          <p:cNvSpPr/>
          <p:nvPr/>
        </p:nvSpPr>
        <p:spPr>
          <a:xfrm>
            <a:off x="6217920" y="1371600"/>
            <a:ext cx="24688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600200"/>
            <a:ext cx="2103120" cy="502920"/>
          </a:xfrm>
          <a:prstGeom prst="rect">
            <a:avLst/>
          </a:prstGeom>
          <a:noFill/>
        </p:spPr>
        <p:txBody>
          <a:bodyPr wrap="square">
            <a:spAutoFit/>
          </a:bodyPr>
          <a:lstStyle/>
          <a:p>
            <a:pPr>
              <a:defRPr sz="1300" b="1">
                <a:solidFill>
                  <a:srgbClr val="0A192F"/>
                </a:solidFill>
              </a:defRPr>
            </a:pPr>
            <a:r>
              <a:t>3. License Economics</a:t>
            </a:r>
          </a:p>
        </p:txBody>
      </p:sp>
      <p:sp>
        <p:nvSpPr>
          <p:cNvPr id="23" name="TextBox 22"/>
          <p:cNvSpPr txBox="1"/>
          <p:nvPr/>
        </p:nvSpPr>
        <p:spPr>
          <a:xfrm>
            <a:off x="6400800" y="2194560"/>
            <a:ext cx="2103120" cy="274320"/>
          </a:xfrm>
          <a:prstGeom prst="rect">
            <a:avLst/>
          </a:prstGeom>
          <a:noFill/>
        </p:spPr>
        <p:txBody>
          <a:bodyPr wrap="none">
            <a:spAutoFit/>
          </a:bodyPr>
          <a:lstStyle/>
          <a:p>
            <a:pPr>
              <a:defRPr sz="1100" b="1">
                <a:solidFill>
                  <a:srgbClr val="0A192F"/>
                </a:solidFill>
              </a:defRPr>
            </a:pPr>
            <a:r>
              <a:t>2-3 WEEKS</a:t>
            </a:r>
          </a:p>
        </p:txBody>
      </p:sp>
      <p:sp>
        <p:nvSpPr>
          <p:cNvPr id="24" name="TextBox 23"/>
          <p:cNvSpPr txBox="1"/>
          <p:nvPr/>
        </p:nvSpPr>
        <p:spPr>
          <a:xfrm>
            <a:off x="6400800" y="2514600"/>
            <a:ext cx="2103120" cy="320040"/>
          </a:xfrm>
          <a:prstGeom prst="rect">
            <a:avLst/>
          </a:prstGeom>
          <a:noFill/>
        </p:spPr>
        <p:txBody>
          <a:bodyPr wrap="none">
            <a:spAutoFit/>
          </a:bodyPr>
          <a:lstStyle/>
          <a:p>
            <a:pPr>
              <a:defRPr sz="1600" b="1">
                <a:solidFill>
                  <a:srgbClr val="0A192F"/>
                </a:solidFill>
              </a:defRPr>
            </a:pPr>
            <a:r>
              <a:t>15-20 Days</a:t>
            </a:r>
          </a:p>
        </p:txBody>
      </p:sp>
      <p:sp>
        <p:nvSpPr>
          <p:cNvPr id="25" name="TextBox 24"/>
          <p:cNvSpPr txBox="1"/>
          <p:nvPr/>
        </p:nvSpPr>
        <p:spPr>
          <a:xfrm>
            <a:off x="6400800" y="2880360"/>
            <a:ext cx="2103120" cy="320040"/>
          </a:xfrm>
          <a:prstGeom prst="rect">
            <a:avLst/>
          </a:prstGeom>
          <a:noFill/>
        </p:spPr>
        <p:txBody>
          <a:bodyPr wrap="none">
            <a:spAutoFit/>
          </a:bodyPr>
          <a:lstStyle/>
          <a:p>
            <a:pPr>
              <a:defRPr sz="1500" b="1">
                <a:solidFill>
                  <a:srgbClr val="0A192F"/>
                </a:solidFill>
              </a:defRPr>
            </a:pPr>
            <a:r>
              <a:t>$15k-$20k</a:t>
            </a:r>
          </a:p>
        </p:txBody>
      </p:sp>
      <p:sp>
        <p:nvSpPr>
          <p:cNvPr id="26" name="TextBox 25"/>
          <p:cNvSpPr txBox="1"/>
          <p:nvPr/>
        </p:nvSpPr>
        <p:spPr>
          <a:xfrm>
            <a:off x="6400800" y="3291840"/>
            <a:ext cx="2103120" cy="1920240"/>
          </a:xfrm>
          <a:prstGeom prst="rect">
            <a:avLst/>
          </a:prstGeom>
          <a:noFill/>
        </p:spPr>
        <p:txBody>
          <a:bodyPr wrap="square">
            <a:spAutoFit/>
          </a:bodyPr>
          <a:lstStyle/>
          <a:p>
            <a:pPr>
              <a:defRPr sz="1050">
                <a:solidFill>
                  <a:srgbClr val="0F172A"/>
                </a:solidFill>
              </a:defRPr>
            </a:pPr>
            <a:r>
              <a:t>Agent 365, M365 Copilot, and Copilot Studio consumption credit evaluation.</a:t>
            </a:r>
          </a:p>
        </p:txBody>
      </p:sp>
      <p:sp>
        <p:nvSpPr>
          <p:cNvPr id="27" name="Rounded Rectangle 26"/>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1600200"/>
            <a:ext cx="2103120" cy="502920"/>
          </a:xfrm>
          <a:prstGeom prst="rect">
            <a:avLst/>
          </a:prstGeom>
          <a:noFill/>
        </p:spPr>
        <p:txBody>
          <a:bodyPr wrap="square">
            <a:spAutoFit/>
          </a:bodyPr>
          <a:lstStyle/>
          <a:p>
            <a:pPr>
              <a:defRPr sz="1300" b="1">
                <a:solidFill>
                  <a:srgbClr val="0A192F"/>
                </a:solidFill>
              </a:defRPr>
            </a:pPr>
            <a:r>
              <a:t>4. Operating Model</a:t>
            </a:r>
          </a:p>
        </p:txBody>
      </p:sp>
      <p:sp>
        <p:nvSpPr>
          <p:cNvPr id="30" name="TextBox 29"/>
          <p:cNvSpPr txBox="1"/>
          <p:nvPr/>
        </p:nvSpPr>
        <p:spPr>
          <a:xfrm>
            <a:off x="9144000" y="2194560"/>
            <a:ext cx="2103120" cy="274320"/>
          </a:xfrm>
          <a:prstGeom prst="rect">
            <a:avLst/>
          </a:prstGeom>
          <a:noFill/>
        </p:spPr>
        <p:txBody>
          <a:bodyPr wrap="none">
            <a:spAutoFit/>
          </a:bodyPr>
          <a:lstStyle/>
          <a:p>
            <a:pPr>
              <a:defRPr sz="1100" b="1">
                <a:solidFill>
                  <a:srgbClr val="00A389"/>
                </a:solidFill>
              </a:defRPr>
            </a:pPr>
            <a:r>
              <a:t>4-6 WEEKS</a:t>
            </a:r>
          </a:p>
        </p:txBody>
      </p:sp>
      <p:sp>
        <p:nvSpPr>
          <p:cNvPr id="31" name="TextBox 30"/>
          <p:cNvSpPr txBox="1"/>
          <p:nvPr/>
        </p:nvSpPr>
        <p:spPr>
          <a:xfrm>
            <a:off x="9144000" y="2514600"/>
            <a:ext cx="2103120" cy="320040"/>
          </a:xfrm>
          <a:prstGeom prst="rect">
            <a:avLst/>
          </a:prstGeom>
          <a:noFill/>
        </p:spPr>
        <p:txBody>
          <a:bodyPr wrap="none">
            <a:spAutoFit/>
          </a:bodyPr>
          <a:lstStyle/>
          <a:p>
            <a:pPr>
              <a:defRPr sz="1600" b="1">
                <a:solidFill>
                  <a:srgbClr val="0A192F"/>
                </a:solidFill>
              </a:defRPr>
            </a:pPr>
            <a:r>
              <a:t>30-45 Days</a:t>
            </a:r>
          </a:p>
        </p:txBody>
      </p:sp>
      <p:sp>
        <p:nvSpPr>
          <p:cNvPr id="32" name="TextBox 31"/>
          <p:cNvSpPr txBox="1"/>
          <p:nvPr/>
        </p:nvSpPr>
        <p:spPr>
          <a:xfrm>
            <a:off x="9144000" y="2880360"/>
            <a:ext cx="2103120" cy="320040"/>
          </a:xfrm>
          <a:prstGeom prst="rect">
            <a:avLst/>
          </a:prstGeom>
          <a:noFill/>
        </p:spPr>
        <p:txBody>
          <a:bodyPr wrap="none">
            <a:spAutoFit/>
          </a:bodyPr>
          <a:lstStyle/>
          <a:p>
            <a:pPr>
              <a:defRPr sz="1500" b="1">
                <a:solidFill>
                  <a:srgbClr val="00A389"/>
                </a:solidFill>
              </a:defRPr>
            </a:pPr>
            <a:r>
              <a:t>$30k-$45k</a:t>
            </a:r>
          </a:p>
        </p:txBody>
      </p:sp>
      <p:sp>
        <p:nvSpPr>
          <p:cNvPr id="33" name="TextBox 32"/>
          <p:cNvSpPr txBox="1"/>
          <p:nvPr/>
        </p:nvSpPr>
        <p:spPr>
          <a:xfrm>
            <a:off x="9144000" y="3291840"/>
            <a:ext cx="2103120" cy="1920240"/>
          </a:xfrm>
          <a:prstGeom prst="rect">
            <a:avLst/>
          </a:prstGeom>
          <a:noFill/>
        </p:spPr>
        <p:txBody>
          <a:bodyPr wrap="square">
            <a:spAutoFit/>
          </a:bodyPr>
          <a:lstStyle/>
          <a:p>
            <a:pPr>
              <a:defRPr sz="1050">
                <a:solidFill>
                  <a:srgbClr val="0F172A"/>
                </a:solidFill>
              </a:defRPr>
            </a:pPr>
            <a:r>
              <a:t>Showback/chargeback rules, FOCUS schema integration, and budget alerting.</a:t>
            </a:r>
          </a:p>
        </p:txBody>
      </p:sp>
      <p:sp>
        <p:nvSpPr>
          <p:cNvPr id="34" name="Rounded Rectangle 33"/>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3560"/>
            <a:ext cx="10332720" cy="502920"/>
          </a:xfrm>
          <a:prstGeom prst="rect">
            <a:avLst/>
          </a:prstGeom>
          <a:noFill/>
        </p:spPr>
        <p:txBody>
          <a:bodyPr wrap="square">
            <a:spAutoFit/>
          </a:bodyPr>
          <a:lstStyle/>
          <a:p>
            <a:pPr>
              <a:defRPr sz="1050">
                <a:solidFill>
                  <a:srgbClr val="64748B"/>
                </a:solidFill>
              </a:defRPr>
            </a:pPr>
            <a:r>
              <a:t>EFFORT DRIVERS: Telemetry availability, number of concurrent workloads, multi-region routing, and custom GPU benchmarks. Fee bands illustrative at $1,000/day blended rate.</a:t>
            </a:r>
          </a:p>
        </p:txBody>
      </p:sp>
      <p:sp>
        <p:nvSpPr>
          <p:cNvPr id="36" name="TextBox 35"/>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CONTROLS &amp; LIMITS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Telemetry gaps and model retirement risk decide ROI</a:t>
            </a:r>
          </a:p>
        </p:txBody>
      </p:sp>
      <p:sp>
        <p:nvSpPr>
          <p:cNvPr id="6" name="Rounded Rectangle 5"/>
          <p:cNvSpPr/>
          <p:nvPr/>
        </p:nvSpPr>
        <p:spPr>
          <a:xfrm>
            <a:off x="731520" y="1371600"/>
            <a:ext cx="246888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457200"/>
          </a:xfrm>
          <a:prstGeom prst="rect">
            <a:avLst/>
          </a:prstGeom>
          <a:noFill/>
        </p:spPr>
        <p:txBody>
          <a:bodyPr wrap="none">
            <a:spAutoFit/>
          </a:bodyPr>
          <a:lstStyle/>
          <a:p>
            <a:pPr>
              <a:defRPr sz="1500" b="1">
                <a:solidFill>
                  <a:srgbClr val="0A192F"/>
                </a:solidFill>
              </a:defRPr>
            </a:pPr>
            <a:r>
              <a:t>No Telemetry</a:t>
            </a:r>
          </a:p>
        </p:txBody>
      </p:sp>
      <p:sp>
        <p:nvSpPr>
          <p:cNvPr id="9" name="TextBox 8"/>
          <p:cNvSpPr txBox="1"/>
          <p:nvPr/>
        </p:nvSpPr>
        <p:spPr>
          <a:xfrm>
            <a:off x="914400" y="2148840"/>
            <a:ext cx="2103120" cy="1188720"/>
          </a:xfrm>
          <a:prstGeom prst="rect">
            <a:avLst/>
          </a:prstGeom>
          <a:noFill/>
        </p:spPr>
        <p:txBody>
          <a:bodyPr wrap="square">
            <a:spAutoFit/>
          </a:bodyPr>
          <a:lstStyle/>
          <a:p>
            <a:pPr>
              <a:defRPr sz="1000" b="1">
                <a:solidFill>
                  <a:srgbClr val="D83B01"/>
                </a:solidFill>
              </a:defRPr>
            </a:pPr>
            <a:r>
              <a:t>RISK EFFECT:</a:t>
            </a:r>
          </a:p>
          <a:p>
            <a:pPr>
              <a:defRPr sz="1100">
                <a:solidFill>
                  <a:srgbClr val="0F172A"/>
                </a:solidFill>
              </a:defRPr>
            </a:pPr>
            <a:r>
              <a:t>Sizing without logs is pure guesswork and risks costly over-provisioning.</a:t>
            </a:r>
          </a:p>
        </p:txBody>
      </p:sp>
      <p:sp>
        <p:nvSpPr>
          <p:cNvPr id="10" name="TextBox 9"/>
          <p:cNvSpPr txBox="1"/>
          <p:nvPr/>
        </p:nvSpPr>
        <p:spPr>
          <a:xfrm>
            <a:off x="9144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Require minimum 2 weeks of measured gateway telemetry or run load tests.</a:t>
            </a:r>
          </a:p>
        </p:txBody>
      </p:sp>
      <p:sp>
        <p:nvSpPr>
          <p:cNvPr id="11" name="Rounded Rectangle 10"/>
          <p:cNvSpPr/>
          <p:nvPr/>
        </p:nvSpPr>
        <p:spPr>
          <a:xfrm>
            <a:off x="3474720" y="1371600"/>
            <a:ext cx="2468880" cy="4023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103120" cy="457200"/>
          </a:xfrm>
          <a:prstGeom prst="rect">
            <a:avLst/>
          </a:prstGeom>
          <a:noFill/>
        </p:spPr>
        <p:txBody>
          <a:bodyPr wrap="none">
            <a:spAutoFit/>
          </a:bodyPr>
          <a:lstStyle/>
          <a:p>
            <a:pPr>
              <a:defRPr sz="1500" b="1">
                <a:solidFill>
                  <a:srgbClr val="0A192F"/>
                </a:solidFill>
              </a:defRPr>
            </a:pPr>
            <a:r>
              <a:t>Unknown Price</a:t>
            </a:r>
          </a:p>
        </p:txBody>
      </p:sp>
      <p:sp>
        <p:nvSpPr>
          <p:cNvPr id="14" name="TextBox 13"/>
          <p:cNvSpPr txBox="1"/>
          <p:nvPr/>
        </p:nvSpPr>
        <p:spPr>
          <a:xfrm>
            <a:off x="3657600" y="2148840"/>
            <a:ext cx="2103120" cy="1188720"/>
          </a:xfrm>
          <a:prstGeom prst="rect">
            <a:avLst/>
          </a:prstGeom>
          <a:noFill/>
        </p:spPr>
        <p:txBody>
          <a:bodyPr wrap="square">
            <a:spAutoFit/>
          </a:bodyPr>
          <a:lstStyle/>
          <a:p>
            <a:pPr>
              <a:defRPr sz="1000" b="1">
                <a:solidFill>
                  <a:srgbClr val="D97706"/>
                </a:solidFill>
              </a:defRPr>
            </a:pPr>
            <a:r>
              <a:t>RISK EFFECT:</a:t>
            </a:r>
          </a:p>
          <a:p>
            <a:pPr>
              <a:defRPr sz="1100">
                <a:solidFill>
                  <a:srgbClr val="0F172A"/>
                </a:solidFill>
              </a:defRPr>
            </a:pPr>
            <a:r>
              <a:t>Break-even models fail if customer EA contract discounts are concealed.</a:t>
            </a:r>
          </a:p>
        </p:txBody>
      </p:sp>
      <p:sp>
        <p:nvSpPr>
          <p:cNvPr id="15" name="TextBox 14"/>
          <p:cNvSpPr txBox="1"/>
          <p:nvPr/>
        </p:nvSpPr>
        <p:spPr>
          <a:xfrm>
            <a:off x="36576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Obtain executed customer EA price schedule under NDA before modeling.</a:t>
            </a:r>
          </a:p>
        </p:txBody>
      </p:sp>
      <p:sp>
        <p:nvSpPr>
          <p:cNvPr id="16" name="Rounded Rectangle 15"/>
          <p:cNvSpPr/>
          <p:nvPr/>
        </p:nvSpPr>
        <p:spPr>
          <a:xfrm>
            <a:off x="62179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03120" cy="457200"/>
          </a:xfrm>
          <a:prstGeom prst="rect">
            <a:avLst/>
          </a:prstGeom>
          <a:noFill/>
        </p:spPr>
        <p:txBody>
          <a:bodyPr wrap="none">
            <a:spAutoFit/>
          </a:bodyPr>
          <a:lstStyle/>
          <a:p>
            <a:pPr>
              <a:defRPr sz="1500" b="1">
                <a:solidFill>
                  <a:srgbClr val="0A192F"/>
                </a:solidFill>
              </a:defRPr>
            </a:pPr>
            <a:r>
              <a:t>Model Retirement</a:t>
            </a:r>
          </a:p>
        </p:txBody>
      </p:sp>
      <p:sp>
        <p:nvSpPr>
          <p:cNvPr id="19" name="TextBox 18"/>
          <p:cNvSpPr txBox="1"/>
          <p:nvPr/>
        </p:nvSpPr>
        <p:spPr>
          <a:xfrm>
            <a:off x="6400800" y="2148840"/>
            <a:ext cx="2103120" cy="1188720"/>
          </a:xfrm>
          <a:prstGeom prst="rect">
            <a:avLst/>
          </a:prstGeom>
          <a:noFill/>
        </p:spPr>
        <p:txBody>
          <a:bodyPr wrap="square">
            <a:spAutoFit/>
          </a:bodyPr>
          <a:lstStyle/>
          <a:p>
            <a:pPr>
              <a:defRPr sz="1000" b="1">
                <a:solidFill>
                  <a:srgbClr val="0078D4"/>
                </a:solidFill>
              </a:defRPr>
            </a:pPr>
            <a:r>
              <a:t>RISK EFFECT:</a:t>
            </a:r>
          </a:p>
          <a:p>
            <a:pPr>
              <a:defRPr sz="1100">
                <a:solidFill>
                  <a:srgbClr val="0F172A"/>
                </a:solidFill>
              </a:defRPr>
            </a:pPr>
            <a:r>
              <a:t>Model deprecated mid-term (e.g. gpt-4.1 in Apr 2027), forcing early churn.</a:t>
            </a:r>
          </a:p>
        </p:txBody>
      </p:sp>
      <p:sp>
        <p:nvSpPr>
          <p:cNvPr id="20" name="TextBox 19"/>
          <p:cNvSpPr txBox="1"/>
          <p:nvPr/>
        </p:nvSpPr>
        <p:spPr>
          <a:xfrm>
            <a:off x="64008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Align reservation lengths with Microsoft published retirement roadmaps.</a:t>
            </a:r>
          </a:p>
        </p:txBody>
      </p:sp>
      <p:sp>
        <p:nvSpPr>
          <p:cNvPr id="21" name="Rounded Rectangle 20"/>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600200"/>
            <a:ext cx="2103120" cy="457200"/>
          </a:xfrm>
          <a:prstGeom prst="rect">
            <a:avLst/>
          </a:prstGeom>
          <a:noFill/>
        </p:spPr>
        <p:txBody>
          <a:bodyPr wrap="none">
            <a:spAutoFit/>
          </a:bodyPr>
          <a:lstStyle/>
          <a:p>
            <a:pPr>
              <a:defRPr sz="1500" b="1">
                <a:solidFill>
                  <a:srgbClr val="0A192F"/>
                </a:solidFill>
              </a:defRPr>
            </a:pPr>
            <a:r>
              <a:t>Loop Multiplier</a:t>
            </a:r>
          </a:p>
        </p:txBody>
      </p:sp>
      <p:sp>
        <p:nvSpPr>
          <p:cNvPr id="24" name="TextBox 23"/>
          <p:cNvSpPr txBox="1"/>
          <p:nvPr/>
        </p:nvSpPr>
        <p:spPr>
          <a:xfrm>
            <a:off x="9144000" y="2148840"/>
            <a:ext cx="2103120" cy="1188720"/>
          </a:xfrm>
          <a:prstGeom prst="rect">
            <a:avLst/>
          </a:prstGeom>
          <a:noFill/>
        </p:spPr>
        <p:txBody>
          <a:bodyPr wrap="square">
            <a:spAutoFit/>
          </a:bodyPr>
          <a:lstStyle/>
          <a:p>
            <a:pPr>
              <a:defRPr sz="1000" b="1">
                <a:solidFill>
                  <a:srgbClr val="00A389"/>
                </a:solidFill>
              </a:defRPr>
            </a:pPr>
            <a:r>
              <a:t>RISK EFFECT:</a:t>
            </a:r>
          </a:p>
          <a:p>
            <a:pPr>
              <a:defRPr sz="1100">
                <a:solidFill>
                  <a:srgbClr val="0F172A"/>
                </a:solidFill>
              </a:defRPr>
            </a:pPr>
            <a:r>
              <a:t>Autonomous agent loops generate exponential token volume.</a:t>
            </a:r>
          </a:p>
        </p:txBody>
      </p:sp>
      <p:sp>
        <p:nvSpPr>
          <p:cNvPr id="25" name="TextBox 24"/>
          <p:cNvSpPr txBox="1"/>
          <p:nvPr/>
        </p:nvSpPr>
        <p:spPr>
          <a:xfrm>
            <a:off x="91440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Enforce gateway iteration caps and per-agent token quotas via APIM.</a:t>
            </a:r>
          </a:p>
        </p:txBody>
      </p:sp>
      <p:sp>
        <p:nvSpPr>
          <p:cNvPr id="26" name="Rounded Rectangle 25"/>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23560"/>
            <a:ext cx="10332720" cy="502920"/>
          </a:xfrm>
          <a:prstGeom prst="rect">
            <a:avLst/>
          </a:prstGeom>
          <a:noFill/>
        </p:spPr>
        <p:txBody>
          <a:bodyPr wrap="none">
            <a:spAutoFit/>
          </a:bodyPr>
          <a:lstStyle/>
          <a:p>
            <a:pPr>
              <a:defRPr sz="1050" b="1">
                <a:solidFill>
                  <a:srgbClr val="64748B"/>
                </a:solidFill>
              </a:defRPr>
            </a:pPr>
            <a:r>
              <a:t>RISK BOUNDARY: Model retirement calendar, PTU reservation terms, and sensitivity tables detailed in Technical Appendix A8 to A11.</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 REQUESTED</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 verified reservation model and lower unit cost define success</a:t>
            </a:r>
          </a:p>
        </p:txBody>
      </p:sp>
      <p:sp>
        <p:nvSpPr>
          <p:cNvPr id="6" name="Rounded Rectangle 5"/>
          <p:cNvSpPr/>
          <p:nvPr/>
        </p:nvSpPr>
        <p:spPr>
          <a:xfrm>
            <a:off x="731520" y="1325880"/>
            <a:ext cx="1069848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10332720" cy="274320"/>
          </a:xfrm>
          <a:prstGeom prst="rect">
            <a:avLst/>
          </a:prstGeom>
          <a:noFill/>
        </p:spPr>
        <p:txBody>
          <a:bodyPr wrap="none">
            <a:spAutoFit/>
          </a:bodyPr>
          <a:lstStyle/>
          <a:p>
            <a:pPr>
              <a:defRPr sz="1100" b="1">
                <a:solidFill>
                  <a:srgbClr val="0A192F"/>
                </a:solidFill>
              </a:defRPr>
            </a:pPr>
            <a:r>
              <a:t>MEASURABLE SUCCESS CRITERIA</a:t>
            </a:r>
          </a:p>
        </p:txBody>
      </p:sp>
      <p:sp>
        <p:nvSpPr>
          <p:cNvPr id="8" name="TextBox 7"/>
          <p:cNvSpPr txBox="1"/>
          <p:nvPr/>
        </p:nvSpPr>
        <p:spPr>
          <a:xfrm>
            <a:off x="914400" y="1691640"/>
            <a:ext cx="1097280" cy="502920"/>
          </a:xfrm>
          <a:prstGeom prst="rect">
            <a:avLst/>
          </a:prstGeom>
          <a:noFill/>
        </p:spPr>
        <p:txBody>
          <a:bodyPr wrap="none">
            <a:spAutoFit/>
          </a:bodyPr>
          <a:lstStyle/>
          <a:p>
            <a:pPr>
              <a:defRPr sz="2800" b="1">
                <a:solidFill>
                  <a:srgbClr val="0078D4"/>
                </a:solidFill>
              </a:defRPr>
            </a:pPr>
            <a:r>
              <a:t>&lt;10%</a:t>
            </a:r>
          </a:p>
        </p:txBody>
      </p:sp>
      <p:sp>
        <p:nvSpPr>
          <p:cNvPr id="9" name="TextBox 8"/>
          <p:cNvSpPr txBox="1"/>
          <p:nvPr/>
        </p:nvSpPr>
        <p:spPr>
          <a:xfrm>
            <a:off x="2057400" y="1691640"/>
            <a:ext cx="2194560" cy="228600"/>
          </a:xfrm>
          <a:prstGeom prst="rect">
            <a:avLst/>
          </a:prstGeom>
          <a:noFill/>
        </p:spPr>
        <p:txBody>
          <a:bodyPr wrap="none">
            <a:spAutoFit/>
          </a:bodyPr>
          <a:lstStyle/>
          <a:p>
            <a:pPr>
              <a:defRPr sz="1200" b="1">
                <a:solidFill>
                  <a:srgbClr val="0A192F"/>
                </a:solidFill>
              </a:defRPr>
            </a:pPr>
            <a:r>
              <a:t>Forecast Variance</a:t>
            </a:r>
          </a:p>
        </p:txBody>
      </p:sp>
      <p:sp>
        <p:nvSpPr>
          <p:cNvPr id="10" name="TextBox 9"/>
          <p:cNvSpPr txBox="1"/>
          <p:nvPr/>
        </p:nvSpPr>
        <p:spPr>
          <a:xfrm>
            <a:off x="2057400" y="1965960"/>
            <a:ext cx="2194560" cy="822960"/>
          </a:xfrm>
          <a:prstGeom prst="rect">
            <a:avLst/>
          </a:prstGeom>
          <a:noFill/>
        </p:spPr>
        <p:txBody>
          <a:bodyPr wrap="square">
            <a:spAutoFit/>
          </a:bodyPr>
          <a:lstStyle/>
          <a:p>
            <a:pPr>
              <a:defRPr sz="1000">
                <a:solidFill>
                  <a:srgbClr val="0F172A"/>
                </a:solidFill>
              </a:defRPr>
            </a:pPr>
            <a:r>
              <a:t>Deviation between predicted and actual monthly cloud AI expenditure.</a:t>
            </a:r>
          </a:p>
        </p:txBody>
      </p:sp>
      <p:sp>
        <p:nvSpPr>
          <p:cNvPr id="11" name="TextBox 10"/>
          <p:cNvSpPr txBox="1"/>
          <p:nvPr/>
        </p:nvSpPr>
        <p:spPr>
          <a:xfrm>
            <a:off x="4389120" y="1691640"/>
            <a:ext cx="1097280" cy="502920"/>
          </a:xfrm>
          <a:prstGeom prst="rect">
            <a:avLst/>
          </a:prstGeom>
          <a:noFill/>
        </p:spPr>
        <p:txBody>
          <a:bodyPr wrap="none">
            <a:spAutoFit/>
          </a:bodyPr>
          <a:lstStyle/>
          <a:p>
            <a:pPr>
              <a:defRPr sz="2800" b="1">
                <a:solidFill>
                  <a:srgbClr val="D83B01"/>
                </a:solidFill>
              </a:defRPr>
            </a:pPr>
            <a:r>
              <a:t>&gt;75%</a:t>
            </a:r>
          </a:p>
        </p:txBody>
      </p:sp>
      <p:sp>
        <p:nvSpPr>
          <p:cNvPr id="12" name="TextBox 11"/>
          <p:cNvSpPr txBox="1"/>
          <p:nvPr/>
        </p:nvSpPr>
        <p:spPr>
          <a:xfrm>
            <a:off x="5532120" y="1691640"/>
            <a:ext cx="2194560" cy="228600"/>
          </a:xfrm>
          <a:prstGeom prst="rect">
            <a:avLst/>
          </a:prstGeom>
          <a:noFill/>
        </p:spPr>
        <p:txBody>
          <a:bodyPr wrap="none">
            <a:spAutoFit/>
          </a:bodyPr>
          <a:lstStyle/>
          <a:p>
            <a:pPr>
              <a:defRPr sz="1200" b="1">
                <a:solidFill>
                  <a:srgbClr val="0A192F"/>
                </a:solidFill>
              </a:defRPr>
            </a:pPr>
            <a:r>
              <a:t>PTU Utilization</a:t>
            </a:r>
          </a:p>
        </p:txBody>
      </p:sp>
      <p:sp>
        <p:nvSpPr>
          <p:cNvPr id="13" name="TextBox 12"/>
          <p:cNvSpPr txBox="1"/>
          <p:nvPr/>
        </p:nvSpPr>
        <p:spPr>
          <a:xfrm>
            <a:off x="5532120" y="1965960"/>
            <a:ext cx="2194560" cy="822960"/>
          </a:xfrm>
          <a:prstGeom prst="rect">
            <a:avLst/>
          </a:prstGeom>
          <a:noFill/>
        </p:spPr>
        <p:txBody>
          <a:bodyPr wrap="square">
            <a:spAutoFit/>
          </a:bodyPr>
          <a:lstStyle/>
          <a:p>
            <a:pPr>
              <a:defRPr sz="1000">
                <a:solidFill>
                  <a:srgbClr val="0F172A"/>
                </a:solidFill>
              </a:defRPr>
            </a:pPr>
            <a:r>
              <a:t>Steady-state load factor achieved across all committed throughput reservations.</a:t>
            </a:r>
          </a:p>
        </p:txBody>
      </p:sp>
      <p:sp>
        <p:nvSpPr>
          <p:cNvPr id="14" name="TextBox 13"/>
          <p:cNvSpPr txBox="1"/>
          <p:nvPr/>
        </p:nvSpPr>
        <p:spPr>
          <a:xfrm>
            <a:off x="7863840" y="1691640"/>
            <a:ext cx="1097280" cy="502920"/>
          </a:xfrm>
          <a:prstGeom prst="rect">
            <a:avLst/>
          </a:prstGeom>
          <a:noFill/>
        </p:spPr>
        <p:txBody>
          <a:bodyPr wrap="none">
            <a:spAutoFit/>
          </a:bodyPr>
          <a:lstStyle/>
          <a:p>
            <a:pPr>
              <a:defRPr sz="2800" b="1">
                <a:solidFill>
                  <a:srgbClr val="00A389"/>
                </a:solidFill>
              </a:defRPr>
            </a:pPr>
            <a:r>
              <a:t>100%</a:t>
            </a:r>
          </a:p>
        </p:txBody>
      </p:sp>
      <p:sp>
        <p:nvSpPr>
          <p:cNvPr id="15" name="TextBox 14"/>
          <p:cNvSpPr txBox="1"/>
          <p:nvPr/>
        </p:nvSpPr>
        <p:spPr>
          <a:xfrm>
            <a:off x="9006840" y="1691640"/>
            <a:ext cx="2194560" cy="228600"/>
          </a:xfrm>
          <a:prstGeom prst="rect">
            <a:avLst/>
          </a:prstGeom>
          <a:noFill/>
        </p:spPr>
        <p:txBody>
          <a:bodyPr wrap="none">
            <a:spAutoFit/>
          </a:bodyPr>
          <a:lstStyle/>
          <a:p>
            <a:pPr>
              <a:defRPr sz="1200" b="1">
                <a:solidFill>
                  <a:srgbClr val="0A192F"/>
                </a:solidFill>
              </a:defRPr>
            </a:pPr>
            <a:r>
              <a:t>Cost Attribution</a:t>
            </a:r>
          </a:p>
        </p:txBody>
      </p:sp>
      <p:sp>
        <p:nvSpPr>
          <p:cNvPr id="16" name="TextBox 15"/>
          <p:cNvSpPr txBox="1"/>
          <p:nvPr/>
        </p:nvSpPr>
        <p:spPr>
          <a:xfrm>
            <a:off x="9006840" y="1965960"/>
            <a:ext cx="2194560" cy="822960"/>
          </a:xfrm>
          <a:prstGeom prst="rect">
            <a:avLst/>
          </a:prstGeom>
          <a:noFill/>
        </p:spPr>
        <p:txBody>
          <a:bodyPr wrap="square">
            <a:spAutoFit/>
          </a:bodyPr>
          <a:lstStyle/>
          <a:p>
            <a:pPr>
              <a:defRPr sz="1000">
                <a:solidFill>
                  <a:srgbClr val="0F172A"/>
                </a:solidFill>
              </a:defRPr>
            </a:pPr>
            <a:r>
              <a:t>Total model token spend tagged and allocated to business unit cost centers.</a:t>
            </a:r>
          </a:p>
        </p:txBody>
      </p:sp>
      <p:sp>
        <p:nvSpPr>
          <p:cNvPr id="17" name="Rounded Rectangle 16"/>
          <p:cNvSpPr/>
          <p:nvPr/>
        </p:nvSpPr>
        <p:spPr>
          <a:xfrm>
            <a:off x="731520" y="3154680"/>
            <a:ext cx="5212080" cy="31089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54680"/>
            <a:ext cx="52120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383280"/>
            <a:ext cx="4663440" cy="365760"/>
          </a:xfrm>
          <a:prstGeom prst="rect">
            <a:avLst/>
          </a:prstGeom>
          <a:noFill/>
        </p:spPr>
        <p:txBody>
          <a:bodyPr wrap="none">
            <a:spAutoFit/>
          </a:bodyPr>
          <a:lstStyle/>
          <a:p>
            <a:pPr>
              <a:defRPr sz="1300" b="1">
                <a:solidFill>
                  <a:srgbClr val="0A192F"/>
                </a:solidFill>
              </a:defRPr>
            </a:pPr>
            <a:r>
              <a:t>DECISIONS REQUESTED TODAY</a:t>
            </a:r>
          </a:p>
        </p:txBody>
      </p:sp>
      <p:sp>
        <p:nvSpPr>
          <p:cNvPr id="20" name="TextBox 19"/>
          <p:cNvSpPr txBox="1"/>
          <p:nvPr/>
        </p:nvSpPr>
        <p:spPr>
          <a:xfrm>
            <a:off x="1005840" y="3840480"/>
            <a:ext cx="4663440" cy="2194560"/>
          </a:xfrm>
          <a:prstGeom prst="rect">
            <a:avLst/>
          </a:prstGeom>
          <a:noFill/>
        </p:spPr>
        <p:txBody>
          <a:bodyPr wrap="square">
            <a:spAutoFit/>
          </a:bodyPr>
          <a:lstStyle/>
          <a:p>
            <a:pPr>
              <a:spcAft>
                <a:spcPts val="1000"/>
              </a:spcAft>
              <a:defRPr sz="1150">
                <a:solidFill>
                  <a:srgbClr val="0F172A"/>
                </a:solidFill>
              </a:defRPr>
            </a:pPr>
            <a:r>
              <a:t>• Approve Offering 04 as the recommended entry offer across enterprise AI pursuits.</a:t>
            </a:r>
          </a:p>
          <a:p>
            <a:pPr>
              <a:spcAft>
                <a:spcPts val="1000"/>
              </a:spcAft>
              <a:defRPr sz="1150">
                <a:solidFill>
                  <a:srgbClr val="0F172A"/>
                </a:solidFill>
              </a:defRPr>
            </a:pPr>
            <a:r>
              <a:t>• Enforce mandatory design rule: zero capacity commitments without measured data.</a:t>
            </a:r>
          </a:p>
          <a:p>
            <a:pPr>
              <a:spcAft>
                <a:spcPts val="1000"/>
              </a:spcAft>
              <a:defRPr sz="1150">
                <a:solidFill>
                  <a:srgbClr val="0F172A"/>
                </a:solidFill>
              </a:defRPr>
            </a:pPr>
            <a:r>
              <a:t>• Fund 3-to-5 week initial assessment ($25k-$40k) and nominate FinOps Lead.</a:t>
            </a:r>
          </a:p>
        </p:txBody>
      </p:sp>
      <p:sp>
        <p:nvSpPr>
          <p:cNvPr id="21" name="Rounded Rectangle 20"/>
          <p:cNvSpPr/>
          <p:nvPr/>
        </p:nvSpPr>
        <p:spPr>
          <a:xfrm>
            <a:off x="6217920" y="3154680"/>
            <a:ext cx="5212080" cy="31089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154680"/>
            <a:ext cx="5212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383280"/>
            <a:ext cx="4663440" cy="365760"/>
          </a:xfrm>
          <a:prstGeom prst="rect">
            <a:avLst/>
          </a:prstGeom>
          <a:noFill/>
        </p:spPr>
        <p:txBody>
          <a:bodyPr wrap="none">
            <a:spAutoFit/>
          </a:bodyPr>
          <a:lstStyle/>
          <a:p>
            <a:pPr>
              <a:defRPr sz="1300" b="1">
                <a:solidFill>
                  <a:srgbClr val="0A192F"/>
                </a:solidFill>
              </a:defRPr>
            </a:pPr>
            <a:r>
              <a:t>DECISIONS POST-VALIDATION</a:t>
            </a:r>
          </a:p>
        </p:txBody>
      </p:sp>
      <p:sp>
        <p:nvSpPr>
          <p:cNvPr id="24" name="TextBox 23"/>
          <p:cNvSpPr txBox="1"/>
          <p:nvPr/>
        </p:nvSpPr>
        <p:spPr>
          <a:xfrm>
            <a:off x="6492240" y="3840480"/>
            <a:ext cx="4663440" cy="2194560"/>
          </a:xfrm>
          <a:prstGeom prst="rect">
            <a:avLst/>
          </a:prstGeom>
          <a:noFill/>
        </p:spPr>
        <p:txBody>
          <a:bodyPr wrap="square">
            <a:spAutoFit/>
          </a:bodyPr>
          <a:lstStyle/>
          <a:p>
            <a:pPr>
              <a:spcAft>
                <a:spcPts val="1000"/>
              </a:spcAft>
              <a:defRPr sz="1150">
                <a:solidFill>
                  <a:srgbClr val="0F172A"/>
                </a:solidFill>
              </a:defRPr>
            </a:pPr>
            <a:r>
              <a:t>• Approve selected capacity commitment pathway (PAYG vs PTU vs Hybrid).</a:t>
            </a:r>
          </a:p>
          <a:p>
            <a:pPr>
              <a:spcAft>
                <a:spcPts val="1000"/>
              </a:spcAft>
              <a:defRPr sz="1150">
                <a:solidFill>
                  <a:srgbClr val="0F172A"/>
                </a:solidFill>
              </a:defRPr>
            </a:pPr>
            <a:r>
              <a:t>• Formalize enterprise showback/chargeback rules aligned to the FOCUS schema.</a:t>
            </a:r>
          </a:p>
          <a:p>
            <a:pPr>
              <a:spcAft>
                <a:spcPts val="1000"/>
              </a:spcAft>
              <a:defRPr sz="1150">
                <a:solidFill>
                  <a:srgbClr val="0F172A"/>
                </a:solidFill>
              </a:defRPr>
            </a:pPr>
            <a:r>
              <a:t>• Transition monthly utilization and commitment reviews to Offering 05 Managed Ops.</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Capacity and FinOps Assessment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Decision criteria, demand inputs, PTU sizing, lifecycle risk, worked example, sensitivity, GPU economics, telemetry, licence economics, FinOps operating model,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Decision criteria (detailed)</a:t>
            </a:r>
          </a:p>
        </p:txBody>
      </p:sp>
      <p:sp>
        <p:nvSpPr>
          <p:cNvPr id="8" name="TextBox 7">
            <a:hlinkClick action="ppaction://hlinksldjump" r:id="rId5"/>
          </p:cNvPr>
          <p:cNvSpPr txBox="1"/>
          <p:nvPr/>
        </p:nvSpPr>
        <p:spPr>
          <a:xfrm>
            <a:off x="54864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Demand and workload inputs</a:t>
            </a:r>
          </a:p>
        </p:txBody>
      </p:sp>
      <p:sp>
        <p:nvSpPr>
          <p:cNvPr id="9" name="TextBox 8">
            <a:hlinkClick action="ppaction://hlinksldjump" r:id="rId6"/>
          </p:cNvPr>
          <p:cNvSpPr txBox="1"/>
          <p:nvPr/>
        </p:nvSpPr>
        <p:spPr>
          <a:xfrm>
            <a:off x="54864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Token amplification</a:t>
            </a:r>
          </a:p>
        </p:txBody>
      </p:sp>
      <p:sp>
        <p:nvSpPr>
          <p:cNvPr id="10" name="TextBox 9">
            <a:hlinkClick action="ppaction://hlinksldjump" r:id="rId7"/>
          </p:cNvPr>
          <p:cNvSpPr txBox="1"/>
          <p:nvPr/>
        </p:nvSpPr>
        <p:spPr>
          <a:xfrm>
            <a:off x="54864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Quota versus capacity versus reservation</a:t>
            </a:r>
          </a:p>
        </p:txBody>
      </p:sp>
      <p:sp>
        <p:nvSpPr>
          <p:cNvPr id="11" name="TextBox 10">
            <a:hlinkClick action="ppaction://hlinksldjump" r:id="rId8"/>
          </p:cNvPr>
          <p:cNvSpPr txBox="1"/>
          <p:nvPr/>
        </p:nvSpPr>
        <p:spPr>
          <a:xfrm>
            <a:off x="54864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PTU sizing method</a:t>
            </a:r>
          </a:p>
        </p:txBody>
      </p:sp>
      <p:sp>
        <p:nvSpPr>
          <p:cNvPr id="12" name="TextBox 11">
            <a:hlinkClick action="ppaction://hlinksldjump" r:id="rId9"/>
          </p:cNvPr>
          <p:cNvSpPr txBox="1"/>
          <p:nvPr/>
        </p:nvSpPr>
        <p:spPr>
          <a:xfrm>
            <a:off x="54864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Model lifecycle and commitment risk</a:t>
            </a:r>
          </a:p>
        </p:txBody>
      </p:sp>
      <p:sp>
        <p:nvSpPr>
          <p:cNvPr id="13" name="TextBox 12">
            <a:hlinkClick action="ppaction://hlinksldjump" r:id="rId10"/>
          </p:cNvPr>
          <p:cNvSpPr txBox="1"/>
          <p:nvPr/>
        </p:nvSpPr>
        <p:spPr>
          <a:xfrm>
            <a:off x="54864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Coverage versus utilisation</a:t>
            </a:r>
          </a:p>
        </p:txBody>
      </p:sp>
      <p:sp>
        <p:nvSpPr>
          <p:cNvPr id="14" name="TextBox 13">
            <a:hlinkClick action="ppaction://hlinksldjump" r:id="rId11"/>
          </p:cNvPr>
          <p:cNvSpPr txBox="1"/>
          <p:nvPr/>
        </p:nvSpPr>
        <p:spPr>
          <a:xfrm>
            <a:off x="54864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Worked example inputs</a:t>
            </a:r>
          </a:p>
        </p:txBody>
      </p:sp>
      <p:sp>
        <p:nvSpPr>
          <p:cNvPr id="15" name="TextBox 14">
            <a:hlinkClick action="ppaction://hlinksldjump" r:id="rId12"/>
          </p:cNvPr>
          <p:cNvSpPr txBox="1"/>
          <p:nvPr/>
        </p:nvSpPr>
        <p:spPr>
          <a:xfrm>
            <a:off x="54864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Worked example results</a:t>
            </a:r>
          </a:p>
        </p:txBody>
      </p:sp>
      <p:sp>
        <p:nvSpPr>
          <p:cNvPr id="16" name="TextBox 15">
            <a:hlinkClick action="ppaction://hlinksldjump" r:id="rId13"/>
          </p:cNvPr>
          <p:cNvSpPr txBox="1"/>
          <p:nvPr/>
        </p:nvSpPr>
        <p:spPr>
          <a:xfrm>
            <a:off x="54864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Sensitivity: utilisation</a:t>
            </a:r>
          </a:p>
        </p:txBody>
      </p:sp>
      <p:sp>
        <p:nvSpPr>
          <p:cNvPr id="17" name="TextBox 16">
            <a:hlinkClick action="ppaction://hlinksldjump" r:id="rId14"/>
          </p:cNvPr>
          <p:cNvSpPr txBox="1"/>
          <p:nvPr/>
        </p:nvSpPr>
        <p:spPr>
          <a:xfrm>
            <a:off x="54864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Sensitivity: workload assumptions</a:t>
            </a:r>
          </a:p>
        </p:txBody>
      </p:sp>
      <p:sp>
        <p:nvSpPr>
          <p:cNvPr id="18" name="TextBox 17">
            <a:hlinkClick action="ppaction://hlinksldjump" r:id="rId15"/>
          </p:cNvPr>
          <p:cNvSpPr txBox="1"/>
          <p:nvPr/>
        </p:nvSpPr>
        <p:spPr>
          <a:xfrm>
            <a:off x="54864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Self-hosted GPU technical factors</a:t>
            </a:r>
          </a:p>
        </p:txBody>
      </p:sp>
      <p:sp>
        <p:nvSpPr>
          <p:cNvPr id="19" name="TextBox 18">
            <a:hlinkClick action="ppaction://hlinksldjump" r:id="rId16"/>
          </p:cNvPr>
          <p:cNvSpPr txBox="1"/>
          <p:nvPr/>
        </p:nvSpPr>
        <p:spPr>
          <a:xfrm>
            <a:off x="54864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GPU break-even throughput</a:t>
            </a:r>
          </a:p>
        </p:txBody>
      </p:sp>
      <p:sp>
        <p:nvSpPr>
          <p:cNvPr id="20" name="TextBox 19">
            <a:hlinkClick action="ppaction://hlinksldjump" r:id="rId17"/>
          </p:cNvPr>
          <p:cNvSpPr txBox="1"/>
          <p:nvPr/>
        </p:nvSpPr>
        <p:spPr>
          <a:xfrm>
            <a:off x="54864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Comparable total-cost boundaries</a:t>
            </a:r>
          </a:p>
        </p:txBody>
      </p:sp>
      <p:sp>
        <p:nvSpPr>
          <p:cNvPr id="21" name="TextBox 20">
            <a:hlinkClick action="ppaction://hlinksldjump" r:id="rId18"/>
          </p:cNvPr>
          <p:cNvSpPr txBox="1"/>
          <p:nvPr/>
        </p:nvSpPr>
        <p:spPr>
          <a:xfrm>
            <a:off x="54864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Telemetry architecture (rebuilt)</a:t>
            </a:r>
          </a:p>
        </p:txBody>
      </p:sp>
      <p:sp>
        <p:nvSpPr>
          <p:cNvPr id="22" name="TextBox 21">
            <a:hlinkClick action="ppaction://hlinksldjump" r:id="rId19"/>
          </p:cNvPr>
          <p:cNvSpPr txBox="1"/>
          <p:nvPr/>
        </p:nvSpPr>
        <p:spPr>
          <a:xfrm>
            <a:off x="548640" y="5875020"/>
            <a:ext cx="5486400" cy="297180"/>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A16  </a:t>
            </a:r>
            <a:r>
              <a:rPr sz="1300" b="0" i="0">
                <a:solidFill>
                  <a:srgbClr val="1E1E2E"/>
                </a:solidFill>
                <a:latin typeface="Arial"/>
              </a:rPr>
              <a:t>Cost allocation and showback</a:t>
            </a:r>
          </a:p>
        </p:txBody>
      </p:sp>
      <p:sp>
        <p:nvSpPr>
          <p:cNvPr id="23" name="TextBox 22">
            <a:hlinkClick action="ppaction://hlinksldjump" r:id="rId20"/>
          </p:cNvPr>
          <p:cNvSpPr txBox="1"/>
          <p:nvPr/>
        </p:nvSpPr>
        <p:spPr>
          <a:xfrm>
            <a:off x="621792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A17  </a:t>
            </a:r>
            <a:r>
              <a:rPr sz="1300" b="0" i="0">
                <a:solidFill>
                  <a:srgbClr val="1E1E2E"/>
                </a:solidFill>
                <a:latin typeface="Arial"/>
              </a:rPr>
              <a:t>Deployment type price differences</a:t>
            </a:r>
          </a:p>
        </p:txBody>
      </p:sp>
      <p:sp>
        <p:nvSpPr>
          <p:cNvPr id="24" name="TextBox 23">
            <a:hlinkClick action="ppaction://hlinksldjump" r:id="rId21"/>
          </p:cNvPr>
          <p:cNvSpPr txBox="1"/>
          <p:nvPr/>
        </p:nvSpPr>
        <p:spPr>
          <a:xfrm>
            <a:off x="621792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A18  </a:t>
            </a:r>
            <a:r>
              <a:rPr sz="1300" b="0" i="0">
                <a:solidFill>
                  <a:srgbClr val="1E1E2E"/>
                </a:solidFill>
                <a:latin typeface="Arial"/>
              </a:rPr>
              <a:t>Deliverables and acceptance</a:t>
            </a:r>
          </a:p>
        </p:txBody>
      </p:sp>
      <p:sp>
        <p:nvSpPr>
          <p:cNvPr id="25" name="TextBox 24">
            <a:hlinkClick action="ppaction://hlinksldjump" r:id="rId22"/>
          </p:cNvPr>
          <p:cNvSpPr txBox="1"/>
          <p:nvPr/>
        </p:nvSpPr>
        <p:spPr>
          <a:xfrm>
            <a:off x="621792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A19  </a:t>
            </a:r>
            <a:r>
              <a:rPr sz="1300" b="0" i="0">
                <a:solidFill>
                  <a:srgbClr val="1E1E2E"/>
                </a:solidFill>
                <a:latin typeface="Arial"/>
              </a:rPr>
              <a:t>Licence economics</a:t>
            </a:r>
          </a:p>
        </p:txBody>
      </p:sp>
      <p:sp>
        <p:nvSpPr>
          <p:cNvPr id="26" name="TextBox 25">
            <a:hlinkClick action="ppaction://hlinksldjump" r:id="rId23"/>
          </p:cNvPr>
          <p:cNvSpPr txBox="1"/>
          <p:nvPr/>
        </p:nvSpPr>
        <p:spPr>
          <a:xfrm>
            <a:off x="621792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A20  </a:t>
            </a:r>
            <a:r>
              <a:rPr sz="1300" b="0" i="0">
                <a:solidFill>
                  <a:srgbClr val="1E1E2E"/>
                </a:solidFill>
                <a:latin typeface="Arial"/>
              </a:rPr>
              <a:t>FinOps operating model</a:t>
            </a:r>
          </a:p>
        </p:txBody>
      </p:sp>
      <p:sp>
        <p:nvSpPr>
          <p:cNvPr id="27" name="TextBox 26">
            <a:hlinkClick action="ppaction://hlinksldjump" r:id="rId24"/>
          </p:cNvPr>
          <p:cNvSpPr txBox="1"/>
          <p:nvPr/>
        </p:nvSpPr>
        <p:spPr>
          <a:xfrm>
            <a:off x="621792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8" name="TextBox 27">
            <a:hlinkClick action="ppaction://hlinksldjump" r:id="rId25"/>
          </p:cNvPr>
          <p:cNvSpPr txBox="1"/>
          <p:nvPr/>
        </p:nvSpPr>
        <p:spPr>
          <a:xfrm>
            <a:off x="621792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E1  </a:t>
            </a:r>
            <a:r>
              <a:rPr sz="1300" b="0" i="0">
                <a:solidFill>
                  <a:srgbClr val="1E1E2E"/>
                </a:solidFill>
                <a:latin typeface="Arial"/>
              </a:rPr>
              <a:t>Estimate assumptions</a:t>
            </a:r>
          </a:p>
        </p:txBody>
      </p:sp>
      <p:sp>
        <p:nvSpPr>
          <p:cNvPr id="29" name="TextBox 28">
            <a:hlinkClick action="ppaction://hlinksldjump" r:id="rId26"/>
          </p:cNvPr>
          <p:cNvSpPr txBox="1"/>
          <p:nvPr/>
        </p:nvSpPr>
        <p:spPr>
          <a:xfrm>
            <a:off x="621792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SEC1  </a:t>
            </a:r>
            <a:r>
              <a:rPr sz="1300" b="0" i="0">
                <a:solidFill>
                  <a:srgbClr val="1E1E2E"/>
                </a:solidFill>
                <a:latin typeface="Arial"/>
              </a:rPr>
              <a:t>AI threat model and controls</a:t>
            </a:r>
          </a:p>
        </p:txBody>
      </p:sp>
      <p:sp>
        <p:nvSpPr>
          <p:cNvPr id="30" name="TextBox 29">
            <a:hlinkClick action="ppaction://hlinksldjump" r:id="rId27"/>
          </p:cNvPr>
          <p:cNvSpPr txBox="1"/>
          <p:nvPr/>
        </p:nvSpPr>
        <p:spPr>
          <a:xfrm>
            <a:off x="621792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SEC2  </a:t>
            </a:r>
            <a:r>
              <a:rPr sz="1300" b="0" i="0">
                <a:solidFill>
                  <a:srgbClr val="1E1E2E"/>
                </a:solidFill>
                <a:latin typeface="Arial"/>
              </a:rPr>
              <a:t>Security services and regulation</a:t>
            </a:r>
          </a:p>
        </p:txBody>
      </p:sp>
      <p:sp>
        <p:nvSpPr>
          <p:cNvPr id="31" name="TextBox 30">
            <a:hlinkClick action="ppaction://hlinksldjump" r:id="rId28"/>
          </p:cNvPr>
          <p:cNvSpPr txBox="1"/>
          <p:nvPr/>
        </p:nvSpPr>
        <p:spPr>
          <a:xfrm>
            <a:off x="621792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G1  </a:t>
            </a:r>
            <a:r>
              <a:rPr sz="1300" b="0" i="0">
                <a:solidFill>
                  <a:srgbClr val="1E1E2E"/>
                </a:solidFill>
                <a:latin typeface="Arial"/>
              </a:rPr>
              <a:t>Glossary</a:t>
            </a:r>
          </a:p>
        </p:txBody>
      </p:sp>
      <p:sp>
        <p:nvSpPr>
          <p:cNvPr id="32" name="TextBox 31">
            <a:hlinkClick action="ppaction://hlinksldjump" r:id="rId29"/>
          </p:cNvPr>
          <p:cNvSpPr txBox="1"/>
          <p:nvPr/>
        </p:nvSpPr>
        <p:spPr>
          <a:xfrm>
            <a:off x="621792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K  </a:t>
            </a:r>
            <a:r>
              <a:rPr sz="1300" b="0" i="0">
                <a:solidFill>
                  <a:srgbClr val="1E1E2E"/>
                </a:solidFill>
                <a:latin typeface="Arial"/>
              </a:rPr>
              <a:t>Kill-switch cross-reference</a:t>
            </a:r>
          </a:p>
        </p:txBody>
      </p:sp>
      <p:sp>
        <p:nvSpPr>
          <p:cNvPr id="33" name="TextBox 32">
            <a:hlinkClick action="ppaction://hlinksldjump" r:id="rId30"/>
          </p:cNvPr>
          <p:cNvSpPr txBox="1"/>
          <p:nvPr/>
        </p:nvSpPr>
        <p:spPr>
          <a:xfrm>
            <a:off x="621792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C1  </a:t>
            </a:r>
            <a:r>
              <a:rPr sz="1300" b="0" i="0">
                <a:solidFill>
                  <a:srgbClr val="1E1E2E"/>
                </a:solidFill>
                <a:latin typeface="Arial"/>
              </a:rPr>
              <a:t>Cost layers and pricing formula</a:t>
            </a:r>
          </a:p>
        </p:txBody>
      </p:sp>
      <p:sp>
        <p:nvSpPr>
          <p:cNvPr id="34" name="TextBox 33">
            <a:hlinkClick action="ppaction://hlinksldjump" r:id="rId31"/>
          </p:cNvPr>
          <p:cNvSpPr txBox="1"/>
          <p:nvPr/>
        </p:nvSpPr>
        <p:spPr>
          <a:xfrm>
            <a:off x="621792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R1  </a:t>
            </a:r>
            <a:r>
              <a:rPr sz="1300" b="0" i="0">
                <a:solidFill>
                  <a:srgbClr val="1E1E2E"/>
                </a:solidFill>
                <a:latin typeface="Arial"/>
              </a:rPr>
              <a:t>RACI matrix</a:t>
            </a:r>
          </a:p>
        </p:txBody>
      </p:sp>
      <p:sp>
        <p:nvSpPr>
          <p:cNvPr id="35" name="TextBox 34">
            <a:hlinkClick action="ppaction://hlinksldjump" r:id="rId32"/>
          </p:cNvPr>
          <p:cNvSpPr txBox="1"/>
          <p:nvPr/>
        </p:nvSpPr>
        <p:spPr>
          <a:xfrm>
            <a:off x="621792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R2  </a:t>
            </a:r>
            <a:r>
              <a:rPr sz="1300" b="0" i="0">
                <a:solidFill>
                  <a:srgbClr val="1E1E2E"/>
                </a:solidFill>
                <a:latin typeface="Arial"/>
              </a:rPr>
              <a:t>Revenue attribution framework</a:t>
            </a:r>
          </a:p>
        </p:txBody>
      </p:sp>
      <p:sp>
        <p:nvSpPr>
          <p:cNvPr id="36" name="TextBox 35">
            <a:hlinkClick action="ppaction://hlinksldjump" r:id="rId33"/>
          </p:cNvPr>
          <p:cNvSpPr txBox="1"/>
          <p:nvPr/>
        </p:nvSpPr>
        <p:spPr>
          <a:xfrm>
            <a:off x="621792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R3  </a:t>
            </a:r>
            <a:r>
              <a:rPr sz="1300" b="0" i="0">
                <a:solidFill>
                  <a:srgbClr val="1E1E2E"/>
                </a:solidFill>
                <a:latin typeface="Arial"/>
              </a:rPr>
              <a:t>Delivery and commercial readiness</a:t>
            </a:r>
          </a:p>
        </p:txBody>
      </p:sp>
      <p:sp>
        <p:nvSpPr>
          <p:cNvPr id="37" name="TextBox 36">
            <a:hlinkClick action="ppaction://hlinksldjump" r:id="rId34"/>
          </p:cNvPr>
          <p:cNvSpPr txBox="1"/>
          <p:nvPr/>
        </p:nvSpPr>
        <p:spPr>
          <a:xfrm>
            <a:off x="621792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D1  </a:t>
            </a:r>
            <a:r>
              <a:rPr sz="1300" b="0" i="0">
                <a:solidFill>
                  <a:srgbClr val="1E1E2E"/>
                </a:solidFill>
                <a:latin typeface="Arial"/>
              </a:rPr>
              <a:t>Decision and approval register</a:t>
            </a:r>
          </a:p>
        </p:txBody>
      </p:sp>
      <p:sp>
        <p:nvSpPr>
          <p:cNvPr id="38" name="TextBox 37">
            <a:hlinkClick action="ppaction://hlinksldjump" r:id="rId35"/>
          </p:cNvPr>
          <p:cNvSpPr txBox="1"/>
          <p:nvPr/>
        </p:nvSpPr>
        <p:spPr>
          <a:xfrm>
            <a:off x="6217920" y="5875020"/>
            <a:ext cx="5486400" cy="297180"/>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criteria for PAYG, PTU, hybrid and self-hosted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03120"/>
                <a:gridCol w="2103120"/>
                <a:gridCol w="2286000"/>
                <a:gridCol w="2286000"/>
                <a:gridCol w="2313432"/>
              </a:tblGrid>
              <a:tr h="304800">
                <a:tc>
                  <a:txBody>
                    <a:bodyPr wrap="square" anchor="ctr">
                      <a:noAutofit/>
                    </a:bodyPr>
                    <a:lstStyle/>
                    <a:p>
                      <a:pPr algn="l"/>
                      <a:r>
                        <a:rPr sz="1400" b="1" i="0">
                          <a:solidFill>
                            <a:srgbClr val="FFFFFF"/>
                          </a:solidFill>
                          <a:latin typeface="Arial"/>
                        </a:rPr>
                        <a:t>Criterion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Self-hosted GPU</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Demand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sustained load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baseline and peaks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load and model fit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Latency need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Best effort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Defined latency target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Target for baseline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Engineered by team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Commitment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Hourly or 1-month or 1-year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Smaller reservation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VM terms up to 5 years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Model lifecycle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Auto-upgrade possible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for PTU part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 owns upgrades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Operating burden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 to 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High</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Price input needed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prices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Reservation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Both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VM, licence, ops cost</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Workload characterisation inputs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ASSESSMENT CHECKLIST"/>
          <p:cNvSpPr/>
          <p:nvPr/>
        </p:nvSpPr>
        <p:spPr>
          <a:xfrm>
            <a:off x="189865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ASSESSMENT CHECKLIST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3169920"/>
        </p:xfrm>
        <a:graphic>
          <a:graphicData uri="http://schemas.openxmlformats.org/drawingml/2006/table">
            <a:tbl>
              <a:tblPr firstRow="1" bandRow="0">
                <a:tableStyleId>{5C22544A-7EE6-4342-B048-85BDC9FD1C3A}</a:tableStyleId>
              </a:tblPr>
              <a:tblGrid>
                <a:gridCol w="3474720"/>
                <a:gridCol w="4206240"/>
                <a:gridCol w="341071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Model, version,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throughput per PTU, processing boundary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tower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Input, output, cached, reasoning tokens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Price per token type; PTU weighting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deployment metrics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Context length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Prompt size and KV cache memory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Application design</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Concurrency and arrival pattern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sizing and overflow share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logs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Latency and throughput targets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Whether PTU or GPU is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loops, retries, tool calls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Calls per useful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Traces (offering 02)</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Peak demand and resilience headroom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Capacity margin and second region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 AI</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Quota versus deployable capacity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the plan can be deployed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Portal or capacity API</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loops, retries and tool calls multiply tokens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8" name="Rounded Rectangle 7"/>
          <p:cNvSpPr/>
          <p:nvPr/>
        </p:nvSpPr>
        <p:spPr>
          <a:xfrm>
            <a:off x="548640"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1 task</a:t>
            </a:r>
          </a:p>
          <a:p>
            <a:pPr algn="ctr"/>
            <a:r>
              <a:rPr sz="1500" b="0" i="0">
                <a:solidFill>
                  <a:srgbClr val="53565A"/>
                </a:solidFill>
                <a:latin typeface="Arial"/>
              </a:rPr>
              <a:t>user request</a:t>
            </a:r>
          </a:p>
        </p:txBody>
      </p:sp>
      <p:cxnSp>
        <p:nvCxnSpPr>
          <p:cNvPr id="9" name="Connector (flow)"/>
          <p:cNvCxnSpPr/>
          <p:nvPr/>
        </p:nvCxnSpPr>
        <p:spPr>
          <a:xfrm>
            <a:off x="3108960"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64992"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 calls</a:t>
            </a:r>
          </a:p>
          <a:p>
            <a:pPr algn="ctr"/>
            <a:r>
              <a:rPr sz="1500" b="0" i="0">
                <a:solidFill>
                  <a:srgbClr val="53565A"/>
                </a:solidFill>
                <a:latin typeface="Arial"/>
              </a:rPr>
              <a:t>agent reasoning loop</a:t>
            </a:r>
          </a:p>
        </p:txBody>
      </p:sp>
      <p:cxnSp>
        <p:nvCxnSpPr>
          <p:cNvPr id="11" name="Connector (flow)"/>
          <p:cNvCxnSpPr/>
          <p:nvPr/>
        </p:nvCxnSpPr>
        <p:spPr>
          <a:xfrm>
            <a:off x="5925312"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81344"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+5%</a:t>
            </a:r>
          </a:p>
          <a:p>
            <a:pPr algn="ctr"/>
            <a:r>
              <a:rPr sz="1500" b="0" i="0">
                <a:solidFill>
                  <a:srgbClr val="53565A"/>
                </a:solidFill>
                <a:latin typeface="Arial"/>
              </a:rPr>
              <a:t>retries</a:t>
            </a:r>
          </a:p>
        </p:txBody>
      </p:sp>
      <p:cxnSp>
        <p:nvCxnSpPr>
          <p:cNvPr id="13" name="Connector (flow)"/>
          <p:cNvCxnSpPr/>
          <p:nvPr/>
        </p:nvCxnSpPr>
        <p:spPr>
          <a:xfrm>
            <a:off x="8741663" y="237744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97696"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3.15 calls</a:t>
            </a:r>
          </a:p>
          <a:p>
            <a:pPr algn="ctr"/>
            <a:r>
              <a:rPr sz="1500" b="0" i="0">
                <a:solidFill>
                  <a:srgbClr val="53565A"/>
                </a:solidFill>
                <a:latin typeface="Arial"/>
              </a:rPr>
              <a:t>per useful task</a:t>
            </a:r>
          </a:p>
        </p:txBody>
      </p:sp>
      <p:sp>
        <p:nvSpPr>
          <p:cNvPr id="15" name="TextBox 14"/>
          <p:cNvSpPr txBox="1"/>
          <p:nvPr/>
        </p:nvSpPr>
        <p:spPr>
          <a:xfrm>
            <a:off x="548640" y="3566160"/>
            <a:ext cx="11064240" cy="1097280"/>
          </a:xfrm>
          <a:prstGeom prst="rect">
            <a:avLst/>
          </a:prstGeom>
          <a:noFill/>
        </p:spPr>
        <p:txBody>
          <a:bodyPr wrap="square" lIns="0" rIns="0" tIns="0" bIns="0" anchor="t">
            <a:noAutofit/>
          </a:bodyPr>
          <a:lstStyle/>
          <a:p>
            <a:pPr algn="l"/>
            <a:r>
              <a:rPr sz="1800" b="0" i="0">
                <a:solidFill>
                  <a:srgbClr val="1E1E2E"/>
                </a:solidFill>
                <a:latin typeface="Arial"/>
              </a:rPr>
              <a:t>At the example's prices each call costs about $0.0099, so a task costs about $0.0311. Tool results added to the context make later calls larger still.</a:t>
            </a:r>
          </a:p>
        </p:txBody>
      </p:sp>
      <p:sp>
        <p:nvSpPr>
          <p:cNvPr id="16" name="Rounded Rectangle 15"/>
          <p:cNvSpPr/>
          <p:nvPr/>
        </p:nvSpPr>
        <p:spPr>
          <a:xfrm>
            <a:off x="548640" y="49377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Cost per useful task, not cost per call, is the unit leaders should track.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Quota, capacity and reservations are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Quota</a:t>
            </a:r>
          </a:p>
        </p:txBody>
      </p:sp>
      <p:sp>
        <p:nvSpPr>
          <p:cNvPr id="10" name="TextBox 9"/>
          <p:cNvSpPr txBox="1"/>
          <p:nvPr/>
        </p:nvSpPr>
        <p:spPr>
          <a:xfrm>
            <a:off x="548640"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Policy limit per subscription, region and deployment type. No cost. Does not guarantee capacity.</a:t>
            </a:r>
          </a:p>
        </p:txBody>
      </p:sp>
      <p:sp>
        <p:nvSpPr>
          <p:cNvPr id="11" name="Rounded Rectangle 10"/>
          <p:cNvSpPr/>
          <p:nvPr/>
        </p:nvSpPr>
        <p:spPr>
          <a:xfrm>
            <a:off x="429767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Capacity</a:t>
            </a:r>
          </a:p>
        </p:txBody>
      </p:sp>
      <p:sp>
        <p:nvSpPr>
          <p:cNvPr id="12" name="TextBox 11"/>
          <p:cNvSpPr txBox="1"/>
          <p:nvPr/>
        </p:nvSpPr>
        <p:spPr>
          <a:xfrm>
            <a:off x="429767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PTUs actually available for a model version, allocated at deployment and held while it exists.</a:t>
            </a:r>
          </a:p>
        </p:txBody>
      </p:sp>
      <p:sp>
        <p:nvSpPr>
          <p:cNvPr id="13" name="Rounded Rectangle 12"/>
          <p:cNvSpPr/>
          <p:nvPr/>
        </p:nvSpPr>
        <p:spPr>
          <a:xfrm>
            <a:off x="804671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Reservation</a:t>
            </a:r>
          </a:p>
        </p:txBody>
      </p:sp>
      <p:sp>
        <p:nvSpPr>
          <p:cNvPr id="14" name="TextBox 13"/>
          <p:cNvSpPr txBox="1"/>
          <p:nvPr/>
        </p:nvSpPr>
        <p:spPr>
          <a:xfrm>
            <a:off x="804671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Billing discount for a 1-month or 1-year term. Does not guarantee capacity. Separate for Global, Data Zone, Regional.</a:t>
            </a:r>
          </a:p>
        </p:txBody>
      </p:sp>
      <p:sp>
        <p:nvSpPr>
          <p:cNvPr id="15" name="Rounded Rectangle 14"/>
          <p:cNvSpPr/>
          <p:nvPr/>
        </p:nvSpPr>
        <p:spPr>
          <a:xfrm>
            <a:off x="548640" y="438912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Order matters: confirm quota, create the deployment to secure capacity, then buy the reservation.</a:t>
            </a:r>
          </a:p>
        </p:txBody>
      </p:sp>
      <p:sp>
        <p:nvSpPr>
          <p:cNvPr id="16" name="Rounded Rectangle 15"/>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Scaling down releases capacity; there is no guarantee it can be regained later.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sizing method and current parameters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TextBox 8"/>
          <p:cNvSpPr txBox="1"/>
          <p:nvPr/>
        </p:nvSpPr>
        <p:spPr>
          <a:xfrm>
            <a:off x="548640" y="1371600"/>
            <a:ext cx="11064240" cy="1188720"/>
          </a:xfrm>
          <a:prstGeom prst="rect">
            <a:avLst/>
          </a:prstGeom>
          <a:noFill/>
        </p:spPr>
        <p:txBody>
          <a:bodyPr wrap="square" lIns="0" rIns="0" tIns="0" bIns="0" anchor="t">
            <a:noAutofit/>
          </a:bodyPr>
          <a:lstStyle/>
          <a:p>
            <a:pPr algn="l">
              <a:spcAft>
                <a:spcPts val="600"/>
              </a:spcAft>
            </a:pPr>
            <a:r>
              <a:rPr sz="1700" b="1" i="0">
                <a:solidFill>
                  <a:srgbClr val="000048"/>
                </a:solidFill>
                <a:latin typeface="Arial"/>
              </a:rPr>
              <a:t>Normalised TPM</a:t>
            </a:r>
            <a:r>
              <a:rPr sz="1700" b="0" i="0">
                <a:solidFill>
                  <a:srgbClr val="1E1E2E"/>
                </a:solidFill>
                <a:latin typeface="Arial"/>
              </a:rPr>
              <a:t> = input TPM x (1 − cache rate) + output-to-input ratio x output TPM</a:t>
            </a:r>
          </a:p>
          <a:p>
            <a:pPr algn="l"/>
            <a:r>
              <a:rPr sz="1700" b="1" i="0">
                <a:solidFill>
                  <a:srgbClr val="000048"/>
                </a:solidFill>
                <a:latin typeface="Arial"/>
              </a:rPr>
              <a:t>PTUs</a:t>
            </a:r>
            <a:r>
              <a:rPr sz="1700" b="0" i="0">
                <a:solidFill>
                  <a:srgbClr val="1E1E2E"/>
                </a:solidFill>
                <a:latin typeface="Arial"/>
              </a:rPr>
              <a:t> = normalised TPM ÷ input TPM per PTU, rounded up to the increment (and at least the minimum)</a:t>
            </a:r>
          </a:p>
        </p:txBody>
      </p:sp>
      <p:graphicFrame>
        <p:nvGraphicFramePr>
          <p:cNvPr id="10" name="Table"/>
          <p:cNvGraphicFramePr>
            <a:graphicFrameLocks noGrp="1"/>
          </p:cNvGraphicFramePr>
          <p:nvPr/>
        </p:nvGraphicFramePr>
        <p:xfrm>
          <a:off x="548640" y="2697480"/>
          <a:ext cx="11091672" cy="2316480"/>
        </p:xfrm>
        <a:graphic>
          <a:graphicData uri="http://schemas.openxmlformats.org/drawingml/2006/table">
            <a:tbl>
              <a:tblPr firstRow="1" bandRow="0">
                <a:tableStyleId>{5C22544A-7EE6-4342-B048-85BDC9FD1C3A}</a:tableStyleId>
              </a:tblPr>
              <a:tblGrid>
                <a:gridCol w="2743200"/>
                <a:gridCol w="2651760"/>
                <a:gridCol w="2011680"/>
                <a:gridCol w="1828800"/>
                <a:gridCol w="1856232"/>
              </a:tblGrid>
              <a:tr h="487680">
                <a:tc>
                  <a:txBody>
                    <a:bodyPr wrap="square" anchor="ctr">
                      <a:noAutofit/>
                    </a:bodyPr>
                    <a:lstStyle/>
                    <a:p>
                      <a:pPr algn="l"/>
                      <a:r>
                        <a:rPr sz="13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Global / Data Zone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Regional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Input TPM per PTU</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1 output token =</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gpt-5.4 (2026-03-05)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2,400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6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gpt-4.1 (2025-04-14)</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3,000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gpt-4.1-mini (2025-04-14)</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14,900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gpt-5 (2025-08-07)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4,750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gpt-5-mini (2025-08-07)</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23,750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o4-mini (2025-04-16)</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5,400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bl>
          </a:graphicData>
        </a:graphic>
      </p:graphicFrame>
      <p:sp>
        <p:nvSpPr>
          <p:cNvPr id="11" name="Rounded Rectangle 10"/>
          <p:cNvSpPr/>
          <p:nvPr/>
        </p:nvSpPr>
        <p:spPr>
          <a:xfrm>
            <a:off x="548640" y="53492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with representative traffic before any commitment. A PTU is not a fixed number of GPUs.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Commitment and model-lifecycle risk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453640"/>
        </p:xfrm>
        <a:graphic>
          <a:graphicData uri="http://schemas.openxmlformats.org/drawingml/2006/table">
            <a:tbl>
              <a:tblPr firstRow="1" bandRow="0">
                <a:tableStyleId>{5C22544A-7EE6-4342-B048-85BDC9FD1C3A}</a:tableStyleId>
              </a:tblPr>
              <a:tblGrid>
                <a:gridCol w="2743200"/>
                <a:gridCol w="1828800"/>
                <a:gridCol w="1828800"/>
                <a:gridCol w="4690872"/>
              </a:tblGrid>
              <a:tr h="304800">
                <a:tc>
                  <a:txBody>
                    <a:bodyPr wrap="square" anchor="ctr">
                      <a:noAutofit/>
                    </a:bodyPr>
                    <a:lstStyle/>
                    <a:p>
                      <a:pPr algn="l"/>
                      <a:r>
                        <a:rPr sz="14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Lifecycle 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Retirement date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Implication for a 1-year reservation bought now</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gpt-5.6</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2028-01-11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Outlasts a 1-year term bought in October 2026</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gpt-5.4 (2026-03-05)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2027-09-02</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Retires before a 1-year term ends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gpt-4.1 (2025-04-14)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retires before term ends; re-size on successor</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gpt-4.1-mini (2025-04-14)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gpt-5 (2025-08-07)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2027-02-09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Retires before term ends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gpt-4o (2024-11-20)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Legacy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Replacement listed: gpt-5.1</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Provisioned deployments are not auto-upgraded. Budget a migration and re-benchmark inside any commitment term.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Reservation coverage versus actual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Coverage</a:t>
            </a:r>
          </a:p>
          <a:p>
            <a:pPr algn="l">
              <a:spcAft>
                <a:spcPts val="1000"/>
              </a:spcAft>
            </a:pPr>
            <a:r>
              <a:rPr sz="1600" b="1" i="0">
                <a:solidFill>
                  <a:srgbClr val="2F78C4"/>
                </a:solidFill>
                <a:latin typeface="Arial"/>
              </a:rPr>
              <a:t>Reserved PTUs ÷ deployed PTUs</a:t>
            </a:r>
          </a:p>
          <a:p>
            <a:pPr algn="l"/>
            <a:r>
              <a:rPr sz="1600" b="0" i="0">
                <a:solidFill>
                  <a:srgbClr val="1E1E2E"/>
                </a:solidFill>
                <a:latin typeface="Arial"/>
              </a:rPr>
              <a:t>Low: paying hourly list for PTUs that could be reserved</a:t>
            </a:r>
          </a:p>
        </p:txBody>
      </p:sp>
      <p:sp>
        <p:nvSpPr>
          <p:cNvPr id="9" name="Rounded Rectangle 8"/>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Utilisation</a:t>
            </a:r>
          </a:p>
          <a:p>
            <a:pPr algn="l">
              <a:spcAft>
                <a:spcPts val="1000"/>
              </a:spcAft>
            </a:pPr>
            <a:r>
              <a:rPr sz="1600" b="1" i="0">
                <a:solidFill>
                  <a:srgbClr val="2F78C4"/>
                </a:solidFill>
                <a:latin typeface="Arial"/>
              </a:rPr>
              <a:t>Normalised tokens used ÷ PTU capacity</a:t>
            </a:r>
          </a:p>
          <a:p>
            <a:pPr algn="l"/>
            <a:r>
              <a:rPr sz="1600" b="0" i="0">
                <a:solidFill>
                  <a:srgbClr val="1E1E2E"/>
                </a:solidFill>
                <a:latin typeface="Arial"/>
              </a:rPr>
              <a:t>Low: paying for idle capacity, reserved or not</a:t>
            </a:r>
          </a:p>
        </p:txBody>
      </p:sp>
      <p:sp>
        <p:nvSpPr>
          <p:cNvPr id="10" name="Rounded Rectangle 9"/>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Overflow share</a:t>
            </a:r>
          </a:p>
          <a:p>
            <a:pPr algn="l">
              <a:spcAft>
                <a:spcPts val="1000"/>
              </a:spcAft>
            </a:pPr>
            <a:r>
              <a:rPr sz="1600" b="1" i="0">
                <a:solidFill>
                  <a:srgbClr val="2F78C4"/>
                </a:solidFill>
                <a:latin typeface="Arial"/>
              </a:rPr>
              <a:t>Tokens served by PAYG ÷ total</a:t>
            </a:r>
          </a:p>
          <a:p>
            <a:pPr algn="l"/>
            <a:r>
              <a:rPr sz="1600" b="0" i="0">
                <a:solidFill>
                  <a:srgbClr val="1E1E2E"/>
                </a:solidFill>
                <a:latin typeface="Arial"/>
              </a:rPr>
              <a:t>High: baseline undersized or peaks unmanaged</a:t>
            </a:r>
          </a:p>
        </p:txBody>
      </p:sp>
      <p:sp>
        <p:nvSpPr>
          <p:cNvPr id="11" name="Rounded Rectangle 10"/>
          <p:cNvSpPr/>
          <p:nvPr/>
        </p:nvSpPr>
        <p:spPr>
          <a:xfrm>
            <a:off x="548640" y="47548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Report all three monthly. A single coverage number hides idle capacity.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inputs: verified prices, assumed load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SSUMED WORKLOAD"/>
          <p:cNvSpPr/>
          <p:nvPr/>
        </p:nvSpPr>
        <p:spPr>
          <a:xfrm>
            <a:off x="189865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ASSUMED WORKLOAD</a:t>
            </a:r>
          </a:p>
        </p:txBody>
      </p:sp>
      <p:sp>
        <p:nvSpPr>
          <p:cNvPr id="6" name="Status chip: VERIFIED PRICES"/>
          <p:cNvSpPr/>
          <p:nvPr/>
        </p:nvSpPr>
        <p:spPr>
          <a:xfrm>
            <a:off x="3646170" y="274320"/>
            <a:ext cx="156972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10" name="Table"/>
          <p:cNvGraphicFramePr>
            <a:graphicFrameLocks noGrp="1"/>
          </p:cNvGraphicFramePr>
          <p:nvPr/>
        </p:nvGraphicFramePr>
        <p:xfrm>
          <a:off x="548640" y="1371600"/>
          <a:ext cx="11091672" cy="3048000"/>
        </p:xfrm>
        <a:graphic>
          <a:graphicData uri="http://schemas.openxmlformats.org/drawingml/2006/table">
            <a:tbl>
              <a:tblPr firstRow="1" bandRow="0">
                <a:tableStyleId>{5C22544A-7EE6-4342-B048-85BDC9FD1C3A}</a:tableStyleId>
              </a:tblPr>
              <a:tblGrid>
                <a:gridCol w="3108960"/>
                <a:gridCol w="5120640"/>
                <a:gridCol w="286207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Model and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gpt-5.4, Global Standard or Global Provisioned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 choice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Input / cached / output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$2.50 / $0.25 / $15.00 per 1M tokens</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Provisioned hourly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PTU-hour Global ($730 per PTU-month)</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PTU parameters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min 15, increment 5, 2,400 input TPM per PTU, output x6</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Tasks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minute average</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Calls per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 model calls plus 5% retries</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Tokens per call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2,000 input (25% cached), 400 output</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Daily profile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1.66x mean in business hours; night 0.31x</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PTU reservation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published in retail price API</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Missing: customer agreement</a:t>
                      </a:r>
                    </a:p>
                  </a:txBody>
                  <a:tcPr marL="73152" marR="73152"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results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ILLUSTRATIVE"/>
          <p:cNvSpPr/>
          <p:nvPr/>
        </p:nvSpPr>
        <p:spPr>
          <a:xfrm>
            <a:off x="189865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1478280"/>
        </p:xfrm>
        <a:graphic>
          <a:graphicData uri="http://schemas.openxmlformats.org/drawingml/2006/table">
            <a:tbl>
              <a:tblPr firstRow="1" bandRow="0">
                <a:tableStyleId>{5C22544A-7EE6-4342-B048-85BDC9FD1C3A}</a:tableStyleId>
              </a:tblPr>
              <a:tblGrid>
                <a:gridCol w="2194560"/>
                <a:gridCol w="2651760"/>
                <a:gridCol w="2377440"/>
                <a:gridCol w="2194560"/>
                <a:gridCol w="1673352"/>
              </a:tblGrid>
              <a:tr h="51816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Capacity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Monthly cost at hourly list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PTU price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Utilisation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PAYG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PTU sized to peak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850 PTU</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$620,500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 per PTU-month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Hybrid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425 PTU + PAYG overflow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$357,078</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 per PTU-month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79%</a:t>
                      </a:r>
                    </a:p>
                  </a:txBody>
                  <a:tcPr marL="73152" marR="73152" marT="36576" marB="36576" anchor="ctr">
                    <a:solidFill>
                      <a:srgbClr val="FFFFFF"/>
                    </a:solidFill>
                  </a:tcPr>
                </a:tc>
              </a:tr>
            </a:tbl>
          </a:graphicData>
        </a:graphic>
      </p:graphicFrame>
      <p:sp>
        <p:nvSpPr>
          <p:cNvPr id="10" name="TextBox 9"/>
          <p:cNvSpPr txBox="1"/>
          <p:nvPr/>
        </p:nvSpPr>
        <p:spPr>
          <a:xfrm>
            <a:off x="548640" y="3291840"/>
            <a:ext cx="11064240" cy="14630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Hourly provisioned at list ($730 per PTU-month) costs far more than PAYG here.</a:t>
            </a:r>
          </a:p>
          <a:p>
            <a:pPr algn="l" marL="201168" indent="-201168">
              <a:spcAft>
                <a:spcPts val="600"/>
              </a:spcAft>
              <a:buFont typeface="Arial"/>
              <a:buChar char="•"/>
            </a:pPr>
            <a:r>
              <a:rPr sz="1600" b="0" i="0">
                <a:solidFill>
                  <a:srgbClr val="1E1E2E"/>
                </a:solidFill>
                <a:latin typeface="Arial"/>
              </a:rPr>
              <a:t>Even at 100% utilisation one Global PTU replaces at most $263 of gpt-5.4 PAYG spend a month.</a:t>
            </a:r>
          </a:p>
          <a:p>
            <a:pPr algn="l" marL="201168" indent="-201168">
              <a:spcAft>
                <a:spcPts val="600"/>
              </a:spcAft>
              <a:buFont typeface="Arial"/>
              <a:buChar char="•"/>
            </a:pPr>
            <a:r>
              <a:rPr sz="1600" b="0" i="0">
                <a:solidFill>
                  <a:srgbClr val="1E1E2E"/>
                </a:solidFill>
                <a:latin typeface="Arial"/>
              </a:rPr>
              <a:t>So PTU is justified by latency targets and by a reservation price well below list, not by hourly pricing.</a:t>
            </a:r>
          </a:p>
        </p:txBody>
      </p:sp>
      <p:sp>
        <p:nvSpPr>
          <p:cNvPr id="11" name="Rounded Rectangle 10"/>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Illustrative only. Do not use these numbers to recommend a real commitment.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break-even price rises with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Chart"/>
          <p:cNvGraphicFramePr>
            <a:graphicFrameLocks noGrp="1"/>
          </p:cNvGraphicFramePr>
          <p:nvPr/>
        </p:nvGraphicFramePr>
        <p:xfrm>
          <a:off x="548640" y="1371600"/>
          <a:ext cx="7315200" cy="4206240"/>
        </p:xfrm>
        <a:graphic>
          <a:graphicData uri="http://schemas.openxmlformats.org/drawingml/2006/chart">
            <c:chart xmlns:c="http://schemas.openxmlformats.org/drawingml/2006/chart" r:id="rId4"/>
          </a:graphicData>
        </a:graphic>
      </p:graphicFrame>
      <p:sp>
        <p:nvSpPr>
          <p:cNvPr id="10" name="Rounded Rectangle 9"/>
          <p:cNvSpPr/>
          <p:nvPr/>
        </p:nvSpPr>
        <p:spPr>
          <a:xfrm>
            <a:off x="8138160" y="1371600"/>
            <a:ext cx="3502152" cy="4206240"/>
          </a:xfrm>
          <a:prstGeom prst="roundRect">
            <a:avLst>
              <a:gd name="adj" fmla="val 208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1700" b="1" i="0">
                <a:solidFill>
                  <a:srgbClr val="000048"/>
                </a:solidFill>
                <a:latin typeface="Arial"/>
              </a:rPr>
              <a:t>Read the chart</a:t>
            </a:r>
          </a:p>
          <a:p>
            <a:pPr algn="l">
              <a:spcAft>
                <a:spcPts val="800"/>
              </a:spcAft>
            </a:pPr>
            <a:r>
              <a:rPr sz="1500" b="0" i="0">
                <a:solidFill>
                  <a:srgbClr val="1E1E2E"/>
                </a:solidFill>
                <a:latin typeface="Arial"/>
              </a:rPr>
              <a:t>At 70% average utilisation a PTU must cost under about </a:t>
            </a:r>
            <a:r>
              <a:rPr sz="1500" b="1" i="0">
                <a:solidFill>
                  <a:srgbClr val="1E1E2E"/>
                </a:solidFill>
                <a:latin typeface="Arial"/>
              </a:rPr>
              <a:t>$184</a:t>
            </a:r>
            <a:r>
              <a:rPr sz="1500" b="0" i="0">
                <a:solidFill>
                  <a:srgbClr val="1E1E2E"/>
                </a:solidFill>
                <a:latin typeface="Arial"/>
              </a:rPr>
              <a:t> a month to beat gpt-5.4 Global PAYG.</a:t>
            </a:r>
          </a:p>
          <a:p>
            <a:pPr algn="l"/>
            <a:r>
              <a:rPr sz="1500" b="0" i="0">
                <a:solidFill>
                  <a:srgbClr val="1E1E2E"/>
                </a:solidFill>
                <a:latin typeface="Arial"/>
              </a:rPr>
              <a:t>Hourly list is $730. The gap must come from the reservation price.</a:t>
            </a:r>
          </a:p>
        </p:txBody>
      </p:sp>
      <p:sp>
        <p:nvSpPr>
          <p:cNvPr id="11" name="Rounded Rectangle 10"/>
          <p:cNvSpPr/>
          <p:nvPr/>
        </p:nvSpPr>
        <p:spPr>
          <a:xfrm>
            <a:off x="548640" y="576072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Utilisation is average normalised load ÷ capacity. Peak sizing lowers it; hybrid raises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which assumptions move the answer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1905000"/>
        </p:xfrm>
        <a:graphic>
          <a:graphicData uri="http://schemas.openxmlformats.org/drawingml/2006/table">
            <a:tbl>
              <a:tblPr firstRow="1" bandRow="0">
                <a:tableStyleId>{5C22544A-7EE6-4342-B048-85BDC9FD1C3A}</a:tableStyleId>
              </a:tblPr>
              <a:tblGrid>
                <a:gridCol w="2743200"/>
                <a:gridCol w="2103120"/>
                <a:gridCol w="2103120"/>
                <a:gridCol w="2011680"/>
                <a:gridCol w="2130552"/>
              </a:tblGrid>
              <a:tr h="304800">
                <a:tc>
                  <a:txBody>
                    <a:bodyPr wrap="square" anchor="ctr">
                      <a:noAutofit/>
                    </a:bodyPr>
                    <a:lstStyle/>
                    <a:p>
                      <a:pPr algn="l"/>
                      <a:r>
                        <a:rPr sz="1400" b="1" i="0">
                          <a:solidFill>
                            <a:srgbClr val="FFFFFF"/>
                          </a:solidFill>
                          <a:latin typeface="Arial"/>
                        </a:rPr>
                        <a:t>Variant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 per month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 peak / 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peak</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hybrid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case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850 / 425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No caching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$151,767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960 / 480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$208</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50% cached input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$120,724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740 / 370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$214</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5 calls per task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$227,076</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1415 / 710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800 output 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$219,027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1370 / 685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Volume changes cost but barely moves break-even. Demand shape and reservation price decide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inference: what drives capacity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Factor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matters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GPU memory and KV cache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weights plus per-request cache limit concurrency and context length</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Precision and quantisation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Lower precision fits more but can change quality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Batching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Raises throughput, adds latency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GPU SKU and interconnect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ND H100 v5: 8 x H100 80 GB, NVLink 4.0, 3.2 Tbps InfiniBand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Replicas and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N+1 for maintenance and failure; regional capacity varies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Serving stack and licences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Inference server, model licence terms, support</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Drivers, images, security fixes, upgrades: ongoing effort</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break-even throughput, not GPU count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VERIFIED VM PRICE"/>
          <p:cNvSpPr/>
          <p:nvPr/>
        </p:nvSpPr>
        <p:spPr>
          <a:xfrm>
            <a:off x="1996440" y="274320"/>
            <a:ext cx="174244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VM PRICE</a:t>
            </a:r>
          </a:p>
        </p:txBody>
      </p:sp>
      <p:sp>
        <p:nvSpPr>
          <p:cNvPr id="6" name="Status chip: ILLUSTRATIVE COMPARISON"/>
          <p:cNvSpPr/>
          <p:nvPr/>
        </p:nvSpPr>
        <p:spPr>
          <a:xfrm>
            <a:off x="3830320" y="274320"/>
            <a:ext cx="22606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COMPARISON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10"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3566160"/>
                <a:gridCol w="4754880"/>
                <a:gridCol w="277063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VM price (ND96isr H100 v5, Linux)</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$98.32 per hour, about $71,774 a month</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Verified list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Blended PAYG price in the example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$4.11 per 1M tokens</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Break-even throughput, 1 VM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about 6,638 tokens per second, 24x7</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With N+1 (2 VMs)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13,275 tokens per second, 24x7</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Not included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Storage, network, licences, operations, engineering</a:t>
                      </a:r>
                    </a:p>
                  </a:txBody>
                  <a:tcPr marL="73152" marR="73152" marT="36576" marB="36576" anchor="ctr">
                    <a:solidFill>
                      <a:srgbClr val="FFFFFF"/>
                    </a:solidFill>
                  </a:tcPr>
                </a:tc>
                <a:tc>
                  <a:txBody>
                    <a:bodyPr wrap="square" anchor="ctr">
                      <a:noAutofit/>
                    </a:bodyPr>
                    <a:lstStyle/>
                    <a:p>
                      <a:pPr algn="l"/>
                      <a:r>
                        <a:rPr sz="1500" b="1" i="0">
                          <a:solidFill>
                            <a:srgbClr val="A4262C"/>
                          </a:solidFill>
                          <a:latin typeface="Arial"/>
                        </a:rPr>
                        <a:t>Must be added</a:t>
                      </a:r>
                    </a:p>
                  </a:txBody>
                  <a:tcPr marL="73152" marR="73152" marT="36576" marB="36576" anchor="ctr">
                    <a:solidFill>
                      <a:srgbClr val="FFFFFF"/>
                    </a:solidFill>
                  </a:tcPr>
                </a:tc>
              </a:tr>
            </a:tbl>
          </a:graphicData>
        </a:graphic>
      </p:graphicFrame>
      <p:sp>
        <p:nvSpPr>
          <p:cNvPr id="11" name="Rounded Rectangle 10"/>
          <p:cNvSpPr/>
          <p:nvPr/>
        </p:nvSpPr>
        <p:spPr>
          <a:xfrm>
            <a:off x="548640" y="411480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the chosen open model on the chosen stack. A PTU does not equal a fixed number of GPUs.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Compare options on the same cost boundary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1920240"/>
                <a:gridCol w="1920240"/>
                <a:gridCol w="1920240"/>
                <a:gridCol w="2039112"/>
              </a:tblGrid>
              <a:tr h="304800">
                <a:tc>
                  <a:txBody>
                    <a:bodyPr wrap="square" anchor="ctr">
                      <a:noAutofit/>
                    </a:bodyPr>
                    <a:lstStyle/>
                    <a:p>
                      <a:pPr algn="l"/>
                      <a:r>
                        <a:rPr sz="1400" b="1" i="0">
                          <a:solidFill>
                            <a:srgbClr val="FFFFFF"/>
                          </a:solidFill>
                          <a:latin typeface="Arial"/>
                        </a:rPr>
                        <a:t>Cost line</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Self-hosted GPU</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Model tokens or capacity</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GPU VMs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and routing</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Storage and network</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Monitoring and logs</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Serving stack, licences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Operations staffing</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Resilience headroom</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429 risk</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N+1 replicas</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architecture for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371600"/>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577339"/>
            <a:ext cx="411480" cy="411480"/>
          </a:xfrm>
          <a:prstGeom prst="rect">
            <a:avLst/>
          </a:prstGeom>
        </p:spPr>
      </p:pic>
      <p:sp>
        <p:nvSpPr>
          <p:cNvPr id="11" name="TextBox 10"/>
          <p:cNvSpPr txBox="1"/>
          <p:nvPr/>
        </p:nvSpPr>
        <p:spPr>
          <a:xfrm>
            <a:off x="1106424" y="1408176"/>
            <a:ext cx="1783080" cy="749808"/>
          </a:xfrm>
          <a:prstGeom prst="rect">
            <a:avLst/>
          </a:prstGeom>
          <a:noFill/>
        </p:spPr>
        <p:txBody>
          <a:bodyPr wrap="square" lIns="0" rIns="0" tIns="0" bIns="0" anchor="ctr">
            <a:noAutofit/>
          </a:bodyPr>
          <a:lstStyle/>
          <a:p>
            <a:pPr algn="l"/>
            <a:r>
              <a:rPr sz="1300" b="1" i="0">
                <a:solidFill>
                  <a:srgbClr val="000048"/>
                </a:solidFill>
                <a:latin typeface="Arial"/>
              </a:rPr>
              <a:t>Gateway</a:t>
            </a:r>
          </a:p>
          <a:p>
            <a:pPr algn="l"/>
            <a:r>
              <a:rPr sz="1100" b="0" i="0">
                <a:solidFill>
                  <a:srgbClr val="53565A"/>
                </a:solidFill>
                <a:latin typeface="Arial"/>
              </a:rPr>
              <a:t>token metrics per caller</a:t>
            </a:r>
          </a:p>
        </p:txBody>
      </p:sp>
      <p:sp>
        <p:nvSpPr>
          <p:cNvPr id="12" name="Oval 11"/>
          <p:cNvSpPr/>
          <p:nvPr/>
        </p:nvSpPr>
        <p:spPr>
          <a:xfrm>
            <a:off x="3017520" y="16459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sp>
        <p:nvSpPr>
          <p:cNvPr id="13" name="Rounded Rectangle 12"/>
          <p:cNvSpPr/>
          <p:nvPr/>
        </p:nvSpPr>
        <p:spPr>
          <a:xfrm>
            <a:off x="548640" y="2395728"/>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1468"/>
            <a:ext cx="411480" cy="411480"/>
          </a:xfrm>
          <a:prstGeom prst="rect">
            <a:avLst/>
          </a:prstGeom>
        </p:spPr>
      </p:pic>
      <p:sp>
        <p:nvSpPr>
          <p:cNvPr id="15" name="TextBox 14"/>
          <p:cNvSpPr txBox="1"/>
          <p:nvPr/>
        </p:nvSpPr>
        <p:spPr>
          <a:xfrm>
            <a:off x="1106424" y="2432304"/>
            <a:ext cx="1783080" cy="749808"/>
          </a:xfrm>
          <a:prstGeom prst="rect">
            <a:avLst/>
          </a:prstGeom>
          <a:noFill/>
        </p:spPr>
        <p:txBody>
          <a:bodyPr wrap="square" lIns="0" rIns="0" tIns="0" bIns="0" anchor="ctr">
            <a:noAutofit/>
          </a:bodyPr>
          <a:lstStyle/>
          <a:p>
            <a:pPr algn="l"/>
            <a:r>
              <a:rPr sz="1300" b="1" i="0">
                <a:solidFill>
                  <a:srgbClr val="000048"/>
                </a:solidFill>
                <a:latin typeface="Arial"/>
              </a:rPr>
              <a:t>Deployments</a:t>
            </a:r>
          </a:p>
          <a:p>
            <a:pPr algn="l"/>
            <a:r>
              <a:rPr sz="1100" b="0" i="0">
                <a:solidFill>
                  <a:srgbClr val="53565A"/>
                </a:solidFill>
                <a:latin typeface="Arial"/>
              </a:rPr>
              <a:t>tokens, utilisation, 429</a:t>
            </a:r>
          </a:p>
        </p:txBody>
      </p:sp>
      <p:sp>
        <p:nvSpPr>
          <p:cNvPr id="16" name="Oval 15"/>
          <p:cNvSpPr/>
          <p:nvPr/>
        </p:nvSpPr>
        <p:spPr>
          <a:xfrm>
            <a:off x="3017520" y="2670048"/>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sp>
        <p:nvSpPr>
          <p:cNvPr id="17" name="Rounded Rectangle 16"/>
          <p:cNvSpPr/>
          <p:nvPr/>
        </p:nvSpPr>
        <p:spPr>
          <a:xfrm>
            <a:off x="548640" y="3419856"/>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25596"/>
            <a:ext cx="411480" cy="411480"/>
          </a:xfrm>
          <a:prstGeom prst="rect">
            <a:avLst/>
          </a:prstGeom>
        </p:spPr>
      </p:pic>
      <p:sp>
        <p:nvSpPr>
          <p:cNvPr id="19" name="TextBox 18"/>
          <p:cNvSpPr txBox="1"/>
          <p:nvPr/>
        </p:nvSpPr>
        <p:spPr>
          <a:xfrm>
            <a:off x="1106424" y="3456432"/>
            <a:ext cx="1783080" cy="74980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100" b="0" i="0">
                <a:solidFill>
                  <a:srgbClr val="53565A"/>
                </a:solidFill>
                <a:latin typeface="Arial"/>
              </a:rPr>
              <a:t>actual, amortised</a:t>
            </a:r>
          </a:p>
        </p:txBody>
      </p:sp>
      <p:sp>
        <p:nvSpPr>
          <p:cNvPr id="20" name="Oval 19"/>
          <p:cNvSpPr/>
          <p:nvPr/>
        </p:nvSpPr>
        <p:spPr>
          <a:xfrm>
            <a:off x="3017520" y="3694176"/>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sp>
        <p:nvSpPr>
          <p:cNvPr id="21" name="Rounded Rectangle 20"/>
          <p:cNvSpPr/>
          <p:nvPr/>
        </p:nvSpPr>
        <p:spPr>
          <a:xfrm>
            <a:off x="548640" y="4443984"/>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649724"/>
            <a:ext cx="411480" cy="411480"/>
          </a:xfrm>
          <a:prstGeom prst="rect">
            <a:avLst/>
          </a:prstGeom>
        </p:spPr>
      </p:pic>
      <p:sp>
        <p:nvSpPr>
          <p:cNvPr id="23" name="TextBox 22"/>
          <p:cNvSpPr txBox="1"/>
          <p:nvPr/>
        </p:nvSpPr>
        <p:spPr>
          <a:xfrm>
            <a:off x="1106424" y="4480560"/>
            <a:ext cx="1783080" cy="74980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100" b="0" i="0">
                <a:solidFill>
                  <a:srgbClr val="53565A"/>
                </a:solidFill>
                <a:latin typeface="Arial"/>
              </a:rPr>
              <a:t>coverage, utilisation</a:t>
            </a:r>
          </a:p>
        </p:txBody>
      </p:sp>
      <p:sp>
        <p:nvSpPr>
          <p:cNvPr id="24" name="Oval 23"/>
          <p:cNvSpPr/>
          <p:nvPr/>
        </p:nvSpPr>
        <p:spPr>
          <a:xfrm>
            <a:off x="3017520" y="4718304"/>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sp>
        <p:nvSpPr>
          <p:cNvPr id="25" name="Rounded Rectangle 24"/>
          <p:cNvSpPr/>
          <p:nvPr/>
        </p:nvSpPr>
        <p:spPr>
          <a:xfrm>
            <a:off x="4023360" y="1371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pplication Insights" descr="Official Azure icon: Application Insigh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96512" y="1577339"/>
            <a:ext cx="411480" cy="411480"/>
          </a:xfrm>
          <a:prstGeom prst="rect">
            <a:avLst/>
          </a:prstGeom>
        </p:spPr>
      </p:pic>
      <p:sp>
        <p:nvSpPr>
          <p:cNvPr id="27" name="TextBox 26"/>
          <p:cNvSpPr txBox="1"/>
          <p:nvPr/>
        </p:nvSpPr>
        <p:spPr>
          <a:xfrm>
            <a:off x="4581144" y="1408176"/>
            <a:ext cx="1508760" cy="74980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custom metrics</a:t>
            </a:r>
          </a:p>
        </p:txBody>
      </p:sp>
      <p:sp>
        <p:nvSpPr>
          <p:cNvPr id="28" name="Rounded Rectangle 27"/>
          <p:cNvSpPr/>
          <p:nvPr/>
        </p:nvSpPr>
        <p:spPr>
          <a:xfrm>
            <a:off x="4023360" y="2514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6512" y="2720340"/>
            <a:ext cx="411480" cy="411480"/>
          </a:xfrm>
          <a:prstGeom prst="rect">
            <a:avLst/>
          </a:prstGeom>
        </p:spPr>
      </p:pic>
      <p:sp>
        <p:nvSpPr>
          <p:cNvPr id="30" name="TextBox 29"/>
          <p:cNvSpPr txBox="1"/>
          <p:nvPr/>
        </p:nvSpPr>
        <p:spPr>
          <a:xfrm>
            <a:off x="4581144" y="2551176"/>
            <a:ext cx="1508760" cy="74980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joined usage</a:t>
            </a:r>
          </a:p>
        </p:txBody>
      </p:sp>
      <p:sp>
        <p:nvSpPr>
          <p:cNvPr id="31" name="Rounded Rectangle 30"/>
          <p:cNvSpPr/>
          <p:nvPr/>
        </p:nvSpPr>
        <p:spPr>
          <a:xfrm>
            <a:off x="4023360" y="3657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2"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96512" y="3863340"/>
            <a:ext cx="411480" cy="411480"/>
          </a:xfrm>
          <a:prstGeom prst="rect">
            <a:avLst/>
          </a:prstGeom>
        </p:spPr>
      </p:pic>
      <p:sp>
        <p:nvSpPr>
          <p:cNvPr id="33" name="TextBox 32"/>
          <p:cNvSpPr txBox="1"/>
          <p:nvPr/>
        </p:nvSpPr>
        <p:spPr>
          <a:xfrm>
            <a:off x="4581144" y="3694176"/>
            <a:ext cx="1508760" cy="749808"/>
          </a:xfrm>
          <a:prstGeom prst="rect">
            <a:avLst/>
          </a:prstGeom>
          <a:noFill/>
        </p:spPr>
        <p:txBody>
          <a:bodyPr wrap="square" lIns="0" rIns="0" tIns="0" bIns="0" anchor="ctr">
            <a:noAutofit/>
          </a:bodyPr>
          <a:lstStyle/>
          <a:p>
            <a:pPr algn="l"/>
            <a:r>
              <a:rPr sz="1300" b="1" i="0">
                <a:solidFill>
                  <a:srgbClr val="000048"/>
                </a:solidFill>
                <a:latin typeface="Arial"/>
              </a:rPr>
              <a:t>Storage account</a:t>
            </a:r>
          </a:p>
          <a:p>
            <a:pPr algn="l"/>
            <a:r>
              <a:rPr sz="1100" b="0" i="0">
                <a:solidFill>
                  <a:srgbClr val="53565A"/>
                </a:solidFill>
                <a:latin typeface="Arial"/>
              </a:rPr>
              <a:t>cost files</a:t>
            </a:r>
          </a:p>
        </p:txBody>
      </p:sp>
      <p:sp>
        <p:nvSpPr>
          <p:cNvPr id="34" name="Rounded Rectangle 33"/>
          <p:cNvSpPr/>
          <p:nvPr/>
        </p:nvSpPr>
        <p:spPr>
          <a:xfrm>
            <a:off x="6766560" y="2514600"/>
            <a:ext cx="219456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Function App" descr="Official Azure icon: Function App"/>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9712" y="2720340"/>
            <a:ext cx="411480" cy="411480"/>
          </a:xfrm>
          <a:prstGeom prst="rect">
            <a:avLst/>
          </a:prstGeom>
        </p:spPr>
      </p:pic>
      <p:sp>
        <p:nvSpPr>
          <p:cNvPr id="36" name="TextBox 35"/>
          <p:cNvSpPr txBox="1"/>
          <p:nvPr/>
        </p:nvSpPr>
        <p:spPr>
          <a:xfrm>
            <a:off x="73243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Cost model job</a:t>
            </a:r>
          </a:p>
          <a:p>
            <a:pPr algn="l"/>
            <a:r>
              <a:rPr sz="1100" b="0" i="0">
                <a:solidFill>
                  <a:srgbClr val="53565A"/>
                </a:solidFill>
                <a:latin typeface="Arial"/>
              </a:rPr>
              <a:t>price table x usage</a:t>
            </a:r>
          </a:p>
        </p:txBody>
      </p:sp>
      <p:sp>
        <p:nvSpPr>
          <p:cNvPr id="37" name="Oval 36"/>
          <p:cNvSpPr/>
          <p:nvPr/>
        </p:nvSpPr>
        <p:spPr>
          <a:xfrm>
            <a:off x="66294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sp>
        <p:nvSpPr>
          <p:cNvPr id="38" name="Rounded Rectangle 37"/>
          <p:cNvSpPr/>
          <p:nvPr/>
        </p:nvSpPr>
        <p:spPr>
          <a:xfrm>
            <a:off x="9509760" y="2514600"/>
            <a:ext cx="219456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9" name="Azure icon: Azure Workbooks" descr="Official Azure icon: Azure Workbook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82912" y="2720340"/>
            <a:ext cx="411480" cy="411480"/>
          </a:xfrm>
          <a:prstGeom prst="rect">
            <a:avLst/>
          </a:prstGeom>
        </p:spPr>
      </p:pic>
      <p:sp>
        <p:nvSpPr>
          <p:cNvPr id="40" name="TextBox 39"/>
          <p:cNvSpPr txBox="1"/>
          <p:nvPr/>
        </p:nvSpPr>
        <p:spPr>
          <a:xfrm>
            <a:off x="100675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FinOps workbook</a:t>
            </a:r>
          </a:p>
          <a:p>
            <a:pPr algn="l"/>
            <a:r>
              <a:rPr sz="1100" b="0" i="0">
                <a:solidFill>
                  <a:srgbClr val="53565A"/>
                </a:solidFill>
                <a:latin typeface="Arial"/>
              </a:rPr>
              <a:t>unit cost, utilisation</a:t>
            </a:r>
          </a:p>
        </p:txBody>
      </p:sp>
      <p:sp>
        <p:nvSpPr>
          <p:cNvPr id="41" name="Oval 40"/>
          <p:cNvSpPr/>
          <p:nvPr/>
        </p:nvSpPr>
        <p:spPr>
          <a:xfrm>
            <a:off x="93726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telemetry)"/>
          <p:cNvCxnSpPr/>
          <p:nvPr/>
        </p:nvCxnSpPr>
        <p:spPr>
          <a:xfrm>
            <a:off x="2926080" y="1783080"/>
            <a:ext cx="109728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telemetry)"/>
          <p:cNvCxnSpPr/>
          <p:nvPr/>
        </p:nvCxnSpPr>
        <p:spPr>
          <a:xfrm>
            <a:off x="2926080" y="2807208"/>
            <a:ext cx="1097280" cy="731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telemetry)"/>
          <p:cNvCxnSpPr/>
          <p:nvPr/>
        </p:nvCxnSpPr>
        <p:spPr>
          <a:xfrm>
            <a:off x="2926080" y="3840480"/>
            <a:ext cx="1097280" cy="2286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2926080" y="4206240"/>
            <a:ext cx="109728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telemetry)"/>
          <p:cNvCxnSpPr/>
          <p:nvPr/>
        </p:nvCxnSpPr>
        <p:spPr>
          <a:xfrm>
            <a:off x="5074920" y="2194560"/>
            <a:ext cx="0" cy="32004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flow)"/>
          <p:cNvCxnSpPr/>
          <p:nvPr/>
        </p:nvCxnSpPr>
        <p:spPr>
          <a:xfrm>
            <a:off x="6126480" y="29260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flow)"/>
          <p:cNvCxnSpPr/>
          <p:nvPr/>
        </p:nvCxnSpPr>
        <p:spPr>
          <a:xfrm flipV="1">
            <a:off x="6126480" y="3154680"/>
            <a:ext cx="640080" cy="9144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flow)"/>
          <p:cNvCxnSpPr/>
          <p:nvPr/>
        </p:nvCxnSpPr>
        <p:spPr>
          <a:xfrm>
            <a:off x="8961120" y="2926080"/>
            <a:ext cx="548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4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2" name="Connector (telemetry)"/>
          <p:cNvCxnSpPr/>
          <p:nvPr/>
        </p:nvCxnSpPr>
        <p:spPr>
          <a:xfrm>
            <a:off x="2834640" y="560527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10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54" name="TextBox 53"/>
          <p:cNvSpPr txBox="1"/>
          <p:nvPr/>
        </p:nvSpPr>
        <p:spPr>
          <a:xfrm>
            <a:off x="5486400" y="5486400"/>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a:t>
            </a:r>
          </a:p>
        </p:txBody>
      </p:sp>
      <p:sp>
        <p:nvSpPr>
          <p:cNvPr id="55" name="TextBox 5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Cost allocation and showback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19964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Cost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Allocation key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Data source</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Model tokens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Tokens by caller, agent, model, token type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token metrics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PTU capacity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Share of normalised tokens served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Gateway metrics plus deployment</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 and logs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Share of calls or fixed split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logs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Hosting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Resource tags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Cost exports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Shared platform</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Agreed key, allocated once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Finance rule</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Deployment type changes price and processing 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1737360"/>
        </p:xfrm>
        <a:graphic>
          <a:graphicData uri="http://schemas.openxmlformats.org/drawingml/2006/table">
            <a:tbl>
              <a:tblPr firstRow="1" bandRow="0">
                <a:tableStyleId>{5C22544A-7EE6-4342-B048-85BDC9FD1C3A}</a:tableStyleId>
              </a:tblPr>
              <a:tblGrid>
                <a:gridCol w="2377440"/>
                <a:gridCol w="3108960"/>
                <a:gridCol w="2377440"/>
                <a:gridCol w="3227832"/>
              </a:tblGrid>
              <a:tr h="5486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Input / cached / output per 1M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Provisioned per PTU-hour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Processing location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Global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$2.50 / $0.25 / $15.00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$2.75 / $0.275 / $16.50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US or EU zone (gpt-5.4)</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Regional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Standard PAYG for gpt-5.4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Germany West Central, Sweden Central, UK South only</a:t>
                      </a:r>
                    </a:p>
                  </a:txBody>
                  <a:tcPr marL="73152" marR="73152" marT="36576" marB="36576" anchor="ctr">
                    <a:solidFill>
                      <a:srgbClr val="FFFFFF"/>
                    </a:solidFill>
                  </a:tcPr>
                </a:tc>
              </a:tr>
            </a:tbl>
          </a:graphicData>
        </a:graphic>
      </p:graphicFrame>
      <p:sp>
        <p:nvSpPr>
          <p:cNvPr id="10" name="Rounded Rectangle 9"/>
          <p:cNvSpPr/>
          <p:nvPr/>
        </p:nvSpPr>
        <p:spPr>
          <a:xfrm>
            <a:off x="548640" y="384048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Residency is a cost driver: Data Zone adds 10% on tokens; Regional provisioned is twice Global per PTU-hour.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Assessment deliverables and acceptance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Deliverable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Acceptance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Telemetry baseline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Usage by workload and token type for the agreed period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Workload profiles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Inputs in A2 completed or marked assumed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workload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Option models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Same cost boundary for all options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Sensitivity and break-even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Drivers and missing prices stated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Decision memo</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Gates, owners and approvals listed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sponsor</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economics: agent licences are a new cost 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THIRD-PARTY CONTEXT, VERIFY"/>
          <p:cNvSpPr/>
          <p:nvPr/>
        </p:nvSpPr>
        <p:spPr>
          <a:xfrm>
            <a:off x="1996440" y="274320"/>
            <a:ext cx="26060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THIRD-PARTY CONTEXT, VERIFY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1" cy="2880360"/>
        </p:xfrm>
        <a:graphic>
          <a:graphicData uri="http://schemas.openxmlformats.org/drawingml/2006/table">
            <a:tbl>
              <a:tblPr firstRow="1" bandRow="0">
                <a:tableStyleId>{5C22544A-7EE6-4342-B048-85BDC9FD1C3A}</a:tableStyleId>
              </a:tblPr>
              <a:tblGrid>
                <a:gridCol w="2468880"/>
                <a:gridCol w="2834640"/>
                <a:gridCol w="1920240"/>
                <a:gridCol w="2286000"/>
                <a:gridCol w="1581911"/>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Unit and list price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Billed through</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we check</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Source status</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per user per month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Users who need agent governance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GA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About $99 per user per month; includes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already owned or planned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Copilot Studio credits (PAYG)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$0.01 per credit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Azure 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Credits per agent run, monthly trend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capacity pack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$200 per 25,000 credits per month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Pack versus PAYG break-even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Microsoft 365 Copilot seats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modelled here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Owned by M365 and D365 teams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Handoff</a:t>
                      </a:r>
                    </a:p>
                  </a:txBody>
                  <a:tcPr marL="73152" marR="73152" marT="36576" marB="36576" anchor="ctr">
                    <a:solidFill>
                      <a:srgbClr val="FFFFFF"/>
                    </a:solidFill>
                  </a:tcPr>
                </a:tc>
              </a:tr>
            </a:tbl>
          </a:graphicData>
        </a:graphic>
      </p:graphicFrame>
      <p:sp>
        <p:nvSpPr>
          <p:cNvPr id="10" name="Rounded Rectangle 9"/>
          <p:cNvSpPr/>
          <p:nvPr/>
        </p:nvSpPr>
        <p:spPr>
          <a:xfrm>
            <a:off x="548640" y="4343400"/>
            <a:ext cx="11091672" cy="868680"/>
          </a:xfrm>
          <a:prstGeom prst="roundRect">
            <a:avLst>
              <a:gd name="adj" fmla="val 842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Example check (arithmetic only): </a:t>
            </a:r>
            <a:r>
              <a:rPr sz="1700" b="0" i="0">
                <a:solidFill>
                  <a:srgbClr val="1E1E2E"/>
                </a:solidFill>
                <a:latin typeface="Arial"/>
              </a:rPr>
              <a:t>a capacity pack beats PAYG credits when monthly use exceeds 20,000 credits ($200 ÷ $0.01).</a:t>
            </a:r>
          </a:p>
        </p:txBody>
      </p:sp>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Licence prices change and vary by agreement. Use the customer agreement; we give no licensing advice.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FinOps operating model for AI spend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Weekly</a:t>
            </a:r>
          </a:p>
          <a:p>
            <a:pPr algn="l"/>
            <a:r>
              <a:rPr sz="1500" b="0" i="0">
                <a:solidFill>
                  <a:srgbClr val="26EFE9"/>
                </a:solidFill>
                <a:latin typeface="Arial"/>
              </a:rPr>
              <a:t>Anomalies</a:t>
            </a:r>
          </a:p>
        </p:txBody>
      </p:sp>
      <p:sp>
        <p:nvSpPr>
          <p:cNvPr id="10" name="Rounded Rectangle 9"/>
          <p:cNvSpPr/>
          <p:nvPr/>
        </p:nvSpPr>
        <p:spPr>
          <a:xfrm>
            <a:off x="548640"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Spend spikes by agent</a:t>
            </a:r>
          </a:p>
          <a:p>
            <a:pPr algn="l" marL="201168" indent="-201168">
              <a:spcAft>
                <a:spcPts val="600"/>
              </a:spcAft>
              <a:buFont typeface="Arial"/>
              <a:buChar char="•"/>
            </a:pPr>
            <a:r>
              <a:rPr sz="1700" b="0" i="0">
                <a:solidFill>
                  <a:srgbClr val="1E1E2E"/>
                </a:solidFill>
                <a:latin typeface="Arial"/>
              </a:rPr>
              <a:t>Overflow above plan</a:t>
            </a:r>
          </a:p>
          <a:p>
            <a:pPr algn="l" marL="201168" indent="-201168">
              <a:spcAft>
                <a:spcPts val="600"/>
              </a:spcAft>
              <a:buFont typeface="Arial"/>
              <a:buChar char="•"/>
            </a:pPr>
            <a:r>
              <a:rPr sz="1700" b="0" i="0">
                <a:solidFill>
                  <a:srgbClr val="1E1E2E"/>
                </a:solidFill>
                <a:latin typeface="Arial"/>
              </a:rPr>
              <a:t>429 throttling trend</a:t>
            </a:r>
          </a:p>
        </p:txBody>
      </p:sp>
      <p:sp>
        <p:nvSpPr>
          <p:cNvPr id="11" name="Rounded Rectangle 10"/>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Monthly</a:t>
            </a:r>
          </a:p>
          <a:p>
            <a:pPr algn="l"/>
            <a:r>
              <a:rPr sz="1500" b="0" i="0">
                <a:solidFill>
                  <a:srgbClr val="26EFE9"/>
                </a:solidFill>
                <a:latin typeface="Arial"/>
              </a:rPr>
              <a:t>Unit cost and utilisation</a:t>
            </a:r>
          </a:p>
        </p:txBody>
      </p:sp>
      <p:sp>
        <p:nvSpPr>
          <p:cNvPr id="12" name="Rounded Rectangle 11"/>
          <p:cNvSpPr/>
          <p:nvPr/>
        </p:nvSpPr>
        <p:spPr>
          <a:xfrm>
            <a:off x="429767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Cost per useful task</a:t>
            </a:r>
          </a:p>
          <a:p>
            <a:pPr algn="l" marL="201168" indent="-201168">
              <a:spcAft>
                <a:spcPts val="600"/>
              </a:spcAft>
              <a:buFont typeface="Arial"/>
              <a:buChar char="•"/>
            </a:pPr>
            <a:r>
              <a:rPr sz="1700" b="0" i="0">
                <a:solidFill>
                  <a:srgbClr val="1E1E2E"/>
                </a:solidFill>
                <a:latin typeface="Arial"/>
              </a:rPr>
              <a:t>PTU coverage and utilisation</a:t>
            </a:r>
          </a:p>
          <a:p>
            <a:pPr algn="l" marL="201168" indent="-201168">
              <a:spcAft>
                <a:spcPts val="600"/>
              </a:spcAft>
              <a:buFont typeface="Arial"/>
              <a:buChar char="•"/>
            </a:pPr>
            <a:r>
              <a:rPr sz="1700" b="0" i="0">
                <a:solidFill>
                  <a:srgbClr val="1E1E2E"/>
                </a:solidFill>
                <a:latin typeface="Arial"/>
              </a:rPr>
              <a:t>Showback by team</a:t>
            </a:r>
          </a:p>
        </p:txBody>
      </p:sp>
      <p:sp>
        <p:nvSpPr>
          <p:cNvPr id="13" name="Rounded Rectangle 12"/>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Quarterly</a:t>
            </a:r>
          </a:p>
          <a:p>
            <a:pPr algn="l"/>
            <a:r>
              <a:rPr sz="1500" b="0" i="0">
                <a:solidFill>
                  <a:srgbClr val="26EFE9"/>
                </a:solidFill>
                <a:latin typeface="Arial"/>
              </a:rPr>
              <a:t>Commitments and lifecycle</a:t>
            </a:r>
          </a:p>
        </p:txBody>
      </p:sp>
      <p:sp>
        <p:nvSpPr>
          <p:cNvPr id="14" name="Rounded Rectangle 13"/>
          <p:cNvSpPr/>
          <p:nvPr/>
        </p:nvSpPr>
        <p:spPr>
          <a:xfrm>
            <a:off x="804671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Reservation renewals</a:t>
            </a:r>
          </a:p>
          <a:p>
            <a:pPr algn="l" marL="201168" indent="-201168">
              <a:spcAft>
                <a:spcPts val="600"/>
              </a:spcAft>
              <a:buFont typeface="Arial"/>
              <a:buChar char="•"/>
            </a:pPr>
            <a:r>
              <a:rPr sz="1700" b="0" i="0">
                <a:solidFill>
                  <a:srgbClr val="1E1E2E"/>
                </a:solidFill>
                <a:latin typeface="Arial"/>
              </a:rPr>
              <a:t>Model retirement dates</a:t>
            </a:r>
          </a:p>
          <a:p>
            <a:pPr algn="l" marL="201168" indent="-201168">
              <a:spcAft>
                <a:spcPts val="600"/>
              </a:spcAft>
              <a:buFont typeface="Arial"/>
              <a:buChar char="•"/>
            </a:pPr>
            <a:r>
              <a:rPr sz="1700" b="0" i="0">
                <a:solidFill>
                  <a:srgbClr val="1E1E2E"/>
                </a:solidFill>
                <a:latin typeface="Arial"/>
              </a:rPr>
              <a:t>Licence true-up</a:t>
            </a:r>
          </a:p>
        </p:txBody>
      </p:sp>
      <p:graphicFrame>
        <p:nvGraphicFramePr>
          <p:cNvPr id="15" name="Table"/>
          <p:cNvGraphicFramePr>
            <a:graphicFrameLocks noGrp="1"/>
          </p:cNvGraphicFramePr>
          <p:nvPr/>
        </p:nvGraphicFramePr>
        <p:xfrm>
          <a:off x="548640" y="4343400"/>
          <a:ext cx="11091672" cy="126492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Azure cost, FOCUS format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Cost Management exports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Tokens by caller and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token metrics (offering 03)</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Utilisation and 429s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Foundry deployment metrics</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Measured traffic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Telemetry or a defined load test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Price inputs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Agreement prices available to us</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193548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exists, two workloads,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telemetry, six workloads, three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Benchmark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model, PTU benchmark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models and a GPU serving benchmark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Licence economics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and credits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tenants and licence mixes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FinOps operating model</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Chargeback by team and agent with FOCUS reconciliation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Monthly review</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workloads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Ten workloads with commitments</a:t>
                      </a:r>
                    </a:p>
                  </a:txBody>
                  <a:tcPr marL="73152" marR="73152" marT="36576" marB="36576"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 quotas, budgets, anomaly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Cost data exposure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Spend data reveals business plans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Role-based access to exports and reports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Telemetry with personal data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Prompts captured in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Log token counts, not content; redaction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Unapproved model spend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Shadow deployments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Policy on deployment types, tag rules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Per-agent token budgets that cap runaway cost while containment acts</a:t>
            </a:r>
          </a:p>
          <a:p>
            <a:pPr algn="l" marL="201168" indent="-201168">
              <a:spcAft>
                <a:spcPts val="600"/>
              </a:spcAft>
              <a:buFont typeface="Arial"/>
              <a:buChar char="•"/>
            </a:pPr>
            <a:r>
              <a:rPr sz="1800" b="0" i="0">
                <a:solidFill>
                  <a:srgbClr val="1E1E2E"/>
                </a:solidFill>
                <a:latin typeface="Arial"/>
              </a:rPr>
              <a:t>Loop and retry amplification measured, so containment tests include cost impact</a:t>
            </a:r>
          </a:p>
          <a:p>
            <a:pPr algn="l" marL="201168" indent="-201168">
              <a:spcAft>
                <a:spcPts val="600"/>
              </a:spcAft>
              <a:buFont typeface="Arial"/>
              <a:buChar char="•"/>
            </a:pPr>
            <a:r>
              <a:rPr sz="1800" b="0" i="0">
                <a:solidFill>
                  <a:srgbClr val="1E1E2E"/>
                </a:solidFill>
                <a:latin typeface="Arial"/>
              </a:rPr>
              <a:t>Overflow alerts that flag abnormal agent usage early</a:t>
            </a:r>
          </a:p>
          <a:p>
            <a:pPr algn="l" marL="201168" indent="-201168">
              <a:spcAft>
                <a:spcPts val="600"/>
              </a:spcAft>
              <a:buFont typeface="Arial"/>
              <a:buChar char="•"/>
            </a:pPr>
            <a:r>
              <a:rPr sz="1800" b="0" i="0">
                <a:solidFill>
                  <a:srgbClr val="1E1E2E"/>
                </a:solidFill>
                <a:latin typeface="Arial"/>
              </a:rPr>
              <a:t>Full architecture: decks 02 and 05</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and decision memo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per bounded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Fee level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usage forecast; Finance treatment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estimate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Monthly review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Included in service base or add-on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Logs, storage for exports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GB ingested, GB stored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What the customer buys after the decision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Reservation price (customer,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self-hosting is chosen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VMs x hours or reservation + ops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Benchmark (AI); VM terms (customer)</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1" cy="303276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Assessment plan and scope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Telemetry baseline design and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Usage forecast and model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tests and benchmarks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Cost model and sensitivity</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Decision memo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Capacity commitment decision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Ongoing monthly review</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46836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19202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Assessment, telemetry and cost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Usage forecast and benchmarks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source review (if needed)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$90,000</a:t>
                      </a:r>
                    </a:p>
                  </a:txBody>
                  <a:tcPr marL="73152" marR="73152" marT="36576" marB="36576" anchor="ctr">
                    <a:solidFill>
                      <a:srgbClr val="F5F5F2"/>
                    </a:solidFill>
                  </a:tcPr>
                </a:tc>
              </a:tr>
            </a:tbl>
          </a:graphicData>
        </a:graphic>
      </p:graphicFrame>
      <p:sp>
        <p:nvSpPr>
          <p:cNvPr id="16" name="TextBox 15"/>
          <p:cNvSpPr txBox="1"/>
          <p:nvPr/>
        </p:nvSpPr>
        <p:spPr>
          <a:xfrm>
            <a:off x="6629400" y="37033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At least one workload with telemetry or a defined load test; FinOps and AI owners named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Inputs in A2; current bills; agreement prices; regions; latency targets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Baseline, profiles, option models, sensitivity, decision memo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workloads, models and regions; no purchase or deployment changes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Access to cost data and metrics; AI forecast; customer price inputs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Instrument, measure, model,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66700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Data access, pricing inputs, workload owners, decision authority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fee per bounded scope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More workloads, models or regions; GPU proof of concept</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Monthly review in offering 05; routing changes in offering 03</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Decision taken on evidence; forecast error tracked; unit cost visible</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Assessment as the entry offer</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commitment advice without measured data</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Fixed fee level and scope bands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Effort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Benchmark tooling and method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Pilot results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GPU proof-of-concept offer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Demand and skills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Customer PTU reservation prices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procurement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Licence economics scope with M365 and D365 teams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 with M365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Joint-motion rules (deck 00)</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23"/>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Azure Retail Prices API: gpt-5.4, East US 2:  </a:t>
            </a:r>
            <a:r>
              <a:rPr sz="1100" b="0" i="0">
                <a:solidFill>
                  <a:srgbClr val="2F78C4"/>
                </a:solidFill>
                <a:latin typeface="Arial"/>
                <a:hlinkClick r:id="rId4"/>
              </a:rPr>
              <a:t>https://prices.azure.com/api/retail/prices?$filter=armRegionName eq 'eastus2' and contains(meterName,'5.4')</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5"/>
              </a:rPr>
              <a:t>https://www.microsoft.com/en-us/security/blog/2026/05/01/microsoft-agent-365-now-generally-available-expands-capabilities-and-integrations/</a:t>
            </a:r>
          </a:p>
          <a:p>
            <a:pPr algn="l">
              <a:spcAft>
                <a:spcPts val="300"/>
              </a:spcAft>
            </a:pPr>
            <a:r>
              <a:rPr sz="1100" b="1" i="0">
                <a:solidFill>
                  <a:srgbClr val="000048"/>
                </a:solidFill>
                <a:latin typeface="Arial"/>
              </a:rPr>
              <a:t>Agent 365 licensing analysis (SAMexpert, third party, updated 12 Jun 2026):  </a:t>
            </a:r>
            <a:r>
              <a:rPr sz="1100" b="0" i="0">
                <a:solidFill>
                  <a:srgbClr val="2F78C4"/>
                </a:solidFill>
                <a:latin typeface="Arial"/>
                <a:hlinkClick r:id="rId6"/>
              </a:rPr>
              <a:t>https://samexpert.com/agent-365/</a:t>
            </a:r>
          </a:p>
          <a:p>
            <a:pPr algn="l">
              <a:spcAft>
                <a:spcPts val="300"/>
              </a:spcAft>
            </a:pPr>
            <a:r>
              <a:rPr sz="1100" b="1" i="0">
                <a:solidFill>
                  <a:srgbClr val="000048"/>
                </a:solidFill>
                <a:latin typeface="Arial"/>
              </a:rPr>
              <a:t>Cost Management exports, including FOCUS format:  </a:t>
            </a:r>
            <a:r>
              <a:rPr sz="1100" b="0" i="0">
                <a:solidFill>
                  <a:srgbClr val="2F78C4"/>
                </a:solidFill>
                <a:latin typeface="Arial"/>
                <a:hlinkClick r:id="rId7"/>
              </a:rPr>
              <a:t>https://learn.microsoft.com/en-us/azure/cost-management-billing/costs/tutorial-improved-exports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8"/>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9"/>
              </a:rPr>
              <a:t>https://learn.microsoft.com/en-us/purview/ai-microsoft-purview</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0"/>
              </a:rPr>
              <a:t>https://www.orrick.com/en/Insights/2026/07/EU-AI-Act-Update-Digital-Omnibus-Finalizes-8-Compliance-Changes</a:t>
            </a:r>
          </a:p>
          <a:p>
            <a:pPr algn="l">
              <a:spcAft>
                <a:spcPts val="300"/>
              </a:spcAft>
            </a:pPr>
            <a:r>
              <a:rPr sz="1100" b="1" i="0">
                <a:solidFill>
                  <a:srgbClr val="000048"/>
                </a:solidFill>
                <a:latin typeface="Arial"/>
              </a:rPr>
              <a:t>Foundry Models region availability (Europe and MEA tabs read in browser):  </a:t>
            </a:r>
            <a:r>
              <a:rPr sz="1100" b="0" i="0">
                <a:solidFill>
                  <a:srgbClr val="2F78C4"/>
                </a:solidFill>
                <a:latin typeface="Arial"/>
                <a:hlinkClick r:id="rId11"/>
              </a:rPr>
              <a:t>https://learn.microsoft.com/en-us/azure/foundry/foundry-models/concepts/models-sold-directly-by-azure-region-availability</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2"/>
              </a:rPr>
              <a:t>https://learn.microsoft.com/en-us/azure/foundry/openai/concepts/provisioned-throughput</a:t>
            </a:r>
          </a:p>
          <a:p>
            <a:pPr algn="l">
              <a:spcAft>
                <a:spcPts val="300"/>
              </a:spcAft>
            </a:pPr>
            <a:r>
              <a:rPr sz="1100" b="1" i="0">
                <a:solidFill>
                  <a:srgbClr val="000048"/>
                </a:solidFill>
                <a:latin typeface="Arial"/>
              </a:rPr>
              <a:t>Provisioned throughput sizing and per-model values:  </a:t>
            </a:r>
            <a:r>
              <a:rPr sz="1100" b="0" i="0">
                <a:solidFill>
                  <a:srgbClr val="2F78C4"/>
                </a:solidFill>
                <a:latin typeface="Arial"/>
                <a:hlinkClick r:id="rId13"/>
              </a:rPr>
              <a:t>https://learn.microsoft.com/en-us/azure/foundry/openai/how-to/provisioned-throughput-sizing</a:t>
            </a:r>
          </a:p>
          <a:p>
            <a:pPr algn="l">
              <a:spcAft>
                <a:spcPts val="300"/>
              </a:spcAft>
            </a:pPr>
            <a:r>
              <a:rPr sz="1100" b="1" i="0">
                <a:solidFill>
                  <a:srgbClr val="000048"/>
                </a:solidFill>
                <a:latin typeface="Arial"/>
              </a:rPr>
              <a:t>Provisioned throughput billing (hourly and reservations):  </a:t>
            </a:r>
            <a:r>
              <a:rPr sz="1100" b="0" i="0">
                <a:solidFill>
                  <a:srgbClr val="2F78C4"/>
                </a:solidFill>
                <a:latin typeface="Arial"/>
                <a:hlinkClick r:id="rId14"/>
              </a:rPr>
              <a:t>https://learn.microsoft.com/en-us/azure/foundry/openai/how-to/provisioned-throughput-onboarding</a:t>
            </a:r>
          </a:p>
          <a:p>
            <a:pPr algn="l">
              <a:spcAft>
                <a:spcPts val="300"/>
              </a:spcAft>
            </a:pPr>
            <a:r>
              <a:rPr sz="1100" b="1" i="0">
                <a:solidFill>
                  <a:srgbClr val="000048"/>
                </a:solidFill>
                <a:latin typeface="Arial"/>
              </a:rPr>
              <a:t>Foundry Models deployment types:  </a:t>
            </a:r>
            <a:r>
              <a:rPr sz="1100" b="0" i="0">
                <a:solidFill>
                  <a:srgbClr val="2F78C4"/>
                </a:solidFill>
                <a:latin typeface="Arial"/>
                <a:hlinkClick r:id="rId15"/>
              </a:rPr>
              <a:t>https://learn.microsoft.com/en-us/azure/foundry/foundry-models/concepts/deployment-types</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16"/>
              </a:rPr>
              <a:t>https://learn.microsoft.com/en-us/azure/foundry/openai/concepts/model-retirement-schedule</a:t>
            </a:r>
          </a:p>
          <a:p>
            <a:pPr algn="l">
              <a:spcAft>
                <a:spcPts val="300"/>
              </a:spcAft>
            </a:pPr>
            <a:r>
              <a:rPr sz="1100" b="1" i="0">
                <a:solidFill>
                  <a:srgbClr val="000048"/>
                </a:solidFill>
                <a:latin typeface="Arial"/>
              </a:rPr>
              <a:t>ND H100 v5 series VM sizes:  </a:t>
            </a:r>
            <a:r>
              <a:rPr sz="1100" b="0" i="0">
                <a:solidFill>
                  <a:srgbClr val="2F78C4"/>
                </a:solidFill>
                <a:latin typeface="Arial"/>
                <a:hlinkClick r:id="rId17"/>
              </a:rPr>
              <a:t>https://learn.microsoft.com/en-us/azure/virtual-machines/sizes/gpu-accelerated/ndh100v5-series</a:t>
            </a:r>
          </a:p>
          <a:p>
            <a:pPr algn="l">
              <a:spcAft>
                <a:spcPts val="300"/>
              </a:spcAft>
            </a:pPr>
            <a:r>
              <a:rPr sz="1100" b="1" i="0">
                <a:solidFill>
                  <a:srgbClr val="000048"/>
                </a:solidFill>
                <a:latin typeface="Arial"/>
              </a:rPr>
              <a:t>Azure Retail Prices API: ND H100 v5, East US 2:  </a:t>
            </a:r>
            <a:r>
              <a:rPr sz="1100" b="0" i="0">
                <a:solidFill>
                  <a:srgbClr val="2F78C4"/>
                </a:solidFill>
                <a:latin typeface="Arial"/>
                <a:hlinkClick r:id="rId18"/>
              </a:rPr>
              <a:t>https://prices.azure.com/api/retail/prices?$filter=serviceName eq 'Virtual Machines' and armRegionName eq 'eastus2' and contains(armSkuName,'H100')</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9"/>
              </a:rPr>
              <a:t>https://prices.azure.com/api/retail/prices?$filter=serviceName eq 'Log Analytics' and armRegionName eq 'eastus2'</a:t>
            </a:r>
          </a:p>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20"/>
              </a:rPr>
              <a:t>https://learn.microsoft.com/en-us/azure/api-management/genai-gateway-capabilities</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21"/>
              </a:rPr>
              <a:t>https://learn.microsoft.com/en-us/azure/architecture/icons/</a:t>
            </a:r>
          </a:p>
          <a:p>
            <a:pPr algn="l">
              <a:spcAft>
                <a:spcPts val="300"/>
              </a:spcAft>
            </a:pPr>
            <a:r>
              <a:rPr sz="1100" b="1" i="0">
                <a:solidFill>
                  <a:srgbClr val="000048"/>
                </a:solidFill>
                <a:latin typeface="Arial"/>
              </a:rPr>
              <a:t>GTM proposal V3:  </a:t>
            </a:r>
            <a:r>
              <a:rPr sz="1100" b="0" i="0">
                <a:solidFill>
                  <a:srgbClr val="2F78C4"/>
                </a:solidFill>
                <a:latin typeface="Arial"/>
                <a:hlinkClick r:id="rId22"/>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Capacity and FinOps Assessment v3.0</dc:title>
  <dcterms:created xsi:type="dcterms:W3CDTF">2026-10-10T13:56:28.3080000Z</dcterms:created>
  <dcterms:modified xsi:type="dcterms:W3CDTF">2026-10-10T13:56:28.3090000Z</dcterms:modified>
  <dc:subject>Proposed CIS Infra GTM offering for internal leadership review</dc:subject>
</coreProperties>
</file>