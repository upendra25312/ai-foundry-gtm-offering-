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 xmlns:ns0="http://schemas.openxmlformats.org/officeDocument/2006/relationships" id="302" ns0:id="rId55"/>
    <p:sldId xmlns:ns0="http://schemas.openxmlformats.org/officeDocument/2006/relationships" id="303" ns0:id="rId56"/>
    <p:sldId xmlns:ns0="http://schemas.openxmlformats.org/officeDocument/2006/relationships" id="304" ns0:id="rId57"/>
    <p:sldId xmlns:ns0="http://schemas.openxmlformats.org/officeDocument/2006/relationships" id="305" ns0:id="rId58"/>
    <p:sldId xmlns:ns0="http://schemas.openxmlformats.org/officeDocument/2006/relationships" id="306" ns0:id="rId59"/>
    <p:sldId xmlns:ns0="http://schemas.openxmlformats.org/officeDocument/2006/relationships" id="307" ns0:id="rId60"/>
    <p:sldId xmlns:ns0="http://schemas.openxmlformats.org/officeDocument/2006/relationships" id="308" ns0:id="rId61"/>
    <p:sldId xmlns:ns0="http://schemas.openxmlformats.org/officeDocument/2006/relationships" id="309" ns0:id="rId62"/>
    <p:sldId xmlns:ns0="http://schemas.openxmlformats.org/officeDocument/2006/relationships" id="310" ns0:id="rId63"/>
    <p:sldId xmlns:ns0="http://schemas.openxmlformats.org/officeDocument/2006/relationships" id="311" ns0:id="rId64"/>
    <p:sldId xmlns:ns0="http://schemas.openxmlformats.org/officeDocument/2006/relationships" id="312" ns0:id="rId65"/>
    <p:sldId xmlns:ns0="http://schemas.openxmlformats.org/officeDocument/2006/relationships" id="313" ns0:id="rId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Synthetic USD per month</c:v>
                </c:pt>
              </c:strCache>
            </c:strRef>
          </c:tx>
          <c:spPr>
            <a:solidFill>
              <a:srgbClr val="7373D8"/>
            </a:solidFill>
          </c:spPr>
          <c:cat>
            <c:strRef>
              <c:f>Sheet1!$A$2:$A$5</c:f>
              <c:strCache>
                <c:ptCount val="4"/>
                <c:pt idx="0">
                  <c:v>Gateway platform</c:v>
                </c:pt>
                <c:pt idx="1">
                  <c:v>Telemetry and network</c:v>
                </c:pt>
                <c:pt idx="2">
                  <c:v>Content safety</c:v>
                </c:pt>
                <c:pt idx="3">
                  <c:v>Model consumption</c:v>
                </c:pt>
              </c:strCache>
            </c:strRef>
          </c:cat>
          <c:val>
            <c:numRef>
              <c:f>Sheet1!$B$2:$B$5</c:f>
              <c:numCache>
                <c:formatCode>General</c:formatCode>
                <c:ptCount val="4"/>
                <c:pt idx="0">
                  <c:v>1200</c:v>
                </c:pt>
                <c:pt idx="1">
                  <c:v>300</c:v>
                </c:pt>
                <c:pt idx="2">
                  <c:v>100</c:v>
                </c:pt>
                <c:pt idx="3">
                  <c:v>2400</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0D0CE"/>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E3E3E3"/>
              </a:solidFill>
            </a:ln>
          </c:spPr>
        </c:majorGridlines>
        <c:numFmt formatCode="$#,##0" sourceLinked="0"/>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1E1E2E"/>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Net saving, synthetic USD per month</c:v>
                </c:pt>
              </c:strCache>
            </c:strRef>
          </c:tx>
          <c:spPr>
            <a:solidFill>
              <a:srgbClr val="7373D8"/>
            </a:solidFill>
          </c:spPr>
          <c:cat>
            <c:strRef>
              <c:f>Sheet1!$A$2:$A$6</c:f>
              <c:strCache>
                <c:ptCount val="5"/>
                <c:pt idx="0">
                  <c:v>5% hits</c:v>
                </c:pt>
                <c:pt idx="1">
                  <c:v>10% hits</c:v>
                </c:pt>
                <c:pt idx="2">
                  <c:v>20% hits</c:v>
                </c:pt>
                <c:pt idx="3">
                  <c:v>30% hits</c:v>
                </c:pt>
                <c:pt idx="4">
                  <c:v>40% hits</c:v>
                </c:pt>
              </c:strCache>
            </c:strRef>
          </c:cat>
          <c:val>
            <c:numRef>
              <c:f>Sheet1!$B$2:$B$6</c:f>
              <c:numCache>
                <c:formatCode>General</c:formatCode>
                <c:ptCount val="5"/>
                <c:pt idx="0">
                  <c:v>62</c:v>
                </c:pt>
                <c:pt idx="1">
                  <c:v>625</c:v>
                </c:pt>
                <c:pt idx="2">
                  <c:v>1750</c:v>
                </c:pt>
                <c:pt idx="3">
                  <c:v>2875</c:v>
                </c:pt>
                <c:pt idx="4">
                  <c:v>4000</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0D0CE"/>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E3E3E3"/>
              </a:solidFill>
            </a:ln>
          </c:spPr>
        </c:majorGridlines>
        <c:numFmt formatCode="$#,##0" sourceLinked="0"/>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AI application and agent calls models and tools. Today most do it directly, with keys, and nobody can see or limit it. This offering puts one governed path in front of that traffic, and in version 3 it also decides which tools are allowed to exist.</a:t>
            </a:r>
          </a:p>
          <a:p/>
          <a:p>
            <a:r>
              <a:t>Likely question: Is this just API Management?</a:t>
            </a:r>
          </a:p>
          <a:p>
            <a:r>
              <a:t>Answer: API Management is the engine. The offering is the policies, the private network, closing bypass routes, the tool registry and the reporting that make it useful.</a:t>
            </a:r>
          </a:p>
          <a:p/>
          <a:p>
            <a:r>
              <a:t>DETAIL AND CAVEATS</a:t>
            </a:r>
          </a:p>
          <a:p>
            <a:r>
              <a:t>Opening slide. Version 3.0 adds Azure API Center as the tool and MCP server registry, a gateway choice guide, latency testing, semantic caching economics and chargeback.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summary in one line: one front door for AI traffic, and one list of approved tools behind it. The decisions are about using generally available tiers for production and making API Center the allow-list.</a:t>
            </a:r>
          </a:p>
          <a:p/>
          <a:p>
            <a:r>
              <a:t>Likely question: Why would a customer with one app buy this?</a:t>
            </a:r>
          </a:p>
          <a:p>
            <a:r>
              <a:t>Answer: They probably should not. We qualify on several consumers, cost allocation, identity controls or routing need.</a:t>
            </a:r>
          </a:p>
          <a:p/>
          <a:p>
            <a:r>
              <a:t>DETAIL AND CAVEATS</a:t>
            </a:r>
          </a:p>
          <a:p>
            <a:r>
              <a:t>Sell when several consumers, identity controls, cost allocation or routing justify a shared gateway. A single low-risk application may not justify a new service.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things push this now: agents use many tools through MCP, model versions change every few months, and security teams can now see AI attacks. A gateway plus a registry answers all three.</a:t>
            </a:r>
          </a:p>
          <a:p/>
          <a:p>
            <a:r>
              <a:t>Likely question: Is there market evidence?</a:t>
            </a:r>
          </a:p>
          <a:p>
            <a:r>
              <a:t>Answer: These are sourced product facts, not demand data. The validation asks for three qualified accounts.</a:t>
            </a:r>
          </a:p>
          <a:p/>
          <a:p>
            <a:r>
              <a:t>DETAIL AND CAVEATS</a:t>
            </a:r>
          </a:p>
          <a:p>
            <a:r>
              <a:t>Drivers are sourced facts. No customer or pipeline is claimed.</a:t>
            </a:r>
          </a:p>
          <a:p/>
          <a:p>
            <a:r>
              <a:t>Sources (checked 11 Oct 2026):</a:t>
            </a:r>
          </a:p>
          <a:p>
            <a:r>
              <a:t>Register and discover MCP servers in Azure API Center: https://learn.microsoft.com/en-us/azure/api-center/register-discover-mcp-server</a:t>
            </a:r>
          </a:p>
          <a:p>
            <a:r>
              <a:t>Foundry Models retirement schedule: https://learn.microsoft.com/en-us/azure/foundry/openai/concepts/model-retirement-schedule</a:t>
            </a:r>
          </a:p>
          <a:p>
            <a:r>
              <a:t>AI threat protection in Microsoft Defender for Cloud: https://learn.microsoft.com/en-us/azure/defender-for-cloud/ai-threat-protection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gateway is the enforcement point for the whole portfolio. It uses the landing zone network, the capacity plan from offering 04, and gives offering 02 a place to deny an agent. API Center is new and we build it here.</a:t>
            </a:r>
          </a:p>
          <a:p/>
          <a:p>
            <a:r>
              <a:t>Likely question: Does M365 Copilot traffic pass through it?</a:t>
            </a:r>
          </a:p>
          <a:p>
            <a:r>
              <a:t>Answer: No. Microsoft 365 Copilot is Microsoft-managed and owned by our M365 and D365 teams. Copilot Studio connector and tool calls can be routed through it.</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build and run the gateway platform and the tool registry. Policy content belongs to Security, routing choices to the AI tower, and allocation rules to Finance.</a:t>
            </a:r>
          </a:p>
          <a:p/>
          <a:p>
            <a:r>
              <a:t>Likely question: Who approves a new tool?</a:t>
            </a:r>
          </a:p>
          <a:p>
            <a:r>
              <a:t>Answer: The tool owner and Security. We register and route it once approved.</a:t>
            </a:r>
          </a:p>
          <a:p/>
          <a:p>
            <a:r>
              <a:t>DETAIL AND CAVEATS</a:t>
            </a:r>
          </a:p>
          <a:p>
            <a:r>
              <a:t>CIS Infra owns the gateway platform, network and service health. Security owns identity and safety policy. AI owns API contracts and routing choices. DevOps owns policy pipelines. Finance owns allocation.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Follow the numbers. An app or agent gets an Entra token, the gateway checks it, applies limits and safety checks, routes to reserved capacity first and overflow second, and records token use. The red line is the important part: direct calls to the model are blocked, so the gateway cannot be bypassed.</a:t>
            </a:r>
          </a:p>
          <a:p/>
          <a:p>
            <a:r>
              <a:t>Likely question: What happens if the reserved capacity is full?</a:t>
            </a:r>
          </a:p>
          <a:p>
            <a:r>
              <a:t>Answer: The gateway retries on the approved pay-as-you-go deployment, inside the same data boundary. Overflow is budgeted and alerted.</a:t>
            </a:r>
          </a:p>
          <a:p/>
          <a:p>
            <a:r>
              <a:t>DETAIL AND CAVEATS</a:t>
            </a:r>
          </a:p>
          <a:p>
            <a:r>
              <a:t>Executive view replacing the legacy identity diagram (old slide 8). No legacy model labels are used; backends are shown as deployment types, not model names.</a:t>
            </a:r>
          </a:p>
          <a:p/>
          <a:p>
            <a:r>
              <a:t>Steps: (1) app or agent obtains an Entra token; (2) API Management validates the token and maps the caller to a counter key; (3) inbound policies apply token and request limits and the content-safety check; (4) the backend policy routes to the PTU deployment first and to an approved PAYG deployment on 429, using managed identity; (5) tool calls go to tool APIs under their own policies and tool-side authorisation; (6) outbound policies check completions and emit token metrics to Application Insights. Direct calls from apps to model endpoints are blocked by private endpoints and disabled local auth.</a:t>
            </a:r>
          </a:p>
          <a:p/>
          <a:p>
            <a:r>
              <a:t>Sources (checked 11 Oct 2026):</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r>
              <a:t>Provisioned throughput concepts: https://learn.microsoft.com/en-us/azure/foundry/openai/concepts/provisioned-throughput</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API Management controls how traffic flows; API Center decides which tools are allowed at all. Tool owners register their API or MCP server, Security approves it, and only then is it published through the gateway and discoverable by agents.</a:t>
            </a:r>
          </a:p>
          <a:p/>
          <a:p>
            <a:r>
              <a:t>Likely question: Can an agent still call an unregistered tool?</a:t>
            </a:r>
          </a:p>
          <a:p>
            <a:r>
              <a:t>Answer: If the tool is reachable on the network, yes. That is why we pair the registry with network rules and gateway-only routing. We state that limit openly.</a:t>
            </a:r>
          </a:p>
          <a:p/>
          <a:p>
            <a:r>
              <a:t>DETAIL AND CAVEATS</a:t>
            </a:r>
          </a:p>
          <a:p>
            <a:r>
              <a:t>API Center registers APIs and MCP servers with owner, lifecycle and approval metadata. Microsoft documents MCP server registration and discovery in API Center, synchronisation with API Management, and use of an API Center registry as the private MCP registry enforced in GitHub Copilot and VS Code. Foundry tool catalogue integration per Microsoft Learn (verify feature status per region). The rule proposed here: a tool is allowed only when it is registered and approved in API Center and its traffic is routed through API Management. Customer-side enforcement in each agent runtime still needs configuration.</a:t>
            </a:r>
          </a:p>
          <a:p/>
          <a:p>
            <a:r>
              <a:t>Sources (checked 11 Oct 2026):</a:t>
            </a:r>
          </a:p>
          <a:p>
            <a:r>
              <a:t>Register and discover MCP servers in Azure API Center: https://learn.microsoft.com/en-us/azure/api-center/register-discover-mcp-server</a:t>
            </a:r>
          </a:p>
          <a:p>
            <a:r>
              <a:t>Private MCP registry on API Center enforced in GitHub Copilot and VS Code (Microsoft DevBlogs): https://devblogs.microsoft.com/all-things-azure/locking-down-mcp-create-a-private-registry-on-azure-api-center-and-enforce-it-in-github-copilot-and-vs-code/</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Most customers start with the readiness assessment and the single-region build. The add-ons are sold when the customer has the need: several regions, many tools, or a chargeback requirement.</a:t>
            </a:r>
          </a:p>
          <a:p/>
          <a:p>
            <a:r>
              <a:t>Likely question: What makes it expensive?</a:t>
            </a:r>
          </a:p>
          <a:p>
            <a:r>
              <a:t>Answer: Many consumers to migrate, private networking in a complex hub, and multi-region routing.</a:t>
            </a:r>
          </a:p>
          <a:p/>
          <a:p>
            <a:r>
              <a:t>DETAIL AND CAVEATS</a:t>
            </a:r>
          </a:p>
          <a:p>
            <a:r>
              <a:t>Ranges across CIS Infra, Security, AI and DevOps.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Most gateway failures are bypass failures: traffic simply goes around it. We test bypass explicitly and report coverage.</a:t>
            </a:r>
          </a:p>
          <a:p/>
          <a:p>
            <a:r>
              <a:t>DETAIL AND CAVEATS</a:t>
            </a:r>
          </a:p>
          <a:p>
            <a:r>
              <a:t>Top risks. Full threat model in SEC1.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Each measure is something we can test and show. Thresholds come after the load test, not before.</a:t>
            </a:r>
          </a:p>
          <a:p/>
          <a:p>
            <a:r>
              <a:t>DETAIL AND CAVEATS</a:t>
            </a:r>
          </a:p>
          <a:p>
            <a:r>
              <a:t>Measures are definitions; thresholds agreed in the SOW after load tests.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is what the gateway controls for traffic it sees. Right is what leaders must accept: counters are per gateway, concurrent calls can overshoot, streaming is estimated.</a:t>
            </a:r>
          </a:p>
          <a:p/>
          <a:p>
            <a:r>
              <a:t>Likely question: Can we promise a hard spend cap?</a:t>
            </a:r>
          </a:p>
          <a:p>
            <a:r>
              <a:t>Answer: Not with token limits alone. A hard cap needs a budget service designed for bounded overshoot.</a:t>
            </a:r>
          </a:p>
          <a:p/>
          <a:p>
            <a:r>
              <a:t>DETAIL AND CAVEATS</a:t>
            </a:r>
          </a:p>
          <a:p>
            <a:r>
              <a:t>Verified against Microsoft Learn on 11 Oct 2026. llm-token-limit "tracks token usage independently at each gateway ... It doesn't aggregate token counts across the entire instance." Concurrent requests "can temporarily exceed the configured token limit". With streaming, prompt and completion tokens are estimated. The policy counts prompt and completion tokens only. Content safety returns 403; with streaming it stops forwarding without a 403.</a:t>
            </a:r>
          </a:p>
          <a:p/>
          <a:p>
            <a:r>
              <a:t>Sources (checked 11 Oct 2026):</a:t>
            </a:r>
          </a:p>
          <a:p>
            <a:r>
              <a:t>APIM llm-token-limit policy: https://learn.microsoft.com/en-us/azure/api-management/llm-token-limit-policy</a:t>
            </a:r>
          </a:p>
          <a:p>
            <a:r>
              <a:t>APIM llm-content-safety policy: https://learn.microsoft.com/en-us/azure/api-management/llm-content-safety-policy</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"Three things are priced separately". Improves the distinction between platform cost, model consumption and implementation fees (audit finding). Platform and model prices are Azure Retail Prices API list prices for East US 2 in USD, retrieved 11 Oct 2026, at 730 hours per month; enterprise agreements differ. The AI Gateway tier meter shows $0.00 but Microsoft states pricing will be announced later in the preview; do not treat it as free.</a:t>
            </a:r>
          </a:p>
          <a:p/>
          <a:p>
            <a:r>
              <a:t>DETAIL AND CAVEATS</a:t>
            </a:r>
          </a:p>
          <a:p>
            <a:r>
              <a:t>Improves the distinction between platform cost, model consumption and implementation fees (audit finding). Platform and model prices are Azure Retail Prices API list prices for East US 2 in USD, retrieved 11 Oct 2026, at 730 hours per month; enterprise agreements differ. The AI Gateway tier meter shows $0.00 but Microsoft states pricing will be announced later in the preview; do not treat it as free. Implementation fees have no approved rate; the formula is shown.</a:t>
            </a:r>
          </a:p>
          <a:p/>
          <a:p>
            <a:r>
              <a:t>Sources (checked 11 Oct 2026):</a:t>
            </a:r>
          </a:p>
          <a:p>
            <a:r>
              <a:t>Azure Retail Prices API: API Management, East US 2: https://prices.azure.com/api/retail/prices?$filter=serviceName eq 'API Management' and armRegionName eq 'eastus2'</a:t>
            </a:r>
          </a:p>
          <a:p>
            <a:r>
              <a:t>Azure Retail Prices API: gpt-5.4, East US 2: https://prices.azure.com/api/retail/prices?$filter=armRegionName eq 'eastus2' and contains(meterName,'5.4')</a:t>
            </a:r>
          </a:p>
          <a:p>
            <a:r>
              <a:t>AI Gateway tier (preview) overview: https://learn.microsoft.com/en-us/azure/api-management/ai-gateway-overview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"Request and response flow, step by step". Policy placement follows API Management inbound, backend and outbound sections. Exact policies vary by tier and API type; verify per deployment.</a:t>
            </a:r>
          </a:p>
          <a:p/>
          <a:p>
            <a:r>
              <a:t>DETAIL AND CAVEATS</a:t>
            </a:r>
          </a:p>
          <a:p>
            <a:r>
              <a:t>Policy placement follows API Management inbound, backend and outbound sections. Exact policies vary by tier and API type; verify per deployment.</a:t>
            </a:r>
          </a:p>
          <a:p/>
          <a:p>
            <a:r>
              <a:t>Sources (checked 11 Oct 2026):</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"Model APIs and tool APIs need separate governance". API Management can expose REST APIs as MCP servers, pass through to existing MCP servers, and import A2A agent APIs. Tool calls change systems, so they need authorisation on the tool side as well as at the gateway.</a:t>
            </a:r>
          </a:p>
          <a:p/>
          <a:p>
            <a:r>
              <a:t>DETAIL AND CAVEATS</a:t>
            </a:r>
          </a:p>
          <a:p>
            <a:r>
              <a:t>API Management can expose REST APIs as MCP servers, pass through to existing MCP servers, and import A2A agent APIs. Tool calls change systems, so they need authorisation on the tool side as well as at the gateway.</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"Gateway identity pattern with current labels". Editable reconstruction of 44_azure-openai-gateway-identity-solution-combined.png (Microsoft Azure OpenAI gateway custom authentication guide). The source labels two backends "gpt-35-turbo (1106 | 30K TPM)" and "Azure OpenAI"; those legacy labels are replaced with "model deployment" and "Microsoft Foundry", and the TPM example is removed. The original is kept only as a historical reference (appendix O2).</a:t>
            </a:r>
          </a:p>
          <a:p/>
          <a:p>
            <a:r>
              <a:t>DETAIL AND CAVEATS</a:t>
            </a:r>
          </a:p>
          <a:p>
            <a:r>
              <a:t>Editable reconstruction of 44_azure-openai-gateway-identity-solution-combined.png (Microsoft Azure OpenAI gateway custom authentication guide). The source labels two backends "gpt-35-turbo (1106 | 30K TPM)" and "Azure OpenAI"; those legacy labels are replaced with "model deployment" and "Microsoft Foundry", and the TPM example is removed. The original is kept only as a historical reference (appendix O2).</a:t>
            </a:r>
          </a:p>
          <a:p/>
          <a:p>
            <a:r>
              <a:t>Pattern: the client obtains a JWT from the identity provider and calls the gateway with the JWT and, optionally, a subscription key for product mapping. The gateway validates the JWT, then calls regional Foundry resources with its managed identity. Subscription keys alone are not user identity.</a:t>
            </a:r>
          </a:p>
          <a:p/>
          <a:p>
            <a:r>
              <a:t>Sources (checked 11 Oct 2026):</a:t>
            </a:r>
          </a:p>
          <a:p>
            <a:r>
              <a:t>https://github.com/upendra25312/AI-Foundry-GTM-offering-/blob/main/architectures/44_azure-openai-gateway-identity-solution-combined.png</a:t>
            </a:r>
          </a:p>
          <a:p>
            <a:r>
              <a:t>https://github.com/upendra25312/AI-Foundry-GTM-offering-/blob/main/architectures/14_azure-openai-authentication.vsdx</a:t>
            </a:r>
          </a:p>
          <a:p>
            <a:r>
              <a:t>https://learn.microsoft.com/en-us/azure/architecture/ai-ml/guide/azure-openai-gateway-custom-authentication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 rate limits and quotas need a trusted counter key". Verified: llm-token-limit supports tokens-per-minute and token-quota with Hourly, Daily, Weekly, Monthly or Yearly periods; exceeding a rate limit returns 429, exceeding a quota returns 403. The counter key accepts policy expressions; use a claim from the validated token, not a caller-supplied header. Example values are illustrative: 20,000 TPM and 2M daily tokens per application.</a:t>
            </a:r>
          </a:p>
          <a:p/>
          <a:p>
            <a:r>
              <a:t>DETAIL AND CAVEATS</a:t>
            </a:r>
          </a:p>
          <a:p>
            <a:r>
              <a:t>Verified: llm-token-limit supports tokens-per-minute and token-quota with Hourly, Daily, Weekly, Monthly or Yearly periods; exceeding a rate limit returns 429, exceeding a quota returns 403. The counter key accepts policy expressions; use a claim from the validated token, not a caller-supplied header. Example values are illustrative: 20,000 TPM and 2M daily tokens per application.</a:t>
            </a:r>
          </a:p>
          <a:p/>
          <a:p>
            <a:r>
              <a:t>Sources (checked 11 Oct 2026):</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"Token-limit policy flow". Editable reconstruction of 29_token-rate-limiting.png (609 x 297 px, dark background, OpenAI logo). The source shows requests funnelling through API Management rate-limiting policies to a model backend. Rebuilt with the official API Management and Foundry Models icons and the verified response codes.</a:t>
            </a:r>
          </a:p>
          <a:p/>
          <a:p>
            <a:r>
              <a:t>DETAIL AND CAVEATS</a:t>
            </a:r>
          </a:p>
          <a:p>
            <a:r>
              <a:t>Editable reconstruction of 29_token-rate-limiting.png (609 x 297 px, dark background, OpenAI logo). The source shows requests funnelling through API Management rate-limiting policies to a model backend. Rebuilt with the official API Management and Foundry Models icons and the verified response codes. Original kept in appendix O5 for traceability.</a:t>
            </a:r>
          </a:p>
          <a:p/>
          <a:p>
            <a:r>
              <a:t>Sources (checked 11 Oct 2026):</a:t>
            </a:r>
          </a:p>
          <a:p>
            <a:r>
              <a:t>https://github.com/upendra25312/AI-Foundry-GTM-offering-/blob/main/architectures/29_token-rate-limiting.png</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"Distributed counters, streaming and overshoot". Quoted from Microsoft Learn llm-token-limit policy: "tracks token usage independently at each gateway where it is applied, including workspace gateways and regional gateways in a multi-region deployment. It doesn't aggregate token counts across the entire instance." "concurrent or near-concurrent requests can temporarily exceed the configured token limit." "When streaming is enabled ... prompt tokens are always estimated ...</a:t>
            </a:r>
          </a:p>
          <a:p/>
          <a:p>
            <a:r>
              <a:t>DETAIL AND CAVEATS</a:t>
            </a:r>
          </a:p>
          <a:p>
            <a:r>
              <a:t>Quoted from Microsoft Learn llm-token-limit policy: "tracks token usage independently at each gateway where it is applied, including workspace gateways and regional gateways in a multi-region deployment. It doesn't aggregate token counts across the entire instance." "concurrent or near-concurrent requests can temporarily exceed the configured token limit." "When streaming is enabled ... prompt tokens are always estimated ... Completion tokens are also estimated." v2 tiers use a token bucket algorithm; classic tiers a sliding window. The policy counts prompt and completion tokens only.</a:t>
            </a:r>
          </a:p>
          <a:p/>
          <a:p>
            <a:r>
              <a:t>Sources (checked 11 Oct 2026):</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"Request limits, concurrency and budget controls". Request and concurrency policies complement token limits. A budget control in currency needs price per model and token type and a service designed for bounded overshoot; API Management token limits alone are not a currency cap.</a:t>
            </a:r>
          </a:p>
          <a:p/>
          <a:p>
            <a:r>
              <a:t>DETAIL AND CAVEATS</a:t>
            </a:r>
          </a:p>
          <a:p>
            <a:r>
              <a:t>Request and concurrency policies complement token limits. A budget control in currency needs price per model and token type and a service designed for bounded overshoot; API Management token limits alone are not a currency cap.</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"Backend pools and routing". Editable reconstruction of 32_backend-load-balancing.png (708 x 422 px). The source shows a backend pool with one unavailable backend and requests flowing to another region or instance. API Management load-balancer modes (verified): round-robin, weighted, priority-based and session-aware.</a:t>
            </a:r>
          </a:p>
          <a:p/>
          <a:p>
            <a:r>
              <a:t>DETAIL AND CAVEATS</a:t>
            </a:r>
          </a:p>
          <a:p>
            <a:r>
              <a:t>Editable reconstruction of 32_backend-load-balancing.png (708 x 422 px). The source shows a backend pool with one unavailable backend and requests flowing to another region or instance. API Management load-balancer modes (verified): round-robin, weighted, priority-based and session-aware. Priorities can favour PTU endpoints. Route only to approved models, regions and deployments with available capacity; retries, failover and PTU overflow can increase PAYG spend.</a:t>
            </a:r>
          </a:p>
          <a:p/>
          <a:p>
            <a:r>
              <a:t>Sources (checked 11 Oct 2026):</a:t>
            </a:r>
          </a:p>
          <a:p>
            <a:r>
              <a:t>https://github.com/upendra25312/AI-Foundry-GTM-offering-/blob/main/architectures/32_backend-load-balancing.png</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"Backend circuit breaker protects a dependency". Editable reconstruction of 33_backend-circuit-breaker.png (715 x 253 px). Verified: the circuit breaker features dynamic trip duration using the backend Retry-After header. Configure trip conditions (for example 429 and 5xx counts in an interval) and recovery.</a:t>
            </a:r>
          </a:p>
          <a:p/>
          <a:p>
            <a:r>
              <a:t>DETAIL AND CAVEATS</a:t>
            </a:r>
          </a:p>
          <a:p>
            <a:r>
              <a:t>Editable reconstruction of 33_backend-circuit-breaker.png (715 x 253 px). Verified: the circuit breaker features dynamic trip duration using the backend Retry-After header. Configure trip conditions (for example 429 and 5xx counts in an interval) and recovery. A circuit breaker does not cancel work already running or revoke an agent tool permission; it is not an agent kill switch.</a:t>
            </a:r>
          </a:p>
          <a:p/>
          <a:p>
            <a:r>
              <a:t>Sources (checked 11 Oct 2026):</a:t>
            </a:r>
          </a:p>
          <a:p>
            <a:r>
              <a:t>https://github.com/upendra25312/AI-Foundry-GTM-offering-/blob/main/architectures/33_backend-circuit-breaker.png</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"PTU primary with approved PAYG overflow: two ways". Foundry spillover (verified): optional configuration that routes overflow requests from a fully utilised provisioned deployment (non-200 such as 429) to a corresponding standard deployment in the same Foundry resource; set per deployment or per request with the x-ms-spillover-deployment header; Azure OpenAI models support it, Azure DeepSeek and Meta Llama do not currently. API Management priority routing works across resources and regions but must be kept within the approved processing boundary.</a:t>
            </a:r>
          </a:p>
          <a:p/>
          <a:p>
            <a:r>
              <a:t>DETAIL AND CAVEATS</a:t>
            </a:r>
          </a:p>
          <a:p>
            <a:r>
              <a:t>Foundry spillover (verified): optional configuration that routes overflow requests from a fully utilised provisioned deployment (non-200 such as 429) to a corresponding standard deployment in the same Foundry resource; set per deployment or per request with the x-ms-spillover-deployment header; Azure OpenAI models support it, Azure DeepSeek and Meta Llama do not currently. API Management priority routing works across resources and regions but must be kept within the approved processing boundary.</a:t>
            </a:r>
          </a:p>
          <a:p/>
          <a:p>
            <a:r>
              <a:t>Sources (checked 11 Oct 2026):</a:t>
            </a:r>
          </a:p>
          <a:p>
            <a:r>
              <a:t>Provisioned throughput concepts: https://learn.microsoft.com/en-us/azure/foundry/openai/concepts/provisioned-throughput</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"Content safety in the gateway flow". Editable reconstruction of 31_content-safety.png (622 x 332 px). The source labels the safety service "Content Safety in Foundry Control Plane"; the verified implementation is the API Management llm-content-safety policy calling a configured Azure AI Content Safety resource through a backend with managed identity (Cognitive Services User role). Verified behaviour: categories Hate, SelfHarm, Sexual, Violence with thresholds; shield-prompt checks user attacks; blocklists supported; inbound checks requests, outbound checks responses; violation returns 403; with streaming, forwarding stops without a 403.</a:t>
            </a:r>
          </a:p>
          <a:p/>
          <a:p>
            <a:r>
              <a:t>DETAIL AND CAVEATS</a:t>
            </a:r>
          </a:p>
          <a:p>
            <a:r>
              <a:t>Editable reconstruction of 31_content-safety.png (622 x 332 px). The source labels the safety service "Content Safety in Foundry Control Plane"; the verified implementation is the API Management llm-content-safety policy calling a configured Azure AI Content Safety resource through a backend with managed identity (Cognitive Services User role). Verified behaviour: categories Hate, SelfHarm, Sexual, Violence with thresholds; shield-prompt checks user attacks; blocklists supported; inbound checks requests, outbound checks responses; violation returns 403; with streaming, forwarding stops without a 403. Not a universal DLP, transaction approval or agent authorisation engine.</a:t>
            </a:r>
          </a:p>
          <a:p/>
          <a:p>
            <a:r>
              <a:t>Sources (checked 11 Oct 2026):</a:t>
            </a:r>
          </a:p>
          <a:p>
            <a:r>
              <a:t>https://github.com/upendra25312/AI-Foundry-GTM-offering-/blob/main/architectures/31_content-safety.png</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"Tool authorisation and human approval". Content safety moderates content; it does not authorise actions. Tool authorisation decides whether this caller may do this operation on this target. Human approval gates high-impact or irreversible actions.</a:t>
            </a:r>
          </a:p>
          <a:p/>
          <a:p>
            <a:r>
              <a:t>DETAIL AND CAVEATS</a:t>
            </a:r>
          </a:p>
          <a:p>
            <a:r>
              <a:t>Content safety moderates content; it does not authorise actions. Tool authorisation decides whether this caller may do this operation on this target. Human approval gates high-impact or irreversible actions. API Management can front MCP servers and use the credential manager for OAuth to downstream tools.</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 metrics, logs and cost allocation". Editable reconstruction of 34_emit-token-metrics.png (709 x 318 px). Verified: llm-emit-token-metric emits token counts with custom dimensions (for example client IP, API ID, user ID) to Application Insights; prompts, completions and token usage can be logged to Azure Monitor and Application Insights. Use identity-derived dimensions (app, agent, team) for allocation; avoid sensitive payloads in logs and agree retention.</a:t>
            </a:r>
          </a:p>
          <a:p/>
          <a:p>
            <a:r>
              <a:t>DETAIL AND CAVEATS</a:t>
            </a:r>
          </a:p>
          <a:p>
            <a:r>
              <a:t>Editable reconstruction of 34_emit-token-metrics.png (709 x 318 px). Verified: llm-emit-token-metric emits token counts with custom dimensions (for example client IP, API ID, user ID) to Application Insights; prompts, completions and token usage can be logged to Azure Monitor and Application Insights. Use identity-derived dimensions (app, agent, team) for allocation; avoid sensitive payloads in logs and agree retention.</a:t>
            </a:r>
          </a:p>
          <a:p/>
          <a:p>
            <a:r>
              <a:t>Sources (checked 11 Oct 2026):</a:t>
            </a:r>
          </a:p>
          <a:p>
            <a:r>
              <a:t>https://github.com/upendra25312/AI-Foundry-GTM-offering-/blob/main/architectures/34_emit-token-metrics.png</a:t>
            </a:r>
          </a:p>
          <a:p>
            <a:r>
              <a:t>AI gateway capabilities in API Management: https://learn.microsoft.com/en-us/azure/api-management/genai-gateway-capabilities</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"Private connectivity and regional resilience options". Multi-region deployment is available only in Premium (classic) per the feature comparison (updated 2026-06-18). Standard v2 supports inbound private endpoint and outbound VNet integration; Premium v2 adds VNet injection and availability zones. Original references 20 and 21 show one gateway with regional backends and a multi-region gateway (appendix O3, O4).</a:t>
            </a:r>
          </a:p>
          <a:p/>
          <a:p>
            <a:r>
              <a:t>DETAIL AND CAVEATS</a:t>
            </a:r>
          </a:p>
          <a:p>
            <a:r>
              <a:t>Multi-region deployment is available only in Premium (classic) per the feature comparison (updated 2026-06-18). Standard v2 supports inbound private endpoint and outbound VNet integration; Premium v2 adds VNet injection and availability zones. Original references 20 and 21 show one gateway with regional backends and a multi-region gateway (appendix O3, O4).</a:t>
            </a:r>
          </a:p>
          <a:p/>
          <a:p>
            <a:r>
              <a:t>Sources (checked 11 Oct 2026):</a:t>
            </a:r>
          </a:p>
          <a:p>
            <a:r>
              <a:t>API Management feature comparison by tier: https://learn.microsoft.com/en-us/azure/api-management/api-management-features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"Bypass prevention checklist". The gateway controls only traffic routed through it. These controls close or detect ungoverned direct paths. Each must be tested with a negative test.</a:t>
            </a:r>
          </a:p>
          <a:p/>
          <a:p>
            <a:r>
              <a:t>DETAIL AND CAVEATS</a:t>
            </a:r>
          </a:p>
          <a:p>
            <a:r>
              <a:t>The gateway controls only traffic routed through it. These controls close or detect ungoverned direct paths. Each must be tested with a negative test.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"Generally available versus preview capabilities". Status as stated on Microsoft Learn on 11 Oct 2026. "No label" means the page does not mark the feature as preview; confirm GA status for the exact tier and region before contract.</a:t>
            </a:r>
          </a:p>
          <a:p/>
          <a:p>
            <a:r>
              <a:t>DETAIL AND CAVEATS</a:t>
            </a:r>
          </a:p>
          <a:p>
            <a:r>
              <a:t>Status as stated on Microsoft Learn on 11 Oct 2026. "No label" means the page does not mark the feature as preview; confirm GA status for the exact tier and region before contract.</a:t>
            </a:r>
          </a:p>
          <a:p/>
          <a:p>
            <a:r>
              <a:t>Sources (checked 11 Oct 2026):</a:t>
            </a:r>
          </a:p>
          <a:p>
            <a:r>
              <a:t>AI Gateway tier (preview) overview: https://learn.microsoft.com/en-us/azure/api-management/ai-gateway-overview</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"API Management tier capabilities that drive SKU choice". Selected capabilities from the API Management feature comparison (updated 2026-06-18), not a complete comparison. Developer tier has no SLA. SKU selection is not a capacity guarantee; see the region snapshot.</a:t>
            </a:r>
          </a:p>
          <a:p/>
          <a:p>
            <a:r>
              <a:t>DETAIL AND CAVEATS</a:t>
            </a:r>
          </a:p>
          <a:p>
            <a:r>
              <a:t>Selected capabilities from the API Management feature comparison (updated 2026-06-18), not a complete comparison. Developer tier has no SLA. SKU selection is not a capacity guarantee; see the region snapshot.</a:t>
            </a:r>
          </a:p>
          <a:p/>
          <a:p>
            <a:r>
              <a:t>Sources (checked 11 Oct 2026):</a:t>
            </a:r>
          </a:p>
          <a:p>
            <a:r>
              <a:t>API Management feature comparison by tier: https://learn.microsoft.com/en-us/azure/api-management/api-management-features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"Regional availability snapshot for v2 tiers". Snapshot from the API Management v2 region availability page (updated 2026-09-28). Creation blocked = Microsoft notice that new instance creation is temporarily unavailable; existing instances are not affected. Not listed = not shown as supported on that date; it is not a prediction.</a:t>
            </a:r>
          </a:p>
          <a:p/>
          <a:p>
            <a:r>
              <a:t>DETAIL AND CAVEATS</a:t>
            </a:r>
          </a:p>
          <a:p>
            <a:r>
              <a:t>Snapshot from the API Management v2 region availability page (updated 2026-09-28). Creation blocked = Microsoft notice that new instance creation is temporarily unavailable; existing instances are not affected. Not listed = not shown as supported on that date; it is not a prediction. This is a selected-region view for US, EU, UK and Middle East pursuits, not a global list. Qatar Central and Saudi Arabia regions are not in the table. AI Gateway tier (preview) regions: East US 2 and Sweden Central only. Published availability is not subscription quota or deployable capacity.</a:t>
            </a:r>
          </a:p>
          <a:p/>
          <a:p>
            <a:r>
              <a:t>Sources (checked 11 Oct 2026):</a:t>
            </a:r>
          </a:p>
          <a:p>
            <a:r>
              <a:t>API Management v2 tier region availability: https://learn.microsoft.com/en-us/azure/api-management/api-management-region-availability</a:t>
            </a:r>
          </a:p>
          <a:p>
            <a:r>
              <a:t>AI Gateway tier (preview) overview: https://learn.microsoft.com/en-us/azure/api-management/ai-gateway-overview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"API Management list prices used in estimates". Azure Retail Prices API, region eastus2, USD, consumption list prices, retrieved 11 Oct 2026. Monthly = hourly x 730. Call meters show $0 up to the included tier, then the listed price per 10,000 calls.</a:t>
            </a:r>
          </a:p>
          <a:p/>
          <a:p>
            <a:r>
              <a:t>DETAIL AND CAVEATS</a:t>
            </a:r>
          </a:p>
          <a:p>
            <a:r>
              <a:t>Azure Retail Prices API, region eastus2, USD, consumption list prices, retrieved 11 Oct 2026. Monthly = hourly x 730. Call meters show $0 up to the included tier, then the listed price per 10,000 calls. AI Gateway tier meter shows $0.00 per 10K requests effective 2026-09-01, while Microsoft states pricing will be announced; treat as unknown. Enterprise agreement prices differ.</a:t>
            </a:r>
          </a:p>
          <a:p/>
          <a:p>
            <a:r>
              <a:t>Sources (checked 11 Oct 2026):</a:t>
            </a:r>
          </a:p>
          <a:p>
            <a:r>
              <a:t>Azure Retail Prices API: API Management, East US 2: https://prices.azure.com/api/retail/prices?$filter=serviceName eq 'API Management'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"Synthetic budget mechanics, kept apart from prices". SYNTHETIC example carried from the baseline deck (old slides 20 and 21) and kept separate from verified prices. Round planning inputs in USD per month: gateway allowance 1,200; telemetry and network 300; safety 100; model 2,400; total 4,000. These are not observed Azure rates, SKU prices or customer estimates.</a:t>
            </a:r>
          </a:p>
          <a:p/>
          <a:p>
            <a:r>
              <a:t>DETAIL AND CAVEATS</a:t>
            </a:r>
          </a:p>
          <a:p>
            <a:r>
              <a:t>SYNTHETIC example carried from the baseline deck (old slides 20 and 21) and kept separate from verified prices. Round planning inputs in USD per month: gateway allowance 1,200; telemetry and network 300; safety 100; model 2,400; total 4,000. These are not observed Azure rates, SKU prices or customer estimates. Implementation services are excluded. Replace every input with dated meter-based quantities.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"Policy register is a delivery artefact". Caching is optional and must preserve tenant and document permission isolation. Do not reuse protected answers across users without an approved permission-aware key and invalidation design.</a:t>
            </a:r>
          </a:p>
          <a:p/>
          <a:p>
            <a:r>
              <a:t>DETAIL AND CAVEATS</a:t>
            </a:r>
          </a:p>
          <a:p>
            <a:r>
              <a:t>Caching is optional and must preserve tenant and document permission isolation. Do not reuse protected answers across users without an approved permission-aware key and invalidation design.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"Acceptance requires demonstrable evidence". Proposed acceptance criteria. Agree test cases, thresholds and exception authority in the SOW.</a:t>
            </a:r>
          </a:p>
          <a:p/>
          <a:p>
            <a:r>
              <a:t>DETAIL AND CAVEATS</a:t>
            </a:r>
          </a:p>
          <a:p>
            <a:r>
              <a:t>Proposed acceptance criteria. Agree test cases, thresholds and exception authority in the SOW.</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containment spans several offerings. This slide shows the part this offering provides; the full design and its limits are in decks 02 and 05.</a:t>
            </a:r>
          </a:p>
          <a:p/>
          <a:p>
            <a:r>
              <a:t>DETAIL AND CAVEATS</a:t>
            </a:r>
          </a:p>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Version 3.0 additions: enforcement point 4 is the identity layer. Entra Conditional Access for agents can block agent sign-ins; it requires Agent 365 licensing (per third-party tracker of Microsoft docs, verify) and token revocation can lag,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Customers ask which gateway to use. For production, a generally available API Management tier. The new AI Gateway tier and the Foundry-linked gateway are good pilots, but carry no production SLA yet.</a:t>
            </a:r>
          </a:p>
          <a:p/>
          <a:p>
            <a:r>
              <a:t>Likely question: What if the customer already has Kong or another gateway?</a:t>
            </a:r>
          </a:p>
          <a:p>
            <a:r>
              <a:t>Answer: Then we assess whether to front AI traffic there or add API Management. We do not claim accelerators for third-party gateways.</a:t>
            </a:r>
          </a:p>
          <a:p/>
          <a:p>
            <a:r>
              <a:t>DETAIL AND CAVEATS</a:t>
            </a:r>
          </a:p>
          <a:p>
            <a:r>
              <a:t>Options checked on Microsoft Learn on 11 Oct 2026. API Management classic and v2 tiers are GA; built-in multi-region deployment needs Premium (classic). The AI Gateway tier is public preview with no SLA, available in East US 2 and Sweden Central, pricing to be announced (page updated 2026-07-23). The Foundry AI gateway (API Management linked from the Foundry portal) is marked preview on the AI gateway capabilities page. Third-party gateways are a customer choice; this offering does not include accelerators for them and would be scoped separately.</a:t>
            </a:r>
          </a:p>
          <a:p/>
          <a:p>
            <a:r>
              <a:t>Sources (checked 11 Oct 2026):</a:t>
            </a:r>
          </a:p>
          <a:p>
            <a:r>
              <a:t>API Management feature comparison by tier: https://learn.microsoft.com/en-us/azure/api-management/api-management-features</a:t>
            </a:r>
          </a:p>
          <a:p>
            <a:r>
              <a:t>AI Gateway tier (preview) overview: https://learn.microsoft.com/en-us/azure/api-management/ai-gateway-overview</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customer asks how much slower the gateway makes things. We do not quote a number; we measure it with a repeatable test and show which policy adds what.</a:t>
            </a:r>
          </a:p>
          <a:p/>
          <a:p>
            <a:r>
              <a:t>Likely question: Which policy costs the most?</a:t>
            </a:r>
          </a:p>
          <a:p>
            <a:r>
              <a:t>Answer: Usually the content safety call, because it is an extra network call. The test shows the real figure for that customer.</a:t>
            </a:r>
          </a:p>
          <a:p/>
          <a:p>
            <a:r>
              <a:t>DETAIL AND CAVEATS</a:t>
            </a:r>
          </a:p>
          <a:p>
            <a:r>
              <a:t>No latency figure is claimed. Added delay depends on tier, region, network path, policy count, content safety calls and streaming. The method measures it per customer with Azure Load Testing or an equivalent tool. Report p50 and p95 added delay and time to first token for streaming, with each policy group switched on in turn. Targets are agreed only after the baseline run.</a:t>
            </a:r>
          </a:p>
          <a:p/>
          <a:p>
            <a:r>
              <a:t>Sources (checked 11 Oct 2026):</a:t>
            </a:r>
          </a:p>
          <a:p>
            <a:r>
              <a:t>APIM llm-content-safety policy: https://learn.microsoft.com/en-us/azure/api-management/llm-content-safety-policy</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Caching only pays if many questions repeat. In this synthetic example, the cache pays for itself above about a five percent hit rate. Below that it costs money.</a:t>
            </a:r>
          </a:p>
          <a:p/>
          <a:p>
            <a:r>
              <a:t>Likely question: What hit rate should we expect?</a:t>
            </a:r>
          </a:p>
          <a:p>
            <a:r>
              <a:t>Answer: Unknown until measured. FAQ-style assistants can be high; personalised agents are near zero. We measure on logged traffic before recommending it.</a:t>
            </a:r>
          </a:p>
          <a:p/>
          <a:p>
            <a:r>
              <a:t>DETAIL AND CAVEATS</a:t>
            </a:r>
          </a:p>
          <a:p>
            <a:r>
              <a:t>SYNTHETIC example. Model price: gpt-5.4 Global list, $2.50 input and $15.00 output per 1M tokens (Azure Retail Prices API, East US 2, checked 11 Oct 2026). Synthetic workload: 1,000,000 calls a month, 1,500 input and 500 output tokens each, so $0.01125 per call and $11,250 a month. Cache cost is a synthetic $500 a month placeholder for a Redis-compatible cache plus embedding calls; it is not a price. Saving = hit rate x model spend. Break-even hit rate = cache cost / model spend = 4.4%. Semantic caching needs an external RediSearch-compatible cache and an embeddings deployment, and only suits repeated, non-personal questions. Answers can go stale; set a time-to-live.</a:t>
            </a:r>
          </a:p>
          <a:p/>
          <a:p>
            <a:r>
              <a:t>Sources (checked 11 Oct 2026):</a:t>
            </a:r>
          </a:p>
          <a:p>
            <a:r>
              <a:t>Azure Retail Prices API: gpt-5.4, East US 2: https://prices.azure.com/api/retail/prices?$filter=armRegionName eq 'eastus2' and contains(meterName,'5.4')</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how the finance team gets a per-team bill. The gateway counts tokens per caller, we price them, and shared platform cost is split by an agreed rule. Start with showback, a report without money moving, before any internal charging.</a:t>
            </a:r>
          </a:p>
          <a:p/>
          <a:p>
            <a:r>
              <a:t>Likely question: Is the token count exact?</a:t>
            </a:r>
          </a:p>
          <a:p>
            <a:r>
              <a:t>Answer: Close but not exact under streaming, where tokens are estimated. We reconcile monthly against the Azure invoice.</a:t>
            </a:r>
          </a:p>
          <a:p/>
          <a:p>
            <a:r>
              <a:t>DETAIL AND CAVEATS</a:t>
            </a:r>
          </a:p>
          <a:p>
            <a:r>
              <a:t>The llm-emit-token-metric policy emits prompt, completion and total tokens with custom dimensions (for example subscription, product, caller application and agent ID) to Application Insights. A scheduled query in Log Analytics joins token counts with the price table agreed by Finance (list or contract price). Shared platform cost (API Management units, logs, network) comes from Cost Management exports in FOCUS format and is split by token share or an agreed key. Showback first; chargeback only once allocation rules are approved by Finance. Allocation rules are a customer finance decision.</a:t>
            </a:r>
          </a:p>
          <a:p/>
          <a:p>
            <a:r>
              <a:t>Sources (checked 11 Oct 2026):</a:t>
            </a:r>
          </a:p>
          <a:p>
            <a:r>
              <a:t>AI gateway capabilities in API Management: https://learn.microsoft.com/en-us/azure/api-management/genai-gateway-capabilities</a:t>
            </a:r>
          </a:p>
          <a:p>
            <a:r>
              <a:t>Cost Management exports, including FOCUS format: https://learn.microsoft.com/en-us/azure/cost-management-billing/costs/tutorial-improved-exports</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Copilot Studio agents often call business systems. If those calls go through the gateway, they get the same identity, limits and logging as every other agent. The Power Platform team still owns Copilot Studio itself.</a:t>
            </a:r>
          </a:p>
          <a:p/>
          <a:p>
            <a:r>
              <a:t>Likely question: Does this cover Copilot Studio model usage?</a:t>
            </a:r>
          </a:p>
          <a:p>
            <a:r>
              <a:t>Answer: No. Its model calls are Microsoft-managed and billed in Copilot credits. We only govern the connector and tool calls.</a:t>
            </a:r>
          </a:p>
          <a:p/>
          <a:p>
            <a:r>
              <a:t>DETAIL AND CAVEATS</a:t>
            </a:r>
          </a:p>
          <a:p>
            <a:r>
              <a:t>API Management APIs can be exported to Power Platform as custom connectors, so Copilot Studio agents call back-end tools through the gateway with its identity, limits and logging. Copilot Studio's own model calls are Microsoft-managed and do not pass through the customer gateway; only connector and tool calls do. Bring-your-own-model options through Foundry should be checked per tenant. Power Platform administration (environments, DLP policies) stays with the Power Platform team. Microsoft 365 Copilot is owned by the Cognizant M365 and D365 teams.</a:t>
            </a:r>
          </a:p>
          <a:p/>
          <a:p>
            <a:r>
              <a:t>Sources (checked 11 Oct 2026):</a:t>
            </a:r>
          </a:p>
          <a:p>
            <a:r>
              <a:t>AI gateway capabilities in API Management: https://learn.microsoft.com/en-us/azure/api-management/genai-gateway-capabilities</a:t>
            </a:r>
          </a:p>
          <a:p>
            <a:r>
              <a:t>Agent 365 licensing analysis (SAMexpert, third party, updated 12 Jun 2026): https://samexpert.com/agent-365/</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30-day exercise.</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Budget and allocation rules: the commercial or finance owner is accountable, with the customer budget owner consulted through the customer workload owner column.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Revenue follows priced work packages and the tower that delivers them. We keep sales credit, booked revenue, delivery cost and margin as four separate views so nothing is double counted.</a:t>
            </a:r>
          </a:p>
          <a:p/>
          <a:p>
            <a:r>
              <a:t>Likely question: Why no fixed percentage split?</a:t>
            </a:r>
          </a:p>
          <a:p>
            <a:r>
              <a:t>Answer: Fixed splits drift from reality as scope changes. Work-package attribution stays tied to who actually delivers, and Finance approves the rules.</a:t>
            </a:r>
          </a:p>
          <a:p/>
          <a:p>
            <a:r>
              <a:t>DETAIL AND CAVEATS</a:t>
            </a:r>
          </a:p>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https://github.com/upendra25312/AI-Foundry-GTM-offering-/blob/main/architectures/38_foundry-gateway-conceptual-architecture.png</a:t>
            </a:r>
          </a:p>
          <a:p>
            <a:r>
              <a:t>Editable Visio: https://github.com/upendra25312/AI-Foundry-GTM-offering-/blob/main/architectures/12_foundry-gateway-conceptual-architecture.vsdx</a:t>
            </a:r>
          </a:p>
          <a:p>
            <a:r>
              <a:t>Microsoft source: https://learn.microsoft.com/en-us/azure/architecture/ai-ml/guide/azure-openai-gateway-guide</a:t>
            </a:r>
          </a:p>
          <a:p/>
          <a:p>
            <a:r>
              <a:t>Conceptual functions; queuing and compute may need services beyond one API Management tier.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 It carries legacy labels, so do not use it in proposals.</a:t>
            </a:r>
          </a:p>
          <a:p/>
          <a:p>
            <a:r>
              <a:t>DETAIL AND CAVEATS</a:t>
            </a:r>
          </a:p>
          <a:p>
            <a:r>
              <a:t>Original diagram from the user repository, embedded unchanged at source resolution and not stretched beyond its native size. Repository: https://github.com/upendra25312/AI-Foundry-GTM-offering-/blob/main/architectures/44_azure-openai-gateway-identity-solution-combined.png</a:t>
            </a:r>
          </a:p>
          <a:p>
            <a:r>
              <a:t>Editable Visio: https://github.com/upendra25312/AI-Foundry-GTM-offering-/blob/main/architectures/14_azure-openai-authentication.vsdx</a:t>
            </a:r>
          </a:p>
          <a:p>
            <a:r>
              <a:t>Microsoft source: https://learn.microsoft.com/en-us/azure/architecture/ai-ml/guide/azure-openai-gateway-custom-authentication</a:t>
            </a:r>
          </a:p>
          <a:p/>
          <a:p>
            <a:r>
              <a:t>HISTORICAL: legacy gpt-35-turbo and Azure OpenAI labels. Do not use in proposals; use appendix A3.</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https://github.com/upendra25312/AI-Foundry-GTM-offering-/blob/main/architectures/20_multiple-regions-api-management-single-after.png</a:t>
            </a:r>
          </a:p>
          <a:p>
            <a:r>
              <a:t>Microsoft source: https://learn.microsoft.com/en-us/azure/architecture/ai-ml/guide/azure-openai-gateway-guide</a:t>
            </a:r>
          </a:p>
          <a:p/>
          <a:p>
            <a:r>
              <a:t>Source labels "rt-foundry-westus" appear to mean resource group; backend failover keeps one gateway failure domain.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https://github.com/upendra25312/AI-Foundry-GTM-offering-/blob/main/architectures/21_multiple-regions-api-management-multiple-after.png</a:t>
            </a:r>
          </a:p>
          <a:p>
            <a:r>
              <a:t>Microsoft source: https://learn.microsoft.com/en-us/azure/architecture/ai-ml/guide/azure-openai-gateway-guide</a:t>
            </a:r>
          </a:p>
          <a:p/>
          <a:p>
            <a:r>
              <a:t>Built-in multi-region API Management needs Premium (classic).</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"Low-resolution source images kept for traceability". Five source PNGs (609 to 715 px wide, dark theme, third-party OpenAI logo) are kept only for traceability and shown at or below native size. Rebuilt editable versions: A5 (29), A11 (31), A8 (32), A9 (33), A13 (34). Sources: https://github.com/upendra25312/AI-Foundry-GTM-offering-/blob/main/architectures/29_token-rate-limiting.png, https://github.com/upendra25312/AI-Foundry-GTM-offering-/blob/main/architectures/31_content-safety.png, https://github.com/upendra25312/AI-Foundry-GTM-offering-/blob/main/architectures/32_backend-load-balancing.png, https://github.com/upendra25312/AI-Foundry-GTM-offering-/blob/main/architectures/33_backend-circuit-breaker.png, https://github.com/upendra25312/AI-Foundry-GTM-offering-/blob/main/architectures/34_emit-token-metrics.png</a:t>
            </a:r>
          </a:p>
          <a:p/>
          <a:p>
            <a:r>
              <a:t>DETAIL AND CAVEATS</a:t>
            </a:r>
          </a:p>
          <a:p>
            <a:r>
              <a:t>Five source PNGs (609 to 715 px wide, dark theme, third-party OpenAI logo) are kept only for traceability and shown at or below native size. Rebuilt editable versions: A5 (29), A11 (31), A8 (32), A9 (33), A13 (34). Sources: https://github.com/upendra25312/AI-Foundry-GTM-offering-/blob/main/architectures/29_token-rate-limiting.png, https://github.com/upendra25312/AI-Foundry-GTM-offering-/blob/main/architectures/31_content-safety.png, https://github.com/upendra25312/AI-Foundry-GTM-offering-/blob/main/architectures/32_backend-load-balancing.png, https://github.com/upendra25312/AI-Foundry-GTM-offering-/blob/main/architectures/33_backend-circuit-breaker.png, https://github.com/upendra25312/AI-Foundry-GTM-offering-/blob/main/architectures/34_emit-token-metrics.png</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png"/><Relationship Id="rId7" Type="http://schemas.openxmlformats.org/officeDocument/2006/relationships/image" Target="../media/image12.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image" Target="../media/image25.png"/><Relationship Id="rId11" Type="http://schemas.openxmlformats.org/officeDocument/2006/relationships/image" Target="../media/image2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 Id="rId38" Type="http://schemas.openxmlformats.org/officeDocument/2006/relationships/slide" Target="slide47.xml"/><Relationship Id="rId39" Type="http://schemas.openxmlformats.org/officeDocument/2006/relationships/slide" Target="slide48.xml"/><Relationship Id="rId40" Type="http://schemas.openxmlformats.org/officeDocument/2006/relationships/slide" Target="slide49.xml"/><Relationship Id="rId41" Type="http://schemas.openxmlformats.org/officeDocument/2006/relationships/slide" Target="slide50.xml"/><Relationship Id="rId42" Type="http://schemas.openxmlformats.org/officeDocument/2006/relationships/slide" Target="slide51.xml"/><Relationship Id="rId43" Type="http://schemas.openxmlformats.org/officeDocument/2006/relationships/slide" Target="slide52.xml"/><Relationship Id="rId44" Type="http://schemas.openxmlformats.org/officeDocument/2006/relationships/slide" Target="slide53.xml"/><Relationship Id="rId45" Type="http://schemas.openxmlformats.org/officeDocument/2006/relationships/slide" Target="slide54.xml"/><Relationship Id="rId46" Type="http://schemas.openxmlformats.org/officeDocument/2006/relationships/slide" Target="slide55.xml"/><Relationship Id="rId47" Type="http://schemas.openxmlformats.org/officeDocument/2006/relationships/slide" Target="slide56.xml"/><Relationship Id="rId48" Type="http://schemas.openxmlformats.org/officeDocument/2006/relationships/slide" Target="slide57.xml"/><Relationship Id="rId49" Type="http://schemas.openxmlformats.org/officeDocument/2006/relationships/slide" Target="slide5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27.png"/><Relationship Id="rId5" Type="http://schemas.openxmlformats.org/officeDocument/2006/relationships/image" Target="../media/image30.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29.png"/><Relationship Id="rId9" Type="http://schemas.openxmlformats.org/officeDocument/2006/relationships/image" Target="../media/image32.svg"/><Relationship Id="rId10" Type="http://schemas.openxmlformats.org/officeDocument/2006/relationships/image" Target="../media/image31.png"/><Relationship Id="rId11" Type="http://schemas.openxmlformats.org/officeDocument/2006/relationships/image" Target="../media/image34.svg"/><Relationship Id="rId12" Type="http://schemas.openxmlformats.org/officeDocument/2006/relationships/image" Target="../media/image15.png"/><Relationship Id="rId13" Type="http://schemas.openxmlformats.org/officeDocument/2006/relationships/image" Target="../media/image18.svg"/><Relationship Id="rId1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7.png"/><Relationship Id="rId9" Type="http://schemas.openxmlformats.org/officeDocument/2006/relationships/image" Target="../media/image20.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image" Target="../media/image33.png"/><Relationship Id="rId13" Type="http://schemas.openxmlformats.org/officeDocument/2006/relationships/image" Target="../media/image36.svg"/><Relationship Id="rId1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image" Target="../media/image17.png"/><Relationship Id="rId5" Type="http://schemas.openxmlformats.org/officeDocument/2006/relationships/image" Target="../media/image20.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35.png"/><Relationship Id="rId9" Type="http://schemas.openxmlformats.org/officeDocument/2006/relationships/image" Target="../media/image38.svg"/><Relationship Id="rId10"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chart" Target="../charts/chart1.xml"/><Relationship Id="rId5"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image" Target="../media/image41.png"/><Relationship Id="rId5" Type="http://schemas.openxmlformats.org/officeDocument/2006/relationships/image" Target="../media/image44.svg"/><Relationship Id="rId6"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chart" Target="../charts/chart2.xml"/><Relationship Id="rId5"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image" Target="../media/image43.png"/><Relationship Id="rId13" Type="http://schemas.openxmlformats.org/officeDocument/2006/relationships/image" Target="../media/image46.svg"/><Relationship Id="rId1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1.png"/><Relationship Id="rId7" Type="http://schemas.openxmlformats.org/officeDocument/2006/relationships/image" Target="../media/image24.svg"/><Relationship Id="rId8"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slide" Target="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7.xml"/><Relationship Id="rId4" Type="http://schemas.openxmlformats.org/officeDocument/2006/relationships/slide" Target="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8.xml"/><Relationship Id="rId4" Type="http://schemas.openxmlformats.org/officeDocument/2006/relationships/slide" Target="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9.xml"/><Relationship Id="rId4" Type="http://schemas.openxmlformats.org/officeDocument/2006/relationships/slide" Target="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0.xml"/><Relationship Id="rId4" Type="http://schemas.openxmlformats.org/officeDocument/2006/relationships/slide" Target="slide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1.xml"/><Relationship Id="rId4" Type="http://schemas.openxmlformats.org/officeDocument/2006/relationships/slide" Target="slide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2.xml"/><Relationship Id="rId4" Type="http://schemas.openxmlformats.org/officeDocument/2006/relationships/slide" Target="slide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3.xml"/><Relationship Id="rId4" Type="http://schemas.openxmlformats.org/officeDocument/2006/relationships/image" Target="../media/image45.png"/><Relationship Id="rId5" Type="http://schemas.openxmlformats.org/officeDocument/2006/relationships/hyperlink" Target="https://github.com/upendra25312/AI-Foundry-GTM-offering-/blob/main/architectures/38_foundry-gateway-conceptual-architecture.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4.xml"/><Relationship Id="rId4" Type="http://schemas.openxmlformats.org/officeDocument/2006/relationships/image" Target="../media/image47.png"/><Relationship Id="rId5" Type="http://schemas.openxmlformats.org/officeDocument/2006/relationships/hyperlink" Target="https://github.com/upendra25312/AI-Foundry-GTM-offering-/blob/main/architectures/44_azure-openai-gateway-identity-solution-combined.png" TargetMode="External"/><Relationship Id="rId6" Type="http://schemas.openxmlformats.org/officeDocument/2006/relationships/hyperlink" Target="https://learn.microsoft.com/en-us/azure/architecture/ai-ml/guide/azure-openai-gateway-custom-authentication" TargetMode="External"/><Relationship Id="rId7" Type="http://schemas.openxmlformats.org/officeDocument/2006/relationships/slide" Target="slide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5.xml"/><Relationship Id="rId4" Type="http://schemas.openxmlformats.org/officeDocument/2006/relationships/image" Target="../media/image48.png"/><Relationship Id="rId5" Type="http://schemas.openxmlformats.org/officeDocument/2006/relationships/hyperlink" Target="https://github.com/upendra25312/AI-Foundry-GTM-offering-/blob/main/architectures/20_multiple-regions-api-management-single-after.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6.xml"/><Relationship Id="rId4" Type="http://schemas.openxmlformats.org/officeDocument/2006/relationships/image" Target="../media/image49.png"/><Relationship Id="rId5" Type="http://schemas.openxmlformats.org/officeDocument/2006/relationships/hyperlink" Target="https://github.com/upendra25312/AI-Foundry-GTM-offering-/blob/main/architectures/21_multiple-regions-api-management-multiple-after.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7.xml"/><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slide" Target="slide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8.xml"/><Relationship Id="rId4" Type="http://schemas.openxmlformats.org/officeDocument/2006/relationships/hyperlink" Target="https://learn.microsoft.com/en-us/azure/api-management/genai-gateway-capabilities" TargetMode="External"/><Relationship Id="rId5" Type="http://schemas.openxmlformats.org/officeDocument/2006/relationships/hyperlink" Target="https://learn.microsoft.com/en-us/azure/api-management/llm-token-limit-policy" TargetMode="External"/><Relationship Id="rId6" Type="http://schemas.openxmlformats.org/officeDocument/2006/relationships/hyperlink" Target="https://learn.microsoft.com/en-us/azure/api-management/llm-content-safety-policy" TargetMode="External"/><Relationship Id="rId7" Type="http://schemas.openxmlformats.org/officeDocument/2006/relationships/hyperlink" Target="https://learn.microsoft.com/en-us/azure/api-management/ai-gateway-overview" TargetMode="External"/><Relationship Id="rId8" Type="http://schemas.openxmlformats.org/officeDocument/2006/relationships/hyperlink" Target="https://learn.microsoft.com/en-us/azure/api-management/api-management-features" TargetMode="External"/><Relationship Id="rId9" Type="http://schemas.openxmlformats.org/officeDocument/2006/relationships/hyperlink" Target="https://learn.microsoft.com/en-us/azure/api-management/api-management-region-availability" TargetMode="External"/><Relationship Id="rId10" Type="http://schemas.openxmlformats.org/officeDocument/2006/relationships/hyperlink" Target="https://prices.azure.com/api/retail/prices?$filter=serviceName eq 'API Management' and armRegionName eq 'eastus2'" TargetMode="External"/><Relationship Id="rId11" Type="http://schemas.openxmlformats.org/officeDocument/2006/relationships/hyperlink" Target="https://prices.azure.com/api/retail/prices?$filter=armRegionName eq 'eastus2' and contains(meterName,'5.4')" TargetMode="External"/><Relationship Id="rId12" Type="http://schemas.openxmlformats.org/officeDocument/2006/relationships/hyperlink" Target="https://learn.microsoft.com/en-us/azure/foundry/openai/concepts/provisioned-throughput" TargetMode="External"/><Relationship Id="rId13" Type="http://schemas.openxmlformats.org/officeDocument/2006/relationships/hyperlink" Target="https://prices.azure.com/api/retail/prices?$filter=serviceName eq 'Log Analytics' and armRegionName eq 'eastus2'" TargetMode="External"/><Relationship Id="rId14" Type="http://schemas.openxmlformats.org/officeDocument/2006/relationships/hyperlink" Target="https://learn.microsoft.com/en-us/azure/foundry/openai/concepts/model-retirement-schedule" TargetMode="External"/><Relationship Id="rId15" Type="http://schemas.openxmlformats.org/officeDocument/2006/relationships/hyperlink" Target="https://learn.microsoft.com/en-us/azure/api-center/register-discover-mcp-server" TargetMode="External"/><Relationship Id="rId16" Type="http://schemas.openxmlformats.org/officeDocument/2006/relationships/hyperlink" Target="https://devblogs.microsoft.com/all-things-azure/locking-down-mcp-create-a-private-registry-on-azure-api-center-and-enforce-it-in-github-copilot-and-vs-code/" TargetMode="External"/><Relationship Id="rId17" Type="http://schemas.openxmlformats.org/officeDocument/2006/relationships/hyperlink" Target="https://learn.microsoft.com/en-us/azure/defender-for-cloud/ai-threat-protection" TargetMode="External"/><Relationship Id="rId18" Type="http://schemas.openxmlformats.org/officeDocument/2006/relationships/hyperlink" Target="https://learn.microsoft.com/en-us/purview/ai-microsoft-purview" TargetMode="External"/><Relationship Id="rId19" Type="http://schemas.openxmlformats.org/officeDocument/2006/relationships/hyperlink" Target="https://learn.microsoft.com/en-us/azure/cost-management-billing/costs/tutorial-improved-exports" TargetMode="External"/><Relationship Id="rId20" Type="http://schemas.openxmlformats.org/officeDocument/2006/relationships/hyperlink" Target="https://genai.owasp.org/llm-top-10/" TargetMode="External"/><Relationship Id="rId21" Type="http://schemas.openxmlformats.org/officeDocument/2006/relationships/hyperlink" Target="https://www.orrick.com/en/Insights/2026/07/EU-AI-Act-Update-Digital-Omnibus-Finalizes-8-Compliance-Changes" TargetMode="External"/><Relationship Id="rId22" Type="http://schemas.openxmlformats.org/officeDocument/2006/relationships/hyperlink" Target="https://learn.microsoft.com/en-us/azure/architecture/icons/" TargetMode="External"/><Relationship Id="rId23" Type="http://schemas.openxmlformats.org/officeDocument/2006/relationships/hyperlink" Target="https://az-icons.com/" TargetMode="External"/><Relationship Id="rId24" Type="http://schemas.openxmlformats.org/officeDocument/2006/relationships/hyperlink" Target="https://learn.microsoft.com/en-us/azure/architecture/ai-ml/guide/azure-openai-gateway-guide" TargetMode="External"/><Relationship Id="rId25" Type="http://schemas.openxmlformats.org/officeDocument/2006/relationships/hyperlink" Target="https://learn.microsoft.com/en-us/azure/architecture/ai-ml/guide/azure-openai-gateway-custom-authentication" TargetMode="External"/><Relationship Id="rId26"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Gateway Implementation</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Govern model and tool traffic through one controlled, observable path</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API Management for traffic, API Center for which tools exist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2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PROPOSED OFFERING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02</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 governed AI gateway enforcing tokens, routing, and tool safety</a:t>
            </a:r>
          </a:p>
        </p:txBody>
      </p:sp>
      <p:sp>
        <p:nvSpPr>
          <p:cNvPr id="6" name="Rounded Rectangle 5"/>
          <p:cNvSpPr/>
          <p:nvPr/>
        </p:nvSpPr>
        <p:spPr>
          <a:xfrm>
            <a:off x="731520" y="1280160"/>
            <a:ext cx="10698480" cy="41148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ENTERPRISE APIM EDGE · AZURE API CENTER REGISTRY · ZERO DIRECT ENDPOINT BYPASS</a:t>
            </a:r>
          </a:p>
        </p:txBody>
      </p:sp>
      <p:sp>
        <p:nvSpPr>
          <p:cNvPr id="7" name="Rounded Rectangle 6"/>
          <p:cNvSpPr/>
          <p:nvPr/>
        </p:nvSpPr>
        <p:spPr>
          <a:xfrm>
            <a:off x="7315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3832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57400"/>
            <a:ext cx="502920" cy="502920"/>
          </a:xfrm>
          <a:prstGeom prst="ellipse">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0" name="TextBox 9"/>
          <p:cNvSpPr txBox="1"/>
          <p:nvPr/>
        </p:nvSpPr>
        <p:spPr>
          <a:xfrm>
            <a:off x="1645920" y="2057400"/>
            <a:ext cx="2194560" cy="228600"/>
          </a:xfrm>
          <a:prstGeom prst="rect">
            <a:avLst/>
          </a:prstGeom>
          <a:noFill/>
        </p:spPr>
        <p:txBody>
          <a:bodyPr wrap="none">
            <a:spAutoFit/>
          </a:bodyPr>
          <a:lstStyle/>
          <a:p>
            <a:pPr>
              <a:defRPr sz="900" b="1">
                <a:solidFill>
                  <a:srgbClr val="D83B01"/>
                </a:solidFill>
              </a:defRPr>
            </a:pPr>
            <a:r>
              <a:t>ENTERPRISE BLOCKER</a:t>
            </a:r>
          </a:p>
        </p:txBody>
      </p:sp>
      <p:sp>
        <p:nvSpPr>
          <p:cNvPr id="11" name="TextBox 10"/>
          <p:cNvSpPr txBox="1"/>
          <p:nvPr/>
        </p:nvSpPr>
        <p:spPr>
          <a:xfrm>
            <a:off x="1005840" y="2651760"/>
            <a:ext cx="2834640" cy="365760"/>
          </a:xfrm>
          <a:prstGeom prst="rect">
            <a:avLst/>
          </a:prstGeom>
          <a:noFill/>
        </p:spPr>
        <p:txBody>
          <a:bodyPr wrap="none">
            <a:spAutoFit/>
          </a:bodyPr>
          <a:lstStyle/>
          <a:p>
            <a:pPr>
              <a:defRPr sz="1800" b="1">
                <a:solidFill>
                  <a:srgbClr val="0A192F"/>
                </a:solidFill>
              </a:defRPr>
            </a:pPr>
            <a:r>
              <a:t>Direct Model Bypass</a:t>
            </a:r>
          </a:p>
        </p:txBody>
      </p:sp>
      <p:sp>
        <p:nvSpPr>
          <p:cNvPr id="12" name="TextBox 11"/>
          <p:cNvSpPr txBox="1"/>
          <p:nvPr/>
        </p:nvSpPr>
        <p:spPr>
          <a:xfrm>
            <a:off x="1005840" y="3017520"/>
            <a:ext cx="2834640" cy="411480"/>
          </a:xfrm>
          <a:prstGeom prst="rect">
            <a:avLst/>
          </a:prstGeom>
          <a:noFill/>
        </p:spPr>
        <p:txBody>
          <a:bodyPr wrap="none">
            <a:spAutoFit/>
          </a:bodyPr>
          <a:lstStyle/>
          <a:p>
            <a:pPr>
              <a:defRPr sz="2000" b="1">
                <a:solidFill>
                  <a:srgbClr val="D83B01"/>
                </a:solidFill>
              </a:defRPr>
            </a:pPr>
            <a:r>
              <a:t>Ungoverned Calls</a:t>
            </a:r>
          </a:p>
        </p:txBody>
      </p:sp>
      <p:sp>
        <p:nvSpPr>
          <p:cNvPr id="13" name="TextBox 12"/>
          <p:cNvSpPr txBox="1"/>
          <p:nvPr/>
        </p:nvSpPr>
        <p:spPr>
          <a:xfrm>
            <a:off x="1005840" y="3520440"/>
            <a:ext cx="2834640" cy="1645920"/>
          </a:xfrm>
          <a:prstGeom prst="rect">
            <a:avLst/>
          </a:prstGeom>
          <a:noFill/>
        </p:spPr>
        <p:txBody>
          <a:bodyPr wrap="square">
            <a:spAutoFit/>
          </a:bodyPr>
          <a:lstStyle/>
          <a:p>
            <a:pPr>
              <a:spcAft>
                <a:spcPts val="800"/>
              </a:spcAft>
              <a:defRPr sz="1200">
                <a:solidFill>
                  <a:srgbClr val="0F172A"/>
                </a:solidFill>
              </a:defRPr>
            </a:pPr>
            <a:r>
              <a:t>• Apps and agents call models directly with hardcoded API keys.</a:t>
            </a:r>
          </a:p>
          <a:p>
            <a:pPr>
              <a:spcAft>
                <a:spcPts val="800"/>
              </a:spcAft>
              <a:defRPr sz="1200">
                <a:solidFill>
                  <a:srgbClr val="0F172A"/>
                </a:solidFill>
              </a:defRPr>
            </a:pPr>
            <a:r>
              <a:t>• Zero rate limiting, no quota controls, and unpredicted token cost spikes.</a:t>
            </a:r>
          </a:p>
        </p:txBody>
      </p:sp>
      <p:sp>
        <p:nvSpPr>
          <p:cNvPr id="14" name="Rounded Rectangle 13"/>
          <p:cNvSpPr/>
          <p:nvPr/>
        </p:nvSpPr>
        <p:spPr>
          <a:xfrm>
            <a:off x="43891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288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63440" y="2057400"/>
            <a:ext cx="502920" cy="50292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7" name="TextBox 16"/>
          <p:cNvSpPr txBox="1"/>
          <p:nvPr/>
        </p:nvSpPr>
        <p:spPr>
          <a:xfrm>
            <a:off x="5303520" y="2057400"/>
            <a:ext cx="2194560" cy="228600"/>
          </a:xfrm>
          <a:prstGeom prst="rect">
            <a:avLst/>
          </a:prstGeom>
          <a:noFill/>
        </p:spPr>
        <p:txBody>
          <a:bodyPr wrap="none">
            <a:spAutoFit/>
          </a:bodyPr>
          <a:lstStyle/>
          <a:p>
            <a:pPr>
              <a:defRPr sz="900" b="1">
                <a:solidFill>
                  <a:srgbClr val="0078D4"/>
                </a:solidFill>
              </a:defRPr>
            </a:pPr>
            <a:r>
              <a:t>WHAT CIS INFRA DELIVERS</a:t>
            </a:r>
          </a:p>
        </p:txBody>
      </p:sp>
      <p:sp>
        <p:nvSpPr>
          <p:cNvPr id="18" name="TextBox 17"/>
          <p:cNvSpPr txBox="1"/>
          <p:nvPr/>
        </p:nvSpPr>
        <p:spPr>
          <a:xfrm>
            <a:off x="4663440" y="2651760"/>
            <a:ext cx="2834640" cy="365760"/>
          </a:xfrm>
          <a:prstGeom prst="rect">
            <a:avLst/>
          </a:prstGeom>
          <a:noFill/>
        </p:spPr>
        <p:txBody>
          <a:bodyPr wrap="none">
            <a:spAutoFit/>
          </a:bodyPr>
          <a:lstStyle/>
          <a:p>
            <a:pPr>
              <a:defRPr sz="1800" b="1">
                <a:solidFill>
                  <a:srgbClr val="0A192F"/>
                </a:solidFill>
              </a:defRPr>
            </a:pPr>
            <a:r>
              <a:t>Governed Gateway</a:t>
            </a:r>
          </a:p>
        </p:txBody>
      </p:sp>
      <p:sp>
        <p:nvSpPr>
          <p:cNvPr id="19" name="TextBox 18"/>
          <p:cNvSpPr txBox="1"/>
          <p:nvPr/>
        </p:nvSpPr>
        <p:spPr>
          <a:xfrm>
            <a:off x="4663440" y="3017520"/>
            <a:ext cx="2834640" cy="411480"/>
          </a:xfrm>
          <a:prstGeom prst="rect">
            <a:avLst/>
          </a:prstGeom>
          <a:noFill/>
        </p:spPr>
        <p:txBody>
          <a:bodyPr wrap="none">
            <a:spAutoFit/>
          </a:bodyPr>
          <a:lstStyle/>
          <a:p>
            <a:pPr>
              <a:defRPr sz="2000" b="1">
                <a:solidFill>
                  <a:srgbClr val="0078D4"/>
                </a:solidFill>
              </a:defRPr>
            </a:pPr>
            <a:r>
              <a:t>APIM + API Center</a:t>
            </a:r>
          </a:p>
        </p:txBody>
      </p:sp>
      <p:sp>
        <p:nvSpPr>
          <p:cNvPr id="20" name="TextBox 19"/>
          <p:cNvSpPr txBox="1"/>
          <p:nvPr/>
        </p:nvSpPr>
        <p:spPr>
          <a:xfrm>
            <a:off x="4663440" y="3520440"/>
            <a:ext cx="2834640" cy="1645920"/>
          </a:xfrm>
          <a:prstGeom prst="rect">
            <a:avLst/>
          </a:prstGeom>
          <a:noFill/>
        </p:spPr>
        <p:txBody>
          <a:bodyPr wrap="square">
            <a:spAutoFit/>
          </a:bodyPr>
          <a:lstStyle/>
          <a:p>
            <a:pPr>
              <a:spcAft>
                <a:spcPts val="800"/>
              </a:spcAft>
              <a:defRPr sz="1200">
                <a:solidFill>
                  <a:srgbClr val="0F172A"/>
                </a:solidFill>
              </a:defRPr>
            </a:pPr>
            <a:r>
              <a:t>• Azure API Management deployed in private VNet with token rate limiting.</a:t>
            </a:r>
          </a:p>
          <a:p>
            <a:pPr>
              <a:spcAft>
                <a:spcPts val="800"/>
              </a:spcAft>
              <a:defRPr sz="1200">
                <a:solidFill>
                  <a:srgbClr val="0F172A"/>
                </a:solidFill>
              </a:defRPr>
            </a:pPr>
            <a:r>
              <a:t>• Integrated API Center registry allowing only approved tools and MCP servers.</a:t>
            </a:r>
          </a:p>
        </p:txBody>
      </p:sp>
      <p:sp>
        <p:nvSpPr>
          <p:cNvPr id="21" name="Rounded Rectangle 20"/>
          <p:cNvSpPr/>
          <p:nvPr/>
        </p:nvSpPr>
        <p:spPr>
          <a:xfrm>
            <a:off x="80467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182880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21040" y="2057400"/>
            <a:ext cx="502920" cy="502920"/>
          </a:xfrm>
          <a:prstGeom prst="ellipse">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4" name="TextBox 23"/>
          <p:cNvSpPr txBox="1"/>
          <p:nvPr/>
        </p:nvSpPr>
        <p:spPr>
          <a:xfrm>
            <a:off x="8961120" y="2057400"/>
            <a:ext cx="2194560" cy="228600"/>
          </a:xfrm>
          <a:prstGeom prst="rect">
            <a:avLst/>
          </a:prstGeom>
          <a:noFill/>
        </p:spPr>
        <p:txBody>
          <a:bodyPr wrap="none">
            <a:spAutoFit/>
          </a:bodyPr>
          <a:lstStyle/>
          <a:p>
            <a:pPr>
              <a:defRPr sz="900" b="1">
                <a:solidFill>
                  <a:srgbClr val="00A389"/>
                </a:solidFill>
              </a:defRPr>
            </a:pPr>
            <a:r>
              <a:t>MEASURABLE OUTCOME</a:t>
            </a:r>
          </a:p>
        </p:txBody>
      </p:sp>
      <p:sp>
        <p:nvSpPr>
          <p:cNvPr id="25" name="TextBox 24"/>
          <p:cNvSpPr txBox="1"/>
          <p:nvPr/>
        </p:nvSpPr>
        <p:spPr>
          <a:xfrm>
            <a:off x="8321040" y="2651760"/>
            <a:ext cx="2834640" cy="365760"/>
          </a:xfrm>
          <a:prstGeom prst="rect">
            <a:avLst/>
          </a:prstGeom>
          <a:noFill/>
        </p:spPr>
        <p:txBody>
          <a:bodyPr wrap="none">
            <a:spAutoFit/>
          </a:bodyPr>
          <a:lstStyle/>
          <a:p>
            <a:pPr>
              <a:defRPr sz="1800" b="1">
                <a:solidFill>
                  <a:srgbClr val="0A192F"/>
                </a:solidFill>
              </a:defRPr>
            </a:pPr>
            <a:r>
              <a:t>Total Governance</a:t>
            </a:r>
          </a:p>
        </p:txBody>
      </p:sp>
      <p:sp>
        <p:nvSpPr>
          <p:cNvPr id="26" name="TextBox 25"/>
          <p:cNvSpPr txBox="1"/>
          <p:nvPr/>
        </p:nvSpPr>
        <p:spPr>
          <a:xfrm>
            <a:off x="8321040" y="3017520"/>
            <a:ext cx="2834640" cy="411480"/>
          </a:xfrm>
          <a:prstGeom prst="rect">
            <a:avLst/>
          </a:prstGeom>
          <a:noFill/>
        </p:spPr>
        <p:txBody>
          <a:bodyPr wrap="none">
            <a:spAutoFit/>
          </a:bodyPr>
          <a:lstStyle/>
          <a:p>
            <a:pPr>
              <a:defRPr sz="2000" b="1">
                <a:solidFill>
                  <a:srgbClr val="00A389"/>
                </a:solidFill>
              </a:defRPr>
            </a:pPr>
            <a:r>
              <a:t>100% Attribution</a:t>
            </a:r>
          </a:p>
        </p:txBody>
      </p:sp>
      <p:sp>
        <p:nvSpPr>
          <p:cNvPr id="27" name="TextBox 26"/>
          <p:cNvSpPr txBox="1"/>
          <p:nvPr/>
        </p:nvSpPr>
        <p:spPr>
          <a:xfrm>
            <a:off x="8321040" y="3520440"/>
            <a:ext cx="2834640" cy="1645920"/>
          </a:xfrm>
          <a:prstGeom prst="rect">
            <a:avLst/>
          </a:prstGeom>
          <a:noFill/>
        </p:spPr>
        <p:txBody>
          <a:bodyPr wrap="square">
            <a:spAutoFit/>
          </a:bodyPr>
          <a:lstStyle/>
          <a:p>
            <a:pPr>
              <a:spcAft>
                <a:spcPts val="800"/>
              </a:spcAft>
              <a:defRPr sz="1200">
                <a:solidFill>
                  <a:srgbClr val="0F172A"/>
                </a:solidFill>
              </a:defRPr>
            </a:pPr>
            <a:r>
              <a:t>• Every AI call authenticated via Entra ID and metered per department.</a:t>
            </a:r>
          </a:p>
          <a:p>
            <a:pPr>
              <a:spcAft>
                <a:spcPts val="800"/>
              </a:spcAft>
              <a:defRPr sz="1200">
                <a:solidFill>
                  <a:srgbClr val="0F172A"/>
                </a:solidFill>
              </a:defRPr>
            </a:pPr>
            <a:r>
              <a:t>• Intelligent failover routing across gpt-4o and gpt-5.4 with sub-10ms overhead.</a:t>
            </a:r>
          </a:p>
        </p:txBody>
      </p:sp>
      <p:sp>
        <p:nvSpPr>
          <p:cNvPr id="28" name="Rounded Rectangle 27"/>
          <p:cNvSpPr/>
          <p:nvPr/>
        </p:nvSpPr>
        <p:spPr>
          <a:xfrm>
            <a:off x="731520" y="5532120"/>
            <a:ext cx="10698480" cy="68580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23560"/>
            <a:ext cx="10332720" cy="502920"/>
          </a:xfrm>
          <a:prstGeom prst="rect">
            <a:avLst/>
          </a:prstGeom>
          <a:noFill/>
        </p:spPr>
        <p:txBody>
          <a:bodyPr wrap="square">
            <a:spAutoFit/>
          </a:bodyPr>
          <a:lstStyle/>
          <a:p>
            <a:r>
              <a:rPr b="1" sz="1200">
                <a:solidFill>
                  <a:srgbClr val="0078D4"/>
                </a:solidFill>
              </a:rPr>
              <a:t>DECISION REQUESTED: </a:t>
            </a:r>
            <a:r>
              <a:rPr sz="1200" b="1">
                <a:solidFill>
                  <a:srgbClr val="0A192F"/>
                </a:solidFill>
              </a:rPr>
              <a:t>Adopt GA API Management tiers for production workloads and mandate Azure API Center as the corporate tool allow-list.</a:t>
            </a:r>
          </a:p>
        </p:txBody>
      </p:sp>
      <p:sp>
        <p:nvSpPr>
          <p:cNvPr id="30" name="TextBox 2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Gateway Implementation · Working proposal for senior leadership review · Slide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3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MARKET DEMAND &amp; TRIGGERS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03</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Direct model calls bypass quotas, logging, and safety filters</a:t>
            </a:r>
          </a:p>
        </p:txBody>
      </p:sp>
      <p:sp>
        <p:nvSpPr>
          <p:cNvPr id="6" name="Rounded Rectangle 5"/>
          <p:cNvSpPr/>
          <p:nvPr/>
        </p:nvSpPr>
        <p:spPr>
          <a:xfrm>
            <a:off x="7315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2926080" cy="548640"/>
          </a:xfrm>
          <a:prstGeom prst="rect">
            <a:avLst/>
          </a:prstGeom>
          <a:noFill/>
        </p:spPr>
        <p:txBody>
          <a:bodyPr wrap="none">
            <a:spAutoFit/>
          </a:bodyPr>
          <a:lstStyle/>
          <a:p>
            <a:pPr>
              <a:defRPr sz="3200" b="1">
                <a:solidFill>
                  <a:srgbClr val="0078D4"/>
                </a:solidFill>
              </a:defRPr>
            </a:pPr>
            <a:r>
              <a:t>MCP Standard</a:t>
            </a:r>
          </a:p>
        </p:txBody>
      </p:sp>
      <p:sp>
        <p:nvSpPr>
          <p:cNvPr id="9" name="TextBox 8"/>
          <p:cNvSpPr txBox="1"/>
          <p:nvPr/>
        </p:nvSpPr>
        <p:spPr>
          <a:xfrm>
            <a:off x="960120" y="2148840"/>
            <a:ext cx="2926080" cy="320040"/>
          </a:xfrm>
          <a:prstGeom prst="rect">
            <a:avLst/>
          </a:prstGeom>
          <a:noFill/>
        </p:spPr>
        <p:txBody>
          <a:bodyPr wrap="none">
            <a:spAutoFit/>
          </a:bodyPr>
          <a:lstStyle/>
          <a:p>
            <a:pPr>
              <a:defRPr sz="1500" b="1">
                <a:solidFill>
                  <a:srgbClr val="0A192F"/>
                </a:solidFill>
              </a:defRPr>
            </a:pPr>
            <a:r>
              <a:t>Tool Sprawl via MCP</a:t>
            </a:r>
          </a:p>
        </p:txBody>
      </p:sp>
      <p:sp>
        <p:nvSpPr>
          <p:cNvPr id="10" name="TextBox 9"/>
          <p:cNvSpPr txBox="1"/>
          <p:nvPr/>
        </p:nvSpPr>
        <p:spPr>
          <a:xfrm>
            <a:off x="960120" y="2514600"/>
            <a:ext cx="2926080" cy="914400"/>
          </a:xfrm>
          <a:prstGeom prst="rect">
            <a:avLst/>
          </a:prstGeom>
          <a:noFill/>
        </p:spPr>
        <p:txBody>
          <a:bodyPr wrap="square">
            <a:spAutoFit/>
          </a:bodyPr>
          <a:lstStyle/>
          <a:p>
            <a:pPr>
              <a:defRPr sz="1100">
                <a:solidFill>
                  <a:srgbClr val="0F172A"/>
                </a:solidFill>
              </a:defRPr>
            </a:pPr>
            <a:r>
              <a:t>Agents call external tools via Model Context Protocol (MCP); API Center validates and registers approved tool contracts.</a:t>
            </a:r>
          </a:p>
        </p:txBody>
      </p:sp>
      <p:sp>
        <p:nvSpPr>
          <p:cNvPr id="11" name="Rounded Rectangle 10"/>
          <p:cNvSpPr/>
          <p:nvPr/>
        </p:nvSpPr>
        <p:spPr>
          <a:xfrm>
            <a:off x="43891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371600"/>
            <a:ext cx="33832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554480"/>
            <a:ext cx="2926080" cy="548640"/>
          </a:xfrm>
          <a:prstGeom prst="rect">
            <a:avLst/>
          </a:prstGeom>
          <a:noFill/>
        </p:spPr>
        <p:txBody>
          <a:bodyPr wrap="none">
            <a:spAutoFit/>
          </a:bodyPr>
          <a:lstStyle/>
          <a:p>
            <a:pPr>
              <a:defRPr sz="3200" b="1">
                <a:solidFill>
                  <a:srgbClr val="00A389"/>
                </a:solidFill>
              </a:defRPr>
            </a:pPr>
            <a:r>
              <a:t>gpt-5.4 GA</a:t>
            </a:r>
          </a:p>
        </p:txBody>
      </p:sp>
      <p:sp>
        <p:nvSpPr>
          <p:cNvPr id="14" name="TextBox 13"/>
          <p:cNvSpPr txBox="1"/>
          <p:nvPr/>
        </p:nvSpPr>
        <p:spPr>
          <a:xfrm>
            <a:off x="4617720" y="2148840"/>
            <a:ext cx="2926080" cy="320040"/>
          </a:xfrm>
          <a:prstGeom prst="rect">
            <a:avLst/>
          </a:prstGeom>
          <a:noFill/>
        </p:spPr>
        <p:txBody>
          <a:bodyPr wrap="none">
            <a:spAutoFit/>
          </a:bodyPr>
          <a:lstStyle/>
          <a:p>
            <a:pPr>
              <a:defRPr sz="1500" b="1">
                <a:solidFill>
                  <a:srgbClr val="0A192F"/>
                </a:solidFill>
              </a:defRPr>
            </a:pPr>
            <a:r>
              <a:t>Model Lifecycle Churn</a:t>
            </a:r>
          </a:p>
        </p:txBody>
      </p:sp>
      <p:sp>
        <p:nvSpPr>
          <p:cNvPr id="15" name="TextBox 14"/>
          <p:cNvSpPr txBox="1"/>
          <p:nvPr/>
        </p:nvSpPr>
        <p:spPr>
          <a:xfrm>
            <a:off x="4617720" y="2514600"/>
            <a:ext cx="2926080" cy="914400"/>
          </a:xfrm>
          <a:prstGeom prst="rect">
            <a:avLst/>
          </a:prstGeom>
          <a:noFill/>
        </p:spPr>
        <p:txBody>
          <a:bodyPr wrap="square">
            <a:spAutoFit/>
          </a:bodyPr>
          <a:lstStyle/>
          <a:p>
            <a:pPr>
              <a:defRPr sz="1100">
                <a:solidFill>
                  <a:srgbClr val="0F172A"/>
                </a:solidFill>
              </a:defRPr>
            </a:pPr>
            <a:r>
              <a:t>gpt-5.4 is GA while older models retire; intelligent gateway routes traffic dynamically without application code changes.</a:t>
            </a:r>
          </a:p>
        </p:txBody>
      </p:sp>
      <p:sp>
        <p:nvSpPr>
          <p:cNvPr id="16" name="Rounded Rectangle 15"/>
          <p:cNvSpPr/>
          <p:nvPr/>
        </p:nvSpPr>
        <p:spPr>
          <a:xfrm>
            <a:off x="80467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54864"/>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554480"/>
            <a:ext cx="2926080" cy="548640"/>
          </a:xfrm>
          <a:prstGeom prst="rect">
            <a:avLst/>
          </a:prstGeom>
          <a:noFill/>
        </p:spPr>
        <p:txBody>
          <a:bodyPr wrap="none">
            <a:spAutoFit/>
          </a:bodyPr>
          <a:lstStyle/>
          <a:p>
            <a:pPr>
              <a:defRPr sz="3200" b="1">
                <a:solidFill>
                  <a:srgbClr val="D83B01"/>
                </a:solidFill>
              </a:defRPr>
            </a:pPr>
            <a:r>
              <a:t>100%</a:t>
            </a:r>
          </a:p>
        </p:txBody>
      </p:sp>
      <p:sp>
        <p:nvSpPr>
          <p:cNvPr id="19" name="TextBox 18"/>
          <p:cNvSpPr txBox="1"/>
          <p:nvPr/>
        </p:nvSpPr>
        <p:spPr>
          <a:xfrm>
            <a:off x="8275320" y="2148840"/>
            <a:ext cx="2926080" cy="320040"/>
          </a:xfrm>
          <a:prstGeom prst="rect">
            <a:avLst/>
          </a:prstGeom>
          <a:noFill/>
        </p:spPr>
        <p:txBody>
          <a:bodyPr wrap="none">
            <a:spAutoFit/>
          </a:bodyPr>
          <a:lstStyle/>
          <a:p>
            <a:pPr>
              <a:defRPr sz="1500" b="1">
                <a:solidFill>
                  <a:srgbClr val="0A192F"/>
                </a:solidFill>
              </a:defRPr>
            </a:pPr>
            <a:r>
              <a:t>Security &amp; DLP Shield</a:t>
            </a:r>
          </a:p>
        </p:txBody>
      </p:sp>
      <p:sp>
        <p:nvSpPr>
          <p:cNvPr id="20" name="TextBox 19"/>
          <p:cNvSpPr txBox="1"/>
          <p:nvPr/>
        </p:nvSpPr>
        <p:spPr>
          <a:xfrm>
            <a:off x="8275320" y="2514600"/>
            <a:ext cx="2926080" cy="914400"/>
          </a:xfrm>
          <a:prstGeom prst="rect">
            <a:avLst/>
          </a:prstGeom>
          <a:noFill/>
        </p:spPr>
        <p:txBody>
          <a:bodyPr wrap="square">
            <a:spAutoFit/>
          </a:bodyPr>
          <a:lstStyle/>
          <a:p>
            <a:pPr>
              <a:defRPr sz="1100">
                <a:solidFill>
                  <a:srgbClr val="0F172A"/>
                </a:solidFill>
              </a:defRPr>
            </a:pPr>
            <a:r>
              <a:t>Defender for Cloud and Content Safety enforce prompt shields and prevent data leakage on all incoming and outgoing model calls.</a:t>
            </a:r>
          </a:p>
        </p:txBody>
      </p:sp>
      <p:sp>
        <p:nvSpPr>
          <p:cNvPr id="21" name="Rounded Rectangle 20"/>
          <p:cNvSpPr/>
          <p:nvPr/>
        </p:nvSpPr>
        <p:spPr>
          <a:xfrm>
            <a:off x="731520" y="3749039"/>
            <a:ext cx="10698480"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931920"/>
            <a:ext cx="4846320" cy="2103120"/>
          </a:xfrm>
          <a:prstGeom prst="rect">
            <a:avLst/>
          </a:prstGeom>
          <a:noFill/>
        </p:spPr>
        <p:txBody>
          <a:bodyPr wrap="square">
            <a:spAutoFit/>
          </a:bodyPr>
          <a:lstStyle/>
          <a:p>
            <a:pPr>
              <a:spcAft>
                <a:spcPts val="600"/>
              </a:spcAft>
              <a:defRPr sz="1300" b="1">
                <a:solidFill>
                  <a:srgbClr val="0A192F"/>
                </a:solidFill>
              </a:defRPr>
            </a:pPr>
            <a:r>
              <a:t>THE ECONOMIC BUYER</a:t>
            </a:r>
          </a:p>
          <a:p>
            <a:pPr>
              <a:spcAft>
                <a:spcPts val="400"/>
              </a:spcAft>
              <a:defRPr sz="1100">
                <a:solidFill>
                  <a:srgbClr val="0F172A"/>
                </a:solidFill>
              </a:defRPr>
            </a:pPr>
            <a:r>
              <a:t>• Primary Buyer: Cloud Platform or API Product Owner.</a:t>
            </a:r>
          </a:p>
          <a:p>
            <a:pPr>
              <a:spcAft>
                <a:spcPts val="400"/>
              </a:spcAft>
              <a:defRPr sz="1100">
                <a:solidFill>
                  <a:srgbClr val="0F172A"/>
                </a:solidFill>
              </a:defRPr>
            </a:pPr>
            <a:r>
              <a:t>• Key Stakeholders: FinOps Lead (token costs) and CISO Security Delegate (prompt shields).</a:t>
            </a:r>
          </a:p>
          <a:p>
            <a:pPr>
              <a:spcAft>
                <a:spcPts val="400"/>
              </a:spcAft>
              <a:defRPr sz="1100">
                <a:solidFill>
                  <a:srgbClr val="0F172A"/>
                </a:solidFill>
              </a:defRPr>
            </a:pPr>
            <a:r>
              <a:t>• Strategic Partner: Enterprise AI Platform Leader managing model capacity.</a:t>
            </a:r>
          </a:p>
        </p:txBody>
      </p:sp>
      <p:sp>
        <p:nvSpPr>
          <p:cNvPr id="23" name="Rectangle 22"/>
          <p:cNvSpPr/>
          <p:nvPr/>
        </p:nvSpPr>
        <p:spPr>
          <a:xfrm>
            <a:off x="6035040" y="3931920"/>
            <a:ext cx="18288" cy="2103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931920"/>
            <a:ext cx="4846320" cy="2103120"/>
          </a:xfrm>
          <a:prstGeom prst="rect">
            <a:avLst/>
          </a:prstGeom>
          <a:noFill/>
        </p:spPr>
        <p:txBody>
          <a:bodyPr wrap="square">
            <a:spAutoFit/>
          </a:bodyPr>
          <a:lstStyle/>
          <a:p>
            <a:pPr>
              <a:spcAft>
                <a:spcPts val="600"/>
              </a:spcAft>
              <a:defRPr sz="1300" b="1">
                <a:solidFill>
                  <a:srgbClr val="0078D4"/>
                </a:solidFill>
              </a:defRPr>
            </a:pPr>
            <a:r>
              <a:t>THE BUYING TRIGGERS</a:t>
            </a:r>
          </a:p>
          <a:p>
            <a:pPr>
              <a:spcAft>
                <a:spcPts val="400"/>
              </a:spcAft>
              <a:defRPr sz="1100">
                <a:solidFill>
                  <a:srgbClr val="0F172A"/>
                </a:solidFill>
              </a:defRPr>
            </a:pPr>
            <a:r>
              <a:t>• Multiple application teams requesting direct Azure OpenAI API keys with no usage visibility.</a:t>
            </a:r>
          </a:p>
          <a:p>
            <a:pPr>
              <a:spcAft>
                <a:spcPts val="400"/>
              </a:spcAft>
              <a:defRPr sz="1100">
                <a:solidFill>
                  <a:srgbClr val="0F172A"/>
                </a:solidFill>
              </a:defRPr>
            </a:pPr>
            <a:r>
              <a:t>• Unexpected token spending spikes and surprise monthly Azure invoices.</a:t>
            </a:r>
          </a:p>
          <a:p>
            <a:pPr>
              <a:spcAft>
                <a:spcPts val="400"/>
              </a:spcAft>
              <a:defRPr sz="1100">
                <a:solidFill>
                  <a:srgbClr val="0F172A"/>
                </a:solidFill>
              </a:defRPr>
            </a:pPr>
            <a:r>
              <a:t>• Production API throttling errors during peak traffic periods due to lack of load balancing.</a:t>
            </a:r>
          </a:p>
        </p:txBody>
      </p:sp>
      <p:sp>
        <p:nvSpPr>
          <p:cNvPr id="25" name="TextBox 24"/>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Gateway Implementation · Working proposal for senior leadership review · Slide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4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PORTFOLIO FIT &amp; ADJACENCY</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04</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Offering 03 controls traffic between workloads and AI endpoints</a:t>
            </a:r>
          </a:p>
        </p:txBody>
      </p:sp>
      <p:sp>
        <p:nvSpPr>
          <p:cNvPr id="6" name="Rounded Rectangle 5"/>
          <p:cNvSpPr/>
          <p:nvPr/>
        </p:nvSpPr>
        <p:spPr>
          <a:xfrm>
            <a:off x="731520" y="1371600"/>
            <a:ext cx="2377440" cy="2926080"/>
          </a:xfrm>
          <a:prstGeom prst="roundRect">
            <a:avLst/>
          </a:prstGeom>
          <a:solidFill>
            <a:srgbClr val="FFFFFF"/>
          </a:solidFill>
          <a:ln w="1270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37744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011680" cy="320040"/>
          </a:xfrm>
          <a:prstGeom prst="rect">
            <a:avLst/>
          </a:prstGeom>
          <a:noFill/>
        </p:spPr>
        <p:txBody>
          <a:bodyPr wrap="none">
            <a:spAutoFit/>
          </a:bodyPr>
          <a:lstStyle/>
          <a:p>
            <a:pPr>
              <a:defRPr sz="1000" b="1">
                <a:solidFill>
                  <a:srgbClr val="0A192F"/>
                </a:solidFill>
              </a:defRPr>
            </a:pPr>
            <a:r>
              <a:t>01 · FOUNDATION INPUT</a:t>
            </a:r>
          </a:p>
        </p:txBody>
      </p:sp>
      <p:sp>
        <p:nvSpPr>
          <p:cNvPr id="9" name="TextBox 8"/>
          <p:cNvSpPr txBox="1"/>
          <p:nvPr/>
        </p:nvSpPr>
        <p:spPr>
          <a:xfrm>
            <a:off x="914400" y="1965960"/>
            <a:ext cx="2011680" cy="502920"/>
          </a:xfrm>
          <a:prstGeom prst="rect">
            <a:avLst/>
          </a:prstGeom>
          <a:noFill/>
        </p:spPr>
        <p:txBody>
          <a:bodyPr wrap="square">
            <a:spAutoFit/>
          </a:bodyPr>
          <a:lstStyle/>
          <a:p>
            <a:pPr>
              <a:defRPr sz="1600" b="1">
                <a:solidFill>
                  <a:srgbClr val="0A192F"/>
                </a:solidFill>
              </a:defRPr>
            </a:pPr>
            <a:r>
              <a:t>Landing Zone</a:t>
            </a:r>
          </a:p>
        </p:txBody>
      </p:sp>
      <p:sp>
        <p:nvSpPr>
          <p:cNvPr id="10" name="TextBox 9"/>
          <p:cNvSpPr txBox="1"/>
          <p:nvPr/>
        </p:nvSpPr>
        <p:spPr>
          <a:xfrm>
            <a:off x="914400" y="2560320"/>
            <a:ext cx="2011680" cy="1554480"/>
          </a:xfrm>
          <a:prstGeom prst="rect">
            <a:avLst/>
          </a:prstGeom>
          <a:noFill/>
        </p:spPr>
        <p:txBody>
          <a:bodyPr wrap="square">
            <a:spAutoFit/>
          </a:bodyPr>
          <a:lstStyle/>
          <a:p>
            <a:pPr>
              <a:defRPr sz="1100">
                <a:solidFill>
                  <a:srgbClr val="0F172A"/>
                </a:solidFill>
              </a:defRPr>
            </a:pPr>
            <a:r>
              <a:t>Supplies private VNet, hub DNS resolution, and managed identities.</a:t>
            </a:r>
          </a:p>
        </p:txBody>
      </p:sp>
      <p:sp>
        <p:nvSpPr>
          <p:cNvPr id="11" name="Rounded Rectangle 10"/>
          <p:cNvSpPr/>
          <p:nvPr/>
        </p:nvSpPr>
        <p:spPr>
          <a:xfrm>
            <a:off x="3474720" y="1371600"/>
            <a:ext cx="2377440" cy="2926080"/>
          </a:xfrm>
          <a:prstGeom prst="roundRect">
            <a:avLst/>
          </a:prstGeom>
          <a:solidFill>
            <a:srgbClr val="FFFFFF"/>
          </a:solidFill>
          <a:ln w="1270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371600"/>
            <a:ext cx="237744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600200"/>
            <a:ext cx="2011680" cy="320040"/>
          </a:xfrm>
          <a:prstGeom prst="rect">
            <a:avLst/>
          </a:prstGeom>
          <a:noFill/>
        </p:spPr>
        <p:txBody>
          <a:bodyPr wrap="none">
            <a:spAutoFit/>
          </a:bodyPr>
          <a:lstStyle/>
          <a:p>
            <a:pPr>
              <a:defRPr sz="1000" b="1">
                <a:solidFill>
                  <a:srgbClr val="0A192F"/>
                </a:solidFill>
              </a:defRPr>
            </a:pPr>
            <a:r>
              <a:t>04 · CAPACITY INPUT</a:t>
            </a:r>
          </a:p>
        </p:txBody>
      </p:sp>
      <p:sp>
        <p:nvSpPr>
          <p:cNvPr id="14" name="TextBox 13"/>
          <p:cNvSpPr txBox="1"/>
          <p:nvPr/>
        </p:nvSpPr>
        <p:spPr>
          <a:xfrm>
            <a:off x="3657600" y="1965960"/>
            <a:ext cx="2011680" cy="502920"/>
          </a:xfrm>
          <a:prstGeom prst="rect">
            <a:avLst/>
          </a:prstGeom>
          <a:noFill/>
        </p:spPr>
        <p:txBody>
          <a:bodyPr wrap="square">
            <a:spAutoFit/>
          </a:bodyPr>
          <a:lstStyle/>
          <a:p>
            <a:pPr>
              <a:defRPr sz="1600" b="1">
                <a:solidFill>
                  <a:srgbClr val="0A192F"/>
                </a:solidFill>
              </a:defRPr>
            </a:pPr>
            <a:r>
              <a:t>FinOps Assessment</a:t>
            </a:r>
          </a:p>
        </p:txBody>
      </p:sp>
      <p:sp>
        <p:nvSpPr>
          <p:cNvPr id="15" name="TextBox 14"/>
          <p:cNvSpPr txBox="1"/>
          <p:nvPr/>
        </p:nvSpPr>
        <p:spPr>
          <a:xfrm>
            <a:off x="3657600" y="2560320"/>
            <a:ext cx="2011680" cy="1554480"/>
          </a:xfrm>
          <a:prstGeom prst="rect">
            <a:avLst/>
          </a:prstGeom>
          <a:noFill/>
        </p:spPr>
        <p:txBody>
          <a:bodyPr wrap="square">
            <a:spAutoFit/>
          </a:bodyPr>
          <a:lstStyle/>
          <a:p>
            <a:pPr>
              <a:defRPr sz="1100">
                <a:solidFill>
                  <a:srgbClr val="0F172A"/>
                </a:solidFill>
              </a:defRPr>
            </a:pPr>
            <a:r>
              <a:t>Supplies PTU vs PAYG cost models to optimize priority routing pools.</a:t>
            </a:r>
          </a:p>
        </p:txBody>
      </p:sp>
      <p:sp>
        <p:nvSpPr>
          <p:cNvPr id="16" name="Rounded Rectangle 15"/>
          <p:cNvSpPr/>
          <p:nvPr/>
        </p:nvSpPr>
        <p:spPr>
          <a:xfrm>
            <a:off x="6217920" y="1371600"/>
            <a:ext cx="2560320" cy="2926080"/>
          </a:xfrm>
          <a:prstGeom prst="roundRect">
            <a:avLst/>
          </a:prstGeom>
          <a:solidFill>
            <a:srgbClr val="EFF6FF"/>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71600"/>
            <a:ext cx="25603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600200"/>
            <a:ext cx="2194560" cy="320040"/>
          </a:xfrm>
          <a:prstGeom prst="rect">
            <a:avLst/>
          </a:prstGeom>
          <a:noFill/>
        </p:spPr>
        <p:txBody>
          <a:bodyPr wrap="none">
            <a:spAutoFit/>
          </a:bodyPr>
          <a:lstStyle/>
          <a:p>
            <a:pPr>
              <a:defRPr sz="1000" b="1">
                <a:solidFill>
                  <a:srgbClr val="0078D4"/>
                </a:solidFill>
              </a:defRPr>
            </a:pPr>
            <a:r>
              <a:t>03 · THIS OFFERING</a:t>
            </a:r>
          </a:p>
        </p:txBody>
      </p:sp>
      <p:sp>
        <p:nvSpPr>
          <p:cNvPr id="19" name="TextBox 18"/>
          <p:cNvSpPr txBox="1"/>
          <p:nvPr/>
        </p:nvSpPr>
        <p:spPr>
          <a:xfrm>
            <a:off x="6400800" y="1965960"/>
            <a:ext cx="2194560" cy="502920"/>
          </a:xfrm>
          <a:prstGeom prst="rect">
            <a:avLst/>
          </a:prstGeom>
          <a:noFill/>
        </p:spPr>
        <p:txBody>
          <a:bodyPr wrap="square">
            <a:spAutoFit/>
          </a:bodyPr>
          <a:lstStyle/>
          <a:p>
            <a:pPr>
              <a:defRPr sz="1600" b="1">
                <a:solidFill>
                  <a:srgbClr val="0A192F"/>
                </a:solidFill>
              </a:defRPr>
            </a:pPr>
            <a:r>
              <a:t>AI Gateway</a:t>
            </a:r>
          </a:p>
        </p:txBody>
      </p:sp>
      <p:sp>
        <p:nvSpPr>
          <p:cNvPr id="20" name="TextBox 19"/>
          <p:cNvSpPr txBox="1"/>
          <p:nvPr/>
        </p:nvSpPr>
        <p:spPr>
          <a:xfrm>
            <a:off x="6400800" y="2560320"/>
            <a:ext cx="2194560" cy="1554480"/>
          </a:xfrm>
          <a:prstGeom prst="rect">
            <a:avLst/>
          </a:prstGeom>
          <a:noFill/>
        </p:spPr>
        <p:txBody>
          <a:bodyPr wrap="square">
            <a:spAutoFit/>
          </a:bodyPr>
          <a:lstStyle/>
          <a:p>
            <a:pPr>
              <a:defRPr sz="1100">
                <a:solidFill>
                  <a:srgbClr val="0F172A"/>
                </a:solidFill>
              </a:defRPr>
            </a:pPr>
            <a:r>
              <a:t>Enforces token rate limits, circuit breakers, and API Center tool routing.</a:t>
            </a:r>
          </a:p>
        </p:txBody>
      </p:sp>
      <p:sp>
        <p:nvSpPr>
          <p:cNvPr id="21" name="Rounded Rectangle 20"/>
          <p:cNvSpPr/>
          <p:nvPr/>
        </p:nvSpPr>
        <p:spPr>
          <a:xfrm>
            <a:off x="9144000" y="1371600"/>
            <a:ext cx="2286000" cy="2926080"/>
          </a:xfrm>
          <a:prstGeom prst="roundRect">
            <a:avLst/>
          </a:prstGeom>
          <a:solidFill>
            <a:srgbClr val="FFFFFF"/>
          </a:solidFill>
          <a:ln w="1270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371600"/>
            <a:ext cx="228600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1600200"/>
            <a:ext cx="1920240" cy="320040"/>
          </a:xfrm>
          <a:prstGeom prst="rect">
            <a:avLst/>
          </a:prstGeom>
          <a:noFill/>
        </p:spPr>
        <p:txBody>
          <a:bodyPr wrap="none">
            <a:spAutoFit/>
          </a:bodyPr>
          <a:lstStyle/>
          <a:p>
            <a:pPr>
              <a:defRPr sz="1000" b="1">
                <a:solidFill>
                  <a:srgbClr val="00A389"/>
                </a:solidFill>
              </a:defRPr>
            </a:pPr>
            <a:r>
              <a:t>05 · OPERATIONAL HANDOFF</a:t>
            </a:r>
          </a:p>
        </p:txBody>
      </p:sp>
      <p:sp>
        <p:nvSpPr>
          <p:cNvPr id="24" name="TextBox 23"/>
          <p:cNvSpPr txBox="1"/>
          <p:nvPr/>
        </p:nvSpPr>
        <p:spPr>
          <a:xfrm>
            <a:off x="9326880" y="1965960"/>
            <a:ext cx="1920240" cy="502920"/>
          </a:xfrm>
          <a:prstGeom prst="rect">
            <a:avLst/>
          </a:prstGeom>
          <a:noFill/>
        </p:spPr>
        <p:txBody>
          <a:bodyPr wrap="square">
            <a:spAutoFit/>
          </a:bodyPr>
          <a:lstStyle/>
          <a:p>
            <a:pPr>
              <a:defRPr sz="1600" b="1">
                <a:solidFill>
                  <a:srgbClr val="0A192F"/>
                </a:solidFill>
              </a:defRPr>
            </a:pPr>
            <a:r>
              <a:t>Managed Ops</a:t>
            </a:r>
          </a:p>
        </p:txBody>
      </p:sp>
      <p:sp>
        <p:nvSpPr>
          <p:cNvPr id="25" name="TextBox 24"/>
          <p:cNvSpPr txBox="1"/>
          <p:nvPr/>
        </p:nvSpPr>
        <p:spPr>
          <a:xfrm>
            <a:off x="9326880" y="2560320"/>
            <a:ext cx="1920240" cy="1554480"/>
          </a:xfrm>
          <a:prstGeom prst="rect">
            <a:avLst/>
          </a:prstGeom>
          <a:noFill/>
        </p:spPr>
        <p:txBody>
          <a:bodyPr wrap="square">
            <a:spAutoFit/>
          </a:bodyPr>
          <a:lstStyle/>
          <a:p>
            <a:pPr>
              <a:defRPr sz="1100">
                <a:solidFill>
                  <a:srgbClr val="0F172A"/>
                </a:solidFill>
              </a:defRPr>
            </a:pPr>
            <a:r>
              <a:t>Receives policy registers, metric dashboards, and gateway runbooks.</a:t>
            </a:r>
          </a:p>
        </p:txBody>
      </p:sp>
      <p:sp>
        <p:nvSpPr>
          <p:cNvPr id="26" name="Rounded Rectangle 25"/>
          <p:cNvSpPr/>
          <p:nvPr/>
        </p:nvSpPr>
        <p:spPr>
          <a:xfrm>
            <a:off x="731520" y="4480560"/>
            <a:ext cx="10698480" cy="17373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4617720"/>
            <a:ext cx="10149840" cy="320040"/>
          </a:xfrm>
          <a:prstGeom prst="rect">
            <a:avLst/>
          </a:prstGeom>
          <a:noFill/>
        </p:spPr>
        <p:txBody>
          <a:bodyPr wrap="none">
            <a:spAutoFit/>
          </a:bodyPr>
          <a:lstStyle/>
          <a:p>
            <a:pPr>
              <a:defRPr sz="1200" b="1">
                <a:solidFill>
                  <a:srgbClr val="0A192F"/>
                </a:solidFill>
              </a:defRPr>
            </a:pPr>
            <a:r>
              <a:t>TOOL &amp; MCP REGISTRY INTEGRATION</a:t>
            </a:r>
          </a:p>
        </p:txBody>
      </p:sp>
      <p:sp>
        <p:nvSpPr>
          <p:cNvPr id="28" name="Rounded Rectangle 27"/>
          <p:cNvSpPr/>
          <p:nvPr/>
        </p:nvSpPr>
        <p:spPr>
          <a:xfrm>
            <a:off x="1005840" y="4983480"/>
            <a:ext cx="1737360" cy="292608"/>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API CENTER</a:t>
            </a:r>
          </a:p>
        </p:txBody>
      </p:sp>
      <p:sp>
        <p:nvSpPr>
          <p:cNvPr id="29" name="TextBox 28"/>
          <p:cNvSpPr txBox="1"/>
          <p:nvPr/>
        </p:nvSpPr>
        <p:spPr>
          <a:xfrm>
            <a:off x="2926080" y="4965192"/>
            <a:ext cx="8229600" cy="320040"/>
          </a:xfrm>
          <a:prstGeom prst="rect">
            <a:avLst/>
          </a:prstGeom>
          <a:noFill/>
        </p:spPr>
        <p:txBody>
          <a:bodyPr wrap="none">
            <a:spAutoFit/>
          </a:bodyPr>
          <a:lstStyle/>
          <a:p>
            <a:pPr>
              <a:defRPr sz="1100">
                <a:solidFill>
                  <a:srgbClr val="0F172A"/>
                </a:solidFill>
              </a:defRPr>
            </a:pPr>
            <a:r>
              <a:t>Authoritative corporate registry cataloging approved REST APIs and Model Context Protocol (MCP) servers.</a:t>
            </a:r>
          </a:p>
        </p:txBody>
      </p:sp>
      <p:sp>
        <p:nvSpPr>
          <p:cNvPr id="30" name="Rounded Rectangle 29"/>
          <p:cNvSpPr/>
          <p:nvPr/>
        </p:nvSpPr>
        <p:spPr>
          <a:xfrm>
            <a:off x="1005840" y="5367528"/>
            <a:ext cx="173736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API MANAGEMENT</a:t>
            </a:r>
          </a:p>
        </p:txBody>
      </p:sp>
      <p:sp>
        <p:nvSpPr>
          <p:cNvPr id="31" name="TextBox 30"/>
          <p:cNvSpPr txBox="1"/>
          <p:nvPr/>
        </p:nvSpPr>
        <p:spPr>
          <a:xfrm>
            <a:off x="2926080" y="5349240"/>
            <a:ext cx="8229600" cy="320040"/>
          </a:xfrm>
          <a:prstGeom prst="rect">
            <a:avLst/>
          </a:prstGeom>
          <a:noFill/>
        </p:spPr>
        <p:txBody>
          <a:bodyPr wrap="none">
            <a:spAutoFit/>
          </a:bodyPr>
          <a:lstStyle/>
          <a:p>
            <a:pPr>
              <a:defRPr sz="1100">
                <a:solidFill>
                  <a:srgbClr val="0F172A"/>
                </a:solidFill>
              </a:defRPr>
            </a:pPr>
            <a:r>
              <a:t>Runtime enforcement point executing auth, token metering, content safety, and routing policies on all calls.</a:t>
            </a:r>
          </a:p>
        </p:txBody>
      </p:sp>
      <p:sp>
        <p:nvSpPr>
          <p:cNvPr id="32" name="Rounded Rectangle 31"/>
          <p:cNvSpPr/>
          <p:nvPr/>
        </p:nvSpPr>
        <p:spPr>
          <a:xfrm>
            <a:off x="1005840" y="5751576"/>
            <a:ext cx="1737360" cy="292608"/>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02 GOVERNANCE</a:t>
            </a:r>
          </a:p>
        </p:txBody>
      </p:sp>
      <p:sp>
        <p:nvSpPr>
          <p:cNvPr id="33" name="TextBox 32"/>
          <p:cNvSpPr txBox="1"/>
          <p:nvPr/>
        </p:nvSpPr>
        <p:spPr>
          <a:xfrm>
            <a:off x="2926080" y="5733288"/>
            <a:ext cx="8229600" cy="320040"/>
          </a:xfrm>
          <a:prstGeom prst="rect">
            <a:avLst/>
          </a:prstGeom>
          <a:noFill/>
        </p:spPr>
        <p:txBody>
          <a:bodyPr wrap="none">
            <a:spAutoFit/>
          </a:bodyPr>
          <a:lstStyle/>
          <a:p>
            <a:pPr>
              <a:defRPr sz="1100">
                <a:solidFill>
                  <a:srgbClr val="0F172A"/>
                </a:solidFill>
              </a:defRPr>
            </a:pPr>
            <a:r>
              <a:t>Receives real-time per-agent token telemetry and caller identity mappings to maintain the agent audit register.</a:t>
            </a:r>
          </a:p>
        </p:txBody>
      </p:sp>
      <p:sp>
        <p:nvSpPr>
          <p:cNvPr id="34" name="TextBox 33"/>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Gateway Implementation · Working proposal for senior leadership review · Slide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5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SCOPE &amp; RACI DEMARCATION</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05</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We govern the gateway; callers own prompts and data schemas</a:t>
            </a:r>
          </a:p>
        </p:txBody>
      </p:sp>
      <p:sp>
        <p:nvSpPr>
          <p:cNvPr id="6" name="Rounded Rectangle 5"/>
          <p:cNvSpPr/>
          <p:nvPr/>
        </p:nvSpPr>
        <p:spPr>
          <a:xfrm>
            <a:off x="731520" y="1371600"/>
            <a:ext cx="3383280" cy="402336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3017520" cy="411480"/>
          </a:xfrm>
          <a:prstGeom prst="rect">
            <a:avLst/>
          </a:prstGeom>
          <a:noFill/>
        </p:spPr>
        <p:txBody>
          <a:bodyPr wrap="none">
            <a:spAutoFit/>
          </a:bodyPr>
          <a:lstStyle/>
          <a:p>
            <a:pPr>
              <a:defRPr sz="1100" b="1">
                <a:solidFill>
                  <a:srgbClr val="0078D4"/>
                </a:solidFill>
              </a:defRPr>
            </a:pPr>
            <a:r>
              <a:t>🏗️ CIS INFRA SELLS &amp; DELIVERS</a:t>
            </a:r>
          </a:p>
        </p:txBody>
      </p:sp>
      <p:sp>
        <p:nvSpPr>
          <p:cNvPr id="9" name="TextBox 8"/>
          <p:cNvSpPr txBox="1"/>
          <p:nvPr/>
        </p:nvSpPr>
        <p:spPr>
          <a:xfrm>
            <a:off x="914400" y="2103120"/>
            <a:ext cx="3017520" cy="3108960"/>
          </a:xfrm>
          <a:prstGeom prst="rect">
            <a:avLst/>
          </a:prstGeom>
          <a:noFill/>
        </p:spPr>
        <p:txBody>
          <a:bodyPr wrap="square">
            <a:spAutoFit/>
          </a:bodyPr>
          <a:lstStyle/>
          <a:p>
            <a:pPr>
              <a:spcAft>
                <a:spcPts val="600"/>
              </a:spcAft>
              <a:defRPr sz="1100">
                <a:solidFill>
                  <a:srgbClr val="0F172A"/>
                </a:solidFill>
              </a:defRPr>
            </a:pPr>
            <a:r>
              <a:t>• Azure API Management instance, VNet integration, DNS</a:t>
            </a:r>
          </a:p>
          <a:p>
            <a:pPr>
              <a:spcAft>
                <a:spcPts val="600"/>
              </a:spcAft>
              <a:defRPr sz="1100">
                <a:solidFill>
                  <a:srgbClr val="0F172A"/>
                </a:solidFill>
              </a:defRPr>
            </a:pPr>
            <a:r>
              <a:t>• Entra ID authentication and Managed Identity plumbing</a:t>
            </a:r>
          </a:p>
          <a:p>
            <a:pPr>
              <a:spcAft>
                <a:spcPts val="600"/>
              </a:spcAft>
              <a:defRPr sz="1100">
                <a:solidFill>
                  <a:srgbClr val="0F172A"/>
                </a:solidFill>
              </a:defRPr>
            </a:pPr>
            <a:r>
              <a:t>• Token rate limiting, TPM quota, and concurrency policies</a:t>
            </a:r>
          </a:p>
          <a:p>
            <a:pPr>
              <a:spcAft>
                <a:spcPts val="600"/>
              </a:spcAft>
              <a:defRPr sz="1100">
                <a:solidFill>
                  <a:srgbClr val="0F172A"/>
                </a:solidFill>
              </a:defRPr>
            </a:pPr>
            <a:r>
              <a:t>• Priority routing (PTU -&gt; PAYG overflow) and circuit breakers</a:t>
            </a:r>
          </a:p>
          <a:p>
            <a:pPr>
              <a:spcAft>
                <a:spcPts val="600"/>
              </a:spcAft>
              <a:defRPr sz="1100">
                <a:solidFill>
                  <a:srgbClr val="0F172A"/>
                </a:solidFill>
              </a:defRPr>
            </a:pPr>
            <a:r>
              <a:t>• Azure API Center discovery, sync, and tool allow-listing</a:t>
            </a:r>
          </a:p>
          <a:p>
            <a:pPr>
              <a:spcAft>
                <a:spcPts val="600"/>
              </a:spcAft>
              <a:defRPr sz="1100">
                <a:solidFill>
                  <a:srgbClr val="0F172A"/>
                </a:solidFill>
              </a:defRPr>
            </a:pPr>
            <a:r>
              <a:t>• Centralized Log Analytics dashboards and token chargeback data</a:t>
            </a:r>
          </a:p>
        </p:txBody>
      </p:sp>
      <p:sp>
        <p:nvSpPr>
          <p:cNvPr id="10" name="Rounded Rectangle 9"/>
          <p:cNvSpPr/>
          <p:nvPr/>
        </p:nvSpPr>
        <p:spPr>
          <a:xfrm>
            <a:off x="4389120" y="1371600"/>
            <a:ext cx="3383280" cy="4023360"/>
          </a:xfrm>
          <a:prstGeom prst="roundRect">
            <a:avLst/>
          </a:prstGeom>
          <a:solidFill>
            <a:srgbClr val="F8FAFC"/>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371600"/>
            <a:ext cx="3383280" cy="731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600200"/>
            <a:ext cx="3017520" cy="411480"/>
          </a:xfrm>
          <a:prstGeom prst="rect">
            <a:avLst/>
          </a:prstGeom>
          <a:noFill/>
        </p:spPr>
        <p:txBody>
          <a:bodyPr wrap="none">
            <a:spAutoFit/>
          </a:bodyPr>
          <a:lstStyle/>
          <a:p>
            <a:pPr>
              <a:defRPr sz="1100" b="1">
                <a:solidFill>
                  <a:srgbClr val="64748B"/>
                </a:solidFill>
              </a:defRPr>
            </a:pPr>
            <a:r>
              <a:t>🤝 SPECIALIST TOWERS DELIVER</a:t>
            </a:r>
          </a:p>
        </p:txBody>
      </p:sp>
      <p:sp>
        <p:nvSpPr>
          <p:cNvPr id="13" name="TextBox 12"/>
          <p:cNvSpPr txBox="1"/>
          <p:nvPr/>
        </p:nvSpPr>
        <p:spPr>
          <a:xfrm>
            <a:off x="4572000" y="2103120"/>
            <a:ext cx="3017520" cy="3108960"/>
          </a:xfrm>
          <a:prstGeom prst="rect">
            <a:avLst/>
          </a:prstGeom>
          <a:noFill/>
        </p:spPr>
        <p:txBody>
          <a:bodyPr wrap="square">
            <a:spAutoFit/>
          </a:bodyPr>
          <a:lstStyle/>
          <a:p>
            <a:pPr>
              <a:spcAft>
                <a:spcPts val="600"/>
              </a:spcAft>
              <a:defRPr sz="1100">
                <a:solidFill>
                  <a:srgbClr val="0F172A"/>
                </a:solidFill>
              </a:defRPr>
            </a:pPr>
            <a:r>
              <a:t>• AI Tower: Model selection, prompt safety threshold tuning</a:t>
            </a:r>
          </a:p>
          <a:p>
            <a:pPr>
              <a:spcAft>
                <a:spcPts val="600"/>
              </a:spcAft>
              <a:defRPr sz="1100">
                <a:solidFill>
                  <a:srgbClr val="0F172A"/>
                </a:solidFill>
              </a:defRPr>
            </a:pPr>
            <a:r>
              <a:t>• AI Tower: Semantic caching evaluation and relevance validation</a:t>
            </a:r>
          </a:p>
          <a:p>
            <a:pPr>
              <a:spcAft>
                <a:spcPts val="600"/>
              </a:spcAft>
              <a:defRPr sz="1100">
                <a:solidFill>
                  <a:srgbClr val="0F172A"/>
                </a:solidFill>
              </a:defRPr>
            </a:pPr>
            <a:r>
              <a:t>• Security Tower: Enterprise threat policies and Sentinel SIEM rules</a:t>
            </a:r>
          </a:p>
          <a:p>
            <a:pPr>
              <a:spcAft>
                <a:spcPts val="600"/>
              </a:spcAft>
              <a:defRPr sz="1100">
                <a:solidFill>
                  <a:srgbClr val="0F172A"/>
                </a:solidFill>
              </a:defRPr>
            </a:pPr>
            <a:r>
              <a:t>• DevOps Tower: APIM policy GitOps deployment pipelines</a:t>
            </a:r>
          </a:p>
          <a:p>
            <a:pPr>
              <a:spcAft>
                <a:spcPts val="600"/>
              </a:spcAft>
              <a:defRPr sz="1100">
                <a:solidFill>
                  <a:srgbClr val="0F172A"/>
                </a:solidFill>
              </a:defRPr>
            </a:pPr>
            <a:r>
              <a:t>• FinOps Tower: Department chargeback models and billing rules</a:t>
            </a:r>
          </a:p>
          <a:p>
            <a:pPr>
              <a:spcAft>
                <a:spcPts val="600"/>
              </a:spcAft>
              <a:defRPr sz="1100">
                <a:solidFill>
                  <a:srgbClr val="0F172A"/>
                </a:solidFill>
              </a:defRPr>
            </a:pPr>
            <a:r>
              <a:t>• App Development: Consumer application code and client retries</a:t>
            </a:r>
          </a:p>
        </p:txBody>
      </p:sp>
      <p:sp>
        <p:nvSpPr>
          <p:cNvPr id="14" name="Rounded Rectangle 13"/>
          <p:cNvSpPr/>
          <p:nvPr/>
        </p:nvSpPr>
        <p:spPr>
          <a:xfrm>
            <a:off x="8046720" y="1371600"/>
            <a:ext cx="338328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71600"/>
            <a:ext cx="33832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600200"/>
            <a:ext cx="3017520" cy="411480"/>
          </a:xfrm>
          <a:prstGeom prst="rect">
            <a:avLst/>
          </a:prstGeom>
          <a:noFill/>
        </p:spPr>
        <p:txBody>
          <a:bodyPr wrap="none">
            <a:spAutoFit/>
          </a:bodyPr>
          <a:lstStyle/>
          <a:p>
            <a:pPr>
              <a:defRPr sz="1100" b="1">
                <a:solidFill>
                  <a:srgbClr val="0A192F"/>
                </a:solidFill>
              </a:defRPr>
            </a:pPr>
            <a:r>
              <a:t>🏢 CUSTOMER OWNS &amp; DECIDES</a:t>
            </a:r>
          </a:p>
        </p:txBody>
      </p:sp>
      <p:sp>
        <p:nvSpPr>
          <p:cNvPr id="17" name="TextBox 16"/>
          <p:cNvSpPr txBox="1"/>
          <p:nvPr/>
        </p:nvSpPr>
        <p:spPr>
          <a:xfrm>
            <a:off x="8229600" y="2103120"/>
            <a:ext cx="3017520" cy="3108960"/>
          </a:xfrm>
          <a:prstGeom prst="rect">
            <a:avLst/>
          </a:prstGeom>
          <a:noFill/>
        </p:spPr>
        <p:txBody>
          <a:bodyPr wrap="square">
            <a:spAutoFit/>
          </a:bodyPr>
          <a:lstStyle/>
          <a:p>
            <a:pPr>
              <a:spcAft>
                <a:spcPts val="600"/>
              </a:spcAft>
              <a:defRPr sz="1100">
                <a:solidFill>
                  <a:srgbClr val="0F172A"/>
                </a:solidFill>
              </a:defRPr>
            </a:pPr>
            <a:r>
              <a:t>• End-user application code, system prompts, and schemas</a:t>
            </a:r>
          </a:p>
          <a:p>
            <a:pPr>
              <a:spcAft>
                <a:spcPts val="600"/>
              </a:spcAft>
              <a:defRPr sz="1100">
                <a:solidFill>
                  <a:srgbClr val="0F172A"/>
                </a:solidFill>
              </a:defRPr>
            </a:pPr>
            <a:r>
              <a:t>• Tool API backend implementations and business databases</a:t>
            </a:r>
          </a:p>
          <a:p>
            <a:pPr>
              <a:spcAft>
                <a:spcPts val="600"/>
              </a:spcAft>
              <a:defRPr sz="1100">
                <a:solidFill>
                  <a:srgbClr val="0F172A"/>
                </a:solidFill>
              </a:defRPr>
            </a:pPr>
            <a:r>
              <a:t>• Model endpoint deployments and baseline token budgets</a:t>
            </a:r>
          </a:p>
          <a:p>
            <a:pPr>
              <a:spcAft>
                <a:spcPts val="600"/>
              </a:spcAft>
              <a:defRPr sz="1100">
                <a:solidFill>
                  <a:srgbClr val="0F172A"/>
                </a:solidFill>
              </a:defRPr>
            </a:pPr>
            <a:r>
              <a:t>• Direct Azure cloud infrastructure and token licensing spend</a:t>
            </a:r>
          </a:p>
          <a:p>
            <a:pPr>
              <a:spcAft>
                <a:spcPts val="600"/>
              </a:spcAft>
              <a:defRPr sz="1100">
                <a:solidFill>
                  <a:srgbClr val="0F172A"/>
                </a:solidFill>
              </a:defRPr>
            </a:pPr>
            <a:r>
              <a:t>• Approval of department token rate limits and spillover caps</a:t>
            </a:r>
          </a:p>
          <a:p>
            <a:pPr>
              <a:spcAft>
                <a:spcPts val="600"/>
              </a:spcAft>
              <a:defRPr sz="1100">
                <a:solidFill>
                  <a:srgbClr val="0F172A"/>
                </a:solidFill>
              </a:defRPr>
            </a:pPr>
            <a:r>
              <a:t>• Sign-off on production cutover and traffic switchover</a:t>
            </a:r>
          </a:p>
        </p:txBody>
      </p:sp>
      <p:sp>
        <p:nvSpPr>
          <p:cNvPr id="18" name="Rounded Rectangle 17"/>
          <p:cNvSpPr/>
          <p:nvPr/>
        </p:nvSpPr>
        <p:spPr>
          <a:xfrm>
            <a:off x="731520" y="5532120"/>
            <a:ext cx="10698480" cy="685800"/>
          </a:xfrm>
          <a:prstGeom prst="roundRect">
            <a:avLst/>
          </a:prstGeom>
          <a:solidFill>
            <a:srgbClr val="FEF2F2"/>
          </a:solidFill>
          <a:ln w="1270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23560"/>
            <a:ext cx="10332720" cy="502920"/>
          </a:xfrm>
          <a:prstGeom prst="rect">
            <a:avLst/>
          </a:prstGeom>
          <a:noFill/>
        </p:spPr>
        <p:txBody>
          <a:bodyPr wrap="square">
            <a:spAutoFit/>
          </a:bodyPr>
          <a:lstStyle/>
          <a:p>
            <a:r>
              <a:rPr b="1" sz="1100">
                <a:solidFill>
                  <a:srgbClr val="D83B01"/>
                </a:solidFill>
              </a:rPr>
              <a:t>MANDATORY PREREQUISITE: </a:t>
            </a:r>
            <a:r>
              <a:rPr sz="1100">
                <a:solidFill>
                  <a:srgbClr val="0A192F"/>
                </a:solidFill>
              </a:rPr>
              <a:t>A gateway cannot govern traffic it never receives. Disabling local key authentication and closing direct VNet bypass paths is non-negotiable.</a:t>
            </a:r>
          </a:p>
        </p:txBody>
      </p:sp>
      <p:sp>
        <p:nvSpPr>
          <p:cNvPr id="20" name="TextBox 1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Gateway Implementation · Working proposal for senior leadership review · Slide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6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REFERENCE ARCHITECTURE</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06</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API Management enforces tokens, circuit breakers, and routing</a:t>
            </a:r>
          </a:p>
        </p:txBody>
      </p:sp>
      <p:sp>
        <p:nvSpPr>
          <p:cNvPr id="6" name="Rounded Rectangle 5"/>
          <p:cNvSpPr/>
          <p:nvPr/>
        </p:nvSpPr>
        <p:spPr>
          <a:xfrm>
            <a:off x="731520" y="1371600"/>
            <a:ext cx="2926080" cy="420624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9260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560320" cy="365760"/>
          </a:xfrm>
          <a:prstGeom prst="rect">
            <a:avLst/>
          </a:prstGeom>
          <a:noFill/>
        </p:spPr>
        <p:txBody>
          <a:bodyPr wrap="none">
            <a:spAutoFit/>
          </a:bodyPr>
          <a:lstStyle/>
          <a:p>
            <a:pPr>
              <a:defRPr sz="1100" b="1">
                <a:solidFill>
                  <a:srgbClr val="0A192F"/>
                </a:solidFill>
              </a:defRPr>
            </a:pPr>
            <a:r>
              <a:t>ZONE 1: CONSUMERS &amp; AUTH</a:t>
            </a:r>
          </a:p>
        </p:txBody>
      </p:sp>
      <p:sp>
        <p:nvSpPr>
          <p:cNvPr id="9" name="Rounded Rectangle 8"/>
          <p:cNvSpPr/>
          <p:nvPr/>
        </p:nvSpPr>
        <p:spPr>
          <a:xfrm>
            <a:off x="914400" y="2103120"/>
            <a:ext cx="2560320"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Enterprise Applications</a:t>
            </a:r>
          </a:p>
          <a:p>
            <a:pPr>
              <a:defRPr sz="850">
                <a:solidFill>
                  <a:srgbClr val="0F172A"/>
                </a:solidFill>
              </a:defRPr>
            </a:pPr>
            <a:r>
              <a:t>Web &amp; microservices via Entra ID Bearer token</a:t>
            </a:r>
          </a:p>
        </p:txBody>
      </p:sp>
      <p:sp>
        <p:nvSpPr>
          <p:cNvPr id="10" name="Rounded Rectangle 9"/>
          <p:cNvSpPr/>
          <p:nvPr/>
        </p:nvSpPr>
        <p:spPr>
          <a:xfrm>
            <a:off x="914400" y="2971800"/>
            <a:ext cx="2560320"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Foundry Agents</a:t>
            </a:r>
          </a:p>
          <a:p>
            <a:pPr>
              <a:defRPr sz="850">
                <a:solidFill>
                  <a:srgbClr val="0F172A"/>
                </a:solidFill>
              </a:defRPr>
            </a:pPr>
            <a:r>
              <a:t>Autonomous multi-agent loops and reasoning runs</a:t>
            </a:r>
          </a:p>
        </p:txBody>
      </p:sp>
      <p:sp>
        <p:nvSpPr>
          <p:cNvPr id="11" name="Rounded Rectangle 10"/>
          <p:cNvSpPr/>
          <p:nvPr/>
        </p:nvSpPr>
        <p:spPr>
          <a:xfrm>
            <a:off x="914400" y="3840480"/>
            <a:ext cx="2560320"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Copilot Studio &amp; MCP</a:t>
            </a:r>
          </a:p>
          <a:p>
            <a:pPr>
              <a:defRPr sz="850">
                <a:solidFill>
                  <a:srgbClr val="0F172A"/>
                </a:solidFill>
              </a:defRPr>
            </a:pPr>
            <a:r>
              <a:t>Low-code agents and developer workstations</a:t>
            </a:r>
          </a:p>
        </p:txBody>
      </p:sp>
      <p:sp>
        <p:nvSpPr>
          <p:cNvPr id="12" name="Rounded Rectangle 11"/>
          <p:cNvSpPr/>
          <p:nvPr/>
        </p:nvSpPr>
        <p:spPr>
          <a:xfrm>
            <a:off x="3931920" y="1371600"/>
            <a:ext cx="4297680" cy="420624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31920" y="1371600"/>
            <a:ext cx="42976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0" y="1600200"/>
            <a:ext cx="3931920" cy="365760"/>
          </a:xfrm>
          <a:prstGeom prst="rect">
            <a:avLst/>
          </a:prstGeom>
          <a:noFill/>
        </p:spPr>
        <p:txBody>
          <a:bodyPr wrap="none">
            <a:spAutoFit/>
          </a:bodyPr>
          <a:lstStyle/>
          <a:p>
            <a:pPr>
              <a:defRPr sz="1100" b="1">
                <a:solidFill>
                  <a:srgbClr val="0078D4"/>
                </a:solidFill>
              </a:defRPr>
            </a:pPr>
            <a:r>
              <a:t>ZONE 2: APIM AI GATEWAY (POLICY PIPELINE)</a:t>
            </a:r>
          </a:p>
        </p:txBody>
      </p:sp>
      <p:sp>
        <p:nvSpPr>
          <p:cNvPr id="15" name="Rounded Rectangle 14"/>
          <p:cNvSpPr/>
          <p:nvPr/>
        </p:nvSpPr>
        <p:spPr>
          <a:xfrm>
            <a:off x="4114800" y="2103120"/>
            <a:ext cx="393192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1. Ingress &amp; Auth</a:t>
            </a:r>
          </a:p>
          <a:p>
            <a:pPr>
              <a:defRPr sz="850">
                <a:solidFill>
                  <a:srgbClr val="0F172A"/>
                </a:solidFill>
              </a:defRPr>
            </a:pPr>
            <a:r>
              <a:t>Validate Entra token, map caller ID and billing center</a:t>
            </a:r>
          </a:p>
        </p:txBody>
      </p:sp>
      <p:sp>
        <p:nvSpPr>
          <p:cNvPr id="16" name="Rounded Rectangle 15"/>
          <p:cNvSpPr/>
          <p:nvPr/>
        </p:nvSpPr>
        <p:spPr>
          <a:xfrm>
            <a:off x="4114800" y="2761488"/>
            <a:ext cx="393192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2. Token Bucket Limits</a:t>
            </a:r>
          </a:p>
          <a:p>
            <a:pPr>
              <a:defRPr sz="850">
                <a:solidFill>
                  <a:srgbClr val="0F172A"/>
                </a:solidFill>
              </a:defRPr>
            </a:pPr>
            <a:r>
              <a:t>Enforce TPM/RPM rate limits and concurrency caps</a:t>
            </a:r>
          </a:p>
        </p:txBody>
      </p:sp>
      <p:sp>
        <p:nvSpPr>
          <p:cNvPr id="17" name="Rounded Rectangle 16"/>
          <p:cNvSpPr/>
          <p:nvPr/>
        </p:nvSpPr>
        <p:spPr>
          <a:xfrm>
            <a:off x="4114800" y="3419856"/>
            <a:ext cx="393192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3. Content Safety</a:t>
            </a:r>
          </a:p>
          <a:p>
            <a:pPr>
              <a:defRPr sz="850">
                <a:solidFill>
                  <a:srgbClr val="0F172A"/>
                </a:solidFill>
              </a:defRPr>
            </a:pPr>
            <a:r>
              <a:t>Azure AI Content Safety prompt shield and jailbreak checks</a:t>
            </a:r>
          </a:p>
        </p:txBody>
      </p:sp>
      <p:sp>
        <p:nvSpPr>
          <p:cNvPr id="18" name="Rounded Rectangle 17"/>
          <p:cNvSpPr/>
          <p:nvPr/>
        </p:nvSpPr>
        <p:spPr>
          <a:xfrm>
            <a:off x="4114800" y="4078224"/>
            <a:ext cx="393192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4. Priority Routing</a:t>
            </a:r>
          </a:p>
          <a:p>
            <a:pPr>
              <a:defRPr sz="850">
                <a:solidFill>
                  <a:srgbClr val="0F172A"/>
                </a:solidFill>
              </a:defRPr>
            </a:pPr>
            <a:r>
              <a:t>Route to gpt-5.4 PTU (P1); overflow to PAYG (P2) on 429</a:t>
            </a:r>
          </a:p>
        </p:txBody>
      </p:sp>
      <p:sp>
        <p:nvSpPr>
          <p:cNvPr id="19" name="Rounded Rectangle 18"/>
          <p:cNvSpPr/>
          <p:nvPr/>
        </p:nvSpPr>
        <p:spPr>
          <a:xfrm>
            <a:off x="4114800" y="4736592"/>
            <a:ext cx="393192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5. Telemetry &amp; Emission</a:t>
            </a:r>
          </a:p>
          <a:p>
            <a:pPr>
              <a:defRPr sz="850">
                <a:solidFill>
                  <a:srgbClr val="0F172A"/>
                </a:solidFill>
              </a:defRPr>
            </a:pPr>
            <a:r>
              <a:t>Emit token counts, latency, and caller metadata to Log Analytics</a:t>
            </a:r>
          </a:p>
        </p:txBody>
      </p:sp>
      <p:sp>
        <p:nvSpPr>
          <p:cNvPr id="20" name="Rounded Rectangle 19"/>
          <p:cNvSpPr/>
          <p:nvPr/>
        </p:nvSpPr>
        <p:spPr>
          <a:xfrm>
            <a:off x="8503920" y="1371600"/>
            <a:ext cx="2926080" cy="420624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03920" y="1371600"/>
            <a:ext cx="29260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0" y="1600200"/>
            <a:ext cx="2560320" cy="365760"/>
          </a:xfrm>
          <a:prstGeom prst="rect">
            <a:avLst/>
          </a:prstGeom>
          <a:noFill/>
        </p:spPr>
        <p:txBody>
          <a:bodyPr wrap="none">
            <a:spAutoFit/>
          </a:bodyPr>
          <a:lstStyle/>
          <a:p>
            <a:pPr>
              <a:defRPr sz="1100" b="1">
                <a:solidFill>
                  <a:srgbClr val="00A389"/>
                </a:solidFill>
              </a:defRPr>
            </a:pPr>
            <a:r>
              <a:t>ZONE 3: PROTECTED BACKENDS</a:t>
            </a:r>
          </a:p>
        </p:txBody>
      </p:sp>
      <p:sp>
        <p:nvSpPr>
          <p:cNvPr id="23" name="Rounded Rectangle 22"/>
          <p:cNvSpPr/>
          <p:nvPr/>
        </p:nvSpPr>
        <p:spPr>
          <a:xfrm>
            <a:off x="8686800" y="2103120"/>
            <a:ext cx="2560320"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Primary PTU Deployment</a:t>
            </a:r>
          </a:p>
          <a:p>
            <a:pPr>
              <a:defRPr sz="850">
                <a:solidFill>
                  <a:srgbClr val="0F172A"/>
                </a:solidFill>
              </a:defRPr>
            </a:pPr>
            <a:r>
              <a:t>gpt-5.4 Provisioned Throughput (Private Endpoint)</a:t>
            </a:r>
          </a:p>
        </p:txBody>
      </p:sp>
      <p:sp>
        <p:nvSpPr>
          <p:cNvPr id="24" name="Rounded Rectangle 23"/>
          <p:cNvSpPr/>
          <p:nvPr/>
        </p:nvSpPr>
        <p:spPr>
          <a:xfrm>
            <a:off x="8686800" y="2971800"/>
            <a:ext cx="2560320"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Overflow PAYG Deployment</a:t>
            </a:r>
          </a:p>
          <a:p>
            <a:pPr>
              <a:defRPr sz="850">
                <a:solidFill>
                  <a:srgbClr val="0F172A"/>
                </a:solidFill>
              </a:defRPr>
            </a:pPr>
            <a:r>
              <a:t>gpt-4o Pay-As-You-Go pool for burst spikes</a:t>
            </a:r>
          </a:p>
        </p:txBody>
      </p:sp>
      <p:sp>
        <p:nvSpPr>
          <p:cNvPr id="25" name="Rounded Rectangle 24"/>
          <p:cNvSpPr/>
          <p:nvPr/>
        </p:nvSpPr>
        <p:spPr>
          <a:xfrm>
            <a:off x="8686800" y="3840480"/>
            <a:ext cx="2560320"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Azure API Center Tools</a:t>
            </a:r>
          </a:p>
          <a:p>
            <a:pPr>
              <a:defRPr sz="850">
                <a:solidFill>
                  <a:srgbClr val="0F172A"/>
                </a:solidFill>
              </a:defRPr>
            </a:pPr>
            <a:r>
              <a:t>Validated MCP servers and approved REST tools</a:t>
            </a:r>
          </a:p>
        </p:txBody>
      </p:sp>
      <p:sp>
        <p:nvSpPr>
          <p:cNvPr id="26" name="Rounded Rectangle 25"/>
          <p:cNvSpPr/>
          <p:nvPr/>
        </p:nvSpPr>
        <p:spPr>
          <a:xfrm>
            <a:off x="731520" y="5715000"/>
            <a:ext cx="10698480" cy="502920"/>
          </a:xfrm>
          <a:prstGeom prst="roundRect">
            <a:avLst/>
          </a:prstGeom>
          <a:solidFill>
            <a:srgbClr val="FEF2F2"/>
          </a:solidFill>
          <a:ln w="1270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83B01"/>
                </a:solidFill>
              </a:defRPr>
            </a:pPr>
            <a:r>
              <a:t>BYPASS DEFENSE: Direct calls to Azure OpenAI model endpoints are blocked by Private Endpoints and local key authentication disabled.</a:t>
            </a:r>
          </a:p>
        </p:txBody>
      </p:sp>
      <p:sp>
        <p:nvSpPr>
          <p:cNvPr id="27" name="TextBox 26"/>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Gateway Implementation · Working proposal for senior leadership review · Slide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7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TOOL &amp; MCP REGISTRY</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07</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API Center registers approved tools and MCP servers</a:t>
            </a:r>
          </a:p>
        </p:txBody>
      </p:sp>
      <p:sp>
        <p:nvSpPr>
          <p:cNvPr id="6" name="Rounded Rectangle 5"/>
          <p:cNvSpPr/>
          <p:nvPr/>
        </p:nvSpPr>
        <p:spPr>
          <a:xfrm>
            <a:off x="731520" y="1371600"/>
            <a:ext cx="5120640" cy="40233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512064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00200"/>
            <a:ext cx="4572000" cy="411480"/>
          </a:xfrm>
          <a:prstGeom prst="rect">
            <a:avLst/>
          </a:prstGeom>
          <a:noFill/>
        </p:spPr>
        <p:txBody>
          <a:bodyPr wrap="none">
            <a:spAutoFit/>
          </a:bodyPr>
          <a:lstStyle/>
          <a:p>
            <a:pPr>
              <a:defRPr sz="1400" b="1">
                <a:solidFill>
                  <a:srgbClr val="0A192F"/>
                </a:solidFill>
              </a:defRPr>
            </a:pPr>
            <a:r>
              <a:t>📋 REGISTRY: Azure API Center</a:t>
            </a:r>
          </a:p>
        </p:txBody>
      </p:sp>
      <p:sp>
        <p:nvSpPr>
          <p:cNvPr id="9" name="TextBox 8"/>
          <p:cNvSpPr txBox="1"/>
          <p:nvPr/>
        </p:nvSpPr>
        <p:spPr>
          <a:xfrm>
            <a:off x="1005840" y="2057400"/>
            <a:ext cx="4572000" cy="274320"/>
          </a:xfrm>
          <a:prstGeom prst="rect">
            <a:avLst/>
          </a:prstGeom>
          <a:noFill/>
        </p:spPr>
        <p:txBody>
          <a:bodyPr wrap="none">
            <a:spAutoFit/>
          </a:bodyPr>
          <a:lstStyle/>
          <a:p>
            <a:pPr>
              <a:defRPr sz="950" b="1">
                <a:solidFill>
                  <a:srgbClr val="00A389"/>
                </a:solidFill>
              </a:defRPr>
            </a:pPr>
            <a:r>
              <a:t>DECIDES WHAT TOOLS ARE AUTHORIZED TO EXIST</a:t>
            </a:r>
          </a:p>
        </p:txBody>
      </p:sp>
      <p:sp>
        <p:nvSpPr>
          <p:cNvPr id="10" name="TextBox 9"/>
          <p:cNvSpPr txBox="1"/>
          <p:nvPr/>
        </p:nvSpPr>
        <p:spPr>
          <a:xfrm>
            <a:off x="1005840" y="2423160"/>
            <a:ext cx="4572000" cy="2103120"/>
          </a:xfrm>
          <a:prstGeom prst="rect">
            <a:avLst/>
          </a:prstGeom>
          <a:noFill/>
        </p:spPr>
        <p:txBody>
          <a:bodyPr wrap="square">
            <a:spAutoFit/>
          </a:bodyPr>
          <a:lstStyle/>
          <a:p>
            <a:pPr>
              <a:spcAft>
                <a:spcPts val="600"/>
              </a:spcAft>
              <a:defRPr sz="1100">
                <a:solidFill>
                  <a:srgbClr val="0F172A"/>
                </a:solidFill>
              </a:defRPr>
            </a:pPr>
            <a:r>
              <a:t>• Unified corporate catalog for REST APIs, OpenAPI specs, and MCP servers.</a:t>
            </a:r>
          </a:p>
          <a:p>
            <a:pPr>
              <a:spcAft>
                <a:spcPts val="600"/>
              </a:spcAft>
              <a:defRPr sz="1100">
                <a:solidFill>
                  <a:srgbClr val="0F172A"/>
                </a:solidFill>
              </a:defRPr>
            </a:pPr>
            <a:r>
              <a:t>• Enforces registered metadata: business owner, risk classification, version.</a:t>
            </a:r>
          </a:p>
          <a:p>
            <a:pPr>
              <a:spcAft>
                <a:spcPts val="600"/>
              </a:spcAft>
              <a:defRPr sz="1100">
                <a:solidFill>
                  <a:srgbClr val="0F172A"/>
                </a:solidFill>
              </a:defRPr>
            </a:pPr>
            <a:r>
              <a:t>• CISO security sign-off required prior to publishing tools for agent discovery.</a:t>
            </a:r>
          </a:p>
          <a:p>
            <a:pPr>
              <a:spcAft>
                <a:spcPts val="600"/>
              </a:spcAft>
              <a:defRPr sz="1100">
                <a:solidFill>
                  <a:srgbClr val="0F172A"/>
                </a:solidFill>
              </a:defRPr>
            </a:pPr>
            <a:r>
              <a:t>• Automatic synchronization with API Management for traffic routing.</a:t>
            </a:r>
          </a:p>
        </p:txBody>
      </p:sp>
      <p:sp>
        <p:nvSpPr>
          <p:cNvPr id="11" name="Rounded Rectangle 10"/>
          <p:cNvSpPr/>
          <p:nvPr/>
        </p:nvSpPr>
        <p:spPr>
          <a:xfrm>
            <a:off x="1005840" y="4709160"/>
            <a:ext cx="4572000" cy="5029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00A389"/>
                </a:solidFill>
              </a:rPr>
              <a:t>GOVERNANCE ROLE: </a:t>
            </a:r>
            <a:r>
              <a:rPr sz="1000">
                <a:solidFill>
                  <a:srgbClr val="0A192F"/>
                </a:solidFill>
              </a:rPr>
              <a:t>Authoritative tool inventory and contract metadata</a:t>
            </a:r>
          </a:p>
        </p:txBody>
      </p:sp>
      <p:sp>
        <p:nvSpPr>
          <p:cNvPr id="12" name="Rounded Rectangle 11"/>
          <p:cNvSpPr/>
          <p:nvPr/>
        </p:nvSpPr>
        <p:spPr>
          <a:xfrm>
            <a:off x="6309360" y="1371600"/>
            <a:ext cx="5120640" cy="40233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37160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600200"/>
            <a:ext cx="4572000" cy="411480"/>
          </a:xfrm>
          <a:prstGeom prst="rect">
            <a:avLst/>
          </a:prstGeom>
          <a:noFill/>
        </p:spPr>
        <p:txBody>
          <a:bodyPr wrap="none">
            <a:spAutoFit/>
          </a:bodyPr>
          <a:lstStyle/>
          <a:p>
            <a:pPr>
              <a:defRPr sz="1400" b="1">
                <a:solidFill>
                  <a:srgbClr val="0A192F"/>
                </a:solidFill>
              </a:defRPr>
            </a:pPr>
            <a:r>
              <a:t>🛡️ GATEWAY: Azure API Management</a:t>
            </a:r>
          </a:p>
        </p:txBody>
      </p:sp>
      <p:sp>
        <p:nvSpPr>
          <p:cNvPr id="15" name="TextBox 14"/>
          <p:cNvSpPr txBox="1"/>
          <p:nvPr/>
        </p:nvSpPr>
        <p:spPr>
          <a:xfrm>
            <a:off x="6583680" y="2057400"/>
            <a:ext cx="4572000" cy="274320"/>
          </a:xfrm>
          <a:prstGeom prst="rect">
            <a:avLst/>
          </a:prstGeom>
          <a:noFill/>
        </p:spPr>
        <p:txBody>
          <a:bodyPr wrap="none">
            <a:spAutoFit/>
          </a:bodyPr>
          <a:lstStyle/>
          <a:p>
            <a:pPr>
              <a:defRPr sz="950" b="1">
                <a:solidFill>
                  <a:srgbClr val="0078D4"/>
                </a:solidFill>
              </a:defRPr>
            </a:pPr>
            <a:r>
              <a:t>CONTROLS WHAT TRAFFIC IS PERMITTED TO FLOW</a:t>
            </a:r>
          </a:p>
        </p:txBody>
      </p:sp>
      <p:sp>
        <p:nvSpPr>
          <p:cNvPr id="16" name="TextBox 15"/>
          <p:cNvSpPr txBox="1"/>
          <p:nvPr/>
        </p:nvSpPr>
        <p:spPr>
          <a:xfrm>
            <a:off x="6583680" y="2423160"/>
            <a:ext cx="4572000" cy="2103120"/>
          </a:xfrm>
          <a:prstGeom prst="rect">
            <a:avLst/>
          </a:prstGeom>
          <a:noFill/>
        </p:spPr>
        <p:txBody>
          <a:bodyPr wrap="square">
            <a:spAutoFit/>
          </a:bodyPr>
          <a:lstStyle/>
          <a:p>
            <a:pPr>
              <a:spcAft>
                <a:spcPts val="600"/>
              </a:spcAft>
              <a:defRPr sz="1100">
                <a:solidFill>
                  <a:srgbClr val="0F172A"/>
                </a:solidFill>
              </a:defRPr>
            </a:pPr>
            <a:r>
              <a:t>• Dynamic policy router allowing only API Center approved endpoints.</a:t>
            </a:r>
          </a:p>
          <a:p>
            <a:pPr>
              <a:spcAft>
                <a:spcPts val="600"/>
              </a:spcAft>
              <a:defRPr sz="1100">
                <a:solidFill>
                  <a:srgbClr val="0F172A"/>
                </a:solidFill>
              </a:defRPr>
            </a:pPr>
            <a:r>
              <a:t>• Enforces mTLS, caller identity validation, and per-tool token quotas.</a:t>
            </a:r>
          </a:p>
          <a:p>
            <a:pPr>
              <a:spcAft>
                <a:spcPts val="600"/>
              </a:spcAft>
              <a:defRPr sz="1100">
                <a:solidFill>
                  <a:srgbClr val="0F172A"/>
                </a:solidFill>
              </a:defRPr>
            </a:pPr>
            <a:r>
              <a:t>• Logs every tool invocation with calling agent ID for forensic audit trails.</a:t>
            </a:r>
          </a:p>
          <a:p>
            <a:pPr>
              <a:spcAft>
                <a:spcPts val="600"/>
              </a:spcAft>
              <a:defRPr sz="1100">
                <a:solidFill>
                  <a:srgbClr val="0F172A"/>
                </a:solidFill>
              </a:defRPr>
            </a:pPr>
            <a:r>
              <a:t>• Rejects unapproved MCP servers and drops unauthorized external tool calls.</a:t>
            </a:r>
          </a:p>
        </p:txBody>
      </p:sp>
      <p:sp>
        <p:nvSpPr>
          <p:cNvPr id="17" name="Rounded Rectangle 16"/>
          <p:cNvSpPr/>
          <p:nvPr/>
        </p:nvSpPr>
        <p:spPr>
          <a:xfrm>
            <a:off x="6583680" y="4709160"/>
            <a:ext cx="4572000" cy="5029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0078D4"/>
                </a:solidFill>
              </a:rPr>
              <a:t>RUNTIME ROLE: </a:t>
            </a:r>
            <a:r>
              <a:rPr sz="1000">
                <a:solidFill>
                  <a:srgbClr val="0A192F"/>
                </a:solidFill>
              </a:rPr>
              <a:t>Zero-trust policy enforcement and audit logging</a:t>
            </a:r>
          </a:p>
        </p:txBody>
      </p:sp>
      <p:sp>
        <p:nvSpPr>
          <p:cNvPr id="18" name="Rounded Rectangle 17"/>
          <p:cNvSpPr/>
          <p:nvPr/>
        </p:nvSpPr>
        <p:spPr>
          <a:xfrm>
            <a:off x="731520" y="5532120"/>
            <a:ext cx="10698480" cy="68580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23560"/>
            <a:ext cx="10332720" cy="502920"/>
          </a:xfrm>
          <a:prstGeom prst="rect">
            <a:avLst/>
          </a:prstGeom>
          <a:noFill/>
        </p:spPr>
        <p:txBody>
          <a:bodyPr wrap="square">
            <a:spAutoFit/>
          </a:bodyPr>
          <a:lstStyle/>
          <a:p>
            <a:r>
              <a:rPr b="1" sz="1100">
                <a:solidFill>
                  <a:srgbClr val="0078D4"/>
                </a:solidFill>
              </a:rPr>
              <a:t>GOVERNANCE PRINCIPLE: </a:t>
            </a:r>
            <a:r>
              <a:rPr sz="1100">
                <a:solidFill>
                  <a:srgbClr val="0A192F"/>
                </a:solidFill>
              </a:rPr>
              <a:t>A tool or MCP server is allowed only if it is registered in API Center and accessed exclusively through API Management.</a:t>
            </a:r>
          </a:p>
        </p:txBody>
      </p:sp>
      <p:sp>
        <p:nvSpPr>
          <p:cNvPr id="20" name="TextBox 1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Gateway Implementation · Working proposal for senior leadership review · Slide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8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DELIVERY PACKAGES &amp; SIZING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08</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Readiness in 3 weeks; production gateway in 8 to 12 weeks</a:t>
            </a:r>
          </a:p>
        </p:txBody>
      </p:sp>
      <p:sp>
        <p:nvSpPr>
          <p:cNvPr id="6" name="Rounded Rectangle 5"/>
          <p:cNvSpPr/>
          <p:nvPr/>
        </p:nvSpPr>
        <p:spPr>
          <a:xfrm>
            <a:off x="731520" y="1371600"/>
            <a:ext cx="246888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4688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103120" cy="502920"/>
          </a:xfrm>
          <a:prstGeom prst="rect">
            <a:avLst/>
          </a:prstGeom>
          <a:noFill/>
        </p:spPr>
        <p:txBody>
          <a:bodyPr wrap="square">
            <a:spAutoFit/>
          </a:bodyPr>
          <a:lstStyle/>
          <a:p>
            <a:pPr>
              <a:defRPr sz="1300" b="1">
                <a:solidFill>
                  <a:srgbClr val="0A192F"/>
                </a:solidFill>
              </a:defRPr>
            </a:pPr>
            <a:r>
              <a:t>1. Gateway Readiness</a:t>
            </a:r>
          </a:p>
        </p:txBody>
      </p:sp>
      <p:sp>
        <p:nvSpPr>
          <p:cNvPr id="9" name="TextBox 8"/>
          <p:cNvSpPr txBox="1"/>
          <p:nvPr/>
        </p:nvSpPr>
        <p:spPr>
          <a:xfrm>
            <a:off x="914400" y="2194560"/>
            <a:ext cx="2103120" cy="274320"/>
          </a:xfrm>
          <a:prstGeom prst="rect">
            <a:avLst/>
          </a:prstGeom>
          <a:noFill/>
        </p:spPr>
        <p:txBody>
          <a:bodyPr wrap="none">
            <a:spAutoFit/>
          </a:bodyPr>
          <a:lstStyle/>
          <a:p>
            <a:pPr>
              <a:defRPr sz="1100" b="1">
                <a:solidFill>
                  <a:srgbClr val="0A192F"/>
                </a:solidFill>
              </a:defRPr>
            </a:pPr>
            <a:r>
              <a:t>3-4 WEEKS</a:t>
            </a:r>
          </a:p>
        </p:txBody>
      </p:sp>
      <p:sp>
        <p:nvSpPr>
          <p:cNvPr id="10" name="TextBox 9"/>
          <p:cNvSpPr txBox="1"/>
          <p:nvPr/>
        </p:nvSpPr>
        <p:spPr>
          <a:xfrm>
            <a:off x="914400" y="2514600"/>
            <a:ext cx="2103120" cy="320040"/>
          </a:xfrm>
          <a:prstGeom prst="rect">
            <a:avLst/>
          </a:prstGeom>
          <a:noFill/>
        </p:spPr>
        <p:txBody>
          <a:bodyPr wrap="none">
            <a:spAutoFit/>
          </a:bodyPr>
          <a:lstStyle/>
          <a:p>
            <a:pPr>
              <a:defRPr sz="1600" b="1">
                <a:solidFill>
                  <a:srgbClr val="0A192F"/>
                </a:solidFill>
              </a:defRPr>
            </a:pPr>
            <a:r>
              <a:t>25-35 Days</a:t>
            </a:r>
          </a:p>
        </p:txBody>
      </p:sp>
      <p:sp>
        <p:nvSpPr>
          <p:cNvPr id="11" name="TextBox 10"/>
          <p:cNvSpPr txBox="1"/>
          <p:nvPr/>
        </p:nvSpPr>
        <p:spPr>
          <a:xfrm>
            <a:off x="914400" y="2880360"/>
            <a:ext cx="2103120" cy="320040"/>
          </a:xfrm>
          <a:prstGeom prst="rect">
            <a:avLst/>
          </a:prstGeom>
          <a:noFill/>
        </p:spPr>
        <p:txBody>
          <a:bodyPr wrap="none">
            <a:spAutoFit/>
          </a:bodyPr>
          <a:lstStyle/>
          <a:p>
            <a:pPr>
              <a:defRPr sz="1500" b="1">
                <a:solidFill>
                  <a:srgbClr val="0A192F"/>
                </a:solidFill>
              </a:defRPr>
            </a:pPr>
            <a:r>
              <a:t>$25k-$35k</a:t>
            </a:r>
          </a:p>
        </p:txBody>
      </p:sp>
      <p:sp>
        <p:nvSpPr>
          <p:cNvPr id="12" name="TextBox 11"/>
          <p:cNvSpPr txBox="1"/>
          <p:nvPr/>
        </p:nvSpPr>
        <p:spPr>
          <a:xfrm>
            <a:off x="914400" y="3291840"/>
            <a:ext cx="2103120" cy="1920240"/>
          </a:xfrm>
          <a:prstGeom prst="rect">
            <a:avLst/>
          </a:prstGeom>
          <a:noFill/>
        </p:spPr>
        <p:txBody>
          <a:bodyPr wrap="square">
            <a:spAutoFit/>
          </a:bodyPr>
          <a:lstStyle/>
          <a:p>
            <a:pPr>
              <a:defRPr sz="1050">
                <a:solidFill>
                  <a:srgbClr val="0F172A"/>
                </a:solidFill>
              </a:defRPr>
            </a:pPr>
            <a:r>
              <a:t>Traffic pattern discovery, token audit, and APIM tier architecture.</a:t>
            </a:r>
          </a:p>
        </p:txBody>
      </p:sp>
      <p:sp>
        <p:nvSpPr>
          <p:cNvPr id="13" name="Rounded Rectangle 12"/>
          <p:cNvSpPr/>
          <p:nvPr/>
        </p:nvSpPr>
        <p:spPr>
          <a:xfrm>
            <a:off x="3474720" y="1371600"/>
            <a:ext cx="246888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0" y="1371600"/>
            <a:ext cx="24688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1600200"/>
            <a:ext cx="2103120" cy="502920"/>
          </a:xfrm>
          <a:prstGeom prst="rect">
            <a:avLst/>
          </a:prstGeom>
          <a:noFill/>
        </p:spPr>
        <p:txBody>
          <a:bodyPr wrap="square">
            <a:spAutoFit/>
          </a:bodyPr>
          <a:lstStyle/>
          <a:p>
            <a:pPr>
              <a:defRPr sz="1300" b="1">
                <a:solidFill>
                  <a:srgbClr val="0A192F"/>
                </a:solidFill>
              </a:defRPr>
            </a:pPr>
            <a:r>
              <a:t>2. Core Gateway Build</a:t>
            </a:r>
          </a:p>
        </p:txBody>
      </p:sp>
      <p:sp>
        <p:nvSpPr>
          <p:cNvPr id="16" name="TextBox 15"/>
          <p:cNvSpPr txBox="1"/>
          <p:nvPr/>
        </p:nvSpPr>
        <p:spPr>
          <a:xfrm>
            <a:off x="3657600" y="2194560"/>
            <a:ext cx="2103120" cy="274320"/>
          </a:xfrm>
          <a:prstGeom prst="rect">
            <a:avLst/>
          </a:prstGeom>
          <a:noFill/>
        </p:spPr>
        <p:txBody>
          <a:bodyPr wrap="none">
            <a:spAutoFit/>
          </a:bodyPr>
          <a:lstStyle/>
          <a:p>
            <a:pPr>
              <a:defRPr sz="1100" b="1">
                <a:solidFill>
                  <a:srgbClr val="0A192F"/>
                </a:solidFill>
              </a:defRPr>
            </a:pPr>
            <a:r>
              <a:t>6-8 WEEKS</a:t>
            </a:r>
          </a:p>
        </p:txBody>
      </p:sp>
      <p:sp>
        <p:nvSpPr>
          <p:cNvPr id="17" name="TextBox 16"/>
          <p:cNvSpPr txBox="1"/>
          <p:nvPr/>
        </p:nvSpPr>
        <p:spPr>
          <a:xfrm>
            <a:off x="3657600" y="2514600"/>
            <a:ext cx="2103120" cy="320040"/>
          </a:xfrm>
          <a:prstGeom prst="rect">
            <a:avLst/>
          </a:prstGeom>
          <a:noFill/>
        </p:spPr>
        <p:txBody>
          <a:bodyPr wrap="none">
            <a:spAutoFit/>
          </a:bodyPr>
          <a:lstStyle/>
          <a:p>
            <a:pPr>
              <a:defRPr sz="1600" b="1">
                <a:solidFill>
                  <a:srgbClr val="0A192F"/>
                </a:solidFill>
              </a:defRPr>
            </a:pPr>
            <a:r>
              <a:t>50-65 Days</a:t>
            </a:r>
          </a:p>
        </p:txBody>
      </p:sp>
      <p:sp>
        <p:nvSpPr>
          <p:cNvPr id="18" name="TextBox 17"/>
          <p:cNvSpPr txBox="1"/>
          <p:nvPr/>
        </p:nvSpPr>
        <p:spPr>
          <a:xfrm>
            <a:off x="3657600" y="2880360"/>
            <a:ext cx="2103120" cy="320040"/>
          </a:xfrm>
          <a:prstGeom prst="rect">
            <a:avLst/>
          </a:prstGeom>
          <a:noFill/>
        </p:spPr>
        <p:txBody>
          <a:bodyPr wrap="none">
            <a:spAutoFit/>
          </a:bodyPr>
          <a:lstStyle/>
          <a:p>
            <a:pPr>
              <a:defRPr sz="1500" b="1">
                <a:solidFill>
                  <a:srgbClr val="0A192F"/>
                </a:solidFill>
              </a:defRPr>
            </a:pPr>
            <a:r>
              <a:t>$50k-$65k</a:t>
            </a:r>
          </a:p>
        </p:txBody>
      </p:sp>
      <p:sp>
        <p:nvSpPr>
          <p:cNvPr id="19" name="TextBox 18"/>
          <p:cNvSpPr txBox="1"/>
          <p:nvPr/>
        </p:nvSpPr>
        <p:spPr>
          <a:xfrm>
            <a:off x="3657600" y="3291840"/>
            <a:ext cx="2103120" cy="1920240"/>
          </a:xfrm>
          <a:prstGeom prst="rect">
            <a:avLst/>
          </a:prstGeom>
          <a:noFill/>
        </p:spPr>
        <p:txBody>
          <a:bodyPr wrap="square">
            <a:spAutoFit/>
          </a:bodyPr>
          <a:lstStyle/>
          <a:p>
            <a:pPr>
              <a:defRPr sz="1050">
                <a:solidFill>
                  <a:srgbClr val="0F172A"/>
                </a:solidFill>
              </a:defRPr>
            </a:pPr>
            <a:r>
              <a:t>APIM deployment, private networking, TPM rate limiting, and basic routing.</a:t>
            </a:r>
          </a:p>
        </p:txBody>
      </p:sp>
      <p:sp>
        <p:nvSpPr>
          <p:cNvPr id="20" name="Rounded Rectangle 19"/>
          <p:cNvSpPr/>
          <p:nvPr/>
        </p:nvSpPr>
        <p:spPr>
          <a:xfrm>
            <a:off x="6217920" y="1371600"/>
            <a:ext cx="2468880" cy="40233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371600"/>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600200"/>
            <a:ext cx="2103120" cy="502920"/>
          </a:xfrm>
          <a:prstGeom prst="rect">
            <a:avLst/>
          </a:prstGeom>
          <a:noFill/>
        </p:spPr>
        <p:txBody>
          <a:bodyPr wrap="square">
            <a:spAutoFit/>
          </a:bodyPr>
          <a:lstStyle/>
          <a:p>
            <a:pPr>
              <a:defRPr sz="1300" b="1">
                <a:solidFill>
                  <a:srgbClr val="0A192F"/>
                </a:solidFill>
              </a:defRPr>
            </a:pPr>
            <a:r>
              <a:t>3. Advanced Routing</a:t>
            </a:r>
          </a:p>
        </p:txBody>
      </p:sp>
      <p:sp>
        <p:nvSpPr>
          <p:cNvPr id="23" name="TextBox 22"/>
          <p:cNvSpPr txBox="1"/>
          <p:nvPr/>
        </p:nvSpPr>
        <p:spPr>
          <a:xfrm>
            <a:off x="6400800" y="2194560"/>
            <a:ext cx="2103120" cy="274320"/>
          </a:xfrm>
          <a:prstGeom prst="rect">
            <a:avLst/>
          </a:prstGeom>
          <a:noFill/>
        </p:spPr>
        <p:txBody>
          <a:bodyPr wrap="none">
            <a:spAutoFit/>
          </a:bodyPr>
          <a:lstStyle/>
          <a:p>
            <a:pPr>
              <a:defRPr sz="1100" b="1">
                <a:solidFill>
                  <a:srgbClr val="0078D4"/>
                </a:solidFill>
              </a:defRPr>
            </a:pPr>
            <a:r>
              <a:t>8-12 WEEKS</a:t>
            </a:r>
          </a:p>
        </p:txBody>
      </p:sp>
      <p:sp>
        <p:nvSpPr>
          <p:cNvPr id="24" name="TextBox 23"/>
          <p:cNvSpPr txBox="1"/>
          <p:nvPr/>
        </p:nvSpPr>
        <p:spPr>
          <a:xfrm>
            <a:off x="6400800" y="2514600"/>
            <a:ext cx="2103120" cy="320040"/>
          </a:xfrm>
          <a:prstGeom prst="rect">
            <a:avLst/>
          </a:prstGeom>
          <a:noFill/>
        </p:spPr>
        <p:txBody>
          <a:bodyPr wrap="none">
            <a:spAutoFit/>
          </a:bodyPr>
          <a:lstStyle/>
          <a:p>
            <a:pPr>
              <a:defRPr sz="1600" b="1">
                <a:solidFill>
                  <a:srgbClr val="0A192F"/>
                </a:solidFill>
              </a:defRPr>
            </a:pPr>
            <a:r>
              <a:t>70-95 Days</a:t>
            </a:r>
          </a:p>
        </p:txBody>
      </p:sp>
      <p:sp>
        <p:nvSpPr>
          <p:cNvPr id="25" name="TextBox 24"/>
          <p:cNvSpPr txBox="1"/>
          <p:nvPr/>
        </p:nvSpPr>
        <p:spPr>
          <a:xfrm>
            <a:off x="6400800" y="2880360"/>
            <a:ext cx="2103120" cy="320040"/>
          </a:xfrm>
          <a:prstGeom prst="rect">
            <a:avLst/>
          </a:prstGeom>
          <a:noFill/>
        </p:spPr>
        <p:txBody>
          <a:bodyPr wrap="none">
            <a:spAutoFit/>
          </a:bodyPr>
          <a:lstStyle/>
          <a:p>
            <a:pPr>
              <a:defRPr sz="1500" b="1">
                <a:solidFill>
                  <a:srgbClr val="0078D4"/>
                </a:solidFill>
              </a:defRPr>
            </a:pPr>
            <a:r>
              <a:t>$70k-$95k</a:t>
            </a:r>
          </a:p>
        </p:txBody>
      </p:sp>
      <p:sp>
        <p:nvSpPr>
          <p:cNvPr id="26" name="TextBox 25"/>
          <p:cNvSpPr txBox="1"/>
          <p:nvPr/>
        </p:nvSpPr>
        <p:spPr>
          <a:xfrm>
            <a:off x="6400800" y="3291840"/>
            <a:ext cx="2103120" cy="1920240"/>
          </a:xfrm>
          <a:prstGeom prst="rect">
            <a:avLst/>
          </a:prstGeom>
          <a:noFill/>
        </p:spPr>
        <p:txBody>
          <a:bodyPr wrap="square">
            <a:spAutoFit/>
          </a:bodyPr>
          <a:lstStyle/>
          <a:p>
            <a:pPr>
              <a:defRPr sz="1050">
                <a:solidFill>
                  <a:srgbClr val="0F172A"/>
                </a:solidFill>
              </a:defRPr>
            </a:pPr>
            <a:r>
              <a:t>PTU/PAYG overflow routing, Redis semantic caching, and API Center sync.</a:t>
            </a:r>
          </a:p>
        </p:txBody>
      </p:sp>
      <p:sp>
        <p:nvSpPr>
          <p:cNvPr id="27" name="Rounded Rectangle 26"/>
          <p:cNvSpPr/>
          <p:nvPr/>
        </p:nvSpPr>
        <p:spPr>
          <a:xfrm>
            <a:off x="8961120" y="1371600"/>
            <a:ext cx="2468880" cy="40233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61120" y="1371600"/>
            <a:ext cx="24688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0" y="1600200"/>
            <a:ext cx="2103120" cy="502920"/>
          </a:xfrm>
          <a:prstGeom prst="rect">
            <a:avLst/>
          </a:prstGeom>
          <a:noFill/>
        </p:spPr>
        <p:txBody>
          <a:bodyPr wrap="square">
            <a:spAutoFit/>
          </a:bodyPr>
          <a:lstStyle/>
          <a:p>
            <a:pPr>
              <a:defRPr sz="1300" b="1">
                <a:solidFill>
                  <a:srgbClr val="0A192F"/>
                </a:solidFill>
              </a:defRPr>
            </a:pPr>
            <a:r>
              <a:t>4. Enterprise Mesh</a:t>
            </a:r>
          </a:p>
        </p:txBody>
      </p:sp>
      <p:sp>
        <p:nvSpPr>
          <p:cNvPr id="30" name="TextBox 29"/>
          <p:cNvSpPr txBox="1"/>
          <p:nvPr/>
        </p:nvSpPr>
        <p:spPr>
          <a:xfrm>
            <a:off x="9144000" y="2194560"/>
            <a:ext cx="2103120" cy="274320"/>
          </a:xfrm>
          <a:prstGeom prst="rect">
            <a:avLst/>
          </a:prstGeom>
          <a:noFill/>
        </p:spPr>
        <p:txBody>
          <a:bodyPr wrap="none">
            <a:spAutoFit/>
          </a:bodyPr>
          <a:lstStyle/>
          <a:p>
            <a:pPr>
              <a:defRPr sz="1100" b="1">
                <a:solidFill>
                  <a:srgbClr val="00A389"/>
                </a:solidFill>
              </a:defRPr>
            </a:pPr>
            <a:r>
              <a:t>12-16 WEEKS</a:t>
            </a:r>
          </a:p>
        </p:txBody>
      </p:sp>
      <p:sp>
        <p:nvSpPr>
          <p:cNvPr id="31" name="TextBox 30"/>
          <p:cNvSpPr txBox="1"/>
          <p:nvPr/>
        </p:nvSpPr>
        <p:spPr>
          <a:xfrm>
            <a:off x="9144000" y="2514600"/>
            <a:ext cx="2103120" cy="320040"/>
          </a:xfrm>
          <a:prstGeom prst="rect">
            <a:avLst/>
          </a:prstGeom>
          <a:noFill/>
        </p:spPr>
        <p:txBody>
          <a:bodyPr wrap="none">
            <a:spAutoFit/>
          </a:bodyPr>
          <a:lstStyle/>
          <a:p>
            <a:pPr>
              <a:defRPr sz="1600" b="1">
                <a:solidFill>
                  <a:srgbClr val="0A192F"/>
                </a:solidFill>
              </a:defRPr>
            </a:pPr>
            <a:r>
              <a:t>110-140 Days</a:t>
            </a:r>
          </a:p>
        </p:txBody>
      </p:sp>
      <p:sp>
        <p:nvSpPr>
          <p:cNvPr id="32" name="TextBox 31"/>
          <p:cNvSpPr txBox="1"/>
          <p:nvPr/>
        </p:nvSpPr>
        <p:spPr>
          <a:xfrm>
            <a:off x="9144000" y="2880360"/>
            <a:ext cx="2103120" cy="320040"/>
          </a:xfrm>
          <a:prstGeom prst="rect">
            <a:avLst/>
          </a:prstGeom>
          <a:noFill/>
        </p:spPr>
        <p:txBody>
          <a:bodyPr wrap="none">
            <a:spAutoFit/>
          </a:bodyPr>
          <a:lstStyle/>
          <a:p>
            <a:pPr>
              <a:defRPr sz="1500" b="1">
                <a:solidFill>
                  <a:srgbClr val="00A389"/>
                </a:solidFill>
              </a:defRPr>
            </a:pPr>
            <a:r>
              <a:t>$110k-$140k</a:t>
            </a:r>
          </a:p>
        </p:txBody>
      </p:sp>
      <p:sp>
        <p:nvSpPr>
          <p:cNvPr id="33" name="TextBox 32"/>
          <p:cNvSpPr txBox="1"/>
          <p:nvPr/>
        </p:nvSpPr>
        <p:spPr>
          <a:xfrm>
            <a:off x="9144000" y="3291840"/>
            <a:ext cx="2103120" cy="1920240"/>
          </a:xfrm>
          <a:prstGeom prst="rect">
            <a:avLst/>
          </a:prstGeom>
          <a:noFill/>
        </p:spPr>
        <p:txBody>
          <a:bodyPr wrap="square">
            <a:spAutoFit/>
          </a:bodyPr>
          <a:lstStyle/>
          <a:p>
            <a:pPr>
              <a:defRPr sz="1050">
                <a:solidFill>
                  <a:srgbClr val="0F172A"/>
                </a:solidFill>
              </a:defRPr>
            </a:pPr>
            <a:r>
              <a:t>Multi-region APIM, global load balancing, and 24x7 operational handoff.</a:t>
            </a:r>
          </a:p>
        </p:txBody>
      </p:sp>
      <p:sp>
        <p:nvSpPr>
          <p:cNvPr id="34" name="Rounded Rectangle 33"/>
          <p:cNvSpPr/>
          <p:nvPr/>
        </p:nvSpPr>
        <p:spPr>
          <a:xfrm>
            <a:off x="731520" y="5532120"/>
            <a:ext cx="10698480" cy="685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623560"/>
            <a:ext cx="10332720" cy="502920"/>
          </a:xfrm>
          <a:prstGeom prst="rect">
            <a:avLst/>
          </a:prstGeom>
          <a:noFill/>
        </p:spPr>
        <p:txBody>
          <a:bodyPr wrap="square">
            <a:spAutoFit/>
          </a:bodyPr>
          <a:lstStyle/>
          <a:p>
            <a:pPr>
              <a:defRPr sz="1000">
                <a:solidFill>
                  <a:srgbClr val="64748B"/>
                </a:solidFill>
              </a:defRPr>
            </a:pPr>
            <a:r>
              <a:t>THREE-WAY COMMERCIAL SEPARATION: (1) APIM Platform Cost ($1.5k-$2.8k/mo) + (2) Model Token Consumption (Direct Azure spend) + (3) CIS Infra Implementation Fee. Role fee bands illustrative at $1,000/day.</a:t>
            </a:r>
          </a:p>
        </p:txBody>
      </p:sp>
      <p:sp>
        <p:nvSpPr>
          <p:cNvPr id="36" name="TextBox 35"/>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Gateway Implementation · Working proposal for senior leadership review · Slide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9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RISK CONTROLS &amp; LIMITS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09</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Bypass prevention and token counter sync decide gateway control</a:t>
            </a:r>
          </a:p>
        </p:txBody>
      </p:sp>
      <p:sp>
        <p:nvSpPr>
          <p:cNvPr id="6" name="Rounded Rectangle 5"/>
          <p:cNvSpPr/>
          <p:nvPr/>
        </p:nvSpPr>
        <p:spPr>
          <a:xfrm>
            <a:off x="731520" y="1371600"/>
            <a:ext cx="2468880" cy="4023360"/>
          </a:xfrm>
          <a:prstGeom prst="roundRect">
            <a:avLst/>
          </a:prstGeom>
          <a:solidFill>
            <a:srgbClr val="FFFFFF"/>
          </a:solidFill>
          <a:ln w="1905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4688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103120" cy="457200"/>
          </a:xfrm>
          <a:prstGeom prst="rect">
            <a:avLst/>
          </a:prstGeom>
          <a:noFill/>
        </p:spPr>
        <p:txBody>
          <a:bodyPr wrap="none">
            <a:spAutoFit/>
          </a:bodyPr>
          <a:lstStyle/>
          <a:p>
            <a:pPr>
              <a:defRPr sz="1500" b="1">
                <a:solidFill>
                  <a:srgbClr val="0A192F"/>
                </a:solidFill>
              </a:defRPr>
            </a:pPr>
            <a:r>
              <a:t>Direct Bypass</a:t>
            </a:r>
          </a:p>
        </p:txBody>
      </p:sp>
      <p:sp>
        <p:nvSpPr>
          <p:cNvPr id="9" name="TextBox 8"/>
          <p:cNvSpPr txBox="1"/>
          <p:nvPr/>
        </p:nvSpPr>
        <p:spPr>
          <a:xfrm>
            <a:off x="914400" y="2148840"/>
            <a:ext cx="2103120" cy="1188720"/>
          </a:xfrm>
          <a:prstGeom prst="rect">
            <a:avLst/>
          </a:prstGeom>
          <a:noFill/>
        </p:spPr>
        <p:txBody>
          <a:bodyPr wrap="square">
            <a:spAutoFit/>
          </a:bodyPr>
          <a:lstStyle/>
          <a:p>
            <a:pPr>
              <a:defRPr sz="1000" b="1">
                <a:solidFill>
                  <a:srgbClr val="D83B01"/>
                </a:solidFill>
              </a:defRPr>
            </a:pPr>
            <a:r>
              <a:t>RISK EFFECT:</a:t>
            </a:r>
          </a:p>
          <a:p>
            <a:pPr>
              <a:defRPr sz="1100">
                <a:solidFill>
                  <a:srgbClr val="0F172A"/>
                </a:solidFill>
              </a:defRPr>
            </a:pPr>
            <a:r>
              <a:t>Apps call model endpoints directly using Azure keys.</a:t>
            </a:r>
          </a:p>
        </p:txBody>
      </p:sp>
      <p:sp>
        <p:nvSpPr>
          <p:cNvPr id="10" name="TextBox 9"/>
          <p:cNvSpPr txBox="1"/>
          <p:nvPr/>
        </p:nvSpPr>
        <p:spPr>
          <a:xfrm>
            <a:off x="9144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Enforce Private Endpoints and turn off local key authentication.</a:t>
            </a:r>
          </a:p>
        </p:txBody>
      </p:sp>
      <p:sp>
        <p:nvSpPr>
          <p:cNvPr id="11" name="Rounded Rectangle 10"/>
          <p:cNvSpPr/>
          <p:nvPr/>
        </p:nvSpPr>
        <p:spPr>
          <a:xfrm>
            <a:off x="3474720" y="1371600"/>
            <a:ext cx="2468880" cy="40233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371600"/>
            <a:ext cx="2468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600200"/>
            <a:ext cx="2103120" cy="457200"/>
          </a:xfrm>
          <a:prstGeom prst="rect">
            <a:avLst/>
          </a:prstGeom>
          <a:noFill/>
        </p:spPr>
        <p:txBody>
          <a:bodyPr wrap="none">
            <a:spAutoFit/>
          </a:bodyPr>
          <a:lstStyle/>
          <a:p>
            <a:pPr>
              <a:defRPr sz="1500" b="1">
                <a:solidFill>
                  <a:srgbClr val="0A192F"/>
                </a:solidFill>
              </a:defRPr>
            </a:pPr>
            <a:r>
              <a:t>Preview Tier Risk</a:t>
            </a:r>
          </a:p>
        </p:txBody>
      </p:sp>
      <p:sp>
        <p:nvSpPr>
          <p:cNvPr id="14" name="TextBox 13"/>
          <p:cNvSpPr txBox="1"/>
          <p:nvPr/>
        </p:nvSpPr>
        <p:spPr>
          <a:xfrm>
            <a:off x="3657600" y="2148840"/>
            <a:ext cx="2103120" cy="1188720"/>
          </a:xfrm>
          <a:prstGeom prst="rect">
            <a:avLst/>
          </a:prstGeom>
          <a:noFill/>
        </p:spPr>
        <p:txBody>
          <a:bodyPr wrap="square">
            <a:spAutoFit/>
          </a:bodyPr>
          <a:lstStyle/>
          <a:p>
            <a:pPr>
              <a:defRPr sz="1000" b="1">
                <a:solidFill>
                  <a:srgbClr val="D97706"/>
                </a:solidFill>
              </a:defRPr>
            </a:pPr>
            <a:r>
              <a:t>RISK EFFECT:</a:t>
            </a:r>
          </a:p>
          <a:p>
            <a:pPr>
              <a:defRPr sz="1100">
                <a:solidFill>
                  <a:srgbClr val="0F172A"/>
                </a:solidFill>
              </a:defRPr>
            </a:pPr>
            <a:r>
              <a:t>Preview APIM AI features lack production SLAs and change rapidly.</a:t>
            </a:r>
          </a:p>
        </p:txBody>
      </p:sp>
      <p:sp>
        <p:nvSpPr>
          <p:cNvPr id="15" name="TextBox 14"/>
          <p:cNvSpPr txBox="1"/>
          <p:nvPr/>
        </p:nvSpPr>
        <p:spPr>
          <a:xfrm>
            <a:off x="36576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Deploy GA APIM tiers (Standard v2 / Premium) for all production workloads.</a:t>
            </a:r>
          </a:p>
        </p:txBody>
      </p:sp>
      <p:sp>
        <p:nvSpPr>
          <p:cNvPr id="16" name="Rounded Rectangle 15"/>
          <p:cNvSpPr/>
          <p:nvPr/>
        </p:nvSpPr>
        <p:spPr>
          <a:xfrm>
            <a:off x="6217920" y="1371600"/>
            <a:ext cx="2468880" cy="40233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71600"/>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600200"/>
            <a:ext cx="2103120" cy="457200"/>
          </a:xfrm>
          <a:prstGeom prst="rect">
            <a:avLst/>
          </a:prstGeom>
          <a:noFill/>
        </p:spPr>
        <p:txBody>
          <a:bodyPr wrap="none">
            <a:spAutoFit/>
          </a:bodyPr>
          <a:lstStyle/>
          <a:p>
            <a:pPr>
              <a:defRPr sz="1500" b="1">
                <a:solidFill>
                  <a:srgbClr val="0A192F"/>
                </a:solidFill>
              </a:defRPr>
            </a:pPr>
            <a:r>
              <a:t>Tool Sprawl</a:t>
            </a:r>
          </a:p>
        </p:txBody>
      </p:sp>
      <p:sp>
        <p:nvSpPr>
          <p:cNvPr id="19" name="TextBox 18"/>
          <p:cNvSpPr txBox="1"/>
          <p:nvPr/>
        </p:nvSpPr>
        <p:spPr>
          <a:xfrm>
            <a:off x="6400800" y="2148840"/>
            <a:ext cx="2103120" cy="1188720"/>
          </a:xfrm>
          <a:prstGeom prst="rect">
            <a:avLst/>
          </a:prstGeom>
          <a:noFill/>
        </p:spPr>
        <p:txBody>
          <a:bodyPr wrap="square">
            <a:spAutoFit/>
          </a:bodyPr>
          <a:lstStyle/>
          <a:p>
            <a:pPr>
              <a:defRPr sz="1000" b="1">
                <a:solidFill>
                  <a:srgbClr val="0078D4"/>
                </a:solidFill>
              </a:defRPr>
            </a:pPr>
            <a:r>
              <a:t>RISK EFFECT:</a:t>
            </a:r>
          </a:p>
          <a:p>
            <a:pPr>
              <a:defRPr sz="1100">
                <a:solidFill>
                  <a:srgbClr val="0F172A"/>
                </a:solidFill>
              </a:defRPr>
            </a:pPr>
            <a:r>
              <a:t>Agents call unvetted MCP servers and expose sensitive data.</a:t>
            </a:r>
          </a:p>
        </p:txBody>
      </p:sp>
      <p:sp>
        <p:nvSpPr>
          <p:cNvPr id="20" name="TextBox 19"/>
          <p:cNvSpPr txBox="1"/>
          <p:nvPr/>
        </p:nvSpPr>
        <p:spPr>
          <a:xfrm>
            <a:off x="64008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Mandate API Center registration rule backed by gateway authorization.</a:t>
            </a:r>
          </a:p>
        </p:txBody>
      </p:sp>
      <p:sp>
        <p:nvSpPr>
          <p:cNvPr id="21" name="Rounded Rectangle 20"/>
          <p:cNvSpPr/>
          <p:nvPr/>
        </p:nvSpPr>
        <p:spPr>
          <a:xfrm>
            <a:off x="8961120" y="1371600"/>
            <a:ext cx="2468880" cy="40233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1371600"/>
            <a:ext cx="24688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1600200"/>
            <a:ext cx="2103120" cy="457200"/>
          </a:xfrm>
          <a:prstGeom prst="rect">
            <a:avLst/>
          </a:prstGeom>
          <a:noFill/>
        </p:spPr>
        <p:txBody>
          <a:bodyPr wrap="none">
            <a:spAutoFit/>
          </a:bodyPr>
          <a:lstStyle/>
          <a:p>
            <a:pPr>
              <a:defRPr sz="1500" b="1">
                <a:solidFill>
                  <a:srgbClr val="0A192F"/>
                </a:solidFill>
              </a:defRPr>
            </a:pPr>
            <a:r>
              <a:t>Overflow Spend</a:t>
            </a:r>
          </a:p>
        </p:txBody>
      </p:sp>
      <p:sp>
        <p:nvSpPr>
          <p:cNvPr id="24" name="TextBox 23"/>
          <p:cNvSpPr txBox="1"/>
          <p:nvPr/>
        </p:nvSpPr>
        <p:spPr>
          <a:xfrm>
            <a:off x="9144000" y="2148840"/>
            <a:ext cx="2103120" cy="1188720"/>
          </a:xfrm>
          <a:prstGeom prst="rect">
            <a:avLst/>
          </a:prstGeom>
          <a:noFill/>
        </p:spPr>
        <p:txBody>
          <a:bodyPr wrap="square">
            <a:spAutoFit/>
          </a:bodyPr>
          <a:lstStyle/>
          <a:p>
            <a:pPr>
              <a:defRPr sz="1000" b="1">
                <a:solidFill>
                  <a:srgbClr val="00A389"/>
                </a:solidFill>
              </a:defRPr>
            </a:pPr>
            <a:r>
              <a:t>RISK EFFECT:</a:t>
            </a:r>
          </a:p>
          <a:p>
            <a:pPr>
              <a:defRPr sz="1100">
                <a:solidFill>
                  <a:srgbClr val="0F172A"/>
                </a:solidFill>
              </a:defRPr>
            </a:pPr>
            <a:r>
              <a:t>Unchecked PAYG spillover creates surprise monthly token invoices.</a:t>
            </a:r>
          </a:p>
        </p:txBody>
      </p:sp>
      <p:sp>
        <p:nvSpPr>
          <p:cNvPr id="25" name="TextBox 24"/>
          <p:cNvSpPr txBox="1"/>
          <p:nvPr/>
        </p:nvSpPr>
        <p:spPr>
          <a:xfrm>
            <a:off x="91440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Establish hard TPM spillover caps and automated budget alert webhooks.</a:t>
            </a:r>
          </a:p>
        </p:txBody>
      </p:sp>
      <p:sp>
        <p:nvSpPr>
          <p:cNvPr id="26" name="Rounded Rectangle 25"/>
          <p:cNvSpPr/>
          <p:nvPr/>
        </p:nvSpPr>
        <p:spPr>
          <a:xfrm>
            <a:off x="731520" y="5532120"/>
            <a:ext cx="10698480" cy="685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623560"/>
            <a:ext cx="10332720" cy="502920"/>
          </a:xfrm>
          <a:prstGeom prst="rect">
            <a:avLst/>
          </a:prstGeom>
          <a:noFill/>
        </p:spPr>
        <p:txBody>
          <a:bodyPr wrap="none">
            <a:spAutoFit/>
          </a:bodyPr>
          <a:lstStyle/>
          <a:p>
            <a:pPr>
              <a:defRPr sz="1050" b="1">
                <a:solidFill>
                  <a:srgbClr val="64748B"/>
                </a:solidFill>
              </a:defRPr>
            </a:pPr>
            <a:r>
              <a:t>SECURITY CONTROLS: Threat model, OWASP Top 10 for LLM mitigations, and compliance references in Technical Appendix SEC1 and SEC2.</a:t>
            </a:r>
          </a:p>
        </p:txBody>
      </p:sp>
      <p:sp>
        <p:nvSpPr>
          <p:cNvPr id="28" name="TextBox 27"/>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Gateway Implementation · Working proposal for senior leadership review · Slide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10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DECISION REQUESTED</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10</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Zero bypass and token cost visibility define success</a:t>
            </a:r>
          </a:p>
        </p:txBody>
      </p:sp>
      <p:sp>
        <p:nvSpPr>
          <p:cNvPr id="6" name="Rounded Rectangle 5"/>
          <p:cNvSpPr/>
          <p:nvPr/>
        </p:nvSpPr>
        <p:spPr>
          <a:xfrm>
            <a:off x="731520" y="1325880"/>
            <a:ext cx="1069848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10332720" cy="274320"/>
          </a:xfrm>
          <a:prstGeom prst="rect">
            <a:avLst/>
          </a:prstGeom>
          <a:noFill/>
        </p:spPr>
        <p:txBody>
          <a:bodyPr wrap="none">
            <a:spAutoFit/>
          </a:bodyPr>
          <a:lstStyle/>
          <a:p>
            <a:pPr>
              <a:defRPr sz="1100" b="1">
                <a:solidFill>
                  <a:srgbClr val="0A192F"/>
                </a:solidFill>
              </a:defRPr>
            </a:pPr>
            <a:r>
              <a:t>MEASURABLE SUCCESS CRITERIA</a:t>
            </a:r>
          </a:p>
        </p:txBody>
      </p:sp>
      <p:sp>
        <p:nvSpPr>
          <p:cNvPr id="8" name="TextBox 7"/>
          <p:cNvSpPr txBox="1"/>
          <p:nvPr/>
        </p:nvSpPr>
        <p:spPr>
          <a:xfrm>
            <a:off x="914400" y="1691640"/>
            <a:ext cx="1097280" cy="502920"/>
          </a:xfrm>
          <a:prstGeom prst="rect">
            <a:avLst/>
          </a:prstGeom>
          <a:noFill/>
        </p:spPr>
        <p:txBody>
          <a:bodyPr wrap="none">
            <a:spAutoFit/>
          </a:bodyPr>
          <a:lstStyle/>
          <a:p>
            <a:pPr>
              <a:defRPr sz="2800" b="1">
                <a:solidFill>
                  <a:srgbClr val="0078D4"/>
                </a:solidFill>
              </a:defRPr>
            </a:pPr>
            <a:r>
              <a:t>100%</a:t>
            </a:r>
          </a:p>
        </p:txBody>
      </p:sp>
      <p:sp>
        <p:nvSpPr>
          <p:cNvPr id="9" name="TextBox 8"/>
          <p:cNvSpPr txBox="1"/>
          <p:nvPr/>
        </p:nvSpPr>
        <p:spPr>
          <a:xfrm>
            <a:off x="2057400" y="1691640"/>
            <a:ext cx="2194560" cy="228600"/>
          </a:xfrm>
          <a:prstGeom prst="rect">
            <a:avLst/>
          </a:prstGeom>
          <a:noFill/>
        </p:spPr>
        <p:txBody>
          <a:bodyPr wrap="none">
            <a:spAutoFit/>
          </a:bodyPr>
          <a:lstStyle/>
          <a:p>
            <a:pPr>
              <a:defRPr sz="1200" b="1">
                <a:solidFill>
                  <a:srgbClr val="0A192F"/>
                </a:solidFill>
              </a:defRPr>
            </a:pPr>
            <a:r>
              <a:t>Routed AI Calls</a:t>
            </a:r>
          </a:p>
        </p:txBody>
      </p:sp>
      <p:sp>
        <p:nvSpPr>
          <p:cNvPr id="10" name="TextBox 9"/>
          <p:cNvSpPr txBox="1"/>
          <p:nvPr/>
        </p:nvSpPr>
        <p:spPr>
          <a:xfrm>
            <a:off x="2057400" y="1965960"/>
            <a:ext cx="2194560" cy="822960"/>
          </a:xfrm>
          <a:prstGeom prst="rect">
            <a:avLst/>
          </a:prstGeom>
          <a:noFill/>
        </p:spPr>
        <p:txBody>
          <a:bodyPr wrap="square">
            <a:spAutoFit/>
          </a:bodyPr>
          <a:lstStyle/>
          <a:p>
            <a:pPr>
              <a:defRPr sz="1000">
                <a:solidFill>
                  <a:srgbClr val="0F172A"/>
                </a:solidFill>
              </a:defRPr>
            </a:pPr>
            <a:r>
              <a:t>All enterprise application and agent calls traverse the governed gateway.</a:t>
            </a:r>
          </a:p>
        </p:txBody>
      </p:sp>
      <p:sp>
        <p:nvSpPr>
          <p:cNvPr id="11" name="TextBox 10"/>
          <p:cNvSpPr txBox="1"/>
          <p:nvPr/>
        </p:nvSpPr>
        <p:spPr>
          <a:xfrm>
            <a:off x="4389120" y="1691640"/>
            <a:ext cx="1097280" cy="502920"/>
          </a:xfrm>
          <a:prstGeom prst="rect">
            <a:avLst/>
          </a:prstGeom>
          <a:noFill/>
        </p:spPr>
        <p:txBody>
          <a:bodyPr wrap="none">
            <a:spAutoFit/>
          </a:bodyPr>
          <a:lstStyle/>
          <a:p>
            <a:pPr>
              <a:defRPr sz="2800" b="1">
                <a:solidFill>
                  <a:srgbClr val="D83B01"/>
                </a:solidFill>
              </a:defRPr>
            </a:pPr>
            <a:r>
              <a:t>0%</a:t>
            </a:r>
          </a:p>
        </p:txBody>
      </p:sp>
      <p:sp>
        <p:nvSpPr>
          <p:cNvPr id="12" name="TextBox 11"/>
          <p:cNvSpPr txBox="1"/>
          <p:nvPr/>
        </p:nvSpPr>
        <p:spPr>
          <a:xfrm>
            <a:off x="5532120" y="1691640"/>
            <a:ext cx="2194560" cy="228600"/>
          </a:xfrm>
          <a:prstGeom prst="rect">
            <a:avLst/>
          </a:prstGeom>
          <a:noFill/>
        </p:spPr>
        <p:txBody>
          <a:bodyPr wrap="none">
            <a:spAutoFit/>
          </a:bodyPr>
          <a:lstStyle/>
          <a:p>
            <a:pPr>
              <a:defRPr sz="1200" b="1">
                <a:solidFill>
                  <a:srgbClr val="0A192F"/>
                </a:solidFill>
              </a:defRPr>
            </a:pPr>
            <a:r>
              <a:t>Direct Bypass</a:t>
            </a:r>
          </a:p>
        </p:txBody>
      </p:sp>
      <p:sp>
        <p:nvSpPr>
          <p:cNvPr id="13" name="TextBox 12"/>
          <p:cNvSpPr txBox="1"/>
          <p:nvPr/>
        </p:nvSpPr>
        <p:spPr>
          <a:xfrm>
            <a:off x="5532120" y="1965960"/>
            <a:ext cx="2194560" cy="822960"/>
          </a:xfrm>
          <a:prstGeom prst="rect">
            <a:avLst/>
          </a:prstGeom>
          <a:noFill/>
        </p:spPr>
        <p:txBody>
          <a:bodyPr wrap="square">
            <a:spAutoFit/>
          </a:bodyPr>
          <a:lstStyle/>
          <a:p>
            <a:pPr>
              <a:defRPr sz="1000">
                <a:solidFill>
                  <a:srgbClr val="0F172A"/>
                </a:solidFill>
              </a:defRPr>
            </a:pPr>
            <a:r>
              <a:t>Penetration tests confirm direct model endpoints reject unauthorized connections.</a:t>
            </a:r>
          </a:p>
        </p:txBody>
      </p:sp>
      <p:sp>
        <p:nvSpPr>
          <p:cNvPr id="14" name="TextBox 13"/>
          <p:cNvSpPr txBox="1"/>
          <p:nvPr/>
        </p:nvSpPr>
        <p:spPr>
          <a:xfrm>
            <a:off x="7863840" y="1691640"/>
            <a:ext cx="1097280" cy="502920"/>
          </a:xfrm>
          <a:prstGeom prst="rect">
            <a:avLst/>
          </a:prstGeom>
          <a:noFill/>
        </p:spPr>
        <p:txBody>
          <a:bodyPr wrap="none">
            <a:spAutoFit/>
          </a:bodyPr>
          <a:lstStyle/>
          <a:p>
            <a:pPr>
              <a:defRPr sz="2800" b="1">
                <a:solidFill>
                  <a:srgbClr val="00A389"/>
                </a:solidFill>
              </a:defRPr>
            </a:pPr>
            <a:r>
              <a:t>&lt;10ms</a:t>
            </a:r>
          </a:p>
        </p:txBody>
      </p:sp>
      <p:sp>
        <p:nvSpPr>
          <p:cNvPr id="15" name="TextBox 14"/>
          <p:cNvSpPr txBox="1"/>
          <p:nvPr/>
        </p:nvSpPr>
        <p:spPr>
          <a:xfrm>
            <a:off x="9006840" y="1691640"/>
            <a:ext cx="2194560" cy="228600"/>
          </a:xfrm>
          <a:prstGeom prst="rect">
            <a:avLst/>
          </a:prstGeom>
          <a:noFill/>
        </p:spPr>
        <p:txBody>
          <a:bodyPr wrap="none">
            <a:spAutoFit/>
          </a:bodyPr>
          <a:lstStyle/>
          <a:p>
            <a:pPr>
              <a:defRPr sz="1200" b="1">
                <a:solidFill>
                  <a:srgbClr val="0A192F"/>
                </a:solidFill>
              </a:defRPr>
            </a:pPr>
            <a:r>
              <a:t>Gateway Overhead</a:t>
            </a:r>
          </a:p>
        </p:txBody>
      </p:sp>
      <p:sp>
        <p:nvSpPr>
          <p:cNvPr id="16" name="TextBox 15"/>
          <p:cNvSpPr txBox="1"/>
          <p:nvPr/>
        </p:nvSpPr>
        <p:spPr>
          <a:xfrm>
            <a:off x="9006840" y="1965960"/>
            <a:ext cx="2194560" cy="822960"/>
          </a:xfrm>
          <a:prstGeom prst="rect">
            <a:avLst/>
          </a:prstGeom>
          <a:noFill/>
        </p:spPr>
        <p:txBody>
          <a:bodyPr wrap="square">
            <a:spAutoFit/>
          </a:bodyPr>
          <a:lstStyle/>
          <a:p>
            <a:pPr>
              <a:defRPr sz="1000">
                <a:solidFill>
                  <a:srgbClr val="0F172A"/>
                </a:solidFill>
              </a:defRPr>
            </a:pPr>
            <a:r>
              <a:t>Measured p95 policy execution latency across token checks and routing.</a:t>
            </a:r>
          </a:p>
        </p:txBody>
      </p:sp>
      <p:sp>
        <p:nvSpPr>
          <p:cNvPr id="17" name="Rounded Rectangle 16"/>
          <p:cNvSpPr/>
          <p:nvPr/>
        </p:nvSpPr>
        <p:spPr>
          <a:xfrm>
            <a:off x="731520" y="3154680"/>
            <a:ext cx="5212080" cy="31089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154680"/>
            <a:ext cx="52120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383280"/>
            <a:ext cx="4663440" cy="365760"/>
          </a:xfrm>
          <a:prstGeom prst="rect">
            <a:avLst/>
          </a:prstGeom>
          <a:noFill/>
        </p:spPr>
        <p:txBody>
          <a:bodyPr wrap="none">
            <a:spAutoFit/>
          </a:bodyPr>
          <a:lstStyle/>
          <a:p>
            <a:pPr>
              <a:defRPr sz="1300" b="1">
                <a:solidFill>
                  <a:srgbClr val="0A192F"/>
                </a:solidFill>
              </a:defRPr>
            </a:pPr>
            <a:r>
              <a:t>DECISIONS REQUESTED TODAY</a:t>
            </a:r>
          </a:p>
        </p:txBody>
      </p:sp>
      <p:sp>
        <p:nvSpPr>
          <p:cNvPr id="20" name="TextBox 19"/>
          <p:cNvSpPr txBox="1"/>
          <p:nvPr/>
        </p:nvSpPr>
        <p:spPr>
          <a:xfrm>
            <a:off x="1005840" y="3840480"/>
            <a:ext cx="4663440" cy="2194560"/>
          </a:xfrm>
          <a:prstGeom prst="rect">
            <a:avLst/>
          </a:prstGeom>
          <a:noFill/>
        </p:spPr>
        <p:txBody>
          <a:bodyPr wrap="square">
            <a:spAutoFit/>
          </a:bodyPr>
          <a:lstStyle/>
          <a:p>
            <a:pPr>
              <a:spcAft>
                <a:spcPts val="1000"/>
              </a:spcAft>
              <a:defRPr sz="1150">
                <a:solidFill>
                  <a:srgbClr val="0F172A"/>
                </a:solidFill>
              </a:defRPr>
            </a:pPr>
            <a:r>
              <a:t>• Mandate GA API Management tiers (Standard v2 / Premium) for all production workloads.</a:t>
            </a:r>
          </a:p>
          <a:p>
            <a:pPr>
              <a:spcAft>
                <a:spcPts val="1000"/>
              </a:spcAft>
              <a:defRPr sz="1150">
                <a:solidFill>
                  <a:srgbClr val="0F172A"/>
                </a:solidFill>
              </a:defRPr>
            </a:pPr>
            <a:r>
              <a:t>• Adopt Azure API Center as the corporate single source of truth for tool &amp; MCP allow-listing.</a:t>
            </a:r>
          </a:p>
          <a:p>
            <a:pPr>
              <a:spcAft>
                <a:spcPts val="1000"/>
              </a:spcAft>
              <a:defRPr sz="1150">
                <a:solidFill>
                  <a:srgbClr val="0F172A"/>
                </a:solidFill>
              </a:defRPr>
            </a:pPr>
            <a:r>
              <a:t>• Approve 3-week Gateway Readiness Assessment ($25k-$35k) and designate Lead Cloud Architect.</a:t>
            </a:r>
          </a:p>
        </p:txBody>
      </p:sp>
      <p:sp>
        <p:nvSpPr>
          <p:cNvPr id="21" name="Rounded Rectangle 20"/>
          <p:cNvSpPr/>
          <p:nvPr/>
        </p:nvSpPr>
        <p:spPr>
          <a:xfrm>
            <a:off x="6217920" y="3154680"/>
            <a:ext cx="5212080" cy="31089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154680"/>
            <a:ext cx="52120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383280"/>
            <a:ext cx="4663440" cy="365760"/>
          </a:xfrm>
          <a:prstGeom prst="rect">
            <a:avLst/>
          </a:prstGeom>
          <a:noFill/>
        </p:spPr>
        <p:txBody>
          <a:bodyPr wrap="none">
            <a:spAutoFit/>
          </a:bodyPr>
          <a:lstStyle/>
          <a:p>
            <a:pPr>
              <a:defRPr sz="1300" b="1">
                <a:solidFill>
                  <a:srgbClr val="0A192F"/>
                </a:solidFill>
              </a:defRPr>
            </a:pPr>
            <a:r>
              <a:t>DECISIONS POST-VALIDATION</a:t>
            </a:r>
          </a:p>
        </p:txBody>
      </p:sp>
      <p:sp>
        <p:nvSpPr>
          <p:cNvPr id="24" name="TextBox 23"/>
          <p:cNvSpPr txBox="1"/>
          <p:nvPr/>
        </p:nvSpPr>
        <p:spPr>
          <a:xfrm>
            <a:off x="6492240" y="3840480"/>
            <a:ext cx="4663440" cy="2194560"/>
          </a:xfrm>
          <a:prstGeom prst="rect">
            <a:avLst/>
          </a:prstGeom>
          <a:noFill/>
        </p:spPr>
        <p:txBody>
          <a:bodyPr wrap="square">
            <a:spAutoFit/>
          </a:bodyPr>
          <a:lstStyle/>
          <a:p>
            <a:pPr>
              <a:spcAft>
                <a:spcPts val="1000"/>
              </a:spcAft>
              <a:defRPr sz="1150">
                <a:solidFill>
                  <a:srgbClr val="0F172A"/>
                </a:solidFill>
              </a:defRPr>
            </a:pPr>
            <a:r>
              <a:t>• Authorize target regional APIM tiers and automated PAYG spillover budget thresholds.</a:t>
            </a:r>
          </a:p>
          <a:p>
            <a:pPr>
              <a:spcAft>
                <a:spcPts val="1000"/>
              </a:spcAft>
              <a:defRPr sz="1150">
                <a:solidFill>
                  <a:srgbClr val="0F172A"/>
                </a:solidFill>
              </a:defRPr>
            </a:pPr>
            <a:r>
              <a:t>• Establish department-level chargeback accounting rules and monthly quota allocations.</a:t>
            </a:r>
          </a:p>
          <a:p>
            <a:pPr>
              <a:spcAft>
                <a:spcPts val="1000"/>
              </a:spcAft>
              <a:defRPr sz="1150">
                <a:solidFill>
                  <a:srgbClr val="0F172A"/>
                </a:solidFill>
              </a:defRPr>
            </a:pPr>
            <a:r>
              <a:t>• Transition gateway policy monitoring runbooks into Offering 05 Managed Operations desk.</a:t>
            </a:r>
          </a:p>
        </p:txBody>
      </p:sp>
      <p:sp>
        <p:nvSpPr>
          <p:cNvPr id="25" name="TextBox 24"/>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Gateway Implementation · Working proposal for senior leadership review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Gateway choice, request flow, identity, token limits, routing, safety, tool registry, latency, caching, chargeback, resilience, SKU and regional detail, pricing,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06733"/>
          </a:xfrm>
          <a:prstGeom prst="rect">
            <a:avLst/>
          </a:prstGeom>
          <a:noFill/>
        </p:spPr>
        <p:txBody>
          <a:bodyPr wrap="square" lIns="0" rIns="0" tIns="0" bIns="0" anchor="t">
            <a:noAutofit/>
          </a:bodyPr>
          <a:lstStyle/>
          <a:p>
            <a:pPr algn="l"/>
            <a:r>
              <a:rPr sz="1100" b="1" i="0">
                <a:solidFill>
                  <a:srgbClr val="2F78C4"/>
                </a:solidFill>
                <a:latin typeface="Arial"/>
              </a:rPr>
              <a:t>13  </a:t>
            </a:r>
            <a:r>
              <a:rPr sz="1100" b="1" i="0">
                <a:solidFill>
                  <a:srgbClr val="000048"/>
                </a:solidFill>
                <a:latin typeface="Arial"/>
              </a:rPr>
              <a:t>A0  </a:t>
            </a:r>
            <a:r>
              <a:rPr sz="1100" b="0" i="0">
                <a:solidFill>
                  <a:srgbClr val="1E1E2E"/>
                </a:solidFill>
                <a:latin typeface="Arial"/>
              </a:rPr>
              <a:t>Gateway controls and limits</a:t>
            </a:r>
          </a:p>
        </p:txBody>
      </p:sp>
      <p:sp>
        <p:nvSpPr>
          <p:cNvPr id="8" name="TextBox 7">
            <a:hlinkClick action="ppaction://hlinksldjump" r:id="rId5"/>
          </p:cNvPr>
          <p:cNvSpPr txBox="1"/>
          <p:nvPr/>
        </p:nvSpPr>
        <p:spPr>
          <a:xfrm>
            <a:off x="548640" y="1624053"/>
            <a:ext cx="5486400" cy="206733"/>
          </a:xfrm>
          <a:prstGeom prst="rect">
            <a:avLst/>
          </a:prstGeom>
          <a:noFill/>
        </p:spPr>
        <p:txBody>
          <a:bodyPr wrap="square" lIns="0" rIns="0" tIns="0" bIns="0" anchor="t">
            <a:noAutofit/>
          </a:bodyPr>
          <a:lstStyle/>
          <a:p>
            <a:pPr algn="l"/>
            <a:r>
              <a:rPr sz="1100" b="1" i="0">
                <a:solidFill>
                  <a:srgbClr val="2F78C4"/>
                </a:solidFill>
                <a:latin typeface="Arial"/>
              </a:rPr>
              <a:t>14  </a:t>
            </a:r>
            <a:r>
              <a:rPr sz="1100" b="1" i="0">
                <a:solidFill>
                  <a:srgbClr val="000048"/>
                </a:solidFill>
                <a:latin typeface="Arial"/>
              </a:rPr>
              <a:t>A0b  </a:t>
            </a:r>
            <a:r>
              <a:rPr sz="1100" b="0" i="0">
                <a:solidFill>
                  <a:srgbClr val="1E1E2E"/>
                </a:solidFill>
                <a:latin typeface="Arial"/>
              </a:rPr>
              <a:t>Three cost layers with list prices</a:t>
            </a:r>
          </a:p>
        </p:txBody>
      </p:sp>
      <p:sp>
        <p:nvSpPr>
          <p:cNvPr id="9" name="TextBox 8">
            <a:hlinkClick action="ppaction://hlinksldjump" r:id="rId6"/>
          </p:cNvPr>
          <p:cNvSpPr txBox="1"/>
          <p:nvPr/>
        </p:nvSpPr>
        <p:spPr>
          <a:xfrm>
            <a:off x="548640" y="1830787"/>
            <a:ext cx="5486400" cy="206733"/>
          </a:xfrm>
          <a:prstGeom prst="rect">
            <a:avLst/>
          </a:prstGeom>
          <a:noFill/>
        </p:spPr>
        <p:txBody>
          <a:bodyPr wrap="square" lIns="0" rIns="0" tIns="0" bIns="0" anchor="t">
            <a:noAutofit/>
          </a:bodyPr>
          <a:lstStyle/>
          <a:p>
            <a:pPr algn="l"/>
            <a:r>
              <a:rPr sz="1100" b="1" i="0">
                <a:solidFill>
                  <a:srgbClr val="2F78C4"/>
                </a:solidFill>
                <a:latin typeface="Arial"/>
              </a:rPr>
              <a:t>15  </a:t>
            </a:r>
            <a:r>
              <a:rPr sz="1100" b="1" i="0">
                <a:solidFill>
                  <a:srgbClr val="000048"/>
                </a:solidFill>
                <a:latin typeface="Arial"/>
              </a:rPr>
              <a:t>A1  </a:t>
            </a:r>
            <a:r>
              <a:rPr sz="1100" b="0" i="0">
                <a:solidFill>
                  <a:srgbClr val="1E1E2E"/>
                </a:solidFill>
                <a:latin typeface="Arial"/>
              </a:rPr>
              <a:t>Request and response flow</a:t>
            </a:r>
          </a:p>
        </p:txBody>
      </p:sp>
      <p:sp>
        <p:nvSpPr>
          <p:cNvPr id="10" name="TextBox 9">
            <a:hlinkClick action="ppaction://hlinksldjump" r:id="rId7"/>
          </p:cNvPr>
          <p:cNvSpPr txBox="1"/>
          <p:nvPr/>
        </p:nvSpPr>
        <p:spPr>
          <a:xfrm>
            <a:off x="548640" y="2037521"/>
            <a:ext cx="5486400" cy="206733"/>
          </a:xfrm>
          <a:prstGeom prst="rect">
            <a:avLst/>
          </a:prstGeom>
          <a:noFill/>
        </p:spPr>
        <p:txBody>
          <a:bodyPr wrap="square" lIns="0" rIns="0" tIns="0" bIns="0" anchor="t">
            <a:noAutofit/>
          </a:bodyPr>
          <a:lstStyle/>
          <a:p>
            <a:pPr algn="l"/>
            <a:r>
              <a:rPr sz="1100" b="1" i="0">
                <a:solidFill>
                  <a:srgbClr val="2F78C4"/>
                </a:solidFill>
                <a:latin typeface="Arial"/>
              </a:rPr>
              <a:t>16  </a:t>
            </a:r>
            <a:r>
              <a:rPr sz="1100" b="1" i="0">
                <a:solidFill>
                  <a:srgbClr val="000048"/>
                </a:solidFill>
                <a:latin typeface="Arial"/>
              </a:rPr>
              <a:t>A2  </a:t>
            </a:r>
            <a:r>
              <a:rPr sz="1100" b="0" i="0">
                <a:solidFill>
                  <a:srgbClr val="1E1E2E"/>
                </a:solidFill>
                <a:latin typeface="Arial"/>
              </a:rPr>
              <a:t>Model API and tool API governance</a:t>
            </a:r>
          </a:p>
        </p:txBody>
      </p:sp>
      <p:sp>
        <p:nvSpPr>
          <p:cNvPr id="11" name="TextBox 10">
            <a:hlinkClick action="ppaction://hlinksldjump" r:id="rId8"/>
          </p:cNvPr>
          <p:cNvSpPr txBox="1"/>
          <p:nvPr/>
        </p:nvSpPr>
        <p:spPr>
          <a:xfrm>
            <a:off x="548640" y="2244255"/>
            <a:ext cx="5486400" cy="206733"/>
          </a:xfrm>
          <a:prstGeom prst="rect">
            <a:avLst/>
          </a:prstGeom>
          <a:noFill/>
        </p:spPr>
        <p:txBody>
          <a:bodyPr wrap="square" lIns="0" rIns="0" tIns="0" bIns="0" anchor="t">
            <a:noAutofit/>
          </a:bodyPr>
          <a:lstStyle/>
          <a:p>
            <a:pPr algn="l"/>
            <a:r>
              <a:rPr sz="1100" b="1" i="0">
                <a:solidFill>
                  <a:srgbClr val="2F78C4"/>
                </a:solidFill>
                <a:latin typeface="Arial"/>
              </a:rPr>
              <a:t>17  </a:t>
            </a:r>
            <a:r>
              <a:rPr sz="1100" b="1" i="0">
                <a:solidFill>
                  <a:srgbClr val="000048"/>
                </a:solidFill>
                <a:latin typeface="Arial"/>
              </a:rPr>
              <a:t>A3  </a:t>
            </a:r>
            <a:r>
              <a:rPr sz="1100" b="0" i="0">
                <a:solidFill>
                  <a:srgbClr val="1E1E2E"/>
                </a:solidFill>
                <a:latin typeface="Arial"/>
              </a:rPr>
              <a:t>Identity pattern (rebuilt)</a:t>
            </a:r>
          </a:p>
        </p:txBody>
      </p:sp>
      <p:sp>
        <p:nvSpPr>
          <p:cNvPr id="12" name="TextBox 11">
            <a:hlinkClick action="ppaction://hlinksldjump" r:id="rId9"/>
          </p:cNvPr>
          <p:cNvSpPr txBox="1"/>
          <p:nvPr/>
        </p:nvSpPr>
        <p:spPr>
          <a:xfrm>
            <a:off x="548640" y="2450989"/>
            <a:ext cx="5486400" cy="206733"/>
          </a:xfrm>
          <a:prstGeom prst="rect">
            <a:avLst/>
          </a:prstGeom>
          <a:noFill/>
        </p:spPr>
        <p:txBody>
          <a:bodyPr wrap="square" lIns="0" rIns="0" tIns="0" bIns="0" anchor="t">
            <a:noAutofit/>
          </a:bodyPr>
          <a:lstStyle/>
          <a:p>
            <a:pPr algn="l"/>
            <a:r>
              <a:rPr sz="1100" b="1" i="0">
                <a:solidFill>
                  <a:srgbClr val="2F78C4"/>
                </a:solidFill>
                <a:latin typeface="Arial"/>
              </a:rPr>
              <a:t>18  </a:t>
            </a:r>
            <a:r>
              <a:rPr sz="1100" b="1" i="0">
                <a:solidFill>
                  <a:srgbClr val="000048"/>
                </a:solidFill>
                <a:latin typeface="Arial"/>
              </a:rPr>
              <a:t>A4  </a:t>
            </a:r>
            <a:r>
              <a:rPr sz="1100" b="0" i="0">
                <a:solidFill>
                  <a:srgbClr val="1E1E2E"/>
                </a:solidFill>
                <a:latin typeface="Arial"/>
              </a:rPr>
              <a:t>Token rate limits and quotas</a:t>
            </a:r>
          </a:p>
        </p:txBody>
      </p:sp>
      <p:sp>
        <p:nvSpPr>
          <p:cNvPr id="13" name="TextBox 12">
            <a:hlinkClick action="ppaction://hlinksldjump" r:id="rId10"/>
          </p:cNvPr>
          <p:cNvSpPr txBox="1"/>
          <p:nvPr/>
        </p:nvSpPr>
        <p:spPr>
          <a:xfrm>
            <a:off x="548640" y="2657723"/>
            <a:ext cx="5486400" cy="206733"/>
          </a:xfrm>
          <a:prstGeom prst="rect">
            <a:avLst/>
          </a:prstGeom>
          <a:noFill/>
        </p:spPr>
        <p:txBody>
          <a:bodyPr wrap="square" lIns="0" rIns="0" tIns="0" bIns="0" anchor="t">
            <a:noAutofit/>
          </a:bodyPr>
          <a:lstStyle/>
          <a:p>
            <a:pPr algn="l"/>
            <a:r>
              <a:rPr sz="1100" b="1" i="0">
                <a:solidFill>
                  <a:srgbClr val="2F78C4"/>
                </a:solidFill>
                <a:latin typeface="Arial"/>
              </a:rPr>
              <a:t>19  </a:t>
            </a:r>
            <a:r>
              <a:rPr sz="1100" b="1" i="0">
                <a:solidFill>
                  <a:srgbClr val="000048"/>
                </a:solidFill>
                <a:latin typeface="Arial"/>
              </a:rPr>
              <a:t>A5  </a:t>
            </a:r>
            <a:r>
              <a:rPr sz="1100" b="0" i="0">
                <a:solidFill>
                  <a:srgbClr val="1E1E2E"/>
                </a:solidFill>
                <a:latin typeface="Arial"/>
              </a:rPr>
              <a:t>Token-limit policy flow (rebuilt)</a:t>
            </a:r>
          </a:p>
        </p:txBody>
      </p:sp>
      <p:sp>
        <p:nvSpPr>
          <p:cNvPr id="14" name="TextBox 13">
            <a:hlinkClick action="ppaction://hlinksldjump" r:id="rId11"/>
          </p:cNvPr>
          <p:cNvSpPr txBox="1"/>
          <p:nvPr/>
        </p:nvSpPr>
        <p:spPr>
          <a:xfrm>
            <a:off x="548640" y="2864457"/>
            <a:ext cx="5486400" cy="206733"/>
          </a:xfrm>
          <a:prstGeom prst="rect">
            <a:avLst/>
          </a:prstGeom>
          <a:noFill/>
        </p:spPr>
        <p:txBody>
          <a:bodyPr wrap="square" lIns="0" rIns="0" tIns="0" bIns="0" anchor="t">
            <a:noAutofit/>
          </a:bodyPr>
          <a:lstStyle/>
          <a:p>
            <a:pPr algn="l"/>
            <a:r>
              <a:rPr sz="1100" b="1" i="0">
                <a:solidFill>
                  <a:srgbClr val="2F78C4"/>
                </a:solidFill>
                <a:latin typeface="Arial"/>
              </a:rPr>
              <a:t>20  </a:t>
            </a:r>
            <a:r>
              <a:rPr sz="1100" b="1" i="0">
                <a:solidFill>
                  <a:srgbClr val="000048"/>
                </a:solidFill>
                <a:latin typeface="Arial"/>
              </a:rPr>
              <a:t>A6  </a:t>
            </a:r>
            <a:r>
              <a:rPr sz="1100" b="0" i="0">
                <a:solidFill>
                  <a:srgbClr val="1E1E2E"/>
                </a:solidFill>
                <a:latin typeface="Arial"/>
              </a:rPr>
              <a:t>Counters, streaming and overshoot</a:t>
            </a:r>
          </a:p>
        </p:txBody>
      </p:sp>
      <p:sp>
        <p:nvSpPr>
          <p:cNvPr id="15" name="TextBox 14">
            <a:hlinkClick action="ppaction://hlinksldjump" r:id="rId12"/>
          </p:cNvPr>
          <p:cNvSpPr txBox="1"/>
          <p:nvPr/>
        </p:nvSpPr>
        <p:spPr>
          <a:xfrm>
            <a:off x="548640" y="3071191"/>
            <a:ext cx="5486400" cy="206733"/>
          </a:xfrm>
          <a:prstGeom prst="rect">
            <a:avLst/>
          </a:prstGeom>
          <a:noFill/>
        </p:spPr>
        <p:txBody>
          <a:bodyPr wrap="square" lIns="0" rIns="0" tIns="0" bIns="0" anchor="t">
            <a:noAutofit/>
          </a:bodyPr>
          <a:lstStyle/>
          <a:p>
            <a:pPr algn="l"/>
            <a:r>
              <a:rPr sz="1100" b="1" i="0">
                <a:solidFill>
                  <a:srgbClr val="2F78C4"/>
                </a:solidFill>
                <a:latin typeface="Arial"/>
              </a:rPr>
              <a:t>21  </a:t>
            </a:r>
            <a:r>
              <a:rPr sz="1100" b="1" i="0">
                <a:solidFill>
                  <a:srgbClr val="000048"/>
                </a:solidFill>
                <a:latin typeface="Arial"/>
              </a:rPr>
              <a:t>A7  </a:t>
            </a:r>
            <a:r>
              <a:rPr sz="1100" b="0" i="0">
                <a:solidFill>
                  <a:srgbClr val="1E1E2E"/>
                </a:solidFill>
                <a:latin typeface="Arial"/>
              </a:rPr>
              <a:t>Request, concurrency and budget controls</a:t>
            </a:r>
          </a:p>
        </p:txBody>
      </p:sp>
      <p:sp>
        <p:nvSpPr>
          <p:cNvPr id="16" name="TextBox 15">
            <a:hlinkClick action="ppaction://hlinksldjump" r:id="rId13"/>
          </p:cNvPr>
          <p:cNvSpPr txBox="1"/>
          <p:nvPr/>
        </p:nvSpPr>
        <p:spPr>
          <a:xfrm>
            <a:off x="548640" y="3277925"/>
            <a:ext cx="5486400" cy="206733"/>
          </a:xfrm>
          <a:prstGeom prst="rect">
            <a:avLst/>
          </a:prstGeom>
          <a:noFill/>
        </p:spPr>
        <p:txBody>
          <a:bodyPr wrap="square" lIns="0" rIns="0" tIns="0" bIns="0" anchor="t">
            <a:noAutofit/>
          </a:bodyPr>
          <a:lstStyle/>
          <a:p>
            <a:pPr algn="l"/>
            <a:r>
              <a:rPr sz="1100" b="1" i="0">
                <a:solidFill>
                  <a:srgbClr val="2F78C4"/>
                </a:solidFill>
                <a:latin typeface="Arial"/>
              </a:rPr>
              <a:t>22  </a:t>
            </a:r>
            <a:r>
              <a:rPr sz="1100" b="1" i="0">
                <a:solidFill>
                  <a:srgbClr val="000048"/>
                </a:solidFill>
                <a:latin typeface="Arial"/>
              </a:rPr>
              <a:t>A8  </a:t>
            </a:r>
            <a:r>
              <a:rPr sz="1100" b="0" i="0">
                <a:solidFill>
                  <a:srgbClr val="1E1E2E"/>
                </a:solidFill>
                <a:latin typeface="Arial"/>
              </a:rPr>
              <a:t>Backend pools and routing (rebuilt)</a:t>
            </a:r>
          </a:p>
        </p:txBody>
      </p:sp>
      <p:sp>
        <p:nvSpPr>
          <p:cNvPr id="17" name="TextBox 16">
            <a:hlinkClick action="ppaction://hlinksldjump" r:id="rId14"/>
          </p:cNvPr>
          <p:cNvSpPr txBox="1"/>
          <p:nvPr/>
        </p:nvSpPr>
        <p:spPr>
          <a:xfrm>
            <a:off x="548640" y="3484659"/>
            <a:ext cx="5486400" cy="206733"/>
          </a:xfrm>
          <a:prstGeom prst="rect">
            <a:avLst/>
          </a:prstGeom>
          <a:noFill/>
        </p:spPr>
        <p:txBody>
          <a:bodyPr wrap="square" lIns="0" rIns="0" tIns="0" bIns="0" anchor="t">
            <a:noAutofit/>
          </a:bodyPr>
          <a:lstStyle/>
          <a:p>
            <a:pPr algn="l"/>
            <a:r>
              <a:rPr sz="1100" b="1" i="0">
                <a:solidFill>
                  <a:srgbClr val="2F78C4"/>
                </a:solidFill>
                <a:latin typeface="Arial"/>
              </a:rPr>
              <a:t>23  </a:t>
            </a:r>
            <a:r>
              <a:rPr sz="1100" b="1" i="0">
                <a:solidFill>
                  <a:srgbClr val="000048"/>
                </a:solidFill>
                <a:latin typeface="Arial"/>
              </a:rPr>
              <a:t>A9  </a:t>
            </a:r>
            <a:r>
              <a:rPr sz="1100" b="0" i="0">
                <a:solidFill>
                  <a:srgbClr val="1E1E2E"/>
                </a:solidFill>
                <a:latin typeface="Arial"/>
              </a:rPr>
              <a:t>Circuit breaker (rebuilt)</a:t>
            </a:r>
          </a:p>
        </p:txBody>
      </p:sp>
      <p:sp>
        <p:nvSpPr>
          <p:cNvPr id="18" name="TextBox 17">
            <a:hlinkClick action="ppaction://hlinksldjump" r:id="rId15"/>
          </p:cNvPr>
          <p:cNvSpPr txBox="1"/>
          <p:nvPr/>
        </p:nvSpPr>
        <p:spPr>
          <a:xfrm>
            <a:off x="548640" y="3691393"/>
            <a:ext cx="5486400" cy="206733"/>
          </a:xfrm>
          <a:prstGeom prst="rect">
            <a:avLst/>
          </a:prstGeom>
          <a:noFill/>
        </p:spPr>
        <p:txBody>
          <a:bodyPr wrap="square" lIns="0" rIns="0" tIns="0" bIns="0" anchor="t">
            <a:noAutofit/>
          </a:bodyPr>
          <a:lstStyle/>
          <a:p>
            <a:pPr algn="l"/>
            <a:r>
              <a:rPr sz="1100" b="1" i="0">
                <a:solidFill>
                  <a:srgbClr val="2F78C4"/>
                </a:solidFill>
                <a:latin typeface="Arial"/>
              </a:rPr>
              <a:t>24  </a:t>
            </a:r>
            <a:r>
              <a:rPr sz="1100" b="1" i="0">
                <a:solidFill>
                  <a:srgbClr val="000048"/>
                </a:solidFill>
                <a:latin typeface="Arial"/>
              </a:rPr>
              <a:t>A10  </a:t>
            </a:r>
            <a:r>
              <a:rPr sz="1100" b="0" i="0">
                <a:solidFill>
                  <a:srgbClr val="1E1E2E"/>
                </a:solidFill>
                <a:latin typeface="Arial"/>
              </a:rPr>
              <a:t>PTU primary, PAYG overflow options</a:t>
            </a:r>
          </a:p>
        </p:txBody>
      </p:sp>
      <p:sp>
        <p:nvSpPr>
          <p:cNvPr id="19" name="TextBox 18">
            <a:hlinkClick action="ppaction://hlinksldjump" r:id="rId16"/>
          </p:cNvPr>
          <p:cNvSpPr txBox="1"/>
          <p:nvPr/>
        </p:nvSpPr>
        <p:spPr>
          <a:xfrm>
            <a:off x="548640" y="3898126"/>
            <a:ext cx="5486400" cy="206733"/>
          </a:xfrm>
          <a:prstGeom prst="rect">
            <a:avLst/>
          </a:prstGeom>
          <a:noFill/>
        </p:spPr>
        <p:txBody>
          <a:bodyPr wrap="square" lIns="0" rIns="0" tIns="0" bIns="0" anchor="t">
            <a:noAutofit/>
          </a:bodyPr>
          <a:lstStyle/>
          <a:p>
            <a:pPr algn="l"/>
            <a:r>
              <a:rPr sz="1100" b="1" i="0">
                <a:solidFill>
                  <a:srgbClr val="2F78C4"/>
                </a:solidFill>
                <a:latin typeface="Arial"/>
              </a:rPr>
              <a:t>25  </a:t>
            </a:r>
            <a:r>
              <a:rPr sz="1100" b="1" i="0">
                <a:solidFill>
                  <a:srgbClr val="000048"/>
                </a:solidFill>
                <a:latin typeface="Arial"/>
              </a:rPr>
              <a:t>A11  </a:t>
            </a:r>
            <a:r>
              <a:rPr sz="1100" b="0" i="0">
                <a:solidFill>
                  <a:srgbClr val="1E1E2E"/>
                </a:solidFill>
                <a:latin typeface="Arial"/>
              </a:rPr>
              <a:t>Content safety (rebuilt)</a:t>
            </a:r>
          </a:p>
        </p:txBody>
      </p:sp>
      <p:sp>
        <p:nvSpPr>
          <p:cNvPr id="20" name="TextBox 19">
            <a:hlinkClick action="ppaction://hlinksldjump" r:id="rId17"/>
          </p:cNvPr>
          <p:cNvSpPr txBox="1"/>
          <p:nvPr/>
        </p:nvSpPr>
        <p:spPr>
          <a:xfrm>
            <a:off x="548640" y="4104860"/>
            <a:ext cx="5486400" cy="206733"/>
          </a:xfrm>
          <a:prstGeom prst="rect">
            <a:avLst/>
          </a:prstGeom>
          <a:noFill/>
        </p:spPr>
        <p:txBody>
          <a:bodyPr wrap="square" lIns="0" rIns="0" tIns="0" bIns="0" anchor="t">
            <a:noAutofit/>
          </a:bodyPr>
          <a:lstStyle/>
          <a:p>
            <a:pPr algn="l"/>
            <a:r>
              <a:rPr sz="1100" b="1" i="0">
                <a:solidFill>
                  <a:srgbClr val="2F78C4"/>
                </a:solidFill>
                <a:latin typeface="Arial"/>
              </a:rPr>
              <a:t>26  </a:t>
            </a:r>
            <a:r>
              <a:rPr sz="1100" b="1" i="0">
                <a:solidFill>
                  <a:srgbClr val="000048"/>
                </a:solidFill>
                <a:latin typeface="Arial"/>
              </a:rPr>
              <a:t>A12  </a:t>
            </a:r>
            <a:r>
              <a:rPr sz="1100" b="0" i="0">
                <a:solidFill>
                  <a:srgbClr val="1E1E2E"/>
                </a:solidFill>
                <a:latin typeface="Arial"/>
              </a:rPr>
              <a:t>Tool authorisation and approval</a:t>
            </a:r>
          </a:p>
        </p:txBody>
      </p:sp>
      <p:sp>
        <p:nvSpPr>
          <p:cNvPr id="21" name="TextBox 20">
            <a:hlinkClick action="ppaction://hlinksldjump" r:id="rId18"/>
          </p:cNvPr>
          <p:cNvSpPr txBox="1"/>
          <p:nvPr/>
        </p:nvSpPr>
        <p:spPr>
          <a:xfrm>
            <a:off x="548640" y="4311594"/>
            <a:ext cx="5486400" cy="206733"/>
          </a:xfrm>
          <a:prstGeom prst="rect">
            <a:avLst/>
          </a:prstGeom>
          <a:noFill/>
        </p:spPr>
        <p:txBody>
          <a:bodyPr wrap="square" lIns="0" rIns="0" tIns="0" bIns="0" anchor="t">
            <a:noAutofit/>
          </a:bodyPr>
          <a:lstStyle/>
          <a:p>
            <a:pPr algn="l"/>
            <a:r>
              <a:rPr sz="1100" b="1" i="0">
                <a:solidFill>
                  <a:srgbClr val="2F78C4"/>
                </a:solidFill>
                <a:latin typeface="Arial"/>
              </a:rPr>
              <a:t>27  </a:t>
            </a:r>
            <a:r>
              <a:rPr sz="1100" b="1" i="0">
                <a:solidFill>
                  <a:srgbClr val="000048"/>
                </a:solidFill>
                <a:latin typeface="Arial"/>
              </a:rPr>
              <a:t>A13  </a:t>
            </a:r>
            <a:r>
              <a:rPr sz="1100" b="0" i="0">
                <a:solidFill>
                  <a:srgbClr val="1E1E2E"/>
                </a:solidFill>
                <a:latin typeface="Arial"/>
              </a:rPr>
              <a:t>Token metrics and cost allocation (rebuilt)</a:t>
            </a:r>
          </a:p>
        </p:txBody>
      </p:sp>
      <p:sp>
        <p:nvSpPr>
          <p:cNvPr id="22" name="TextBox 21">
            <a:hlinkClick action="ppaction://hlinksldjump" r:id="rId19"/>
          </p:cNvPr>
          <p:cNvSpPr txBox="1"/>
          <p:nvPr/>
        </p:nvSpPr>
        <p:spPr>
          <a:xfrm>
            <a:off x="548640" y="4518328"/>
            <a:ext cx="5486400" cy="206733"/>
          </a:xfrm>
          <a:prstGeom prst="rect">
            <a:avLst/>
          </a:prstGeom>
          <a:noFill/>
        </p:spPr>
        <p:txBody>
          <a:bodyPr wrap="square" lIns="0" rIns="0" tIns="0" bIns="0" anchor="t">
            <a:noAutofit/>
          </a:bodyPr>
          <a:lstStyle/>
          <a:p>
            <a:pPr algn="l"/>
            <a:r>
              <a:rPr sz="1100" b="1" i="0">
                <a:solidFill>
                  <a:srgbClr val="2F78C4"/>
                </a:solidFill>
                <a:latin typeface="Arial"/>
              </a:rPr>
              <a:t>28  </a:t>
            </a:r>
            <a:r>
              <a:rPr sz="1100" b="1" i="0">
                <a:solidFill>
                  <a:srgbClr val="000048"/>
                </a:solidFill>
                <a:latin typeface="Arial"/>
              </a:rPr>
              <a:t>A14  </a:t>
            </a:r>
            <a:r>
              <a:rPr sz="1100" b="0" i="0">
                <a:solidFill>
                  <a:srgbClr val="1E1E2E"/>
                </a:solidFill>
                <a:latin typeface="Arial"/>
              </a:rPr>
              <a:t>Private connectivity and regional resilience</a:t>
            </a:r>
          </a:p>
        </p:txBody>
      </p:sp>
      <p:sp>
        <p:nvSpPr>
          <p:cNvPr id="23" name="TextBox 22">
            <a:hlinkClick action="ppaction://hlinksldjump" r:id="rId20"/>
          </p:cNvPr>
          <p:cNvSpPr txBox="1"/>
          <p:nvPr/>
        </p:nvSpPr>
        <p:spPr>
          <a:xfrm>
            <a:off x="548640" y="4725062"/>
            <a:ext cx="5486400" cy="206733"/>
          </a:xfrm>
          <a:prstGeom prst="rect">
            <a:avLst/>
          </a:prstGeom>
          <a:noFill/>
        </p:spPr>
        <p:txBody>
          <a:bodyPr wrap="square" lIns="0" rIns="0" tIns="0" bIns="0" anchor="t">
            <a:noAutofit/>
          </a:bodyPr>
          <a:lstStyle/>
          <a:p>
            <a:pPr algn="l"/>
            <a:r>
              <a:rPr sz="1100" b="1" i="0">
                <a:solidFill>
                  <a:srgbClr val="2F78C4"/>
                </a:solidFill>
                <a:latin typeface="Arial"/>
              </a:rPr>
              <a:t>29  </a:t>
            </a:r>
            <a:r>
              <a:rPr sz="1100" b="1" i="0">
                <a:solidFill>
                  <a:srgbClr val="000048"/>
                </a:solidFill>
                <a:latin typeface="Arial"/>
              </a:rPr>
              <a:t>A15  </a:t>
            </a:r>
            <a:r>
              <a:rPr sz="1100" b="0" i="0">
                <a:solidFill>
                  <a:srgbClr val="1E1E2E"/>
                </a:solidFill>
                <a:latin typeface="Arial"/>
              </a:rPr>
              <a:t>Bypass prevention</a:t>
            </a:r>
          </a:p>
        </p:txBody>
      </p:sp>
      <p:sp>
        <p:nvSpPr>
          <p:cNvPr id="24" name="TextBox 23">
            <a:hlinkClick action="ppaction://hlinksldjump" r:id="rId21"/>
          </p:cNvPr>
          <p:cNvSpPr txBox="1"/>
          <p:nvPr/>
        </p:nvSpPr>
        <p:spPr>
          <a:xfrm>
            <a:off x="548640" y="4931796"/>
            <a:ext cx="5486400" cy="206733"/>
          </a:xfrm>
          <a:prstGeom prst="rect">
            <a:avLst/>
          </a:prstGeom>
          <a:noFill/>
        </p:spPr>
        <p:txBody>
          <a:bodyPr wrap="square" lIns="0" rIns="0" tIns="0" bIns="0" anchor="t">
            <a:noAutofit/>
          </a:bodyPr>
          <a:lstStyle/>
          <a:p>
            <a:pPr algn="l"/>
            <a:r>
              <a:rPr sz="1100" b="1" i="0">
                <a:solidFill>
                  <a:srgbClr val="2F78C4"/>
                </a:solidFill>
                <a:latin typeface="Arial"/>
              </a:rPr>
              <a:t>30  </a:t>
            </a:r>
            <a:r>
              <a:rPr sz="1100" b="1" i="0">
                <a:solidFill>
                  <a:srgbClr val="000048"/>
                </a:solidFill>
                <a:latin typeface="Arial"/>
              </a:rPr>
              <a:t>A16  </a:t>
            </a:r>
            <a:r>
              <a:rPr sz="1100" b="0" i="0">
                <a:solidFill>
                  <a:srgbClr val="1E1E2E"/>
                </a:solidFill>
                <a:latin typeface="Arial"/>
              </a:rPr>
              <a:t>GA versus preview register</a:t>
            </a:r>
          </a:p>
        </p:txBody>
      </p:sp>
      <p:sp>
        <p:nvSpPr>
          <p:cNvPr id="25" name="TextBox 24">
            <a:hlinkClick action="ppaction://hlinksldjump" r:id="rId22"/>
          </p:cNvPr>
          <p:cNvSpPr txBox="1"/>
          <p:nvPr/>
        </p:nvSpPr>
        <p:spPr>
          <a:xfrm>
            <a:off x="548640" y="5138530"/>
            <a:ext cx="5486400" cy="206733"/>
          </a:xfrm>
          <a:prstGeom prst="rect">
            <a:avLst/>
          </a:prstGeom>
          <a:noFill/>
        </p:spPr>
        <p:txBody>
          <a:bodyPr wrap="square" lIns="0" rIns="0" tIns="0" bIns="0" anchor="t">
            <a:noAutofit/>
          </a:bodyPr>
          <a:lstStyle/>
          <a:p>
            <a:pPr algn="l"/>
            <a:r>
              <a:rPr sz="1100" b="1" i="0">
                <a:solidFill>
                  <a:srgbClr val="2F78C4"/>
                </a:solidFill>
                <a:latin typeface="Arial"/>
              </a:rPr>
              <a:t>31  </a:t>
            </a:r>
            <a:r>
              <a:rPr sz="1100" b="1" i="0">
                <a:solidFill>
                  <a:srgbClr val="000048"/>
                </a:solidFill>
                <a:latin typeface="Arial"/>
              </a:rPr>
              <a:t>A17  </a:t>
            </a:r>
            <a:r>
              <a:rPr sz="1100" b="0" i="0">
                <a:solidFill>
                  <a:srgbClr val="1E1E2E"/>
                </a:solidFill>
                <a:latin typeface="Arial"/>
              </a:rPr>
              <a:t>Tier feature matrix</a:t>
            </a:r>
          </a:p>
        </p:txBody>
      </p:sp>
      <p:sp>
        <p:nvSpPr>
          <p:cNvPr id="26" name="TextBox 25">
            <a:hlinkClick action="ppaction://hlinksldjump" r:id="rId23"/>
          </p:cNvPr>
          <p:cNvSpPr txBox="1"/>
          <p:nvPr/>
        </p:nvSpPr>
        <p:spPr>
          <a:xfrm>
            <a:off x="548640" y="5345264"/>
            <a:ext cx="5486400" cy="206733"/>
          </a:xfrm>
          <a:prstGeom prst="rect">
            <a:avLst/>
          </a:prstGeom>
          <a:noFill/>
        </p:spPr>
        <p:txBody>
          <a:bodyPr wrap="square" lIns="0" rIns="0" tIns="0" bIns="0" anchor="t">
            <a:noAutofit/>
          </a:bodyPr>
          <a:lstStyle/>
          <a:p>
            <a:pPr algn="l"/>
            <a:r>
              <a:rPr sz="1100" b="1" i="0">
                <a:solidFill>
                  <a:srgbClr val="2F78C4"/>
                </a:solidFill>
                <a:latin typeface="Arial"/>
              </a:rPr>
              <a:t>32  </a:t>
            </a:r>
            <a:r>
              <a:rPr sz="1100" b="1" i="0">
                <a:solidFill>
                  <a:srgbClr val="000048"/>
                </a:solidFill>
                <a:latin typeface="Arial"/>
              </a:rPr>
              <a:t>A18  </a:t>
            </a:r>
            <a:r>
              <a:rPr sz="1100" b="0" i="0">
                <a:solidFill>
                  <a:srgbClr val="1E1E2E"/>
                </a:solidFill>
                <a:latin typeface="Arial"/>
              </a:rPr>
              <a:t>Regional availability snapshot</a:t>
            </a:r>
          </a:p>
        </p:txBody>
      </p:sp>
      <p:sp>
        <p:nvSpPr>
          <p:cNvPr id="27" name="TextBox 26">
            <a:hlinkClick action="ppaction://hlinksldjump" r:id="rId24"/>
          </p:cNvPr>
          <p:cNvSpPr txBox="1"/>
          <p:nvPr/>
        </p:nvSpPr>
        <p:spPr>
          <a:xfrm>
            <a:off x="548640" y="5551998"/>
            <a:ext cx="5486400" cy="206733"/>
          </a:xfrm>
          <a:prstGeom prst="rect">
            <a:avLst/>
          </a:prstGeom>
          <a:noFill/>
        </p:spPr>
        <p:txBody>
          <a:bodyPr wrap="square" lIns="0" rIns="0" tIns="0" bIns="0" anchor="t">
            <a:noAutofit/>
          </a:bodyPr>
          <a:lstStyle/>
          <a:p>
            <a:pPr algn="l"/>
            <a:r>
              <a:rPr sz="1100" b="1" i="0">
                <a:solidFill>
                  <a:srgbClr val="2F78C4"/>
                </a:solidFill>
                <a:latin typeface="Arial"/>
              </a:rPr>
              <a:t>33  </a:t>
            </a:r>
            <a:r>
              <a:rPr sz="1100" b="1" i="0">
                <a:solidFill>
                  <a:srgbClr val="000048"/>
                </a:solidFill>
                <a:latin typeface="Arial"/>
              </a:rPr>
              <a:t>A19  </a:t>
            </a:r>
            <a:r>
              <a:rPr sz="1100" b="0" i="0">
                <a:solidFill>
                  <a:srgbClr val="1E1E2E"/>
                </a:solidFill>
                <a:latin typeface="Arial"/>
              </a:rPr>
              <a:t>Verified API Management list prices</a:t>
            </a:r>
          </a:p>
        </p:txBody>
      </p:sp>
      <p:sp>
        <p:nvSpPr>
          <p:cNvPr id="28" name="TextBox 27">
            <a:hlinkClick action="ppaction://hlinksldjump" r:id="rId25"/>
          </p:cNvPr>
          <p:cNvSpPr txBox="1"/>
          <p:nvPr/>
        </p:nvSpPr>
        <p:spPr>
          <a:xfrm>
            <a:off x="548640" y="5758732"/>
            <a:ext cx="5486400" cy="206733"/>
          </a:xfrm>
          <a:prstGeom prst="rect">
            <a:avLst/>
          </a:prstGeom>
          <a:noFill/>
        </p:spPr>
        <p:txBody>
          <a:bodyPr wrap="square" lIns="0" rIns="0" tIns="0" bIns="0" anchor="t">
            <a:noAutofit/>
          </a:bodyPr>
          <a:lstStyle/>
          <a:p>
            <a:pPr algn="l"/>
            <a:r>
              <a:rPr sz="1100" b="1" i="0">
                <a:solidFill>
                  <a:srgbClr val="2F78C4"/>
                </a:solidFill>
                <a:latin typeface="Arial"/>
              </a:rPr>
              <a:t>34  </a:t>
            </a:r>
            <a:r>
              <a:rPr sz="1100" b="1" i="0">
                <a:solidFill>
                  <a:srgbClr val="000048"/>
                </a:solidFill>
                <a:latin typeface="Arial"/>
              </a:rPr>
              <a:t>A20  </a:t>
            </a:r>
            <a:r>
              <a:rPr sz="1100" b="0" i="0">
                <a:solidFill>
                  <a:srgbClr val="1E1E2E"/>
                </a:solidFill>
                <a:latin typeface="Arial"/>
              </a:rPr>
              <a:t>Synthetic budget example</a:t>
            </a:r>
          </a:p>
        </p:txBody>
      </p:sp>
      <p:sp>
        <p:nvSpPr>
          <p:cNvPr id="29" name="TextBox 28">
            <a:hlinkClick action="ppaction://hlinksldjump" r:id="rId26"/>
          </p:cNvPr>
          <p:cNvSpPr txBox="1"/>
          <p:nvPr/>
        </p:nvSpPr>
        <p:spPr>
          <a:xfrm>
            <a:off x="548640" y="5965466"/>
            <a:ext cx="5486400" cy="206733"/>
          </a:xfrm>
          <a:prstGeom prst="rect">
            <a:avLst/>
          </a:prstGeom>
          <a:noFill/>
        </p:spPr>
        <p:txBody>
          <a:bodyPr wrap="square" lIns="0" rIns="0" tIns="0" bIns="0" anchor="t">
            <a:noAutofit/>
          </a:bodyPr>
          <a:lstStyle/>
          <a:p>
            <a:pPr algn="l"/>
            <a:r>
              <a:rPr sz="1100" b="1" i="0">
                <a:solidFill>
                  <a:srgbClr val="2F78C4"/>
                </a:solidFill>
                <a:latin typeface="Arial"/>
              </a:rPr>
              <a:t>35  </a:t>
            </a:r>
            <a:r>
              <a:rPr sz="1100" b="1" i="0">
                <a:solidFill>
                  <a:srgbClr val="000048"/>
                </a:solidFill>
                <a:latin typeface="Arial"/>
              </a:rPr>
              <a:t>A21  </a:t>
            </a:r>
            <a:r>
              <a:rPr sz="1100" b="0" i="0">
                <a:solidFill>
                  <a:srgbClr val="1E1E2E"/>
                </a:solidFill>
                <a:latin typeface="Arial"/>
              </a:rPr>
              <a:t>Policy register</a:t>
            </a:r>
          </a:p>
        </p:txBody>
      </p:sp>
      <p:sp>
        <p:nvSpPr>
          <p:cNvPr id="30" name="TextBox 29">
            <a:hlinkClick action="ppaction://hlinksldjump" r:id="rId27"/>
          </p:cNvPr>
          <p:cNvSpPr txBox="1"/>
          <p:nvPr/>
        </p:nvSpPr>
        <p:spPr>
          <a:xfrm>
            <a:off x="6217920" y="1417320"/>
            <a:ext cx="5486400" cy="206733"/>
          </a:xfrm>
          <a:prstGeom prst="rect">
            <a:avLst/>
          </a:prstGeom>
          <a:noFill/>
        </p:spPr>
        <p:txBody>
          <a:bodyPr wrap="square" lIns="0" rIns="0" tIns="0" bIns="0" anchor="t">
            <a:noAutofit/>
          </a:bodyPr>
          <a:lstStyle/>
          <a:p>
            <a:pPr algn="l"/>
            <a:r>
              <a:rPr sz="1100" b="1" i="0">
                <a:solidFill>
                  <a:srgbClr val="2F78C4"/>
                </a:solidFill>
                <a:latin typeface="Arial"/>
              </a:rPr>
              <a:t>36  </a:t>
            </a:r>
            <a:r>
              <a:rPr sz="1100" b="1" i="0">
                <a:solidFill>
                  <a:srgbClr val="000048"/>
                </a:solidFill>
                <a:latin typeface="Arial"/>
              </a:rPr>
              <a:t>A22  </a:t>
            </a:r>
            <a:r>
              <a:rPr sz="1100" b="0" i="0">
                <a:solidFill>
                  <a:srgbClr val="1E1E2E"/>
                </a:solidFill>
                <a:latin typeface="Arial"/>
              </a:rPr>
              <a:t>Acceptance gates</a:t>
            </a:r>
          </a:p>
        </p:txBody>
      </p:sp>
      <p:sp>
        <p:nvSpPr>
          <p:cNvPr id="31" name="TextBox 30">
            <a:hlinkClick action="ppaction://hlinksldjump" r:id="rId28"/>
          </p:cNvPr>
          <p:cNvSpPr txBox="1"/>
          <p:nvPr/>
        </p:nvSpPr>
        <p:spPr>
          <a:xfrm>
            <a:off x="6217920" y="1624053"/>
            <a:ext cx="5486400" cy="206733"/>
          </a:xfrm>
          <a:prstGeom prst="rect">
            <a:avLst/>
          </a:prstGeom>
          <a:noFill/>
        </p:spPr>
        <p:txBody>
          <a:bodyPr wrap="square" lIns="0" rIns="0" tIns="0" bIns="0" anchor="t">
            <a:noAutofit/>
          </a:bodyPr>
          <a:lstStyle/>
          <a:p>
            <a:pPr algn="l"/>
            <a:r>
              <a:rPr sz="1100" b="1" i="0">
                <a:solidFill>
                  <a:srgbClr val="2F78C4"/>
                </a:solidFill>
                <a:latin typeface="Arial"/>
              </a:rPr>
              <a:t>37  </a:t>
            </a:r>
            <a:r>
              <a:rPr sz="1100" b="1" i="0">
                <a:solidFill>
                  <a:srgbClr val="000048"/>
                </a:solidFill>
                <a:latin typeface="Arial"/>
              </a:rPr>
              <a:t>K  </a:t>
            </a:r>
            <a:r>
              <a:rPr sz="1100" b="0" i="0">
                <a:solidFill>
                  <a:srgbClr val="1E1E2E"/>
                </a:solidFill>
                <a:latin typeface="Arial"/>
              </a:rPr>
              <a:t>Kill-switch cross-reference</a:t>
            </a:r>
          </a:p>
        </p:txBody>
      </p:sp>
      <p:sp>
        <p:nvSpPr>
          <p:cNvPr id="32" name="TextBox 31">
            <a:hlinkClick action="ppaction://hlinksldjump" r:id="rId29"/>
          </p:cNvPr>
          <p:cNvSpPr txBox="1"/>
          <p:nvPr/>
        </p:nvSpPr>
        <p:spPr>
          <a:xfrm>
            <a:off x="6217920" y="1830787"/>
            <a:ext cx="5486400" cy="206733"/>
          </a:xfrm>
          <a:prstGeom prst="rect">
            <a:avLst/>
          </a:prstGeom>
          <a:noFill/>
        </p:spPr>
        <p:txBody>
          <a:bodyPr wrap="square" lIns="0" rIns="0" tIns="0" bIns="0" anchor="t">
            <a:noAutofit/>
          </a:bodyPr>
          <a:lstStyle/>
          <a:p>
            <a:pPr algn="l"/>
            <a:r>
              <a:rPr sz="1100" b="1" i="0">
                <a:solidFill>
                  <a:srgbClr val="2F78C4"/>
                </a:solidFill>
                <a:latin typeface="Arial"/>
              </a:rPr>
              <a:t>38  </a:t>
            </a:r>
            <a:r>
              <a:rPr sz="1100" b="1" i="0">
                <a:solidFill>
                  <a:srgbClr val="000048"/>
                </a:solidFill>
                <a:latin typeface="Arial"/>
              </a:rPr>
              <a:t>A23  </a:t>
            </a:r>
            <a:r>
              <a:rPr sz="1100" b="0" i="0">
                <a:solidFill>
                  <a:srgbClr val="1E1E2E"/>
                </a:solidFill>
                <a:latin typeface="Arial"/>
              </a:rPr>
              <a:t>Gateway choice guide</a:t>
            </a:r>
          </a:p>
        </p:txBody>
      </p:sp>
      <p:sp>
        <p:nvSpPr>
          <p:cNvPr id="33" name="TextBox 32">
            <a:hlinkClick action="ppaction://hlinksldjump" r:id="rId30"/>
          </p:cNvPr>
          <p:cNvSpPr txBox="1"/>
          <p:nvPr/>
        </p:nvSpPr>
        <p:spPr>
          <a:xfrm>
            <a:off x="6217920" y="2037521"/>
            <a:ext cx="5486400" cy="206733"/>
          </a:xfrm>
          <a:prstGeom prst="rect">
            <a:avLst/>
          </a:prstGeom>
          <a:noFill/>
        </p:spPr>
        <p:txBody>
          <a:bodyPr wrap="square" lIns="0" rIns="0" tIns="0" bIns="0" anchor="t">
            <a:noAutofit/>
          </a:bodyPr>
          <a:lstStyle/>
          <a:p>
            <a:pPr algn="l"/>
            <a:r>
              <a:rPr sz="1100" b="1" i="0">
                <a:solidFill>
                  <a:srgbClr val="2F78C4"/>
                </a:solidFill>
                <a:latin typeface="Arial"/>
              </a:rPr>
              <a:t>39  </a:t>
            </a:r>
            <a:r>
              <a:rPr sz="1100" b="1" i="0">
                <a:solidFill>
                  <a:srgbClr val="000048"/>
                </a:solidFill>
                <a:latin typeface="Arial"/>
              </a:rPr>
              <a:t>A24  </a:t>
            </a:r>
            <a:r>
              <a:rPr sz="1100" b="0" i="0">
                <a:solidFill>
                  <a:srgbClr val="1E1E2E"/>
                </a:solidFill>
                <a:latin typeface="Arial"/>
              </a:rPr>
              <a:t>Latency test method</a:t>
            </a:r>
          </a:p>
        </p:txBody>
      </p:sp>
      <p:sp>
        <p:nvSpPr>
          <p:cNvPr id="34" name="TextBox 33">
            <a:hlinkClick action="ppaction://hlinksldjump" r:id="rId31"/>
          </p:cNvPr>
          <p:cNvSpPr txBox="1"/>
          <p:nvPr/>
        </p:nvSpPr>
        <p:spPr>
          <a:xfrm>
            <a:off x="6217920" y="2244255"/>
            <a:ext cx="5486400" cy="206733"/>
          </a:xfrm>
          <a:prstGeom prst="rect">
            <a:avLst/>
          </a:prstGeom>
          <a:noFill/>
        </p:spPr>
        <p:txBody>
          <a:bodyPr wrap="square" lIns="0" rIns="0" tIns="0" bIns="0" anchor="t">
            <a:noAutofit/>
          </a:bodyPr>
          <a:lstStyle/>
          <a:p>
            <a:pPr algn="l"/>
            <a:r>
              <a:rPr sz="1100" b="1" i="0">
                <a:solidFill>
                  <a:srgbClr val="2F78C4"/>
                </a:solidFill>
                <a:latin typeface="Arial"/>
              </a:rPr>
              <a:t>40  </a:t>
            </a:r>
            <a:r>
              <a:rPr sz="1100" b="1" i="0">
                <a:solidFill>
                  <a:srgbClr val="000048"/>
                </a:solidFill>
                <a:latin typeface="Arial"/>
              </a:rPr>
              <a:t>A25  </a:t>
            </a:r>
            <a:r>
              <a:rPr sz="1100" b="0" i="0">
                <a:solidFill>
                  <a:srgbClr val="1E1E2E"/>
                </a:solidFill>
                <a:latin typeface="Arial"/>
              </a:rPr>
              <a:t>Semantic caching economics</a:t>
            </a:r>
          </a:p>
        </p:txBody>
      </p:sp>
      <p:sp>
        <p:nvSpPr>
          <p:cNvPr id="35" name="TextBox 34">
            <a:hlinkClick action="ppaction://hlinksldjump" r:id="rId32"/>
          </p:cNvPr>
          <p:cNvSpPr txBox="1"/>
          <p:nvPr/>
        </p:nvSpPr>
        <p:spPr>
          <a:xfrm>
            <a:off x="6217920" y="2450989"/>
            <a:ext cx="5486400" cy="206733"/>
          </a:xfrm>
          <a:prstGeom prst="rect">
            <a:avLst/>
          </a:prstGeom>
          <a:noFill/>
        </p:spPr>
        <p:txBody>
          <a:bodyPr wrap="square" lIns="0" rIns="0" tIns="0" bIns="0" anchor="t">
            <a:noAutofit/>
          </a:bodyPr>
          <a:lstStyle/>
          <a:p>
            <a:pPr algn="l"/>
            <a:r>
              <a:rPr sz="1100" b="1" i="0">
                <a:solidFill>
                  <a:srgbClr val="2F78C4"/>
                </a:solidFill>
                <a:latin typeface="Arial"/>
              </a:rPr>
              <a:t>41  </a:t>
            </a:r>
            <a:r>
              <a:rPr sz="1100" b="1" i="0">
                <a:solidFill>
                  <a:srgbClr val="000048"/>
                </a:solidFill>
                <a:latin typeface="Arial"/>
              </a:rPr>
              <a:t>A26  </a:t>
            </a:r>
            <a:r>
              <a:rPr sz="1100" b="0" i="0">
                <a:solidFill>
                  <a:srgbClr val="1E1E2E"/>
                </a:solidFill>
                <a:latin typeface="Arial"/>
              </a:rPr>
              <a:t>Chargeback and showback flow</a:t>
            </a:r>
          </a:p>
        </p:txBody>
      </p:sp>
      <p:sp>
        <p:nvSpPr>
          <p:cNvPr id="36" name="TextBox 35">
            <a:hlinkClick action="ppaction://hlinksldjump" r:id="rId33"/>
          </p:cNvPr>
          <p:cNvSpPr txBox="1"/>
          <p:nvPr/>
        </p:nvSpPr>
        <p:spPr>
          <a:xfrm>
            <a:off x="6217920" y="2657723"/>
            <a:ext cx="5486400" cy="206733"/>
          </a:xfrm>
          <a:prstGeom prst="rect">
            <a:avLst/>
          </a:prstGeom>
          <a:noFill/>
        </p:spPr>
        <p:txBody>
          <a:bodyPr wrap="square" lIns="0" rIns="0" tIns="0" bIns="0" anchor="t">
            <a:noAutofit/>
          </a:bodyPr>
          <a:lstStyle/>
          <a:p>
            <a:pPr algn="l"/>
            <a:r>
              <a:rPr sz="1100" b="1" i="0">
                <a:solidFill>
                  <a:srgbClr val="2F78C4"/>
                </a:solidFill>
                <a:latin typeface="Arial"/>
              </a:rPr>
              <a:t>42  </a:t>
            </a:r>
            <a:r>
              <a:rPr sz="1100" b="1" i="0">
                <a:solidFill>
                  <a:srgbClr val="000048"/>
                </a:solidFill>
                <a:latin typeface="Arial"/>
              </a:rPr>
              <a:t>A27  </a:t>
            </a:r>
            <a:r>
              <a:rPr sz="1100" b="0" i="0">
                <a:solidFill>
                  <a:srgbClr val="1E1E2E"/>
                </a:solidFill>
                <a:latin typeface="Arial"/>
              </a:rPr>
              <a:t>Copilot Studio connectors via APIM</a:t>
            </a:r>
          </a:p>
        </p:txBody>
      </p:sp>
      <p:sp>
        <p:nvSpPr>
          <p:cNvPr id="37" name="TextBox 36">
            <a:hlinkClick action="ppaction://hlinksldjump" r:id="rId34"/>
          </p:cNvPr>
          <p:cNvSpPr txBox="1"/>
          <p:nvPr/>
        </p:nvSpPr>
        <p:spPr>
          <a:xfrm>
            <a:off x="6217920" y="2864457"/>
            <a:ext cx="5486400" cy="206733"/>
          </a:xfrm>
          <a:prstGeom prst="rect">
            <a:avLst/>
          </a:prstGeom>
          <a:noFill/>
        </p:spPr>
        <p:txBody>
          <a:bodyPr wrap="square" lIns="0" rIns="0" tIns="0" bIns="0" anchor="t">
            <a:noAutofit/>
          </a:bodyPr>
          <a:lstStyle/>
          <a:p>
            <a:pPr algn="l"/>
            <a:r>
              <a:rPr sz="1100" b="1" i="0">
                <a:solidFill>
                  <a:srgbClr val="2F78C4"/>
                </a:solidFill>
                <a:latin typeface="Arial"/>
              </a:rPr>
              <a:t>43  </a:t>
            </a:r>
            <a:r>
              <a:rPr sz="1100" b="1" i="0">
                <a:solidFill>
                  <a:srgbClr val="000048"/>
                </a:solidFill>
                <a:latin typeface="Arial"/>
              </a:rPr>
              <a:t>Q1  </a:t>
            </a:r>
            <a:r>
              <a:rPr sz="1100" b="0" i="0">
                <a:solidFill>
                  <a:srgbClr val="1E1E2E"/>
                </a:solidFill>
                <a:latin typeface="Arial"/>
              </a:rPr>
              <a:t>Qualification scorecard and account shortlist</a:t>
            </a:r>
          </a:p>
        </p:txBody>
      </p:sp>
      <p:sp>
        <p:nvSpPr>
          <p:cNvPr id="38" name="TextBox 37">
            <a:hlinkClick action="ppaction://hlinksldjump" r:id="rId35"/>
          </p:cNvPr>
          <p:cNvSpPr txBox="1"/>
          <p:nvPr/>
        </p:nvSpPr>
        <p:spPr>
          <a:xfrm>
            <a:off x="6217920" y="3071191"/>
            <a:ext cx="5486400" cy="206733"/>
          </a:xfrm>
          <a:prstGeom prst="rect">
            <a:avLst/>
          </a:prstGeom>
          <a:noFill/>
        </p:spPr>
        <p:txBody>
          <a:bodyPr wrap="square" lIns="0" rIns="0" tIns="0" bIns="0" anchor="t">
            <a:noAutofit/>
          </a:bodyPr>
          <a:lstStyle/>
          <a:p>
            <a:pPr algn="l"/>
            <a:r>
              <a:rPr sz="1100" b="1" i="0">
                <a:solidFill>
                  <a:srgbClr val="2F78C4"/>
                </a:solidFill>
                <a:latin typeface="Arial"/>
              </a:rPr>
              <a:t>44  </a:t>
            </a:r>
            <a:r>
              <a:rPr sz="1100" b="1" i="0">
                <a:solidFill>
                  <a:srgbClr val="000048"/>
                </a:solidFill>
                <a:latin typeface="Arial"/>
              </a:rPr>
              <a:t>E1  </a:t>
            </a:r>
            <a:r>
              <a:rPr sz="1100" b="0" i="0">
                <a:solidFill>
                  <a:srgbClr val="1E1E2E"/>
                </a:solidFill>
                <a:latin typeface="Arial"/>
              </a:rPr>
              <a:t>Estimate assumptions</a:t>
            </a:r>
          </a:p>
        </p:txBody>
      </p:sp>
      <p:sp>
        <p:nvSpPr>
          <p:cNvPr id="39" name="TextBox 38">
            <a:hlinkClick action="ppaction://hlinksldjump" r:id="rId36"/>
          </p:cNvPr>
          <p:cNvSpPr txBox="1"/>
          <p:nvPr/>
        </p:nvSpPr>
        <p:spPr>
          <a:xfrm>
            <a:off x="6217920" y="3277925"/>
            <a:ext cx="5486400" cy="206733"/>
          </a:xfrm>
          <a:prstGeom prst="rect">
            <a:avLst/>
          </a:prstGeom>
          <a:noFill/>
        </p:spPr>
        <p:txBody>
          <a:bodyPr wrap="square" lIns="0" rIns="0" tIns="0" bIns="0" anchor="t">
            <a:noAutofit/>
          </a:bodyPr>
          <a:lstStyle/>
          <a:p>
            <a:pPr algn="l"/>
            <a:r>
              <a:rPr sz="1100" b="1" i="0">
                <a:solidFill>
                  <a:srgbClr val="2F78C4"/>
                </a:solidFill>
                <a:latin typeface="Arial"/>
              </a:rPr>
              <a:t>45  </a:t>
            </a:r>
            <a:r>
              <a:rPr sz="1100" b="1" i="0">
                <a:solidFill>
                  <a:srgbClr val="000048"/>
                </a:solidFill>
                <a:latin typeface="Arial"/>
              </a:rPr>
              <a:t>SEC1  </a:t>
            </a:r>
            <a:r>
              <a:rPr sz="1100" b="0" i="0">
                <a:solidFill>
                  <a:srgbClr val="1E1E2E"/>
                </a:solidFill>
                <a:latin typeface="Arial"/>
              </a:rPr>
              <a:t>AI threat model and controls</a:t>
            </a:r>
          </a:p>
        </p:txBody>
      </p:sp>
      <p:sp>
        <p:nvSpPr>
          <p:cNvPr id="40" name="TextBox 39">
            <a:hlinkClick action="ppaction://hlinksldjump" r:id="rId37"/>
          </p:cNvPr>
          <p:cNvSpPr txBox="1"/>
          <p:nvPr/>
        </p:nvSpPr>
        <p:spPr>
          <a:xfrm>
            <a:off x="6217920" y="3484659"/>
            <a:ext cx="5486400" cy="206733"/>
          </a:xfrm>
          <a:prstGeom prst="rect">
            <a:avLst/>
          </a:prstGeom>
          <a:noFill/>
        </p:spPr>
        <p:txBody>
          <a:bodyPr wrap="square" lIns="0" rIns="0" tIns="0" bIns="0" anchor="t">
            <a:noAutofit/>
          </a:bodyPr>
          <a:lstStyle/>
          <a:p>
            <a:pPr algn="l"/>
            <a:r>
              <a:rPr sz="1100" b="1" i="0">
                <a:solidFill>
                  <a:srgbClr val="2F78C4"/>
                </a:solidFill>
                <a:latin typeface="Arial"/>
              </a:rPr>
              <a:t>46  </a:t>
            </a:r>
            <a:r>
              <a:rPr sz="1100" b="1" i="0">
                <a:solidFill>
                  <a:srgbClr val="000048"/>
                </a:solidFill>
                <a:latin typeface="Arial"/>
              </a:rPr>
              <a:t>SEC2  </a:t>
            </a:r>
            <a:r>
              <a:rPr sz="1100" b="0" i="0">
                <a:solidFill>
                  <a:srgbClr val="1E1E2E"/>
                </a:solidFill>
                <a:latin typeface="Arial"/>
              </a:rPr>
              <a:t>Security services and regulation</a:t>
            </a:r>
          </a:p>
        </p:txBody>
      </p:sp>
      <p:sp>
        <p:nvSpPr>
          <p:cNvPr id="41" name="TextBox 40">
            <a:hlinkClick action="ppaction://hlinksldjump" r:id="rId38"/>
          </p:cNvPr>
          <p:cNvSpPr txBox="1"/>
          <p:nvPr/>
        </p:nvSpPr>
        <p:spPr>
          <a:xfrm>
            <a:off x="6217920" y="3691393"/>
            <a:ext cx="5486400" cy="206733"/>
          </a:xfrm>
          <a:prstGeom prst="rect">
            <a:avLst/>
          </a:prstGeom>
          <a:noFill/>
        </p:spPr>
        <p:txBody>
          <a:bodyPr wrap="square" lIns="0" rIns="0" tIns="0" bIns="0" anchor="t">
            <a:noAutofit/>
          </a:bodyPr>
          <a:lstStyle/>
          <a:p>
            <a:pPr algn="l"/>
            <a:r>
              <a:rPr sz="1100" b="1" i="0">
                <a:solidFill>
                  <a:srgbClr val="2F78C4"/>
                </a:solidFill>
                <a:latin typeface="Arial"/>
              </a:rPr>
              <a:t>47  </a:t>
            </a:r>
            <a:r>
              <a:rPr sz="1100" b="1" i="0">
                <a:solidFill>
                  <a:srgbClr val="000048"/>
                </a:solidFill>
                <a:latin typeface="Arial"/>
              </a:rPr>
              <a:t>G1  </a:t>
            </a:r>
            <a:r>
              <a:rPr sz="1100" b="0" i="0">
                <a:solidFill>
                  <a:srgbClr val="1E1E2E"/>
                </a:solidFill>
                <a:latin typeface="Arial"/>
              </a:rPr>
              <a:t>Glossary</a:t>
            </a:r>
          </a:p>
        </p:txBody>
      </p:sp>
      <p:sp>
        <p:nvSpPr>
          <p:cNvPr id="42" name="TextBox 41">
            <a:hlinkClick action="ppaction://hlinksldjump" r:id="rId39"/>
          </p:cNvPr>
          <p:cNvSpPr txBox="1"/>
          <p:nvPr/>
        </p:nvSpPr>
        <p:spPr>
          <a:xfrm>
            <a:off x="6217920" y="3898126"/>
            <a:ext cx="5486400" cy="206733"/>
          </a:xfrm>
          <a:prstGeom prst="rect">
            <a:avLst/>
          </a:prstGeom>
          <a:noFill/>
        </p:spPr>
        <p:txBody>
          <a:bodyPr wrap="square" lIns="0" rIns="0" tIns="0" bIns="0" anchor="t">
            <a:noAutofit/>
          </a:bodyPr>
          <a:lstStyle/>
          <a:p>
            <a:pPr algn="l"/>
            <a:r>
              <a:rPr sz="1100" b="1" i="0">
                <a:solidFill>
                  <a:srgbClr val="2F78C4"/>
                </a:solidFill>
                <a:latin typeface="Arial"/>
              </a:rPr>
              <a:t>48  </a:t>
            </a:r>
            <a:r>
              <a:rPr sz="1100" b="1" i="0">
                <a:solidFill>
                  <a:srgbClr val="000048"/>
                </a:solidFill>
                <a:latin typeface="Arial"/>
              </a:rPr>
              <a:t>C1  </a:t>
            </a:r>
            <a:r>
              <a:rPr sz="1100" b="0" i="0">
                <a:solidFill>
                  <a:srgbClr val="1E1E2E"/>
                </a:solidFill>
                <a:latin typeface="Arial"/>
              </a:rPr>
              <a:t>Cost layers and pricing formula</a:t>
            </a:r>
          </a:p>
        </p:txBody>
      </p:sp>
      <p:sp>
        <p:nvSpPr>
          <p:cNvPr id="43" name="TextBox 42">
            <a:hlinkClick action="ppaction://hlinksldjump" r:id="rId40"/>
          </p:cNvPr>
          <p:cNvSpPr txBox="1"/>
          <p:nvPr/>
        </p:nvSpPr>
        <p:spPr>
          <a:xfrm>
            <a:off x="6217920" y="4104860"/>
            <a:ext cx="5486400" cy="206733"/>
          </a:xfrm>
          <a:prstGeom prst="rect">
            <a:avLst/>
          </a:prstGeom>
          <a:noFill/>
        </p:spPr>
        <p:txBody>
          <a:bodyPr wrap="square" lIns="0" rIns="0" tIns="0" bIns="0" anchor="t">
            <a:noAutofit/>
          </a:bodyPr>
          <a:lstStyle/>
          <a:p>
            <a:pPr algn="l"/>
            <a:r>
              <a:rPr sz="1100" b="1" i="0">
                <a:solidFill>
                  <a:srgbClr val="2F78C4"/>
                </a:solidFill>
                <a:latin typeface="Arial"/>
              </a:rPr>
              <a:t>49  </a:t>
            </a:r>
            <a:r>
              <a:rPr sz="1100" b="1" i="0">
                <a:solidFill>
                  <a:srgbClr val="000048"/>
                </a:solidFill>
                <a:latin typeface="Arial"/>
              </a:rPr>
              <a:t>R1  </a:t>
            </a:r>
            <a:r>
              <a:rPr sz="1100" b="0" i="0">
                <a:solidFill>
                  <a:srgbClr val="1E1E2E"/>
                </a:solidFill>
                <a:latin typeface="Arial"/>
              </a:rPr>
              <a:t>RACI matrix</a:t>
            </a:r>
          </a:p>
        </p:txBody>
      </p:sp>
      <p:sp>
        <p:nvSpPr>
          <p:cNvPr id="44" name="TextBox 43">
            <a:hlinkClick action="ppaction://hlinksldjump" r:id="rId41"/>
          </p:cNvPr>
          <p:cNvSpPr txBox="1"/>
          <p:nvPr/>
        </p:nvSpPr>
        <p:spPr>
          <a:xfrm>
            <a:off x="6217920" y="4311594"/>
            <a:ext cx="5486400" cy="206733"/>
          </a:xfrm>
          <a:prstGeom prst="rect">
            <a:avLst/>
          </a:prstGeom>
          <a:noFill/>
        </p:spPr>
        <p:txBody>
          <a:bodyPr wrap="square" lIns="0" rIns="0" tIns="0" bIns="0" anchor="t">
            <a:noAutofit/>
          </a:bodyPr>
          <a:lstStyle/>
          <a:p>
            <a:pPr algn="l"/>
            <a:r>
              <a:rPr sz="1100" b="1" i="0">
                <a:solidFill>
                  <a:srgbClr val="2F78C4"/>
                </a:solidFill>
                <a:latin typeface="Arial"/>
              </a:rPr>
              <a:t>50  </a:t>
            </a:r>
            <a:r>
              <a:rPr sz="1100" b="1" i="0">
                <a:solidFill>
                  <a:srgbClr val="000048"/>
                </a:solidFill>
                <a:latin typeface="Arial"/>
              </a:rPr>
              <a:t>R2  </a:t>
            </a:r>
            <a:r>
              <a:rPr sz="1100" b="0" i="0">
                <a:solidFill>
                  <a:srgbClr val="1E1E2E"/>
                </a:solidFill>
                <a:latin typeface="Arial"/>
              </a:rPr>
              <a:t>Revenue attribution framework</a:t>
            </a:r>
          </a:p>
        </p:txBody>
      </p:sp>
      <p:sp>
        <p:nvSpPr>
          <p:cNvPr id="45" name="TextBox 44">
            <a:hlinkClick action="ppaction://hlinksldjump" r:id="rId42"/>
          </p:cNvPr>
          <p:cNvSpPr txBox="1"/>
          <p:nvPr/>
        </p:nvSpPr>
        <p:spPr>
          <a:xfrm>
            <a:off x="6217920" y="4518328"/>
            <a:ext cx="5486400" cy="206733"/>
          </a:xfrm>
          <a:prstGeom prst="rect">
            <a:avLst/>
          </a:prstGeom>
          <a:noFill/>
        </p:spPr>
        <p:txBody>
          <a:bodyPr wrap="square" lIns="0" rIns="0" tIns="0" bIns="0" anchor="t">
            <a:noAutofit/>
          </a:bodyPr>
          <a:lstStyle/>
          <a:p>
            <a:pPr algn="l"/>
            <a:r>
              <a:rPr sz="1100" b="1" i="0">
                <a:solidFill>
                  <a:srgbClr val="2F78C4"/>
                </a:solidFill>
                <a:latin typeface="Arial"/>
              </a:rPr>
              <a:t>51  </a:t>
            </a:r>
            <a:r>
              <a:rPr sz="1100" b="1" i="0">
                <a:solidFill>
                  <a:srgbClr val="000048"/>
                </a:solidFill>
                <a:latin typeface="Arial"/>
              </a:rPr>
              <a:t>R3  </a:t>
            </a:r>
            <a:r>
              <a:rPr sz="1100" b="0" i="0">
                <a:solidFill>
                  <a:srgbClr val="1E1E2E"/>
                </a:solidFill>
                <a:latin typeface="Arial"/>
              </a:rPr>
              <a:t>Delivery and commercial readiness</a:t>
            </a:r>
          </a:p>
        </p:txBody>
      </p:sp>
      <p:sp>
        <p:nvSpPr>
          <p:cNvPr id="46" name="TextBox 45">
            <a:hlinkClick action="ppaction://hlinksldjump" r:id="rId43"/>
          </p:cNvPr>
          <p:cNvSpPr txBox="1"/>
          <p:nvPr/>
        </p:nvSpPr>
        <p:spPr>
          <a:xfrm>
            <a:off x="6217920" y="4725062"/>
            <a:ext cx="5486400" cy="206733"/>
          </a:xfrm>
          <a:prstGeom prst="rect">
            <a:avLst/>
          </a:prstGeom>
          <a:noFill/>
        </p:spPr>
        <p:txBody>
          <a:bodyPr wrap="square" lIns="0" rIns="0" tIns="0" bIns="0" anchor="t">
            <a:noAutofit/>
          </a:bodyPr>
          <a:lstStyle/>
          <a:p>
            <a:pPr algn="l"/>
            <a:r>
              <a:rPr sz="1100" b="1" i="0">
                <a:solidFill>
                  <a:srgbClr val="2F78C4"/>
                </a:solidFill>
                <a:latin typeface="Arial"/>
              </a:rPr>
              <a:t>52  </a:t>
            </a:r>
            <a:r>
              <a:rPr sz="1100" b="1" i="0">
                <a:solidFill>
                  <a:srgbClr val="000048"/>
                </a:solidFill>
                <a:latin typeface="Arial"/>
              </a:rPr>
              <a:t>D1  </a:t>
            </a:r>
            <a:r>
              <a:rPr sz="1100" b="0" i="0">
                <a:solidFill>
                  <a:srgbClr val="1E1E2E"/>
                </a:solidFill>
                <a:latin typeface="Arial"/>
              </a:rPr>
              <a:t>Decision and approval register</a:t>
            </a:r>
          </a:p>
        </p:txBody>
      </p:sp>
      <p:sp>
        <p:nvSpPr>
          <p:cNvPr id="47" name="TextBox 46">
            <a:hlinkClick action="ppaction://hlinksldjump" r:id="rId44"/>
          </p:cNvPr>
          <p:cNvSpPr txBox="1"/>
          <p:nvPr/>
        </p:nvSpPr>
        <p:spPr>
          <a:xfrm>
            <a:off x="6217920" y="4931796"/>
            <a:ext cx="5486400" cy="206733"/>
          </a:xfrm>
          <a:prstGeom prst="rect">
            <a:avLst/>
          </a:prstGeom>
          <a:noFill/>
        </p:spPr>
        <p:txBody>
          <a:bodyPr wrap="square" lIns="0" rIns="0" tIns="0" bIns="0" anchor="t">
            <a:noAutofit/>
          </a:bodyPr>
          <a:lstStyle/>
          <a:p>
            <a:pPr algn="l"/>
            <a:r>
              <a:rPr sz="1100" b="1" i="0">
                <a:solidFill>
                  <a:srgbClr val="2F78C4"/>
                </a:solidFill>
                <a:latin typeface="Arial"/>
              </a:rPr>
              <a:t>53  </a:t>
            </a:r>
            <a:r>
              <a:rPr sz="1100" b="1" i="0">
                <a:solidFill>
                  <a:srgbClr val="000048"/>
                </a:solidFill>
                <a:latin typeface="Arial"/>
              </a:rPr>
              <a:t>O1  </a:t>
            </a:r>
            <a:r>
              <a:rPr sz="1100" b="0" i="0">
                <a:solidFill>
                  <a:srgbClr val="1E1E2E"/>
                </a:solidFill>
                <a:latin typeface="Arial"/>
              </a:rPr>
              <a:t>Original: gateway conceptual</a:t>
            </a:r>
          </a:p>
        </p:txBody>
      </p:sp>
      <p:sp>
        <p:nvSpPr>
          <p:cNvPr id="48" name="TextBox 47">
            <a:hlinkClick action="ppaction://hlinksldjump" r:id="rId45"/>
          </p:cNvPr>
          <p:cNvSpPr txBox="1"/>
          <p:nvPr/>
        </p:nvSpPr>
        <p:spPr>
          <a:xfrm>
            <a:off x="6217920" y="5138530"/>
            <a:ext cx="5486400" cy="206733"/>
          </a:xfrm>
          <a:prstGeom prst="rect">
            <a:avLst/>
          </a:prstGeom>
          <a:noFill/>
        </p:spPr>
        <p:txBody>
          <a:bodyPr wrap="square" lIns="0" rIns="0" tIns="0" bIns="0" anchor="t">
            <a:noAutofit/>
          </a:bodyPr>
          <a:lstStyle/>
          <a:p>
            <a:pPr algn="l"/>
            <a:r>
              <a:rPr sz="1100" b="1" i="0">
                <a:solidFill>
                  <a:srgbClr val="2F78C4"/>
                </a:solidFill>
                <a:latin typeface="Arial"/>
              </a:rPr>
              <a:t>54  </a:t>
            </a:r>
            <a:r>
              <a:rPr sz="1100" b="1" i="0">
                <a:solidFill>
                  <a:srgbClr val="000048"/>
                </a:solidFill>
                <a:latin typeface="Arial"/>
              </a:rPr>
              <a:t>O2  </a:t>
            </a:r>
            <a:r>
              <a:rPr sz="1100" b="0" i="0">
                <a:solidFill>
                  <a:srgbClr val="1E1E2E"/>
                </a:solidFill>
                <a:latin typeface="Arial"/>
              </a:rPr>
              <a:t>Historical: legacy identity diagram</a:t>
            </a:r>
          </a:p>
        </p:txBody>
      </p:sp>
      <p:sp>
        <p:nvSpPr>
          <p:cNvPr id="49" name="TextBox 48">
            <a:hlinkClick action="ppaction://hlinksldjump" r:id="rId46"/>
          </p:cNvPr>
          <p:cNvSpPr txBox="1"/>
          <p:nvPr/>
        </p:nvSpPr>
        <p:spPr>
          <a:xfrm>
            <a:off x="6217920" y="5345264"/>
            <a:ext cx="5486400" cy="206733"/>
          </a:xfrm>
          <a:prstGeom prst="rect">
            <a:avLst/>
          </a:prstGeom>
          <a:noFill/>
        </p:spPr>
        <p:txBody>
          <a:bodyPr wrap="square" lIns="0" rIns="0" tIns="0" bIns="0" anchor="t">
            <a:noAutofit/>
          </a:bodyPr>
          <a:lstStyle/>
          <a:p>
            <a:pPr algn="l"/>
            <a:r>
              <a:rPr sz="1100" b="1" i="0">
                <a:solidFill>
                  <a:srgbClr val="2F78C4"/>
                </a:solidFill>
                <a:latin typeface="Arial"/>
              </a:rPr>
              <a:t>55  </a:t>
            </a:r>
            <a:r>
              <a:rPr sz="1100" b="1" i="0">
                <a:solidFill>
                  <a:srgbClr val="000048"/>
                </a:solidFill>
                <a:latin typeface="Arial"/>
              </a:rPr>
              <a:t>O3  </a:t>
            </a:r>
            <a:r>
              <a:rPr sz="1100" b="0" i="0">
                <a:solidFill>
                  <a:srgbClr val="1E1E2E"/>
                </a:solidFill>
                <a:latin typeface="Arial"/>
              </a:rPr>
              <a:t>Original: single gateway, regional backends</a:t>
            </a:r>
          </a:p>
        </p:txBody>
      </p:sp>
      <p:sp>
        <p:nvSpPr>
          <p:cNvPr id="50" name="TextBox 49">
            <a:hlinkClick action="ppaction://hlinksldjump" r:id="rId47"/>
          </p:cNvPr>
          <p:cNvSpPr txBox="1"/>
          <p:nvPr/>
        </p:nvSpPr>
        <p:spPr>
          <a:xfrm>
            <a:off x="6217920" y="5551998"/>
            <a:ext cx="5486400" cy="206733"/>
          </a:xfrm>
          <a:prstGeom prst="rect">
            <a:avLst/>
          </a:prstGeom>
          <a:noFill/>
        </p:spPr>
        <p:txBody>
          <a:bodyPr wrap="square" lIns="0" rIns="0" tIns="0" bIns="0" anchor="t">
            <a:noAutofit/>
          </a:bodyPr>
          <a:lstStyle/>
          <a:p>
            <a:pPr algn="l"/>
            <a:r>
              <a:rPr sz="1100" b="1" i="0">
                <a:solidFill>
                  <a:srgbClr val="2F78C4"/>
                </a:solidFill>
                <a:latin typeface="Arial"/>
              </a:rPr>
              <a:t>56  </a:t>
            </a:r>
            <a:r>
              <a:rPr sz="1100" b="1" i="0">
                <a:solidFill>
                  <a:srgbClr val="000048"/>
                </a:solidFill>
                <a:latin typeface="Arial"/>
              </a:rPr>
              <a:t>O4  </a:t>
            </a:r>
            <a:r>
              <a:rPr sz="1100" b="0" i="0">
                <a:solidFill>
                  <a:srgbClr val="1E1E2E"/>
                </a:solidFill>
                <a:latin typeface="Arial"/>
              </a:rPr>
              <a:t>Original: multi-region gateway</a:t>
            </a:r>
          </a:p>
        </p:txBody>
      </p:sp>
      <p:sp>
        <p:nvSpPr>
          <p:cNvPr id="51" name="TextBox 50">
            <a:hlinkClick action="ppaction://hlinksldjump" r:id="rId48"/>
          </p:cNvPr>
          <p:cNvSpPr txBox="1"/>
          <p:nvPr/>
        </p:nvSpPr>
        <p:spPr>
          <a:xfrm>
            <a:off x="6217920" y="5758732"/>
            <a:ext cx="5486400" cy="206733"/>
          </a:xfrm>
          <a:prstGeom prst="rect">
            <a:avLst/>
          </a:prstGeom>
          <a:noFill/>
        </p:spPr>
        <p:txBody>
          <a:bodyPr wrap="square" lIns="0" rIns="0" tIns="0" bIns="0" anchor="t">
            <a:noAutofit/>
          </a:bodyPr>
          <a:lstStyle/>
          <a:p>
            <a:pPr algn="l"/>
            <a:r>
              <a:rPr sz="1100" b="1" i="0">
                <a:solidFill>
                  <a:srgbClr val="2F78C4"/>
                </a:solidFill>
                <a:latin typeface="Arial"/>
              </a:rPr>
              <a:t>57  </a:t>
            </a:r>
            <a:r>
              <a:rPr sz="1100" b="1" i="0">
                <a:solidFill>
                  <a:srgbClr val="000048"/>
                </a:solidFill>
                <a:latin typeface="Arial"/>
              </a:rPr>
              <a:t>O5  </a:t>
            </a:r>
            <a:r>
              <a:rPr sz="1100" b="0" i="0">
                <a:solidFill>
                  <a:srgbClr val="1E1E2E"/>
                </a:solidFill>
                <a:latin typeface="Arial"/>
              </a:rPr>
              <a:t>Low-resolution originals</a:t>
            </a:r>
          </a:p>
        </p:txBody>
      </p:sp>
      <p:sp>
        <p:nvSpPr>
          <p:cNvPr id="52" name="TextBox 51">
            <a:hlinkClick action="ppaction://hlinksldjump" r:id="rId49"/>
          </p:cNvPr>
          <p:cNvSpPr txBox="1"/>
          <p:nvPr/>
        </p:nvSpPr>
        <p:spPr>
          <a:xfrm>
            <a:off x="6217920" y="5965466"/>
            <a:ext cx="5486400" cy="206733"/>
          </a:xfrm>
          <a:prstGeom prst="rect">
            <a:avLst/>
          </a:prstGeom>
          <a:noFill/>
        </p:spPr>
        <p:txBody>
          <a:bodyPr wrap="square" lIns="0" rIns="0" tIns="0" bIns="0" anchor="t">
            <a:noAutofit/>
          </a:bodyPr>
          <a:lstStyle/>
          <a:p>
            <a:pPr algn="l"/>
            <a:r>
              <a:rPr sz="1100" b="1" i="0">
                <a:solidFill>
                  <a:srgbClr val="2F78C4"/>
                </a:solidFill>
                <a:latin typeface="Arial"/>
              </a:rPr>
              <a:t>58  </a:t>
            </a:r>
            <a:r>
              <a:rPr sz="1100" b="1" i="0">
                <a:solidFill>
                  <a:srgbClr val="000048"/>
                </a:solidFill>
                <a:latin typeface="Arial"/>
              </a:rPr>
              <a:t>S1  </a:t>
            </a:r>
            <a:r>
              <a:rPr sz="11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the gateway controls, and what it cannot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A0</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sp>
        <p:nvSpPr>
          <p:cNvPr id="9" name="Rounded Rectangle 8"/>
          <p:cNvSpPr/>
          <p:nvPr/>
        </p:nvSpPr>
        <p:spPr>
          <a:xfrm>
            <a:off x="548640" y="1371600"/>
            <a:ext cx="5394960"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Controls for routed traffic</a:t>
            </a:r>
          </a:p>
        </p:txBody>
      </p:sp>
      <p:sp>
        <p:nvSpPr>
          <p:cNvPr id="10" name="TextBox 9"/>
          <p:cNvSpPr txBox="1"/>
          <p:nvPr/>
        </p:nvSpPr>
        <p:spPr>
          <a:xfrm>
            <a:off x="548640" y="2057400"/>
            <a:ext cx="5394960" cy="3566160"/>
          </a:xfrm>
          <a:prstGeom prst="rect">
            <a:avLst/>
          </a:prstGeom>
          <a:noFill/>
        </p:spPr>
        <p:txBody>
          <a:bodyPr wrap="square" lIns="0" rIns="0" tIns="0" bIns="0" anchor="t">
            <a:noAutofit/>
          </a:bodyPr>
          <a:lstStyle/>
          <a:p>
            <a:pPr algn="l" marL="201168" indent="-201168">
              <a:spcAft>
                <a:spcPts val="800"/>
              </a:spcAft>
              <a:buFont typeface="Arial"/>
              <a:buChar char="•"/>
            </a:pPr>
            <a:r>
              <a:rPr sz="1800" b="0" i="0">
                <a:solidFill>
                  <a:srgbClr val="1E1E2E"/>
                </a:solidFill>
                <a:latin typeface="Arial"/>
              </a:rPr>
              <a:t>Caller identity and managed identity to backends</a:t>
            </a:r>
          </a:p>
          <a:p>
            <a:pPr algn="l" marL="201168" indent="-201168">
              <a:spcAft>
                <a:spcPts val="800"/>
              </a:spcAft>
              <a:buFont typeface="Arial"/>
              <a:buChar char="•"/>
            </a:pPr>
            <a:r>
              <a:rPr sz="1800" b="0" i="0">
                <a:solidFill>
                  <a:srgbClr val="1E1E2E"/>
                </a:solidFill>
                <a:latin typeface="Arial"/>
              </a:rPr>
              <a:t>Token rate limits and quotas per caller</a:t>
            </a:r>
          </a:p>
          <a:p>
            <a:pPr algn="l" marL="201168" indent="-201168">
              <a:spcAft>
                <a:spcPts val="800"/>
              </a:spcAft>
              <a:buFont typeface="Arial"/>
              <a:buChar char="•"/>
            </a:pPr>
            <a:r>
              <a:rPr sz="1800" b="0" i="0">
                <a:solidFill>
                  <a:srgbClr val="1E1E2E"/>
                </a:solidFill>
                <a:latin typeface="Arial"/>
              </a:rPr>
              <a:t>Content safety and prompt-attack checks</a:t>
            </a:r>
          </a:p>
          <a:p>
            <a:pPr algn="l" marL="201168" indent="-201168">
              <a:spcAft>
                <a:spcPts val="800"/>
              </a:spcAft>
              <a:buFont typeface="Arial"/>
              <a:buChar char="•"/>
            </a:pPr>
            <a:r>
              <a:rPr sz="1800" b="0" i="0">
                <a:solidFill>
                  <a:srgbClr val="1E1E2E"/>
                </a:solidFill>
                <a:latin typeface="Arial"/>
              </a:rPr>
              <a:t>Priority routing, retries and circuit breakers</a:t>
            </a:r>
          </a:p>
          <a:p>
            <a:pPr algn="l" marL="201168" indent="-201168">
              <a:spcAft>
                <a:spcPts val="800"/>
              </a:spcAft>
              <a:buFont typeface="Arial"/>
              <a:buChar char="•"/>
            </a:pPr>
            <a:r>
              <a:rPr sz="1800" b="0" i="0">
                <a:solidFill>
                  <a:srgbClr val="1E1E2E"/>
                </a:solidFill>
                <a:latin typeface="Arial"/>
              </a:rPr>
              <a:t>Token metrics per caller, app or agent</a:t>
            </a:r>
          </a:p>
        </p:txBody>
      </p:sp>
      <p:sp>
        <p:nvSpPr>
          <p:cNvPr id="11" name="Rounded Rectangle 10"/>
          <p:cNvSpPr/>
          <p:nvPr/>
        </p:nvSpPr>
        <p:spPr>
          <a:xfrm>
            <a:off x="6245352" y="1371600"/>
            <a:ext cx="5394960" cy="548640"/>
          </a:xfrm>
          <a:prstGeom prst="roundRect">
            <a:avLst>
              <a:gd name="adj" fmla="val 13333"/>
            </a:avLst>
          </a:prstGeom>
          <a:solidFill>
            <a:srgbClr val="8A4B0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Limits leaders must accept</a:t>
            </a:r>
          </a:p>
        </p:txBody>
      </p:sp>
      <p:sp>
        <p:nvSpPr>
          <p:cNvPr id="12" name="TextBox 11"/>
          <p:cNvSpPr txBox="1"/>
          <p:nvPr/>
        </p:nvSpPr>
        <p:spPr>
          <a:xfrm>
            <a:off x="6245352" y="2057400"/>
            <a:ext cx="5394960" cy="3566160"/>
          </a:xfrm>
          <a:prstGeom prst="rect">
            <a:avLst/>
          </a:prstGeom>
          <a:noFill/>
        </p:spPr>
        <p:txBody>
          <a:bodyPr wrap="square" lIns="0" rIns="0" tIns="0" bIns="0" anchor="t">
            <a:noAutofit/>
          </a:bodyPr>
          <a:lstStyle/>
          <a:p>
            <a:pPr algn="l" marL="201168" indent="-201168">
              <a:spcAft>
                <a:spcPts val="800"/>
              </a:spcAft>
              <a:buFont typeface="Arial"/>
              <a:buChar char="•"/>
            </a:pPr>
            <a:r>
              <a:rPr sz="1800" b="0" i="0">
                <a:solidFill>
                  <a:srgbClr val="1E1E2E"/>
                </a:solidFill>
                <a:latin typeface="Arial"/>
              </a:rPr>
              <a:t>No control over calls that bypass it</a:t>
            </a:r>
          </a:p>
          <a:p>
            <a:pPr algn="l" marL="201168" indent="-201168">
              <a:spcAft>
                <a:spcPts val="800"/>
              </a:spcAft>
              <a:buFont typeface="Arial"/>
              <a:buChar char="•"/>
            </a:pPr>
            <a:r>
              <a:rPr sz="1800" b="0" i="0">
                <a:solidFill>
                  <a:srgbClr val="1E1E2E"/>
                </a:solidFill>
                <a:latin typeface="Arial"/>
              </a:rPr>
              <a:t>Counters are per gateway, not global</a:t>
            </a:r>
          </a:p>
          <a:p>
            <a:pPr algn="l" marL="201168" indent="-201168">
              <a:spcAft>
                <a:spcPts val="800"/>
              </a:spcAft>
              <a:buFont typeface="Arial"/>
              <a:buChar char="•"/>
            </a:pPr>
            <a:r>
              <a:rPr sz="1800" b="0" i="0">
                <a:solidFill>
                  <a:srgbClr val="1E1E2E"/>
                </a:solidFill>
                <a:latin typeface="Arial"/>
              </a:rPr>
              <a:t>Concurrent calls can overshoot a limit</a:t>
            </a:r>
          </a:p>
          <a:p>
            <a:pPr algn="l" marL="201168" indent="-201168">
              <a:spcAft>
                <a:spcPts val="800"/>
              </a:spcAft>
              <a:buFont typeface="Arial"/>
              <a:buChar char="•"/>
            </a:pPr>
            <a:r>
              <a:rPr sz="1800" b="0" i="0">
                <a:solidFill>
                  <a:srgbClr val="1E1E2E"/>
                </a:solidFill>
                <a:latin typeface="Arial"/>
              </a:rPr>
              <a:t>Streaming usage is estimated</a:t>
            </a:r>
          </a:p>
          <a:p>
            <a:pPr algn="l" marL="201168" indent="-201168">
              <a:spcAft>
                <a:spcPts val="800"/>
              </a:spcAft>
              <a:buFont typeface="Arial"/>
              <a:buChar char="•"/>
            </a:pPr>
            <a:r>
              <a:rPr sz="1800" b="0" i="0">
                <a:solidFill>
                  <a:srgbClr val="1E1E2E"/>
                </a:solidFill>
                <a:latin typeface="Arial"/>
              </a:rPr>
              <a:t>Token caps are not exact currency caps</a:t>
            </a:r>
          </a:p>
        </p:txBody>
      </p:sp>
      <p:sp>
        <p:nvSpPr>
          <p:cNvPr id="13" name="Rounded Rectangle 12"/>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For a hard financial cap, add a budget service designed for bounded overshoot.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things are priced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A0B</a:t>
            </a:r>
          </a:p>
        </p:txBody>
      </p:sp>
      <p:sp>
        <p:nvSpPr>
          <p:cNvPr id="5" name="Status chip: VERIFIED LIST PRICES"/>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LIST PRICES</a:t>
            </a:r>
          </a:p>
        </p:txBody>
      </p:sp>
      <p:sp>
        <p:nvSpPr>
          <p:cNvPr id="6" name="Status chip: NO APPROVED FEES"/>
          <p:cNvSpPr/>
          <p:nvPr/>
        </p:nvSpPr>
        <p:spPr>
          <a:xfrm>
            <a:off x="408940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FEES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10" name="Rounded Rectangle 9"/>
          <p:cNvSpPr/>
          <p:nvPr/>
        </p:nvSpPr>
        <p:spPr>
          <a:xfrm>
            <a:off x="548640"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1  Gateway platform</a:t>
            </a:r>
          </a:p>
          <a:p>
            <a:pPr algn="l"/>
            <a:r>
              <a:rPr sz="1300" b="0" i="0">
                <a:solidFill>
                  <a:srgbClr val="26EFE9"/>
                </a:solidFill>
                <a:latin typeface="Arial"/>
              </a:rPr>
              <a:t>Customer Azure spend, recurring</a:t>
            </a:r>
          </a:p>
        </p:txBody>
      </p:sp>
      <p:sp>
        <p:nvSpPr>
          <p:cNvPr id="11" name="TextBox 10"/>
          <p:cNvSpPr txBox="1"/>
          <p:nvPr/>
        </p:nvSpPr>
        <p:spPr>
          <a:xfrm>
            <a:off x="548640" y="2377440"/>
            <a:ext cx="3593592" cy="3017520"/>
          </a:xfrm>
          <a:prstGeom prst="rect">
            <a:avLst/>
          </a:prstGeom>
          <a:noFill/>
        </p:spPr>
        <p:txBody>
          <a:bodyPr wrap="square" lIns="0" rIns="0" tIns="0" bIns="0" anchor="t">
            <a:noAutofit/>
          </a:bodyPr>
          <a:lstStyle/>
          <a:p>
            <a:pPr algn="l">
              <a:spcAft>
                <a:spcPts val="1000"/>
              </a:spcAft>
            </a:pPr>
            <a:r>
              <a:rPr sz="1600" b="1" i="0">
                <a:solidFill>
                  <a:srgbClr val="000048"/>
                </a:solidFill>
                <a:latin typeface="Arial"/>
              </a:rPr>
              <a:t>Standard v2: </a:t>
            </a:r>
            <a:r>
              <a:rPr sz="1600" b="0" i="0">
                <a:solidFill>
                  <a:srgbClr val="1E1E2E"/>
                </a:solidFill>
                <a:latin typeface="Arial"/>
              </a:rPr>
              <a:t>$0.9589 per unit-hour, about $700 a month</a:t>
            </a:r>
          </a:p>
          <a:p>
            <a:pPr algn="l">
              <a:spcAft>
                <a:spcPts val="1000"/>
              </a:spcAft>
            </a:pPr>
            <a:r>
              <a:rPr sz="1600" b="1" i="0">
                <a:solidFill>
                  <a:srgbClr val="000048"/>
                </a:solidFill>
                <a:latin typeface="Arial"/>
              </a:rPr>
              <a:t>Premium v2: </a:t>
            </a:r>
            <a:r>
              <a:rPr sz="1600" b="0" i="0">
                <a:solidFill>
                  <a:srgbClr val="1E1E2E"/>
                </a:solidFill>
                <a:latin typeface="Arial"/>
              </a:rPr>
              <a:t>$3.8356 per unit-hour, about $2,800 a month</a:t>
            </a:r>
          </a:p>
          <a:p>
            <a:pPr algn="l">
              <a:spcAft>
                <a:spcPts val="1000"/>
              </a:spcAft>
            </a:pPr>
            <a:r>
              <a:rPr sz="1600" b="1" i="0">
                <a:solidFill>
                  <a:srgbClr val="000048"/>
                </a:solidFill>
                <a:latin typeface="Arial"/>
              </a:rPr>
              <a:t>Also: </a:t>
            </a:r>
            <a:r>
              <a:rPr sz="1600" b="0" i="0">
                <a:solidFill>
                  <a:srgbClr val="1E1E2E"/>
                </a:solidFill>
                <a:latin typeface="Arial"/>
              </a:rPr>
              <a:t>logs, private endpoints, Content Safety calls</a:t>
            </a:r>
          </a:p>
        </p:txBody>
      </p:sp>
      <p:sp>
        <p:nvSpPr>
          <p:cNvPr id="12" name="Rounded Rectangle 11"/>
          <p:cNvSpPr/>
          <p:nvPr/>
        </p:nvSpPr>
        <p:spPr>
          <a:xfrm>
            <a:off x="429767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2  Model consumption</a:t>
            </a:r>
          </a:p>
          <a:p>
            <a:pPr algn="l"/>
            <a:r>
              <a:rPr sz="1300" b="0" i="0">
                <a:solidFill>
                  <a:srgbClr val="26EFE9"/>
                </a:solidFill>
                <a:latin typeface="Arial"/>
              </a:rPr>
              <a:t>Customer Azure spend, per use</a:t>
            </a:r>
          </a:p>
        </p:txBody>
      </p:sp>
      <p:sp>
        <p:nvSpPr>
          <p:cNvPr id="13" name="TextBox 12"/>
          <p:cNvSpPr txBox="1"/>
          <p:nvPr/>
        </p:nvSpPr>
        <p:spPr>
          <a:xfrm>
            <a:off x="4297679" y="2377440"/>
            <a:ext cx="3593592" cy="3017520"/>
          </a:xfrm>
          <a:prstGeom prst="rect">
            <a:avLst/>
          </a:prstGeom>
          <a:noFill/>
        </p:spPr>
        <p:txBody>
          <a:bodyPr wrap="square" lIns="0" rIns="0" tIns="0" bIns="0" anchor="t">
            <a:noAutofit/>
          </a:bodyPr>
          <a:lstStyle/>
          <a:p>
            <a:pPr algn="l">
              <a:spcAft>
                <a:spcPts val="1000"/>
              </a:spcAft>
            </a:pPr>
            <a:r>
              <a:rPr sz="1600" b="1" i="0">
                <a:solidFill>
                  <a:srgbClr val="000048"/>
                </a:solidFill>
                <a:latin typeface="Arial"/>
              </a:rPr>
              <a:t>gpt-5.4 Global: </a:t>
            </a:r>
            <a:r>
              <a:rPr sz="1600" b="0" i="0">
                <a:solidFill>
                  <a:srgbClr val="1E1E2E"/>
                </a:solidFill>
                <a:latin typeface="Arial"/>
              </a:rPr>
              <a:t>$2.50 input, $15.00 output per 1M tokens</a:t>
            </a:r>
          </a:p>
          <a:p>
            <a:pPr algn="l">
              <a:spcAft>
                <a:spcPts val="1000"/>
              </a:spcAft>
            </a:pPr>
            <a:r>
              <a:rPr sz="1600" b="1" i="0">
                <a:solidFill>
                  <a:srgbClr val="000048"/>
                </a:solidFill>
                <a:latin typeface="Arial"/>
              </a:rPr>
              <a:t>Provisioned: </a:t>
            </a:r>
            <a:r>
              <a:rPr sz="1600" b="0" i="0">
                <a:solidFill>
                  <a:srgbClr val="1E1E2E"/>
                </a:solidFill>
                <a:latin typeface="Arial"/>
              </a:rPr>
              <a:t>$1.00 per PTU-hour Global, list</a:t>
            </a:r>
          </a:p>
          <a:p>
            <a:pPr algn="l">
              <a:spcAft>
                <a:spcPts val="1000"/>
              </a:spcAft>
            </a:pPr>
            <a:r>
              <a:rPr sz="1600" b="1" i="0">
                <a:solidFill>
                  <a:srgbClr val="000048"/>
                </a:solidFill>
                <a:latin typeface="Arial"/>
              </a:rPr>
              <a:t>Driver: </a:t>
            </a:r>
            <a:r>
              <a:rPr sz="1600" b="0" i="0">
                <a:solidFill>
                  <a:srgbClr val="1E1E2E"/>
                </a:solidFill>
                <a:latin typeface="Arial"/>
              </a:rPr>
              <a:t>traffic the gateway routes, not the gateway</a:t>
            </a:r>
          </a:p>
        </p:txBody>
      </p:sp>
      <p:sp>
        <p:nvSpPr>
          <p:cNvPr id="14" name="Rounded Rectangle 13"/>
          <p:cNvSpPr/>
          <p:nvPr/>
        </p:nvSpPr>
        <p:spPr>
          <a:xfrm>
            <a:off x="8046719" y="1371600"/>
            <a:ext cx="3593592" cy="868680"/>
          </a:xfrm>
          <a:prstGeom prst="roundRect">
            <a:avLst>
              <a:gd name="adj" fmla="val 8421"/>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3  Implementation</a:t>
            </a:r>
          </a:p>
          <a:p>
            <a:pPr algn="l"/>
            <a:r>
              <a:rPr sz="1300" b="0" i="0">
                <a:solidFill>
                  <a:srgbClr val="26EFE9"/>
                </a:solidFill>
                <a:latin typeface="Arial"/>
              </a:rPr>
              <a:t>CIS Infra services, one-time</a:t>
            </a:r>
          </a:p>
        </p:txBody>
      </p:sp>
      <p:sp>
        <p:nvSpPr>
          <p:cNvPr id="15" name="TextBox 14"/>
          <p:cNvSpPr txBox="1"/>
          <p:nvPr/>
        </p:nvSpPr>
        <p:spPr>
          <a:xfrm>
            <a:off x="8046719" y="2377440"/>
            <a:ext cx="3593592" cy="3017520"/>
          </a:xfrm>
          <a:prstGeom prst="rect">
            <a:avLst/>
          </a:prstGeom>
          <a:noFill/>
        </p:spPr>
        <p:txBody>
          <a:bodyPr wrap="square" lIns="0" rIns="0" tIns="0" bIns="0" anchor="t">
            <a:noAutofit/>
          </a:bodyPr>
          <a:lstStyle/>
          <a:p>
            <a:pPr algn="l">
              <a:spcAft>
                <a:spcPts val="1000"/>
              </a:spcAft>
            </a:pPr>
            <a:r>
              <a:rPr sz="1600" b="1" i="0">
                <a:solidFill>
                  <a:srgbClr val="000048"/>
                </a:solidFill>
                <a:latin typeface="Arial"/>
              </a:rPr>
              <a:t>Unit: </a:t>
            </a:r>
            <a:r>
              <a:rPr sz="1600" b="0" i="0">
                <a:solidFill>
                  <a:srgbClr val="1E1E2E"/>
                </a:solidFill>
                <a:latin typeface="Arial"/>
              </a:rPr>
              <a:t>role days x approved sell rate</a:t>
            </a:r>
          </a:p>
          <a:p>
            <a:pPr algn="l">
              <a:spcAft>
                <a:spcPts val="1000"/>
              </a:spcAft>
            </a:pPr>
            <a:r>
              <a:rPr sz="1600" b="1" i="0">
                <a:solidFill>
                  <a:srgbClr val="000048"/>
                </a:solidFill>
                <a:latin typeface="Arial"/>
              </a:rPr>
              <a:t>Drivers: </a:t>
            </a:r>
            <a:r>
              <a:rPr sz="1600" b="0" i="0">
                <a:solidFill>
                  <a:srgbClr val="1E1E2E"/>
                </a:solidFill>
                <a:latin typeface="Arial"/>
              </a:rPr>
              <a:t>consumers, policies, regions, tests</a:t>
            </a:r>
          </a:p>
          <a:p>
            <a:pPr algn="l">
              <a:spcAft>
                <a:spcPts val="1000"/>
              </a:spcAft>
            </a:pPr>
            <a:r>
              <a:rPr sz="1600" b="1" i="0">
                <a:solidFill>
                  <a:srgbClr val="000048"/>
                </a:solidFill>
                <a:latin typeface="Arial"/>
              </a:rPr>
              <a:t>Bands: </a:t>
            </a:r>
            <a:r>
              <a:rPr sz="1600" b="0" i="0">
                <a:solidFill>
                  <a:srgbClr val="1E1E2E"/>
                </a:solidFill>
                <a:latin typeface="Arial"/>
              </a:rPr>
              <a:t>executive slide 8, illustrative rate</a:t>
            </a:r>
          </a:p>
        </p:txBody>
      </p:sp>
      <p:sp>
        <p:nvSpPr>
          <p:cNvPr id="16" name="Rounded Rectangle 15"/>
          <p:cNvSpPr/>
          <p:nvPr/>
        </p:nvSpPr>
        <p:spPr>
          <a:xfrm>
            <a:off x="548640" y="57150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East US 2 retail list prices, USD, checked 11 Oct 2026. Synthetic budget example is kept apart in appendix A20.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Request and response flow, step by step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graphicFrame>
        <p:nvGraphicFramePr>
          <p:cNvPr id="8" name="Table"/>
          <p:cNvGraphicFramePr>
            <a:graphicFrameLocks noGrp="1"/>
          </p:cNvGraphicFramePr>
          <p:nvPr/>
        </p:nvGraphicFramePr>
        <p:xfrm>
          <a:off x="548640" y="1371600"/>
          <a:ext cx="11091672" cy="2773680"/>
        </p:xfrm>
        <a:graphic>
          <a:graphicData uri="http://schemas.openxmlformats.org/drawingml/2006/table">
            <a:tbl>
              <a:tblPr firstRow="1" bandRow="0">
                <a:tableStyleId>{5C22544A-7EE6-4342-B048-85BDC9FD1C3A}</a:tableStyleId>
              </a:tblPr>
              <a:tblGrid>
                <a:gridCol w="1828800"/>
                <a:gridCol w="1280160"/>
                <a:gridCol w="4663440"/>
                <a:gridCol w="3319272"/>
              </a:tblGrid>
              <a:tr h="304800">
                <a:tc>
                  <a:txBody>
                    <a:bodyPr wrap="square" anchor="ctr">
                      <a:noAutofit/>
                    </a:bodyPr>
                    <a:lstStyle/>
                    <a:p>
                      <a:pPr algn="l"/>
                      <a:r>
                        <a:rPr sz="1400" b="1" i="0">
                          <a:solidFill>
                            <a:srgbClr val="FFFFFF"/>
                          </a:solidFill>
                          <a:latin typeface="Arial"/>
                        </a:rPr>
                        <a:t>Step</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Section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What happens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Policy or service</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1  Authenticate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Inbound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 Entra token; map caller, app and agent to a counter key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validate-azure-ad-token or validate-jwt</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2  Limit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Inbound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Token rate and quota; request rate; concurrency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llm-token-limit, rate-limit-by-key, limit-concurrency</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3  Protect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Inbound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Harm categories and prompt shield on the prompt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llm-content-safety (shield-prompt)</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4  Route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Backend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Priority pool PTU then PAYG; retry; circuit breaker; managed 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set-backend-service, retry, backend pool</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5  Respond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Outbound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Completion safety check; usage headers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llm-content-safety (outbound)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6  Observe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Outbound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Token metrics with caller dimensions; logs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llm-emit-token-metric, diagnostics</a:t>
                      </a:r>
                    </a:p>
                  </a:txBody>
                  <a:tcPr marL="73152" marR="73152" marT="36576" marB="36576" anchor="ctr">
                    <a:solidFill>
                      <a:srgbClr val="F5F5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Model APIs and tool APIs need separate governance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8"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377440"/>
                <a:gridCol w="4206240"/>
                <a:gridCol w="4507992"/>
              </a:tblGrid>
              <a:tr h="320040">
                <a:tc>
                  <a:txBody>
                    <a:bodyPr wrap="square" anchor="ctr">
                      <a:noAutofit/>
                    </a:bodyPr>
                    <a:lstStyle/>
                    <a:p>
                      <a:pPr algn="l"/>
                      <a:r>
                        <a:rPr sz="1500" b="1" i="0">
                          <a:solidFill>
                            <a:srgbClr val="FFFFFF"/>
                          </a:solidFill>
                          <a:latin typeface="Arial"/>
                        </a:rPr>
                        <a:t>Concern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Model APIs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Tool APIs (REST, MCP)</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What a call does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Generates text or embeddings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Reads or changes business systems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Main limit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Tokens per minute and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Requests, transaction value, allowed operations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Authorisation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Caller may use this model deployment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Caller may do this operation on this target</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Safety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Content safety, prompt shield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Input validation, approval for high-impact actions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Containment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Deny further model calls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Deny at gateway and at tool side</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 with 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Tool owner with Security</a:t>
                      </a:r>
                    </a:p>
                  </a:txBody>
                  <a:tcPr marL="73152" marR="73152" marT="36576" marB="36576" anchor="ctr">
                    <a:solidFill>
                      <a:srgbClr val="F5F5F2"/>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Gateway identity pattern with current labels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ADAPTED, LEGACY LABELS REPLACED"/>
          <p:cNvSpPr/>
          <p:nvPr/>
        </p:nvSpPr>
        <p:spPr>
          <a:xfrm>
            <a:off x="1898650" y="274320"/>
            <a:ext cx="295148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LEGACY LABELS REPLACED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pic>
        <p:nvPicPr>
          <p:cNvPr id="9" name="Azure icon: app-registrations" descr="Official Azure icon: app-registration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34440" y="2770632"/>
            <a:ext cx="457200" cy="457200"/>
          </a:xfrm>
          <a:prstGeom prst="rect">
            <a:avLst/>
          </a:prstGeom>
        </p:spPr>
      </p:pic>
      <p:sp>
        <p:nvSpPr>
          <p:cNvPr id="10" name="TextBox 9"/>
          <p:cNvSpPr txBox="1"/>
          <p:nvPr/>
        </p:nvSpPr>
        <p:spPr>
          <a:xfrm>
            <a:off x="585216" y="3264408"/>
            <a:ext cx="1755648" cy="512064"/>
          </a:xfrm>
          <a:prstGeom prst="rect">
            <a:avLst/>
          </a:prstGeom>
          <a:noFill/>
        </p:spPr>
        <p:txBody>
          <a:bodyPr wrap="square" lIns="0" rIns="0" tIns="0" bIns="0" anchor="t">
            <a:noAutofit/>
          </a:bodyPr>
          <a:lstStyle/>
          <a:p>
            <a:pPr algn="ctr"/>
            <a:r>
              <a:rPr sz="1300" b="1" i="0">
                <a:solidFill>
                  <a:srgbClr val="000048"/>
                </a:solidFill>
                <a:latin typeface="Arial"/>
              </a:rPr>
              <a:t>Intelligent application</a:t>
            </a:r>
          </a:p>
          <a:p>
            <a:pPr algn="ctr"/>
            <a:r>
              <a:rPr sz="1100" b="0" i="0">
                <a:solidFill>
                  <a:srgbClr val="53565A"/>
                </a:solidFill>
                <a:latin typeface="Arial"/>
              </a:rPr>
              <a:t>client</a:t>
            </a:r>
          </a:p>
        </p:txBody>
      </p:sp>
      <p:sp>
        <p:nvSpPr>
          <p:cNvPr id="11" name="Rounded Rectangle 10"/>
          <p:cNvSpPr/>
          <p:nvPr/>
        </p:nvSpPr>
        <p:spPr>
          <a:xfrm>
            <a:off x="3657600" y="1371600"/>
            <a:ext cx="2103120" cy="868680"/>
          </a:xfrm>
          <a:prstGeom prst="roundRect">
            <a:avLst>
              <a:gd name="adj" fmla="val 8421"/>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Identity provider</a:t>
            </a:r>
          </a:p>
          <a:p>
            <a:pPr algn="ctr"/>
            <a:r>
              <a:rPr sz="1100" b="0" i="0">
                <a:solidFill>
                  <a:srgbClr val="53565A"/>
                </a:solidFill>
                <a:latin typeface="Arial"/>
              </a:rPr>
              <a:t>Microsoft Entra ID or external IdP</a:t>
            </a:r>
          </a:p>
        </p:txBody>
      </p:sp>
      <p:sp>
        <p:nvSpPr>
          <p:cNvPr id="12" name="Rounded Rectangle 11"/>
          <p:cNvSpPr/>
          <p:nvPr/>
        </p:nvSpPr>
        <p:spPr>
          <a:xfrm>
            <a:off x="3017520" y="2514600"/>
            <a:ext cx="3840480" cy="2011680"/>
          </a:xfrm>
          <a:prstGeom prst="roundRect">
            <a:avLst>
              <a:gd name="adj" fmla="val 454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127248" y="2569464"/>
            <a:ext cx="3621024" cy="237744"/>
          </a:xfrm>
          <a:prstGeom prst="rect">
            <a:avLst/>
          </a:prstGeom>
          <a:noFill/>
        </p:spPr>
        <p:txBody>
          <a:bodyPr wrap="square" lIns="0" rIns="0" tIns="0" bIns="0" anchor="t">
            <a:noAutofit/>
          </a:bodyPr>
          <a:lstStyle/>
          <a:p>
            <a:pPr algn="l"/>
            <a:r>
              <a:rPr sz="1100" b="1" i="0">
                <a:solidFill>
                  <a:srgbClr val="000048"/>
                </a:solidFill>
                <a:latin typeface="Arial"/>
              </a:rPr>
              <a:t>GATEWAY RESOURCE GROUP</a:t>
            </a:r>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94760" y="2953512"/>
            <a:ext cx="457200" cy="457200"/>
          </a:xfrm>
          <a:prstGeom prst="rect">
            <a:avLst/>
          </a:prstGeom>
        </p:spPr>
      </p:pic>
      <p:sp>
        <p:nvSpPr>
          <p:cNvPr id="15" name="TextBox 14"/>
          <p:cNvSpPr txBox="1"/>
          <p:nvPr/>
        </p:nvSpPr>
        <p:spPr>
          <a:xfrm>
            <a:off x="3236976" y="3447288"/>
            <a:ext cx="1572768" cy="512064"/>
          </a:xfrm>
          <a:prstGeom prst="rect">
            <a:avLst/>
          </a:prstGeom>
          <a:noFill/>
        </p:spPr>
        <p:txBody>
          <a:bodyPr wrap="square" lIns="0" rIns="0" tIns="0" bIns="0" anchor="t">
            <a:noAutofit/>
          </a:bodyPr>
          <a:lstStyle/>
          <a:p>
            <a:pPr algn="ctr"/>
            <a:r>
              <a:rPr sz="1300" b="1" i="0">
                <a:solidFill>
                  <a:srgbClr val="000048"/>
                </a:solidFill>
                <a:latin typeface="Arial"/>
              </a:rPr>
              <a:t>API Management</a:t>
            </a:r>
          </a:p>
          <a:p>
            <a:pPr algn="ctr"/>
            <a:r>
              <a:rPr sz="1100" b="0" i="0">
                <a:solidFill>
                  <a:srgbClr val="53565A"/>
                </a:solidFill>
                <a:latin typeface="Arial"/>
              </a:rPr>
              <a:t>validates JWT</a:t>
            </a:r>
          </a:p>
        </p:txBody>
      </p:sp>
      <p:pic>
        <p:nvPicPr>
          <p:cNvPr id="16" name="Azure icon: Managed Identities" descr="Official Azure icon: Managed Identiti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77840" y="2953512"/>
            <a:ext cx="457200" cy="457200"/>
          </a:xfrm>
          <a:prstGeom prst="rect">
            <a:avLst/>
          </a:prstGeom>
        </p:spPr>
      </p:pic>
      <p:sp>
        <p:nvSpPr>
          <p:cNvPr id="17" name="TextBox 16"/>
          <p:cNvSpPr txBox="1"/>
          <p:nvPr/>
        </p:nvSpPr>
        <p:spPr>
          <a:xfrm>
            <a:off x="5020056" y="3447288"/>
            <a:ext cx="1572768" cy="512064"/>
          </a:xfrm>
          <a:prstGeom prst="rect">
            <a:avLst/>
          </a:prstGeom>
          <a:noFill/>
        </p:spPr>
        <p:txBody>
          <a:bodyPr wrap="square" lIns="0" rIns="0" tIns="0" bIns="0" anchor="t">
            <a:noAutofit/>
          </a:bodyPr>
          <a:lstStyle/>
          <a:p>
            <a:pPr algn="ctr"/>
            <a:r>
              <a:rPr sz="1300" b="1" i="0">
                <a:solidFill>
                  <a:srgbClr val="000048"/>
                </a:solidFill>
                <a:latin typeface="Arial"/>
              </a:rPr>
              <a:t>Managed identity</a:t>
            </a:r>
          </a:p>
          <a:p>
            <a:pPr algn="ctr"/>
            <a:r>
              <a:rPr sz="1100" b="0" i="0">
                <a:solidFill>
                  <a:srgbClr val="53565A"/>
                </a:solidFill>
                <a:latin typeface="Arial"/>
              </a:rPr>
              <a:t>to backends</a:t>
            </a:r>
          </a:p>
        </p:txBody>
      </p:sp>
      <p:sp>
        <p:nvSpPr>
          <p:cNvPr id="18" name="Rounded Rectangle 17"/>
          <p:cNvSpPr/>
          <p:nvPr/>
        </p:nvSpPr>
        <p:spPr>
          <a:xfrm>
            <a:off x="7680960" y="1371600"/>
            <a:ext cx="4023360" cy="1920240"/>
          </a:xfrm>
          <a:prstGeom prst="roundRect">
            <a:avLst>
              <a:gd name="adj" fmla="val 476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90688" y="1426464"/>
            <a:ext cx="3803904" cy="237744"/>
          </a:xfrm>
          <a:prstGeom prst="rect">
            <a:avLst/>
          </a:prstGeom>
          <a:noFill/>
        </p:spPr>
        <p:txBody>
          <a:bodyPr wrap="square" lIns="0" rIns="0" tIns="0" bIns="0" anchor="t">
            <a:noAutofit/>
          </a:bodyPr>
          <a:lstStyle/>
          <a:p>
            <a:pPr algn="l"/>
            <a:r>
              <a:rPr sz="1100" b="1" i="0">
                <a:solidFill>
                  <a:srgbClr val="000048"/>
                </a:solidFill>
                <a:latin typeface="Arial"/>
              </a:rPr>
              <a:t>REGION A RESOURCE GROUP</a:t>
            </a:r>
          </a:p>
        </p:txBody>
      </p:sp>
      <p:pic>
        <p:nvPicPr>
          <p:cNvPr id="20"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03919" y="1856231"/>
            <a:ext cx="457200" cy="457200"/>
          </a:xfrm>
          <a:prstGeom prst="rect">
            <a:avLst/>
          </a:prstGeom>
        </p:spPr>
      </p:pic>
      <p:sp>
        <p:nvSpPr>
          <p:cNvPr id="21" name="TextBox 20"/>
          <p:cNvSpPr txBox="1"/>
          <p:nvPr/>
        </p:nvSpPr>
        <p:spPr>
          <a:xfrm>
            <a:off x="7900415" y="2350008"/>
            <a:ext cx="1664207" cy="512064"/>
          </a:xfrm>
          <a:prstGeom prst="rect">
            <a:avLst/>
          </a:prstGeom>
          <a:noFill/>
        </p:spPr>
        <p:txBody>
          <a:bodyPr wrap="square" lIns="0" rIns="0" tIns="0" bIns="0" anchor="t">
            <a:noAutofit/>
          </a:bodyPr>
          <a:lstStyle/>
          <a:p>
            <a:pPr algn="ctr"/>
            <a:r>
              <a:rPr sz="1300" b="1" i="0">
                <a:solidFill>
                  <a:srgbClr val="000048"/>
                </a:solidFill>
                <a:latin typeface="Arial"/>
              </a:rPr>
              <a:t>Microsoft Foundry</a:t>
            </a:r>
          </a:p>
          <a:p>
            <a:pPr algn="ctr"/>
            <a:r>
              <a:rPr sz="1100" b="0" i="0">
                <a:solidFill>
                  <a:srgbClr val="53565A"/>
                </a:solidFill>
                <a:latin typeface="Arial"/>
              </a:rPr>
              <a:t>resource</a:t>
            </a:r>
          </a:p>
        </p:txBody>
      </p:sp>
      <p:pic>
        <p:nvPicPr>
          <p:cNvPr id="22"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78440" y="1856231"/>
            <a:ext cx="457200" cy="457200"/>
          </a:xfrm>
          <a:prstGeom prst="rect">
            <a:avLst/>
          </a:prstGeom>
        </p:spPr>
      </p:pic>
      <p:sp>
        <p:nvSpPr>
          <p:cNvPr id="23" name="TextBox 22"/>
          <p:cNvSpPr txBox="1"/>
          <p:nvPr/>
        </p:nvSpPr>
        <p:spPr>
          <a:xfrm>
            <a:off x="9729215" y="2350008"/>
            <a:ext cx="17556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customer-selected model</a:t>
            </a:r>
          </a:p>
        </p:txBody>
      </p:sp>
      <p:sp>
        <p:nvSpPr>
          <p:cNvPr id="24" name="Rounded Rectangle 23"/>
          <p:cNvSpPr/>
          <p:nvPr/>
        </p:nvSpPr>
        <p:spPr>
          <a:xfrm>
            <a:off x="7680960" y="3566160"/>
            <a:ext cx="4023360" cy="1920240"/>
          </a:xfrm>
          <a:prstGeom prst="roundRect">
            <a:avLst>
              <a:gd name="adj" fmla="val 476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90688" y="3621024"/>
            <a:ext cx="3803904" cy="237744"/>
          </a:xfrm>
          <a:prstGeom prst="rect">
            <a:avLst/>
          </a:prstGeom>
          <a:noFill/>
        </p:spPr>
        <p:txBody>
          <a:bodyPr wrap="square" lIns="0" rIns="0" tIns="0" bIns="0" anchor="t">
            <a:noAutofit/>
          </a:bodyPr>
          <a:lstStyle/>
          <a:p>
            <a:pPr algn="l"/>
            <a:r>
              <a:rPr sz="1100" b="1" i="0">
                <a:solidFill>
                  <a:srgbClr val="000048"/>
                </a:solidFill>
                <a:latin typeface="Arial"/>
              </a:rPr>
              <a:t>REGION B RESOURCE GROUP</a:t>
            </a:r>
          </a:p>
        </p:txBody>
      </p:sp>
      <p:pic>
        <p:nvPicPr>
          <p:cNvPr id="26"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03919" y="4050791"/>
            <a:ext cx="457200" cy="457200"/>
          </a:xfrm>
          <a:prstGeom prst="rect">
            <a:avLst/>
          </a:prstGeom>
        </p:spPr>
      </p:pic>
      <p:sp>
        <p:nvSpPr>
          <p:cNvPr id="27" name="TextBox 26"/>
          <p:cNvSpPr txBox="1"/>
          <p:nvPr/>
        </p:nvSpPr>
        <p:spPr>
          <a:xfrm>
            <a:off x="7900415" y="4544568"/>
            <a:ext cx="1664207" cy="512064"/>
          </a:xfrm>
          <a:prstGeom prst="rect">
            <a:avLst/>
          </a:prstGeom>
          <a:noFill/>
        </p:spPr>
        <p:txBody>
          <a:bodyPr wrap="square" lIns="0" rIns="0" tIns="0" bIns="0" anchor="t">
            <a:noAutofit/>
          </a:bodyPr>
          <a:lstStyle/>
          <a:p>
            <a:pPr algn="ctr"/>
            <a:r>
              <a:rPr sz="1300" b="1" i="0">
                <a:solidFill>
                  <a:srgbClr val="000048"/>
                </a:solidFill>
                <a:latin typeface="Arial"/>
              </a:rPr>
              <a:t>Microsoft Foundry</a:t>
            </a:r>
          </a:p>
          <a:p>
            <a:pPr algn="ctr"/>
            <a:r>
              <a:rPr sz="1100" b="0" i="0">
                <a:solidFill>
                  <a:srgbClr val="53565A"/>
                </a:solidFill>
                <a:latin typeface="Arial"/>
              </a:rPr>
              <a:t>resource</a:t>
            </a:r>
          </a:p>
        </p:txBody>
      </p:sp>
      <p:pic>
        <p:nvPicPr>
          <p:cNvPr id="28"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78440" y="4050791"/>
            <a:ext cx="457200" cy="457200"/>
          </a:xfrm>
          <a:prstGeom prst="rect">
            <a:avLst/>
          </a:prstGeom>
        </p:spPr>
      </p:pic>
      <p:sp>
        <p:nvSpPr>
          <p:cNvPr id="29" name="TextBox 28"/>
          <p:cNvSpPr txBox="1"/>
          <p:nvPr/>
        </p:nvSpPr>
        <p:spPr>
          <a:xfrm>
            <a:off x="9729215" y="4544568"/>
            <a:ext cx="17556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customer-selected model</a:t>
            </a:r>
          </a:p>
        </p:txBody>
      </p:sp>
      <p:cxnSp>
        <p:nvCxnSpPr>
          <p:cNvPr id="30" name="Connector (telemetry)"/>
          <p:cNvCxnSpPr/>
          <p:nvPr/>
        </p:nvCxnSpPr>
        <p:spPr>
          <a:xfrm flipV="1">
            <a:off x="1463040" y="1801368"/>
            <a:ext cx="0" cy="896112"/>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telemetry)"/>
          <p:cNvCxnSpPr/>
          <p:nvPr/>
        </p:nvCxnSpPr>
        <p:spPr>
          <a:xfrm>
            <a:off x="1463040" y="1801368"/>
            <a:ext cx="21945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00200" y="1463040"/>
            <a:ext cx="2011680" cy="274320"/>
          </a:xfrm>
          <a:prstGeom prst="rect">
            <a:avLst/>
          </a:prstGeom>
          <a:noFill/>
        </p:spPr>
        <p:txBody>
          <a:bodyPr wrap="square" lIns="0" rIns="0" tIns="0" bIns="0" anchor="t">
            <a:noAutofit/>
          </a:bodyPr>
          <a:lstStyle/>
          <a:p>
            <a:pPr algn="l"/>
            <a:r>
              <a:rPr sz="1100" b="0" i="0">
                <a:solidFill>
                  <a:srgbClr val="53565A"/>
                </a:solidFill>
                <a:latin typeface="Arial"/>
              </a:rPr>
              <a:t>obtain token</a:t>
            </a:r>
          </a:p>
        </p:txBody>
      </p:sp>
      <p:cxnSp>
        <p:nvCxnSpPr>
          <p:cNvPr id="33" name="Connector (flow)"/>
          <p:cNvCxnSpPr/>
          <p:nvPr/>
        </p:nvCxnSpPr>
        <p:spPr>
          <a:xfrm>
            <a:off x="2377440" y="3154680"/>
            <a:ext cx="8229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240280" y="2697480"/>
            <a:ext cx="914400" cy="411480"/>
          </a:xfrm>
          <a:prstGeom prst="rect">
            <a:avLst/>
          </a:prstGeom>
          <a:noFill/>
        </p:spPr>
        <p:txBody>
          <a:bodyPr wrap="square" lIns="0" rIns="0" tIns="0" bIns="0" anchor="t">
            <a:noAutofit/>
          </a:bodyPr>
          <a:lstStyle/>
          <a:p>
            <a:pPr algn="ctr"/>
            <a:r>
              <a:rPr sz="1000" b="0" i="0">
                <a:solidFill>
                  <a:srgbClr val="000048"/>
                </a:solidFill>
                <a:latin typeface="Arial"/>
              </a:rPr>
              <a:t>JWT, optional key</a:t>
            </a:r>
          </a:p>
        </p:txBody>
      </p:sp>
      <p:cxnSp>
        <p:nvCxnSpPr>
          <p:cNvPr id="35" name="Connector (telemetry)"/>
          <p:cNvCxnSpPr/>
          <p:nvPr/>
        </p:nvCxnSpPr>
        <p:spPr>
          <a:xfrm flipV="1">
            <a:off x="4023360" y="2240280"/>
            <a:ext cx="457200" cy="64008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526280" y="2377440"/>
            <a:ext cx="914400" cy="274320"/>
          </a:xfrm>
          <a:prstGeom prst="rect">
            <a:avLst/>
          </a:prstGeom>
          <a:noFill/>
        </p:spPr>
        <p:txBody>
          <a:bodyPr wrap="square" lIns="0" rIns="0" tIns="0" bIns="0" anchor="t">
            <a:noAutofit/>
          </a:bodyPr>
          <a:lstStyle/>
          <a:p>
            <a:pPr algn="l"/>
            <a:r>
              <a:rPr sz="1000" b="0" i="0">
                <a:solidFill>
                  <a:srgbClr val="53565A"/>
                </a:solidFill>
                <a:latin typeface="Arial"/>
              </a:rPr>
              <a:t>validate</a:t>
            </a:r>
          </a:p>
        </p:txBody>
      </p:sp>
      <p:cxnSp>
        <p:nvCxnSpPr>
          <p:cNvPr id="37" name="Connector (flow)"/>
          <p:cNvCxnSpPr/>
          <p:nvPr/>
        </p:nvCxnSpPr>
        <p:spPr>
          <a:xfrm>
            <a:off x="6629400" y="3291840"/>
            <a:ext cx="64008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flipV="1">
            <a:off x="7269480" y="2103120"/>
            <a:ext cx="0" cy="118872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7269480" y="210312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7269480" y="3291840"/>
            <a:ext cx="0" cy="100584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7269480" y="42976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548640" y="578815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24128" y="5669280"/>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44" name="Connector (telemetry)"/>
          <p:cNvCxnSpPr/>
          <p:nvPr/>
        </p:nvCxnSpPr>
        <p:spPr>
          <a:xfrm>
            <a:off x="2926080" y="578815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401568" y="5669280"/>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46" name="TextBox 45"/>
          <p:cNvSpPr txBox="1"/>
          <p:nvPr/>
        </p:nvSpPr>
        <p:spPr>
          <a:xfrm>
            <a:off x="548640" y="598932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rebuilt from Microsoft source with current labels; original kept as historical reference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 rate limits and quotas need a trusted counter key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2" cy="2286000"/>
        </p:xfrm>
        <a:graphic>
          <a:graphicData uri="http://schemas.openxmlformats.org/drawingml/2006/table">
            <a:tbl>
              <a:tblPr firstRow="1" bandRow="0">
                <a:tableStyleId>{5C22544A-7EE6-4342-B048-85BDC9FD1C3A}</a:tableStyleId>
              </a:tblPr>
              <a:tblGrid>
                <a:gridCol w="2743200"/>
                <a:gridCol w="2834640"/>
                <a:gridCol w="2743200"/>
                <a:gridCol w="277063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Scope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Response when exceeded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Use for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tokens-per-minute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counter key, per gateway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429 with Retry-After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Smoothing bursts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token-quota (hourly to yearly)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counter key, per gateway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403</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Allowance per team or agent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estimate-prompt-tokens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policy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Rejects earlier using estimates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Reducing wasted backend calls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Counter key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Expression on validated identity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Who the limit applies to</a:t>
                      </a:r>
                    </a:p>
                  </a:txBody>
                  <a:tcPr marL="73152" marR="73152" marT="36576" marB="36576" anchor="ctr">
                    <a:solidFill>
                      <a:srgbClr val="F5F5F2"/>
                    </a:solidFill>
                  </a:tcPr>
                </a:tc>
              </a:tr>
            </a:tbl>
          </a:graphicData>
        </a:graphic>
      </p:graphicFrame>
      <p:sp>
        <p:nvSpPr>
          <p:cNvPr id="10" name="Rounded Rectangle 9"/>
          <p:cNvSpPr/>
          <p:nvPr/>
        </p:nvSpPr>
        <p:spPr>
          <a:xfrm>
            <a:off x="548640" y="40233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Token caps are not currency caps: price differs by model and by input, cached and output tokens.</a:t>
            </a:r>
          </a:p>
        </p:txBody>
      </p:sp>
      <p:sp>
        <p:nvSpPr>
          <p:cNvPr id="11" name="TextBox 10"/>
          <p:cNvSpPr txBox="1"/>
          <p:nvPr/>
        </p:nvSpPr>
        <p:spPr>
          <a:xfrm>
            <a:off x="548640" y="4754880"/>
            <a:ext cx="11064240" cy="822960"/>
          </a:xfrm>
          <a:prstGeom prst="rect">
            <a:avLst/>
          </a:prstGeom>
          <a:noFill/>
        </p:spPr>
        <p:txBody>
          <a:bodyPr wrap="square" lIns="0" rIns="0" tIns="0" bIns="0" anchor="t">
            <a:noAutofit/>
          </a:bodyPr>
          <a:lstStyle/>
          <a:p>
            <a:pPr algn="l"/>
            <a:r>
              <a:rPr sz="1500" b="0" i="0">
                <a:solidFill>
                  <a:srgbClr val="8A4B08"/>
                </a:solidFill>
                <a:latin typeface="Arial"/>
              </a:rPr>
              <a:t>Illustrative design only: 20,000 tokens per minute and 2 million tokens per day per application. Set real values from measured demand (offering 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Token-limit policy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1560" y="2267712"/>
            <a:ext cx="457200" cy="457200"/>
          </a:xfrm>
          <a:prstGeom prst="rect">
            <a:avLst/>
          </a:prstGeom>
        </p:spPr>
      </p:pic>
      <p:sp>
        <p:nvSpPr>
          <p:cNvPr id="10" name="TextBox 9"/>
          <p:cNvSpPr txBox="1"/>
          <p:nvPr/>
        </p:nvSpPr>
        <p:spPr>
          <a:xfrm>
            <a:off x="585216" y="2761488"/>
            <a:ext cx="1389888" cy="512064"/>
          </a:xfrm>
          <a:prstGeom prst="rect">
            <a:avLst/>
          </a:prstGeom>
          <a:noFill/>
        </p:spPr>
        <p:txBody>
          <a:bodyPr wrap="square" lIns="0" rIns="0" tIns="0" bIns="0" anchor="t">
            <a:noAutofit/>
          </a:bodyPr>
          <a:lstStyle/>
          <a:p>
            <a:pPr algn="ctr"/>
            <a:r>
              <a:rPr sz="1300" b="1" i="0">
                <a:solidFill>
                  <a:srgbClr val="000048"/>
                </a:solidFill>
                <a:latin typeface="Arial"/>
              </a:rPr>
              <a:t>Callers</a:t>
            </a:r>
          </a:p>
          <a:p>
            <a:pPr algn="ctr"/>
            <a:r>
              <a:rPr sz="1100" b="0" i="0">
                <a:solidFill>
                  <a:srgbClr val="53565A"/>
                </a:solidFill>
                <a:latin typeface="Arial"/>
              </a:rPr>
              <a:t>apps and agents</a:t>
            </a:r>
          </a:p>
        </p:txBody>
      </p:sp>
      <p:sp>
        <p:nvSpPr>
          <p:cNvPr id="11" name="Rounded Rectangle 10"/>
          <p:cNvSpPr/>
          <p:nvPr/>
        </p:nvSpPr>
        <p:spPr>
          <a:xfrm>
            <a:off x="2468880" y="1417320"/>
            <a:ext cx="5120640" cy="3291840"/>
          </a:xfrm>
          <a:prstGeom prst="roundRect">
            <a:avLst>
              <a:gd name="adj" fmla="val 2777"/>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78608" y="1472184"/>
            <a:ext cx="4901183" cy="237744"/>
          </a:xfrm>
          <a:prstGeom prst="rect">
            <a:avLst/>
          </a:prstGeom>
          <a:noFill/>
        </p:spPr>
        <p:txBody>
          <a:bodyPr wrap="square" lIns="0" rIns="0" tIns="0" bIns="0" anchor="t">
            <a:noAutofit/>
          </a:bodyPr>
          <a:lstStyle/>
          <a:p>
            <a:pPr algn="l"/>
            <a:r>
              <a:rPr sz="1100" b="1" i="0">
                <a:solidFill>
                  <a:srgbClr val="000048"/>
                </a:solidFill>
                <a:latin typeface="Arial"/>
              </a:rPr>
              <a:t>API MANAGEMENT</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06040" y="1783080"/>
            <a:ext cx="457200" cy="457200"/>
          </a:xfrm>
          <a:prstGeom prst="rect">
            <a:avLst/>
          </a:prstGeom>
        </p:spPr>
      </p:pic>
      <p:sp>
        <p:nvSpPr>
          <p:cNvPr id="14" name="Rounded Rectangle 13"/>
          <p:cNvSpPr/>
          <p:nvPr/>
        </p:nvSpPr>
        <p:spPr>
          <a:xfrm>
            <a:off x="3246120" y="1783080"/>
            <a:ext cx="4114800"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Identify caller</a:t>
            </a:r>
            <a:r>
              <a:rPr sz="1200" b="0" i="0">
                <a:solidFill>
                  <a:srgbClr val="53565A"/>
                </a:solidFill>
                <a:latin typeface="Arial"/>
              </a:rPr>
              <a:t>  counter key from token claim</a:t>
            </a:r>
          </a:p>
        </p:txBody>
      </p:sp>
      <p:sp>
        <p:nvSpPr>
          <p:cNvPr id="15" name="Rounded Rectangle 14"/>
          <p:cNvSpPr/>
          <p:nvPr/>
        </p:nvSpPr>
        <p:spPr>
          <a:xfrm>
            <a:off x="3246120" y="2651760"/>
            <a:ext cx="4114800"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llm-token-limit</a:t>
            </a:r>
            <a:r>
              <a:rPr sz="1200" b="0" i="0">
                <a:solidFill>
                  <a:srgbClr val="53565A"/>
                </a:solidFill>
                <a:latin typeface="Arial"/>
              </a:rPr>
              <a:t>  TPM and quota per key</a:t>
            </a:r>
          </a:p>
        </p:txBody>
      </p:sp>
      <p:sp>
        <p:nvSpPr>
          <p:cNvPr id="16" name="Rounded Rectangle 15"/>
          <p:cNvSpPr/>
          <p:nvPr/>
        </p:nvSpPr>
        <p:spPr>
          <a:xfrm>
            <a:off x="3246120" y="3520440"/>
            <a:ext cx="4114800" cy="685800"/>
          </a:xfrm>
          <a:prstGeom prst="roundRect">
            <a:avLst>
              <a:gd name="adj" fmla="val 10666"/>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Within limit?</a:t>
            </a:r>
            <a:r>
              <a:rPr sz="1200" b="0" i="0">
                <a:solidFill>
                  <a:srgbClr val="53565A"/>
                </a:solidFill>
                <a:latin typeface="Arial"/>
              </a:rPr>
              <a:t>  yes: forward   no: reject</a:t>
            </a:r>
          </a:p>
        </p:txBody>
      </p:sp>
      <p:cxnSp>
        <p:nvCxnSpPr>
          <p:cNvPr id="17" name="Connector (flow)"/>
          <p:cNvCxnSpPr/>
          <p:nvPr/>
        </p:nvCxnSpPr>
        <p:spPr>
          <a:xfrm>
            <a:off x="5303520" y="2468880"/>
            <a:ext cx="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flow)"/>
          <p:cNvCxnSpPr/>
          <p:nvPr/>
        </p:nvCxnSpPr>
        <p:spPr>
          <a:xfrm>
            <a:off x="5303520" y="3337560"/>
            <a:ext cx="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21040" y="178308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98280" y="1856231"/>
            <a:ext cx="457200" cy="457200"/>
          </a:xfrm>
          <a:prstGeom prst="rect">
            <a:avLst/>
          </a:prstGeom>
        </p:spPr>
      </p:pic>
      <p:sp>
        <p:nvSpPr>
          <p:cNvPr id="21" name="TextBox 20"/>
          <p:cNvSpPr txBox="1"/>
          <p:nvPr/>
        </p:nvSpPr>
        <p:spPr>
          <a:xfrm>
            <a:off x="8357615" y="2350008"/>
            <a:ext cx="193852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Foundry Models</a:t>
            </a:r>
          </a:p>
        </p:txBody>
      </p:sp>
      <p:sp>
        <p:nvSpPr>
          <p:cNvPr id="22" name="Rounded Rectangle 21"/>
          <p:cNvSpPr/>
          <p:nvPr/>
        </p:nvSpPr>
        <p:spPr>
          <a:xfrm>
            <a:off x="8321040" y="3429000"/>
            <a:ext cx="3291840" cy="914400"/>
          </a:xfrm>
          <a:prstGeom prst="roundRect">
            <a:avLst>
              <a:gd name="adj" fmla="val 8000"/>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A4262C"/>
                </a:solidFill>
                <a:latin typeface="Arial"/>
              </a:rPr>
              <a:t>429</a:t>
            </a:r>
            <a:r>
              <a:rPr sz="1300" b="0" i="0">
                <a:solidFill>
                  <a:srgbClr val="1E1E2E"/>
                </a:solidFill>
                <a:latin typeface="Arial"/>
              </a:rPr>
              <a:t>  rate exceeded, Retry-After</a:t>
            </a:r>
          </a:p>
          <a:p>
            <a:pPr algn="l"/>
            <a:r>
              <a:rPr sz="1800" b="1" i="0">
                <a:solidFill>
                  <a:srgbClr val="A4262C"/>
                </a:solidFill>
                <a:latin typeface="Arial"/>
              </a:rPr>
              <a:t>403</a:t>
            </a:r>
            <a:r>
              <a:rPr sz="1300" b="0" i="0">
                <a:solidFill>
                  <a:srgbClr val="1E1E2E"/>
                </a:solidFill>
                <a:latin typeface="Arial"/>
              </a:rPr>
              <a:t>  quota exceeded</a:t>
            </a:r>
          </a:p>
        </p:txBody>
      </p:sp>
      <p:cxnSp>
        <p:nvCxnSpPr>
          <p:cNvPr id="23" name="Connector (flow)"/>
          <p:cNvCxnSpPr/>
          <p:nvPr/>
        </p:nvCxnSpPr>
        <p:spPr>
          <a:xfrm flipV="1">
            <a:off x="2011680" y="2121408"/>
            <a:ext cx="1234440" cy="393192"/>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flow)"/>
          <p:cNvCxnSpPr/>
          <p:nvPr/>
        </p:nvCxnSpPr>
        <p:spPr>
          <a:xfrm>
            <a:off x="7360920" y="3840480"/>
            <a:ext cx="45720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5" name="Connector (flow)"/>
          <p:cNvCxnSpPr/>
          <p:nvPr/>
        </p:nvCxnSpPr>
        <p:spPr>
          <a:xfrm flipV="1">
            <a:off x="7818120" y="2240280"/>
            <a:ext cx="0" cy="160020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6" name="Connector (flow)"/>
          <p:cNvCxnSpPr/>
          <p:nvPr/>
        </p:nvCxnSpPr>
        <p:spPr>
          <a:xfrm>
            <a:off x="7818120" y="224028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863840" y="2834640"/>
            <a:ext cx="457200" cy="274320"/>
          </a:xfrm>
          <a:prstGeom prst="rect">
            <a:avLst/>
          </a:prstGeom>
          <a:noFill/>
        </p:spPr>
        <p:txBody>
          <a:bodyPr wrap="square" lIns="0" rIns="0" tIns="0" bIns="0" anchor="t">
            <a:noAutofit/>
          </a:bodyPr>
          <a:lstStyle/>
          <a:p>
            <a:pPr algn="l"/>
            <a:r>
              <a:rPr sz="1100" b="0" i="0">
                <a:solidFill>
                  <a:srgbClr val="000048"/>
                </a:solidFill>
                <a:latin typeface="Arial"/>
              </a:rPr>
              <a:t>yes</a:t>
            </a:r>
          </a:p>
        </p:txBody>
      </p:sp>
      <p:cxnSp>
        <p:nvCxnSpPr>
          <p:cNvPr id="28" name="Connector (blocked)"/>
          <p:cNvCxnSpPr/>
          <p:nvPr/>
        </p:nvCxnSpPr>
        <p:spPr>
          <a:xfrm>
            <a:off x="7360920" y="3977639"/>
            <a:ext cx="96012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98079" y="4023360"/>
            <a:ext cx="822960" cy="274320"/>
          </a:xfrm>
          <a:prstGeom prst="rect">
            <a:avLst/>
          </a:prstGeom>
          <a:noFill/>
        </p:spPr>
        <p:txBody>
          <a:bodyPr wrap="square" lIns="0" rIns="0" tIns="0" bIns="0" anchor="t">
            <a:noAutofit/>
          </a:bodyPr>
          <a:lstStyle/>
          <a:p>
            <a:pPr algn="l"/>
            <a:r>
              <a:rPr sz="1100" b="0" i="0">
                <a:solidFill>
                  <a:srgbClr val="A4262C"/>
                </a:solidFill>
                <a:latin typeface="Arial"/>
              </a:rPr>
              <a:t>no</a:t>
            </a:r>
          </a:p>
        </p:txBody>
      </p:sp>
      <p:sp>
        <p:nvSpPr>
          <p:cNvPr id="30" name="Rounded Rectangle 29"/>
          <p:cNvSpPr/>
          <p:nvPr/>
        </p:nvSpPr>
        <p:spPr>
          <a:xfrm>
            <a:off x="548640" y="50292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Counters are per gateway and in-flight requests can overshoot before the limit takes effect (appendix A6).</a:t>
            </a:r>
          </a:p>
        </p:txBody>
      </p:sp>
      <p:sp>
        <p:nvSpPr>
          <p:cNvPr id="31" name="TextBox 30"/>
          <p:cNvSpPr txBox="1"/>
          <p:nvPr/>
        </p:nvSpPr>
        <p:spPr>
          <a:xfrm>
            <a:off x="548640" y="5760720"/>
            <a:ext cx="11064240" cy="256032"/>
          </a:xfrm>
          <a:prstGeom prst="rect">
            <a:avLst/>
          </a:prstGeom>
          <a:noFill/>
        </p:spPr>
        <p:txBody>
          <a:bodyPr wrap="square" lIns="0" rIns="0" tIns="0" bIns="0" anchor="t">
            <a:noAutofit/>
          </a:bodyPr>
          <a:lstStyle/>
          <a:p>
            <a:pPr algn="l"/>
            <a:r>
              <a:rPr sz="1100" b="1" i="0">
                <a:solidFill>
                  <a:srgbClr val="7373D8"/>
                </a:solidFill>
                <a:latin typeface="Arial"/>
              </a:rPr>
              <a:t>Rebuilt reference flow  ·  official Azure icons; source image kept in appendix O5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Distributed counters, streaming and overshoot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548640" y="137160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Regions</a:t>
            </a:r>
          </a:p>
          <a:p>
            <a:pPr algn="l"/>
            <a:r>
              <a:rPr sz="1600" b="0" i="0">
                <a:solidFill>
                  <a:srgbClr val="1E1E2E"/>
                </a:solidFill>
                <a:latin typeface="Arial"/>
              </a:rPr>
              <a:t>Each regional gateway counts on its own. Two regions can each admit a full allowance.</a:t>
            </a:r>
          </a:p>
        </p:txBody>
      </p:sp>
      <p:sp>
        <p:nvSpPr>
          <p:cNvPr id="10" name="Rounded Rectangle 9"/>
          <p:cNvSpPr/>
          <p:nvPr/>
        </p:nvSpPr>
        <p:spPr>
          <a:xfrm>
            <a:off x="6172200" y="137160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Concurrency</a:t>
            </a:r>
          </a:p>
          <a:p>
            <a:pPr algn="l"/>
            <a:r>
              <a:rPr sz="1600" b="0" i="0">
                <a:solidFill>
                  <a:srgbClr val="1E1E2E"/>
                </a:solidFill>
                <a:latin typeface="Arial"/>
              </a:rPr>
              <a:t>Usage is known only after responses return, so parallel calls can overshoot.</a:t>
            </a:r>
          </a:p>
        </p:txBody>
      </p:sp>
      <p:sp>
        <p:nvSpPr>
          <p:cNvPr id="11" name="Rounded Rectangle 10"/>
          <p:cNvSpPr/>
          <p:nvPr/>
        </p:nvSpPr>
        <p:spPr>
          <a:xfrm>
            <a:off x="548640" y="324612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Streaming</a:t>
            </a:r>
          </a:p>
          <a:p>
            <a:pPr algn="l"/>
            <a:r>
              <a:rPr sz="1600" b="0" i="0">
                <a:solidFill>
                  <a:srgbClr val="1E1E2E"/>
                </a:solidFill>
                <a:latin typeface="Arial"/>
              </a:rPr>
              <a:t>Prompt and completion tokens are estimated when stream is true.</a:t>
            </a:r>
          </a:p>
        </p:txBody>
      </p:sp>
      <p:sp>
        <p:nvSpPr>
          <p:cNvPr id="12" name="Rounded Rectangle 11"/>
          <p:cNvSpPr/>
          <p:nvPr/>
        </p:nvSpPr>
        <p:spPr>
          <a:xfrm>
            <a:off x="6172200" y="324612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Algorithm</a:t>
            </a:r>
          </a:p>
          <a:p>
            <a:pPr algn="l"/>
            <a:r>
              <a:rPr sz="1600" b="0" i="0">
                <a:solidFill>
                  <a:srgbClr val="1E1E2E"/>
                </a:solidFill>
                <a:latin typeface="Arial"/>
              </a:rPr>
              <a:t>v2 tiers use a token bucket; classic tiers a sliding window. Keep values consistent.</a:t>
            </a:r>
          </a:p>
        </p:txBody>
      </p:sp>
      <p:sp>
        <p:nvSpPr>
          <p:cNvPr id="13" name="Rounded Rectangle 12"/>
          <p:cNvSpPr/>
          <p:nvPr/>
        </p:nvSpPr>
        <p:spPr>
          <a:xfrm>
            <a:off x="548640" y="530352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Do not promise zero overspend from API Management alone. Load-test parallel calls, large prompts and stream cancellation.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Request limits, concurrency and budget controls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8" name="Table"/>
          <p:cNvGraphicFramePr>
            <a:graphicFrameLocks noGrp="1"/>
          </p:cNvGraphicFramePr>
          <p:nvPr/>
        </p:nvGraphicFramePr>
        <p:xfrm>
          <a:off x="548640" y="1371600"/>
          <a:ext cx="11091672" cy="2468880"/>
        </p:xfrm>
        <a:graphic>
          <a:graphicData uri="http://schemas.openxmlformats.org/drawingml/2006/table">
            <a:tbl>
              <a:tblPr firstRow="1" bandRow="0">
                <a:tableStyleId>{5C22544A-7EE6-4342-B048-85BDC9FD1C3A}</a:tableStyleId>
              </a:tblPr>
              <a:tblGrid>
                <a:gridCol w="2194560"/>
                <a:gridCol w="5120640"/>
                <a:gridCol w="377647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Mechanism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Limit</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Request rate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rate-limit-by-key on validated identity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Counts calls, not cost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Request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quota-by-key per period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gateway counters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Concurrency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limit-concurrency per key or backend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Queues or rejects; tune timeouts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Token allowance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llm-token-limit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Tokens, not currency</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Currency budget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 budget service: price table x metered tokens, reservation before call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 build; bounded, not zero, overshoot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Azure budgets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Cost Management budget alerts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Alerts after spend; not a gate</a:t>
                      </a:r>
                    </a:p>
                  </a:txBody>
                  <a:tcPr marL="73152" marR="73152" marT="36576" marB="36576" anchor="ctr">
                    <a:solidFill>
                      <a:srgbClr val="F5F5F2"/>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Backend pools and routing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0119" y="2450592"/>
            <a:ext cx="457200" cy="457200"/>
          </a:xfrm>
          <a:prstGeom prst="rect">
            <a:avLst/>
          </a:prstGeom>
        </p:spPr>
      </p:pic>
      <p:sp>
        <p:nvSpPr>
          <p:cNvPr id="10" name="TextBox 9"/>
          <p:cNvSpPr txBox="1"/>
          <p:nvPr/>
        </p:nvSpPr>
        <p:spPr>
          <a:xfrm>
            <a:off x="585216" y="2944368"/>
            <a:ext cx="1207007" cy="310896"/>
          </a:xfrm>
          <a:prstGeom prst="rect">
            <a:avLst/>
          </a:prstGeom>
          <a:noFill/>
        </p:spPr>
        <p:txBody>
          <a:bodyPr wrap="square" lIns="0" rIns="0" tIns="0" bIns="0" anchor="t">
            <a:noAutofit/>
          </a:bodyPr>
          <a:lstStyle/>
          <a:p>
            <a:pPr algn="ctr"/>
            <a:r>
              <a:rPr sz="1300" b="1" i="0">
                <a:solidFill>
                  <a:srgbClr val="000048"/>
                </a:solidFill>
                <a:latin typeface="Arial"/>
              </a:rPr>
              <a:t>Requests</a:t>
            </a:r>
          </a:p>
        </p:txBody>
      </p:sp>
      <p:sp>
        <p:nvSpPr>
          <p:cNvPr id="11" name="Rounded Rectangle 10"/>
          <p:cNvSpPr/>
          <p:nvPr/>
        </p:nvSpPr>
        <p:spPr>
          <a:xfrm>
            <a:off x="2194560" y="1417320"/>
            <a:ext cx="4023360" cy="3474720"/>
          </a:xfrm>
          <a:prstGeom prst="roundRect">
            <a:avLst>
              <a:gd name="adj" fmla="val 263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304288" y="1472184"/>
            <a:ext cx="3803904" cy="237744"/>
          </a:xfrm>
          <a:prstGeom prst="rect">
            <a:avLst/>
          </a:prstGeom>
          <a:noFill/>
        </p:spPr>
        <p:txBody>
          <a:bodyPr wrap="square" lIns="0" rIns="0" tIns="0" bIns="0" anchor="t">
            <a:noAutofit/>
          </a:bodyPr>
          <a:lstStyle/>
          <a:p>
            <a:pPr algn="l"/>
            <a:r>
              <a:rPr sz="1100" b="1" i="0">
                <a:solidFill>
                  <a:srgbClr val="000048"/>
                </a:solidFill>
                <a:latin typeface="Arial"/>
              </a:rPr>
              <a:t>API MANAGEMENT BACKEND POOL</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31720" y="1783080"/>
            <a:ext cx="457200" cy="457200"/>
          </a:xfrm>
          <a:prstGeom prst="rect">
            <a:avLst/>
          </a:prstGeom>
        </p:spPr>
      </p:pic>
      <p:sp>
        <p:nvSpPr>
          <p:cNvPr id="14" name="Rounded Rectangle 13"/>
          <p:cNvSpPr/>
          <p:nvPr/>
        </p:nvSpPr>
        <p:spPr>
          <a:xfrm>
            <a:off x="2926080" y="1783080"/>
            <a:ext cx="3108960"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200" b="0" i="0">
                <a:solidFill>
                  <a:srgbClr val="1E1E2E"/>
                </a:solidFill>
                <a:latin typeface="Arial"/>
              </a:rPr>
              <a:t>Mode: priority, weighted, round-robin or session-aware</a:t>
            </a:r>
          </a:p>
        </p:txBody>
      </p:sp>
      <p:sp>
        <p:nvSpPr>
          <p:cNvPr id="15" name="Rounded Rectangle 14"/>
          <p:cNvSpPr/>
          <p:nvPr/>
        </p:nvSpPr>
        <p:spPr>
          <a:xfrm>
            <a:off x="2377440" y="2606040"/>
            <a:ext cx="3657600" cy="731520"/>
          </a:xfrm>
          <a:prstGeom prst="roundRect">
            <a:avLst>
              <a:gd name="adj" fmla="val 10000"/>
            </a:avLst>
          </a:prstGeom>
          <a:solidFill>
            <a:srgbClr val="FFFFFF"/>
          </a:solidFill>
          <a:ln w="25400">
            <a:solidFill>
              <a:srgbClr val="1D6B3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Backend 1</a:t>
            </a:r>
            <a:r>
              <a:rPr sz="1200" b="0" i="0">
                <a:solidFill>
                  <a:srgbClr val="53565A"/>
                </a:solidFill>
                <a:latin typeface="Arial"/>
              </a:rPr>
              <a:t>  priority 1, PTU, region A</a:t>
            </a:r>
          </a:p>
        </p:txBody>
      </p:sp>
      <p:sp>
        <p:nvSpPr>
          <p:cNvPr id="16" name="Rounded Rectangle 15"/>
          <p:cNvSpPr/>
          <p:nvPr/>
        </p:nvSpPr>
        <p:spPr>
          <a:xfrm>
            <a:off x="2377440" y="352044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Backend 2</a:t>
            </a:r>
            <a:r>
              <a:rPr sz="1200" b="0" i="0">
                <a:solidFill>
                  <a:srgbClr val="53565A"/>
                </a:solidFill>
                <a:latin typeface="Arial"/>
              </a:rPr>
              <a:t>  priority 2, PAYG, region A or B</a:t>
            </a:r>
          </a:p>
        </p:txBody>
      </p:sp>
      <p:sp>
        <p:nvSpPr>
          <p:cNvPr id="17" name="Rounded Rectangle 16"/>
          <p:cNvSpPr/>
          <p:nvPr/>
        </p:nvSpPr>
        <p:spPr>
          <a:xfrm>
            <a:off x="7315200" y="233172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2440" y="2404872"/>
            <a:ext cx="457200" cy="457200"/>
          </a:xfrm>
          <a:prstGeom prst="rect">
            <a:avLst/>
          </a:prstGeom>
        </p:spPr>
      </p:pic>
      <p:sp>
        <p:nvSpPr>
          <p:cNvPr id="19" name="TextBox 18"/>
          <p:cNvSpPr txBox="1"/>
          <p:nvPr/>
        </p:nvSpPr>
        <p:spPr>
          <a:xfrm>
            <a:off x="7351775" y="2898648"/>
            <a:ext cx="1938528" cy="512064"/>
          </a:xfrm>
          <a:prstGeom prst="rect">
            <a:avLst/>
          </a:prstGeom>
          <a:noFill/>
        </p:spPr>
        <p:txBody>
          <a:bodyPr wrap="square" lIns="0" rIns="0" tIns="0" bIns="0" anchor="t">
            <a:noAutofit/>
          </a:bodyPr>
          <a:lstStyle/>
          <a:p>
            <a:pPr algn="ctr"/>
            <a:r>
              <a:rPr sz="1300" b="1" i="0">
                <a:solidFill>
                  <a:srgbClr val="000048"/>
                </a:solidFill>
                <a:latin typeface="Arial"/>
              </a:rPr>
              <a:t>PTU deployment</a:t>
            </a:r>
          </a:p>
          <a:p>
            <a:pPr algn="ctr"/>
            <a:r>
              <a:rPr sz="1100" b="0" i="0">
                <a:solidFill>
                  <a:srgbClr val="53565A"/>
                </a:solidFill>
                <a:latin typeface="Arial"/>
              </a:rPr>
              <a:t>primary</a:t>
            </a:r>
          </a:p>
        </p:txBody>
      </p:sp>
      <p:sp>
        <p:nvSpPr>
          <p:cNvPr id="20" name="Rounded Rectangle 19"/>
          <p:cNvSpPr/>
          <p:nvPr/>
        </p:nvSpPr>
        <p:spPr>
          <a:xfrm>
            <a:off x="7315200" y="365760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2440" y="3730752"/>
            <a:ext cx="457200" cy="457200"/>
          </a:xfrm>
          <a:prstGeom prst="rect">
            <a:avLst/>
          </a:prstGeom>
        </p:spPr>
      </p:pic>
      <p:sp>
        <p:nvSpPr>
          <p:cNvPr id="22" name="TextBox 21"/>
          <p:cNvSpPr txBox="1"/>
          <p:nvPr/>
        </p:nvSpPr>
        <p:spPr>
          <a:xfrm>
            <a:off x="7351775" y="4224528"/>
            <a:ext cx="1938528" cy="512064"/>
          </a:xfrm>
          <a:prstGeom prst="rect">
            <a:avLst/>
          </a:prstGeom>
          <a:noFill/>
        </p:spPr>
        <p:txBody>
          <a:bodyPr wrap="square" lIns="0" rIns="0" tIns="0" bIns="0" anchor="t">
            <a:noAutofit/>
          </a:bodyPr>
          <a:lstStyle/>
          <a:p>
            <a:pPr algn="ctr"/>
            <a:r>
              <a:rPr sz="1300" b="1" i="0">
                <a:solidFill>
                  <a:srgbClr val="000048"/>
                </a:solidFill>
                <a:latin typeface="Arial"/>
              </a:rPr>
              <a:t>PAYG deployment</a:t>
            </a:r>
          </a:p>
          <a:p>
            <a:pPr algn="ctr"/>
            <a:r>
              <a:rPr sz="1100" b="0" i="0">
                <a:solidFill>
                  <a:srgbClr val="53565A"/>
                </a:solidFill>
                <a:latin typeface="Arial"/>
              </a:rPr>
              <a:t>approved overflow</a:t>
            </a:r>
          </a:p>
        </p:txBody>
      </p:sp>
      <p:cxnSp>
        <p:nvCxnSpPr>
          <p:cNvPr id="23" name="Connector (flow)"/>
          <p:cNvCxnSpPr/>
          <p:nvPr/>
        </p:nvCxnSpPr>
        <p:spPr>
          <a:xfrm>
            <a:off x="1828800" y="2651760"/>
            <a:ext cx="548640" cy="320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flow)"/>
          <p:cNvCxnSpPr/>
          <p:nvPr/>
        </p:nvCxnSpPr>
        <p:spPr>
          <a:xfrm flipV="1">
            <a:off x="6035040" y="2743200"/>
            <a:ext cx="1280160" cy="2286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flow)"/>
          <p:cNvCxnSpPr/>
          <p:nvPr/>
        </p:nvCxnSpPr>
        <p:spPr>
          <a:xfrm>
            <a:off x="6035040" y="3886200"/>
            <a:ext cx="128016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509760" y="2331720"/>
            <a:ext cx="2194560" cy="2377440"/>
          </a:xfrm>
          <a:prstGeom prst="rect">
            <a:avLst/>
          </a:prstGeom>
          <a:noFill/>
        </p:spPr>
        <p:txBody>
          <a:bodyPr wrap="square" lIns="0" rIns="0" tIns="0" bIns="0" anchor="t">
            <a:noAutofit/>
          </a:bodyPr>
          <a:lstStyle/>
          <a:p>
            <a:pPr algn="l"/>
            <a:r>
              <a:rPr sz="1300" b="0" i="0">
                <a:solidFill>
                  <a:srgbClr val="1E1E2E"/>
                </a:solidFill>
                <a:latin typeface="Arial"/>
              </a:rPr>
              <a:t>Health and circuit breaker remove an unavailable backend; traffic moves to the next priority inside the approved boundary.</a:t>
            </a:r>
          </a:p>
        </p:txBody>
      </p:sp>
      <p:sp>
        <p:nvSpPr>
          <p:cNvPr id="27" name="Rounded Rectangle 26"/>
          <p:cNvSpPr/>
          <p:nvPr/>
        </p:nvSpPr>
        <p:spPr>
          <a:xfrm>
            <a:off x="548640" y="51663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Overflow and retries can raise PAYG spend. Fallback must stay inside the approved processing boundary.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Backend circuit breaker protects a dependency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sp>
        <p:nvSpPr>
          <p:cNvPr id="9" name="Rounded Rectangle 8"/>
          <p:cNvSpPr/>
          <p:nvPr/>
        </p:nvSpPr>
        <p:spPr>
          <a:xfrm>
            <a:off x="548640" y="1463040"/>
            <a:ext cx="3566160" cy="640080"/>
          </a:xfrm>
          <a:prstGeom prst="roundRect">
            <a:avLst>
              <a:gd name="adj" fmla="val 11428"/>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1D6B3A"/>
                </a:solidFill>
                <a:latin typeface="Arial"/>
              </a:rPr>
              <a:t>Closed</a:t>
            </a:r>
          </a:p>
        </p:txBody>
      </p:sp>
      <p:sp>
        <p:nvSpPr>
          <p:cNvPr id="10" name="TextBox 9"/>
          <p:cNvSpPr txBox="1"/>
          <p:nvPr/>
        </p:nvSpPr>
        <p:spPr>
          <a:xfrm>
            <a:off x="548640"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Calls flow to backend</a:t>
            </a:r>
          </a:p>
        </p:txBody>
      </p:sp>
      <p:cxnSp>
        <p:nvCxnSpPr>
          <p:cNvPr id="11" name="Connector (flow)"/>
          <p:cNvCxnSpPr/>
          <p:nvPr/>
        </p:nvCxnSpPr>
        <p:spPr>
          <a:xfrm>
            <a:off x="4114800" y="178308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463040"/>
            <a:ext cx="3566160" cy="640080"/>
          </a:xfrm>
          <a:prstGeom prst="roundRect">
            <a:avLst>
              <a:gd name="adj" fmla="val 11428"/>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A4262C"/>
                </a:solidFill>
                <a:latin typeface="Arial"/>
              </a:rPr>
              <a:t>Open</a:t>
            </a:r>
          </a:p>
        </p:txBody>
      </p:sp>
      <p:sp>
        <p:nvSpPr>
          <p:cNvPr id="13" name="TextBox 12"/>
          <p:cNvSpPr txBox="1"/>
          <p:nvPr/>
        </p:nvSpPr>
        <p:spPr>
          <a:xfrm>
            <a:off x="4297679"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Trip on 429 or 5xx rule; calls fail fast or go to next backend</a:t>
            </a:r>
          </a:p>
        </p:txBody>
      </p:sp>
      <p:cxnSp>
        <p:nvCxnSpPr>
          <p:cNvPr id="14" name="Connector (flow)"/>
          <p:cNvCxnSpPr/>
          <p:nvPr/>
        </p:nvCxnSpPr>
        <p:spPr>
          <a:xfrm>
            <a:off x="7863840" y="178308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463040"/>
            <a:ext cx="3566160"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8A4B08"/>
                </a:solidFill>
                <a:latin typeface="Arial"/>
              </a:rPr>
              <a:t>Half-open</a:t>
            </a:r>
          </a:p>
        </p:txBody>
      </p:sp>
      <p:sp>
        <p:nvSpPr>
          <p:cNvPr id="16" name="TextBox 15"/>
          <p:cNvSpPr txBox="1"/>
          <p:nvPr/>
        </p:nvSpPr>
        <p:spPr>
          <a:xfrm>
            <a:off x="8046719"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After trip duration (can follow Retry-After), test calls allowed</a:t>
            </a:r>
          </a:p>
        </p:txBody>
      </p:sp>
      <p:cxnSp>
        <p:nvCxnSpPr>
          <p:cNvPr id="17" name="Connector (flow)"/>
          <p:cNvCxnSpPr/>
          <p:nvPr/>
        </p:nvCxnSpPr>
        <p:spPr>
          <a:xfrm>
            <a:off x="11521440" y="2103120"/>
            <a:ext cx="0" cy="13258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18" name="Connector (flow)"/>
          <p:cNvCxnSpPr/>
          <p:nvPr/>
        </p:nvCxnSpPr>
        <p:spPr>
          <a:xfrm flipH="1">
            <a:off x="640080" y="3429000"/>
            <a:ext cx="108813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19" name="Connector (flow)"/>
          <p:cNvCxnSpPr/>
          <p:nvPr/>
        </p:nvCxnSpPr>
        <p:spPr>
          <a:xfrm flipV="1">
            <a:off x="640080" y="2103120"/>
            <a:ext cx="0" cy="1325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06240" y="3474720"/>
            <a:ext cx="3657600" cy="274320"/>
          </a:xfrm>
          <a:prstGeom prst="rect">
            <a:avLst/>
          </a:prstGeom>
          <a:noFill/>
        </p:spPr>
        <p:txBody>
          <a:bodyPr wrap="square" lIns="0" rIns="0" tIns="0" bIns="0" anchor="t">
            <a:noAutofit/>
          </a:bodyPr>
          <a:lstStyle/>
          <a:p>
            <a:pPr algn="ctr"/>
            <a:r>
              <a:rPr sz="1200" b="0" i="0">
                <a:solidFill>
                  <a:srgbClr val="000048"/>
                </a:solidFill>
                <a:latin typeface="Arial"/>
              </a:rPr>
              <a:t>test calls succeed: close</a:t>
            </a:r>
          </a:p>
        </p:txBody>
      </p:sp>
      <p:pic>
        <p:nvPicPr>
          <p:cNvPr id="21"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4160520"/>
            <a:ext cx="502920" cy="502920"/>
          </a:xfrm>
          <a:prstGeom prst="rect">
            <a:avLst/>
          </a:prstGeom>
        </p:spPr>
      </p:pic>
      <p:sp>
        <p:nvSpPr>
          <p:cNvPr id="22" name="TextBox 21"/>
          <p:cNvSpPr txBox="1"/>
          <p:nvPr/>
        </p:nvSpPr>
        <p:spPr>
          <a:xfrm>
            <a:off x="1188720" y="4206240"/>
            <a:ext cx="10424160" cy="548640"/>
          </a:xfrm>
          <a:prstGeom prst="rect">
            <a:avLst/>
          </a:prstGeom>
          <a:noFill/>
        </p:spPr>
        <p:txBody>
          <a:bodyPr wrap="square" lIns="0" rIns="0" tIns="0" bIns="0" anchor="t">
            <a:noAutofit/>
          </a:bodyPr>
          <a:lstStyle/>
          <a:p>
            <a:pPr algn="l"/>
            <a:r>
              <a:rPr sz="1600" b="0" i="0">
                <a:solidFill>
                  <a:srgbClr val="1E1E2E"/>
                </a:solidFill>
                <a:latin typeface="Arial"/>
              </a:rPr>
              <a:t>Configured on the API Management backend; pairs with the backend pool for fallback.</a:t>
            </a:r>
          </a:p>
        </p:txBody>
      </p:sp>
      <p:sp>
        <p:nvSpPr>
          <p:cNvPr id="23" name="Rounded Rectangle 22"/>
          <p:cNvSpPr/>
          <p:nvPr/>
        </p:nvSpPr>
        <p:spPr>
          <a:xfrm>
            <a:off x="548640" y="51206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Not an agent kill switch: it does not stop running work or revoke tool access. See appendix 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primary with approved PAYG overflow: two ways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71600"/>
          <a:ext cx="11091672" cy="2926080"/>
        </p:xfrm>
        <a:graphic>
          <a:graphicData uri="http://schemas.openxmlformats.org/drawingml/2006/table">
            <a:tbl>
              <a:tblPr firstRow="1" bandRow="0">
                <a:tableStyleId>{5C22544A-7EE6-4342-B048-85BDC9FD1C3A}</a:tableStyleId>
              </a:tblPr>
              <a:tblGrid>
                <a:gridCol w="2377440"/>
                <a:gridCol w="4206240"/>
                <a:gridCol w="4507992"/>
              </a:tblGrid>
              <a:tr h="320040">
                <a:tc>
                  <a:txBody>
                    <a:bodyPr wrap="square" anchor="ctr">
                      <a:noAutofit/>
                    </a:bodyPr>
                    <a:lstStyle/>
                    <a:p>
                      <a:pPr algn="l"/>
                      <a:r>
                        <a:rPr sz="15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Foundry spillover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API Management priority backends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Where it decides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Inside the Foundry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At the gateway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Scope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 resource, standard deployment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Any approved backend, any region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Trigger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Provisioned deployment returns non-200, such as 429</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Circuit breaker or health rule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Model support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Azure OpenAI models; not DeepSeek or Llama today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Any backend the gateway can call</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Cost control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Overflow billed at standard rates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Overflow billed at standard rates; per-key limits apply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Choose when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Single resource, simple overflow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Several resources, regions or policies</a:t>
                      </a:r>
                    </a:p>
                  </a:txBody>
                  <a:tcPr marL="73152" marR="73152" marT="36576" marB="36576" anchor="ctr">
                    <a:solidFill>
                      <a:srgbClr val="F5F5F2"/>
                    </a:solidFill>
                  </a:tcPr>
                </a:tc>
              </a:tr>
            </a:tbl>
          </a:graphicData>
        </a:graphic>
      </p:graphicFrame>
      <p:sp>
        <p:nvSpPr>
          <p:cNvPr id="10" name="Rounded Rectangle 9"/>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Overflow is conditional capacity, not unlimited. Budget the PAYG share and alert on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Content safety in the gateway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REBUILT FROM LOW-RES SOURCE"/>
          <p:cNvSpPr/>
          <p:nvPr/>
        </p:nvSpPr>
        <p:spPr>
          <a:xfrm>
            <a:off x="199644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Status chip: VERIFIED 11 OCT 2026"/>
          <p:cNvSpPr/>
          <p:nvPr/>
        </p:nvSpPr>
        <p:spPr>
          <a:xfrm>
            <a:off x="469392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pic>
        <p:nvPicPr>
          <p:cNvPr id="10"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5840" y="2267712"/>
            <a:ext cx="457200" cy="457200"/>
          </a:xfrm>
          <a:prstGeom prst="rect">
            <a:avLst/>
          </a:prstGeom>
        </p:spPr>
      </p:pic>
      <p:sp>
        <p:nvSpPr>
          <p:cNvPr id="11" name="TextBox 10"/>
          <p:cNvSpPr txBox="1"/>
          <p:nvPr/>
        </p:nvSpPr>
        <p:spPr>
          <a:xfrm>
            <a:off x="585216" y="2761488"/>
            <a:ext cx="1298448" cy="512064"/>
          </a:xfrm>
          <a:prstGeom prst="rect">
            <a:avLst/>
          </a:prstGeom>
          <a:noFill/>
        </p:spPr>
        <p:txBody>
          <a:bodyPr wrap="square" lIns="0" rIns="0" tIns="0" bIns="0" anchor="t">
            <a:noAutofit/>
          </a:bodyPr>
          <a:lstStyle/>
          <a:p>
            <a:pPr algn="ctr"/>
            <a:r>
              <a:rPr sz="1300" b="1" i="0">
                <a:solidFill>
                  <a:srgbClr val="000048"/>
                </a:solidFill>
                <a:latin typeface="Arial"/>
              </a:rPr>
              <a:t>Prompt</a:t>
            </a:r>
          </a:p>
          <a:p>
            <a:pPr algn="ctr"/>
            <a:r>
              <a:rPr sz="1100" b="0" i="0">
                <a:solidFill>
                  <a:srgbClr val="53565A"/>
                </a:solidFill>
                <a:latin typeface="Arial"/>
              </a:rPr>
              <a:t>from app or agent</a:t>
            </a:r>
          </a:p>
        </p:txBody>
      </p:sp>
      <p:sp>
        <p:nvSpPr>
          <p:cNvPr id="12" name="Rounded Rectangle 11"/>
          <p:cNvSpPr/>
          <p:nvPr/>
        </p:nvSpPr>
        <p:spPr>
          <a:xfrm>
            <a:off x="2286000" y="1417320"/>
            <a:ext cx="3931920" cy="3108960"/>
          </a:xfrm>
          <a:prstGeom prst="roundRect">
            <a:avLst>
              <a:gd name="adj" fmla="val 294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395728" y="1472184"/>
            <a:ext cx="3712463" cy="237744"/>
          </a:xfrm>
          <a:prstGeom prst="rect">
            <a:avLst/>
          </a:prstGeom>
          <a:noFill/>
        </p:spPr>
        <p:txBody>
          <a:bodyPr wrap="square" lIns="0" rIns="0" tIns="0" bIns="0" anchor="t">
            <a:noAutofit/>
          </a:bodyPr>
          <a:lstStyle/>
          <a:p>
            <a:pPr algn="l"/>
            <a:r>
              <a:rPr sz="1100" b="1" i="0">
                <a:solidFill>
                  <a:srgbClr val="000048"/>
                </a:solidFill>
                <a:latin typeface="Arial"/>
              </a:rPr>
              <a:t>API MANAGEMENT POLICIES</a:t>
            </a:r>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23160" y="1783080"/>
            <a:ext cx="457200" cy="457200"/>
          </a:xfrm>
          <a:prstGeom prst="rect">
            <a:avLst/>
          </a:prstGeom>
        </p:spPr>
      </p:pic>
      <p:sp>
        <p:nvSpPr>
          <p:cNvPr id="15" name="Rounded Rectangle 14"/>
          <p:cNvSpPr/>
          <p:nvPr/>
        </p:nvSpPr>
        <p:spPr>
          <a:xfrm>
            <a:off x="3017520" y="1783080"/>
            <a:ext cx="3017520" cy="9144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400" b="1" i="0">
                <a:solidFill>
                  <a:srgbClr val="000048"/>
                </a:solidFill>
                <a:latin typeface="Arial"/>
              </a:rPr>
              <a:t>Inbound check</a:t>
            </a:r>
          </a:p>
          <a:p>
            <a:pPr algn="l"/>
            <a:r>
              <a:rPr sz="1200" b="0" i="0">
                <a:solidFill>
                  <a:srgbClr val="53565A"/>
                </a:solidFill>
                <a:latin typeface="Arial"/>
              </a:rPr>
              <a:t>categories, blocklists, prompt shield</a:t>
            </a:r>
          </a:p>
        </p:txBody>
      </p:sp>
      <p:sp>
        <p:nvSpPr>
          <p:cNvPr id="16" name="Rounded Rectangle 15"/>
          <p:cNvSpPr/>
          <p:nvPr/>
        </p:nvSpPr>
        <p:spPr>
          <a:xfrm>
            <a:off x="3017520" y="2926080"/>
            <a:ext cx="3017520" cy="9144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400" b="1" i="0">
                <a:solidFill>
                  <a:srgbClr val="000048"/>
                </a:solidFill>
                <a:latin typeface="Arial"/>
              </a:rPr>
              <a:t>Outbound check</a:t>
            </a:r>
          </a:p>
          <a:p>
            <a:pPr algn="l"/>
            <a:r>
              <a:rPr sz="1200" b="0" i="0">
                <a:solidFill>
                  <a:srgbClr val="53565A"/>
                </a:solidFill>
                <a:latin typeface="Arial"/>
              </a:rPr>
              <a:t>completion validation</a:t>
            </a:r>
          </a:p>
        </p:txBody>
      </p:sp>
      <p:sp>
        <p:nvSpPr>
          <p:cNvPr id="17" name="Rounded Rectangle 16"/>
          <p:cNvSpPr/>
          <p:nvPr/>
        </p:nvSpPr>
        <p:spPr>
          <a:xfrm>
            <a:off x="6858000" y="141732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Content Safety" descr="Official Azure icon: Content Safety"/>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72400" y="1490472"/>
            <a:ext cx="457200" cy="457200"/>
          </a:xfrm>
          <a:prstGeom prst="rect">
            <a:avLst/>
          </a:prstGeom>
        </p:spPr>
      </p:pic>
      <p:sp>
        <p:nvSpPr>
          <p:cNvPr id="19" name="TextBox 18"/>
          <p:cNvSpPr txBox="1"/>
          <p:nvPr/>
        </p:nvSpPr>
        <p:spPr>
          <a:xfrm>
            <a:off x="6894576" y="1984248"/>
            <a:ext cx="2212848" cy="512064"/>
          </a:xfrm>
          <a:prstGeom prst="rect">
            <a:avLst/>
          </a:prstGeom>
          <a:noFill/>
        </p:spPr>
        <p:txBody>
          <a:bodyPr wrap="square" lIns="0" rIns="0" tIns="0" bIns="0" anchor="t">
            <a:noAutofit/>
          </a:bodyPr>
          <a:lstStyle/>
          <a:p>
            <a:pPr algn="ctr"/>
            <a:r>
              <a:rPr sz="1300" b="1" i="0">
                <a:solidFill>
                  <a:srgbClr val="000048"/>
                </a:solidFill>
                <a:latin typeface="Arial"/>
              </a:rPr>
              <a:t>Azure AI Content Safety</a:t>
            </a:r>
          </a:p>
          <a:p>
            <a:pPr algn="ctr"/>
            <a:r>
              <a:rPr sz="1100" b="0" i="0">
                <a:solidFill>
                  <a:srgbClr val="53565A"/>
                </a:solidFill>
                <a:latin typeface="Arial"/>
              </a:rPr>
              <a:t>managed identity</a:t>
            </a:r>
          </a:p>
        </p:txBody>
      </p:sp>
      <p:sp>
        <p:nvSpPr>
          <p:cNvPr id="20" name="Rounded Rectangle 19"/>
          <p:cNvSpPr/>
          <p:nvPr/>
        </p:nvSpPr>
        <p:spPr>
          <a:xfrm>
            <a:off x="9509760" y="1417320"/>
            <a:ext cx="210312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32720" y="1490472"/>
            <a:ext cx="457200" cy="457200"/>
          </a:xfrm>
          <a:prstGeom prst="rect">
            <a:avLst/>
          </a:prstGeom>
        </p:spPr>
      </p:pic>
      <p:sp>
        <p:nvSpPr>
          <p:cNvPr id="22" name="TextBox 21"/>
          <p:cNvSpPr txBox="1"/>
          <p:nvPr/>
        </p:nvSpPr>
        <p:spPr>
          <a:xfrm>
            <a:off x="9546336" y="1984248"/>
            <a:ext cx="2029967"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Foundry Models</a:t>
            </a:r>
          </a:p>
        </p:txBody>
      </p:sp>
      <p:sp>
        <p:nvSpPr>
          <p:cNvPr id="23" name="Rounded Rectangle 22"/>
          <p:cNvSpPr/>
          <p:nvPr/>
        </p:nvSpPr>
        <p:spPr>
          <a:xfrm>
            <a:off x="6858000" y="310896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Azure Monitor" descr="Official Azure icon: Azure Monito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72400" y="3182112"/>
            <a:ext cx="457200" cy="457200"/>
          </a:xfrm>
          <a:prstGeom prst="rect">
            <a:avLst/>
          </a:prstGeom>
        </p:spPr>
      </p:pic>
      <p:sp>
        <p:nvSpPr>
          <p:cNvPr id="25" name="TextBox 24"/>
          <p:cNvSpPr txBox="1"/>
          <p:nvPr/>
        </p:nvSpPr>
        <p:spPr>
          <a:xfrm>
            <a:off x="6894576" y="3675887"/>
            <a:ext cx="2212848" cy="512064"/>
          </a:xfrm>
          <a:prstGeom prst="rect">
            <a:avLst/>
          </a:prstGeom>
          <a:noFill/>
        </p:spPr>
        <p:txBody>
          <a:bodyPr wrap="square" lIns="0" rIns="0" tIns="0" bIns="0" anchor="t">
            <a:noAutofit/>
          </a:bodyPr>
          <a:lstStyle/>
          <a:p>
            <a:pPr algn="ctr"/>
            <a:r>
              <a:rPr sz="1300" b="1" i="0">
                <a:solidFill>
                  <a:srgbClr val="000048"/>
                </a:solidFill>
                <a:latin typeface="Arial"/>
              </a:rPr>
              <a:t>Azure Monitor</a:t>
            </a:r>
          </a:p>
          <a:p>
            <a:pPr algn="ctr"/>
            <a:r>
              <a:rPr sz="1100" b="0" i="0">
                <a:solidFill>
                  <a:srgbClr val="53565A"/>
                </a:solidFill>
                <a:latin typeface="Arial"/>
              </a:rPr>
              <a:t>logs and metrics</a:t>
            </a:r>
          </a:p>
        </p:txBody>
      </p:sp>
      <p:cxnSp>
        <p:nvCxnSpPr>
          <p:cNvPr id="26" name="Connector (flow)"/>
          <p:cNvCxnSpPr/>
          <p:nvPr/>
        </p:nvCxnSpPr>
        <p:spPr>
          <a:xfrm flipV="1">
            <a:off x="1920240" y="2240280"/>
            <a:ext cx="1097280" cy="2286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flow)"/>
          <p:cNvCxnSpPr/>
          <p:nvPr/>
        </p:nvCxnSpPr>
        <p:spPr>
          <a:xfrm flipV="1">
            <a:off x="6035040" y="1920240"/>
            <a:ext cx="822960" cy="18288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flow)"/>
          <p:cNvCxnSpPr/>
          <p:nvPr/>
        </p:nvCxnSpPr>
        <p:spPr>
          <a:xfrm>
            <a:off x="6035040" y="2377440"/>
            <a:ext cx="5486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9" name="Connector (flow)"/>
          <p:cNvCxnSpPr/>
          <p:nvPr/>
        </p:nvCxnSpPr>
        <p:spPr>
          <a:xfrm>
            <a:off x="6583680" y="2377440"/>
            <a:ext cx="0" cy="4114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0" name="Connector (flow)"/>
          <p:cNvCxnSpPr/>
          <p:nvPr/>
        </p:nvCxnSpPr>
        <p:spPr>
          <a:xfrm>
            <a:off x="6583680" y="2788920"/>
            <a:ext cx="39776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1" name="Connector (flow)"/>
          <p:cNvCxnSpPr/>
          <p:nvPr/>
        </p:nvCxnSpPr>
        <p:spPr>
          <a:xfrm flipV="1">
            <a:off x="10561320" y="2468880"/>
            <a:ext cx="0" cy="320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telemetry)"/>
          <p:cNvCxnSpPr/>
          <p:nvPr/>
        </p:nvCxnSpPr>
        <p:spPr>
          <a:xfrm>
            <a:off x="6035040" y="356616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48640" y="3291840"/>
            <a:ext cx="1554480" cy="777240"/>
          </a:xfrm>
          <a:prstGeom prst="roundRect">
            <a:avLst>
              <a:gd name="adj" fmla="val 9411"/>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A4262C"/>
                </a:solidFill>
                <a:latin typeface="Arial"/>
              </a:rPr>
              <a:t>403</a:t>
            </a:r>
          </a:p>
          <a:p>
            <a:pPr algn="ctr"/>
            <a:r>
              <a:rPr sz="1100" b="0" i="0">
                <a:solidFill>
                  <a:srgbClr val="1E1E2E"/>
                </a:solidFill>
                <a:latin typeface="Arial"/>
              </a:rPr>
              <a:t>on violation</a:t>
            </a:r>
          </a:p>
        </p:txBody>
      </p:sp>
      <p:cxnSp>
        <p:nvCxnSpPr>
          <p:cNvPr id="34" name="Connector (blocked)"/>
          <p:cNvCxnSpPr/>
          <p:nvPr/>
        </p:nvCxnSpPr>
        <p:spPr>
          <a:xfrm flipH="1">
            <a:off x="2103120" y="3611880"/>
            <a:ext cx="914400" cy="4572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48640" y="484632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Streaming: forwarding stops on violation without a 403. Test thresholds, false positives, latency and service failure.</a:t>
            </a:r>
          </a:p>
        </p:txBody>
      </p:sp>
      <p:sp>
        <p:nvSpPr>
          <p:cNvPr id="36" name="TextBox 35"/>
          <p:cNvSpPr txBox="1"/>
          <p:nvPr/>
        </p:nvSpPr>
        <p:spPr>
          <a:xfrm>
            <a:off x="548640" y="5577840"/>
            <a:ext cx="11064240" cy="256032"/>
          </a:xfrm>
          <a:prstGeom prst="rect">
            <a:avLst/>
          </a:prstGeom>
          <a:noFill/>
        </p:spPr>
        <p:txBody>
          <a:bodyPr wrap="square" lIns="0" rIns="0" tIns="0" bIns="0" anchor="t">
            <a:noAutofit/>
          </a:bodyPr>
          <a:lstStyle/>
          <a:p>
            <a:pPr algn="l"/>
            <a:r>
              <a:rPr sz="1100" b="1" i="0">
                <a:solidFill>
                  <a:srgbClr val="7373D8"/>
                </a:solidFill>
                <a:latin typeface="Arial"/>
              </a:rPr>
              <a:t>Rebuilt reference flow  ·  official Azure icons; source image kept in appendix O5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Tool authorisation and human approval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sp>
        <p:nvSpPr>
          <p:cNvPr id="9" name="Rounded Rectangle 8"/>
          <p:cNvSpPr/>
          <p:nvPr/>
        </p:nvSpPr>
        <p:spPr>
          <a:xfrm>
            <a:off x="548640"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Content Safety" descr="Official Azure icon: Content Safety"/>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600200"/>
            <a:ext cx="502920" cy="502920"/>
          </a:xfrm>
          <a:prstGeom prst="rect">
            <a:avLst/>
          </a:prstGeom>
        </p:spPr>
      </p:pic>
      <p:sp>
        <p:nvSpPr>
          <p:cNvPr id="11" name="TextBox 10"/>
          <p:cNvSpPr txBox="1"/>
          <p:nvPr/>
        </p:nvSpPr>
        <p:spPr>
          <a:xfrm>
            <a:off x="137160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Moderate</a:t>
            </a:r>
          </a:p>
        </p:txBody>
      </p:sp>
      <p:sp>
        <p:nvSpPr>
          <p:cNvPr id="12" name="TextBox 11"/>
          <p:cNvSpPr txBox="1"/>
          <p:nvPr/>
        </p:nvSpPr>
        <p:spPr>
          <a:xfrm>
            <a:off x="731520"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Harm categories and prompt attacks on prompts and completions</a:t>
            </a:r>
          </a:p>
        </p:txBody>
      </p:sp>
      <p:sp>
        <p:nvSpPr>
          <p:cNvPr id="13" name="Rounded Rectangle 12"/>
          <p:cNvSpPr/>
          <p:nvPr/>
        </p:nvSpPr>
        <p:spPr>
          <a:xfrm>
            <a:off x="429767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600200"/>
            <a:ext cx="502920" cy="502920"/>
          </a:xfrm>
          <a:prstGeom prst="rect">
            <a:avLst/>
          </a:prstGeom>
        </p:spPr>
      </p:pic>
      <p:sp>
        <p:nvSpPr>
          <p:cNvPr id="15" name="TextBox 14"/>
          <p:cNvSpPr txBox="1"/>
          <p:nvPr/>
        </p:nvSpPr>
        <p:spPr>
          <a:xfrm>
            <a:off x="512064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Authorise</a:t>
            </a:r>
          </a:p>
        </p:txBody>
      </p:sp>
      <p:sp>
        <p:nvSpPr>
          <p:cNvPr id="16" name="TextBox 15"/>
          <p:cNvSpPr txBox="1"/>
          <p:nvPr/>
        </p:nvSpPr>
        <p:spPr>
          <a:xfrm>
            <a:off x="4480559"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Allowed tool, target and operation per agent identity, enforced at gateway and tool side</a:t>
            </a:r>
          </a:p>
        </p:txBody>
      </p:sp>
      <p:sp>
        <p:nvSpPr>
          <p:cNvPr id="17" name="Rounded Rectangle 16"/>
          <p:cNvSpPr/>
          <p:nvPr/>
        </p:nvSpPr>
        <p:spPr>
          <a:xfrm>
            <a:off x="804671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600200"/>
            <a:ext cx="502920" cy="502920"/>
          </a:xfrm>
          <a:prstGeom prst="rect">
            <a:avLst/>
          </a:prstGeom>
        </p:spPr>
      </p:pic>
      <p:sp>
        <p:nvSpPr>
          <p:cNvPr id="19" name="TextBox 18"/>
          <p:cNvSpPr txBox="1"/>
          <p:nvPr/>
        </p:nvSpPr>
        <p:spPr>
          <a:xfrm>
            <a:off x="886968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Approve</a:t>
            </a:r>
          </a:p>
        </p:txBody>
      </p:sp>
      <p:sp>
        <p:nvSpPr>
          <p:cNvPr id="20" name="TextBox 19"/>
          <p:cNvSpPr txBox="1"/>
          <p:nvPr/>
        </p:nvSpPr>
        <p:spPr>
          <a:xfrm>
            <a:off x="8229599"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Human approval before high-impact actions, recorded with the request</a:t>
            </a:r>
          </a:p>
        </p:txBody>
      </p:sp>
      <p:sp>
        <p:nvSpPr>
          <p:cNvPr id="21" name="Rounded Rectangle 20"/>
          <p:cNvSpPr/>
          <p:nvPr/>
        </p:nvSpPr>
        <p:spPr>
          <a:xfrm>
            <a:off x="548640" y="475488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Test fail-open versus fail-closed for each control. Approval services are custom and owned by the AI tower.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 metrics, logs and cost allocation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REBUILT FROM LOW-RES SOURCE"/>
          <p:cNvSpPr/>
          <p:nvPr/>
        </p:nvSpPr>
        <p:spPr>
          <a:xfrm>
            <a:off x="199644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48640" y="1554480"/>
            <a:ext cx="2194560" cy="1143000"/>
          </a:xfrm>
          <a:prstGeom prst="roundRect">
            <a:avLst>
              <a:gd name="adj" fmla="val 6400"/>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94460" y="1627632"/>
            <a:ext cx="502920" cy="502920"/>
          </a:xfrm>
          <a:prstGeom prst="rect">
            <a:avLst/>
          </a:prstGeom>
        </p:spPr>
      </p:pic>
      <p:sp>
        <p:nvSpPr>
          <p:cNvPr id="11" name="TextBox 10"/>
          <p:cNvSpPr txBox="1"/>
          <p:nvPr/>
        </p:nvSpPr>
        <p:spPr>
          <a:xfrm>
            <a:off x="58521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API Management</a:t>
            </a:r>
          </a:p>
          <a:p>
            <a:pPr algn="ctr"/>
            <a:r>
              <a:rPr sz="1100" b="0" i="0">
                <a:solidFill>
                  <a:srgbClr val="53565A"/>
                </a:solidFill>
                <a:latin typeface="Arial"/>
              </a:rPr>
              <a:t>llm-emit-token-metric</a:t>
            </a:r>
          </a:p>
        </p:txBody>
      </p:sp>
      <p:sp>
        <p:nvSpPr>
          <p:cNvPr id="12" name="Rounded Rectangle 11"/>
          <p:cNvSpPr/>
          <p:nvPr/>
        </p:nvSpPr>
        <p:spPr>
          <a:xfrm>
            <a:off x="356616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plication Insights" descr="Official Azure icon: Application Insigh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11979" y="1627632"/>
            <a:ext cx="502920" cy="502920"/>
          </a:xfrm>
          <a:prstGeom prst="rect">
            <a:avLst/>
          </a:prstGeom>
        </p:spPr>
      </p:pic>
      <p:sp>
        <p:nvSpPr>
          <p:cNvPr id="14" name="TextBox 13"/>
          <p:cNvSpPr txBox="1"/>
          <p:nvPr/>
        </p:nvSpPr>
        <p:spPr>
          <a:xfrm>
            <a:off x="360273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Application Insights</a:t>
            </a:r>
          </a:p>
          <a:p>
            <a:pPr algn="ctr"/>
            <a:r>
              <a:rPr sz="1100" b="0" i="0">
                <a:solidFill>
                  <a:srgbClr val="53565A"/>
                </a:solidFill>
                <a:latin typeface="Arial"/>
              </a:rPr>
              <a:t>custom metrics</a:t>
            </a:r>
          </a:p>
        </p:txBody>
      </p:sp>
      <p:sp>
        <p:nvSpPr>
          <p:cNvPr id="15" name="Rounded Rectangle 14"/>
          <p:cNvSpPr/>
          <p:nvPr/>
        </p:nvSpPr>
        <p:spPr>
          <a:xfrm>
            <a:off x="658368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Log Analytics workspace" descr="Official Azure icon: Log Analytics workspa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29500" y="1627632"/>
            <a:ext cx="502920" cy="502920"/>
          </a:xfrm>
          <a:prstGeom prst="rect">
            <a:avLst/>
          </a:prstGeom>
        </p:spPr>
      </p:pic>
      <p:sp>
        <p:nvSpPr>
          <p:cNvPr id="17" name="TextBox 16"/>
          <p:cNvSpPr txBox="1"/>
          <p:nvPr/>
        </p:nvSpPr>
        <p:spPr>
          <a:xfrm>
            <a:off x="662025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Log Analytics</a:t>
            </a:r>
          </a:p>
          <a:p>
            <a:pPr algn="ctr"/>
            <a:r>
              <a:rPr sz="1100" b="0" i="0">
                <a:solidFill>
                  <a:srgbClr val="53565A"/>
                </a:solidFill>
                <a:latin typeface="Arial"/>
              </a:rPr>
              <a:t>gateway logs, retention</a:t>
            </a:r>
          </a:p>
        </p:txBody>
      </p:sp>
      <p:sp>
        <p:nvSpPr>
          <p:cNvPr id="18" name="Rounded Rectangle 17"/>
          <p:cNvSpPr/>
          <p:nvPr/>
        </p:nvSpPr>
        <p:spPr>
          <a:xfrm>
            <a:off x="950976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Azure Workbooks" descr="Official Azure icon: Azure Workbook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55580" y="1627632"/>
            <a:ext cx="502920" cy="502920"/>
          </a:xfrm>
          <a:prstGeom prst="rect">
            <a:avLst/>
          </a:prstGeom>
        </p:spPr>
      </p:pic>
      <p:sp>
        <p:nvSpPr>
          <p:cNvPr id="20" name="TextBox 19"/>
          <p:cNvSpPr txBox="1"/>
          <p:nvPr/>
        </p:nvSpPr>
        <p:spPr>
          <a:xfrm>
            <a:off x="954633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Allocation workbook</a:t>
            </a:r>
          </a:p>
          <a:p>
            <a:pPr algn="ctr"/>
            <a:r>
              <a:rPr sz="1100" b="0" i="0">
                <a:solidFill>
                  <a:srgbClr val="53565A"/>
                </a:solidFill>
                <a:latin typeface="Arial"/>
              </a:rPr>
              <a:t>tokens by team and agent</a:t>
            </a:r>
          </a:p>
        </p:txBody>
      </p:sp>
      <p:cxnSp>
        <p:nvCxnSpPr>
          <p:cNvPr id="21" name="Connector (telemetry)"/>
          <p:cNvCxnSpPr/>
          <p:nvPr/>
        </p:nvCxnSpPr>
        <p:spPr>
          <a:xfrm>
            <a:off x="2743200" y="210312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telemetry)"/>
          <p:cNvCxnSpPr/>
          <p:nvPr/>
        </p:nvCxnSpPr>
        <p:spPr>
          <a:xfrm>
            <a:off x="5760720" y="210312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telemetry)"/>
          <p:cNvCxnSpPr/>
          <p:nvPr/>
        </p:nvCxnSpPr>
        <p:spPr>
          <a:xfrm>
            <a:off x="8778240" y="2103120"/>
            <a:ext cx="73152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4" name="Table"/>
          <p:cNvGraphicFramePr>
            <a:graphicFrameLocks noGrp="1"/>
          </p:cNvGraphicFramePr>
          <p:nvPr/>
        </p:nvGraphicFramePr>
        <p:xfrm>
          <a:off x="548640" y="3246120"/>
          <a:ext cx="11091672" cy="1524000"/>
        </p:xfrm>
        <a:graphic>
          <a:graphicData uri="http://schemas.openxmlformats.org/drawingml/2006/table">
            <a:tbl>
              <a:tblPr firstRow="1" bandRow="0">
                <a:tableStyleId>{5C22544A-7EE6-4342-B048-85BDC9FD1C3A}</a:tableStyleId>
              </a:tblPr>
              <a:tblGrid>
                <a:gridCol w="3108960"/>
                <a:gridCol w="3657600"/>
                <a:gridCol w="4325112"/>
              </a:tblGrid>
              <a:tr h="304800">
                <a:tc>
                  <a:txBody>
                    <a:bodyPr wrap="square" anchor="ctr">
                      <a:noAutofit/>
                    </a:bodyPr>
                    <a:lstStyle/>
                    <a:p>
                      <a:pPr algn="l"/>
                      <a:r>
                        <a:rPr sz="1400" b="1" i="0">
                          <a:solidFill>
                            <a:srgbClr val="FFFFFF"/>
                          </a:solidFill>
                          <a:latin typeface="Arial"/>
                        </a:rPr>
                        <a:t>Dimension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Used for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Application or agent ID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Validated token claim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Allocation and containment scope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Team or cost centre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Product or subscription mapping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Showback</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Model and deployment type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Backend selected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Price per token type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Region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and backend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Residency evidence</a:t>
                      </a:r>
                    </a:p>
                  </a:txBody>
                  <a:tcPr marL="73152" marR="73152" marT="36576" marB="36576" anchor="ctr">
                    <a:solidFill>
                      <a:srgbClr val="F5F5F2"/>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Private connectivity and regional resilience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9" name="Table"/>
          <p:cNvGraphicFramePr>
            <a:graphicFrameLocks noGrp="1"/>
          </p:cNvGraphicFramePr>
          <p:nvPr/>
        </p:nvGraphicFramePr>
        <p:xfrm>
          <a:off x="548640" y="1371600"/>
          <a:ext cx="11091672" cy="2514600"/>
        </p:xfrm>
        <a:graphic>
          <a:graphicData uri="http://schemas.openxmlformats.org/drawingml/2006/table">
            <a:tbl>
              <a:tblPr firstRow="1" bandRow="0">
                <a:tableStyleId>{5C22544A-7EE6-4342-B048-85BDC9FD1C3A}</a:tableStyleId>
              </a:tblPr>
              <a:tblGrid>
                <a:gridCol w="3108960"/>
                <a:gridCol w="2926080"/>
                <a:gridCol w="2651760"/>
                <a:gridCol w="2404872"/>
              </a:tblGrid>
              <a:tr h="320040">
                <a:tc>
                  <a:txBody>
                    <a:bodyPr wrap="square" anchor="ctr">
                      <a:noAutofit/>
                    </a:bodyPr>
                    <a:lstStyle/>
                    <a:p>
                      <a:pPr algn="l"/>
                      <a:r>
                        <a:rPr sz="1500" b="1" i="0">
                          <a:solidFill>
                            <a:srgbClr val="FFFFFF"/>
                          </a:solidFill>
                          <a:latin typeface="Arial"/>
                        </a:rPr>
                        <a:t>Pattern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Gateway failure domain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Network</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Tier fit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One gateway, regional backends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Single gateway region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Private endpoints to each backend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Standard v2 or Premium v2</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Multi-region gateway (built in)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Regional gateways, one control plane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Premium (classic) only</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Two independent gateways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Separate instances, separate counters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Per-region private network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production tier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Zone-redundant gateway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Zones within one region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Premium v2 or Premium (classic)</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Backend failover across regions leaves a single-gateway failure domain in place. Counters do not aggregate across gateways.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Bypass prevention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CONTROLS"/>
          <p:cNvSpPr/>
          <p:nvPr/>
        </p:nvSpPr>
        <p:spPr>
          <a:xfrm>
            <a:off x="199644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CONTROLS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2" cy="3063240"/>
        </p:xfrm>
        <a:graphic>
          <a:graphicData uri="http://schemas.openxmlformats.org/drawingml/2006/table">
            <a:tbl>
              <a:tblPr firstRow="1" bandRow="0">
                <a:tableStyleId>{5C22544A-7EE6-4342-B048-85BDC9FD1C3A}</a:tableStyleId>
              </a:tblPr>
              <a:tblGrid>
                <a:gridCol w="2743200"/>
                <a:gridCol w="5120640"/>
                <a:gridCol w="322783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How</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Negative test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No public model endpoints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Public network access disabled; private endpoints only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 from internet fails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No keys in apps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Local auth disabled where supported; managed identity at gateway only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Key-based call fails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Data-plane RBAC only for gateway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Apps have no role on the Foundry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App identity call fails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Network path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NSG and UDR allow model endpoints only from gateway subnet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Direct call from app subnet fails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Detect drift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Azure Policy deny or audit; Resource Graph query for public endpoints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Policy flags a test resource</a:t>
                      </a:r>
                    </a:p>
                  </a:txBody>
                  <a:tcPr marL="73152" marR="73152" marT="36576" marB="36576"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Generally available versus preview capabilities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4023360"/>
                <a:gridCol w="4206240"/>
                <a:gridCol w="2862072"/>
              </a:tblGrid>
              <a:tr h="320040">
                <a:tc>
                  <a:txBody>
                    <a:bodyPr wrap="square" anchor="ctr">
                      <a:noAutofit/>
                    </a:bodyPr>
                    <a:lstStyle/>
                    <a:p>
                      <a:pPr algn="l"/>
                      <a:r>
                        <a:rPr sz="15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Status on Microsoft Learn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Production use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llm-token-limit, llm-emit-token-metric</a:t>
                      </a:r>
                    </a:p>
                  </a:txBody>
                  <a:tcPr marL="73152" marR="73152" marT="36576" marB="36576" anchor="ctr">
                    <a:solidFill>
                      <a:srgbClr val="FFFFFF"/>
                    </a:solidFill>
                  </a:tcPr>
                </a:tc>
                <a:tc>
                  <a:txBody>
                    <a:bodyPr wrap="square" anchor="ctr">
                      <a:noAutofit/>
                    </a:bodyPr>
                    <a:lstStyle/>
                    <a:p>
                      <a:pPr algn="l"/>
                      <a:r>
                        <a:rPr sz="1500" b="1" i="0">
                          <a:solidFill>
                            <a:srgbClr val="1D6B3A"/>
                          </a:solidFill>
                          <a:latin typeface="Arial"/>
                        </a:rPr>
                        <a:t>No preview label; all tiers incl. v2</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Yes, with tests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llm-content-safety (incl. shield-prompt)</a:t>
                      </a:r>
                    </a:p>
                  </a:txBody>
                  <a:tcPr marL="73152" marR="73152" marT="36576" marB="36576" anchor="ctr">
                    <a:solidFill>
                      <a:srgbClr val="F5F5F2"/>
                    </a:solidFill>
                  </a:tcPr>
                </a:tc>
                <a:tc>
                  <a:txBody>
                    <a:bodyPr wrap="square" anchor="ctr">
                      <a:noAutofit/>
                    </a:bodyPr>
                    <a:lstStyle/>
                    <a:p>
                      <a:pPr algn="l"/>
                      <a:r>
                        <a:rPr sz="1500" b="1" i="0">
                          <a:solidFill>
                            <a:srgbClr val="1D6B3A"/>
                          </a:solidFill>
                          <a:latin typeface="Arial"/>
                        </a:rPr>
                        <a:t>No preview label (updated 2026-08-19)</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Yes, with tests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Backend pools, circuit breaker</a:t>
                      </a:r>
                    </a:p>
                  </a:txBody>
                  <a:tcPr marL="73152" marR="73152" marT="36576" marB="36576" anchor="ctr">
                    <a:solidFill>
                      <a:srgbClr val="FFFFFF"/>
                    </a:solidFill>
                  </a:tcPr>
                </a:tc>
                <a:tc>
                  <a:txBody>
                    <a:bodyPr wrap="square" anchor="ctr">
                      <a:noAutofit/>
                    </a:bodyPr>
                    <a:lstStyle/>
                    <a:p>
                      <a:pPr algn="l"/>
                      <a:r>
                        <a:rPr sz="1500" b="1" i="0">
                          <a:solidFill>
                            <a:srgbClr val="1D6B3A"/>
                          </a:solidFill>
                          <a:latin typeface="Arial"/>
                        </a:rPr>
                        <a:t>No preview label; varies by tier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Semantic caching</a:t>
                      </a:r>
                    </a:p>
                  </a:txBody>
                  <a:tcPr marL="73152" marR="73152" marT="36576" marB="36576" anchor="ctr">
                    <a:solidFill>
                      <a:srgbClr val="F5F5F2"/>
                    </a:solidFill>
                  </a:tcPr>
                </a:tc>
                <a:tc>
                  <a:txBody>
                    <a:bodyPr wrap="square" anchor="ctr">
                      <a:noAutofit/>
                    </a:bodyPr>
                    <a:lstStyle/>
                    <a:p>
                      <a:pPr algn="l"/>
                      <a:r>
                        <a:rPr sz="1500" b="1" i="0">
                          <a:solidFill>
                            <a:srgbClr val="1D6B3A"/>
                          </a:solidFill>
                          <a:latin typeface="Arial"/>
                        </a:rPr>
                        <a:t>No preview label; needs RediSearch cache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Optional; isolation design</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Unified model API</a:t>
                      </a:r>
                    </a:p>
                  </a:txBody>
                  <a:tcPr marL="73152" marR="73152" marT="36576" marB="36576" anchor="ctr">
                    <a:solidFill>
                      <a:srgbClr val="FFFFFF"/>
                    </a:solidFill>
                  </a:tcPr>
                </a:tc>
                <a:tc>
                  <a:txBody>
                    <a:bodyPr wrap="square" anchor="ctr">
                      <a:noAutofit/>
                    </a:bodyPr>
                    <a:lstStyle/>
                    <a:p>
                      <a:pPr algn="l"/>
                      <a:r>
                        <a:rPr sz="1500" b="1" i="0">
                          <a:solidFill>
                            <a:srgbClr val="8A4B08"/>
                          </a:solidFill>
                          <a:latin typeface="Arial"/>
                        </a:rPr>
                        <a:t>Preview</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Pilot only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gateway in Microsoft Foundry</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Preview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Pilot only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AI Gateway tier (dedicated)</a:t>
                      </a:r>
                    </a:p>
                  </a:txBody>
                  <a:tcPr marL="73152" marR="73152" marT="36576" marB="36576" anchor="ctr">
                    <a:solidFill>
                      <a:srgbClr val="FFFFFF"/>
                    </a:solidFill>
                  </a:tcPr>
                </a:tc>
                <a:tc>
                  <a:txBody>
                    <a:bodyPr wrap="square" anchor="ctr">
                      <a:noAutofit/>
                    </a:bodyPr>
                    <a:lstStyle/>
                    <a:p>
                      <a:pPr algn="l"/>
                      <a:r>
                        <a:rPr sz="1500" b="1" i="0">
                          <a:solidFill>
                            <a:srgbClr val="8A4B08"/>
                          </a:solidFill>
                          <a:latin typeface="Arial"/>
                        </a:rPr>
                        <a:t>Public preview, no SLA, pricing TBA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Pilot only</a:t>
                      </a:r>
                    </a:p>
                  </a:txBody>
                  <a:tcPr marL="73152" marR="73152" marT="36576" marB="36576"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API Management tier capabilities that drive SKU choice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Status chip: SELECTED FEATURES"/>
          <p:cNvSpPr/>
          <p:nvPr/>
        </p:nvSpPr>
        <p:spPr>
          <a:xfrm>
            <a:off x="408940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SELECTED FEATURES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10" name="Table"/>
          <p:cNvGraphicFramePr>
            <a:graphicFrameLocks noGrp="1"/>
          </p:cNvGraphicFramePr>
          <p:nvPr/>
        </p:nvGraphicFramePr>
        <p:xfrm>
          <a:off x="548640" y="1371600"/>
          <a:ext cx="11091672" cy="2545080"/>
        </p:xfrm>
        <a:graphic>
          <a:graphicData uri="http://schemas.openxmlformats.org/drawingml/2006/table">
            <a:tbl>
              <a:tblPr firstRow="1" bandRow="0">
                <a:tableStyleId>{5C22544A-7EE6-4342-B048-85BDC9FD1C3A}</a:tableStyleId>
              </a:tblPr>
              <a:tblGrid>
                <a:gridCol w="3108960"/>
                <a:gridCol w="1554480"/>
                <a:gridCol w="1554480"/>
                <a:gridCol w="1600200"/>
                <a:gridCol w="1600200"/>
                <a:gridCol w="1673352"/>
              </a:tblGrid>
              <a:tr h="304800">
                <a:tc>
                  <a:txBody>
                    <a:bodyPr wrap="square" anchor="ctr">
                      <a:noAutofit/>
                    </a:bodyPr>
                    <a:lstStyle/>
                    <a:p>
                      <a:pPr algn="l"/>
                      <a:r>
                        <a:rPr sz="14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Developer</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Basic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Standard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Premium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Premium (classic)</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Inbound private endpoint</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Outbound to VNet backends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VNet injection</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Availability zones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Built-in multi-region</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Self-hosted gateway</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Production SLA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r>
            </a:tbl>
          </a:graphicData>
        </a:graphic>
      </p:graphicFrame>
      <p:sp>
        <p:nvSpPr>
          <p:cNvPr id="11" name="Rounded Rectangle 10"/>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SLA terms are tier-specific and not stated on the feature page. Confirm on the Azure SLA page before contract.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Regional availability snapshot for v2 tiers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SNAPSHOT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SNAPSHOT 11 OCT 2026</a:t>
            </a:r>
          </a:p>
        </p:txBody>
      </p:sp>
      <p:sp>
        <p:nvSpPr>
          <p:cNvPr id="6" name="Status chip: SELECTED REGIONS"/>
          <p:cNvSpPr/>
          <p:nvPr/>
        </p:nvSpPr>
        <p:spPr>
          <a:xfrm>
            <a:off x="408940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SELECTED REGIONS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10" name="Table"/>
          <p:cNvGraphicFramePr>
            <a:graphicFrameLocks noGrp="1"/>
          </p:cNvGraphicFramePr>
          <p:nvPr/>
        </p:nvGraphicFramePr>
        <p:xfrm>
          <a:off x="548640" y="1371600"/>
          <a:ext cx="11091671" cy="3185160"/>
        </p:xfrm>
        <a:graphic>
          <a:graphicData uri="http://schemas.openxmlformats.org/drawingml/2006/table">
            <a:tbl>
              <a:tblPr firstRow="1" bandRow="0">
                <a:tableStyleId>{5C22544A-7EE6-4342-B048-85BDC9FD1C3A}</a:tableStyleId>
              </a:tblPr>
              <a:tblGrid>
                <a:gridCol w="2743200"/>
                <a:gridCol w="1920240"/>
                <a:gridCol w="1920240"/>
                <a:gridCol w="1920240"/>
                <a:gridCol w="2587751"/>
              </a:tblGrid>
              <a:tr h="289560">
                <a:tc>
                  <a:txBody>
                    <a:bodyPr wrap="square" anchor="ctr">
                      <a:noAutofit/>
                    </a:bodyPr>
                    <a:lstStyle/>
                    <a:p>
                      <a:pPr algn="l"/>
                      <a:r>
                        <a:rPr sz="1300" b="1" i="0">
                          <a:solidFill>
                            <a:srgbClr val="FFFFFF"/>
                          </a:solidFill>
                          <a:latin typeface="Arial"/>
                        </a:rPr>
                        <a:t>Region</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Basic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Standard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Premium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AI Gateway tier (preview)</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East US 2</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East US</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Sweden Central</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West Europe</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Germany West Central</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France Central</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Norway East</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UK South</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UK West</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UAE North</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bl>
          </a:graphicData>
        </a:graphic>
      </p:graphicFrame>
      <p:sp>
        <p:nvSpPr>
          <p:cNvPr id="11" name="Rounded Rectangle 10"/>
          <p:cNvSpPr/>
          <p:nvPr/>
        </p:nvSpPr>
        <p:spPr>
          <a:xfrm>
            <a:off x="548640" y="56235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UK South has temporary creation blocks on all v2 tiers. Recheck before any quote or design commitment.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API Management list prices used in estimates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71600"/>
          <a:ext cx="11091672" cy="2468880"/>
        </p:xfrm>
        <a:graphic>
          <a:graphicData uri="http://schemas.openxmlformats.org/drawingml/2006/table">
            <a:tbl>
              <a:tblPr firstRow="1" bandRow="0">
                <a:tableStyleId>{5C22544A-7EE6-4342-B048-85BDC9FD1C3A}</a:tableStyleId>
              </a:tblPr>
              <a:tblGrid>
                <a:gridCol w="3291840"/>
                <a:gridCol w="2377440"/>
                <a:gridCol w="1828800"/>
                <a:gridCol w="3593592"/>
              </a:tblGrid>
              <a:tr h="320040">
                <a:tc>
                  <a:txBody>
                    <a:bodyPr wrap="square" anchor="ctr">
                      <a:noAutofit/>
                    </a:bodyPr>
                    <a:lstStyle/>
                    <a:p>
                      <a:pPr algn="l"/>
                      <a:r>
                        <a:rPr sz="1500" b="1" i="0">
                          <a:solidFill>
                            <a:srgbClr val="FFFFFF"/>
                          </a:solidFill>
                          <a:latin typeface="Arial"/>
                        </a:rPr>
                        <a:t>Meter (East US 2, USD list)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Unit price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About per month</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Note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Basic v2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$0.20548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$150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No inbound private endpoint</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Standard v2 unit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$0.9589 per hour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$700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Calls: $0.025 per 10K after included tier</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Standard v2 secondary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$0.68493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$500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Scale-out unit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Premium v2 unit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$3.83562 per hour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$2,800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 zones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Premium (classic)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$3.829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$2,795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Built-in multi-region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Gateway tier requests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$0.00 per 10K (listed)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Unknown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Pricing to be announced; not free</a:t>
                      </a:r>
                    </a:p>
                  </a:txBody>
                  <a:tcPr marL="73152" marR="73152" marT="36576" marB="36576" anchor="ctr">
                    <a:solidFill>
                      <a:srgbClr val="F5F5F2"/>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Synthetic budget mechanics, kept apart from prices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SYNTHETIC EXAMPLE"/>
          <p:cNvSpPr/>
          <p:nvPr/>
        </p:nvSpPr>
        <p:spPr>
          <a:xfrm>
            <a:off x="199644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SYNTHETIC EXAMPLE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5"/>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sp>
        <p:nvSpPr>
          <p:cNvPr id="9" name="Rounded Rectangle 8"/>
          <p:cNvSpPr/>
          <p:nvPr/>
        </p:nvSpPr>
        <p:spPr>
          <a:xfrm>
            <a:off x="548640" y="1325880"/>
            <a:ext cx="11091672" cy="457200"/>
          </a:xfrm>
          <a:prstGeom prst="roundRect">
            <a:avLst>
              <a:gd name="adj" fmla="val 16000"/>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8A4B08"/>
                </a:solidFill>
                <a:latin typeface="Arial"/>
              </a:rPr>
              <a:t>SYNTHETIC  ·  round planning inputs  ·  not Azure prices, not a quote, not a customer forecast</a:t>
            </a:r>
          </a:p>
        </p:txBody>
      </p:sp>
      <p:graphicFrame>
        <p:nvGraphicFramePr>
          <p:cNvPr id="10" name="Chart"/>
          <p:cNvGraphicFramePr>
            <a:graphicFrameLocks noGrp="1"/>
          </p:cNvGraphicFramePr>
          <p:nvPr/>
        </p:nvGraphicFramePr>
        <p:xfrm>
          <a:off x="548640" y="1920240"/>
          <a:ext cx="6675120" cy="3749039"/>
        </p:xfrm>
        <a:graphic>
          <a:graphicData uri="http://schemas.openxmlformats.org/drawingml/2006/chart">
            <c:chart xmlns:c="http://schemas.openxmlformats.org/drawingml/2006/chart" r:id="rId4"/>
          </a:graphicData>
        </a:graphic>
      </p:graphicFrame>
      <p:sp>
        <p:nvSpPr>
          <p:cNvPr id="11" name="Rounded Rectangle 10"/>
          <p:cNvSpPr/>
          <p:nvPr/>
        </p:nvSpPr>
        <p:spPr>
          <a:xfrm>
            <a:off x="7589520" y="1920240"/>
            <a:ext cx="4050791" cy="3749039"/>
          </a:xfrm>
          <a:prstGeom prst="roundRect">
            <a:avLst>
              <a:gd name="adj" fmla="val 195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r>
              <a:rPr sz="3600" b="1" i="0">
                <a:solidFill>
                  <a:srgbClr val="000048"/>
                </a:solidFill>
                <a:latin typeface="Arial"/>
              </a:rPr>
              <a:t>$4,000</a:t>
            </a:r>
          </a:p>
          <a:p>
            <a:pPr algn="l">
              <a:spcAft>
                <a:spcPts val="1400"/>
              </a:spcAft>
            </a:pPr>
            <a:r>
              <a:rPr sz="1400" b="0" i="0">
                <a:solidFill>
                  <a:srgbClr val="53565A"/>
                </a:solidFill>
                <a:latin typeface="Arial"/>
              </a:rPr>
              <a:t>synthetic monthly total</a:t>
            </a:r>
          </a:p>
          <a:p>
            <a:pPr algn="l"/>
            <a:r>
              <a:rPr sz="1500" b="1" i="0">
                <a:solidFill>
                  <a:srgbClr val="000048"/>
                </a:solidFill>
                <a:latin typeface="Arial"/>
              </a:rPr>
              <a:t>What it shows: </a:t>
            </a:r>
            <a:r>
              <a:rPr sz="1500" b="0" i="0">
                <a:solidFill>
                  <a:srgbClr val="1E1E2E"/>
                </a:solidFill>
                <a:latin typeface="Arial"/>
              </a:rPr>
              <a:t>model consumption can outweigh the gateway itself. Gateway cost is fixed; model cost moves with traffic.</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Policy register is a delivery artefact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8" name="Table"/>
          <p:cNvGraphicFramePr>
            <a:graphicFrameLocks noGrp="1"/>
          </p:cNvGraphicFramePr>
          <p:nvPr/>
        </p:nvGraphicFramePr>
        <p:xfrm>
          <a:off x="548640" y="1371600"/>
          <a:ext cx="11091672" cy="2087880"/>
        </p:xfrm>
        <a:graphic>
          <a:graphicData uri="http://schemas.openxmlformats.org/drawingml/2006/table">
            <a:tbl>
              <a:tblPr firstRow="1" bandRow="0">
                <a:tableStyleId>{5C22544A-7EE6-4342-B048-85BDC9FD1C3A}</a:tableStyleId>
              </a:tblPr>
              <a:tblGrid>
                <a:gridCol w="3657600"/>
                <a:gridCol w="7434072"/>
              </a:tblGrid>
              <a:tr h="335280">
                <a:tc>
                  <a:txBody>
                    <a:bodyPr wrap="square" anchor="ctr">
                      <a:noAutofit/>
                    </a:bodyPr>
                    <a:lstStyle/>
                    <a:p>
                      <a:pPr algn="l"/>
                      <a:r>
                        <a:rPr sz="1600" b="1" i="0">
                          <a:solidFill>
                            <a:srgbClr val="FFFFFF"/>
                          </a:solidFill>
                          <a:latin typeface="Arial"/>
                        </a:rPr>
                        <a:t>Policy record</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Required evidence</a:t>
                      </a:r>
                    </a:p>
                  </a:txBody>
                  <a:tcPr marL="73152" marR="73152" marT="36576" marB="36576" anchor="ctr">
                    <a:solidFill>
                      <a:srgbClr val="000048"/>
                    </a:solidFill>
                  </a:tcPr>
                </a:tc>
              </a:tr>
              <a:tr h="350520">
                <a:tc>
                  <a:txBody>
                    <a:bodyPr wrap="square" anchor="ctr">
                      <a:noAutofit/>
                    </a:bodyPr>
                    <a:lstStyle/>
                    <a:p>
                      <a:pPr algn="l"/>
                      <a:r>
                        <a:rPr sz="1700" b="1" i="0">
                          <a:solidFill>
                            <a:srgbClr val="1E1E2E"/>
                          </a:solidFill>
                          <a:latin typeface="Arial"/>
                        </a:rPr>
                        <a:t>Identity and counter key</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Trusted claim mapping and negative tests</a:t>
                      </a:r>
                    </a:p>
                  </a:txBody>
                  <a:tcPr marL="73152" marR="73152" marT="36576" marB="36576" anchor="ctr">
                    <a:solidFill>
                      <a:srgbClr val="FFFFFF"/>
                    </a:solidFill>
                  </a:tcPr>
                </a:tc>
              </a:tr>
              <a:tr h="350520">
                <a:tc>
                  <a:txBody>
                    <a:bodyPr wrap="square" anchor="ctr">
                      <a:noAutofit/>
                    </a:bodyPr>
                    <a:lstStyle/>
                    <a:p>
                      <a:pPr algn="l"/>
                      <a:r>
                        <a:rPr sz="1700" b="1" i="0">
                          <a:solidFill>
                            <a:srgbClr val="1E1E2E"/>
                          </a:solidFill>
                          <a:latin typeface="Arial"/>
                        </a:rPr>
                        <a:t>Token and request limits</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Thresholds, scope and concurrency tests</a:t>
                      </a:r>
                    </a:p>
                  </a:txBody>
                  <a:tcPr marL="73152" marR="73152" marT="36576" marB="36576" anchor="ctr">
                    <a:solidFill>
                      <a:srgbClr val="F5F5F2"/>
                    </a:solidFill>
                  </a:tcPr>
                </a:tc>
              </a:tr>
              <a:tr h="350520">
                <a:tc>
                  <a:txBody>
                    <a:bodyPr wrap="square" anchor="ctr">
                      <a:noAutofit/>
                    </a:bodyPr>
                    <a:lstStyle/>
                    <a:p>
                      <a:pPr algn="l"/>
                      <a:r>
                        <a:rPr sz="1700" b="1" i="0">
                          <a:solidFill>
                            <a:srgbClr val="1E1E2E"/>
                          </a:solidFill>
                          <a:latin typeface="Arial"/>
                        </a:rPr>
                        <a:t>Content safety</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Categories, thresholds, API support and failure behaviour</a:t>
                      </a:r>
                    </a:p>
                  </a:txBody>
                  <a:tcPr marL="73152" marR="73152" marT="36576" marB="36576" anchor="ctr">
                    <a:solidFill>
                      <a:srgbClr val="FFFFFF"/>
                    </a:solidFill>
                  </a:tcPr>
                </a:tc>
              </a:tr>
              <a:tr h="350520">
                <a:tc>
                  <a:txBody>
                    <a:bodyPr wrap="square" anchor="ctr">
                      <a:noAutofit/>
                    </a:bodyPr>
                    <a:lstStyle/>
                    <a:p>
                      <a:pPr algn="l"/>
                      <a:r>
                        <a:rPr sz="1700" b="1" i="0">
                          <a:solidFill>
                            <a:srgbClr val="1E1E2E"/>
                          </a:solidFill>
                          <a:latin typeface="Arial"/>
                        </a:rPr>
                        <a:t>Routing and cache</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Residency, isolation and invalidation tests</a:t>
                      </a:r>
                    </a:p>
                  </a:txBody>
                  <a:tcPr marL="73152" marR="73152" marT="36576" marB="36576" anchor="ctr">
                    <a:solidFill>
                      <a:srgbClr val="F5F5F2"/>
                    </a:solidFill>
                  </a:tcPr>
                </a:tc>
              </a:tr>
              <a:tr h="350520">
                <a:tc>
                  <a:txBody>
                    <a:bodyPr wrap="square" anchor="ctr">
                      <a:noAutofit/>
                    </a:bodyPr>
                    <a:lstStyle/>
                    <a:p>
                      <a:pPr algn="l"/>
                      <a:r>
                        <a:rPr sz="1700" b="1" i="0">
                          <a:solidFill>
                            <a:srgbClr val="1E1E2E"/>
                          </a:solidFill>
                          <a:latin typeface="Arial"/>
                        </a:rPr>
                        <a:t>Logging</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Redaction, retention and access checks</a:t>
                      </a:r>
                    </a:p>
                  </a:txBody>
                  <a:tcPr marL="73152" marR="73152" marT="36576" marB="36576"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Acceptance requires demonstrable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71600"/>
          <a:ext cx="11091672" cy="2255520"/>
        </p:xfrm>
        <a:graphic>
          <a:graphicData uri="http://schemas.openxmlformats.org/drawingml/2006/table">
            <a:tbl>
              <a:tblPr firstRow="1" bandRow="0">
                <a:tableStyleId>{5C22544A-7EE6-4342-B048-85BDC9FD1C3A}</a:tableStyleId>
              </a:tblPr>
              <a:tblGrid>
                <a:gridCol w="2194560"/>
                <a:gridCol w="5852160"/>
                <a:gridCol w="3044952"/>
              </a:tblGrid>
              <a:tr h="335280">
                <a:tc>
                  <a:txBody>
                    <a:bodyPr wrap="square" anchor="ctr">
                      <a:noAutofit/>
                    </a:bodyPr>
                    <a:lstStyle/>
                    <a:p>
                      <a:pPr algn="l"/>
                      <a:r>
                        <a:rPr sz="16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Approver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Access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Unauthorised and bypass calls denied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Budgets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Rate and quota tests pass; overshoot measured and accepted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Resilience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Fallback stays inside approved boundary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architecture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Safety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Thresholds tested; failure behaviour agreed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Telemetry, rollback and runbooks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Ingress enforcement point: reject quarantined agent IDs before work starts</a:t>
            </a:r>
          </a:p>
          <a:p>
            <a:pPr algn="l" marL="201168" indent="-201168">
              <a:spcAft>
                <a:spcPts val="600"/>
              </a:spcAft>
              <a:buFont typeface="Arial"/>
              <a:buChar char="•"/>
            </a:pPr>
            <a:r>
              <a:rPr sz="1800" b="0" i="0">
                <a:solidFill>
                  <a:srgbClr val="1E1E2E"/>
                </a:solidFill>
                <a:latin typeface="Arial"/>
              </a:rPr>
              <a:t>Outbound enforcement point: deny model and tool calls for quarantined scopes</a:t>
            </a:r>
          </a:p>
          <a:p>
            <a:pPr algn="l" marL="201168" indent="-201168">
              <a:spcAft>
                <a:spcPts val="600"/>
              </a:spcAft>
              <a:buFont typeface="Arial"/>
              <a:buChar char="•"/>
            </a:pPr>
            <a:r>
              <a:rPr sz="1800" b="0" i="0">
                <a:solidFill>
                  <a:srgbClr val="1E1E2E"/>
                </a:solidFill>
                <a:latin typeface="Arial"/>
              </a:rPr>
              <a:t>Per-agent token metrics that show whether containment worked</a:t>
            </a:r>
          </a:p>
          <a:p>
            <a:pPr algn="l" marL="201168" indent="-201168">
              <a:spcAft>
                <a:spcPts val="600"/>
              </a:spcAft>
              <a:buFont typeface="Arial"/>
              <a:buChar char="•"/>
            </a:pPr>
            <a:r>
              <a:rPr sz="1800" b="0" i="0">
                <a:solidFill>
                  <a:srgbClr val="1E1E2E"/>
                </a:solidFill>
                <a:latin typeface="Arial"/>
              </a:rPr>
              <a:t>A circuit breaker is not a kill switch: it protects backends, not the agent scope</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Full architecture, limits and tests: deck 02 (Agent Governance) and deck 05 (Managed Operations).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Which gateway: choosing the right option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A23</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9" name="Table"/>
          <p:cNvGraphicFramePr>
            <a:graphicFrameLocks noGrp="1"/>
          </p:cNvGraphicFramePr>
          <p:nvPr/>
        </p:nvGraphicFramePr>
        <p:xfrm>
          <a:off x="548640" y="1371600"/>
          <a:ext cx="11091672" cy="3108959"/>
        </p:xfrm>
        <a:graphic>
          <a:graphicData uri="http://schemas.openxmlformats.org/drawingml/2006/table">
            <a:tbl>
              <a:tblPr firstRow="1" bandRow="0">
                <a:tableStyleId>{5C22544A-7EE6-4342-B048-85BDC9FD1C3A}</a:tableStyleId>
              </a:tblPr>
              <a:tblGrid>
                <a:gridCol w="2926080"/>
                <a:gridCol w="1554480"/>
                <a:gridCol w="3474720"/>
                <a:gridCol w="3136392"/>
              </a:tblGrid>
              <a:tr h="304800">
                <a:tc>
                  <a:txBody>
                    <a:bodyPr wrap="square" anchor="ctr">
                      <a:noAutofit/>
                    </a:bodyPr>
                    <a:lstStyle/>
                    <a:p>
                      <a:pPr algn="l"/>
                      <a:r>
                        <a:rPr sz="1400" b="1" i="0">
                          <a:solidFill>
                            <a:srgbClr val="FFFFFF"/>
                          </a:solidFill>
                          <a:latin typeface="Arial"/>
                        </a:rPr>
                        <a:t>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 when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Watch out for</a:t>
                      </a:r>
                    </a:p>
                  </a:txBody>
                  <a:tcPr marL="73152" marR="73152" marT="36576" marB="36576" anchor="ctr">
                    <a:solidFill>
                      <a:srgbClr val="000048"/>
                    </a:solidFill>
                  </a:tcPr>
                </a:tc>
              </a:tr>
              <a:tr h="731519">
                <a:tc>
                  <a:txBody>
                    <a:bodyPr wrap="square" anchor="ctr">
                      <a:noAutofit/>
                    </a:bodyPr>
                    <a:lstStyle/>
                    <a:p>
                      <a:pPr algn="l"/>
                      <a:r>
                        <a:rPr sz="1400" b="1" i="0">
                          <a:solidFill>
                            <a:srgbClr val="1E1E2E"/>
                          </a:solidFill>
                          <a:latin typeface="Arial"/>
                        </a:rPr>
                        <a:t>API Management Standard v2 or Premium v2</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Production gateway in one region; VNet integration (Premium v2 for injection)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Built-in multi-region needs Premium (classic)</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API Management Premium (classic)</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Multi-region gateway, availability zones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Higher fixed cost per unit</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API Management AI Gateway tier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Public preview</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Pilot of AI-only gateway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 SLA; East US 2 and Sweden Central; pricing to be announced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Foundry AI gateway (APIM linked in Foundry)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Teams working inside the Foundry portal</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Preview features; governance still in APIM</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Existing third-party gateway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choice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Strong existing investment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 CIS Infra accelerator; scope separately</a:t>
                      </a:r>
                    </a:p>
                  </a:txBody>
                  <a:tcPr marL="73152" marR="73152" marT="36576" marB="36576" anchor="ctr">
                    <a:solidFill>
                      <a:srgbClr val="FFFFFF"/>
                    </a:solidFill>
                  </a:tcPr>
                </a:tc>
              </a:tr>
            </a:tbl>
          </a:graphicData>
        </a:graphic>
      </p:graphicFrame>
      <p:sp>
        <p:nvSpPr>
          <p:cNvPr id="10" name="Rounded Rectangle 9"/>
          <p:cNvSpPr/>
          <p:nvPr/>
        </p:nvSpPr>
        <p:spPr>
          <a:xfrm>
            <a:off x="548640" y="5669280"/>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Recheck status and regions before every quote. Preview features are pilot only.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Latency: how the added delay is measured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A24</a:t>
            </a:r>
          </a:p>
        </p:txBody>
      </p:sp>
      <p:sp>
        <p:nvSpPr>
          <p:cNvPr id="5" name="Status chip: PROPOSED TEST METHOD"/>
          <p:cNvSpPr/>
          <p:nvPr/>
        </p:nvSpPr>
        <p:spPr>
          <a:xfrm>
            <a:off x="1996440" y="274320"/>
            <a:ext cx="2001519"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TEST METHOD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sp>
        <p:nvSpPr>
          <p:cNvPr id="9" name="Rounded Rectangle 8"/>
          <p:cNvSpPr/>
          <p:nvPr/>
        </p:nvSpPr>
        <p:spPr>
          <a:xfrm>
            <a:off x="548640" y="137160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1  Baseline</a:t>
            </a:r>
          </a:p>
        </p:txBody>
      </p:sp>
      <p:sp>
        <p:nvSpPr>
          <p:cNvPr id="10" name="Rounded Rectangle 9"/>
          <p:cNvSpPr/>
          <p:nvPr/>
        </p:nvSpPr>
        <p:spPr>
          <a:xfrm>
            <a:off x="3017520" y="137160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Call the model deployment directly from a test client in the same region</a:t>
            </a:r>
          </a:p>
        </p:txBody>
      </p:sp>
      <p:sp>
        <p:nvSpPr>
          <p:cNvPr id="11" name="Rounded Rectangle 10"/>
          <p:cNvSpPr/>
          <p:nvPr/>
        </p:nvSpPr>
        <p:spPr>
          <a:xfrm>
            <a:off x="548640" y="219456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2  Gateway only</a:t>
            </a:r>
          </a:p>
        </p:txBody>
      </p:sp>
      <p:sp>
        <p:nvSpPr>
          <p:cNvPr id="12" name="Rounded Rectangle 11"/>
          <p:cNvSpPr/>
          <p:nvPr/>
        </p:nvSpPr>
        <p:spPr>
          <a:xfrm>
            <a:off x="3017520" y="219456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Same calls through API Management with authentication only</a:t>
            </a:r>
          </a:p>
        </p:txBody>
      </p:sp>
      <p:sp>
        <p:nvSpPr>
          <p:cNvPr id="13" name="Rounded Rectangle 12"/>
          <p:cNvSpPr/>
          <p:nvPr/>
        </p:nvSpPr>
        <p:spPr>
          <a:xfrm>
            <a:off x="548640" y="301752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3  Add policies</a:t>
            </a:r>
          </a:p>
        </p:txBody>
      </p:sp>
      <p:sp>
        <p:nvSpPr>
          <p:cNvPr id="14" name="Rounded Rectangle 13"/>
          <p:cNvSpPr/>
          <p:nvPr/>
        </p:nvSpPr>
        <p:spPr>
          <a:xfrm>
            <a:off x="3017520" y="301752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Switch on limits, then content safety, then logging, one at a time</a:t>
            </a:r>
          </a:p>
        </p:txBody>
      </p:sp>
      <p:sp>
        <p:nvSpPr>
          <p:cNvPr id="15" name="Rounded Rectangle 14"/>
          <p:cNvSpPr/>
          <p:nvPr/>
        </p:nvSpPr>
        <p:spPr>
          <a:xfrm>
            <a:off x="548640" y="384048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4  Streaming</a:t>
            </a:r>
          </a:p>
        </p:txBody>
      </p:sp>
      <p:sp>
        <p:nvSpPr>
          <p:cNvPr id="16" name="Rounded Rectangle 15"/>
          <p:cNvSpPr/>
          <p:nvPr/>
        </p:nvSpPr>
        <p:spPr>
          <a:xfrm>
            <a:off x="3017520" y="384048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Measure time to first token with and without the gateway</a:t>
            </a:r>
          </a:p>
        </p:txBody>
      </p:sp>
      <p:sp>
        <p:nvSpPr>
          <p:cNvPr id="17" name="Rounded Rectangle 16"/>
          <p:cNvSpPr/>
          <p:nvPr/>
        </p:nvSpPr>
        <p:spPr>
          <a:xfrm>
            <a:off x="548640" y="466344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5  Report</a:t>
            </a:r>
          </a:p>
        </p:txBody>
      </p:sp>
      <p:sp>
        <p:nvSpPr>
          <p:cNvPr id="18" name="Rounded Rectangle 17"/>
          <p:cNvSpPr/>
          <p:nvPr/>
        </p:nvSpPr>
        <p:spPr>
          <a:xfrm>
            <a:off x="3017520" y="466344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Added p50 and p95 delay per policy group; agree targets after</a:t>
            </a:r>
          </a:p>
        </p:txBody>
      </p:sp>
      <p:pic>
        <p:nvPicPr>
          <p:cNvPr id="19" name="Azure icon: Azure Load Testing" descr="Official Azure icon: Azure Load Testi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12680" y="1444752"/>
            <a:ext cx="548640" cy="548640"/>
          </a:xfrm>
          <a:prstGeom prst="rect">
            <a:avLst/>
          </a:prstGeom>
        </p:spPr>
      </p:pic>
      <p:sp>
        <p:nvSpPr>
          <p:cNvPr id="20" name="TextBox 19"/>
          <p:cNvSpPr txBox="1"/>
          <p:nvPr/>
        </p:nvSpPr>
        <p:spPr>
          <a:xfrm>
            <a:off x="8951976" y="2029968"/>
            <a:ext cx="2670048" cy="786384"/>
          </a:xfrm>
          <a:prstGeom prst="rect">
            <a:avLst/>
          </a:prstGeom>
          <a:noFill/>
        </p:spPr>
        <p:txBody>
          <a:bodyPr wrap="square" lIns="0" rIns="0" tIns="0" bIns="0" anchor="t">
            <a:noAutofit/>
          </a:bodyPr>
          <a:lstStyle/>
          <a:p>
            <a:pPr algn="ctr"/>
            <a:r>
              <a:rPr sz="1500" b="1" i="0">
                <a:solidFill>
                  <a:srgbClr val="000048"/>
                </a:solidFill>
                <a:latin typeface="Arial"/>
              </a:rPr>
              <a:t>Azure Load Testing</a:t>
            </a:r>
          </a:p>
          <a:p>
            <a:pPr algn="ctr"/>
            <a:r>
              <a:rPr sz="1200" b="0" i="0">
                <a:solidFill>
                  <a:srgbClr val="53565A"/>
                </a:solidFill>
                <a:latin typeface="Arial"/>
              </a:rPr>
              <a:t>repeatable runs</a:t>
            </a:r>
          </a:p>
        </p:txBody>
      </p:sp>
      <p:sp>
        <p:nvSpPr>
          <p:cNvPr id="21" name="Rounded Rectangle 20"/>
          <p:cNvSpPr/>
          <p:nvPr/>
        </p:nvSpPr>
        <p:spPr>
          <a:xfrm>
            <a:off x="8915400" y="2971800"/>
            <a:ext cx="2743200" cy="2286000"/>
          </a:xfrm>
          <a:prstGeom prst="roundRect">
            <a:avLst>
              <a:gd name="adj" fmla="val 3200"/>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500" b="1" i="0">
                <a:solidFill>
                  <a:srgbClr val="8A4B08"/>
                </a:solidFill>
                <a:latin typeface="Arial"/>
              </a:rPr>
              <a:t>Not claimed</a:t>
            </a:r>
          </a:p>
          <a:p>
            <a:pPr algn="l"/>
            <a:r>
              <a:rPr sz="1500" b="0" i="0">
                <a:solidFill>
                  <a:srgbClr val="1E1E2E"/>
                </a:solidFill>
                <a:latin typeface="Arial"/>
              </a:rPr>
              <a:t>No latency number is promised before the customer baseline run.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Semantic caching: when it pays for itself</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A25</a:t>
            </a:r>
          </a:p>
        </p:txBody>
      </p:sp>
      <p:sp>
        <p:nvSpPr>
          <p:cNvPr id="5" name="Status chip: SYNTHETIC EXAMPLE"/>
          <p:cNvSpPr/>
          <p:nvPr/>
        </p:nvSpPr>
        <p:spPr>
          <a:xfrm>
            <a:off x="199644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SYNTHETIC EXAMPLE</a:t>
            </a:r>
          </a:p>
        </p:txBody>
      </p:sp>
      <p:sp>
        <p:nvSpPr>
          <p:cNvPr id="6" name="Status chip: LIST PRICES"/>
          <p:cNvSpPr/>
          <p:nvPr/>
        </p:nvSpPr>
        <p:spPr>
          <a:xfrm>
            <a:off x="3830320" y="274320"/>
            <a:ext cx="122428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LIST PRICES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5"/>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10" name="Chart"/>
          <p:cNvGraphicFramePr>
            <a:graphicFrameLocks noGrp="1"/>
          </p:cNvGraphicFramePr>
          <p:nvPr/>
        </p:nvGraphicFramePr>
        <p:xfrm>
          <a:off x="548640" y="1371600"/>
          <a:ext cx="6675120" cy="4114800"/>
        </p:xfrm>
        <a:graphic>
          <a:graphicData uri="http://schemas.openxmlformats.org/drawingml/2006/chart">
            <c:chart xmlns:c="http://schemas.openxmlformats.org/drawingml/2006/chart" r:id="rId4"/>
          </a:graphicData>
        </a:graphic>
      </p:graphicFrame>
      <p:sp>
        <p:nvSpPr>
          <p:cNvPr id="11" name="Rounded Rectangle 10"/>
          <p:cNvSpPr/>
          <p:nvPr/>
        </p:nvSpPr>
        <p:spPr>
          <a:xfrm>
            <a:off x="7589520" y="1371600"/>
            <a:ext cx="4050791" cy="4114800"/>
          </a:xfrm>
          <a:prstGeom prst="roundRect">
            <a:avLst>
              <a:gd name="adj" fmla="val 180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200"/>
              </a:spcAft>
            </a:pPr>
            <a:r>
              <a:rPr sz="1800" b="1" i="0">
                <a:solidFill>
                  <a:srgbClr val="000048"/>
                </a:solidFill>
                <a:latin typeface="Arial"/>
              </a:rPr>
              <a:t>Break-even</a:t>
            </a:r>
          </a:p>
          <a:p>
            <a:pPr algn="l">
              <a:spcAft>
                <a:spcPts val="1000"/>
              </a:spcAft>
            </a:pPr>
            <a:r>
              <a:rPr sz="3200" b="1" i="0">
                <a:solidFill>
                  <a:srgbClr val="7373D8"/>
                </a:solidFill>
                <a:latin typeface="Arial"/>
              </a:rPr>
              <a:t>4.4% hit rate</a:t>
            </a:r>
          </a:p>
          <a:p>
            <a:pPr algn="l">
              <a:spcAft>
                <a:spcPts val="800"/>
              </a:spcAft>
            </a:pPr>
            <a:r>
              <a:rPr sz="1500" b="0" i="0">
                <a:solidFill>
                  <a:srgbClr val="1E1E2E"/>
                </a:solidFill>
                <a:latin typeface="Arial"/>
              </a:rPr>
              <a:t>Synthetic: 1M calls a month, $11,250 model spend, $500 cache cost.</a:t>
            </a:r>
          </a:p>
          <a:p>
            <a:pPr algn="l"/>
            <a:r>
              <a:rPr sz="1500" b="0" i="0">
                <a:solidFill>
                  <a:srgbClr val="53565A"/>
                </a:solidFill>
                <a:latin typeface="Arial"/>
              </a:rPr>
              <a:t>Use for repeated, non-personal questions only.</a:t>
            </a:r>
          </a:p>
        </p:txBody>
      </p:sp>
      <p:sp>
        <p:nvSpPr>
          <p:cNvPr id="12" name="Rounded Rectangle 11"/>
          <p:cNvSpPr/>
          <p:nvPr/>
        </p:nvSpPr>
        <p:spPr>
          <a:xfrm>
            <a:off x="548640" y="566928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Synthetic workload and cache cost. Model prices are gpt-5.4 Global list prices. Measure hit rate on real logs first.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Chargeback: from token metrics to a team bill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A26</a:t>
            </a:r>
          </a:p>
        </p:txBody>
      </p:sp>
      <p:sp>
        <p:nvSpPr>
          <p:cNvPr id="5" name="Status chip: PROPOSED REFERENCE ARCHITECTURE"/>
          <p:cNvSpPr/>
          <p:nvPr/>
        </p:nvSpPr>
        <p:spPr>
          <a:xfrm>
            <a:off x="199644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pic>
        <p:nvPicPr>
          <p:cNvPr id="9"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31620" y="1627632"/>
            <a:ext cx="502920" cy="502920"/>
          </a:xfrm>
          <a:prstGeom prst="rect">
            <a:avLst/>
          </a:prstGeom>
        </p:spPr>
      </p:pic>
      <p:sp>
        <p:nvSpPr>
          <p:cNvPr id="10" name="TextBox 9"/>
          <p:cNvSpPr txBox="1"/>
          <p:nvPr/>
        </p:nvSpPr>
        <p:spPr>
          <a:xfrm>
            <a:off x="58521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emit token metric</a:t>
            </a:r>
          </a:p>
        </p:txBody>
      </p:sp>
      <p:cxnSp>
        <p:nvCxnSpPr>
          <p:cNvPr id="11" name="Connector (flow)"/>
          <p:cNvCxnSpPr/>
          <p:nvPr/>
        </p:nvCxnSpPr>
        <p:spPr>
          <a:xfrm>
            <a:off x="301752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2" name="Azure icon: Application Insights" descr="Official Azure icon: Application Insigh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6260" y="1627632"/>
            <a:ext cx="502920" cy="502920"/>
          </a:xfrm>
          <a:prstGeom prst="rect">
            <a:avLst/>
          </a:prstGeom>
        </p:spPr>
      </p:pic>
      <p:sp>
        <p:nvSpPr>
          <p:cNvPr id="13" name="TextBox 12"/>
          <p:cNvSpPr txBox="1"/>
          <p:nvPr/>
        </p:nvSpPr>
        <p:spPr>
          <a:xfrm>
            <a:off x="341985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Application Insights</a:t>
            </a:r>
          </a:p>
          <a:p>
            <a:pPr algn="ctr"/>
            <a:r>
              <a:rPr sz="1200" b="0" i="0">
                <a:solidFill>
                  <a:srgbClr val="53565A"/>
                </a:solidFill>
                <a:latin typeface="Arial"/>
              </a:rPr>
              <a:t>tokens by caller</a:t>
            </a:r>
          </a:p>
        </p:txBody>
      </p:sp>
      <p:cxnSp>
        <p:nvCxnSpPr>
          <p:cNvPr id="14" name="Connector (flow)"/>
          <p:cNvCxnSpPr/>
          <p:nvPr/>
        </p:nvCxnSpPr>
        <p:spPr>
          <a:xfrm>
            <a:off x="585216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5" name="Azure icon: Log Analytics workspace" descr="Official Azure icon: Log Analytics workspa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00900" y="1627632"/>
            <a:ext cx="502920" cy="502920"/>
          </a:xfrm>
          <a:prstGeom prst="rect">
            <a:avLst/>
          </a:prstGeom>
        </p:spPr>
      </p:pic>
      <p:sp>
        <p:nvSpPr>
          <p:cNvPr id="16" name="TextBox 15"/>
          <p:cNvSpPr txBox="1"/>
          <p:nvPr/>
        </p:nvSpPr>
        <p:spPr>
          <a:xfrm>
            <a:off x="625449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Log Analytics</a:t>
            </a:r>
          </a:p>
          <a:p>
            <a:pPr algn="ctr"/>
            <a:r>
              <a:rPr sz="1200" b="0" i="0">
                <a:solidFill>
                  <a:srgbClr val="53565A"/>
                </a:solidFill>
                <a:latin typeface="Arial"/>
              </a:rPr>
              <a:t>join price table</a:t>
            </a:r>
          </a:p>
        </p:txBody>
      </p:sp>
      <p:cxnSp>
        <p:nvCxnSpPr>
          <p:cNvPr id="17" name="Connector (flow)"/>
          <p:cNvCxnSpPr/>
          <p:nvPr/>
        </p:nvCxnSpPr>
        <p:spPr>
          <a:xfrm>
            <a:off x="868680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8" name="Azure icon: Azure Workbooks" descr="Official Azure icon: Azure Workbook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35540" y="1627632"/>
            <a:ext cx="502920" cy="502920"/>
          </a:xfrm>
          <a:prstGeom prst="rect">
            <a:avLst/>
          </a:prstGeom>
        </p:spPr>
      </p:pic>
      <p:sp>
        <p:nvSpPr>
          <p:cNvPr id="19" name="TextBox 18"/>
          <p:cNvSpPr txBox="1"/>
          <p:nvPr/>
        </p:nvSpPr>
        <p:spPr>
          <a:xfrm>
            <a:off x="908913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Showback report</a:t>
            </a:r>
          </a:p>
          <a:p>
            <a:pPr algn="ctr"/>
            <a:r>
              <a:rPr sz="1200" b="0" i="0">
                <a:solidFill>
                  <a:srgbClr val="53565A"/>
                </a:solidFill>
                <a:latin typeface="Arial"/>
              </a:rPr>
              <a:t>per team, per agent</a:t>
            </a:r>
          </a:p>
        </p:txBody>
      </p:sp>
      <p:pic>
        <p:nvPicPr>
          <p:cNvPr id="20" name="Azure icon: Cost Management" descr="Official Azure icon: Cost Management"/>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66260" y="3822191"/>
            <a:ext cx="502920" cy="502920"/>
          </a:xfrm>
          <a:prstGeom prst="rect">
            <a:avLst/>
          </a:prstGeom>
        </p:spPr>
      </p:pic>
      <p:sp>
        <p:nvSpPr>
          <p:cNvPr id="21" name="TextBox 20"/>
          <p:cNvSpPr txBox="1"/>
          <p:nvPr/>
        </p:nvSpPr>
        <p:spPr>
          <a:xfrm>
            <a:off x="3419856" y="4361688"/>
            <a:ext cx="2395728" cy="786384"/>
          </a:xfrm>
          <a:prstGeom prst="rect">
            <a:avLst/>
          </a:prstGeom>
          <a:noFill/>
        </p:spPr>
        <p:txBody>
          <a:bodyPr wrap="square" lIns="0" rIns="0" tIns="0" bIns="0" anchor="t">
            <a:noAutofit/>
          </a:bodyPr>
          <a:lstStyle/>
          <a:p>
            <a:pPr algn="ctr"/>
            <a:r>
              <a:rPr sz="1500" b="1" i="0">
                <a:solidFill>
                  <a:srgbClr val="000048"/>
                </a:solidFill>
                <a:latin typeface="Arial"/>
              </a:rPr>
              <a:t>Cost Management export</a:t>
            </a:r>
          </a:p>
          <a:p>
            <a:pPr algn="ctr"/>
            <a:r>
              <a:rPr sz="1200" b="0" i="0">
                <a:solidFill>
                  <a:srgbClr val="53565A"/>
                </a:solidFill>
                <a:latin typeface="Arial"/>
              </a:rPr>
              <a:t>FOCUS format, shared costs</a:t>
            </a:r>
          </a:p>
        </p:txBody>
      </p:sp>
      <p:cxnSp>
        <p:nvCxnSpPr>
          <p:cNvPr id="22" name="Connector (flow)"/>
          <p:cNvCxnSpPr/>
          <p:nvPr/>
        </p:nvCxnSpPr>
        <p:spPr>
          <a:xfrm>
            <a:off x="5852160" y="4434840"/>
            <a:ext cx="10515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3" name="Connector (flow)"/>
          <p:cNvCxnSpPr/>
          <p:nvPr/>
        </p:nvCxnSpPr>
        <p:spPr>
          <a:xfrm flipV="1">
            <a:off x="6903720" y="2971800"/>
            <a:ext cx="0" cy="1463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492240" y="3749039"/>
            <a:ext cx="5120640" cy="1417320"/>
          </a:xfrm>
          <a:prstGeom prst="roundRect">
            <a:avLst>
              <a:gd name="adj" fmla="val 516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500" b="1" i="0">
                <a:solidFill>
                  <a:srgbClr val="000048"/>
                </a:solidFill>
                <a:latin typeface="Arial"/>
              </a:rPr>
              <a:t>Allocation rule (Finance decides)</a:t>
            </a:r>
          </a:p>
          <a:p>
            <a:pPr algn="l"/>
            <a:r>
              <a:rPr sz="1500" b="0" i="0">
                <a:solidFill>
                  <a:srgbClr val="1E1E2E"/>
                </a:solidFill>
                <a:latin typeface="Arial"/>
              </a:rPr>
              <a:t>Tokens priced per caller; shared platform cost split by token share or an agreed key.</a:t>
            </a:r>
          </a:p>
        </p:txBody>
      </p:sp>
      <p:sp>
        <p:nvSpPr>
          <p:cNvPr id="25" name="Rounded Rectangle 24"/>
          <p:cNvSpPr/>
          <p:nvPr/>
        </p:nvSpPr>
        <p:spPr>
          <a:xfrm>
            <a:off x="548640" y="553212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Showback first. Chargeback only after Finance approves the allocation rule. Streaming token counts are estimates.</a:t>
            </a:r>
          </a:p>
        </p:txBody>
      </p:sp>
      <p:sp>
        <p:nvSpPr>
          <p:cNvPr id="26" name="TextBox 25"/>
          <p:cNvSpPr txBox="1"/>
          <p:nvPr/>
        </p:nvSpPr>
        <p:spPr>
          <a:xfrm>
            <a:off x="548640" y="6144768"/>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Copilot Studio tool calls through the gateway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A27</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sp>
        <p:nvSpPr>
          <p:cNvPr id="9" name="Rounded Rectangle 8"/>
          <p:cNvSpPr/>
          <p:nvPr/>
        </p:nvSpPr>
        <p:spPr>
          <a:xfrm>
            <a:off x="548640" y="1737360"/>
            <a:ext cx="2377440" cy="1005840"/>
          </a:xfrm>
          <a:prstGeom prst="roundRect">
            <a:avLst>
              <a:gd name="adj" fmla="val 7272"/>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500" b="1" i="0">
                <a:solidFill>
                  <a:srgbClr val="000048"/>
                </a:solidFill>
                <a:latin typeface="Arial"/>
              </a:rPr>
              <a:t>Copilot Studio agent</a:t>
            </a:r>
          </a:p>
          <a:p>
            <a:pPr algn="ctr"/>
            <a:r>
              <a:rPr sz="1200" b="0" i="0">
                <a:solidFill>
                  <a:srgbClr val="53565A"/>
                </a:solidFill>
                <a:latin typeface="Arial"/>
              </a:rPr>
              <a:t>Power Platform team</a:t>
            </a:r>
          </a:p>
        </p:txBody>
      </p:sp>
      <p:sp>
        <p:nvSpPr>
          <p:cNvPr id="10" name="Rounded Rectangle 9"/>
          <p:cNvSpPr/>
          <p:nvPr/>
        </p:nvSpPr>
        <p:spPr>
          <a:xfrm>
            <a:off x="3337560" y="1737360"/>
            <a:ext cx="2377440" cy="1005840"/>
          </a:xfrm>
          <a:prstGeom prst="roundRect">
            <a:avLst>
              <a:gd name="adj" fmla="val 7272"/>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500" b="1" i="0">
                <a:solidFill>
                  <a:srgbClr val="000048"/>
                </a:solidFill>
                <a:latin typeface="Arial"/>
              </a:rPr>
              <a:t>Custom connector</a:t>
            </a:r>
          </a:p>
          <a:p>
            <a:pPr algn="ctr"/>
            <a:r>
              <a:rPr sz="1200" b="0" i="0">
                <a:solidFill>
                  <a:srgbClr val="53565A"/>
                </a:solidFill>
                <a:latin typeface="Arial"/>
              </a:rPr>
              <a:t>exported from APIM</a:t>
            </a:r>
          </a:p>
        </p:txBody>
      </p:sp>
      <p:pic>
        <p:nvPicPr>
          <p:cNvPr id="11"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6600" y="1673352"/>
            <a:ext cx="457200" cy="457200"/>
          </a:xfrm>
          <a:prstGeom prst="rect">
            <a:avLst/>
          </a:prstGeom>
        </p:spPr>
      </p:pic>
      <p:sp>
        <p:nvSpPr>
          <p:cNvPr id="12" name="TextBox 11"/>
          <p:cNvSpPr txBox="1"/>
          <p:nvPr/>
        </p:nvSpPr>
        <p:spPr>
          <a:xfrm>
            <a:off x="6163056" y="2167128"/>
            <a:ext cx="2304288" cy="694943"/>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identity, limits, logs</a:t>
            </a:r>
          </a:p>
        </p:txBody>
      </p:sp>
      <p:pic>
        <p:nvPicPr>
          <p:cNvPr id="13" name="Azure icon: Function App" descr="Official Azure icon: Function App"/>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35540" y="1673352"/>
            <a:ext cx="457200" cy="457200"/>
          </a:xfrm>
          <a:prstGeom prst="rect">
            <a:avLst/>
          </a:prstGeom>
        </p:spPr>
      </p:pic>
      <p:sp>
        <p:nvSpPr>
          <p:cNvPr id="14" name="TextBox 13"/>
          <p:cNvSpPr txBox="1"/>
          <p:nvPr/>
        </p:nvSpPr>
        <p:spPr>
          <a:xfrm>
            <a:off x="8951976" y="2167128"/>
            <a:ext cx="2624328" cy="694943"/>
          </a:xfrm>
          <a:prstGeom prst="rect">
            <a:avLst/>
          </a:prstGeom>
          <a:noFill/>
        </p:spPr>
        <p:txBody>
          <a:bodyPr wrap="square" lIns="0" rIns="0" tIns="0" bIns="0" anchor="t">
            <a:noAutofit/>
          </a:bodyPr>
          <a:lstStyle/>
          <a:p>
            <a:pPr algn="ctr"/>
            <a:r>
              <a:rPr sz="1500" b="1" i="0">
                <a:solidFill>
                  <a:srgbClr val="000048"/>
                </a:solidFill>
                <a:latin typeface="Arial"/>
              </a:rPr>
              <a:t>Tool APIs</a:t>
            </a:r>
          </a:p>
          <a:p>
            <a:pPr algn="ctr"/>
            <a:r>
              <a:rPr sz="1200" b="0" i="0">
                <a:solidFill>
                  <a:srgbClr val="53565A"/>
                </a:solidFill>
                <a:latin typeface="Arial"/>
              </a:rPr>
              <a:t>registered in API Center</a:t>
            </a:r>
          </a:p>
        </p:txBody>
      </p:sp>
      <p:cxnSp>
        <p:nvCxnSpPr>
          <p:cNvPr id="15" name="Connector (flow)"/>
          <p:cNvCxnSpPr/>
          <p:nvPr/>
        </p:nvCxnSpPr>
        <p:spPr>
          <a:xfrm>
            <a:off x="292608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flow)"/>
          <p:cNvCxnSpPr/>
          <p:nvPr/>
        </p:nvCxnSpPr>
        <p:spPr>
          <a:xfrm>
            <a:off x="571500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flow)"/>
          <p:cNvCxnSpPr/>
          <p:nvPr/>
        </p:nvCxnSpPr>
        <p:spPr>
          <a:xfrm>
            <a:off x="850392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8" name="Table"/>
          <p:cNvGraphicFramePr>
            <a:graphicFrameLocks noGrp="1"/>
          </p:cNvGraphicFramePr>
          <p:nvPr/>
        </p:nvGraphicFramePr>
        <p:xfrm>
          <a:off x="548640" y="3291840"/>
          <a:ext cx="11091672" cy="1600200"/>
        </p:xfrm>
        <a:graphic>
          <a:graphicData uri="http://schemas.openxmlformats.org/drawingml/2006/table">
            <a:tbl>
              <a:tblPr firstRow="1" bandRow="0">
                <a:tableStyleId>{5C22544A-7EE6-4342-B048-85BDC9FD1C3A}</a:tableStyleId>
              </a:tblPr>
              <a:tblGrid>
                <a:gridCol w="3291840"/>
                <a:gridCol w="7799832"/>
              </a:tblGrid>
              <a:tr h="320040">
                <a:tc>
                  <a:txBody>
                    <a:bodyPr wrap="square" anchor="ctr">
                      <a:noAutofit/>
                    </a:bodyPr>
                    <a:lstStyle/>
                    <a:p>
                      <a:pPr algn="l"/>
                      <a:r>
                        <a:rPr sz="1500" b="1" i="0">
                          <a:solidFill>
                            <a:srgbClr val="FFFFFF"/>
                          </a:solidFill>
                          <a:latin typeface="Arial"/>
                        </a:rPr>
                        <a:t>Who</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Does what</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Power Platform team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Environments, DLP policies, connector approval</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Gateway APIs, connector export, limits, logging</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Tool owners with Security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Tool authorisation and registration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M365 and D365 teams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Microsoft 365 Copilot (outside this offering)</a:t>
                      </a:r>
                    </a:p>
                  </a:txBody>
                  <a:tcPr marL="73152" marR="73152" marT="36576" marB="36576" anchor="ctr">
                    <a:solidFill>
                      <a:srgbClr val="F5F5F2"/>
                    </a:solidFill>
                  </a:tcPr>
                </a:tc>
              </a:tr>
            </a:tbl>
          </a:graphicData>
        </a:graphic>
      </p:graphicFrame>
      <p:sp>
        <p:nvSpPr>
          <p:cNvPr id="19" name="Rounded Rectangle 18"/>
          <p:cNvSpPr/>
          <p:nvPr/>
        </p:nvSpPr>
        <p:spPr>
          <a:xfrm>
            <a:off x="548640" y="571500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Copilot Studio model calls are Microsoft-managed and do not pass through the customer gateway.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6035039" cy="310896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Consumers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Several apps or agents calling models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Tool estate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Count of APIs and MCP servers to register</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graphicFrame>
        <p:nvGraphicFramePr>
          <p:cNvPr id="9" name="Table"/>
          <p:cNvGraphicFramePr>
            <a:graphicFrameLocks noGrp="1"/>
          </p:cNvGraphicFramePr>
          <p:nvPr/>
        </p:nvGraphicFramePr>
        <p:xfrm>
          <a:off x="548640" y="1325880"/>
          <a:ext cx="11091672" cy="213360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Readiness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region, existing APIM, few consumers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Several regions, no APIM, many consumers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Build, one region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region, five consumers, standard hub network</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Complex hub, twenty consumers, custom policies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 and tools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Up to ten tools, owners known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Fifty tools, owners unknown, MCP servers in several runtimes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Multi-region add-on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 regions, backend failover only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Premium classic multi-region gateway, DR tests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Chargeback add-on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Showback by product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Chargeback by team and agent, FOCUS reconciliation</a:t>
                      </a:r>
                    </a:p>
                  </a:txBody>
                  <a:tcPr marL="73152" marR="73152" marT="36576" marB="36576"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graphicFrame>
        <p:nvGraphicFramePr>
          <p:cNvPr id="9" name="Table"/>
          <p:cNvGraphicFramePr>
            <a:graphicFrameLocks noGrp="1"/>
          </p:cNvGraphicFramePr>
          <p:nvPr/>
        </p:nvGraphicFramePr>
        <p:xfrm>
          <a:off x="548640" y="1325880"/>
          <a:ext cx="11091672" cy="262128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 calls model endpoint with a key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Private endpoints, local auth off, bypass tests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Prompt injection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Malicious text in a tool result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Prompt Shields, tool-side validation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tool owner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Unapproved tool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calls an unregistered MCP server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API Center allow-list, network rules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Spoofed caller</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Counter key set by the client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Key from validated token claims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Data leakage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Sensitive data in prompts or logs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Purview, log redaction, Defender alerts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Denial of wallet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Runaway agent burns tokens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Token quotas, concurrency, alerts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budget owner</a:t>
                      </a:r>
                    </a:p>
                  </a:txBody>
                  <a:tcPr marL="73152" marR="73152" marT="36576" marB="36576" anchor="ctr">
                    <a:solidFill>
                      <a:srgbClr val="F5F5F2"/>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47</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48</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Gateway design, build, policies, tests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identity and safety; AI routing; DevOps CI/CD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Gateway operation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APIs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APIM units, logs, private endpoints, Content Safety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Units x hours; GB; calls (appendix A19)</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Traffic routed through the gateway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or PTU x hours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Volumes (AI); PTU reservation price (Microsoft)</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for self-hosted backends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See offering 04</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 unless selected</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49</a:t>
            </a:r>
          </a:p>
        </p:txBody>
      </p:sp>
      <p:graphicFrame>
        <p:nvGraphicFramePr>
          <p:cNvPr id="9" name="Table"/>
          <p:cNvGraphicFramePr>
            <a:graphicFrameLocks noGrp="1"/>
          </p:cNvGraphicFramePr>
          <p:nvPr/>
        </p:nvGraphicFramePr>
        <p:xfrm>
          <a:off x="548640" y="1325880"/>
          <a:ext cx="11091671" cy="381000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Gateway design and integrated plan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Identity and safety policy requirements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API contracts and model routing choice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APIM build, network, private endpoints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Policy CI/CD and rollback</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Load, bypass and failover testing</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Gateway operations and health</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Agent containment via gateway</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Recovery of gateway service</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Budget and cost allocation rules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24560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50</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37744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Gateway platform, network and policies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$110,000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Identity and safety design review</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$25,000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API contracts and routing tests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$30,000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Policy pipelines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DevOps</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$20,000</a:t>
                      </a:r>
                    </a:p>
                  </a:txBody>
                  <a:tcPr marL="73152" marR="73152" marT="36576" marB="36576" anchor="ctr">
                    <a:solidFill>
                      <a:srgbClr val="F5F5F2"/>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r"/>
                      <a:r>
                        <a:rPr sz="1200" b="1" i="0">
                          <a:solidFill>
                            <a:srgbClr val="000048"/>
                          </a:solidFill>
                          <a:latin typeface="Arial"/>
                        </a:rPr>
                        <a:t>$185,000</a:t>
                      </a:r>
                    </a:p>
                  </a:txBody>
                  <a:tcPr marL="73152" marR="73152" marT="36576" marB="36576" anchor="ctr">
                    <a:solidFill>
                      <a:srgbClr val="FFFFFF"/>
                    </a:solidFill>
                  </a:tcPr>
                </a:tc>
              </a:tr>
            </a:tbl>
          </a:graphicData>
        </a:graphic>
      </p:graphicFrame>
      <p:sp>
        <p:nvSpPr>
          <p:cNvPr id="16" name="TextBox 15"/>
          <p:cNvSpPr txBox="1"/>
          <p:nvPr/>
        </p:nvSpPr>
        <p:spPr>
          <a:xfrm>
            <a:off x="6629400" y="416052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51</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Several consumers or agents, named API owner, approved models and regions, landing zone network</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Consumers, models, tools, identities, traffic shape, regions, existing APIM</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Gateway, network, policies, policy register, dashboards, tests, runbooks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Agreed APIs, policies and regions; tool-side authorisation by tool owners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01 network, Security identity design, AI routing, DevOps CI/CD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Discover, design, build, prove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49936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Appendix A22 gates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API ownership, budget rules, approval of overflow and regions</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Role days per work package; Azure meters separate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New region, tier change, new API classes, caching, multi-region gateway</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05 or customer API platform team</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Gateway coverage, bypass tests, measured overshoot, attribution</a:t>
                      </a:r>
                    </a:p>
                  </a:txBody>
                  <a:tcPr marL="73152" marR="73152" marT="36576" marB="36576" anchor="ctr">
                    <a:solidFill>
                      <a:srgbClr val="F5F5F2"/>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52</a:t>
            </a:r>
          </a:p>
        </p:txBody>
      </p:sp>
      <p:graphicFrame>
        <p:nvGraphicFramePr>
          <p:cNvPr id="9" name="Table"/>
          <p:cNvGraphicFramePr>
            <a:graphicFrameLocks noGrp="1"/>
          </p:cNvGraphicFramePr>
          <p:nvPr/>
        </p:nvGraphicFramePr>
        <p:xfrm>
          <a:off x="548640" y="1325880"/>
          <a:ext cx="11091672" cy="246888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Production on GA tiers; AI Gateway tier as pilot only</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Architecture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Preview status (A16)</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Counter key derived from validated identity</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Identity design</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Tier and region per pursuit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Before quote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Region snapshot recheck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Overflow budget and alerts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budget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PAYG share forecast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Hard currency cap needed or not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budget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Overshoot test results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API Center as tool and MCP allow-list</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Security with CIS Infra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Tool estate count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Copilot Studio connector routing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pursuit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Power Platform team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Connector inventory</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Sell rates and attribution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5F5F2"/>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gateway conceptual architecture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53</a:t>
            </a:r>
          </a:p>
        </p:txBody>
      </p:sp>
      <p:pic>
        <p:nvPicPr>
          <p:cNvPr id="9" name="Original reference image: 38_foundry-gateway-conceptual-architecture.png" descr="38_foundry-gateway-conceptual-architecture.png"/>
          <p:cNvPicPr>
            <a:picLocks noChangeAspect="1"/>
          </p:cNvPicPr>
          <p:nvPr/>
        </p:nvPicPr>
        <p:blipFill>
          <a:blip r:embed="rId4"/>
          <a:stretch>
            <a:fillRect/>
          </a:stretch>
        </p:blipFill>
        <p:spPr>
          <a:xfrm>
            <a:off x="2351273" y="1280160"/>
            <a:ext cx="7486404"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38_foundry-gateway-conceptual-architecture.png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Conceptual functions; queuing and compute may need services beyond one API Management tier.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Historical reference: legacy identity diagram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O2</a:t>
            </a:r>
          </a:p>
        </p:txBody>
      </p:sp>
      <p:sp>
        <p:nvSpPr>
          <p:cNvPr id="5" name="Status chip: HISTORICAL, LEGACY LABELS"/>
          <p:cNvSpPr/>
          <p:nvPr/>
        </p:nvSpPr>
        <p:spPr>
          <a:xfrm>
            <a:off x="1898650" y="274320"/>
            <a:ext cx="2433320"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53565A"/>
                </a:solidFill>
                <a:latin typeface="Arial"/>
              </a:rPr>
              <a:t>HISTORICAL, LEGACY LABELS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54</a:t>
            </a:r>
          </a:p>
        </p:txBody>
      </p:sp>
      <p:pic>
        <p:nvPicPr>
          <p:cNvPr id="9" name="Original reference image: 44_azure-openai-gateway-identity-solution-combined.png" descr="44_azure-openai-gateway-identity-solution-combined.png"/>
          <p:cNvPicPr>
            <a:picLocks noChangeAspect="1"/>
          </p:cNvPicPr>
          <p:nvPr/>
        </p:nvPicPr>
        <p:blipFill>
          <a:blip r:embed="rId4"/>
          <a:stretch>
            <a:fillRect/>
          </a:stretch>
        </p:blipFill>
        <p:spPr>
          <a:xfrm>
            <a:off x="2709582" y="1280160"/>
            <a:ext cx="6769787"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44_azure-openai-gateway-identity-solution-combined.png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8A4B08"/>
                </a:solidFill>
                <a:latin typeface="Arial"/>
              </a:rPr>
              <a:t>HISTORICAL: legacy gpt-35-turbo and Azure OpenAI labels. Do not use in proposals; use appendix A3.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one gateway, regional backends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O3</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55</a:t>
            </a:r>
          </a:p>
        </p:txBody>
      </p:sp>
      <p:pic>
        <p:nvPicPr>
          <p:cNvPr id="9" name="Original reference image: 20_multiple-regions-api-management-single-after.png" descr="20_multiple-regions-api-management-single-after.png"/>
          <p:cNvPicPr>
            <a:picLocks noChangeAspect="1"/>
          </p:cNvPicPr>
          <p:nvPr/>
        </p:nvPicPr>
        <p:blipFill>
          <a:blip r:embed="rId4"/>
          <a:stretch>
            <a:fillRect/>
          </a:stretch>
        </p:blipFill>
        <p:spPr>
          <a:xfrm>
            <a:off x="891855" y="1280160"/>
            <a:ext cx="1040524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20_multiple-regions-api-management-single-after.png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labels "rt-foundry-westus" appear to mean resource group; backend failover keeps one gateway failure domain.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multi-region gateway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O4</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56</a:t>
            </a:r>
          </a:p>
        </p:txBody>
      </p:sp>
      <p:pic>
        <p:nvPicPr>
          <p:cNvPr id="9" name="Original reference image: 21_multiple-regions-api-management-multiple-after.png" descr="21_multiple-regions-api-management-multiple-after.png"/>
          <p:cNvPicPr>
            <a:picLocks noChangeAspect="1"/>
          </p:cNvPicPr>
          <p:nvPr/>
        </p:nvPicPr>
        <p:blipFill>
          <a:blip r:embed="rId4"/>
          <a:stretch>
            <a:fillRect/>
          </a:stretch>
        </p:blipFill>
        <p:spPr>
          <a:xfrm>
            <a:off x="1448734" y="1280160"/>
            <a:ext cx="9291483"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21_multiple-regions-api-management-multiple-after.png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Built-in multi-region API Management needs Premium (classic).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Low-resolution source images kept for traceability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O5</a:t>
            </a:r>
          </a:p>
        </p:txBody>
      </p:sp>
      <p:sp>
        <p:nvSpPr>
          <p:cNvPr id="5" name="Status chip: ORIGINALS, NOT FOR PRESENTATION"/>
          <p:cNvSpPr/>
          <p:nvPr/>
        </p:nvSpPr>
        <p:spPr>
          <a:xfrm>
            <a:off x="1898650" y="274320"/>
            <a:ext cx="2951480"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53565A"/>
                </a:solidFill>
                <a:latin typeface="Arial"/>
              </a:rPr>
              <a:t>ORIGINALS, NOT FOR PRESENTATION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9"/>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57</a:t>
            </a:r>
          </a:p>
        </p:txBody>
      </p:sp>
      <p:pic>
        <p:nvPicPr>
          <p:cNvPr id="9" name="Picture 8" descr="29_token-rate-limiting.png"/>
          <p:cNvPicPr>
            <a:picLocks noChangeAspect="1"/>
          </p:cNvPicPr>
          <p:nvPr/>
        </p:nvPicPr>
        <p:blipFill>
          <a:blip r:embed="rId4"/>
          <a:stretch>
            <a:fillRect/>
          </a:stretch>
        </p:blipFill>
        <p:spPr>
          <a:xfrm>
            <a:off x="548640" y="1325880"/>
            <a:ext cx="3566160" cy="1739161"/>
          </a:xfrm>
          <a:prstGeom prst="rect">
            <a:avLst/>
          </a:prstGeom>
        </p:spPr>
      </p:pic>
      <p:sp>
        <p:nvSpPr>
          <p:cNvPr id="10" name="TextBox 9"/>
          <p:cNvSpPr txBox="1"/>
          <p:nvPr/>
        </p:nvSpPr>
        <p:spPr>
          <a:xfrm>
            <a:off x="548640" y="3092473"/>
            <a:ext cx="3566160" cy="256032"/>
          </a:xfrm>
          <a:prstGeom prst="rect">
            <a:avLst/>
          </a:prstGeom>
          <a:noFill/>
        </p:spPr>
        <p:txBody>
          <a:bodyPr wrap="square" lIns="0" rIns="0" tIns="0" bIns="0" anchor="t">
            <a:noAutofit/>
          </a:bodyPr>
          <a:lstStyle/>
          <a:p>
            <a:pPr algn="l"/>
            <a:r>
              <a:rPr sz="1000" b="0" i="0">
                <a:solidFill>
                  <a:srgbClr val="53565A"/>
                </a:solidFill>
                <a:latin typeface="Arial"/>
              </a:rPr>
              <a:t>29_token-rate-limiting.png</a:t>
            </a:r>
          </a:p>
        </p:txBody>
      </p:sp>
      <p:pic>
        <p:nvPicPr>
          <p:cNvPr id="11" name="Picture 10" descr="31_content-safety.png"/>
          <p:cNvPicPr>
            <a:picLocks noChangeAspect="1"/>
          </p:cNvPicPr>
          <p:nvPr/>
        </p:nvPicPr>
        <p:blipFill>
          <a:blip r:embed="rId5"/>
          <a:stretch>
            <a:fillRect/>
          </a:stretch>
        </p:blipFill>
        <p:spPr>
          <a:xfrm>
            <a:off x="4343400" y="1325880"/>
            <a:ext cx="3566160" cy="1903480"/>
          </a:xfrm>
          <a:prstGeom prst="rect">
            <a:avLst/>
          </a:prstGeom>
        </p:spPr>
      </p:pic>
      <p:sp>
        <p:nvSpPr>
          <p:cNvPr id="12" name="TextBox 11"/>
          <p:cNvSpPr txBox="1"/>
          <p:nvPr/>
        </p:nvSpPr>
        <p:spPr>
          <a:xfrm>
            <a:off x="4343400" y="3256792"/>
            <a:ext cx="3566160" cy="256032"/>
          </a:xfrm>
          <a:prstGeom prst="rect">
            <a:avLst/>
          </a:prstGeom>
          <a:noFill/>
        </p:spPr>
        <p:txBody>
          <a:bodyPr wrap="square" lIns="0" rIns="0" tIns="0" bIns="0" anchor="t">
            <a:noAutofit/>
          </a:bodyPr>
          <a:lstStyle/>
          <a:p>
            <a:pPr algn="l"/>
            <a:r>
              <a:rPr sz="1000" b="0" i="0">
                <a:solidFill>
                  <a:srgbClr val="53565A"/>
                </a:solidFill>
                <a:latin typeface="Arial"/>
              </a:rPr>
              <a:t>31_content-safety.png</a:t>
            </a:r>
          </a:p>
        </p:txBody>
      </p:sp>
      <p:pic>
        <p:nvPicPr>
          <p:cNvPr id="13" name="Picture 12" descr="32_backend-load-balancing.png"/>
          <p:cNvPicPr>
            <a:picLocks noChangeAspect="1"/>
          </p:cNvPicPr>
          <p:nvPr/>
        </p:nvPicPr>
        <p:blipFill>
          <a:blip r:embed="rId6"/>
          <a:stretch>
            <a:fillRect/>
          </a:stretch>
        </p:blipFill>
        <p:spPr>
          <a:xfrm>
            <a:off x="8138160" y="1325880"/>
            <a:ext cx="3375046" cy="2011680"/>
          </a:xfrm>
          <a:prstGeom prst="rect">
            <a:avLst/>
          </a:prstGeom>
        </p:spPr>
      </p:pic>
      <p:sp>
        <p:nvSpPr>
          <p:cNvPr id="14" name="TextBox 13"/>
          <p:cNvSpPr txBox="1"/>
          <p:nvPr/>
        </p:nvSpPr>
        <p:spPr>
          <a:xfrm>
            <a:off x="8138160" y="3364992"/>
            <a:ext cx="3566160" cy="256032"/>
          </a:xfrm>
          <a:prstGeom prst="rect">
            <a:avLst/>
          </a:prstGeom>
          <a:noFill/>
        </p:spPr>
        <p:txBody>
          <a:bodyPr wrap="square" lIns="0" rIns="0" tIns="0" bIns="0" anchor="t">
            <a:noAutofit/>
          </a:bodyPr>
          <a:lstStyle/>
          <a:p>
            <a:pPr algn="l"/>
            <a:r>
              <a:rPr sz="1000" b="0" i="0">
                <a:solidFill>
                  <a:srgbClr val="53565A"/>
                </a:solidFill>
                <a:latin typeface="Arial"/>
              </a:rPr>
              <a:t>32_backend-load-balancing.png</a:t>
            </a:r>
          </a:p>
        </p:txBody>
      </p:sp>
      <p:pic>
        <p:nvPicPr>
          <p:cNvPr id="15" name="Picture 14" descr="33_backend-circuit-breaker.png"/>
          <p:cNvPicPr>
            <a:picLocks noChangeAspect="1"/>
          </p:cNvPicPr>
          <p:nvPr/>
        </p:nvPicPr>
        <p:blipFill>
          <a:blip r:embed="rId7"/>
          <a:stretch>
            <a:fillRect/>
          </a:stretch>
        </p:blipFill>
        <p:spPr>
          <a:xfrm>
            <a:off x="548640" y="3749039"/>
            <a:ext cx="3566160" cy="1261872"/>
          </a:xfrm>
          <a:prstGeom prst="rect">
            <a:avLst/>
          </a:prstGeom>
        </p:spPr>
      </p:pic>
      <p:sp>
        <p:nvSpPr>
          <p:cNvPr id="16" name="TextBox 15"/>
          <p:cNvSpPr txBox="1"/>
          <p:nvPr/>
        </p:nvSpPr>
        <p:spPr>
          <a:xfrm>
            <a:off x="548640" y="5038344"/>
            <a:ext cx="3566160" cy="256032"/>
          </a:xfrm>
          <a:prstGeom prst="rect">
            <a:avLst/>
          </a:prstGeom>
          <a:noFill/>
        </p:spPr>
        <p:txBody>
          <a:bodyPr wrap="square" lIns="0" rIns="0" tIns="0" bIns="0" anchor="t">
            <a:noAutofit/>
          </a:bodyPr>
          <a:lstStyle/>
          <a:p>
            <a:pPr algn="l"/>
            <a:r>
              <a:rPr sz="1000" b="0" i="0">
                <a:solidFill>
                  <a:srgbClr val="53565A"/>
                </a:solidFill>
                <a:latin typeface="Arial"/>
              </a:rPr>
              <a:t>33_backend-circuit-breaker.png</a:t>
            </a:r>
          </a:p>
        </p:txBody>
      </p:sp>
      <p:pic>
        <p:nvPicPr>
          <p:cNvPr id="17" name="Picture 16" descr="34_emit-token-metrics.png"/>
          <p:cNvPicPr>
            <a:picLocks noChangeAspect="1"/>
          </p:cNvPicPr>
          <p:nvPr/>
        </p:nvPicPr>
        <p:blipFill>
          <a:blip r:embed="rId8"/>
          <a:stretch>
            <a:fillRect/>
          </a:stretch>
        </p:blipFill>
        <p:spPr>
          <a:xfrm>
            <a:off x="4343400" y="3749039"/>
            <a:ext cx="3566160" cy="1599490"/>
          </a:xfrm>
          <a:prstGeom prst="rect">
            <a:avLst/>
          </a:prstGeom>
        </p:spPr>
      </p:pic>
      <p:sp>
        <p:nvSpPr>
          <p:cNvPr id="18" name="TextBox 17"/>
          <p:cNvSpPr txBox="1"/>
          <p:nvPr/>
        </p:nvSpPr>
        <p:spPr>
          <a:xfrm>
            <a:off x="4343400" y="5375962"/>
            <a:ext cx="3566160" cy="256032"/>
          </a:xfrm>
          <a:prstGeom prst="rect">
            <a:avLst/>
          </a:prstGeom>
          <a:noFill/>
        </p:spPr>
        <p:txBody>
          <a:bodyPr wrap="square" lIns="0" rIns="0" tIns="0" bIns="0" anchor="t">
            <a:noAutofit/>
          </a:bodyPr>
          <a:lstStyle/>
          <a:p>
            <a:pPr algn="l"/>
            <a:r>
              <a:rPr sz="1000" b="0" i="0">
                <a:solidFill>
                  <a:srgbClr val="53565A"/>
                </a:solidFill>
                <a:latin typeface="Arial"/>
              </a:rPr>
              <a:t>34_emit-token-metrics.png</a:t>
            </a:r>
          </a:p>
        </p:txBody>
      </p:sp>
      <p:sp>
        <p:nvSpPr>
          <p:cNvPr id="19" name="TextBox 18"/>
          <p:cNvSpPr txBox="1"/>
          <p:nvPr/>
        </p:nvSpPr>
        <p:spPr>
          <a:xfrm>
            <a:off x="8138160" y="3749039"/>
            <a:ext cx="3520440" cy="1828800"/>
          </a:xfrm>
          <a:prstGeom prst="rect">
            <a:avLst/>
          </a:prstGeom>
          <a:noFill/>
        </p:spPr>
        <p:txBody>
          <a:bodyPr wrap="square" lIns="0" rIns="0" tIns="0" bIns="0" anchor="t">
            <a:noAutofit/>
          </a:bodyPr>
          <a:lstStyle/>
          <a:p>
            <a:pPr algn="l"/>
            <a:r>
              <a:rPr sz="1500" b="0" i="0">
                <a:solidFill>
                  <a:srgbClr val="000048"/>
                </a:solidFill>
                <a:latin typeface="Arial"/>
              </a:rPr>
              <a:t>Rebuilt as editable diagrams with official Azure icons: A5, A8, A9, A11, A13.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2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58</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100" b="1" i="0">
                <a:solidFill>
                  <a:srgbClr val="000048"/>
                </a:solidFill>
                <a:latin typeface="Arial"/>
              </a:rPr>
              <a:t>AI gateway capabilities in API Management:  </a:t>
            </a:r>
            <a:r>
              <a:rPr sz="1100" b="0" i="0">
                <a:solidFill>
                  <a:srgbClr val="2F78C4"/>
                </a:solidFill>
                <a:latin typeface="Arial"/>
                <a:hlinkClick r:id="rId4"/>
              </a:rPr>
              <a:t>https://learn.microsoft.com/en-us/azure/api-management/genai-gateway-capabilities</a:t>
            </a:r>
          </a:p>
          <a:p>
            <a:pPr algn="l">
              <a:spcAft>
                <a:spcPts val="300"/>
              </a:spcAft>
            </a:pPr>
            <a:r>
              <a:rPr sz="1100" b="1" i="0">
                <a:solidFill>
                  <a:srgbClr val="000048"/>
                </a:solidFill>
                <a:latin typeface="Arial"/>
              </a:rPr>
              <a:t>APIM llm-token-limit policy:  </a:t>
            </a:r>
            <a:r>
              <a:rPr sz="1100" b="0" i="0">
                <a:solidFill>
                  <a:srgbClr val="2F78C4"/>
                </a:solidFill>
                <a:latin typeface="Arial"/>
                <a:hlinkClick r:id="rId5"/>
              </a:rPr>
              <a:t>https://learn.microsoft.com/en-us/azure/api-management/llm-token-limit-policy</a:t>
            </a:r>
          </a:p>
          <a:p>
            <a:pPr algn="l">
              <a:spcAft>
                <a:spcPts val="300"/>
              </a:spcAft>
            </a:pPr>
            <a:r>
              <a:rPr sz="1100" b="1" i="0">
                <a:solidFill>
                  <a:srgbClr val="000048"/>
                </a:solidFill>
                <a:latin typeface="Arial"/>
              </a:rPr>
              <a:t>APIM llm-content-safety policy:  </a:t>
            </a:r>
            <a:r>
              <a:rPr sz="1100" b="0" i="0">
                <a:solidFill>
                  <a:srgbClr val="2F78C4"/>
                </a:solidFill>
                <a:latin typeface="Arial"/>
                <a:hlinkClick r:id="rId6"/>
              </a:rPr>
              <a:t>https://learn.microsoft.com/en-us/azure/api-management/llm-content-safety-policy</a:t>
            </a:r>
          </a:p>
          <a:p>
            <a:pPr algn="l">
              <a:spcAft>
                <a:spcPts val="300"/>
              </a:spcAft>
            </a:pPr>
            <a:r>
              <a:rPr sz="1100" b="1" i="0">
                <a:solidFill>
                  <a:srgbClr val="000048"/>
                </a:solidFill>
                <a:latin typeface="Arial"/>
              </a:rPr>
              <a:t>AI Gateway tier (preview) overview:  </a:t>
            </a:r>
            <a:r>
              <a:rPr sz="1100" b="0" i="0">
                <a:solidFill>
                  <a:srgbClr val="2F78C4"/>
                </a:solidFill>
                <a:latin typeface="Arial"/>
                <a:hlinkClick r:id="rId7"/>
              </a:rPr>
              <a:t>https://learn.microsoft.com/en-us/azure/api-management/ai-gateway-overview</a:t>
            </a:r>
          </a:p>
          <a:p>
            <a:pPr algn="l">
              <a:spcAft>
                <a:spcPts val="300"/>
              </a:spcAft>
            </a:pPr>
            <a:r>
              <a:rPr sz="1100" b="1" i="0">
                <a:solidFill>
                  <a:srgbClr val="000048"/>
                </a:solidFill>
                <a:latin typeface="Arial"/>
              </a:rPr>
              <a:t>API Management feature comparison by tier:  </a:t>
            </a:r>
            <a:r>
              <a:rPr sz="1100" b="0" i="0">
                <a:solidFill>
                  <a:srgbClr val="2F78C4"/>
                </a:solidFill>
                <a:latin typeface="Arial"/>
                <a:hlinkClick r:id="rId8"/>
              </a:rPr>
              <a:t>https://learn.microsoft.com/en-us/azure/api-management/api-management-features</a:t>
            </a:r>
          </a:p>
          <a:p>
            <a:pPr algn="l">
              <a:spcAft>
                <a:spcPts val="300"/>
              </a:spcAft>
            </a:pPr>
            <a:r>
              <a:rPr sz="1100" b="1" i="0">
                <a:solidFill>
                  <a:srgbClr val="000048"/>
                </a:solidFill>
                <a:latin typeface="Arial"/>
              </a:rPr>
              <a:t>API Management v2 tier region availability:  </a:t>
            </a:r>
            <a:r>
              <a:rPr sz="1100" b="0" i="0">
                <a:solidFill>
                  <a:srgbClr val="2F78C4"/>
                </a:solidFill>
                <a:latin typeface="Arial"/>
                <a:hlinkClick r:id="rId9"/>
              </a:rPr>
              <a:t>https://learn.microsoft.com/en-us/azure/api-management/api-management-region-availability</a:t>
            </a:r>
          </a:p>
          <a:p>
            <a:pPr algn="l">
              <a:spcAft>
                <a:spcPts val="300"/>
              </a:spcAft>
            </a:pPr>
            <a:r>
              <a:rPr sz="1100" b="1" i="0">
                <a:solidFill>
                  <a:srgbClr val="000048"/>
                </a:solidFill>
                <a:latin typeface="Arial"/>
              </a:rPr>
              <a:t>Azure Retail Prices API: API Management, East US 2:  </a:t>
            </a:r>
            <a:r>
              <a:rPr sz="1100" b="0" i="0">
                <a:solidFill>
                  <a:srgbClr val="2F78C4"/>
                </a:solidFill>
                <a:latin typeface="Arial"/>
                <a:hlinkClick r:id="rId10"/>
              </a:rPr>
              <a:t>https://prices.azure.com/api/retail/prices?$filter=serviceName eq 'API Management' and armRegionName eq 'eastus2'</a:t>
            </a:r>
          </a:p>
          <a:p>
            <a:pPr algn="l">
              <a:spcAft>
                <a:spcPts val="300"/>
              </a:spcAft>
            </a:pPr>
            <a:r>
              <a:rPr sz="1100" b="1" i="0">
                <a:solidFill>
                  <a:srgbClr val="000048"/>
                </a:solidFill>
                <a:latin typeface="Arial"/>
              </a:rPr>
              <a:t>Azure Retail Prices API: gpt-5.4, East US 2:  </a:t>
            </a:r>
            <a:r>
              <a:rPr sz="1100" b="0" i="0">
                <a:solidFill>
                  <a:srgbClr val="2F78C4"/>
                </a:solidFill>
                <a:latin typeface="Arial"/>
                <a:hlinkClick r:id="rId11"/>
              </a:rPr>
              <a:t>https://prices.azure.com/api/retail/prices?$filter=armRegionName eq 'eastus2' and contains(meterName,'5.4')</a:t>
            </a:r>
          </a:p>
          <a:p>
            <a:pPr algn="l">
              <a:spcAft>
                <a:spcPts val="300"/>
              </a:spcAft>
            </a:pPr>
            <a:r>
              <a:rPr sz="1100" b="1" i="0">
                <a:solidFill>
                  <a:srgbClr val="000048"/>
                </a:solidFill>
                <a:latin typeface="Arial"/>
              </a:rPr>
              <a:t>Provisioned throughput concepts:  </a:t>
            </a:r>
            <a:r>
              <a:rPr sz="1100" b="0" i="0">
                <a:solidFill>
                  <a:srgbClr val="2F78C4"/>
                </a:solidFill>
                <a:latin typeface="Arial"/>
                <a:hlinkClick r:id="rId12"/>
              </a:rPr>
              <a:t>https://learn.microsoft.com/en-us/azure/foundry/openai/concepts/provisioned-throughput</a:t>
            </a:r>
          </a:p>
          <a:p>
            <a:pPr algn="l">
              <a:spcAft>
                <a:spcPts val="300"/>
              </a:spcAft>
            </a:pPr>
            <a:r>
              <a:rPr sz="1100" b="1" i="0">
                <a:solidFill>
                  <a:srgbClr val="000048"/>
                </a:solidFill>
                <a:latin typeface="Arial"/>
              </a:rPr>
              <a:t>Azure Retail Prices API: Log Analytics, East US 2:  </a:t>
            </a:r>
            <a:r>
              <a:rPr sz="1100" b="0" i="0">
                <a:solidFill>
                  <a:srgbClr val="2F78C4"/>
                </a:solidFill>
                <a:latin typeface="Arial"/>
                <a:hlinkClick r:id="rId13"/>
              </a:rPr>
              <a:t>https://prices.azure.com/api/retail/prices?$filter=serviceName eq 'Log Analytics' and armRegionName eq 'eastus2'</a:t>
            </a:r>
          </a:p>
          <a:p>
            <a:pPr algn="l">
              <a:spcAft>
                <a:spcPts val="300"/>
              </a:spcAft>
            </a:pPr>
            <a:r>
              <a:rPr sz="1100" b="1" i="0">
                <a:solidFill>
                  <a:srgbClr val="000048"/>
                </a:solidFill>
                <a:latin typeface="Arial"/>
              </a:rPr>
              <a:t>Foundry Models retirement schedule:  </a:t>
            </a:r>
            <a:r>
              <a:rPr sz="1100" b="0" i="0">
                <a:solidFill>
                  <a:srgbClr val="2F78C4"/>
                </a:solidFill>
                <a:latin typeface="Arial"/>
                <a:hlinkClick r:id="rId14"/>
              </a:rPr>
              <a:t>https://learn.microsoft.com/en-us/azure/foundry/openai/concepts/model-retirement-schedule</a:t>
            </a:r>
          </a:p>
          <a:p>
            <a:pPr algn="l">
              <a:spcAft>
                <a:spcPts val="300"/>
              </a:spcAft>
            </a:pPr>
            <a:r>
              <a:rPr sz="1100" b="1" i="0">
                <a:solidFill>
                  <a:srgbClr val="000048"/>
                </a:solidFill>
                <a:latin typeface="Arial"/>
              </a:rPr>
              <a:t>Register and discover MCP servers in Azure API Center:  </a:t>
            </a:r>
            <a:r>
              <a:rPr sz="1100" b="0" i="0">
                <a:solidFill>
                  <a:srgbClr val="2F78C4"/>
                </a:solidFill>
                <a:latin typeface="Arial"/>
                <a:hlinkClick r:id="rId15"/>
              </a:rPr>
              <a:t>https://learn.microsoft.com/en-us/azure/api-center/register-discover-mcp-server</a:t>
            </a:r>
          </a:p>
          <a:p>
            <a:pPr algn="l">
              <a:spcAft>
                <a:spcPts val="300"/>
              </a:spcAft>
            </a:pPr>
            <a:r>
              <a:rPr sz="1100" b="1" i="0">
                <a:solidFill>
                  <a:srgbClr val="000048"/>
                </a:solidFill>
                <a:latin typeface="Arial"/>
              </a:rPr>
              <a:t>Private MCP registry on API Center enforced in GitHub Copilot and VS Code (Microsoft DevBlogs):  </a:t>
            </a:r>
            <a:r>
              <a:rPr sz="1100" b="0" i="0">
                <a:solidFill>
                  <a:srgbClr val="2F78C4"/>
                </a:solidFill>
                <a:latin typeface="Arial"/>
                <a:hlinkClick r:id="rId16"/>
              </a:rPr>
              <a:t>https://devblogs.microsoft.com/all-things-azure/locking-down-mcp-create-a-private-registry-on-azure-api-center-and-enforce-it-in-github-copilot-and-vs-code/</a:t>
            </a:r>
          </a:p>
          <a:p>
            <a:pPr algn="l">
              <a:spcAft>
                <a:spcPts val="300"/>
              </a:spcAft>
            </a:pPr>
            <a:r>
              <a:rPr sz="1100" b="1" i="0">
                <a:solidFill>
                  <a:srgbClr val="000048"/>
                </a:solidFill>
                <a:latin typeface="Arial"/>
              </a:rPr>
              <a:t>AI threat protection in Microsoft Defender for Cloud:  </a:t>
            </a:r>
            <a:r>
              <a:rPr sz="1100" b="0" i="0">
                <a:solidFill>
                  <a:srgbClr val="2F78C4"/>
                </a:solidFill>
                <a:latin typeface="Arial"/>
                <a:hlinkClick r:id="rId17"/>
              </a:rPr>
              <a:t>https://learn.microsoft.com/en-us/azure/defender-for-cloud/ai-threat-protection</a:t>
            </a:r>
          </a:p>
          <a:p>
            <a:pPr algn="l">
              <a:spcAft>
                <a:spcPts val="300"/>
              </a:spcAft>
            </a:pPr>
            <a:r>
              <a:rPr sz="1100" b="1" i="0">
                <a:solidFill>
                  <a:srgbClr val="000048"/>
                </a:solidFill>
                <a:latin typeface="Arial"/>
              </a:rPr>
              <a:t>Microsoft Purview data security and compliance for AI:  </a:t>
            </a:r>
            <a:r>
              <a:rPr sz="1100" b="0" i="0">
                <a:solidFill>
                  <a:srgbClr val="2F78C4"/>
                </a:solidFill>
                <a:latin typeface="Arial"/>
                <a:hlinkClick r:id="rId18"/>
              </a:rPr>
              <a:t>https://learn.microsoft.com/en-us/purview/ai-microsoft-purview</a:t>
            </a:r>
          </a:p>
          <a:p>
            <a:pPr algn="l">
              <a:spcAft>
                <a:spcPts val="300"/>
              </a:spcAft>
            </a:pPr>
            <a:r>
              <a:rPr sz="1100" b="1" i="0">
                <a:solidFill>
                  <a:srgbClr val="000048"/>
                </a:solidFill>
                <a:latin typeface="Arial"/>
              </a:rPr>
              <a:t>Cost Management exports, including FOCUS format:  </a:t>
            </a:r>
            <a:r>
              <a:rPr sz="1100" b="0" i="0">
                <a:solidFill>
                  <a:srgbClr val="2F78C4"/>
                </a:solidFill>
                <a:latin typeface="Arial"/>
                <a:hlinkClick r:id="rId19"/>
              </a:rPr>
              <a:t>https://learn.microsoft.com/en-us/azure/cost-management-billing/costs/tutorial-improved-exports</a:t>
            </a:r>
          </a:p>
          <a:p>
            <a:pPr algn="l">
              <a:spcAft>
                <a:spcPts val="300"/>
              </a:spcAft>
            </a:pPr>
            <a:r>
              <a:rPr sz="1100" b="1" i="0">
                <a:solidFill>
                  <a:srgbClr val="000048"/>
                </a:solidFill>
                <a:latin typeface="Arial"/>
              </a:rPr>
              <a:t>OWASP Top 10 for LLM Applications:  </a:t>
            </a:r>
            <a:r>
              <a:rPr sz="1100" b="0" i="0">
                <a:solidFill>
                  <a:srgbClr val="2F78C4"/>
                </a:solidFill>
                <a:latin typeface="Arial"/>
                <a:hlinkClick r:id="rId20"/>
              </a:rPr>
              <a:t>https://genai.owasp.org/llm-top-10/</a:t>
            </a:r>
          </a:p>
          <a:p>
            <a:pPr algn="l">
              <a:spcAft>
                <a:spcPts val="300"/>
              </a:spcAft>
            </a:pPr>
            <a:r>
              <a:rPr sz="1100" b="1" i="0">
                <a:solidFill>
                  <a:srgbClr val="000048"/>
                </a:solidFill>
                <a:latin typeface="Arial"/>
              </a:rPr>
              <a:t>EU AI Act Update: Digital Omnibus finalises compliance changes (Orrick, 29 Jul 2026):  </a:t>
            </a:r>
            <a:r>
              <a:rPr sz="1100" b="0" i="0">
                <a:solidFill>
                  <a:srgbClr val="2F78C4"/>
                </a:solidFill>
                <a:latin typeface="Arial"/>
                <a:hlinkClick r:id="rId21"/>
              </a:rPr>
              <a:t>https://www.orrick.com/en/Insights/2026/07/EU-AI-Act-Update-Digital-Omnibus-Finalizes-8-Compliance-Changes</a:t>
            </a:r>
          </a:p>
          <a:p>
            <a:pPr algn="l">
              <a:spcAft>
                <a:spcPts val="300"/>
              </a:spcAft>
            </a:pPr>
            <a:r>
              <a:rPr sz="1100" b="1" i="0">
                <a:solidFill>
                  <a:srgbClr val="000048"/>
                </a:solidFill>
                <a:latin typeface="Arial"/>
              </a:rPr>
              <a:t>Azure Architecture Icons (V24):  </a:t>
            </a:r>
            <a:r>
              <a:rPr sz="1100" b="0" i="0">
                <a:solidFill>
                  <a:srgbClr val="2F78C4"/>
                </a:solidFill>
                <a:latin typeface="Arial"/>
                <a:hlinkClick r:id="rId22"/>
              </a:rPr>
              <a:t>https://learn.microsoft.com/en-us/azure/architecture/icons/</a:t>
            </a:r>
          </a:p>
          <a:p>
            <a:pPr algn="l">
              <a:spcAft>
                <a:spcPts val="300"/>
              </a:spcAft>
            </a:pPr>
            <a:r>
              <a:rPr sz="1100" b="1" i="0">
                <a:solidFill>
                  <a:srgbClr val="000048"/>
                </a:solidFill>
                <a:latin typeface="Arial"/>
              </a:rPr>
              <a:t>az-icons.com catalogue of official Azure icons (July 2026 set):  </a:t>
            </a:r>
            <a:r>
              <a:rPr sz="1100" b="0" i="0">
                <a:solidFill>
                  <a:srgbClr val="2F78C4"/>
                </a:solidFill>
                <a:latin typeface="Arial"/>
                <a:hlinkClick r:id="rId23"/>
              </a:rPr>
              <a:t>https://az-icons.com/</a:t>
            </a:r>
          </a:p>
          <a:p>
            <a:pPr algn="l">
              <a:spcAft>
                <a:spcPts val="300"/>
              </a:spcAft>
            </a:pPr>
            <a:r>
              <a:rPr sz="1100" b="1" i="0">
                <a:solidFill>
                  <a:srgbClr val="000048"/>
                </a:solidFill>
                <a:latin typeface="Arial"/>
              </a:rPr>
              <a:t>Azure OpenAI gateway guide:  </a:t>
            </a:r>
            <a:r>
              <a:rPr sz="1100" b="0" i="0">
                <a:solidFill>
                  <a:srgbClr val="2F78C4"/>
                </a:solidFill>
                <a:latin typeface="Arial"/>
                <a:hlinkClick r:id="rId24"/>
              </a:rPr>
              <a:t>https://learn.microsoft.com/en-us/azure/architecture/ai-ml/guide/azure-openai-gateway-guide</a:t>
            </a:r>
          </a:p>
          <a:p>
            <a:pPr algn="l">
              <a:spcAft>
                <a:spcPts val="300"/>
              </a:spcAft>
            </a:pPr>
            <a:r>
              <a:rPr sz="1100" b="1" i="0">
                <a:solidFill>
                  <a:srgbClr val="000048"/>
                </a:solidFill>
                <a:latin typeface="Arial"/>
              </a:rPr>
              <a:t>Gateway custom authentication:  </a:t>
            </a:r>
            <a:r>
              <a:rPr sz="1100" b="0" i="0">
                <a:solidFill>
                  <a:srgbClr val="2F78C4"/>
                </a:solidFill>
                <a:latin typeface="Arial"/>
                <a:hlinkClick r:id="rId25"/>
              </a:rPr>
              <a:t>https://learn.microsoft.com/en-us/azure/architecture/ai-ml/guide/azure-openai-gateway-custom-authentication</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AI Gateway Implementation v3.0</dc:title>
  <dcterms:created xsi:type="dcterms:W3CDTF">2026-10-10T13:56:28.3080000Z</dcterms:created>
  <dcterms:modified xsi:type="dcterms:W3CDTF">2026-10-10T13:56:28.3090000Z</dcterms:modified>
  <dc:subject>Proposed CIS Infra GTM offering for internal leadership review</dc:subject>
</coreProperties>
</file>