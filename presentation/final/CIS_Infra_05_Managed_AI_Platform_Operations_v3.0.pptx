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 xmlns:ns0="http://schemas.openxmlformats.org/officeDocument/2006/relationships" id="300" ns0:id="rId53"/>
    <p:sldId xmlns:ns0="http://schemas.openxmlformats.org/officeDocument/2006/relationships" id="301" ns0:id="rId54"/>
    <p:sldId xmlns:ns0="http://schemas.openxmlformats.org/officeDocument/2006/relationships" id="302" ns0:id="rId55"/>
    <p:sldId xmlns:ns0="http://schemas.openxmlformats.org/officeDocument/2006/relationships" id="303" ns0:id="rId56"/>
    <p:sldId xmlns:ns0="http://schemas.openxmlformats.org/officeDocument/2006/relationships" id="304" ns0:id="rId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Once AI workloads are live, someone has to run them. This is the recurring service that keeps the platform healthy, routes incidents to the right tower, reviews cost monthly and can stop an agent when told to. It is where the portfolio earns recurring revenue.</a:t>
            </a:r>
          </a:p>
          <a:p/>
          <a:p>
            <a:r>
              <a:t>Likely question: Is this just managed Azure?</a:t>
            </a:r>
          </a:p>
          <a:p>
            <a:r>
              <a:t>Answer: It adds AI-specific work: agent inventory, containment drills, model retirements, token cost reviews and Agent 365 operations.</a:t>
            </a:r>
          </a:p>
          <a:p/>
          <a:p>
            <a:r>
              <a:t>DETAIL AND CAVEATS</a:t>
            </a:r>
          </a:p>
          <a:p>
            <a:r>
              <a:t>Opening slide.</a:t>
            </a:r>
          </a:p>
          <a:p/>
          <a:p>
            <a:r>
              <a:t>No baseline deck for this offering was supplied with the original request; it was built new in v2.0 from the brief, the GTM proposal V3 (managed operations section) and verified Microsoft sources. Version 3.0 links staffing to price, adds ITSM and AIOps integration, Agent 365 and Copilot Studio operations, a kill-switch proof of concept and an exit plan.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One operator, three lanes, monthly evidence. The price is now tied to staffing, so leadership can see what each package costs to deliver.</a:t>
            </a:r>
          </a:p>
          <a:p/>
          <a:p>
            <a:r>
              <a:t>Likely question: Can we sell 24x7 now?</a:t>
            </a:r>
          </a:p>
          <a:p>
            <a:r>
              <a:t>Answer: Only with a funded on-call roster and signed tower agreements. That is a decision on this slide.</a:t>
            </a:r>
          </a:p>
          <a:p/>
          <a:p>
            <a:r>
              <a:t>DETAIL AND CAVEATS</a:t>
            </a:r>
          </a:p>
          <a:p>
            <a:r>
              <a:t>Quote recurring platform services separately from build revenue (V3 proposal). Specialist tower support needs an internal agreement or a separate customer work package.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Agents are now a managed estate, stopping one is not instant, and models retire every few months. Each of those is recurring work, which is what a managed service is for.</a:t>
            </a:r>
          </a:p>
          <a:p/>
          <a:p>
            <a:r>
              <a:t>Likely question: Will customers run this themselves?</a:t>
            </a:r>
          </a:p>
          <a:p>
            <a:r>
              <a:t>Answer: Some will. We qualify on whether they have on-call capacity and AI platform skills.</a:t>
            </a:r>
          </a:p>
          <a:p/>
          <a:p>
            <a:r>
              <a:t>DETAIL AND CAVEATS</a:t>
            </a:r>
          </a:p>
          <a:p>
            <a:r>
              <a:t>Drivers are sourced facts. No customer or pipeline is claimed.</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Foundry Models retirement schedule: https://learn.microsoft.com/en-us/azure/foundry/openai/concepts/model-retirement-schedule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other offering hands over to this one. In return it feeds monthly evidence back into the capacity and cost decisions.</a:t>
            </a:r>
          </a:p>
          <a:p/>
          <a:p>
            <a:r>
              <a:t>Likely question: Do we operate Microsoft 365 Copilot?</a:t>
            </a:r>
          </a:p>
          <a:p>
            <a:r>
              <a:t>Answer: No. Our M365 and D365 teams own it. We operate Copilot Studio agents only where they are in the agent catalogue.</a:t>
            </a:r>
          </a:p>
          <a:p/>
          <a:p>
            <a:r>
              <a:t>DETAIL AND CAVEATS</a:t>
            </a:r>
          </a:p>
          <a:p>
            <a:r>
              <a:t>Portfolio of five CIS Infra offerings plus the Microsoft ecosystem around them. Microsoft 365 Copilot is owned by the Cognizant M365 and D365 teams; the split between them and joint-deal leadership are open decisions. Copilot Studio agents are a covered runtime. Agent 365 is configured before any custom build. API Center is the tool registry CIS Infra builds alongside API Management. Master view: deck 00.</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ticket lands in one of three lanes. We own platform availability. The AI tower owns whether an agent gives good answers. Security owns attacks and data exposure. We still execute containment on our components when Security directs it.</a:t>
            </a:r>
          </a:p>
          <a:p/>
          <a:p>
            <a:r>
              <a:t>Likely question: What if a ticket fits two lanes?</a:t>
            </a:r>
          </a:p>
          <a:p>
            <a:r>
              <a:t>Answer: The service desk routes it to the most likely lane and the integrated service owner arbitrates. That rule is in the runbook.</a:t>
            </a:r>
          </a:p>
          <a:p/>
          <a:p>
            <a:r>
              <a:t>DETAIL AND CAVEATS</a:t>
            </a:r>
          </a:p>
          <a:p>
            <a:r>
              <a:t>Separates platform availability, agent task quality and security incident response. CIS Infra is accountable for the platform lane. AI is accountable for agent quality. A contracted security resolver is accountable for security incidents. CIS Infra executes containment on its allocated components when directed.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Left are the signals: Azure Monitor, Service Health, Application Insights with agent traces, logs and budgets. Alert rules with named owners send them to one service desk, which routes to the right resolver lane. Containment is a separate plane, covered in the appendix.</a:t>
            </a:r>
          </a:p>
          <a:p/>
          <a:p>
            <a:r>
              <a:t>Likely question: Which service desk tools do we support?</a:t>
            </a:r>
          </a:p>
          <a:p>
            <a:r>
              <a:t>Answer: Azure Monitor sends alerts to ServiceNow ITOM and BMC Helix through a secure webhook. Others use generic webhooks or Logic Apps. We confirm per customer.</a:t>
            </a:r>
          </a:p>
          <a:p/>
          <a:p>
            <a:r>
              <a:t>DETAIL AND CAVEATS</a:t>
            </a:r>
          </a:p>
          <a:p>
            <a:r>
              <a:t>Improved executive operations architecture (replaces the original architecture slides 5, 7 and 13, which were not supplied). Signals: Azure Monitor and Service Health for platform health, Application Insights and Foundry traces for agents, Log Analytics for logs, cost budgets for spend. Alert rules and action groups route to the customer service desk (ITSM tool, conceptual, not an Azure service) which assigns the lane resolver. The containment control plane (appendix K1) is invoked by authorised operators. A workbook provides monthly reporting.</a:t>
            </a:r>
          </a:p>
          <a:p/>
          <a:p>
            <a:r>
              <a:t>Sources (checked 11 Oct 2026):</a:t>
            </a:r>
          </a:p>
          <a:p>
            <a:r>
              <a:t>Foundry Control Plane: manage agents: https://learn.microsoft.com/en-us/azure/foundry/control-plane/how-to-manage-agents</a:t>
            </a:r>
          </a:p>
          <a:p>
            <a:r>
              <a:t>IT Service Management integration (Azure Monitor): https://learn.microsoft.com/en-us/azure/azure-monitor/alerts/itsmc-overview</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Price now follows staffing. Foundation is one and a half to three people, Extended three to five, Continuous six to ten because a 24 by 7 seat needs about five people. Onboarding and exit are one-time packages, so the customer knows the way out on day one.</a:t>
            </a:r>
          </a:p>
          <a:p/>
          <a:p>
            <a:r>
              <a:t>Likely question: Why is Continuous so much more?</a:t>
            </a:r>
          </a:p>
          <a:p>
            <a:r>
              <a:t>Answer: A single always-staffed seat needs roughly 8,760 hours a year, about five people. That cost is real before any tickets arrive.</a:t>
            </a:r>
          </a:p>
          <a:p/>
          <a:p>
            <a:r>
              <a:t>DETAIL AND CAVEATS</a:t>
            </a:r>
          </a:p>
          <a:p>
            <a:r>
              <a:t>Role days per month assume about 20 productive days per FTE. Staffing is a planning estimate, not a commitment; validate with delivery leadership. Continuous coverage is offered only with a funded on-call roster and agreed specialist escalation. Pricing formula in appendix A16; staffing detail in A13 and A20.</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are response targets for discussion, not a contract. A P1, such as a platform outage or a containment request, gets a response in 30 minutes inside coverage hours. We do not propose restore times until dependencies are tested.</a:t>
            </a:r>
          </a:p>
          <a:p/>
          <a:p>
            <a:r>
              <a:t>Likely question: Why no availability SLA?</a:t>
            </a:r>
          </a:p>
          <a:p>
            <a:r>
              <a:t>Answer: The platform depends on Azure services we do not control. We report availability for contracted components where meaningful.</a:t>
            </a:r>
          </a:p>
          <a:p/>
          <a:p>
            <a:r>
              <a:t>DETAIL AND CAVEATS</a:t>
            </a:r>
          </a:p>
          <a:p>
            <a:r>
              <a:t>Response targets are PROPOSED until approved by delivery leadership, Finance and the customer, and validated against staffing. They apply only inside the package coverage hours and only to contracted components. Restore targets are not proposed because they depend on dependency-specific testing and Microsoft service health.</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Managed services fail at the seams between towers. The fix is signed internal agreements and a hard onboarding gate before we accept anything.</a:t>
            </a:r>
          </a:p>
          <a:p/>
          <a:p>
            <a:r>
              <a:t>DETAIL AND CAVEATS</a:t>
            </a:r>
          </a:p>
          <a:p>
            <a:r>
              <a:t>Top dependencies and risks. Alert noise is managed through alert ownership (appendix A5).</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are response targets for discussion, not a contract. A P1, such as a platform outage or a containment request, gets a response in 30 minutes inside coverage hours. We do not propose restore times until dependencies are tested.</a:t>
            </a:r>
          </a:p>
          <a:p/>
          <a:p>
            <a:r>
              <a:t>Likely question: Why no availability SLA?</a:t>
            </a:r>
          </a:p>
          <a:p>
            <a:r>
              <a:t>Answer: The platform depends on Azure services we do not control. We report availability for contracted components where meaningful.</a:t>
            </a:r>
          </a:p>
          <a:p/>
          <a:p>
            <a:r>
              <a:t>DETAIL AND CAVEATS</a:t>
            </a:r>
          </a:p>
          <a:p>
            <a:r>
              <a:t>Response targets are PROPOSED until approved by delivery leadership, Finance and the customer, and validated against staffing. They apply only inside the package coverage hours and only to contracted components. Restore targets are not proposed because they depend on dependency-specific testing and Microsoft service health.</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DETAIL AND CAVEATS</a:t>
            </a:r>
          </a:p>
          <a:p>
            <a:r>
              <a:t>Appendix divider. Use the index to navigate.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"Service onboarding and readiness gates". A platform enters managed operations only after these gates. Gaps become a remediation plan priced separately.</a:t>
            </a:r>
          </a:p>
          <a:p/>
          <a:p>
            <a:r>
              <a:t>DETAIL AND CAVEATS</a:t>
            </a:r>
          </a:p>
          <a:p>
            <a:r>
              <a:t>A platform enters managed operations only after these gates. Gaps become a remediation plan priced separately.</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"Managed asset and agent inventory". Managed scope is defined by an inventory, not by a description. Agent inventory uses the catalogue from offering 02, with the same coverage limits.</a:t>
            </a:r>
          </a:p>
          <a:p/>
          <a:p>
            <a:r>
              <a:t>DETAIL AND CAVEATS</a:t>
            </a:r>
          </a:p>
          <a:p>
            <a:r>
              <a:t>Managed scope is defined by an inventory, not by a description. Agent inventory uses the catalogue from offering 02, with the same coverage limits.</a:t>
            </a:r>
          </a:p>
          <a:p/>
          <a:p>
            <a:r>
              <a:t>Sources (checked 11 Oct 2026):</a:t>
            </a:r>
          </a:p>
          <a:p>
            <a:r>
              <a:t>Foundry Control Plane: manage agents: https://learn.microsoft.com/en-us/azure/foundry/control-plane/how-to-manage-agents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"Platform health and dependency monitoring". Detailed monitoring architecture. Each monitored dependency maps to an alert rule with an owner. Dependency map derived from the Foundry baseline network flows (appendix O1).</a:t>
            </a:r>
          </a:p>
          <a:p/>
          <a:p>
            <a:r>
              <a:t>DETAIL AND CAVEATS</a:t>
            </a:r>
          </a:p>
          <a:p>
            <a:r>
              <a:t>Detailed monitoring architecture. Each monitored dependency maps to an alert rule with an owner. Dependency map derived from the Foundry baseline network flows (appendix O1). Service Health covers Azure-side incidents and planned maintenance. Application Insights availability tests check the user path end to end.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"Foundry observability and agent traces". Verified (Foundry Control Plane, updated 2026-07-15): Foundry Control Plane uses the Application Insights resources that host agents to show runs, error rates, token usage and estimated cost; metrics and traces are collected only for runs after configuration; allow up to 15 minutes for propagation; Logic Apps agent loops have no traces or metrics; custom agents need extra configuration.</a:t>
            </a:r>
          </a:p>
          <a:p/>
          <a:p>
            <a:r>
              <a:t>DETAIL AND CAVEATS</a:t>
            </a:r>
          </a:p>
          <a:p>
            <a:r>
              <a:t>Verified (Foundry Control Plane, updated 2026-07-15): Foundry Control Plane uses the Application Insights resources that host agents to show runs, error rates, token usage and estimated cost; metrics and traces are collected only for runs after configuration; allow up to 15 minutes for propagation; Logic Apps agent loops have no traces or metrics; custom agents need extra configuration.</a:t>
            </a:r>
          </a:p>
          <a:p/>
          <a:p>
            <a:r>
              <a:t>Sources (checked 11 Oct 2026):</a:t>
            </a:r>
          </a:p>
          <a:p>
            <a:r>
              <a:t>Foundry Control Plane: manage agents: https://learn.microsoft.com/en-us/azure/foundry/control-plane/how-to-manage-agents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"Alert ownership and service desk integration". Resolver routing from the V3 proposal managed operations table. A single customer incident entry point routes internally. Unexpected spend: CIS Infra coordinates; AI explains calls and tokens; towers fix attributable causes.</a:t>
            </a:r>
          </a:p>
          <a:p/>
          <a:p>
            <a:r>
              <a:t>DETAIL AND CAVEATS</a:t>
            </a:r>
          </a:p>
          <a:p>
            <a:r>
              <a:t>Resolver routing from the V3 proposal managed operations table. A single customer incident entry point routes internally. Unexpected spend: CIS Infra coordinates; AI explains calls and tokens; towers fix attributable causes.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"Incident, problem and change management". Processes follow the customer ITSM framework; CIS Infra operates within it. Containment is a P1 incident type with its own runbook (appendix A8 and K).</a:t>
            </a:r>
          </a:p>
          <a:p/>
          <a:p>
            <a:r>
              <a:t>DETAIL AND CAVEATS</a:t>
            </a:r>
          </a:p>
          <a:p>
            <a:r>
              <a:t>Processes follow the customer ITSM framework; CIS Infra operates within it. Containment is a P1 incident type with its own runbook (appendix A8 and 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"Lane boundaries in detail". Detailed lane boundaries. Measures are separate: platform availability is measured where meaningful; agent quality and data freshness are separately owned measures; security incident handling follows the contracted security service.</a:t>
            </a:r>
          </a:p>
          <a:p/>
          <a:p>
            <a:r>
              <a:t>DETAIL AND CAVEATS</a:t>
            </a:r>
          </a:p>
          <a:p>
            <a:r>
              <a:t>Detailed lane boundaries. Measures are separate: platform availability is measured where meaningful; agent quality and data freshness are separately owned measures; security incident handling follows the contracted security service.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this left to right. Requests pass through four enforcement points: block new requests at the gateway, stop running work in the runtime, deny model and tool calls on the way out, and block the agent identity. The purple box underneath is a separate, locked-down control plane that an authorised person or an alert can trigger.</a:t>
            </a:r>
          </a:p>
          <a:p/>
          <a:p>
            <a:r>
              <a:t>Likely question: Is this a Microsoft product?</a:t>
            </a:r>
          </a:p>
          <a:p>
            <a:r>
              <a:t>Answer: No. It is our proposed design built from Azure services. Microsoft provides pieces such as Foundry Stop and Agent 365, but no single universal stop button.</a:t>
            </a:r>
          </a:p>
          <a:p/>
          <a:p>
            <a:r>
              <a:t>DETAIL AND CAVEATS</a:t>
            </a:r>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Version 3.0 additions: enforcement point 4 is the identity layer. Entra Conditional Access for agents can block agent sign-ins; it requires Agent 365 licensing (per third-party tracker of Microsoft docs, verify) and token revocation can lag,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AI gateway capabilities in API Management: https://learn.microsoft.com/en-us/azure/api-management/genai-gateway-capabilities</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Stopping an agent is three different jobs: stop new work, stop work in progress, and stop it from doing anything else. Each uses a different mechanism and each has a gap the others cover.</a:t>
            </a:r>
          </a:p>
          <a:p/>
          <a:p>
            <a:r>
              <a:t>Likely question: Why not just revoke its credentials?</a:t>
            </a:r>
          </a:p>
          <a:p>
            <a:r>
              <a:t>Answer: Revocation can take time to propagate and does not end work already running, so it is one layer, not the answer.</a:t>
            </a:r>
          </a:p>
          <a:p/>
          <a:p>
            <a:r>
              <a:t>DETAIL AND CAVEATS</a:t>
            </a:r>
          </a:p>
          <a:p>
            <a:r>
              <a:t>Blocking new requests, stopping work already running and preventing further actions are different controls with different Azure mechanisms and different limits. A runbook must exercise all three.</a:t>
            </a:r>
          </a:p>
          <a:p/>
          <a:p>
            <a:r>
              <a:t>Sources (checked 11 Oct 2026):</a:t>
            </a:r>
          </a:p>
          <a:p>
            <a:r>
              <a:t>Foundry Control Plane: manage agents: https://learn.microsoft.com/en-us/azure/foundry/control-plane/how-to-manage-agents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Be candid about these limits; it builds trust with security buyers. The first row is verified Microsoft behaviour: stopping a Foundry agent does not end runs already in progress.</a:t>
            </a:r>
          </a:p>
          <a:p/>
          <a:p>
            <a:r>
              <a:t>Likely question: So can we guarantee a stop within a time?</a:t>
            </a:r>
          </a:p>
          <a:p>
            <a:r>
              <a:t>Answer: Only after the proof of concept measures it, and only for the runtimes tested.</a:t>
            </a:r>
          </a:p>
          <a:p/>
          <a:p>
            <a:r>
              <a:t>DETAIL AND CAVEATS</a:t>
            </a:r>
          </a:p>
          <a:p>
            <a:r>
              <a:t>Platform behaviour verified against Microsoft Learn on 11 Oct 2026. Design limits are engineering constraints that apply to any custom implementation.</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are the tests that must pass before anyone calls this production ready, starting with the bypass test.</a:t>
            </a:r>
          </a:p>
          <a:p/>
          <a:p>
            <a:r>
              <a:t>Likely question: Who signs these off?</a:t>
            </a:r>
          </a:p>
          <a:p>
            <a:r>
              <a:t>Answer: The customer security owner, with evidence from CIS Infra, AI and Security.</a:t>
            </a:r>
          </a:p>
          <a:p/>
          <a:p>
            <a:r>
              <a:t>DETAIL AND CAVEATS</a:t>
            </a:r>
          </a:p>
          <a:p>
            <a:r>
              <a:t>Run with synthetic agents in a non-production environment first, then as a scheduled production drill with business approval. Record timestamps at each step to measure actual stop time; set any target only after measurement.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do not sell a kill switch on paper. A four to six week proof of concept with synthetic agents measures how fast each layer actually stops work, and that number becomes the target.</a:t>
            </a:r>
          </a:p>
          <a:p/>
          <a:p>
            <a:r>
              <a:t>Likely question: What if the stop time is slow?</a:t>
            </a:r>
          </a:p>
          <a:p>
            <a:r>
              <a:t>Answer: Then we tighten checkpoints, shorten cache times or narrow the fail-closed scope, and we tell the customer the real number.</a:t>
            </a:r>
          </a:p>
          <a:p/>
          <a:p>
            <a:r>
              <a:t>DETAIL AND CAVEATS</a:t>
            </a:r>
          </a:p>
          <a:p>
            <a:r>
              <a:t>The containment design is unproven until this proof of concept runs. Scope: two runtimes (Foundry Agent Service and one customer-hosted runtime on Container Apps), synthetic agents with a tool that writes to a test system, API Management ingress and outbound policies, the orchestrator and registry, Entra Conditional Access for agents where licensed. Effort estimate 25 to 45 role days across CIS Infra, AI and Security; elapsed 4 to 6 weeks. Evidence pack: timestamps per step, measured worst-case stop time per runtime, bypass test results, failure-mode results, restart approval record.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"Controlled recovery after containment". Recovery is never automatic when an alert clears. The state version is advanced on release so stale approvals are rejected.</a:t>
            </a:r>
          </a:p>
          <a:p/>
          <a:p>
            <a:r>
              <a:t>DETAIL AND CAVEATS</a:t>
            </a:r>
          </a:p>
          <a:p>
            <a:r>
              <a:t>Recovery is never automatic when an alert clears. The state version is advanced on release so stale approvals are rejected.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"Capacity, quota and cost review". Monthly review inputs come from the FinOps telemetry (offering 04). Quota does not guarantee capacity; scaling down releases capacity with no guarantee of return.</a:t>
            </a:r>
          </a:p>
          <a:p/>
          <a:p>
            <a:r>
              <a:t>DETAIL AND CAVEATS</a:t>
            </a:r>
          </a:p>
          <a:p>
            <a:r>
              <a:t>Monthly review inputs come from the FinOps telemetry (offering 04). Quota does not guarantee capacity; scaling down releases capacity with no guarantee of return.</a:t>
            </a:r>
          </a:p>
          <a:p/>
          <a:p>
            <a:r>
              <a:t>Sources (checked 11 Oct 2026):</a:t>
            </a:r>
          </a:p>
          <a:p>
            <a:r>
              <a:t>Provisioned throughput concepts: https://learn.microsoft.com/en-us/azure/foundry/openai/concepts/provisioned-throughput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"Dormant-agent review and retirement". Uses the offering 02 classification. No automatic deletion; owner confirmation required; orphaned agents go to the service owner.</a:t>
            </a:r>
          </a:p>
          <a:p/>
          <a:p>
            <a:r>
              <a:t>DETAIL AND CAVEATS</a:t>
            </a:r>
          </a:p>
          <a:p>
            <a:r>
              <a:t>Uses the offering 02 classification. No automatic deletion; owner confirmation required; orphaned agents go to the service owner.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"Backup and recovery responsibilities". Recovery responsibility per component. Single-region restoration is not regional disaster recovery. RTO and RPO require dependency-specific testing.</a:t>
            </a:r>
          </a:p>
          <a:p/>
          <a:p>
            <a:r>
              <a:t>DETAIL AND CAVEATS</a:t>
            </a:r>
          </a:p>
          <a:p>
            <a:r>
              <a:t>Recovery responsibility per component. Single-region restoration is not regional disaster recovery. RTO and RPO require dependency-specific testing.</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"Runbooks, escalation and tower agreements". Internal support agreement fields from the V3 proposal: lead and backup, hours, response and restore expectations, escalation, access, warranty, maintenance releases, enhancement limits and charging. Align internal targets to customer obligations.</a:t>
            </a:r>
          </a:p>
          <a:p/>
          <a:p>
            <a:r>
              <a:t>DETAIL AND CAVEATS</a:t>
            </a:r>
          </a:p>
          <a:p>
            <a:r>
              <a:t>Internal support agreement fields from the V3 proposal: lead and backup, hours, response and restore expectations, escalation, access, warranty, maintenance releases, enhancement limits and charging. Align internal targets to customer obligations.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"Service hours, on-call and effort allowances". Planning assumption, not a staffing commitment: one continuously staffed seat needs roughly 8,760 hours a year divided by about 1,700 productive hours per person, so about 5 people per seat before skills mix and leave. Validate with delivery leadership and local labour rules.</a:t>
            </a:r>
          </a:p>
          <a:p/>
          <a:p>
            <a:r>
              <a:t>DETAIL AND CAVEATS</a:t>
            </a:r>
          </a:p>
          <a:p>
            <a:r>
              <a:t>Planning assumption, not a staffing commitment: one continuously staffed seat needs roughly 8,760 hours a year divided by about 1,700 productive hours per person, so about 5 people per seat before skills mix and leave. Validate with delivery leadership and local labour rules.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"Proposed service objectives and reporting". Proposed objectives remain proposals until approved and validated against staffing and dependencies. Report monthly.</a:t>
            </a:r>
          </a:p>
          <a:p/>
          <a:p>
            <a:r>
              <a:t>DETAIL AND CAVEATS</a:t>
            </a:r>
          </a:p>
          <a:p>
            <a:r>
              <a:t>Proposed objectives remain proposals until approved and validated against staffing and dependencies. Report monthly.</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"Monthly governance and optimisation". Monthly governance agenda. Outputs feed the capacity and FinOps assessment (offering 04) and change backlog.</a:t>
            </a:r>
          </a:p>
          <a:p/>
          <a:p>
            <a:r>
              <a:t>DETAIL AND CAVEATS</a:t>
            </a:r>
          </a:p>
          <a:p>
            <a:r>
              <a:t>Monthly governance agenda. Outputs feed the capacity and FinOps assessment (offering 04) and change backlog.</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"Pricing logic for the recurring service". Recurring fee formula. No approved rates exist; each term names its missing input and owner. Specialist tower support is either inside the fee through internal agreements or a separate work package.</a:t>
            </a:r>
          </a:p>
          <a:p/>
          <a:p>
            <a:r>
              <a:t>DETAIL AND CAVEATS</a:t>
            </a:r>
          </a:p>
          <a:p>
            <a:r>
              <a:t>Recurring fee formula. No approved rates exist; each term names its missing input and owner. Specialist tower support is either inside the fee through internal agreements or a separate work package. Azure consumption is outside the fee unless a resale agreement says otherwise.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Alerts must land in the customer service desk, not in our inbox. For ServiceNow and BMC, Azure Monitor has a secure webhook path. The older ServiceNow connector is being retired, so we do not design new work on it.</a:t>
            </a:r>
          </a:p>
          <a:p/>
          <a:p>
            <a:r>
              <a:t>Likely question: Do we sell an AIOps tool?</a:t>
            </a:r>
          </a:p>
          <a:p>
            <a:r>
              <a:t>Answer: No. We use native correlation and automation, and integrate with the customer tool if they have one.</a:t>
            </a:r>
          </a:p>
          <a:p/>
          <a:p>
            <a:r>
              <a:t>DETAIL AND CAVEATS</a:t>
            </a:r>
          </a:p>
          <a:p>
            <a:r>
              <a:t>Azure Monitor IT Service Management integration (page updated 16 Oct 2025): Secure Webhook action groups with Secure Export support ServiceNow ITOM and BMC Helix. Using ITSM actions to send alerts to ServiceNow has been in a three-year deprecation since September 2022 and new connectors cannot be created in the portal since October 2023. Other tools: generic webhook or Logic Apps. AIOps here means alert correlation, noise reduction and runbook automation using native features (alert processing rules, dynamic thresholds, Azure Automation or Logic Apps); any third-party AIOps tooling is the customer choice.</a:t>
            </a:r>
          </a:p>
          <a:p/>
          <a:p>
            <a:r>
              <a:t>Sources (checked 11 Oct 2026):</a:t>
            </a:r>
          </a:p>
          <a:p>
            <a:r>
              <a:t>IT Service Management integration (Azure Monitor): https://learn.microsoft.com/en-us/azure/azure-monitor/alerts/itsmc-overview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are the recurring tasks for agent platforms. We keep the registry and catalogue current, run reviews and drills, and support Copilot Studio agents through the gateway. The Power Platform team keeps Copilot Studio administration, and Microsoft 365 Copilot stays with our M365 and D365 teams.</a:t>
            </a:r>
          </a:p>
          <a:p/>
          <a:p>
            <a:r>
              <a:t>Likely question: Is this included in Foundation?</a:t>
            </a:r>
          </a:p>
          <a:p>
            <a:r>
              <a:t>Answer: Registry and catalogue upkeep yes; drills and Copilot Studio connector work scale with the number of agents.</a:t>
            </a:r>
          </a:p>
          <a:p/>
          <a:p>
            <a:r>
              <a:t>DETAIL AND CAVEATS</a:t>
            </a:r>
          </a:p>
          <a:p>
            <a:r>
              <a:t>Service catalogue items for agent platforms. Agent 365 is GA (1 May 2026) with registry, policies and Entra agent identities; lifecycle actions announced as coming. Copilot Studio environment administration and DLP policies remain with the customer Power Platform team; CIS Infra operates the catalogue, gateway connectors, telemetry and containment for Copilot Studio agents that are in scope. Microsoft 365 Copilot is owned by the Cognizant M365 and D365 teams and is outside this service.</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Entra Agent ID change tracker (third party, entradiff.merill.net): https://entradiff.merill.net/products/agent-id/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Procurement always asks how they leave. Everything we build lives in the customer tenant and repositories, and the exit package is priced up front.</a:t>
            </a:r>
          </a:p>
          <a:p/>
          <a:p>
            <a:r>
              <a:t>Likely question: Do we keep any IP?</a:t>
            </a:r>
          </a:p>
          <a:p>
            <a:r>
              <a:t>Answer: Our internal accelerators and methods, yes, as agreed in the contract. Customer configuration and data stay with the customer.</a:t>
            </a:r>
          </a:p>
          <a:p/>
          <a:p>
            <a:r>
              <a:t>DETAIL AND CAVEATS</a:t>
            </a:r>
          </a:p>
          <a:p>
            <a:r>
              <a:t>Exit plan agreed at contract start and refreshed yearly. One-time exit package of 15 to 30 role days over 4 to 6 weeks (estimate). All runbooks, infrastructure as code, alert rules, dashboards and catalogue data remain customer property in customer tenants and repositories.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shows what sits behind each fee band, so Finance can test the margin. Continuous is mainly the cost of an always-staffed seat.</a:t>
            </a:r>
          </a:p>
          <a:p/>
          <a:p>
            <a:r>
              <a:t>Likely question: Can offshore delivery lower it?</a:t>
            </a:r>
          </a:p>
          <a:p>
            <a:r>
              <a:t>Answer: Yes, location mix changes the rate, not the role days. Finance sets the rates.</a:t>
            </a:r>
          </a:p>
          <a:p/>
          <a:p>
            <a:r>
              <a:t>DETAIL AND CAVEATS</a:t>
            </a:r>
          </a:p>
          <a:p>
            <a:r>
              <a:t>Planning estimates. About 20 productive role days per FTE per month. One continuously staffed seat is about 8,760 hours a year divided by about 1,700 productive hours per person, about 5 people. Role mix is indicative; validate with delivery leadership.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12 or more with no zero on funding, authority or sponsor;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(2025 edition; confirm the current version before customer use). CIS Infra implements platform controls; Security owns threat modelling, policy and security operations.</a:t>
            </a:r>
          </a:p>
          <a:p/>
          <a:p>
            <a:r>
              <a:t>Sources (checked 11 Oct 2026):</a:t>
            </a:r>
          </a:p>
          <a:p>
            <a:r>
              <a:t>OWASP Top 10 for LLM Applications: https://genai.owasp.org/llm-top-10/</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Security tools are owned by the Security tower; we wire in their telemetry. On regulation, the EU AI Act high-risk deadlines moved to December 2027 and August 2028, which gives customers time but not an excuse.</a:t>
            </a:r>
          </a:p>
          <a:p/>
          <a:p>
            <a:r>
              <a:t>Likely question: Does the EU AI Act apply to our customers?</a:t>
            </a:r>
          </a:p>
          <a:p>
            <a:r>
              <a:t>Answer: It depends on the use case and role. We flag the checkpoint; the customer takes legal advice and decides.</a:t>
            </a:r>
          </a:p>
          <a:p/>
          <a:p>
            <a:r>
              <a:t>DETAIL AND CAVEATS</a:t>
            </a:r>
          </a:p>
          <a:p>
            <a:r>
              <a:t>Microsoft security services positioned with owners, plus regulatory checkpoints for EU, UK and Middle East pursuits. EU AI Act dates come from a law-firm summary of the Digital Omnibus amendments, Regulation (EU) 2026/1744; Annex III high-risk obligations now apply from 2 Dec 2027 and Annex I from 2 Aug 2028. UK: no single AI statute; principles-based regulator guidance (verify current position). UAE Federal Decree-Law 45 of 2021 and Saudi PDPL govern personal data (verify current executive regulations). ISO/IEC 42001 is an optional AI management system standard. Cognizant does not give legal advice; customers take legal advice.</a:t>
            </a:r>
          </a:p>
          <a:p/>
          <a:p>
            <a:r>
              <a:t>Sources (checked 11 Oct 2026):</a:t>
            </a:r>
          </a:p>
          <a:p>
            <a:r>
              <a:t>AI threat protection in Microsoft Defender for Cloud: https://learn.microsoft.com/en-us/azure/defender-for-cloud/ai-threat-protection</a:t>
            </a:r>
          </a:p>
          <a:p>
            <a:r>
              <a:t>Microsoft Purview data security and compliance for AI: https://learn.microsoft.com/en-us/purview/ai-microsoft-purview</a:t>
            </a:r>
          </a:p>
          <a:p>
            <a:r>
              <a:t>Entra Agent ID change tracker (third party, entradiff.merill.net): https://entradiff.merill.net/products/agent-id/</a:t>
            </a:r>
          </a:p>
          <a:p>
            <a:r>
              <a:t>EU AI Act Update: Digital Omnibus finalises compliance changes (Orrick, 29 Jul 2026): https://www.orrick.com/en/Insights/2026/07/EU-AI-Act-Update-Digital-Omnibus-Finalizes-8-Compliance-Changes</a:t>
            </a:r>
          </a:p>
          <a:p>
            <a:r>
              <a:t>ISO/IEC 42001 AI management systems: https://www.iso.org/standard/81230.html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Six cost layers, priced and owned separately. Only the first three are Cognizant services revenue; the other three are the customer's Azure, model and GPU spend.</a:t>
            </a:r>
          </a:p>
          <a:p/>
          <a:p>
            <a:r>
              <a:t>Likely question: Do we resell Azure?</a:t>
            </a:r>
          </a:p>
          <a:p>
            <a:r>
              <a:t>Answer: Only if a resale agreement says so. Otherwise Azure spend is the customer's and is not CIS Infra revenue.</a:t>
            </a:r>
          </a:p>
          <a:p/>
          <a:p>
            <a:r>
              <a:t>DETAIL AND CAVEATS</a:t>
            </a:r>
          </a:p>
          <a:p>
            <a:r>
              <a:t>Separates Cognizant services revenue from customer-paid Azure consumption. Where internal sell rates or enterprise Azure rates are unavailable, the formula and the missing input owner are shown instead of a number. </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activity has exactly one accountable role, shown in dark blue. The integrated service owner is the named Cognizant lead for the end-to-end outcome; the customer is accountable for acceptance.</a:t>
            </a:r>
          </a:p>
          <a:p/>
          <a:p>
            <a:r>
              <a:t>Likely question: Is this agreed with the towers?</a:t>
            </a:r>
          </a:p>
          <a:p>
            <a:r>
              <a:t>Answer: Not yet. It is a proposal to validate in the 30-day exercise.</a:t>
            </a:r>
          </a:p>
          <a:p/>
          <a:p>
            <a:r>
              <a:t>DETAIL AND CAVEATS</a:t>
            </a:r>
          </a:p>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Security incidents: Security is shown accountable as the contracted security resolver; if the customer or a third party provides security operations, that party is accountable instead.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Revenue follows priced work packages and the tower that delivers them. We keep sales credit, booked revenue, delivery cost and margin as four separate views so nothing is double counted.</a:t>
            </a:r>
          </a:p>
          <a:p/>
          <a:p>
            <a:r>
              <a:t>Likely question: Why no fixed percentage split?</a:t>
            </a:r>
          </a:p>
          <a:p>
            <a:r>
              <a:t>Answer: Fixed splits drift from reality as scope changes. Work-package attribution stays tied to who actually delivers, and Finance approves the rules.</a:t>
            </a:r>
          </a:p>
          <a:p/>
          <a:p>
            <a:r>
              <a:t>DETAIL AND CAVEATS</a:t>
            </a:r>
          </a:p>
          <a:p>
            <a:r>
              <a:t>Framework for Finance approval. No fixed tower percentages are proposed. Attribution follows priced work packages and the tower that delivers and carries the cost. Sales credit, booked revenue, delivery cost and margin ownership are separate views and must not be double counted. Azure consumption resold or passed through is recorded separately from services revenue. The worked example uses round hypothetical numbers only to show the mechanics; it is not a quote, rate or split.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qualification and statement-of-work checklist. If any of these twelve items is blank, the deal is not ready to price.</a:t>
            </a:r>
          </a:p>
          <a:p/>
          <a:p>
            <a:r>
              <a:t>DETAIL AND CAVEATS</a:t>
            </a:r>
          </a:p>
          <a:p>
            <a:r>
              <a:t>Readiness criteria for this offering. Timelines and staffing are estimates only and require named tower commitments. Use this as the qualification and SOW checklist.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https://github.com/upendra25312/AI-Foundry-GTM-offering-/blob/main/architectures/08_baseline-microsoft-foundry-network-flow.png</a:t>
            </a:r>
          </a:p>
          <a:p>
            <a:r>
              <a:t>Editable Visio: https://github.com/upendra25312/AI-Foundry-GTM-offering-/blob/main/architectures/03_baseline-microsoft-foundry.vsdx</a:t>
            </a:r>
          </a:p>
          <a:p>
            <a:r>
              <a:t>Microsoft source: https://learn.microsoft.com/en-us/azure/architecture/ai-ml/architecture/baseline-microsoft-foundry-chat</a:t>
            </a:r>
          </a:p>
          <a:p/>
          <a:p>
            <a:r>
              <a:t>Use to derive the monitored dependency map (A3). Source labels the model "Azure OpenAI model".</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Recheck prices and regions before any customer quote.</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 Id="rId36" Type="http://schemas.openxmlformats.org/officeDocument/2006/relationships/slide" Target="slide45.xml"/><Relationship Id="rId37" Type="http://schemas.openxmlformats.org/officeDocument/2006/relationships/slide" Target="slide46.xml"/><Relationship Id="rId38" Type="http://schemas.openxmlformats.org/officeDocument/2006/relationships/slide" Target="slide47.xml"/><Relationship Id="rId39" Type="http://schemas.openxmlformats.org/officeDocument/2006/relationships/slide" Target="slide48.xml"/><Relationship Id="rId40" Type="http://schemas.openxmlformats.org/officeDocument/2006/relationships/slide" Target="slide4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25.png"/><Relationship Id="rId5" Type="http://schemas.openxmlformats.org/officeDocument/2006/relationships/image" Target="../media/image28.svg"/><Relationship Id="rId6" Type="http://schemas.openxmlformats.org/officeDocument/2006/relationships/image" Target="../media/image27.png"/><Relationship Id="rId7" Type="http://schemas.openxmlformats.org/officeDocument/2006/relationships/image" Target="../media/image30.svg"/><Relationship Id="rId8" Type="http://schemas.openxmlformats.org/officeDocument/2006/relationships/image" Target="../media/image29.png"/><Relationship Id="rId9" Type="http://schemas.openxmlformats.org/officeDocument/2006/relationships/image" Target="../media/image32.svg"/><Relationship Id="rId10" Type="http://schemas.openxmlformats.org/officeDocument/2006/relationships/image" Target="../media/image31.png"/><Relationship Id="rId11" Type="http://schemas.openxmlformats.org/officeDocument/2006/relationships/image" Target="../media/image34.svg"/><Relationship Id="rId12" Type="http://schemas.openxmlformats.org/officeDocument/2006/relationships/image" Target="../media/image33.png"/><Relationship Id="rId13" Type="http://schemas.openxmlformats.org/officeDocument/2006/relationships/image" Target="../media/image36.svg"/><Relationship Id="rId14" Type="http://schemas.openxmlformats.org/officeDocument/2006/relationships/image" Target="../media/image35.png"/><Relationship Id="rId15" Type="http://schemas.openxmlformats.org/officeDocument/2006/relationships/image" Target="../media/image38.svg"/><Relationship Id="rId16" Type="http://schemas.openxmlformats.org/officeDocument/2006/relationships/image" Target="../media/image37.png"/><Relationship Id="rId17" Type="http://schemas.openxmlformats.org/officeDocument/2006/relationships/image" Target="../media/image40.svg"/><Relationship Id="rId18" Type="http://schemas.openxmlformats.org/officeDocument/2006/relationships/image" Target="../media/image39.png"/><Relationship Id="rId19" Type="http://schemas.openxmlformats.org/officeDocument/2006/relationships/image" Target="../media/image42.svg"/><Relationship Id="rId20" Type="http://schemas.openxmlformats.org/officeDocument/2006/relationships/image" Target="../media/image41.png"/><Relationship Id="rId21" Type="http://schemas.openxmlformats.org/officeDocument/2006/relationships/image" Target="../media/image44.svg"/><Relationship Id="rId22" Type="http://schemas.openxmlformats.org/officeDocument/2006/relationships/image" Target="../media/image43.png"/><Relationship Id="rId23" Type="http://schemas.openxmlformats.org/officeDocument/2006/relationships/image" Target="../media/image46.svg"/><Relationship Id="rId24" Type="http://schemas.openxmlformats.org/officeDocument/2006/relationships/image" Target="../media/image45.png"/><Relationship Id="rId25" Type="http://schemas.openxmlformats.org/officeDocument/2006/relationships/image" Target="../media/image48.svg"/><Relationship Id="rId26" Type="http://schemas.openxmlformats.org/officeDocument/2006/relationships/image" Target="../media/image11.png"/><Relationship Id="rId27" Type="http://schemas.openxmlformats.org/officeDocument/2006/relationships/image" Target="../media/image14.svg"/><Relationship Id="rId28" Type="http://schemas.openxmlformats.org/officeDocument/2006/relationships/image" Target="../media/image13.png"/><Relationship Id="rId29" Type="http://schemas.openxmlformats.org/officeDocument/2006/relationships/image" Target="../media/image16.svg"/><Relationship Id="rId30" Type="http://schemas.openxmlformats.org/officeDocument/2006/relationships/image" Target="../media/image15.png"/><Relationship Id="rId31" Type="http://schemas.openxmlformats.org/officeDocument/2006/relationships/image" Target="../media/image18.svg"/><Relationship Id="rId32"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image" Target="../media/image47.png"/><Relationship Id="rId5" Type="http://schemas.openxmlformats.org/officeDocument/2006/relationships/image" Target="../media/image50.svg"/><Relationship Id="rId6" Type="http://schemas.openxmlformats.org/officeDocument/2006/relationships/image" Target="../media/image27.png"/><Relationship Id="rId7" Type="http://schemas.openxmlformats.org/officeDocument/2006/relationships/image" Target="../media/image30.svg"/><Relationship Id="rId8" Type="http://schemas.openxmlformats.org/officeDocument/2006/relationships/image" Target="../media/image31.png"/><Relationship Id="rId9" Type="http://schemas.openxmlformats.org/officeDocument/2006/relationships/image" Target="../media/image34.svg"/><Relationship Id="rId10" Type="http://schemas.openxmlformats.org/officeDocument/2006/relationships/image" Target="../media/image49.png"/><Relationship Id="rId11" Type="http://schemas.openxmlformats.org/officeDocument/2006/relationships/image" Target="../media/image52.svg"/><Relationship Id="rId12" Type="http://schemas.openxmlformats.org/officeDocument/2006/relationships/image" Target="../media/image33.png"/><Relationship Id="rId13" Type="http://schemas.openxmlformats.org/officeDocument/2006/relationships/image" Target="../media/image36.svg"/><Relationship Id="rId14" Type="http://schemas.openxmlformats.org/officeDocument/2006/relationships/image" Target="../media/image51.png"/><Relationship Id="rId15" Type="http://schemas.openxmlformats.org/officeDocument/2006/relationships/image" Target="../media/image54.svg"/><Relationship Id="rId16" Type="http://schemas.openxmlformats.org/officeDocument/2006/relationships/image" Target="../media/image35.png"/><Relationship Id="rId17" Type="http://schemas.openxmlformats.org/officeDocument/2006/relationships/image" Target="../media/image38.svg"/><Relationship Id="rId18" Type="http://schemas.openxmlformats.org/officeDocument/2006/relationships/image" Target="../media/image53.png"/><Relationship Id="rId19" Type="http://schemas.openxmlformats.org/officeDocument/2006/relationships/image" Target="../media/image56.svg"/><Relationship Id="rId20" Type="http://schemas.openxmlformats.org/officeDocument/2006/relationships/image" Target="../media/image55.png"/><Relationship Id="rId21" Type="http://schemas.openxmlformats.org/officeDocument/2006/relationships/image" Target="../media/image58.svg"/><Relationship Id="rId22" Type="http://schemas.openxmlformats.org/officeDocument/2006/relationships/image" Target="../media/image11.png"/><Relationship Id="rId23" Type="http://schemas.openxmlformats.org/officeDocument/2006/relationships/image" Target="../media/image14.svg"/><Relationship Id="rId24" Type="http://schemas.openxmlformats.org/officeDocument/2006/relationships/image" Target="../media/image37.png"/><Relationship Id="rId25" Type="http://schemas.openxmlformats.org/officeDocument/2006/relationships/image" Target="../media/image40.svg"/><Relationship Id="rId26" Type="http://schemas.openxmlformats.org/officeDocument/2006/relationships/image" Target="../media/image39.png"/><Relationship Id="rId27" Type="http://schemas.openxmlformats.org/officeDocument/2006/relationships/image" Target="../media/image42.svg"/><Relationship Id="rId28" Type="http://schemas.openxmlformats.org/officeDocument/2006/relationships/image" Target="../media/image15.png"/><Relationship Id="rId29" Type="http://schemas.openxmlformats.org/officeDocument/2006/relationships/image" Target="../media/image18.svg"/><Relationship Id="rId30"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slide" Target="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5.xml"/><Relationship Id="rId4" Type="http://schemas.openxmlformats.org/officeDocument/2006/relationships/slide" Target="slide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6.xml"/><Relationship Id="rId4" Type="http://schemas.openxmlformats.org/officeDocument/2006/relationships/slide" Target="slide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7.xml"/><Relationship Id="rId4" Type="http://schemas.openxmlformats.org/officeDocument/2006/relationships/slide" Target="slid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8.xml"/><Relationship Id="rId4" Type="http://schemas.openxmlformats.org/officeDocument/2006/relationships/image" Target="../media/image57.png"/><Relationship Id="rId5" Type="http://schemas.openxmlformats.org/officeDocument/2006/relationships/hyperlink" Target="https://github.com/upendra25312/AI-Foundry-GTM-offering-/blob/main/architectures/08_baseline-microsoft-foundry-network-flow.png" TargetMode="External"/><Relationship Id="rId6" Type="http://schemas.openxmlformats.org/officeDocument/2006/relationships/hyperlink" Target="https://learn.microsoft.com/en-us/azure/architecture/ai-ml/architecture/baseline-microsoft-foundry-chat" TargetMode="External"/><Relationship Id="rId7" Type="http://schemas.openxmlformats.org/officeDocument/2006/relationships/slide" Target="slide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9.xml"/><Relationship Id="rId4" Type="http://schemas.openxmlformats.org/officeDocument/2006/relationships/hyperlink" Target="https://learn.microsoft.com/en-us/azure/foundry/control-plane/how-to-manage-agents" TargetMode="External"/><Relationship Id="rId5" Type="http://schemas.openxmlformats.org/officeDocument/2006/relationships/hyperlink" Target="https://learn.microsoft.com/en-us/azure/foundry/control-plane/register-custom-agent" TargetMode="External"/><Relationship Id="rId6" Type="http://schemas.openxmlformats.org/officeDocument/2006/relationships/hyperlink" Target="https://www.microsoft.com/en-us/security/blog/2026/05/01/microsoft-agent-365-now-generally-available-expands-capabilities-and-integrations/" TargetMode="External"/><Relationship Id="rId7" Type="http://schemas.openxmlformats.org/officeDocument/2006/relationships/hyperlink" Target="https://entradiff.merill.net/products/agent-id/" TargetMode="External"/><Relationship Id="rId8" Type="http://schemas.openxmlformats.org/officeDocument/2006/relationships/hyperlink" Target="https://learn.microsoft.com/en-us/azure/azure-monitor/alerts/itsmc-overview" TargetMode="External"/><Relationship Id="rId9" Type="http://schemas.openxmlformats.org/officeDocument/2006/relationships/hyperlink" Target="https://learn.microsoft.com/en-us/azure/foundry/openai/concepts/model-retirement-schedule" TargetMode="External"/><Relationship Id="rId10" Type="http://schemas.openxmlformats.org/officeDocument/2006/relationships/hyperlink" Target="https://learn.microsoft.com/en-us/azure/foundry/openai/concepts/provisioned-throughput" TargetMode="External"/><Relationship Id="rId11" Type="http://schemas.openxmlformats.org/officeDocument/2006/relationships/hyperlink" Target="https://prices.azure.com/api/retail/prices?$filter=serviceName eq 'Log Analytics' and armRegionName eq 'eastus2'" TargetMode="External"/><Relationship Id="rId12" Type="http://schemas.openxmlformats.org/officeDocument/2006/relationships/hyperlink" Target="https://learn.microsoft.com/en-us/azure/api-management/genai-gateway-capabilities" TargetMode="External"/><Relationship Id="rId13" Type="http://schemas.openxmlformats.org/officeDocument/2006/relationships/hyperlink" Target="https://learn.microsoft.com/en-us/azure/defender-for-cloud/ai-threat-protection" TargetMode="External"/><Relationship Id="rId14" Type="http://schemas.openxmlformats.org/officeDocument/2006/relationships/hyperlink" Target="https://learn.microsoft.com/en-us/purview/ai-microsoft-purview" TargetMode="External"/><Relationship Id="rId15" Type="http://schemas.openxmlformats.org/officeDocument/2006/relationships/hyperlink" Target="https://www.orrick.com/en/Insights/2026/07/EU-AI-Act-Update-Digital-Omnibus-Finalizes-8-Compliance-Changes" TargetMode="External"/><Relationship Id="rId16" Type="http://schemas.openxmlformats.org/officeDocument/2006/relationships/hyperlink" Target="https://genai.owasp.org/llm-top-10/" TargetMode="External"/><Relationship Id="rId17" Type="http://schemas.openxmlformats.org/officeDocument/2006/relationships/hyperlink" Target="https://learn.microsoft.com/en-us/azure/architecture/icons/" TargetMode="External"/><Relationship Id="rId18" Type="http://schemas.openxmlformats.org/officeDocument/2006/relationships/hyperlink" Target="https://az-icons.com/" TargetMode="External"/><Relationship Id="rId19" Type="http://schemas.openxmlformats.org/officeDocument/2006/relationships/hyperlink" Target="https://github.com/upendra25312/AI-Foundry-GTM-offering-/blob/main/CIS_Infra_Azure_AI_Platform_GTM_Proposal_V3.docx" TargetMode="External"/><Relationship Id="rId20" Type="http://schemas.openxmlformats.org/officeDocument/2006/relationships/hyperlink" Target="https://learn.microsoft.com/en-us/azure/foundry/observability/how-to/how-to-monitor-agents-dashboard" TargetMode="External"/><Relationship Id="rId21"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Managed AI Platform Operations</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Run the Azure AI platform with clear ownership, proposed service objectives and tested containment</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Recurring CIS Infra service with defined handoffs to AI, Data and Security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3.0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2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PROPOSED OFFERING</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02</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One accountable operator runs the AI platform each month</a:t>
            </a:r>
          </a:p>
        </p:txBody>
      </p:sp>
      <p:sp>
        <p:nvSpPr>
          <p:cNvPr id="6" name="Rounded Rectangle 5"/>
          <p:cNvSpPr/>
          <p:nvPr/>
        </p:nvSpPr>
        <p:spPr>
          <a:xfrm>
            <a:off x="731520" y="1280160"/>
            <a:ext cx="10698480" cy="411480"/>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UNIFIED SERVICE DESK · 3 SPECIALIST INCIDENT LANES · REHEARSED AGENT CONTAINMENT</a:t>
            </a:r>
          </a:p>
        </p:txBody>
      </p:sp>
      <p:sp>
        <p:nvSpPr>
          <p:cNvPr id="7" name="Rounded Rectangle 6"/>
          <p:cNvSpPr/>
          <p:nvPr/>
        </p:nvSpPr>
        <p:spPr>
          <a:xfrm>
            <a:off x="7315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38328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57400"/>
            <a:ext cx="502920" cy="502920"/>
          </a:xfrm>
          <a:prstGeom prst="ellipse">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0" name="TextBox 9"/>
          <p:cNvSpPr txBox="1"/>
          <p:nvPr/>
        </p:nvSpPr>
        <p:spPr>
          <a:xfrm>
            <a:off x="1645920" y="2057400"/>
            <a:ext cx="2194560" cy="228600"/>
          </a:xfrm>
          <a:prstGeom prst="rect">
            <a:avLst/>
          </a:prstGeom>
          <a:noFill/>
        </p:spPr>
        <p:txBody>
          <a:bodyPr wrap="none">
            <a:spAutoFit/>
          </a:bodyPr>
          <a:lstStyle/>
          <a:p>
            <a:pPr>
              <a:defRPr sz="900" b="1">
                <a:solidFill>
                  <a:srgbClr val="D83B01"/>
                </a:solidFill>
              </a:defRPr>
            </a:pPr>
            <a:r>
              <a:t>ENTERPRISE BLOCKER</a:t>
            </a:r>
          </a:p>
        </p:txBody>
      </p:sp>
      <p:sp>
        <p:nvSpPr>
          <p:cNvPr id="11" name="TextBox 10"/>
          <p:cNvSpPr txBox="1"/>
          <p:nvPr/>
        </p:nvSpPr>
        <p:spPr>
          <a:xfrm>
            <a:off x="1005840" y="2651760"/>
            <a:ext cx="2834640" cy="365760"/>
          </a:xfrm>
          <a:prstGeom prst="rect">
            <a:avLst/>
          </a:prstGeom>
          <a:noFill/>
        </p:spPr>
        <p:txBody>
          <a:bodyPr wrap="none">
            <a:spAutoFit/>
          </a:bodyPr>
          <a:lstStyle/>
          <a:p>
            <a:pPr>
              <a:defRPr sz="1800" b="1">
                <a:solidFill>
                  <a:srgbClr val="0A192F"/>
                </a:solidFill>
              </a:defRPr>
            </a:pPr>
            <a:r>
              <a:t>Operational Void</a:t>
            </a:r>
          </a:p>
        </p:txBody>
      </p:sp>
      <p:sp>
        <p:nvSpPr>
          <p:cNvPr id="12" name="TextBox 11"/>
          <p:cNvSpPr txBox="1"/>
          <p:nvPr/>
        </p:nvSpPr>
        <p:spPr>
          <a:xfrm>
            <a:off x="1005840" y="3017520"/>
            <a:ext cx="2834640" cy="411480"/>
          </a:xfrm>
          <a:prstGeom prst="rect">
            <a:avLst/>
          </a:prstGeom>
          <a:noFill/>
        </p:spPr>
        <p:txBody>
          <a:bodyPr wrap="none">
            <a:spAutoFit/>
          </a:bodyPr>
          <a:lstStyle/>
          <a:p>
            <a:pPr>
              <a:defRPr sz="2000" b="1">
                <a:solidFill>
                  <a:srgbClr val="D83B01"/>
                </a:solidFill>
              </a:defRPr>
            </a:pPr>
            <a:r>
              <a:t>Drifting Estates</a:t>
            </a:r>
          </a:p>
        </p:txBody>
      </p:sp>
      <p:sp>
        <p:nvSpPr>
          <p:cNvPr id="13" name="TextBox 12"/>
          <p:cNvSpPr txBox="1"/>
          <p:nvPr/>
        </p:nvSpPr>
        <p:spPr>
          <a:xfrm>
            <a:off x="1005840" y="3520440"/>
            <a:ext cx="2834640" cy="1645920"/>
          </a:xfrm>
          <a:prstGeom prst="rect">
            <a:avLst/>
          </a:prstGeom>
          <a:noFill/>
        </p:spPr>
        <p:txBody>
          <a:bodyPr wrap="square">
            <a:spAutoFit/>
          </a:bodyPr>
          <a:lstStyle/>
          <a:p>
            <a:pPr>
              <a:spcAft>
                <a:spcPts val="800"/>
              </a:spcAft>
              <a:defRPr sz="1200">
                <a:solidFill>
                  <a:srgbClr val="0F172A"/>
                </a:solidFill>
              </a:defRPr>
            </a:pPr>
            <a:r>
              <a:t>• AI workloads enter production with unassigned alerts and no runbooks.</a:t>
            </a:r>
          </a:p>
          <a:p>
            <a:pPr>
              <a:spcAft>
                <a:spcPts val="800"/>
              </a:spcAft>
              <a:defRPr sz="1200">
                <a:solidFill>
                  <a:srgbClr val="0F172A"/>
                </a:solidFill>
              </a:defRPr>
            </a:pPr>
            <a:r>
              <a:t>• Finger-pointing between cloud and AI teams; zero rehearsed kill switch for rogue agents.</a:t>
            </a:r>
          </a:p>
        </p:txBody>
      </p:sp>
      <p:sp>
        <p:nvSpPr>
          <p:cNvPr id="14" name="Rounded Rectangle 13"/>
          <p:cNvSpPr/>
          <p:nvPr/>
        </p:nvSpPr>
        <p:spPr>
          <a:xfrm>
            <a:off x="43891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828800"/>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63440" y="2057400"/>
            <a:ext cx="502920" cy="50292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7" name="TextBox 16"/>
          <p:cNvSpPr txBox="1"/>
          <p:nvPr/>
        </p:nvSpPr>
        <p:spPr>
          <a:xfrm>
            <a:off x="5303520" y="2057400"/>
            <a:ext cx="2194560" cy="228600"/>
          </a:xfrm>
          <a:prstGeom prst="rect">
            <a:avLst/>
          </a:prstGeom>
          <a:noFill/>
        </p:spPr>
        <p:txBody>
          <a:bodyPr wrap="none">
            <a:spAutoFit/>
          </a:bodyPr>
          <a:lstStyle/>
          <a:p>
            <a:pPr>
              <a:defRPr sz="900" b="1">
                <a:solidFill>
                  <a:srgbClr val="0078D4"/>
                </a:solidFill>
              </a:defRPr>
            </a:pPr>
            <a:r>
              <a:t>WHAT CIS INFRA DELIVERS</a:t>
            </a:r>
          </a:p>
        </p:txBody>
      </p:sp>
      <p:sp>
        <p:nvSpPr>
          <p:cNvPr id="18" name="TextBox 17"/>
          <p:cNvSpPr txBox="1"/>
          <p:nvPr/>
        </p:nvSpPr>
        <p:spPr>
          <a:xfrm>
            <a:off x="4663440" y="2651760"/>
            <a:ext cx="2834640" cy="365760"/>
          </a:xfrm>
          <a:prstGeom prst="rect">
            <a:avLst/>
          </a:prstGeom>
          <a:noFill/>
        </p:spPr>
        <p:txBody>
          <a:bodyPr wrap="none">
            <a:spAutoFit/>
          </a:bodyPr>
          <a:lstStyle/>
          <a:p>
            <a:pPr>
              <a:defRPr sz="1800" b="1">
                <a:solidFill>
                  <a:srgbClr val="0A192F"/>
                </a:solidFill>
              </a:defRPr>
            </a:pPr>
            <a:r>
              <a:t>Managed Operations</a:t>
            </a:r>
          </a:p>
        </p:txBody>
      </p:sp>
      <p:sp>
        <p:nvSpPr>
          <p:cNvPr id="19" name="TextBox 18"/>
          <p:cNvSpPr txBox="1"/>
          <p:nvPr/>
        </p:nvSpPr>
        <p:spPr>
          <a:xfrm>
            <a:off x="4663440" y="3017520"/>
            <a:ext cx="2834640" cy="411480"/>
          </a:xfrm>
          <a:prstGeom prst="rect">
            <a:avLst/>
          </a:prstGeom>
          <a:noFill/>
        </p:spPr>
        <p:txBody>
          <a:bodyPr wrap="none">
            <a:spAutoFit/>
          </a:bodyPr>
          <a:lstStyle/>
          <a:p>
            <a:pPr>
              <a:defRPr sz="2000" b="1">
                <a:solidFill>
                  <a:srgbClr val="0078D4"/>
                </a:solidFill>
              </a:defRPr>
            </a:pPr>
            <a:r>
              <a:t>Single Operator</a:t>
            </a:r>
          </a:p>
        </p:txBody>
      </p:sp>
      <p:sp>
        <p:nvSpPr>
          <p:cNvPr id="20" name="TextBox 19"/>
          <p:cNvSpPr txBox="1"/>
          <p:nvPr/>
        </p:nvSpPr>
        <p:spPr>
          <a:xfrm>
            <a:off x="4663440" y="3520440"/>
            <a:ext cx="2834640" cy="1645920"/>
          </a:xfrm>
          <a:prstGeom prst="rect">
            <a:avLst/>
          </a:prstGeom>
          <a:noFill/>
        </p:spPr>
        <p:txBody>
          <a:bodyPr wrap="square">
            <a:spAutoFit/>
          </a:bodyPr>
          <a:lstStyle/>
          <a:p>
            <a:pPr>
              <a:spcAft>
                <a:spcPts val="800"/>
              </a:spcAft>
              <a:defRPr sz="1200">
                <a:solidFill>
                  <a:srgbClr val="0F172A"/>
                </a:solidFill>
              </a:defRPr>
            </a:pPr>
            <a:r>
              <a:t>• One recurring managed service covering platform health, gateway, and capacity.</a:t>
            </a:r>
          </a:p>
          <a:p>
            <a:pPr>
              <a:spcAft>
                <a:spcPts val="800"/>
              </a:spcAft>
              <a:defRPr sz="1200">
                <a:solidFill>
                  <a:srgbClr val="0F172A"/>
                </a:solidFill>
              </a:defRPr>
            </a:pPr>
            <a:r>
              <a:t>• Reconciled agent inventory, monthly FinOps reviews, and tested containment.</a:t>
            </a:r>
          </a:p>
        </p:txBody>
      </p:sp>
      <p:sp>
        <p:nvSpPr>
          <p:cNvPr id="21" name="Rounded Rectangle 20"/>
          <p:cNvSpPr/>
          <p:nvPr/>
        </p:nvSpPr>
        <p:spPr>
          <a:xfrm>
            <a:off x="80467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1828800"/>
            <a:ext cx="33832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21040" y="2057400"/>
            <a:ext cx="502920" cy="502920"/>
          </a:xfrm>
          <a:prstGeom prst="ellipse">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24" name="TextBox 23"/>
          <p:cNvSpPr txBox="1"/>
          <p:nvPr/>
        </p:nvSpPr>
        <p:spPr>
          <a:xfrm>
            <a:off x="8961120" y="2057400"/>
            <a:ext cx="2194560" cy="228600"/>
          </a:xfrm>
          <a:prstGeom prst="rect">
            <a:avLst/>
          </a:prstGeom>
          <a:noFill/>
        </p:spPr>
        <p:txBody>
          <a:bodyPr wrap="none">
            <a:spAutoFit/>
          </a:bodyPr>
          <a:lstStyle/>
          <a:p>
            <a:pPr>
              <a:defRPr sz="900" b="1">
                <a:solidFill>
                  <a:srgbClr val="00A389"/>
                </a:solidFill>
              </a:defRPr>
            </a:pPr>
            <a:r>
              <a:t>MEASURABLE OUTCOME</a:t>
            </a:r>
          </a:p>
        </p:txBody>
      </p:sp>
      <p:sp>
        <p:nvSpPr>
          <p:cNvPr id="25" name="TextBox 24"/>
          <p:cNvSpPr txBox="1"/>
          <p:nvPr/>
        </p:nvSpPr>
        <p:spPr>
          <a:xfrm>
            <a:off x="8321040" y="2651760"/>
            <a:ext cx="2834640" cy="365760"/>
          </a:xfrm>
          <a:prstGeom prst="rect">
            <a:avLst/>
          </a:prstGeom>
          <a:noFill/>
        </p:spPr>
        <p:txBody>
          <a:bodyPr wrap="none">
            <a:spAutoFit/>
          </a:bodyPr>
          <a:lstStyle/>
          <a:p>
            <a:pPr>
              <a:defRPr sz="1800" b="1">
                <a:solidFill>
                  <a:srgbClr val="0A192F"/>
                </a:solidFill>
              </a:defRPr>
            </a:pPr>
            <a:r>
              <a:t>Staffed Accountability</a:t>
            </a:r>
          </a:p>
        </p:txBody>
      </p:sp>
      <p:sp>
        <p:nvSpPr>
          <p:cNvPr id="26" name="TextBox 25"/>
          <p:cNvSpPr txBox="1"/>
          <p:nvPr/>
        </p:nvSpPr>
        <p:spPr>
          <a:xfrm>
            <a:off x="8321040" y="3017520"/>
            <a:ext cx="2834640" cy="411480"/>
          </a:xfrm>
          <a:prstGeom prst="rect">
            <a:avLst/>
          </a:prstGeom>
          <a:noFill/>
        </p:spPr>
        <p:txBody>
          <a:bodyPr wrap="none">
            <a:spAutoFit/>
          </a:bodyPr>
          <a:lstStyle/>
          <a:p>
            <a:pPr>
              <a:defRPr sz="2000" b="1">
                <a:solidFill>
                  <a:srgbClr val="00A389"/>
                </a:solidFill>
              </a:defRPr>
            </a:pPr>
            <a:r>
              <a:t>1.5 to 10 FTE</a:t>
            </a:r>
          </a:p>
        </p:txBody>
      </p:sp>
      <p:sp>
        <p:nvSpPr>
          <p:cNvPr id="27" name="TextBox 26"/>
          <p:cNvSpPr txBox="1"/>
          <p:nvPr/>
        </p:nvSpPr>
        <p:spPr>
          <a:xfrm>
            <a:off x="8321040" y="3520440"/>
            <a:ext cx="2834640" cy="1645920"/>
          </a:xfrm>
          <a:prstGeom prst="rect">
            <a:avLst/>
          </a:prstGeom>
          <a:noFill/>
        </p:spPr>
        <p:txBody>
          <a:bodyPr wrap="square">
            <a:spAutoFit/>
          </a:bodyPr>
          <a:lstStyle/>
          <a:p>
            <a:pPr>
              <a:spcAft>
                <a:spcPts val="800"/>
              </a:spcAft>
              <a:defRPr sz="1200">
                <a:solidFill>
                  <a:srgbClr val="0F172A"/>
                </a:solidFill>
              </a:defRPr>
            </a:pPr>
            <a:r>
              <a:t>• Single ITSM entry point routing to 3 specialist resolver lanes.</a:t>
            </a:r>
          </a:p>
          <a:p>
            <a:pPr>
              <a:spcAft>
                <a:spcPts val="800"/>
              </a:spcAft>
              <a:defRPr sz="1200">
                <a:solidFill>
                  <a:srgbClr val="0F172A"/>
                </a:solidFill>
              </a:defRPr>
            </a:pPr>
            <a:r>
              <a:t>• Clear proposed response targets, transparent monthly evidence, and funded rosters.</a:t>
            </a:r>
          </a:p>
        </p:txBody>
      </p:sp>
      <p:sp>
        <p:nvSpPr>
          <p:cNvPr id="28" name="Rounded Rectangle 27"/>
          <p:cNvSpPr/>
          <p:nvPr/>
        </p:nvSpPr>
        <p:spPr>
          <a:xfrm>
            <a:off x="731520" y="5532120"/>
            <a:ext cx="10698480" cy="685800"/>
          </a:xfrm>
          <a:prstGeom prst="roundRect">
            <a:avLst/>
          </a:prstGeom>
          <a:solidFill>
            <a:srgbClr val="EFF6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23560"/>
            <a:ext cx="10332720" cy="502920"/>
          </a:xfrm>
          <a:prstGeom prst="rect">
            <a:avLst/>
          </a:prstGeom>
          <a:noFill/>
        </p:spPr>
        <p:txBody>
          <a:bodyPr wrap="square">
            <a:spAutoFit/>
          </a:bodyPr>
          <a:lstStyle/>
          <a:p>
            <a:r>
              <a:rPr b="1" sz="1200">
                <a:solidFill>
                  <a:srgbClr val="0078D4"/>
                </a:solidFill>
              </a:rPr>
              <a:t>DECISION REQUESTED: </a:t>
            </a:r>
            <a:r>
              <a:rPr sz="1200" b="1">
                <a:solidFill>
                  <a:srgbClr val="0A192F"/>
                </a:solidFill>
              </a:rPr>
              <a:t>Approve 3 coverage tiers for customer pilots; enforce design rule: no 24x7 commitment without a funded staffing roster.</a:t>
            </a:r>
          </a:p>
        </p:txBody>
      </p:sp>
      <p:sp>
        <p:nvSpPr>
          <p:cNvPr id="30" name="TextBox 29"/>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Managed AI Platform Operations · Working proposal for senior leadership review · Slide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3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MARKET DEMAND &amp; TRIGGERS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03</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Agents, emergency stops, and model churn require continuous runbooks</a:t>
            </a:r>
          </a:p>
        </p:txBody>
      </p:sp>
      <p:sp>
        <p:nvSpPr>
          <p:cNvPr id="6" name="Rounded Rectangle 5"/>
          <p:cNvSpPr/>
          <p:nvPr/>
        </p:nvSpPr>
        <p:spPr>
          <a:xfrm>
            <a:off x="7315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338328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2926080" cy="548640"/>
          </a:xfrm>
          <a:prstGeom prst="rect">
            <a:avLst/>
          </a:prstGeom>
          <a:noFill/>
        </p:spPr>
        <p:txBody>
          <a:bodyPr wrap="none">
            <a:spAutoFit/>
          </a:bodyPr>
          <a:lstStyle/>
          <a:p>
            <a:pPr>
              <a:defRPr sz="3200" b="1">
                <a:solidFill>
                  <a:srgbClr val="0078D4"/>
                </a:solidFill>
              </a:defRPr>
            </a:pPr>
            <a:r>
              <a:t>1 May 2026</a:t>
            </a:r>
          </a:p>
        </p:txBody>
      </p:sp>
      <p:sp>
        <p:nvSpPr>
          <p:cNvPr id="9" name="TextBox 8"/>
          <p:cNvSpPr txBox="1"/>
          <p:nvPr/>
        </p:nvSpPr>
        <p:spPr>
          <a:xfrm>
            <a:off x="960120" y="2148840"/>
            <a:ext cx="2926080" cy="320040"/>
          </a:xfrm>
          <a:prstGeom prst="rect">
            <a:avLst/>
          </a:prstGeom>
          <a:noFill/>
        </p:spPr>
        <p:txBody>
          <a:bodyPr wrap="none">
            <a:spAutoFit/>
          </a:bodyPr>
          <a:lstStyle/>
          <a:p>
            <a:pPr>
              <a:defRPr sz="1500" b="1">
                <a:solidFill>
                  <a:srgbClr val="0A192F"/>
                </a:solidFill>
              </a:defRPr>
            </a:pPr>
            <a:r>
              <a:t>Agent 365 Operations</a:t>
            </a:r>
          </a:p>
        </p:txBody>
      </p:sp>
      <p:sp>
        <p:nvSpPr>
          <p:cNvPr id="10" name="TextBox 9"/>
          <p:cNvSpPr txBox="1"/>
          <p:nvPr/>
        </p:nvSpPr>
        <p:spPr>
          <a:xfrm>
            <a:off x="960120" y="2514600"/>
            <a:ext cx="2926080" cy="914400"/>
          </a:xfrm>
          <a:prstGeom prst="rect">
            <a:avLst/>
          </a:prstGeom>
          <a:noFill/>
        </p:spPr>
        <p:txBody>
          <a:bodyPr wrap="square">
            <a:spAutoFit/>
          </a:bodyPr>
          <a:lstStyle/>
          <a:p>
            <a:pPr>
              <a:defRPr sz="1100">
                <a:solidFill>
                  <a:srgbClr val="0F172A"/>
                </a:solidFill>
              </a:defRPr>
            </a:pPr>
            <a:r>
              <a:t>Microsoft Agent 365 is GA; registries, policies, and Entra Agent IDs require day-to-day operational owners.</a:t>
            </a:r>
          </a:p>
        </p:txBody>
      </p:sp>
      <p:sp>
        <p:nvSpPr>
          <p:cNvPr id="11" name="Rounded Rectangle 10"/>
          <p:cNvSpPr/>
          <p:nvPr/>
        </p:nvSpPr>
        <p:spPr>
          <a:xfrm>
            <a:off x="43891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371600"/>
            <a:ext cx="3383280" cy="54864"/>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554480"/>
            <a:ext cx="2926080" cy="548640"/>
          </a:xfrm>
          <a:prstGeom prst="rect">
            <a:avLst/>
          </a:prstGeom>
          <a:noFill/>
        </p:spPr>
        <p:txBody>
          <a:bodyPr wrap="none">
            <a:spAutoFit/>
          </a:bodyPr>
          <a:lstStyle/>
          <a:p>
            <a:pPr>
              <a:defRPr sz="3200" b="1">
                <a:solidFill>
                  <a:srgbClr val="D83B01"/>
                </a:solidFill>
              </a:defRPr>
            </a:pPr>
            <a:r>
              <a:t>&lt;15 Min</a:t>
            </a:r>
          </a:p>
        </p:txBody>
      </p:sp>
      <p:sp>
        <p:nvSpPr>
          <p:cNvPr id="14" name="TextBox 13"/>
          <p:cNvSpPr txBox="1"/>
          <p:nvPr/>
        </p:nvSpPr>
        <p:spPr>
          <a:xfrm>
            <a:off x="4617720" y="2148840"/>
            <a:ext cx="2926080" cy="320040"/>
          </a:xfrm>
          <a:prstGeom prst="rect">
            <a:avLst/>
          </a:prstGeom>
          <a:noFill/>
        </p:spPr>
        <p:txBody>
          <a:bodyPr wrap="none">
            <a:spAutoFit/>
          </a:bodyPr>
          <a:lstStyle/>
          <a:p>
            <a:pPr>
              <a:defRPr sz="1500" b="1">
                <a:solidFill>
                  <a:srgbClr val="0A192F"/>
                </a:solidFill>
              </a:defRPr>
            </a:pPr>
            <a:r>
              <a:t>Containment Drills</a:t>
            </a:r>
          </a:p>
        </p:txBody>
      </p:sp>
      <p:sp>
        <p:nvSpPr>
          <p:cNvPr id="15" name="TextBox 14"/>
          <p:cNvSpPr txBox="1"/>
          <p:nvPr/>
        </p:nvSpPr>
        <p:spPr>
          <a:xfrm>
            <a:off x="4617720" y="2514600"/>
            <a:ext cx="2926080" cy="914400"/>
          </a:xfrm>
          <a:prstGeom prst="rect">
            <a:avLst/>
          </a:prstGeom>
          <a:noFill/>
        </p:spPr>
        <p:txBody>
          <a:bodyPr wrap="square">
            <a:spAutoFit/>
          </a:bodyPr>
          <a:lstStyle/>
          <a:p>
            <a:pPr>
              <a:defRPr sz="1100">
                <a:solidFill>
                  <a:srgbClr val="0F172A"/>
                </a:solidFill>
              </a:defRPr>
            </a:pPr>
            <a:r>
              <a:t>Foundry agent stops do not terminate in-flight runs; operational kill-switch runbooks must be drilled under P1 procedures.</a:t>
            </a:r>
          </a:p>
        </p:txBody>
      </p:sp>
      <p:sp>
        <p:nvSpPr>
          <p:cNvPr id="16" name="Rounded Rectangle 15"/>
          <p:cNvSpPr/>
          <p:nvPr/>
        </p:nvSpPr>
        <p:spPr>
          <a:xfrm>
            <a:off x="80467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371600"/>
            <a:ext cx="3383280" cy="54864"/>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554480"/>
            <a:ext cx="2926080" cy="548640"/>
          </a:xfrm>
          <a:prstGeom prst="rect">
            <a:avLst/>
          </a:prstGeom>
          <a:noFill/>
        </p:spPr>
        <p:txBody>
          <a:bodyPr wrap="none">
            <a:spAutoFit/>
          </a:bodyPr>
          <a:lstStyle/>
          <a:p>
            <a:pPr>
              <a:defRPr sz="3200" b="1">
                <a:solidFill>
                  <a:srgbClr val="00A389"/>
                </a:solidFill>
              </a:defRPr>
            </a:pPr>
            <a:r>
              <a:t>Quarterly</a:t>
            </a:r>
          </a:p>
        </p:txBody>
      </p:sp>
      <p:sp>
        <p:nvSpPr>
          <p:cNvPr id="19" name="TextBox 18"/>
          <p:cNvSpPr txBox="1"/>
          <p:nvPr/>
        </p:nvSpPr>
        <p:spPr>
          <a:xfrm>
            <a:off x="8275320" y="2148840"/>
            <a:ext cx="2926080" cy="320040"/>
          </a:xfrm>
          <a:prstGeom prst="rect">
            <a:avLst/>
          </a:prstGeom>
          <a:noFill/>
        </p:spPr>
        <p:txBody>
          <a:bodyPr wrap="none">
            <a:spAutoFit/>
          </a:bodyPr>
          <a:lstStyle/>
          <a:p>
            <a:pPr>
              <a:defRPr sz="1500" b="1">
                <a:solidFill>
                  <a:srgbClr val="0A192F"/>
                </a:solidFill>
              </a:defRPr>
            </a:pPr>
            <a:r>
              <a:t>Model Retirement Churn</a:t>
            </a:r>
          </a:p>
        </p:txBody>
      </p:sp>
      <p:sp>
        <p:nvSpPr>
          <p:cNvPr id="20" name="TextBox 19"/>
          <p:cNvSpPr txBox="1"/>
          <p:nvPr/>
        </p:nvSpPr>
        <p:spPr>
          <a:xfrm>
            <a:off x="8275320" y="2514600"/>
            <a:ext cx="2926080" cy="914400"/>
          </a:xfrm>
          <a:prstGeom prst="rect">
            <a:avLst/>
          </a:prstGeom>
          <a:noFill/>
        </p:spPr>
        <p:txBody>
          <a:bodyPr wrap="square">
            <a:spAutoFit/>
          </a:bodyPr>
          <a:lstStyle/>
          <a:p>
            <a:pPr>
              <a:defRPr sz="1100">
                <a:solidFill>
                  <a:srgbClr val="0F172A"/>
                </a:solidFill>
              </a:defRPr>
            </a:pPr>
            <a:r>
              <a:t>gpt-4.1 retires 14 Apr 2027; provisioned model deployments are not auto-upgraded and require planned cutovers.</a:t>
            </a:r>
          </a:p>
        </p:txBody>
      </p:sp>
      <p:sp>
        <p:nvSpPr>
          <p:cNvPr id="21" name="Rounded Rectangle 20"/>
          <p:cNvSpPr/>
          <p:nvPr/>
        </p:nvSpPr>
        <p:spPr>
          <a:xfrm>
            <a:off x="731520" y="3749039"/>
            <a:ext cx="10698480" cy="2468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931920"/>
            <a:ext cx="4846320" cy="2103120"/>
          </a:xfrm>
          <a:prstGeom prst="rect">
            <a:avLst/>
          </a:prstGeom>
          <a:noFill/>
        </p:spPr>
        <p:txBody>
          <a:bodyPr wrap="square">
            <a:spAutoFit/>
          </a:bodyPr>
          <a:lstStyle/>
          <a:p>
            <a:pPr>
              <a:spcAft>
                <a:spcPts val="600"/>
              </a:spcAft>
              <a:defRPr sz="1300" b="1">
                <a:solidFill>
                  <a:srgbClr val="0A192F"/>
                </a:solidFill>
              </a:defRPr>
            </a:pPr>
            <a:r>
              <a:t>THE ECONOMIC BUYER</a:t>
            </a:r>
          </a:p>
          <a:p>
            <a:pPr>
              <a:spcAft>
                <a:spcPts val="400"/>
              </a:spcAft>
              <a:defRPr sz="1100">
                <a:solidFill>
                  <a:srgbClr val="0F172A"/>
                </a:solidFill>
              </a:defRPr>
            </a:pPr>
            <a:r>
              <a:t>• Primary Buyer: IT Service Management (ITSM) Owner &amp; Infrastructure Director.</a:t>
            </a:r>
          </a:p>
          <a:p>
            <a:pPr>
              <a:spcAft>
                <a:spcPts val="400"/>
              </a:spcAft>
              <a:defRPr sz="1100">
                <a:solidFill>
                  <a:srgbClr val="0F172A"/>
                </a:solidFill>
              </a:defRPr>
            </a:pPr>
            <a:r>
              <a:t>• Key Stakeholders: AI Platform Leader (platform stability) and CISO Delegate (containment).</a:t>
            </a:r>
          </a:p>
          <a:p>
            <a:pPr>
              <a:spcAft>
                <a:spcPts val="400"/>
              </a:spcAft>
              <a:defRPr sz="1100">
                <a:solidFill>
                  <a:srgbClr val="0F172A"/>
                </a:solidFill>
              </a:defRPr>
            </a:pPr>
            <a:r>
              <a:t>• Commercial Partner: FinOps Lead requiring monthly model cost accountability.</a:t>
            </a:r>
          </a:p>
        </p:txBody>
      </p:sp>
      <p:sp>
        <p:nvSpPr>
          <p:cNvPr id="23" name="Rectangle 22"/>
          <p:cNvSpPr/>
          <p:nvPr/>
        </p:nvSpPr>
        <p:spPr>
          <a:xfrm>
            <a:off x="6035040" y="3931920"/>
            <a:ext cx="18288" cy="2103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931920"/>
            <a:ext cx="4846320" cy="2103120"/>
          </a:xfrm>
          <a:prstGeom prst="rect">
            <a:avLst/>
          </a:prstGeom>
          <a:noFill/>
        </p:spPr>
        <p:txBody>
          <a:bodyPr wrap="square">
            <a:spAutoFit/>
          </a:bodyPr>
          <a:lstStyle/>
          <a:p>
            <a:pPr>
              <a:spcAft>
                <a:spcPts val="600"/>
              </a:spcAft>
              <a:defRPr sz="1300" b="1">
                <a:solidFill>
                  <a:srgbClr val="0078D4"/>
                </a:solidFill>
              </a:defRPr>
            </a:pPr>
            <a:r>
              <a:t>THE BUYING TRIGGERS</a:t>
            </a:r>
          </a:p>
          <a:p>
            <a:pPr>
              <a:spcAft>
                <a:spcPts val="400"/>
              </a:spcAft>
              <a:defRPr sz="1100">
                <a:solidFill>
                  <a:srgbClr val="0F172A"/>
                </a:solidFill>
              </a:defRPr>
            </a:pPr>
            <a:r>
              <a:t>• High-visibility AI workload transitioning from build phase into 24x7 production.</a:t>
            </a:r>
          </a:p>
          <a:p>
            <a:pPr>
              <a:spcAft>
                <a:spcPts val="400"/>
              </a:spcAft>
              <a:defRPr sz="1100">
                <a:solidFill>
                  <a:srgbClr val="0F172A"/>
                </a:solidFill>
              </a:defRPr>
            </a:pPr>
            <a:r>
              <a:t>• Operational near-miss or rogue agent incident exposing lack of incident runbooks.</a:t>
            </a:r>
          </a:p>
          <a:p>
            <a:pPr>
              <a:spcAft>
                <a:spcPts val="400"/>
              </a:spcAft>
              <a:defRPr sz="1100">
                <a:solidFill>
                  <a:srgbClr val="0F172A"/>
                </a:solidFill>
              </a:defRPr>
            </a:pPr>
            <a:r>
              <a:t>• Engineering delivery team exhausted by sustaining platform alerts instead of developing features.</a:t>
            </a:r>
          </a:p>
        </p:txBody>
      </p:sp>
      <p:sp>
        <p:nvSpPr>
          <p:cNvPr id="25" name="TextBox 24"/>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Managed AI Platform Operations · Working proposal for senior leadership review · Slide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4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PORTFOLIO FIT &amp; ADJACENCY</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04</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Offering 05 runs what 01 to 04 build, and feeds evidence back</a:t>
            </a:r>
          </a:p>
        </p:txBody>
      </p:sp>
      <p:sp>
        <p:nvSpPr>
          <p:cNvPr id="6" name="Rounded Rectangle 5"/>
          <p:cNvSpPr/>
          <p:nvPr/>
        </p:nvSpPr>
        <p:spPr>
          <a:xfrm>
            <a:off x="731520" y="1371600"/>
            <a:ext cx="2377440" cy="2926080"/>
          </a:xfrm>
          <a:prstGeom prst="roundRect">
            <a:avLst/>
          </a:prstGeom>
          <a:solidFill>
            <a:srgbClr val="FFFFFF"/>
          </a:solidFill>
          <a:ln w="1270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37744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2011680" cy="320040"/>
          </a:xfrm>
          <a:prstGeom prst="rect">
            <a:avLst/>
          </a:prstGeom>
          <a:noFill/>
        </p:spPr>
        <p:txBody>
          <a:bodyPr wrap="none">
            <a:spAutoFit/>
          </a:bodyPr>
          <a:lstStyle/>
          <a:p>
            <a:pPr>
              <a:defRPr sz="1000" b="1">
                <a:solidFill>
                  <a:srgbClr val="0A192F"/>
                </a:solidFill>
              </a:defRPr>
            </a:pPr>
            <a:r>
              <a:t>01 &amp; 03 · PLATFORM INPUT</a:t>
            </a:r>
          </a:p>
        </p:txBody>
      </p:sp>
      <p:sp>
        <p:nvSpPr>
          <p:cNvPr id="9" name="TextBox 8"/>
          <p:cNvSpPr txBox="1"/>
          <p:nvPr/>
        </p:nvSpPr>
        <p:spPr>
          <a:xfrm>
            <a:off x="914400" y="1965960"/>
            <a:ext cx="2011680" cy="502920"/>
          </a:xfrm>
          <a:prstGeom prst="rect">
            <a:avLst/>
          </a:prstGeom>
          <a:noFill/>
        </p:spPr>
        <p:txBody>
          <a:bodyPr wrap="square">
            <a:spAutoFit/>
          </a:bodyPr>
          <a:lstStyle/>
          <a:p>
            <a:pPr>
              <a:defRPr sz="1600" b="1">
                <a:solidFill>
                  <a:srgbClr val="0A192F"/>
                </a:solidFill>
              </a:defRPr>
            </a:pPr>
            <a:r>
              <a:t>LZ &amp; Gateway</a:t>
            </a:r>
          </a:p>
        </p:txBody>
      </p:sp>
      <p:sp>
        <p:nvSpPr>
          <p:cNvPr id="10" name="TextBox 9"/>
          <p:cNvSpPr txBox="1"/>
          <p:nvPr/>
        </p:nvSpPr>
        <p:spPr>
          <a:xfrm>
            <a:off x="914400" y="2560320"/>
            <a:ext cx="2011680" cy="1554480"/>
          </a:xfrm>
          <a:prstGeom prst="rect">
            <a:avLst/>
          </a:prstGeom>
          <a:noFill/>
        </p:spPr>
        <p:txBody>
          <a:bodyPr wrap="square">
            <a:spAutoFit/>
          </a:bodyPr>
          <a:lstStyle/>
          <a:p>
            <a:pPr>
              <a:defRPr sz="1100">
                <a:solidFill>
                  <a:srgbClr val="0F172A"/>
                </a:solidFill>
              </a:defRPr>
            </a:pPr>
            <a:r>
              <a:t>Supplies accepted landing zone, APIM gateway, private DNS, and telemetry sinks.</a:t>
            </a:r>
          </a:p>
        </p:txBody>
      </p:sp>
      <p:sp>
        <p:nvSpPr>
          <p:cNvPr id="11" name="Rounded Rectangle 10"/>
          <p:cNvSpPr/>
          <p:nvPr/>
        </p:nvSpPr>
        <p:spPr>
          <a:xfrm>
            <a:off x="3474720" y="1371600"/>
            <a:ext cx="2377440" cy="2926080"/>
          </a:xfrm>
          <a:prstGeom prst="roundRect">
            <a:avLst/>
          </a:prstGeom>
          <a:solidFill>
            <a:srgbClr val="FFFFFF"/>
          </a:solidFill>
          <a:ln w="1270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371600"/>
            <a:ext cx="237744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1600200"/>
            <a:ext cx="2011680" cy="320040"/>
          </a:xfrm>
          <a:prstGeom prst="rect">
            <a:avLst/>
          </a:prstGeom>
          <a:noFill/>
        </p:spPr>
        <p:txBody>
          <a:bodyPr wrap="none">
            <a:spAutoFit/>
          </a:bodyPr>
          <a:lstStyle/>
          <a:p>
            <a:pPr>
              <a:defRPr sz="1000" b="1">
                <a:solidFill>
                  <a:srgbClr val="0A192F"/>
                </a:solidFill>
              </a:defRPr>
            </a:pPr>
            <a:r>
              <a:t>02 · GOVERNANCE INPUT</a:t>
            </a:r>
          </a:p>
        </p:txBody>
      </p:sp>
      <p:sp>
        <p:nvSpPr>
          <p:cNvPr id="14" name="TextBox 13"/>
          <p:cNvSpPr txBox="1"/>
          <p:nvPr/>
        </p:nvSpPr>
        <p:spPr>
          <a:xfrm>
            <a:off x="3657600" y="1965960"/>
            <a:ext cx="2011680" cy="502920"/>
          </a:xfrm>
          <a:prstGeom prst="rect">
            <a:avLst/>
          </a:prstGeom>
          <a:noFill/>
        </p:spPr>
        <p:txBody>
          <a:bodyPr wrap="square">
            <a:spAutoFit/>
          </a:bodyPr>
          <a:lstStyle/>
          <a:p>
            <a:pPr>
              <a:defRPr sz="1600" b="1">
                <a:solidFill>
                  <a:srgbClr val="0A192F"/>
                </a:solidFill>
              </a:defRPr>
            </a:pPr>
            <a:r>
              <a:t>Agent Governance</a:t>
            </a:r>
          </a:p>
        </p:txBody>
      </p:sp>
      <p:sp>
        <p:nvSpPr>
          <p:cNvPr id="15" name="TextBox 14"/>
          <p:cNvSpPr txBox="1"/>
          <p:nvPr/>
        </p:nvSpPr>
        <p:spPr>
          <a:xfrm>
            <a:off x="3657600" y="2560320"/>
            <a:ext cx="2011680" cy="1554480"/>
          </a:xfrm>
          <a:prstGeom prst="rect">
            <a:avLst/>
          </a:prstGeom>
          <a:noFill/>
        </p:spPr>
        <p:txBody>
          <a:bodyPr wrap="square">
            <a:spAutoFit/>
          </a:bodyPr>
          <a:lstStyle/>
          <a:p>
            <a:pPr>
              <a:defRPr sz="1100">
                <a:solidFill>
                  <a:srgbClr val="0F172A"/>
                </a:solidFill>
              </a:defRPr>
            </a:pPr>
            <a:r>
              <a:t>Supplies reconciled agent catalog, quarantine registry, and containment drills.</a:t>
            </a:r>
          </a:p>
        </p:txBody>
      </p:sp>
      <p:sp>
        <p:nvSpPr>
          <p:cNvPr id="16" name="Rounded Rectangle 15"/>
          <p:cNvSpPr/>
          <p:nvPr/>
        </p:nvSpPr>
        <p:spPr>
          <a:xfrm>
            <a:off x="6217920" y="1371600"/>
            <a:ext cx="2560320" cy="2926080"/>
          </a:xfrm>
          <a:prstGeom prst="roundRect">
            <a:avLst/>
          </a:prstGeom>
          <a:solidFill>
            <a:srgbClr val="EFF6FF"/>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371600"/>
            <a:ext cx="25603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600200"/>
            <a:ext cx="2194560" cy="320040"/>
          </a:xfrm>
          <a:prstGeom prst="rect">
            <a:avLst/>
          </a:prstGeom>
          <a:noFill/>
        </p:spPr>
        <p:txBody>
          <a:bodyPr wrap="none">
            <a:spAutoFit/>
          </a:bodyPr>
          <a:lstStyle/>
          <a:p>
            <a:pPr>
              <a:defRPr sz="1000" b="1">
                <a:solidFill>
                  <a:srgbClr val="0078D4"/>
                </a:solidFill>
              </a:defRPr>
            </a:pPr>
            <a:r>
              <a:t>05 · THIS OFFERING</a:t>
            </a:r>
          </a:p>
        </p:txBody>
      </p:sp>
      <p:sp>
        <p:nvSpPr>
          <p:cNvPr id="19" name="TextBox 18"/>
          <p:cNvSpPr txBox="1"/>
          <p:nvPr/>
        </p:nvSpPr>
        <p:spPr>
          <a:xfrm>
            <a:off x="6400800" y="1965960"/>
            <a:ext cx="2194560" cy="502920"/>
          </a:xfrm>
          <a:prstGeom prst="rect">
            <a:avLst/>
          </a:prstGeom>
          <a:noFill/>
        </p:spPr>
        <p:txBody>
          <a:bodyPr wrap="square">
            <a:spAutoFit/>
          </a:bodyPr>
          <a:lstStyle/>
          <a:p>
            <a:pPr>
              <a:defRPr sz="1600" b="1">
                <a:solidFill>
                  <a:srgbClr val="0A192F"/>
                </a:solidFill>
              </a:defRPr>
            </a:pPr>
            <a:r>
              <a:t>Managed Ops</a:t>
            </a:r>
          </a:p>
        </p:txBody>
      </p:sp>
      <p:sp>
        <p:nvSpPr>
          <p:cNvPr id="20" name="TextBox 19"/>
          <p:cNvSpPr txBox="1"/>
          <p:nvPr/>
        </p:nvSpPr>
        <p:spPr>
          <a:xfrm>
            <a:off x="6400800" y="2560320"/>
            <a:ext cx="2194560" cy="1554480"/>
          </a:xfrm>
          <a:prstGeom prst="rect">
            <a:avLst/>
          </a:prstGeom>
          <a:noFill/>
        </p:spPr>
        <p:txBody>
          <a:bodyPr wrap="square">
            <a:spAutoFit/>
          </a:bodyPr>
          <a:lstStyle/>
          <a:p>
            <a:pPr>
              <a:defRPr sz="1100">
                <a:solidFill>
                  <a:srgbClr val="0F172A"/>
                </a:solidFill>
              </a:defRPr>
            </a:pPr>
            <a:r>
              <a:t>Operates 24x7 desk, executes runbooks, routes incidents, and runs containment.</a:t>
            </a:r>
          </a:p>
        </p:txBody>
      </p:sp>
      <p:sp>
        <p:nvSpPr>
          <p:cNvPr id="21" name="Rounded Rectangle 20"/>
          <p:cNvSpPr/>
          <p:nvPr/>
        </p:nvSpPr>
        <p:spPr>
          <a:xfrm>
            <a:off x="9144000" y="1371600"/>
            <a:ext cx="2286000" cy="2926080"/>
          </a:xfrm>
          <a:prstGeom prst="roundRect">
            <a:avLst/>
          </a:prstGeom>
          <a:solidFill>
            <a:srgbClr val="FFFFFF"/>
          </a:solidFill>
          <a:ln w="1270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0" y="1371600"/>
            <a:ext cx="228600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0" y="1600200"/>
            <a:ext cx="1920240" cy="320040"/>
          </a:xfrm>
          <a:prstGeom prst="rect">
            <a:avLst/>
          </a:prstGeom>
          <a:noFill/>
        </p:spPr>
        <p:txBody>
          <a:bodyPr wrap="none">
            <a:spAutoFit/>
          </a:bodyPr>
          <a:lstStyle/>
          <a:p>
            <a:pPr>
              <a:defRPr sz="1000" b="1">
                <a:solidFill>
                  <a:srgbClr val="00A389"/>
                </a:solidFill>
              </a:defRPr>
            </a:pPr>
            <a:r>
              <a:t>04 · FEEDBACK OUTPUT</a:t>
            </a:r>
          </a:p>
        </p:txBody>
      </p:sp>
      <p:sp>
        <p:nvSpPr>
          <p:cNvPr id="24" name="TextBox 23"/>
          <p:cNvSpPr txBox="1"/>
          <p:nvPr/>
        </p:nvSpPr>
        <p:spPr>
          <a:xfrm>
            <a:off x="9326880" y="1965960"/>
            <a:ext cx="1920240" cy="502920"/>
          </a:xfrm>
          <a:prstGeom prst="rect">
            <a:avLst/>
          </a:prstGeom>
          <a:noFill/>
        </p:spPr>
        <p:txBody>
          <a:bodyPr wrap="square">
            <a:spAutoFit/>
          </a:bodyPr>
          <a:lstStyle/>
          <a:p>
            <a:pPr>
              <a:defRPr sz="1600" b="1">
                <a:solidFill>
                  <a:srgbClr val="0A192F"/>
                </a:solidFill>
              </a:defRPr>
            </a:pPr>
            <a:r>
              <a:t>FinOps</a:t>
            </a:r>
          </a:p>
        </p:txBody>
      </p:sp>
      <p:sp>
        <p:nvSpPr>
          <p:cNvPr id="25" name="TextBox 24"/>
          <p:cNvSpPr txBox="1"/>
          <p:nvPr/>
        </p:nvSpPr>
        <p:spPr>
          <a:xfrm>
            <a:off x="9326880" y="2560320"/>
            <a:ext cx="1920240" cy="1554480"/>
          </a:xfrm>
          <a:prstGeom prst="rect">
            <a:avLst/>
          </a:prstGeom>
          <a:noFill/>
        </p:spPr>
        <p:txBody>
          <a:bodyPr wrap="square">
            <a:spAutoFit/>
          </a:bodyPr>
          <a:lstStyle/>
          <a:p>
            <a:pPr>
              <a:defRPr sz="1100">
                <a:solidFill>
                  <a:srgbClr val="0F172A"/>
                </a:solidFill>
              </a:defRPr>
            </a:pPr>
            <a:r>
              <a:t>Receives monthly token utilization data for quarterly capacity re-benchmarking.</a:t>
            </a:r>
          </a:p>
        </p:txBody>
      </p:sp>
      <p:sp>
        <p:nvSpPr>
          <p:cNvPr id="26" name="Rounded Rectangle 25"/>
          <p:cNvSpPr/>
          <p:nvPr/>
        </p:nvSpPr>
        <p:spPr>
          <a:xfrm>
            <a:off x="731520" y="4480560"/>
            <a:ext cx="10698480" cy="17373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4617720"/>
            <a:ext cx="10149840" cy="320040"/>
          </a:xfrm>
          <a:prstGeom prst="rect">
            <a:avLst/>
          </a:prstGeom>
          <a:noFill/>
        </p:spPr>
        <p:txBody>
          <a:bodyPr wrap="none">
            <a:spAutoFit/>
          </a:bodyPr>
          <a:lstStyle/>
          <a:p>
            <a:pPr>
              <a:defRPr sz="1200" b="1">
                <a:solidFill>
                  <a:srgbClr val="0A192F"/>
                </a:solidFill>
              </a:defRPr>
            </a:pPr>
            <a:r>
              <a:t>OPERATIONAL BOUNDARIES &amp; PRACTICE DEMARCATION</a:t>
            </a:r>
          </a:p>
        </p:txBody>
      </p:sp>
      <p:sp>
        <p:nvSpPr>
          <p:cNvPr id="28" name="Rounded Rectangle 27"/>
          <p:cNvSpPr/>
          <p:nvPr/>
        </p:nvSpPr>
        <p:spPr>
          <a:xfrm>
            <a:off x="1005840" y="4983480"/>
            <a:ext cx="1828800" cy="292608"/>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CIS INFRA OWNS</a:t>
            </a:r>
          </a:p>
        </p:txBody>
      </p:sp>
      <p:sp>
        <p:nvSpPr>
          <p:cNvPr id="29" name="TextBox 28"/>
          <p:cNvSpPr txBox="1"/>
          <p:nvPr/>
        </p:nvSpPr>
        <p:spPr>
          <a:xfrm>
            <a:off x="3017520" y="4965192"/>
            <a:ext cx="8138160" cy="320040"/>
          </a:xfrm>
          <a:prstGeom prst="rect">
            <a:avLst/>
          </a:prstGeom>
          <a:noFill/>
        </p:spPr>
        <p:txBody>
          <a:bodyPr wrap="none">
            <a:spAutoFit/>
          </a:bodyPr>
          <a:lstStyle/>
          <a:p>
            <a:pPr>
              <a:defRPr sz="1100">
                <a:solidFill>
                  <a:srgbClr val="0F172A"/>
                </a:solidFill>
              </a:defRPr>
            </a:pPr>
            <a:r>
              <a:t>Azure infrastructure availability, APIM gateway health, network connectivity, and emergency containment orchestration.</a:t>
            </a:r>
          </a:p>
        </p:txBody>
      </p:sp>
      <p:sp>
        <p:nvSpPr>
          <p:cNvPr id="30" name="Rounded Rectangle 29"/>
          <p:cNvSpPr/>
          <p:nvPr/>
        </p:nvSpPr>
        <p:spPr>
          <a:xfrm>
            <a:off x="1005840" y="5367528"/>
            <a:ext cx="1828800"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AI TOWER OWNS</a:t>
            </a:r>
          </a:p>
        </p:txBody>
      </p:sp>
      <p:sp>
        <p:nvSpPr>
          <p:cNvPr id="31" name="TextBox 30"/>
          <p:cNvSpPr txBox="1"/>
          <p:nvPr/>
        </p:nvSpPr>
        <p:spPr>
          <a:xfrm>
            <a:off x="3017520" y="5349240"/>
            <a:ext cx="8138160" cy="320040"/>
          </a:xfrm>
          <a:prstGeom prst="rect">
            <a:avLst/>
          </a:prstGeom>
          <a:noFill/>
        </p:spPr>
        <p:txBody>
          <a:bodyPr wrap="none">
            <a:spAutoFit/>
          </a:bodyPr>
          <a:lstStyle/>
          <a:p>
            <a:pPr>
              <a:defRPr sz="1100">
                <a:solidFill>
                  <a:srgbClr val="0F172A"/>
                </a:solidFill>
              </a:defRPr>
            </a:pPr>
            <a:r>
              <a:t>Model evaluation accuracy, prompt drift, semantic caching relevance, and task quality incident resolution.</a:t>
            </a:r>
          </a:p>
        </p:txBody>
      </p:sp>
      <p:sp>
        <p:nvSpPr>
          <p:cNvPr id="32" name="Rounded Rectangle 31"/>
          <p:cNvSpPr/>
          <p:nvPr/>
        </p:nvSpPr>
        <p:spPr>
          <a:xfrm>
            <a:off x="1005840" y="5751576"/>
            <a:ext cx="1828800" cy="292608"/>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M365 COPILOT</a:t>
            </a:r>
          </a:p>
        </p:txBody>
      </p:sp>
      <p:sp>
        <p:nvSpPr>
          <p:cNvPr id="33" name="TextBox 32"/>
          <p:cNvSpPr txBox="1"/>
          <p:nvPr/>
        </p:nvSpPr>
        <p:spPr>
          <a:xfrm>
            <a:off x="3017520" y="5733288"/>
            <a:ext cx="8138160" cy="320040"/>
          </a:xfrm>
          <a:prstGeom prst="rect">
            <a:avLst/>
          </a:prstGeom>
          <a:noFill/>
        </p:spPr>
        <p:txBody>
          <a:bodyPr wrap="none">
            <a:spAutoFit/>
          </a:bodyPr>
          <a:lstStyle/>
          <a:p>
            <a:pPr>
              <a:defRPr sz="1100">
                <a:solidFill>
                  <a:srgbClr val="0F172A"/>
                </a:solidFill>
              </a:defRPr>
            </a:pPr>
            <a:r>
              <a:t>Owned by Cognizant Modern Workplace / D365 teams. CIS Infra handles enterprise Azure cloud hosting only.</a:t>
            </a:r>
          </a:p>
        </p:txBody>
      </p:sp>
      <p:sp>
        <p:nvSpPr>
          <p:cNvPr id="34" name="TextBox 33"/>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Managed AI Platform Operations · Working proposal for senior leadership review · Slide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5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INCIDENT LANES &amp; BOUNDARIES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05</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Three lanes keep platform, quality, and security apart</a:t>
            </a:r>
          </a:p>
        </p:txBody>
      </p:sp>
      <p:sp>
        <p:nvSpPr>
          <p:cNvPr id="6" name="Rounded Rectangle 5"/>
          <p:cNvSpPr/>
          <p:nvPr/>
        </p:nvSpPr>
        <p:spPr>
          <a:xfrm>
            <a:off x="731520" y="1371600"/>
            <a:ext cx="3383280" cy="4023360"/>
          </a:xfrm>
          <a:prstGeom prst="roundRect">
            <a:avLst/>
          </a:prstGeom>
          <a:solidFill>
            <a:srgbClr val="EFF6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3017520" cy="320040"/>
          </a:xfrm>
          <a:prstGeom prst="rect">
            <a:avLst/>
          </a:prstGeom>
          <a:noFill/>
        </p:spPr>
        <p:txBody>
          <a:bodyPr wrap="none">
            <a:spAutoFit/>
          </a:bodyPr>
          <a:lstStyle/>
          <a:p>
            <a:pPr>
              <a:defRPr sz="1050" b="1">
                <a:solidFill>
                  <a:srgbClr val="0078D4"/>
                </a:solidFill>
              </a:defRPr>
            </a:pPr>
            <a:r>
              <a:t>LANE 1: PLATFORM AVAILABILITY</a:t>
            </a:r>
          </a:p>
        </p:txBody>
      </p:sp>
      <p:sp>
        <p:nvSpPr>
          <p:cNvPr id="9" name="TextBox 8"/>
          <p:cNvSpPr txBox="1"/>
          <p:nvPr/>
        </p:nvSpPr>
        <p:spPr>
          <a:xfrm>
            <a:off x="914400" y="1920240"/>
            <a:ext cx="3017520" cy="274320"/>
          </a:xfrm>
          <a:prstGeom prst="rect">
            <a:avLst/>
          </a:prstGeom>
          <a:noFill/>
        </p:spPr>
        <p:txBody>
          <a:bodyPr wrap="none">
            <a:spAutoFit/>
          </a:bodyPr>
          <a:lstStyle/>
          <a:p>
            <a:pPr>
              <a:defRPr sz="1000" b="1">
                <a:solidFill>
                  <a:srgbClr val="0A192F"/>
                </a:solidFill>
              </a:defRPr>
            </a:pPr>
            <a:r>
              <a:t>Accountable: CIS Infra Desk</a:t>
            </a:r>
          </a:p>
        </p:txBody>
      </p:sp>
      <p:sp>
        <p:nvSpPr>
          <p:cNvPr id="10" name="TextBox 9"/>
          <p:cNvSpPr txBox="1"/>
          <p:nvPr/>
        </p:nvSpPr>
        <p:spPr>
          <a:xfrm>
            <a:off x="914400" y="2240280"/>
            <a:ext cx="3017520" cy="2926080"/>
          </a:xfrm>
          <a:prstGeom prst="rect">
            <a:avLst/>
          </a:prstGeom>
          <a:noFill/>
        </p:spPr>
        <p:txBody>
          <a:bodyPr wrap="square">
            <a:spAutoFit/>
          </a:bodyPr>
          <a:lstStyle/>
          <a:p>
            <a:pPr>
              <a:spcAft>
                <a:spcPts val="500"/>
              </a:spcAft>
              <a:defRPr sz="1050">
                <a:solidFill>
                  <a:srgbClr val="0F172A"/>
                </a:solidFill>
              </a:defRPr>
            </a:pPr>
            <a:r>
              <a:t>• Azure resource health, VM/container node outages</a:t>
            </a:r>
          </a:p>
          <a:p>
            <a:pPr>
              <a:spcAft>
                <a:spcPts val="500"/>
              </a:spcAft>
              <a:defRPr sz="1050">
                <a:solidFill>
                  <a:srgbClr val="0F172A"/>
                </a:solidFill>
              </a:defRPr>
            </a:pPr>
            <a:r>
              <a:t>• Hub-and-spoke VNet peering &amp; Private DNS resolution</a:t>
            </a:r>
          </a:p>
          <a:p>
            <a:pPr>
              <a:spcAft>
                <a:spcPts val="500"/>
              </a:spcAft>
              <a:defRPr sz="1050">
                <a:solidFill>
                  <a:srgbClr val="0F172A"/>
                </a:solidFill>
              </a:defRPr>
            </a:pPr>
            <a:r>
              <a:t>• API Management gateway 429/503 throttling errors</a:t>
            </a:r>
          </a:p>
          <a:p>
            <a:pPr>
              <a:spcAft>
                <a:spcPts val="500"/>
              </a:spcAft>
              <a:defRPr sz="1050">
                <a:solidFill>
                  <a:srgbClr val="0F172A"/>
                </a:solidFill>
              </a:defRPr>
            </a:pPr>
            <a:r>
              <a:t>• PTU to PAYG overflow routing failover execution</a:t>
            </a:r>
          </a:p>
          <a:p>
            <a:pPr>
              <a:spcAft>
                <a:spcPts val="500"/>
              </a:spcAft>
              <a:defRPr sz="1050">
                <a:solidFill>
                  <a:srgbClr val="0F172A"/>
                </a:solidFill>
              </a:defRPr>
            </a:pPr>
            <a:r>
              <a:t>• Platform restore runbooks &amp; infrastructure DR</a:t>
            </a:r>
          </a:p>
          <a:p>
            <a:pPr>
              <a:spcAft>
                <a:spcPts val="500"/>
              </a:spcAft>
              <a:defRPr sz="1050">
                <a:solidFill>
                  <a:srgbClr val="0F172A"/>
                </a:solidFill>
              </a:defRPr>
            </a:pPr>
            <a:r>
              <a:t>• Monthly capacity and token utilization reporting</a:t>
            </a:r>
          </a:p>
        </p:txBody>
      </p:sp>
      <p:sp>
        <p:nvSpPr>
          <p:cNvPr id="11" name="Rounded Rectangle 10"/>
          <p:cNvSpPr/>
          <p:nvPr/>
        </p:nvSpPr>
        <p:spPr>
          <a:xfrm>
            <a:off x="4389120" y="1371600"/>
            <a:ext cx="3383280" cy="4023360"/>
          </a:xfrm>
          <a:prstGeom prst="roundRect">
            <a:avLst/>
          </a:prstGeom>
          <a:solidFill>
            <a:srgbClr val="F8FAFC"/>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371600"/>
            <a:ext cx="3383280" cy="73152"/>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600200"/>
            <a:ext cx="3017520" cy="320040"/>
          </a:xfrm>
          <a:prstGeom prst="rect">
            <a:avLst/>
          </a:prstGeom>
          <a:noFill/>
        </p:spPr>
        <p:txBody>
          <a:bodyPr wrap="none">
            <a:spAutoFit/>
          </a:bodyPr>
          <a:lstStyle/>
          <a:p>
            <a:pPr>
              <a:defRPr sz="1050" b="1">
                <a:solidFill>
                  <a:srgbClr val="64748B"/>
                </a:solidFill>
              </a:defRPr>
            </a:pPr>
            <a:r>
              <a:t>LANE 2: AGENT TASK QUALITY</a:t>
            </a:r>
          </a:p>
        </p:txBody>
      </p:sp>
      <p:sp>
        <p:nvSpPr>
          <p:cNvPr id="14" name="TextBox 13"/>
          <p:cNvSpPr txBox="1"/>
          <p:nvPr/>
        </p:nvSpPr>
        <p:spPr>
          <a:xfrm>
            <a:off x="4572000" y="1920240"/>
            <a:ext cx="3017520" cy="274320"/>
          </a:xfrm>
          <a:prstGeom prst="rect">
            <a:avLst/>
          </a:prstGeom>
          <a:noFill/>
        </p:spPr>
        <p:txBody>
          <a:bodyPr wrap="none">
            <a:spAutoFit/>
          </a:bodyPr>
          <a:lstStyle/>
          <a:p>
            <a:pPr>
              <a:defRPr sz="1000" b="1">
                <a:solidFill>
                  <a:srgbClr val="0A192F"/>
                </a:solidFill>
              </a:defRPr>
            </a:pPr>
            <a:r>
              <a:t>Accountable: AI Tower Resolver</a:t>
            </a:r>
          </a:p>
        </p:txBody>
      </p:sp>
      <p:sp>
        <p:nvSpPr>
          <p:cNvPr id="15" name="TextBox 14"/>
          <p:cNvSpPr txBox="1"/>
          <p:nvPr/>
        </p:nvSpPr>
        <p:spPr>
          <a:xfrm>
            <a:off x="4572000" y="2240280"/>
            <a:ext cx="3017520" cy="2926080"/>
          </a:xfrm>
          <a:prstGeom prst="rect">
            <a:avLst/>
          </a:prstGeom>
          <a:noFill/>
        </p:spPr>
        <p:txBody>
          <a:bodyPr wrap="square">
            <a:spAutoFit/>
          </a:bodyPr>
          <a:lstStyle/>
          <a:p>
            <a:pPr>
              <a:spcAft>
                <a:spcPts val="500"/>
              </a:spcAft>
              <a:defRPr sz="1050">
                <a:solidFill>
                  <a:srgbClr val="0F172A"/>
                </a:solidFill>
              </a:defRPr>
            </a:pPr>
            <a:r>
              <a:t>• Incorrect or poor quality model completions</a:t>
            </a:r>
          </a:p>
          <a:p>
            <a:pPr>
              <a:spcAft>
                <a:spcPts val="500"/>
              </a:spcAft>
              <a:defRPr sz="1050">
                <a:solidFill>
                  <a:srgbClr val="0F172A"/>
                </a:solidFill>
              </a:defRPr>
            </a:pPr>
            <a:r>
              <a:t>• Agent tool invocation failures due to prompt bugs</a:t>
            </a:r>
          </a:p>
          <a:p>
            <a:pPr>
              <a:spcAft>
                <a:spcPts val="500"/>
              </a:spcAft>
              <a:defRPr sz="1050">
                <a:solidFill>
                  <a:srgbClr val="0F172A"/>
                </a:solidFill>
              </a:defRPr>
            </a:pPr>
            <a:r>
              <a:t>• Evaluation drift &amp; LLM benchmark degradation</a:t>
            </a:r>
          </a:p>
          <a:p>
            <a:pPr>
              <a:spcAft>
                <a:spcPts val="500"/>
              </a:spcAft>
              <a:defRPr sz="1050">
                <a:solidFill>
                  <a:srgbClr val="0F172A"/>
                </a:solidFill>
              </a:defRPr>
            </a:pPr>
            <a:r>
              <a:t>• Semantic caching cache-hit quality validation</a:t>
            </a:r>
          </a:p>
          <a:p>
            <a:pPr>
              <a:spcAft>
                <a:spcPts val="500"/>
              </a:spcAft>
              <a:defRPr sz="1050">
                <a:solidFill>
                  <a:srgbClr val="0F172A"/>
                </a:solidFill>
              </a:defRPr>
            </a:pPr>
            <a:r>
              <a:t>• Model version updates &amp; prompt template changes</a:t>
            </a:r>
          </a:p>
          <a:p>
            <a:pPr>
              <a:spcAft>
                <a:spcPts val="500"/>
              </a:spcAft>
              <a:defRPr sz="1050">
                <a:solidFill>
                  <a:srgbClr val="0F172A"/>
                </a:solidFill>
              </a:defRPr>
            </a:pPr>
            <a:r>
              <a:t>• Grounding vector index freshness and accuracy</a:t>
            </a:r>
          </a:p>
        </p:txBody>
      </p:sp>
      <p:sp>
        <p:nvSpPr>
          <p:cNvPr id="16" name="Rounded Rectangle 15"/>
          <p:cNvSpPr/>
          <p:nvPr/>
        </p:nvSpPr>
        <p:spPr>
          <a:xfrm>
            <a:off x="8046720" y="1371600"/>
            <a:ext cx="3383280" cy="4023360"/>
          </a:xfrm>
          <a:prstGeom prst="roundRect">
            <a:avLst/>
          </a:prstGeom>
          <a:solidFill>
            <a:srgbClr val="FFFFFF"/>
          </a:solidFill>
          <a:ln w="1905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371600"/>
            <a:ext cx="33832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600200"/>
            <a:ext cx="3017520" cy="320040"/>
          </a:xfrm>
          <a:prstGeom prst="rect">
            <a:avLst/>
          </a:prstGeom>
          <a:noFill/>
        </p:spPr>
        <p:txBody>
          <a:bodyPr wrap="none">
            <a:spAutoFit/>
          </a:bodyPr>
          <a:lstStyle/>
          <a:p>
            <a:pPr>
              <a:defRPr sz="1050" b="1">
                <a:solidFill>
                  <a:srgbClr val="0A192F"/>
                </a:solidFill>
              </a:defRPr>
            </a:pPr>
            <a:r>
              <a:t>LANE 3: SECURITY INCIDENTS</a:t>
            </a:r>
          </a:p>
        </p:txBody>
      </p:sp>
      <p:sp>
        <p:nvSpPr>
          <p:cNvPr id="19" name="TextBox 18"/>
          <p:cNvSpPr txBox="1"/>
          <p:nvPr/>
        </p:nvSpPr>
        <p:spPr>
          <a:xfrm>
            <a:off x="8229600" y="1920240"/>
            <a:ext cx="3017520" cy="274320"/>
          </a:xfrm>
          <a:prstGeom prst="rect">
            <a:avLst/>
          </a:prstGeom>
          <a:noFill/>
        </p:spPr>
        <p:txBody>
          <a:bodyPr wrap="none">
            <a:spAutoFit/>
          </a:bodyPr>
          <a:lstStyle/>
          <a:p>
            <a:pPr>
              <a:defRPr sz="1000" b="1">
                <a:solidFill>
                  <a:srgbClr val="0A192F"/>
                </a:solidFill>
              </a:defRPr>
            </a:pPr>
            <a:r>
              <a:t>Accountable: Contracted SOC / CISO</a:t>
            </a:r>
          </a:p>
        </p:txBody>
      </p:sp>
      <p:sp>
        <p:nvSpPr>
          <p:cNvPr id="20" name="TextBox 19"/>
          <p:cNvSpPr txBox="1"/>
          <p:nvPr/>
        </p:nvSpPr>
        <p:spPr>
          <a:xfrm>
            <a:off x="8229600" y="2240280"/>
            <a:ext cx="3017520" cy="2926080"/>
          </a:xfrm>
          <a:prstGeom prst="rect">
            <a:avLst/>
          </a:prstGeom>
          <a:noFill/>
        </p:spPr>
        <p:txBody>
          <a:bodyPr wrap="square">
            <a:spAutoFit/>
          </a:bodyPr>
          <a:lstStyle/>
          <a:p>
            <a:pPr>
              <a:spcAft>
                <a:spcPts val="500"/>
              </a:spcAft>
              <a:defRPr sz="1050">
                <a:solidFill>
                  <a:srgbClr val="0F172A"/>
                </a:solidFill>
              </a:defRPr>
            </a:pPr>
            <a:r>
              <a:t>• Active prompt injection attacks &amp; data exfiltration</a:t>
            </a:r>
          </a:p>
          <a:p>
            <a:pPr>
              <a:spcAft>
                <a:spcPts val="500"/>
              </a:spcAft>
              <a:defRPr sz="1050">
                <a:solidFill>
                  <a:srgbClr val="0F172A"/>
                </a:solidFill>
              </a:defRPr>
            </a:pPr>
            <a:r>
              <a:t>• Compromised API keys or unauthorized agent identities</a:t>
            </a:r>
          </a:p>
          <a:p>
            <a:pPr>
              <a:spcAft>
                <a:spcPts val="500"/>
              </a:spcAft>
              <a:defRPr sz="1050">
                <a:solidFill>
                  <a:srgbClr val="0F172A"/>
                </a:solidFill>
              </a:defRPr>
            </a:pPr>
            <a:r>
              <a:t>• Compliance violations &amp; EU AI Act policy breaches</a:t>
            </a:r>
          </a:p>
          <a:p>
            <a:pPr>
              <a:spcAft>
                <a:spcPts val="500"/>
              </a:spcAft>
              <a:defRPr sz="1050">
                <a:solidFill>
                  <a:srgbClr val="0F172A"/>
                </a:solidFill>
              </a:defRPr>
            </a:pPr>
            <a:r>
              <a:t>• Forensics, audit preservation, &amp; regulatory filing</a:t>
            </a:r>
          </a:p>
          <a:p>
            <a:pPr>
              <a:spcAft>
                <a:spcPts val="500"/>
              </a:spcAft>
              <a:defRPr sz="1050">
                <a:solidFill>
                  <a:srgbClr val="0F172A"/>
                </a:solidFill>
              </a:defRPr>
            </a:pPr>
            <a:r>
              <a:t>• CIS Infra executes 4-layer containment on CISO order</a:t>
            </a:r>
          </a:p>
          <a:p>
            <a:pPr>
              <a:spcAft>
                <a:spcPts val="500"/>
              </a:spcAft>
              <a:defRPr sz="1050">
                <a:solidFill>
                  <a:srgbClr val="0F172A"/>
                </a:solidFill>
              </a:defRPr>
            </a:pPr>
            <a:r>
              <a:t>• Two-person sign-off required prior to agent restart</a:t>
            </a:r>
          </a:p>
        </p:txBody>
      </p:sp>
      <p:sp>
        <p:nvSpPr>
          <p:cNvPr id="21" name="Rounded Rectangle 20"/>
          <p:cNvSpPr/>
          <p:nvPr/>
        </p:nvSpPr>
        <p:spPr>
          <a:xfrm>
            <a:off x="731520" y="5532120"/>
            <a:ext cx="10698480" cy="685800"/>
          </a:xfrm>
          <a:prstGeom prst="roundRect">
            <a:avLst/>
          </a:prstGeom>
          <a:solidFill>
            <a:srgbClr val="EFF6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623560"/>
            <a:ext cx="10332720" cy="502920"/>
          </a:xfrm>
          <a:prstGeom prst="rect">
            <a:avLst/>
          </a:prstGeom>
          <a:noFill/>
        </p:spPr>
        <p:txBody>
          <a:bodyPr wrap="square">
            <a:spAutoFit/>
          </a:bodyPr>
          <a:lstStyle/>
          <a:p>
            <a:r>
              <a:rPr b="1" sz="1100">
                <a:solidFill>
                  <a:srgbClr val="0078D4"/>
                </a:solidFill>
              </a:rPr>
              <a:t>ROUTING RULE: </a:t>
            </a:r>
            <a:r>
              <a:rPr sz="1100">
                <a:solidFill>
                  <a:srgbClr val="0A192F"/>
                </a:solidFill>
              </a:rPr>
              <a:t>One customer ITSM entry point routes incoming tickets to the designated specialist lane. CIS Infra does not own model quality or security SOC.</a:t>
            </a:r>
          </a:p>
        </p:txBody>
      </p:sp>
      <p:sp>
        <p:nvSpPr>
          <p:cNvPr id="23" name="TextBox 2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Managed AI Platform Operations · Working proposal for senior leadership review · Slide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6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REFERENCE ARCHITECTURE</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06</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Every alert reaches one desk and the right resolver</a:t>
            </a:r>
          </a:p>
        </p:txBody>
      </p:sp>
      <p:sp>
        <p:nvSpPr>
          <p:cNvPr id="6" name="Rounded Rectangle 5"/>
          <p:cNvSpPr/>
          <p:nvPr/>
        </p:nvSpPr>
        <p:spPr>
          <a:xfrm>
            <a:off x="731520" y="1371600"/>
            <a:ext cx="2926080" cy="4206240"/>
          </a:xfrm>
          <a:prstGeom prst="roundRect">
            <a:avLst/>
          </a:prstGeom>
          <a:solidFill>
            <a:srgbClr val="FFFFFF"/>
          </a:solidFill>
          <a:ln w="1905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9260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2560320" cy="365760"/>
          </a:xfrm>
          <a:prstGeom prst="rect">
            <a:avLst/>
          </a:prstGeom>
          <a:noFill/>
        </p:spPr>
        <p:txBody>
          <a:bodyPr wrap="none">
            <a:spAutoFit/>
          </a:bodyPr>
          <a:lstStyle/>
          <a:p>
            <a:pPr>
              <a:defRPr sz="1100" b="1">
                <a:solidFill>
                  <a:srgbClr val="0A192F"/>
                </a:solidFill>
              </a:defRPr>
            </a:pPr>
            <a:r>
              <a:t>ZONE 1: TELEMETRY SIGNALS</a:t>
            </a:r>
          </a:p>
        </p:txBody>
      </p:sp>
      <p:sp>
        <p:nvSpPr>
          <p:cNvPr id="9" name="Rounded Rectangle 8"/>
          <p:cNvSpPr/>
          <p:nvPr/>
        </p:nvSpPr>
        <p:spPr>
          <a:xfrm>
            <a:off x="914400" y="2057400"/>
            <a:ext cx="2560320" cy="6583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Azure Monitor &amp; Health</a:t>
            </a:r>
          </a:p>
          <a:p>
            <a:pPr>
              <a:defRPr sz="850">
                <a:solidFill>
                  <a:srgbClr val="0F172A"/>
                </a:solidFill>
              </a:defRPr>
            </a:pPr>
            <a:r>
              <a:t>Platform metrics, service incidents, VM heartbeat</a:t>
            </a:r>
          </a:p>
        </p:txBody>
      </p:sp>
      <p:sp>
        <p:nvSpPr>
          <p:cNvPr id="10" name="Rounded Rectangle 9"/>
          <p:cNvSpPr/>
          <p:nvPr/>
        </p:nvSpPr>
        <p:spPr>
          <a:xfrm>
            <a:off x="914400" y="2788920"/>
            <a:ext cx="2560320" cy="6583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Log Analytics &amp; APIM</a:t>
            </a:r>
          </a:p>
          <a:p>
            <a:pPr>
              <a:defRPr sz="850">
                <a:solidFill>
                  <a:srgbClr val="0F172A"/>
                </a:solidFill>
              </a:defRPr>
            </a:pPr>
            <a:r>
              <a:t>Gateway 429/500 errors, latency spikes, TPM load</a:t>
            </a:r>
          </a:p>
        </p:txBody>
      </p:sp>
      <p:sp>
        <p:nvSpPr>
          <p:cNvPr id="11" name="Rounded Rectangle 10"/>
          <p:cNvSpPr/>
          <p:nvPr/>
        </p:nvSpPr>
        <p:spPr>
          <a:xfrm>
            <a:off x="914400" y="3520440"/>
            <a:ext cx="2560320" cy="6583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Application Insights</a:t>
            </a:r>
          </a:p>
          <a:p>
            <a:pPr>
              <a:defRPr sz="850">
                <a:solidFill>
                  <a:srgbClr val="0F172A"/>
                </a:solidFill>
              </a:defRPr>
            </a:pPr>
            <a:r>
              <a:t>Agent loop runs, execution traces, tool exceptions</a:t>
            </a:r>
          </a:p>
        </p:txBody>
      </p:sp>
      <p:sp>
        <p:nvSpPr>
          <p:cNvPr id="12" name="Rounded Rectangle 11"/>
          <p:cNvSpPr/>
          <p:nvPr/>
        </p:nvSpPr>
        <p:spPr>
          <a:xfrm>
            <a:off x="914400" y="4251960"/>
            <a:ext cx="2560320" cy="6583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Azure Cost Management</a:t>
            </a:r>
          </a:p>
          <a:p>
            <a:pPr>
              <a:defRPr sz="850">
                <a:solidFill>
                  <a:srgbClr val="0F172A"/>
                </a:solidFill>
              </a:defRPr>
            </a:pPr>
            <a:r>
              <a:t>Budget threshold breaches &amp; anomaly alerts</a:t>
            </a:r>
          </a:p>
        </p:txBody>
      </p:sp>
      <p:sp>
        <p:nvSpPr>
          <p:cNvPr id="13" name="Rounded Rectangle 12"/>
          <p:cNvSpPr/>
          <p:nvPr/>
        </p:nvSpPr>
        <p:spPr>
          <a:xfrm>
            <a:off x="3931920" y="1371600"/>
            <a:ext cx="4297680" cy="420624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931920" y="1371600"/>
            <a:ext cx="42976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0" y="1600200"/>
            <a:ext cx="3931920" cy="365760"/>
          </a:xfrm>
          <a:prstGeom prst="rect">
            <a:avLst/>
          </a:prstGeom>
          <a:noFill/>
        </p:spPr>
        <p:txBody>
          <a:bodyPr wrap="none">
            <a:spAutoFit/>
          </a:bodyPr>
          <a:lstStyle/>
          <a:p>
            <a:pPr>
              <a:defRPr sz="1100" b="1">
                <a:solidFill>
                  <a:srgbClr val="0078D4"/>
                </a:solidFill>
              </a:defRPr>
            </a:pPr>
            <a:r>
              <a:t>ZONE 2: UNIFIED SERVICE DESK &amp; ROUTING</a:t>
            </a:r>
          </a:p>
        </p:txBody>
      </p:sp>
      <p:sp>
        <p:nvSpPr>
          <p:cNvPr id="16" name="Rounded Rectangle 15"/>
          <p:cNvSpPr/>
          <p:nvPr/>
        </p:nvSpPr>
        <p:spPr>
          <a:xfrm>
            <a:off x="4114800" y="2057400"/>
            <a:ext cx="3931920" cy="6583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ITSM Service Portal</a:t>
            </a:r>
          </a:p>
          <a:p>
            <a:pPr>
              <a:defRPr sz="850">
                <a:solidFill>
                  <a:srgbClr val="0F172A"/>
                </a:solidFill>
              </a:defRPr>
            </a:pPr>
            <a:r>
              <a:t>Single entry point (ServiceNow / Jira Service Desk)</a:t>
            </a:r>
          </a:p>
        </p:txBody>
      </p:sp>
      <p:sp>
        <p:nvSpPr>
          <p:cNvPr id="17" name="Rounded Rectangle 16"/>
          <p:cNvSpPr/>
          <p:nvPr/>
        </p:nvSpPr>
        <p:spPr>
          <a:xfrm>
            <a:off x="4114800" y="2788920"/>
            <a:ext cx="3931920" cy="6583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Automated Action Groups</a:t>
            </a:r>
          </a:p>
          <a:p>
            <a:pPr>
              <a:defRPr sz="850">
                <a:solidFill>
                  <a:srgbClr val="0F172A"/>
                </a:solidFill>
              </a:defRPr>
            </a:pPr>
            <a:r>
              <a:t>Ingests Azure Monitor webhooks into ITSM incident queue</a:t>
            </a:r>
          </a:p>
        </p:txBody>
      </p:sp>
      <p:sp>
        <p:nvSpPr>
          <p:cNvPr id="18" name="Rounded Rectangle 17"/>
          <p:cNvSpPr/>
          <p:nvPr/>
        </p:nvSpPr>
        <p:spPr>
          <a:xfrm>
            <a:off x="4114800" y="3520440"/>
            <a:ext cx="3931920" cy="6583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Lane Classification Engine</a:t>
            </a:r>
          </a:p>
          <a:p>
            <a:pPr>
              <a:defRPr sz="850">
                <a:solidFill>
                  <a:srgbClr val="0F172A"/>
                </a:solidFill>
              </a:defRPr>
            </a:pPr>
            <a:r>
              <a:t>Rules engine maps alert metadata to Lane 1, 2, or 3</a:t>
            </a:r>
          </a:p>
        </p:txBody>
      </p:sp>
      <p:sp>
        <p:nvSpPr>
          <p:cNvPr id="19" name="Rounded Rectangle 18"/>
          <p:cNvSpPr/>
          <p:nvPr/>
        </p:nvSpPr>
        <p:spPr>
          <a:xfrm>
            <a:off x="4114800" y="4251960"/>
            <a:ext cx="3931920" cy="6583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P1 Escalation Bridge</a:t>
            </a:r>
          </a:p>
          <a:p>
            <a:pPr>
              <a:defRPr sz="850">
                <a:solidFill>
                  <a:srgbClr val="0F172A"/>
                </a:solidFill>
              </a:defRPr>
            </a:pPr>
            <a:r>
              <a:t>Automated paging for platform outage or containment call</a:t>
            </a:r>
          </a:p>
        </p:txBody>
      </p:sp>
      <p:sp>
        <p:nvSpPr>
          <p:cNvPr id="20" name="Rounded Rectangle 19"/>
          <p:cNvSpPr/>
          <p:nvPr/>
        </p:nvSpPr>
        <p:spPr>
          <a:xfrm>
            <a:off x="8503920" y="1371600"/>
            <a:ext cx="2926080" cy="420624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503920" y="1371600"/>
            <a:ext cx="29260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0" y="1600200"/>
            <a:ext cx="2560320" cy="365760"/>
          </a:xfrm>
          <a:prstGeom prst="rect">
            <a:avLst/>
          </a:prstGeom>
          <a:noFill/>
        </p:spPr>
        <p:txBody>
          <a:bodyPr wrap="none">
            <a:spAutoFit/>
          </a:bodyPr>
          <a:lstStyle/>
          <a:p>
            <a:pPr>
              <a:defRPr sz="1100" b="1">
                <a:solidFill>
                  <a:srgbClr val="00A389"/>
                </a:solidFill>
              </a:defRPr>
            </a:pPr>
            <a:r>
              <a:t>ZONE 3: RESOLVER TEAMS</a:t>
            </a:r>
          </a:p>
        </p:txBody>
      </p:sp>
      <p:sp>
        <p:nvSpPr>
          <p:cNvPr id="23" name="Rounded Rectangle 22"/>
          <p:cNvSpPr/>
          <p:nvPr/>
        </p:nvSpPr>
        <p:spPr>
          <a:xfrm>
            <a:off x="8686800" y="2057400"/>
            <a:ext cx="2560320" cy="6583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Lane 1: CIS Infra Desk</a:t>
            </a:r>
          </a:p>
          <a:p>
            <a:pPr>
              <a:defRPr sz="850">
                <a:solidFill>
                  <a:srgbClr val="0F172A"/>
                </a:solidFill>
              </a:defRPr>
            </a:pPr>
            <a:r>
              <a:t>Platform health, gateway, DNS, runbooks</a:t>
            </a:r>
          </a:p>
        </p:txBody>
      </p:sp>
      <p:sp>
        <p:nvSpPr>
          <p:cNvPr id="24" name="Rounded Rectangle 23"/>
          <p:cNvSpPr/>
          <p:nvPr/>
        </p:nvSpPr>
        <p:spPr>
          <a:xfrm>
            <a:off x="8686800" y="2788920"/>
            <a:ext cx="2560320" cy="6583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Lane 2: AI Tower Team</a:t>
            </a:r>
          </a:p>
          <a:p>
            <a:pPr>
              <a:defRPr sz="850">
                <a:solidFill>
                  <a:srgbClr val="0F172A"/>
                </a:solidFill>
              </a:defRPr>
            </a:pPr>
            <a:r>
              <a:t>Prompt quality, model drift, tool schemas</a:t>
            </a:r>
          </a:p>
        </p:txBody>
      </p:sp>
      <p:sp>
        <p:nvSpPr>
          <p:cNvPr id="25" name="Rounded Rectangle 24"/>
          <p:cNvSpPr/>
          <p:nvPr/>
        </p:nvSpPr>
        <p:spPr>
          <a:xfrm>
            <a:off x="8686800" y="3520440"/>
            <a:ext cx="2560320" cy="6583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Lane 3: Security SOC</a:t>
            </a:r>
          </a:p>
          <a:p>
            <a:pPr>
              <a:defRPr sz="850">
                <a:solidFill>
                  <a:srgbClr val="0F172A"/>
                </a:solidFill>
              </a:defRPr>
            </a:pPr>
            <a:r>
              <a:t>Threat response, containment authority</a:t>
            </a:r>
          </a:p>
        </p:txBody>
      </p:sp>
      <p:sp>
        <p:nvSpPr>
          <p:cNvPr id="26" name="Rounded Rectangle 25"/>
          <p:cNvSpPr/>
          <p:nvPr/>
        </p:nvSpPr>
        <p:spPr>
          <a:xfrm>
            <a:off x="8686800" y="4251960"/>
            <a:ext cx="2560320" cy="6583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Containment Engine</a:t>
            </a:r>
          </a:p>
          <a:p>
            <a:pPr>
              <a:defRPr sz="850">
                <a:solidFill>
                  <a:srgbClr val="0F172A"/>
                </a:solidFill>
              </a:defRPr>
            </a:pPr>
            <a:r>
              <a:t>4-layer emergency stop orchestrator</a:t>
            </a:r>
          </a:p>
        </p:txBody>
      </p:sp>
      <p:sp>
        <p:nvSpPr>
          <p:cNvPr id="27" name="Rounded Rectangle 26"/>
          <p:cNvSpPr/>
          <p:nvPr/>
        </p:nvSpPr>
        <p:spPr>
          <a:xfrm>
            <a:off x="731520" y="5715000"/>
            <a:ext cx="10698480" cy="502920"/>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MONTHLY EVIDENCE: Monthly service review delivers SLA compliance reports, token utilization curves, and quarterly containment drill results.</a:t>
            </a:r>
          </a:p>
        </p:txBody>
      </p:sp>
      <p:sp>
        <p:nvSpPr>
          <p:cNvPr id="28" name="TextBox 27"/>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Managed AI Platform Operations · Working proposal for senior leadership review · Slide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7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STAFFING &amp; COMMERCIAL PRICING</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07</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Price follows staffing: 1.5 to 10 FTE per package</a:t>
            </a:r>
          </a:p>
        </p:txBody>
      </p:sp>
      <p:sp>
        <p:nvSpPr>
          <p:cNvPr id="6" name="Rounded Rectangle 5"/>
          <p:cNvSpPr/>
          <p:nvPr/>
        </p:nvSpPr>
        <p:spPr>
          <a:xfrm>
            <a:off x="731520" y="1371600"/>
            <a:ext cx="2468880" cy="4023360"/>
          </a:xfrm>
          <a:prstGeom prst="roundRect">
            <a:avLst/>
          </a:prstGeom>
          <a:solidFill>
            <a:srgbClr val="FFFFFF"/>
          </a:solidFill>
          <a:ln w="1905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4688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2103120" cy="457200"/>
          </a:xfrm>
          <a:prstGeom prst="rect">
            <a:avLst/>
          </a:prstGeom>
          <a:noFill/>
        </p:spPr>
        <p:txBody>
          <a:bodyPr wrap="square">
            <a:spAutoFit/>
          </a:bodyPr>
          <a:lstStyle/>
          <a:p>
            <a:pPr>
              <a:defRPr sz="1300" b="1">
                <a:solidFill>
                  <a:srgbClr val="0A192F"/>
                </a:solidFill>
              </a:defRPr>
            </a:pPr>
            <a:r>
              <a:t>1. Foundation Tier</a:t>
            </a:r>
          </a:p>
        </p:txBody>
      </p:sp>
      <p:sp>
        <p:nvSpPr>
          <p:cNvPr id="9" name="TextBox 8"/>
          <p:cNvSpPr txBox="1"/>
          <p:nvPr/>
        </p:nvSpPr>
        <p:spPr>
          <a:xfrm>
            <a:off x="914400" y="2103120"/>
            <a:ext cx="2103120" cy="274320"/>
          </a:xfrm>
          <a:prstGeom prst="rect">
            <a:avLst/>
          </a:prstGeom>
          <a:noFill/>
        </p:spPr>
        <p:txBody>
          <a:bodyPr wrap="none">
            <a:spAutoFit/>
          </a:bodyPr>
          <a:lstStyle/>
          <a:p>
            <a:pPr>
              <a:defRPr sz="1000" b="1">
                <a:solidFill>
                  <a:srgbClr val="0A192F"/>
                </a:solidFill>
              </a:defRPr>
            </a:pPr>
            <a:r>
              <a:t>8x5 BUSINESS HOURS</a:t>
            </a:r>
          </a:p>
        </p:txBody>
      </p:sp>
      <p:sp>
        <p:nvSpPr>
          <p:cNvPr id="10" name="TextBox 9"/>
          <p:cNvSpPr txBox="1"/>
          <p:nvPr/>
        </p:nvSpPr>
        <p:spPr>
          <a:xfrm>
            <a:off x="914400" y="2423160"/>
            <a:ext cx="2103120" cy="320040"/>
          </a:xfrm>
          <a:prstGeom prst="rect">
            <a:avLst/>
          </a:prstGeom>
          <a:noFill/>
        </p:spPr>
        <p:txBody>
          <a:bodyPr wrap="none">
            <a:spAutoFit/>
          </a:bodyPr>
          <a:lstStyle/>
          <a:p>
            <a:pPr>
              <a:defRPr sz="1500" b="1">
                <a:solidFill>
                  <a:srgbClr val="0A192F"/>
                </a:solidFill>
              </a:defRPr>
            </a:pPr>
            <a:r>
              <a:t>1.5 to 3 FTE</a:t>
            </a:r>
          </a:p>
        </p:txBody>
      </p:sp>
      <p:sp>
        <p:nvSpPr>
          <p:cNvPr id="11" name="TextBox 10"/>
          <p:cNvSpPr txBox="1"/>
          <p:nvPr/>
        </p:nvSpPr>
        <p:spPr>
          <a:xfrm>
            <a:off x="914400" y="2788920"/>
            <a:ext cx="2103120" cy="320040"/>
          </a:xfrm>
          <a:prstGeom prst="rect">
            <a:avLst/>
          </a:prstGeom>
          <a:noFill/>
        </p:spPr>
        <p:txBody>
          <a:bodyPr wrap="none">
            <a:spAutoFit/>
          </a:bodyPr>
          <a:lstStyle/>
          <a:p>
            <a:pPr>
              <a:defRPr sz="1400" b="1">
                <a:solidFill>
                  <a:srgbClr val="0A192F"/>
                </a:solidFill>
              </a:defRPr>
            </a:pPr>
            <a:r>
              <a:t>$30k-$60k / mo</a:t>
            </a:r>
          </a:p>
        </p:txBody>
      </p:sp>
      <p:sp>
        <p:nvSpPr>
          <p:cNvPr id="12" name="TextBox 11"/>
          <p:cNvSpPr txBox="1"/>
          <p:nvPr/>
        </p:nvSpPr>
        <p:spPr>
          <a:xfrm>
            <a:off x="914400" y="3200400"/>
            <a:ext cx="2103120" cy="2011680"/>
          </a:xfrm>
          <a:prstGeom prst="rect">
            <a:avLst/>
          </a:prstGeom>
          <a:noFill/>
        </p:spPr>
        <p:txBody>
          <a:bodyPr wrap="square">
            <a:spAutoFit/>
          </a:bodyPr>
          <a:lstStyle/>
          <a:p>
            <a:pPr>
              <a:defRPr sz="1050">
                <a:solidFill>
                  <a:srgbClr val="0F172A"/>
                </a:solidFill>
              </a:defRPr>
            </a:pPr>
            <a:r>
              <a:t>Core platform availability, APIM gateway health, business hours incident response, and monthly FinOps reporting.</a:t>
            </a:r>
          </a:p>
        </p:txBody>
      </p:sp>
      <p:sp>
        <p:nvSpPr>
          <p:cNvPr id="13" name="Rounded Rectangle 12"/>
          <p:cNvSpPr/>
          <p:nvPr/>
        </p:nvSpPr>
        <p:spPr>
          <a:xfrm>
            <a:off x="3474720" y="1371600"/>
            <a:ext cx="2468880" cy="40233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4720" y="1371600"/>
            <a:ext cx="24688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1600200"/>
            <a:ext cx="2103120" cy="457200"/>
          </a:xfrm>
          <a:prstGeom prst="rect">
            <a:avLst/>
          </a:prstGeom>
          <a:noFill/>
        </p:spPr>
        <p:txBody>
          <a:bodyPr wrap="square">
            <a:spAutoFit/>
          </a:bodyPr>
          <a:lstStyle/>
          <a:p>
            <a:pPr>
              <a:defRPr sz="1300" b="1">
                <a:solidFill>
                  <a:srgbClr val="0A192F"/>
                </a:solidFill>
              </a:defRPr>
            </a:pPr>
            <a:r>
              <a:t>2. Extended Tier</a:t>
            </a:r>
          </a:p>
        </p:txBody>
      </p:sp>
      <p:sp>
        <p:nvSpPr>
          <p:cNvPr id="16" name="TextBox 15"/>
          <p:cNvSpPr txBox="1"/>
          <p:nvPr/>
        </p:nvSpPr>
        <p:spPr>
          <a:xfrm>
            <a:off x="3657600" y="2103120"/>
            <a:ext cx="2103120" cy="274320"/>
          </a:xfrm>
          <a:prstGeom prst="rect">
            <a:avLst/>
          </a:prstGeom>
          <a:noFill/>
        </p:spPr>
        <p:txBody>
          <a:bodyPr wrap="none">
            <a:spAutoFit/>
          </a:bodyPr>
          <a:lstStyle/>
          <a:p>
            <a:pPr>
              <a:defRPr sz="1000" b="1">
                <a:solidFill>
                  <a:srgbClr val="0078D4"/>
                </a:solidFill>
              </a:defRPr>
            </a:pPr>
            <a:r>
              <a:t>16x5 TWO TIME ZONES</a:t>
            </a:r>
          </a:p>
        </p:txBody>
      </p:sp>
      <p:sp>
        <p:nvSpPr>
          <p:cNvPr id="17" name="TextBox 16"/>
          <p:cNvSpPr txBox="1"/>
          <p:nvPr/>
        </p:nvSpPr>
        <p:spPr>
          <a:xfrm>
            <a:off x="3657600" y="2423160"/>
            <a:ext cx="2103120" cy="320040"/>
          </a:xfrm>
          <a:prstGeom prst="rect">
            <a:avLst/>
          </a:prstGeom>
          <a:noFill/>
        </p:spPr>
        <p:txBody>
          <a:bodyPr wrap="none">
            <a:spAutoFit/>
          </a:bodyPr>
          <a:lstStyle/>
          <a:p>
            <a:pPr>
              <a:defRPr sz="1500" b="1">
                <a:solidFill>
                  <a:srgbClr val="0A192F"/>
                </a:solidFill>
              </a:defRPr>
            </a:pPr>
            <a:r>
              <a:t>3 to 5 FTE</a:t>
            </a:r>
          </a:p>
        </p:txBody>
      </p:sp>
      <p:sp>
        <p:nvSpPr>
          <p:cNvPr id="18" name="TextBox 17"/>
          <p:cNvSpPr txBox="1"/>
          <p:nvPr/>
        </p:nvSpPr>
        <p:spPr>
          <a:xfrm>
            <a:off x="3657600" y="2788920"/>
            <a:ext cx="2103120" cy="320040"/>
          </a:xfrm>
          <a:prstGeom prst="rect">
            <a:avLst/>
          </a:prstGeom>
          <a:noFill/>
        </p:spPr>
        <p:txBody>
          <a:bodyPr wrap="none">
            <a:spAutoFit/>
          </a:bodyPr>
          <a:lstStyle/>
          <a:p>
            <a:pPr>
              <a:defRPr sz="1400" b="1">
                <a:solidFill>
                  <a:srgbClr val="0078D4"/>
                </a:solidFill>
              </a:defRPr>
            </a:pPr>
            <a:r>
              <a:t>$60k-$100k / mo</a:t>
            </a:r>
          </a:p>
        </p:txBody>
      </p:sp>
      <p:sp>
        <p:nvSpPr>
          <p:cNvPr id="19" name="TextBox 18"/>
          <p:cNvSpPr txBox="1"/>
          <p:nvPr/>
        </p:nvSpPr>
        <p:spPr>
          <a:xfrm>
            <a:off x="3657600" y="3200400"/>
            <a:ext cx="2103120" cy="2011680"/>
          </a:xfrm>
          <a:prstGeom prst="rect">
            <a:avLst/>
          </a:prstGeom>
          <a:noFill/>
        </p:spPr>
        <p:txBody>
          <a:bodyPr wrap="square">
            <a:spAutoFit/>
          </a:bodyPr>
          <a:lstStyle/>
          <a:p>
            <a:pPr>
              <a:defRPr sz="1050">
                <a:solidFill>
                  <a:srgbClr val="0F172A"/>
                </a:solidFill>
              </a:defRPr>
            </a:pPr>
            <a:r>
              <a:t>Follow-the-sun business day support across 2 regions, priority P1/P2 response, and bi-weekly operations reviews.</a:t>
            </a:r>
          </a:p>
        </p:txBody>
      </p:sp>
      <p:sp>
        <p:nvSpPr>
          <p:cNvPr id="20" name="Rounded Rectangle 19"/>
          <p:cNvSpPr/>
          <p:nvPr/>
        </p:nvSpPr>
        <p:spPr>
          <a:xfrm>
            <a:off x="6217920" y="1371600"/>
            <a:ext cx="2468880" cy="402336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371600"/>
            <a:ext cx="24688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600200"/>
            <a:ext cx="2103120" cy="457200"/>
          </a:xfrm>
          <a:prstGeom prst="rect">
            <a:avLst/>
          </a:prstGeom>
          <a:noFill/>
        </p:spPr>
        <p:txBody>
          <a:bodyPr wrap="square">
            <a:spAutoFit/>
          </a:bodyPr>
          <a:lstStyle/>
          <a:p>
            <a:pPr>
              <a:defRPr sz="1300" b="1">
                <a:solidFill>
                  <a:srgbClr val="0A192F"/>
                </a:solidFill>
              </a:defRPr>
            </a:pPr>
            <a:r>
              <a:t>3. Continuous Tier</a:t>
            </a:r>
          </a:p>
        </p:txBody>
      </p:sp>
      <p:sp>
        <p:nvSpPr>
          <p:cNvPr id="23" name="TextBox 22"/>
          <p:cNvSpPr txBox="1"/>
          <p:nvPr/>
        </p:nvSpPr>
        <p:spPr>
          <a:xfrm>
            <a:off x="6400800" y="2103120"/>
            <a:ext cx="2103120" cy="274320"/>
          </a:xfrm>
          <a:prstGeom prst="rect">
            <a:avLst/>
          </a:prstGeom>
          <a:noFill/>
        </p:spPr>
        <p:txBody>
          <a:bodyPr wrap="none">
            <a:spAutoFit/>
          </a:bodyPr>
          <a:lstStyle/>
          <a:p>
            <a:pPr>
              <a:defRPr sz="1000" b="1">
                <a:solidFill>
                  <a:srgbClr val="00A389"/>
                </a:solidFill>
              </a:defRPr>
            </a:pPr>
            <a:r>
              <a:t>24x7 MISSION CRITICAL</a:t>
            </a:r>
          </a:p>
        </p:txBody>
      </p:sp>
      <p:sp>
        <p:nvSpPr>
          <p:cNvPr id="24" name="TextBox 23"/>
          <p:cNvSpPr txBox="1"/>
          <p:nvPr/>
        </p:nvSpPr>
        <p:spPr>
          <a:xfrm>
            <a:off x="6400800" y="2423160"/>
            <a:ext cx="2103120" cy="320040"/>
          </a:xfrm>
          <a:prstGeom prst="rect">
            <a:avLst/>
          </a:prstGeom>
          <a:noFill/>
        </p:spPr>
        <p:txBody>
          <a:bodyPr wrap="none">
            <a:spAutoFit/>
          </a:bodyPr>
          <a:lstStyle/>
          <a:p>
            <a:pPr>
              <a:defRPr sz="1500" b="1">
                <a:solidFill>
                  <a:srgbClr val="0A192F"/>
                </a:solidFill>
              </a:defRPr>
            </a:pPr>
            <a:r>
              <a:t>6 to 10 FTE</a:t>
            </a:r>
          </a:p>
        </p:txBody>
      </p:sp>
      <p:sp>
        <p:nvSpPr>
          <p:cNvPr id="25" name="TextBox 24"/>
          <p:cNvSpPr txBox="1"/>
          <p:nvPr/>
        </p:nvSpPr>
        <p:spPr>
          <a:xfrm>
            <a:off x="6400800" y="2788920"/>
            <a:ext cx="2103120" cy="320040"/>
          </a:xfrm>
          <a:prstGeom prst="rect">
            <a:avLst/>
          </a:prstGeom>
          <a:noFill/>
        </p:spPr>
        <p:txBody>
          <a:bodyPr wrap="none">
            <a:spAutoFit/>
          </a:bodyPr>
          <a:lstStyle/>
          <a:p>
            <a:pPr>
              <a:defRPr sz="1400" b="1">
                <a:solidFill>
                  <a:srgbClr val="00A389"/>
                </a:solidFill>
              </a:defRPr>
            </a:pPr>
            <a:r>
              <a:t>$120k-$200k / mo</a:t>
            </a:r>
          </a:p>
        </p:txBody>
      </p:sp>
      <p:sp>
        <p:nvSpPr>
          <p:cNvPr id="26" name="TextBox 25"/>
          <p:cNvSpPr txBox="1"/>
          <p:nvPr/>
        </p:nvSpPr>
        <p:spPr>
          <a:xfrm>
            <a:off x="6400800" y="3200400"/>
            <a:ext cx="2103120" cy="2011680"/>
          </a:xfrm>
          <a:prstGeom prst="rect">
            <a:avLst/>
          </a:prstGeom>
          <a:noFill/>
        </p:spPr>
        <p:txBody>
          <a:bodyPr wrap="square">
            <a:spAutoFit/>
          </a:bodyPr>
          <a:lstStyle/>
          <a:p>
            <a:pPr>
              <a:defRPr sz="1050">
                <a:solidFill>
                  <a:srgbClr val="0F172A"/>
                </a:solidFill>
              </a:defRPr>
            </a:pPr>
            <a:r>
              <a:t>Dedicated 24x7 shift roster, sub-15 min P1 response, emergency 4-layer containment execution, and weekly reviews.</a:t>
            </a:r>
          </a:p>
        </p:txBody>
      </p:sp>
      <p:sp>
        <p:nvSpPr>
          <p:cNvPr id="27" name="Rounded Rectangle 26"/>
          <p:cNvSpPr/>
          <p:nvPr/>
        </p:nvSpPr>
        <p:spPr>
          <a:xfrm>
            <a:off x="8961120" y="1371600"/>
            <a:ext cx="2468880" cy="4023360"/>
          </a:xfrm>
          <a:prstGeom prst="roundRect">
            <a:avLst/>
          </a:prstGeom>
          <a:solidFill>
            <a:srgbClr val="FFFFFF"/>
          </a:solidFill>
          <a:ln w="19050">
            <a:solidFill>
              <a:srgbClr val="D83B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61120" y="1371600"/>
            <a:ext cx="246888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0" y="1600200"/>
            <a:ext cx="2103120" cy="457200"/>
          </a:xfrm>
          <a:prstGeom prst="rect">
            <a:avLst/>
          </a:prstGeom>
          <a:noFill/>
        </p:spPr>
        <p:txBody>
          <a:bodyPr wrap="square">
            <a:spAutoFit/>
          </a:bodyPr>
          <a:lstStyle/>
          <a:p>
            <a:pPr>
              <a:defRPr sz="1300" b="1">
                <a:solidFill>
                  <a:srgbClr val="0A192F"/>
                </a:solidFill>
              </a:defRPr>
            </a:pPr>
            <a:r>
              <a:t>4. Onboarding Gate</a:t>
            </a:r>
          </a:p>
        </p:txBody>
      </p:sp>
      <p:sp>
        <p:nvSpPr>
          <p:cNvPr id="30" name="TextBox 29"/>
          <p:cNvSpPr txBox="1"/>
          <p:nvPr/>
        </p:nvSpPr>
        <p:spPr>
          <a:xfrm>
            <a:off x="9144000" y="2103120"/>
            <a:ext cx="2103120" cy="274320"/>
          </a:xfrm>
          <a:prstGeom prst="rect">
            <a:avLst/>
          </a:prstGeom>
          <a:noFill/>
        </p:spPr>
        <p:txBody>
          <a:bodyPr wrap="none">
            <a:spAutoFit/>
          </a:bodyPr>
          <a:lstStyle/>
          <a:p>
            <a:pPr>
              <a:defRPr sz="1000" b="1">
                <a:solidFill>
                  <a:srgbClr val="D83B01"/>
                </a:solidFill>
              </a:defRPr>
            </a:pPr>
            <a:r>
              <a:t>ONE-TIME SETUP</a:t>
            </a:r>
          </a:p>
        </p:txBody>
      </p:sp>
      <p:sp>
        <p:nvSpPr>
          <p:cNvPr id="31" name="TextBox 30"/>
          <p:cNvSpPr txBox="1"/>
          <p:nvPr/>
        </p:nvSpPr>
        <p:spPr>
          <a:xfrm>
            <a:off x="9144000" y="2423160"/>
            <a:ext cx="2103120" cy="320040"/>
          </a:xfrm>
          <a:prstGeom prst="rect">
            <a:avLst/>
          </a:prstGeom>
          <a:noFill/>
        </p:spPr>
        <p:txBody>
          <a:bodyPr wrap="none">
            <a:spAutoFit/>
          </a:bodyPr>
          <a:lstStyle/>
          <a:p>
            <a:pPr>
              <a:defRPr sz="1500" b="1">
                <a:solidFill>
                  <a:srgbClr val="0A192F"/>
                </a:solidFill>
              </a:defRPr>
            </a:pPr>
            <a:r>
              <a:t>2 to 3 Engineers</a:t>
            </a:r>
          </a:p>
        </p:txBody>
      </p:sp>
      <p:sp>
        <p:nvSpPr>
          <p:cNvPr id="32" name="TextBox 31"/>
          <p:cNvSpPr txBox="1"/>
          <p:nvPr/>
        </p:nvSpPr>
        <p:spPr>
          <a:xfrm>
            <a:off x="9144000" y="2788920"/>
            <a:ext cx="2103120" cy="320040"/>
          </a:xfrm>
          <a:prstGeom prst="rect">
            <a:avLst/>
          </a:prstGeom>
          <a:noFill/>
        </p:spPr>
        <p:txBody>
          <a:bodyPr wrap="none">
            <a:spAutoFit/>
          </a:bodyPr>
          <a:lstStyle/>
          <a:p>
            <a:pPr>
              <a:defRPr sz="1400" b="1">
                <a:solidFill>
                  <a:srgbClr val="D83B01"/>
                </a:solidFill>
              </a:defRPr>
            </a:pPr>
            <a:r>
              <a:t>$20k-$40k Fixed</a:t>
            </a:r>
          </a:p>
        </p:txBody>
      </p:sp>
      <p:sp>
        <p:nvSpPr>
          <p:cNvPr id="33" name="TextBox 32"/>
          <p:cNvSpPr txBox="1"/>
          <p:nvPr/>
        </p:nvSpPr>
        <p:spPr>
          <a:xfrm>
            <a:off x="9144000" y="3200400"/>
            <a:ext cx="2103120" cy="2011680"/>
          </a:xfrm>
          <a:prstGeom prst="rect">
            <a:avLst/>
          </a:prstGeom>
          <a:noFill/>
        </p:spPr>
        <p:txBody>
          <a:bodyPr wrap="square">
            <a:spAutoFit/>
          </a:bodyPr>
          <a:lstStyle/>
          <a:p>
            <a:pPr>
              <a:defRPr sz="1050">
                <a:solidFill>
                  <a:srgbClr val="0F172A"/>
                </a:solidFill>
              </a:defRPr>
            </a:pPr>
            <a:r>
              <a:t>Platform health audit, ITSM integration, runbook ingestion, and containment drill validation prior to service go-live.</a:t>
            </a:r>
          </a:p>
        </p:txBody>
      </p:sp>
      <p:sp>
        <p:nvSpPr>
          <p:cNvPr id="34" name="Rounded Rectangle 33"/>
          <p:cNvSpPr/>
          <p:nvPr/>
        </p:nvSpPr>
        <p:spPr>
          <a:xfrm>
            <a:off x="731520" y="5532120"/>
            <a:ext cx="10698480" cy="685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623560"/>
            <a:ext cx="10332720" cy="502920"/>
          </a:xfrm>
          <a:prstGeom prst="rect">
            <a:avLst/>
          </a:prstGeom>
          <a:noFill/>
        </p:spPr>
        <p:txBody>
          <a:bodyPr wrap="none">
            <a:spAutoFit/>
          </a:bodyPr>
          <a:lstStyle/>
          <a:p>
            <a:pPr>
              <a:defRPr sz="1050" b="1">
                <a:solidFill>
                  <a:srgbClr val="64748B"/>
                </a:solidFill>
              </a:defRPr>
            </a:pPr>
            <a:r>
              <a:t>STAFFING RULE: Fee bands derived from role days x illustrative $1,000/day blended rate. 24x7 coverage is never offered without a dedicated funded roster of 6-10 FTE.</a:t>
            </a:r>
          </a:p>
        </p:txBody>
      </p:sp>
      <p:sp>
        <p:nvSpPr>
          <p:cNvPr id="36" name="TextBox 35"/>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Managed AI Platform Operations · Working proposal for senior leadership review · Slide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8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SERVICE LEVEL OBJECTIVES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08</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Response targets are proposed, not yet approved</a:t>
            </a:r>
          </a:p>
        </p:txBody>
      </p:sp>
      <p:sp>
        <p:nvSpPr>
          <p:cNvPr id="6" name="Rounded Rectangle 5"/>
          <p:cNvSpPr/>
          <p:nvPr/>
        </p:nvSpPr>
        <p:spPr>
          <a:xfrm>
            <a:off x="731520" y="1280160"/>
            <a:ext cx="10698480" cy="411480"/>
          </a:xfrm>
          <a:prstGeom prst="roundRect">
            <a:avLst/>
          </a:prstGeom>
          <a:solidFill>
            <a:srgbClr val="EFF6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078D4"/>
                </a:solidFill>
              </a:defRPr>
            </a:pPr>
            <a:r>
              <a:t>PROPOSED TARGETS FOR PILOT DISCUSSION · VALID INSIDE CONTRACTED COVERAGE HOURS</a:t>
            </a:r>
          </a:p>
        </p:txBody>
      </p:sp>
      <p:sp>
        <p:nvSpPr>
          <p:cNvPr id="7" name="Rounded Rectangle 6"/>
          <p:cNvSpPr/>
          <p:nvPr/>
        </p:nvSpPr>
        <p:spPr>
          <a:xfrm>
            <a:off x="731520" y="1828800"/>
            <a:ext cx="2468880" cy="3520440"/>
          </a:xfrm>
          <a:prstGeom prst="roundRect">
            <a:avLst/>
          </a:prstGeom>
          <a:solidFill>
            <a:srgbClr val="FFFFFF"/>
          </a:solidFill>
          <a:ln w="19050">
            <a:solidFill>
              <a:srgbClr val="D83B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246888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11680"/>
            <a:ext cx="2194560" cy="274320"/>
          </a:xfrm>
          <a:prstGeom prst="rect">
            <a:avLst/>
          </a:prstGeom>
          <a:noFill/>
        </p:spPr>
        <p:txBody>
          <a:bodyPr wrap="none">
            <a:spAutoFit/>
          </a:bodyPr>
          <a:lstStyle/>
          <a:p>
            <a:pPr>
              <a:defRPr sz="1100" b="1">
                <a:solidFill>
                  <a:srgbClr val="D83B01"/>
                </a:solidFill>
              </a:defRPr>
            </a:pPr>
            <a:r>
              <a:t>P1 CRITICAL</a:t>
            </a:r>
          </a:p>
        </p:txBody>
      </p:sp>
      <p:sp>
        <p:nvSpPr>
          <p:cNvPr id="10" name="TextBox 9"/>
          <p:cNvSpPr txBox="1"/>
          <p:nvPr/>
        </p:nvSpPr>
        <p:spPr>
          <a:xfrm>
            <a:off x="868680" y="2331720"/>
            <a:ext cx="2194560" cy="320040"/>
          </a:xfrm>
          <a:prstGeom prst="rect">
            <a:avLst/>
          </a:prstGeom>
          <a:noFill/>
        </p:spPr>
        <p:txBody>
          <a:bodyPr wrap="none">
            <a:spAutoFit/>
          </a:bodyPr>
          <a:lstStyle/>
          <a:p>
            <a:pPr>
              <a:defRPr sz="1200" b="1">
                <a:solidFill>
                  <a:srgbClr val="0A192F"/>
                </a:solidFill>
              </a:defRPr>
            </a:pPr>
            <a:r>
              <a:t>Platform Outage / Stop</a:t>
            </a:r>
          </a:p>
        </p:txBody>
      </p:sp>
      <p:sp>
        <p:nvSpPr>
          <p:cNvPr id="11" name="TextBox 10"/>
          <p:cNvSpPr txBox="1"/>
          <p:nvPr/>
        </p:nvSpPr>
        <p:spPr>
          <a:xfrm>
            <a:off x="868680" y="2697480"/>
            <a:ext cx="2194560" cy="548640"/>
          </a:xfrm>
          <a:prstGeom prst="rect">
            <a:avLst/>
          </a:prstGeom>
          <a:noFill/>
        </p:spPr>
        <p:txBody>
          <a:bodyPr wrap="none">
            <a:spAutoFit/>
          </a:bodyPr>
          <a:lstStyle/>
          <a:p>
            <a:pPr>
              <a:defRPr sz="2200" b="1">
                <a:solidFill>
                  <a:srgbClr val="D83B01"/>
                </a:solidFill>
              </a:defRPr>
            </a:pPr>
            <a:r>
              <a:t>15-30 Min</a:t>
            </a:r>
          </a:p>
        </p:txBody>
      </p:sp>
      <p:sp>
        <p:nvSpPr>
          <p:cNvPr id="12" name="TextBox 11"/>
          <p:cNvSpPr txBox="1"/>
          <p:nvPr/>
        </p:nvSpPr>
        <p:spPr>
          <a:xfrm>
            <a:off x="868680" y="3291840"/>
            <a:ext cx="2194560" cy="1280160"/>
          </a:xfrm>
          <a:prstGeom prst="rect">
            <a:avLst/>
          </a:prstGeom>
          <a:noFill/>
        </p:spPr>
        <p:txBody>
          <a:bodyPr wrap="square">
            <a:spAutoFit/>
          </a:bodyPr>
          <a:lstStyle/>
          <a:p>
            <a:pPr>
              <a:defRPr sz="1000">
                <a:solidFill>
                  <a:srgbClr val="0F172A"/>
                </a:solidFill>
              </a:defRPr>
            </a:pPr>
            <a:r>
              <a:t>Total AI platform outage, gateway collapse, or CISO rogue agent emergency kill-switch order.</a:t>
            </a:r>
          </a:p>
          <a:p>
            <a:pPr>
              <a:defRPr sz="950" b="1">
                <a:solidFill>
                  <a:srgbClr val="64748B"/>
                </a:solidFill>
              </a:defRPr>
            </a:pPr>
            <a:r>
              <a:t>Cadence: Every 60 Min</a:t>
            </a:r>
          </a:p>
        </p:txBody>
      </p:sp>
      <p:sp>
        <p:nvSpPr>
          <p:cNvPr id="13" name="Rounded Rectangle 12"/>
          <p:cNvSpPr/>
          <p:nvPr/>
        </p:nvSpPr>
        <p:spPr>
          <a:xfrm>
            <a:off x="868680" y="4709160"/>
            <a:ext cx="2194560" cy="5029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A192F"/>
                </a:solidFill>
              </a:defRPr>
            </a:pPr>
            <a:r>
              <a:t>4-Hour Restore Target</a:t>
            </a:r>
          </a:p>
        </p:txBody>
      </p:sp>
      <p:sp>
        <p:nvSpPr>
          <p:cNvPr id="14" name="Rounded Rectangle 13"/>
          <p:cNvSpPr/>
          <p:nvPr/>
        </p:nvSpPr>
        <p:spPr>
          <a:xfrm>
            <a:off x="3474720" y="1828800"/>
            <a:ext cx="2468880" cy="352044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1828800"/>
            <a:ext cx="246888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80" y="2011680"/>
            <a:ext cx="2194560" cy="274320"/>
          </a:xfrm>
          <a:prstGeom prst="rect">
            <a:avLst/>
          </a:prstGeom>
          <a:noFill/>
        </p:spPr>
        <p:txBody>
          <a:bodyPr wrap="none">
            <a:spAutoFit/>
          </a:bodyPr>
          <a:lstStyle/>
          <a:p>
            <a:pPr>
              <a:defRPr sz="1100" b="1">
                <a:solidFill>
                  <a:srgbClr val="D97706"/>
                </a:solidFill>
              </a:defRPr>
            </a:pPr>
            <a:r>
              <a:t>P2 HIGH</a:t>
            </a:r>
          </a:p>
        </p:txBody>
      </p:sp>
      <p:sp>
        <p:nvSpPr>
          <p:cNvPr id="17" name="TextBox 16"/>
          <p:cNvSpPr txBox="1"/>
          <p:nvPr/>
        </p:nvSpPr>
        <p:spPr>
          <a:xfrm>
            <a:off x="3611880" y="2331720"/>
            <a:ext cx="2194560" cy="320040"/>
          </a:xfrm>
          <a:prstGeom prst="rect">
            <a:avLst/>
          </a:prstGeom>
          <a:noFill/>
        </p:spPr>
        <p:txBody>
          <a:bodyPr wrap="none">
            <a:spAutoFit/>
          </a:bodyPr>
          <a:lstStyle/>
          <a:p>
            <a:pPr>
              <a:defRPr sz="1200" b="1">
                <a:solidFill>
                  <a:srgbClr val="0A192F"/>
                </a:solidFill>
              </a:defRPr>
            </a:pPr>
            <a:r>
              <a:t>Degraded / Throttling</a:t>
            </a:r>
          </a:p>
        </p:txBody>
      </p:sp>
      <p:sp>
        <p:nvSpPr>
          <p:cNvPr id="18" name="TextBox 17"/>
          <p:cNvSpPr txBox="1"/>
          <p:nvPr/>
        </p:nvSpPr>
        <p:spPr>
          <a:xfrm>
            <a:off x="3611880" y="2697480"/>
            <a:ext cx="2194560" cy="548640"/>
          </a:xfrm>
          <a:prstGeom prst="rect">
            <a:avLst/>
          </a:prstGeom>
          <a:noFill/>
        </p:spPr>
        <p:txBody>
          <a:bodyPr wrap="none">
            <a:spAutoFit/>
          </a:bodyPr>
          <a:lstStyle/>
          <a:p>
            <a:pPr>
              <a:defRPr sz="2200" b="1">
                <a:solidFill>
                  <a:srgbClr val="D97706"/>
                </a:solidFill>
              </a:defRPr>
            </a:pPr>
            <a:r>
              <a:t>2 Hours</a:t>
            </a:r>
          </a:p>
        </p:txBody>
      </p:sp>
      <p:sp>
        <p:nvSpPr>
          <p:cNvPr id="19" name="TextBox 18"/>
          <p:cNvSpPr txBox="1"/>
          <p:nvPr/>
        </p:nvSpPr>
        <p:spPr>
          <a:xfrm>
            <a:off x="3611880" y="3291840"/>
            <a:ext cx="2194560" cy="1280160"/>
          </a:xfrm>
          <a:prstGeom prst="rect">
            <a:avLst/>
          </a:prstGeom>
          <a:noFill/>
        </p:spPr>
        <p:txBody>
          <a:bodyPr wrap="square">
            <a:spAutoFit/>
          </a:bodyPr>
          <a:lstStyle/>
          <a:p>
            <a:pPr>
              <a:defRPr sz="1000">
                <a:solidFill>
                  <a:srgbClr val="0F172A"/>
                </a:solidFill>
              </a:defRPr>
            </a:pPr>
            <a:r>
              <a:t>Gateway 429 throttling spikes, regional failover failure, or elevated token latency.</a:t>
            </a:r>
          </a:p>
          <a:p>
            <a:pPr>
              <a:defRPr sz="950" b="1">
                <a:solidFill>
                  <a:srgbClr val="64748B"/>
                </a:solidFill>
              </a:defRPr>
            </a:pPr>
            <a:r>
              <a:t>Cadence: Every 4 Hours</a:t>
            </a:r>
          </a:p>
        </p:txBody>
      </p:sp>
      <p:sp>
        <p:nvSpPr>
          <p:cNvPr id="20" name="Rounded Rectangle 19"/>
          <p:cNvSpPr/>
          <p:nvPr/>
        </p:nvSpPr>
        <p:spPr>
          <a:xfrm>
            <a:off x="3611880" y="4709160"/>
            <a:ext cx="2194560" cy="5029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A192F"/>
                </a:solidFill>
              </a:defRPr>
            </a:pPr>
            <a:r>
              <a:t>8-Hour Workaround Target</a:t>
            </a:r>
          </a:p>
        </p:txBody>
      </p:sp>
      <p:sp>
        <p:nvSpPr>
          <p:cNvPr id="21" name="Rounded Rectangle 20"/>
          <p:cNvSpPr/>
          <p:nvPr/>
        </p:nvSpPr>
        <p:spPr>
          <a:xfrm>
            <a:off x="6217920" y="1828800"/>
            <a:ext cx="2468880" cy="352044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828800"/>
            <a:ext cx="24688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2011680"/>
            <a:ext cx="2194560" cy="274320"/>
          </a:xfrm>
          <a:prstGeom prst="rect">
            <a:avLst/>
          </a:prstGeom>
          <a:noFill/>
        </p:spPr>
        <p:txBody>
          <a:bodyPr wrap="none">
            <a:spAutoFit/>
          </a:bodyPr>
          <a:lstStyle/>
          <a:p>
            <a:pPr>
              <a:defRPr sz="1100" b="1">
                <a:solidFill>
                  <a:srgbClr val="0078D4"/>
                </a:solidFill>
              </a:defRPr>
            </a:pPr>
            <a:r>
              <a:t>P3 MEDIUM</a:t>
            </a:r>
          </a:p>
        </p:txBody>
      </p:sp>
      <p:sp>
        <p:nvSpPr>
          <p:cNvPr id="24" name="TextBox 23"/>
          <p:cNvSpPr txBox="1"/>
          <p:nvPr/>
        </p:nvSpPr>
        <p:spPr>
          <a:xfrm>
            <a:off x="6355080" y="2331720"/>
            <a:ext cx="2194560" cy="320040"/>
          </a:xfrm>
          <a:prstGeom prst="rect">
            <a:avLst/>
          </a:prstGeom>
          <a:noFill/>
        </p:spPr>
        <p:txBody>
          <a:bodyPr wrap="none">
            <a:spAutoFit/>
          </a:bodyPr>
          <a:lstStyle/>
          <a:p>
            <a:pPr>
              <a:defRPr sz="1200" b="1">
                <a:solidFill>
                  <a:srgbClr val="0A192F"/>
                </a:solidFill>
              </a:defRPr>
            </a:pPr>
            <a:r>
              <a:t>Component Issue</a:t>
            </a:r>
          </a:p>
        </p:txBody>
      </p:sp>
      <p:sp>
        <p:nvSpPr>
          <p:cNvPr id="25" name="TextBox 24"/>
          <p:cNvSpPr txBox="1"/>
          <p:nvPr/>
        </p:nvSpPr>
        <p:spPr>
          <a:xfrm>
            <a:off x="6355080" y="2697480"/>
            <a:ext cx="2194560" cy="548640"/>
          </a:xfrm>
          <a:prstGeom prst="rect">
            <a:avLst/>
          </a:prstGeom>
          <a:noFill/>
        </p:spPr>
        <p:txBody>
          <a:bodyPr wrap="none">
            <a:spAutoFit/>
          </a:bodyPr>
          <a:lstStyle/>
          <a:p>
            <a:pPr>
              <a:defRPr sz="2200" b="1">
                <a:solidFill>
                  <a:srgbClr val="0078D4"/>
                </a:solidFill>
              </a:defRPr>
            </a:pPr>
            <a:r>
              <a:t>1 Business Day</a:t>
            </a:r>
          </a:p>
        </p:txBody>
      </p:sp>
      <p:sp>
        <p:nvSpPr>
          <p:cNvPr id="26" name="TextBox 25"/>
          <p:cNvSpPr txBox="1"/>
          <p:nvPr/>
        </p:nvSpPr>
        <p:spPr>
          <a:xfrm>
            <a:off x="6355080" y="3291840"/>
            <a:ext cx="2194560" cy="1280160"/>
          </a:xfrm>
          <a:prstGeom prst="rect">
            <a:avLst/>
          </a:prstGeom>
          <a:noFill/>
        </p:spPr>
        <p:txBody>
          <a:bodyPr wrap="square">
            <a:spAutoFit/>
          </a:bodyPr>
          <a:lstStyle/>
          <a:p>
            <a:pPr>
              <a:defRPr sz="1000">
                <a:solidFill>
                  <a:srgbClr val="0F172A"/>
                </a:solidFill>
              </a:defRPr>
            </a:pPr>
            <a:r>
              <a:t>Single non-critical service issue where operational workaround exists in production.</a:t>
            </a:r>
          </a:p>
          <a:p>
            <a:pPr>
              <a:defRPr sz="950" b="1">
                <a:solidFill>
                  <a:srgbClr val="64748B"/>
                </a:solidFill>
              </a:defRPr>
            </a:pPr>
            <a:r>
              <a:t>Cadence: Daily Update</a:t>
            </a:r>
          </a:p>
        </p:txBody>
      </p:sp>
      <p:sp>
        <p:nvSpPr>
          <p:cNvPr id="27" name="Rounded Rectangle 26"/>
          <p:cNvSpPr/>
          <p:nvPr/>
        </p:nvSpPr>
        <p:spPr>
          <a:xfrm>
            <a:off x="6355080" y="4709160"/>
            <a:ext cx="2194560" cy="5029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A192F"/>
                </a:solidFill>
              </a:defRPr>
            </a:pPr>
            <a:r>
              <a:t>Standard Sprint Fix</a:t>
            </a:r>
          </a:p>
        </p:txBody>
      </p:sp>
      <p:sp>
        <p:nvSpPr>
          <p:cNvPr id="28" name="Rounded Rectangle 27"/>
          <p:cNvSpPr/>
          <p:nvPr/>
        </p:nvSpPr>
        <p:spPr>
          <a:xfrm>
            <a:off x="8961120" y="1828800"/>
            <a:ext cx="2468880" cy="352044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61120" y="1828800"/>
            <a:ext cx="24688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98280" y="2011680"/>
            <a:ext cx="2194560" cy="274320"/>
          </a:xfrm>
          <a:prstGeom prst="rect">
            <a:avLst/>
          </a:prstGeom>
          <a:noFill/>
        </p:spPr>
        <p:txBody>
          <a:bodyPr wrap="none">
            <a:spAutoFit/>
          </a:bodyPr>
          <a:lstStyle/>
          <a:p>
            <a:pPr>
              <a:defRPr sz="1100" b="1">
                <a:solidFill>
                  <a:srgbClr val="00A389"/>
                </a:solidFill>
              </a:defRPr>
            </a:pPr>
            <a:r>
              <a:t>P4 LOW</a:t>
            </a:r>
          </a:p>
        </p:txBody>
      </p:sp>
      <p:sp>
        <p:nvSpPr>
          <p:cNvPr id="31" name="TextBox 30"/>
          <p:cNvSpPr txBox="1"/>
          <p:nvPr/>
        </p:nvSpPr>
        <p:spPr>
          <a:xfrm>
            <a:off x="9098280" y="2331720"/>
            <a:ext cx="2194560" cy="320040"/>
          </a:xfrm>
          <a:prstGeom prst="rect">
            <a:avLst/>
          </a:prstGeom>
          <a:noFill/>
        </p:spPr>
        <p:txBody>
          <a:bodyPr wrap="none">
            <a:spAutoFit/>
          </a:bodyPr>
          <a:lstStyle/>
          <a:p>
            <a:pPr>
              <a:defRPr sz="1200" b="1">
                <a:solidFill>
                  <a:srgbClr val="0A192F"/>
                </a:solidFill>
              </a:defRPr>
            </a:pPr>
            <a:r>
              <a:t>Service Request</a:t>
            </a:r>
          </a:p>
        </p:txBody>
      </p:sp>
      <p:sp>
        <p:nvSpPr>
          <p:cNvPr id="32" name="TextBox 31"/>
          <p:cNvSpPr txBox="1"/>
          <p:nvPr/>
        </p:nvSpPr>
        <p:spPr>
          <a:xfrm>
            <a:off x="9098280" y="2697480"/>
            <a:ext cx="2194560" cy="548640"/>
          </a:xfrm>
          <a:prstGeom prst="rect">
            <a:avLst/>
          </a:prstGeom>
          <a:noFill/>
        </p:spPr>
        <p:txBody>
          <a:bodyPr wrap="none">
            <a:spAutoFit/>
          </a:bodyPr>
          <a:lstStyle/>
          <a:p>
            <a:pPr>
              <a:defRPr sz="2200" b="1">
                <a:solidFill>
                  <a:srgbClr val="00A389"/>
                </a:solidFill>
              </a:defRPr>
            </a:pPr>
            <a:r>
              <a:t>3 Business Days</a:t>
            </a:r>
          </a:p>
        </p:txBody>
      </p:sp>
      <p:sp>
        <p:nvSpPr>
          <p:cNvPr id="33" name="TextBox 32"/>
          <p:cNvSpPr txBox="1"/>
          <p:nvPr/>
        </p:nvSpPr>
        <p:spPr>
          <a:xfrm>
            <a:off x="9098280" y="3291840"/>
            <a:ext cx="2194560" cy="1280160"/>
          </a:xfrm>
          <a:prstGeom prst="rect">
            <a:avLst/>
          </a:prstGeom>
          <a:noFill/>
        </p:spPr>
        <p:txBody>
          <a:bodyPr wrap="square">
            <a:spAutoFit/>
          </a:bodyPr>
          <a:lstStyle/>
          <a:p>
            <a:pPr>
              <a:defRPr sz="1000">
                <a:solidFill>
                  <a:srgbClr val="0F172A"/>
                </a:solidFill>
              </a:defRPr>
            </a:pPr>
            <a:r>
              <a:t>Standard capacity queries, tag updates, workbook modifications, or minor policy additions.</a:t>
            </a:r>
          </a:p>
          <a:p>
            <a:pPr>
              <a:defRPr sz="950" b="1">
                <a:solidFill>
                  <a:srgbClr val="64748B"/>
                </a:solidFill>
              </a:defRPr>
            </a:pPr>
            <a:r>
              <a:t>Cadence: On Status Change</a:t>
            </a:r>
          </a:p>
        </p:txBody>
      </p:sp>
      <p:sp>
        <p:nvSpPr>
          <p:cNvPr id="34" name="Rounded Rectangle 33"/>
          <p:cNvSpPr/>
          <p:nvPr/>
        </p:nvSpPr>
        <p:spPr>
          <a:xfrm>
            <a:off x="9098280" y="4709160"/>
            <a:ext cx="2194560" cy="5029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A192F"/>
                </a:solidFill>
              </a:defRPr>
            </a:pPr>
            <a:r>
              <a:t>Scheduled Change</a:t>
            </a:r>
          </a:p>
        </p:txBody>
      </p:sp>
      <p:sp>
        <p:nvSpPr>
          <p:cNvPr id="35" name="Rounded Rectangle 34"/>
          <p:cNvSpPr/>
          <p:nvPr/>
        </p:nvSpPr>
        <p:spPr>
          <a:xfrm>
            <a:off x="731520" y="5532120"/>
            <a:ext cx="10698480" cy="685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623560"/>
            <a:ext cx="10332720" cy="502920"/>
          </a:xfrm>
          <a:prstGeom prst="rect">
            <a:avLst/>
          </a:prstGeom>
          <a:noFill/>
        </p:spPr>
        <p:txBody>
          <a:bodyPr wrap="none">
            <a:spAutoFit/>
          </a:bodyPr>
          <a:lstStyle/>
          <a:p>
            <a:pPr>
              <a:defRPr sz="1000">
                <a:solidFill>
                  <a:srgbClr val="64748B"/>
                </a:solidFill>
              </a:defRPr>
            </a:pPr>
            <a:r>
              <a:t>SLA BOUNDARY: Response targets represent first qualified engineer contact. Restore objectives are subject to underlying Azure platform service health and Microsoft dependencies.</a:t>
            </a:r>
          </a:p>
        </p:txBody>
      </p:sp>
      <p:sp>
        <p:nvSpPr>
          <p:cNvPr id="37" name="TextBox 36"/>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Managed AI Platform Operations · Working proposal for senior leadership review · Slide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9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RISK CONTROLS &amp; LIMITS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09</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Tower agreements and a funded roster decide success</a:t>
            </a:r>
          </a:p>
        </p:txBody>
      </p:sp>
      <p:sp>
        <p:nvSpPr>
          <p:cNvPr id="6" name="Rounded Rectangle 5"/>
          <p:cNvSpPr/>
          <p:nvPr/>
        </p:nvSpPr>
        <p:spPr>
          <a:xfrm>
            <a:off x="731520" y="1371600"/>
            <a:ext cx="2468880" cy="4023360"/>
          </a:xfrm>
          <a:prstGeom prst="roundRect">
            <a:avLst/>
          </a:prstGeom>
          <a:solidFill>
            <a:srgbClr val="FFFFFF"/>
          </a:solidFill>
          <a:ln w="19050">
            <a:solidFill>
              <a:srgbClr val="D83B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46888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2103120" cy="457200"/>
          </a:xfrm>
          <a:prstGeom prst="rect">
            <a:avLst/>
          </a:prstGeom>
          <a:noFill/>
        </p:spPr>
        <p:txBody>
          <a:bodyPr wrap="none">
            <a:spAutoFit/>
          </a:bodyPr>
          <a:lstStyle/>
          <a:p>
            <a:pPr>
              <a:defRPr sz="1500" b="1">
                <a:solidFill>
                  <a:srgbClr val="0A192F"/>
                </a:solidFill>
              </a:defRPr>
            </a:pPr>
            <a:r>
              <a:t>No Tower OLAs</a:t>
            </a:r>
          </a:p>
        </p:txBody>
      </p:sp>
      <p:sp>
        <p:nvSpPr>
          <p:cNvPr id="9" name="TextBox 8"/>
          <p:cNvSpPr txBox="1"/>
          <p:nvPr/>
        </p:nvSpPr>
        <p:spPr>
          <a:xfrm>
            <a:off x="914400" y="2148840"/>
            <a:ext cx="2103120" cy="1188720"/>
          </a:xfrm>
          <a:prstGeom prst="rect">
            <a:avLst/>
          </a:prstGeom>
          <a:noFill/>
        </p:spPr>
        <p:txBody>
          <a:bodyPr wrap="square">
            <a:spAutoFit/>
          </a:bodyPr>
          <a:lstStyle/>
          <a:p>
            <a:pPr>
              <a:defRPr sz="1000" b="1">
                <a:solidFill>
                  <a:srgbClr val="D83B01"/>
                </a:solidFill>
              </a:defRPr>
            </a:pPr>
            <a:r>
              <a:t>RISK EFFECT:</a:t>
            </a:r>
          </a:p>
          <a:p>
            <a:pPr>
              <a:defRPr sz="1100">
                <a:solidFill>
                  <a:srgbClr val="0F172A"/>
                </a:solidFill>
              </a:defRPr>
            </a:pPr>
            <a:r>
              <a:t>Tickets bounce endlessly between CIS Infra, AI, and SOC teams.</a:t>
            </a:r>
          </a:p>
        </p:txBody>
      </p:sp>
      <p:sp>
        <p:nvSpPr>
          <p:cNvPr id="10" name="TextBox 9"/>
          <p:cNvSpPr txBox="1"/>
          <p:nvPr/>
        </p:nvSpPr>
        <p:spPr>
          <a:xfrm>
            <a:off x="9144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Require signed Operational Level Agreements before go-live.</a:t>
            </a:r>
          </a:p>
        </p:txBody>
      </p:sp>
      <p:sp>
        <p:nvSpPr>
          <p:cNvPr id="11" name="Rounded Rectangle 10"/>
          <p:cNvSpPr/>
          <p:nvPr/>
        </p:nvSpPr>
        <p:spPr>
          <a:xfrm>
            <a:off x="3474720" y="1371600"/>
            <a:ext cx="2468880" cy="40233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371600"/>
            <a:ext cx="246888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1600200"/>
            <a:ext cx="2103120" cy="457200"/>
          </a:xfrm>
          <a:prstGeom prst="rect">
            <a:avLst/>
          </a:prstGeom>
          <a:noFill/>
        </p:spPr>
        <p:txBody>
          <a:bodyPr wrap="none">
            <a:spAutoFit/>
          </a:bodyPr>
          <a:lstStyle/>
          <a:p>
            <a:pPr>
              <a:defRPr sz="1500" b="1">
                <a:solidFill>
                  <a:srgbClr val="0A192F"/>
                </a:solidFill>
              </a:defRPr>
            </a:pPr>
            <a:r>
              <a:t>Unfunded 24x7</a:t>
            </a:r>
          </a:p>
        </p:txBody>
      </p:sp>
      <p:sp>
        <p:nvSpPr>
          <p:cNvPr id="14" name="TextBox 13"/>
          <p:cNvSpPr txBox="1"/>
          <p:nvPr/>
        </p:nvSpPr>
        <p:spPr>
          <a:xfrm>
            <a:off x="3657600" y="2148840"/>
            <a:ext cx="2103120" cy="1188720"/>
          </a:xfrm>
          <a:prstGeom prst="rect">
            <a:avLst/>
          </a:prstGeom>
          <a:noFill/>
        </p:spPr>
        <p:txBody>
          <a:bodyPr wrap="square">
            <a:spAutoFit/>
          </a:bodyPr>
          <a:lstStyle/>
          <a:p>
            <a:pPr>
              <a:defRPr sz="1000" b="1">
                <a:solidFill>
                  <a:srgbClr val="D97706"/>
                </a:solidFill>
              </a:defRPr>
            </a:pPr>
            <a:r>
              <a:t>RISK EFFECT:</a:t>
            </a:r>
          </a:p>
          <a:p>
            <a:pPr>
              <a:defRPr sz="1100">
                <a:solidFill>
                  <a:srgbClr val="0F172A"/>
                </a:solidFill>
              </a:defRPr>
            </a:pPr>
            <a:r>
              <a:t>Selling 24x7 without dedicated shifts causes engineer burnout and missed SLAs.</a:t>
            </a:r>
          </a:p>
        </p:txBody>
      </p:sp>
      <p:sp>
        <p:nvSpPr>
          <p:cNvPr id="15" name="TextBox 14"/>
          <p:cNvSpPr txBox="1"/>
          <p:nvPr/>
        </p:nvSpPr>
        <p:spPr>
          <a:xfrm>
            <a:off x="36576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Enforce strict minimum 6-10 FTE funded roster before signing contracts.</a:t>
            </a:r>
          </a:p>
        </p:txBody>
      </p:sp>
      <p:sp>
        <p:nvSpPr>
          <p:cNvPr id="16" name="Rounded Rectangle 15"/>
          <p:cNvSpPr/>
          <p:nvPr/>
        </p:nvSpPr>
        <p:spPr>
          <a:xfrm>
            <a:off x="6217920" y="1371600"/>
            <a:ext cx="2468880" cy="40233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371600"/>
            <a:ext cx="24688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600200"/>
            <a:ext cx="2103120" cy="457200"/>
          </a:xfrm>
          <a:prstGeom prst="rect">
            <a:avLst/>
          </a:prstGeom>
          <a:noFill/>
        </p:spPr>
        <p:txBody>
          <a:bodyPr wrap="none">
            <a:spAutoFit/>
          </a:bodyPr>
          <a:lstStyle/>
          <a:p>
            <a:pPr>
              <a:defRPr sz="1500" b="1">
                <a:solidFill>
                  <a:srgbClr val="0A192F"/>
                </a:solidFill>
              </a:defRPr>
            </a:pPr>
            <a:r>
              <a:t>Unaccepted Estate</a:t>
            </a:r>
          </a:p>
        </p:txBody>
      </p:sp>
      <p:sp>
        <p:nvSpPr>
          <p:cNvPr id="19" name="TextBox 18"/>
          <p:cNvSpPr txBox="1"/>
          <p:nvPr/>
        </p:nvSpPr>
        <p:spPr>
          <a:xfrm>
            <a:off x="6400800" y="2148840"/>
            <a:ext cx="2103120" cy="1188720"/>
          </a:xfrm>
          <a:prstGeom prst="rect">
            <a:avLst/>
          </a:prstGeom>
          <a:noFill/>
        </p:spPr>
        <p:txBody>
          <a:bodyPr wrap="square">
            <a:spAutoFit/>
          </a:bodyPr>
          <a:lstStyle/>
          <a:p>
            <a:pPr>
              <a:defRPr sz="1000" b="1">
                <a:solidFill>
                  <a:srgbClr val="0078D4"/>
                </a:solidFill>
              </a:defRPr>
            </a:pPr>
            <a:r>
              <a:t>RISK EFFECT:</a:t>
            </a:r>
          </a:p>
          <a:p>
            <a:pPr>
              <a:defRPr sz="1100">
                <a:solidFill>
                  <a:srgbClr val="0F172A"/>
                </a:solidFill>
              </a:defRPr>
            </a:pPr>
            <a:r>
              <a:t>Operating poorly built, unvetted landing zones leads to immediate failures.</a:t>
            </a:r>
          </a:p>
        </p:txBody>
      </p:sp>
      <p:sp>
        <p:nvSpPr>
          <p:cNvPr id="20" name="TextBox 19"/>
          <p:cNvSpPr txBox="1"/>
          <p:nvPr/>
        </p:nvSpPr>
        <p:spPr>
          <a:xfrm>
            <a:off x="64008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Mandate formal Onboarding Acceptance Gate (Appendix A1).</a:t>
            </a:r>
          </a:p>
        </p:txBody>
      </p:sp>
      <p:sp>
        <p:nvSpPr>
          <p:cNvPr id="21" name="Rounded Rectangle 20"/>
          <p:cNvSpPr/>
          <p:nvPr/>
        </p:nvSpPr>
        <p:spPr>
          <a:xfrm>
            <a:off x="8961120" y="1371600"/>
            <a:ext cx="2468880" cy="402336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61120" y="1371600"/>
            <a:ext cx="24688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0" y="1600200"/>
            <a:ext cx="2103120" cy="457200"/>
          </a:xfrm>
          <a:prstGeom prst="rect">
            <a:avLst/>
          </a:prstGeom>
          <a:noFill/>
        </p:spPr>
        <p:txBody>
          <a:bodyPr wrap="none">
            <a:spAutoFit/>
          </a:bodyPr>
          <a:lstStyle/>
          <a:p>
            <a:pPr>
              <a:defRPr sz="1500" b="1">
                <a:solidFill>
                  <a:srgbClr val="0A192F"/>
                </a:solidFill>
              </a:defRPr>
            </a:pPr>
            <a:r>
              <a:t>Authority Delay</a:t>
            </a:r>
          </a:p>
        </p:txBody>
      </p:sp>
      <p:sp>
        <p:nvSpPr>
          <p:cNvPr id="24" name="TextBox 23"/>
          <p:cNvSpPr txBox="1"/>
          <p:nvPr/>
        </p:nvSpPr>
        <p:spPr>
          <a:xfrm>
            <a:off x="9144000" y="2148840"/>
            <a:ext cx="2103120" cy="1188720"/>
          </a:xfrm>
          <a:prstGeom prst="rect">
            <a:avLst/>
          </a:prstGeom>
          <a:noFill/>
        </p:spPr>
        <p:txBody>
          <a:bodyPr wrap="square">
            <a:spAutoFit/>
          </a:bodyPr>
          <a:lstStyle/>
          <a:p>
            <a:pPr>
              <a:defRPr sz="1000" b="1">
                <a:solidFill>
                  <a:srgbClr val="00A389"/>
                </a:solidFill>
              </a:defRPr>
            </a:pPr>
            <a:r>
              <a:t>RISK EFFECT:</a:t>
            </a:r>
          </a:p>
          <a:p>
            <a:pPr>
              <a:defRPr sz="1100">
                <a:solidFill>
                  <a:srgbClr val="0F172A"/>
                </a:solidFill>
              </a:defRPr>
            </a:pPr>
            <a:r>
              <a:t>Unclear stop authority delays containment during an active rogue agent breach.</a:t>
            </a:r>
          </a:p>
        </p:txBody>
      </p:sp>
      <p:sp>
        <p:nvSpPr>
          <p:cNvPr id="25" name="TextBox 24"/>
          <p:cNvSpPr txBox="1"/>
          <p:nvPr/>
        </p:nvSpPr>
        <p:spPr>
          <a:xfrm>
            <a:off x="91440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Pre-authorize CISO emergency stop procedures and hold quarterly drills.</a:t>
            </a:r>
          </a:p>
        </p:txBody>
      </p:sp>
      <p:sp>
        <p:nvSpPr>
          <p:cNvPr id="26" name="Rounded Rectangle 25"/>
          <p:cNvSpPr/>
          <p:nvPr/>
        </p:nvSpPr>
        <p:spPr>
          <a:xfrm>
            <a:off x="731520" y="5532120"/>
            <a:ext cx="10698480" cy="685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623560"/>
            <a:ext cx="10332720" cy="502920"/>
          </a:xfrm>
          <a:prstGeom prst="rect">
            <a:avLst/>
          </a:prstGeom>
          <a:noFill/>
        </p:spPr>
        <p:txBody>
          <a:bodyPr wrap="none">
            <a:spAutoFit/>
          </a:bodyPr>
          <a:lstStyle/>
          <a:p>
            <a:pPr>
              <a:defRPr sz="1050" b="1">
                <a:solidFill>
                  <a:srgbClr val="64748B"/>
                </a:solidFill>
              </a:defRPr>
            </a:pPr>
            <a:r>
              <a:t>GOVERNANCE LINKAGE: Threat models, escalation trees, and onboarding acceptance criteria detailed in Technical Appendix A1 and SEC1.</a:t>
            </a:r>
          </a:p>
        </p:txBody>
      </p:sp>
      <p:sp>
        <p:nvSpPr>
          <p:cNvPr id="28" name="TextBox 27"/>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Managed AI Platform Operations · Working proposal for senior leadership review · Slide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10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DECISION REQUESTED</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10</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Measure response and service; approve pilot packages</a:t>
            </a:r>
          </a:p>
        </p:txBody>
      </p:sp>
      <p:sp>
        <p:nvSpPr>
          <p:cNvPr id="6" name="Rounded Rectangle 5"/>
          <p:cNvSpPr/>
          <p:nvPr/>
        </p:nvSpPr>
        <p:spPr>
          <a:xfrm>
            <a:off x="731520" y="1325880"/>
            <a:ext cx="1069848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10332720" cy="274320"/>
          </a:xfrm>
          <a:prstGeom prst="rect">
            <a:avLst/>
          </a:prstGeom>
          <a:noFill/>
        </p:spPr>
        <p:txBody>
          <a:bodyPr wrap="none">
            <a:spAutoFit/>
          </a:bodyPr>
          <a:lstStyle/>
          <a:p>
            <a:pPr>
              <a:defRPr sz="1100" b="1">
                <a:solidFill>
                  <a:srgbClr val="0A192F"/>
                </a:solidFill>
              </a:defRPr>
            </a:pPr>
            <a:r>
              <a:t>MEASURABLE SUCCESS CRITERIA</a:t>
            </a:r>
          </a:p>
        </p:txBody>
      </p:sp>
      <p:sp>
        <p:nvSpPr>
          <p:cNvPr id="8" name="TextBox 7"/>
          <p:cNvSpPr txBox="1"/>
          <p:nvPr/>
        </p:nvSpPr>
        <p:spPr>
          <a:xfrm>
            <a:off x="914400" y="1691640"/>
            <a:ext cx="1097280" cy="502920"/>
          </a:xfrm>
          <a:prstGeom prst="rect">
            <a:avLst/>
          </a:prstGeom>
          <a:noFill/>
        </p:spPr>
        <p:txBody>
          <a:bodyPr wrap="none">
            <a:spAutoFit/>
          </a:bodyPr>
          <a:lstStyle/>
          <a:p>
            <a:pPr>
              <a:defRPr sz="2800" b="1">
                <a:solidFill>
                  <a:srgbClr val="0078D4"/>
                </a:solidFill>
              </a:defRPr>
            </a:pPr>
            <a:r>
              <a:t>&gt;98%</a:t>
            </a:r>
          </a:p>
        </p:txBody>
      </p:sp>
      <p:sp>
        <p:nvSpPr>
          <p:cNvPr id="9" name="TextBox 8"/>
          <p:cNvSpPr txBox="1"/>
          <p:nvPr/>
        </p:nvSpPr>
        <p:spPr>
          <a:xfrm>
            <a:off x="2057400" y="1691640"/>
            <a:ext cx="2194560" cy="228600"/>
          </a:xfrm>
          <a:prstGeom prst="rect">
            <a:avLst/>
          </a:prstGeom>
          <a:noFill/>
        </p:spPr>
        <p:txBody>
          <a:bodyPr wrap="none">
            <a:spAutoFit/>
          </a:bodyPr>
          <a:lstStyle/>
          <a:p>
            <a:pPr>
              <a:defRPr sz="1200" b="1">
                <a:solidFill>
                  <a:srgbClr val="0A192F"/>
                </a:solidFill>
              </a:defRPr>
            </a:pPr>
            <a:r>
              <a:t>SLA Compliance</a:t>
            </a:r>
          </a:p>
        </p:txBody>
      </p:sp>
      <p:sp>
        <p:nvSpPr>
          <p:cNvPr id="10" name="TextBox 9"/>
          <p:cNvSpPr txBox="1"/>
          <p:nvPr/>
        </p:nvSpPr>
        <p:spPr>
          <a:xfrm>
            <a:off x="2057400" y="1965960"/>
            <a:ext cx="2194560" cy="822960"/>
          </a:xfrm>
          <a:prstGeom prst="rect">
            <a:avLst/>
          </a:prstGeom>
          <a:noFill/>
        </p:spPr>
        <p:txBody>
          <a:bodyPr wrap="square">
            <a:spAutoFit/>
          </a:bodyPr>
          <a:lstStyle/>
          <a:p>
            <a:pPr>
              <a:defRPr sz="1000">
                <a:solidFill>
                  <a:srgbClr val="0F172A"/>
                </a:solidFill>
              </a:defRPr>
            </a:pPr>
            <a:r>
              <a:t>Percentage of P1/P2 incidents meeting agreed response and update targets.</a:t>
            </a:r>
          </a:p>
        </p:txBody>
      </p:sp>
      <p:sp>
        <p:nvSpPr>
          <p:cNvPr id="11" name="TextBox 10"/>
          <p:cNvSpPr txBox="1"/>
          <p:nvPr/>
        </p:nvSpPr>
        <p:spPr>
          <a:xfrm>
            <a:off x="4389120" y="1691640"/>
            <a:ext cx="1097280" cy="502920"/>
          </a:xfrm>
          <a:prstGeom prst="rect">
            <a:avLst/>
          </a:prstGeom>
          <a:noFill/>
        </p:spPr>
        <p:txBody>
          <a:bodyPr wrap="none">
            <a:spAutoFit/>
          </a:bodyPr>
          <a:lstStyle/>
          <a:p>
            <a:pPr>
              <a:defRPr sz="2800" b="1">
                <a:solidFill>
                  <a:srgbClr val="D83B01"/>
                </a:solidFill>
              </a:defRPr>
            </a:pPr>
            <a:r>
              <a:t>&lt;15 Min</a:t>
            </a:r>
          </a:p>
        </p:txBody>
      </p:sp>
      <p:sp>
        <p:nvSpPr>
          <p:cNvPr id="12" name="TextBox 11"/>
          <p:cNvSpPr txBox="1"/>
          <p:nvPr/>
        </p:nvSpPr>
        <p:spPr>
          <a:xfrm>
            <a:off x="5532120" y="1691640"/>
            <a:ext cx="2194560" cy="228600"/>
          </a:xfrm>
          <a:prstGeom prst="rect">
            <a:avLst/>
          </a:prstGeom>
          <a:noFill/>
        </p:spPr>
        <p:txBody>
          <a:bodyPr wrap="none">
            <a:spAutoFit/>
          </a:bodyPr>
          <a:lstStyle/>
          <a:p>
            <a:pPr>
              <a:defRPr sz="1200" b="1">
                <a:solidFill>
                  <a:srgbClr val="0A192F"/>
                </a:solidFill>
              </a:defRPr>
            </a:pPr>
            <a:r>
              <a:t>Containment Drill</a:t>
            </a:r>
          </a:p>
        </p:txBody>
      </p:sp>
      <p:sp>
        <p:nvSpPr>
          <p:cNvPr id="13" name="TextBox 12"/>
          <p:cNvSpPr txBox="1"/>
          <p:nvPr/>
        </p:nvSpPr>
        <p:spPr>
          <a:xfrm>
            <a:off x="5532120" y="1965960"/>
            <a:ext cx="2194560" cy="822960"/>
          </a:xfrm>
          <a:prstGeom prst="rect">
            <a:avLst/>
          </a:prstGeom>
          <a:noFill/>
        </p:spPr>
        <p:txBody>
          <a:bodyPr wrap="square">
            <a:spAutoFit/>
          </a:bodyPr>
          <a:lstStyle/>
          <a:p>
            <a:pPr>
              <a:defRPr sz="1000">
                <a:solidFill>
                  <a:srgbClr val="0F172A"/>
                </a:solidFill>
              </a:defRPr>
            </a:pPr>
            <a:r>
              <a:t>Measured execution time for 4-layer emergency rogue agent isolation.</a:t>
            </a:r>
          </a:p>
        </p:txBody>
      </p:sp>
      <p:sp>
        <p:nvSpPr>
          <p:cNvPr id="14" name="TextBox 13"/>
          <p:cNvSpPr txBox="1"/>
          <p:nvPr/>
        </p:nvSpPr>
        <p:spPr>
          <a:xfrm>
            <a:off x="7863840" y="1691640"/>
            <a:ext cx="1097280" cy="502920"/>
          </a:xfrm>
          <a:prstGeom prst="rect">
            <a:avLst/>
          </a:prstGeom>
          <a:noFill/>
        </p:spPr>
        <p:txBody>
          <a:bodyPr wrap="none">
            <a:spAutoFit/>
          </a:bodyPr>
          <a:lstStyle/>
          <a:p>
            <a:pPr>
              <a:defRPr sz="2800" b="1">
                <a:solidFill>
                  <a:srgbClr val="00A389"/>
                </a:solidFill>
              </a:defRPr>
            </a:pPr>
            <a:r>
              <a:t>100%</a:t>
            </a:r>
          </a:p>
        </p:txBody>
      </p:sp>
      <p:sp>
        <p:nvSpPr>
          <p:cNvPr id="15" name="TextBox 14"/>
          <p:cNvSpPr txBox="1"/>
          <p:nvPr/>
        </p:nvSpPr>
        <p:spPr>
          <a:xfrm>
            <a:off x="9006840" y="1691640"/>
            <a:ext cx="2194560" cy="228600"/>
          </a:xfrm>
          <a:prstGeom prst="rect">
            <a:avLst/>
          </a:prstGeom>
          <a:noFill/>
        </p:spPr>
        <p:txBody>
          <a:bodyPr wrap="none">
            <a:spAutoFit/>
          </a:bodyPr>
          <a:lstStyle/>
          <a:p>
            <a:pPr>
              <a:defRPr sz="1200" b="1">
                <a:solidFill>
                  <a:srgbClr val="0A192F"/>
                </a:solidFill>
              </a:defRPr>
            </a:pPr>
            <a:r>
              <a:t>Runbook Coverage</a:t>
            </a:r>
          </a:p>
        </p:txBody>
      </p:sp>
      <p:sp>
        <p:nvSpPr>
          <p:cNvPr id="16" name="TextBox 15"/>
          <p:cNvSpPr txBox="1"/>
          <p:nvPr/>
        </p:nvSpPr>
        <p:spPr>
          <a:xfrm>
            <a:off x="9006840" y="1965960"/>
            <a:ext cx="2194560" cy="822960"/>
          </a:xfrm>
          <a:prstGeom prst="rect">
            <a:avLst/>
          </a:prstGeom>
          <a:noFill/>
        </p:spPr>
        <p:txBody>
          <a:bodyPr wrap="square">
            <a:spAutoFit/>
          </a:bodyPr>
          <a:lstStyle/>
          <a:p>
            <a:pPr>
              <a:defRPr sz="1000">
                <a:solidFill>
                  <a:srgbClr val="0F172A"/>
                </a:solidFill>
              </a:defRPr>
            </a:pPr>
            <a:r>
              <a:t>Every platform alert mapped to a documented runbook and resolver lane.</a:t>
            </a:r>
          </a:p>
        </p:txBody>
      </p:sp>
      <p:sp>
        <p:nvSpPr>
          <p:cNvPr id="17" name="Rounded Rectangle 16"/>
          <p:cNvSpPr/>
          <p:nvPr/>
        </p:nvSpPr>
        <p:spPr>
          <a:xfrm>
            <a:off x="731520" y="3154680"/>
            <a:ext cx="5212080" cy="31089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154680"/>
            <a:ext cx="52120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383280"/>
            <a:ext cx="4663440" cy="365760"/>
          </a:xfrm>
          <a:prstGeom prst="rect">
            <a:avLst/>
          </a:prstGeom>
          <a:noFill/>
        </p:spPr>
        <p:txBody>
          <a:bodyPr wrap="none">
            <a:spAutoFit/>
          </a:bodyPr>
          <a:lstStyle/>
          <a:p>
            <a:pPr>
              <a:defRPr sz="1300" b="1">
                <a:solidFill>
                  <a:srgbClr val="0A192F"/>
                </a:solidFill>
              </a:defRPr>
            </a:pPr>
            <a:r>
              <a:t>DECISIONS REQUESTED TODAY</a:t>
            </a:r>
          </a:p>
        </p:txBody>
      </p:sp>
      <p:sp>
        <p:nvSpPr>
          <p:cNvPr id="20" name="TextBox 19"/>
          <p:cNvSpPr txBox="1"/>
          <p:nvPr/>
        </p:nvSpPr>
        <p:spPr>
          <a:xfrm>
            <a:off x="1005840" y="3840480"/>
            <a:ext cx="4663440" cy="2194560"/>
          </a:xfrm>
          <a:prstGeom prst="rect">
            <a:avLst/>
          </a:prstGeom>
          <a:noFill/>
        </p:spPr>
        <p:txBody>
          <a:bodyPr wrap="square">
            <a:spAutoFit/>
          </a:bodyPr>
          <a:lstStyle/>
          <a:p>
            <a:pPr>
              <a:spcAft>
                <a:spcPts val="1000"/>
              </a:spcAft>
              <a:defRPr sz="1150">
                <a:solidFill>
                  <a:srgbClr val="0F172A"/>
                </a:solidFill>
              </a:defRPr>
            </a:pPr>
            <a:r>
              <a:t>• Approve the 3 operational coverage packages for active customer pilot pursuits.</a:t>
            </a:r>
          </a:p>
          <a:p>
            <a:pPr>
              <a:spcAft>
                <a:spcPts val="1000"/>
              </a:spcAft>
              <a:defRPr sz="1150">
                <a:solidFill>
                  <a:srgbClr val="0F172A"/>
                </a:solidFill>
              </a:defRPr>
            </a:pPr>
            <a:r>
              <a:t>• Enforce mandatory delivery rule: no 24x7 contract without a dedicated funded roster.</a:t>
            </a:r>
          </a:p>
          <a:p>
            <a:pPr>
              <a:spcAft>
                <a:spcPts val="1000"/>
              </a:spcAft>
              <a:defRPr sz="1150">
                <a:solidFill>
                  <a:srgbClr val="0F172A"/>
                </a:solidFill>
              </a:defRPr>
            </a:pPr>
            <a:r>
              <a:t>• Sponsor internal cross-tower OLAs between CIS Infra, AI Practice, and Security SOC.</a:t>
            </a:r>
          </a:p>
        </p:txBody>
      </p:sp>
      <p:sp>
        <p:nvSpPr>
          <p:cNvPr id="21" name="Rounded Rectangle 20"/>
          <p:cNvSpPr/>
          <p:nvPr/>
        </p:nvSpPr>
        <p:spPr>
          <a:xfrm>
            <a:off x="6217920" y="3154680"/>
            <a:ext cx="5212080" cy="310896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154680"/>
            <a:ext cx="52120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383280"/>
            <a:ext cx="4663440" cy="365760"/>
          </a:xfrm>
          <a:prstGeom prst="rect">
            <a:avLst/>
          </a:prstGeom>
          <a:noFill/>
        </p:spPr>
        <p:txBody>
          <a:bodyPr wrap="none">
            <a:spAutoFit/>
          </a:bodyPr>
          <a:lstStyle/>
          <a:p>
            <a:pPr>
              <a:defRPr sz="1300" b="1">
                <a:solidFill>
                  <a:srgbClr val="0A192F"/>
                </a:solidFill>
              </a:defRPr>
            </a:pPr>
            <a:r>
              <a:t>DECISIONS POST-VALIDATION</a:t>
            </a:r>
          </a:p>
        </p:txBody>
      </p:sp>
      <p:sp>
        <p:nvSpPr>
          <p:cNvPr id="24" name="TextBox 23"/>
          <p:cNvSpPr txBox="1"/>
          <p:nvPr/>
        </p:nvSpPr>
        <p:spPr>
          <a:xfrm>
            <a:off x="6492240" y="3840480"/>
            <a:ext cx="4663440" cy="2194560"/>
          </a:xfrm>
          <a:prstGeom prst="rect">
            <a:avLst/>
          </a:prstGeom>
          <a:noFill/>
        </p:spPr>
        <p:txBody>
          <a:bodyPr wrap="square">
            <a:spAutoFit/>
          </a:bodyPr>
          <a:lstStyle/>
          <a:p>
            <a:pPr>
              <a:spcAft>
                <a:spcPts val="1000"/>
              </a:spcAft>
              <a:defRPr sz="1150">
                <a:solidFill>
                  <a:srgbClr val="0F172A"/>
                </a:solidFill>
              </a:defRPr>
            </a:pPr>
            <a:r>
              <a:t>• Finalize binding SLA response metrics based on pilot operational run data.</a:t>
            </a:r>
          </a:p>
          <a:p>
            <a:pPr>
              <a:spcAft>
                <a:spcPts val="1000"/>
              </a:spcAft>
              <a:defRPr sz="1150">
                <a:solidFill>
                  <a:srgbClr val="0F172A"/>
                </a:solidFill>
              </a:defRPr>
            </a:pPr>
            <a:r>
              <a:t>• Integrate customer ITSM connectors (ServiceNow / Jira) into the standard delivery pack.</a:t>
            </a:r>
          </a:p>
          <a:p>
            <a:pPr>
              <a:spcAft>
                <a:spcPts val="1000"/>
              </a:spcAft>
              <a:defRPr sz="1150">
                <a:solidFill>
                  <a:srgbClr val="0F172A"/>
                </a:solidFill>
              </a:defRPr>
            </a:pPr>
            <a:r>
              <a:t>• Establish quarterly rogue agent containment drill schedule with enterprise CISO.</a:t>
            </a:r>
          </a:p>
        </p:txBody>
      </p:sp>
      <p:sp>
        <p:nvSpPr>
          <p:cNvPr id="25" name="TextBox 24"/>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Managed AI Platform Operations · Working proposal for senior leadership review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Onboarding, monitoring, ITSM and AIOps, Agent 365 and Copilot Studio operations, containment and recovery, reviews, staffing, objectives, pricing, exit, RACI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50256"/>
          </a:xfrm>
          <a:prstGeom prst="rect">
            <a:avLst/>
          </a:prstGeom>
          <a:noFill/>
        </p:spPr>
        <p:txBody>
          <a:bodyPr wrap="square" lIns="0" rIns="0" tIns="0" bIns="0" anchor="t">
            <a:noAutofit/>
          </a:bodyPr>
          <a:lstStyle/>
          <a:p>
            <a:pPr algn="l"/>
            <a:r>
              <a:rPr sz="1100" b="1" i="0">
                <a:solidFill>
                  <a:srgbClr val="2F78C4"/>
                </a:solidFill>
                <a:latin typeface="Arial"/>
              </a:rPr>
              <a:t>13  </a:t>
            </a:r>
            <a:r>
              <a:rPr sz="1100" b="1" i="0">
                <a:solidFill>
                  <a:srgbClr val="000048"/>
                </a:solidFill>
                <a:latin typeface="Arial"/>
              </a:rPr>
              <a:t>A1  </a:t>
            </a:r>
            <a:r>
              <a:rPr sz="1100" b="0" i="0">
                <a:solidFill>
                  <a:srgbClr val="1E1E2E"/>
                </a:solidFill>
                <a:latin typeface="Arial"/>
              </a:rPr>
              <a:t>Onboarding and readiness gates</a:t>
            </a:r>
          </a:p>
        </p:txBody>
      </p:sp>
      <p:sp>
        <p:nvSpPr>
          <p:cNvPr id="8" name="TextBox 7">
            <a:hlinkClick action="ppaction://hlinksldjump" r:id="rId5"/>
          </p:cNvPr>
          <p:cNvSpPr txBox="1"/>
          <p:nvPr/>
        </p:nvSpPr>
        <p:spPr>
          <a:xfrm>
            <a:off x="548640" y="1667576"/>
            <a:ext cx="5486400" cy="250256"/>
          </a:xfrm>
          <a:prstGeom prst="rect">
            <a:avLst/>
          </a:prstGeom>
          <a:noFill/>
        </p:spPr>
        <p:txBody>
          <a:bodyPr wrap="square" lIns="0" rIns="0" tIns="0" bIns="0" anchor="t">
            <a:noAutofit/>
          </a:bodyPr>
          <a:lstStyle/>
          <a:p>
            <a:pPr algn="l"/>
            <a:r>
              <a:rPr sz="1100" b="1" i="0">
                <a:solidFill>
                  <a:srgbClr val="2F78C4"/>
                </a:solidFill>
                <a:latin typeface="Arial"/>
              </a:rPr>
              <a:t>14  </a:t>
            </a:r>
            <a:r>
              <a:rPr sz="1100" b="1" i="0">
                <a:solidFill>
                  <a:srgbClr val="000048"/>
                </a:solidFill>
                <a:latin typeface="Arial"/>
              </a:rPr>
              <a:t>A2  </a:t>
            </a:r>
            <a:r>
              <a:rPr sz="1100" b="0" i="0">
                <a:solidFill>
                  <a:srgbClr val="1E1E2E"/>
                </a:solidFill>
                <a:latin typeface="Arial"/>
              </a:rPr>
              <a:t>Asset and agent inventory</a:t>
            </a:r>
          </a:p>
        </p:txBody>
      </p:sp>
      <p:sp>
        <p:nvSpPr>
          <p:cNvPr id="9" name="TextBox 8">
            <a:hlinkClick action="ppaction://hlinksldjump" r:id="rId6"/>
          </p:cNvPr>
          <p:cNvSpPr txBox="1"/>
          <p:nvPr/>
        </p:nvSpPr>
        <p:spPr>
          <a:xfrm>
            <a:off x="548640" y="1917833"/>
            <a:ext cx="5486400" cy="250256"/>
          </a:xfrm>
          <a:prstGeom prst="rect">
            <a:avLst/>
          </a:prstGeom>
          <a:noFill/>
        </p:spPr>
        <p:txBody>
          <a:bodyPr wrap="square" lIns="0" rIns="0" tIns="0" bIns="0" anchor="t">
            <a:noAutofit/>
          </a:bodyPr>
          <a:lstStyle/>
          <a:p>
            <a:pPr algn="l"/>
            <a:r>
              <a:rPr sz="1100" b="1" i="0">
                <a:solidFill>
                  <a:srgbClr val="2F78C4"/>
                </a:solidFill>
                <a:latin typeface="Arial"/>
              </a:rPr>
              <a:t>15  </a:t>
            </a:r>
            <a:r>
              <a:rPr sz="1100" b="1" i="0">
                <a:solidFill>
                  <a:srgbClr val="000048"/>
                </a:solidFill>
                <a:latin typeface="Arial"/>
              </a:rPr>
              <a:t>A3  </a:t>
            </a:r>
            <a:r>
              <a:rPr sz="1100" b="0" i="0">
                <a:solidFill>
                  <a:srgbClr val="1E1E2E"/>
                </a:solidFill>
                <a:latin typeface="Arial"/>
              </a:rPr>
              <a:t>Health and dependency monitoring</a:t>
            </a:r>
          </a:p>
        </p:txBody>
      </p:sp>
      <p:sp>
        <p:nvSpPr>
          <p:cNvPr id="10" name="TextBox 9">
            <a:hlinkClick action="ppaction://hlinksldjump" r:id="rId7"/>
          </p:cNvPr>
          <p:cNvSpPr txBox="1"/>
          <p:nvPr/>
        </p:nvSpPr>
        <p:spPr>
          <a:xfrm>
            <a:off x="548640" y="2168090"/>
            <a:ext cx="5486400" cy="250256"/>
          </a:xfrm>
          <a:prstGeom prst="rect">
            <a:avLst/>
          </a:prstGeom>
          <a:noFill/>
        </p:spPr>
        <p:txBody>
          <a:bodyPr wrap="square" lIns="0" rIns="0" tIns="0" bIns="0" anchor="t">
            <a:noAutofit/>
          </a:bodyPr>
          <a:lstStyle/>
          <a:p>
            <a:pPr algn="l"/>
            <a:r>
              <a:rPr sz="1100" b="1" i="0">
                <a:solidFill>
                  <a:srgbClr val="2F78C4"/>
                </a:solidFill>
                <a:latin typeface="Arial"/>
              </a:rPr>
              <a:t>16  </a:t>
            </a:r>
            <a:r>
              <a:rPr sz="1100" b="1" i="0">
                <a:solidFill>
                  <a:srgbClr val="000048"/>
                </a:solidFill>
                <a:latin typeface="Arial"/>
              </a:rPr>
              <a:t>A4  </a:t>
            </a:r>
            <a:r>
              <a:rPr sz="1100" b="0" i="0">
                <a:solidFill>
                  <a:srgbClr val="1E1E2E"/>
                </a:solidFill>
                <a:latin typeface="Arial"/>
              </a:rPr>
              <a:t>Foundry observability, App Insights, Log Analytics</a:t>
            </a:r>
          </a:p>
        </p:txBody>
      </p:sp>
      <p:sp>
        <p:nvSpPr>
          <p:cNvPr id="11" name="TextBox 10">
            <a:hlinkClick action="ppaction://hlinksldjump" r:id="rId8"/>
          </p:cNvPr>
          <p:cNvSpPr txBox="1"/>
          <p:nvPr/>
        </p:nvSpPr>
        <p:spPr>
          <a:xfrm>
            <a:off x="548640" y="2418347"/>
            <a:ext cx="5486400" cy="250256"/>
          </a:xfrm>
          <a:prstGeom prst="rect">
            <a:avLst/>
          </a:prstGeom>
          <a:noFill/>
        </p:spPr>
        <p:txBody>
          <a:bodyPr wrap="square" lIns="0" rIns="0" tIns="0" bIns="0" anchor="t">
            <a:noAutofit/>
          </a:bodyPr>
          <a:lstStyle/>
          <a:p>
            <a:pPr algn="l"/>
            <a:r>
              <a:rPr sz="1100" b="1" i="0">
                <a:solidFill>
                  <a:srgbClr val="2F78C4"/>
                </a:solidFill>
                <a:latin typeface="Arial"/>
              </a:rPr>
              <a:t>17  </a:t>
            </a:r>
            <a:r>
              <a:rPr sz="1100" b="1" i="0">
                <a:solidFill>
                  <a:srgbClr val="000048"/>
                </a:solidFill>
                <a:latin typeface="Arial"/>
              </a:rPr>
              <a:t>A5  </a:t>
            </a:r>
            <a:r>
              <a:rPr sz="1100" b="0" i="0">
                <a:solidFill>
                  <a:srgbClr val="1E1E2E"/>
                </a:solidFill>
                <a:latin typeface="Arial"/>
              </a:rPr>
              <a:t>Alert ownership and routing</a:t>
            </a:r>
          </a:p>
        </p:txBody>
      </p:sp>
      <p:sp>
        <p:nvSpPr>
          <p:cNvPr id="12" name="TextBox 11">
            <a:hlinkClick action="ppaction://hlinksldjump" r:id="rId9"/>
          </p:cNvPr>
          <p:cNvSpPr txBox="1"/>
          <p:nvPr/>
        </p:nvSpPr>
        <p:spPr>
          <a:xfrm>
            <a:off x="548640" y="2668604"/>
            <a:ext cx="5486400" cy="250256"/>
          </a:xfrm>
          <a:prstGeom prst="rect">
            <a:avLst/>
          </a:prstGeom>
          <a:noFill/>
        </p:spPr>
        <p:txBody>
          <a:bodyPr wrap="square" lIns="0" rIns="0" tIns="0" bIns="0" anchor="t">
            <a:noAutofit/>
          </a:bodyPr>
          <a:lstStyle/>
          <a:p>
            <a:pPr algn="l"/>
            <a:r>
              <a:rPr sz="1100" b="1" i="0">
                <a:solidFill>
                  <a:srgbClr val="2F78C4"/>
                </a:solidFill>
                <a:latin typeface="Arial"/>
              </a:rPr>
              <a:t>18  </a:t>
            </a:r>
            <a:r>
              <a:rPr sz="1100" b="1" i="0">
                <a:solidFill>
                  <a:srgbClr val="000048"/>
                </a:solidFill>
                <a:latin typeface="Arial"/>
              </a:rPr>
              <a:t>A6  </a:t>
            </a:r>
            <a:r>
              <a:rPr sz="1100" b="0" i="0">
                <a:solidFill>
                  <a:srgbClr val="1E1E2E"/>
                </a:solidFill>
                <a:latin typeface="Arial"/>
              </a:rPr>
              <a:t>Incident, problem and change</a:t>
            </a:r>
          </a:p>
        </p:txBody>
      </p:sp>
      <p:sp>
        <p:nvSpPr>
          <p:cNvPr id="13" name="TextBox 12">
            <a:hlinkClick action="ppaction://hlinksldjump" r:id="rId10"/>
          </p:cNvPr>
          <p:cNvSpPr txBox="1"/>
          <p:nvPr/>
        </p:nvSpPr>
        <p:spPr>
          <a:xfrm>
            <a:off x="548640" y="2918861"/>
            <a:ext cx="5486400" cy="250256"/>
          </a:xfrm>
          <a:prstGeom prst="rect">
            <a:avLst/>
          </a:prstGeom>
          <a:noFill/>
        </p:spPr>
        <p:txBody>
          <a:bodyPr wrap="square" lIns="0" rIns="0" tIns="0" bIns="0" anchor="t">
            <a:noAutofit/>
          </a:bodyPr>
          <a:lstStyle/>
          <a:p>
            <a:pPr algn="l"/>
            <a:r>
              <a:rPr sz="1100" b="1" i="0">
                <a:solidFill>
                  <a:srgbClr val="2F78C4"/>
                </a:solidFill>
                <a:latin typeface="Arial"/>
              </a:rPr>
              <a:t>19  </a:t>
            </a:r>
            <a:r>
              <a:rPr sz="1100" b="1" i="0">
                <a:solidFill>
                  <a:srgbClr val="000048"/>
                </a:solidFill>
                <a:latin typeface="Arial"/>
              </a:rPr>
              <a:t>A7  </a:t>
            </a:r>
            <a:r>
              <a:rPr sz="1100" b="0" i="0">
                <a:solidFill>
                  <a:srgbClr val="1E1E2E"/>
                </a:solidFill>
                <a:latin typeface="Arial"/>
              </a:rPr>
              <a:t>Platform, quality and security lanes</a:t>
            </a:r>
          </a:p>
        </p:txBody>
      </p:sp>
      <p:sp>
        <p:nvSpPr>
          <p:cNvPr id="14" name="TextBox 13">
            <a:hlinkClick action="ppaction://hlinksldjump" r:id="rId11"/>
          </p:cNvPr>
          <p:cNvSpPr txBox="1"/>
          <p:nvPr/>
        </p:nvSpPr>
        <p:spPr>
          <a:xfrm>
            <a:off x="548640" y="3169117"/>
            <a:ext cx="5486400" cy="250256"/>
          </a:xfrm>
          <a:prstGeom prst="rect">
            <a:avLst/>
          </a:prstGeom>
          <a:noFill/>
        </p:spPr>
        <p:txBody>
          <a:bodyPr wrap="square" lIns="0" rIns="0" tIns="0" bIns="0" anchor="t">
            <a:noAutofit/>
          </a:bodyPr>
          <a:lstStyle/>
          <a:p>
            <a:pPr algn="l"/>
            <a:r>
              <a:rPr sz="1100" b="1" i="0">
                <a:solidFill>
                  <a:srgbClr val="2F78C4"/>
                </a:solidFill>
                <a:latin typeface="Arial"/>
              </a:rPr>
              <a:t>20  </a:t>
            </a:r>
            <a:r>
              <a:rPr sz="1100" b="1" i="0">
                <a:solidFill>
                  <a:srgbClr val="000048"/>
                </a:solidFill>
                <a:latin typeface="Arial"/>
              </a:rPr>
              <a:t>K1  </a:t>
            </a:r>
            <a:r>
              <a:rPr sz="1100" b="0" i="0">
                <a:solidFill>
                  <a:srgbClr val="1E1E2E"/>
                </a:solidFill>
                <a:latin typeface="Arial"/>
              </a:rPr>
              <a:t>Kill-switch reference architecture</a:t>
            </a:r>
          </a:p>
        </p:txBody>
      </p:sp>
      <p:sp>
        <p:nvSpPr>
          <p:cNvPr id="15" name="TextBox 14">
            <a:hlinkClick action="ppaction://hlinksldjump" r:id="rId12"/>
          </p:cNvPr>
          <p:cNvSpPr txBox="1"/>
          <p:nvPr/>
        </p:nvSpPr>
        <p:spPr>
          <a:xfrm>
            <a:off x="548640" y="3419374"/>
            <a:ext cx="5486400" cy="250256"/>
          </a:xfrm>
          <a:prstGeom prst="rect">
            <a:avLst/>
          </a:prstGeom>
          <a:noFill/>
        </p:spPr>
        <p:txBody>
          <a:bodyPr wrap="square" lIns="0" rIns="0" tIns="0" bIns="0" anchor="t">
            <a:noAutofit/>
          </a:bodyPr>
          <a:lstStyle/>
          <a:p>
            <a:pPr algn="l"/>
            <a:r>
              <a:rPr sz="1100" b="1" i="0">
                <a:solidFill>
                  <a:srgbClr val="2F78C4"/>
                </a:solidFill>
                <a:latin typeface="Arial"/>
              </a:rPr>
              <a:t>21  </a:t>
            </a:r>
            <a:r>
              <a:rPr sz="1100" b="1" i="0">
                <a:solidFill>
                  <a:srgbClr val="000048"/>
                </a:solidFill>
                <a:latin typeface="Arial"/>
              </a:rPr>
              <a:t>K2  </a:t>
            </a:r>
            <a:r>
              <a:rPr sz="1100" b="0" i="0">
                <a:solidFill>
                  <a:srgbClr val="1E1E2E"/>
                </a:solidFill>
                <a:latin typeface="Arial"/>
              </a:rPr>
              <a:t>Block, cancel, deny: what each layer does</a:t>
            </a:r>
          </a:p>
        </p:txBody>
      </p:sp>
      <p:sp>
        <p:nvSpPr>
          <p:cNvPr id="16" name="TextBox 15">
            <a:hlinkClick action="ppaction://hlinksldjump" r:id="rId13"/>
          </p:cNvPr>
          <p:cNvSpPr txBox="1"/>
          <p:nvPr/>
        </p:nvSpPr>
        <p:spPr>
          <a:xfrm>
            <a:off x="548640" y="3669631"/>
            <a:ext cx="5486400" cy="250256"/>
          </a:xfrm>
          <a:prstGeom prst="rect">
            <a:avLst/>
          </a:prstGeom>
          <a:noFill/>
        </p:spPr>
        <p:txBody>
          <a:bodyPr wrap="square" lIns="0" rIns="0" tIns="0" bIns="0" anchor="t">
            <a:noAutofit/>
          </a:bodyPr>
          <a:lstStyle/>
          <a:p>
            <a:pPr algn="l"/>
            <a:r>
              <a:rPr sz="1100" b="1" i="0">
                <a:solidFill>
                  <a:srgbClr val="2F78C4"/>
                </a:solidFill>
                <a:latin typeface="Arial"/>
              </a:rPr>
              <a:t>22  </a:t>
            </a:r>
            <a:r>
              <a:rPr sz="1100" b="1" i="0">
                <a:solidFill>
                  <a:srgbClr val="000048"/>
                </a:solidFill>
                <a:latin typeface="Arial"/>
              </a:rPr>
              <a:t>K3  </a:t>
            </a:r>
            <a:r>
              <a:rPr sz="1100" b="0" i="0">
                <a:solidFill>
                  <a:srgbClr val="1E1E2E"/>
                </a:solidFill>
                <a:latin typeface="Arial"/>
              </a:rPr>
              <a:t>Containment limits</a:t>
            </a:r>
          </a:p>
        </p:txBody>
      </p:sp>
      <p:sp>
        <p:nvSpPr>
          <p:cNvPr id="17" name="TextBox 16">
            <a:hlinkClick action="ppaction://hlinksldjump" r:id="rId14"/>
          </p:cNvPr>
          <p:cNvSpPr txBox="1"/>
          <p:nvPr/>
        </p:nvSpPr>
        <p:spPr>
          <a:xfrm>
            <a:off x="548640" y="3919888"/>
            <a:ext cx="5486400" cy="250256"/>
          </a:xfrm>
          <a:prstGeom prst="rect">
            <a:avLst/>
          </a:prstGeom>
          <a:noFill/>
        </p:spPr>
        <p:txBody>
          <a:bodyPr wrap="square" lIns="0" rIns="0" tIns="0" bIns="0" anchor="t">
            <a:noAutofit/>
          </a:bodyPr>
          <a:lstStyle/>
          <a:p>
            <a:pPr algn="l"/>
            <a:r>
              <a:rPr sz="1100" b="1" i="0">
                <a:solidFill>
                  <a:srgbClr val="2F78C4"/>
                </a:solidFill>
                <a:latin typeface="Arial"/>
              </a:rPr>
              <a:t>23  </a:t>
            </a:r>
            <a:r>
              <a:rPr sz="1100" b="1" i="0">
                <a:solidFill>
                  <a:srgbClr val="000048"/>
                </a:solidFill>
                <a:latin typeface="Arial"/>
              </a:rPr>
              <a:t>K4  </a:t>
            </a:r>
            <a:r>
              <a:rPr sz="1100" b="0" i="0">
                <a:solidFill>
                  <a:srgbClr val="1E1E2E"/>
                </a:solidFill>
                <a:latin typeface="Arial"/>
              </a:rPr>
              <a:t>Containment test scenarios</a:t>
            </a:r>
          </a:p>
        </p:txBody>
      </p:sp>
      <p:sp>
        <p:nvSpPr>
          <p:cNvPr id="18" name="TextBox 17">
            <a:hlinkClick action="ppaction://hlinksldjump" r:id="rId15"/>
          </p:cNvPr>
          <p:cNvSpPr txBox="1"/>
          <p:nvPr/>
        </p:nvSpPr>
        <p:spPr>
          <a:xfrm>
            <a:off x="548640" y="4170145"/>
            <a:ext cx="5486400" cy="250256"/>
          </a:xfrm>
          <a:prstGeom prst="rect">
            <a:avLst/>
          </a:prstGeom>
          <a:noFill/>
        </p:spPr>
        <p:txBody>
          <a:bodyPr wrap="square" lIns="0" rIns="0" tIns="0" bIns="0" anchor="t">
            <a:noAutofit/>
          </a:bodyPr>
          <a:lstStyle/>
          <a:p>
            <a:pPr algn="l"/>
            <a:r>
              <a:rPr sz="1100" b="1" i="0">
                <a:solidFill>
                  <a:srgbClr val="2F78C4"/>
                </a:solidFill>
                <a:latin typeface="Arial"/>
              </a:rPr>
              <a:t>24  </a:t>
            </a:r>
            <a:r>
              <a:rPr sz="1100" b="1" i="0">
                <a:solidFill>
                  <a:srgbClr val="000048"/>
                </a:solidFill>
                <a:latin typeface="Arial"/>
              </a:rPr>
              <a:t>K5  </a:t>
            </a:r>
            <a:r>
              <a:rPr sz="1100" b="0" i="0">
                <a:solidFill>
                  <a:srgbClr val="1E1E2E"/>
                </a:solidFill>
                <a:latin typeface="Arial"/>
              </a:rPr>
              <a:t>Kill-switch proof-of-concept plan</a:t>
            </a:r>
          </a:p>
        </p:txBody>
      </p:sp>
      <p:sp>
        <p:nvSpPr>
          <p:cNvPr id="19" name="TextBox 18">
            <a:hlinkClick action="ppaction://hlinksldjump" r:id="rId16"/>
          </p:cNvPr>
          <p:cNvSpPr txBox="1"/>
          <p:nvPr/>
        </p:nvSpPr>
        <p:spPr>
          <a:xfrm>
            <a:off x="548640" y="4420402"/>
            <a:ext cx="5486400" cy="250256"/>
          </a:xfrm>
          <a:prstGeom prst="rect">
            <a:avLst/>
          </a:prstGeom>
          <a:noFill/>
        </p:spPr>
        <p:txBody>
          <a:bodyPr wrap="square" lIns="0" rIns="0" tIns="0" bIns="0" anchor="t">
            <a:noAutofit/>
          </a:bodyPr>
          <a:lstStyle/>
          <a:p>
            <a:pPr algn="l"/>
            <a:r>
              <a:rPr sz="1100" b="1" i="0">
                <a:solidFill>
                  <a:srgbClr val="2F78C4"/>
                </a:solidFill>
                <a:latin typeface="Arial"/>
              </a:rPr>
              <a:t>25  </a:t>
            </a:r>
            <a:r>
              <a:rPr sz="1100" b="1" i="0">
                <a:solidFill>
                  <a:srgbClr val="000048"/>
                </a:solidFill>
                <a:latin typeface="Arial"/>
              </a:rPr>
              <a:t>A8  </a:t>
            </a:r>
            <a:r>
              <a:rPr sz="1100" b="0" i="0">
                <a:solidFill>
                  <a:srgbClr val="1E1E2E"/>
                </a:solidFill>
                <a:latin typeface="Arial"/>
              </a:rPr>
              <a:t>Controlled recovery</a:t>
            </a:r>
          </a:p>
        </p:txBody>
      </p:sp>
      <p:sp>
        <p:nvSpPr>
          <p:cNvPr id="20" name="TextBox 19">
            <a:hlinkClick action="ppaction://hlinksldjump" r:id="rId17"/>
          </p:cNvPr>
          <p:cNvSpPr txBox="1"/>
          <p:nvPr/>
        </p:nvSpPr>
        <p:spPr>
          <a:xfrm>
            <a:off x="548640" y="4670658"/>
            <a:ext cx="5486400" cy="250256"/>
          </a:xfrm>
          <a:prstGeom prst="rect">
            <a:avLst/>
          </a:prstGeom>
          <a:noFill/>
        </p:spPr>
        <p:txBody>
          <a:bodyPr wrap="square" lIns="0" rIns="0" tIns="0" bIns="0" anchor="t">
            <a:noAutofit/>
          </a:bodyPr>
          <a:lstStyle/>
          <a:p>
            <a:pPr algn="l"/>
            <a:r>
              <a:rPr sz="1100" b="1" i="0">
                <a:solidFill>
                  <a:srgbClr val="2F78C4"/>
                </a:solidFill>
                <a:latin typeface="Arial"/>
              </a:rPr>
              <a:t>26  </a:t>
            </a:r>
            <a:r>
              <a:rPr sz="1100" b="1" i="0">
                <a:solidFill>
                  <a:srgbClr val="000048"/>
                </a:solidFill>
                <a:latin typeface="Arial"/>
              </a:rPr>
              <a:t>A9  </a:t>
            </a:r>
            <a:r>
              <a:rPr sz="1100" b="0" i="0">
                <a:solidFill>
                  <a:srgbClr val="1E1E2E"/>
                </a:solidFill>
                <a:latin typeface="Arial"/>
              </a:rPr>
              <a:t>Capacity, quota and cost review</a:t>
            </a:r>
          </a:p>
        </p:txBody>
      </p:sp>
      <p:sp>
        <p:nvSpPr>
          <p:cNvPr id="21" name="TextBox 20">
            <a:hlinkClick action="ppaction://hlinksldjump" r:id="rId18"/>
          </p:cNvPr>
          <p:cNvSpPr txBox="1"/>
          <p:nvPr/>
        </p:nvSpPr>
        <p:spPr>
          <a:xfrm>
            <a:off x="548640" y="4920915"/>
            <a:ext cx="5486400" cy="250256"/>
          </a:xfrm>
          <a:prstGeom prst="rect">
            <a:avLst/>
          </a:prstGeom>
          <a:noFill/>
        </p:spPr>
        <p:txBody>
          <a:bodyPr wrap="square" lIns="0" rIns="0" tIns="0" bIns="0" anchor="t">
            <a:noAutofit/>
          </a:bodyPr>
          <a:lstStyle/>
          <a:p>
            <a:pPr algn="l"/>
            <a:r>
              <a:rPr sz="1100" b="1" i="0">
                <a:solidFill>
                  <a:srgbClr val="2F78C4"/>
                </a:solidFill>
                <a:latin typeface="Arial"/>
              </a:rPr>
              <a:t>27  </a:t>
            </a:r>
            <a:r>
              <a:rPr sz="1100" b="1" i="0">
                <a:solidFill>
                  <a:srgbClr val="000048"/>
                </a:solidFill>
                <a:latin typeface="Arial"/>
              </a:rPr>
              <a:t>A10  </a:t>
            </a:r>
            <a:r>
              <a:rPr sz="1100" b="0" i="0">
                <a:solidFill>
                  <a:srgbClr val="1E1E2E"/>
                </a:solidFill>
                <a:latin typeface="Arial"/>
              </a:rPr>
              <a:t>Dormant-agent review</a:t>
            </a:r>
          </a:p>
        </p:txBody>
      </p:sp>
      <p:sp>
        <p:nvSpPr>
          <p:cNvPr id="22" name="TextBox 21">
            <a:hlinkClick action="ppaction://hlinksldjump" r:id="rId19"/>
          </p:cNvPr>
          <p:cNvSpPr txBox="1"/>
          <p:nvPr/>
        </p:nvSpPr>
        <p:spPr>
          <a:xfrm>
            <a:off x="548640" y="5171172"/>
            <a:ext cx="5486400" cy="250256"/>
          </a:xfrm>
          <a:prstGeom prst="rect">
            <a:avLst/>
          </a:prstGeom>
          <a:noFill/>
        </p:spPr>
        <p:txBody>
          <a:bodyPr wrap="square" lIns="0" rIns="0" tIns="0" bIns="0" anchor="t">
            <a:noAutofit/>
          </a:bodyPr>
          <a:lstStyle/>
          <a:p>
            <a:pPr algn="l"/>
            <a:r>
              <a:rPr sz="1100" b="1" i="0">
                <a:solidFill>
                  <a:srgbClr val="2F78C4"/>
                </a:solidFill>
                <a:latin typeface="Arial"/>
              </a:rPr>
              <a:t>28  </a:t>
            </a:r>
            <a:r>
              <a:rPr sz="1100" b="1" i="0">
                <a:solidFill>
                  <a:srgbClr val="000048"/>
                </a:solidFill>
                <a:latin typeface="Arial"/>
              </a:rPr>
              <a:t>A11  </a:t>
            </a:r>
            <a:r>
              <a:rPr sz="1100" b="0" i="0">
                <a:solidFill>
                  <a:srgbClr val="1E1E2E"/>
                </a:solidFill>
                <a:latin typeface="Arial"/>
              </a:rPr>
              <a:t>Backup and recovery responsibilities</a:t>
            </a:r>
          </a:p>
        </p:txBody>
      </p:sp>
      <p:sp>
        <p:nvSpPr>
          <p:cNvPr id="23" name="TextBox 22">
            <a:hlinkClick action="ppaction://hlinksldjump" r:id="rId20"/>
          </p:cNvPr>
          <p:cNvSpPr txBox="1"/>
          <p:nvPr/>
        </p:nvSpPr>
        <p:spPr>
          <a:xfrm>
            <a:off x="548640" y="5421429"/>
            <a:ext cx="5486400" cy="250256"/>
          </a:xfrm>
          <a:prstGeom prst="rect">
            <a:avLst/>
          </a:prstGeom>
          <a:noFill/>
        </p:spPr>
        <p:txBody>
          <a:bodyPr wrap="square" lIns="0" rIns="0" tIns="0" bIns="0" anchor="t">
            <a:noAutofit/>
          </a:bodyPr>
          <a:lstStyle/>
          <a:p>
            <a:pPr algn="l"/>
            <a:r>
              <a:rPr sz="1100" b="1" i="0">
                <a:solidFill>
                  <a:srgbClr val="2F78C4"/>
                </a:solidFill>
                <a:latin typeface="Arial"/>
              </a:rPr>
              <a:t>29  </a:t>
            </a:r>
            <a:r>
              <a:rPr sz="1100" b="1" i="0">
                <a:solidFill>
                  <a:srgbClr val="000048"/>
                </a:solidFill>
                <a:latin typeface="Arial"/>
              </a:rPr>
              <a:t>A12  </a:t>
            </a:r>
            <a:r>
              <a:rPr sz="1100" b="0" i="0">
                <a:solidFill>
                  <a:srgbClr val="1E1E2E"/>
                </a:solidFill>
                <a:latin typeface="Arial"/>
              </a:rPr>
              <a:t>Runbooks and specialist dependencies</a:t>
            </a:r>
          </a:p>
        </p:txBody>
      </p:sp>
      <p:sp>
        <p:nvSpPr>
          <p:cNvPr id="24" name="TextBox 23">
            <a:hlinkClick action="ppaction://hlinksldjump" r:id="rId21"/>
          </p:cNvPr>
          <p:cNvSpPr txBox="1"/>
          <p:nvPr/>
        </p:nvSpPr>
        <p:spPr>
          <a:xfrm>
            <a:off x="548640" y="5671686"/>
            <a:ext cx="5486400" cy="250256"/>
          </a:xfrm>
          <a:prstGeom prst="rect">
            <a:avLst/>
          </a:prstGeom>
          <a:noFill/>
        </p:spPr>
        <p:txBody>
          <a:bodyPr wrap="square" lIns="0" rIns="0" tIns="0" bIns="0" anchor="t">
            <a:noAutofit/>
          </a:bodyPr>
          <a:lstStyle/>
          <a:p>
            <a:pPr algn="l"/>
            <a:r>
              <a:rPr sz="1100" b="1" i="0">
                <a:solidFill>
                  <a:srgbClr val="2F78C4"/>
                </a:solidFill>
                <a:latin typeface="Arial"/>
              </a:rPr>
              <a:t>30  </a:t>
            </a:r>
            <a:r>
              <a:rPr sz="1100" b="1" i="0">
                <a:solidFill>
                  <a:srgbClr val="000048"/>
                </a:solidFill>
                <a:latin typeface="Arial"/>
              </a:rPr>
              <a:t>A13  </a:t>
            </a:r>
            <a:r>
              <a:rPr sz="1100" b="0" i="0">
                <a:solidFill>
                  <a:srgbClr val="1E1E2E"/>
                </a:solidFill>
                <a:latin typeface="Arial"/>
              </a:rPr>
              <a:t>Coverage, on-call and effort</a:t>
            </a:r>
          </a:p>
        </p:txBody>
      </p:sp>
      <p:sp>
        <p:nvSpPr>
          <p:cNvPr id="25" name="TextBox 24">
            <a:hlinkClick action="ppaction://hlinksldjump" r:id="rId22"/>
          </p:cNvPr>
          <p:cNvSpPr txBox="1"/>
          <p:nvPr/>
        </p:nvSpPr>
        <p:spPr>
          <a:xfrm>
            <a:off x="548640" y="5921943"/>
            <a:ext cx="5486400" cy="250256"/>
          </a:xfrm>
          <a:prstGeom prst="rect">
            <a:avLst/>
          </a:prstGeom>
          <a:noFill/>
        </p:spPr>
        <p:txBody>
          <a:bodyPr wrap="square" lIns="0" rIns="0" tIns="0" bIns="0" anchor="t">
            <a:noAutofit/>
          </a:bodyPr>
          <a:lstStyle/>
          <a:p>
            <a:pPr algn="l"/>
            <a:r>
              <a:rPr sz="1100" b="1" i="0">
                <a:solidFill>
                  <a:srgbClr val="2F78C4"/>
                </a:solidFill>
                <a:latin typeface="Arial"/>
              </a:rPr>
              <a:t>31  </a:t>
            </a:r>
            <a:r>
              <a:rPr sz="1100" b="1" i="0">
                <a:solidFill>
                  <a:srgbClr val="000048"/>
                </a:solidFill>
                <a:latin typeface="Arial"/>
              </a:rPr>
              <a:t>A14  </a:t>
            </a:r>
            <a:r>
              <a:rPr sz="1100" b="0" i="0">
                <a:solidFill>
                  <a:srgbClr val="1E1E2E"/>
                </a:solidFill>
                <a:latin typeface="Arial"/>
              </a:rPr>
              <a:t>Service objectives and reporting</a:t>
            </a:r>
          </a:p>
        </p:txBody>
      </p:sp>
      <p:sp>
        <p:nvSpPr>
          <p:cNvPr id="26" name="TextBox 25">
            <a:hlinkClick action="ppaction://hlinksldjump" r:id="rId23"/>
          </p:cNvPr>
          <p:cNvSpPr txBox="1"/>
          <p:nvPr/>
        </p:nvSpPr>
        <p:spPr>
          <a:xfrm>
            <a:off x="6217920" y="1417320"/>
            <a:ext cx="5486400" cy="250256"/>
          </a:xfrm>
          <a:prstGeom prst="rect">
            <a:avLst/>
          </a:prstGeom>
          <a:noFill/>
        </p:spPr>
        <p:txBody>
          <a:bodyPr wrap="square" lIns="0" rIns="0" tIns="0" bIns="0" anchor="t">
            <a:noAutofit/>
          </a:bodyPr>
          <a:lstStyle/>
          <a:p>
            <a:pPr algn="l"/>
            <a:r>
              <a:rPr sz="1100" b="1" i="0">
                <a:solidFill>
                  <a:srgbClr val="2F78C4"/>
                </a:solidFill>
                <a:latin typeface="Arial"/>
              </a:rPr>
              <a:t>32  </a:t>
            </a:r>
            <a:r>
              <a:rPr sz="1100" b="1" i="0">
                <a:solidFill>
                  <a:srgbClr val="000048"/>
                </a:solidFill>
                <a:latin typeface="Arial"/>
              </a:rPr>
              <a:t>A15  </a:t>
            </a:r>
            <a:r>
              <a:rPr sz="1100" b="0" i="0">
                <a:solidFill>
                  <a:srgbClr val="1E1E2E"/>
                </a:solidFill>
                <a:latin typeface="Arial"/>
              </a:rPr>
              <a:t>Monthly governance agenda</a:t>
            </a:r>
          </a:p>
        </p:txBody>
      </p:sp>
      <p:sp>
        <p:nvSpPr>
          <p:cNvPr id="27" name="TextBox 26">
            <a:hlinkClick action="ppaction://hlinksldjump" r:id="rId24"/>
          </p:cNvPr>
          <p:cNvSpPr txBox="1"/>
          <p:nvPr/>
        </p:nvSpPr>
        <p:spPr>
          <a:xfrm>
            <a:off x="6217920" y="1667576"/>
            <a:ext cx="5486400" cy="250256"/>
          </a:xfrm>
          <a:prstGeom prst="rect">
            <a:avLst/>
          </a:prstGeom>
          <a:noFill/>
        </p:spPr>
        <p:txBody>
          <a:bodyPr wrap="square" lIns="0" rIns="0" tIns="0" bIns="0" anchor="t">
            <a:noAutofit/>
          </a:bodyPr>
          <a:lstStyle/>
          <a:p>
            <a:pPr algn="l"/>
            <a:r>
              <a:rPr sz="1100" b="1" i="0">
                <a:solidFill>
                  <a:srgbClr val="2F78C4"/>
                </a:solidFill>
                <a:latin typeface="Arial"/>
              </a:rPr>
              <a:t>33  </a:t>
            </a:r>
            <a:r>
              <a:rPr sz="1100" b="1" i="0">
                <a:solidFill>
                  <a:srgbClr val="000048"/>
                </a:solidFill>
                <a:latin typeface="Arial"/>
              </a:rPr>
              <a:t>A16  </a:t>
            </a:r>
            <a:r>
              <a:rPr sz="1100" b="0" i="0">
                <a:solidFill>
                  <a:srgbClr val="1E1E2E"/>
                </a:solidFill>
                <a:latin typeface="Arial"/>
              </a:rPr>
              <a:t>Pricing logic</a:t>
            </a:r>
          </a:p>
        </p:txBody>
      </p:sp>
      <p:sp>
        <p:nvSpPr>
          <p:cNvPr id="28" name="TextBox 27">
            <a:hlinkClick action="ppaction://hlinksldjump" r:id="rId25"/>
          </p:cNvPr>
          <p:cNvSpPr txBox="1"/>
          <p:nvPr/>
        </p:nvSpPr>
        <p:spPr>
          <a:xfrm>
            <a:off x="6217920" y="1917833"/>
            <a:ext cx="5486400" cy="250256"/>
          </a:xfrm>
          <a:prstGeom prst="rect">
            <a:avLst/>
          </a:prstGeom>
          <a:noFill/>
        </p:spPr>
        <p:txBody>
          <a:bodyPr wrap="square" lIns="0" rIns="0" tIns="0" bIns="0" anchor="t">
            <a:noAutofit/>
          </a:bodyPr>
          <a:lstStyle/>
          <a:p>
            <a:pPr algn="l"/>
            <a:r>
              <a:rPr sz="1100" b="1" i="0">
                <a:solidFill>
                  <a:srgbClr val="2F78C4"/>
                </a:solidFill>
                <a:latin typeface="Arial"/>
              </a:rPr>
              <a:t>34  </a:t>
            </a:r>
            <a:r>
              <a:rPr sz="1100" b="1" i="0">
                <a:solidFill>
                  <a:srgbClr val="000048"/>
                </a:solidFill>
                <a:latin typeface="Arial"/>
              </a:rPr>
              <a:t>A17  </a:t>
            </a:r>
            <a:r>
              <a:rPr sz="1100" b="0" i="0">
                <a:solidFill>
                  <a:srgbClr val="1E1E2E"/>
                </a:solidFill>
                <a:latin typeface="Arial"/>
              </a:rPr>
              <a:t>ITSM and AIOps integration</a:t>
            </a:r>
          </a:p>
        </p:txBody>
      </p:sp>
      <p:sp>
        <p:nvSpPr>
          <p:cNvPr id="29" name="TextBox 28">
            <a:hlinkClick action="ppaction://hlinksldjump" r:id="rId26"/>
          </p:cNvPr>
          <p:cNvSpPr txBox="1"/>
          <p:nvPr/>
        </p:nvSpPr>
        <p:spPr>
          <a:xfrm>
            <a:off x="6217920" y="2168090"/>
            <a:ext cx="5486400" cy="250256"/>
          </a:xfrm>
          <a:prstGeom prst="rect">
            <a:avLst/>
          </a:prstGeom>
          <a:noFill/>
        </p:spPr>
        <p:txBody>
          <a:bodyPr wrap="square" lIns="0" rIns="0" tIns="0" bIns="0" anchor="t">
            <a:noAutofit/>
          </a:bodyPr>
          <a:lstStyle/>
          <a:p>
            <a:pPr algn="l"/>
            <a:r>
              <a:rPr sz="1100" b="1" i="0">
                <a:solidFill>
                  <a:srgbClr val="2F78C4"/>
                </a:solidFill>
                <a:latin typeface="Arial"/>
              </a:rPr>
              <a:t>35  </a:t>
            </a:r>
            <a:r>
              <a:rPr sz="1100" b="1" i="0">
                <a:solidFill>
                  <a:srgbClr val="000048"/>
                </a:solidFill>
                <a:latin typeface="Arial"/>
              </a:rPr>
              <a:t>A18  </a:t>
            </a:r>
            <a:r>
              <a:rPr sz="1100" b="0" i="0">
                <a:solidFill>
                  <a:srgbClr val="1E1E2E"/>
                </a:solidFill>
                <a:latin typeface="Arial"/>
              </a:rPr>
              <a:t>Agent 365 and Copilot Studio operations</a:t>
            </a:r>
          </a:p>
        </p:txBody>
      </p:sp>
      <p:sp>
        <p:nvSpPr>
          <p:cNvPr id="30" name="TextBox 29">
            <a:hlinkClick action="ppaction://hlinksldjump" r:id="rId27"/>
          </p:cNvPr>
          <p:cNvSpPr txBox="1"/>
          <p:nvPr/>
        </p:nvSpPr>
        <p:spPr>
          <a:xfrm>
            <a:off x="6217920" y="2418347"/>
            <a:ext cx="5486400" cy="250256"/>
          </a:xfrm>
          <a:prstGeom prst="rect">
            <a:avLst/>
          </a:prstGeom>
          <a:noFill/>
        </p:spPr>
        <p:txBody>
          <a:bodyPr wrap="square" lIns="0" rIns="0" tIns="0" bIns="0" anchor="t">
            <a:noAutofit/>
          </a:bodyPr>
          <a:lstStyle/>
          <a:p>
            <a:pPr algn="l"/>
            <a:r>
              <a:rPr sz="1100" b="1" i="0">
                <a:solidFill>
                  <a:srgbClr val="2F78C4"/>
                </a:solidFill>
                <a:latin typeface="Arial"/>
              </a:rPr>
              <a:t>36  </a:t>
            </a:r>
            <a:r>
              <a:rPr sz="1100" b="1" i="0">
                <a:solidFill>
                  <a:srgbClr val="000048"/>
                </a:solidFill>
                <a:latin typeface="Arial"/>
              </a:rPr>
              <a:t>A19  </a:t>
            </a:r>
            <a:r>
              <a:rPr sz="1100" b="0" i="0">
                <a:solidFill>
                  <a:srgbClr val="1E1E2E"/>
                </a:solidFill>
                <a:latin typeface="Arial"/>
              </a:rPr>
              <a:t>Exit and transition plan</a:t>
            </a:r>
          </a:p>
        </p:txBody>
      </p:sp>
      <p:sp>
        <p:nvSpPr>
          <p:cNvPr id="31" name="TextBox 30">
            <a:hlinkClick action="ppaction://hlinksldjump" r:id="rId28"/>
          </p:cNvPr>
          <p:cNvSpPr txBox="1"/>
          <p:nvPr/>
        </p:nvSpPr>
        <p:spPr>
          <a:xfrm>
            <a:off x="6217920" y="2668604"/>
            <a:ext cx="5486400" cy="250256"/>
          </a:xfrm>
          <a:prstGeom prst="rect">
            <a:avLst/>
          </a:prstGeom>
          <a:noFill/>
        </p:spPr>
        <p:txBody>
          <a:bodyPr wrap="square" lIns="0" rIns="0" tIns="0" bIns="0" anchor="t">
            <a:noAutofit/>
          </a:bodyPr>
          <a:lstStyle/>
          <a:p>
            <a:pPr algn="l"/>
            <a:r>
              <a:rPr sz="1100" b="1" i="0">
                <a:solidFill>
                  <a:srgbClr val="2F78C4"/>
                </a:solidFill>
                <a:latin typeface="Arial"/>
              </a:rPr>
              <a:t>37  </a:t>
            </a:r>
            <a:r>
              <a:rPr sz="1100" b="1" i="0">
                <a:solidFill>
                  <a:srgbClr val="000048"/>
                </a:solidFill>
                <a:latin typeface="Arial"/>
              </a:rPr>
              <a:t>A20  </a:t>
            </a:r>
            <a:r>
              <a:rPr sz="1100" b="0" i="0">
                <a:solidFill>
                  <a:srgbClr val="1E1E2E"/>
                </a:solidFill>
                <a:latin typeface="Arial"/>
              </a:rPr>
              <a:t>Staffing-to-price link</a:t>
            </a:r>
          </a:p>
        </p:txBody>
      </p:sp>
      <p:sp>
        <p:nvSpPr>
          <p:cNvPr id="32" name="TextBox 31">
            <a:hlinkClick action="ppaction://hlinksldjump" r:id="rId29"/>
          </p:cNvPr>
          <p:cNvSpPr txBox="1"/>
          <p:nvPr/>
        </p:nvSpPr>
        <p:spPr>
          <a:xfrm>
            <a:off x="6217920" y="2918861"/>
            <a:ext cx="5486400" cy="250256"/>
          </a:xfrm>
          <a:prstGeom prst="rect">
            <a:avLst/>
          </a:prstGeom>
          <a:noFill/>
        </p:spPr>
        <p:txBody>
          <a:bodyPr wrap="square" lIns="0" rIns="0" tIns="0" bIns="0" anchor="t">
            <a:noAutofit/>
          </a:bodyPr>
          <a:lstStyle/>
          <a:p>
            <a:pPr algn="l"/>
            <a:r>
              <a:rPr sz="1100" b="1" i="0">
                <a:solidFill>
                  <a:srgbClr val="2F78C4"/>
                </a:solidFill>
                <a:latin typeface="Arial"/>
              </a:rPr>
              <a:t>38  </a:t>
            </a:r>
            <a:r>
              <a:rPr sz="1100" b="1" i="0">
                <a:solidFill>
                  <a:srgbClr val="000048"/>
                </a:solidFill>
                <a:latin typeface="Arial"/>
              </a:rPr>
              <a:t>Q1  </a:t>
            </a:r>
            <a:r>
              <a:rPr sz="1100" b="0" i="0">
                <a:solidFill>
                  <a:srgbClr val="1E1E2E"/>
                </a:solidFill>
                <a:latin typeface="Arial"/>
              </a:rPr>
              <a:t>Qualification scorecard and account shortlist</a:t>
            </a:r>
          </a:p>
        </p:txBody>
      </p:sp>
      <p:sp>
        <p:nvSpPr>
          <p:cNvPr id="33" name="TextBox 32">
            <a:hlinkClick action="ppaction://hlinksldjump" r:id="rId30"/>
          </p:cNvPr>
          <p:cNvSpPr txBox="1"/>
          <p:nvPr/>
        </p:nvSpPr>
        <p:spPr>
          <a:xfrm>
            <a:off x="6217920" y="3169117"/>
            <a:ext cx="5486400" cy="250256"/>
          </a:xfrm>
          <a:prstGeom prst="rect">
            <a:avLst/>
          </a:prstGeom>
          <a:noFill/>
        </p:spPr>
        <p:txBody>
          <a:bodyPr wrap="square" lIns="0" rIns="0" tIns="0" bIns="0" anchor="t">
            <a:noAutofit/>
          </a:bodyPr>
          <a:lstStyle/>
          <a:p>
            <a:pPr algn="l"/>
            <a:r>
              <a:rPr sz="1100" b="1" i="0">
                <a:solidFill>
                  <a:srgbClr val="2F78C4"/>
                </a:solidFill>
                <a:latin typeface="Arial"/>
              </a:rPr>
              <a:t>39  </a:t>
            </a:r>
            <a:r>
              <a:rPr sz="1100" b="1" i="0">
                <a:solidFill>
                  <a:srgbClr val="000048"/>
                </a:solidFill>
                <a:latin typeface="Arial"/>
              </a:rPr>
              <a:t>E1  </a:t>
            </a:r>
            <a:r>
              <a:rPr sz="1100" b="0" i="0">
                <a:solidFill>
                  <a:srgbClr val="1E1E2E"/>
                </a:solidFill>
                <a:latin typeface="Arial"/>
              </a:rPr>
              <a:t>Estimate assumptions</a:t>
            </a:r>
          </a:p>
        </p:txBody>
      </p:sp>
      <p:sp>
        <p:nvSpPr>
          <p:cNvPr id="34" name="TextBox 33">
            <a:hlinkClick action="ppaction://hlinksldjump" r:id="rId31"/>
          </p:cNvPr>
          <p:cNvSpPr txBox="1"/>
          <p:nvPr/>
        </p:nvSpPr>
        <p:spPr>
          <a:xfrm>
            <a:off x="6217920" y="3419374"/>
            <a:ext cx="5486400" cy="250256"/>
          </a:xfrm>
          <a:prstGeom prst="rect">
            <a:avLst/>
          </a:prstGeom>
          <a:noFill/>
        </p:spPr>
        <p:txBody>
          <a:bodyPr wrap="square" lIns="0" rIns="0" tIns="0" bIns="0" anchor="t">
            <a:noAutofit/>
          </a:bodyPr>
          <a:lstStyle/>
          <a:p>
            <a:pPr algn="l"/>
            <a:r>
              <a:rPr sz="1100" b="1" i="0">
                <a:solidFill>
                  <a:srgbClr val="2F78C4"/>
                </a:solidFill>
                <a:latin typeface="Arial"/>
              </a:rPr>
              <a:t>40  </a:t>
            </a:r>
            <a:r>
              <a:rPr sz="1100" b="1" i="0">
                <a:solidFill>
                  <a:srgbClr val="000048"/>
                </a:solidFill>
                <a:latin typeface="Arial"/>
              </a:rPr>
              <a:t>SEC1  </a:t>
            </a:r>
            <a:r>
              <a:rPr sz="1100" b="0" i="0">
                <a:solidFill>
                  <a:srgbClr val="1E1E2E"/>
                </a:solidFill>
                <a:latin typeface="Arial"/>
              </a:rPr>
              <a:t>AI threat model and controls</a:t>
            </a:r>
          </a:p>
        </p:txBody>
      </p:sp>
      <p:sp>
        <p:nvSpPr>
          <p:cNvPr id="35" name="TextBox 34">
            <a:hlinkClick action="ppaction://hlinksldjump" r:id="rId32"/>
          </p:cNvPr>
          <p:cNvSpPr txBox="1"/>
          <p:nvPr/>
        </p:nvSpPr>
        <p:spPr>
          <a:xfrm>
            <a:off x="6217920" y="3669631"/>
            <a:ext cx="5486400" cy="250256"/>
          </a:xfrm>
          <a:prstGeom prst="rect">
            <a:avLst/>
          </a:prstGeom>
          <a:noFill/>
        </p:spPr>
        <p:txBody>
          <a:bodyPr wrap="square" lIns="0" rIns="0" tIns="0" bIns="0" anchor="t">
            <a:noAutofit/>
          </a:bodyPr>
          <a:lstStyle/>
          <a:p>
            <a:pPr algn="l"/>
            <a:r>
              <a:rPr sz="1100" b="1" i="0">
                <a:solidFill>
                  <a:srgbClr val="2F78C4"/>
                </a:solidFill>
                <a:latin typeface="Arial"/>
              </a:rPr>
              <a:t>41  </a:t>
            </a:r>
            <a:r>
              <a:rPr sz="1100" b="1" i="0">
                <a:solidFill>
                  <a:srgbClr val="000048"/>
                </a:solidFill>
                <a:latin typeface="Arial"/>
              </a:rPr>
              <a:t>SEC2  </a:t>
            </a:r>
            <a:r>
              <a:rPr sz="1100" b="0" i="0">
                <a:solidFill>
                  <a:srgbClr val="1E1E2E"/>
                </a:solidFill>
                <a:latin typeface="Arial"/>
              </a:rPr>
              <a:t>Security services and regulation</a:t>
            </a:r>
          </a:p>
        </p:txBody>
      </p:sp>
      <p:sp>
        <p:nvSpPr>
          <p:cNvPr id="36" name="TextBox 35">
            <a:hlinkClick action="ppaction://hlinksldjump" r:id="rId33"/>
          </p:cNvPr>
          <p:cNvSpPr txBox="1"/>
          <p:nvPr/>
        </p:nvSpPr>
        <p:spPr>
          <a:xfrm>
            <a:off x="6217920" y="3919888"/>
            <a:ext cx="5486400" cy="250256"/>
          </a:xfrm>
          <a:prstGeom prst="rect">
            <a:avLst/>
          </a:prstGeom>
          <a:noFill/>
        </p:spPr>
        <p:txBody>
          <a:bodyPr wrap="square" lIns="0" rIns="0" tIns="0" bIns="0" anchor="t">
            <a:noAutofit/>
          </a:bodyPr>
          <a:lstStyle/>
          <a:p>
            <a:pPr algn="l"/>
            <a:r>
              <a:rPr sz="1100" b="1" i="0">
                <a:solidFill>
                  <a:srgbClr val="2F78C4"/>
                </a:solidFill>
                <a:latin typeface="Arial"/>
              </a:rPr>
              <a:t>42  </a:t>
            </a:r>
            <a:r>
              <a:rPr sz="1100" b="1" i="0">
                <a:solidFill>
                  <a:srgbClr val="000048"/>
                </a:solidFill>
                <a:latin typeface="Arial"/>
              </a:rPr>
              <a:t>G1  </a:t>
            </a:r>
            <a:r>
              <a:rPr sz="1100" b="0" i="0">
                <a:solidFill>
                  <a:srgbClr val="1E1E2E"/>
                </a:solidFill>
                <a:latin typeface="Arial"/>
              </a:rPr>
              <a:t>Glossary</a:t>
            </a:r>
          </a:p>
        </p:txBody>
      </p:sp>
      <p:sp>
        <p:nvSpPr>
          <p:cNvPr id="37" name="TextBox 36">
            <a:hlinkClick action="ppaction://hlinksldjump" r:id="rId34"/>
          </p:cNvPr>
          <p:cNvSpPr txBox="1"/>
          <p:nvPr/>
        </p:nvSpPr>
        <p:spPr>
          <a:xfrm>
            <a:off x="6217920" y="4170145"/>
            <a:ext cx="5486400" cy="250256"/>
          </a:xfrm>
          <a:prstGeom prst="rect">
            <a:avLst/>
          </a:prstGeom>
          <a:noFill/>
        </p:spPr>
        <p:txBody>
          <a:bodyPr wrap="square" lIns="0" rIns="0" tIns="0" bIns="0" anchor="t">
            <a:noAutofit/>
          </a:bodyPr>
          <a:lstStyle/>
          <a:p>
            <a:pPr algn="l"/>
            <a:r>
              <a:rPr sz="1100" b="1" i="0">
                <a:solidFill>
                  <a:srgbClr val="2F78C4"/>
                </a:solidFill>
                <a:latin typeface="Arial"/>
              </a:rPr>
              <a:t>43  </a:t>
            </a:r>
            <a:r>
              <a:rPr sz="1100" b="1" i="0">
                <a:solidFill>
                  <a:srgbClr val="000048"/>
                </a:solidFill>
                <a:latin typeface="Arial"/>
              </a:rPr>
              <a:t>C1  </a:t>
            </a:r>
            <a:r>
              <a:rPr sz="1100" b="0" i="0">
                <a:solidFill>
                  <a:srgbClr val="1E1E2E"/>
                </a:solidFill>
                <a:latin typeface="Arial"/>
              </a:rPr>
              <a:t>Cost layers and pricing formula</a:t>
            </a:r>
          </a:p>
        </p:txBody>
      </p:sp>
      <p:sp>
        <p:nvSpPr>
          <p:cNvPr id="38" name="TextBox 37">
            <a:hlinkClick action="ppaction://hlinksldjump" r:id="rId35"/>
          </p:cNvPr>
          <p:cNvSpPr txBox="1"/>
          <p:nvPr/>
        </p:nvSpPr>
        <p:spPr>
          <a:xfrm>
            <a:off x="6217920" y="4420402"/>
            <a:ext cx="5486400" cy="250256"/>
          </a:xfrm>
          <a:prstGeom prst="rect">
            <a:avLst/>
          </a:prstGeom>
          <a:noFill/>
        </p:spPr>
        <p:txBody>
          <a:bodyPr wrap="square" lIns="0" rIns="0" tIns="0" bIns="0" anchor="t">
            <a:noAutofit/>
          </a:bodyPr>
          <a:lstStyle/>
          <a:p>
            <a:pPr algn="l"/>
            <a:r>
              <a:rPr sz="1100" b="1" i="0">
                <a:solidFill>
                  <a:srgbClr val="2F78C4"/>
                </a:solidFill>
                <a:latin typeface="Arial"/>
              </a:rPr>
              <a:t>44  </a:t>
            </a:r>
            <a:r>
              <a:rPr sz="1100" b="1" i="0">
                <a:solidFill>
                  <a:srgbClr val="000048"/>
                </a:solidFill>
                <a:latin typeface="Arial"/>
              </a:rPr>
              <a:t>R1  </a:t>
            </a:r>
            <a:r>
              <a:rPr sz="1100" b="0" i="0">
                <a:solidFill>
                  <a:srgbClr val="1E1E2E"/>
                </a:solidFill>
                <a:latin typeface="Arial"/>
              </a:rPr>
              <a:t>RACI matrix</a:t>
            </a:r>
          </a:p>
        </p:txBody>
      </p:sp>
      <p:sp>
        <p:nvSpPr>
          <p:cNvPr id="39" name="TextBox 38">
            <a:hlinkClick action="ppaction://hlinksldjump" r:id="rId36"/>
          </p:cNvPr>
          <p:cNvSpPr txBox="1"/>
          <p:nvPr/>
        </p:nvSpPr>
        <p:spPr>
          <a:xfrm>
            <a:off x="6217920" y="4670658"/>
            <a:ext cx="5486400" cy="250256"/>
          </a:xfrm>
          <a:prstGeom prst="rect">
            <a:avLst/>
          </a:prstGeom>
          <a:noFill/>
        </p:spPr>
        <p:txBody>
          <a:bodyPr wrap="square" lIns="0" rIns="0" tIns="0" bIns="0" anchor="t">
            <a:noAutofit/>
          </a:bodyPr>
          <a:lstStyle/>
          <a:p>
            <a:pPr algn="l"/>
            <a:r>
              <a:rPr sz="1100" b="1" i="0">
                <a:solidFill>
                  <a:srgbClr val="2F78C4"/>
                </a:solidFill>
                <a:latin typeface="Arial"/>
              </a:rPr>
              <a:t>45  </a:t>
            </a:r>
            <a:r>
              <a:rPr sz="1100" b="1" i="0">
                <a:solidFill>
                  <a:srgbClr val="000048"/>
                </a:solidFill>
                <a:latin typeface="Arial"/>
              </a:rPr>
              <a:t>R2  </a:t>
            </a:r>
            <a:r>
              <a:rPr sz="1100" b="0" i="0">
                <a:solidFill>
                  <a:srgbClr val="1E1E2E"/>
                </a:solidFill>
                <a:latin typeface="Arial"/>
              </a:rPr>
              <a:t>Revenue attribution framework</a:t>
            </a:r>
          </a:p>
        </p:txBody>
      </p:sp>
      <p:sp>
        <p:nvSpPr>
          <p:cNvPr id="40" name="TextBox 39">
            <a:hlinkClick action="ppaction://hlinksldjump" r:id="rId37"/>
          </p:cNvPr>
          <p:cNvSpPr txBox="1"/>
          <p:nvPr/>
        </p:nvSpPr>
        <p:spPr>
          <a:xfrm>
            <a:off x="6217920" y="4920915"/>
            <a:ext cx="5486400" cy="250256"/>
          </a:xfrm>
          <a:prstGeom prst="rect">
            <a:avLst/>
          </a:prstGeom>
          <a:noFill/>
        </p:spPr>
        <p:txBody>
          <a:bodyPr wrap="square" lIns="0" rIns="0" tIns="0" bIns="0" anchor="t">
            <a:noAutofit/>
          </a:bodyPr>
          <a:lstStyle/>
          <a:p>
            <a:pPr algn="l"/>
            <a:r>
              <a:rPr sz="1100" b="1" i="0">
                <a:solidFill>
                  <a:srgbClr val="2F78C4"/>
                </a:solidFill>
                <a:latin typeface="Arial"/>
              </a:rPr>
              <a:t>46  </a:t>
            </a:r>
            <a:r>
              <a:rPr sz="1100" b="1" i="0">
                <a:solidFill>
                  <a:srgbClr val="000048"/>
                </a:solidFill>
                <a:latin typeface="Arial"/>
              </a:rPr>
              <a:t>R3  </a:t>
            </a:r>
            <a:r>
              <a:rPr sz="1100" b="0" i="0">
                <a:solidFill>
                  <a:srgbClr val="1E1E2E"/>
                </a:solidFill>
                <a:latin typeface="Arial"/>
              </a:rPr>
              <a:t>Delivery and commercial readiness</a:t>
            </a:r>
          </a:p>
        </p:txBody>
      </p:sp>
      <p:sp>
        <p:nvSpPr>
          <p:cNvPr id="41" name="TextBox 40">
            <a:hlinkClick action="ppaction://hlinksldjump" r:id="rId38"/>
          </p:cNvPr>
          <p:cNvSpPr txBox="1"/>
          <p:nvPr/>
        </p:nvSpPr>
        <p:spPr>
          <a:xfrm>
            <a:off x="6217920" y="5171172"/>
            <a:ext cx="5486400" cy="250256"/>
          </a:xfrm>
          <a:prstGeom prst="rect">
            <a:avLst/>
          </a:prstGeom>
          <a:noFill/>
        </p:spPr>
        <p:txBody>
          <a:bodyPr wrap="square" lIns="0" rIns="0" tIns="0" bIns="0" anchor="t">
            <a:noAutofit/>
          </a:bodyPr>
          <a:lstStyle/>
          <a:p>
            <a:pPr algn="l"/>
            <a:r>
              <a:rPr sz="1100" b="1" i="0">
                <a:solidFill>
                  <a:srgbClr val="2F78C4"/>
                </a:solidFill>
                <a:latin typeface="Arial"/>
              </a:rPr>
              <a:t>47  </a:t>
            </a:r>
            <a:r>
              <a:rPr sz="1100" b="1" i="0">
                <a:solidFill>
                  <a:srgbClr val="000048"/>
                </a:solidFill>
                <a:latin typeface="Arial"/>
              </a:rPr>
              <a:t>D1  </a:t>
            </a:r>
            <a:r>
              <a:rPr sz="1100" b="0" i="0">
                <a:solidFill>
                  <a:srgbClr val="1E1E2E"/>
                </a:solidFill>
                <a:latin typeface="Arial"/>
              </a:rPr>
              <a:t>Decision and approval register</a:t>
            </a:r>
          </a:p>
        </p:txBody>
      </p:sp>
      <p:sp>
        <p:nvSpPr>
          <p:cNvPr id="42" name="TextBox 41">
            <a:hlinkClick action="ppaction://hlinksldjump" r:id="rId39"/>
          </p:cNvPr>
          <p:cNvSpPr txBox="1"/>
          <p:nvPr/>
        </p:nvSpPr>
        <p:spPr>
          <a:xfrm>
            <a:off x="6217920" y="5421429"/>
            <a:ext cx="5486400" cy="250256"/>
          </a:xfrm>
          <a:prstGeom prst="rect">
            <a:avLst/>
          </a:prstGeom>
          <a:noFill/>
        </p:spPr>
        <p:txBody>
          <a:bodyPr wrap="square" lIns="0" rIns="0" tIns="0" bIns="0" anchor="t">
            <a:noAutofit/>
          </a:bodyPr>
          <a:lstStyle/>
          <a:p>
            <a:pPr algn="l"/>
            <a:r>
              <a:rPr sz="1100" b="1" i="0">
                <a:solidFill>
                  <a:srgbClr val="2F78C4"/>
                </a:solidFill>
                <a:latin typeface="Arial"/>
              </a:rPr>
              <a:t>48  </a:t>
            </a:r>
            <a:r>
              <a:rPr sz="1100" b="1" i="0">
                <a:solidFill>
                  <a:srgbClr val="000048"/>
                </a:solidFill>
                <a:latin typeface="Arial"/>
              </a:rPr>
              <a:t>O1  </a:t>
            </a:r>
            <a:r>
              <a:rPr sz="1100" b="0" i="0">
                <a:solidFill>
                  <a:srgbClr val="1E1E2E"/>
                </a:solidFill>
                <a:latin typeface="Arial"/>
              </a:rPr>
              <a:t>Original: Foundry baseline network flows</a:t>
            </a:r>
          </a:p>
        </p:txBody>
      </p:sp>
      <p:sp>
        <p:nvSpPr>
          <p:cNvPr id="43" name="TextBox 42">
            <a:hlinkClick action="ppaction://hlinksldjump" r:id="rId40"/>
          </p:cNvPr>
          <p:cNvSpPr txBox="1"/>
          <p:nvPr/>
        </p:nvSpPr>
        <p:spPr>
          <a:xfrm>
            <a:off x="6217920" y="5671686"/>
            <a:ext cx="5486400" cy="250256"/>
          </a:xfrm>
          <a:prstGeom prst="rect">
            <a:avLst/>
          </a:prstGeom>
          <a:noFill/>
        </p:spPr>
        <p:txBody>
          <a:bodyPr wrap="square" lIns="0" rIns="0" tIns="0" bIns="0" anchor="t">
            <a:noAutofit/>
          </a:bodyPr>
          <a:lstStyle/>
          <a:p>
            <a:pPr algn="l"/>
            <a:r>
              <a:rPr sz="1100" b="1" i="0">
                <a:solidFill>
                  <a:srgbClr val="2F78C4"/>
                </a:solidFill>
                <a:latin typeface="Arial"/>
              </a:rPr>
              <a:t>49  </a:t>
            </a:r>
            <a:r>
              <a:rPr sz="1100" b="1" i="0">
                <a:solidFill>
                  <a:srgbClr val="000048"/>
                </a:solidFill>
                <a:latin typeface="Arial"/>
              </a:rPr>
              <a:t>S1  </a:t>
            </a:r>
            <a:r>
              <a:rPr sz="11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Service onboarding and readiness gates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9" name="Table"/>
          <p:cNvGraphicFramePr>
            <a:graphicFrameLocks noGrp="1"/>
          </p:cNvGraphicFramePr>
          <p:nvPr/>
        </p:nvGraphicFramePr>
        <p:xfrm>
          <a:off x="548640" y="1371600"/>
          <a:ext cx="11091672" cy="2331720"/>
        </p:xfrm>
        <a:graphic>
          <a:graphicData uri="http://schemas.openxmlformats.org/drawingml/2006/table">
            <a:tbl>
              <a:tblPr firstRow="1" bandRow="0">
                <a:tableStyleId>{5C22544A-7EE6-4342-B048-85BDC9FD1C3A}</a:tableStyleId>
              </a:tblPr>
              <a:tblGrid>
                <a:gridCol w="2560320"/>
                <a:gridCol w="5486400"/>
                <a:gridCol w="3044952"/>
              </a:tblGrid>
              <a:tr h="320040">
                <a:tc>
                  <a:txBody>
                    <a:bodyPr wrap="square" anchor="ctr">
                      <a:noAutofit/>
                    </a:bodyPr>
                    <a:lstStyle/>
                    <a:p>
                      <a:pPr algn="l"/>
                      <a:r>
                        <a:rPr sz="15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Evidence required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Owner</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Platform accepted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Offering 01 gates passed or equivalent review</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CIS Infra</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Inventory complete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Assets and agents in scope listed, owners named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CIS Infra with agent owners</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Monitoring live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Alerts with owners and runbooks; telemetry healthy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CIS Infra</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Access in place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PIM roles, break-glass, service desk queues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with Security</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Tower agreements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Resolver, hours and escalation per tower</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Integrated service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Containment ready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K4 drills passed in non-production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Security with CIS Infra</a:t>
                      </a:r>
                    </a:p>
                  </a:txBody>
                  <a:tcPr marL="73152" marR="73152" marT="36576" marB="36576" anchor="ctr">
                    <a:solidFill>
                      <a:srgbClr val="F5F5F2"/>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Managed asset and agent inventory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graphicFrame>
        <p:nvGraphicFramePr>
          <p:cNvPr id="8" name="Table"/>
          <p:cNvGraphicFramePr>
            <a:graphicFrameLocks noGrp="1"/>
          </p:cNvGraphicFramePr>
          <p:nvPr/>
        </p:nvGraphicFramePr>
        <p:xfrm>
          <a:off x="548640" y="1371600"/>
          <a:ext cx="11091672" cy="2484120"/>
        </p:xfrm>
        <a:graphic>
          <a:graphicData uri="http://schemas.openxmlformats.org/drawingml/2006/table">
            <a:tbl>
              <a:tblPr firstRow="1" bandRow="0">
                <a:tableStyleId>{5C22544A-7EE6-4342-B048-85BDC9FD1C3A}</a:tableStyleId>
              </a:tblPr>
              <a:tblGrid>
                <a:gridCol w="2560320"/>
                <a:gridCol w="5669280"/>
                <a:gridCol w="2862072"/>
              </a:tblGrid>
              <a:tr h="320040">
                <a:tc>
                  <a:txBody>
                    <a:bodyPr wrap="square" anchor="ctr">
                      <a:noAutofit/>
                    </a:bodyPr>
                    <a:lstStyle/>
                    <a:p>
                      <a:pPr algn="l"/>
                      <a:r>
                        <a:rPr sz="1500" b="1" i="0">
                          <a:solidFill>
                            <a:srgbClr val="FFFFFF"/>
                          </a:solidFill>
                          <a:latin typeface="Arial"/>
                        </a:rPr>
                        <a:t>Asset class</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Examples</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Pricing unit</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Platform resources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Subscriptions, VNets, private endpoints, DNS, firewall rules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Per environment</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AI services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Foundry resources and projects, model deployments, AI Search</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Per resource</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Gateway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API Management instances, APIs, policies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Per instance and API band</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Agents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Catalogued agents by runtime family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Per agent band</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Telemetry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Workspaces, App Insights, workbooks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Included in base</a:t>
                      </a:r>
                    </a:p>
                  </a:txBody>
                  <a:tcPr marL="73152" marR="73152" marT="36576" marB="36576" anchor="ctr">
                    <a:solidFill>
                      <a:srgbClr val="FFFFFF"/>
                    </a:solidFill>
                  </a:tcPr>
                </a:tc>
              </a:tr>
            </a:tbl>
          </a:graphicData>
        </a:graphic>
      </p:graphicFrame>
      <p:sp>
        <p:nvSpPr>
          <p:cNvPr id="9" name="Rounded Rectangle 8"/>
          <p:cNvSpPr/>
          <p:nvPr/>
        </p:nvSpPr>
        <p:spPr>
          <a:xfrm>
            <a:off x="548640" y="45720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Agents outside catalogue coverage are listed as gaps and are not operated.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Platform health and dependency monitoring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3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sp>
        <p:nvSpPr>
          <p:cNvPr id="9" name="Rounded Rectangle 8"/>
          <p:cNvSpPr/>
          <p:nvPr/>
        </p:nvSpPr>
        <p:spPr>
          <a:xfrm>
            <a:off x="502919"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2647" y="1380744"/>
            <a:ext cx="1746504" cy="237744"/>
          </a:xfrm>
          <a:prstGeom prst="rect">
            <a:avLst/>
          </a:prstGeom>
          <a:noFill/>
        </p:spPr>
        <p:txBody>
          <a:bodyPr wrap="square" lIns="0" rIns="0" tIns="0" bIns="0" anchor="t">
            <a:noAutofit/>
          </a:bodyPr>
          <a:lstStyle/>
          <a:p>
            <a:pPr algn="l"/>
            <a:r>
              <a:rPr sz="1100" b="1" i="0">
                <a:solidFill>
                  <a:srgbClr val="000048"/>
                </a:solidFill>
                <a:latin typeface="Arial"/>
              </a:rPr>
              <a:t>INGRESS</a:t>
            </a:r>
          </a:p>
        </p:txBody>
      </p:sp>
      <p:pic>
        <p:nvPicPr>
          <p:cNvPr id="11" name="Azure icon: Application Gateways" descr="Official Azure icon: Application Gateway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0080" y="1805940"/>
            <a:ext cx="365760" cy="365760"/>
          </a:xfrm>
          <a:prstGeom prst="rect">
            <a:avLst/>
          </a:prstGeom>
        </p:spPr>
      </p:pic>
      <p:sp>
        <p:nvSpPr>
          <p:cNvPr id="12" name="TextBox 11"/>
          <p:cNvSpPr txBox="1"/>
          <p:nvPr/>
        </p:nvSpPr>
        <p:spPr>
          <a:xfrm>
            <a:off x="10789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App Gateway WAF</a:t>
            </a:r>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0080" y="2519172"/>
            <a:ext cx="365760" cy="365760"/>
          </a:xfrm>
          <a:prstGeom prst="rect">
            <a:avLst/>
          </a:prstGeom>
        </p:spPr>
      </p:pic>
      <p:sp>
        <p:nvSpPr>
          <p:cNvPr id="14" name="TextBox 13"/>
          <p:cNvSpPr txBox="1"/>
          <p:nvPr/>
        </p:nvSpPr>
        <p:spPr>
          <a:xfrm>
            <a:off x="10789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API Management</a:t>
            </a:r>
          </a:p>
        </p:txBody>
      </p:sp>
      <p:sp>
        <p:nvSpPr>
          <p:cNvPr id="15" name="Rounded Rectangle 14"/>
          <p:cNvSpPr/>
          <p:nvPr/>
        </p:nvSpPr>
        <p:spPr>
          <a:xfrm>
            <a:off x="2560320"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70048" y="1380744"/>
            <a:ext cx="1746504" cy="237744"/>
          </a:xfrm>
          <a:prstGeom prst="rect">
            <a:avLst/>
          </a:prstGeom>
          <a:noFill/>
        </p:spPr>
        <p:txBody>
          <a:bodyPr wrap="square" lIns="0" rIns="0" tIns="0" bIns="0" anchor="t">
            <a:noAutofit/>
          </a:bodyPr>
          <a:lstStyle/>
          <a:p>
            <a:pPr algn="l"/>
            <a:r>
              <a:rPr sz="1100" b="1" i="0">
                <a:solidFill>
                  <a:srgbClr val="000048"/>
                </a:solidFill>
                <a:latin typeface="Arial"/>
              </a:rPr>
              <a:t>RUNTIME</a:t>
            </a:r>
          </a:p>
        </p:txBody>
      </p:sp>
      <p:pic>
        <p:nvPicPr>
          <p:cNvPr id="17" name="Azure icon: App Services" descr="Official Azure icon: App Service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97480" y="1805940"/>
            <a:ext cx="365760" cy="365760"/>
          </a:xfrm>
          <a:prstGeom prst="rect">
            <a:avLst/>
          </a:prstGeom>
        </p:spPr>
      </p:pic>
      <p:sp>
        <p:nvSpPr>
          <p:cNvPr id="18" name="TextBox 17"/>
          <p:cNvSpPr txBox="1"/>
          <p:nvPr/>
        </p:nvSpPr>
        <p:spPr>
          <a:xfrm>
            <a:off x="31363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App Service</a:t>
            </a:r>
          </a:p>
        </p:txBody>
      </p:sp>
      <p:pic>
        <p:nvPicPr>
          <p:cNvPr id="19" name="Azure icon: Foundry Agent Service" descr="Official Azure icon: Foundry Agent Service"/>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697480" y="2519172"/>
            <a:ext cx="365760" cy="365760"/>
          </a:xfrm>
          <a:prstGeom prst="rect">
            <a:avLst/>
          </a:prstGeom>
        </p:spPr>
      </p:pic>
      <p:sp>
        <p:nvSpPr>
          <p:cNvPr id="20" name="TextBox 19"/>
          <p:cNvSpPr txBox="1"/>
          <p:nvPr/>
        </p:nvSpPr>
        <p:spPr>
          <a:xfrm>
            <a:off x="31363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Agent Service</a:t>
            </a:r>
          </a:p>
        </p:txBody>
      </p:sp>
      <p:sp>
        <p:nvSpPr>
          <p:cNvPr id="21" name="Rounded Rectangle 20"/>
          <p:cNvSpPr/>
          <p:nvPr/>
        </p:nvSpPr>
        <p:spPr>
          <a:xfrm>
            <a:off x="4617720"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27448" y="1380744"/>
            <a:ext cx="1746504" cy="237744"/>
          </a:xfrm>
          <a:prstGeom prst="rect">
            <a:avLst/>
          </a:prstGeom>
          <a:noFill/>
        </p:spPr>
        <p:txBody>
          <a:bodyPr wrap="square" lIns="0" rIns="0" tIns="0" bIns="0" anchor="t">
            <a:noAutofit/>
          </a:bodyPr>
          <a:lstStyle/>
          <a:p>
            <a:pPr algn="l"/>
            <a:r>
              <a:rPr sz="1100" b="1" i="0">
                <a:solidFill>
                  <a:srgbClr val="000048"/>
                </a:solidFill>
                <a:latin typeface="Arial"/>
              </a:rPr>
              <a:t>MODELS AND DATA</a:t>
            </a:r>
          </a:p>
        </p:txBody>
      </p:sp>
      <p:pic>
        <p:nvPicPr>
          <p:cNvPr id="23"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754879" y="1805940"/>
            <a:ext cx="365760" cy="365760"/>
          </a:xfrm>
          <a:prstGeom prst="rect">
            <a:avLst/>
          </a:prstGeom>
        </p:spPr>
      </p:pic>
      <p:sp>
        <p:nvSpPr>
          <p:cNvPr id="24" name="TextBox 23"/>
          <p:cNvSpPr txBox="1"/>
          <p:nvPr/>
        </p:nvSpPr>
        <p:spPr>
          <a:xfrm>
            <a:off x="51937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Model deployments</a:t>
            </a:r>
          </a:p>
        </p:txBody>
      </p:sp>
      <p:pic>
        <p:nvPicPr>
          <p:cNvPr id="25" name="Azure icon: AI Search (Cognitive Search icon)" descr="Official Azure icon: AI Search (Cognitive Search icon)"/>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754879" y="2519172"/>
            <a:ext cx="365760" cy="365760"/>
          </a:xfrm>
          <a:prstGeom prst="rect">
            <a:avLst/>
          </a:prstGeom>
        </p:spPr>
      </p:pic>
      <p:sp>
        <p:nvSpPr>
          <p:cNvPr id="26" name="TextBox 25"/>
          <p:cNvSpPr txBox="1"/>
          <p:nvPr/>
        </p:nvSpPr>
        <p:spPr>
          <a:xfrm>
            <a:off x="51937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AI Search</a:t>
            </a:r>
          </a:p>
        </p:txBody>
      </p:sp>
      <p:pic>
        <p:nvPicPr>
          <p:cNvPr id="27" name="Azure icon: Azure Cosmos DB" descr="Official Azure icon: Azure Cosmos DB"/>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754879" y="3232404"/>
            <a:ext cx="365760" cy="365760"/>
          </a:xfrm>
          <a:prstGeom prst="rect">
            <a:avLst/>
          </a:prstGeom>
        </p:spPr>
      </p:pic>
      <p:sp>
        <p:nvSpPr>
          <p:cNvPr id="28" name="TextBox 27"/>
          <p:cNvSpPr txBox="1"/>
          <p:nvPr/>
        </p:nvSpPr>
        <p:spPr>
          <a:xfrm>
            <a:off x="5193792" y="3154680"/>
            <a:ext cx="1280160" cy="521208"/>
          </a:xfrm>
          <a:prstGeom prst="rect">
            <a:avLst/>
          </a:prstGeom>
          <a:noFill/>
        </p:spPr>
        <p:txBody>
          <a:bodyPr wrap="square" lIns="0" rIns="0" tIns="0" bIns="0" anchor="ctr">
            <a:noAutofit/>
          </a:bodyPr>
          <a:lstStyle/>
          <a:p>
            <a:pPr algn="l"/>
            <a:r>
              <a:rPr sz="1200" b="1" i="0">
                <a:solidFill>
                  <a:srgbClr val="000048"/>
                </a:solidFill>
                <a:latin typeface="Arial"/>
              </a:rPr>
              <a:t>Cosmos DB</a:t>
            </a:r>
          </a:p>
        </p:txBody>
      </p:sp>
      <p:pic>
        <p:nvPicPr>
          <p:cNvPr id="29" name="Azure icon: Storage account" descr="Official Azure icon: Storage account"/>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754879" y="3945635"/>
            <a:ext cx="365760" cy="365760"/>
          </a:xfrm>
          <a:prstGeom prst="rect">
            <a:avLst/>
          </a:prstGeom>
        </p:spPr>
      </p:pic>
      <p:sp>
        <p:nvSpPr>
          <p:cNvPr id="30" name="TextBox 29"/>
          <p:cNvSpPr txBox="1"/>
          <p:nvPr/>
        </p:nvSpPr>
        <p:spPr>
          <a:xfrm>
            <a:off x="5193792" y="3867911"/>
            <a:ext cx="1280160" cy="521208"/>
          </a:xfrm>
          <a:prstGeom prst="rect">
            <a:avLst/>
          </a:prstGeom>
          <a:noFill/>
        </p:spPr>
        <p:txBody>
          <a:bodyPr wrap="square" lIns="0" rIns="0" tIns="0" bIns="0" anchor="ctr">
            <a:noAutofit/>
          </a:bodyPr>
          <a:lstStyle/>
          <a:p>
            <a:pPr algn="l"/>
            <a:r>
              <a:rPr sz="1200" b="1" i="0">
                <a:solidFill>
                  <a:srgbClr val="000048"/>
                </a:solidFill>
                <a:latin typeface="Arial"/>
              </a:rPr>
              <a:t>Storage account</a:t>
            </a:r>
          </a:p>
        </p:txBody>
      </p:sp>
      <p:sp>
        <p:nvSpPr>
          <p:cNvPr id="31" name="Rounded Rectangle 30"/>
          <p:cNvSpPr/>
          <p:nvPr/>
        </p:nvSpPr>
        <p:spPr>
          <a:xfrm>
            <a:off x="6675120"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784848" y="1380744"/>
            <a:ext cx="1746504" cy="237744"/>
          </a:xfrm>
          <a:prstGeom prst="rect">
            <a:avLst/>
          </a:prstGeom>
          <a:noFill/>
        </p:spPr>
        <p:txBody>
          <a:bodyPr wrap="square" lIns="0" rIns="0" tIns="0" bIns="0" anchor="t">
            <a:noAutofit/>
          </a:bodyPr>
          <a:lstStyle/>
          <a:p>
            <a:pPr algn="l"/>
            <a:r>
              <a:rPr sz="1100" b="1" i="0">
                <a:solidFill>
                  <a:srgbClr val="000048"/>
                </a:solidFill>
                <a:latin typeface="Arial"/>
              </a:rPr>
              <a:t>NETWORK</a:t>
            </a:r>
          </a:p>
        </p:txBody>
      </p:sp>
      <p:pic>
        <p:nvPicPr>
          <p:cNvPr id="33" name="Azure icon: Private Endpoints" descr="Official Azure icon: Private Endpoint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812279" y="1805940"/>
            <a:ext cx="365760" cy="365760"/>
          </a:xfrm>
          <a:prstGeom prst="rect">
            <a:avLst/>
          </a:prstGeom>
        </p:spPr>
      </p:pic>
      <p:sp>
        <p:nvSpPr>
          <p:cNvPr id="34" name="TextBox 33"/>
          <p:cNvSpPr txBox="1"/>
          <p:nvPr/>
        </p:nvSpPr>
        <p:spPr>
          <a:xfrm>
            <a:off x="72511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Private endpoints</a:t>
            </a:r>
          </a:p>
        </p:txBody>
      </p:sp>
      <p:pic>
        <p:nvPicPr>
          <p:cNvPr id="35" name="Azure icon: DNS Private Resolver" descr="Official Azure icon: DNS Private Resolve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812279" y="2519172"/>
            <a:ext cx="365760" cy="365760"/>
          </a:xfrm>
          <a:prstGeom prst="rect">
            <a:avLst/>
          </a:prstGeom>
        </p:spPr>
      </p:pic>
      <p:sp>
        <p:nvSpPr>
          <p:cNvPr id="36" name="TextBox 35"/>
          <p:cNvSpPr txBox="1"/>
          <p:nvPr/>
        </p:nvSpPr>
        <p:spPr>
          <a:xfrm>
            <a:off x="72511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DNS resolver</a:t>
            </a:r>
          </a:p>
        </p:txBody>
      </p:sp>
      <p:pic>
        <p:nvPicPr>
          <p:cNvPr id="37" name="Azure icon: Firewalls" descr="Official Azure icon: Firewalls"/>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812279" y="3232404"/>
            <a:ext cx="365760" cy="365760"/>
          </a:xfrm>
          <a:prstGeom prst="rect">
            <a:avLst/>
          </a:prstGeom>
        </p:spPr>
      </p:pic>
      <p:sp>
        <p:nvSpPr>
          <p:cNvPr id="38" name="TextBox 37"/>
          <p:cNvSpPr txBox="1"/>
          <p:nvPr/>
        </p:nvSpPr>
        <p:spPr>
          <a:xfrm>
            <a:off x="7251192" y="3154680"/>
            <a:ext cx="1280160" cy="521208"/>
          </a:xfrm>
          <a:prstGeom prst="rect">
            <a:avLst/>
          </a:prstGeom>
          <a:noFill/>
        </p:spPr>
        <p:txBody>
          <a:bodyPr wrap="square" lIns="0" rIns="0" tIns="0" bIns="0" anchor="ctr">
            <a:noAutofit/>
          </a:bodyPr>
          <a:lstStyle/>
          <a:p>
            <a:pPr algn="l"/>
            <a:r>
              <a:rPr sz="1200" b="1" i="0">
                <a:solidFill>
                  <a:srgbClr val="000048"/>
                </a:solidFill>
                <a:latin typeface="Arial"/>
              </a:rPr>
              <a:t>Firewall</a:t>
            </a:r>
          </a:p>
        </p:txBody>
      </p:sp>
      <p:sp>
        <p:nvSpPr>
          <p:cNvPr id="39" name="Rounded Rectangle 38"/>
          <p:cNvSpPr/>
          <p:nvPr/>
        </p:nvSpPr>
        <p:spPr>
          <a:xfrm>
            <a:off x="8915400" y="146304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0" name="Azure icon: Azure Monitor" descr="Official Azure icon: Azure Monito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988552" y="1623060"/>
            <a:ext cx="411480" cy="411480"/>
          </a:xfrm>
          <a:prstGeom prst="rect">
            <a:avLst/>
          </a:prstGeom>
        </p:spPr>
      </p:pic>
      <p:sp>
        <p:nvSpPr>
          <p:cNvPr id="41" name="TextBox 40"/>
          <p:cNvSpPr txBox="1"/>
          <p:nvPr/>
        </p:nvSpPr>
        <p:spPr>
          <a:xfrm>
            <a:off x="9473184" y="1499616"/>
            <a:ext cx="2148839" cy="658368"/>
          </a:xfrm>
          <a:prstGeom prst="rect">
            <a:avLst/>
          </a:prstGeom>
          <a:noFill/>
        </p:spPr>
        <p:txBody>
          <a:bodyPr wrap="square" lIns="0" rIns="0" tIns="0" bIns="0" anchor="ctr">
            <a:noAutofit/>
          </a:bodyPr>
          <a:lstStyle/>
          <a:p>
            <a:pPr algn="l"/>
            <a:r>
              <a:rPr sz="1300" b="1" i="0">
                <a:solidFill>
                  <a:srgbClr val="000048"/>
                </a:solidFill>
                <a:latin typeface="Arial"/>
              </a:rPr>
              <a:t>Azure Monitor</a:t>
            </a:r>
          </a:p>
          <a:p>
            <a:pPr algn="l"/>
            <a:r>
              <a:rPr sz="1100" b="0" i="0">
                <a:solidFill>
                  <a:srgbClr val="53565A"/>
                </a:solidFill>
                <a:latin typeface="Arial"/>
              </a:rPr>
              <a:t>metrics, alert rules</a:t>
            </a:r>
          </a:p>
        </p:txBody>
      </p:sp>
      <p:sp>
        <p:nvSpPr>
          <p:cNvPr id="42" name="Rounded Rectangle 41"/>
          <p:cNvSpPr/>
          <p:nvPr/>
        </p:nvSpPr>
        <p:spPr>
          <a:xfrm>
            <a:off x="8915400" y="233172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3" name="Azure icon: Service Health" descr="Official Azure icon: Service Health"/>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988552" y="2491739"/>
            <a:ext cx="411480" cy="411480"/>
          </a:xfrm>
          <a:prstGeom prst="rect">
            <a:avLst/>
          </a:prstGeom>
        </p:spPr>
      </p:pic>
      <p:sp>
        <p:nvSpPr>
          <p:cNvPr id="44" name="TextBox 43"/>
          <p:cNvSpPr txBox="1"/>
          <p:nvPr/>
        </p:nvSpPr>
        <p:spPr>
          <a:xfrm>
            <a:off x="9473184" y="2368296"/>
            <a:ext cx="2148839" cy="658368"/>
          </a:xfrm>
          <a:prstGeom prst="rect">
            <a:avLst/>
          </a:prstGeom>
          <a:noFill/>
        </p:spPr>
        <p:txBody>
          <a:bodyPr wrap="square" lIns="0" rIns="0" tIns="0" bIns="0" anchor="ctr">
            <a:noAutofit/>
          </a:bodyPr>
          <a:lstStyle/>
          <a:p>
            <a:pPr algn="l"/>
            <a:r>
              <a:rPr sz="1300" b="1" i="0">
                <a:solidFill>
                  <a:srgbClr val="000048"/>
                </a:solidFill>
                <a:latin typeface="Arial"/>
              </a:rPr>
              <a:t>Service Health</a:t>
            </a:r>
          </a:p>
          <a:p>
            <a:pPr algn="l"/>
            <a:r>
              <a:rPr sz="1100" b="0" i="0">
                <a:solidFill>
                  <a:srgbClr val="53565A"/>
                </a:solidFill>
                <a:latin typeface="Arial"/>
              </a:rPr>
              <a:t>Azure incidents, maintenance</a:t>
            </a:r>
          </a:p>
        </p:txBody>
      </p:sp>
      <p:sp>
        <p:nvSpPr>
          <p:cNvPr id="45" name="Rounded Rectangle 44"/>
          <p:cNvSpPr/>
          <p:nvPr/>
        </p:nvSpPr>
        <p:spPr>
          <a:xfrm>
            <a:off x="8915400" y="320040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6" name="Azure icon: Application Insights" descr="Official Azure icon: Application Insights"/>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8988552" y="3360420"/>
            <a:ext cx="411480" cy="411480"/>
          </a:xfrm>
          <a:prstGeom prst="rect">
            <a:avLst/>
          </a:prstGeom>
        </p:spPr>
      </p:pic>
      <p:sp>
        <p:nvSpPr>
          <p:cNvPr id="47" name="TextBox 46"/>
          <p:cNvSpPr txBox="1"/>
          <p:nvPr/>
        </p:nvSpPr>
        <p:spPr>
          <a:xfrm>
            <a:off x="9473184" y="3236976"/>
            <a:ext cx="2148839" cy="658368"/>
          </a:xfrm>
          <a:prstGeom prst="rect">
            <a:avLst/>
          </a:prstGeom>
          <a:noFill/>
        </p:spPr>
        <p:txBody>
          <a:bodyPr wrap="square" lIns="0" rIns="0" tIns="0" bIns="0" anchor="ctr">
            <a:noAutofit/>
          </a:bodyPr>
          <a:lstStyle/>
          <a:p>
            <a:pPr algn="l"/>
            <a:r>
              <a:rPr sz="1300" b="1" i="0">
                <a:solidFill>
                  <a:srgbClr val="000048"/>
                </a:solidFill>
                <a:latin typeface="Arial"/>
              </a:rPr>
              <a:t>Availability tests</a:t>
            </a:r>
          </a:p>
          <a:p>
            <a:pPr algn="l"/>
            <a:r>
              <a:rPr sz="1100" b="0" i="0">
                <a:solidFill>
                  <a:srgbClr val="53565A"/>
                </a:solidFill>
                <a:latin typeface="Arial"/>
              </a:rPr>
              <a:t>App Insights, end-to-end path</a:t>
            </a:r>
          </a:p>
        </p:txBody>
      </p:sp>
      <p:cxnSp>
        <p:nvCxnSpPr>
          <p:cNvPr id="48" name="Connector (telemetry)"/>
          <p:cNvCxnSpPr/>
          <p:nvPr/>
        </p:nvCxnSpPr>
        <p:spPr>
          <a:xfrm flipV="1">
            <a:off x="8595360" y="1828800"/>
            <a:ext cx="320040" cy="91440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telemetry)"/>
          <p:cNvCxnSpPr/>
          <p:nvPr/>
        </p:nvCxnSpPr>
        <p:spPr>
          <a:xfrm>
            <a:off x="8595360" y="2743200"/>
            <a:ext cx="320040" cy="82296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50" name="Table"/>
          <p:cNvGraphicFramePr>
            <a:graphicFrameLocks noGrp="1"/>
          </p:cNvGraphicFramePr>
          <p:nvPr/>
        </p:nvGraphicFramePr>
        <p:xfrm>
          <a:off x="548640" y="4709160"/>
          <a:ext cx="11091672" cy="1158240"/>
        </p:xfrm>
        <a:graphic>
          <a:graphicData uri="http://schemas.openxmlformats.org/drawingml/2006/table">
            <a:tbl>
              <a:tblPr firstRow="1" bandRow="0">
                <a:tableStyleId>{5C22544A-7EE6-4342-B048-85BDC9FD1C3A}</a:tableStyleId>
              </a:tblPr>
              <a:tblGrid>
                <a:gridCol w="2377440"/>
                <a:gridCol w="5486400"/>
                <a:gridCol w="3227832"/>
              </a:tblGrid>
              <a:tr h="289560">
                <a:tc>
                  <a:txBody>
                    <a:bodyPr wrap="square" anchor="ctr">
                      <a:noAutofit/>
                    </a:bodyPr>
                    <a:lstStyle/>
                    <a:p>
                      <a:pPr algn="l"/>
                      <a:r>
                        <a:rPr sz="1300" b="1" i="0">
                          <a:solidFill>
                            <a:srgbClr val="FFFFFF"/>
                          </a:solidFill>
                          <a:latin typeface="Arial"/>
                        </a:rPr>
                        <a:t>Signal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 alert (proposed)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Model deployment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429 rate or latency above agreed level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 AI informed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Private DNS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Resolution failures for private endpoints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Gateway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Backend circuit open; capacity units saturated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observability and agent traces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graphicFrame>
        <p:nvGraphicFramePr>
          <p:cNvPr id="9" name="Table"/>
          <p:cNvGraphicFramePr>
            <a:graphicFrameLocks noGrp="1"/>
          </p:cNvGraphicFramePr>
          <p:nvPr/>
        </p:nvGraphicFramePr>
        <p:xfrm>
          <a:off x="548640" y="1371600"/>
          <a:ext cx="11091672" cy="2606040"/>
        </p:xfrm>
        <a:graphic>
          <a:graphicData uri="http://schemas.openxmlformats.org/drawingml/2006/table">
            <a:tbl>
              <a:tblPr firstRow="1" bandRow="0">
                <a:tableStyleId>{5C22544A-7EE6-4342-B048-85BDC9FD1C3A}</a:tableStyleId>
              </a:tblPr>
              <a:tblGrid>
                <a:gridCol w="3291840"/>
                <a:gridCol w="4206240"/>
                <a:gridCol w="3593592"/>
              </a:tblGrid>
              <a:tr h="320040">
                <a:tc>
                  <a:txBody>
                    <a:bodyPr wrap="square" anchor="ctr">
                      <a:noAutofit/>
                    </a:bodyPr>
                    <a:lstStyle/>
                    <a:p>
                      <a:pPr algn="l"/>
                      <a:r>
                        <a:rPr sz="1500" b="1" i="0">
                          <a:solidFill>
                            <a:srgbClr val="FFFFFF"/>
                          </a:solidFill>
                          <a:latin typeface="Arial"/>
                        </a:rPr>
                        <a:t>Integration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What it gives operations</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Limit</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Application Insights per Foundry project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Runs, errors, traces, tokens per agent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Only after configuration; up to 15 min delay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Log Analytics workspace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Platform and gateway logs, KQL alerts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Ingestion cost; retention to agree</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Foundry Control Plane inventory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Agent list with runs and errors (last month)</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Supported platforms only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Correlation IDs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Join gateway call, agent run and tool call</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Needs agent ID in every hop</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Payload logging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Debugging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Redact; restrict access; short retention</a:t>
                      </a:r>
                    </a:p>
                  </a:txBody>
                  <a:tcPr marL="73152" marR="73152" marT="36576" marB="36576"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Alert ownership and service desk integration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graphicFrame>
        <p:nvGraphicFramePr>
          <p:cNvPr id="9" name="Table"/>
          <p:cNvGraphicFramePr>
            <a:graphicFrameLocks noGrp="1"/>
          </p:cNvGraphicFramePr>
          <p:nvPr/>
        </p:nvGraphicFramePr>
        <p:xfrm>
          <a:off x="548640" y="1371600"/>
          <a:ext cx="11091671" cy="3154680"/>
        </p:xfrm>
        <a:graphic>
          <a:graphicData uri="http://schemas.openxmlformats.org/drawingml/2006/table">
            <a:tbl>
              <a:tblPr firstRow="1" bandRow="0">
                <a:tableStyleId>{5C22544A-7EE6-4342-B048-85BDC9FD1C3A}</a:tableStyleId>
              </a:tblPr>
              <a:tblGrid>
                <a:gridCol w="3749039"/>
                <a:gridCol w="2834640"/>
                <a:gridCol w="4507992"/>
              </a:tblGrid>
              <a:tr h="320040">
                <a:tc>
                  <a:txBody>
                    <a:bodyPr wrap="square" anchor="ctr">
                      <a:noAutofit/>
                    </a:bodyPr>
                    <a:lstStyle/>
                    <a:p>
                      <a:pPr algn="l"/>
                      <a:r>
                        <a:rPr sz="1500" b="1" i="0">
                          <a:solidFill>
                            <a:srgbClr val="FFFFFF"/>
                          </a:solidFill>
                          <a:latin typeface="Arial"/>
                        </a:rPr>
                        <a:t>Incident or change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Primary resolver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Supporting dependency</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DNS, network, endpoint or resource health</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Security for control changes; AI for runtime limits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Failed pipeline or infrastructure release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DevOps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 for configuration; Security for controls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Stale index or failed ingestion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Data Engineering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Data owner for source quality and access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Poor answer or unauthorised agent action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Security and Data Engineering as relevant</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Security event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Contracted security resolver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 and workload owners contain allocated parts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Unexpected spend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 coordinates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AI explains usage; towers fix causes</a:t>
                      </a:r>
                    </a:p>
                  </a:txBody>
                  <a:tcPr marL="73152" marR="73152" marT="36576" marB="36576" anchor="ctr">
                    <a:solidFill>
                      <a:srgbClr val="F5F5F2"/>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Incident, problem and change management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sp>
        <p:nvSpPr>
          <p:cNvPr id="8" name="Rounded Rectangle 7"/>
          <p:cNvSpPr/>
          <p:nvPr/>
        </p:nvSpPr>
        <p:spPr>
          <a:xfrm>
            <a:off x="548640" y="137160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Incident</a:t>
            </a:r>
          </a:p>
        </p:txBody>
      </p:sp>
      <p:sp>
        <p:nvSpPr>
          <p:cNvPr id="9" name="Rounded Rectangle 8"/>
          <p:cNvSpPr/>
          <p:nvPr/>
        </p:nvSpPr>
        <p:spPr>
          <a:xfrm>
            <a:off x="548640" y="210312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1  Single entry point</a:t>
            </a:r>
          </a:p>
        </p:txBody>
      </p:sp>
      <p:sp>
        <p:nvSpPr>
          <p:cNvPr id="10" name="Rounded Rectangle 9"/>
          <p:cNvSpPr/>
          <p:nvPr/>
        </p:nvSpPr>
        <p:spPr>
          <a:xfrm>
            <a:off x="548640" y="288036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2  Lane triage</a:t>
            </a:r>
          </a:p>
        </p:txBody>
      </p:sp>
      <p:sp>
        <p:nvSpPr>
          <p:cNvPr id="11" name="Rounded Rectangle 10"/>
          <p:cNvSpPr/>
          <p:nvPr/>
        </p:nvSpPr>
        <p:spPr>
          <a:xfrm>
            <a:off x="548640" y="365760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3  Resolver works, updates</a:t>
            </a:r>
          </a:p>
        </p:txBody>
      </p:sp>
      <p:sp>
        <p:nvSpPr>
          <p:cNvPr id="12" name="Rounded Rectangle 11"/>
          <p:cNvSpPr/>
          <p:nvPr/>
        </p:nvSpPr>
        <p:spPr>
          <a:xfrm>
            <a:off x="548640" y="443484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4  Close with cause</a:t>
            </a:r>
          </a:p>
        </p:txBody>
      </p:sp>
      <p:sp>
        <p:nvSpPr>
          <p:cNvPr id="13" name="Rounded Rectangle 12"/>
          <p:cNvSpPr/>
          <p:nvPr/>
        </p:nvSpPr>
        <p:spPr>
          <a:xfrm>
            <a:off x="4297679" y="137160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Problem</a:t>
            </a:r>
          </a:p>
        </p:txBody>
      </p:sp>
      <p:sp>
        <p:nvSpPr>
          <p:cNvPr id="14" name="Rounded Rectangle 13"/>
          <p:cNvSpPr/>
          <p:nvPr/>
        </p:nvSpPr>
        <p:spPr>
          <a:xfrm>
            <a:off x="4297679" y="210312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1  Recurring incident trend</a:t>
            </a:r>
          </a:p>
        </p:txBody>
      </p:sp>
      <p:sp>
        <p:nvSpPr>
          <p:cNvPr id="15" name="Rounded Rectangle 14"/>
          <p:cNvSpPr/>
          <p:nvPr/>
        </p:nvSpPr>
        <p:spPr>
          <a:xfrm>
            <a:off x="4297679" y="288036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2  Root cause analysis</a:t>
            </a:r>
          </a:p>
        </p:txBody>
      </p:sp>
      <p:sp>
        <p:nvSpPr>
          <p:cNvPr id="16" name="Rounded Rectangle 15"/>
          <p:cNvSpPr/>
          <p:nvPr/>
        </p:nvSpPr>
        <p:spPr>
          <a:xfrm>
            <a:off x="4297679" y="365760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3  Fix through change</a:t>
            </a:r>
          </a:p>
        </p:txBody>
      </p:sp>
      <p:sp>
        <p:nvSpPr>
          <p:cNvPr id="17" name="Rounded Rectangle 16"/>
          <p:cNvSpPr/>
          <p:nvPr/>
        </p:nvSpPr>
        <p:spPr>
          <a:xfrm>
            <a:off x="4297679" y="443484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4  Review monthly</a:t>
            </a:r>
          </a:p>
        </p:txBody>
      </p:sp>
      <p:sp>
        <p:nvSpPr>
          <p:cNvPr id="18" name="Rounded Rectangle 17"/>
          <p:cNvSpPr/>
          <p:nvPr/>
        </p:nvSpPr>
        <p:spPr>
          <a:xfrm>
            <a:off x="8046719" y="137160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Change</a:t>
            </a:r>
          </a:p>
        </p:txBody>
      </p:sp>
      <p:sp>
        <p:nvSpPr>
          <p:cNvPr id="19" name="Rounded Rectangle 18"/>
          <p:cNvSpPr/>
          <p:nvPr/>
        </p:nvSpPr>
        <p:spPr>
          <a:xfrm>
            <a:off x="8046719" y="210312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1  Request with risk class</a:t>
            </a:r>
          </a:p>
        </p:txBody>
      </p:sp>
      <p:sp>
        <p:nvSpPr>
          <p:cNvPr id="20" name="Rounded Rectangle 19"/>
          <p:cNvSpPr/>
          <p:nvPr/>
        </p:nvSpPr>
        <p:spPr>
          <a:xfrm>
            <a:off x="8046719" y="288036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2  Pipeline-only to production</a:t>
            </a:r>
          </a:p>
        </p:txBody>
      </p:sp>
      <p:sp>
        <p:nvSpPr>
          <p:cNvPr id="21" name="Rounded Rectangle 20"/>
          <p:cNvSpPr/>
          <p:nvPr/>
        </p:nvSpPr>
        <p:spPr>
          <a:xfrm>
            <a:off x="8046719" y="365760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3  Approval by customer authority</a:t>
            </a:r>
          </a:p>
        </p:txBody>
      </p:sp>
      <p:sp>
        <p:nvSpPr>
          <p:cNvPr id="22" name="Rounded Rectangle 21"/>
          <p:cNvSpPr/>
          <p:nvPr/>
        </p:nvSpPr>
        <p:spPr>
          <a:xfrm>
            <a:off x="8046719" y="443484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4  Rollback tested</a:t>
            </a:r>
          </a:p>
        </p:txBody>
      </p:sp>
      <p:sp>
        <p:nvSpPr>
          <p:cNvPr id="23" name="Rounded Rectangle 22"/>
          <p:cNvSpPr/>
          <p:nvPr/>
        </p:nvSpPr>
        <p:spPr>
          <a:xfrm>
            <a:off x="548640" y="539496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Model, prompt and agent changes follow the AI tower change path; platform changes follow CIS Infra's.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Lane boundaries in detail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graphicFrame>
        <p:nvGraphicFramePr>
          <p:cNvPr id="9" name="Table"/>
          <p:cNvGraphicFramePr>
            <a:graphicFrameLocks noGrp="1"/>
          </p:cNvGraphicFramePr>
          <p:nvPr/>
        </p:nvGraphicFramePr>
        <p:xfrm>
          <a:off x="548640" y="1371600"/>
          <a:ext cx="11091672" cy="2606040"/>
        </p:xfrm>
        <a:graphic>
          <a:graphicData uri="http://schemas.openxmlformats.org/drawingml/2006/table">
            <a:tbl>
              <a:tblPr firstRow="1" bandRow="0">
                <a:tableStyleId>{5C22544A-7EE6-4342-B048-85BDC9FD1C3A}</a:tableStyleId>
              </a:tblPr>
              <a:tblGrid>
                <a:gridCol w="2468880"/>
                <a:gridCol w="2834640"/>
                <a:gridCol w="2834640"/>
                <a:gridCol w="2953512"/>
              </a:tblGrid>
              <a:tr h="320040">
                <a:tc>
                  <a:txBody>
                    <a:bodyPr wrap="square" anchor="ctr">
                      <a:noAutofit/>
                    </a:bodyPr>
                    <a:lstStyle/>
                    <a:p>
                      <a:pPr algn="l"/>
                      <a:r>
                        <a:rPr sz="1500" b="1" i="0">
                          <a:solidFill>
                            <a:srgbClr val="FFFFFF"/>
                          </a:solidFill>
                          <a:latin typeface="Arial"/>
                        </a:rPr>
                        <a:t>Aspect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Platform availability</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Agent task quality</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Security incidents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Accountable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AI tower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Contracted security resolver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Typical signal</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Health alert, 5xx, DNS failure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Evaluation drop, user complaint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Defender alert, abuse report</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Measure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Availability, response, change success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Task success, escalation rate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security service terms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CIS Infra role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Resolve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Provide telemetry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Contain allocated components</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Out of scope for 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Prompt, model, evaluation fixes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Forensics, notification</a:t>
                      </a:r>
                    </a:p>
                  </a:txBody>
                  <a:tcPr marL="73152" marR="73152" marT="36576" marB="36576"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Rogue-agent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K1</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3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sp>
        <p:nvSpPr>
          <p:cNvPr id="9" name="Rounded Rectangle 8"/>
          <p:cNvSpPr/>
          <p:nvPr/>
        </p:nvSpPr>
        <p:spPr>
          <a:xfrm>
            <a:off x="411480" y="1243584"/>
            <a:ext cx="11384280" cy="2377440"/>
          </a:xfrm>
          <a:prstGeom prst="roundRect">
            <a:avLst>
              <a:gd name="adj" fmla="val 3846"/>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1208" y="1298448"/>
            <a:ext cx="11164824" cy="237744"/>
          </a:xfrm>
          <a:prstGeom prst="rect">
            <a:avLst/>
          </a:prstGeom>
          <a:noFill/>
        </p:spPr>
        <p:txBody>
          <a:bodyPr wrap="square" lIns="0" rIns="0" tIns="0" bIns="0" anchor="t">
            <a:noAutofit/>
          </a:bodyPr>
          <a:lstStyle/>
          <a:p>
            <a:pPr algn="l"/>
            <a:r>
              <a:rPr sz="1100" b="1" i="0">
                <a:solidFill>
                  <a:srgbClr val="000048"/>
                </a:solidFill>
                <a:latin typeface="Arial"/>
              </a:rPr>
              <a:t>GOVERNED EXECUTION PATH (WORKLOAD SUBSCRIPTION, PRIVATE NETWORK)</a:t>
            </a:r>
          </a:p>
        </p:txBody>
      </p:sp>
      <p:pic>
        <p:nvPicPr>
          <p:cNvPr id="11"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2124" y="1865376"/>
            <a:ext cx="438912" cy="438912"/>
          </a:xfrm>
          <a:prstGeom prst="rect">
            <a:avLst/>
          </a:prstGeom>
        </p:spPr>
      </p:pic>
      <p:sp>
        <p:nvSpPr>
          <p:cNvPr id="12" name="TextBox 11"/>
          <p:cNvSpPr txBox="1"/>
          <p:nvPr/>
        </p:nvSpPr>
        <p:spPr>
          <a:xfrm>
            <a:off x="539496" y="2340864"/>
            <a:ext cx="1344168" cy="512064"/>
          </a:xfrm>
          <a:prstGeom prst="rect">
            <a:avLst/>
          </a:prstGeom>
          <a:noFill/>
        </p:spPr>
        <p:txBody>
          <a:bodyPr wrap="square" lIns="0" rIns="0" tIns="0" bIns="0" anchor="t">
            <a:noAutofit/>
          </a:bodyPr>
          <a:lstStyle/>
          <a:p>
            <a:pPr algn="ctr"/>
            <a:r>
              <a:rPr sz="1300" b="1" i="0">
                <a:solidFill>
                  <a:srgbClr val="000048"/>
                </a:solidFill>
                <a:latin typeface="Arial"/>
              </a:rPr>
              <a:t>Users and apps</a:t>
            </a:r>
          </a:p>
          <a:p>
            <a:pPr algn="ctr"/>
            <a:r>
              <a:rPr sz="1100" b="0" i="0">
                <a:solidFill>
                  <a:srgbClr val="53565A"/>
                </a:solidFill>
                <a:latin typeface="Arial"/>
              </a:rPr>
              <a:t>Entra-authenticated callers</a:t>
            </a:r>
          </a:p>
        </p:txBody>
      </p:sp>
      <p:sp>
        <p:nvSpPr>
          <p:cNvPr id="13" name="Rounded Rectangle 12"/>
          <p:cNvSpPr/>
          <p:nvPr/>
        </p:nvSpPr>
        <p:spPr>
          <a:xfrm>
            <a:off x="2103120" y="1700784"/>
            <a:ext cx="18288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98064" y="1773936"/>
            <a:ext cx="438912" cy="438912"/>
          </a:xfrm>
          <a:prstGeom prst="rect">
            <a:avLst/>
          </a:prstGeom>
        </p:spPr>
      </p:pic>
      <p:sp>
        <p:nvSpPr>
          <p:cNvPr id="15" name="TextBox 14"/>
          <p:cNvSpPr txBox="1"/>
          <p:nvPr/>
        </p:nvSpPr>
        <p:spPr>
          <a:xfrm>
            <a:off x="2148840" y="2249424"/>
            <a:ext cx="1737360" cy="822960"/>
          </a:xfrm>
          <a:prstGeom prst="rect">
            <a:avLst/>
          </a:prstGeom>
          <a:noFill/>
        </p:spPr>
        <p:txBody>
          <a:bodyPr wrap="square" lIns="0" rIns="0" tIns="0" bIns="0" anchor="t">
            <a:noAutofit/>
          </a:bodyPr>
          <a:lstStyle/>
          <a:p>
            <a:pPr algn="ctr"/>
            <a:r>
              <a:rPr sz="1200" b="1" i="0">
                <a:solidFill>
                  <a:srgbClr val="000048"/>
                </a:solidFill>
                <a:latin typeface="Arial"/>
              </a:rPr>
              <a:t>API Management</a:t>
            </a:r>
          </a:p>
          <a:p>
            <a:pPr algn="ctr"/>
            <a:r>
              <a:rPr sz="1000" b="0" i="0">
                <a:solidFill>
                  <a:srgbClr val="53565A"/>
                </a:solidFill>
                <a:latin typeface="Arial"/>
              </a:rPr>
              <a:t>Ingress: caller identity, agent ID mapping, deny-state check</a:t>
            </a:r>
          </a:p>
        </p:txBody>
      </p:sp>
      <p:sp>
        <p:nvSpPr>
          <p:cNvPr id="16" name="Rounded Rectangle 15"/>
          <p:cNvSpPr/>
          <p:nvPr/>
        </p:nvSpPr>
        <p:spPr>
          <a:xfrm>
            <a:off x="4343400" y="1700784"/>
            <a:ext cx="20574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oundry Agent Service" descr="Official Azure icon: Foundry Agent Servi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01184" y="1773936"/>
            <a:ext cx="438912" cy="438912"/>
          </a:xfrm>
          <a:prstGeom prst="rect">
            <a:avLst/>
          </a:prstGeom>
        </p:spPr>
      </p:pic>
      <p:pic>
        <p:nvPicPr>
          <p:cNvPr id="18" name="Azure icon: Container Apps Environments" descr="Official Azure icon: Container Apps Environme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413248" y="1773936"/>
            <a:ext cx="438912" cy="438912"/>
          </a:xfrm>
          <a:prstGeom prst="rect">
            <a:avLst/>
          </a:prstGeom>
        </p:spPr>
      </p:pic>
      <p:sp>
        <p:nvSpPr>
          <p:cNvPr id="19" name="TextBox 18"/>
          <p:cNvSpPr txBox="1"/>
          <p:nvPr/>
        </p:nvSpPr>
        <p:spPr>
          <a:xfrm>
            <a:off x="4389120" y="2249424"/>
            <a:ext cx="1965960" cy="822960"/>
          </a:xfrm>
          <a:prstGeom prst="rect">
            <a:avLst/>
          </a:prstGeom>
          <a:noFill/>
        </p:spPr>
        <p:txBody>
          <a:bodyPr wrap="square" lIns="0" rIns="0" tIns="0" bIns="0" anchor="t">
            <a:noAutofit/>
          </a:bodyPr>
          <a:lstStyle/>
          <a:p>
            <a:pPr algn="ctr"/>
            <a:r>
              <a:rPr sz="1200" b="1" i="0">
                <a:solidFill>
                  <a:srgbClr val="000048"/>
                </a:solidFill>
                <a:latin typeface="Arial"/>
              </a:rPr>
              <a:t>Agent runtime</a:t>
            </a:r>
          </a:p>
          <a:p>
            <a:pPr algn="ctr"/>
            <a:r>
              <a:rPr sz="1000" b="0" i="0">
                <a:solidFill>
                  <a:srgbClr val="53565A"/>
                </a:solidFill>
                <a:latin typeface="Arial"/>
              </a:rPr>
              <a:t>Foundry Agent Service, or a customer host (Container Apps shown). Guard at each loop checkpoint</a:t>
            </a:r>
          </a:p>
        </p:txBody>
      </p:sp>
      <p:sp>
        <p:nvSpPr>
          <p:cNvPr id="20" name="Rounded Rectangle 19"/>
          <p:cNvSpPr/>
          <p:nvPr/>
        </p:nvSpPr>
        <p:spPr>
          <a:xfrm>
            <a:off x="6812280" y="1700784"/>
            <a:ext cx="192024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52944" y="1773936"/>
            <a:ext cx="438912" cy="438912"/>
          </a:xfrm>
          <a:prstGeom prst="rect">
            <a:avLst/>
          </a:prstGeom>
        </p:spPr>
      </p:pic>
      <p:sp>
        <p:nvSpPr>
          <p:cNvPr id="22" name="TextBox 21"/>
          <p:cNvSpPr txBox="1"/>
          <p:nvPr/>
        </p:nvSpPr>
        <p:spPr>
          <a:xfrm>
            <a:off x="6858000" y="2249424"/>
            <a:ext cx="1828800" cy="822960"/>
          </a:xfrm>
          <a:prstGeom prst="rect">
            <a:avLst/>
          </a:prstGeom>
          <a:noFill/>
        </p:spPr>
        <p:txBody>
          <a:bodyPr wrap="square" lIns="0" rIns="0" tIns="0" bIns="0" anchor="t">
            <a:noAutofit/>
          </a:bodyPr>
          <a:lstStyle/>
          <a:p>
            <a:pPr algn="ctr"/>
            <a:r>
              <a:rPr sz="1200" b="1" i="0">
                <a:solidFill>
                  <a:srgbClr val="000048"/>
                </a:solidFill>
                <a:latin typeface="Arial"/>
              </a:rPr>
              <a:t>Model and tool gateway</a:t>
            </a:r>
          </a:p>
          <a:p>
            <a:pPr algn="ctr"/>
            <a:r>
              <a:rPr sz="1000" b="0" i="0">
                <a:solidFill>
                  <a:srgbClr val="53565A"/>
                </a:solidFill>
                <a:latin typeface="Arial"/>
              </a:rPr>
              <a:t>API Management outbound policies plus tool-side authorisation</a:t>
            </a:r>
          </a:p>
        </p:txBody>
      </p:sp>
      <p:sp>
        <p:nvSpPr>
          <p:cNvPr id="23" name="Rounded Rectangle 22"/>
          <p:cNvSpPr/>
          <p:nvPr/>
        </p:nvSpPr>
        <p:spPr>
          <a:xfrm>
            <a:off x="9144000" y="1591056"/>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217152" y="1682496"/>
            <a:ext cx="329184" cy="329184"/>
          </a:xfrm>
          <a:prstGeom prst="rect">
            <a:avLst/>
          </a:prstGeom>
        </p:spPr>
      </p:pic>
      <p:sp>
        <p:nvSpPr>
          <p:cNvPr id="25" name="TextBox 24"/>
          <p:cNvSpPr txBox="1"/>
          <p:nvPr/>
        </p:nvSpPr>
        <p:spPr>
          <a:xfrm>
            <a:off x="9619488" y="1627632"/>
            <a:ext cx="2002536" cy="438912"/>
          </a:xfrm>
          <a:prstGeom prst="rect">
            <a:avLst/>
          </a:prstGeom>
          <a:noFill/>
        </p:spPr>
        <p:txBody>
          <a:bodyPr wrap="square" lIns="0" rIns="0" tIns="0" bIns="0" anchor="ctr">
            <a:noAutofit/>
          </a:bodyPr>
          <a:lstStyle/>
          <a:p>
            <a:pPr algn="l"/>
            <a:r>
              <a:rPr sz="1200" b="1" i="0">
                <a:solidFill>
                  <a:srgbClr val="000048"/>
                </a:solidFill>
                <a:latin typeface="Arial"/>
              </a:rPr>
              <a:t>Foundry Models</a:t>
            </a:r>
          </a:p>
          <a:p>
            <a:pPr algn="l"/>
            <a:r>
              <a:rPr sz="1000" b="0" i="0">
                <a:solidFill>
                  <a:srgbClr val="53565A"/>
                </a:solidFill>
                <a:latin typeface="Arial"/>
              </a:rPr>
              <a:t>model deployments</a:t>
            </a:r>
          </a:p>
        </p:txBody>
      </p:sp>
      <p:sp>
        <p:nvSpPr>
          <p:cNvPr id="26" name="Rounded Rectangle 25"/>
          <p:cNvSpPr/>
          <p:nvPr/>
        </p:nvSpPr>
        <p:spPr>
          <a:xfrm>
            <a:off x="9144000" y="2157984"/>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7"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217152" y="2249424"/>
            <a:ext cx="329184" cy="329184"/>
          </a:xfrm>
          <a:prstGeom prst="rect">
            <a:avLst/>
          </a:prstGeom>
        </p:spPr>
      </p:pic>
      <p:sp>
        <p:nvSpPr>
          <p:cNvPr id="28" name="TextBox 27"/>
          <p:cNvSpPr txBox="1"/>
          <p:nvPr/>
        </p:nvSpPr>
        <p:spPr>
          <a:xfrm>
            <a:off x="9619488" y="2194560"/>
            <a:ext cx="2002536" cy="438912"/>
          </a:xfrm>
          <a:prstGeom prst="rect">
            <a:avLst/>
          </a:prstGeom>
          <a:noFill/>
        </p:spPr>
        <p:txBody>
          <a:bodyPr wrap="square" lIns="0" rIns="0" tIns="0" bIns="0" anchor="ctr">
            <a:noAutofit/>
          </a:bodyPr>
          <a:lstStyle/>
          <a:p>
            <a:pPr algn="l"/>
            <a:r>
              <a:rPr sz="1200" b="1" i="0">
                <a:solidFill>
                  <a:srgbClr val="000048"/>
                </a:solidFill>
                <a:latin typeface="Arial"/>
              </a:rPr>
              <a:t>Tool APIs (example host)</a:t>
            </a:r>
          </a:p>
          <a:p>
            <a:pPr algn="l"/>
            <a:r>
              <a:rPr sz="1000" b="0" i="0">
                <a:solidFill>
                  <a:srgbClr val="53565A"/>
                </a:solidFill>
                <a:latin typeface="Arial"/>
              </a:rPr>
              <a:t>MCP or REST tools</a:t>
            </a:r>
          </a:p>
        </p:txBody>
      </p:sp>
      <p:sp>
        <p:nvSpPr>
          <p:cNvPr id="29" name="Rounded Rectangle 28"/>
          <p:cNvSpPr/>
          <p:nvPr/>
        </p:nvSpPr>
        <p:spPr>
          <a:xfrm>
            <a:off x="9144000" y="2724912"/>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0" name="Azure icon: AI Search (Cognitive Search icon)" descr="Official Azure icon: AI Search (Cognitive Search icon)"/>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217152" y="2816352"/>
            <a:ext cx="329184" cy="329184"/>
          </a:xfrm>
          <a:prstGeom prst="rect">
            <a:avLst/>
          </a:prstGeom>
        </p:spPr>
      </p:pic>
      <p:sp>
        <p:nvSpPr>
          <p:cNvPr id="31" name="TextBox 30"/>
          <p:cNvSpPr txBox="1"/>
          <p:nvPr/>
        </p:nvSpPr>
        <p:spPr>
          <a:xfrm>
            <a:off x="9619488" y="2761488"/>
            <a:ext cx="2002536" cy="438912"/>
          </a:xfrm>
          <a:prstGeom prst="rect">
            <a:avLst/>
          </a:prstGeom>
          <a:noFill/>
        </p:spPr>
        <p:txBody>
          <a:bodyPr wrap="square" lIns="0" rIns="0" tIns="0" bIns="0" anchor="ctr">
            <a:noAutofit/>
          </a:bodyPr>
          <a:lstStyle/>
          <a:p>
            <a:pPr algn="l"/>
            <a:r>
              <a:rPr sz="1200" b="1" i="0">
                <a:solidFill>
                  <a:srgbClr val="000048"/>
                </a:solidFill>
                <a:latin typeface="Arial"/>
              </a:rPr>
              <a:t>Workload data</a:t>
            </a:r>
          </a:p>
          <a:p>
            <a:pPr algn="l"/>
            <a:r>
              <a:rPr sz="1000" b="0" i="0">
                <a:solidFill>
                  <a:srgbClr val="53565A"/>
                </a:solidFill>
                <a:latin typeface="Arial"/>
              </a:rPr>
              <a:t>AI Search, Storage account</a:t>
            </a:r>
          </a:p>
        </p:txBody>
      </p:sp>
      <p:cxnSp>
        <p:nvCxnSpPr>
          <p:cNvPr id="32" name="Connector (flow)"/>
          <p:cNvCxnSpPr/>
          <p:nvPr/>
        </p:nvCxnSpPr>
        <p:spPr>
          <a:xfrm>
            <a:off x="1920240" y="2414016"/>
            <a:ext cx="1828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flow)"/>
          <p:cNvCxnSpPr/>
          <p:nvPr/>
        </p:nvCxnSpPr>
        <p:spPr>
          <a:xfrm>
            <a:off x="393192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flow)"/>
          <p:cNvCxnSpPr/>
          <p:nvPr/>
        </p:nvCxnSpPr>
        <p:spPr>
          <a:xfrm>
            <a:off x="640080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flipV="1">
            <a:off x="8942832" y="1847088"/>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a:off x="8942832" y="1847088"/>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8942832" y="2414016"/>
            <a:ext cx="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8942832" y="2414016"/>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2" name="Connector (flow)"/>
          <p:cNvCxnSpPr/>
          <p:nvPr/>
        </p:nvCxnSpPr>
        <p:spPr>
          <a:xfrm>
            <a:off x="8942832" y="2414016"/>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3" name="Connector (flow)"/>
          <p:cNvCxnSpPr/>
          <p:nvPr/>
        </p:nvCxnSpPr>
        <p:spPr>
          <a:xfrm>
            <a:off x="8942832" y="2980944"/>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197510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sp>
        <p:nvSpPr>
          <p:cNvPr id="45" name="Oval 44"/>
          <p:cNvSpPr/>
          <p:nvPr/>
        </p:nvSpPr>
        <p:spPr>
          <a:xfrm>
            <a:off x="421538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sp>
        <p:nvSpPr>
          <p:cNvPr id="46" name="Oval 45"/>
          <p:cNvSpPr/>
          <p:nvPr/>
        </p:nvSpPr>
        <p:spPr>
          <a:xfrm>
            <a:off x="668426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47" name="TextBox 46"/>
          <p:cNvSpPr txBox="1"/>
          <p:nvPr/>
        </p:nvSpPr>
        <p:spPr>
          <a:xfrm>
            <a:off x="9144000" y="3273552"/>
            <a:ext cx="2560320" cy="329184"/>
          </a:xfrm>
          <a:prstGeom prst="rect">
            <a:avLst/>
          </a:prstGeom>
          <a:noFill/>
        </p:spPr>
        <p:txBody>
          <a:bodyPr wrap="square" lIns="0" rIns="0" tIns="0" bIns="0" anchor="t">
            <a:noAutofit/>
          </a:bodyPr>
          <a:lstStyle/>
          <a:p>
            <a:pPr algn="l"/>
            <a:r>
              <a:rPr sz="900" b="0" i="0">
                <a:solidFill>
                  <a:srgbClr val="A4262C"/>
                </a:solidFill>
                <a:latin typeface="Arial"/>
              </a:rPr>
              <a:t>Direct calls that bypass the gateway are denied by network and identity design</a:t>
            </a:r>
          </a:p>
        </p:txBody>
      </p:sp>
      <p:sp>
        <p:nvSpPr>
          <p:cNvPr id="48" name="Rounded Rectangle 47"/>
          <p:cNvSpPr/>
          <p:nvPr/>
        </p:nvSpPr>
        <p:spPr>
          <a:xfrm>
            <a:off x="457200" y="2816352"/>
            <a:ext cx="1600200" cy="566928"/>
          </a:xfrm>
          <a:prstGeom prst="roundRect">
            <a:avLst>
              <a:gd name="adj" fmla="val 12903"/>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9" name="Azure icon: Conditional Access" descr="Official Azure icon: Conditional Acces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30352" y="2953512"/>
            <a:ext cx="292608" cy="292608"/>
          </a:xfrm>
          <a:prstGeom prst="rect">
            <a:avLst/>
          </a:prstGeom>
        </p:spPr>
      </p:pic>
      <p:sp>
        <p:nvSpPr>
          <p:cNvPr id="50" name="TextBox 49"/>
          <p:cNvSpPr txBox="1"/>
          <p:nvPr/>
        </p:nvSpPr>
        <p:spPr>
          <a:xfrm>
            <a:off x="896112" y="2852928"/>
            <a:ext cx="1124712" cy="493776"/>
          </a:xfrm>
          <a:prstGeom prst="rect">
            <a:avLst/>
          </a:prstGeom>
          <a:noFill/>
        </p:spPr>
        <p:txBody>
          <a:bodyPr wrap="square" lIns="0" rIns="0" tIns="0" bIns="0" anchor="ctr">
            <a:noAutofit/>
          </a:bodyPr>
          <a:lstStyle/>
          <a:p>
            <a:pPr algn="l"/>
            <a:r>
              <a:rPr sz="1000" b="1" i="0">
                <a:solidFill>
                  <a:srgbClr val="000048"/>
                </a:solidFill>
                <a:latin typeface="Arial"/>
              </a:rPr>
              <a:t>Entra CA for agents</a:t>
            </a:r>
          </a:p>
          <a:p>
            <a:pPr algn="l"/>
            <a:r>
              <a:rPr sz="900" b="0" i="0">
                <a:solidFill>
                  <a:srgbClr val="53565A"/>
                </a:solidFill>
                <a:latin typeface="Arial"/>
              </a:rPr>
              <a:t>identity-layer block</a:t>
            </a:r>
          </a:p>
        </p:txBody>
      </p:sp>
      <p:sp>
        <p:nvSpPr>
          <p:cNvPr id="51" name="Oval 50"/>
          <p:cNvSpPr/>
          <p:nvPr/>
        </p:nvSpPr>
        <p:spPr>
          <a:xfrm>
            <a:off x="1920240" y="2724912"/>
            <a:ext cx="256032" cy="256032"/>
          </a:xfrm>
          <a:prstGeom prst="ellipse">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4</a:t>
            </a:r>
          </a:p>
        </p:txBody>
      </p:sp>
      <p:sp>
        <p:nvSpPr>
          <p:cNvPr id="52" name="Rounded Rectangle 51"/>
          <p:cNvSpPr/>
          <p:nvPr/>
        </p:nvSpPr>
        <p:spPr>
          <a:xfrm>
            <a:off x="411480" y="4032504"/>
            <a:ext cx="11384280" cy="2103120"/>
          </a:xfrm>
          <a:prstGeom prst="roundRect">
            <a:avLst>
              <a:gd name="adj" fmla="val 4347"/>
            </a:avLst>
          </a:prstGeom>
          <a:solidFill>
            <a:srgbClr val="F6F5FD"/>
          </a:solidFill>
          <a:ln w="15875">
            <a:solidFill>
              <a:srgbClr val="7373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521207" y="5861304"/>
            <a:ext cx="8229600" cy="237744"/>
          </a:xfrm>
          <a:prstGeom prst="rect">
            <a:avLst/>
          </a:prstGeom>
          <a:noFill/>
        </p:spPr>
        <p:txBody>
          <a:bodyPr wrap="square" lIns="0" rIns="0" tIns="0" bIns="0" anchor="t">
            <a:noAutofit/>
          </a:bodyPr>
          <a:lstStyle/>
          <a:p>
            <a:pPr algn="l"/>
            <a:r>
              <a:rPr sz="1100" b="1" i="0">
                <a:solidFill>
                  <a:srgbClr val="4B4BA8"/>
                </a:solidFill>
                <a:latin typeface="Arial"/>
              </a:rPr>
              <a:t>RESTRICTED CONTAINMENT CONTROL PLANE (SEPARATE SUBSCRIPTION OR MANAGEMENT BOUNDARY)</a:t>
            </a:r>
          </a:p>
        </p:txBody>
      </p:sp>
      <p:sp>
        <p:nvSpPr>
          <p:cNvPr id="54" name="Rounded Rectangle 53"/>
          <p:cNvSpPr/>
          <p:nvPr/>
        </p:nvSpPr>
        <p:spPr>
          <a:xfrm>
            <a:off x="548640" y="421538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5" name="Azure icon: Entra Privileged Identity Management" descr="Official Azure icon: Entra Privileged Identity Management"/>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21792" y="4366260"/>
            <a:ext cx="384048" cy="384048"/>
          </a:xfrm>
          <a:prstGeom prst="rect">
            <a:avLst/>
          </a:prstGeom>
        </p:spPr>
      </p:pic>
      <p:sp>
        <p:nvSpPr>
          <p:cNvPr id="56" name="TextBox 55"/>
          <p:cNvSpPr txBox="1"/>
          <p:nvPr/>
        </p:nvSpPr>
        <p:spPr>
          <a:xfrm>
            <a:off x="1078992" y="4251960"/>
            <a:ext cx="1307592" cy="612648"/>
          </a:xfrm>
          <a:prstGeom prst="rect">
            <a:avLst/>
          </a:prstGeom>
          <a:noFill/>
        </p:spPr>
        <p:txBody>
          <a:bodyPr wrap="square" lIns="0" rIns="0" tIns="0" bIns="0" anchor="ctr">
            <a:noAutofit/>
          </a:bodyPr>
          <a:lstStyle/>
          <a:p>
            <a:pPr algn="l"/>
            <a:r>
              <a:rPr sz="1200" b="1" i="0">
                <a:solidFill>
                  <a:srgbClr val="000048"/>
                </a:solidFill>
                <a:latin typeface="Arial"/>
              </a:rPr>
              <a:t>Authorised operator</a:t>
            </a:r>
          </a:p>
          <a:p>
            <a:pPr algn="l"/>
            <a:r>
              <a:rPr sz="1000" b="0" i="0">
                <a:solidFill>
                  <a:srgbClr val="53565A"/>
                </a:solidFill>
                <a:latin typeface="Arial"/>
              </a:rPr>
              <a:t>Entra PIM, approval</a:t>
            </a:r>
          </a:p>
        </p:txBody>
      </p:sp>
      <p:sp>
        <p:nvSpPr>
          <p:cNvPr id="57" name="Rounded Rectangle 56"/>
          <p:cNvSpPr/>
          <p:nvPr/>
        </p:nvSpPr>
        <p:spPr>
          <a:xfrm>
            <a:off x="548640" y="503834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8" name="Azure icon: Azure Monitor" descr="Official Azure icon: Azure Monito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21792" y="5189220"/>
            <a:ext cx="384048" cy="384048"/>
          </a:xfrm>
          <a:prstGeom prst="rect">
            <a:avLst/>
          </a:prstGeom>
        </p:spPr>
      </p:pic>
      <p:sp>
        <p:nvSpPr>
          <p:cNvPr id="59" name="TextBox 58"/>
          <p:cNvSpPr txBox="1"/>
          <p:nvPr/>
        </p:nvSpPr>
        <p:spPr>
          <a:xfrm>
            <a:off x="1078992" y="5074920"/>
            <a:ext cx="1307592" cy="612648"/>
          </a:xfrm>
          <a:prstGeom prst="rect">
            <a:avLst/>
          </a:prstGeom>
          <a:noFill/>
        </p:spPr>
        <p:txBody>
          <a:bodyPr wrap="square" lIns="0" rIns="0" tIns="0" bIns="0" anchor="ctr">
            <a:noAutofit/>
          </a:bodyPr>
          <a:lstStyle/>
          <a:p>
            <a:pPr algn="l"/>
            <a:r>
              <a:rPr sz="1200" b="1" i="0">
                <a:solidFill>
                  <a:srgbClr val="000048"/>
                </a:solidFill>
                <a:latin typeface="Arial"/>
              </a:rPr>
              <a:t>Automated detection</a:t>
            </a:r>
          </a:p>
          <a:p>
            <a:pPr algn="l"/>
            <a:r>
              <a:rPr sz="1000" b="0" i="0">
                <a:solidFill>
                  <a:srgbClr val="53565A"/>
                </a:solidFill>
                <a:latin typeface="Arial"/>
              </a:rPr>
              <a:t>Monitor alert, action group</a:t>
            </a:r>
          </a:p>
        </p:txBody>
      </p:sp>
      <p:sp>
        <p:nvSpPr>
          <p:cNvPr id="60" name="Rounded Rectangle 59"/>
          <p:cNvSpPr/>
          <p:nvPr/>
        </p:nvSpPr>
        <p:spPr>
          <a:xfrm>
            <a:off x="2788920" y="4489704"/>
            <a:ext cx="2148840" cy="914400"/>
          </a:xfrm>
          <a:prstGeom prst="roundRect">
            <a:avLst>
              <a:gd name="adj" fmla="val 8000"/>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1"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862072" y="4754880"/>
            <a:ext cx="384048" cy="384048"/>
          </a:xfrm>
          <a:prstGeom prst="rect">
            <a:avLst/>
          </a:prstGeom>
        </p:spPr>
      </p:pic>
      <p:sp>
        <p:nvSpPr>
          <p:cNvPr id="62" name="TextBox 61"/>
          <p:cNvSpPr txBox="1"/>
          <p:nvPr/>
        </p:nvSpPr>
        <p:spPr>
          <a:xfrm>
            <a:off x="3319272" y="4526280"/>
            <a:ext cx="1581912" cy="841248"/>
          </a:xfrm>
          <a:prstGeom prst="rect">
            <a:avLst/>
          </a:prstGeom>
          <a:noFill/>
        </p:spPr>
        <p:txBody>
          <a:bodyPr wrap="square" lIns="0" rIns="0" tIns="0" bIns="0" anchor="ctr">
            <a:noAutofit/>
          </a:bodyPr>
          <a:lstStyle/>
          <a:p>
            <a:pPr algn="l"/>
            <a:r>
              <a:rPr sz="1200" b="1" i="0">
                <a:solidFill>
                  <a:srgbClr val="000048"/>
                </a:solidFill>
                <a:latin typeface="Arial"/>
              </a:rPr>
              <a:t>Containment orchestrator</a:t>
            </a:r>
          </a:p>
          <a:p>
            <a:pPr algn="l"/>
            <a:r>
              <a:rPr sz="1000" b="0" i="0">
                <a:solidFill>
                  <a:srgbClr val="53565A"/>
                </a:solidFill>
                <a:latin typeface="Arial"/>
              </a:rPr>
              <a:t>Durable Functions, custom code</a:t>
            </a:r>
          </a:p>
        </p:txBody>
      </p:sp>
      <p:sp>
        <p:nvSpPr>
          <p:cNvPr id="63" name="Rounded Rectangle 62"/>
          <p:cNvSpPr/>
          <p:nvPr/>
        </p:nvSpPr>
        <p:spPr>
          <a:xfrm>
            <a:off x="5440680" y="4197096"/>
            <a:ext cx="2148840" cy="685800"/>
          </a:xfrm>
          <a:prstGeom prst="roundRect">
            <a:avLst>
              <a:gd name="adj" fmla="val 1066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4" name="Azure icon: Azure Cosmos DB" descr="Official Azure icon: Azure Cosmos DB"/>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513832" y="4357116"/>
            <a:ext cx="365760" cy="365760"/>
          </a:xfrm>
          <a:prstGeom prst="rect">
            <a:avLst/>
          </a:prstGeom>
        </p:spPr>
      </p:pic>
      <p:sp>
        <p:nvSpPr>
          <p:cNvPr id="65" name="TextBox 64"/>
          <p:cNvSpPr txBox="1"/>
          <p:nvPr/>
        </p:nvSpPr>
        <p:spPr>
          <a:xfrm>
            <a:off x="5952744" y="4233672"/>
            <a:ext cx="1600200" cy="612648"/>
          </a:xfrm>
          <a:prstGeom prst="rect">
            <a:avLst/>
          </a:prstGeom>
          <a:noFill/>
        </p:spPr>
        <p:txBody>
          <a:bodyPr wrap="square" lIns="0" rIns="0" tIns="0" bIns="0" anchor="ctr">
            <a:noAutofit/>
          </a:bodyPr>
          <a:lstStyle/>
          <a:p>
            <a:pPr algn="l"/>
            <a:r>
              <a:rPr sz="1200" b="1" i="0">
                <a:solidFill>
                  <a:srgbClr val="000048"/>
                </a:solidFill>
                <a:latin typeface="Arial"/>
              </a:rPr>
              <a:t>Quarantine registry</a:t>
            </a:r>
          </a:p>
          <a:p>
            <a:pPr algn="l"/>
            <a:r>
              <a:rPr sz="1000" b="0" i="0">
                <a:solidFill>
                  <a:srgbClr val="53565A"/>
                </a:solidFill>
                <a:latin typeface="Arial"/>
              </a:rPr>
              <a:t>agent ID, version, state version</a:t>
            </a:r>
          </a:p>
        </p:txBody>
      </p:sp>
      <p:sp>
        <p:nvSpPr>
          <p:cNvPr id="66" name="Rounded Rectangle 65"/>
          <p:cNvSpPr/>
          <p:nvPr/>
        </p:nvSpPr>
        <p:spPr>
          <a:xfrm>
            <a:off x="5440680" y="5056632"/>
            <a:ext cx="21488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7" name="Azure icon: Storage account" descr="Official Azure icon: Storage account"/>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5513832" y="5216652"/>
            <a:ext cx="365760" cy="365760"/>
          </a:xfrm>
          <a:prstGeom prst="rect">
            <a:avLst/>
          </a:prstGeom>
        </p:spPr>
      </p:pic>
      <p:sp>
        <p:nvSpPr>
          <p:cNvPr id="68" name="TextBox 67"/>
          <p:cNvSpPr txBox="1"/>
          <p:nvPr/>
        </p:nvSpPr>
        <p:spPr>
          <a:xfrm>
            <a:off x="5952744" y="5093208"/>
            <a:ext cx="1600200" cy="612648"/>
          </a:xfrm>
          <a:prstGeom prst="rect">
            <a:avLst/>
          </a:prstGeom>
          <a:noFill/>
        </p:spPr>
        <p:txBody>
          <a:bodyPr wrap="square" lIns="0" rIns="0" tIns="0" bIns="0" anchor="ctr">
            <a:noAutofit/>
          </a:bodyPr>
          <a:lstStyle/>
          <a:p>
            <a:pPr algn="l"/>
            <a:r>
              <a:rPr sz="1200" b="1" i="0">
                <a:solidFill>
                  <a:srgbClr val="000048"/>
                </a:solidFill>
                <a:latin typeface="Arial"/>
              </a:rPr>
              <a:t>Incident evidence</a:t>
            </a:r>
          </a:p>
          <a:p>
            <a:pPr algn="l"/>
            <a:r>
              <a:rPr sz="1000" b="0" i="0">
                <a:solidFill>
                  <a:srgbClr val="53565A"/>
                </a:solidFill>
                <a:latin typeface="Arial"/>
              </a:rPr>
              <a:t>Storage account, immutability policy</a:t>
            </a:r>
          </a:p>
        </p:txBody>
      </p:sp>
      <p:sp>
        <p:nvSpPr>
          <p:cNvPr id="69" name="Rounded Rectangle 68"/>
          <p:cNvSpPr/>
          <p:nvPr/>
        </p:nvSpPr>
        <p:spPr>
          <a:xfrm>
            <a:off x="8001000" y="4489704"/>
            <a:ext cx="1828800" cy="914400"/>
          </a:xfrm>
          <a:prstGeom prst="roundRect">
            <a:avLst>
              <a:gd name="adj" fmla="val 8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70" name="Azure icon: Application Insights" descr="Official Azure icon: Application Insights"/>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074152" y="4764024"/>
            <a:ext cx="365760" cy="365760"/>
          </a:xfrm>
          <a:prstGeom prst="rect">
            <a:avLst/>
          </a:prstGeom>
        </p:spPr>
      </p:pic>
      <p:sp>
        <p:nvSpPr>
          <p:cNvPr id="71" name="TextBox 70"/>
          <p:cNvSpPr txBox="1"/>
          <p:nvPr/>
        </p:nvSpPr>
        <p:spPr>
          <a:xfrm>
            <a:off x="8513064" y="4526280"/>
            <a:ext cx="1280160" cy="841248"/>
          </a:xfrm>
          <a:prstGeom prst="rect">
            <a:avLst/>
          </a:prstGeom>
          <a:noFill/>
        </p:spPr>
        <p:txBody>
          <a:bodyPr wrap="square" lIns="0" rIns="0" tIns="0" bIns="0" anchor="ctr">
            <a:noAutofit/>
          </a:bodyPr>
          <a:lstStyle/>
          <a:p>
            <a:pPr algn="l"/>
            <a:r>
              <a:rPr sz="1200" b="1" i="0">
                <a:solidFill>
                  <a:srgbClr val="000048"/>
                </a:solidFill>
                <a:latin typeface="Arial"/>
              </a:rPr>
              <a:t>Containment check</a:t>
            </a:r>
          </a:p>
          <a:p>
            <a:pPr algn="l"/>
            <a:r>
              <a:rPr sz="1000" b="0" i="0">
                <a:solidFill>
                  <a:srgbClr val="53565A"/>
                </a:solidFill>
                <a:latin typeface="Arial"/>
              </a:rPr>
              <a:t>traces confirm no new actions</a:t>
            </a:r>
          </a:p>
        </p:txBody>
      </p:sp>
      <p:sp>
        <p:nvSpPr>
          <p:cNvPr id="72" name="Rounded Rectangle 71"/>
          <p:cNvSpPr/>
          <p:nvPr/>
        </p:nvSpPr>
        <p:spPr>
          <a:xfrm>
            <a:off x="10104120" y="4306824"/>
            <a:ext cx="1554480" cy="1280160"/>
          </a:xfrm>
          <a:prstGeom prst="roundRect">
            <a:avLst>
              <a:gd name="adj" fmla="val 57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Human-approved restart</a:t>
            </a:r>
          </a:p>
          <a:p>
            <a:pPr algn="ctr"/>
            <a:r>
              <a:rPr sz="1000" b="0" i="0">
                <a:solidFill>
                  <a:srgbClr val="53565A"/>
                </a:solidFill>
                <a:latin typeface="Arial"/>
              </a:rPr>
              <a:t>root cause, canary, two-person approval</a:t>
            </a:r>
          </a:p>
        </p:txBody>
      </p:sp>
      <p:cxnSp>
        <p:nvCxnSpPr>
          <p:cNvPr id="73" name="Connector (control)"/>
          <p:cNvCxnSpPr/>
          <p:nvPr/>
        </p:nvCxnSpPr>
        <p:spPr>
          <a:xfrm>
            <a:off x="2423160" y="4562856"/>
            <a:ext cx="36576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control)"/>
          <p:cNvCxnSpPr/>
          <p:nvPr/>
        </p:nvCxnSpPr>
        <p:spPr>
          <a:xfrm flipV="1">
            <a:off x="2423160" y="5129784"/>
            <a:ext cx="365760" cy="246888"/>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control)"/>
          <p:cNvCxnSpPr/>
          <p:nvPr/>
        </p:nvCxnSpPr>
        <p:spPr>
          <a:xfrm flipV="1">
            <a:off x="4937760" y="4544568"/>
            <a:ext cx="502920" cy="17373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control)"/>
          <p:cNvCxnSpPr/>
          <p:nvPr/>
        </p:nvCxnSpPr>
        <p:spPr>
          <a:xfrm>
            <a:off x="4937760" y="5175504"/>
            <a:ext cx="50292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telemetry)"/>
          <p:cNvCxnSpPr/>
          <p:nvPr/>
        </p:nvCxnSpPr>
        <p:spPr>
          <a:xfrm flipH="1">
            <a:off x="4937760" y="4946904"/>
            <a:ext cx="306324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Connector (control)"/>
          <p:cNvCxnSpPr/>
          <p:nvPr/>
        </p:nvCxnSpPr>
        <p:spPr>
          <a:xfrm>
            <a:off x="9829800" y="4946904"/>
            <a:ext cx="27432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Connector (control)"/>
          <p:cNvCxnSpPr/>
          <p:nvPr/>
        </p:nvCxnSpPr>
        <p:spPr>
          <a:xfrm>
            <a:off x="3017520" y="3831336"/>
            <a:ext cx="475488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80" name="Connector (control)"/>
          <p:cNvCxnSpPr/>
          <p:nvPr/>
        </p:nvCxnSpPr>
        <p:spPr>
          <a:xfrm flipV="1">
            <a:off x="301752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Connector (control)"/>
          <p:cNvCxnSpPr/>
          <p:nvPr/>
        </p:nvCxnSpPr>
        <p:spPr>
          <a:xfrm flipV="1">
            <a:off x="53721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control)"/>
          <p:cNvCxnSpPr/>
          <p:nvPr/>
        </p:nvCxnSpPr>
        <p:spPr>
          <a:xfrm flipV="1">
            <a:off x="77724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control)"/>
          <p:cNvCxnSpPr/>
          <p:nvPr/>
        </p:nvCxnSpPr>
        <p:spPr>
          <a:xfrm flipV="1">
            <a:off x="3858768" y="3831336"/>
            <a:ext cx="0" cy="658368"/>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84" name="Connector (telemetry)"/>
          <p:cNvCxnSpPr/>
          <p:nvPr/>
        </p:nvCxnSpPr>
        <p:spPr>
          <a:xfrm flipV="1">
            <a:off x="6510528" y="3831336"/>
            <a:ext cx="0" cy="36576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telemetry)"/>
          <p:cNvCxnSpPr/>
          <p:nvPr/>
        </p:nvCxnSpPr>
        <p:spPr>
          <a:xfrm flipV="1">
            <a:off x="8915400" y="3621024"/>
            <a:ext cx="0" cy="86868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8979408" y="3639312"/>
            <a:ext cx="1097280" cy="237744"/>
          </a:xfrm>
          <a:prstGeom prst="rect">
            <a:avLst/>
          </a:prstGeom>
          <a:noFill/>
        </p:spPr>
        <p:txBody>
          <a:bodyPr wrap="square" lIns="0" rIns="0" tIns="0" bIns="0" anchor="t">
            <a:noAutofit/>
          </a:bodyPr>
          <a:lstStyle/>
          <a:p>
            <a:pPr algn="l"/>
            <a:r>
              <a:rPr sz="1000" b="0" i="0">
                <a:solidFill>
                  <a:srgbClr val="53565A"/>
                </a:solidFill>
                <a:latin typeface="Arial"/>
              </a:rPr>
              <a:t>traces</a:t>
            </a:r>
          </a:p>
        </p:txBody>
      </p:sp>
      <p:sp>
        <p:nvSpPr>
          <p:cNvPr id="87" name="TextBox 86"/>
          <p:cNvSpPr txBox="1"/>
          <p:nvPr/>
        </p:nvSpPr>
        <p:spPr>
          <a:xfrm>
            <a:off x="548640" y="3694176"/>
            <a:ext cx="2423160" cy="274320"/>
          </a:xfrm>
          <a:prstGeom prst="rect">
            <a:avLst/>
          </a:prstGeom>
          <a:noFill/>
        </p:spPr>
        <p:txBody>
          <a:bodyPr wrap="square" lIns="0" rIns="0" tIns="0" bIns="0" anchor="t">
            <a:noAutofit/>
          </a:bodyPr>
          <a:lstStyle/>
          <a:p>
            <a:pPr algn="r"/>
            <a:r>
              <a:rPr sz="1000" b="0" i="0">
                <a:solidFill>
                  <a:srgbClr val="6363C9"/>
                </a:solidFill>
                <a:latin typeface="Arial"/>
              </a:rPr>
              <a:t>deny-state checks and runtime adapters</a:t>
            </a:r>
          </a:p>
        </p:txBody>
      </p:sp>
      <p:cxnSp>
        <p:nvCxnSpPr>
          <p:cNvPr id="88" name="Connector (flow)"/>
          <p:cNvCxnSpPr/>
          <p:nvPr/>
        </p:nvCxnSpPr>
        <p:spPr>
          <a:xfrm>
            <a:off x="548640" y="6281928"/>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02412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90" name="Connector (control)"/>
          <p:cNvCxnSpPr/>
          <p:nvPr/>
        </p:nvCxnSpPr>
        <p:spPr>
          <a:xfrm>
            <a:off x="2926080" y="6281928"/>
            <a:ext cx="41148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340156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Control or containment path</a:t>
            </a:r>
          </a:p>
        </p:txBody>
      </p:sp>
      <p:cxnSp>
        <p:nvCxnSpPr>
          <p:cNvPr id="92" name="Connector (telemetry)"/>
          <p:cNvCxnSpPr/>
          <p:nvPr/>
        </p:nvCxnSpPr>
        <p:spPr>
          <a:xfrm>
            <a:off x="5303520" y="6281928"/>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77900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94" name="TextBox 93"/>
          <p:cNvSpPr txBox="1"/>
          <p:nvPr/>
        </p:nvSpPr>
        <p:spPr>
          <a:xfrm>
            <a:off x="6766560" y="6163056"/>
            <a:ext cx="4937760" cy="274320"/>
          </a:xfrm>
          <a:prstGeom prst="rect">
            <a:avLst/>
          </a:prstGeom>
          <a:noFill/>
        </p:spPr>
        <p:txBody>
          <a:bodyPr wrap="square" lIns="0" rIns="0" tIns="0" bIns="0" anchor="t">
            <a:noAutofit/>
          </a:bodyPr>
          <a:lstStyle/>
          <a:p>
            <a:pPr algn="r"/>
            <a:r>
              <a:rPr sz="1100" b="1" i="0">
                <a:solidFill>
                  <a:srgbClr val="A4262C"/>
                </a:solidFill>
                <a:latin typeface="Arial"/>
              </a:rPr>
              <a:t>1</a:t>
            </a:r>
            <a:r>
              <a:rPr sz="1100" b="0" i="0">
                <a:solidFill>
                  <a:srgbClr val="53565A"/>
                </a:solidFill>
                <a:latin typeface="Arial"/>
              </a:rPr>
              <a:t> block new requests  </a:t>
            </a:r>
            <a:r>
              <a:rPr sz="1100" b="1" i="0">
                <a:solidFill>
                  <a:srgbClr val="A4262C"/>
                </a:solidFill>
                <a:latin typeface="Arial"/>
              </a:rPr>
              <a:t>2</a:t>
            </a:r>
            <a:r>
              <a:rPr sz="1100" b="0" i="0">
                <a:solidFill>
                  <a:srgbClr val="53565A"/>
                </a:solidFill>
                <a:latin typeface="Arial"/>
              </a:rPr>
              <a:t> cancel or isolate  </a:t>
            </a:r>
            <a:r>
              <a:rPr sz="1100" b="1" i="0">
                <a:solidFill>
                  <a:srgbClr val="A4262C"/>
                </a:solidFill>
                <a:latin typeface="Arial"/>
              </a:rPr>
              <a:t>3</a:t>
            </a:r>
            <a:r>
              <a:rPr sz="1100" b="0" i="0">
                <a:solidFill>
                  <a:srgbClr val="53565A"/>
                </a:solidFill>
                <a:latin typeface="Arial"/>
              </a:rPr>
              <a:t> deny actions  </a:t>
            </a:r>
            <a:r>
              <a:rPr sz="1100" b="1" i="0">
                <a:solidFill>
                  <a:srgbClr val="7373D8"/>
                </a:solidFill>
                <a:latin typeface="Arial"/>
              </a:rPr>
              <a:t>4</a:t>
            </a:r>
            <a:r>
              <a:rPr sz="1100" b="0" i="0">
                <a:solidFill>
                  <a:srgbClr val="53565A"/>
                </a:solidFill>
                <a:latin typeface="Arial"/>
              </a:rPr>
              <a:t> identity block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containment actions, three different mechanisms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K2</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sp>
        <p:nvSpPr>
          <p:cNvPr id="9" name="Rounded Rectangle 8"/>
          <p:cNvSpPr/>
          <p:nvPr/>
        </p:nvSpPr>
        <p:spPr>
          <a:xfrm>
            <a:off x="548640"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1  Block new requests</a:t>
            </a:r>
          </a:p>
        </p:txBody>
      </p:sp>
      <p:sp>
        <p:nvSpPr>
          <p:cNvPr id="10" name="TextBox 9"/>
          <p:cNvSpPr txBox="1"/>
          <p:nvPr/>
        </p:nvSpPr>
        <p:spPr>
          <a:xfrm>
            <a:off x="548640"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1" name="TextBox 10"/>
          <p:cNvSpPr txBox="1"/>
          <p:nvPr/>
        </p:nvSpPr>
        <p:spPr>
          <a:xfrm>
            <a:off x="548640"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API Management ingress rejects calls for the quarantined agent ID and version. Foundry Stop (published agents) or Block (custom agents) adds a platform-level control.</a:t>
            </a:r>
          </a:p>
        </p:txBody>
      </p:sp>
      <p:sp>
        <p:nvSpPr>
          <p:cNvPr id="12" name="Rounded Rectangle 11"/>
          <p:cNvSpPr/>
          <p:nvPr/>
        </p:nvSpPr>
        <p:spPr>
          <a:xfrm>
            <a:off x="548640"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Does not touch runs already executing. A caller holding a direct endpoint or key bypasses it.</a:t>
            </a:r>
          </a:p>
        </p:txBody>
      </p:sp>
      <p:sp>
        <p:nvSpPr>
          <p:cNvPr id="13" name="Rounded Rectangle 12"/>
          <p:cNvSpPr/>
          <p:nvPr/>
        </p:nvSpPr>
        <p:spPr>
          <a:xfrm>
            <a:off x="4297679"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2  Cancel or isolate running work</a:t>
            </a:r>
          </a:p>
        </p:txBody>
      </p:sp>
      <p:sp>
        <p:nvSpPr>
          <p:cNvPr id="14" name="TextBox 13"/>
          <p:cNvSpPr txBox="1"/>
          <p:nvPr/>
        </p:nvSpPr>
        <p:spPr>
          <a:xfrm>
            <a:off x="4297679"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5" name="TextBox 14"/>
          <p:cNvSpPr txBox="1"/>
          <p:nvPr/>
        </p:nvSpPr>
        <p:spPr>
          <a:xfrm>
            <a:off x="4297679"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Runtime adapter cancels supported runs, disables triggers and queue consumers, or isolates dedicated compute (Container Apps or AKS) where authorised.</a:t>
            </a:r>
          </a:p>
        </p:txBody>
      </p:sp>
      <p:sp>
        <p:nvSpPr>
          <p:cNvPr id="16" name="Rounded Rectangle 15"/>
          <p:cNvSpPr/>
          <p:nvPr/>
        </p:nvSpPr>
        <p:spPr>
          <a:xfrm>
            <a:off x="4297679"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Cancellation support differs by runtime. Managed Foundry runtimes may not allow process termination. Shared hosts widen the blast radius.</a:t>
            </a:r>
          </a:p>
        </p:txBody>
      </p:sp>
      <p:sp>
        <p:nvSpPr>
          <p:cNvPr id="17" name="Rounded Rectangle 16"/>
          <p:cNvSpPr/>
          <p:nvPr/>
        </p:nvSpPr>
        <p:spPr>
          <a:xfrm>
            <a:off x="8046719"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3  Deny further model and tool actions</a:t>
            </a:r>
          </a:p>
        </p:txBody>
      </p:sp>
      <p:sp>
        <p:nvSpPr>
          <p:cNvPr id="18" name="TextBox 17"/>
          <p:cNvSpPr txBox="1"/>
          <p:nvPr/>
        </p:nvSpPr>
        <p:spPr>
          <a:xfrm>
            <a:off x="8046719"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9" name="TextBox 18"/>
          <p:cNvSpPr txBox="1"/>
          <p:nvPr/>
        </p:nvSpPr>
        <p:spPr>
          <a:xfrm>
            <a:off x="8046719"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Outbound gateway and tool-side authorisation reject model, tool and data calls for the quarantined scope, checked before irreversible actions.</a:t>
            </a:r>
          </a:p>
        </p:txBody>
      </p:sp>
      <p:sp>
        <p:nvSpPr>
          <p:cNvPr id="20" name="Rounded Rectangle 19"/>
          <p:cNvSpPr/>
          <p:nvPr/>
        </p:nvSpPr>
        <p:spPr>
          <a:xfrm>
            <a:off x="8046719"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Cannot undo side effects already completed. Token and RBAC revocation can lag; use resource-side denial as well.</a:t>
            </a:r>
          </a:p>
        </p:txBody>
      </p:sp>
      <p:sp>
        <p:nvSpPr>
          <p:cNvPr id="21" name="Rounded Rectangle 20"/>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 universal instant stop. Worst-case stop time is measured in drills, not assumed.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Known limits of agent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K3</a:t>
            </a:r>
          </a:p>
        </p:txBody>
      </p:sp>
      <p:sp>
        <p:nvSpPr>
          <p:cNvPr id="5" name="Status chip: VERIFIED BEHAVIOUR + DESIGN LIMITS"/>
          <p:cNvSpPr/>
          <p:nvPr/>
        </p:nvSpPr>
        <p:spPr>
          <a:xfrm>
            <a:off x="1898650" y="274320"/>
            <a:ext cx="32105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BEHAVIOUR + DESIGN LIMITS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9" name="Table"/>
          <p:cNvGraphicFramePr>
            <a:graphicFrameLocks noGrp="1"/>
          </p:cNvGraphicFramePr>
          <p:nvPr/>
        </p:nvGraphicFramePr>
        <p:xfrm>
          <a:off x="548640" y="1325880"/>
          <a:ext cx="11091672" cy="3749040"/>
        </p:xfrm>
        <a:graphic>
          <a:graphicData uri="http://schemas.openxmlformats.org/drawingml/2006/table">
            <a:tbl>
              <a:tblPr firstRow="1" bandRow="0">
                <a:tableStyleId>{5C22544A-7EE6-4342-B048-85BDC9FD1C3A}</a:tableStyleId>
              </a:tblPr>
              <a:tblGrid>
                <a:gridCol w="3291840"/>
                <a:gridCol w="4023360"/>
                <a:gridCol w="3776472"/>
              </a:tblGrid>
              <a:tr h="274320">
                <a:tc>
                  <a:txBody>
                    <a:bodyPr wrap="square" anchor="ctr">
                      <a:noAutofit/>
                    </a:bodyPr>
                    <a:lstStyle/>
                    <a:p>
                      <a:pPr algn="l"/>
                      <a:r>
                        <a:rPr sz="1200" b="1" i="0">
                          <a:solidFill>
                            <a:srgbClr val="FFFFFF"/>
                          </a:solidFill>
                          <a:latin typeface="Arial"/>
                        </a:rPr>
                        <a:t>Limit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Why it matters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Design response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Gateway block does not stop an existing run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Foundry Stop "doesn't terminate existing runs" (Microsoft Learn)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Runtime checkpoint guard plus outbound denial</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Token or RBAC revocation is not immediate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Cached tokens stay valid until expiry or propagation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Resource-side deny check; short token lifetimes</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Runtime cancellation support varies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Foundry, Container Apps, AKS and Logic Apps differ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Runtime-specific adapters, tested per platform</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Direct endpoint access bypasses a proxy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Agents holding keys or public endpoints skip API Management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Private endpoints, disable local auth, no shared keys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Circuit breaker is not a kill switch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It protects a backend dependency, not the agent scope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Separate quarantine state keyed by agent ID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Distributed state and caches delay enforcement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Replication and cache TTL set worst-case stop time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Bounded freshness contract; no caching of allow on high-impact tools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Fail-closed reduces availability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Unknown state blocks legitimate work</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Agree fail-closed scope per risk class with the business owner</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Identity block depends on licence and propagation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Entra CA for agents needs Agent 365; sign-in blocks do not end live sessions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Use as layer 4, never the only stop</a:t>
                      </a:r>
                    </a:p>
                  </a:txBody>
                  <a:tcPr marL="73152" marR="73152" marT="36576" marB="36576" anchor="ctr">
                    <a:solidFill>
                      <a:srgbClr val="F5F5F2"/>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Containment test scenarios before production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K4</a:t>
            </a:r>
          </a:p>
        </p:txBody>
      </p:sp>
      <p:sp>
        <p:nvSpPr>
          <p:cNvPr id="5" name="Status chip: PROPOSED ACCEPTANCE TESTS"/>
          <p:cNvSpPr/>
          <p:nvPr/>
        </p:nvSpPr>
        <p:spPr>
          <a:xfrm>
            <a:off x="1898650" y="274320"/>
            <a:ext cx="24333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ACCEPTANCE TESTS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graphicFrame>
        <p:nvGraphicFramePr>
          <p:cNvPr id="9" name="Table"/>
          <p:cNvGraphicFramePr>
            <a:graphicFrameLocks noGrp="1"/>
          </p:cNvGraphicFramePr>
          <p:nvPr/>
        </p:nvGraphicFramePr>
        <p:xfrm>
          <a:off x="548640" y="1325880"/>
          <a:ext cx="11091672" cy="3596640"/>
        </p:xfrm>
        <a:graphic>
          <a:graphicData uri="http://schemas.openxmlformats.org/drawingml/2006/table">
            <a:tbl>
              <a:tblPr firstRow="1" bandRow="0">
                <a:tableStyleId>{5C22544A-7EE6-4342-B048-85BDC9FD1C3A}</a:tableStyleId>
              </a:tblPr>
              <a:tblGrid>
                <a:gridCol w="2194560"/>
                <a:gridCol w="4572000"/>
                <a:gridCol w="4325112"/>
              </a:tblGrid>
              <a:tr h="289560">
                <a:tc>
                  <a:txBody>
                    <a:bodyPr wrap="square" anchor="ctr">
                      <a:noAutofit/>
                    </a:bodyPr>
                    <a:lstStyle/>
                    <a:p>
                      <a:pPr algn="l"/>
                      <a:r>
                        <a:rPr sz="1300" b="1" i="0">
                          <a:solidFill>
                            <a:srgbClr val="FFFFFF"/>
                          </a:solidFill>
                          <a:latin typeface="Arial"/>
                        </a:rPr>
                        <a:t>Scenario</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Test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Pass 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Bypass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Call model and tool endpoints directly with the agent identity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Calls denied at network and resource level</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Retries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Client retries and APIM retry policy after quarantine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retried call reaches a backend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Queued work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Messages already queued for the agent when quarantined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Consumers disabled; messages held, not processed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Long-running run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Run in progress during quarantine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Next checkpoint halts; no new tool call recorded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Missing telemetry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Disable traces, then trigger containment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Manual path works; telemetry gap raised as incident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Partial failure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One enforcement point unavailable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Fail-closed where agreed; failure recorded in evidence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Control-plane outage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Orchestrator or registry unavailable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Documented break-glass path executes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Restart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Approved release after root cause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Two-person approval, canary, state version advanced</a:t>
                      </a:r>
                    </a:p>
                  </a:txBody>
                  <a:tcPr marL="73152" marR="73152" marT="36576" marB="36576" anchor="ctr">
                    <a:solidFill>
                      <a:srgbClr val="F5F5F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Kill-switch proof of concept: prove it, then sell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K5</a:t>
            </a:r>
          </a:p>
        </p:txBody>
      </p:sp>
      <p:sp>
        <p:nvSpPr>
          <p:cNvPr id="5" name="Status chip: UNPROVEN DESIGN"/>
          <p:cNvSpPr/>
          <p:nvPr/>
        </p:nvSpPr>
        <p:spPr>
          <a:xfrm>
            <a:off x="1898650" y="274320"/>
            <a:ext cx="156972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UNPROVEN DESIGN</a:t>
            </a:r>
          </a:p>
        </p:txBody>
      </p:sp>
      <p:sp>
        <p:nvSpPr>
          <p:cNvPr id="6" name="Status chip: PROPOSED PLAN"/>
          <p:cNvSpPr/>
          <p:nvPr/>
        </p:nvSpPr>
        <p:spPr>
          <a:xfrm>
            <a:off x="355981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PLAN</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sp>
        <p:nvSpPr>
          <p:cNvPr id="10" name="Rounded Rectangle 9"/>
          <p:cNvSpPr/>
          <p:nvPr/>
        </p:nvSpPr>
        <p:spPr>
          <a:xfrm>
            <a:off x="548640"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1  Set up</a:t>
            </a:r>
          </a:p>
          <a:p>
            <a:pPr algn="l"/>
            <a:r>
              <a:rPr sz="1500" b="0" i="0">
                <a:solidFill>
                  <a:srgbClr val="1E1E2E"/>
                </a:solidFill>
                <a:latin typeface="Arial"/>
              </a:rPr>
              <a:t>Two runtimes, synthetic agents, test tool, gateway policies</a:t>
            </a:r>
          </a:p>
        </p:txBody>
      </p:sp>
      <p:cxnSp>
        <p:nvCxnSpPr>
          <p:cNvPr id="11" name="Connector (flow)"/>
          <p:cNvCxnSpPr/>
          <p:nvPr/>
        </p:nvCxnSpPr>
        <p:spPr>
          <a:xfrm>
            <a:off x="2606040"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07208"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2  Instrument</a:t>
            </a:r>
          </a:p>
          <a:p>
            <a:pPr algn="l"/>
            <a:r>
              <a:rPr sz="1500" b="0" i="0">
                <a:solidFill>
                  <a:srgbClr val="1E1E2E"/>
                </a:solidFill>
                <a:latin typeface="Arial"/>
              </a:rPr>
              <a:t>Timestamps at alert, state write, each enforcement point</a:t>
            </a:r>
          </a:p>
        </p:txBody>
      </p:sp>
      <p:cxnSp>
        <p:nvCxnSpPr>
          <p:cNvPr id="13" name="Connector (flow)"/>
          <p:cNvCxnSpPr/>
          <p:nvPr/>
        </p:nvCxnSpPr>
        <p:spPr>
          <a:xfrm>
            <a:off x="4864608"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65776"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3  Exercise</a:t>
            </a:r>
          </a:p>
          <a:p>
            <a:pPr algn="l"/>
            <a:r>
              <a:rPr sz="1500" b="0" i="0">
                <a:solidFill>
                  <a:srgbClr val="1E1E2E"/>
                </a:solidFill>
                <a:latin typeface="Arial"/>
              </a:rPr>
              <a:t>All K4 scenarios, three runs each</a:t>
            </a:r>
          </a:p>
        </p:txBody>
      </p:sp>
      <p:cxnSp>
        <p:nvCxnSpPr>
          <p:cNvPr id="15" name="Connector (flow)"/>
          <p:cNvCxnSpPr/>
          <p:nvPr/>
        </p:nvCxnSpPr>
        <p:spPr>
          <a:xfrm>
            <a:off x="7123176"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24344"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4  Measure</a:t>
            </a:r>
          </a:p>
          <a:p>
            <a:pPr algn="l"/>
            <a:r>
              <a:rPr sz="1500" b="0" i="0">
                <a:solidFill>
                  <a:srgbClr val="1E1E2E"/>
                </a:solidFill>
                <a:latin typeface="Arial"/>
              </a:rPr>
              <a:t>Worst-case stop time per runtime and layer</a:t>
            </a:r>
          </a:p>
        </p:txBody>
      </p:sp>
      <p:cxnSp>
        <p:nvCxnSpPr>
          <p:cNvPr id="17" name="Connector (flow)"/>
          <p:cNvCxnSpPr/>
          <p:nvPr/>
        </p:nvCxnSpPr>
        <p:spPr>
          <a:xfrm>
            <a:off x="9381744"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582912"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5  Report</a:t>
            </a:r>
          </a:p>
          <a:p>
            <a:pPr algn="l"/>
            <a:r>
              <a:rPr sz="1500" b="0" i="0">
                <a:solidFill>
                  <a:srgbClr val="1E1E2E"/>
                </a:solidFill>
                <a:latin typeface="Arial"/>
              </a:rPr>
              <a:t>Evidence pack; targets proposed from data</a:t>
            </a:r>
          </a:p>
        </p:txBody>
      </p:sp>
      <p:graphicFrame>
        <p:nvGraphicFramePr>
          <p:cNvPr id="19" name="Table"/>
          <p:cNvGraphicFramePr>
            <a:graphicFrameLocks noGrp="1"/>
          </p:cNvGraphicFramePr>
          <p:nvPr/>
        </p:nvGraphicFramePr>
        <p:xfrm>
          <a:off x="548640" y="3977639"/>
          <a:ext cx="11091672" cy="1264920"/>
        </p:xfrm>
        <a:graphic>
          <a:graphicData uri="http://schemas.openxmlformats.org/drawingml/2006/table">
            <a:tbl>
              <a:tblPr firstRow="1" bandRow="0">
                <a:tableStyleId>{5C22544A-7EE6-4342-B048-85BDC9FD1C3A}</a:tableStyleId>
              </a:tblPr>
              <a:tblGrid>
                <a:gridCol w="2743200"/>
                <a:gridCol w="8348472"/>
              </a:tblGrid>
              <a:tr h="304800">
                <a:tc>
                  <a:txBody>
                    <a:bodyPr wrap="square" anchor="ctr">
                      <a:noAutofit/>
                    </a:bodyPr>
                    <a:lstStyle/>
                    <a:p>
                      <a:pPr algn="l"/>
                      <a:r>
                        <a:rPr sz="14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Estimate</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Effort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25 to 45 role days (CIS Infra, AI, Security)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Elapsed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4 to 6 weeks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Exit evidence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Measured stop time per runtime; all K4 tests recorded</a:t>
                      </a:r>
                    </a:p>
                  </a:txBody>
                  <a:tcPr marL="73152" marR="73152" marT="36576" marB="36576"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Controlled recovery after containment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sp>
        <p:nvSpPr>
          <p:cNvPr id="9" name="Rounded Rectangle 8"/>
          <p:cNvSpPr/>
          <p:nvPr/>
        </p:nvSpPr>
        <p:spPr>
          <a:xfrm>
            <a:off x="548640"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Root cause</a:t>
            </a:r>
          </a:p>
          <a:p>
            <a:pPr algn="l"/>
            <a:r>
              <a:rPr sz="1600" b="0" i="0">
                <a:solidFill>
                  <a:srgbClr val="1E1E2E"/>
                </a:solidFill>
                <a:latin typeface="Arial"/>
              </a:rPr>
              <a:t>AI and Security confirm cause and fix</a:t>
            </a:r>
          </a:p>
        </p:txBody>
      </p:sp>
      <p:cxnSp>
        <p:nvCxnSpPr>
          <p:cNvPr id="10" name="Connector (flow)"/>
          <p:cNvCxnSpPr/>
          <p:nvPr/>
        </p:nvCxnSpPr>
        <p:spPr>
          <a:xfrm>
            <a:off x="2606040"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07208"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Approval</a:t>
            </a:r>
          </a:p>
          <a:p>
            <a:pPr algn="l"/>
            <a:r>
              <a:rPr sz="1600" b="0" i="0">
                <a:solidFill>
                  <a:srgbClr val="1E1E2E"/>
                </a:solidFill>
                <a:latin typeface="Arial"/>
              </a:rPr>
              <a:t>Two-person approval by named authority</a:t>
            </a:r>
          </a:p>
        </p:txBody>
      </p:sp>
      <p:cxnSp>
        <p:nvCxnSpPr>
          <p:cNvPr id="12" name="Connector (flow)"/>
          <p:cNvCxnSpPr/>
          <p:nvPr/>
        </p:nvCxnSpPr>
        <p:spPr>
          <a:xfrm>
            <a:off x="4864608"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65776"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Canary</a:t>
            </a:r>
          </a:p>
          <a:p>
            <a:pPr algn="l"/>
            <a:r>
              <a:rPr sz="1600" b="0" i="0">
                <a:solidFill>
                  <a:srgbClr val="1E1E2E"/>
                </a:solidFill>
                <a:latin typeface="Arial"/>
              </a:rPr>
              <a:t>Bounded traffic, close monitoring</a:t>
            </a:r>
          </a:p>
        </p:txBody>
      </p:sp>
      <p:cxnSp>
        <p:nvCxnSpPr>
          <p:cNvPr id="14" name="Connector (flow)"/>
          <p:cNvCxnSpPr/>
          <p:nvPr/>
        </p:nvCxnSpPr>
        <p:spPr>
          <a:xfrm>
            <a:off x="7123176"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24344"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Release</a:t>
            </a:r>
          </a:p>
          <a:p>
            <a:pPr algn="l"/>
            <a:r>
              <a:rPr sz="1600" b="0" i="0">
                <a:solidFill>
                  <a:srgbClr val="1E1E2E"/>
                </a:solidFill>
                <a:latin typeface="Arial"/>
              </a:rPr>
              <a:t>State version advanced; limits restored</a:t>
            </a:r>
          </a:p>
        </p:txBody>
      </p:sp>
      <p:cxnSp>
        <p:nvCxnSpPr>
          <p:cNvPr id="16" name="Connector (flow)"/>
          <p:cNvCxnSpPr/>
          <p:nvPr/>
        </p:nvCxnSpPr>
        <p:spPr>
          <a:xfrm>
            <a:off x="9381744"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582912"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Review</a:t>
            </a:r>
          </a:p>
          <a:p>
            <a:pPr algn="l"/>
            <a:r>
              <a:rPr sz="1600" b="0" i="0">
                <a:solidFill>
                  <a:srgbClr val="1E1E2E"/>
                </a:solidFill>
                <a:latin typeface="Arial"/>
              </a:rPr>
              <a:t>Evidence filed; drill updated</a:t>
            </a:r>
          </a:p>
        </p:txBody>
      </p:sp>
      <p:sp>
        <p:nvSpPr>
          <p:cNvPr id="18" name="Rounded Rectangle 17"/>
          <p:cNvSpPr/>
          <p:nvPr/>
        </p:nvSpPr>
        <p:spPr>
          <a:xfrm>
            <a:off x="548640" y="393192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Completed side effects are not undone by restart. Compensation is a separate, workload-owned process.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Capacity, quota and cost review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graphicFrame>
        <p:nvGraphicFramePr>
          <p:cNvPr id="8" name="Table"/>
          <p:cNvGraphicFramePr>
            <a:graphicFrameLocks noGrp="1"/>
          </p:cNvGraphicFramePr>
          <p:nvPr/>
        </p:nvGraphicFramePr>
        <p:xfrm>
          <a:off x="548640" y="1371600"/>
          <a:ext cx="11091672" cy="2148840"/>
        </p:xfrm>
        <a:graphic>
          <a:graphicData uri="http://schemas.openxmlformats.org/drawingml/2006/table">
            <a:tbl>
              <a:tblPr firstRow="1" bandRow="0">
                <a:tableStyleId>{5C22544A-7EE6-4342-B048-85BDC9FD1C3A}</a:tableStyleId>
              </a:tblPr>
              <a:tblGrid>
                <a:gridCol w="2743200"/>
                <a:gridCol w="4572000"/>
                <a:gridCol w="3776472"/>
              </a:tblGrid>
              <a:tr h="320040">
                <a:tc>
                  <a:txBody>
                    <a:bodyPr wrap="square" anchor="ctr">
                      <a:noAutofit/>
                    </a:bodyPr>
                    <a:lstStyle/>
                    <a:p>
                      <a:pPr algn="l"/>
                      <a:r>
                        <a:rPr sz="1500" b="1" i="0">
                          <a:solidFill>
                            <a:srgbClr val="FFFFFF"/>
                          </a:solidFill>
                          <a:latin typeface="Arial"/>
                        </a:rPr>
                        <a:t>Review item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Evidence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Typical action</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PTU utilisation and coverage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Utilisation, reserved vs deployed, overflow share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Raise to FinOps; resize at term</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Throttling</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429 rate by deployment and caller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Rebalance routing; request quota</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Quota headroom</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Quota vs planned deployments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Request quota early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Spend vs budget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Actual and forecast by owner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Explain variance; fix causes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Model lifecycle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Retirement dates of deployed models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Plan migration and re-benchmark</a:t>
                      </a:r>
                    </a:p>
                  </a:txBody>
                  <a:tcPr marL="73152" marR="73152" marT="36576" marB="36576" anchor="ctr">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Dormant-agent review and retirement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PROPOSED PROCESS"/>
          <p:cNvSpPr/>
          <p:nvPr/>
        </p:nvSpPr>
        <p:spPr>
          <a:xfrm>
            <a:off x="1996440" y="274320"/>
            <a:ext cx="16560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PROCESS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sp>
        <p:nvSpPr>
          <p:cNvPr id="9" name="Rounded Rectangle 8"/>
          <p:cNvSpPr/>
          <p:nvPr/>
        </p:nvSpPr>
        <p:spPr>
          <a:xfrm>
            <a:off x="548640" y="1463040"/>
            <a:ext cx="3108960" cy="777240"/>
          </a:xfrm>
          <a:prstGeom prst="roundRect">
            <a:avLst>
              <a:gd name="adj" fmla="val 941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Dormant candidate</a:t>
            </a:r>
          </a:p>
        </p:txBody>
      </p:sp>
      <p:sp>
        <p:nvSpPr>
          <p:cNvPr id="10" name="TextBox 9"/>
          <p:cNvSpPr txBox="1"/>
          <p:nvPr/>
        </p:nvSpPr>
        <p:spPr>
          <a:xfrm>
            <a:off x="3931920" y="1627632"/>
            <a:ext cx="7680960" cy="548640"/>
          </a:xfrm>
          <a:prstGeom prst="rect">
            <a:avLst/>
          </a:prstGeom>
          <a:noFill/>
        </p:spPr>
        <p:txBody>
          <a:bodyPr wrap="square" lIns="0" rIns="0" tIns="0" bIns="0" anchor="t">
            <a:noAutofit/>
          </a:bodyPr>
          <a:lstStyle/>
          <a:p>
            <a:pPr algn="l"/>
            <a:r>
              <a:rPr sz="1800" b="0" i="0">
                <a:solidFill>
                  <a:srgbClr val="1E1E2E"/>
                </a:solidFill>
                <a:latin typeface="Arial"/>
              </a:rPr>
              <a:t>Owner asked to keep or retire within 14 days</a:t>
            </a:r>
          </a:p>
        </p:txBody>
      </p:sp>
      <p:sp>
        <p:nvSpPr>
          <p:cNvPr id="11" name="Rounded Rectangle 10"/>
          <p:cNvSpPr/>
          <p:nvPr/>
        </p:nvSpPr>
        <p:spPr>
          <a:xfrm>
            <a:off x="548640" y="2423160"/>
            <a:ext cx="3108960" cy="777240"/>
          </a:xfrm>
          <a:prstGeom prst="roundRect">
            <a:avLst>
              <a:gd name="adj" fmla="val 941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Telemetry unknown</a:t>
            </a:r>
          </a:p>
        </p:txBody>
      </p:sp>
      <p:sp>
        <p:nvSpPr>
          <p:cNvPr id="12" name="TextBox 11"/>
          <p:cNvSpPr txBox="1"/>
          <p:nvPr/>
        </p:nvSpPr>
        <p:spPr>
          <a:xfrm>
            <a:off x="3931920" y="2587752"/>
            <a:ext cx="7680960" cy="548640"/>
          </a:xfrm>
          <a:prstGeom prst="rect">
            <a:avLst/>
          </a:prstGeom>
          <a:noFill/>
        </p:spPr>
        <p:txBody>
          <a:bodyPr wrap="square" lIns="0" rIns="0" tIns="0" bIns="0" anchor="t">
            <a:noAutofit/>
          </a:bodyPr>
          <a:lstStyle/>
          <a:p>
            <a:pPr algn="l"/>
            <a:r>
              <a:rPr sz="1800" b="0" i="0">
                <a:solidFill>
                  <a:srgbClr val="1E1E2E"/>
                </a:solidFill>
                <a:latin typeface="Arial"/>
              </a:rPr>
              <a:t>Repair monitoring before any decision</a:t>
            </a:r>
          </a:p>
        </p:txBody>
      </p:sp>
      <p:sp>
        <p:nvSpPr>
          <p:cNvPr id="13" name="Rounded Rectangle 12"/>
          <p:cNvSpPr/>
          <p:nvPr/>
        </p:nvSpPr>
        <p:spPr>
          <a:xfrm>
            <a:off x="548640" y="3383280"/>
            <a:ext cx="3108960" cy="777240"/>
          </a:xfrm>
          <a:prstGeom prst="roundRect">
            <a:avLst>
              <a:gd name="adj" fmla="val 941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Orphaned</a:t>
            </a:r>
          </a:p>
        </p:txBody>
      </p:sp>
      <p:sp>
        <p:nvSpPr>
          <p:cNvPr id="14" name="TextBox 13"/>
          <p:cNvSpPr txBox="1"/>
          <p:nvPr/>
        </p:nvSpPr>
        <p:spPr>
          <a:xfrm>
            <a:off x="3931920" y="3547872"/>
            <a:ext cx="7680960" cy="548640"/>
          </a:xfrm>
          <a:prstGeom prst="rect">
            <a:avLst/>
          </a:prstGeom>
          <a:noFill/>
        </p:spPr>
        <p:txBody>
          <a:bodyPr wrap="square" lIns="0" rIns="0" tIns="0" bIns="0" anchor="t">
            <a:noAutofit/>
          </a:bodyPr>
          <a:lstStyle/>
          <a:p>
            <a:pPr algn="l"/>
            <a:r>
              <a:rPr sz="1800" b="0" i="0">
                <a:solidFill>
                  <a:srgbClr val="1E1E2E"/>
                </a:solidFill>
                <a:latin typeface="Arial"/>
              </a:rPr>
              <a:t>Service owner assigns or retires</a:t>
            </a:r>
          </a:p>
        </p:txBody>
      </p:sp>
      <p:sp>
        <p:nvSpPr>
          <p:cNvPr id="15" name="Rounded Rectangle 14"/>
          <p:cNvSpPr/>
          <p:nvPr/>
        </p:nvSpPr>
        <p:spPr>
          <a:xfrm>
            <a:off x="548640" y="4343400"/>
            <a:ext cx="3108960" cy="777240"/>
          </a:xfrm>
          <a:prstGeom prst="roundRect">
            <a:avLst>
              <a:gd name="adj" fmla="val 941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Retire</a:t>
            </a:r>
          </a:p>
        </p:txBody>
      </p:sp>
      <p:sp>
        <p:nvSpPr>
          <p:cNvPr id="16" name="TextBox 15"/>
          <p:cNvSpPr txBox="1"/>
          <p:nvPr/>
        </p:nvSpPr>
        <p:spPr>
          <a:xfrm>
            <a:off x="3931920" y="4507992"/>
            <a:ext cx="7680960" cy="548640"/>
          </a:xfrm>
          <a:prstGeom prst="rect">
            <a:avLst/>
          </a:prstGeom>
          <a:noFill/>
        </p:spPr>
        <p:txBody>
          <a:bodyPr wrap="square" lIns="0" rIns="0" tIns="0" bIns="0" anchor="t">
            <a:noAutofit/>
          </a:bodyPr>
          <a:lstStyle/>
          <a:p>
            <a:pPr algn="l"/>
            <a:r>
              <a:rPr sz="1800" b="0" i="0">
                <a:solidFill>
                  <a:srgbClr val="1E1E2E"/>
                </a:solidFill>
                <a:latin typeface="Arial"/>
              </a:rPr>
              <a:t>Remove identity, secrets, endpoints, compute; confirm none left</a:t>
            </a:r>
          </a:p>
        </p:txBody>
      </p:sp>
      <p:sp>
        <p:nvSpPr>
          <p:cNvPr id="17" name="Rounded Rectangle 16"/>
          <p:cNvSpPr/>
          <p:nvPr/>
        </p:nvSpPr>
        <p:spPr>
          <a:xfrm>
            <a:off x="548640" y="5440680"/>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Never delete on zero sampled telemetry alone.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Backup and recovery responsibilities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9" name="Table"/>
          <p:cNvGraphicFramePr>
            <a:graphicFrameLocks noGrp="1"/>
          </p:cNvGraphicFramePr>
          <p:nvPr/>
        </p:nvGraphicFramePr>
        <p:xfrm>
          <a:off x="548640" y="1371600"/>
          <a:ext cx="11091672" cy="2697480"/>
        </p:xfrm>
        <a:graphic>
          <a:graphicData uri="http://schemas.openxmlformats.org/drawingml/2006/table">
            <a:tbl>
              <a:tblPr firstRow="1" bandRow="0">
                <a:tableStyleId>{5C22544A-7EE6-4342-B048-85BDC9FD1C3A}</a:tableStyleId>
              </a:tblPr>
              <a:tblGrid>
                <a:gridCol w="2651760"/>
                <a:gridCol w="3291840"/>
                <a:gridCol w="2377440"/>
                <a:gridCol w="2770632"/>
              </a:tblGrid>
              <a:tr h="320040">
                <a:tc>
                  <a:txBody>
                    <a:bodyPr wrap="square" anchor="ctr">
                      <a:noAutofit/>
                    </a:bodyPr>
                    <a:lstStyle/>
                    <a:p>
                      <a:pPr algn="l"/>
                      <a:r>
                        <a:rPr sz="1500" b="1" i="0">
                          <a:solidFill>
                            <a:srgbClr val="FFFFFF"/>
                          </a:solidFill>
                          <a:latin typeface="Arial"/>
                        </a:rPr>
                        <a:t>Component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Recovery method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Responsible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Customer decision</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Platform resources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Redeploy from IaC</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 with DevOps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RTO per environment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Cosmos DB (agent state)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Continuous or periodic backup</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Backup mode and retention</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Storage account (documents)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Soft delete, versioning, replication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Retention and replication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AI Search index</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Rebuild from source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Data Engineering</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Rebuild time accepted</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Model deployments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Redeploy; capacity may not be available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 with AI</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Second region or not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Gateway configuration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Redeploy policies from repository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 with DevOps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Multi-region or not</a:t>
                      </a:r>
                    </a:p>
                  </a:txBody>
                  <a:tcPr marL="73152" marR="73152" marT="36576" marB="36576" anchor="ctr">
                    <a:solidFill>
                      <a:srgbClr val="F5F5F2"/>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Runbooks, escalation and tower agreements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71600"/>
          <a:ext cx="11091672" cy="2331720"/>
        </p:xfrm>
        <a:graphic>
          <a:graphicData uri="http://schemas.openxmlformats.org/drawingml/2006/table">
            <a:tbl>
              <a:tblPr firstRow="1" bandRow="0">
                <a:tableStyleId>{5C22544A-7EE6-4342-B048-85BDC9FD1C3A}</a:tableStyleId>
              </a:tblPr>
              <a:tblGrid>
                <a:gridCol w="3017520"/>
                <a:gridCol w="8074152"/>
              </a:tblGrid>
              <a:tr h="320040">
                <a:tc>
                  <a:txBody>
                    <a:bodyPr wrap="square" anchor="ctr">
                      <a:noAutofit/>
                    </a:bodyPr>
                    <a:lstStyle/>
                    <a:p>
                      <a:pPr algn="l"/>
                      <a:r>
                        <a:rPr sz="1500" b="1" i="0">
                          <a:solidFill>
                            <a:srgbClr val="FFFFFF"/>
                          </a:solidFill>
                          <a:latin typeface="Arial"/>
                        </a:rPr>
                        <a:t>Agreement field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Content</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Lead and backup</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Named resolver per tower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Hours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Must match or exceed the sold package</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Targets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Internal response aligned to customer objectives</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Escalation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Path and contacts to tower leadership</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Access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Roles and PIM for each resolver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Charging</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Internal charge or attributed revenue, per Finance</a:t>
                      </a:r>
                    </a:p>
                  </a:txBody>
                  <a:tcPr marL="73152" marR="73152" marT="36576" marB="36576" anchor="ctr">
                    <a:solidFill>
                      <a:srgbClr val="F5F5F2"/>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Service hours, on-call and effort allowances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PLANNING ASSUMPTION"/>
          <p:cNvSpPr/>
          <p:nvPr/>
        </p:nvSpPr>
        <p:spPr>
          <a:xfrm>
            <a:off x="1996440" y="274320"/>
            <a:ext cx="19151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PLANNING ASSUMPTION</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9" name="Table"/>
          <p:cNvGraphicFramePr>
            <a:graphicFrameLocks noGrp="1"/>
          </p:cNvGraphicFramePr>
          <p:nvPr/>
        </p:nvGraphicFramePr>
        <p:xfrm>
          <a:off x="548640" y="1371600"/>
          <a:ext cx="11091672" cy="1965960"/>
        </p:xfrm>
        <a:graphic>
          <a:graphicData uri="http://schemas.openxmlformats.org/drawingml/2006/table">
            <a:tbl>
              <a:tblPr firstRow="1" bandRow="0">
                <a:tableStyleId>{5C22544A-7EE6-4342-B048-85BDC9FD1C3A}</a:tableStyleId>
              </a:tblPr>
              <a:tblGrid>
                <a:gridCol w="2103120"/>
                <a:gridCol w="2926080"/>
                <a:gridCol w="3291840"/>
                <a:gridCol w="2770632"/>
              </a:tblGrid>
              <a:tr h="320040">
                <a:tc>
                  <a:txBody>
                    <a:bodyPr wrap="square" anchor="ctr">
                      <a:noAutofit/>
                    </a:bodyPr>
                    <a:lstStyle/>
                    <a:p>
                      <a:pPr algn="l"/>
                      <a:r>
                        <a:rPr sz="15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Coverage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Staffing model (estimate)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Effort allowance</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Foundation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Business hours, one time zone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Shared pool, named lead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Monthly hours band; overage at rate</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Extended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Extended hours, two time zones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Follow-the-sun pool</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Higher band</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Continuous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24x7</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Funded on-call roster, about 5 people per seat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Roster cost plus band</a:t>
                      </a:r>
                    </a:p>
                  </a:txBody>
                  <a:tcPr marL="73152" marR="73152" marT="36576" marB="36576" anchor="ctr">
                    <a:solidFill>
                      <a:srgbClr val="FFFFFF"/>
                    </a:solidFill>
                  </a:tcPr>
                </a:tc>
              </a:tr>
            </a:tbl>
          </a:graphicData>
        </a:graphic>
      </p:graphicFrame>
      <p:sp>
        <p:nvSpPr>
          <p:cNvPr id="10" name="Rounded Rectangle 9"/>
          <p:cNvSpPr/>
          <p:nvPr/>
        </p:nvSpPr>
        <p:spPr>
          <a:xfrm>
            <a:off x="548640" y="338328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About 8,760 hours a year per seat ÷ about 1,700 productive hours per person. Estimate only. FTE and role-day bands: A20.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Proposed service objectives and reporting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PROPOSED, NOT APPROVED"/>
          <p:cNvSpPr/>
          <p:nvPr/>
        </p:nvSpPr>
        <p:spPr>
          <a:xfrm>
            <a:off x="1996440" y="274320"/>
            <a:ext cx="21742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graphicFrame>
        <p:nvGraphicFramePr>
          <p:cNvPr id="9" name="Table"/>
          <p:cNvGraphicFramePr>
            <a:graphicFrameLocks noGrp="1"/>
          </p:cNvGraphicFramePr>
          <p:nvPr/>
        </p:nvGraphicFramePr>
        <p:xfrm>
          <a:off x="548640" y="1371600"/>
          <a:ext cx="11091672" cy="2240280"/>
        </p:xfrm>
        <a:graphic>
          <a:graphicData uri="http://schemas.openxmlformats.org/drawingml/2006/table">
            <a:tbl>
              <a:tblPr firstRow="1" bandRow="0">
                <a:tableStyleId>{5C22544A-7EE6-4342-B048-85BDC9FD1C3A}</a:tableStyleId>
              </a:tblPr>
              <a:tblGrid>
                <a:gridCol w="3017520"/>
                <a:gridCol w="5486400"/>
                <a:gridCol w="2587752"/>
              </a:tblGrid>
              <a:tr h="320040">
                <a:tc>
                  <a:txBody>
                    <a:bodyPr wrap="square" anchor="ctr">
                      <a:noAutofit/>
                    </a:bodyPr>
                    <a:lstStyle/>
                    <a:p>
                      <a:pPr algn="l"/>
                      <a:r>
                        <a:rPr sz="1500" b="1" i="0">
                          <a:solidFill>
                            <a:srgbClr val="FFFFFF"/>
                          </a:solidFill>
                          <a:latin typeface="Arial"/>
                        </a:rPr>
                        <a:t>Objective (proposed)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Definition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Reported</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Response within target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priority, inside coverage hours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Monthly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Change success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Changes without rollback or incident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Monthly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Alert ownership</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Alerts with owner and runbook</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Monthly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Drill completion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Containment and restore drills run and passed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Quarterly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Platform availability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Where meaningful, for contracted components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Monthly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Cost visibility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Spend attributed to an owner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Monthly</a:t>
                      </a:r>
                    </a:p>
                  </a:txBody>
                  <a:tcPr marL="73152" marR="73152" marT="36576" marB="36576" anchor="ctr">
                    <a:solidFill>
                      <a:srgbClr val="F5F5F2"/>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Monthly governance and optimisation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sp>
        <p:nvSpPr>
          <p:cNvPr id="8" name="Rounded Rectangle 7"/>
          <p:cNvSpPr/>
          <p:nvPr/>
        </p:nvSpPr>
        <p:spPr>
          <a:xfrm>
            <a:off x="548640" y="1371600"/>
            <a:ext cx="5468112"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2000" b="1" i="0">
                <a:solidFill>
                  <a:srgbClr val="000048"/>
                </a:solidFill>
                <a:latin typeface="Arial"/>
              </a:rPr>
              <a:t>Service</a:t>
            </a:r>
          </a:p>
          <a:p>
            <a:pPr algn="l"/>
            <a:r>
              <a:rPr sz="1700" b="0" i="0">
                <a:solidFill>
                  <a:srgbClr val="1E1E2E"/>
                </a:solidFill>
                <a:latin typeface="Arial"/>
              </a:rPr>
              <a:t>Objectives, incidents, problems, changes</a:t>
            </a:r>
          </a:p>
        </p:txBody>
      </p:sp>
      <p:sp>
        <p:nvSpPr>
          <p:cNvPr id="9" name="Rounded Rectangle 8"/>
          <p:cNvSpPr/>
          <p:nvPr/>
        </p:nvSpPr>
        <p:spPr>
          <a:xfrm>
            <a:off x="6172200" y="1371600"/>
            <a:ext cx="5468112"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2000" b="1" i="0">
                <a:solidFill>
                  <a:srgbClr val="000048"/>
                </a:solidFill>
                <a:latin typeface="Arial"/>
              </a:rPr>
              <a:t>Agents</a:t>
            </a:r>
          </a:p>
          <a:p>
            <a:pPr algn="l"/>
            <a:r>
              <a:rPr sz="1700" b="0" i="0">
                <a:solidFill>
                  <a:srgbClr val="1E1E2E"/>
                </a:solidFill>
                <a:latin typeface="Arial"/>
              </a:rPr>
              <a:t>Catalogue changes, dormant reviews, drills</a:t>
            </a:r>
          </a:p>
        </p:txBody>
      </p:sp>
      <p:sp>
        <p:nvSpPr>
          <p:cNvPr id="10" name="Rounded Rectangle 9"/>
          <p:cNvSpPr/>
          <p:nvPr/>
        </p:nvSpPr>
        <p:spPr>
          <a:xfrm>
            <a:off x="548640" y="3200400"/>
            <a:ext cx="5468112"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2000" b="1" i="0">
                <a:solidFill>
                  <a:srgbClr val="000048"/>
                </a:solidFill>
                <a:latin typeface="Arial"/>
              </a:rPr>
              <a:t>Capacity</a:t>
            </a:r>
          </a:p>
          <a:p>
            <a:pPr algn="l"/>
            <a:r>
              <a:rPr sz="1700" b="0" i="0">
                <a:solidFill>
                  <a:srgbClr val="1E1E2E"/>
                </a:solidFill>
                <a:latin typeface="Arial"/>
              </a:rPr>
              <a:t>Utilisation, throttling, quota, lifecycle</a:t>
            </a:r>
          </a:p>
        </p:txBody>
      </p:sp>
      <p:sp>
        <p:nvSpPr>
          <p:cNvPr id="11" name="Rounded Rectangle 10"/>
          <p:cNvSpPr/>
          <p:nvPr/>
        </p:nvSpPr>
        <p:spPr>
          <a:xfrm>
            <a:off x="6172200" y="3200400"/>
            <a:ext cx="5468112"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2000" b="1" i="0">
                <a:solidFill>
                  <a:srgbClr val="000048"/>
                </a:solidFill>
                <a:latin typeface="Arial"/>
              </a:rPr>
              <a:t>Cost</a:t>
            </a:r>
          </a:p>
          <a:p>
            <a:pPr algn="l"/>
            <a:r>
              <a:rPr sz="1700" b="0" i="0">
                <a:solidFill>
                  <a:srgbClr val="1E1E2E"/>
                </a:solidFill>
                <a:latin typeface="Arial"/>
              </a:rPr>
              <a:t>Spend versus budget, unit cost, actions</a:t>
            </a:r>
          </a:p>
        </p:txBody>
      </p:sp>
      <p:sp>
        <p:nvSpPr>
          <p:cNvPr id="12" name="Rounded Rectangle 11"/>
          <p:cNvSpPr/>
          <p:nvPr/>
        </p:nvSpPr>
        <p:spPr>
          <a:xfrm>
            <a:off x="548640" y="5212080"/>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Each action has an owner and a date, tracked to closure.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Pricing logic for the recurring service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Status chip: FORMULA, NO RATES"/>
          <p:cNvSpPr/>
          <p:nvPr/>
        </p:nvSpPr>
        <p:spPr>
          <a:xfrm>
            <a:off x="199644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FORMULA, NO RATES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sp>
        <p:nvSpPr>
          <p:cNvPr id="9" name="TextBox 8"/>
          <p:cNvSpPr txBox="1"/>
          <p:nvPr/>
        </p:nvSpPr>
        <p:spPr>
          <a:xfrm>
            <a:off x="548640" y="1371600"/>
            <a:ext cx="11064240" cy="822960"/>
          </a:xfrm>
          <a:prstGeom prst="rect">
            <a:avLst/>
          </a:prstGeom>
          <a:noFill/>
        </p:spPr>
        <p:txBody>
          <a:bodyPr wrap="square" lIns="0" rIns="0" tIns="0" bIns="0" anchor="t">
            <a:noAutofit/>
          </a:bodyPr>
          <a:lstStyle/>
          <a:p>
            <a:pPr algn="l">
              <a:spcAft>
                <a:spcPts val="400"/>
              </a:spcAft>
            </a:pPr>
            <a:r>
              <a:rPr sz="1800" b="1" i="0">
                <a:solidFill>
                  <a:srgbClr val="000048"/>
                </a:solidFill>
                <a:latin typeface="Arial"/>
              </a:rPr>
              <a:t>Monthly fee</a:t>
            </a:r>
            <a:r>
              <a:rPr sz="1800" b="0" i="0">
                <a:solidFill>
                  <a:srgbClr val="1E1E2E"/>
                </a:solidFill>
                <a:latin typeface="Arial"/>
              </a:rPr>
              <a:t> = base service fee + Σ (asset units x unit rate) + coverage uplift + specialist allowance</a:t>
            </a:r>
          </a:p>
          <a:p>
            <a:pPr algn="l"/>
            <a:r>
              <a:rPr sz="1800" b="1" i="0">
                <a:solidFill>
                  <a:srgbClr val="000048"/>
                </a:solidFill>
                <a:latin typeface="Arial"/>
              </a:rPr>
              <a:t>One-time</a:t>
            </a:r>
            <a:r>
              <a:rPr sz="1800" b="0" i="0">
                <a:solidFill>
                  <a:srgbClr val="1E1E2E"/>
                </a:solidFill>
                <a:latin typeface="Arial"/>
              </a:rPr>
              <a:t> = onboarding (gates in A1) + remediation work packages, if any</a:t>
            </a:r>
          </a:p>
        </p:txBody>
      </p:sp>
      <p:graphicFrame>
        <p:nvGraphicFramePr>
          <p:cNvPr id="10" name="Table"/>
          <p:cNvGraphicFramePr>
            <a:graphicFrameLocks noGrp="1"/>
          </p:cNvGraphicFramePr>
          <p:nvPr/>
        </p:nvGraphicFramePr>
        <p:xfrm>
          <a:off x="548640" y="2377440"/>
          <a:ext cx="11091672" cy="2148840"/>
        </p:xfrm>
        <a:graphic>
          <a:graphicData uri="http://schemas.openxmlformats.org/drawingml/2006/table">
            <a:tbl>
              <a:tblPr firstRow="1" bandRow="0">
                <a:tableStyleId>{5C22544A-7EE6-4342-B048-85BDC9FD1C3A}</a:tableStyleId>
              </a:tblPr>
              <a:tblGrid>
                <a:gridCol w="2743200"/>
                <a:gridCol w="4937760"/>
                <a:gridCol w="3410712"/>
              </a:tblGrid>
              <a:tr h="320040">
                <a:tc>
                  <a:txBody>
                    <a:bodyPr wrap="square" anchor="ctr">
                      <a:noAutofit/>
                    </a:bodyPr>
                    <a:lstStyle/>
                    <a:p>
                      <a:pPr algn="l"/>
                      <a:r>
                        <a:rPr sz="15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Driver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Missing input (owner)</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Base service fee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Governance, reporting, service management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Base rate (Finance)</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Asset units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Environments, AI resources, gateway APIs, agent bands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Unit rates (Finance)</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Coverage uplift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Extended or continuous hours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Roster cost (delivery leadership)</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Specialist allowance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Tower hours inside the service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Tower agreements (tower leads)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Overage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Hours or assets above band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Overage rate (Finance)</a:t>
                      </a:r>
                    </a:p>
                  </a:txBody>
                  <a:tcPr marL="73152" marR="73152" marT="36576" marB="36576" anchor="ctr">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ITSM and AIOps integration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9" name="Table"/>
          <p:cNvGraphicFramePr>
            <a:graphicFrameLocks noGrp="1"/>
          </p:cNvGraphicFramePr>
          <p:nvPr/>
        </p:nvGraphicFramePr>
        <p:xfrm>
          <a:off x="548640" y="1371600"/>
          <a:ext cx="11091671" cy="2270760"/>
        </p:xfrm>
        <a:graphic>
          <a:graphicData uri="http://schemas.openxmlformats.org/drawingml/2006/table">
            <a:tbl>
              <a:tblPr firstRow="1" bandRow="0">
                <a:tableStyleId>{5C22544A-7EE6-4342-B048-85BDC9FD1C3A}</a:tableStyleId>
              </a:tblPr>
              <a:tblGrid>
                <a:gridCol w="2926080"/>
                <a:gridCol w="3566160"/>
                <a:gridCol w="2011680"/>
                <a:gridCol w="2587751"/>
              </a:tblGrid>
              <a:tr h="304800">
                <a:tc>
                  <a:txBody>
                    <a:bodyPr wrap="square" anchor="ctr">
                      <a:noAutofit/>
                    </a:bodyPr>
                    <a:lstStyle/>
                    <a:p>
                      <a:pPr algn="l"/>
                      <a:r>
                        <a:rPr sz="1400" b="1" i="0">
                          <a:solidFill>
                            <a:srgbClr val="FFFFFF"/>
                          </a:solidFill>
                          <a:latin typeface="Arial"/>
                        </a:rPr>
                        <a:t>Customer tool</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Integration path</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Status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Notes</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ServiceNow ITOM</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Secure Webhook action group (Secure Export)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Supported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Entra app registration needed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BMC Helix</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Secure Webhook action group (Secure Export)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Supported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Same pattern</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ServiceNow ITSM (legacy connector)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ITSM action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Being deprecated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Do not use for new work</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Other ITSM tools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Generic webhook or Logic Apps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Customer build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Scope per customer</a:t>
                      </a:r>
                    </a:p>
                  </a:txBody>
                  <a:tcPr marL="73152" marR="73152" marT="36576" marB="36576" anchor="ctr">
                    <a:solidFill>
                      <a:srgbClr val="F5F5F2"/>
                    </a:solidFill>
                  </a:tcPr>
                </a:tc>
              </a:tr>
            </a:tbl>
          </a:graphicData>
        </a:graphic>
      </p:graphicFrame>
      <p:sp>
        <p:nvSpPr>
          <p:cNvPr id="10" name="Rounded Rectangle 9"/>
          <p:cNvSpPr/>
          <p:nvPr/>
        </p:nvSpPr>
        <p:spPr>
          <a:xfrm>
            <a:off x="548640" y="3840480"/>
            <a:ext cx="3593592"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800" b="1" i="0">
                <a:solidFill>
                  <a:srgbClr val="000048"/>
                </a:solidFill>
                <a:latin typeface="Arial"/>
              </a:rPr>
              <a:t>Correlate</a:t>
            </a:r>
          </a:p>
          <a:p>
            <a:pPr algn="l"/>
            <a:r>
              <a:rPr sz="1500" b="0" i="0">
                <a:solidFill>
                  <a:srgbClr val="1E1E2E"/>
                </a:solidFill>
                <a:latin typeface="Arial"/>
              </a:rPr>
              <a:t>Alert processing rules group related alerts</a:t>
            </a:r>
          </a:p>
        </p:txBody>
      </p:sp>
      <p:sp>
        <p:nvSpPr>
          <p:cNvPr id="11" name="Rounded Rectangle 10"/>
          <p:cNvSpPr/>
          <p:nvPr/>
        </p:nvSpPr>
        <p:spPr>
          <a:xfrm>
            <a:off x="4297679" y="3840480"/>
            <a:ext cx="3593592"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800" b="1" i="0">
                <a:solidFill>
                  <a:srgbClr val="000048"/>
                </a:solidFill>
                <a:latin typeface="Arial"/>
              </a:rPr>
              <a:t>Reduce noise</a:t>
            </a:r>
          </a:p>
          <a:p>
            <a:pPr algn="l"/>
            <a:r>
              <a:rPr sz="1500" b="0" i="0">
                <a:solidFill>
                  <a:srgbClr val="1E1E2E"/>
                </a:solidFill>
                <a:latin typeface="Arial"/>
              </a:rPr>
              <a:t>Dynamic thresholds; every alert has an owner</a:t>
            </a:r>
          </a:p>
        </p:txBody>
      </p:sp>
      <p:sp>
        <p:nvSpPr>
          <p:cNvPr id="12" name="Rounded Rectangle 11"/>
          <p:cNvSpPr/>
          <p:nvPr/>
        </p:nvSpPr>
        <p:spPr>
          <a:xfrm>
            <a:off x="8046719" y="3840480"/>
            <a:ext cx="3593592"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800" b="1" i="0">
                <a:solidFill>
                  <a:srgbClr val="000048"/>
                </a:solidFill>
                <a:latin typeface="Arial"/>
              </a:rPr>
              <a:t>Automate</a:t>
            </a:r>
          </a:p>
          <a:p>
            <a:pPr algn="l"/>
            <a:r>
              <a:rPr sz="1500" b="0" i="0">
                <a:solidFill>
                  <a:srgbClr val="1E1E2E"/>
                </a:solidFill>
                <a:latin typeface="Arial"/>
              </a:rPr>
              <a:t>Runbooks via Azure Automation or Logic Apps</a:t>
            </a:r>
          </a:p>
        </p:txBody>
      </p:sp>
      <p:sp>
        <p:nvSpPr>
          <p:cNvPr id="13" name="Rounded Rectangle 12"/>
          <p:cNvSpPr/>
          <p:nvPr/>
        </p:nvSpPr>
        <p:spPr>
          <a:xfrm>
            <a:off x="548640" y="548640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AIOps here means native correlation and automation. Third-party AIOps tools are the customer choice.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Operating Agent 365 and Copilot Studio agents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Status chip: PROPOSED CATALOGUE"/>
          <p:cNvSpPr/>
          <p:nvPr/>
        </p:nvSpPr>
        <p:spPr>
          <a:xfrm>
            <a:off x="199644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CATALOGUE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9" name="Table"/>
          <p:cNvGraphicFramePr>
            <a:graphicFrameLocks noGrp="1"/>
          </p:cNvGraphicFramePr>
          <p:nvPr/>
        </p:nvGraphicFramePr>
        <p:xfrm>
          <a:off x="548640" y="1371600"/>
          <a:ext cx="11091672" cy="2773680"/>
        </p:xfrm>
        <a:graphic>
          <a:graphicData uri="http://schemas.openxmlformats.org/drawingml/2006/table">
            <a:tbl>
              <a:tblPr firstRow="1" bandRow="0">
                <a:tableStyleId>{5C22544A-7EE6-4342-B048-85BDC9FD1C3A}</a:tableStyleId>
              </a:tblPr>
              <a:tblGrid>
                <a:gridCol w="3108960"/>
                <a:gridCol w="1463040"/>
                <a:gridCol w="3657600"/>
                <a:gridCol w="2862072"/>
              </a:tblGrid>
              <a:tr h="304800">
                <a:tc>
                  <a:txBody>
                    <a:bodyPr wrap="square" anchor="ctr">
                      <a:noAutofit/>
                    </a:bodyPr>
                    <a:lstStyle/>
                    <a:p>
                      <a:pPr algn="l"/>
                      <a:r>
                        <a:rPr sz="1400" b="1" i="0">
                          <a:solidFill>
                            <a:srgbClr val="FFFFFF"/>
                          </a:solidFill>
                          <a:latin typeface="Arial"/>
                        </a:rPr>
                        <a:t>Catalogue item</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Frequency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CIS Infra does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Others do</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Agent registry upkeep (Agent 365)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Weekly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Reconcile registry with catalogue; flag unowned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Agent owners confirm</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Dormant and orphaned agent review</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Monthly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Prepare list and evidence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Owners keep or retire</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Agent identity hygiene (Entra)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Monthly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Report stale identities and access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Security approves changes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Copilot Studio connectors via gateway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On change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APIs, limits, logging</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Power Platform team admin</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Containment drill</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Quarterly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Run drill on platform layers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Security directs; AI verifies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Model retirement watch</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Monthly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List affected deployments, plan migration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AI tower re-evaluates</a:t>
                      </a:r>
                    </a:p>
                  </a:txBody>
                  <a:tcPr marL="73152" marR="73152" marT="36576" marB="36576" anchor="ctr">
                    <a:solidFill>
                      <a:srgbClr val="F5F5F2"/>
                    </a:solidFill>
                  </a:tcPr>
                </a:tc>
              </a:tr>
            </a:tbl>
          </a:graphicData>
        </a:graphic>
      </p:graphicFrame>
      <p:sp>
        <p:nvSpPr>
          <p:cNvPr id="10" name="Rounded Rectangle 9"/>
          <p:cNvSpPr/>
          <p:nvPr/>
        </p:nvSpPr>
        <p:spPr>
          <a:xfrm>
            <a:off x="548640" y="54864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Microsoft 365 Copilot is owned by the Cognizant M365 and D365 teams and is outside this service.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Exit and transition: the way out is planned on day one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A19</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sp>
        <p:nvSpPr>
          <p:cNvPr id="9" name="Rounded Rectangle 8"/>
          <p:cNvSpPr/>
          <p:nvPr/>
        </p:nvSpPr>
        <p:spPr>
          <a:xfrm>
            <a:off x="54864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1  Notice</a:t>
            </a:r>
          </a:p>
        </p:txBody>
      </p:sp>
      <p:sp>
        <p:nvSpPr>
          <p:cNvPr id="10" name="Rounded Rectangle 9"/>
          <p:cNvSpPr/>
          <p:nvPr/>
        </p:nvSpPr>
        <p:spPr>
          <a:xfrm>
            <a:off x="54864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Exit plan activated; owners named</a:t>
            </a:r>
          </a:p>
        </p:txBody>
      </p:sp>
      <p:cxnSp>
        <p:nvCxnSpPr>
          <p:cNvPr id="11" name="Connector (flow)"/>
          <p:cNvCxnSpPr/>
          <p:nvPr/>
        </p:nvCxnSpPr>
        <p:spPr>
          <a:xfrm>
            <a:off x="265176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8892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2  Inventory</a:t>
            </a:r>
          </a:p>
        </p:txBody>
      </p:sp>
      <p:sp>
        <p:nvSpPr>
          <p:cNvPr id="13" name="Rounded Rectangle 12"/>
          <p:cNvSpPr/>
          <p:nvPr/>
        </p:nvSpPr>
        <p:spPr>
          <a:xfrm>
            <a:off x="278892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Assets, agents, alerts, runbooks confirmed</a:t>
            </a:r>
          </a:p>
        </p:txBody>
      </p:sp>
      <p:cxnSp>
        <p:nvCxnSpPr>
          <p:cNvPr id="14" name="Connector (flow)"/>
          <p:cNvCxnSpPr/>
          <p:nvPr/>
        </p:nvCxnSpPr>
        <p:spPr>
          <a:xfrm>
            <a:off x="489204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2920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3  Knowledge transfer</a:t>
            </a:r>
          </a:p>
        </p:txBody>
      </p:sp>
      <p:sp>
        <p:nvSpPr>
          <p:cNvPr id="16" name="Rounded Rectangle 15"/>
          <p:cNvSpPr/>
          <p:nvPr/>
        </p:nvSpPr>
        <p:spPr>
          <a:xfrm>
            <a:off x="502920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Shadow, then reverse shadow</a:t>
            </a:r>
          </a:p>
        </p:txBody>
      </p:sp>
      <p:cxnSp>
        <p:nvCxnSpPr>
          <p:cNvPr id="17" name="Connector (flow)"/>
          <p:cNvCxnSpPr/>
          <p:nvPr/>
        </p:nvCxnSpPr>
        <p:spPr>
          <a:xfrm>
            <a:off x="713232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26948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4  Access handover</a:t>
            </a:r>
          </a:p>
        </p:txBody>
      </p:sp>
      <p:sp>
        <p:nvSpPr>
          <p:cNvPr id="19" name="Rounded Rectangle 18"/>
          <p:cNvSpPr/>
          <p:nvPr/>
        </p:nvSpPr>
        <p:spPr>
          <a:xfrm>
            <a:off x="726948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Roles removed; break-glass rotated</a:t>
            </a:r>
          </a:p>
        </p:txBody>
      </p:sp>
      <p:cxnSp>
        <p:nvCxnSpPr>
          <p:cNvPr id="20" name="Connector (flow)"/>
          <p:cNvCxnSpPr/>
          <p:nvPr/>
        </p:nvCxnSpPr>
        <p:spPr>
          <a:xfrm>
            <a:off x="937260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0976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5  Closure</a:t>
            </a:r>
          </a:p>
        </p:txBody>
      </p:sp>
      <p:sp>
        <p:nvSpPr>
          <p:cNvPr id="22" name="Rounded Rectangle 21"/>
          <p:cNvSpPr/>
          <p:nvPr/>
        </p:nvSpPr>
        <p:spPr>
          <a:xfrm>
            <a:off x="950976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Final report; open items handed over</a:t>
            </a:r>
          </a:p>
        </p:txBody>
      </p:sp>
      <p:sp>
        <p:nvSpPr>
          <p:cNvPr id="23" name="Rounded Rectangle 22"/>
          <p:cNvSpPr/>
          <p:nvPr/>
        </p:nvSpPr>
        <p:spPr>
          <a:xfrm>
            <a:off x="548640" y="3886200"/>
            <a:ext cx="11091672" cy="1097280"/>
          </a:xfrm>
          <a:prstGeom prst="roundRect">
            <a:avLst>
              <a:gd name="adj" fmla="val 6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700" b="1" i="0">
                <a:solidFill>
                  <a:srgbClr val="000048"/>
                </a:solidFill>
                <a:latin typeface="Arial"/>
              </a:rPr>
              <a:t>Customer keeps: </a:t>
            </a:r>
            <a:r>
              <a:rPr sz="1700" b="0" i="0">
                <a:solidFill>
                  <a:srgbClr val="1E1E2E"/>
                </a:solidFill>
                <a:latin typeface="Arial"/>
              </a:rPr>
              <a:t>runbooks, infrastructure as code, alert rules, dashboards, catalogue data and reports, all in customer tenants and repositories.</a:t>
            </a:r>
          </a:p>
        </p:txBody>
      </p:sp>
      <p:sp>
        <p:nvSpPr>
          <p:cNvPr id="24" name="Rounded Rectangle 23"/>
          <p:cNvSpPr/>
          <p:nvPr/>
        </p:nvSpPr>
        <p:spPr>
          <a:xfrm>
            <a:off x="548640" y="525780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Exit package: 15 to 30 role days over 4 to 6 weeks (estimate). Refresh the plan every year.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Staffing behind each package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A20</a:t>
            </a:r>
          </a:p>
        </p:txBody>
      </p:sp>
      <p:sp>
        <p:nvSpPr>
          <p:cNvPr id="5" name="Status chip: PLANNING ASSUMPTION"/>
          <p:cNvSpPr/>
          <p:nvPr/>
        </p:nvSpPr>
        <p:spPr>
          <a:xfrm>
            <a:off x="1996440" y="274320"/>
            <a:ext cx="19151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PLANNING ASSUMPTION</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graphicFrame>
        <p:nvGraphicFramePr>
          <p:cNvPr id="9" name="Table"/>
          <p:cNvGraphicFramePr>
            <a:graphicFrameLocks noGrp="1"/>
          </p:cNvGraphicFramePr>
          <p:nvPr/>
        </p:nvGraphicFramePr>
        <p:xfrm>
          <a:off x="548640" y="1371600"/>
          <a:ext cx="11091672" cy="2392680"/>
        </p:xfrm>
        <a:graphic>
          <a:graphicData uri="http://schemas.openxmlformats.org/drawingml/2006/table">
            <a:tbl>
              <a:tblPr firstRow="1" bandRow="0">
                <a:tableStyleId>{5C22544A-7EE6-4342-B048-85BDC9FD1C3A}</a:tableStyleId>
              </a:tblPr>
              <a:tblGrid>
                <a:gridCol w="2377440"/>
                <a:gridCol w="1828800"/>
                <a:gridCol w="2286000"/>
                <a:gridCol w="4599432"/>
              </a:tblGrid>
              <a:tr h="320040">
                <a:tc>
                  <a:txBody>
                    <a:bodyPr wrap="square" anchor="ctr">
                      <a:noAutofit/>
                    </a:bodyPr>
                    <a:lstStyle/>
                    <a:p>
                      <a:pPr algn="l"/>
                      <a:r>
                        <a:rPr sz="15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FTE (estimate)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Role days per month</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Indicative role mix</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Foundation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1.5 to 3</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30 to 60</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Service lead (part), platform engineers, shared on-call</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Extended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3 to 5</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60 to 100</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Service lead, engineers in two time zones</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Continuous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6 to 10</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120 to 200</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About 5 people per 24x7 seat, plus lead and engineers</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Specialist allowance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Per agreement</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Per agreement</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AI, Data Eng., Security hours inside the fee</a:t>
                      </a:r>
                    </a:p>
                  </a:txBody>
                  <a:tcPr marL="73152" marR="73152" marT="36576" marB="36576" anchor="ctr">
                    <a:solidFill>
                      <a:srgbClr val="F5F5F2"/>
                    </a:solidFill>
                  </a:tcPr>
                </a:tc>
              </a:tr>
            </a:tbl>
          </a:graphicData>
        </a:graphic>
      </p:graphicFrame>
      <p:sp>
        <p:nvSpPr>
          <p:cNvPr id="10" name="Rounded Rectangle 9"/>
          <p:cNvSpPr/>
          <p:nvPr/>
        </p:nvSpPr>
        <p:spPr>
          <a:xfrm>
            <a:off x="548640" y="420624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About 20 role days per FTE per month. Illustrative $1,000 per role day, not a Cognizant rate.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graphicFrame>
        <p:nvGraphicFramePr>
          <p:cNvPr id="9" name="Table"/>
          <p:cNvGraphicFramePr>
            <a:graphicFrameLocks noGrp="1"/>
          </p:cNvGraphicFramePr>
          <p:nvPr/>
        </p:nvGraphicFramePr>
        <p:xfrm>
          <a:off x="548640" y="1325880"/>
          <a:ext cx="6035039" cy="291084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Platform accepted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Offering 01 gates or equivalent</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Coverage need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Hours and containment expectation</a:t>
                      </a:r>
                    </a:p>
                  </a:txBody>
                  <a:tcPr marL="73152" marR="73152" marT="36576" marB="36576" anchor="ctr">
                    <a:solidFill>
                      <a:srgbClr val="FFFFFF"/>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0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39496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12+ with no zero on funding, authority or sponsor. Otherwise sell the assessment.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graphicFrame>
        <p:nvGraphicFramePr>
          <p:cNvPr id="9" name="Table"/>
          <p:cNvGraphicFramePr>
            <a:graphicFrameLocks noGrp="1"/>
          </p:cNvGraphicFramePr>
          <p:nvPr/>
        </p:nvGraphicFramePr>
        <p:xfrm>
          <a:off x="548640" y="1325880"/>
          <a:ext cx="11091672" cy="173736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Foundation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One environment, ten agents, one region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Three environments, fifty agents, two regions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Extended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Two time zones, change windows standard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Strict change windows, several runtimes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Continuous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One 24x7 seat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Two seats plus specialist escalation</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Onboarding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Platform built by offering 01</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Inherited platform with gaps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Exit and transition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Customer team ready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New provider, full shadow period</a:t>
                      </a:r>
                    </a:p>
                  </a:txBody>
                  <a:tcPr marL="73152" marR="73152" marT="36576" marB="36576" anchor="ctr">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graphicFrame>
        <p:nvGraphicFramePr>
          <p:cNvPr id="9" name="Table"/>
          <p:cNvGraphicFramePr>
            <a:graphicFrameLocks noGrp="1"/>
          </p:cNvGraphicFramePr>
          <p:nvPr/>
        </p:nvGraphicFramePr>
        <p:xfrm>
          <a:off x="548640" y="1325880"/>
          <a:ext cx="11091672" cy="252984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Privileged misuse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Operator changes production unsafely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PIM, just-in-time access, change approval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Customer with 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Rogue agent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acts outside scope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Containment runbook, quarterly drills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 directs, CIS Infra executes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Alert blind spot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Attack signal ignored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Defender alerts routed to security resolver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Stale identities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Unused agent identities keep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Monthly identity hygiene review</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 with CIS Infra</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Model retirement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Unsupported model in production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Monthly retirement watch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AI tower</a:t>
                      </a:r>
                    </a:p>
                  </a:txBody>
                  <a:tcPr marL="73152" marR="73152" marT="36576" marB="36576" anchor="ctr">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Security services and regulatory checkpoints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graphicFrame>
        <p:nvGraphicFramePr>
          <p:cNvPr id="10" name="Table"/>
          <p:cNvGraphicFramePr>
            <a:graphicFrameLocks noGrp="1"/>
          </p:cNvGraphicFramePr>
          <p:nvPr/>
        </p:nvGraphicFramePr>
        <p:xfrm>
          <a:off x="548640" y="1325880"/>
          <a:ext cx="11091672" cy="2743200"/>
        </p:xfrm>
        <a:graphic>
          <a:graphicData uri="http://schemas.openxmlformats.org/drawingml/2006/table">
            <a:tbl>
              <a:tblPr firstRow="1" bandRow="0">
                <a:tableStyleId>{5C22544A-7EE6-4342-B048-85BDC9FD1C3A}</a:tableStyleId>
              </a:tblPr>
              <a:tblGrid>
                <a:gridCol w="2926080"/>
                <a:gridCol w="4023360"/>
                <a:gridCol w="2103120"/>
                <a:gridCol w="2039112"/>
              </a:tblGrid>
              <a:tr h="457200">
                <a:tc>
                  <a:txBody>
                    <a:bodyPr wrap="square" anchor="ctr">
                      <a:noAutofit/>
                    </a:bodyPr>
                    <a:lstStyle/>
                    <a:p>
                      <a:pPr algn="l"/>
                      <a:r>
                        <a:rPr sz="1200" b="1" i="0">
                          <a:solidFill>
                            <a:srgbClr val="FFFFFF"/>
                          </a:solidFill>
                          <a:latin typeface="Arial"/>
                        </a:rPr>
                        <a:t>Service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Role in AI security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Defender for Cloud AI threat protection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Alerts on jailbreak, data leakage, credential theft for Foundry and Azure OpenAI models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text tokens only</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Purview DSPM (and DSPM for 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 security posture for Copilot, Copilot Studio, Foundry and third-party AI apps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with Data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Mixed current and preview</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Microsoft Sentinel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SIEM correlation of AI, identity and gateway signals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(not re-verified)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Entra Agent ID and Conditional Access for agents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 identities; block or restrict agent sign-ins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designs, CIS Infra implements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Partly preview; needs Agent 365 licence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Content Safety and Prompt Shields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Prompt-attack and harm filtering at gateway or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 configures, Security sets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(via APIM policy)</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4206240"/>
          <a:ext cx="11091672" cy="1554480"/>
        </p:xfrm>
        <a:graphic>
          <a:graphicData uri="http://schemas.openxmlformats.org/drawingml/2006/table">
            <a:tbl>
              <a:tblPr firstRow="1" bandRow="0">
                <a:tableStyleId>{5C22544A-7EE6-4342-B048-85BDC9FD1C3A}</a:tableStyleId>
              </a:tblPr>
              <a:tblGrid>
                <a:gridCol w="2194560"/>
                <a:gridCol w="5486400"/>
                <a:gridCol w="3410712"/>
              </a:tblGrid>
              <a:tr h="274320">
                <a:tc>
                  <a:txBody>
                    <a:bodyPr wrap="square" anchor="ctr">
                      <a:noAutofit/>
                    </a:bodyPr>
                    <a:lstStyle/>
                    <a:p>
                      <a:pPr algn="l"/>
                      <a:r>
                        <a:rPr sz="1200" b="1" i="0">
                          <a:solidFill>
                            <a:srgbClr val="FFFFFF"/>
                          </a:solidFill>
                          <a:latin typeface="Arial"/>
                        </a:rPr>
                        <a:t>Jurisdiction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to verify</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Act: Annex III high-risk from 2 Dec 2027; Annex I from 2 Aug 2028; GDPR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Orrick summary of Reg. (EU) 2026/1744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Principles-based regulator guidance;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Verify current government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 and Saudi Arabia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laws; data residency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Verify sector rules and residency</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Any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ISO/IEC 42001 AI management system (optional)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decision</a:t>
                      </a:r>
                    </a:p>
                  </a:txBody>
                  <a:tcPr marL="73152" marR="73152" marT="36576" marB="36576" anchor="ctr">
                    <a:solidFill>
                      <a:srgbClr val="F5F5F2"/>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graphicFrame>
        <p:nvGraphicFramePr>
          <p:cNvPr id="9" name="Table"/>
          <p:cNvGraphicFramePr>
            <a:graphicFrameLocks noGrp="1"/>
          </p:cNvGraphicFramePr>
          <p:nvPr/>
        </p:nvGraphicFramePr>
        <p:xfrm>
          <a:off x="548640" y="1325880"/>
          <a:ext cx="5468112" cy="419100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Agent-to-agent protocol for agents calling other agents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registry for APIs and MCP servers; decides which tools exist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Azure API Management; the gateway that controls traffic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Model processing inside a Microsoft data zone (US, EU or APAC)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FOCUS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FinOps Open Cost and Usage Specification for cost data exports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Foundry: Azure platform for models and agents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2" cy="359664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Context Protocol: standard way for agents to call tools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Pay as you go: pay per token used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PIM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Privileged Identity Management: just-in-time admin access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PTU</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Provisioned throughput unit: reserved model capacity, billed per hour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RACI</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Responsible, Accountable, Consulted, Informed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Recovery time objective / recovery point objective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Tokens per minute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Unit of text a model reads or writes; the main pricing unit</a:t>
                      </a:r>
                    </a:p>
                  </a:txBody>
                  <a:tcPr marL="73152" marR="73152" marT="36576" marB="36576" anchor="ctr">
                    <a:solidFill>
                      <a:srgbClr val="F5F5F2"/>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graphicFrame>
        <p:nvGraphicFramePr>
          <p:cNvPr id="9" name="Table"/>
          <p:cNvGraphicFramePr>
            <a:graphicFrameLocks noGrp="1"/>
          </p:cNvGraphicFramePr>
          <p:nvPr/>
        </p:nvGraphicFramePr>
        <p:xfrm>
          <a:off x="548640" y="1325880"/>
          <a:ext cx="11091672" cy="228600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Onboarding and remediation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role days x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Data Eng., Security support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Internal agreement or work package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agreements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This offering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Formula in A16</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unit and uplift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Monitoring, logs, backup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Meters x quantity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 prices (customer)</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workloads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or PTU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 to the service fee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if self-hosted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VM hours plus operations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Separate scope if selected</a:t>
                      </a:r>
                    </a:p>
                  </a:txBody>
                  <a:tcPr marL="73152" marR="73152" marT="36576" marB="36576" anchor="ctr">
                    <a:solidFill>
                      <a:srgbClr val="F5F5F2"/>
                    </a:solidFill>
                  </a:tcPr>
                </a:tc>
              </a:tr>
            </a:tbl>
          </a:graphicData>
        </a:graphic>
      </p:graphicFrame>
      <p:sp>
        <p:nvSpPr>
          <p:cNvPr id="10" name="Rounded Rectangle 9"/>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graphicFrame>
        <p:nvGraphicFramePr>
          <p:cNvPr id="9" name="Table"/>
          <p:cNvGraphicFramePr>
            <a:graphicFrameLocks noGrp="1"/>
          </p:cNvGraphicFramePr>
          <p:nvPr/>
        </p:nvGraphicFramePr>
        <p:xfrm>
          <a:off x="548640" y="1325880"/>
          <a:ext cx="11091671" cy="355092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0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CIS</a:t>
                      </a:r>
                    </a:p>
                    <a:p>
                      <a:pPr algn="ctr"/>
                      <a:r>
                        <a:rPr sz="10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Secu-</a:t>
                      </a:r>
                    </a:p>
                    <a:p>
                      <a:pPr algn="ctr"/>
                      <a:r>
                        <a:rPr sz="10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Dev-</a:t>
                      </a:r>
                    </a:p>
                    <a:p>
                      <a:pPr algn="ctr"/>
                      <a:r>
                        <a:rPr sz="10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p>
                      <a:pPr algn="ctr"/>
                      <a:r>
                        <a:rPr sz="10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Integr.</a:t>
                      </a:r>
                    </a:p>
                    <a:p>
                      <a:pPr algn="ctr"/>
                      <a:r>
                        <a:rPr sz="1000" b="1" i="0">
                          <a:solidFill>
                            <a:srgbClr val="FFFFFF"/>
                          </a:solidFill>
                          <a:latin typeface="Arial"/>
                        </a:rPr>
                        <a:t>service</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Cust.</a:t>
                      </a:r>
                    </a:p>
                    <a:p>
                      <a:pPr algn="ctr"/>
                      <a:r>
                        <a:rPr sz="1000" b="1" i="0">
                          <a:solidFill>
                            <a:srgbClr val="FFFFFF"/>
                          </a:solidFill>
                          <a:latin typeface="Arial"/>
                        </a:rPr>
                        <a:t>work-</a:t>
                      </a:r>
                    </a:p>
                    <a:p>
                      <a:pPr algn="ctr"/>
                      <a:r>
                        <a:rPr sz="1000" b="1" i="0">
                          <a:solidFill>
                            <a:srgbClr val="FFFFFF"/>
                          </a:solidFill>
                          <a:latin typeface="Arial"/>
                        </a:rPr>
                        <a:t>load</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Comm.</a:t>
                      </a:r>
                    </a:p>
                    <a:p>
                      <a:pPr algn="ctr"/>
                      <a:r>
                        <a:rPr sz="10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Service design and onboarding</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Monitoring and alert implementation</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Onboarding readiness testing</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Service acceptance</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Platform incidents and changes</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Agent quality incidents</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Security incidents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Containment execution</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Recovery and restart approval</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Monthly governance and reporting</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Pricing, attribution and renewal</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498652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attribution follows contracted work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R2</a:t>
            </a:r>
          </a:p>
        </p:txBody>
      </p:sp>
      <p:sp>
        <p:nvSpPr>
          <p:cNvPr id="5" name="Status chip: PROPOSED FRAMEWORK"/>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Status chip: HYPOTHETICAL EXAMPLE"/>
          <p:cNvSpPr/>
          <p:nvPr/>
        </p:nvSpPr>
        <p:spPr>
          <a:xfrm>
            <a:off x="381889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 EXAMPLE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45</a:t>
            </a:r>
          </a:p>
        </p:txBody>
      </p:sp>
      <p:sp>
        <p:nvSpPr>
          <p:cNvPr id="10" name="TextBox 9"/>
          <p:cNvSpPr txBox="1"/>
          <p:nvPr/>
        </p:nvSpPr>
        <p:spPr>
          <a:xfrm>
            <a:off x="548640" y="1325880"/>
            <a:ext cx="5760720" cy="320040"/>
          </a:xfrm>
          <a:prstGeom prst="rect">
            <a:avLst/>
          </a:prstGeom>
          <a:noFill/>
        </p:spPr>
        <p:txBody>
          <a:bodyPr wrap="square" lIns="0" rIns="0" tIns="0" bIns="0" anchor="t">
            <a:noAutofit/>
          </a:bodyPr>
          <a:lstStyle/>
          <a:p>
            <a:pPr algn="l"/>
            <a:r>
              <a:rPr sz="1600" b="1" i="0">
                <a:solidFill>
                  <a:srgbClr val="000048"/>
                </a:solidFill>
                <a:latin typeface="Arial"/>
              </a:rPr>
              <a:t>Four separate views</a:t>
            </a:r>
          </a:p>
        </p:txBody>
      </p:sp>
      <p:graphicFrame>
        <p:nvGraphicFramePr>
          <p:cNvPr id="11" name="Table"/>
          <p:cNvGraphicFramePr>
            <a:graphicFrameLocks noGrp="1"/>
          </p:cNvGraphicFramePr>
          <p:nvPr/>
        </p:nvGraphicFramePr>
        <p:xfrm>
          <a:off x="548640" y="1691640"/>
          <a:ext cx="5760717" cy="2468880"/>
        </p:xfrm>
        <a:graphic>
          <a:graphicData uri="http://schemas.openxmlformats.org/drawingml/2006/table">
            <a:tbl>
              <a:tblPr firstRow="1" bandRow="0">
                <a:tableStyleId>{5C22544A-7EE6-4342-B048-85BDC9FD1C3A}</a:tableStyleId>
              </a:tblPr>
              <a:tblGrid>
                <a:gridCol w="1234439"/>
                <a:gridCol w="2834639"/>
                <a:gridCol w="1691639"/>
              </a:tblGrid>
              <a:tr h="274320">
                <a:tc>
                  <a:txBody>
                    <a:bodyPr wrap="square" anchor="ctr">
                      <a:noAutofit/>
                    </a:bodyPr>
                    <a:lstStyle/>
                    <a:p>
                      <a:pPr algn="l"/>
                      <a:r>
                        <a:rPr sz="1200" b="1" i="0">
                          <a:solidFill>
                            <a:srgbClr val="FFFFFF"/>
                          </a:solidFill>
                          <a:latin typeface="Arial"/>
                        </a:rPr>
                        <a:t>View</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Basis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 of the rule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Sales credit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Origination and pursuit role, per internal sales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Sales leadership</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Booked revenue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Priced work package in the signed SOW, credited to the delivering tower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Delivery cost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role days at approved loaded cost, per work package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Delivering tower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Margin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 package revenue minus its delivery cost; shared costs allocated once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with integrated service owner</a:t>
                      </a:r>
                    </a:p>
                  </a:txBody>
                  <a:tcPr marL="73152" marR="73152" marT="36576" marB="36576" anchor="ctr">
                    <a:solidFill>
                      <a:srgbClr val="F5F5F2"/>
                    </a:solidFill>
                  </a:tcPr>
                </a:tc>
              </a:tr>
            </a:tbl>
          </a:graphicData>
        </a:graphic>
      </p:graphicFrame>
      <p:sp>
        <p:nvSpPr>
          <p:cNvPr id="12" name="TextBox 11"/>
          <p:cNvSpPr txBox="1"/>
          <p:nvPr/>
        </p:nvSpPr>
        <p:spPr>
          <a:xfrm>
            <a:off x="548640" y="4297680"/>
            <a:ext cx="5760720" cy="320040"/>
          </a:xfrm>
          <a:prstGeom prst="rect">
            <a:avLst/>
          </a:prstGeom>
          <a:noFill/>
        </p:spPr>
        <p:txBody>
          <a:bodyPr wrap="square" lIns="0" rIns="0" tIns="0" bIns="0" anchor="t">
            <a:noAutofit/>
          </a:bodyPr>
          <a:lstStyle/>
          <a:p>
            <a:pPr algn="l"/>
            <a:r>
              <a:rPr sz="1600" b="1" i="0">
                <a:solidFill>
                  <a:srgbClr val="000048"/>
                </a:solidFill>
                <a:latin typeface="Arial"/>
              </a:rPr>
              <a:t>Approval mechanism</a:t>
            </a:r>
          </a:p>
        </p:txBody>
      </p:sp>
      <p:sp>
        <p:nvSpPr>
          <p:cNvPr id="13" name="TextBox 12"/>
          <p:cNvSpPr txBox="1"/>
          <p:nvPr/>
        </p:nvSpPr>
        <p:spPr>
          <a:xfrm>
            <a:off x="548640" y="4636008"/>
            <a:ext cx="5760720" cy="1097280"/>
          </a:xfrm>
          <a:prstGeom prst="rect">
            <a:avLst/>
          </a:prstGeom>
          <a:noFill/>
        </p:spPr>
        <p:txBody>
          <a:bodyPr wrap="square" lIns="0" rIns="0" tIns="0" bIns="0" anchor="t">
            <a:noAutofit/>
          </a:bodyPr>
          <a:lstStyle/>
          <a:p>
            <a:pPr algn="l" marL="201168" indent="-201168">
              <a:spcAft>
                <a:spcPts val="300"/>
              </a:spcAft>
              <a:buFont typeface="Arial"/>
              <a:buChar char="•"/>
            </a:pPr>
            <a:r>
              <a:rPr sz="1400" b="0" i="0">
                <a:solidFill>
                  <a:srgbClr val="1E1E2E"/>
                </a:solidFill>
                <a:latin typeface="Arial"/>
              </a:rPr>
              <a:t>Tower leads agree the work package ledger before pricing</a:t>
            </a:r>
          </a:p>
          <a:p>
            <a:pPr algn="l" marL="201168" indent="-201168">
              <a:spcAft>
                <a:spcPts val="300"/>
              </a:spcAft>
              <a:buFont typeface="Arial"/>
              <a:buChar char="•"/>
            </a:pPr>
            <a:r>
              <a:rPr sz="1400" b="0" i="0">
                <a:solidFill>
                  <a:srgbClr val="1E1E2E"/>
                </a:solidFill>
                <a:latin typeface="Arial"/>
              </a:rPr>
              <a:t>Finance approves attribution, shared-cost and pass-through treatment</a:t>
            </a:r>
          </a:p>
          <a:p>
            <a:pPr algn="l" marL="201168" indent="-201168">
              <a:spcAft>
                <a:spcPts val="300"/>
              </a:spcAft>
              <a:buFont typeface="Arial"/>
              <a:buChar char="•"/>
            </a:pPr>
            <a:r>
              <a:rPr sz="1400" b="0" i="0">
                <a:solidFill>
                  <a:srgbClr val="1E1E2E"/>
                </a:solidFill>
                <a:latin typeface="Arial"/>
              </a:rPr>
              <a:t>Changes in scope rebaseline the ledger through change control</a:t>
            </a:r>
          </a:p>
        </p:txBody>
      </p:sp>
      <p:sp>
        <p:nvSpPr>
          <p:cNvPr id="14" name="TextBox 13"/>
          <p:cNvSpPr txBox="1"/>
          <p:nvPr/>
        </p:nvSpPr>
        <p:spPr>
          <a:xfrm>
            <a:off x="6629400" y="1325880"/>
            <a:ext cx="5029200" cy="320040"/>
          </a:xfrm>
          <a:prstGeom prst="rect">
            <a:avLst/>
          </a:prstGeom>
          <a:noFill/>
        </p:spPr>
        <p:txBody>
          <a:bodyPr wrap="square" lIns="0" rIns="0" tIns="0" bIns="0" anchor="t">
            <a:noAutofit/>
          </a:bodyPr>
          <a:lstStyle/>
          <a:p>
            <a:pPr algn="l"/>
            <a:r>
              <a:rPr sz="1600" b="1" i="0">
                <a:solidFill>
                  <a:srgbClr val="000048"/>
                </a:solidFill>
                <a:latin typeface="Arial"/>
              </a:rPr>
              <a:t>Hypothetical worked example</a:t>
            </a:r>
          </a:p>
        </p:txBody>
      </p:sp>
      <p:graphicFrame>
        <p:nvGraphicFramePr>
          <p:cNvPr id="15" name="Table"/>
          <p:cNvGraphicFramePr>
            <a:graphicFrameLocks noGrp="1"/>
          </p:cNvGraphicFramePr>
          <p:nvPr/>
        </p:nvGraphicFramePr>
        <p:xfrm>
          <a:off x="6629400" y="1691640"/>
          <a:ext cx="5010912" cy="2560320"/>
        </p:xfrm>
        <a:graphic>
          <a:graphicData uri="http://schemas.openxmlformats.org/drawingml/2006/table">
            <a:tbl>
              <a:tblPr firstRow="1" bandRow="0">
                <a:tableStyleId>{5C22544A-7EE6-4342-B048-85BDC9FD1C3A}</a:tableStyleId>
              </a:tblPr>
              <a:tblGrid>
                <a:gridCol w="2377440"/>
                <a:gridCol w="1417320"/>
                <a:gridCol w="1216152"/>
              </a:tblGrid>
              <a:tr h="457200">
                <a:tc>
                  <a:txBody>
                    <a:bodyPr wrap="square" anchor="ctr">
                      <a:noAutofit/>
                    </a:bodyPr>
                    <a:lstStyle/>
                    <a:p>
                      <a:pPr algn="l"/>
                      <a:r>
                        <a:rPr sz="1200" b="1" i="0">
                          <a:solidFill>
                            <a:srgbClr val="FFFFFF"/>
                          </a:solidFill>
                          <a:latin typeface="Arial"/>
                        </a:rPr>
                        <a:t>Work package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Delivering tower</a:t>
                      </a:r>
                    </a:p>
                  </a:txBody>
                  <a:tcPr marL="73152" marR="73152" marT="36576" marB="36576" anchor="ctr">
                    <a:solidFill>
                      <a:srgbClr val="000048"/>
                    </a:solidFill>
                  </a:tcPr>
                </a:tc>
                <a:tc>
                  <a:txBody>
                    <a:bodyPr wrap="square" anchor="ctr">
                      <a:noAutofit/>
                    </a:bodyPr>
                    <a:lstStyle/>
                    <a:p>
                      <a:pPr algn="r"/>
                      <a:r>
                        <a:rPr sz="1200" b="1" i="0">
                          <a:solidFill>
                            <a:srgbClr val="FFFFFF"/>
                          </a:solidFill>
                          <a:latin typeface="Arial"/>
                        </a:rPr>
                        <a:t>Hypothetical fee</a:t>
                      </a:r>
                    </a:p>
                  </a:txBody>
                  <a:tcPr marL="73152" marR="73152" marT="36576" marB="36576" anchor="ctr">
                    <a:solidFill>
                      <a:srgbClr val="000048"/>
                    </a:solidFill>
                  </a:tcPr>
                </a:tc>
              </a:tr>
              <a:tr h="457200">
                <a:tc>
                  <a:txBody>
                    <a:bodyPr wrap="square" anchor="ctr">
                      <a:noAutofit/>
                    </a:bodyPr>
                    <a:lstStyle/>
                    <a:p>
                      <a:pPr algn="l"/>
                      <a:r>
                        <a:rPr sz="1200" b="0" i="0">
                          <a:solidFill>
                            <a:srgbClr val="1E1E2E"/>
                          </a:solidFill>
                          <a:latin typeface="Arial"/>
                        </a:rPr>
                        <a:t>Platform operations base and assets, per month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$24,000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AI support allowance, per month</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$6,000</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Data Eng. support allowance, per month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Data Eng.</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$3,000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Security support allowance, per month</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$3,000</a:t>
                      </a:r>
                    </a:p>
                  </a:txBody>
                  <a:tcPr marL="73152" marR="73152" marT="36576" marB="36576" anchor="ctr">
                    <a:solidFill>
                      <a:srgbClr val="F5F5F2"/>
                    </a:solidFill>
                  </a:tcPr>
                </a:tc>
              </a:tr>
              <a:tr h="274320">
                <a:tc>
                  <a:txBody>
                    <a:bodyPr wrap="square" anchor="ctr">
                      <a:noAutofit/>
                    </a:bodyPr>
                    <a:lstStyle/>
                    <a:p>
                      <a:pPr algn="l"/>
                      <a:r>
                        <a:rPr sz="1200" b="1" i="0">
                          <a:solidFill>
                            <a:srgbClr val="000048"/>
                          </a:solidFill>
                          <a:latin typeface="Arial"/>
                        </a:rPr>
                        <a:t>Services total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r"/>
                      <a:r>
                        <a:rPr sz="1200" b="1" i="0">
                          <a:solidFill>
                            <a:srgbClr val="000048"/>
                          </a:solidFill>
                          <a:latin typeface="Arial"/>
                        </a:rPr>
                        <a:t>$36,000</a:t>
                      </a:r>
                    </a:p>
                  </a:txBody>
                  <a:tcPr marL="73152" marR="73152" marT="36576" marB="36576" anchor="ctr">
                    <a:solidFill>
                      <a:srgbClr val="FFFFFF"/>
                    </a:solidFill>
                  </a:tcPr>
                </a:tc>
              </a:tr>
            </a:tbl>
          </a:graphicData>
        </a:graphic>
      </p:graphicFrame>
      <p:sp>
        <p:nvSpPr>
          <p:cNvPr id="16" name="TextBox 15"/>
          <p:cNvSpPr txBox="1"/>
          <p:nvPr/>
        </p:nvSpPr>
        <p:spPr>
          <a:xfrm>
            <a:off x="6629400" y="4343400"/>
            <a:ext cx="5010912" cy="914400"/>
          </a:xfrm>
          <a:prstGeom prst="rect">
            <a:avLst/>
          </a:prstGeom>
          <a:noFill/>
        </p:spPr>
        <p:txBody>
          <a:bodyPr wrap="square" lIns="0" rIns="0" tIns="0" bIns="0" anchor="t">
            <a:noAutofit/>
          </a:bodyPr>
          <a:lstStyle/>
          <a:p>
            <a:pPr algn="l"/>
            <a:r>
              <a:rPr sz="1200" b="0" i="0">
                <a:solidFill>
                  <a:srgbClr val="8A4B08"/>
                </a:solidFill>
                <a:latin typeface="Arial"/>
              </a:rPr>
              <a:t>Round numbers to show mechanics only. Not a rate card, quote or tower split. Azure consumption excluded.</a:t>
            </a:r>
          </a:p>
        </p:txBody>
      </p:sp>
      <p:sp>
        <p:nvSpPr>
          <p:cNvPr id="17" name="Rounded Rectangle 16"/>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fixed tower percentages. Attribution is derived from priced work packages and approved by Finance.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46</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Accepted platform (offering 01 or equivalent), inventory, owners, ITSM route</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Asset list, agents, alerts, runbooks, coverage need, tower contacts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Operated service, monthly report, reviews, drills, runbooks maintained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Contracted assets and coverage; specialist lanes per agreements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Tower agreements, security resolver, customer service desk</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Onboard, stabilise, operate, review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49936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Onboarding gates A1; service acceptance by customer</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Service desk, approvals, containment authority, data owners</a:t>
                      </a:r>
                    </a:p>
                  </a:txBody>
                  <a:tcPr marL="73152" marR="73152" marT="36576" marB="36576" anchor="ctr">
                    <a:solidFill>
                      <a:srgbClr val="F5F5F2"/>
                    </a:solidFill>
                  </a:tcPr>
                </a:tc>
              </a:tr>
              <a:tr h="259080">
                <a:tc>
                  <a:txBody>
                    <a:bodyPr wrap="square" anchor="ctr">
                      <a:noAutofit/>
                    </a:bodyPr>
                    <a:lstStyle/>
                    <a:p>
                      <a:pPr algn="l"/>
                      <a:r>
                        <a:rPr sz="11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Base + asset units + coverage uplift + allowance (A16)</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New assets above band, coverage change, new runtime or region</a:t>
                      </a:r>
                    </a:p>
                  </a:txBody>
                  <a:tcPr marL="73152" marR="73152" marT="36576" marB="36576" anchor="ctr">
                    <a:solidFill>
                      <a:srgbClr val="F5F5F2"/>
                    </a:solidFill>
                  </a:tcPr>
                </a:tc>
              </a:tr>
              <a:tr h="259080">
                <a:tc>
                  <a:txBody>
                    <a:bodyPr wrap="square" anchor="ctr">
                      <a:noAutofit/>
                    </a:bodyPr>
                    <a:lstStyle/>
                    <a:p>
                      <a:pPr algn="l"/>
                      <a:r>
                        <a:rPr sz="11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Exit plan agreed at start; exit package (A19)</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Objectives met, drills passed, cost reviewed, alert ownership</a:t>
                      </a:r>
                    </a:p>
                  </a:txBody>
                  <a:tcPr marL="73152" marR="73152" marT="36576" marB="36576" anchor="ctr">
                    <a:solidFill>
                      <a:srgbClr val="F5F5F2"/>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47</a:t>
            </a:r>
          </a:p>
        </p:txBody>
      </p:sp>
      <p:graphicFrame>
        <p:nvGraphicFramePr>
          <p:cNvPr id="9" name="Table"/>
          <p:cNvGraphicFramePr>
            <a:graphicFrameLocks noGrp="1"/>
          </p:cNvGraphicFramePr>
          <p:nvPr/>
        </p:nvGraphicFramePr>
        <p:xfrm>
          <a:off x="548640" y="1325880"/>
          <a:ext cx="11091672" cy="237744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Proposed packages for pilots</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This deck</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No 24x7 without funded roster</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Delivery leadership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Policy statement</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Service objectives values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Delivery leadership with customer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Pilot ticket data</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Base, unit and uplift rates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Costing model</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Tower support agreements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Tower agreement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Tower leads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Signed agreements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Security resolver model per customer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Per engagement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CISO delegate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Existing SOC contracts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Staffing bands behind packages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Before first quote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Delivery 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Pilot effort data</a:t>
                      </a:r>
                    </a:p>
                  </a:txBody>
                  <a:tcPr marL="73152" marR="73152" marT="36576" marB="36576" anchor="ctr">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Foundry baseline network flows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O1</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48</a:t>
            </a:r>
          </a:p>
        </p:txBody>
      </p:sp>
      <p:pic>
        <p:nvPicPr>
          <p:cNvPr id="9" name="Original reference image: 08_baseline-microsoft-foundry-network-flow.png" descr="08_baseline-microsoft-foundry-network-flow.png"/>
          <p:cNvPicPr>
            <a:picLocks noChangeAspect="1"/>
          </p:cNvPicPr>
          <p:nvPr/>
        </p:nvPicPr>
        <p:blipFill>
          <a:blip r:embed="rId4"/>
          <a:stretch>
            <a:fillRect/>
          </a:stretch>
        </p:blipFill>
        <p:spPr>
          <a:xfrm>
            <a:off x="1789590" y="1280160"/>
            <a:ext cx="860977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08_baseline-microsoft-foundry-network-flow.png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Use to derive the monitored dependency map (A3). Source labels the model "Azure OpenAI model".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21"/>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49</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100" b="1" i="0">
                <a:solidFill>
                  <a:srgbClr val="000048"/>
                </a:solidFill>
                <a:latin typeface="Arial"/>
              </a:rPr>
              <a:t>Foundry Control Plane: manage agents:  </a:t>
            </a:r>
            <a:r>
              <a:rPr sz="1100" b="0" i="0">
                <a:solidFill>
                  <a:srgbClr val="2F78C4"/>
                </a:solidFill>
                <a:latin typeface="Arial"/>
                <a:hlinkClick r:id="rId4"/>
              </a:rPr>
              <a:t>https://learn.microsoft.com/en-us/azure/foundry/control-plane/how-to-manage-agents</a:t>
            </a:r>
          </a:p>
          <a:p>
            <a:pPr algn="l">
              <a:spcAft>
                <a:spcPts val="300"/>
              </a:spcAft>
            </a:pPr>
            <a:r>
              <a:rPr sz="1100" b="1" i="0">
                <a:solidFill>
                  <a:srgbClr val="000048"/>
                </a:solidFill>
                <a:latin typeface="Arial"/>
              </a:rPr>
              <a:t>Foundry Control Plane: register custom agent:  </a:t>
            </a:r>
            <a:r>
              <a:rPr sz="1100" b="0" i="0">
                <a:solidFill>
                  <a:srgbClr val="2F78C4"/>
                </a:solidFill>
                <a:latin typeface="Arial"/>
                <a:hlinkClick r:id="rId5"/>
              </a:rPr>
              <a:t>https://learn.microsoft.com/en-us/azure/foundry/control-plane/register-custom-agent</a:t>
            </a:r>
          </a:p>
          <a:p>
            <a:pPr algn="l">
              <a:spcAft>
                <a:spcPts val="300"/>
              </a:spcAft>
            </a:pPr>
            <a:r>
              <a:rPr sz="1100" b="1" i="0">
                <a:solidFill>
                  <a:srgbClr val="000048"/>
                </a:solidFill>
                <a:latin typeface="Arial"/>
              </a:rPr>
              <a:t>Microsoft Agent 365 now generally available (Microsoft Security blog, 1 May 2026):  </a:t>
            </a:r>
            <a:r>
              <a:rPr sz="1100" b="0" i="0">
                <a:solidFill>
                  <a:srgbClr val="2F78C4"/>
                </a:solidFill>
                <a:latin typeface="Arial"/>
                <a:hlinkClick r:id="rId6"/>
              </a:rPr>
              <a:t>https://www.microsoft.com/en-us/security/blog/2026/05/01/microsoft-agent-365-now-generally-available-expands-capabilities-and-integrations/</a:t>
            </a:r>
          </a:p>
          <a:p>
            <a:pPr algn="l">
              <a:spcAft>
                <a:spcPts val="300"/>
              </a:spcAft>
            </a:pPr>
            <a:r>
              <a:rPr sz="1100" b="1" i="0">
                <a:solidFill>
                  <a:srgbClr val="000048"/>
                </a:solidFill>
                <a:latin typeface="Arial"/>
              </a:rPr>
              <a:t>Entra Agent ID change tracker (third party, entradiff.merill.net):  </a:t>
            </a:r>
            <a:r>
              <a:rPr sz="1100" b="0" i="0">
                <a:solidFill>
                  <a:srgbClr val="2F78C4"/>
                </a:solidFill>
                <a:latin typeface="Arial"/>
                <a:hlinkClick r:id="rId7"/>
              </a:rPr>
              <a:t>https://entradiff.merill.net/products/agent-id/</a:t>
            </a:r>
          </a:p>
          <a:p>
            <a:pPr algn="l">
              <a:spcAft>
                <a:spcPts val="300"/>
              </a:spcAft>
            </a:pPr>
            <a:r>
              <a:rPr sz="1100" b="1" i="0">
                <a:solidFill>
                  <a:srgbClr val="000048"/>
                </a:solidFill>
                <a:latin typeface="Arial"/>
              </a:rPr>
              <a:t>IT Service Management integration (Azure Monitor):  </a:t>
            </a:r>
            <a:r>
              <a:rPr sz="1100" b="0" i="0">
                <a:solidFill>
                  <a:srgbClr val="2F78C4"/>
                </a:solidFill>
                <a:latin typeface="Arial"/>
                <a:hlinkClick r:id="rId8"/>
              </a:rPr>
              <a:t>https://learn.microsoft.com/en-us/azure/azure-monitor/alerts/itsmc-overview</a:t>
            </a:r>
          </a:p>
          <a:p>
            <a:pPr algn="l">
              <a:spcAft>
                <a:spcPts val="300"/>
              </a:spcAft>
            </a:pPr>
            <a:r>
              <a:rPr sz="1100" b="1" i="0">
                <a:solidFill>
                  <a:srgbClr val="000048"/>
                </a:solidFill>
                <a:latin typeface="Arial"/>
              </a:rPr>
              <a:t>Foundry Models retirement schedule:  </a:t>
            </a:r>
            <a:r>
              <a:rPr sz="1100" b="0" i="0">
                <a:solidFill>
                  <a:srgbClr val="2F78C4"/>
                </a:solidFill>
                <a:latin typeface="Arial"/>
                <a:hlinkClick r:id="rId9"/>
              </a:rPr>
              <a:t>https://learn.microsoft.com/en-us/azure/foundry/openai/concepts/model-retirement-schedule</a:t>
            </a:r>
          </a:p>
          <a:p>
            <a:pPr algn="l">
              <a:spcAft>
                <a:spcPts val="300"/>
              </a:spcAft>
            </a:pPr>
            <a:r>
              <a:rPr sz="1100" b="1" i="0">
                <a:solidFill>
                  <a:srgbClr val="000048"/>
                </a:solidFill>
                <a:latin typeface="Arial"/>
              </a:rPr>
              <a:t>Provisioned throughput concepts:  </a:t>
            </a:r>
            <a:r>
              <a:rPr sz="1100" b="0" i="0">
                <a:solidFill>
                  <a:srgbClr val="2F78C4"/>
                </a:solidFill>
                <a:latin typeface="Arial"/>
                <a:hlinkClick r:id="rId10"/>
              </a:rPr>
              <a:t>https://learn.microsoft.com/en-us/azure/foundry/openai/concepts/provisioned-throughput</a:t>
            </a:r>
          </a:p>
          <a:p>
            <a:pPr algn="l">
              <a:spcAft>
                <a:spcPts val="300"/>
              </a:spcAft>
            </a:pPr>
            <a:r>
              <a:rPr sz="1100" b="1" i="0">
                <a:solidFill>
                  <a:srgbClr val="000048"/>
                </a:solidFill>
                <a:latin typeface="Arial"/>
              </a:rPr>
              <a:t>Azure Retail Prices API: Log Analytics, East US 2:  </a:t>
            </a:r>
            <a:r>
              <a:rPr sz="1100" b="0" i="0">
                <a:solidFill>
                  <a:srgbClr val="2F78C4"/>
                </a:solidFill>
                <a:latin typeface="Arial"/>
                <a:hlinkClick r:id="rId11"/>
              </a:rPr>
              <a:t>https://prices.azure.com/api/retail/prices?$filter=serviceName eq 'Log Analytics' and armRegionName eq 'eastus2'</a:t>
            </a:r>
          </a:p>
          <a:p>
            <a:pPr algn="l">
              <a:spcAft>
                <a:spcPts val="300"/>
              </a:spcAft>
            </a:pPr>
            <a:r>
              <a:rPr sz="1100" b="1" i="0">
                <a:solidFill>
                  <a:srgbClr val="000048"/>
                </a:solidFill>
                <a:latin typeface="Arial"/>
              </a:rPr>
              <a:t>AI gateway capabilities in API Management:  </a:t>
            </a:r>
            <a:r>
              <a:rPr sz="1100" b="0" i="0">
                <a:solidFill>
                  <a:srgbClr val="2F78C4"/>
                </a:solidFill>
                <a:latin typeface="Arial"/>
                <a:hlinkClick r:id="rId12"/>
              </a:rPr>
              <a:t>https://learn.microsoft.com/en-us/azure/api-management/genai-gateway-capabilities</a:t>
            </a:r>
          </a:p>
          <a:p>
            <a:pPr algn="l">
              <a:spcAft>
                <a:spcPts val="300"/>
              </a:spcAft>
            </a:pPr>
            <a:r>
              <a:rPr sz="1100" b="1" i="0">
                <a:solidFill>
                  <a:srgbClr val="000048"/>
                </a:solidFill>
                <a:latin typeface="Arial"/>
              </a:rPr>
              <a:t>AI threat protection in Microsoft Defender for Cloud:  </a:t>
            </a:r>
            <a:r>
              <a:rPr sz="1100" b="0" i="0">
                <a:solidFill>
                  <a:srgbClr val="2F78C4"/>
                </a:solidFill>
                <a:latin typeface="Arial"/>
                <a:hlinkClick r:id="rId13"/>
              </a:rPr>
              <a:t>https://learn.microsoft.com/en-us/azure/defender-for-cloud/ai-threat-protection</a:t>
            </a:r>
          </a:p>
          <a:p>
            <a:pPr algn="l">
              <a:spcAft>
                <a:spcPts val="300"/>
              </a:spcAft>
            </a:pPr>
            <a:r>
              <a:rPr sz="1100" b="1" i="0">
                <a:solidFill>
                  <a:srgbClr val="000048"/>
                </a:solidFill>
                <a:latin typeface="Arial"/>
              </a:rPr>
              <a:t>Microsoft Purview data security and compliance for AI:  </a:t>
            </a:r>
            <a:r>
              <a:rPr sz="1100" b="0" i="0">
                <a:solidFill>
                  <a:srgbClr val="2F78C4"/>
                </a:solidFill>
                <a:latin typeface="Arial"/>
                <a:hlinkClick r:id="rId14"/>
              </a:rPr>
              <a:t>https://learn.microsoft.com/en-us/purview/ai-microsoft-purview</a:t>
            </a:r>
          </a:p>
          <a:p>
            <a:pPr algn="l">
              <a:spcAft>
                <a:spcPts val="300"/>
              </a:spcAft>
            </a:pPr>
            <a:r>
              <a:rPr sz="1100" b="1" i="0">
                <a:solidFill>
                  <a:srgbClr val="000048"/>
                </a:solidFill>
                <a:latin typeface="Arial"/>
              </a:rPr>
              <a:t>EU AI Act Update: Digital Omnibus finalises compliance changes (Orrick, 29 Jul 2026):  </a:t>
            </a:r>
            <a:r>
              <a:rPr sz="1100" b="0" i="0">
                <a:solidFill>
                  <a:srgbClr val="2F78C4"/>
                </a:solidFill>
                <a:latin typeface="Arial"/>
                <a:hlinkClick r:id="rId15"/>
              </a:rPr>
              <a:t>https://www.orrick.com/en/Insights/2026/07/EU-AI-Act-Update-Digital-Omnibus-Finalizes-8-Compliance-Changes</a:t>
            </a:r>
          </a:p>
          <a:p>
            <a:pPr algn="l">
              <a:spcAft>
                <a:spcPts val="300"/>
              </a:spcAft>
            </a:pPr>
            <a:r>
              <a:rPr sz="1100" b="1" i="0">
                <a:solidFill>
                  <a:srgbClr val="000048"/>
                </a:solidFill>
                <a:latin typeface="Arial"/>
              </a:rPr>
              <a:t>OWASP Top 10 for LLM Applications:  </a:t>
            </a:r>
            <a:r>
              <a:rPr sz="1100" b="0" i="0">
                <a:solidFill>
                  <a:srgbClr val="2F78C4"/>
                </a:solidFill>
                <a:latin typeface="Arial"/>
                <a:hlinkClick r:id="rId16"/>
              </a:rPr>
              <a:t>https://genai.owasp.org/llm-top-10/</a:t>
            </a:r>
          </a:p>
          <a:p>
            <a:pPr algn="l">
              <a:spcAft>
                <a:spcPts val="300"/>
              </a:spcAft>
            </a:pPr>
            <a:r>
              <a:rPr sz="1100" b="1" i="0">
                <a:solidFill>
                  <a:srgbClr val="000048"/>
                </a:solidFill>
                <a:latin typeface="Arial"/>
              </a:rPr>
              <a:t>Azure Architecture Icons (V24):  </a:t>
            </a:r>
            <a:r>
              <a:rPr sz="1100" b="0" i="0">
                <a:solidFill>
                  <a:srgbClr val="2F78C4"/>
                </a:solidFill>
                <a:latin typeface="Arial"/>
                <a:hlinkClick r:id="rId17"/>
              </a:rPr>
              <a:t>https://learn.microsoft.com/en-us/azure/architecture/icons/</a:t>
            </a:r>
          </a:p>
          <a:p>
            <a:pPr algn="l">
              <a:spcAft>
                <a:spcPts val="300"/>
              </a:spcAft>
            </a:pPr>
            <a:r>
              <a:rPr sz="1100" b="1" i="0">
                <a:solidFill>
                  <a:srgbClr val="000048"/>
                </a:solidFill>
                <a:latin typeface="Arial"/>
              </a:rPr>
              <a:t>az-icons.com catalogue of official Azure icons (July 2026 set):  </a:t>
            </a:r>
            <a:r>
              <a:rPr sz="1100" b="0" i="0">
                <a:solidFill>
                  <a:srgbClr val="2F78C4"/>
                </a:solidFill>
                <a:latin typeface="Arial"/>
                <a:hlinkClick r:id="rId18"/>
              </a:rPr>
              <a:t>https://az-icons.com/</a:t>
            </a:r>
          </a:p>
          <a:p>
            <a:pPr algn="l">
              <a:spcAft>
                <a:spcPts val="300"/>
              </a:spcAft>
            </a:pPr>
            <a:r>
              <a:rPr sz="1100" b="1" i="0">
                <a:solidFill>
                  <a:srgbClr val="000048"/>
                </a:solidFill>
                <a:latin typeface="Arial"/>
              </a:rPr>
              <a:t>GTM proposal V3 (managed operations section):  </a:t>
            </a:r>
            <a:r>
              <a:rPr sz="1100" b="0" i="0">
                <a:solidFill>
                  <a:srgbClr val="2F78C4"/>
                </a:solidFill>
                <a:latin typeface="Arial"/>
                <a:hlinkClick r:id="rId19"/>
              </a:rPr>
              <a:t>https://github.com/upendra25312/AI-Foundry-GTM-offering-/blob/main/CIS_Infra_Azure_AI_Platform_GTM_Proposal_V3.docx</a:t>
            </a:r>
          </a:p>
          <a:p>
            <a:pPr algn="l">
              <a:spcAft>
                <a:spcPts val="300"/>
              </a:spcAft>
            </a:pPr>
            <a:r>
              <a:rPr sz="1100" b="1" i="0">
                <a:solidFill>
                  <a:srgbClr val="000048"/>
                </a:solidFill>
                <a:latin typeface="Arial"/>
              </a:rPr>
              <a:t>Foundry agent monitoring dashboard:  </a:t>
            </a:r>
            <a:r>
              <a:rPr sz="1100" b="0" i="0">
                <a:solidFill>
                  <a:srgbClr val="2F78C4"/>
                </a:solidFill>
                <a:latin typeface="Arial"/>
                <a:hlinkClick r:id="rId20"/>
              </a:rPr>
              <a:t>https://learn.microsoft.com/en-us/azure/foundry/observability/how-to/how-to-monitor-agents-dashboard</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Managed AI Platform Operations v3.0</dc:title>
  <dcterms:created xsi:type="dcterms:W3CDTF">2026-10-10T13:56:28.3080000Z</dcterms:created>
  <dcterms:modified xsi:type="dcterms:W3CDTF">2026-10-10T13:56:28.3090000Z</dcterms:modified>
  <dc:subject>Proposed CIS Infra GTM offering for internal leadership review</dc:subject>
</coreProperties>
</file>